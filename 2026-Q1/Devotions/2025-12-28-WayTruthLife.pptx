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1"/>
  </p:notesMasterIdLst>
  <p:sldIdLst>
    <p:sldId id="395" r:id="rId3"/>
    <p:sldId id="591" r:id="rId4"/>
    <p:sldId id="592" r:id="rId5"/>
    <p:sldId id="594" r:id="rId6"/>
    <p:sldId id="593" r:id="rId7"/>
    <p:sldId id="595" r:id="rId8"/>
    <p:sldId id="596" r:id="rId9"/>
    <p:sldId id="597" r:id="rId10"/>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hillip Pennington" initials="PP" lastIdx="2" clrIdx="0">
    <p:extLst>
      <p:ext uri="{19B8F6BF-5375-455C-9EA6-DF929625EA0E}">
        <p15:presenceInfo xmlns:p15="http://schemas.microsoft.com/office/powerpoint/2012/main" userId="7a30b84b863a4f9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62" autoAdjust="0"/>
    <p:restoredTop sz="77756" autoAdjust="0"/>
  </p:normalViewPr>
  <p:slideViewPr>
    <p:cSldViewPr>
      <p:cViewPr varScale="1">
        <p:scale>
          <a:sx n="109" d="100"/>
          <a:sy n="109" d="100"/>
        </p:scale>
        <p:origin x="1392" y="9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5" y="4"/>
            <a:ext cx="3169921" cy="480060"/>
          </a:xfrm>
          <a:prstGeom prst="rect">
            <a:avLst/>
          </a:prstGeom>
        </p:spPr>
        <p:txBody>
          <a:bodyPr vert="horz" wrap="square" lIns="96579" tIns="48290" rIns="96579" bIns="48290"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143589" y="4"/>
            <a:ext cx="3169921" cy="480060"/>
          </a:xfrm>
          <a:prstGeom prst="rect">
            <a:avLst/>
          </a:prstGeom>
        </p:spPr>
        <p:txBody>
          <a:bodyPr vert="horz" wrap="square" lIns="96579" tIns="48290" rIns="96579" bIns="48290"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12/27/2025</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wrap="square" lIns="96579" tIns="48290" rIns="96579" bIns="48290"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31521" y="4560571"/>
            <a:ext cx="5852160" cy="4320540"/>
          </a:xfrm>
          <a:prstGeom prst="rect">
            <a:avLst/>
          </a:prstGeom>
        </p:spPr>
        <p:txBody>
          <a:bodyPr vert="horz" wrap="square" lIns="96579" tIns="48290" rIns="96579" bIns="48290"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5" y="9119474"/>
            <a:ext cx="3169921" cy="480060"/>
          </a:xfrm>
          <a:prstGeom prst="rect">
            <a:avLst/>
          </a:prstGeom>
        </p:spPr>
        <p:txBody>
          <a:bodyPr vert="horz" wrap="square" lIns="96579" tIns="48290" rIns="96579" bIns="48290"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143589" y="9119474"/>
            <a:ext cx="3169921" cy="480060"/>
          </a:xfrm>
          <a:prstGeom prst="rect">
            <a:avLst/>
          </a:prstGeom>
        </p:spPr>
        <p:txBody>
          <a:bodyPr vert="horz" wrap="square" lIns="96579" tIns="48290" rIns="96579" bIns="48290"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normAutofit fontScale="70000" lnSpcReduction="20000"/>
          </a:bodyPr>
          <a:lstStyle/>
          <a:p>
            <a:endParaRPr lang="en-US" dirty="0"/>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35624209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3AD57-92B0-A89D-53F5-C87238A504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4A26A3-CFE9-3C50-8174-3CAA1F6EBA3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CCA9811-FB75-C4A8-E4DB-6C7ACDA838CE}"/>
              </a:ext>
            </a:extLst>
          </p:cNvPr>
          <p:cNvSpPr>
            <a:spLocks noGrp="1"/>
          </p:cNvSpPr>
          <p:nvPr>
            <p:ph type="body" idx="1"/>
          </p:nvPr>
        </p:nvSpPr>
        <p:spPr/>
        <p:txBody>
          <a:bodyPr>
            <a:normAutofit fontScale="85000" lnSpcReduction="20000"/>
          </a:bodyPr>
          <a:lstStyle/>
          <a:p>
            <a:r>
              <a:rPr lang="en-US" sz="1600" b="1" dirty="0"/>
              <a:t>Introduction: The Setting of John 14</a:t>
            </a:r>
            <a:endParaRPr lang="en-US" sz="1600" dirty="0"/>
          </a:p>
          <a:p>
            <a:pPr marL="175925" indent="-175925">
              <a:buFont typeface="Arial" panose="020B0604020202020204" pitchFamily="34" charset="0"/>
              <a:buChar char="•"/>
            </a:pPr>
            <a:r>
              <a:rPr lang="en-US" sz="1600" dirty="0"/>
              <a:t>John 14 happens the night before the cross.</a:t>
            </a:r>
          </a:p>
          <a:p>
            <a:pPr marL="175925" indent="-175925">
              <a:buFont typeface="Arial" panose="020B0604020202020204" pitchFamily="34" charset="0"/>
              <a:buChar char="•"/>
            </a:pPr>
            <a:r>
              <a:rPr lang="en-US" sz="1600" dirty="0"/>
              <a:t>Jesus is speaking to troubled disciples.</a:t>
            </a:r>
          </a:p>
          <a:p>
            <a:pPr marL="175925" indent="-175925">
              <a:buFont typeface="Arial" panose="020B0604020202020204" pitchFamily="34" charset="0"/>
              <a:buChar char="•"/>
            </a:pPr>
            <a:r>
              <a:rPr lang="en-US" sz="1600" dirty="0"/>
              <a:t>He is not giving a slogan.</a:t>
            </a:r>
          </a:p>
          <a:p>
            <a:endParaRPr lang="en-US" sz="1600" dirty="0"/>
          </a:p>
          <a:p>
            <a:pPr marL="175925" indent="-175925">
              <a:buFont typeface="Arial" panose="020B0604020202020204" pitchFamily="34" charset="0"/>
              <a:buChar char="•"/>
            </a:pPr>
            <a:r>
              <a:rPr lang="en-US" sz="1600" dirty="0"/>
              <a:t>He is giving comfort and clarity.</a:t>
            </a:r>
          </a:p>
          <a:p>
            <a:pPr marL="645058" lvl="1" indent="-175925">
              <a:buFont typeface="Arial" panose="020B0604020202020204" pitchFamily="34" charset="0"/>
              <a:buChar char="•"/>
            </a:pPr>
            <a:r>
              <a:rPr lang="en-US" sz="1600" b="1" dirty="0">
                <a:cs typeface="ＭＳ Ｐゴシック" pitchFamily="-106" charset="-128"/>
              </a:rPr>
              <a:t>“Do not let your hearts be distressed. You believe in God; believe also in me.” (John 14:1)</a:t>
            </a:r>
          </a:p>
          <a:p>
            <a:pPr marL="175925" indent="-175925">
              <a:buFont typeface="Arial" panose="020B0604020202020204" pitchFamily="34" charset="0"/>
              <a:buChar char="•"/>
            </a:pPr>
            <a:r>
              <a:rPr lang="en-US" sz="1600" dirty="0"/>
              <a:t>Thomas asks a real question.</a:t>
            </a:r>
          </a:p>
          <a:p>
            <a:pPr marL="645058" lvl="1" indent="-175925">
              <a:buFont typeface="Arial" panose="020B0604020202020204" pitchFamily="34" charset="0"/>
              <a:buChar char="•"/>
            </a:pPr>
            <a:r>
              <a:rPr lang="en-US" sz="1600" b="1" dirty="0">
                <a:cs typeface="ＭＳ Ｐゴシック" pitchFamily="-106" charset="-128"/>
              </a:rPr>
              <a:t>“Lord, we don’t know where you are going. How can we know the way?” (John 14:5)</a:t>
            </a:r>
          </a:p>
          <a:p>
            <a:pPr marL="175925" indent="-175925">
              <a:buFont typeface="Arial" panose="020B0604020202020204" pitchFamily="34" charset="0"/>
              <a:buChar char="•"/>
            </a:pPr>
            <a:r>
              <a:rPr lang="en-US" sz="1600" dirty="0"/>
              <a:t>Jesus answers with a claim no prophet ever made.</a:t>
            </a:r>
          </a:p>
          <a:p>
            <a:pPr marL="645058" lvl="1" indent="-175925">
              <a:buFont typeface="Arial" panose="020B0604020202020204" pitchFamily="34" charset="0"/>
              <a:buChar char="•"/>
            </a:pPr>
            <a:r>
              <a:rPr lang="en-US" sz="1600" b="1" dirty="0">
                <a:cs typeface="ＭＳ Ｐゴシック" pitchFamily="-106" charset="-128"/>
              </a:rPr>
              <a:t>“I am the way, and the truth, and the life. No one comes to the Father except through me.” (John 14:6)</a:t>
            </a:r>
          </a:p>
          <a:p>
            <a:endParaRPr lang="en-US" sz="1600" dirty="0"/>
          </a:p>
          <a:p>
            <a:r>
              <a:rPr lang="en-US" sz="1600" dirty="0"/>
              <a:t>This is covenant language.</a:t>
            </a:r>
          </a:p>
          <a:p>
            <a:r>
              <a:rPr lang="en-US" sz="1600" dirty="0"/>
              <a:t>This is relational language.</a:t>
            </a:r>
          </a:p>
          <a:p>
            <a:r>
              <a:rPr lang="en-US" sz="1600" dirty="0"/>
              <a:t>This is fulfillment language.</a:t>
            </a:r>
          </a:p>
          <a:p>
            <a:endParaRPr lang="en-US" dirty="0"/>
          </a:p>
        </p:txBody>
      </p:sp>
      <p:sp>
        <p:nvSpPr>
          <p:cNvPr id="4" name="Slide Number Placeholder 3">
            <a:extLst>
              <a:ext uri="{FF2B5EF4-FFF2-40B4-BE49-F238E27FC236}">
                <a16:creationId xmlns:a16="http://schemas.microsoft.com/office/drawing/2014/main" id="{F83ACFA3-2C2F-4CC0-AB9A-C399752124C1}"/>
              </a:ext>
            </a:extLst>
          </p:cNvPr>
          <p:cNvSpPr>
            <a:spLocks noGrp="1"/>
          </p:cNvSpPr>
          <p:nvPr>
            <p:ph type="sldNum" sz="quarter" idx="10"/>
          </p:nvPr>
        </p:nvSpPr>
        <p:spPr/>
        <p:txBody>
          <a:bodyPr/>
          <a:lstStyle/>
          <a:p>
            <a:pPr>
              <a:defRPr/>
            </a:pPr>
            <a:fld id="{07776858-791E-4C8D-8FA3-473B3AFECFAC}" type="slidenum">
              <a:rPr lang="en-US" smtClean="0"/>
              <a:pPr>
                <a:defRPr/>
              </a:pPr>
              <a:t>2</a:t>
            </a:fld>
            <a:endParaRPr lang="en-US" dirty="0"/>
          </a:p>
        </p:txBody>
      </p:sp>
    </p:spTree>
    <p:extLst>
      <p:ext uri="{BB962C8B-B14F-4D97-AF65-F5344CB8AC3E}">
        <p14:creationId xmlns:p14="http://schemas.microsoft.com/office/powerpoint/2010/main" val="3598520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AE310-1506-6BD2-5A95-A948B79FBB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0BB9B7-5160-7F5A-819E-240F768A8A8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FD875F7-5FF7-E8EA-5E89-A0B67572C171}"/>
              </a:ext>
            </a:extLst>
          </p:cNvPr>
          <p:cNvSpPr>
            <a:spLocks noGrp="1"/>
          </p:cNvSpPr>
          <p:nvPr>
            <p:ph type="body" idx="1"/>
          </p:nvPr>
        </p:nvSpPr>
        <p:spPr/>
        <p:txBody>
          <a:bodyPr>
            <a:normAutofit fontScale="85000" lnSpcReduction="20000"/>
          </a:bodyPr>
          <a:lstStyle/>
          <a:p>
            <a:r>
              <a:rPr lang="en-US" sz="1600" b="1" dirty="0"/>
              <a:t>The New Covenant Background (Jeremiah 31)</a:t>
            </a:r>
            <a:endParaRPr lang="en-US" sz="1600" dirty="0"/>
          </a:p>
          <a:p>
            <a:r>
              <a:rPr lang="en-US" sz="1600" dirty="0"/>
              <a:t>Jesus is not speaking in a vacuum.</a:t>
            </a:r>
          </a:p>
          <a:p>
            <a:r>
              <a:rPr lang="en-US" sz="1600" dirty="0"/>
              <a:t>He is fulfilling a promise.</a:t>
            </a:r>
          </a:p>
          <a:p>
            <a:r>
              <a:rPr lang="en-US" sz="1600" dirty="0"/>
              <a:t>“Indeed, a time is coming… when I will make a new covenant with the people of Israel and Judah.” (Jeremiah 31:31)</a:t>
            </a:r>
          </a:p>
          <a:p>
            <a:endParaRPr lang="en-US" sz="1600" dirty="0"/>
          </a:p>
          <a:p>
            <a:r>
              <a:rPr lang="en-US" sz="1600" dirty="0"/>
              <a:t>This covenant is different.</a:t>
            </a:r>
          </a:p>
          <a:p>
            <a:r>
              <a:rPr lang="en-US" sz="1600" dirty="0"/>
              <a:t>“I will put my law within them and write it on their hearts.” (31:33)</a:t>
            </a:r>
          </a:p>
          <a:p>
            <a:r>
              <a:rPr lang="en-US" sz="1600" dirty="0"/>
              <a:t>And the goal is clear.</a:t>
            </a:r>
          </a:p>
          <a:p>
            <a:r>
              <a:rPr lang="en-US" sz="1600" dirty="0"/>
              <a:t>“They will all know me, from the least to the greatest.” (31:34)</a:t>
            </a:r>
          </a:p>
          <a:p>
            <a:endParaRPr lang="en-US" sz="1600" b="1" dirty="0"/>
          </a:p>
          <a:p>
            <a:r>
              <a:rPr lang="en-US" sz="1600" b="1" dirty="0"/>
              <a:t>Knowing God</a:t>
            </a:r>
            <a:r>
              <a:rPr lang="en-US" sz="1600" dirty="0"/>
              <a:t> is the center of the New Covenant.</a:t>
            </a:r>
          </a:p>
          <a:p>
            <a:r>
              <a:rPr lang="en-US" sz="1600" dirty="0"/>
              <a:t>Not ritual.</a:t>
            </a:r>
          </a:p>
          <a:p>
            <a:r>
              <a:rPr lang="en-US" sz="1600" dirty="0"/>
              <a:t>Not location.</a:t>
            </a:r>
          </a:p>
          <a:p>
            <a:r>
              <a:rPr lang="en-US" sz="1600" dirty="0"/>
              <a:t>Not lineage.</a:t>
            </a:r>
          </a:p>
          <a:p>
            <a:r>
              <a:rPr lang="en-US" sz="1600" dirty="0"/>
              <a:t>Jesus claims to be the </a:t>
            </a:r>
            <a:r>
              <a:rPr lang="en-US" sz="1600" i="1" dirty="0"/>
              <a:t>means</a:t>
            </a:r>
            <a:r>
              <a:rPr lang="en-US" sz="1600" dirty="0"/>
              <a:t> of this knowing.</a:t>
            </a:r>
          </a:p>
          <a:p>
            <a:endParaRPr lang="en-US" dirty="0"/>
          </a:p>
        </p:txBody>
      </p:sp>
      <p:sp>
        <p:nvSpPr>
          <p:cNvPr id="4" name="Slide Number Placeholder 3">
            <a:extLst>
              <a:ext uri="{FF2B5EF4-FFF2-40B4-BE49-F238E27FC236}">
                <a16:creationId xmlns:a16="http://schemas.microsoft.com/office/drawing/2014/main" id="{259E8C83-BC3E-5CDD-5B53-F07E25B094A8}"/>
              </a:ext>
            </a:extLst>
          </p:cNvPr>
          <p:cNvSpPr>
            <a:spLocks noGrp="1"/>
          </p:cNvSpPr>
          <p:nvPr>
            <p:ph type="sldNum" sz="quarter" idx="10"/>
          </p:nvPr>
        </p:nvSpPr>
        <p:spPr/>
        <p:txBody>
          <a:bodyPr/>
          <a:lstStyle/>
          <a:p>
            <a:pPr>
              <a:defRPr/>
            </a:pPr>
            <a:fld id="{07776858-791E-4C8D-8FA3-473B3AFECFAC}" type="slidenum">
              <a:rPr lang="en-US" smtClean="0"/>
              <a:pPr>
                <a:defRPr/>
              </a:pPr>
              <a:t>3</a:t>
            </a:fld>
            <a:endParaRPr lang="en-US" dirty="0"/>
          </a:p>
        </p:txBody>
      </p:sp>
    </p:spTree>
    <p:extLst>
      <p:ext uri="{BB962C8B-B14F-4D97-AF65-F5344CB8AC3E}">
        <p14:creationId xmlns:p14="http://schemas.microsoft.com/office/powerpoint/2010/main" val="32443456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F1AE8-DF3D-DA0C-2C4F-D7A3449A43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448431-F78B-23F7-4025-A54FDBD25FF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966299D-E794-A7C2-A627-38EFEB9BE6DA}"/>
              </a:ext>
            </a:extLst>
          </p:cNvPr>
          <p:cNvSpPr>
            <a:spLocks noGrp="1"/>
          </p:cNvSpPr>
          <p:nvPr>
            <p:ph type="body" idx="1"/>
          </p:nvPr>
        </p:nvSpPr>
        <p:spPr/>
        <p:txBody>
          <a:bodyPr>
            <a:normAutofit fontScale="70000" lnSpcReduction="20000"/>
          </a:bodyPr>
          <a:lstStyle/>
          <a:p>
            <a:r>
              <a:rPr lang="en-US" sz="1600" b="1" dirty="0"/>
              <a:t>“I Am the Way”</a:t>
            </a:r>
            <a:endParaRPr lang="en-US" sz="1600" dirty="0"/>
          </a:p>
          <a:p>
            <a:endParaRPr lang="en-US" sz="1600" b="1" dirty="0"/>
          </a:p>
          <a:p>
            <a:r>
              <a:rPr lang="en-US" sz="1600" b="1" dirty="0"/>
              <a:t>The Way to God, Not a Method</a:t>
            </a:r>
            <a:endParaRPr lang="en-US" sz="1600" dirty="0"/>
          </a:p>
          <a:p>
            <a:pPr marL="293208" indent="-293208">
              <a:buFont typeface="Arial" panose="020B0604020202020204" pitchFamily="34" charset="0"/>
              <a:buChar char="•"/>
            </a:pPr>
            <a:r>
              <a:rPr lang="en-US" sz="1600" dirty="0"/>
              <a:t>Jesus does not say, “I show the way.”</a:t>
            </a:r>
          </a:p>
          <a:p>
            <a:pPr marL="293208" indent="-293208">
              <a:buFont typeface="Arial" panose="020B0604020202020204" pitchFamily="34" charset="0"/>
              <a:buChar char="•"/>
            </a:pPr>
            <a:r>
              <a:rPr lang="en-US" sz="1600" dirty="0"/>
              <a:t>He says, </a:t>
            </a:r>
            <a:r>
              <a:rPr lang="en-US" sz="1600" b="1" dirty="0"/>
              <a:t>“I am the way.”</a:t>
            </a:r>
          </a:p>
          <a:p>
            <a:endParaRPr lang="en-US" sz="1600" dirty="0"/>
          </a:p>
          <a:p>
            <a:r>
              <a:rPr lang="en-US" sz="1600" dirty="0"/>
              <a:t>In Scripture, “the way” means access.</a:t>
            </a:r>
          </a:p>
          <a:p>
            <a:pPr marL="293208" indent="-293208">
              <a:buFont typeface="Arial" panose="020B0604020202020204" pitchFamily="34" charset="0"/>
              <a:buChar char="•"/>
            </a:pPr>
            <a:r>
              <a:rPr lang="en-US" sz="1600" b="1" dirty="0"/>
              <a:t>“Teach me your way, O LORD.” (Psalm 27:11)</a:t>
            </a:r>
          </a:p>
          <a:p>
            <a:endParaRPr lang="en-US" sz="1600" dirty="0"/>
          </a:p>
          <a:p>
            <a:r>
              <a:rPr lang="en-US" sz="1600" dirty="0"/>
              <a:t>Under the old covenant, access was limited.</a:t>
            </a:r>
          </a:p>
          <a:p>
            <a:pPr marL="293208" indent="-293208">
              <a:buFont typeface="Arial" panose="020B0604020202020204" pitchFamily="34" charset="0"/>
              <a:buChar char="•"/>
            </a:pPr>
            <a:r>
              <a:rPr lang="en-US" sz="1600" dirty="0"/>
              <a:t>Only priests.</a:t>
            </a:r>
          </a:p>
          <a:p>
            <a:pPr marL="293208" indent="-293208">
              <a:buFont typeface="Arial" panose="020B0604020202020204" pitchFamily="34" charset="0"/>
              <a:buChar char="•"/>
            </a:pPr>
            <a:r>
              <a:rPr lang="en-US" sz="1600" dirty="0"/>
              <a:t>Only sacrifices.</a:t>
            </a:r>
          </a:p>
          <a:p>
            <a:pPr marL="293208" indent="-293208">
              <a:buFont typeface="Arial" panose="020B0604020202020204" pitchFamily="34" charset="0"/>
              <a:buChar char="•"/>
            </a:pPr>
            <a:r>
              <a:rPr lang="en-US" sz="1600" dirty="0"/>
              <a:t>Only once a year.</a:t>
            </a:r>
          </a:p>
          <a:p>
            <a:endParaRPr lang="en-US" sz="1600" dirty="0"/>
          </a:p>
          <a:p>
            <a:r>
              <a:rPr lang="en-US" sz="1600" dirty="0"/>
              <a:t>Jesus changes this.</a:t>
            </a:r>
          </a:p>
          <a:p>
            <a:pPr marL="293208" indent="-293208">
              <a:buFont typeface="Arial" panose="020B0604020202020204" pitchFamily="34" charset="0"/>
              <a:buChar char="•"/>
            </a:pPr>
            <a:r>
              <a:rPr lang="en-US" sz="1600" b="1" dirty="0"/>
              <a:t>“Therefore, brothers and sisters, since we have confidence to enter the sanctuary by the blood of Jesus, by the fresh and living way he opened for us through the curtain.” (Hebrews 10:19–20)</a:t>
            </a:r>
          </a:p>
          <a:p>
            <a:pPr marL="293208" indent="-293208">
              <a:buFont typeface="Arial" panose="020B0604020202020204" pitchFamily="34" charset="0"/>
              <a:buChar char="•"/>
            </a:pPr>
            <a:endParaRPr lang="en-US" sz="1600" b="1" dirty="0"/>
          </a:p>
          <a:p>
            <a:r>
              <a:rPr lang="en-US" sz="1600" dirty="0"/>
              <a:t>Jesus is the opened way.</a:t>
            </a:r>
          </a:p>
          <a:p>
            <a:pPr marL="293208" indent="-293208">
              <a:buFont typeface="Arial" panose="020B0604020202020204" pitchFamily="34" charset="0"/>
              <a:buChar char="•"/>
            </a:pPr>
            <a:r>
              <a:rPr lang="en-US" sz="1600" dirty="0"/>
              <a:t>Not steps.</a:t>
            </a:r>
          </a:p>
          <a:p>
            <a:pPr marL="293208" indent="-293208">
              <a:buFont typeface="Arial" panose="020B0604020202020204" pitchFamily="34" charset="0"/>
              <a:buChar char="•"/>
            </a:pPr>
            <a:r>
              <a:rPr lang="en-US" sz="1600" dirty="0"/>
              <a:t>Not laws.</a:t>
            </a:r>
          </a:p>
          <a:p>
            <a:pPr marL="293208" indent="-293208">
              <a:buFont typeface="Arial" panose="020B0604020202020204" pitchFamily="34" charset="0"/>
              <a:buChar char="•"/>
            </a:pPr>
            <a:r>
              <a:rPr lang="en-US" sz="1600" dirty="0"/>
              <a:t>A person.</a:t>
            </a:r>
          </a:p>
          <a:p>
            <a:pPr marL="293208" indent="-293208">
              <a:buFont typeface="Arial" panose="020B0604020202020204" pitchFamily="34" charset="0"/>
              <a:buChar char="•"/>
            </a:pPr>
            <a:endParaRPr lang="en-US" sz="1600" dirty="0"/>
          </a:p>
          <a:p>
            <a:r>
              <a:rPr lang="en-US" sz="1600" b="1" dirty="0"/>
              <a:t>The Way of Relationship</a:t>
            </a:r>
            <a:endParaRPr lang="en-US" sz="1600" dirty="0"/>
          </a:p>
          <a:p>
            <a:pPr marL="175925" indent="-175925">
              <a:buFont typeface="Arial" panose="020B0604020202020204" pitchFamily="34" charset="0"/>
              <a:buChar char="•"/>
            </a:pPr>
            <a:r>
              <a:rPr lang="en-US" sz="1600" dirty="0"/>
              <a:t>Early Christians called the faith </a:t>
            </a:r>
            <a:r>
              <a:rPr lang="en-US" sz="1600" i="1" dirty="0"/>
              <a:t>“the Way.”</a:t>
            </a:r>
            <a:endParaRPr lang="en-US" sz="1600" dirty="0"/>
          </a:p>
          <a:p>
            <a:pPr marL="645058" lvl="1" indent="-175925">
              <a:buFont typeface="Arial" panose="020B0604020202020204" pitchFamily="34" charset="0"/>
              <a:buChar char="•"/>
            </a:pPr>
            <a:r>
              <a:rPr lang="en-US" sz="1600" b="1" dirty="0">
                <a:cs typeface="ＭＳ Ｐゴシック" pitchFamily="-106" charset="-128"/>
              </a:rPr>
              <a:t>“I persecuted this Way to the death.” (Acts 22:4)</a:t>
            </a:r>
          </a:p>
          <a:p>
            <a:pPr marL="175925" indent="-175925">
              <a:buFont typeface="Arial" panose="020B0604020202020204" pitchFamily="34" charset="0"/>
              <a:buChar char="•"/>
            </a:pPr>
            <a:r>
              <a:rPr lang="en-US" sz="1600" dirty="0"/>
              <a:t>Why?</a:t>
            </a:r>
          </a:p>
          <a:p>
            <a:pPr marL="175925" indent="-175925">
              <a:buFont typeface="Arial" panose="020B0604020202020204" pitchFamily="34" charset="0"/>
              <a:buChar char="•"/>
            </a:pPr>
            <a:r>
              <a:rPr lang="en-US" sz="1600" dirty="0"/>
              <a:t>Because following Jesus meant walking with Him.</a:t>
            </a:r>
          </a:p>
          <a:p>
            <a:pPr marL="645058" lvl="1" indent="-175925">
              <a:buFont typeface="Arial" panose="020B0604020202020204" pitchFamily="34" charset="0"/>
              <a:buChar char="•"/>
            </a:pPr>
            <a:r>
              <a:rPr lang="en-US" sz="1600" b="1" dirty="0">
                <a:cs typeface="ＭＳ Ｐゴシック" pitchFamily="-106" charset="-128"/>
              </a:rPr>
              <a:t>“The one who says he resides in God ought himself to walk just as Jesus walked.” (1 John 2:6)</a:t>
            </a:r>
          </a:p>
          <a:p>
            <a:pPr marL="645058" lvl="1" indent="-175925">
              <a:buFont typeface="Arial" panose="020B0604020202020204" pitchFamily="34" charset="0"/>
              <a:buChar char="•"/>
            </a:pPr>
            <a:r>
              <a:rPr lang="en-US" sz="1600" dirty="0">
                <a:cs typeface="ＭＳ Ｐゴシック" pitchFamily="-106" charset="-128"/>
              </a:rPr>
              <a:t>This is covenant walking.</a:t>
            </a:r>
          </a:p>
          <a:p>
            <a:pPr marL="645058" lvl="1" indent="-175925">
              <a:buFont typeface="Arial" panose="020B0604020202020204" pitchFamily="34" charset="0"/>
              <a:buChar char="•"/>
            </a:pPr>
            <a:r>
              <a:rPr lang="en-US" sz="1600" dirty="0">
                <a:cs typeface="ＭＳ Ｐゴシック" pitchFamily="-106" charset="-128"/>
              </a:rPr>
              <a:t>Life shared with God.</a:t>
            </a:r>
          </a:p>
          <a:p>
            <a:pPr marL="293208" indent="-293208">
              <a:buFont typeface="Arial" panose="020B0604020202020204" pitchFamily="34" charset="0"/>
              <a:buChar char="•"/>
            </a:pPr>
            <a:endParaRPr lang="en-US" sz="1600" dirty="0"/>
          </a:p>
          <a:p>
            <a:endParaRPr lang="en-US" dirty="0"/>
          </a:p>
        </p:txBody>
      </p:sp>
      <p:sp>
        <p:nvSpPr>
          <p:cNvPr id="4" name="Slide Number Placeholder 3">
            <a:extLst>
              <a:ext uri="{FF2B5EF4-FFF2-40B4-BE49-F238E27FC236}">
                <a16:creationId xmlns:a16="http://schemas.microsoft.com/office/drawing/2014/main" id="{4B4240CB-4B7E-1C7C-522C-0A1B95265B3E}"/>
              </a:ext>
            </a:extLst>
          </p:cNvPr>
          <p:cNvSpPr>
            <a:spLocks noGrp="1"/>
          </p:cNvSpPr>
          <p:nvPr>
            <p:ph type="sldNum" sz="quarter" idx="10"/>
          </p:nvPr>
        </p:nvSpPr>
        <p:spPr/>
        <p:txBody>
          <a:bodyPr/>
          <a:lstStyle/>
          <a:p>
            <a:pPr>
              <a:defRPr/>
            </a:pPr>
            <a:fld id="{07776858-791E-4C8D-8FA3-473B3AFECFAC}" type="slidenum">
              <a:rPr lang="en-US" smtClean="0"/>
              <a:pPr>
                <a:defRPr/>
              </a:pPr>
              <a:t>4</a:t>
            </a:fld>
            <a:endParaRPr lang="en-US" dirty="0"/>
          </a:p>
        </p:txBody>
      </p:sp>
    </p:spTree>
    <p:extLst>
      <p:ext uri="{BB962C8B-B14F-4D97-AF65-F5344CB8AC3E}">
        <p14:creationId xmlns:p14="http://schemas.microsoft.com/office/powerpoint/2010/main" val="8576679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BBC52-EC0A-62BC-9874-12811D524B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5B1057-707C-7C83-477B-1C2F8BDA744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D13F57C-D969-6BB9-D047-6BDA2CF44FC3}"/>
              </a:ext>
            </a:extLst>
          </p:cNvPr>
          <p:cNvSpPr>
            <a:spLocks noGrp="1"/>
          </p:cNvSpPr>
          <p:nvPr>
            <p:ph type="body" idx="1"/>
          </p:nvPr>
        </p:nvSpPr>
        <p:spPr/>
        <p:txBody>
          <a:bodyPr>
            <a:normAutofit fontScale="92500" lnSpcReduction="20000"/>
          </a:bodyPr>
          <a:lstStyle/>
          <a:p>
            <a:r>
              <a:rPr lang="en-US" sz="1600" dirty="0"/>
              <a:t> </a:t>
            </a:r>
            <a:r>
              <a:rPr lang="en-US" sz="1600" b="1" dirty="0"/>
              <a:t>“I Am the Truth”</a:t>
            </a:r>
            <a:endParaRPr lang="en-US" sz="1600" dirty="0"/>
          </a:p>
          <a:p>
            <a:endParaRPr lang="en-US" sz="1600" b="1" dirty="0"/>
          </a:p>
          <a:p>
            <a:r>
              <a:rPr lang="en-US" sz="1600" b="1" dirty="0"/>
              <a:t>Truth as Revelation, Not Information</a:t>
            </a:r>
            <a:endParaRPr lang="en-US" sz="1600" dirty="0"/>
          </a:p>
          <a:p>
            <a:pPr marL="293208" indent="-293208">
              <a:buFont typeface="Arial" panose="020B0604020202020204" pitchFamily="34" charset="0"/>
              <a:buChar char="•"/>
            </a:pPr>
            <a:r>
              <a:rPr lang="en-US" sz="1600" dirty="0"/>
              <a:t>In Scripture, truth is not just facts.</a:t>
            </a:r>
          </a:p>
          <a:p>
            <a:pPr marL="762341" lvl="1" indent="-293208">
              <a:buFont typeface="Arial" panose="020B0604020202020204" pitchFamily="34" charset="0"/>
              <a:buChar char="•"/>
            </a:pPr>
            <a:r>
              <a:rPr lang="en-US" sz="1600" dirty="0">
                <a:cs typeface="ＭＳ Ｐゴシック" pitchFamily="-106" charset="-128"/>
              </a:rPr>
              <a:t>Truth reveals God’s character.</a:t>
            </a:r>
          </a:p>
          <a:p>
            <a:pPr marL="762341" lvl="1" indent="-293208">
              <a:buFont typeface="Arial" panose="020B0604020202020204" pitchFamily="34" charset="0"/>
              <a:buChar char="•"/>
            </a:pPr>
            <a:r>
              <a:rPr lang="en-US" sz="1600" b="1" dirty="0">
                <a:cs typeface="ＭＳ Ｐゴシック" pitchFamily="-106" charset="-128"/>
              </a:rPr>
              <a:t>“You are my God, my faithful God.” (Psalm 31:14)</a:t>
            </a:r>
          </a:p>
          <a:p>
            <a:pPr marL="293208" indent="-293208">
              <a:buFont typeface="Arial" panose="020B0604020202020204" pitchFamily="34" charset="0"/>
              <a:buChar char="•"/>
            </a:pPr>
            <a:r>
              <a:rPr lang="en-US" sz="1600" dirty="0"/>
              <a:t>Jesus does not teach truth.</a:t>
            </a:r>
          </a:p>
          <a:p>
            <a:pPr marL="762341" lvl="1" indent="-293208">
              <a:buFont typeface="Arial" panose="020B0604020202020204" pitchFamily="34" charset="0"/>
              <a:buChar char="•"/>
            </a:pPr>
            <a:r>
              <a:rPr lang="en-US" sz="1600" dirty="0">
                <a:cs typeface="ＭＳ Ｐゴシック" pitchFamily="-106" charset="-128"/>
              </a:rPr>
              <a:t>He embodies it.</a:t>
            </a:r>
          </a:p>
          <a:p>
            <a:pPr marL="762341" lvl="1" indent="-293208">
              <a:buFont typeface="Arial" panose="020B0604020202020204" pitchFamily="34" charset="0"/>
              <a:buChar char="•"/>
            </a:pPr>
            <a:r>
              <a:rPr lang="en-US" sz="1600" b="1" dirty="0">
                <a:cs typeface="ＭＳ Ｐゴシック" pitchFamily="-106" charset="-128"/>
              </a:rPr>
              <a:t>“The Word became flesh and took up residence among us… full of grace and truth.” (John 1:14)</a:t>
            </a:r>
          </a:p>
          <a:p>
            <a:pPr marL="762341" lvl="1" indent="-293208">
              <a:buFont typeface="Arial" panose="020B0604020202020204" pitchFamily="34" charset="0"/>
              <a:buChar char="•"/>
            </a:pPr>
            <a:r>
              <a:rPr lang="en-US" sz="1600" dirty="0">
                <a:cs typeface="ＭＳ Ｐゴシック" pitchFamily="-106" charset="-128"/>
              </a:rPr>
              <a:t>Truth has a face.</a:t>
            </a:r>
          </a:p>
          <a:p>
            <a:pPr marL="762341" lvl="1" indent="-293208">
              <a:buFont typeface="Arial" panose="020B0604020202020204" pitchFamily="34" charset="0"/>
              <a:buChar char="•"/>
            </a:pPr>
            <a:r>
              <a:rPr lang="en-US" sz="1600" dirty="0">
                <a:cs typeface="ＭＳ Ｐゴシック" pitchFamily="-106" charset="-128"/>
              </a:rPr>
              <a:t>And a voice.</a:t>
            </a:r>
          </a:p>
          <a:p>
            <a:pPr marL="469133" lvl="1"/>
            <a:endParaRPr lang="en-US" sz="1600" dirty="0">
              <a:cs typeface="ＭＳ Ｐゴシック" pitchFamily="-106" charset="-128"/>
            </a:endParaRPr>
          </a:p>
          <a:p>
            <a:r>
              <a:rPr lang="en-US" sz="1600" b="1" dirty="0"/>
              <a:t>Truth That Sets Free</a:t>
            </a:r>
            <a:endParaRPr lang="en-US" sz="1600" dirty="0"/>
          </a:p>
          <a:p>
            <a:pPr marL="293208" indent="-293208">
              <a:buFont typeface="Arial" panose="020B0604020202020204" pitchFamily="34" charset="0"/>
              <a:buChar char="•"/>
            </a:pPr>
            <a:r>
              <a:rPr lang="en-US" sz="1600" dirty="0"/>
              <a:t>Jesus connects truth with freedom.</a:t>
            </a:r>
          </a:p>
          <a:p>
            <a:pPr marL="762341" lvl="1" indent="-293208">
              <a:buFont typeface="Arial" panose="020B0604020202020204" pitchFamily="34" charset="0"/>
              <a:buChar char="•"/>
            </a:pPr>
            <a:r>
              <a:rPr lang="en-US" sz="1600" b="1" dirty="0">
                <a:cs typeface="ＭＳ Ｐゴシック" pitchFamily="-106" charset="-128"/>
              </a:rPr>
              <a:t>“You will know the truth, and the truth will set you free.” (John 8:32)</a:t>
            </a:r>
          </a:p>
          <a:p>
            <a:pPr marL="762341" lvl="1" indent="-293208">
              <a:buFont typeface="Arial" panose="020B0604020202020204" pitchFamily="34" charset="0"/>
              <a:buChar char="•"/>
            </a:pPr>
            <a:r>
              <a:rPr lang="en-US" sz="1600" dirty="0">
                <a:cs typeface="ＭＳ Ｐゴシック" pitchFamily="-106" charset="-128"/>
              </a:rPr>
              <a:t>This is covenant freedom.</a:t>
            </a:r>
          </a:p>
          <a:p>
            <a:pPr marL="762341" lvl="1" indent="-293208">
              <a:buFont typeface="Arial" panose="020B0604020202020204" pitchFamily="34" charset="0"/>
              <a:buChar char="•"/>
            </a:pPr>
            <a:r>
              <a:rPr lang="en-US" sz="1600" dirty="0">
                <a:cs typeface="ＭＳ Ｐゴシック" pitchFamily="-106" charset="-128"/>
              </a:rPr>
              <a:t>Freedom from sin.</a:t>
            </a:r>
          </a:p>
          <a:p>
            <a:pPr marL="762341" lvl="1" indent="-293208">
              <a:buFont typeface="Arial" panose="020B0604020202020204" pitchFamily="34" charset="0"/>
              <a:buChar char="•"/>
            </a:pPr>
            <a:r>
              <a:rPr lang="en-US" sz="1600" dirty="0">
                <a:cs typeface="ＭＳ Ｐゴシック" pitchFamily="-106" charset="-128"/>
              </a:rPr>
              <a:t>Freedom from false images of God.</a:t>
            </a:r>
          </a:p>
          <a:p>
            <a:pPr marL="762341" lvl="1" indent="-293208">
              <a:buFont typeface="Arial" panose="020B0604020202020204" pitchFamily="34" charset="0"/>
              <a:buChar char="•"/>
            </a:pPr>
            <a:r>
              <a:rPr lang="en-US" sz="1600" b="1" dirty="0">
                <a:cs typeface="ＭＳ Ｐゴシック" pitchFamily="-106" charset="-128"/>
              </a:rPr>
              <a:t>“For the law was given through Moses, but grace and truth came about through Jesus Christ.” (John 1:17)</a:t>
            </a:r>
          </a:p>
          <a:p>
            <a:pPr marL="293208" indent="-293208">
              <a:buFont typeface="Arial" panose="020B0604020202020204" pitchFamily="34" charset="0"/>
              <a:buChar char="•"/>
            </a:pPr>
            <a:r>
              <a:rPr lang="en-US" sz="1600" dirty="0"/>
              <a:t>Early Christian teaching was clear.</a:t>
            </a:r>
          </a:p>
          <a:p>
            <a:pPr marL="762341" lvl="1" indent="-293208">
              <a:buFont typeface="Arial" panose="020B0604020202020204" pitchFamily="34" charset="0"/>
              <a:buChar char="•"/>
            </a:pPr>
            <a:r>
              <a:rPr lang="en-US" sz="1600" dirty="0">
                <a:cs typeface="ＭＳ Ｐゴシック" pitchFamily="-106" charset="-128"/>
              </a:rPr>
              <a:t>Truth is not an idea system.</a:t>
            </a:r>
          </a:p>
          <a:p>
            <a:pPr marL="762341" lvl="1" indent="-293208">
              <a:buFont typeface="Arial" panose="020B0604020202020204" pitchFamily="34" charset="0"/>
              <a:buChar char="•"/>
            </a:pPr>
            <a:r>
              <a:rPr lang="en-US" sz="1600" dirty="0">
                <a:cs typeface="ＭＳ Ｐゴシック" pitchFamily="-106" charset="-128"/>
              </a:rPr>
              <a:t>Truth is loyalty to Jesus as Lord.</a:t>
            </a:r>
          </a:p>
          <a:p>
            <a:pPr marL="762341" lvl="1" indent="-293208">
              <a:buFont typeface="Arial" panose="020B0604020202020204" pitchFamily="34" charset="0"/>
              <a:buChar char="•"/>
            </a:pPr>
            <a:r>
              <a:rPr lang="en-US" sz="1600" b="1" dirty="0">
                <a:cs typeface="ＭＳ Ｐゴシック" pitchFamily="-106" charset="-128"/>
              </a:rPr>
              <a:t>“Jesus is Lord.” (Romans 10:9)</a:t>
            </a:r>
          </a:p>
          <a:p>
            <a:pPr marL="762341" lvl="1" indent="-293208">
              <a:buFont typeface="Arial" panose="020B0604020202020204" pitchFamily="34" charset="0"/>
              <a:buChar char="•"/>
            </a:pPr>
            <a:r>
              <a:rPr lang="en-US" sz="1600" dirty="0">
                <a:cs typeface="ＭＳ Ｐゴシック" pitchFamily="-106" charset="-128"/>
              </a:rPr>
              <a:t>That confession defines truth.</a:t>
            </a:r>
          </a:p>
          <a:p>
            <a:endParaRPr lang="en-US" dirty="0"/>
          </a:p>
        </p:txBody>
      </p:sp>
      <p:sp>
        <p:nvSpPr>
          <p:cNvPr id="4" name="Slide Number Placeholder 3">
            <a:extLst>
              <a:ext uri="{FF2B5EF4-FFF2-40B4-BE49-F238E27FC236}">
                <a16:creationId xmlns:a16="http://schemas.microsoft.com/office/drawing/2014/main" id="{9A82FD43-0067-82DD-2CC8-6C15C81DB9D6}"/>
              </a:ext>
            </a:extLst>
          </p:cNvPr>
          <p:cNvSpPr>
            <a:spLocks noGrp="1"/>
          </p:cNvSpPr>
          <p:nvPr>
            <p:ph type="sldNum" sz="quarter" idx="10"/>
          </p:nvPr>
        </p:nvSpPr>
        <p:spPr/>
        <p:txBody>
          <a:bodyPr/>
          <a:lstStyle/>
          <a:p>
            <a:pPr>
              <a:defRPr/>
            </a:pPr>
            <a:fld id="{07776858-791E-4C8D-8FA3-473B3AFECFAC}" type="slidenum">
              <a:rPr lang="en-US" smtClean="0"/>
              <a:pPr>
                <a:defRPr/>
              </a:pPr>
              <a:t>5</a:t>
            </a:fld>
            <a:endParaRPr lang="en-US" dirty="0"/>
          </a:p>
        </p:txBody>
      </p:sp>
    </p:spTree>
    <p:extLst>
      <p:ext uri="{BB962C8B-B14F-4D97-AF65-F5344CB8AC3E}">
        <p14:creationId xmlns:p14="http://schemas.microsoft.com/office/powerpoint/2010/main" val="11929112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4A565-0E88-82A3-F94D-0B11D0E6F0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B8481C-4750-203A-4211-F05EFB42192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4D473BB-50D9-015E-67BA-B612C8A4D6BA}"/>
              </a:ext>
            </a:extLst>
          </p:cNvPr>
          <p:cNvSpPr>
            <a:spLocks noGrp="1"/>
          </p:cNvSpPr>
          <p:nvPr>
            <p:ph type="body" idx="1"/>
          </p:nvPr>
        </p:nvSpPr>
        <p:spPr/>
        <p:txBody>
          <a:bodyPr>
            <a:normAutofit/>
          </a:bodyPr>
          <a:lstStyle/>
          <a:p>
            <a:r>
              <a:rPr lang="en-US" sz="1600" b="1" dirty="0"/>
              <a:t>“I Am the Life”</a:t>
            </a:r>
            <a:endParaRPr lang="en-US" sz="1600" dirty="0"/>
          </a:p>
          <a:p>
            <a:endParaRPr lang="en-US" sz="1600" b="1" dirty="0"/>
          </a:p>
          <a:p>
            <a:r>
              <a:rPr lang="en-US" sz="1600" b="1" dirty="0"/>
              <a:t>Life as God’s Own Life</a:t>
            </a:r>
            <a:endParaRPr lang="en-US" sz="1600" dirty="0"/>
          </a:p>
          <a:p>
            <a:pPr marL="175925" indent="-175925">
              <a:buFont typeface="Arial" panose="020B0604020202020204" pitchFamily="34" charset="0"/>
              <a:buChar char="•"/>
            </a:pPr>
            <a:r>
              <a:rPr lang="en-US" sz="1600" dirty="0"/>
              <a:t>In Scripture, life comes from God alone.</a:t>
            </a:r>
          </a:p>
          <a:p>
            <a:pPr marL="645058" lvl="1" indent="-175925">
              <a:buFont typeface="Arial" panose="020B0604020202020204" pitchFamily="34" charset="0"/>
              <a:buChar char="•"/>
            </a:pPr>
            <a:r>
              <a:rPr lang="en-US" sz="1600" b="1" dirty="0">
                <a:cs typeface="ＭＳ Ｐゴシック" pitchFamily="-106" charset="-128"/>
              </a:rPr>
              <a:t>“For with you is the fountain of life.” (Psalm 36:9)</a:t>
            </a:r>
          </a:p>
          <a:p>
            <a:pPr marL="175925" indent="-175925">
              <a:buFont typeface="Arial" panose="020B0604020202020204" pitchFamily="34" charset="0"/>
              <a:buChar char="•"/>
            </a:pPr>
            <a:r>
              <a:rPr lang="en-US" sz="1600" dirty="0"/>
              <a:t>Jesus claims that life is found </a:t>
            </a:r>
            <a:r>
              <a:rPr lang="en-US" sz="1600" i="1" dirty="0"/>
              <a:t>in Him</a:t>
            </a:r>
            <a:r>
              <a:rPr lang="en-US" sz="1600" dirty="0"/>
              <a:t>.</a:t>
            </a:r>
          </a:p>
          <a:p>
            <a:pPr marL="645058" lvl="1" indent="-175925">
              <a:buFont typeface="Arial" panose="020B0604020202020204" pitchFamily="34" charset="0"/>
              <a:buChar char="•"/>
            </a:pPr>
            <a:r>
              <a:rPr lang="en-US" sz="1600" b="1" dirty="0">
                <a:cs typeface="ＭＳ Ｐゴシック" pitchFamily="-106" charset="-128"/>
              </a:rPr>
              <a:t>“Just as the Father has life in himself, thus he has granted the Son to have life in himself.” (John 5:26)</a:t>
            </a:r>
          </a:p>
          <a:p>
            <a:pPr marL="175925" indent="-175925">
              <a:buFont typeface="Arial" panose="020B0604020202020204" pitchFamily="34" charset="0"/>
              <a:buChar char="•"/>
            </a:pPr>
            <a:r>
              <a:rPr lang="en-US" sz="1600" dirty="0"/>
              <a:t>This is shared life.</a:t>
            </a:r>
          </a:p>
          <a:p>
            <a:pPr marL="175925" indent="-175925">
              <a:buFont typeface="Arial" panose="020B0604020202020204" pitchFamily="34" charset="0"/>
              <a:buChar char="•"/>
            </a:pPr>
            <a:r>
              <a:rPr lang="en-US" sz="1600" dirty="0"/>
              <a:t>Not borrowed life.</a:t>
            </a:r>
          </a:p>
          <a:p>
            <a:endParaRPr lang="en-US" sz="1600" b="1" dirty="0"/>
          </a:p>
          <a:p>
            <a:r>
              <a:rPr lang="en-US" sz="1600" b="1" dirty="0"/>
              <a:t>Life That Overcomes Death</a:t>
            </a:r>
            <a:endParaRPr lang="en-US" sz="1600" dirty="0"/>
          </a:p>
          <a:p>
            <a:pPr marL="175925" indent="-175925">
              <a:buFont typeface="Arial" panose="020B0604020202020204" pitchFamily="34" charset="0"/>
              <a:buChar char="•"/>
            </a:pPr>
            <a:r>
              <a:rPr lang="en-US" sz="1600" dirty="0"/>
              <a:t>Jesus is not only alive.</a:t>
            </a:r>
          </a:p>
          <a:p>
            <a:pPr marL="175925" indent="-175925">
              <a:buFont typeface="Arial" panose="020B0604020202020204" pitchFamily="34" charset="0"/>
              <a:buChar char="•"/>
            </a:pPr>
            <a:r>
              <a:rPr lang="en-US" sz="1600" dirty="0"/>
              <a:t>He gives life.</a:t>
            </a:r>
          </a:p>
          <a:p>
            <a:pPr marL="645058" lvl="1" indent="-175925">
              <a:buFont typeface="Arial" panose="020B0604020202020204" pitchFamily="34" charset="0"/>
              <a:buChar char="•"/>
            </a:pPr>
            <a:r>
              <a:rPr lang="en-US" sz="1600" b="1" dirty="0">
                <a:cs typeface="ＭＳ Ｐゴシック" pitchFamily="-106" charset="-128"/>
              </a:rPr>
              <a:t>“I am the resurrection and the life.” (John 11:25)</a:t>
            </a:r>
          </a:p>
          <a:p>
            <a:pPr marL="175925" indent="-175925">
              <a:buFont typeface="Arial" panose="020B0604020202020204" pitchFamily="34" charset="0"/>
              <a:buChar char="•"/>
            </a:pPr>
            <a:r>
              <a:rPr lang="en-US" sz="1600" dirty="0"/>
              <a:t>This life starts now.</a:t>
            </a:r>
          </a:p>
          <a:p>
            <a:pPr marL="645058" lvl="1" indent="-175925">
              <a:buFont typeface="Arial" panose="020B0604020202020204" pitchFamily="34" charset="0"/>
              <a:buChar char="•"/>
            </a:pPr>
            <a:r>
              <a:rPr lang="en-US" sz="1600" b="1" dirty="0">
                <a:cs typeface="ＭＳ Ｐゴシック" pitchFamily="-106" charset="-128"/>
              </a:rPr>
              <a:t>“The one who has the Son has life.” (1 John 5:12)</a:t>
            </a:r>
          </a:p>
          <a:p>
            <a:pPr marL="175925" indent="-175925">
              <a:buFont typeface="Arial" panose="020B0604020202020204" pitchFamily="34" charset="0"/>
              <a:buChar char="•"/>
            </a:pPr>
            <a:r>
              <a:rPr lang="en-US" sz="1600" dirty="0"/>
              <a:t>Early Christian writers emphasized this.</a:t>
            </a:r>
          </a:p>
          <a:p>
            <a:pPr marL="645058" lvl="1" indent="-175925">
              <a:buFont typeface="Arial" panose="020B0604020202020204" pitchFamily="34" charset="0"/>
              <a:buChar char="•"/>
            </a:pPr>
            <a:r>
              <a:rPr lang="en-US" sz="1600" dirty="0">
                <a:cs typeface="ＭＳ Ｐゴシック" pitchFamily="-106" charset="-128"/>
              </a:rPr>
              <a:t>Salvation was participation.</a:t>
            </a:r>
          </a:p>
          <a:p>
            <a:pPr marL="645058" lvl="1" indent="-175925">
              <a:buFont typeface="Arial" panose="020B0604020202020204" pitchFamily="34" charset="0"/>
              <a:buChar char="•"/>
            </a:pPr>
            <a:r>
              <a:rPr lang="en-US" sz="1600" dirty="0">
                <a:cs typeface="ＭＳ Ｐゴシック" pitchFamily="-106" charset="-128"/>
              </a:rPr>
              <a:t>Not just forgiveness.</a:t>
            </a:r>
          </a:p>
          <a:p>
            <a:pPr marL="175925" indent="-175925">
              <a:buFont typeface="Arial" panose="020B0604020202020204" pitchFamily="34" charset="0"/>
              <a:buChar char="•"/>
            </a:pPr>
            <a:r>
              <a:rPr lang="en-US" sz="1600" b="1" dirty="0"/>
              <a:t>“Just as Christ was raised from the dead… so we too may live a new life.” (Romans 6:4)</a:t>
            </a:r>
          </a:p>
          <a:p>
            <a:endParaRPr lang="en-US" dirty="0"/>
          </a:p>
        </p:txBody>
      </p:sp>
      <p:sp>
        <p:nvSpPr>
          <p:cNvPr id="4" name="Slide Number Placeholder 3">
            <a:extLst>
              <a:ext uri="{FF2B5EF4-FFF2-40B4-BE49-F238E27FC236}">
                <a16:creationId xmlns:a16="http://schemas.microsoft.com/office/drawing/2014/main" id="{14BE87F5-CD8A-2389-CB72-16FE67C55B97}"/>
              </a:ext>
            </a:extLst>
          </p:cNvPr>
          <p:cNvSpPr>
            <a:spLocks noGrp="1"/>
          </p:cNvSpPr>
          <p:nvPr>
            <p:ph type="sldNum" sz="quarter" idx="10"/>
          </p:nvPr>
        </p:nvSpPr>
        <p:spPr/>
        <p:txBody>
          <a:bodyPr/>
          <a:lstStyle/>
          <a:p>
            <a:pPr>
              <a:defRPr/>
            </a:pPr>
            <a:fld id="{07776858-791E-4C8D-8FA3-473B3AFECFAC}" type="slidenum">
              <a:rPr lang="en-US" smtClean="0"/>
              <a:pPr>
                <a:defRPr/>
              </a:pPr>
              <a:t>6</a:t>
            </a:fld>
            <a:endParaRPr lang="en-US" dirty="0"/>
          </a:p>
        </p:txBody>
      </p:sp>
    </p:spTree>
    <p:extLst>
      <p:ext uri="{BB962C8B-B14F-4D97-AF65-F5344CB8AC3E}">
        <p14:creationId xmlns:p14="http://schemas.microsoft.com/office/powerpoint/2010/main" val="29895538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3C4B6-4328-3049-6B20-F1F6CA9E98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062564-2718-95DF-1D23-F6BF42D2D58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D2FCC7A-41F2-A6CC-795D-091AE3F7C4B5}"/>
              </a:ext>
            </a:extLst>
          </p:cNvPr>
          <p:cNvSpPr>
            <a:spLocks noGrp="1"/>
          </p:cNvSpPr>
          <p:nvPr>
            <p:ph type="body" idx="1"/>
          </p:nvPr>
        </p:nvSpPr>
        <p:spPr/>
        <p:txBody>
          <a:bodyPr>
            <a:normAutofit/>
          </a:bodyPr>
          <a:lstStyle/>
          <a:p>
            <a:r>
              <a:rPr lang="en-US" sz="1600" b="1" dirty="0"/>
              <a:t>How the Three Belong Together</a:t>
            </a:r>
            <a:endParaRPr lang="en-US" sz="1600" dirty="0"/>
          </a:p>
          <a:p>
            <a:pPr marL="175925" indent="-175925">
              <a:buFont typeface="Arial" panose="020B0604020202020204" pitchFamily="34" charset="0"/>
              <a:buChar char="•"/>
            </a:pPr>
            <a:r>
              <a:rPr lang="en-US" sz="1600" dirty="0"/>
              <a:t>The way leads to truth.</a:t>
            </a:r>
          </a:p>
          <a:p>
            <a:pPr marL="175925" indent="-175925">
              <a:buFont typeface="Arial" panose="020B0604020202020204" pitchFamily="34" charset="0"/>
              <a:buChar char="•"/>
            </a:pPr>
            <a:r>
              <a:rPr lang="en-US" sz="1600" dirty="0"/>
              <a:t>Truth results in life.</a:t>
            </a:r>
          </a:p>
          <a:p>
            <a:pPr marL="175925" indent="-175925">
              <a:buFont typeface="Arial" panose="020B0604020202020204" pitchFamily="34" charset="0"/>
              <a:buChar char="•"/>
            </a:pPr>
            <a:r>
              <a:rPr lang="en-US" sz="1600" dirty="0"/>
              <a:t>Remove one and the others collapse.</a:t>
            </a:r>
          </a:p>
          <a:p>
            <a:pPr marL="645058" lvl="1" indent="-175925" fontAlgn="ctr">
              <a:buFont typeface="Arial" panose="020B0604020202020204" pitchFamily="34" charset="0"/>
              <a:buChar char="•"/>
            </a:pPr>
            <a:r>
              <a:rPr lang="en-US" sz="1600" dirty="0">
                <a:cs typeface="ＭＳ Ｐゴシック" pitchFamily="-106" charset="-128"/>
              </a:rPr>
              <a:t>A way without truth becomes confusion.</a:t>
            </a:r>
          </a:p>
          <a:p>
            <a:pPr marL="645058" lvl="1" indent="-175925" fontAlgn="ctr">
              <a:buFont typeface="Arial" panose="020B0604020202020204" pitchFamily="34" charset="0"/>
              <a:buChar char="•"/>
            </a:pPr>
            <a:r>
              <a:rPr lang="en-US" sz="1600" dirty="0">
                <a:cs typeface="ＭＳ Ｐゴシック" pitchFamily="-106" charset="-128"/>
              </a:rPr>
              <a:t>Truth without life becomes dead doctrine.</a:t>
            </a:r>
          </a:p>
          <a:p>
            <a:pPr marL="645058" lvl="1" indent="-175925" fontAlgn="ctr">
              <a:buFont typeface="Arial" panose="020B0604020202020204" pitchFamily="34" charset="0"/>
              <a:buChar char="•"/>
            </a:pPr>
            <a:r>
              <a:rPr lang="en-US" sz="1600" dirty="0">
                <a:cs typeface="ＭＳ Ｐゴシック" pitchFamily="-106" charset="-128"/>
              </a:rPr>
              <a:t>Life without the way becomes self-made spirituality.</a:t>
            </a:r>
          </a:p>
          <a:p>
            <a:pPr marL="175925" indent="-175925">
              <a:buFont typeface="Arial" panose="020B0604020202020204" pitchFamily="34" charset="0"/>
              <a:buChar char="•"/>
            </a:pPr>
            <a:r>
              <a:rPr lang="en-US" sz="1600" dirty="0"/>
              <a:t>Jesus is all three.</a:t>
            </a:r>
          </a:p>
          <a:p>
            <a:pPr marL="175925" indent="-175925">
              <a:buFont typeface="Arial" panose="020B0604020202020204" pitchFamily="34" charset="0"/>
              <a:buChar char="•"/>
            </a:pPr>
            <a:r>
              <a:rPr lang="en-US" sz="1600" dirty="0"/>
              <a:t>At the same time.</a:t>
            </a:r>
          </a:p>
          <a:p>
            <a:pPr marL="175925" indent="-175925">
              <a:buFont typeface="Arial" panose="020B0604020202020204" pitchFamily="34" charset="0"/>
              <a:buChar char="•"/>
            </a:pPr>
            <a:r>
              <a:rPr lang="en-US" sz="1600" dirty="0"/>
              <a:t>In one person.</a:t>
            </a:r>
          </a:p>
          <a:p>
            <a:r>
              <a:rPr lang="en-US" sz="1600" dirty="0"/>
              <a:t> </a:t>
            </a:r>
          </a:p>
          <a:p>
            <a:r>
              <a:rPr lang="en-US" sz="1600" b="1" dirty="0"/>
              <a:t>New Covenant Fulfillment in Christ</a:t>
            </a:r>
            <a:endParaRPr lang="en-US" sz="1600" dirty="0"/>
          </a:p>
          <a:p>
            <a:pPr marL="293208" indent="-293208">
              <a:buFont typeface="Arial" panose="020B0604020202020204" pitchFamily="34" charset="0"/>
              <a:buChar char="•"/>
            </a:pPr>
            <a:r>
              <a:rPr lang="en-US" sz="1600" dirty="0"/>
              <a:t>Jesus fulfills Jeremiah 31 fully.</a:t>
            </a:r>
          </a:p>
          <a:p>
            <a:pPr marL="762341" lvl="1" indent="-293208" fontAlgn="ctr">
              <a:buFont typeface="Arial" panose="020B0604020202020204" pitchFamily="34" charset="0"/>
              <a:buChar char="•"/>
            </a:pPr>
            <a:r>
              <a:rPr lang="en-US" sz="1600" dirty="0">
                <a:cs typeface="ＭＳ Ｐゴシック" pitchFamily="-106" charset="-128"/>
              </a:rPr>
              <a:t>The </a:t>
            </a:r>
            <a:r>
              <a:rPr lang="en-US" sz="1600" b="1" dirty="0">
                <a:cs typeface="ＭＳ Ｐゴシック" pitchFamily="-106" charset="-128"/>
              </a:rPr>
              <a:t>Way</a:t>
            </a:r>
            <a:r>
              <a:rPr lang="en-US" sz="1600" dirty="0">
                <a:cs typeface="ＭＳ Ｐゴシック" pitchFamily="-106" charset="-128"/>
              </a:rPr>
              <a:t>: access to God.</a:t>
            </a:r>
          </a:p>
          <a:p>
            <a:pPr marL="762341" lvl="1" indent="-293208" fontAlgn="ctr">
              <a:buFont typeface="Arial" panose="020B0604020202020204" pitchFamily="34" charset="0"/>
              <a:buChar char="•"/>
            </a:pPr>
            <a:r>
              <a:rPr lang="en-US" sz="1600" dirty="0">
                <a:cs typeface="ＭＳ Ｐゴシック" pitchFamily="-106" charset="-128"/>
              </a:rPr>
              <a:t>The </a:t>
            </a:r>
            <a:r>
              <a:rPr lang="en-US" sz="1600" b="1" dirty="0">
                <a:cs typeface="ＭＳ Ｐゴシック" pitchFamily="-106" charset="-128"/>
              </a:rPr>
              <a:t>Truth</a:t>
            </a:r>
            <a:r>
              <a:rPr lang="en-US" sz="1600" dirty="0">
                <a:cs typeface="ＭＳ Ｐゴシック" pitchFamily="-106" charset="-128"/>
              </a:rPr>
              <a:t>: God revealed.</a:t>
            </a:r>
          </a:p>
          <a:p>
            <a:pPr marL="762341" lvl="1" indent="-293208" fontAlgn="ctr">
              <a:buFont typeface="Arial" panose="020B0604020202020204" pitchFamily="34" charset="0"/>
              <a:buChar char="•"/>
            </a:pPr>
            <a:r>
              <a:rPr lang="en-US" sz="1600" dirty="0">
                <a:cs typeface="ＭＳ Ｐゴシック" pitchFamily="-106" charset="-128"/>
              </a:rPr>
              <a:t>The </a:t>
            </a:r>
            <a:r>
              <a:rPr lang="en-US" sz="1600" b="1" dirty="0">
                <a:cs typeface="ＭＳ Ｐゴシック" pitchFamily="-106" charset="-128"/>
              </a:rPr>
              <a:t>Life</a:t>
            </a:r>
            <a:r>
              <a:rPr lang="en-US" sz="1600" dirty="0">
                <a:cs typeface="ＭＳ Ｐゴシック" pitchFamily="-106" charset="-128"/>
              </a:rPr>
              <a:t>: God shared.</a:t>
            </a:r>
          </a:p>
          <a:p>
            <a:pPr marL="293208" indent="-293208">
              <a:buFont typeface="Arial" panose="020B0604020202020204" pitchFamily="34" charset="0"/>
              <a:buChar char="•"/>
            </a:pPr>
            <a:r>
              <a:rPr lang="en-US" sz="1600" b="1" dirty="0"/>
              <a:t>“This is eternal life: that they know you, the only true God, and Jesus Christ, whom you sent.” (John 17:3)</a:t>
            </a:r>
          </a:p>
          <a:p>
            <a:pPr marL="293208" indent="-293208">
              <a:buFont typeface="Arial" panose="020B0604020202020204" pitchFamily="34" charset="0"/>
              <a:buChar char="•"/>
            </a:pPr>
            <a:r>
              <a:rPr lang="en-US" sz="1600" dirty="0"/>
              <a:t>This is relational knowledge.</a:t>
            </a:r>
          </a:p>
          <a:p>
            <a:pPr marL="293208" indent="-293208">
              <a:buFont typeface="Arial" panose="020B0604020202020204" pitchFamily="34" charset="0"/>
              <a:buChar char="•"/>
            </a:pPr>
            <a:r>
              <a:rPr lang="en-US" sz="1600" dirty="0"/>
              <a:t>Covenant knowledge.</a:t>
            </a:r>
          </a:p>
          <a:p>
            <a:pPr marL="293208" indent="-293208">
              <a:buFont typeface="Arial" panose="020B0604020202020204" pitchFamily="34" charset="0"/>
              <a:buChar char="•"/>
            </a:pPr>
            <a:r>
              <a:rPr lang="en-US" sz="1600" dirty="0"/>
              <a:t>Shared life.</a:t>
            </a:r>
          </a:p>
          <a:p>
            <a:endParaRPr lang="en-US" dirty="0"/>
          </a:p>
        </p:txBody>
      </p:sp>
      <p:sp>
        <p:nvSpPr>
          <p:cNvPr id="4" name="Slide Number Placeholder 3">
            <a:extLst>
              <a:ext uri="{FF2B5EF4-FFF2-40B4-BE49-F238E27FC236}">
                <a16:creationId xmlns:a16="http://schemas.microsoft.com/office/drawing/2014/main" id="{50C8A50D-9156-3E28-FDED-021D06DC18BB}"/>
              </a:ext>
            </a:extLst>
          </p:cNvPr>
          <p:cNvSpPr>
            <a:spLocks noGrp="1"/>
          </p:cNvSpPr>
          <p:nvPr>
            <p:ph type="sldNum" sz="quarter" idx="10"/>
          </p:nvPr>
        </p:nvSpPr>
        <p:spPr/>
        <p:txBody>
          <a:bodyPr/>
          <a:lstStyle/>
          <a:p>
            <a:pPr>
              <a:defRPr/>
            </a:pPr>
            <a:fld id="{07776858-791E-4C8D-8FA3-473B3AFECFAC}" type="slidenum">
              <a:rPr lang="en-US" smtClean="0"/>
              <a:pPr>
                <a:defRPr/>
              </a:pPr>
              <a:t>7</a:t>
            </a:fld>
            <a:endParaRPr lang="en-US" dirty="0"/>
          </a:p>
        </p:txBody>
      </p:sp>
    </p:spTree>
    <p:extLst>
      <p:ext uri="{BB962C8B-B14F-4D97-AF65-F5344CB8AC3E}">
        <p14:creationId xmlns:p14="http://schemas.microsoft.com/office/powerpoint/2010/main" val="27583601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5632C-7143-99D7-40FE-3813BB84B9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38B8C3-2763-AA55-A277-BFDA6F35132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5137594-66F9-8809-277F-D6D42A1F84D0}"/>
              </a:ext>
            </a:extLst>
          </p:cNvPr>
          <p:cNvSpPr>
            <a:spLocks noGrp="1"/>
          </p:cNvSpPr>
          <p:nvPr>
            <p:ph type="body" idx="1"/>
          </p:nvPr>
        </p:nvSpPr>
        <p:spPr/>
        <p:txBody>
          <a:bodyPr>
            <a:normAutofit/>
          </a:bodyPr>
          <a:lstStyle/>
          <a:p>
            <a:r>
              <a:rPr lang="en-US" sz="1600" b="1" dirty="0"/>
              <a:t>Application for the Church</a:t>
            </a:r>
            <a:endParaRPr lang="en-US" sz="1600" dirty="0"/>
          </a:p>
          <a:p>
            <a:pPr marL="293208" indent="-293208" fontAlgn="ctr">
              <a:buFont typeface="Arial" panose="020B0604020202020204" pitchFamily="34" charset="0"/>
              <a:buChar char="•"/>
            </a:pPr>
            <a:r>
              <a:rPr lang="en-US" sz="1600" dirty="0"/>
              <a:t>Christianity is not a path we master.</a:t>
            </a:r>
          </a:p>
          <a:p>
            <a:pPr marL="762341" lvl="1" indent="-293208" fontAlgn="ctr">
              <a:buFont typeface="Arial" panose="020B0604020202020204" pitchFamily="34" charset="0"/>
              <a:buChar char="•"/>
            </a:pPr>
            <a:r>
              <a:rPr lang="en-US" sz="1600" dirty="0">
                <a:cs typeface="ＭＳ Ｐゴシック" pitchFamily="-106" charset="-128"/>
              </a:rPr>
              <a:t>It is a person we follow.</a:t>
            </a:r>
          </a:p>
          <a:p>
            <a:pPr marL="293208" indent="-293208" fontAlgn="ctr">
              <a:buFont typeface="Arial" panose="020B0604020202020204" pitchFamily="34" charset="0"/>
              <a:buChar char="•"/>
            </a:pPr>
            <a:r>
              <a:rPr lang="en-US" sz="1600" dirty="0"/>
              <a:t>Truth is not winning arguments.</a:t>
            </a:r>
          </a:p>
          <a:p>
            <a:pPr marL="762341" lvl="1" indent="-293208" fontAlgn="ctr">
              <a:buFont typeface="Arial" panose="020B0604020202020204" pitchFamily="34" charset="0"/>
              <a:buChar char="•"/>
            </a:pPr>
            <a:r>
              <a:rPr lang="en-US" sz="1600" dirty="0">
                <a:cs typeface="ＭＳ Ｐゴシック" pitchFamily="-106" charset="-128"/>
              </a:rPr>
              <a:t>It is staying loyal to Jesus.</a:t>
            </a:r>
          </a:p>
          <a:p>
            <a:pPr marL="293208" indent="-293208" fontAlgn="ctr">
              <a:buFont typeface="Arial" panose="020B0604020202020204" pitchFamily="34" charset="0"/>
              <a:buChar char="•"/>
            </a:pPr>
            <a:r>
              <a:rPr lang="en-US" sz="1600" dirty="0"/>
              <a:t>Life is not future only.</a:t>
            </a:r>
          </a:p>
          <a:p>
            <a:pPr marL="762341" lvl="1" indent="-293208" fontAlgn="ctr">
              <a:buFont typeface="Arial" panose="020B0604020202020204" pitchFamily="34" charset="0"/>
              <a:buChar char="•"/>
            </a:pPr>
            <a:r>
              <a:rPr lang="en-US" sz="1600" dirty="0">
                <a:cs typeface="ＭＳ Ｐゴシック" pitchFamily="-106" charset="-128"/>
              </a:rPr>
              <a:t>It begins now.</a:t>
            </a:r>
          </a:p>
          <a:p>
            <a:pPr marL="293208" indent="-293208">
              <a:buFont typeface="Arial" panose="020B0604020202020204" pitchFamily="34" charset="0"/>
              <a:buChar char="•"/>
            </a:pPr>
            <a:r>
              <a:rPr lang="en-US" sz="1600" b="1" dirty="0"/>
              <a:t>“I have come so that they may have life and may have it abundantly.” (John 10:10)</a:t>
            </a:r>
          </a:p>
          <a:p>
            <a:r>
              <a:rPr lang="en-US" sz="1600" dirty="0"/>
              <a:t> </a:t>
            </a:r>
          </a:p>
          <a:p>
            <a:r>
              <a:rPr lang="en-US" sz="1600" b="1" dirty="0"/>
              <a:t>Closing Call</a:t>
            </a:r>
            <a:endParaRPr lang="en-US" sz="1600" dirty="0"/>
          </a:p>
          <a:p>
            <a:pPr marL="293208" indent="-293208">
              <a:buFont typeface="Arial" panose="020B0604020202020204" pitchFamily="34" charset="0"/>
              <a:buChar char="•"/>
            </a:pPr>
            <a:r>
              <a:rPr lang="en-US" sz="1600" dirty="0"/>
              <a:t>Jesus does not invite us to study Him only.</a:t>
            </a:r>
          </a:p>
          <a:p>
            <a:pPr marL="762341" lvl="1" indent="-293208">
              <a:buFont typeface="Arial" panose="020B0604020202020204" pitchFamily="34" charset="0"/>
              <a:buChar char="•"/>
            </a:pPr>
            <a:r>
              <a:rPr lang="en-US" sz="1600" dirty="0">
                <a:cs typeface="ＭＳ Ｐゴシック" pitchFamily="-106" charset="-128"/>
              </a:rPr>
              <a:t>He invites us to come to Him.</a:t>
            </a:r>
          </a:p>
          <a:p>
            <a:pPr marL="762341" lvl="1" indent="-293208">
              <a:buFont typeface="Arial" panose="020B0604020202020204" pitchFamily="34" charset="0"/>
              <a:buChar char="•"/>
            </a:pPr>
            <a:r>
              <a:rPr lang="en-US" sz="1600" b="1" dirty="0">
                <a:cs typeface="ＭＳ Ｐゴシック" pitchFamily="-106" charset="-128"/>
              </a:rPr>
              <a:t>“Come to me, all you who are weary and burdened, and I will give you rest.” (Matthew 11:28)</a:t>
            </a:r>
          </a:p>
          <a:p>
            <a:pPr marL="293208" indent="-293208">
              <a:buFont typeface="Arial" panose="020B0604020202020204" pitchFamily="34" charset="0"/>
              <a:buChar char="•"/>
            </a:pPr>
            <a:r>
              <a:rPr lang="en-US" sz="1600" dirty="0"/>
              <a:t>He is the </a:t>
            </a:r>
            <a:r>
              <a:rPr lang="en-US" sz="1600" b="1" dirty="0"/>
              <a:t>Way</a:t>
            </a:r>
            <a:r>
              <a:rPr lang="en-US" sz="1600" dirty="0"/>
              <a:t>.</a:t>
            </a:r>
          </a:p>
          <a:p>
            <a:pPr marL="293208" indent="-293208">
              <a:buFont typeface="Arial" panose="020B0604020202020204" pitchFamily="34" charset="0"/>
              <a:buChar char="•"/>
            </a:pPr>
            <a:r>
              <a:rPr lang="en-US" sz="1600" dirty="0"/>
              <a:t>He is the </a:t>
            </a:r>
            <a:r>
              <a:rPr lang="en-US" sz="1600" b="1" dirty="0"/>
              <a:t>Truth</a:t>
            </a:r>
            <a:r>
              <a:rPr lang="en-US" sz="1600" dirty="0"/>
              <a:t>.</a:t>
            </a:r>
          </a:p>
          <a:p>
            <a:pPr marL="293208" indent="-293208">
              <a:buFont typeface="Arial" panose="020B0604020202020204" pitchFamily="34" charset="0"/>
              <a:buChar char="•"/>
            </a:pPr>
            <a:r>
              <a:rPr lang="en-US" sz="1600" dirty="0"/>
              <a:t>He is the </a:t>
            </a:r>
            <a:r>
              <a:rPr lang="en-US" sz="1600" b="1" dirty="0"/>
              <a:t>Life</a:t>
            </a:r>
            <a:r>
              <a:rPr lang="en-US" sz="1600" dirty="0"/>
              <a:t>.</a:t>
            </a:r>
          </a:p>
          <a:p>
            <a:pPr marL="293208" indent="-293208">
              <a:buFont typeface="Arial" panose="020B0604020202020204" pitchFamily="34" charset="0"/>
              <a:buChar char="•"/>
            </a:pPr>
            <a:r>
              <a:rPr lang="en-US" sz="1600" b="1" dirty="0"/>
              <a:t>And through Him, we know God.</a:t>
            </a:r>
          </a:p>
          <a:p>
            <a:endParaRPr lang="en-US" sz="1600" dirty="0"/>
          </a:p>
          <a:p>
            <a:endParaRPr lang="en-US" sz="1600" dirty="0"/>
          </a:p>
          <a:p>
            <a:r>
              <a:rPr lang="en-US" sz="1600" dirty="0"/>
              <a:t>Every covenant — Abrahamic, Mosaic, Davidic, and New — finds its “Yes” in Christ.</a:t>
            </a:r>
          </a:p>
          <a:p>
            <a:pPr marL="175925" indent="-175925">
              <a:buFont typeface="Arial" panose="020B0604020202020204" pitchFamily="34" charset="0"/>
              <a:buChar char="•"/>
            </a:pPr>
            <a:r>
              <a:rPr lang="en-US" sz="1600" dirty="0"/>
              <a:t>“For as many as are the promises of God, in Him they are yes; therefore also through Him is our Amen to the glory of God through us.”</a:t>
            </a:r>
          </a:p>
          <a:p>
            <a:pPr marL="175925" indent="-175925">
              <a:buFont typeface="Arial" panose="020B0604020202020204" pitchFamily="34" charset="0"/>
              <a:buChar char="•"/>
            </a:pPr>
            <a:r>
              <a:rPr lang="en-US" sz="1600" dirty="0"/>
              <a:t>— </a:t>
            </a:r>
            <a:r>
              <a:rPr lang="en-US" sz="1600" b="1" dirty="0"/>
              <a:t>2 Corinthians 1:20</a:t>
            </a:r>
            <a:endParaRPr lang="en-US" sz="1600" dirty="0"/>
          </a:p>
          <a:p>
            <a:pPr marL="175925" indent="-175925">
              <a:buFont typeface="Arial" panose="020B0604020202020204" pitchFamily="34" charset="0"/>
              <a:buChar char="•"/>
            </a:pPr>
            <a:r>
              <a:rPr lang="en-US" sz="1600" dirty="0"/>
              <a:t>God’s invitation is simple: </a:t>
            </a:r>
            <a:r>
              <a:rPr lang="en-US" sz="1600" b="1" dirty="0"/>
              <a:t>believe, follow, and know Him through His Son.</a:t>
            </a:r>
            <a:endParaRPr lang="en-US" sz="1600" dirty="0"/>
          </a:p>
          <a:p>
            <a:endParaRPr lang="en-US" dirty="0"/>
          </a:p>
        </p:txBody>
      </p:sp>
      <p:sp>
        <p:nvSpPr>
          <p:cNvPr id="4" name="Slide Number Placeholder 3">
            <a:extLst>
              <a:ext uri="{FF2B5EF4-FFF2-40B4-BE49-F238E27FC236}">
                <a16:creationId xmlns:a16="http://schemas.microsoft.com/office/drawing/2014/main" id="{4D693411-BCD2-9276-1DEC-8A3386FE90EF}"/>
              </a:ext>
            </a:extLst>
          </p:cNvPr>
          <p:cNvSpPr>
            <a:spLocks noGrp="1"/>
          </p:cNvSpPr>
          <p:nvPr>
            <p:ph type="sldNum" sz="quarter" idx="10"/>
          </p:nvPr>
        </p:nvSpPr>
        <p:spPr/>
        <p:txBody>
          <a:bodyPr/>
          <a:lstStyle/>
          <a:p>
            <a:pPr>
              <a:defRPr/>
            </a:pPr>
            <a:fld id="{07776858-791E-4C8D-8FA3-473B3AFECFAC}" type="slidenum">
              <a:rPr lang="en-US" smtClean="0"/>
              <a:pPr>
                <a:defRPr/>
              </a:pPr>
              <a:t>8</a:t>
            </a:fld>
            <a:endParaRPr lang="en-US" dirty="0"/>
          </a:p>
        </p:txBody>
      </p:sp>
    </p:spTree>
    <p:extLst>
      <p:ext uri="{BB962C8B-B14F-4D97-AF65-F5344CB8AC3E}">
        <p14:creationId xmlns:p14="http://schemas.microsoft.com/office/powerpoint/2010/main" val="2381743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tinyurl.com/GodOfPromises"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tinyurl.com/promiseknowledge"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A53F3-F5FA-47DF-8211-8B502AD79E23}"/>
              </a:ext>
            </a:extLst>
          </p:cNvPr>
          <p:cNvSpPr txBox="1">
            <a:spLocks/>
          </p:cNvSpPr>
          <p:nvPr/>
        </p:nvSpPr>
        <p:spPr bwMode="auto">
          <a:xfrm>
            <a:off x="457200" y="419100"/>
            <a:ext cx="8229600"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85000" lnSpcReduction="20000"/>
          </a:bodyPr>
          <a:lst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6700" dirty="0"/>
              <a:t>The Promises of God</a:t>
            </a:r>
            <a:br>
              <a:rPr lang="en-US" dirty="0"/>
            </a:br>
            <a:endParaRPr lang="en-US" dirty="0"/>
          </a:p>
          <a:p>
            <a:r>
              <a:rPr lang="en-US" i="1" dirty="0"/>
              <a:t>The Way, the Truth, and the Life</a:t>
            </a:r>
          </a:p>
          <a:p>
            <a:endParaRPr lang="en-US" sz="2400" dirty="0">
              <a:solidFill>
                <a:schemeClr val="tx2">
                  <a:lumMod val="60000"/>
                  <a:lumOff val="40000"/>
                </a:schemeClr>
              </a:solidFill>
            </a:endParaRPr>
          </a:p>
          <a:p>
            <a:r>
              <a:rPr lang="en-US" b="0" dirty="0"/>
              <a:t>Jesus said to him, “I am the way, the truth, and the life. No one comes to the Father except through Me.”</a:t>
            </a:r>
          </a:p>
          <a:p>
            <a:r>
              <a:rPr lang="en-US" b="0" dirty="0"/>
              <a:t>(John 14:6)</a:t>
            </a:r>
          </a:p>
          <a:p>
            <a:endParaRPr lang="en-US" dirty="0">
              <a:solidFill>
                <a:schemeClr val="tx2">
                  <a:lumMod val="60000"/>
                  <a:lumOff val="40000"/>
                </a:schemeClr>
              </a:solidFill>
            </a:endParaRPr>
          </a:p>
          <a:p>
            <a:r>
              <a:rPr lang="en-US" dirty="0">
                <a:solidFill>
                  <a:schemeClr val="tx2">
                    <a:lumMod val="60000"/>
                    <a:lumOff val="40000"/>
                  </a:schemeClr>
                </a:solidFill>
                <a:hlinkClick r:id="rId3"/>
              </a:rPr>
              <a:t>https://tinyurl.com/GodOfPromises</a:t>
            </a:r>
            <a:endParaRPr lang="en-US" dirty="0">
              <a:solidFill>
                <a:schemeClr val="tx2">
                  <a:lumMod val="60000"/>
                  <a:lumOff val="40000"/>
                </a:schemeClr>
              </a:solidFill>
            </a:endParaRPr>
          </a:p>
          <a:p>
            <a:endParaRPr lang="en-US" dirty="0">
              <a:solidFill>
                <a:schemeClr val="tx2">
                  <a:lumMod val="60000"/>
                  <a:lumOff val="40000"/>
                </a:schemeClr>
              </a:solidFill>
            </a:endParaRPr>
          </a:p>
          <a:p>
            <a:r>
              <a:rPr lang="en-US" sz="3800" dirty="0">
                <a:solidFill>
                  <a:schemeClr val="tx2">
                    <a:lumMod val="60000"/>
                    <a:lumOff val="40000"/>
                  </a:schemeClr>
                </a:solidFill>
                <a:hlinkClick r:id="rId4"/>
              </a:rPr>
              <a:t>https://tinyurl.com/promiseknowledge</a:t>
            </a:r>
            <a:endParaRPr lang="en-US" sz="3800" dirty="0">
              <a:solidFill>
                <a:schemeClr val="tx2">
                  <a:lumMod val="60000"/>
                  <a:lumOff val="40000"/>
                </a:schemeClr>
              </a:solidFill>
            </a:endParaRPr>
          </a:p>
          <a:p>
            <a:endParaRPr lang="en-US" sz="2400" dirty="0">
              <a:solidFill>
                <a:schemeClr val="tx2">
                  <a:lumMod val="60000"/>
                  <a:lumOff val="40000"/>
                </a:schemeClr>
              </a:solidFill>
            </a:endParaRPr>
          </a:p>
        </p:txBody>
      </p:sp>
    </p:spTree>
    <p:extLst>
      <p:ext uri="{BB962C8B-B14F-4D97-AF65-F5344CB8AC3E}">
        <p14:creationId xmlns:p14="http://schemas.microsoft.com/office/powerpoint/2010/main" val="458658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28DDE-CD4E-7C8C-8440-858EF19C00F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AAC67E6-9601-AEE3-1489-23082B10AFF9}"/>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Introduction</a:t>
            </a:r>
            <a:br>
              <a:rPr lang="en-US" dirty="0"/>
            </a:br>
            <a:r>
              <a:rPr lang="en-US" sz="2600" dirty="0">
                <a:solidFill>
                  <a:schemeClr val="tx2">
                    <a:lumMod val="60000"/>
                    <a:lumOff val="40000"/>
                  </a:schemeClr>
                </a:solidFill>
              </a:rPr>
              <a:t>The Setting of John 14</a:t>
            </a:r>
          </a:p>
        </p:txBody>
      </p:sp>
      <p:sp>
        <p:nvSpPr>
          <p:cNvPr id="3" name="TextBox 2">
            <a:extLst>
              <a:ext uri="{FF2B5EF4-FFF2-40B4-BE49-F238E27FC236}">
                <a16:creationId xmlns:a16="http://schemas.microsoft.com/office/drawing/2014/main" id="{D6D12C54-7D34-01D6-341D-7B239249B2B3}"/>
              </a:ext>
            </a:extLst>
          </p:cNvPr>
          <p:cNvSpPr txBox="1"/>
          <p:nvPr/>
        </p:nvSpPr>
        <p:spPr>
          <a:xfrm>
            <a:off x="214311" y="838200"/>
            <a:ext cx="8677275" cy="4154984"/>
          </a:xfrm>
          <a:prstGeom prst="rect">
            <a:avLst/>
          </a:prstGeom>
          <a:noFill/>
        </p:spPr>
        <p:txBody>
          <a:bodyPr wrap="square" rtlCol="0">
            <a:spAutoFit/>
          </a:bodyPr>
          <a:lstStyle/>
          <a:p>
            <a:r>
              <a:rPr lang="en-US" sz="2400" dirty="0"/>
              <a:t>He is giving comfort and clarity.</a:t>
            </a:r>
          </a:p>
          <a:p>
            <a:pPr lvl="1"/>
            <a:r>
              <a:rPr lang="en-US" sz="2400" b="1" i="1" dirty="0"/>
              <a:t>“Do not let your hearts be distressed. You believe in God; believe also in me.” </a:t>
            </a:r>
            <a:r>
              <a:rPr lang="en-US" sz="2400" dirty="0"/>
              <a:t>(</a:t>
            </a:r>
            <a:r>
              <a:rPr lang="en-US" sz="2400" b="1" dirty="0"/>
              <a:t>John 14:1</a:t>
            </a:r>
            <a:r>
              <a:rPr lang="en-US" sz="2400" dirty="0"/>
              <a:t>)</a:t>
            </a:r>
          </a:p>
          <a:p>
            <a:endParaRPr lang="en-US" sz="2400" dirty="0"/>
          </a:p>
          <a:p>
            <a:r>
              <a:rPr lang="en-US" sz="2400" dirty="0"/>
              <a:t>Thomas asks a real question.</a:t>
            </a:r>
          </a:p>
          <a:p>
            <a:pPr lvl="1"/>
            <a:r>
              <a:rPr lang="en-US" sz="2400" b="1" i="1" dirty="0"/>
              <a:t>“Lord, we don’t know where you are going. How can we know the way?” </a:t>
            </a:r>
            <a:r>
              <a:rPr lang="en-US" sz="2400" dirty="0"/>
              <a:t>(</a:t>
            </a:r>
            <a:r>
              <a:rPr lang="en-US" sz="2400" b="1" dirty="0"/>
              <a:t>John 14:5</a:t>
            </a:r>
            <a:r>
              <a:rPr lang="en-US" sz="2400" dirty="0"/>
              <a:t>)</a:t>
            </a:r>
          </a:p>
          <a:p>
            <a:endParaRPr lang="en-US" sz="2400" dirty="0"/>
          </a:p>
          <a:p>
            <a:r>
              <a:rPr lang="en-US" sz="2400" dirty="0"/>
              <a:t>Jesus answers with a claim no prophet ever made.</a:t>
            </a:r>
          </a:p>
          <a:p>
            <a:pPr lvl="1"/>
            <a:r>
              <a:rPr lang="en-US" sz="2400" b="1" i="1" dirty="0"/>
              <a:t>“I am the </a:t>
            </a:r>
            <a:r>
              <a:rPr lang="en-US" sz="2400" b="1" i="1" u="sng" dirty="0"/>
              <a:t>way</a:t>
            </a:r>
            <a:r>
              <a:rPr lang="en-US" sz="2400" b="1" i="1" dirty="0"/>
              <a:t>, and the </a:t>
            </a:r>
            <a:r>
              <a:rPr lang="en-US" sz="2400" b="1" i="1" u="sng" dirty="0"/>
              <a:t>truth</a:t>
            </a:r>
            <a:r>
              <a:rPr lang="en-US" sz="2400" b="1" i="1" dirty="0"/>
              <a:t>, and the </a:t>
            </a:r>
            <a:r>
              <a:rPr lang="en-US" sz="2400" b="1" i="1" u="sng" dirty="0"/>
              <a:t>life</a:t>
            </a:r>
            <a:r>
              <a:rPr lang="en-US" sz="2400" b="1" i="1" dirty="0"/>
              <a:t>. No one comes to the Father except through me.” </a:t>
            </a:r>
            <a:r>
              <a:rPr lang="en-US" sz="2400" dirty="0"/>
              <a:t>(</a:t>
            </a:r>
            <a:r>
              <a:rPr lang="en-US" sz="2400" b="1" dirty="0"/>
              <a:t>John 14:6</a:t>
            </a:r>
            <a:r>
              <a:rPr lang="en-US" sz="2400" dirty="0"/>
              <a:t>)</a:t>
            </a:r>
          </a:p>
        </p:txBody>
      </p:sp>
      <p:sp>
        <p:nvSpPr>
          <p:cNvPr id="2" name="TextBox 1">
            <a:extLst>
              <a:ext uri="{FF2B5EF4-FFF2-40B4-BE49-F238E27FC236}">
                <a16:creationId xmlns:a16="http://schemas.microsoft.com/office/drawing/2014/main" id="{D929C956-86B9-5893-5AA6-2026F654E6CD}"/>
              </a:ext>
            </a:extLst>
          </p:cNvPr>
          <p:cNvSpPr txBox="1"/>
          <p:nvPr/>
        </p:nvSpPr>
        <p:spPr>
          <a:xfrm>
            <a:off x="214310" y="5181600"/>
            <a:ext cx="8677275" cy="1200329"/>
          </a:xfrm>
          <a:prstGeom prst="rect">
            <a:avLst/>
          </a:prstGeom>
          <a:noFill/>
        </p:spPr>
        <p:txBody>
          <a:bodyPr wrap="square" rtlCol="0">
            <a:spAutoFit/>
          </a:bodyPr>
          <a:lstStyle/>
          <a:p>
            <a:r>
              <a:rPr lang="en-US" sz="2400" dirty="0">
                <a:ea typeface="ＭＳ Ｐゴシック" pitchFamily="-106" charset="-128"/>
                <a:cs typeface="ＭＳ Ｐゴシック" pitchFamily="-106" charset="-128"/>
              </a:rPr>
              <a:t>This is </a:t>
            </a:r>
            <a:r>
              <a:rPr lang="en-US" sz="2400" u="sng" dirty="0">
                <a:ea typeface="ＭＳ Ｐゴシック" pitchFamily="-106" charset="-128"/>
                <a:cs typeface="ＭＳ Ｐゴシック" pitchFamily="-106" charset="-128"/>
              </a:rPr>
              <a:t>covenant</a:t>
            </a:r>
            <a:r>
              <a:rPr lang="en-US" sz="2400" dirty="0">
                <a:ea typeface="ＭＳ Ｐゴシック" pitchFamily="-106" charset="-128"/>
                <a:cs typeface="ＭＳ Ｐゴシック" pitchFamily="-106" charset="-128"/>
              </a:rPr>
              <a:t> language.</a:t>
            </a:r>
          </a:p>
          <a:p>
            <a:r>
              <a:rPr lang="en-US" sz="2400" dirty="0">
                <a:ea typeface="ＭＳ Ｐゴシック" pitchFamily="-106" charset="-128"/>
                <a:cs typeface="ＭＳ Ｐゴシック" pitchFamily="-106" charset="-128"/>
              </a:rPr>
              <a:t>This is </a:t>
            </a:r>
            <a:r>
              <a:rPr lang="en-US" sz="2400" u="sng" dirty="0">
                <a:ea typeface="ＭＳ Ｐゴシック" pitchFamily="-106" charset="-128"/>
                <a:cs typeface="ＭＳ Ｐゴシック" pitchFamily="-106" charset="-128"/>
              </a:rPr>
              <a:t>relational</a:t>
            </a:r>
            <a:r>
              <a:rPr lang="en-US" sz="2400" dirty="0">
                <a:ea typeface="ＭＳ Ｐゴシック" pitchFamily="-106" charset="-128"/>
                <a:cs typeface="ＭＳ Ｐゴシック" pitchFamily="-106" charset="-128"/>
              </a:rPr>
              <a:t> language.</a:t>
            </a:r>
          </a:p>
          <a:p>
            <a:r>
              <a:rPr lang="en-US" sz="2400" dirty="0">
                <a:ea typeface="ＭＳ Ｐゴシック" pitchFamily="-106" charset="-128"/>
                <a:cs typeface="ＭＳ Ｐゴシック" pitchFamily="-106" charset="-128"/>
              </a:rPr>
              <a:t>This is </a:t>
            </a:r>
            <a:r>
              <a:rPr lang="en-US" sz="2400" u="sng" dirty="0">
                <a:ea typeface="ＭＳ Ｐゴシック" pitchFamily="-106" charset="-128"/>
                <a:cs typeface="ＭＳ Ｐゴシック" pitchFamily="-106" charset="-128"/>
              </a:rPr>
              <a:t>fulfillment</a:t>
            </a:r>
            <a:r>
              <a:rPr lang="en-US" sz="2400" dirty="0">
                <a:ea typeface="ＭＳ Ｐゴシック" pitchFamily="-106" charset="-128"/>
                <a:cs typeface="ＭＳ Ｐゴシック" pitchFamily="-106" charset="-128"/>
              </a:rPr>
              <a:t> language</a:t>
            </a:r>
            <a:r>
              <a:rPr lang="en-US" dirty="0">
                <a:ea typeface="ＭＳ Ｐゴシック" pitchFamily="-106" charset="-128"/>
                <a:cs typeface="ＭＳ Ｐゴシック" pitchFamily="-106" charset="-128"/>
              </a:rPr>
              <a:t>.</a:t>
            </a:r>
          </a:p>
        </p:txBody>
      </p:sp>
    </p:spTree>
    <p:extLst>
      <p:ext uri="{BB962C8B-B14F-4D97-AF65-F5344CB8AC3E}">
        <p14:creationId xmlns:p14="http://schemas.microsoft.com/office/powerpoint/2010/main" val="3130699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1000"/>
                                        <p:tgtEl>
                                          <p:spTgt spid="3">
                                            <p:txEl>
                                              <p:pRg st="6" end="6"/>
                                            </p:txEl>
                                          </p:spTgt>
                                        </p:tgtEl>
                                      </p:cBhvr>
                                    </p:animEffect>
                                    <p:anim calcmode="lin" valueType="num">
                                      <p:cBhvr>
                                        <p:cTn id="2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1000"/>
                                        <p:tgtEl>
                                          <p:spTgt spid="3">
                                            <p:txEl>
                                              <p:pRg st="7" end="7"/>
                                            </p:txEl>
                                          </p:spTgt>
                                        </p:tgtEl>
                                      </p:cBhvr>
                                    </p:animEffect>
                                    <p:anim calcmode="lin" valueType="num">
                                      <p:cBhvr>
                                        <p:cTn id="3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fade">
                                      <p:cBhvr>
                                        <p:cTn id="39" dur="1000"/>
                                        <p:tgtEl>
                                          <p:spTgt spid="2"/>
                                        </p:tgtEl>
                                      </p:cBhvr>
                                    </p:animEffect>
                                    <p:anim calcmode="lin" valueType="num">
                                      <p:cBhvr>
                                        <p:cTn id="40" dur="1000" fill="hold"/>
                                        <p:tgtEl>
                                          <p:spTgt spid="2"/>
                                        </p:tgtEl>
                                        <p:attrNameLst>
                                          <p:attrName>ppt_x</p:attrName>
                                        </p:attrNameLst>
                                      </p:cBhvr>
                                      <p:tavLst>
                                        <p:tav tm="0">
                                          <p:val>
                                            <p:strVal val="#ppt_x"/>
                                          </p:val>
                                        </p:tav>
                                        <p:tav tm="100000">
                                          <p:val>
                                            <p:strVal val="#ppt_x"/>
                                          </p:val>
                                        </p:tav>
                                      </p:tavLst>
                                    </p:anim>
                                    <p:anim calcmode="lin" valueType="num">
                                      <p:cBhvr>
                                        <p:cTn id="4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DD58F-DBB2-A121-58DF-BD7BC283A87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1EBD8E8-2B77-F2CD-9068-040E22D1CE89}"/>
              </a:ext>
            </a:extLst>
          </p:cNvPr>
          <p:cNvSpPr txBox="1">
            <a:spLocks/>
          </p:cNvSpPr>
          <p:nvPr/>
        </p:nvSpPr>
        <p:spPr bwMode="auto">
          <a:xfrm>
            <a:off x="152400" y="45184"/>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New Covenant Background</a:t>
            </a:r>
            <a:br>
              <a:rPr lang="en-US" dirty="0"/>
            </a:br>
            <a:r>
              <a:rPr lang="en-US" sz="2800" dirty="0">
                <a:solidFill>
                  <a:schemeClr val="tx2">
                    <a:lumMod val="60000"/>
                    <a:lumOff val="40000"/>
                  </a:schemeClr>
                </a:solidFill>
              </a:rPr>
              <a:t>Jeremiah 31:31-34; Hebrews 8:1-13</a:t>
            </a:r>
          </a:p>
        </p:txBody>
      </p:sp>
      <p:sp>
        <p:nvSpPr>
          <p:cNvPr id="3" name="TextBox 2">
            <a:extLst>
              <a:ext uri="{FF2B5EF4-FFF2-40B4-BE49-F238E27FC236}">
                <a16:creationId xmlns:a16="http://schemas.microsoft.com/office/drawing/2014/main" id="{0A0B3B76-2683-535F-4152-21CE75E53ED2}"/>
              </a:ext>
            </a:extLst>
          </p:cNvPr>
          <p:cNvSpPr txBox="1"/>
          <p:nvPr/>
        </p:nvSpPr>
        <p:spPr>
          <a:xfrm>
            <a:off x="225198" y="807184"/>
            <a:ext cx="8677275" cy="1446550"/>
          </a:xfrm>
          <a:prstGeom prst="rect">
            <a:avLst/>
          </a:prstGeom>
          <a:noFill/>
        </p:spPr>
        <p:txBody>
          <a:bodyPr wrap="square" rtlCol="0">
            <a:spAutoFit/>
          </a:bodyPr>
          <a:lstStyle/>
          <a:p>
            <a:r>
              <a:rPr lang="en-US" sz="2200" dirty="0">
                <a:ea typeface="ＭＳ Ｐゴシック" pitchFamily="-106" charset="-128"/>
                <a:cs typeface="ＭＳ Ｐゴシック" pitchFamily="-106" charset="-128"/>
              </a:rPr>
              <a:t>Jesus is not speaking in a vacuum.  He is fulfilling a promise.</a:t>
            </a:r>
          </a:p>
          <a:p>
            <a:pPr lvl="1"/>
            <a:r>
              <a:rPr lang="en-US" sz="2200" b="1" i="1" dirty="0">
                <a:ea typeface="ＭＳ Ｐゴシック" pitchFamily="-106" charset="-128"/>
                <a:cs typeface="ＭＳ Ｐゴシック" pitchFamily="-106" charset="-128"/>
              </a:rPr>
              <a:t>“Indeed, a time is coming… when </a:t>
            </a:r>
            <a:r>
              <a:rPr lang="en-US" sz="2200" b="1" i="1" u="sng" dirty="0">
                <a:ea typeface="ＭＳ Ｐゴシック" pitchFamily="-106" charset="-128"/>
                <a:cs typeface="ＭＳ Ｐゴシック" pitchFamily="-106" charset="-128"/>
              </a:rPr>
              <a:t>I will make a new covenant </a:t>
            </a:r>
            <a:r>
              <a:rPr lang="en-US" sz="2200" b="1" i="1" dirty="0">
                <a:ea typeface="ＭＳ Ｐゴシック" pitchFamily="-106" charset="-128"/>
                <a:cs typeface="ＭＳ Ｐゴシック" pitchFamily="-106" charset="-128"/>
              </a:rPr>
              <a:t>with the people of Israel and Judah.” </a:t>
            </a:r>
            <a:r>
              <a:rPr lang="en-US" sz="2200" dirty="0">
                <a:ea typeface="ＭＳ Ｐゴシック" pitchFamily="-106" charset="-128"/>
                <a:cs typeface="ＭＳ Ｐゴシック" pitchFamily="-106" charset="-128"/>
              </a:rPr>
              <a:t>(</a:t>
            </a:r>
            <a:r>
              <a:rPr lang="en-US" sz="2200" b="1" dirty="0">
                <a:ea typeface="ＭＳ Ｐゴシック" pitchFamily="-106" charset="-128"/>
                <a:cs typeface="ＭＳ Ｐゴシック" pitchFamily="-106" charset="-128"/>
              </a:rPr>
              <a:t>Jeremiah 31:31</a:t>
            </a:r>
            <a:r>
              <a:rPr lang="en-US" sz="2200" dirty="0">
                <a:ea typeface="ＭＳ Ｐゴシック" pitchFamily="-106" charset="-128"/>
                <a:cs typeface="ＭＳ Ｐゴシック" pitchFamily="-106" charset="-128"/>
              </a:rPr>
              <a:t>)</a:t>
            </a:r>
          </a:p>
        </p:txBody>
      </p:sp>
      <p:sp>
        <p:nvSpPr>
          <p:cNvPr id="2" name="TextBox 1">
            <a:extLst>
              <a:ext uri="{FF2B5EF4-FFF2-40B4-BE49-F238E27FC236}">
                <a16:creationId xmlns:a16="http://schemas.microsoft.com/office/drawing/2014/main" id="{700BEBB7-E76E-1764-86C2-CBE29E52883A}"/>
              </a:ext>
            </a:extLst>
          </p:cNvPr>
          <p:cNvSpPr txBox="1"/>
          <p:nvPr/>
        </p:nvSpPr>
        <p:spPr>
          <a:xfrm>
            <a:off x="225195" y="2507665"/>
            <a:ext cx="8677275" cy="2123658"/>
          </a:xfrm>
          <a:prstGeom prst="rect">
            <a:avLst/>
          </a:prstGeom>
          <a:noFill/>
        </p:spPr>
        <p:txBody>
          <a:bodyPr wrap="square" rtlCol="0">
            <a:spAutoFit/>
          </a:bodyPr>
          <a:lstStyle/>
          <a:p>
            <a:r>
              <a:rPr lang="en-US" sz="2200" dirty="0">
                <a:ea typeface="ＭＳ Ｐゴシック" pitchFamily="-106" charset="-128"/>
                <a:cs typeface="ＭＳ Ｐゴシック" pitchFamily="-106" charset="-128"/>
              </a:rPr>
              <a:t>This covenant is different.</a:t>
            </a:r>
          </a:p>
          <a:p>
            <a:pPr lvl="1"/>
            <a:r>
              <a:rPr lang="en-US" sz="2200" b="1" i="1" dirty="0">
                <a:ea typeface="ＭＳ Ｐゴシック" pitchFamily="-106" charset="-128"/>
                <a:cs typeface="ＭＳ Ｐゴシック" pitchFamily="-106" charset="-128"/>
              </a:rPr>
              <a:t>“I will put my law </a:t>
            </a:r>
            <a:r>
              <a:rPr lang="en-US" sz="2200" b="1" i="1" u="sng" dirty="0">
                <a:ea typeface="ＭＳ Ｐゴシック" pitchFamily="-106" charset="-128"/>
                <a:cs typeface="ＭＳ Ｐゴシック" pitchFamily="-106" charset="-128"/>
              </a:rPr>
              <a:t>within them</a:t>
            </a:r>
            <a:r>
              <a:rPr lang="en-US" sz="2200" b="1" i="1" dirty="0">
                <a:ea typeface="ＭＳ Ｐゴシック" pitchFamily="-106" charset="-128"/>
                <a:cs typeface="ＭＳ Ｐゴシック" pitchFamily="-106" charset="-128"/>
              </a:rPr>
              <a:t> and write it on their hearts.” </a:t>
            </a:r>
            <a:r>
              <a:rPr lang="en-US" sz="2200" dirty="0">
                <a:ea typeface="ＭＳ Ｐゴシック" pitchFamily="-106" charset="-128"/>
                <a:cs typeface="ＭＳ Ｐゴシック" pitchFamily="-106" charset="-128"/>
              </a:rPr>
              <a:t>(</a:t>
            </a:r>
            <a:r>
              <a:rPr lang="en-US" sz="2200" b="1" dirty="0">
                <a:ea typeface="ＭＳ Ｐゴシック" pitchFamily="-106" charset="-128"/>
                <a:cs typeface="ＭＳ Ｐゴシック" pitchFamily="-106" charset="-128"/>
              </a:rPr>
              <a:t>31:33</a:t>
            </a:r>
            <a:r>
              <a:rPr lang="en-US" sz="2200" dirty="0">
                <a:ea typeface="ＭＳ Ｐゴシック" pitchFamily="-106" charset="-128"/>
                <a:cs typeface="ＭＳ Ｐゴシック" pitchFamily="-106" charset="-128"/>
              </a:rPr>
              <a:t>)</a:t>
            </a:r>
          </a:p>
          <a:p>
            <a:r>
              <a:rPr lang="en-US" sz="2200" dirty="0">
                <a:ea typeface="ＭＳ Ｐゴシック" pitchFamily="-106" charset="-128"/>
                <a:cs typeface="ＭＳ Ｐゴシック" pitchFamily="-106" charset="-128"/>
              </a:rPr>
              <a:t>And the goal is clear.</a:t>
            </a:r>
          </a:p>
          <a:p>
            <a:pPr lvl="1"/>
            <a:r>
              <a:rPr lang="en-US" sz="2200" b="1" i="1" dirty="0">
                <a:ea typeface="ＭＳ Ｐゴシック" pitchFamily="-106" charset="-128"/>
                <a:cs typeface="ＭＳ Ｐゴシック" pitchFamily="-106" charset="-128"/>
              </a:rPr>
              <a:t>“</a:t>
            </a:r>
            <a:r>
              <a:rPr lang="en-US" sz="2200" b="1" i="1" u="sng" dirty="0">
                <a:ea typeface="ＭＳ Ｐゴシック" pitchFamily="-106" charset="-128"/>
                <a:cs typeface="ＭＳ Ｐゴシック" pitchFamily="-106" charset="-128"/>
              </a:rPr>
              <a:t>They will all know me</a:t>
            </a:r>
            <a:r>
              <a:rPr lang="en-US" sz="2200" b="1" i="1" dirty="0">
                <a:ea typeface="ＭＳ Ｐゴシック" pitchFamily="-106" charset="-128"/>
                <a:cs typeface="ＭＳ Ｐゴシック" pitchFamily="-106" charset="-128"/>
              </a:rPr>
              <a:t>, from the least to the greatest.” </a:t>
            </a:r>
            <a:r>
              <a:rPr lang="en-US" sz="2200" dirty="0">
                <a:ea typeface="ＭＳ Ｐゴシック" pitchFamily="-106" charset="-128"/>
                <a:cs typeface="ＭＳ Ｐゴシック" pitchFamily="-106" charset="-128"/>
              </a:rPr>
              <a:t>(</a:t>
            </a:r>
            <a:r>
              <a:rPr lang="en-US" sz="2200" b="1" dirty="0">
                <a:ea typeface="ＭＳ Ｐゴシック" pitchFamily="-106" charset="-128"/>
                <a:cs typeface="ＭＳ Ｐゴシック" pitchFamily="-106" charset="-128"/>
              </a:rPr>
              <a:t>31:34</a:t>
            </a:r>
            <a:r>
              <a:rPr lang="en-US" sz="2200" dirty="0">
                <a:ea typeface="ＭＳ Ｐゴシック" pitchFamily="-106" charset="-128"/>
                <a:cs typeface="ＭＳ Ｐゴシック" pitchFamily="-106" charset="-128"/>
              </a:rPr>
              <a:t>)</a:t>
            </a:r>
          </a:p>
        </p:txBody>
      </p:sp>
      <p:sp>
        <p:nvSpPr>
          <p:cNvPr id="4" name="TextBox 3">
            <a:extLst>
              <a:ext uri="{FF2B5EF4-FFF2-40B4-BE49-F238E27FC236}">
                <a16:creationId xmlns:a16="http://schemas.microsoft.com/office/drawing/2014/main" id="{6AD8397F-3C88-5F28-96EF-2DCDDE1F4534}"/>
              </a:ext>
            </a:extLst>
          </p:cNvPr>
          <p:cNvSpPr txBox="1"/>
          <p:nvPr/>
        </p:nvSpPr>
        <p:spPr>
          <a:xfrm>
            <a:off x="225196" y="4885254"/>
            <a:ext cx="8677275" cy="1446550"/>
          </a:xfrm>
          <a:prstGeom prst="rect">
            <a:avLst/>
          </a:prstGeom>
          <a:noFill/>
        </p:spPr>
        <p:txBody>
          <a:bodyPr wrap="square" rtlCol="0">
            <a:spAutoFit/>
          </a:bodyPr>
          <a:lstStyle/>
          <a:p>
            <a:r>
              <a:rPr lang="en-US" sz="2200" b="1" dirty="0">
                <a:ea typeface="ＭＳ Ｐゴシック" pitchFamily="-106" charset="-128"/>
                <a:cs typeface="ＭＳ Ｐゴシック" pitchFamily="-106" charset="-128"/>
              </a:rPr>
              <a:t>Knowing God</a:t>
            </a:r>
            <a:r>
              <a:rPr lang="en-US" sz="2200" dirty="0">
                <a:ea typeface="ＭＳ Ｐゴシック" pitchFamily="-106" charset="-128"/>
                <a:cs typeface="ＭＳ Ｐゴシック" pitchFamily="-106" charset="-128"/>
              </a:rPr>
              <a:t> is the center of the New Covenant.</a:t>
            </a:r>
          </a:p>
          <a:p>
            <a:pPr lvl="1"/>
            <a:r>
              <a:rPr lang="en-US" sz="2200" dirty="0">
                <a:ea typeface="ＭＳ Ｐゴシック" pitchFamily="-106" charset="-128"/>
                <a:cs typeface="ＭＳ Ｐゴシック" pitchFamily="-106" charset="-128"/>
              </a:rPr>
              <a:t>Not ritual.  Not location.  Not lineage.</a:t>
            </a:r>
          </a:p>
          <a:p>
            <a:pPr lvl="1"/>
            <a:r>
              <a:rPr lang="en-US" sz="2200" dirty="0">
                <a:ea typeface="ＭＳ Ｐゴシック" pitchFamily="-106" charset="-128"/>
                <a:cs typeface="ＭＳ Ｐゴシック" pitchFamily="-106" charset="-128"/>
              </a:rPr>
              <a:t>Knowing as in </a:t>
            </a:r>
            <a:r>
              <a:rPr lang="en-US" sz="2200" u="sng" dirty="0">
                <a:ea typeface="ＭＳ Ｐゴシック" pitchFamily="-106" charset="-128"/>
                <a:cs typeface="ＭＳ Ｐゴシック" pitchFamily="-106" charset="-128"/>
              </a:rPr>
              <a:t>Relationship</a:t>
            </a:r>
            <a:r>
              <a:rPr lang="en-US" sz="2200" dirty="0">
                <a:ea typeface="ＭＳ Ｐゴシック" pitchFamily="-106" charset="-128"/>
                <a:cs typeface="ＭＳ Ｐゴシック" pitchFamily="-106" charset="-128"/>
              </a:rPr>
              <a:t>.</a:t>
            </a:r>
          </a:p>
          <a:p>
            <a:r>
              <a:rPr lang="en-US" sz="2200" dirty="0">
                <a:ea typeface="ＭＳ Ｐゴシック" pitchFamily="-106" charset="-128"/>
                <a:cs typeface="ＭＳ Ｐゴシック" pitchFamily="-106" charset="-128"/>
              </a:rPr>
              <a:t>Jesus claims to be the </a:t>
            </a:r>
            <a:r>
              <a:rPr lang="en-US" sz="2200" i="1" u="sng" dirty="0">
                <a:ea typeface="ＭＳ Ｐゴシック" pitchFamily="-106" charset="-128"/>
                <a:cs typeface="ＭＳ Ｐゴシック" pitchFamily="-106" charset="-128"/>
              </a:rPr>
              <a:t>means</a:t>
            </a:r>
            <a:r>
              <a:rPr lang="en-US" sz="2200" dirty="0">
                <a:ea typeface="ＭＳ Ｐゴシック" pitchFamily="-106" charset="-128"/>
                <a:cs typeface="ＭＳ Ｐゴシック" pitchFamily="-106" charset="-128"/>
              </a:rPr>
              <a:t> of this knowing.  </a:t>
            </a:r>
            <a:r>
              <a:rPr lang="en-US" sz="2200" b="1" i="1" dirty="0">
                <a:ea typeface="ＭＳ Ｐゴシック" pitchFamily="-106" charset="-128"/>
                <a:cs typeface="ＭＳ Ｐゴシック" pitchFamily="-106" charset="-128"/>
              </a:rPr>
              <a:t>“I am…”</a:t>
            </a:r>
          </a:p>
        </p:txBody>
      </p:sp>
    </p:spTree>
    <p:extLst>
      <p:ext uri="{BB962C8B-B14F-4D97-AF65-F5344CB8AC3E}">
        <p14:creationId xmlns:p14="http://schemas.microsoft.com/office/powerpoint/2010/main" val="1423495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1000"/>
                                        <p:tgtEl>
                                          <p:spTgt spid="4"/>
                                        </p:tgtEl>
                                      </p:cBhvr>
                                    </p:animEffect>
                                    <p:anim calcmode="lin" valueType="num">
                                      <p:cBhvr>
                                        <p:cTn id="27" dur="1000" fill="hold"/>
                                        <p:tgtEl>
                                          <p:spTgt spid="4"/>
                                        </p:tgtEl>
                                        <p:attrNameLst>
                                          <p:attrName>ppt_x</p:attrName>
                                        </p:attrNameLst>
                                      </p:cBhvr>
                                      <p:tavLst>
                                        <p:tav tm="0">
                                          <p:val>
                                            <p:strVal val="#ppt_x"/>
                                          </p:val>
                                        </p:tav>
                                        <p:tav tm="100000">
                                          <p:val>
                                            <p:strVal val="#ppt_x"/>
                                          </p:val>
                                        </p:tav>
                                      </p:tavLst>
                                    </p:anim>
                                    <p:anim calcmode="lin" valueType="num">
                                      <p:cBhvr>
                                        <p:cTn id="2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2"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FC55E-7D78-07C4-FEC4-8A98331BCE1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982BE90-48CD-5C73-8F6F-A1B1D97E1863}"/>
              </a:ext>
            </a:extLst>
          </p:cNvPr>
          <p:cNvSpPr txBox="1">
            <a:spLocks/>
          </p:cNvSpPr>
          <p:nvPr/>
        </p:nvSpPr>
        <p:spPr bwMode="auto">
          <a:xfrm>
            <a:off x="152400" y="45184"/>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“I Am the Way”</a:t>
            </a:r>
            <a:br>
              <a:rPr lang="en-US" dirty="0"/>
            </a:br>
            <a:r>
              <a:rPr lang="en-US" sz="2800" dirty="0">
                <a:solidFill>
                  <a:schemeClr val="tx2">
                    <a:lumMod val="60000"/>
                    <a:lumOff val="40000"/>
                  </a:schemeClr>
                </a:solidFill>
              </a:rPr>
              <a:t>The Way to God, Not a Method, Process, nor Demonstration</a:t>
            </a:r>
          </a:p>
        </p:txBody>
      </p:sp>
      <p:sp>
        <p:nvSpPr>
          <p:cNvPr id="3" name="TextBox 2">
            <a:extLst>
              <a:ext uri="{FF2B5EF4-FFF2-40B4-BE49-F238E27FC236}">
                <a16:creationId xmlns:a16="http://schemas.microsoft.com/office/drawing/2014/main" id="{2F42F825-A1AE-9FE6-4EEF-8CB41509346B}"/>
              </a:ext>
            </a:extLst>
          </p:cNvPr>
          <p:cNvSpPr txBox="1"/>
          <p:nvPr/>
        </p:nvSpPr>
        <p:spPr>
          <a:xfrm>
            <a:off x="225195" y="788221"/>
            <a:ext cx="8677275" cy="1446550"/>
          </a:xfrm>
          <a:prstGeom prst="rect">
            <a:avLst/>
          </a:prstGeom>
          <a:noFill/>
        </p:spPr>
        <p:txBody>
          <a:bodyPr wrap="square" rtlCol="0">
            <a:spAutoFit/>
          </a:bodyPr>
          <a:lstStyle/>
          <a:p>
            <a:r>
              <a:rPr lang="en-US" sz="2200" dirty="0">
                <a:ea typeface="ＭＳ Ｐゴシック" pitchFamily="-106" charset="-128"/>
                <a:cs typeface="ＭＳ Ｐゴシック" pitchFamily="-106" charset="-128"/>
              </a:rPr>
              <a:t>Jesus does </a:t>
            </a:r>
            <a:r>
              <a:rPr lang="en-US" sz="2200" u="sng" dirty="0">
                <a:ea typeface="ＭＳ Ｐゴシック" pitchFamily="-106" charset="-128"/>
                <a:cs typeface="ＭＳ Ｐゴシック" pitchFamily="-106" charset="-128"/>
              </a:rPr>
              <a:t>not</a:t>
            </a:r>
            <a:r>
              <a:rPr lang="en-US" sz="2200" dirty="0">
                <a:ea typeface="ＭＳ Ｐゴシック" pitchFamily="-106" charset="-128"/>
                <a:cs typeface="ＭＳ Ｐゴシック" pitchFamily="-106" charset="-128"/>
              </a:rPr>
              <a:t> say, “I show the way.”</a:t>
            </a:r>
          </a:p>
          <a:p>
            <a:pPr lvl="1"/>
            <a:r>
              <a:rPr lang="en-US" sz="2200" dirty="0">
                <a:ea typeface="ＭＳ Ｐゴシック" pitchFamily="-106" charset="-128"/>
                <a:cs typeface="ＭＳ Ｐゴシック" pitchFamily="-106" charset="-128"/>
              </a:rPr>
              <a:t>He says, </a:t>
            </a:r>
            <a:r>
              <a:rPr lang="en-US" sz="2200" b="1" dirty="0">
                <a:ea typeface="ＭＳ Ｐゴシック" pitchFamily="-106" charset="-128"/>
                <a:cs typeface="ＭＳ Ｐゴシック" pitchFamily="-106" charset="-128"/>
              </a:rPr>
              <a:t>“I am the way.”</a:t>
            </a:r>
          </a:p>
          <a:p>
            <a:r>
              <a:rPr lang="en-US" sz="2200" dirty="0">
                <a:ea typeface="ＭＳ Ｐゴシック" pitchFamily="-106" charset="-128"/>
                <a:cs typeface="ＭＳ Ｐゴシック" pitchFamily="-106" charset="-128"/>
              </a:rPr>
              <a:t>In Scripture, “the way” means </a:t>
            </a:r>
            <a:r>
              <a:rPr lang="en-US" sz="2200" u="sng" dirty="0">
                <a:ea typeface="ＭＳ Ｐゴシック" pitchFamily="-106" charset="-128"/>
                <a:cs typeface="ＭＳ Ｐゴシック" pitchFamily="-106" charset="-128"/>
              </a:rPr>
              <a:t>access</a:t>
            </a:r>
            <a:r>
              <a:rPr lang="en-US" sz="2200" dirty="0">
                <a:ea typeface="ＭＳ Ｐゴシック" pitchFamily="-106" charset="-128"/>
                <a:cs typeface="ＭＳ Ｐゴシック" pitchFamily="-106" charset="-128"/>
              </a:rPr>
              <a:t>.</a:t>
            </a:r>
          </a:p>
          <a:p>
            <a:pPr lvl="1"/>
            <a:r>
              <a:rPr lang="en-US" sz="2200" b="1" dirty="0">
                <a:ea typeface="ＭＳ Ｐゴシック" pitchFamily="-106" charset="-128"/>
                <a:cs typeface="ＭＳ Ｐゴシック" pitchFamily="-106" charset="-128"/>
              </a:rPr>
              <a:t>“Teach me your way, O LORD.” </a:t>
            </a:r>
            <a:r>
              <a:rPr lang="en-US" sz="2200" dirty="0">
                <a:ea typeface="ＭＳ Ｐゴシック" pitchFamily="-106" charset="-128"/>
                <a:cs typeface="ＭＳ Ｐゴシック" pitchFamily="-106" charset="-128"/>
              </a:rPr>
              <a:t>(</a:t>
            </a:r>
            <a:r>
              <a:rPr lang="en-US" sz="2200" b="1" dirty="0">
                <a:ea typeface="ＭＳ Ｐゴシック" pitchFamily="-106" charset="-128"/>
                <a:cs typeface="ＭＳ Ｐゴシック" pitchFamily="-106" charset="-128"/>
              </a:rPr>
              <a:t>Psalm 27:11</a:t>
            </a:r>
            <a:r>
              <a:rPr lang="en-US" sz="2200" dirty="0">
                <a:ea typeface="ＭＳ Ｐゴシック" pitchFamily="-106" charset="-128"/>
                <a:cs typeface="ＭＳ Ｐゴシック" pitchFamily="-106" charset="-128"/>
              </a:rPr>
              <a:t>)</a:t>
            </a:r>
          </a:p>
        </p:txBody>
      </p:sp>
      <p:sp>
        <p:nvSpPr>
          <p:cNvPr id="2" name="TextBox 1">
            <a:extLst>
              <a:ext uri="{FF2B5EF4-FFF2-40B4-BE49-F238E27FC236}">
                <a16:creationId xmlns:a16="http://schemas.microsoft.com/office/drawing/2014/main" id="{5F7F5C76-D62C-6342-5234-AD406295C940}"/>
              </a:ext>
            </a:extLst>
          </p:cNvPr>
          <p:cNvSpPr txBox="1"/>
          <p:nvPr/>
        </p:nvSpPr>
        <p:spPr>
          <a:xfrm>
            <a:off x="192537" y="2559531"/>
            <a:ext cx="8677275" cy="2462213"/>
          </a:xfrm>
          <a:prstGeom prst="rect">
            <a:avLst/>
          </a:prstGeom>
          <a:noFill/>
        </p:spPr>
        <p:txBody>
          <a:bodyPr wrap="square" rtlCol="0">
            <a:spAutoFit/>
          </a:bodyPr>
          <a:lstStyle/>
          <a:p>
            <a:r>
              <a:rPr lang="en-US" sz="2200" dirty="0">
                <a:ea typeface="ＭＳ Ｐゴシック" pitchFamily="-106" charset="-128"/>
                <a:cs typeface="ＭＳ Ｐゴシック" pitchFamily="-106" charset="-128"/>
              </a:rPr>
              <a:t>Under the old covenant, access was limited.</a:t>
            </a:r>
          </a:p>
          <a:p>
            <a:pPr lvl="1"/>
            <a:r>
              <a:rPr lang="en-US" sz="2200" dirty="0">
                <a:ea typeface="ＭＳ Ｐゴシック" pitchFamily="-106" charset="-128"/>
                <a:cs typeface="ＭＳ Ｐゴシック" pitchFamily="-106" charset="-128"/>
              </a:rPr>
              <a:t>Only priests.  Only sacrifices.  Only once a year.</a:t>
            </a:r>
          </a:p>
          <a:p>
            <a:r>
              <a:rPr lang="en-US" sz="2200" dirty="0">
                <a:ea typeface="ＭＳ Ｐゴシック" pitchFamily="-106" charset="-128"/>
                <a:cs typeface="ＭＳ Ｐゴシック" pitchFamily="-106" charset="-128"/>
              </a:rPr>
              <a:t>Jesus changes this…</a:t>
            </a:r>
          </a:p>
          <a:p>
            <a:pPr lvl="1"/>
            <a:r>
              <a:rPr lang="en-US" sz="2200" b="1" dirty="0">
                <a:ea typeface="ＭＳ Ｐゴシック" pitchFamily="-106" charset="-128"/>
                <a:cs typeface="ＭＳ Ｐゴシック" pitchFamily="-106" charset="-128"/>
              </a:rPr>
              <a:t>“Therefore, brothers and sisters, since we have confidence to enter the sanctuary by the blood of Jesus, by the fresh and living </a:t>
            </a:r>
            <a:r>
              <a:rPr lang="en-US" sz="2200" b="1" u="sng" dirty="0">
                <a:ea typeface="ＭＳ Ｐゴシック" pitchFamily="-106" charset="-128"/>
                <a:cs typeface="ＭＳ Ｐゴシック" pitchFamily="-106" charset="-128"/>
              </a:rPr>
              <a:t>way</a:t>
            </a:r>
            <a:r>
              <a:rPr lang="en-US" sz="2200" b="1" dirty="0">
                <a:ea typeface="ＭＳ Ｐゴシック" pitchFamily="-106" charset="-128"/>
                <a:cs typeface="ＭＳ Ｐゴシック" pitchFamily="-106" charset="-128"/>
              </a:rPr>
              <a:t> he opened for us through the curtain.” </a:t>
            </a:r>
            <a:r>
              <a:rPr lang="en-US" sz="2200" dirty="0">
                <a:ea typeface="ＭＳ Ｐゴシック" pitchFamily="-106" charset="-128"/>
                <a:cs typeface="ＭＳ Ｐゴシック" pitchFamily="-106" charset="-128"/>
              </a:rPr>
              <a:t>(</a:t>
            </a:r>
            <a:r>
              <a:rPr lang="en-US" sz="2200" b="1" dirty="0">
                <a:ea typeface="ＭＳ Ｐゴシック" pitchFamily="-106" charset="-128"/>
                <a:cs typeface="ＭＳ Ｐゴシック" pitchFamily="-106" charset="-128"/>
              </a:rPr>
              <a:t>Hebrews 10:19-20</a:t>
            </a:r>
            <a:r>
              <a:rPr lang="en-US" sz="2200" dirty="0">
                <a:ea typeface="ＭＳ Ｐゴシック" pitchFamily="-106" charset="-128"/>
                <a:cs typeface="ＭＳ Ｐゴシック" pitchFamily="-106" charset="-128"/>
              </a:rPr>
              <a:t>)</a:t>
            </a:r>
          </a:p>
        </p:txBody>
      </p:sp>
      <p:sp>
        <p:nvSpPr>
          <p:cNvPr id="4" name="TextBox 3">
            <a:extLst>
              <a:ext uri="{FF2B5EF4-FFF2-40B4-BE49-F238E27FC236}">
                <a16:creationId xmlns:a16="http://schemas.microsoft.com/office/drawing/2014/main" id="{15125ED5-9562-38F3-B1E7-BDABEBA3E49C}"/>
              </a:ext>
            </a:extLst>
          </p:cNvPr>
          <p:cNvSpPr txBox="1"/>
          <p:nvPr/>
        </p:nvSpPr>
        <p:spPr>
          <a:xfrm>
            <a:off x="225194" y="5346504"/>
            <a:ext cx="8677275" cy="1107996"/>
          </a:xfrm>
          <a:prstGeom prst="rect">
            <a:avLst/>
          </a:prstGeom>
          <a:noFill/>
        </p:spPr>
        <p:txBody>
          <a:bodyPr wrap="square" rtlCol="0">
            <a:spAutoFit/>
          </a:bodyPr>
          <a:lstStyle/>
          <a:p>
            <a:r>
              <a:rPr lang="en-US" sz="2200" dirty="0">
                <a:ea typeface="ＭＳ Ｐゴシック" pitchFamily="-106" charset="-128"/>
                <a:cs typeface="ＭＳ Ｐゴシック" pitchFamily="-106" charset="-128"/>
              </a:rPr>
              <a:t>Jesus is the opened </a:t>
            </a:r>
            <a:r>
              <a:rPr lang="en-US" sz="2200" u="sng" dirty="0">
                <a:ea typeface="ＭＳ Ｐゴシック" pitchFamily="-106" charset="-128"/>
                <a:cs typeface="ＭＳ Ｐゴシック" pitchFamily="-106" charset="-128"/>
              </a:rPr>
              <a:t>way</a:t>
            </a:r>
            <a:r>
              <a:rPr lang="en-US" sz="2200" dirty="0">
                <a:ea typeface="ＭＳ Ｐゴシック" pitchFamily="-106" charset="-128"/>
                <a:cs typeface="ＭＳ Ｐゴシック" pitchFamily="-106" charset="-128"/>
              </a:rPr>
              <a:t>.</a:t>
            </a:r>
          </a:p>
          <a:p>
            <a:pPr lvl="1"/>
            <a:r>
              <a:rPr lang="en-US" sz="2200" dirty="0">
                <a:ea typeface="ＭＳ Ｐゴシック" pitchFamily="-106" charset="-128"/>
                <a:cs typeface="ＭＳ Ｐゴシック" pitchFamily="-106" charset="-128"/>
              </a:rPr>
              <a:t>Not steps.  Not laws.</a:t>
            </a:r>
          </a:p>
          <a:p>
            <a:pPr lvl="1"/>
            <a:r>
              <a:rPr lang="en-US" sz="2200" dirty="0">
                <a:ea typeface="ＭＳ Ｐゴシック" pitchFamily="-106" charset="-128"/>
                <a:cs typeface="ＭＳ Ｐゴシック" pitchFamily="-106" charset="-128"/>
              </a:rPr>
              <a:t>A </a:t>
            </a:r>
            <a:r>
              <a:rPr lang="en-US" sz="2200" u="sng" dirty="0">
                <a:ea typeface="ＭＳ Ｐゴシック" pitchFamily="-106" charset="-128"/>
                <a:cs typeface="ＭＳ Ｐゴシック" pitchFamily="-106" charset="-128"/>
              </a:rPr>
              <a:t>person</a:t>
            </a:r>
            <a:r>
              <a:rPr lang="en-US" sz="2200" dirty="0">
                <a:ea typeface="ＭＳ Ｐゴシック" pitchFamily="-106" charset="-128"/>
                <a:cs typeface="ＭＳ Ｐゴシック" pitchFamily="-106" charset="-128"/>
              </a:rPr>
              <a:t>.  The Way of Relationship.</a:t>
            </a:r>
          </a:p>
        </p:txBody>
      </p:sp>
    </p:spTree>
    <p:extLst>
      <p:ext uri="{BB962C8B-B14F-4D97-AF65-F5344CB8AC3E}">
        <p14:creationId xmlns:p14="http://schemas.microsoft.com/office/powerpoint/2010/main" val="3432794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EBC85-2AAD-40C6-C5C7-356F8FDAD3C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CA82EDF5-7792-A7EA-6306-1BCB669B2C0E}"/>
              </a:ext>
            </a:extLst>
          </p:cNvPr>
          <p:cNvSpPr txBox="1">
            <a:spLocks/>
          </p:cNvSpPr>
          <p:nvPr/>
        </p:nvSpPr>
        <p:spPr bwMode="auto">
          <a:xfrm>
            <a:off x="152400" y="45184"/>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“I Am the Truth”</a:t>
            </a:r>
          </a:p>
          <a:p>
            <a:r>
              <a:rPr lang="en-US" sz="2800" dirty="0">
                <a:solidFill>
                  <a:schemeClr val="tx2">
                    <a:lumMod val="60000"/>
                    <a:lumOff val="40000"/>
                  </a:schemeClr>
                </a:solidFill>
              </a:rPr>
              <a:t>Truth as Revelation; that Sets Mankind Free</a:t>
            </a:r>
          </a:p>
        </p:txBody>
      </p:sp>
      <p:sp>
        <p:nvSpPr>
          <p:cNvPr id="3" name="TextBox 2">
            <a:extLst>
              <a:ext uri="{FF2B5EF4-FFF2-40B4-BE49-F238E27FC236}">
                <a16:creationId xmlns:a16="http://schemas.microsoft.com/office/drawing/2014/main" id="{6B1DE7D8-735E-CAE0-BE06-2B89EF40DB41}"/>
              </a:ext>
            </a:extLst>
          </p:cNvPr>
          <p:cNvSpPr txBox="1"/>
          <p:nvPr/>
        </p:nvSpPr>
        <p:spPr>
          <a:xfrm>
            <a:off x="225195" y="788221"/>
            <a:ext cx="8677275" cy="2554545"/>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Truth as Revelation, Not Simply Information</a:t>
            </a:r>
            <a:endParaRPr lang="en-US" sz="2000" dirty="0">
              <a:ea typeface="ＭＳ Ｐゴシック" pitchFamily="-106" charset="-128"/>
              <a:cs typeface="ＭＳ Ｐゴシック" pitchFamily="-106" charset="-128"/>
            </a:endParaRPr>
          </a:p>
          <a:p>
            <a:pPr marL="285750" indent="-285750">
              <a:buFont typeface="Arial" panose="020B0604020202020204" pitchFamily="34" charset="0"/>
              <a:buChar char="•"/>
            </a:pPr>
            <a:r>
              <a:rPr lang="en-US" sz="2000" dirty="0">
                <a:ea typeface="ＭＳ Ｐゴシック" pitchFamily="-106" charset="-128"/>
                <a:cs typeface="ＭＳ Ｐゴシック" pitchFamily="-106" charset="-128"/>
              </a:rPr>
              <a:t>In Scripture, truth is not just facts.</a:t>
            </a:r>
          </a:p>
          <a:p>
            <a:pPr marL="742950" lvl="1" indent="-285750">
              <a:buFont typeface="Arial" panose="020B0604020202020204" pitchFamily="34" charset="0"/>
              <a:buChar char="•"/>
            </a:pPr>
            <a:r>
              <a:rPr lang="en-US" sz="2000" dirty="0">
                <a:ea typeface="ＭＳ Ｐゴシック" pitchFamily="-106" charset="-128"/>
                <a:cs typeface="ＭＳ Ｐゴシック" pitchFamily="-106" charset="-128"/>
              </a:rPr>
              <a:t>Truth reveals God’s character.</a:t>
            </a:r>
          </a:p>
          <a:p>
            <a:pPr marL="742950" lvl="1" indent="-285750">
              <a:buFont typeface="Arial" panose="020B0604020202020204" pitchFamily="34" charset="0"/>
              <a:buChar char="•"/>
            </a:pPr>
            <a:r>
              <a:rPr lang="en-US" sz="2000" b="1" i="1" dirty="0">
                <a:ea typeface="ＭＳ Ｐゴシック" pitchFamily="-106" charset="-128"/>
                <a:cs typeface="ＭＳ Ｐゴシック" pitchFamily="-106" charset="-128"/>
              </a:rPr>
              <a:t>“You are my God, my faithful God.” </a:t>
            </a:r>
            <a:r>
              <a:rPr lang="en-US" sz="2000" b="1" dirty="0">
                <a:ea typeface="ＭＳ Ｐゴシック" pitchFamily="-106" charset="-128"/>
                <a:cs typeface="ＭＳ Ｐゴシック" pitchFamily="-106" charset="-128"/>
              </a:rPr>
              <a:t>(Psalm 31:14)</a:t>
            </a:r>
          </a:p>
          <a:p>
            <a:pPr marL="285750" indent="-285750">
              <a:buFont typeface="Arial" panose="020B0604020202020204" pitchFamily="34" charset="0"/>
              <a:buChar char="•"/>
            </a:pPr>
            <a:r>
              <a:rPr lang="en-US" sz="2000" dirty="0">
                <a:ea typeface="ＭＳ Ｐゴシック" pitchFamily="-106" charset="-128"/>
                <a:cs typeface="ＭＳ Ｐゴシック" pitchFamily="-106" charset="-128"/>
              </a:rPr>
              <a:t>Jesus does not simply teach truth.</a:t>
            </a:r>
          </a:p>
          <a:p>
            <a:pPr marL="742950" lvl="1" indent="-285750">
              <a:buFont typeface="Arial" panose="020B0604020202020204" pitchFamily="34" charset="0"/>
              <a:buChar char="•"/>
            </a:pPr>
            <a:r>
              <a:rPr lang="en-US" sz="2000" dirty="0">
                <a:ea typeface="ＭＳ Ｐゴシック" pitchFamily="-106" charset="-128"/>
                <a:cs typeface="ＭＳ Ｐゴシック" pitchFamily="-106" charset="-128"/>
              </a:rPr>
              <a:t>He embodies it.  Truth has a face; and a voice.</a:t>
            </a:r>
          </a:p>
          <a:p>
            <a:pPr marL="742950" lvl="1" indent="-285750">
              <a:buFont typeface="Arial" panose="020B0604020202020204" pitchFamily="34" charset="0"/>
              <a:buChar char="•"/>
            </a:pPr>
            <a:r>
              <a:rPr lang="en-US" sz="2000" b="1" i="1" dirty="0">
                <a:ea typeface="ＭＳ Ｐゴシック" pitchFamily="-106" charset="-128"/>
                <a:cs typeface="ＭＳ Ｐゴシック" pitchFamily="-106" charset="-128"/>
              </a:rPr>
              <a:t>“The Word became flesh and took up residence among us… full of grace and truth.” </a:t>
            </a:r>
            <a:r>
              <a:rPr lang="en-US" sz="2000" b="1" dirty="0">
                <a:ea typeface="ＭＳ Ｐゴシック" pitchFamily="-106" charset="-128"/>
                <a:cs typeface="ＭＳ Ｐゴシック" pitchFamily="-106" charset="-128"/>
              </a:rPr>
              <a:t>(John 1:14)</a:t>
            </a:r>
          </a:p>
        </p:txBody>
      </p:sp>
      <p:sp>
        <p:nvSpPr>
          <p:cNvPr id="2" name="TextBox 1">
            <a:extLst>
              <a:ext uri="{FF2B5EF4-FFF2-40B4-BE49-F238E27FC236}">
                <a16:creationId xmlns:a16="http://schemas.microsoft.com/office/drawing/2014/main" id="{E3602337-4AB9-8ADD-47C9-58A4A85CCF87}"/>
              </a:ext>
            </a:extLst>
          </p:cNvPr>
          <p:cNvSpPr txBox="1"/>
          <p:nvPr/>
        </p:nvSpPr>
        <p:spPr>
          <a:xfrm>
            <a:off x="225194" y="3429000"/>
            <a:ext cx="8677275" cy="3170099"/>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Truth That Sets Free</a:t>
            </a:r>
            <a:endParaRPr lang="en-US" sz="2000" dirty="0">
              <a:ea typeface="ＭＳ Ｐゴシック" pitchFamily="-106" charset="-128"/>
              <a:cs typeface="ＭＳ Ｐゴシック" pitchFamily="-106" charset="-128"/>
            </a:endParaRPr>
          </a:p>
          <a:p>
            <a:pPr marL="285750" indent="-285750">
              <a:buFont typeface="Arial" panose="020B0604020202020204" pitchFamily="34" charset="0"/>
              <a:buChar char="•"/>
            </a:pPr>
            <a:r>
              <a:rPr lang="en-US" sz="2000" dirty="0">
                <a:ea typeface="ＭＳ Ｐゴシック" pitchFamily="-106" charset="-128"/>
                <a:cs typeface="ＭＳ Ｐゴシック" pitchFamily="-106" charset="-128"/>
              </a:rPr>
              <a:t>Jesus connects truth with freedom.</a:t>
            </a:r>
          </a:p>
          <a:p>
            <a:pPr marL="742950" lvl="1" indent="-285750">
              <a:buFont typeface="Arial" panose="020B0604020202020204" pitchFamily="34" charset="0"/>
              <a:buChar char="•"/>
            </a:pPr>
            <a:r>
              <a:rPr lang="en-US" sz="2000" b="1" i="1" dirty="0">
                <a:ea typeface="ＭＳ Ｐゴシック" pitchFamily="-106" charset="-128"/>
                <a:cs typeface="ＭＳ Ｐゴシック" pitchFamily="-106" charset="-128"/>
              </a:rPr>
              <a:t>“You will know the truth, and the truth will set you free.” </a:t>
            </a:r>
            <a:r>
              <a:rPr lang="en-US" sz="2000" b="1" dirty="0">
                <a:ea typeface="ＭＳ Ｐゴシック" pitchFamily="-106" charset="-128"/>
                <a:cs typeface="ＭＳ Ｐゴシック" pitchFamily="-106" charset="-128"/>
              </a:rPr>
              <a:t>(8:32)</a:t>
            </a:r>
          </a:p>
          <a:p>
            <a:pPr marL="742950" lvl="1" indent="-285750">
              <a:buFont typeface="Arial" panose="020B0604020202020204" pitchFamily="34" charset="0"/>
              <a:buChar char="•"/>
            </a:pPr>
            <a:r>
              <a:rPr lang="en-US" sz="2000" dirty="0">
                <a:ea typeface="ＭＳ Ｐゴシック" pitchFamily="-106" charset="-128"/>
                <a:cs typeface="ＭＳ Ｐゴシック" pitchFamily="-106" charset="-128"/>
              </a:rPr>
              <a:t>This is covenant freedom.</a:t>
            </a:r>
          </a:p>
          <a:p>
            <a:pPr marL="742950" lvl="1" indent="-285750">
              <a:buFont typeface="Arial" panose="020B0604020202020204" pitchFamily="34" charset="0"/>
              <a:buChar char="•"/>
            </a:pPr>
            <a:r>
              <a:rPr lang="en-US" sz="2000" dirty="0">
                <a:ea typeface="ＭＳ Ｐゴシック" pitchFamily="-106" charset="-128"/>
                <a:cs typeface="ＭＳ Ｐゴシック" pitchFamily="-106" charset="-128"/>
              </a:rPr>
              <a:t>Freedom from sin.  Freedom from false images of God.</a:t>
            </a:r>
          </a:p>
          <a:p>
            <a:pPr marL="742950" lvl="1" indent="-285750">
              <a:buFont typeface="Arial" panose="020B0604020202020204" pitchFamily="34" charset="0"/>
              <a:buChar char="•"/>
            </a:pPr>
            <a:r>
              <a:rPr lang="en-US" sz="2000" b="1" i="1" dirty="0">
                <a:ea typeface="ＭＳ Ｐゴシック" pitchFamily="-106" charset="-128"/>
                <a:cs typeface="ＭＳ Ｐゴシック" pitchFamily="-106" charset="-128"/>
              </a:rPr>
              <a:t>“For the law was given through Moses, but grace and truth came about through Jesus Christ.” </a:t>
            </a:r>
            <a:r>
              <a:rPr lang="en-US" sz="2000" b="1" dirty="0">
                <a:ea typeface="ＭＳ Ｐゴシック" pitchFamily="-106" charset="-128"/>
                <a:cs typeface="ＭＳ Ｐゴシック" pitchFamily="-106" charset="-128"/>
              </a:rPr>
              <a:t>(John 1:17)</a:t>
            </a:r>
          </a:p>
          <a:p>
            <a:pPr marL="285750" indent="-285750">
              <a:buFont typeface="Arial" panose="020B0604020202020204" pitchFamily="34" charset="0"/>
              <a:buChar char="•"/>
            </a:pPr>
            <a:r>
              <a:rPr lang="en-US" sz="2000" dirty="0">
                <a:ea typeface="ＭＳ Ｐゴシック" pitchFamily="-106" charset="-128"/>
                <a:cs typeface="ＭＳ Ｐゴシック" pitchFamily="-106" charset="-128"/>
              </a:rPr>
              <a:t>Early Christian teaching was clear.</a:t>
            </a:r>
          </a:p>
          <a:p>
            <a:pPr marL="742950" lvl="1" indent="-285750">
              <a:buFont typeface="Arial" panose="020B0604020202020204" pitchFamily="34" charset="0"/>
              <a:buChar char="•"/>
            </a:pPr>
            <a:r>
              <a:rPr lang="en-US" sz="2000" dirty="0">
                <a:ea typeface="ＭＳ Ｐゴシック" pitchFamily="-106" charset="-128"/>
                <a:cs typeface="ＭＳ Ｐゴシック" pitchFamily="-106" charset="-128"/>
              </a:rPr>
              <a:t>Truth is not an idea system. Truth is loyalty to Jesus as Lord.</a:t>
            </a:r>
          </a:p>
          <a:p>
            <a:pPr marL="742950" lvl="1" indent="-285750">
              <a:buFont typeface="Arial" panose="020B0604020202020204" pitchFamily="34" charset="0"/>
              <a:buChar char="•"/>
            </a:pPr>
            <a:r>
              <a:rPr lang="en-US" sz="2000" b="1" i="1" dirty="0">
                <a:ea typeface="ＭＳ Ｐゴシック" pitchFamily="-106" charset="-128"/>
                <a:cs typeface="ＭＳ Ｐゴシック" pitchFamily="-106" charset="-128"/>
              </a:rPr>
              <a:t>“Jesus is Lord.” </a:t>
            </a:r>
            <a:r>
              <a:rPr lang="en-US" sz="2000" b="1" dirty="0">
                <a:ea typeface="ＭＳ Ｐゴシック" pitchFamily="-106" charset="-128"/>
                <a:cs typeface="ＭＳ Ｐゴシック" pitchFamily="-106" charset="-128"/>
              </a:rPr>
              <a:t>(Romans 10:9) </a:t>
            </a:r>
            <a:r>
              <a:rPr lang="en-US" sz="2000" dirty="0">
                <a:ea typeface="ＭＳ Ｐゴシック" pitchFamily="-106" charset="-128"/>
                <a:cs typeface="ＭＳ Ｐゴシック" pitchFamily="-106" charset="-128"/>
              </a:rPr>
              <a:t>That confession defines truth.</a:t>
            </a:r>
          </a:p>
        </p:txBody>
      </p:sp>
    </p:spTree>
    <p:extLst>
      <p:ext uri="{BB962C8B-B14F-4D97-AF65-F5344CB8AC3E}">
        <p14:creationId xmlns:p14="http://schemas.microsoft.com/office/powerpoint/2010/main" val="1835938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AC6AD-F0F6-9035-496F-9653F479493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52A2DBF-9200-DF68-80CE-54ADA28ECEED}"/>
              </a:ext>
            </a:extLst>
          </p:cNvPr>
          <p:cNvSpPr txBox="1">
            <a:spLocks/>
          </p:cNvSpPr>
          <p:nvPr/>
        </p:nvSpPr>
        <p:spPr bwMode="auto">
          <a:xfrm>
            <a:off x="152400" y="45184"/>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“I Am the Life”</a:t>
            </a:r>
          </a:p>
          <a:p>
            <a:r>
              <a:rPr lang="en-US" sz="2800" dirty="0">
                <a:solidFill>
                  <a:schemeClr val="tx2">
                    <a:lumMod val="60000"/>
                    <a:lumOff val="40000"/>
                  </a:schemeClr>
                </a:solidFill>
              </a:rPr>
              <a:t>The Life that Overcomes</a:t>
            </a:r>
          </a:p>
        </p:txBody>
      </p:sp>
      <p:sp>
        <p:nvSpPr>
          <p:cNvPr id="3" name="TextBox 2">
            <a:extLst>
              <a:ext uri="{FF2B5EF4-FFF2-40B4-BE49-F238E27FC236}">
                <a16:creationId xmlns:a16="http://schemas.microsoft.com/office/drawing/2014/main" id="{93FB57BF-2282-72D4-AB99-031FE2BC6523}"/>
              </a:ext>
            </a:extLst>
          </p:cNvPr>
          <p:cNvSpPr txBox="1"/>
          <p:nvPr/>
        </p:nvSpPr>
        <p:spPr>
          <a:xfrm>
            <a:off x="152400" y="799107"/>
            <a:ext cx="8677275" cy="2462213"/>
          </a:xfrm>
          <a:prstGeom prst="rect">
            <a:avLst/>
          </a:prstGeom>
          <a:noFill/>
        </p:spPr>
        <p:txBody>
          <a:bodyPr wrap="square" rtlCol="0">
            <a:spAutoFit/>
          </a:bodyPr>
          <a:lstStyle/>
          <a:p>
            <a:r>
              <a:rPr lang="en-US" sz="2200" b="1" dirty="0">
                <a:ea typeface="ＭＳ Ｐゴシック" pitchFamily="-106" charset="-128"/>
                <a:cs typeface="ＭＳ Ｐゴシック" pitchFamily="-106" charset="-128"/>
              </a:rPr>
              <a:t>Life as from God’s Own Life</a:t>
            </a:r>
            <a:endParaRPr lang="en-US" sz="2200" dirty="0">
              <a:ea typeface="ＭＳ Ｐゴシック" pitchFamily="-106" charset="-128"/>
              <a:cs typeface="ＭＳ Ｐゴシック" pitchFamily="-106" charset="-128"/>
            </a:endParaRPr>
          </a:p>
          <a:p>
            <a:pPr marL="171450" indent="-171450">
              <a:buFont typeface="Arial" panose="020B0604020202020204" pitchFamily="34" charset="0"/>
              <a:buChar char="•"/>
            </a:pPr>
            <a:r>
              <a:rPr lang="en-US" sz="2200" dirty="0">
                <a:ea typeface="ＭＳ Ｐゴシック" pitchFamily="-106" charset="-128"/>
                <a:cs typeface="ＭＳ Ｐゴシック" pitchFamily="-106" charset="-128"/>
              </a:rPr>
              <a:t>In Scripture, life comes from God alone.</a:t>
            </a:r>
          </a:p>
          <a:p>
            <a:pPr marL="628650" lvl="1" indent="-171450">
              <a:buFont typeface="Arial" panose="020B0604020202020204" pitchFamily="34" charset="0"/>
              <a:buChar char="•"/>
            </a:pPr>
            <a:r>
              <a:rPr lang="en-US" sz="2200" b="1" dirty="0">
                <a:ea typeface="ＭＳ Ｐゴシック" pitchFamily="-106" charset="-128"/>
                <a:cs typeface="ＭＳ Ｐゴシック" pitchFamily="-106" charset="-128"/>
              </a:rPr>
              <a:t>“For with you is the fountain of life.” (Psalm 36:9)</a:t>
            </a:r>
          </a:p>
          <a:p>
            <a:pPr marL="171450" indent="-171450">
              <a:buFont typeface="Arial" panose="020B0604020202020204" pitchFamily="34" charset="0"/>
              <a:buChar char="•"/>
            </a:pPr>
            <a:r>
              <a:rPr lang="en-US" sz="2200" dirty="0">
                <a:ea typeface="ＭＳ Ｐゴシック" pitchFamily="-106" charset="-128"/>
                <a:cs typeface="ＭＳ Ｐゴシック" pitchFamily="-106" charset="-128"/>
              </a:rPr>
              <a:t>Jesus claims that life is found </a:t>
            </a:r>
            <a:r>
              <a:rPr lang="en-US" sz="2200" i="1" dirty="0">
                <a:ea typeface="ＭＳ Ｐゴシック" pitchFamily="-106" charset="-128"/>
                <a:cs typeface="ＭＳ Ｐゴシック" pitchFamily="-106" charset="-128"/>
              </a:rPr>
              <a:t>in Him</a:t>
            </a:r>
            <a:r>
              <a:rPr lang="en-US" sz="2200" dirty="0">
                <a:ea typeface="ＭＳ Ｐゴシック" pitchFamily="-106" charset="-128"/>
                <a:cs typeface="ＭＳ Ｐゴシック" pitchFamily="-106" charset="-128"/>
              </a:rPr>
              <a:t>.</a:t>
            </a:r>
          </a:p>
          <a:p>
            <a:pPr marL="628650" lvl="1" indent="-171450">
              <a:buFont typeface="Arial" panose="020B0604020202020204" pitchFamily="34" charset="0"/>
              <a:buChar char="•"/>
            </a:pPr>
            <a:r>
              <a:rPr lang="en-US" sz="2200" b="1" dirty="0">
                <a:ea typeface="ＭＳ Ｐゴシック" pitchFamily="-106" charset="-128"/>
                <a:cs typeface="ＭＳ Ｐゴシック" pitchFamily="-106" charset="-128"/>
              </a:rPr>
              <a:t>“Just as the Father has life in Himself, thus He has granted the Son to have life in Himself.” (John 5:26)</a:t>
            </a:r>
          </a:p>
          <a:p>
            <a:pPr marL="628650" lvl="1" indent="-171450">
              <a:buFont typeface="Arial" panose="020B0604020202020204" pitchFamily="34" charset="0"/>
              <a:buChar char="•"/>
            </a:pPr>
            <a:r>
              <a:rPr lang="en-US" sz="2200" dirty="0">
                <a:ea typeface="ＭＳ Ｐゴシック" pitchFamily="-106" charset="-128"/>
                <a:cs typeface="ＭＳ Ｐゴシック" pitchFamily="-106" charset="-128"/>
              </a:rPr>
              <a:t>This is shared life.  </a:t>
            </a:r>
          </a:p>
        </p:txBody>
      </p:sp>
      <p:sp>
        <p:nvSpPr>
          <p:cNvPr id="2" name="TextBox 1">
            <a:extLst>
              <a:ext uri="{FF2B5EF4-FFF2-40B4-BE49-F238E27FC236}">
                <a16:creationId xmlns:a16="http://schemas.microsoft.com/office/drawing/2014/main" id="{CD457091-4278-A5ED-18FD-BCB2B46DF57F}"/>
              </a:ext>
            </a:extLst>
          </p:cNvPr>
          <p:cNvSpPr txBox="1"/>
          <p:nvPr/>
        </p:nvSpPr>
        <p:spPr>
          <a:xfrm>
            <a:off x="174171" y="3429000"/>
            <a:ext cx="8677275" cy="3139321"/>
          </a:xfrm>
          <a:prstGeom prst="rect">
            <a:avLst/>
          </a:prstGeom>
          <a:noFill/>
        </p:spPr>
        <p:txBody>
          <a:bodyPr wrap="square" rtlCol="0">
            <a:spAutoFit/>
          </a:bodyPr>
          <a:lstStyle/>
          <a:p>
            <a:r>
              <a:rPr lang="en-US" sz="2200" b="1" dirty="0">
                <a:ea typeface="ＭＳ Ｐゴシック" pitchFamily="-106" charset="-128"/>
                <a:cs typeface="ＭＳ Ｐゴシック" pitchFamily="-106" charset="-128"/>
              </a:rPr>
              <a:t>Life That Overcomes Death</a:t>
            </a:r>
            <a:endParaRPr lang="en-US" sz="2200" dirty="0">
              <a:ea typeface="ＭＳ Ｐゴシック" pitchFamily="-106" charset="-128"/>
              <a:cs typeface="ＭＳ Ｐゴシック" pitchFamily="-106" charset="-128"/>
            </a:endParaRPr>
          </a:p>
          <a:p>
            <a:pPr marL="171450" indent="-171450">
              <a:buFont typeface="Arial" panose="020B0604020202020204" pitchFamily="34" charset="0"/>
              <a:buChar char="•"/>
            </a:pPr>
            <a:r>
              <a:rPr lang="en-US" sz="2200" dirty="0">
                <a:ea typeface="ＭＳ Ｐゴシック" pitchFamily="-106" charset="-128"/>
                <a:cs typeface="ＭＳ Ｐゴシック" pitchFamily="-106" charset="-128"/>
              </a:rPr>
              <a:t>Jesus is not only alive.  He gives life.</a:t>
            </a:r>
          </a:p>
          <a:p>
            <a:pPr marL="628650" lvl="1" indent="-171450">
              <a:buFont typeface="Arial" panose="020B0604020202020204" pitchFamily="34" charset="0"/>
              <a:buChar char="•"/>
            </a:pPr>
            <a:r>
              <a:rPr lang="en-US" sz="2200" b="1" dirty="0">
                <a:ea typeface="ＭＳ Ｐゴシック" pitchFamily="-106" charset="-128"/>
                <a:cs typeface="ＭＳ Ｐゴシック" pitchFamily="-106" charset="-128"/>
              </a:rPr>
              <a:t>“I am the resurrection and the life.” (John 11:25)</a:t>
            </a:r>
          </a:p>
          <a:p>
            <a:pPr marL="171450" indent="-171450">
              <a:buFont typeface="Arial" panose="020B0604020202020204" pitchFamily="34" charset="0"/>
              <a:buChar char="•"/>
            </a:pPr>
            <a:r>
              <a:rPr lang="en-US" sz="2200" dirty="0">
                <a:ea typeface="ＭＳ Ｐゴシック" pitchFamily="-106" charset="-128"/>
                <a:cs typeface="ＭＳ Ｐゴシック" pitchFamily="-106" charset="-128"/>
              </a:rPr>
              <a:t>This life starts now.</a:t>
            </a:r>
          </a:p>
          <a:p>
            <a:pPr marL="628650" lvl="1" indent="-171450">
              <a:buFont typeface="Arial" panose="020B0604020202020204" pitchFamily="34" charset="0"/>
              <a:buChar char="•"/>
            </a:pPr>
            <a:r>
              <a:rPr lang="en-US" sz="2200" b="1" dirty="0">
                <a:ea typeface="ＭＳ Ｐゴシック" pitchFamily="-106" charset="-128"/>
                <a:cs typeface="ＭＳ Ｐゴシック" pitchFamily="-106" charset="-128"/>
              </a:rPr>
              <a:t>“The one who has the Son has life.” (1 John 5:12)</a:t>
            </a:r>
          </a:p>
          <a:p>
            <a:pPr marL="171450" indent="-171450">
              <a:buFont typeface="Arial" panose="020B0604020202020204" pitchFamily="34" charset="0"/>
              <a:buChar char="•"/>
            </a:pPr>
            <a:r>
              <a:rPr lang="en-US" sz="2200" dirty="0">
                <a:ea typeface="ＭＳ Ｐゴシック" pitchFamily="-106" charset="-128"/>
                <a:cs typeface="ＭＳ Ｐゴシック" pitchFamily="-106" charset="-128"/>
              </a:rPr>
              <a:t>Early Christian writers emphasized this.</a:t>
            </a:r>
          </a:p>
          <a:p>
            <a:pPr marL="628650" lvl="1" indent="-171450">
              <a:buFont typeface="Arial" panose="020B0604020202020204" pitchFamily="34" charset="0"/>
              <a:buChar char="•"/>
            </a:pPr>
            <a:r>
              <a:rPr lang="en-US" sz="2200" dirty="0">
                <a:ea typeface="ＭＳ Ｐゴシック" pitchFamily="-106" charset="-128"/>
                <a:cs typeface="ＭＳ Ｐゴシック" pitchFamily="-106" charset="-128"/>
              </a:rPr>
              <a:t>Salvation was participation.  Not just forgiveness.</a:t>
            </a:r>
          </a:p>
          <a:p>
            <a:pPr marL="628650" lvl="1" indent="-171450">
              <a:buFont typeface="Arial" panose="020B0604020202020204" pitchFamily="34" charset="0"/>
              <a:buChar char="•"/>
            </a:pPr>
            <a:r>
              <a:rPr lang="en-US" sz="2200" b="1" dirty="0">
                <a:ea typeface="ＭＳ Ｐゴシック" pitchFamily="-106" charset="-128"/>
                <a:cs typeface="ＭＳ Ｐゴシック" pitchFamily="-106" charset="-128"/>
              </a:rPr>
              <a:t>“Just as Christ was raised from the dead… so we too may live a new life.” (Romans 6:4)</a:t>
            </a:r>
          </a:p>
        </p:txBody>
      </p:sp>
    </p:spTree>
    <p:extLst>
      <p:ext uri="{BB962C8B-B14F-4D97-AF65-F5344CB8AC3E}">
        <p14:creationId xmlns:p14="http://schemas.microsoft.com/office/powerpoint/2010/main" val="2367605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F00BC-D884-1289-7380-911BA7F7505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C7973D2-054A-4212-A044-B6CA8878D5C6}"/>
              </a:ext>
            </a:extLst>
          </p:cNvPr>
          <p:cNvSpPr txBox="1">
            <a:spLocks/>
          </p:cNvSpPr>
          <p:nvPr/>
        </p:nvSpPr>
        <p:spPr bwMode="auto">
          <a:xfrm>
            <a:off x="152400" y="45184"/>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Way, Truth, Life</a:t>
            </a:r>
          </a:p>
          <a:p>
            <a:r>
              <a:rPr lang="en-US" sz="2600" dirty="0">
                <a:solidFill>
                  <a:schemeClr val="tx2">
                    <a:lumMod val="60000"/>
                    <a:lumOff val="40000"/>
                  </a:schemeClr>
                </a:solidFill>
              </a:rPr>
              <a:t>Together and Fulfilled</a:t>
            </a:r>
          </a:p>
        </p:txBody>
      </p:sp>
      <p:sp>
        <p:nvSpPr>
          <p:cNvPr id="3" name="TextBox 2">
            <a:extLst>
              <a:ext uri="{FF2B5EF4-FFF2-40B4-BE49-F238E27FC236}">
                <a16:creationId xmlns:a16="http://schemas.microsoft.com/office/drawing/2014/main" id="{5C3D3E0C-0F20-D956-DF25-F9068D6B3BB9}"/>
              </a:ext>
            </a:extLst>
          </p:cNvPr>
          <p:cNvSpPr txBox="1"/>
          <p:nvPr/>
        </p:nvSpPr>
        <p:spPr>
          <a:xfrm>
            <a:off x="225195" y="788221"/>
            <a:ext cx="8677275" cy="2800767"/>
          </a:xfrm>
          <a:prstGeom prst="rect">
            <a:avLst/>
          </a:prstGeom>
          <a:noFill/>
        </p:spPr>
        <p:txBody>
          <a:bodyPr wrap="square" rtlCol="0">
            <a:spAutoFit/>
          </a:bodyPr>
          <a:lstStyle/>
          <a:p>
            <a:r>
              <a:rPr lang="en-US" sz="2200" b="1" dirty="0">
                <a:ea typeface="ＭＳ Ｐゴシック" pitchFamily="-106" charset="-128"/>
                <a:cs typeface="ＭＳ Ｐゴシック" pitchFamily="-106" charset="-128"/>
              </a:rPr>
              <a:t>How the Three Belong Together</a:t>
            </a:r>
            <a:endParaRPr lang="en-US" sz="2200" dirty="0">
              <a:ea typeface="ＭＳ Ｐゴシック" pitchFamily="-106" charset="-128"/>
              <a:cs typeface="ＭＳ Ｐゴシック" pitchFamily="-106" charset="-128"/>
            </a:endParaRPr>
          </a:p>
          <a:p>
            <a:pPr marL="171450" indent="-171450">
              <a:buFont typeface="Arial" panose="020B0604020202020204" pitchFamily="34" charset="0"/>
              <a:buChar char="•"/>
            </a:pPr>
            <a:r>
              <a:rPr lang="en-US" sz="2200" dirty="0">
                <a:ea typeface="ＭＳ Ｐゴシック" pitchFamily="-106" charset="-128"/>
                <a:cs typeface="ＭＳ Ｐゴシック" pitchFamily="-106" charset="-128"/>
              </a:rPr>
              <a:t>The </a:t>
            </a:r>
            <a:r>
              <a:rPr lang="en-US" sz="2200" u="sng" dirty="0">
                <a:ea typeface="ＭＳ Ｐゴシック" pitchFamily="-106" charset="-128"/>
                <a:cs typeface="ＭＳ Ｐゴシック" pitchFamily="-106" charset="-128"/>
              </a:rPr>
              <a:t>way</a:t>
            </a:r>
            <a:r>
              <a:rPr lang="en-US" sz="2200" dirty="0">
                <a:ea typeface="ＭＳ Ｐゴシック" pitchFamily="-106" charset="-128"/>
                <a:cs typeface="ＭＳ Ｐゴシック" pitchFamily="-106" charset="-128"/>
              </a:rPr>
              <a:t> leads to </a:t>
            </a:r>
            <a:r>
              <a:rPr lang="en-US" sz="2200" u="sng" dirty="0">
                <a:ea typeface="ＭＳ Ｐゴシック" pitchFamily="-106" charset="-128"/>
                <a:cs typeface="ＭＳ Ｐゴシック" pitchFamily="-106" charset="-128"/>
              </a:rPr>
              <a:t>truth</a:t>
            </a:r>
            <a:r>
              <a:rPr lang="en-US" sz="2200" dirty="0">
                <a:ea typeface="ＭＳ Ｐゴシック" pitchFamily="-106" charset="-128"/>
                <a:cs typeface="ＭＳ Ｐゴシック" pitchFamily="-106" charset="-128"/>
              </a:rPr>
              <a:t>.</a:t>
            </a:r>
          </a:p>
          <a:p>
            <a:pPr marL="171450" indent="-171450">
              <a:buFont typeface="Arial" panose="020B0604020202020204" pitchFamily="34" charset="0"/>
              <a:buChar char="•"/>
            </a:pPr>
            <a:r>
              <a:rPr lang="en-US" sz="2200" u="sng" dirty="0">
                <a:ea typeface="ＭＳ Ｐゴシック" pitchFamily="-106" charset="-128"/>
                <a:cs typeface="ＭＳ Ｐゴシック" pitchFamily="-106" charset="-128"/>
              </a:rPr>
              <a:t>Truth</a:t>
            </a:r>
            <a:r>
              <a:rPr lang="en-US" sz="2200" dirty="0">
                <a:ea typeface="ＭＳ Ｐゴシック" pitchFamily="-106" charset="-128"/>
                <a:cs typeface="ＭＳ Ｐゴシック" pitchFamily="-106" charset="-128"/>
              </a:rPr>
              <a:t> results in </a:t>
            </a:r>
            <a:r>
              <a:rPr lang="en-US" sz="2200" u="sng" dirty="0">
                <a:ea typeface="ＭＳ Ｐゴシック" pitchFamily="-106" charset="-128"/>
                <a:cs typeface="ＭＳ Ｐゴシック" pitchFamily="-106" charset="-128"/>
              </a:rPr>
              <a:t>life</a:t>
            </a:r>
            <a:r>
              <a:rPr lang="en-US" sz="2200" dirty="0">
                <a:ea typeface="ＭＳ Ｐゴシック" pitchFamily="-106" charset="-128"/>
                <a:cs typeface="ＭＳ Ｐゴシック" pitchFamily="-106" charset="-128"/>
              </a:rPr>
              <a:t>.</a:t>
            </a:r>
          </a:p>
          <a:p>
            <a:pPr marL="171450" indent="-171450">
              <a:buFont typeface="Arial" panose="020B0604020202020204" pitchFamily="34" charset="0"/>
              <a:buChar char="•"/>
            </a:pPr>
            <a:r>
              <a:rPr lang="en-US" sz="2200" dirty="0">
                <a:ea typeface="ＭＳ Ｐゴシック" pitchFamily="-106" charset="-128"/>
                <a:cs typeface="ＭＳ Ｐゴシック" pitchFamily="-106" charset="-128"/>
              </a:rPr>
              <a:t>Remove one and the others collapse.</a:t>
            </a:r>
          </a:p>
          <a:p>
            <a:pPr marL="628650" lvl="1" indent="-171450" fontAlgn="ctr">
              <a:buFont typeface="Arial" panose="020B0604020202020204" pitchFamily="34" charset="0"/>
              <a:buChar char="•"/>
            </a:pPr>
            <a:r>
              <a:rPr lang="en-US" sz="2200" dirty="0">
                <a:ea typeface="ＭＳ Ｐゴシック" pitchFamily="-106" charset="-128"/>
                <a:cs typeface="ＭＳ Ｐゴシック" pitchFamily="-106" charset="-128"/>
              </a:rPr>
              <a:t>A </a:t>
            </a:r>
            <a:r>
              <a:rPr lang="en-US" sz="2200" u="sng" dirty="0">
                <a:ea typeface="ＭＳ Ｐゴシック" pitchFamily="-106" charset="-128"/>
                <a:cs typeface="ＭＳ Ｐゴシック" pitchFamily="-106" charset="-128"/>
              </a:rPr>
              <a:t>way without truth</a:t>
            </a:r>
            <a:r>
              <a:rPr lang="en-US" sz="2200" dirty="0">
                <a:ea typeface="ＭＳ Ｐゴシック" pitchFamily="-106" charset="-128"/>
                <a:cs typeface="ＭＳ Ｐゴシック" pitchFamily="-106" charset="-128"/>
              </a:rPr>
              <a:t> becomes confusion.</a:t>
            </a:r>
          </a:p>
          <a:p>
            <a:pPr marL="628650" lvl="1" indent="-171450" fontAlgn="ctr">
              <a:buFont typeface="Arial" panose="020B0604020202020204" pitchFamily="34" charset="0"/>
              <a:buChar char="•"/>
            </a:pPr>
            <a:r>
              <a:rPr lang="en-US" sz="2200" u="sng" dirty="0">
                <a:ea typeface="ＭＳ Ｐゴシック" pitchFamily="-106" charset="-128"/>
                <a:cs typeface="ＭＳ Ｐゴシック" pitchFamily="-106" charset="-128"/>
              </a:rPr>
              <a:t>Truth without life</a:t>
            </a:r>
            <a:r>
              <a:rPr lang="en-US" sz="2200" dirty="0">
                <a:ea typeface="ＭＳ Ｐゴシック" pitchFamily="-106" charset="-128"/>
                <a:cs typeface="ＭＳ Ｐゴシック" pitchFamily="-106" charset="-128"/>
              </a:rPr>
              <a:t> becomes dead doctrine.</a:t>
            </a:r>
          </a:p>
          <a:p>
            <a:pPr marL="628650" lvl="1" indent="-171450" fontAlgn="ctr">
              <a:buFont typeface="Arial" panose="020B0604020202020204" pitchFamily="34" charset="0"/>
              <a:buChar char="•"/>
            </a:pPr>
            <a:r>
              <a:rPr lang="en-US" sz="2200" u="sng" dirty="0">
                <a:ea typeface="ＭＳ Ｐゴシック" pitchFamily="-106" charset="-128"/>
                <a:cs typeface="ＭＳ Ｐゴシック" pitchFamily="-106" charset="-128"/>
              </a:rPr>
              <a:t>Life without the way</a:t>
            </a:r>
            <a:r>
              <a:rPr lang="en-US" sz="2200" dirty="0">
                <a:ea typeface="ＭＳ Ｐゴシック" pitchFamily="-106" charset="-128"/>
                <a:cs typeface="ＭＳ Ｐゴシック" pitchFamily="-106" charset="-128"/>
              </a:rPr>
              <a:t> becomes self-made spirituality.</a:t>
            </a:r>
          </a:p>
          <a:p>
            <a:pPr marL="171450" indent="-171450">
              <a:buFont typeface="Arial" panose="020B0604020202020204" pitchFamily="34" charset="0"/>
              <a:buChar char="•"/>
            </a:pPr>
            <a:r>
              <a:rPr lang="en-US" sz="2200" dirty="0">
                <a:ea typeface="ＭＳ Ｐゴシック" pitchFamily="-106" charset="-128"/>
                <a:cs typeface="ＭＳ Ｐゴシック" pitchFamily="-106" charset="-128"/>
              </a:rPr>
              <a:t>Jesus is all three.  At the same time.  In one person.</a:t>
            </a:r>
          </a:p>
        </p:txBody>
      </p:sp>
      <p:sp>
        <p:nvSpPr>
          <p:cNvPr id="2" name="TextBox 1">
            <a:extLst>
              <a:ext uri="{FF2B5EF4-FFF2-40B4-BE49-F238E27FC236}">
                <a16:creationId xmlns:a16="http://schemas.microsoft.com/office/drawing/2014/main" id="{E28B093A-651E-6F05-D947-7FF553BFB4CE}"/>
              </a:ext>
            </a:extLst>
          </p:cNvPr>
          <p:cNvSpPr txBox="1"/>
          <p:nvPr/>
        </p:nvSpPr>
        <p:spPr>
          <a:xfrm>
            <a:off x="174171" y="3657600"/>
            <a:ext cx="8677275" cy="2800767"/>
          </a:xfrm>
          <a:prstGeom prst="rect">
            <a:avLst/>
          </a:prstGeom>
          <a:noFill/>
        </p:spPr>
        <p:txBody>
          <a:bodyPr wrap="square" rtlCol="0">
            <a:spAutoFit/>
          </a:bodyPr>
          <a:lstStyle/>
          <a:p>
            <a:r>
              <a:rPr lang="en-US" sz="2200" b="1" dirty="0">
                <a:ea typeface="ＭＳ Ｐゴシック" pitchFamily="-106" charset="-128"/>
                <a:cs typeface="ＭＳ Ｐゴシック" pitchFamily="-106" charset="-128"/>
              </a:rPr>
              <a:t>New Covenant Fulfillment in Christ</a:t>
            </a:r>
            <a:endParaRPr lang="en-US" sz="2200" dirty="0">
              <a:ea typeface="ＭＳ Ｐゴシック" pitchFamily="-106" charset="-128"/>
              <a:cs typeface="ＭＳ Ｐゴシック" pitchFamily="-106" charset="-128"/>
            </a:endParaRPr>
          </a:p>
          <a:p>
            <a:pPr marL="285750" indent="-285750">
              <a:buFont typeface="Arial" panose="020B0604020202020204" pitchFamily="34" charset="0"/>
              <a:buChar char="•"/>
            </a:pPr>
            <a:r>
              <a:rPr lang="en-US" sz="2200" dirty="0">
                <a:ea typeface="ＭＳ Ｐゴシック" pitchFamily="-106" charset="-128"/>
                <a:cs typeface="ＭＳ Ｐゴシック" pitchFamily="-106" charset="-128"/>
              </a:rPr>
              <a:t>Jesus fulfills Jeremiah 31 fully.</a:t>
            </a:r>
          </a:p>
          <a:p>
            <a:pPr marL="742950" lvl="1" indent="-285750" fontAlgn="ctr">
              <a:buFont typeface="Arial" panose="020B0604020202020204" pitchFamily="34" charset="0"/>
              <a:buChar char="•"/>
            </a:pPr>
            <a:r>
              <a:rPr lang="en-US" sz="2200" dirty="0">
                <a:ea typeface="ＭＳ Ｐゴシック" pitchFamily="-106" charset="-128"/>
                <a:cs typeface="ＭＳ Ｐゴシック" pitchFamily="-106" charset="-128"/>
              </a:rPr>
              <a:t>The </a:t>
            </a:r>
            <a:r>
              <a:rPr lang="en-US" sz="2200" b="1" dirty="0">
                <a:ea typeface="ＭＳ Ｐゴシック" pitchFamily="-106" charset="-128"/>
                <a:cs typeface="ＭＳ Ｐゴシック" pitchFamily="-106" charset="-128"/>
              </a:rPr>
              <a:t>Way</a:t>
            </a:r>
            <a:r>
              <a:rPr lang="en-US" sz="2200" dirty="0">
                <a:ea typeface="ＭＳ Ｐゴシック" pitchFamily="-106" charset="-128"/>
                <a:cs typeface="ＭＳ Ｐゴシック" pitchFamily="-106" charset="-128"/>
              </a:rPr>
              <a:t>: </a:t>
            </a:r>
            <a:r>
              <a:rPr lang="en-US" sz="2200" u="sng" dirty="0">
                <a:ea typeface="ＭＳ Ｐゴシック" pitchFamily="-106" charset="-128"/>
                <a:cs typeface="ＭＳ Ｐゴシック" pitchFamily="-106" charset="-128"/>
              </a:rPr>
              <a:t>access</a:t>
            </a:r>
            <a:r>
              <a:rPr lang="en-US" sz="2200" dirty="0">
                <a:ea typeface="ＭＳ Ｐゴシック" pitchFamily="-106" charset="-128"/>
                <a:cs typeface="ＭＳ Ｐゴシック" pitchFamily="-106" charset="-128"/>
              </a:rPr>
              <a:t> to God.</a:t>
            </a:r>
          </a:p>
          <a:p>
            <a:pPr marL="742950" lvl="1" indent="-285750" fontAlgn="ctr">
              <a:buFont typeface="Arial" panose="020B0604020202020204" pitchFamily="34" charset="0"/>
              <a:buChar char="•"/>
            </a:pPr>
            <a:r>
              <a:rPr lang="en-US" sz="2200" dirty="0">
                <a:ea typeface="ＭＳ Ｐゴシック" pitchFamily="-106" charset="-128"/>
                <a:cs typeface="ＭＳ Ｐゴシック" pitchFamily="-106" charset="-128"/>
              </a:rPr>
              <a:t>The </a:t>
            </a:r>
            <a:r>
              <a:rPr lang="en-US" sz="2200" b="1" dirty="0">
                <a:ea typeface="ＭＳ Ｐゴシック" pitchFamily="-106" charset="-128"/>
                <a:cs typeface="ＭＳ Ｐゴシック" pitchFamily="-106" charset="-128"/>
              </a:rPr>
              <a:t>Truth</a:t>
            </a:r>
            <a:r>
              <a:rPr lang="en-US" sz="2200" dirty="0">
                <a:ea typeface="ＭＳ Ｐゴシック" pitchFamily="-106" charset="-128"/>
                <a:cs typeface="ＭＳ Ｐゴシック" pitchFamily="-106" charset="-128"/>
              </a:rPr>
              <a:t>: God </a:t>
            </a:r>
            <a:r>
              <a:rPr lang="en-US" sz="2200" u="sng" dirty="0">
                <a:ea typeface="ＭＳ Ｐゴシック" pitchFamily="-106" charset="-128"/>
                <a:cs typeface="ＭＳ Ｐゴシック" pitchFamily="-106" charset="-128"/>
              </a:rPr>
              <a:t>revealed</a:t>
            </a:r>
            <a:r>
              <a:rPr lang="en-US" sz="2200" dirty="0">
                <a:ea typeface="ＭＳ Ｐゴシック" pitchFamily="-106" charset="-128"/>
                <a:cs typeface="ＭＳ Ｐゴシック" pitchFamily="-106" charset="-128"/>
              </a:rPr>
              <a:t>.</a:t>
            </a:r>
          </a:p>
          <a:p>
            <a:pPr marL="742950" lvl="1" indent="-285750" fontAlgn="ctr">
              <a:buFont typeface="Arial" panose="020B0604020202020204" pitchFamily="34" charset="0"/>
              <a:buChar char="•"/>
            </a:pPr>
            <a:r>
              <a:rPr lang="en-US" sz="2200" dirty="0">
                <a:ea typeface="ＭＳ Ｐゴシック" pitchFamily="-106" charset="-128"/>
                <a:cs typeface="ＭＳ Ｐゴシック" pitchFamily="-106" charset="-128"/>
              </a:rPr>
              <a:t>The </a:t>
            </a:r>
            <a:r>
              <a:rPr lang="en-US" sz="2200" b="1" dirty="0">
                <a:ea typeface="ＭＳ Ｐゴシック" pitchFamily="-106" charset="-128"/>
                <a:cs typeface="ＭＳ Ｐゴシック" pitchFamily="-106" charset="-128"/>
              </a:rPr>
              <a:t>Life</a:t>
            </a:r>
            <a:r>
              <a:rPr lang="en-US" sz="2200" dirty="0">
                <a:ea typeface="ＭＳ Ｐゴシック" pitchFamily="-106" charset="-128"/>
                <a:cs typeface="ＭＳ Ｐゴシック" pitchFamily="-106" charset="-128"/>
              </a:rPr>
              <a:t>: God </a:t>
            </a:r>
            <a:r>
              <a:rPr lang="en-US" sz="2200" u="sng" dirty="0">
                <a:ea typeface="ＭＳ Ｐゴシック" pitchFamily="-106" charset="-128"/>
                <a:cs typeface="ＭＳ Ｐゴシック" pitchFamily="-106" charset="-128"/>
              </a:rPr>
              <a:t>shared</a:t>
            </a:r>
            <a:r>
              <a:rPr lang="en-US" sz="2200" dirty="0">
                <a:ea typeface="ＭＳ Ｐゴシック" pitchFamily="-106" charset="-128"/>
                <a:cs typeface="ＭＳ Ｐゴシック" pitchFamily="-106" charset="-128"/>
              </a:rPr>
              <a:t>.</a:t>
            </a:r>
          </a:p>
          <a:p>
            <a:pPr marL="285750" indent="-285750">
              <a:buFont typeface="Arial" panose="020B0604020202020204" pitchFamily="34" charset="0"/>
              <a:buChar char="•"/>
            </a:pPr>
            <a:r>
              <a:rPr lang="en-US" sz="2200" b="1" i="1" dirty="0">
                <a:ea typeface="ＭＳ Ｐゴシック" pitchFamily="-106" charset="-128"/>
                <a:cs typeface="ＭＳ Ｐゴシック" pitchFamily="-106" charset="-128"/>
              </a:rPr>
              <a:t>“This is eternal life: that they know you, the only true God, and Jesus Christ, whom you sent.” </a:t>
            </a:r>
            <a:r>
              <a:rPr lang="en-US" sz="2200" b="1" dirty="0">
                <a:ea typeface="ＭＳ Ｐゴシック" pitchFamily="-106" charset="-128"/>
                <a:cs typeface="ＭＳ Ｐゴシック" pitchFamily="-106" charset="-128"/>
              </a:rPr>
              <a:t>(John 17:3)</a:t>
            </a:r>
          </a:p>
          <a:p>
            <a:pPr marL="285750" indent="-285750">
              <a:buFont typeface="Arial" panose="020B0604020202020204" pitchFamily="34" charset="0"/>
              <a:buChar char="•"/>
            </a:pPr>
            <a:r>
              <a:rPr lang="en-US" sz="2200" dirty="0">
                <a:ea typeface="ＭＳ Ｐゴシック" pitchFamily="-106" charset="-128"/>
                <a:cs typeface="ＭＳ Ｐゴシック" pitchFamily="-106" charset="-128"/>
              </a:rPr>
              <a:t>This is </a:t>
            </a:r>
            <a:r>
              <a:rPr lang="en-US" sz="2200" i="1" dirty="0">
                <a:ea typeface="ＭＳ Ｐゴシック" pitchFamily="-106" charset="-128"/>
                <a:cs typeface="ＭＳ Ｐゴシック" pitchFamily="-106" charset="-128"/>
              </a:rPr>
              <a:t>Relational Knowledge</a:t>
            </a:r>
            <a:r>
              <a:rPr lang="en-US" sz="2200" dirty="0">
                <a:ea typeface="ＭＳ Ｐゴシック" pitchFamily="-106" charset="-128"/>
                <a:cs typeface="ＭＳ Ｐゴシック" pitchFamily="-106" charset="-128"/>
              </a:rPr>
              <a:t>. </a:t>
            </a:r>
            <a:r>
              <a:rPr lang="en-US" sz="2200" i="1" dirty="0">
                <a:ea typeface="ＭＳ Ｐゴシック" pitchFamily="-106" charset="-128"/>
                <a:cs typeface="ＭＳ Ｐゴシック" pitchFamily="-106" charset="-128"/>
              </a:rPr>
              <a:t>Covenant Knowledge</a:t>
            </a:r>
            <a:r>
              <a:rPr lang="en-US" sz="2200" dirty="0">
                <a:ea typeface="ＭＳ Ｐゴシック" pitchFamily="-106" charset="-128"/>
                <a:cs typeface="ＭＳ Ｐゴシック" pitchFamily="-106" charset="-128"/>
              </a:rPr>
              <a:t>. </a:t>
            </a:r>
            <a:r>
              <a:rPr lang="en-US" sz="2200" i="1" dirty="0">
                <a:ea typeface="ＭＳ Ｐゴシック" pitchFamily="-106" charset="-128"/>
                <a:cs typeface="ＭＳ Ｐゴシック" pitchFamily="-106" charset="-128"/>
              </a:rPr>
              <a:t>Shared Life</a:t>
            </a:r>
            <a:r>
              <a:rPr lang="en-US" sz="2200" dirty="0">
                <a:ea typeface="ＭＳ Ｐゴシック" pitchFamily="-106" charset="-128"/>
                <a:cs typeface="ＭＳ Ｐゴシック" pitchFamily="-106" charset="-128"/>
              </a:rPr>
              <a:t>.</a:t>
            </a:r>
          </a:p>
        </p:txBody>
      </p:sp>
    </p:spTree>
    <p:extLst>
      <p:ext uri="{BB962C8B-B14F-4D97-AF65-F5344CB8AC3E}">
        <p14:creationId xmlns:p14="http://schemas.microsoft.com/office/powerpoint/2010/main" val="718857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7235D-8689-4ABB-CCB8-0210F80645A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0785AE8-3005-EE89-FD09-26C9725CC1A9}"/>
              </a:ext>
            </a:extLst>
          </p:cNvPr>
          <p:cNvSpPr txBox="1">
            <a:spLocks/>
          </p:cNvSpPr>
          <p:nvPr/>
        </p:nvSpPr>
        <p:spPr bwMode="auto">
          <a:xfrm>
            <a:off x="152400" y="45184"/>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Application </a:t>
            </a:r>
          </a:p>
          <a:p>
            <a:r>
              <a:rPr lang="en-US" sz="2600" dirty="0">
                <a:solidFill>
                  <a:schemeClr val="tx2">
                    <a:lumMod val="60000"/>
                    <a:lumOff val="40000"/>
                  </a:schemeClr>
                </a:solidFill>
              </a:rPr>
              <a:t>Through Him, We Know God</a:t>
            </a:r>
          </a:p>
        </p:txBody>
      </p:sp>
      <p:sp>
        <p:nvSpPr>
          <p:cNvPr id="3" name="TextBox 2">
            <a:extLst>
              <a:ext uri="{FF2B5EF4-FFF2-40B4-BE49-F238E27FC236}">
                <a16:creationId xmlns:a16="http://schemas.microsoft.com/office/drawing/2014/main" id="{52FAC9A0-FE77-70BF-3EF8-E0A31B93C116}"/>
              </a:ext>
            </a:extLst>
          </p:cNvPr>
          <p:cNvSpPr txBox="1"/>
          <p:nvPr/>
        </p:nvSpPr>
        <p:spPr>
          <a:xfrm>
            <a:off x="152398" y="831460"/>
            <a:ext cx="8677275" cy="3139321"/>
          </a:xfrm>
          <a:prstGeom prst="rect">
            <a:avLst/>
          </a:prstGeom>
          <a:noFill/>
        </p:spPr>
        <p:txBody>
          <a:bodyPr wrap="square" rtlCol="0">
            <a:spAutoFit/>
          </a:bodyPr>
          <a:lstStyle/>
          <a:p>
            <a:r>
              <a:rPr lang="en-US" sz="2200" b="1" dirty="0">
                <a:ea typeface="ＭＳ Ｐゴシック" pitchFamily="-106" charset="-128"/>
                <a:cs typeface="ＭＳ Ｐゴシック" pitchFamily="-106" charset="-128"/>
              </a:rPr>
              <a:t>Application for the Church</a:t>
            </a:r>
            <a:endParaRPr lang="en-US" sz="2200" dirty="0">
              <a:ea typeface="ＭＳ Ｐゴシック" pitchFamily="-106" charset="-128"/>
              <a:cs typeface="ＭＳ Ｐゴシック" pitchFamily="-106" charset="-128"/>
            </a:endParaRPr>
          </a:p>
          <a:p>
            <a:pPr marL="285750" indent="-285750" fontAlgn="ctr">
              <a:buFont typeface="Arial" panose="020B0604020202020204" pitchFamily="34" charset="0"/>
              <a:buChar char="•"/>
            </a:pPr>
            <a:r>
              <a:rPr lang="en-US" sz="2200" dirty="0">
                <a:ea typeface="ＭＳ Ｐゴシック" pitchFamily="-106" charset="-128"/>
                <a:cs typeface="ＭＳ Ｐゴシック" pitchFamily="-106" charset="-128"/>
              </a:rPr>
              <a:t>Christianity is not a path we master.</a:t>
            </a:r>
          </a:p>
          <a:p>
            <a:pPr marL="742950" lvl="1" indent="-285750" fontAlgn="ctr">
              <a:buFont typeface="Arial" panose="020B0604020202020204" pitchFamily="34" charset="0"/>
              <a:buChar char="•"/>
            </a:pPr>
            <a:r>
              <a:rPr lang="en-US" sz="2200" dirty="0">
                <a:ea typeface="ＭＳ Ｐゴシック" pitchFamily="-106" charset="-128"/>
                <a:cs typeface="ＭＳ Ｐゴシック" pitchFamily="-106" charset="-128"/>
              </a:rPr>
              <a:t>It is a person we follow.</a:t>
            </a:r>
          </a:p>
          <a:p>
            <a:pPr marL="285750" indent="-285750" fontAlgn="ctr">
              <a:buFont typeface="Arial" panose="020B0604020202020204" pitchFamily="34" charset="0"/>
              <a:buChar char="•"/>
            </a:pPr>
            <a:r>
              <a:rPr lang="en-US" sz="2200" dirty="0">
                <a:ea typeface="ＭＳ Ｐゴシック" pitchFamily="-106" charset="-128"/>
                <a:cs typeface="ＭＳ Ｐゴシック" pitchFamily="-106" charset="-128"/>
              </a:rPr>
              <a:t>Truth is not winning arguments.</a:t>
            </a:r>
          </a:p>
          <a:p>
            <a:pPr marL="742950" lvl="1" indent="-285750" fontAlgn="ctr">
              <a:buFont typeface="Arial" panose="020B0604020202020204" pitchFamily="34" charset="0"/>
              <a:buChar char="•"/>
            </a:pPr>
            <a:r>
              <a:rPr lang="en-US" sz="2200" dirty="0">
                <a:ea typeface="ＭＳ Ｐゴシック" pitchFamily="-106" charset="-128"/>
                <a:cs typeface="ＭＳ Ｐゴシック" pitchFamily="-106" charset="-128"/>
              </a:rPr>
              <a:t>It is staying loyal to Jesus.</a:t>
            </a:r>
          </a:p>
          <a:p>
            <a:pPr marL="285750" indent="-285750" fontAlgn="ctr">
              <a:buFont typeface="Arial" panose="020B0604020202020204" pitchFamily="34" charset="0"/>
              <a:buChar char="•"/>
            </a:pPr>
            <a:r>
              <a:rPr lang="en-US" sz="2200" dirty="0">
                <a:ea typeface="ＭＳ Ｐゴシック" pitchFamily="-106" charset="-128"/>
                <a:cs typeface="ＭＳ Ｐゴシック" pitchFamily="-106" charset="-128"/>
              </a:rPr>
              <a:t>Life is not future only.</a:t>
            </a:r>
          </a:p>
          <a:p>
            <a:pPr marL="742950" lvl="1" indent="-285750" fontAlgn="ctr">
              <a:buFont typeface="Arial" panose="020B0604020202020204" pitchFamily="34" charset="0"/>
              <a:buChar char="•"/>
            </a:pPr>
            <a:r>
              <a:rPr lang="en-US" sz="2200" dirty="0">
                <a:ea typeface="ＭＳ Ｐゴシック" pitchFamily="-106" charset="-128"/>
                <a:cs typeface="ＭＳ Ｐゴシック" pitchFamily="-106" charset="-128"/>
              </a:rPr>
              <a:t>It begins now.</a:t>
            </a:r>
          </a:p>
          <a:p>
            <a:pPr marL="285750" indent="-285750">
              <a:buFont typeface="Arial" panose="020B0604020202020204" pitchFamily="34" charset="0"/>
              <a:buChar char="•"/>
            </a:pPr>
            <a:r>
              <a:rPr lang="en-US" sz="2200" b="1" dirty="0">
                <a:ea typeface="ＭＳ Ｐゴシック" pitchFamily="-106" charset="-128"/>
                <a:cs typeface="ＭＳ Ｐゴシック" pitchFamily="-106" charset="-128"/>
              </a:rPr>
              <a:t>“I have come so that they may have life and may have it abundantly.” (John 10:10)</a:t>
            </a:r>
          </a:p>
        </p:txBody>
      </p:sp>
      <p:sp>
        <p:nvSpPr>
          <p:cNvPr id="4" name="TextBox 3">
            <a:extLst>
              <a:ext uri="{FF2B5EF4-FFF2-40B4-BE49-F238E27FC236}">
                <a16:creationId xmlns:a16="http://schemas.microsoft.com/office/drawing/2014/main" id="{C16D0F31-A234-A9EA-D3FC-6784D05157B5}"/>
              </a:ext>
            </a:extLst>
          </p:cNvPr>
          <p:cNvSpPr txBox="1"/>
          <p:nvPr/>
        </p:nvSpPr>
        <p:spPr>
          <a:xfrm>
            <a:off x="152399" y="4038600"/>
            <a:ext cx="8677275" cy="2523768"/>
          </a:xfrm>
          <a:prstGeom prst="rect">
            <a:avLst/>
          </a:prstGeom>
          <a:noFill/>
        </p:spPr>
        <p:txBody>
          <a:bodyPr wrap="square" rtlCol="0">
            <a:spAutoFit/>
          </a:bodyPr>
          <a:lstStyle/>
          <a:p>
            <a:r>
              <a:rPr lang="en-US" sz="2200" b="1" dirty="0">
                <a:ea typeface="ＭＳ Ｐゴシック" pitchFamily="-106" charset="-128"/>
                <a:cs typeface="ＭＳ Ｐゴシック" pitchFamily="-106" charset="-128"/>
              </a:rPr>
              <a:t>Closing Call</a:t>
            </a:r>
            <a:endParaRPr lang="en-US" sz="2200" dirty="0">
              <a:ea typeface="ＭＳ Ｐゴシック" pitchFamily="-106" charset="-128"/>
              <a:cs typeface="ＭＳ Ｐゴシック" pitchFamily="-106" charset="-128"/>
            </a:endParaRPr>
          </a:p>
          <a:p>
            <a:pPr marL="285750" indent="-285750">
              <a:buFont typeface="Arial" panose="020B0604020202020204" pitchFamily="34" charset="0"/>
              <a:buChar char="•"/>
            </a:pPr>
            <a:r>
              <a:rPr lang="en-US" sz="2200" dirty="0">
                <a:ea typeface="ＭＳ Ｐゴシック" pitchFamily="-106" charset="-128"/>
                <a:cs typeface="ＭＳ Ｐゴシック" pitchFamily="-106" charset="-128"/>
              </a:rPr>
              <a:t>Jesus invites us to </a:t>
            </a:r>
            <a:r>
              <a:rPr lang="en-US" sz="2200" b="1" u="sng" dirty="0">
                <a:ea typeface="ＭＳ Ｐゴシック" pitchFamily="-106" charset="-128"/>
                <a:cs typeface="ＭＳ Ｐゴシック" pitchFamily="-106" charset="-128"/>
              </a:rPr>
              <a:t>know</a:t>
            </a:r>
            <a:r>
              <a:rPr lang="en-US" sz="2200" dirty="0">
                <a:ea typeface="ＭＳ Ｐゴシック" pitchFamily="-106" charset="-128"/>
                <a:cs typeface="ＭＳ Ｐゴシック" pitchFamily="-106" charset="-128"/>
              </a:rPr>
              <a:t> Him.</a:t>
            </a:r>
          </a:p>
          <a:p>
            <a:pPr marL="742950" lvl="1" indent="-285750">
              <a:buFont typeface="Arial" panose="020B0604020202020204" pitchFamily="34" charset="0"/>
              <a:buChar char="•"/>
            </a:pPr>
            <a:r>
              <a:rPr lang="en-US" sz="2200" b="1" dirty="0">
                <a:ea typeface="ＭＳ Ｐゴシック" pitchFamily="-106" charset="-128"/>
                <a:cs typeface="ＭＳ Ｐゴシック" pitchFamily="-106" charset="-128"/>
              </a:rPr>
              <a:t>“Come to me, all you who are weary and burdened, and I will give you rest.” (Matthew 11:28)</a:t>
            </a:r>
          </a:p>
          <a:p>
            <a:pPr marL="285750" indent="-285750">
              <a:buFont typeface="Arial" panose="020B0604020202020204" pitchFamily="34" charset="0"/>
              <a:buChar char="•"/>
            </a:pPr>
            <a:r>
              <a:rPr lang="en-US" sz="2200" dirty="0">
                <a:ea typeface="ＭＳ Ｐゴシック" pitchFamily="-106" charset="-128"/>
                <a:cs typeface="ＭＳ Ｐゴシック" pitchFamily="-106" charset="-128"/>
              </a:rPr>
              <a:t>He is the </a:t>
            </a:r>
            <a:r>
              <a:rPr lang="en-US" sz="2200" b="1" dirty="0">
                <a:ea typeface="ＭＳ Ｐゴシック" pitchFamily="-106" charset="-128"/>
                <a:cs typeface="ＭＳ Ｐゴシック" pitchFamily="-106" charset="-128"/>
              </a:rPr>
              <a:t>Way</a:t>
            </a:r>
            <a:r>
              <a:rPr lang="en-US" sz="2200" dirty="0">
                <a:ea typeface="ＭＳ Ｐゴシック" pitchFamily="-106" charset="-128"/>
                <a:cs typeface="ＭＳ Ｐゴシック" pitchFamily="-106" charset="-128"/>
              </a:rPr>
              <a:t>.  He is the </a:t>
            </a:r>
            <a:r>
              <a:rPr lang="en-US" sz="2200" b="1" dirty="0">
                <a:ea typeface="ＭＳ Ｐゴシック" pitchFamily="-106" charset="-128"/>
                <a:cs typeface="ＭＳ Ｐゴシック" pitchFamily="-106" charset="-128"/>
              </a:rPr>
              <a:t>Truth</a:t>
            </a:r>
            <a:r>
              <a:rPr lang="en-US" sz="2200" dirty="0">
                <a:ea typeface="ＭＳ Ｐゴシック" pitchFamily="-106" charset="-128"/>
                <a:cs typeface="ＭＳ Ｐゴシック" pitchFamily="-106" charset="-128"/>
              </a:rPr>
              <a:t>.  He is the </a:t>
            </a:r>
            <a:r>
              <a:rPr lang="en-US" sz="2200" b="1" dirty="0">
                <a:ea typeface="ＭＳ Ｐゴシック" pitchFamily="-106" charset="-128"/>
                <a:cs typeface="ＭＳ Ｐゴシック" pitchFamily="-106" charset="-128"/>
              </a:rPr>
              <a:t>Life</a:t>
            </a:r>
            <a:r>
              <a:rPr lang="en-US" sz="2200" dirty="0">
                <a:ea typeface="ＭＳ Ｐゴシック" pitchFamily="-106" charset="-128"/>
                <a:cs typeface="ＭＳ Ｐゴシック" pitchFamily="-106" charset="-128"/>
              </a:rPr>
              <a:t>.</a:t>
            </a:r>
          </a:p>
          <a:p>
            <a:pPr marL="285750" indent="-285750">
              <a:buFont typeface="Arial" panose="020B0604020202020204" pitchFamily="34" charset="0"/>
              <a:buChar char="•"/>
            </a:pPr>
            <a:r>
              <a:rPr lang="en-US" sz="2200" b="1" dirty="0">
                <a:ea typeface="ＭＳ Ｐゴシック" pitchFamily="-106" charset="-128"/>
                <a:cs typeface="ＭＳ Ｐゴシック" pitchFamily="-106" charset="-128"/>
              </a:rPr>
              <a:t>“For as many as are the </a:t>
            </a:r>
            <a:r>
              <a:rPr lang="en-US" sz="2200" b="1" u="sng" dirty="0">
                <a:ea typeface="ＭＳ Ｐゴシック" pitchFamily="-106" charset="-128"/>
                <a:cs typeface="ＭＳ Ｐゴシック" pitchFamily="-106" charset="-128"/>
              </a:rPr>
              <a:t>promises of God</a:t>
            </a:r>
            <a:r>
              <a:rPr lang="en-US" sz="2200" b="1" dirty="0">
                <a:ea typeface="ＭＳ Ｐゴシック" pitchFamily="-106" charset="-128"/>
                <a:cs typeface="ＭＳ Ｐゴシック" pitchFamily="-106" charset="-128"/>
              </a:rPr>
              <a:t>, in Him they are yes…” </a:t>
            </a:r>
            <a:r>
              <a:rPr lang="en-US" sz="2200" dirty="0">
                <a:ea typeface="ＭＳ Ｐゴシック" pitchFamily="-106" charset="-128"/>
                <a:cs typeface="ＭＳ Ｐゴシック" pitchFamily="-106" charset="-128"/>
              </a:rPr>
              <a:t>(</a:t>
            </a:r>
            <a:r>
              <a:rPr lang="en-US" sz="2200" b="1" dirty="0">
                <a:ea typeface="ＭＳ Ｐゴシック" pitchFamily="-106" charset="-128"/>
                <a:cs typeface="ＭＳ Ｐゴシック" pitchFamily="-106" charset="-128"/>
              </a:rPr>
              <a:t>2 Corinthians 1:20)</a:t>
            </a:r>
            <a:endParaRPr lang="en-US" sz="2200" dirty="0">
              <a:ea typeface="ＭＳ Ｐゴシック" pitchFamily="-106" charset="-128"/>
              <a:cs typeface="ＭＳ Ｐゴシック" pitchFamily="-106" charset="-128"/>
            </a:endParaRPr>
          </a:p>
        </p:txBody>
      </p:sp>
    </p:spTree>
    <p:extLst>
      <p:ext uri="{BB962C8B-B14F-4D97-AF65-F5344CB8AC3E}">
        <p14:creationId xmlns:p14="http://schemas.microsoft.com/office/powerpoint/2010/main" val="4016614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38354</TotalTime>
  <Words>2246</Words>
  <Application>Microsoft Office PowerPoint</Application>
  <PresentationFormat>On-screen Show (4:3)</PresentationFormat>
  <Paragraphs>265</Paragraphs>
  <Slides>8</Slides>
  <Notes>8</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8</vt:i4>
      </vt:variant>
    </vt:vector>
  </HeadingPairs>
  <TitlesOfParts>
    <vt:vector size="14" baseType="lpstr">
      <vt:lpstr>ＭＳ Ｐゴシック</vt:lpstr>
      <vt:lpstr>Arial</vt:lpstr>
      <vt:lpstr>Arial Narrow</vt:lpstr>
      <vt:lpstr>Calibri</vt:lpstr>
      <vt:lpstr>PPT_Template_2010SummerSchool</vt:lpstr>
      <vt:lpstr>1_UPCRC_Powerpoint_Template_with I-Mark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1378</cp:revision>
  <cp:lastPrinted>2025-12-28T01:41:35Z</cp:lastPrinted>
  <dcterms:created xsi:type="dcterms:W3CDTF">2010-06-16T02:58:04Z</dcterms:created>
  <dcterms:modified xsi:type="dcterms:W3CDTF">2025-12-28T01:42:24Z</dcterms:modified>
</cp:coreProperties>
</file>