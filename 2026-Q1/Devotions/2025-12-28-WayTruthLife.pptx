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68" r:id="rId1"/>
    <p:sldMasterId id="2147484131" r:id="rId2"/>
  </p:sldMasterIdLst>
  <p:notesMasterIdLst>
    <p:notesMasterId r:id="rId11"/>
  </p:notesMasterIdLst>
  <p:sldIdLst>
    <p:sldId id="395" r:id="rId3"/>
    <p:sldId id="591" r:id="rId4"/>
    <p:sldId id="592" r:id="rId5"/>
    <p:sldId id="594" r:id="rId6"/>
    <p:sldId id="593" r:id="rId7"/>
    <p:sldId id="595" r:id="rId8"/>
    <p:sldId id="596" r:id="rId9"/>
    <p:sldId id="597" r:id="rId1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hillip Pennington" initials="PP" lastIdx="2" clrIdx="0">
    <p:extLst>
      <p:ext uri="{19B8F6BF-5375-455C-9EA6-DF929625EA0E}">
        <p15:presenceInfo xmlns:p15="http://schemas.microsoft.com/office/powerpoint/2012/main" userId="7a30b84b863a4f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 autoAdjust="0"/>
    <p:restoredTop sz="59060" autoAdjust="0"/>
  </p:normalViewPr>
  <p:slideViewPr>
    <p:cSldViewPr>
      <p:cViewPr varScale="1">
        <p:scale>
          <a:sx n="82" d="100"/>
          <a:sy n="82" d="100"/>
        </p:scale>
        <p:origin x="217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5" y="4"/>
            <a:ext cx="3169921" cy="480060"/>
          </a:xfrm>
          <a:prstGeom prst="rect">
            <a:avLst/>
          </a:prstGeom>
        </p:spPr>
        <p:txBody>
          <a:bodyPr vert="horz" wrap="square" lIns="96579" tIns="48290" rIns="96579" bIns="4829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4"/>
            <a:ext cx="3169921" cy="480060"/>
          </a:xfrm>
          <a:prstGeom prst="rect">
            <a:avLst/>
          </a:prstGeom>
        </p:spPr>
        <p:txBody>
          <a:bodyPr vert="horz" wrap="square" lIns="96579" tIns="48290" rIns="96579" bIns="4829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37B93000-4848-40F5-8AEF-44DFB12065B3}" type="datetime1">
              <a:rPr lang="en-US"/>
              <a:pPr>
                <a:defRPr/>
              </a:pPr>
              <a:t>12/28/2025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6579" tIns="48290" rIns="96579" bIns="4829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560571"/>
            <a:ext cx="5852160" cy="4320540"/>
          </a:xfrm>
          <a:prstGeom prst="rect">
            <a:avLst/>
          </a:prstGeom>
        </p:spPr>
        <p:txBody>
          <a:bodyPr vert="horz" wrap="square" lIns="96579" tIns="48290" rIns="96579" bIns="4829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5" y="9119474"/>
            <a:ext cx="3169921" cy="480060"/>
          </a:xfrm>
          <a:prstGeom prst="rect">
            <a:avLst/>
          </a:prstGeom>
        </p:spPr>
        <p:txBody>
          <a:bodyPr vert="horz" wrap="square" lIns="96579" tIns="48290" rIns="96579" bIns="4829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4"/>
            <a:ext cx="3169921" cy="480060"/>
          </a:xfrm>
          <a:prstGeom prst="rect">
            <a:avLst/>
          </a:prstGeom>
        </p:spPr>
        <p:txBody>
          <a:bodyPr vert="horz" wrap="square" lIns="96579" tIns="48290" rIns="96579" bIns="4829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07776858-791E-4C8D-8FA3-473B3AFECFA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7504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20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3AD57-92B0-A89D-53F5-C87238A50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A26A3-CFE9-3C50-8174-3CAA1F6EB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A9811-FB75-C4A8-E4DB-6C7ACDA83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1600" b="1" dirty="0"/>
              <a:t>Introduction: The Setting of John 14</a:t>
            </a:r>
            <a:endParaRPr lang="en-US" sz="1600" dirty="0"/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600" dirty="0"/>
              <a:t>John 14 happens the night before the cross.</a:t>
            </a:r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600" dirty="0"/>
              <a:t>Jesus is speaking to troubled disciples.</a:t>
            </a:r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600" dirty="0"/>
              <a:t>He is not giving a slogan.  He is fulfilling covenant prophecy.</a:t>
            </a:r>
          </a:p>
          <a:p>
            <a:endParaRPr lang="en-US" sz="16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ACFA3-2C2F-4CC0-AB9A-C39975212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520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E310-1506-6BD2-5A95-A948B79FB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BB9B7-5160-7F5A-819E-240F768A8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D875F7-5FF7-E8EA-5E89-A0B67572C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1600" b="1" dirty="0"/>
              <a:t>The New Covenant Background (Jeremiah 31)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He is fulfilling a promise.</a:t>
            </a:r>
          </a:p>
          <a:p>
            <a:endParaRPr lang="en-US" sz="1600" dirty="0"/>
          </a:p>
          <a:p>
            <a:r>
              <a:rPr lang="en-US" sz="1600" dirty="0"/>
              <a:t>Hebrews 8</a:t>
            </a:r>
          </a:p>
          <a:p>
            <a:endParaRPr lang="en-US" sz="1600" dirty="0"/>
          </a:p>
          <a:p>
            <a:r>
              <a:rPr lang="en-US" sz="1600" dirty="0"/>
              <a:t>Romans 8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E8C83-BC3E-5CDD-5B53-F07E25B094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345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F1AE8-DF3D-DA0C-2C4F-D7A3449A4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48431-F78B-23F7-4025-A54FDBD25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66299D-E794-A7C2-A627-38EFEB9BE6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sz="1400" b="1" dirty="0"/>
              <a:t>“I Am the Way”</a:t>
            </a:r>
            <a:endParaRPr lang="en-US" sz="1400" dirty="0"/>
          </a:p>
          <a:p>
            <a:endParaRPr lang="en-US" sz="1400" b="1" dirty="0"/>
          </a:p>
          <a:p>
            <a:r>
              <a:rPr lang="en-US" sz="1400" dirty="0"/>
              <a:t>In Scripture, “the way” means access.</a:t>
            </a:r>
          </a:p>
          <a:p>
            <a:pPr marL="293208" indent="-293208">
              <a:buFont typeface="Arial" panose="020B0604020202020204" pitchFamily="34" charset="0"/>
              <a:buChar char="•"/>
            </a:pPr>
            <a:r>
              <a:rPr lang="en-US" sz="1400" b="1" dirty="0"/>
              <a:t>“Teach me your way, O LORD.” (Psalm 27:11)</a:t>
            </a:r>
            <a:endParaRPr lang="en-US" sz="1400" b="1" i="0" u="none" strike="noStrike" kern="1200" baseline="0" dirty="0">
              <a:solidFill>
                <a:schemeClr val="tx1"/>
              </a:solidFill>
              <a:latin typeface="+mn-lt"/>
              <a:ea typeface="ＭＳ Ｐゴシック" pitchFamily="-106" charset="-128"/>
            </a:endParaRPr>
          </a:p>
          <a:p>
            <a:pPr marL="293208" indent="-293208">
              <a:buFont typeface="Arial" panose="020B0604020202020204" pitchFamily="34" charset="0"/>
              <a:buChar char="•"/>
            </a:pP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A highway shall be there, and a road, And it shall be called the Highway of Holiness. The unclean shall not pass over it, But it </a:t>
            </a:r>
            <a:r>
              <a:rPr lang="en-US" sz="1400" b="1" i="1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shall be</a:t>
            </a: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 for others. Whoever walks the road, although a fool, Shall not go astray.</a:t>
            </a:r>
          </a:p>
          <a:p>
            <a:pPr rtl="0"/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(Isa 35:8)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Show me Your ways, O LORD; Teach me Your paths.  (5)  Lead me in Your truth and teach me, For You </a:t>
            </a:r>
            <a:r>
              <a:rPr lang="en-US" sz="1400" b="1" i="1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are</a:t>
            </a: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 the God of my salvation; On You I wait all the day. (</a:t>
            </a:r>
            <a:r>
              <a:rPr lang="en-US" sz="1400" b="1" i="0" u="none" strike="noStrike" kern="1200" baseline="0" dirty="0" err="1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Psa</a:t>
            </a: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 25:4-5)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Other Metaphors:</a:t>
            </a:r>
          </a:p>
          <a:p>
            <a:pPr marL="628650" lvl="1" indent="-171450" rtl="0">
              <a:buFont typeface="Arial" panose="020B0604020202020204" pitchFamily="34" charset="0"/>
              <a:buChar char="•"/>
            </a:pPr>
            <a:r>
              <a:rPr lang="en-US" sz="14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The Door, The Gate, The Light</a:t>
            </a:r>
            <a:endParaRPr lang="en-US" sz="1400" b="1" dirty="0"/>
          </a:p>
          <a:p>
            <a:endParaRPr lang="en-US" sz="1400" dirty="0"/>
          </a:p>
          <a:p>
            <a:r>
              <a:rPr lang="en-US" sz="1400" b="1" dirty="0"/>
              <a:t>The Way of Relationship</a:t>
            </a:r>
            <a:endParaRPr lang="en-US" sz="1400" dirty="0"/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400" dirty="0"/>
              <a:t>Early Christians called the faith </a:t>
            </a:r>
            <a:r>
              <a:rPr lang="en-US" sz="1400" i="1" dirty="0"/>
              <a:t>“the Way.”</a:t>
            </a:r>
            <a:endParaRPr lang="en-US" sz="1400" dirty="0"/>
          </a:p>
          <a:p>
            <a:pPr marL="645058" lvl="1" indent="-175925">
              <a:buFont typeface="Arial" panose="020B0604020202020204" pitchFamily="34" charset="0"/>
              <a:buChar char="•"/>
            </a:pPr>
            <a:r>
              <a:rPr lang="en-US" sz="1400" b="1" dirty="0">
                <a:cs typeface="ＭＳ Ｐゴシック" pitchFamily="-106" charset="-128"/>
              </a:rPr>
              <a:t>“I persecuted this Way to the death.” (Acts 22:4)</a:t>
            </a:r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400" dirty="0"/>
              <a:t>Why?</a:t>
            </a:r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400" dirty="0"/>
              <a:t>Because following Jesus meant walking with Him.</a:t>
            </a:r>
          </a:p>
          <a:p>
            <a:pPr marL="645058" lvl="1" indent="-175925">
              <a:buFont typeface="Arial" panose="020B0604020202020204" pitchFamily="34" charset="0"/>
              <a:buChar char="•"/>
            </a:pPr>
            <a:r>
              <a:rPr lang="en-US" sz="1400" b="1" dirty="0">
                <a:cs typeface="ＭＳ Ｐゴシック" pitchFamily="-106" charset="-128"/>
              </a:rPr>
              <a:t>“The one who says he resides in God ought himself to walk just as Jesus walked.” (1 John 2:6)</a:t>
            </a:r>
          </a:p>
          <a:p>
            <a:pPr marL="645058" lvl="1" indent="-175925">
              <a:buFont typeface="Arial" panose="020B0604020202020204" pitchFamily="34" charset="0"/>
              <a:buChar char="•"/>
            </a:pPr>
            <a:r>
              <a:rPr lang="en-US" sz="1400" dirty="0">
                <a:cs typeface="ＭＳ Ｐゴシック" pitchFamily="-106" charset="-128"/>
              </a:rPr>
              <a:t>This is covenant walking.</a:t>
            </a:r>
          </a:p>
          <a:p>
            <a:pPr marL="645058" lvl="1" indent="-175925">
              <a:buFont typeface="Arial" panose="020B0604020202020204" pitchFamily="34" charset="0"/>
              <a:buChar char="•"/>
            </a:pPr>
            <a:r>
              <a:rPr lang="en-US" sz="1400" dirty="0">
                <a:cs typeface="ＭＳ Ｐゴシック" pitchFamily="-106" charset="-128"/>
              </a:rPr>
              <a:t>Life shared with God.</a:t>
            </a:r>
          </a:p>
          <a:p>
            <a:pPr marL="293208" indent="-293208"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240CB-4B7E-1C7C-522C-0A1B95265B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667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BBC52-EC0A-62BC-9874-12811D524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B1057-707C-7C83-477B-1C2F8BDA74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3F57C-D969-6BB9-D047-6BDA2CF44F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1600" dirty="0"/>
              <a:t> </a:t>
            </a:r>
            <a:r>
              <a:rPr lang="en-US" sz="1600" b="1" dirty="0"/>
              <a:t>“I Am the Truth”</a:t>
            </a:r>
            <a:endParaRPr lang="en-US" sz="1600" dirty="0"/>
          </a:p>
          <a:p>
            <a:endParaRPr lang="en-US" sz="1600" b="1" dirty="0"/>
          </a:p>
          <a:p>
            <a:pPr marL="305141" marR="0" lvl="0" indent="-293208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John 18:37  Pilate therefore said to Him, "Are You a king then?" Jesus answered, "You say </a:t>
            </a:r>
            <a:r>
              <a:rPr lang="en-US" sz="1600" b="1" i="1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rightly</a:t>
            </a: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 that I am a king. For this cause I was born, and for this cause I have come into the world</a:t>
            </a:r>
            <a:r>
              <a:rPr lang="en-US" sz="1600" b="1" i="0" u="sng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, that I should bear witness to the truth</a:t>
            </a: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. </a:t>
            </a:r>
            <a:r>
              <a:rPr lang="en-US" sz="1600" b="1" i="0" u="sng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Everyone who is of the truth hears My voice</a:t>
            </a: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."</a:t>
            </a:r>
          </a:p>
          <a:p>
            <a:pPr marL="11933" lvl="0" indent="0">
              <a:buFont typeface="Arial" panose="020B0604020202020204" pitchFamily="34" charset="0"/>
              <a:buNone/>
            </a:pPr>
            <a:endParaRPr lang="en-US" sz="1600" dirty="0">
              <a:cs typeface="ＭＳ Ｐゴシック" pitchFamily="-106" charset="-128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2FD43-0067-82DD-2CC8-6C15C81DB9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911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4A565-0E88-82A3-F94D-0B11D0E6F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8481C-4750-203A-4211-F05EFB421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D473BB-50D9-015E-67BA-B612C8A4D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1600" b="1" dirty="0"/>
              <a:t>“I Am the Life”</a:t>
            </a:r>
            <a:endParaRPr lang="en-US" sz="16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Hab 2:4  </a:t>
            </a:r>
            <a:r>
              <a:rPr lang="en-US" sz="1600" b="0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"Behold the proud, His soul is not upright in him; </a:t>
            </a: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rPr>
              <a:t>But the just shall live by his faith.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600" b="1" i="0" u="none" strike="noStrike" kern="1200" baseline="0" dirty="0">
              <a:solidFill>
                <a:schemeClr val="tx1"/>
              </a:solidFill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</a:rPr>
              <a:t>Romans – who are the Just?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0" u="none" strike="noStrike" kern="1200" baseline="0" dirty="0">
              <a:solidFill>
                <a:schemeClr val="tx1"/>
              </a:solidFill>
              <a:latin typeface="+mn-lt"/>
              <a:ea typeface="ＭＳ Ｐゴシック" pitchFamily="-106" charset="-128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</a:rPr>
              <a:t>Galatians – how do the Just live?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0" u="none" strike="noStrike" kern="1200" baseline="0" dirty="0">
              <a:solidFill>
                <a:schemeClr val="tx1"/>
              </a:solidFill>
              <a:latin typeface="+mn-lt"/>
              <a:ea typeface="ＭＳ Ｐゴシック" pitchFamily="-106" charset="-128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0" u="none" strike="noStrike" kern="1200" baseline="0" dirty="0">
                <a:solidFill>
                  <a:schemeClr val="tx1"/>
                </a:solidFill>
                <a:latin typeface="+mn-lt"/>
                <a:ea typeface="ＭＳ Ｐゴシック" pitchFamily="-106" charset="-128"/>
              </a:rPr>
              <a:t>Hebrews – what is the Faith of the Just?</a:t>
            </a:r>
            <a:endParaRPr lang="en-US" sz="1600" b="1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E87F5-CD8A-2389-CB72-16FE67C55B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553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3C4B6-4328-3049-6B20-F1F6CA9E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062564-2718-95DF-1D23-F6BF42D2D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FCC7A-41F2-A6CC-795D-091AE3F7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1600" b="1" dirty="0"/>
              <a:t>How the Three Belong Together</a:t>
            </a:r>
            <a:endParaRPr lang="en-US" sz="1600" dirty="0"/>
          </a:p>
          <a:p>
            <a:pPr marL="175925" indent="-175925">
              <a:buFont typeface="Arial" panose="020B0604020202020204" pitchFamily="34" charset="0"/>
              <a:buChar char="•"/>
            </a:pPr>
            <a:endParaRPr lang="en-US" sz="16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C8A50D-9156-3E28-FDED-021D06DC1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360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5632C-7143-99D7-40FE-3813BB84B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8B8C3-2763-AA55-A277-BFDA6F351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7594-66F9-8809-277F-D6D42A1F8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1600" b="1" dirty="0"/>
              <a:t>Application for the Church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Every covenant — Abrahamic, Mosaic, Davidic, and New — finds its “Yes” in Christ.</a:t>
            </a:r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600" b="1" dirty="0"/>
              <a:t>“For as many as are the promises of God, in Him they are yes; therefore also through Him is our Amen to the glory of God through us.” </a:t>
            </a:r>
            <a:r>
              <a:rPr lang="en-US" sz="1600" dirty="0"/>
              <a:t> (</a:t>
            </a:r>
            <a:r>
              <a:rPr lang="en-US" sz="1600" b="1" dirty="0"/>
              <a:t>2 Corinthians 1:20)</a:t>
            </a:r>
            <a:endParaRPr lang="en-US" sz="1600" dirty="0"/>
          </a:p>
          <a:p>
            <a:pPr marL="175925" indent="-175925">
              <a:buFont typeface="Arial" panose="020B0604020202020204" pitchFamily="34" charset="0"/>
              <a:buChar char="•"/>
            </a:pPr>
            <a:r>
              <a:rPr lang="en-US" sz="1600" dirty="0"/>
              <a:t>God’s invitation is simple: </a:t>
            </a:r>
            <a:r>
              <a:rPr lang="en-US" sz="1600" b="1" dirty="0"/>
              <a:t>believe, follow, and know Him through His Son.</a:t>
            </a:r>
            <a:endParaRPr lang="en-US" sz="16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93411-BCD2-9276-1DEC-8A3386FE90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743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391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4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734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9" r:id="rId1"/>
    <p:sldLayoutId id="2147484150" r:id="rId2"/>
  </p:sldLayoutIdLst>
  <p:hf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tinyurl.com/GodOfPromis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inyurl.com/promiseknowledge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A53F3-F5FA-47DF-8211-8B502AD79E23}"/>
              </a:ext>
            </a:extLst>
          </p:cNvPr>
          <p:cNvSpPr txBox="1">
            <a:spLocks/>
          </p:cNvSpPr>
          <p:nvPr/>
        </p:nvSpPr>
        <p:spPr bwMode="auto">
          <a:xfrm>
            <a:off x="457200" y="419100"/>
            <a:ext cx="8229600" cy="601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85000" lnSpcReduction="20000"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6700" dirty="0"/>
              <a:t>The Promises of God</a:t>
            </a:r>
            <a:br>
              <a:rPr lang="en-US" dirty="0"/>
            </a:br>
            <a:endParaRPr lang="en-US" dirty="0"/>
          </a:p>
          <a:p>
            <a:r>
              <a:rPr lang="en-US" i="1" dirty="0"/>
              <a:t>The Way, the Truth, and the Life</a:t>
            </a: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b="0" dirty="0"/>
              <a:t>Jesus said to him, “I am the way, the truth, and the life. No one comes to the Father except through Me.”</a:t>
            </a:r>
          </a:p>
          <a:p>
            <a:r>
              <a:rPr lang="en-US" b="0" dirty="0"/>
              <a:t>(John 14:6)</a:t>
            </a:r>
          </a:p>
          <a:p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hlinkClick r:id="rId3"/>
              </a:rPr>
              <a:t>https://tinyurl.com/GodOfPromises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3800" dirty="0">
                <a:solidFill>
                  <a:schemeClr val="tx2">
                    <a:lumMod val="60000"/>
                    <a:lumOff val="40000"/>
                  </a:schemeClr>
                </a:solidFill>
                <a:hlinkClick r:id="rId4"/>
              </a:rPr>
              <a:t>https://tinyurl.com/promiseknowledge</a:t>
            </a:r>
            <a:endParaRPr lang="en-US" sz="3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8658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28DDE-CD4E-7C8C-8440-858EF19C0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C67E6-9601-AEE3-1489-23082B10AFF9}"/>
              </a:ext>
            </a:extLst>
          </p:cNvPr>
          <p:cNvSpPr txBox="1">
            <a:spLocks/>
          </p:cNvSpPr>
          <p:nvPr/>
        </p:nvSpPr>
        <p:spPr bwMode="auto">
          <a:xfrm>
            <a:off x="233362" y="32657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Introduction</a:t>
            </a:r>
            <a:br>
              <a:rPr lang="en-US" dirty="0"/>
            </a:br>
            <a:r>
              <a:rPr lang="en-US" sz="2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Setting of John 14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D12C54-7D34-01D6-341D-7B239249B2B3}"/>
              </a:ext>
            </a:extLst>
          </p:cNvPr>
          <p:cNvSpPr txBox="1"/>
          <p:nvPr/>
        </p:nvSpPr>
        <p:spPr>
          <a:xfrm>
            <a:off x="214311" y="838200"/>
            <a:ext cx="867727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He is giving comfort and clarity.</a:t>
            </a:r>
          </a:p>
          <a:p>
            <a:pPr lvl="1"/>
            <a:r>
              <a:rPr lang="en-US" sz="2400" b="1" i="1" dirty="0"/>
              <a:t>“Do not let your hearts be distressed. You believe in God; believe also in me.” </a:t>
            </a:r>
            <a:r>
              <a:rPr lang="en-US" sz="2400" dirty="0"/>
              <a:t>(</a:t>
            </a:r>
            <a:r>
              <a:rPr lang="en-US" sz="2400" b="1" dirty="0"/>
              <a:t>John 14:1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r>
              <a:rPr lang="en-US" sz="2400" dirty="0"/>
              <a:t>Thomas asks a real question.</a:t>
            </a:r>
          </a:p>
          <a:p>
            <a:pPr lvl="1"/>
            <a:r>
              <a:rPr lang="en-US" sz="2400" b="1" i="1" dirty="0"/>
              <a:t>“Lord, we don’t know where you are going. How can we know the way?” </a:t>
            </a:r>
            <a:r>
              <a:rPr lang="en-US" sz="2400" dirty="0"/>
              <a:t>(</a:t>
            </a:r>
            <a:r>
              <a:rPr lang="en-US" sz="2400" b="1" dirty="0"/>
              <a:t>John 14:5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r>
              <a:rPr lang="en-US" sz="2400" dirty="0"/>
              <a:t>Jesus answers with a claim no prophet ever made.</a:t>
            </a:r>
          </a:p>
          <a:p>
            <a:pPr lvl="1"/>
            <a:r>
              <a:rPr lang="en-US" sz="2400" b="1" i="1" dirty="0"/>
              <a:t>“I am the </a:t>
            </a:r>
            <a:r>
              <a:rPr lang="en-US" sz="2400" b="1" i="1" u="sng" dirty="0"/>
              <a:t>way</a:t>
            </a:r>
            <a:r>
              <a:rPr lang="en-US" sz="2400" b="1" i="1" dirty="0"/>
              <a:t>, and the </a:t>
            </a:r>
            <a:r>
              <a:rPr lang="en-US" sz="2400" b="1" i="1" u="sng" dirty="0"/>
              <a:t>truth</a:t>
            </a:r>
            <a:r>
              <a:rPr lang="en-US" sz="2400" b="1" i="1" dirty="0"/>
              <a:t>, and the </a:t>
            </a:r>
            <a:r>
              <a:rPr lang="en-US" sz="2400" b="1" i="1" u="sng" dirty="0"/>
              <a:t>life</a:t>
            </a:r>
            <a:r>
              <a:rPr lang="en-US" sz="2400" b="1" i="1" dirty="0"/>
              <a:t>. No one comes to the Father except through me.” </a:t>
            </a:r>
            <a:r>
              <a:rPr lang="en-US" sz="2400" dirty="0"/>
              <a:t>(</a:t>
            </a:r>
            <a:r>
              <a:rPr lang="en-US" sz="2400" b="1" dirty="0"/>
              <a:t>John 14:6</a:t>
            </a:r>
            <a:r>
              <a:rPr lang="en-US" sz="2400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9C956-86B9-5893-5AA6-2026F654E6CD}"/>
              </a:ext>
            </a:extLst>
          </p:cNvPr>
          <p:cNvSpPr txBox="1"/>
          <p:nvPr/>
        </p:nvSpPr>
        <p:spPr>
          <a:xfrm>
            <a:off x="214310" y="5181600"/>
            <a:ext cx="8677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This is </a:t>
            </a:r>
            <a:r>
              <a:rPr lang="en-US" sz="2400" u="sng" dirty="0">
                <a:ea typeface="ＭＳ Ｐゴシック" pitchFamily="-106" charset="-128"/>
                <a:cs typeface="ＭＳ Ｐゴシック" pitchFamily="-106" charset="-128"/>
              </a:rPr>
              <a:t>covenant</a:t>
            </a:r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 language.</a:t>
            </a:r>
          </a:p>
          <a:p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This is </a:t>
            </a:r>
            <a:r>
              <a:rPr lang="en-US" sz="2400" u="sng" dirty="0">
                <a:ea typeface="ＭＳ Ｐゴシック" pitchFamily="-106" charset="-128"/>
                <a:cs typeface="ＭＳ Ｐゴシック" pitchFamily="-106" charset="-128"/>
              </a:rPr>
              <a:t>relational</a:t>
            </a:r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 language.</a:t>
            </a:r>
          </a:p>
          <a:p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This is </a:t>
            </a:r>
            <a:r>
              <a:rPr lang="en-US" sz="2400" u="sng" dirty="0">
                <a:ea typeface="ＭＳ Ｐゴシック" pitchFamily="-106" charset="-128"/>
                <a:cs typeface="ＭＳ Ｐゴシック" pitchFamily="-106" charset="-128"/>
              </a:rPr>
              <a:t>fulfillment</a:t>
            </a:r>
            <a:r>
              <a:rPr lang="en-US" sz="2400" dirty="0">
                <a:ea typeface="ＭＳ Ｐゴシック" pitchFamily="-106" charset="-128"/>
                <a:cs typeface="ＭＳ Ｐゴシック" pitchFamily="-106" charset="-128"/>
              </a:rPr>
              <a:t> language</a:t>
            </a:r>
            <a:r>
              <a:rPr lang="en-US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069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DD58F-DBB2-A121-58DF-BD7BC283A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EBD8E8-2B77-F2CD-9068-040E22D1CE89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The New Covenant Background</a:t>
            </a:r>
            <a:br>
              <a:rPr lang="en-US" dirty="0"/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Jeremiah 31:31-34; Hebrews 8:1-13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B3B76-2683-535F-4152-21CE75E53ED2}"/>
              </a:ext>
            </a:extLst>
          </p:cNvPr>
          <p:cNvSpPr txBox="1"/>
          <p:nvPr/>
        </p:nvSpPr>
        <p:spPr>
          <a:xfrm>
            <a:off x="225198" y="807184"/>
            <a:ext cx="867727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is not speaking in a vacuum.  He is fulfilling a promise.</a:t>
            </a:r>
          </a:p>
          <a:p>
            <a:pPr lvl="1"/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“Indeed, a time is coming… when </a:t>
            </a:r>
            <a:r>
              <a:rPr lang="en-US" sz="2200" b="1" i="1" u="sng" dirty="0">
                <a:ea typeface="ＭＳ Ｐゴシック" pitchFamily="-106" charset="-128"/>
                <a:cs typeface="ＭＳ Ｐゴシック" pitchFamily="-106" charset="-128"/>
              </a:rPr>
              <a:t>I will make a new covenant </a:t>
            </a:r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with the people of Israel and Judah.” 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Jeremiah 31:31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0BEBB7-E76E-1764-86C2-CBE29E52883A}"/>
              </a:ext>
            </a:extLst>
          </p:cNvPr>
          <p:cNvSpPr txBox="1"/>
          <p:nvPr/>
        </p:nvSpPr>
        <p:spPr>
          <a:xfrm>
            <a:off x="225195" y="2507665"/>
            <a:ext cx="867727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This covenant is different.</a:t>
            </a:r>
          </a:p>
          <a:p>
            <a:pPr lvl="1"/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“I will put my law </a:t>
            </a:r>
            <a:r>
              <a:rPr lang="en-US" sz="2200" b="1" i="1" u="sng" dirty="0">
                <a:ea typeface="ＭＳ Ｐゴシック" pitchFamily="-106" charset="-128"/>
                <a:cs typeface="ＭＳ Ｐゴシック" pitchFamily="-106" charset="-128"/>
              </a:rPr>
              <a:t>within them</a:t>
            </a:r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 and write it on their hearts.” 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31:33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And the goal is clear.</a:t>
            </a:r>
          </a:p>
          <a:p>
            <a:pPr lvl="1"/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“</a:t>
            </a:r>
            <a:r>
              <a:rPr lang="en-US" sz="2200" b="1" i="1" u="sng" dirty="0">
                <a:ea typeface="ＭＳ Ｐゴシック" pitchFamily="-106" charset="-128"/>
                <a:cs typeface="ＭＳ Ｐゴシック" pitchFamily="-106" charset="-128"/>
              </a:rPr>
              <a:t>They will all know me</a:t>
            </a:r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, from the least to the greatest.” 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31:34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D8397F-3C88-5F28-96EF-2DCDDE1F4534}"/>
              </a:ext>
            </a:extLst>
          </p:cNvPr>
          <p:cNvSpPr txBox="1"/>
          <p:nvPr/>
        </p:nvSpPr>
        <p:spPr>
          <a:xfrm>
            <a:off x="225196" y="4885254"/>
            <a:ext cx="867727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Knowing God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is the center of the New Covenant.</a:t>
            </a:r>
          </a:p>
          <a:p>
            <a:pPr lvl="1"/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Not ritual.  Not location.  Not lineage.</a:t>
            </a:r>
          </a:p>
          <a:p>
            <a:pPr lvl="1"/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Knowing as in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Relationship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claims to be the </a:t>
            </a:r>
            <a:r>
              <a:rPr lang="en-US" sz="2200" i="1" u="sng" dirty="0">
                <a:ea typeface="ＭＳ Ｐゴシック" pitchFamily="-106" charset="-128"/>
                <a:cs typeface="ＭＳ Ｐゴシック" pitchFamily="-106" charset="-128"/>
              </a:rPr>
              <a:t>means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of this knowing.  </a:t>
            </a:r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“I am…”</a:t>
            </a:r>
          </a:p>
        </p:txBody>
      </p:sp>
    </p:spTree>
    <p:extLst>
      <p:ext uri="{BB962C8B-B14F-4D97-AF65-F5344CB8AC3E}">
        <p14:creationId xmlns:p14="http://schemas.microsoft.com/office/powerpoint/2010/main" val="142349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FC55E-7D78-07C4-FEC4-8A98331BC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982BE90-48CD-5C73-8F6F-A1B1D97E1863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“I Am the Way”</a:t>
            </a:r>
            <a:br>
              <a:rPr lang="en-US" dirty="0"/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800" u="sng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Way to God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not a Method, nor Process, nor Philosophy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42F825-A1AE-9FE6-4EEF-8CB41509346B}"/>
              </a:ext>
            </a:extLst>
          </p:cNvPr>
          <p:cNvSpPr txBox="1"/>
          <p:nvPr/>
        </p:nvSpPr>
        <p:spPr>
          <a:xfrm>
            <a:off x="225195" y="788221"/>
            <a:ext cx="867727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does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not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say, “I show the way.”</a:t>
            </a:r>
          </a:p>
          <a:p>
            <a:pPr lvl="1"/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He says,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“I am the way.”</a:t>
            </a:r>
          </a:p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In Scripture, “the way” means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access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lvl="1"/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“A highway shall be there, and a road, And it shall be called the Highway of Holiness. The unclean shall not pass over it…” (Isaiah 35:8)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7F5C76-D62C-6342-5234-AD406295C940}"/>
              </a:ext>
            </a:extLst>
          </p:cNvPr>
          <p:cNvSpPr txBox="1"/>
          <p:nvPr/>
        </p:nvSpPr>
        <p:spPr>
          <a:xfrm>
            <a:off x="213469" y="2911273"/>
            <a:ext cx="86772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Under the old covenant, access to God was limited.</a:t>
            </a:r>
          </a:p>
          <a:p>
            <a:pPr lvl="1"/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Only priests.  Only sacrifices.  Only once a year.</a:t>
            </a:r>
          </a:p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changes this…</a:t>
            </a:r>
          </a:p>
          <a:p>
            <a:pPr lvl="1"/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“Therefore, brothers and sisters, since we have confidence to enter the sanctuary by the blood of Jesus, by the fresh and living </a:t>
            </a:r>
            <a:r>
              <a:rPr lang="en-US" sz="2200" b="1" u="sng" dirty="0">
                <a:ea typeface="ＭＳ Ｐゴシック" pitchFamily="-106" charset="-128"/>
                <a:cs typeface="ＭＳ Ｐゴシック" pitchFamily="-106" charset="-128"/>
              </a:rPr>
              <a:t>way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 he opened for us through the curtain.” 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Hebrews 10:19-20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125ED5-9562-38F3-B1E7-BDABEBA3E49C}"/>
              </a:ext>
            </a:extLst>
          </p:cNvPr>
          <p:cNvSpPr txBox="1"/>
          <p:nvPr/>
        </p:nvSpPr>
        <p:spPr>
          <a:xfrm>
            <a:off x="210538" y="5372881"/>
            <a:ext cx="867727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is the opened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way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lvl="1"/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Not steps.  Not laws.  A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person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lvl="1"/>
            <a:r>
              <a:rPr lang="en-US" sz="2200" b="1" dirty="0">
                <a:cs typeface="ＭＳ Ｐゴシック" pitchFamily="-106" charset="-128"/>
              </a:rPr>
              <a:t>“The one who says he resides in God ought himself to walk just as Jesus walked.” (1 John 2:6)</a:t>
            </a:r>
          </a:p>
        </p:txBody>
      </p:sp>
    </p:spTree>
    <p:extLst>
      <p:ext uri="{BB962C8B-B14F-4D97-AF65-F5344CB8AC3E}">
        <p14:creationId xmlns:p14="http://schemas.microsoft.com/office/powerpoint/2010/main" val="343279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EBC85-2AAD-40C6-C5C7-356F8FDA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82EDF5-7792-A7EA-6306-1BCB669B2C0E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“I Am the Truth”</a:t>
            </a:r>
          </a:p>
          <a:p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Truth as Revelation; Truth that Sets Mankind Free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1DE7D8-735E-CAE0-BE06-2B89EF40DB41}"/>
              </a:ext>
            </a:extLst>
          </p:cNvPr>
          <p:cNvSpPr txBox="1"/>
          <p:nvPr/>
        </p:nvSpPr>
        <p:spPr>
          <a:xfrm>
            <a:off x="225195" y="788221"/>
            <a:ext cx="86772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Truth as Revelation, Not Simply Information</a:t>
            </a:r>
            <a:endParaRPr lang="en-US" sz="20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In Scripture, truth is not just facts.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Truth reveals God’s character.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“You are my God, my faithful God.” 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(Psalm 31:14)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Jesus does not simply teach truth.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He embodies it.  Truth has a face; and a voice.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“The Word became flesh and took up residence among us… full of grace and truth.” 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(John 1:14)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602337-4AB9-8ADD-47C9-58A4A85CCF87}"/>
              </a:ext>
            </a:extLst>
          </p:cNvPr>
          <p:cNvSpPr txBox="1"/>
          <p:nvPr/>
        </p:nvSpPr>
        <p:spPr>
          <a:xfrm>
            <a:off x="225194" y="3429000"/>
            <a:ext cx="86772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Truth That Sets Free</a:t>
            </a:r>
            <a:endParaRPr lang="en-US" sz="20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Jesus connects truth with freedom.  Covenant freedom.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“You will know the truth, and the truth will set you free.” 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(8:32)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Freedom from sin.  Freedom from false images of God.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“For the law was given through Moses, but grace and truth came about through Jesus Christ.” 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(John 1:17)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Early Christian teaching was clear.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Truth is not an idea system. Truth is loyalty to Jesus as Lord.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“Jesus is Lord.” 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(Romans 10:9) 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That confession defines truth.</a:t>
            </a:r>
          </a:p>
        </p:txBody>
      </p:sp>
    </p:spTree>
    <p:extLst>
      <p:ext uri="{BB962C8B-B14F-4D97-AF65-F5344CB8AC3E}">
        <p14:creationId xmlns:p14="http://schemas.microsoft.com/office/powerpoint/2010/main" val="18359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AC6AD-F0F6-9035-496F-9653F479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52A2DBF-9200-DF68-80CE-54ADA28ECEED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“I Am the Life”</a:t>
            </a:r>
          </a:p>
          <a:p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Life that Overcomes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B57BF-2282-72D4-AB99-031FE2BC6523}"/>
              </a:ext>
            </a:extLst>
          </p:cNvPr>
          <p:cNvSpPr txBox="1"/>
          <p:nvPr/>
        </p:nvSpPr>
        <p:spPr>
          <a:xfrm>
            <a:off x="152400" y="799107"/>
            <a:ext cx="86772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Life as from God’s Own Life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In Scripture, life comes from God alone.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“For with you is the fountain of life.” (Psalm 36:9)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claims that life is found </a:t>
            </a:r>
            <a:r>
              <a:rPr lang="en-US" sz="2200" i="1" dirty="0">
                <a:ea typeface="ＭＳ Ｐゴシック" pitchFamily="-106" charset="-128"/>
                <a:cs typeface="ＭＳ Ｐゴシック" pitchFamily="-106" charset="-128"/>
              </a:rPr>
              <a:t>in Him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“Just as the Father has life in Himself, thus He has granted the Son to have life in Himself.” (John 5:26)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This is shared life… as those “born of the Spirit”.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457091-4278-A5ED-18FD-BCB2B46DF57F}"/>
              </a:ext>
            </a:extLst>
          </p:cNvPr>
          <p:cNvSpPr txBox="1"/>
          <p:nvPr/>
        </p:nvSpPr>
        <p:spPr>
          <a:xfrm>
            <a:off x="174171" y="3429000"/>
            <a:ext cx="86772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Life That Overcomes Death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is not only alive.  He gives life.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“I am the resurrection and the life.” (John 11:25)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This life starts now.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“The one who has the Son has life.” (1 John 5:12)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Early Christian writers emphasized this.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Salvation was a covenant relationship.  Not just forgiveness.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“Just as Christ was raised from the dead… so we too may live a new life.” (Romans 6:4)</a:t>
            </a:r>
          </a:p>
        </p:txBody>
      </p:sp>
    </p:spTree>
    <p:extLst>
      <p:ext uri="{BB962C8B-B14F-4D97-AF65-F5344CB8AC3E}">
        <p14:creationId xmlns:p14="http://schemas.microsoft.com/office/powerpoint/2010/main" val="236760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F00BC-D884-1289-7380-911BA7F75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C7973D2-054A-4212-A044-B6CA8878D5C6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The Way, Truth, Life</a:t>
            </a:r>
          </a:p>
          <a:p>
            <a:r>
              <a:rPr lang="en-US" sz="2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Together and Fulfilled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D3E0C-0F20-D956-DF25-F9068D6B3BB9}"/>
              </a:ext>
            </a:extLst>
          </p:cNvPr>
          <p:cNvSpPr txBox="1"/>
          <p:nvPr/>
        </p:nvSpPr>
        <p:spPr>
          <a:xfrm>
            <a:off x="225195" y="788221"/>
            <a:ext cx="867727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How the Three Belong Together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The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way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leads to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truth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Truth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results in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life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Remove one and the others collapse.</a:t>
            </a:r>
          </a:p>
          <a:p>
            <a:pPr marL="628650" lvl="1" indent="-1714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A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way without truth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becomes confusion.</a:t>
            </a:r>
          </a:p>
          <a:p>
            <a:pPr marL="628650" lvl="1" indent="-171450" fontAlgn="ctr">
              <a:buFont typeface="Arial" panose="020B0604020202020204" pitchFamily="34" charset="0"/>
              <a:buChar char="•"/>
            </a:pP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Truth without life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becomes dead doctrine.</a:t>
            </a:r>
          </a:p>
          <a:p>
            <a:pPr marL="628650" lvl="1" indent="-171450" fontAlgn="ctr">
              <a:buFont typeface="Arial" panose="020B0604020202020204" pitchFamily="34" charset="0"/>
              <a:buChar char="•"/>
            </a:pP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Life without the way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becomes self-made spirituality.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is all three.  At the same time.  In one person.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B093A-651E-6F05-D947-7FF553BFB4CE}"/>
              </a:ext>
            </a:extLst>
          </p:cNvPr>
          <p:cNvSpPr txBox="1"/>
          <p:nvPr/>
        </p:nvSpPr>
        <p:spPr>
          <a:xfrm>
            <a:off x="174171" y="3657600"/>
            <a:ext cx="867727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New Covenant Fulfillment in Christ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fulfills Jeremiah 31 fully.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Way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: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access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to God.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Truth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: God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revealed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Life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: God </a:t>
            </a:r>
            <a:r>
              <a:rPr lang="en-US" sz="2200" u="sng" dirty="0">
                <a:ea typeface="ＭＳ Ｐゴシック" pitchFamily="-106" charset="-128"/>
                <a:cs typeface="ＭＳ Ｐゴシック" pitchFamily="-106" charset="-128"/>
              </a:rPr>
              <a:t>shared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i="1" dirty="0">
                <a:ea typeface="ＭＳ Ｐゴシック" pitchFamily="-106" charset="-128"/>
                <a:cs typeface="ＭＳ Ｐゴシック" pitchFamily="-106" charset="-128"/>
              </a:rPr>
              <a:t>“This is eternal life: that they know you, the only true God, and Jesus Christ, whom you sent.”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(John 17:3)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This is </a:t>
            </a:r>
            <a:r>
              <a:rPr lang="en-US" sz="2200" i="1" dirty="0">
                <a:ea typeface="ＭＳ Ｐゴシック" pitchFamily="-106" charset="-128"/>
                <a:cs typeface="ＭＳ Ｐゴシック" pitchFamily="-106" charset="-128"/>
              </a:rPr>
              <a:t>Relational Knowledge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 </a:t>
            </a:r>
            <a:r>
              <a:rPr lang="en-US" sz="2200" i="1" dirty="0">
                <a:ea typeface="ＭＳ Ｐゴシック" pitchFamily="-106" charset="-128"/>
                <a:cs typeface="ＭＳ Ｐゴシック" pitchFamily="-106" charset="-128"/>
              </a:rPr>
              <a:t>Covenant Knowledge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 </a:t>
            </a:r>
            <a:r>
              <a:rPr lang="en-US" sz="2200" i="1" dirty="0">
                <a:ea typeface="ＭＳ Ｐゴシック" pitchFamily="-106" charset="-128"/>
                <a:cs typeface="ＭＳ Ｐゴシック" pitchFamily="-106" charset="-128"/>
              </a:rPr>
              <a:t>Shared Life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8857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7235D-8689-4ABB-CCB8-0210F806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785AE8-3005-EE89-FD09-26C9725CC1A9}"/>
              </a:ext>
            </a:extLst>
          </p:cNvPr>
          <p:cNvSpPr txBox="1">
            <a:spLocks/>
          </p:cNvSpPr>
          <p:nvPr/>
        </p:nvSpPr>
        <p:spPr bwMode="auto">
          <a:xfrm>
            <a:off x="152400" y="45184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Application </a:t>
            </a:r>
          </a:p>
          <a:p>
            <a:r>
              <a:rPr lang="en-US" sz="2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Through Him, We Know God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AC9A0-FE77-70BF-3EF8-E0A31B93C116}"/>
              </a:ext>
            </a:extLst>
          </p:cNvPr>
          <p:cNvSpPr txBox="1"/>
          <p:nvPr/>
        </p:nvSpPr>
        <p:spPr>
          <a:xfrm>
            <a:off x="152398" y="831460"/>
            <a:ext cx="86772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Application for the Church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Christianity is not a path we master.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It is a person we follow.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Truth is not winning arguments.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It is staying loyal to Jesus.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Life is not without purpose.</a:t>
            </a:r>
          </a:p>
          <a:p>
            <a:pPr marL="742950" lvl="1" indent="-285750" fontAlgn="ctr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Just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shall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Live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by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Faith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“I have come so that they may have life and may have it abundantly.” (John 10:10)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6D0F31-A234-A9EA-D3FC-6784D05157B5}"/>
              </a:ext>
            </a:extLst>
          </p:cNvPr>
          <p:cNvSpPr txBox="1"/>
          <p:nvPr/>
        </p:nvSpPr>
        <p:spPr>
          <a:xfrm>
            <a:off x="152399" y="4038600"/>
            <a:ext cx="8677275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Closing Call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Jesus invites us to </a:t>
            </a:r>
            <a:r>
              <a:rPr lang="en-US" sz="2200" b="1" u="sng" dirty="0">
                <a:ea typeface="ＭＳ Ｐゴシック" pitchFamily="-106" charset="-128"/>
                <a:cs typeface="ＭＳ Ｐゴシック" pitchFamily="-106" charset="-128"/>
              </a:rPr>
              <a:t>know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 Him.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“Come to me, all you who are weary and burdened, and I will give you rest.” (Matthew 11:28)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He is 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Way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  He is 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Truth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  He is the 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Life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“For as many as are the </a:t>
            </a:r>
            <a:r>
              <a:rPr lang="en-US" sz="2200" b="1" u="sng" dirty="0">
                <a:ea typeface="ＭＳ Ｐゴシック" pitchFamily="-106" charset="-128"/>
                <a:cs typeface="ＭＳ Ｐゴシック" pitchFamily="-106" charset="-128"/>
              </a:rPr>
              <a:t>promises of God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, in Him they are yes…” </a:t>
            </a:r>
            <a:r>
              <a:rPr lang="en-US" sz="22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200" b="1" dirty="0">
                <a:ea typeface="ＭＳ Ｐゴシック" pitchFamily="-106" charset="-128"/>
                <a:cs typeface="ＭＳ Ｐゴシック" pitchFamily="-106" charset="-128"/>
              </a:rPr>
              <a:t>2 Corinthians 1:20)</a:t>
            </a:r>
            <a:endParaRPr lang="en-US" sz="2200" dirty="0">
              <a:ea typeface="ＭＳ Ｐゴシック" pitchFamily="-106" charset="-128"/>
              <a:cs typeface="ＭＳ Ｐゴシック" pitchFamily="-10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6614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theme/theme1.xml><?xml version="1.0" encoding="utf-8"?>
<a:theme xmlns:a="http://schemas.openxmlformats.org/drawingml/2006/main" name="PPT_Template_2010SummerSchoo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UPCRC_Powerpoint_Template_with I-Ma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PPT_Template_2010SummerSchool</Template>
  <TotalTime>38456</TotalTime>
  <Words>1623</Words>
  <Application>Microsoft Office PowerPoint</Application>
  <PresentationFormat>On-screen Show (4:3)</PresentationFormat>
  <Paragraphs>164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ＭＳ Ｐゴシック</vt:lpstr>
      <vt:lpstr>Arial</vt:lpstr>
      <vt:lpstr>Arial Narrow</vt:lpstr>
      <vt:lpstr>Calibri</vt:lpstr>
      <vt:lpstr>PPT_Template_2010SummerSchool</vt:lpstr>
      <vt:lpstr>1_UPCRC_Powerpoint_Template_with I-Mark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 Pennington</dc:creator>
  <cp:lastModifiedBy>Phil Pennington</cp:lastModifiedBy>
  <cp:revision>1395</cp:revision>
  <cp:lastPrinted>2025-12-28T01:41:35Z</cp:lastPrinted>
  <dcterms:created xsi:type="dcterms:W3CDTF">2010-06-16T02:58:04Z</dcterms:created>
  <dcterms:modified xsi:type="dcterms:W3CDTF">2025-12-28T13:20:08Z</dcterms:modified>
</cp:coreProperties>
</file>