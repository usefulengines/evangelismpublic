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9"/>
  </p:notesMasterIdLst>
  <p:sldIdLst>
    <p:sldId id="625" r:id="rId3"/>
    <p:sldId id="644" r:id="rId4"/>
    <p:sldId id="645" r:id="rId5"/>
    <p:sldId id="646" r:id="rId6"/>
    <p:sldId id="647" r:id="rId7"/>
    <p:sldId id="648" r:id="rId8"/>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78049" autoAdjust="0"/>
  </p:normalViewPr>
  <p:slideViewPr>
    <p:cSldViewPr>
      <p:cViewPr varScale="1">
        <p:scale>
          <a:sx n="120" d="100"/>
          <a:sy n="120" d="100"/>
        </p:scale>
        <p:origin x="1242" y="10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5"/>
            <a:ext cx="3076364" cy="469265"/>
          </a:xfrm>
          <a:prstGeom prst="rect">
            <a:avLst/>
          </a:prstGeom>
        </p:spPr>
        <p:txBody>
          <a:bodyPr vert="horz" wrap="square" lIns="94091" tIns="47046" rIns="94091" bIns="47046"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5"/>
            <a:ext cx="3076364" cy="469265"/>
          </a:xfrm>
          <a:prstGeom prst="rect">
            <a:avLst/>
          </a:prstGeom>
        </p:spPr>
        <p:txBody>
          <a:bodyPr vert="horz" wrap="square" lIns="94091" tIns="47046" rIns="94091" bIns="47046"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3/8/2026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091" tIns="47046" rIns="94091" bIns="47046"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091" tIns="47046" rIns="94091" bIns="47046"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8914406"/>
            <a:ext cx="3076364" cy="469265"/>
          </a:xfrm>
          <a:prstGeom prst="rect">
            <a:avLst/>
          </a:prstGeom>
        </p:spPr>
        <p:txBody>
          <a:bodyPr vert="horz" wrap="square" lIns="94091" tIns="47046" rIns="94091" bIns="47046"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091" tIns="47046" rIns="94091" bIns="47046"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CBE0-8759-6627-93F4-AA84641D1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F4D04-E101-2EEF-C76A-8EB4C9331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D401B5-AFBE-D1A7-D71C-3C31F203A1DD}"/>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kern="1200" dirty="0">
                <a:solidFill>
                  <a:schemeClr val="tx1"/>
                </a:solidFill>
                <a:effectLst/>
                <a:latin typeface="+mn-lt"/>
                <a:ea typeface="ＭＳ Ｐゴシック" pitchFamily="-106" charset="-128"/>
                <a:cs typeface="ＭＳ Ｐゴシック" pitchFamily="-106" charset="-128"/>
              </a:rPr>
              <a:t>Central thesis:</a:t>
            </a:r>
            <a:r>
              <a:rPr lang="en-US" sz="1400" kern="1200" dirty="0">
                <a:solidFill>
                  <a:schemeClr val="tx1"/>
                </a:solidFill>
                <a:effectLst/>
                <a:latin typeface="+mn-lt"/>
                <a:ea typeface="ＭＳ Ｐゴシック" pitchFamily="-106" charset="-128"/>
                <a:cs typeface="ＭＳ Ｐゴシック" pitchFamily="-106" charset="-128"/>
              </a:rPr>
              <a:t> God’s righteousness is not achieved by man. It is revealed in Christ, received by faith, implanted through new birth, and lived out through sanctification.</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The Gospel Movement of God’s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pPr lvl="1" rtl="0" fontAlgn="ctr"/>
            <a:r>
              <a:rPr lang="en-US" sz="1400" b="1" u="sng" kern="1200" dirty="0">
                <a:solidFill>
                  <a:schemeClr val="tx1"/>
                </a:solidFill>
                <a:effectLst/>
                <a:latin typeface="+mn-lt"/>
                <a:ea typeface="ＭＳ Ｐゴシック" pitchFamily="-106" charset="-128"/>
                <a:cs typeface="ＭＳ Ｐゴシック" pitchFamily="-106" charset="-128"/>
              </a:rPr>
              <a:t>Main question</a:t>
            </a:r>
            <a:r>
              <a:rPr lang="en-US" sz="1400" b="1" kern="1200" dirty="0">
                <a:solidFill>
                  <a:schemeClr val="tx1"/>
                </a:solidFill>
                <a:effectLst/>
                <a:latin typeface="+mn-lt"/>
                <a:ea typeface="ＭＳ Ｐゴシック" pitchFamily="-106" charset="-128"/>
                <a:cs typeface="ＭＳ Ｐゴシック" pitchFamily="-106" charset="-128"/>
              </a:rPr>
              <a:t>: How does God move a sinner from guilt to holy living?</a:t>
            </a:r>
          </a:p>
          <a:p>
            <a:pPr lvl="1"/>
            <a:endParaRPr lang="en-US" dirty="0"/>
          </a:p>
          <a:p>
            <a:pPr lvl="1" rtl="0" fontAlgn="ctr"/>
            <a:r>
              <a:rPr lang="en-US" sz="1200" kern="1200" dirty="0">
                <a:solidFill>
                  <a:schemeClr val="tx1"/>
                </a:solidFill>
                <a:effectLst/>
                <a:latin typeface="+mn-lt"/>
                <a:ea typeface="ＭＳ Ｐゴシック" pitchFamily="-106" charset="-128"/>
                <a:cs typeface="ＭＳ Ｐゴシック" pitchFamily="-106" charset="-128"/>
              </a:rPr>
              <a:t>The movement is from </a:t>
            </a:r>
            <a:r>
              <a:rPr lang="en-US" sz="1200" b="1" kern="1200" dirty="0">
                <a:solidFill>
                  <a:schemeClr val="tx1"/>
                </a:solidFill>
                <a:effectLst/>
                <a:latin typeface="+mn-lt"/>
                <a:ea typeface="ＭＳ Ｐゴシック" pitchFamily="-106" charset="-128"/>
                <a:cs typeface="ＭＳ Ｐゴシック" pitchFamily="-106" charset="-128"/>
              </a:rPr>
              <a:t>revelation</a:t>
            </a:r>
            <a:r>
              <a:rPr lang="en-US" sz="1200" kern="1200" dirty="0">
                <a:solidFill>
                  <a:schemeClr val="tx1"/>
                </a:solidFill>
                <a:effectLst/>
                <a:latin typeface="+mn-lt"/>
                <a:ea typeface="ＭＳ Ｐゴシック" pitchFamily="-106" charset="-128"/>
                <a:cs typeface="ＭＳ Ｐゴシック" pitchFamily="-106" charset="-128"/>
              </a:rPr>
              <a:t>, to </a:t>
            </a:r>
            <a:r>
              <a:rPr lang="en-US" sz="1200" b="1" kern="1200" dirty="0">
                <a:solidFill>
                  <a:schemeClr val="tx1"/>
                </a:solidFill>
                <a:effectLst/>
                <a:latin typeface="+mn-lt"/>
                <a:ea typeface="ＭＳ Ｐゴシック" pitchFamily="-106" charset="-128"/>
                <a:cs typeface="ＭＳ Ｐゴシック" pitchFamily="-106" charset="-128"/>
              </a:rPr>
              <a:t>declaration</a:t>
            </a:r>
            <a:r>
              <a:rPr lang="en-US" sz="1200" kern="1200" dirty="0">
                <a:solidFill>
                  <a:schemeClr val="tx1"/>
                </a:solidFill>
                <a:effectLst/>
                <a:latin typeface="+mn-lt"/>
                <a:ea typeface="ＭＳ Ｐゴシック" pitchFamily="-106" charset="-128"/>
                <a:cs typeface="ＭＳ Ｐゴシック" pitchFamily="-106" charset="-128"/>
              </a:rPr>
              <a:t>, to </a:t>
            </a:r>
            <a:r>
              <a:rPr lang="en-US" sz="1200" b="1" kern="1200" dirty="0">
                <a:solidFill>
                  <a:schemeClr val="tx1"/>
                </a:solidFill>
                <a:effectLst/>
                <a:latin typeface="+mn-lt"/>
                <a:ea typeface="ＭＳ Ｐゴシック" pitchFamily="-106" charset="-128"/>
                <a:cs typeface="ＭＳ Ｐゴシック" pitchFamily="-106" charset="-128"/>
              </a:rPr>
              <a:t>regeneration</a:t>
            </a:r>
            <a:r>
              <a:rPr lang="en-US" sz="1200" kern="1200" dirty="0">
                <a:solidFill>
                  <a:schemeClr val="tx1"/>
                </a:solidFill>
                <a:effectLst/>
                <a:latin typeface="+mn-lt"/>
                <a:ea typeface="ＭＳ Ｐゴシック" pitchFamily="-106" charset="-128"/>
                <a:cs typeface="ＭＳ Ｐゴシック" pitchFamily="-106" charset="-128"/>
              </a:rPr>
              <a:t>, to </a:t>
            </a:r>
            <a:r>
              <a:rPr lang="en-US" sz="1200" b="1" kern="1200" dirty="0">
                <a:solidFill>
                  <a:schemeClr val="tx1"/>
                </a:solidFill>
                <a:effectLst/>
                <a:latin typeface="+mn-lt"/>
                <a:ea typeface="ＭＳ Ｐゴシック" pitchFamily="-106" charset="-128"/>
                <a:cs typeface="ＭＳ Ｐゴシック" pitchFamily="-106" charset="-128"/>
              </a:rPr>
              <a:t>transformation</a:t>
            </a:r>
            <a:r>
              <a:rPr lang="en-US" sz="1200" kern="1200" dirty="0">
                <a:solidFill>
                  <a:schemeClr val="tx1"/>
                </a:solidFill>
                <a:effectLst/>
                <a:latin typeface="+mn-lt"/>
                <a:ea typeface="ＭＳ Ｐゴシック" pitchFamily="-106" charset="-128"/>
                <a:cs typeface="ＭＳ Ｐゴシック" pitchFamily="-106" charset="-128"/>
              </a:rPr>
              <a:t>.</a:t>
            </a:r>
          </a:p>
          <a:p>
            <a:pPr marL="457200" marR="0" lvl="1" indent="0" algn="l" defTabSz="914400" rtl="0" eaLnBrk="0" fontAlgn="ctr"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pitchFamily="-106" charset="-128"/>
                <a:cs typeface="ＭＳ Ｐゴシック" pitchFamily="-106" charset="-128"/>
              </a:rPr>
              <a:t>These four themes belong together, not as separate doctrines only, but as </a:t>
            </a:r>
            <a:r>
              <a:rPr lang="en-US" sz="1200" b="1" kern="1200" dirty="0">
                <a:solidFill>
                  <a:schemeClr val="tx1"/>
                </a:solidFill>
                <a:effectLst/>
                <a:latin typeface="+mn-lt"/>
                <a:ea typeface="ＭＳ Ｐゴシック" pitchFamily="-106" charset="-128"/>
                <a:cs typeface="ＭＳ Ｐゴシック" pitchFamily="-106" charset="-128"/>
              </a:rPr>
              <a:t>one unified work of God</a:t>
            </a:r>
            <a:r>
              <a:rPr lang="en-US" sz="1200" kern="1200" dirty="0">
                <a:solidFill>
                  <a:schemeClr val="tx1"/>
                </a:solidFill>
                <a:effectLst/>
                <a:latin typeface="+mn-lt"/>
                <a:ea typeface="ＭＳ Ｐゴシック" pitchFamily="-106" charset="-128"/>
                <a:cs typeface="ＭＳ Ｐゴシック" pitchFamily="-106" charset="-128"/>
              </a:rPr>
              <a:t>.</a:t>
            </a:r>
          </a:p>
          <a:p>
            <a:pPr lvl="1" rtl="0" fontAlgn="ct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5590D934-881A-33E6-E051-ECDEEA6B301F}"/>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01618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B98D-28EA-28F7-7DDD-3F17E866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E2C25-F900-C61E-F0BF-3BFC48DCA3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FF15D1-E308-16E3-E31F-A2D9079D7EA6}"/>
              </a:ext>
            </a:extLst>
          </p:cNvPr>
          <p:cNvSpPr>
            <a:spLocks noGrp="1"/>
          </p:cNvSpPr>
          <p:nvPr>
            <p:ph type="body" idx="1"/>
          </p:nvPr>
        </p:nvSpPr>
        <p:spPr/>
        <p:txBody>
          <a:bodyPr>
            <a:normAutofit/>
          </a:bodyPr>
          <a:lstStyle/>
          <a:p>
            <a:r>
              <a:rPr lang="en-US" sz="1400" kern="1200" dirty="0">
                <a:solidFill>
                  <a:schemeClr val="tx1"/>
                </a:solidFill>
                <a:effectLst/>
                <a:latin typeface="+mn-lt"/>
                <a:ea typeface="ＭＳ Ｐゴシック" pitchFamily="-106" charset="-128"/>
                <a:cs typeface="ＭＳ Ｐゴシック" pitchFamily="-106" charset="-128"/>
              </a:rPr>
              <a:t>This section presents Christ as the center of God’s saving righteousness.</a:t>
            </a:r>
          </a:p>
          <a:p>
            <a:r>
              <a:rPr lang="en-US" sz="1400" kern="1200" dirty="0">
                <a:solidFill>
                  <a:schemeClr val="tx1"/>
                </a:solidFill>
                <a:effectLst/>
                <a:latin typeface="+mn-lt"/>
                <a:ea typeface="ＭＳ Ｐゴシック" pitchFamily="-106" charset="-128"/>
                <a:cs typeface="ＭＳ Ｐゴシック" pitchFamily="-106" charset="-128"/>
              </a:rPr>
              <a:t> </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character:</a:t>
            </a:r>
            <a:r>
              <a:rPr lang="en-US" sz="1400" kern="1200" dirty="0">
                <a:solidFill>
                  <a:schemeClr val="tx1"/>
                </a:solidFill>
                <a:effectLst/>
                <a:latin typeface="+mn-lt"/>
                <a:ea typeface="ＭＳ Ｐゴシック" pitchFamily="-106" charset="-128"/>
                <a:cs typeface="ＭＳ Ｐゴシック" pitchFamily="-106" charset="-128"/>
              </a:rPr>
              <a:t> When you look at Jesus—especially at the cross—what kind of God is revealed there, and how do His justice and mercy meet in Christ?</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purpose:</a:t>
            </a:r>
            <a:r>
              <a:rPr lang="en-US" sz="1400" kern="1200" dirty="0">
                <a:solidFill>
                  <a:schemeClr val="tx1"/>
                </a:solidFill>
                <a:effectLst/>
                <a:latin typeface="+mn-lt"/>
                <a:ea typeface="ＭＳ Ｐゴシック" pitchFamily="-106" charset="-128"/>
                <a:cs typeface="ＭＳ Ｐゴシック" pitchFamily="-106" charset="-128"/>
              </a:rPr>
              <a:t> If God chose to reveal His righteousness in a person rather than through human effort, what does that show about what He wants to accomplish in saving people?</a:t>
            </a:r>
          </a:p>
          <a:p>
            <a:endParaRPr lang="en-US" dirty="0"/>
          </a:p>
        </p:txBody>
      </p:sp>
      <p:sp>
        <p:nvSpPr>
          <p:cNvPr id="4" name="Slide Number Placeholder 3">
            <a:extLst>
              <a:ext uri="{FF2B5EF4-FFF2-40B4-BE49-F238E27FC236}">
                <a16:creationId xmlns:a16="http://schemas.microsoft.com/office/drawing/2014/main" id="{57875508-8739-2EA1-7EAC-CEE7CD955AA5}"/>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3388254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E239-3C15-6372-FE9A-C8B1519D8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F1AB3-29E4-BB3E-4EFE-61BF333163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06D54E-424D-3A10-DA4D-46862221F1CC}"/>
              </a:ext>
            </a:extLst>
          </p:cNvPr>
          <p:cNvSpPr>
            <a:spLocks noGrp="1"/>
          </p:cNvSpPr>
          <p:nvPr>
            <p:ph type="body" idx="1"/>
          </p:nvPr>
        </p:nvSpPr>
        <p:spPr/>
        <p:txBody>
          <a:bodyPr>
            <a:normAutofit/>
          </a:bodyPr>
          <a:lstStyle/>
          <a:p>
            <a:r>
              <a:rPr lang="en-US" sz="1400" kern="1200" dirty="0">
                <a:solidFill>
                  <a:schemeClr val="tx1"/>
                </a:solidFill>
                <a:effectLst/>
                <a:latin typeface="+mn-lt"/>
                <a:ea typeface="ＭＳ Ｐゴシック" pitchFamily="-106" charset="-128"/>
                <a:cs typeface="ＭＳ Ｐゴシック" pitchFamily="-106" charset="-128"/>
              </a:rPr>
              <a:t>This section emphasizes that God justifies sinners because of Christ, by faith, through mercy rather than works.</a:t>
            </a:r>
          </a:p>
          <a:p>
            <a:r>
              <a:rPr lang="en-US" sz="1400" kern="1200" dirty="0">
                <a:solidFill>
                  <a:schemeClr val="tx1"/>
                </a:solidFill>
                <a:effectLst/>
                <a:latin typeface="+mn-lt"/>
                <a:ea typeface="ＭＳ Ｐゴシック" pitchFamily="-106" charset="-128"/>
                <a:cs typeface="ＭＳ Ｐゴシック" pitchFamily="-106" charset="-128"/>
              </a:rPr>
              <a:t> </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character:</a:t>
            </a:r>
            <a:r>
              <a:rPr lang="en-US" sz="1400" kern="1200" dirty="0">
                <a:solidFill>
                  <a:schemeClr val="tx1"/>
                </a:solidFill>
                <a:effectLst/>
                <a:latin typeface="+mn-lt"/>
                <a:ea typeface="ＭＳ Ｐゴシック" pitchFamily="-106" charset="-128"/>
                <a:cs typeface="ＭＳ Ｐゴシック" pitchFamily="-106" charset="-128"/>
              </a:rPr>
              <a:t> What does justification by faith reveal about God’s holiness, mercy, and willingness to receive guilty people without lowering His standard?</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purpose:</a:t>
            </a:r>
            <a:r>
              <a:rPr lang="en-US" sz="1400" kern="1200" dirty="0">
                <a:solidFill>
                  <a:schemeClr val="tx1"/>
                </a:solidFill>
                <a:effectLst/>
                <a:latin typeface="+mn-lt"/>
                <a:ea typeface="ＭＳ Ｐゴシック" pitchFamily="-106" charset="-128"/>
                <a:cs typeface="ＭＳ Ｐゴシック" pitchFamily="-106" charset="-128"/>
              </a:rPr>
              <a:t> Why do you think God designed salvation to be received by faith rather than earned by performance, and how does that shape peace, assurance, and humility in His people?</a:t>
            </a:r>
          </a:p>
          <a:p>
            <a:endParaRPr lang="en-US" dirty="0"/>
          </a:p>
        </p:txBody>
      </p:sp>
      <p:sp>
        <p:nvSpPr>
          <p:cNvPr id="4" name="Slide Number Placeholder 3">
            <a:extLst>
              <a:ext uri="{FF2B5EF4-FFF2-40B4-BE49-F238E27FC236}">
                <a16:creationId xmlns:a16="http://schemas.microsoft.com/office/drawing/2014/main" id="{BD2421A8-C384-06C3-2F8D-E6B04156FE2E}"/>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1258787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0A6E1-CFCF-9F63-D9BD-F2C32EDDA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35FA8-B562-C6F8-E84C-344BA71BCCD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C685FE-D7C5-D366-2AC0-B14B934F4DD7}"/>
              </a:ext>
            </a:extLst>
          </p:cNvPr>
          <p:cNvSpPr>
            <a:spLocks noGrp="1"/>
          </p:cNvSpPr>
          <p:nvPr>
            <p:ph type="body" idx="1"/>
          </p:nvPr>
        </p:nvSpPr>
        <p:spPr/>
        <p:txBody>
          <a:bodyPr>
            <a:normAutofit/>
          </a:bodyPr>
          <a:lstStyle/>
          <a:p>
            <a:endParaRPr lang="en-US" dirty="0"/>
          </a:p>
          <a:p>
            <a:r>
              <a:rPr lang="en-US" sz="1400" kern="1200" dirty="0">
                <a:solidFill>
                  <a:schemeClr val="tx1"/>
                </a:solidFill>
                <a:effectLst/>
                <a:latin typeface="+mn-lt"/>
                <a:ea typeface="ＭＳ Ｐゴシック" pitchFamily="-106" charset="-128"/>
                <a:cs typeface="ＭＳ Ｐゴシック" pitchFamily="-106" charset="-128"/>
              </a:rPr>
              <a:t>This section moves from a changed standing before God to new life through the Spirit and the living word.</a:t>
            </a:r>
          </a:p>
          <a:p>
            <a:r>
              <a:rPr lang="en-US" sz="1400" kern="1200" dirty="0">
                <a:solidFill>
                  <a:schemeClr val="tx1"/>
                </a:solidFill>
                <a:effectLst/>
                <a:latin typeface="+mn-lt"/>
                <a:ea typeface="ＭＳ Ｐゴシック" pitchFamily="-106" charset="-128"/>
                <a:cs typeface="ＭＳ Ｐゴシック" pitchFamily="-106" charset="-128"/>
              </a:rPr>
              <a:t> </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character:</a:t>
            </a:r>
            <a:r>
              <a:rPr lang="en-US" sz="1400" kern="1200" dirty="0">
                <a:solidFill>
                  <a:schemeClr val="tx1"/>
                </a:solidFill>
                <a:effectLst/>
                <a:latin typeface="+mn-lt"/>
                <a:ea typeface="ＭＳ Ｐゴシック" pitchFamily="-106" charset="-128"/>
                <a:cs typeface="ＭＳ Ｐゴシック" pitchFamily="-106" charset="-128"/>
              </a:rPr>
              <a:t> What does the need for new birth reveal about how deeply God desires to heal, renew, and transform us?</a:t>
            </a:r>
          </a:p>
          <a:p>
            <a:pPr rtl="0" fontAlgn="ctr"/>
            <a:endParaRPr lang="en-US" sz="1400" b="1"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God’s purpose:</a:t>
            </a:r>
            <a:r>
              <a:rPr lang="en-US" sz="1400" kern="1200" dirty="0">
                <a:solidFill>
                  <a:schemeClr val="tx1"/>
                </a:solidFill>
                <a:effectLst/>
                <a:latin typeface="+mn-lt"/>
                <a:ea typeface="ＭＳ Ｐゴシック" pitchFamily="-106" charset="-128"/>
                <a:cs typeface="ＭＳ Ｐゴシック" pitchFamily="-106" charset="-128"/>
              </a:rPr>
              <a:t> Why do you think God’s goal is not only to forgive us, but also to create new desires, new affections, and a new direction within us?</a:t>
            </a:r>
          </a:p>
          <a:p>
            <a:endParaRPr lang="en-US" dirty="0"/>
          </a:p>
        </p:txBody>
      </p:sp>
      <p:sp>
        <p:nvSpPr>
          <p:cNvPr id="4" name="Slide Number Placeholder 3">
            <a:extLst>
              <a:ext uri="{FF2B5EF4-FFF2-40B4-BE49-F238E27FC236}">
                <a16:creationId xmlns:a16="http://schemas.microsoft.com/office/drawing/2014/main" id="{BF91BA4C-A4ED-4195-4630-91F368F4854C}"/>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3580792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4265-396E-864D-742D-0F418F3C4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3A0C5-3A96-4017-A0C4-3939A969F3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C59B3B-2FBD-7DEC-7B45-15DDD2514989}"/>
              </a:ext>
            </a:extLst>
          </p:cNvPr>
          <p:cNvSpPr>
            <a:spLocks noGrp="1"/>
          </p:cNvSpPr>
          <p:nvPr>
            <p:ph type="body" idx="1"/>
          </p:nvPr>
        </p:nvSpPr>
        <p:spPr/>
        <p:txBody>
          <a:bodyPr>
            <a:normAutofit/>
          </a:bodyPr>
          <a:lstStyle/>
          <a:p>
            <a:r>
              <a:rPr lang="en-US" sz="1400" kern="1200" dirty="0">
                <a:solidFill>
                  <a:schemeClr val="tx1"/>
                </a:solidFill>
                <a:effectLst/>
                <a:latin typeface="+mn-lt"/>
                <a:ea typeface="ＭＳ Ｐゴシック" pitchFamily="-106" charset="-128"/>
                <a:cs typeface="ＭＳ Ｐゴシック" pitchFamily="-106" charset="-128"/>
              </a:rPr>
              <a:t>This section describes sanctification as God’s ongoing work of forming His righteousness in us over time.</a:t>
            </a:r>
          </a:p>
          <a:p>
            <a:r>
              <a:rPr lang="en-US" sz="1400" kern="1200" dirty="0">
                <a:solidFill>
                  <a:schemeClr val="tx1"/>
                </a:solidFill>
                <a:effectLst/>
                <a:latin typeface="+mn-lt"/>
                <a:ea typeface="ＭＳ Ｐゴシック" pitchFamily="-106" charset="-128"/>
                <a:cs typeface="ＭＳ Ｐゴシック" pitchFamily="-106" charset="-128"/>
              </a:rPr>
              <a:t> </a:t>
            </a:r>
          </a:p>
          <a:p>
            <a:pPr rtl="0" fontAlgn="ctr"/>
            <a:r>
              <a:rPr lang="en-US" sz="1400" b="1" kern="1200" dirty="0">
                <a:solidFill>
                  <a:schemeClr val="tx1"/>
                </a:solidFill>
                <a:effectLst/>
                <a:latin typeface="+mn-lt"/>
                <a:ea typeface="ＭＳ Ｐゴシック" pitchFamily="-106" charset="-128"/>
                <a:cs typeface="ＭＳ Ｐゴシック" pitchFamily="-106" charset="-128"/>
              </a:rPr>
              <a:t>God’s character:</a:t>
            </a:r>
            <a:r>
              <a:rPr lang="en-US" sz="1400" kern="1200" dirty="0">
                <a:solidFill>
                  <a:schemeClr val="tx1"/>
                </a:solidFill>
                <a:effectLst/>
                <a:latin typeface="+mn-lt"/>
                <a:ea typeface="ＭＳ Ｐゴシック" pitchFamily="-106" charset="-128"/>
                <a:cs typeface="ＭＳ Ｐゴシック" pitchFamily="-106" charset="-128"/>
              </a:rPr>
              <a:t> What does </a:t>
            </a:r>
            <a:r>
              <a:rPr lang="en-US" sz="1400" b="1" kern="1200" dirty="0">
                <a:solidFill>
                  <a:schemeClr val="tx1"/>
                </a:solidFill>
                <a:effectLst/>
                <a:latin typeface="+mn-lt"/>
                <a:ea typeface="ＭＳ Ｐゴシック" pitchFamily="-106" charset="-128"/>
                <a:cs typeface="ＭＳ Ｐゴシック" pitchFamily="-106" charset="-128"/>
              </a:rPr>
              <a:t>sanctification teach us </a:t>
            </a:r>
            <a:r>
              <a:rPr lang="en-US" sz="1400" kern="1200" dirty="0">
                <a:solidFill>
                  <a:schemeClr val="tx1"/>
                </a:solidFill>
                <a:effectLst/>
                <a:latin typeface="+mn-lt"/>
                <a:ea typeface="ＭＳ Ｐゴシック" pitchFamily="-106" charset="-128"/>
                <a:cs typeface="ＭＳ Ｐゴシック" pitchFamily="-106" charset="-128"/>
              </a:rPr>
              <a:t>about God’s patience, faithfulness, and commitment to keep working in His people?</a:t>
            </a:r>
          </a:p>
          <a:p>
            <a:pPr rtl="0" fontAlgn="ctr"/>
            <a:endParaRPr lang="en-US" sz="1400" b="1" kern="1200" dirty="0">
              <a:solidFill>
                <a:schemeClr val="tx1"/>
              </a:solidFill>
              <a:effectLst/>
              <a:latin typeface="+mn-lt"/>
              <a:ea typeface="ＭＳ Ｐゴシック" pitchFamily="-106" charset="-128"/>
              <a:cs typeface="ＭＳ Ｐゴシック" pitchFamily="-106" charset="-128"/>
            </a:endParaRPr>
          </a:p>
          <a:p>
            <a:pPr rtl="0" fontAlgn="ctr"/>
            <a:r>
              <a:rPr lang="en-US" sz="1400" b="1" kern="1200" dirty="0">
                <a:solidFill>
                  <a:schemeClr val="tx1"/>
                </a:solidFill>
                <a:effectLst/>
                <a:latin typeface="+mn-lt"/>
                <a:ea typeface="ＭＳ Ｐゴシック" pitchFamily="-106" charset="-128"/>
                <a:cs typeface="ＭＳ Ｐゴシック" pitchFamily="-106" charset="-128"/>
              </a:rPr>
              <a:t>God’s purpose:</a:t>
            </a:r>
            <a:r>
              <a:rPr lang="en-US" sz="1400" kern="1200" dirty="0">
                <a:solidFill>
                  <a:schemeClr val="tx1"/>
                </a:solidFill>
                <a:effectLst/>
                <a:latin typeface="+mn-lt"/>
                <a:ea typeface="ＭＳ Ｐゴシック" pitchFamily="-106" charset="-128"/>
                <a:cs typeface="ＭＳ Ｐゴシック" pitchFamily="-106" charset="-128"/>
              </a:rPr>
              <a:t> How does seeing </a:t>
            </a:r>
            <a:r>
              <a:rPr lang="en-US" sz="1400" b="1" kern="1200" dirty="0">
                <a:solidFill>
                  <a:schemeClr val="tx1"/>
                </a:solidFill>
                <a:effectLst/>
                <a:latin typeface="+mn-lt"/>
                <a:ea typeface="ＭＳ Ｐゴシック" pitchFamily="-106" charset="-128"/>
                <a:cs typeface="ＭＳ Ｐゴシック" pitchFamily="-106" charset="-128"/>
              </a:rPr>
              <a:t>holiness as the fruit of grace, not the basis of acceptance, </a:t>
            </a:r>
            <a:r>
              <a:rPr lang="en-US" sz="1400" kern="1200" dirty="0">
                <a:solidFill>
                  <a:schemeClr val="tx1"/>
                </a:solidFill>
                <a:effectLst/>
                <a:latin typeface="+mn-lt"/>
                <a:ea typeface="ＭＳ Ｐゴシック" pitchFamily="-106" charset="-128"/>
                <a:cs typeface="ＭＳ Ｐゴシック" pitchFamily="-106" charset="-128"/>
              </a:rPr>
              <a:t>change the way we understand God’s purpose in obedience, correction, and everyday growth?</a:t>
            </a:r>
          </a:p>
          <a:p>
            <a:endParaRPr lang="en-US" dirty="0"/>
          </a:p>
        </p:txBody>
      </p:sp>
      <p:sp>
        <p:nvSpPr>
          <p:cNvPr id="4" name="Slide Number Placeholder 3">
            <a:extLst>
              <a:ext uri="{FF2B5EF4-FFF2-40B4-BE49-F238E27FC236}">
                <a16:creationId xmlns:a16="http://schemas.microsoft.com/office/drawing/2014/main" id="{9770B91B-D1E9-1DAC-84C2-5C37A7F1F192}"/>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2001936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7836-B4AE-B57C-1E15-5BD0955CD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C1628-3B90-EF96-E8B1-18862848CE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F21D0D-5E71-FED6-68D4-9FBB3BFD3A1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5E19BA0-A7F1-4661-CC5E-997A9BE9DCA9}"/>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568128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43EB-A19E-5ED1-CFA5-860A2DA6E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23CA-BF56-C414-56BF-D76E4E24E13E}"/>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a:t>
            </a:r>
            <a:br>
              <a:rPr lang="en-US" dirty="0"/>
            </a:br>
            <a:endParaRPr lang="en-US" dirty="0"/>
          </a:p>
          <a:p>
            <a:r>
              <a:rPr lang="en-US" dirty="0"/>
              <a:t>Gospel Movements in the Arc of God’s Righteousness</a:t>
            </a:r>
          </a:p>
          <a:p>
            <a:endParaRPr lang="en-US" sz="2400" dirty="0">
              <a:solidFill>
                <a:schemeClr val="tx2">
                  <a:lumMod val="60000"/>
                  <a:lumOff val="40000"/>
                </a:schemeClr>
              </a:solidFill>
            </a:endParaRPr>
          </a:p>
          <a:p>
            <a:r>
              <a:rPr lang="en-US" sz="4000" b="0" dirty="0"/>
              <a:t>But now apart from the law the </a:t>
            </a:r>
            <a:r>
              <a:rPr lang="en-US" sz="4000" b="0" u="sng" dirty="0"/>
              <a:t>righteousness of God</a:t>
            </a:r>
            <a:r>
              <a:rPr lang="en-US" sz="4000" b="0" dirty="0"/>
              <a:t> (although it is attested by the law and the prophets) </a:t>
            </a:r>
            <a:r>
              <a:rPr lang="en-US" sz="4000" b="0" u="sng" dirty="0"/>
              <a:t>has been disclosed</a:t>
            </a:r>
            <a:r>
              <a:rPr lang="en-US" sz="4000" b="0" dirty="0"/>
              <a:t> – namely, the righteousness of God </a:t>
            </a:r>
            <a:r>
              <a:rPr lang="en-US" sz="4000" b="0" u="sng" dirty="0"/>
              <a:t>through the faithfulness of Jesus Christ</a:t>
            </a:r>
            <a:r>
              <a:rPr lang="en-US" sz="4000" b="0" dirty="0"/>
              <a:t> for all who believe. For there is no distinction, for all have sinned and fall short of the glory of God. But they are justified freely by his grace </a:t>
            </a:r>
            <a:r>
              <a:rPr lang="en-US" sz="4000" b="0" u="sng" dirty="0"/>
              <a:t>through the redemption that is in Christ Jesus</a:t>
            </a:r>
            <a:r>
              <a:rPr lang="en-US" sz="4000" b="0" dirty="0"/>
              <a:t>.  (Romans 3:21-24)</a:t>
            </a:r>
          </a:p>
          <a:p>
            <a:endParaRPr lang="en-US" sz="4000"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202184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34A8-ADA0-7AB5-8BDB-F9E4274ED0C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37F9BD2-FCFC-054A-EF40-95B7833AA15A}"/>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Christ Reveals the Righteousness of God </a:t>
            </a:r>
          </a:p>
          <a:p>
            <a:r>
              <a:rPr lang="en-US" sz="3500" dirty="0">
                <a:solidFill>
                  <a:schemeClr val="tx2">
                    <a:lumMod val="60000"/>
                    <a:lumOff val="40000"/>
                  </a:schemeClr>
                </a:solidFill>
              </a:rPr>
              <a:t>The </a:t>
            </a:r>
            <a:r>
              <a:rPr lang="en-US" sz="3500" u="sng" dirty="0">
                <a:solidFill>
                  <a:schemeClr val="tx2">
                    <a:lumMod val="60000"/>
                    <a:lumOff val="40000"/>
                  </a:schemeClr>
                </a:solidFill>
              </a:rPr>
              <a:t>Revelation</a:t>
            </a:r>
            <a:r>
              <a:rPr lang="en-US" sz="3500" dirty="0">
                <a:solidFill>
                  <a:schemeClr val="tx2">
                    <a:lumMod val="60000"/>
                    <a:lumOff val="40000"/>
                  </a:schemeClr>
                </a:solidFill>
              </a:rPr>
              <a:t> Gospel Movement</a:t>
            </a:r>
          </a:p>
        </p:txBody>
      </p:sp>
      <p:sp>
        <p:nvSpPr>
          <p:cNvPr id="2" name="TextBox 1">
            <a:extLst>
              <a:ext uri="{FF2B5EF4-FFF2-40B4-BE49-F238E27FC236}">
                <a16:creationId xmlns:a16="http://schemas.microsoft.com/office/drawing/2014/main" id="{068A09F4-651C-CCC8-E277-A0FE2D077596}"/>
              </a:ext>
            </a:extLst>
          </p:cNvPr>
          <p:cNvSpPr txBox="1"/>
          <p:nvPr/>
        </p:nvSpPr>
        <p:spPr>
          <a:xfrm>
            <a:off x="247277" y="3200400"/>
            <a:ext cx="8605838" cy="1477328"/>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Jesus fulfills and embodies God’s righteousness.</a:t>
            </a:r>
          </a:p>
          <a:p>
            <a:pPr marL="285750" indent="-285750" fontAlgn="ctr">
              <a:buFont typeface="Arial" panose="020B0604020202020204" pitchFamily="34" charset="0"/>
              <a:buChar char="•"/>
            </a:pPr>
            <a:r>
              <a:rPr lang="en-US" dirty="0"/>
              <a:t>In Christ, God’s justice and mercy are revealed together.</a:t>
            </a:r>
          </a:p>
          <a:p>
            <a:pPr marL="285750" indent="-285750" fontAlgn="ctr">
              <a:buFont typeface="Arial" panose="020B0604020202020204" pitchFamily="34" charset="0"/>
              <a:buChar char="•"/>
            </a:pPr>
            <a:r>
              <a:rPr lang="en-US" dirty="0"/>
              <a:t>The cross is the decisive display of God’s saving righteousness.</a:t>
            </a:r>
          </a:p>
          <a:p>
            <a:pPr marL="285750" indent="-285750" fontAlgn="ctr">
              <a:buFont typeface="Arial" panose="020B0604020202020204" pitchFamily="34" charset="0"/>
              <a:buChar char="•"/>
            </a:pPr>
            <a:r>
              <a:rPr lang="en-US" dirty="0"/>
              <a:t>Christ is not merely a teacher of righteousness; He is the center of it.</a:t>
            </a:r>
          </a:p>
          <a:p>
            <a:pPr marL="285750" indent="-285750" fontAlgn="ctr">
              <a:buFont typeface="Arial" panose="020B0604020202020204" pitchFamily="34" charset="0"/>
              <a:buChar char="•"/>
            </a:pPr>
            <a:r>
              <a:rPr lang="en-US" dirty="0"/>
              <a:t>This means righteousness is grounded in a person, not in human effort.</a:t>
            </a:r>
          </a:p>
        </p:txBody>
      </p:sp>
      <p:sp>
        <p:nvSpPr>
          <p:cNvPr id="3" name="TextBox 2">
            <a:extLst>
              <a:ext uri="{FF2B5EF4-FFF2-40B4-BE49-F238E27FC236}">
                <a16:creationId xmlns:a16="http://schemas.microsoft.com/office/drawing/2014/main" id="{29AFFC1B-4DFA-735A-56B2-675273AE50D5}"/>
              </a:ext>
            </a:extLst>
          </p:cNvPr>
          <p:cNvSpPr txBox="1"/>
          <p:nvPr/>
        </p:nvSpPr>
        <p:spPr>
          <a:xfrm>
            <a:off x="247277" y="794657"/>
            <a:ext cx="8605839" cy="2308324"/>
          </a:xfrm>
          <a:prstGeom prst="rect">
            <a:avLst/>
          </a:prstGeom>
          <a:noFill/>
        </p:spPr>
        <p:txBody>
          <a:bodyPr wrap="square" rtlCol="0">
            <a:spAutoFit/>
          </a:bodyPr>
          <a:lstStyle/>
          <a:p>
            <a:r>
              <a:rPr lang="en-US" b="1" dirty="0"/>
              <a:t>Rom 3:21-24  </a:t>
            </a:r>
            <a:r>
              <a:rPr lang="en-US" i="1" dirty="0"/>
              <a:t>But now apart from the law the righteousness of God (although it is attested by the law and the prophets) has been disclosed – namely, the righteousness of God </a:t>
            </a:r>
            <a:r>
              <a:rPr lang="en-US" i="1" u="sng" dirty="0"/>
              <a:t>through the faithfulness of Jesus Christ </a:t>
            </a:r>
            <a:r>
              <a:rPr lang="en-US" i="1" dirty="0"/>
              <a:t>for all who believe. For there is no distinction, for all have sinned and fall short of the glory of God.  But they are justified freely by his grace </a:t>
            </a:r>
            <a:r>
              <a:rPr lang="en-US" i="1" u="sng" dirty="0"/>
              <a:t>through the redemption that is in Christ Jesus</a:t>
            </a:r>
            <a:r>
              <a:rPr lang="en-US" i="1" dirty="0"/>
              <a:t>.</a:t>
            </a:r>
          </a:p>
          <a:p>
            <a:endParaRPr lang="en-US" dirty="0"/>
          </a:p>
          <a:p>
            <a:r>
              <a:rPr lang="en-US" b="1" dirty="0"/>
              <a:t>2 Cor 5:21  </a:t>
            </a:r>
            <a:r>
              <a:rPr lang="en-US" i="1" dirty="0"/>
              <a:t>God made the one who did not know sin to be sin for us, so that </a:t>
            </a:r>
            <a:r>
              <a:rPr lang="en-US" i="1" u="sng" dirty="0"/>
              <a:t>in him we would become the righteousness of God</a:t>
            </a:r>
            <a:r>
              <a:rPr lang="en-US" i="1" dirty="0"/>
              <a:t>.</a:t>
            </a:r>
          </a:p>
        </p:txBody>
      </p:sp>
      <p:sp>
        <p:nvSpPr>
          <p:cNvPr id="4" name="TextBox 3">
            <a:extLst>
              <a:ext uri="{FF2B5EF4-FFF2-40B4-BE49-F238E27FC236}">
                <a16:creationId xmlns:a16="http://schemas.microsoft.com/office/drawing/2014/main" id="{35439434-D01B-B67B-1107-E9AEA7338476}"/>
              </a:ext>
            </a:extLst>
          </p:cNvPr>
          <p:cNvSpPr txBox="1"/>
          <p:nvPr/>
        </p:nvSpPr>
        <p:spPr>
          <a:xfrm>
            <a:off x="247277" y="4775147"/>
            <a:ext cx="8605838" cy="1754326"/>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God’s character:</a:t>
            </a:r>
            <a:r>
              <a:rPr lang="en-US" dirty="0">
                <a:ea typeface="ＭＳ Ｐゴシック" pitchFamily="-106" charset="-128"/>
                <a:cs typeface="ＭＳ Ｐゴシック" pitchFamily="-106" charset="-128"/>
              </a:rPr>
              <a:t> When you look at Jesus, especially at the cross, what kind of God is revealed there, and how do His justice and mercy meet in Christ?</a:t>
            </a:r>
          </a:p>
          <a:p>
            <a:pPr fontAlgn="ctr"/>
            <a:endParaRPr lang="en-US"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God’s purpose:</a:t>
            </a:r>
            <a:r>
              <a:rPr lang="en-US" dirty="0">
                <a:ea typeface="ＭＳ Ｐゴシック" pitchFamily="-106" charset="-128"/>
                <a:cs typeface="ＭＳ Ｐゴシック" pitchFamily="-106" charset="-128"/>
              </a:rPr>
              <a:t> If God chose to reveal His righteousness in a person rather than through human effort, what does that show about what He wants to accomplish in saving people?</a:t>
            </a:r>
          </a:p>
        </p:txBody>
      </p:sp>
    </p:spTree>
    <p:extLst>
      <p:ext uri="{BB962C8B-B14F-4D97-AF65-F5344CB8AC3E}">
        <p14:creationId xmlns:p14="http://schemas.microsoft.com/office/powerpoint/2010/main" val="267363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0E404-8ADE-3CA4-B30E-20273C733E5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FA151E3-20C6-B2FC-A03B-13385CF04ADD}"/>
              </a:ext>
            </a:extLst>
          </p:cNvPr>
          <p:cNvSpPr txBox="1">
            <a:spLocks/>
          </p:cNvSpPr>
          <p:nvPr/>
        </p:nvSpPr>
        <p:spPr bwMode="auto">
          <a:xfrm>
            <a:off x="233362" y="32657"/>
            <a:ext cx="8682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5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Justification: God Declares Sinners Righteous by Faith </a:t>
            </a:r>
          </a:p>
          <a:p>
            <a:r>
              <a:rPr lang="en-US" sz="3500" dirty="0">
                <a:solidFill>
                  <a:schemeClr val="tx2">
                    <a:lumMod val="60000"/>
                    <a:lumOff val="40000"/>
                  </a:schemeClr>
                </a:solidFill>
              </a:rPr>
              <a:t>The </a:t>
            </a:r>
            <a:r>
              <a:rPr lang="en-US" sz="3500" u="sng" dirty="0">
                <a:solidFill>
                  <a:schemeClr val="tx2">
                    <a:lumMod val="60000"/>
                    <a:lumOff val="40000"/>
                  </a:schemeClr>
                </a:solidFill>
              </a:rPr>
              <a:t>Declaration</a:t>
            </a:r>
            <a:r>
              <a:rPr lang="en-US" sz="3500" dirty="0">
                <a:solidFill>
                  <a:schemeClr val="tx2">
                    <a:lumMod val="60000"/>
                    <a:lumOff val="40000"/>
                  </a:schemeClr>
                </a:solidFill>
              </a:rPr>
              <a:t> Gospel Movement</a:t>
            </a:r>
          </a:p>
        </p:txBody>
      </p:sp>
      <p:sp>
        <p:nvSpPr>
          <p:cNvPr id="2" name="TextBox 1">
            <a:extLst>
              <a:ext uri="{FF2B5EF4-FFF2-40B4-BE49-F238E27FC236}">
                <a16:creationId xmlns:a16="http://schemas.microsoft.com/office/drawing/2014/main" id="{05117DC6-05E8-7AB4-10FA-56806080F6EE}"/>
              </a:ext>
            </a:extLst>
          </p:cNvPr>
          <p:cNvSpPr txBox="1"/>
          <p:nvPr/>
        </p:nvSpPr>
        <p:spPr>
          <a:xfrm>
            <a:off x="269080" y="3476033"/>
            <a:ext cx="8605838" cy="2308324"/>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Because of Christ, God can declare the guilty righteous without compromising His holiness.</a:t>
            </a:r>
          </a:p>
          <a:p>
            <a:pPr marL="285750" indent="-285750" fontAlgn="ctr">
              <a:buFont typeface="Arial" panose="020B0604020202020204" pitchFamily="34" charset="0"/>
              <a:buChar char="•"/>
            </a:pPr>
            <a:r>
              <a:rPr lang="en-US" dirty="0"/>
              <a:t>Justification is received by faith, not earned by works.</a:t>
            </a:r>
          </a:p>
          <a:p>
            <a:pPr marL="285750" indent="-285750" fontAlgn="ctr">
              <a:buFont typeface="Arial" panose="020B0604020202020204" pitchFamily="34" charset="0"/>
              <a:buChar char="•"/>
            </a:pPr>
            <a:r>
              <a:rPr lang="en-US" dirty="0"/>
              <a:t>It gives peace with God, assurance before God, and humility before others.</a:t>
            </a:r>
          </a:p>
          <a:p>
            <a:pPr marL="285750" indent="-285750" fontAlgn="ctr">
              <a:buFont typeface="Arial" panose="020B0604020202020204" pitchFamily="34" charset="0"/>
              <a:buChar char="•"/>
            </a:pPr>
            <a:r>
              <a:rPr lang="en-US" dirty="0"/>
              <a:t>Faith is not merit; it is trust in Christ’s completed work.</a:t>
            </a:r>
          </a:p>
          <a:p>
            <a:pPr marL="285750" indent="-285750" fontAlgn="ctr">
              <a:buFont typeface="Arial" panose="020B0604020202020204" pitchFamily="34" charset="0"/>
              <a:buChar char="•"/>
            </a:pPr>
            <a:r>
              <a:rPr lang="en-US" dirty="0"/>
              <a:t>This keeps salvation rooted in mercy, not performance.</a:t>
            </a:r>
          </a:p>
          <a:p>
            <a:pPr marL="285750" indent="-285750" fontAlgn="ctr">
              <a:buFont typeface="Arial" panose="020B0604020202020204" pitchFamily="34" charset="0"/>
              <a:buChar char="•"/>
            </a:pPr>
            <a:r>
              <a:rPr lang="en-US" dirty="0"/>
              <a:t>The course outline also frames this as a major apostolic and early Christian emphasis.</a:t>
            </a:r>
          </a:p>
        </p:txBody>
      </p:sp>
      <p:sp>
        <p:nvSpPr>
          <p:cNvPr id="3" name="TextBox 2">
            <a:extLst>
              <a:ext uri="{FF2B5EF4-FFF2-40B4-BE49-F238E27FC236}">
                <a16:creationId xmlns:a16="http://schemas.microsoft.com/office/drawing/2014/main" id="{BFD9A500-F55C-2F99-82CB-B26F854C0DF4}"/>
              </a:ext>
            </a:extLst>
          </p:cNvPr>
          <p:cNvSpPr txBox="1"/>
          <p:nvPr/>
        </p:nvSpPr>
        <p:spPr>
          <a:xfrm>
            <a:off x="269080" y="794657"/>
            <a:ext cx="8605839" cy="2585323"/>
          </a:xfrm>
          <a:prstGeom prst="rect">
            <a:avLst/>
          </a:prstGeom>
          <a:noFill/>
        </p:spPr>
        <p:txBody>
          <a:bodyPr wrap="square" rtlCol="0">
            <a:spAutoFit/>
          </a:bodyPr>
          <a:lstStyle/>
          <a:p>
            <a:r>
              <a:rPr lang="en-US" b="1" dirty="0"/>
              <a:t>Rom 5:1  </a:t>
            </a:r>
            <a:r>
              <a:rPr lang="en-US" i="1" dirty="0"/>
              <a:t>Therefore, since we have been </a:t>
            </a:r>
            <a:r>
              <a:rPr lang="en-US" i="1" u="sng" dirty="0"/>
              <a:t>declared righteous by faith</a:t>
            </a:r>
            <a:r>
              <a:rPr lang="en-US" i="1" dirty="0"/>
              <a:t>, we have peace with God through our Lord Jesus Christ…</a:t>
            </a:r>
          </a:p>
          <a:p>
            <a:endParaRPr lang="en-US" dirty="0"/>
          </a:p>
          <a:p>
            <a:r>
              <a:rPr lang="en-US" b="1" dirty="0"/>
              <a:t>Tit 3:4-7  </a:t>
            </a:r>
            <a:r>
              <a:rPr lang="en-US" i="1" dirty="0"/>
              <a:t>But “when the kindness of God our Savior and his love for mankind appeared, he saved us not by works of righteousness that we have done but on the basis of his mercy, through the washing of the new birth and the renewing of the Holy Spirit, whom he poured out on us in full measure through Jesus Christ our Savior. And so, </a:t>
            </a:r>
            <a:r>
              <a:rPr lang="en-US" i="1" u="sng" dirty="0"/>
              <a:t>since we have been justified by his grace</a:t>
            </a:r>
            <a:r>
              <a:rPr lang="en-US" i="1" dirty="0"/>
              <a:t>, we become heirs with the confident expectation of eternal life.”</a:t>
            </a:r>
          </a:p>
        </p:txBody>
      </p:sp>
      <p:sp>
        <p:nvSpPr>
          <p:cNvPr id="4" name="TextBox 3">
            <a:extLst>
              <a:ext uri="{FF2B5EF4-FFF2-40B4-BE49-F238E27FC236}">
                <a16:creationId xmlns:a16="http://schemas.microsoft.com/office/drawing/2014/main" id="{FC3FD095-0C59-7EDB-66C6-9DC17BEB0AC9}"/>
              </a:ext>
            </a:extLst>
          </p:cNvPr>
          <p:cNvSpPr txBox="1"/>
          <p:nvPr/>
        </p:nvSpPr>
        <p:spPr>
          <a:xfrm>
            <a:off x="269080" y="5880410"/>
            <a:ext cx="8605838" cy="923330"/>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God’s purpose:</a:t>
            </a:r>
            <a:r>
              <a:rPr lang="en-US" dirty="0">
                <a:ea typeface="ＭＳ Ｐゴシック" pitchFamily="-106" charset="-128"/>
                <a:cs typeface="ＭＳ Ｐゴシック" pitchFamily="-106" charset="-128"/>
              </a:rPr>
              <a:t> Why do you think God designed salvation to be received by faith rather than earned by performance, and how does that shape peace, assurance, and humility in His people?</a:t>
            </a:r>
          </a:p>
        </p:txBody>
      </p:sp>
    </p:spTree>
    <p:extLst>
      <p:ext uri="{BB962C8B-B14F-4D97-AF65-F5344CB8AC3E}">
        <p14:creationId xmlns:p14="http://schemas.microsoft.com/office/powerpoint/2010/main" val="295563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314AE-2D91-A91E-C464-C49F7E0D87D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A2761FE-FE9C-4E9D-A4CD-1BF57E808E06}"/>
              </a:ext>
            </a:extLst>
          </p:cNvPr>
          <p:cNvSpPr txBox="1">
            <a:spLocks/>
          </p:cNvSpPr>
          <p:nvPr/>
        </p:nvSpPr>
        <p:spPr bwMode="auto">
          <a:xfrm>
            <a:off x="233362" y="32657"/>
            <a:ext cx="8682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Gift of Righteousness Includes New Birth</a:t>
            </a:r>
          </a:p>
          <a:p>
            <a:r>
              <a:rPr lang="en-US" sz="3500" dirty="0">
                <a:solidFill>
                  <a:schemeClr val="tx2">
                    <a:lumMod val="60000"/>
                    <a:lumOff val="40000"/>
                  </a:schemeClr>
                </a:solidFill>
              </a:rPr>
              <a:t>The </a:t>
            </a:r>
            <a:r>
              <a:rPr lang="en-US" sz="3500" u="sng" dirty="0">
                <a:solidFill>
                  <a:schemeClr val="tx2">
                    <a:lumMod val="60000"/>
                    <a:lumOff val="40000"/>
                  </a:schemeClr>
                </a:solidFill>
              </a:rPr>
              <a:t>Regeneration</a:t>
            </a:r>
            <a:r>
              <a:rPr lang="en-US" sz="3500" dirty="0">
                <a:solidFill>
                  <a:schemeClr val="tx2">
                    <a:lumMod val="60000"/>
                    <a:lumOff val="40000"/>
                  </a:schemeClr>
                </a:solidFill>
              </a:rPr>
              <a:t> Gospel Movement</a:t>
            </a:r>
          </a:p>
        </p:txBody>
      </p:sp>
      <p:sp>
        <p:nvSpPr>
          <p:cNvPr id="2" name="TextBox 1">
            <a:extLst>
              <a:ext uri="{FF2B5EF4-FFF2-40B4-BE49-F238E27FC236}">
                <a16:creationId xmlns:a16="http://schemas.microsoft.com/office/drawing/2014/main" id="{CA2B4D0C-4908-43E1-AEB0-8259B3D6AE69}"/>
              </a:ext>
            </a:extLst>
          </p:cNvPr>
          <p:cNvSpPr txBox="1"/>
          <p:nvPr/>
        </p:nvSpPr>
        <p:spPr>
          <a:xfrm>
            <a:off x="233362" y="3503600"/>
            <a:ext cx="8605838" cy="2031325"/>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God does more than change our standing; He creates new life in us.</a:t>
            </a:r>
          </a:p>
          <a:p>
            <a:pPr marL="285750" indent="-285750" fontAlgn="ctr">
              <a:buFont typeface="Arial" panose="020B0604020202020204" pitchFamily="34" charset="0"/>
              <a:buChar char="•"/>
            </a:pPr>
            <a:r>
              <a:rPr lang="en-US" dirty="0"/>
              <a:t>The Spirit brings birth from above.</a:t>
            </a:r>
          </a:p>
          <a:p>
            <a:pPr marL="285750" indent="-285750" fontAlgn="ctr">
              <a:buFont typeface="Arial" panose="020B0604020202020204" pitchFamily="34" charset="0"/>
              <a:buChar char="•"/>
            </a:pPr>
            <a:r>
              <a:rPr lang="en-US" dirty="0"/>
              <a:t>The Word of God becomes the living seed of this new life.</a:t>
            </a:r>
          </a:p>
          <a:p>
            <a:pPr marL="285750" indent="-285750" fontAlgn="ctr">
              <a:buFont typeface="Arial" panose="020B0604020202020204" pitchFamily="34" charset="0"/>
              <a:buChar char="•"/>
            </a:pPr>
            <a:r>
              <a:rPr lang="en-US" dirty="0"/>
              <a:t>New birth produces new desires, new affections, and a new orientation toward God.</a:t>
            </a:r>
          </a:p>
          <a:p>
            <a:pPr marL="285750" indent="-285750" fontAlgn="ctr">
              <a:buFont typeface="Arial" panose="020B0604020202020204" pitchFamily="34" charset="0"/>
              <a:buChar char="•"/>
            </a:pPr>
            <a:r>
              <a:rPr lang="en-US" dirty="0"/>
              <a:t>The believer does not merely receive a verdict; he begins to live from a new inner life.</a:t>
            </a:r>
          </a:p>
        </p:txBody>
      </p:sp>
      <p:sp>
        <p:nvSpPr>
          <p:cNvPr id="3" name="TextBox 2">
            <a:extLst>
              <a:ext uri="{FF2B5EF4-FFF2-40B4-BE49-F238E27FC236}">
                <a16:creationId xmlns:a16="http://schemas.microsoft.com/office/drawing/2014/main" id="{05E3848B-EDE5-2282-D314-E6A6C152B2CD}"/>
              </a:ext>
            </a:extLst>
          </p:cNvPr>
          <p:cNvSpPr txBox="1"/>
          <p:nvPr/>
        </p:nvSpPr>
        <p:spPr>
          <a:xfrm>
            <a:off x="233362" y="794657"/>
            <a:ext cx="8570119" cy="2585323"/>
          </a:xfrm>
          <a:prstGeom prst="rect">
            <a:avLst/>
          </a:prstGeom>
          <a:noFill/>
        </p:spPr>
        <p:txBody>
          <a:bodyPr wrap="square" rtlCol="0">
            <a:spAutoFit/>
          </a:bodyPr>
          <a:lstStyle/>
          <a:p>
            <a:r>
              <a:rPr lang="en-US" b="1" dirty="0"/>
              <a:t>John 3:3-6</a:t>
            </a:r>
            <a:r>
              <a:rPr lang="en-US" dirty="0"/>
              <a:t>  </a:t>
            </a:r>
            <a:r>
              <a:rPr lang="en-US" i="1" dirty="0"/>
              <a:t>Jesus replied, “I tell you the solemn truth, </a:t>
            </a:r>
            <a:r>
              <a:rPr lang="en-US" i="1" u="sng" dirty="0"/>
              <a:t>unless a person is born from above</a:t>
            </a:r>
            <a:r>
              <a:rPr lang="en-US" i="1" dirty="0"/>
              <a:t>, he cannot see the kingdom of God.”  Nicodemus said to him, “How can a man be born when he is old? He cannot enter his mother’s womb and be born a second time, can he?”  Jesus answered, “I tell you the solemn truth, </a:t>
            </a:r>
            <a:r>
              <a:rPr lang="en-US" i="1" u="sng" dirty="0"/>
              <a:t>unless a person is born of water and spirit</a:t>
            </a:r>
            <a:r>
              <a:rPr lang="en-US" i="1" dirty="0"/>
              <a:t>, he cannot enter the kingdom of God.  What is born of the flesh is flesh, and what is born of the Spirit is spirit.</a:t>
            </a:r>
          </a:p>
          <a:p>
            <a:endParaRPr lang="en-US" dirty="0"/>
          </a:p>
          <a:p>
            <a:r>
              <a:rPr lang="en-US" b="1" dirty="0"/>
              <a:t>1 Peter 1:23  </a:t>
            </a:r>
            <a:r>
              <a:rPr lang="en-US" i="1" u="sng" dirty="0"/>
              <a:t>You have been born anew</a:t>
            </a:r>
            <a:r>
              <a:rPr lang="en-US" i="1" dirty="0"/>
              <a:t>, not from perishable but from imperishable seed, through the living and enduring word of God.</a:t>
            </a:r>
          </a:p>
        </p:txBody>
      </p:sp>
      <p:sp>
        <p:nvSpPr>
          <p:cNvPr id="6" name="TextBox 5">
            <a:extLst>
              <a:ext uri="{FF2B5EF4-FFF2-40B4-BE49-F238E27FC236}">
                <a16:creationId xmlns:a16="http://schemas.microsoft.com/office/drawing/2014/main" id="{D4E86424-ECFE-6BBA-8A15-7DD95AE6A23B}"/>
              </a:ext>
            </a:extLst>
          </p:cNvPr>
          <p:cNvSpPr txBox="1"/>
          <p:nvPr/>
        </p:nvSpPr>
        <p:spPr>
          <a:xfrm>
            <a:off x="233362" y="5658545"/>
            <a:ext cx="8605838" cy="646331"/>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God’s purpose:</a:t>
            </a:r>
            <a:r>
              <a:rPr lang="en-US" dirty="0">
                <a:ea typeface="ＭＳ Ｐゴシック" pitchFamily="-106" charset="-128"/>
                <a:cs typeface="ＭＳ Ｐゴシック" pitchFamily="-106" charset="-128"/>
              </a:rPr>
              <a:t> Why do you think God’s goal is not only to forgive us, but also to create new desires, new affections, and a new direction within us?</a:t>
            </a:r>
          </a:p>
        </p:txBody>
      </p:sp>
    </p:spTree>
    <p:extLst>
      <p:ext uri="{BB962C8B-B14F-4D97-AF65-F5344CB8AC3E}">
        <p14:creationId xmlns:p14="http://schemas.microsoft.com/office/powerpoint/2010/main" val="165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C670-CF68-6C0E-2EB5-1D02139EB06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35CA0D-6735-0D47-1278-B68CE5BD3D46}"/>
              </a:ext>
            </a:extLst>
          </p:cNvPr>
          <p:cNvSpPr txBox="1">
            <a:spLocks/>
          </p:cNvSpPr>
          <p:nvPr/>
        </p:nvSpPr>
        <p:spPr bwMode="auto">
          <a:xfrm>
            <a:off x="233362" y="32657"/>
            <a:ext cx="8682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Sanctification: Living Out God’s Righteousness</a:t>
            </a:r>
          </a:p>
          <a:p>
            <a:r>
              <a:rPr lang="en-US" sz="3500" dirty="0">
                <a:solidFill>
                  <a:schemeClr val="tx2">
                    <a:lumMod val="60000"/>
                    <a:lumOff val="40000"/>
                  </a:schemeClr>
                </a:solidFill>
              </a:rPr>
              <a:t>The </a:t>
            </a:r>
            <a:r>
              <a:rPr lang="en-US" sz="3500" u="sng" dirty="0">
                <a:solidFill>
                  <a:schemeClr val="tx2">
                    <a:lumMod val="60000"/>
                    <a:lumOff val="40000"/>
                  </a:schemeClr>
                </a:solidFill>
              </a:rPr>
              <a:t>Transformation</a:t>
            </a:r>
            <a:r>
              <a:rPr lang="en-US" sz="3500" dirty="0">
                <a:solidFill>
                  <a:schemeClr val="tx2">
                    <a:lumMod val="60000"/>
                    <a:lumOff val="40000"/>
                  </a:schemeClr>
                </a:solidFill>
              </a:rPr>
              <a:t> Gospel Movement</a:t>
            </a:r>
          </a:p>
        </p:txBody>
      </p:sp>
      <p:sp>
        <p:nvSpPr>
          <p:cNvPr id="2" name="TextBox 1">
            <a:extLst>
              <a:ext uri="{FF2B5EF4-FFF2-40B4-BE49-F238E27FC236}">
                <a16:creationId xmlns:a16="http://schemas.microsoft.com/office/drawing/2014/main" id="{8A036ACE-0166-8AE6-2B4F-4005F22C0BDC}"/>
              </a:ext>
            </a:extLst>
          </p:cNvPr>
          <p:cNvSpPr txBox="1"/>
          <p:nvPr/>
        </p:nvSpPr>
        <p:spPr>
          <a:xfrm>
            <a:off x="304800" y="4487976"/>
            <a:ext cx="8605838" cy="2031325"/>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t>The life God gives begins to shape the life the believer lives.</a:t>
            </a:r>
          </a:p>
          <a:p>
            <a:pPr marL="285750" indent="-285750" fontAlgn="ctr">
              <a:buFont typeface="Arial" panose="020B0604020202020204" pitchFamily="34" charset="0"/>
              <a:buChar char="•"/>
            </a:pPr>
            <a:r>
              <a:rPr lang="en-US" dirty="0"/>
              <a:t>Sanctification is the ongoing work of presenting ourselves to God as instruments of righteousness.</a:t>
            </a:r>
          </a:p>
          <a:p>
            <a:pPr marL="285750" indent="-285750" fontAlgn="ctr">
              <a:buFont typeface="Arial" panose="020B0604020202020204" pitchFamily="34" charset="0"/>
              <a:buChar char="•"/>
            </a:pPr>
            <a:r>
              <a:rPr lang="en-US" dirty="0"/>
              <a:t>It involves renewal of the mind, putting off the old self, and putting on the new self.</a:t>
            </a:r>
          </a:p>
          <a:p>
            <a:pPr marL="285750" indent="-285750" fontAlgn="ctr">
              <a:buFont typeface="Arial" panose="020B0604020202020204" pitchFamily="34" charset="0"/>
              <a:buChar char="•"/>
            </a:pPr>
            <a:r>
              <a:rPr lang="en-US" dirty="0"/>
              <a:t>Holiness is the fruit of grace, not the basis of acceptance.</a:t>
            </a:r>
          </a:p>
          <a:p>
            <a:pPr marL="285750" indent="-285750" fontAlgn="ctr">
              <a:buFont typeface="Arial" panose="020B0604020202020204" pitchFamily="34" charset="0"/>
              <a:buChar char="•"/>
            </a:pPr>
            <a:r>
              <a:rPr lang="en-US" dirty="0"/>
              <a:t>Growth in righteousness is progressive, practical, and Spirit-enabled.</a:t>
            </a:r>
          </a:p>
        </p:txBody>
      </p:sp>
      <p:sp>
        <p:nvSpPr>
          <p:cNvPr id="3" name="TextBox 2">
            <a:extLst>
              <a:ext uri="{FF2B5EF4-FFF2-40B4-BE49-F238E27FC236}">
                <a16:creationId xmlns:a16="http://schemas.microsoft.com/office/drawing/2014/main" id="{EAA2163F-5E9B-88CA-5946-7605EBDA15D0}"/>
              </a:ext>
            </a:extLst>
          </p:cNvPr>
          <p:cNvSpPr txBox="1"/>
          <p:nvPr/>
        </p:nvSpPr>
        <p:spPr>
          <a:xfrm>
            <a:off x="304800" y="794657"/>
            <a:ext cx="8570119" cy="3693319"/>
          </a:xfrm>
          <a:prstGeom prst="rect">
            <a:avLst/>
          </a:prstGeom>
          <a:noFill/>
        </p:spPr>
        <p:txBody>
          <a:bodyPr wrap="square" rtlCol="0">
            <a:spAutoFit/>
          </a:bodyPr>
          <a:lstStyle/>
          <a:p>
            <a:r>
              <a:rPr lang="en-US" b="1" dirty="0"/>
              <a:t>Rom 6:10-14  </a:t>
            </a:r>
            <a:r>
              <a:rPr lang="en-US" i="1" dirty="0"/>
              <a:t>For the death he died, he died to sin once for all, but the life he lives, he lives to God.  So, you too consider yourselves dead to sin, but alive to God in Christ Jesus.  Therefore, do not let sin reign in your mortal body so that you obey its desires,  and do not present your members to sin as instruments to be used for unrighteousness, but </a:t>
            </a:r>
            <a:r>
              <a:rPr lang="en-US" i="1" u="sng" dirty="0"/>
              <a:t>present yourselves to God as those who are alive from the dead and your members to God as instruments to be used for righteousness</a:t>
            </a:r>
            <a:r>
              <a:rPr lang="en-US" i="1" dirty="0"/>
              <a:t>.  For sin will have no mastery over you, because you are not under law but under grace.</a:t>
            </a:r>
          </a:p>
          <a:p>
            <a:endParaRPr lang="en-US" dirty="0"/>
          </a:p>
          <a:p>
            <a:r>
              <a:rPr lang="en-US" b="1" dirty="0"/>
              <a:t>Eph 4:22-24  </a:t>
            </a:r>
            <a:r>
              <a:rPr lang="en-US" i="1" dirty="0"/>
              <a:t>You were taught with reference to your former way of life to lay aside the old man who is being corrupted in accordance with deceitful desires, to be </a:t>
            </a:r>
            <a:r>
              <a:rPr lang="en-US" i="1" u="sng" dirty="0"/>
              <a:t>renewed in the spirit of your mind</a:t>
            </a:r>
            <a:r>
              <a:rPr lang="en-US" i="1" dirty="0"/>
              <a:t>, and to </a:t>
            </a:r>
            <a:r>
              <a:rPr lang="en-US" i="1" u="sng" dirty="0"/>
              <a:t>put on the new man </a:t>
            </a:r>
            <a:r>
              <a:rPr lang="en-US" i="1" dirty="0"/>
              <a:t>who has been created in God’s image – in righteousness and holiness that comes from truth.</a:t>
            </a:r>
          </a:p>
        </p:txBody>
      </p:sp>
    </p:spTree>
    <p:extLst>
      <p:ext uri="{BB962C8B-B14F-4D97-AF65-F5344CB8AC3E}">
        <p14:creationId xmlns:p14="http://schemas.microsoft.com/office/powerpoint/2010/main" val="272439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95BA-9DAD-9CD0-3FFC-0C310720D03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F85C95-19A6-CC85-344F-56C35B5025ED}"/>
              </a:ext>
            </a:extLst>
          </p:cNvPr>
          <p:cNvSpPr txBox="1">
            <a:spLocks/>
          </p:cNvSpPr>
          <p:nvPr/>
        </p:nvSpPr>
        <p:spPr bwMode="auto">
          <a:xfrm>
            <a:off x="233362" y="32657"/>
            <a:ext cx="8682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One Unified Gospel Arc of Movements</a:t>
            </a:r>
          </a:p>
          <a:p>
            <a:r>
              <a:rPr lang="en-US" sz="3500" dirty="0">
                <a:solidFill>
                  <a:schemeClr val="tx2">
                    <a:lumMod val="60000"/>
                    <a:lumOff val="40000"/>
                  </a:schemeClr>
                </a:solidFill>
              </a:rPr>
              <a:t>God’s Plan to Restore His Human Family</a:t>
            </a:r>
          </a:p>
        </p:txBody>
      </p:sp>
      <p:sp>
        <p:nvSpPr>
          <p:cNvPr id="2" name="TextBox 1">
            <a:extLst>
              <a:ext uri="{FF2B5EF4-FFF2-40B4-BE49-F238E27FC236}">
                <a16:creationId xmlns:a16="http://schemas.microsoft.com/office/drawing/2014/main" id="{03A9391E-B26E-2F0A-287D-17A785088990}"/>
              </a:ext>
            </a:extLst>
          </p:cNvPr>
          <p:cNvSpPr txBox="1"/>
          <p:nvPr/>
        </p:nvSpPr>
        <p:spPr>
          <a:xfrm>
            <a:off x="287634" y="2514600"/>
            <a:ext cx="8605838" cy="1477328"/>
          </a:xfrm>
          <a:prstGeom prst="rect">
            <a:avLst/>
          </a:prstGeom>
          <a:noFill/>
        </p:spPr>
        <p:txBody>
          <a:bodyPr wrap="square" rtlCol="0">
            <a:spAutoFit/>
          </a:bodyPr>
          <a:lstStyle/>
          <a:p>
            <a:r>
              <a:rPr lang="en-US" b="1" dirty="0"/>
              <a:t>Key Contrasts  </a:t>
            </a:r>
          </a:p>
          <a:p>
            <a:pPr marL="285750" indent="-285750" fontAlgn="ctr">
              <a:buFont typeface="Arial" panose="020B0604020202020204" pitchFamily="34" charset="0"/>
              <a:buChar char="•"/>
            </a:pPr>
            <a:r>
              <a:rPr lang="en-US" dirty="0"/>
              <a:t>Not human achievement, but divine provision.</a:t>
            </a:r>
          </a:p>
          <a:p>
            <a:pPr marL="285750" indent="-285750" fontAlgn="ctr">
              <a:buFont typeface="Arial" panose="020B0604020202020204" pitchFamily="34" charset="0"/>
              <a:buChar char="•"/>
            </a:pPr>
            <a:r>
              <a:rPr lang="en-US" dirty="0"/>
              <a:t>Not works as the basis, but faith as the means.</a:t>
            </a:r>
          </a:p>
          <a:p>
            <a:pPr marL="285750" indent="-285750" fontAlgn="ctr">
              <a:buFont typeface="Arial" panose="020B0604020202020204" pitchFamily="34" charset="0"/>
              <a:buChar char="•"/>
            </a:pPr>
            <a:r>
              <a:rPr lang="en-US" dirty="0"/>
              <a:t>Not outward conformity alone, but inward transformation.</a:t>
            </a:r>
          </a:p>
          <a:p>
            <a:pPr marL="285750" indent="-285750" fontAlgn="ctr">
              <a:buFont typeface="Arial" panose="020B0604020202020204" pitchFamily="34" charset="0"/>
              <a:buChar char="•"/>
            </a:pPr>
            <a:r>
              <a:rPr lang="en-US" dirty="0"/>
              <a:t>Not a one-time decision only, but a life continually shaped by grace.</a:t>
            </a:r>
          </a:p>
        </p:txBody>
      </p:sp>
      <p:sp>
        <p:nvSpPr>
          <p:cNvPr id="3" name="TextBox 2">
            <a:extLst>
              <a:ext uri="{FF2B5EF4-FFF2-40B4-BE49-F238E27FC236}">
                <a16:creationId xmlns:a16="http://schemas.microsoft.com/office/drawing/2014/main" id="{4DEF161B-E7E0-AAEC-459E-F16B7072C40E}"/>
              </a:ext>
            </a:extLst>
          </p:cNvPr>
          <p:cNvSpPr txBox="1"/>
          <p:nvPr/>
        </p:nvSpPr>
        <p:spPr>
          <a:xfrm>
            <a:off x="304800" y="794657"/>
            <a:ext cx="8570119" cy="1477328"/>
          </a:xfrm>
          <a:prstGeom prst="rect">
            <a:avLst/>
          </a:prstGeom>
          <a:noFill/>
        </p:spPr>
        <p:txBody>
          <a:bodyPr wrap="square" rtlCol="0">
            <a:spAutoFit/>
          </a:bodyPr>
          <a:lstStyle/>
          <a:p>
            <a:r>
              <a:rPr lang="en-US" b="1" dirty="0"/>
              <a:t>The Gospel Narrative</a:t>
            </a:r>
          </a:p>
          <a:p>
            <a:pPr marL="285750" indent="-285750" fontAlgn="ctr">
              <a:buFont typeface="Arial" panose="020B0604020202020204" pitchFamily="34" charset="0"/>
              <a:buChar char="•"/>
            </a:pPr>
            <a:r>
              <a:rPr lang="en-US" dirty="0"/>
              <a:t>Christ reveals God’s righteousness.</a:t>
            </a:r>
          </a:p>
          <a:p>
            <a:pPr marL="285750" indent="-285750" fontAlgn="ctr">
              <a:buFont typeface="Arial" panose="020B0604020202020204" pitchFamily="34" charset="0"/>
              <a:buChar char="•"/>
            </a:pPr>
            <a:r>
              <a:rPr lang="en-US" dirty="0"/>
              <a:t>Justification receives God’s righteousness.</a:t>
            </a:r>
          </a:p>
          <a:p>
            <a:pPr marL="285750" indent="-285750" fontAlgn="ctr">
              <a:buFont typeface="Arial" panose="020B0604020202020204" pitchFamily="34" charset="0"/>
              <a:buChar char="•"/>
            </a:pPr>
            <a:r>
              <a:rPr lang="en-US" dirty="0"/>
              <a:t>New birth implants God’s righteousness as new life.</a:t>
            </a:r>
          </a:p>
          <a:p>
            <a:pPr marL="285750" indent="-285750" fontAlgn="ctr">
              <a:buFont typeface="Arial" panose="020B0604020202020204" pitchFamily="34" charset="0"/>
              <a:buChar char="•"/>
            </a:pPr>
            <a:r>
              <a:rPr lang="en-US" dirty="0"/>
              <a:t>Sanctification expresses God’s righteousness in character and conduct.</a:t>
            </a:r>
          </a:p>
        </p:txBody>
      </p:sp>
      <p:sp>
        <p:nvSpPr>
          <p:cNvPr id="4" name="TextBox 3">
            <a:extLst>
              <a:ext uri="{FF2B5EF4-FFF2-40B4-BE49-F238E27FC236}">
                <a16:creationId xmlns:a16="http://schemas.microsoft.com/office/drawing/2014/main" id="{AD431C96-97AA-7FB4-AB48-DE097E519F07}"/>
              </a:ext>
            </a:extLst>
          </p:cNvPr>
          <p:cNvSpPr txBox="1"/>
          <p:nvPr/>
        </p:nvSpPr>
        <p:spPr>
          <a:xfrm>
            <a:off x="304800" y="4234543"/>
            <a:ext cx="8605838" cy="1477328"/>
          </a:xfrm>
          <a:prstGeom prst="rect">
            <a:avLst/>
          </a:prstGeom>
          <a:noFill/>
        </p:spPr>
        <p:txBody>
          <a:bodyPr wrap="square" rtlCol="0">
            <a:spAutoFit/>
          </a:bodyPr>
          <a:lstStyle/>
          <a:p>
            <a:r>
              <a:rPr lang="en-US" b="1" dirty="0"/>
              <a:t>Summary  </a:t>
            </a:r>
          </a:p>
          <a:p>
            <a:pPr marL="285750" indent="-285750" fontAlgn="ctr">
              <a:buFont typeface="Arial" panose="020B0604020202020204" pitchFamily="34" charset="0"/>
              <a:buChar char="•"/>
            </a:pPr>
            <a:r>
              <a:rPr lang="en-US" dirty="0"/>
              <a:t>God’s righteousness is revealed in Christ, credited through faith, planted in us by the Spirit, and lived out in holiness.</a:t>
            </a:r>
          </a:p>
          <a:p>
            <a:pPr marL="285750" indent="-285750" fontAlgn="ctr">
              <a:buFont typeface="Arial" panose="020B0604020202020204" pitchFamily="34" charset="0"/>
              <a:buChar char="•"/>
            </a:pPr>
            <a:r>
              <a:rPr lang="en-US" dirty="0"/>
              <a:t>The believer does not move beyond grace after conversion; he grows deeper into it.</a:t>
            </a:r>
          </a:p>
        </p:txBody>
      </p:sp>
    </p:spTree>
    <p:extLst>
      <p:ext uri="{BB962C8B-B14F-4D97-AF65-F5344CB8AC3E}">
        <p14:creationId xmlns:p14="http://schemas.microsoft.com/office/powerpoint/2010/main" val="220173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46008</TotalTime>
  <Words>1649</Words>
  <Application>Microsoft Office PowerPoint</Application>
  <PresentationFormat>On-screen Show (4:3)</PresentationFormat>
  <Paragraphs>100</Paragraphs>
  <Slides>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1521</cp:revision>
  <cp:lastPrinted>2026-02-21T16:06:41Z</cp:lastPrinted>
  <dcterms:created xsi:type="dcterms:W3CDTF">2010-06-16T02:58:04Z</dcterms:created>
  <dcterms:modified xsi:type="dcterms:W3CDTF">2026-03-08T12:49:25Z</dcterms:modified>
</cp:coreProperties>
</file>