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and Scripture wording: provided by the user in the prompt.
- Visual style reference: uploaded PDF 2026-02-22-Righteous-7.pdf.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658368"/>
            <a:ext cx="5623560" cy="41148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399032" y="950976"/>
            <a:ext cx="4983480" cy="1498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</a:t>
            </a:r>
            <a:endParaRPr lang="en-US" sz="3150" dirty="0"/>
          </a:p>
          <a:p>
            <a:pPr algn="ctr" indent="0" marL="0">
              <a:buNone/>
            </a:pPr>
            <a:r>
              <a:rPr lang="en-US" sz="31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Order Without Control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1399032" y="2760345"/>
            <a:ext cx="4983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without coercion. Unity without uniformity. Christ remains the head.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99032" y="3839337"/>
            <a:ext cx="4983480" cy="78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God is not a God of disorder but of peace."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399032" y="4716653"/>
            <a:ext cx="49834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Corinthians 14:33)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1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1280160" y="2039722"/>
            <a:ext cx="5221224" cy="46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Order Comes From Life, Not Enforcement</a:t>
            </a:r>
            <a:endParaRPr lang="en-US" sz="1430" dirty="0"/>
          </a:p>
        </p:txBody>
      </p:sp>
      <p:sp>
        <p:nvSpPr>
          <p:cNvPr id="6" name="Text 3"/>
          <p:cNvSpPr/>
          <p:nvPr/>
        </p:nvSpPr>
        <p:spPr>
          <a:xfrm>
            <a:off x="1280160" y="2576068"/>
            <a:ext cx="5221224" cy="66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New Testament, order grows out of shared life in Christ. It is not imposed from above.</a:t>
            </a:r>
            <a:endParaRPr lang="en-US" sz="1380" dirty="0"/>
          </a:p>
        </p:txBody>
      </p:sp>
      <p:sp>
        <p:nvSpPr>
          <p:cNvPr id="7" name="Text 4"/>
          <p:cNvSpPr/>
          <p:nvPr/>
        </p:nvSpPr>
        <p:spPr>
          <a:xfrm>
            <a:off x="1280160" y="3334410"/>
            <a:ext cx="5221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Corinthians 14:33 </a:t>
            </a:r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God is not a God of disorder but of peace."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4084218"/>
            <a:ext cx="5221224" cy="86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 flows from God's presence, not strict regulation. Order is the fruit of the Spirit working in people, not the result of tight systems.</a:t>
            </a:r>
            <a:endParaRPr lang="en-US" sz="138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1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1280160" y="2039722"/>
            <a:ext cx="5221224" cy="46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Authority Is Functional, Not Positional</a:t>
            </a:r>
            <a:endParaRPr lang="en-US" sz="1430" dirty="0"/>
          </a:p>
        </p:txBody>
      </p:sp>
      <p:sp>
        <p:nvSpPr>
          <p:cNvPr id="6" name="Text 3"/>
          <p:cNvSpPr/>
          <p:nvPr/>
        </p:nvSpPr>
        <p:spPr>
          <a:xfrm>
            <a:off x="1280160" y="2576068"/>
            <a:ext cx="5221224" cy="66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exists, but it serves the body. It is not a chain of command.</a:t>
            </a:r>
            <a:endParaRPr lang="en-US" sz="1380" dirty="0"/>
          </a:p>
        </p:txBody>
      </p:sp>
      <p:sp>
        <p:nvSpPr>
          <p:cNvPr id="7" name="Text 4"/>
          <p:cNvSpPr/>
          <p:nvPr/>
        </p:nvSpPr>
        <p:spPr>
          <a:xfrm>
            <a:off x="1280160" y="3334410"/>
            <a:ext cx="5221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Ephesians 4:11-12 </a:t>
            </a:r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gave some as apostles, some as prophets, some as evangelists, and some as pastors and teachers, to equip the saints."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4468266"/>
            <a:ext cx="5221224" cy="66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equip; they do not control. Their role is purpose-driven and temporary.</a:t>
            </a:r>
            <a:endParaRPr lang="en-US" sz="138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80160" y="2071116"/>
            <a:ext cx="5221224" cy="48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1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Leadership Is Plural, Not Centralized</a:t>
            </a:r>
            <a:endParaRPr lang="en-US" sz="1610" dirty="0"/>
          </a:p>
        </p:txBody>
      </p:sp>
      <p:sp>
        <p:nvSpPr>
          <p:cNvPr id="6" name="Text 3"/>
          <p:cNvSpPr/>
          <p:nvPr/>
        </p:nvSpPr>
        <p:spPr>
          <a:xfrm>
            <a:off x="1280160" y="2631237"/>
            <a:ext cx="5221224" cy="49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Testament avoids single-point control.</a:t>
            </a:r>
            <a:endParaRPr lang="en-US" sz="1560" dirty="0"/>
          </a:p>
        </p:txBody>
      </p:sp>
      <p:sp>
        <p:nvSpPr>
          <p:cNvPr id="7" name="Text 4"/>
          <p:cNvSpPr/>
          <p:nvPr/>
        </p:nvSpPr>
        <p:spPr>
          <a:xfrm>
            <a:off x="1280160" y="3218891"/>
            <a:ext cx="5221224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14:23 </a:t>
            </a:r>
            <a:pPr indent="0" marL="0">
              <a:buNone/>
            </a:pPr>
            <a:r>
              <a:rPr lang="en-US" sz="15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"They appointed elders for them in the various churches."</a:t>
            </a:r>
            <a:endParaRPr lang="en-US" sz="1530" dirty="0"/>
          </a:p>
        </p:txBody>
      </p:sp>
      <p:sp>
        <p:nvSpPr>
          <p:cNvPr id="8" name="Text 5"/>
          <p:cNvSpPr/>
          <p:nvPr/>
        </p:nvSpPr>
        <p:spPr>
          <a:xfrm>
            <a:off x="1280160" y="4019906"/>
            <a:ext cx="5221224" cy="71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 elders prevent domination. Shared leadership keeps authority relational and accountable.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80160" y="2071116"/>
            <a:ext cx="5221224" cy="48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1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Submission Is Mutual, Not Coerced</a:t>
            </a:r>
            <a:endParaRPr lang="en-US" sz="1610" dirty="0"/>
          </a:p>
        </p:txBody>
      </p:sp>
      <p:sp>
        <p:nvSpPr>
          <p:cNvPr id="6" name="Text 3"/>
          <p:cNvSpPr/>
          <p:nvPr/>
        </p:nvSpPr>
        <p:spPr>
          <a:xfrm>
            <a:off x="1280160" y="2631237"/>
            <a:ext cx="5221224" cy="49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is voluntary and reciprocal.</a:t>
            </a:r>
            <a:endParaRPr lang="en-US" sz="1560" dirty="0"/>
          </a:p>
        </p:txBody>
      </p:sp>
      <p:sp>
        <p:nvSpPr>
          <p:cNvPr id="7" name="Text 4"/>
          <p:cNvSpPr/>
          <p:nvPr/>
        </p:nvSpPr>
        <p:spPr>
          <a:xfrm>
            <a:off x="1280160" y="3218891"/>
            <a:ext cx="5221224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Ephesians 5:21 </a:t>
            </a:r>
            <a:pPr indent="0" marL="0">
              <a:buNone/>
            </a:pPr>
            <a:r>
              <a:rPr lang="en-US" sz="15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"Submitting to one another out of reverence for Christ."</a:t>
            </a:r>
            <a:endParaRPr lang="en-US" sz="1530" dirty="0"/>
          </a:p>
        </p:txBody>
      </p:sp>
      <p:sp>
        <p:nvSpPr>
          <p:cNvPr id="8" name="Text 5"/>
          <p:cNvSpPr/>
          <p:nvPr/>
        </p:nvSpPr>
        <p:spPr>
          <a:xfrm>
            <a:off x="1280160" y="4019906"/>
            <a:ext cx="5221224" cy="71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removes hierarchy as a control tool. Submission flows from shared reverence, not fear.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3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6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760" dirty="0"/>
          </a:p>
        </p:txBody>
      </p:sp>
      <p:sp>
        <p:nvSpPr>
          <p:cNvPr id="5" name="Text 2"/>
          <p:cNvSpPr/>
          <p:nvPr/>
        </p:nvSpPr>
        <p:spPr>
          <a:xfrm>
            <a:off x="1280160" y="2060651"/>
            <a:ext cx="5221224" cy="479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Teaching Guides Conscience, Not Compliance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280160" y="2612847"/>
            <a:ext cx="5221224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shapes understanding. It does not replace conscience.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3405327"/>
            <a:ext cx="5221224" cy="692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Romans 14:5 </a:t>
            </a:r>
            <a:pPr indent="0" marL="0">
              <a:buNone/>
            </a:pPr>
            <a:r>
              <a:rPr lang="en-US" sz="147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"Each person must be fully convinced in his own mind."</a:t>
            </a:r>
            <a:endParaRPr lang="en-US" sz="1470" dirty="0"/>
          </a:p>
        </p:txBody>
      </p:sp>
      <p:sp>
        <p:nvSpPr>
          <p:cNvPr id="8" name="Text 5"/>
          <p:cNvSpPr/>
          <p:nvPr/>
        </p:nvSpPr>
        <p:spPr>
          <a:xfrm>
            <a:off x="1280160" y="4189273"/>
            <a:ext cx="5221224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apostles respected personal conviction in non-essential matters. The New Testament leaves room for growth.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80160" y="2071116"/>
            <a:ext cx="5221224" cy="48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1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Correction Restores, Not Punishes</a:t>
            </a:r>
            <a:endParaRPr lang="en-US" sz="1610" dirty="0"/>
          </a:p>
        </p:txBody>
      </p:sp>
      <p:sp>
        <p:nvSpPr>
          <p:cNvPr id="6" name="Text 3"/>
          <p:cNvSpPr/>
          <p:nvPr/>
        </p:nvSpPr>
        <p:spPr>
          <a:xfrm>
            <a:off x="1280160" y="2631237"/>
            <a:ext cx="5221224" cy="49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exists, but its goal is restoration.</a:t>
            </a:r>
            <a:endParaRPr lang="en-US" sz="1560" dirty="0"/>
          </a:p>
        </p:txBody>
      </p:sp>
      <p:sp>
        <p:nvSpPr>
          <p:cNvPr id="7" name="Text 4"/>
          <p:cNvSpPr/>
          <p:nvPr/>
        </p:nvSpPr>
        <p:spPr>
          <a:xfrm>
            <a:off x="1280160" y="3218891"/>
            <a:ext cx="5221224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6:1 </a:t>
            </a:r>
            <a:pPr indent="0" marL="0">
              <a:buNone/>
            </a:pPr>
            <a:r>
              <a:rPr lang="en-US" sz="15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"Restore such a person in a spirit of gentleness."</a:t>
            </a:r>
            <a:endParaRPr lang="en-US" sz="1530" dirty="0"/>
          </a:p>
        </p:txBody>
      </p:sp>
      <p:sp>
        <p:nvSpPr>
          <p:cNvPr id="8" name="Text 5"/>
          <p:cNvSpPr/>
          <p:nvPr/>
        </p:nvSpPr>
        <p:spPr>
          <a:xfrm>
            <a:off x="1280160" y="4019906"/>
            <a:ext cx="5221224" cy="71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Gentleness protects dignity. Grace-based order uses correction to heal, not to maintain power.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80160" y="2071116"/>
            <a:ext cx="5221224" cy="48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1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Freedom Is Protected, Not Feared</a:t>
            </a:r>
            <a:endParaRPr lang="en-US" sz="1610" dirty="0"/>
          </a:p>
        </p:txBody>
      </p:sp>
      <p:sp>
        <p:nvSpPr>
          <p:cNvPr id="6" name="Text 3"/>
          <p:cNvSpPr/>
          <p:nvPr/>
        </p:nvSpPr>
        <p:spPr>
          <a:xfrm>
            <a:off x="1280160" y="2631237"/>
            <a:ext cx="5221224" cy="49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 is not chaos. It is responsibility before God.</a:t>
            </a:r>
            <a:endParaRPr lang="en-US" sz="1560" dirty="0"/>
          </a:p>
        </p:txBody>
      </p:sp>
      <p:sp>
        <p:nvSpPr>
          <p:cNvPr id="7" name="Text 4"/>
          <p:cNvSpPr/>
          <p:nvPr/>
        </p:nvSpPr>
        <p:spPr>
          <a:xfrm>
            <a:off x="1280160" y="3218891"/>
            <a:ext cx="5221224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5:13 </a:t>
            </a:r>
            <a:pPr indent="0" marL="0">
              <a:buNone/>
            </a:pPr>
            <a:r>
              <a:rPr lang="en-US" sz="15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were called to freedom... only do not use your freedom as an opportunity for the flesh."</a:t>
            </a:r>
            <a:endParaRPr lang="en-US" sz="1530" dirty="0"/>
          </a:p>
        </p:txBody>
      </p:sp>
      <p:sp>
        <p:nvSpPr>
          <p:cNvPr id="8" name="Text 5"/>
          <p:cNvSpPr/>
          <p:nvPr/>
        </p:nvSpPr>
        <p:spPr>
          <a:xfrm>
            <a:off x="1280160" y="4237533"/>
            <a:ext cx="5221224" cy="49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to misuse is love, not control.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80160" y="2071116"/>
            <a:ext cx="5221224" cy="48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1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Unity Is Rooted in Christ, Not Rules</a:t>
            </a:r>
            <a:endParaRPr lang="en-US" sz="1610" dirty="0"/>
          </a:p>
        </p:txBody>
      </p:sp>
      <p:sp>
        <p:nvSpPr>
          <p:cNvPr id="6" name="Text 3"/>
          <p:cNvSpPr/>
          <p:nvPr/>
        </p:nvSpPr>
        <p:spPr>
          <a:xfrm>
            <a:off x="1280160" y="2631237"/>
            <a:ext cx="5221224" cy="49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comes from shared life in Christ.</a:t>
            </a:r>
            <a:endParaRPr lang="en-US" sz="1560" dirty="0"/>
          </a:p>
        </p:txBody>
      </p:sp>
      <p:sp>
        <p:nvSpPr>
          <p:cNvPr id="7" name="Text 4"/>
          <p:cNvSpPr/>
          <p:nvPr/>
        </p:nvSpPr>
        <p:spPr>
          <a:xfrm>
            <a:off x="1280160" y="3218891"/>
            <a:ext cx="5221224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Philippians 2:1-2 </a:t>
            </a:r>
            <a:pPr indent="0" marL="0">
              <a:buNone/>
            </a:pPr>
            <a:r>
              <a:rPr lang="en-US" sz="15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there is any encouragement in Christ... be of the same mind."</a:t>
            </a:r>
            <a:endParaRPr lang="en-US" sz="1530" dirty="0"/>
          </a:p>
        </p:txBody>
      </p:sp>
      <p:sp>
        <p:nvSpPr>
          <p:cNvPr id="8" name="Text 5"/>
          <p:cNvSpPr/>
          <p:nvPr/>
        </p:nvSpPr>
        <p:spPr>
          <a:xfrm>
            <a:off x="1280160" y="4237533"/>
            <a:ext cx="5221224" cy="71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is cultivated, not enforced. Rules can create compliance; they cannot create love.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80160" y="2071116"/>
            <a:ext cx="5221224" cy="48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1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Decisions Are Discerned, Not Dictated</a:t>
            </a:r>
            <a:endParaRPr lang="en-US" sz="1610" dirty="0"/>
          </a:p>
        </p:txBody>
      </p:sp>
      <p:sp>
        <p:nvSpPr>
          <p:cNvPr id="6" name="Text 3"/>
          <p:cNvSpPr/>
          <p:nvPr/>
        </p:nvSpPr>
        <p:spPr>
          <a:xfrm>
            <a:off x="1280160" y="2631237"/>
            <a:ext cx="5221224" cy="49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decisions were made together.</a:t>
            </a:r>
            <a:endParaRPr lang="en-US" sz="1560" dirty="0"/>
          </a:p>
        </p:txBody>
      </p:sp>
      <p:sp>
        <p:nvSpPr>
          <p:cNvPr id="7" name="Text 4"/>
          <p:cNvSpPr/>
          <p:nvPr/>
        </p:nvSpPr>
        <p:spPr>
          <a:xfrm>
            <a:off x="1280160" y="3218891"/>
            <a:ext cx="5221224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15:28 </a:t>
            </a:r>
            <a:pPr indent="0" marL="0">
              <a:buNone/>
            </a:pPr>
            <a:r>
              <a:rPr lang="en-US" sz="15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it seemed best to the Holy Spirit and to us..."</a:t>
            </a:r>
            <a:endParaRPr lang="en-US" sz="1530" dirty="0"/>
          </a:p>
        </p:txBody>
      </p:sp>
      <p:sp>
        <p:nvSpPr>
          <p:cNvPr id="8" name="Text 5"/>
          <p:cNvSpPr/>
          <p:nvPr/>
        </p:nvSpPr>
        <p:spPr>
          <a:xfrm>
            <a:off x="1280160" y="4019906"/>
            <a:ext cx="5221224" cy="71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Prayer, listening, consensus, and humility shaped the process. No single authority claimed control.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80160" y="2071116"/>
            <a:ext cx="5221224" cy="48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1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Boundaries Are Clear but Few</a:t>
            </a:r>
            <a:endParaRPr lang="en-US" sz="1610" dirty="0"/>
          </a:p>
        </p:txBody>
      </p:sp>
      <p:sp>
        <p:nvSpPr>
          <p:cNvPr id="6" name="Text 3"/>
          <p:cNvSpPr/>
          <p:nvPr/>
        </p:nvSpPr>
        <p:spPr>
          <a:xfrm>
            <a:off x="1280160" y="2631237"/>
            <a:ext cx="5221224" cy="49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apostles focused on essentials.</a:t>
            </a:r>
            <a:endParaRPr lang="en-US" sz="1560" dirty="0"/>
          </a:p>
        </p:txBody>
      </p:sp>
      <p:sp>
        <p:nvSpPr>
          <p:cNvPr id="7" name="Text 4"/>
          <p:cNvSpPr/>
          <p:nvPr/>
        </p:nvSpPr>
        <p:spPr>
          <a:xfrm>
            <a:off x="1280160" y="3218891"/>
            <a:ext cx="5221224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15:19-20 </a:t>
            </a:r>
            <a:pPr indent="0" marL="0">
              <a:buNone/>
            </a:pPr>
            <a:r>
              <a:rPr lang="en-US" sz="15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should not cause extra difficulty for those Gentiles who are turning to God."</a:t>
            </a:r>
            <a:endParaRPr lang="en-US" sz="1530" dirty="0"/>
          </a:p>
        </p:txBody>
      </p:sp>
      <p:sp>
        <p:nvSpPr>
          <p:cNvPr id="8" name="Text 5"/>
          <p:cNvSpPr/>
          <p:nvPr/>
        </p:nvSpPr>
        <p:spPr>
          <a:xfrm>
            <a:off x="1280160" y="4237533"/>
            <a:ext cx="5221224" cy="71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resisted over-regulation. Clarity without excess preserves freedom.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80160" y="2071116"/>
            <a:ext cx="5221224" cy="48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1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Christ Remains the Only Head</a:t>
            </a:r>
            <a:endParaRPr lang="en-US" sz="1610" dirty="0"/>
          </a:p>
        </p:txBody>
      </p:sp>
      <p:sp>
        <p:nvSpPr>
          <p:cNvPr id="6" name="Text 3"/>
          <p:cNvSpPr/>
          <p:nvPr/>
        </p:nvSpPr>
        <p:spPr>
          <a:xfrm>
            <a:off x="1280160" y="2631237"/>
            <a:ext cx="5221224" cy="49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 replaces Christ's authority.</a:t>
            </a:r>
            <a:endParaRPr lang="en-US" sz="1560" dirty="0"/>
          </a:p>
        </p:txBody>
      </p:sp>
      <p:sp>
        <p:nvSpPr>
          <p:cNvPr id="7" name="Text 4"/>
          <p:cNvSpPr/>
          <p:nvPr/>
        </p:nvSpPr>
        <p:spPr>
          <a:xfrm>
            <a:off x="1280160" y="3218891"/>
            <a:ext cx="5221224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Colossians 1:18 </a:t>
            </a:r>
            <a:pPr indent="0" marL="0">
              <a:buNone/>
            </a:pPr>
            <a:r>
              <a:rPr lang="en-US" sz="15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himself is the head of the body, the church."</a:t>
            </a:r>
            <a:endParaRPr lang="en-US" sz="1530" dirty="0"/>
          </a:p>
        </p:txBody>
      </p:sp>
      <p:sp>
        <p:nvSpPr>
          <p:cNvPr id="8" name="Text 5"/>
          <p:cNvSpPr/>
          <p:nvPr/>
        </p:nvSpPr>
        <p:spPr>
          <a:xfrm>
            <a:off x="1280160" y="4019906"/>
            <a:ext cx="5221224" cy="940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human structure is temporary. Christ alone governs the body. When Christ remains central, order can stand without control.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" y="987552"/>
            <a:ext cx="562356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80160" y="1161288"/>
            <a:ext cx="5221224" cy="71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New Testament Balances Order Without Control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1280160" y="1984858"/>
            <a:ext cx="52212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2618842"/>
            <a:ext cx="5221224" cy="469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Testament balance looks like this:</a:t>
            </a:r>
            <a:endParaRPr lang="en-US" sz="1370" dirty="0"/>
          </a:p>
        </p:txBody>
      </p:sp>
      <p:sp>
        <p:nvSpPr>
          <p:cNvPr id="7" name="Text 4"/>
          <p:cNvSpPr/>
          <p:nvPr/>
        </p:nvSpPr>
        <p:spPr>
          <a:xfrm>
            <a:off x="1280160" y="3216046"/>
            <a:ext cx="5221224" cy="124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 without coercion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Leadership without domination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Discipline without shame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Unity without uniformity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Authority without control</a:t>
            </a:r>
            <a:endParaRPr lang="en-US" sz="1360" dirty="0"/>
          </a:p>
        </p:txBody>
      </p:sp>
      <p:sp>
        <p:nvSpPr>
          <p:cNvPr id="8" name="Text 5"/>
          <p:cNvSpPr/>
          <p:nvPr/>
        </p:nvSpPr>
        <p:spPr>
          <a:xfrm>
            <a:off x="1280160" y="4622190"/>
            <a:ext cx="5221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balance works only when trust in God's righteousness remains central. Once fear replaces trust, control replaces order.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70064" y="961948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New Testament Balances Order Without Control</dc:title>
  <dc:subject>How the New Testament Balances Order Without Control</dc:subject>
  <dc:creator>OpenAI</dc:creator>
  <cp:lastModifiedBy>OpenAI</cp:lastModifiedBy>
  <cp:revision>1</cp:revision>
  <dcterms:created xsi:type="dcterms:W3CDTF">2026-03-06T20:14:22Z</dcterms:created>
  <dcterms:modified xsi:type="dcterms:W3CDTF">2026-03-06T20:14:22Z</dcterms:modified>
</cp:coreProperties>
</file>