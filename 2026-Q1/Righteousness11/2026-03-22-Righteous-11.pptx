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0"/>
  </p:notesMasterIdLst>
  <p:sldIdLst>
    <p:sldId id="625" r:id="rId3"/>
    <p:sldId id="649" r:id="rId4"/>
    <p:sldId id="650" r:id="rId5"/>
    <p:sldId id="651" r:id="rId6"/>
    <p:sldId id="652" r:id="rId7"/>
    <p:sldId id="653" r:id="rId8"/>
    <p:sldId id="648" r:id="rId9"/>
  </p:sldIdLst>
  <p:sldSz cx="9144000" cy="6858000" type="screen4x3"/>
  <p:notesSz cx="7099300" cy="93853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62" autoAdjust="0"/>
    <p:restoredTop sz="70645" autoAdjust="0"/>
  </p:normalViewPr>
  <p:slideViewPr>
    <p:cSldViewPr>
      <p:cViewPr varScale="1">
        <p:scale>
          <a:sx n="109" d="100"/>
          <a:sy n="109" d="100"/>
        </p:scale>
        <p:origin x="1524" y="13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5"/>
            <a:ext cx="3076364" cy="469265"/>
          </a:xfrm>
          <a:prstGeom prst="rect">
            <a:avLst/>
          </a:prstGeom>
        </p:spPr>
        <p:txBody>
          <a:bodyPr vert="horz" wrap="square" lIns="94091" tIns="47046" rIns="94091" bIns="47046"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21296" y="5"/>
            <a:ext cx="3076364" cy="469265"/>
          </a:xfrm>
          <a:prstGeom prst="rect">
            <a:avLst/>
          </a:prstGeom>
        </p:spPr>
        <p:txBody>
          <a:bodyPr vert="horz" wrap="square" lIns="94091" tIns="47046" rIns="94091" bIns="47046"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3/20/2026</a:t>
            </a:fld>
            <a:endParaRPr lang="en-US"/>
          </a:p>
        </p:txBody>
      </p:sp>
      <p:sp>
        <p:nvSpPr>
          <p:cNvPr id="4" name="Slide Image Placeholder 3"/>
          <p:cNvSpPr>
            <a:spLocks noGrp="1" noRot="1" noChangeAspect="1"/>
          </p:cNvSpPr>
          <p:nvPr>
            <p:ph type="sldImg" idx="2"/>
          </p:nvPr>
        </p:nvSpPr>
        <p:spPr>
          <a:xfrm>
            <a:off x="1203325" y="704850"/>
            <a:ext cx="4692650" cy="3519488"/>
          </a:xfrm>
          <a:prstGeom prst="rect">
            <a:avLst/>
          </a:prstGeom>
          <a:noFill/>
          <a:ln w="12700">
            <a:solidFill>
              <a:prstClr val="black"/>
            </a:solidFill>
          </a:ln>
        </p:spPr>
        <p:txBody>
          <a:bodyPr vert="horz" wrap="square" lIns="94091" tIns="47046" rIns="94091" bIns="47046"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9931" y="4458018"/>
            <a:ext cx="5679440" cy="4223385"/>
          </a:xfrm>
          <a:prstGeom prst="rect">
            <a:avLst/>
          </a:prstGeom>
        </p:spPr>
        <p:txBody>
          <a:bodyPr vert="horz" wrap="square" lIns="94091" tIns="47046" rIns="94091" bIns="47046"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8914406"/>
            <a:ext cx="3076364" cy="469265"/>
          </a:xfrm>
          <a:prstGeom prst="rect">
            <a:avLst/>
          </a:prstGeom>
        </p:spPr>
        <p:txBody>
          <a:bodyPr vert="horz" wrap="square" lIns="94091" tIns="47046" rIns="94091" bIns="47046"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21296" y="8914406"/>
            <a:ext cx="3076364" cy="469265"/>
          </a:xfrm>
          <a:prstGeom prst="rect">
            <a:avLst/>
          </a:prstGeom>
        </p:spPr>
        <p:txBody>
          <a:bodyPr vert="horz" wrap="square" lIns="94091" tIns="47046" rIns="94091" bIns="47046"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8CBE0-8759-6627-93F4-AA84641D1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F4D04-E101-2EEF-C76A-8EB4C9331EE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D401B5-AFBE-D1A7-D71C-3C31F203A1DD}"/>
              </a:ext>
            </a:extLst>
          </p:cNvPr>
          <p:cNvSpPr>
            <a:spLocks noGrp="1"/>
          </p:cNvSpPr>
          <p:nvPr>
            <p:ph type="body" idx="1"/>
          </p:nvPr>
        </p:nvSpPr>
        <p:spPr/>
        <p:txBody>
          <a:bodyPr>
            <a:normAutofit fontScale="85000" lnSpcReduction="20000"/>
          </a:bodyPr>
          <a:lstStyle/>
          <a:p>
            <a:r>
              <a:rPr lang="en-US" sz="1600" b="1" kern="1200" dirty="0">
                <a:solidFill>
                  <a:schemeClr val="tx1"/>
                </a:solidFill>
                <a:effectLst/>
                <a:latin typeface="+mn-lt"/>
                <a:ea typeface="ＭＳ Ｐゴシック" pitchFamily="-106" charset="-128"/>
                <a:cs typeface="ＭＳ Ｐゴシック" pitchFamily="-106" charset="-128"/>
              </a:rPr>
              <a:t>Rejecting the Righteousness of Man and Living as God’s Righteous People</a:t>
            </a:r>
            <a:endParaRPr lang="en-US" sz="1600" kern="1200" dirty="0">
              <a:solidFill>
                <a:schemeClr val="tx1"/>
              </a:solidFill>
              <a:effectLst/>
              <a:latin typeface="+mn-lt"/>
              <a:ea typeface="ＭＳ Ｐゴシック" pitchFamily="-106" charset="-128"/>
              <a:cs typeface="ＭＳ Ｐゴシック" pitchFamily="-106" charset="-128"/>
            </a:endParaRPr>
          </a:p>
          <a:p>
            <a:endParaRPr lang="en-US" sz="1600" b="1" kern="1200" dirty="0">
              <a:solidFill>
                <a:schemeClr val="tx1"/>
              </a:solidFill>
              <a:effectLst/>
              <a:latin typeface="+mn-lt"/>
              <a:ea typeface="ＭＳ Ｐゴシック" pitchFamily="-106" charset="-128"/>
              <a:cs typeface="ＭＳ Ｐゴシック" pitchFamily="-106" charset="-128"/>
            </a:endParaRPr>
          </a:p>
          <a:p>
            <a:r>
              <a:rPr lang="en-US" sz="1600" b="1" kern="1200" dirty="0">
                <a:solidFill>
                  <a:schemeClr val="tx1"/>
                </a:solidFill>
                <a:effectLst/>
                <a:latin typeface="+mn-lt"/>
                <a:ea typeface="ＭＳ Ｐゴシック" pitchFamily="-106" charset="-128"/>
                <a:cs typeface="ＭＳ Ｐゴシック" pitchFamily="-106" charset="-128"/>
              </a:rPr>
              <a:t>Central theme:</a:t>
            </a:r>
            <a:endParaRPr lang="en-US" sz="1600" kern="1200" dirty="0">
              <a:solidFill>
                <a:schemeClr val="tx1"/>
              </a:solidFill>
              <a:effectLst/>
              <a:latin typeface="+mn-lt"/>
              <a:ea typeface="ＭＳ Ｐゴシック" pitchFamily="-106" charset="-128"/>
              <a:cs typeface="ＭＳ Ｐゴシック" pitchFamily="-106" charset="-128"/>
            </a:endParaRPr>
          </a:p>
          <a:p>
            <a:r>
              <a:rPr lang="en-US" sz="1600" kern="1200" dirty="0">
                <a:solidFill>
                  <a:schemeClr val="tx1"/>
                </a:solidFill>
                <a:effectLst/>
                <a:latin typeface="+mn-lt"/>
                <a:ea typeface="ＭＳ Ｐゴシック" pitchFamily="-106" charset="-128"/>
                <a:cs typeface="ＭＳ Ｐゴシック" pitchFamily="-106" charset="-128"/>
              </a:rPr>
              <a:t>Even believers can drift back into self-made righteousness, but God calls His people to reject self-trust, receive His righteousness by faith, and display that righteousness together as a holy community.</a:t>
            </a:r>
          </a:p>
          <a:p>
            <a:pPr rtl="0"/>
            <a:endParaRPr lang="en-US" sz="1600" b="0" i="0" u="none" strike="noStrike" kern="1200" baseline="0" dirty="0">
              <a:solidFill>
                <a:schemeClr val="tx1"/>
              </a:solidFill>
              <a:latin typeface="+mn-lt"/>
              <a:ea typeface="ＭＳ Ｐゴシック" pitchFamily="-106" charset="-128"/>
              <a:cs typeface="ＭＳ Ｐゴシック" pitchFamily="-106" charset="-128"/>
            </a:endParaRPr>
          </a:p>
          <a:p>
            <a:pPr rtl="0"/>
            <a:r>
              <a:rPr lang="en-US" sz="1600" b="1" i="0" u="none" strike="noStrike" kern="1200" baseline="0" dirty="0">
                <a:solidFill>
                  <a:schemeClr val="tx1"/>
                </a:solidFill>
                <a:latin typeface="+mn-lt"/>
                <a:ea typeface="ＭＳ Ｐゴシック" pitchFamily="-106" charset="-128"/>
                <a:cs typeface="ＭＳ Ｐゴシック" pitchFamily="-106" charset="-128"/>
              </a:rPr>
              <a:t>Gal 3:1-9  </a:t>
            </a:r>
            <a:r>
              <a:rPr lang="en-US" sz="1600" b="0" i="0" u="none" strike="noStrike" kern="1200" baseline="0" dirty="0">
                <a:solidFill>
                  <a:schemeClr val="tx1"/>
                </a:solidFill>
                <a:latin typeface="+mn-lt"/>
                <a:ea typeface="ＭＳ Ｐゴシック" pitchFamily="-106" charset="-128"/>
                <a:cs typeface="ＭＳ Ｐゴシック" pitchFamily="-106" charset="-128"/>
              </a:rPr>
              <a:t>You foolish Galatians! Who has cast a spell on you? Before your eyes Jesus Christ was vividly portrayed as crucified!  (2)  The only thing I want to learn from you is this: Did you receive the Spirit by doing the works of the law or by believing what you heard?  (3)  Are you so foolish? Although you began with the Spirit, are you now trying to finish by human effort?  (4)  Have you suffered so many things for nothing? – if indeed it was for nothing.  (5)  Does God then give you the Spirit and work miracles among you by your doing the works of the law or by your believing what you heard?  (6)  Just as Abraham </a:t>
            </a:r>
            <a:r>
              <a:rPr lang="en-US" sz="1600" b="1" i="1" u="none" strike="noStrike" kern="1200" baseline="0" dirty="0">
                <a:solidFill>
                  <a:schemeClr val="tx1"/>
                </a:solidFill>
                <a:latin typeface="+mn-lt"/>
                <a:ea typeface="ＭＳ Ｐゴシック" pitchFamily="-106" charset="-128"/>
                <a:cs typeface="ＭＳ Ｐゴシック" pitchFamily="-106" charset="-128"/>
              </a:rPr>
              <a:t>believed God</a:t>
            </a:r>
            <a:r>
              <a:rPr lang="en-US" sz="1600" b="0" i="1" u="none" strike="noStrike" kern="1200" baseline="0" dirty="0">
                <a:solidFill>
                  <a:schemeClr val="tx1"/>
                </a:solidFill>
                <a:latin typeface="+mn-lt"/>
                <a:ea typeface="ＭＳ Ｐゴシック" pitchFamily="-106" charset="-128"/>
                <a:cs typeface="ＭＳ Ｐゴシック" pitchFamily="-106" charset="-128"/>
              </a:rPr>
              <a:t>, </a:t>
            </a:r>
            <a:r>
              <a:rPr lang="en-US" sz="1600" b="1" i="1" u="none" strike="noStrike" kern="1200" baseline="0" dirty="0">
                <a:solidFill>
                  <a:schemeClr val="tx1"/>
                </a:solidFill>
                <a:latin typeface="+mn-lt"/>
                <a:ea typeface="ＭＳ Ｐゴシック" pitchFamily="-106" charset="-128"/>
                <a:cs typeface="ＭＳ Ｐゴシック" pitchFamily="-106" charset="-128"/>
              </a:rPr>
              <a:t>and it was credited to him as righteousness</a:t>
            </a:r>
            <a:r>
              <a:rPr lang="en-US" sz="1600" b="0" i="0" u="none" strike="noStrike" kern="1200" baseline="0" dirty="0">
                <a:solidFill>
                  <a:schemeClr val="tx1"/>
                </a:solidFill>
                <a:latin typeface="+mn-lt"/>
                <a:ea typeface="ＭＳ Ｐゴシック" pitchFamily="-106" charset="-128"/>
                <a:cs typeface="ＭＳ Ｐゴシック" pitchFamily="-106" charset="-128"/>
              </a:rPr>
              <a:t>,  (7)  so then, understand that those who believe are the sons of Abraham.  (8)  And the scripture, foreseeing that God would justify the Gentiles by faith, proclaimed the gospel to Abraham ahead of time, saying, “</a:t>
            </a:r>
            <a:r>
              <a:rPr lang="en-US" sz="1600" b="1" i="1" u="none" strike="noStrike" kern="1200" baseline="0" dirty="0">
                <a:solidFill>
                  <a:schemeClr val="tx1"/>
                </a:solidFill>
                <a:latin typeface="+mn-lt"/>
                <a:ea typeface="ＭＳ Ｐゴシック" pitchFamily="-106" charset="-128"/>
                <a:cs typeface="ＭＳ Ｐゴシック" pitchFamily="-106" charset="-128"/>
              </a:rPr>
              <a:t>All the nations will be blessed in you</a:t>
            </a:r>
            <a:r>
              <a:rPr lang="en-US" sz="1600" b="0" i="0" u="none" strike="noStrike" kern="1200" baseline="0" dirty="0">
                <a:solidFill>
                  <a:schemeClr val="tx1"/>
                </a:solidFill>
                <a:latin typeface="+mn-lt"/>
                <a:ea typeface="ＭＳ Ｐゴシック" pitchFamily="-106" charset="-128"/>
                <a:cs typeface="ＭＳ Ｐゴシック" pitchFamily="-106" charset="-128"/>
              </a:rPr>
              <a:t>.”  (9)  So then those who believe are blessed along with Abraham the believer.</a:t>
            </a:r>
          </a:p>
          <a:p>
            <a:pPr rtl="0"/>
            <a:endParaRPr lang="en-US" sz="1400" b="0" i="0" u="none" strike="noStrike" kern="1200" baseline="0" dirty="0">
              <a:solidFill>
                <a:schemeClr val="tx1"/>
              </a:solidFill>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5590D934-881A-33E6-E051-ECDEEA6B301F}"/>
              </a:ext>
            </a:extLst>
          </p:cNvPr>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016189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C9C5C-0CDE-B914-0B50-CCF16B7BC7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F0358-12EF-5253-9558-9796657BEA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3F7B4EB-D9DB-B9EE-5701-F683C840389A}"/>
              </a:ext>
            </a:extLst>
          </p:cNvPr>
          <p:cNvSpPr>
            <a:spLocks noGrp="1"/>
          </p:cNvSpPr>
          <p:nvPr>
            <p:ph type="body" idx="1"/>
          </p:nvPr>
        </p:nvSpPr>
        <p:spPr/>
        <p:txBody>
          <a:bodyPr>
            <a:normAutofit/>
          </a:bodyPr>
          <a:lstStyle/>
          <a:p>
            <a:r>
              <a:rPr lang="en-US" sz="1200" b="1" kern="1200" dirty="0">
                <a:solidFill>
                  <a:schemeClr val="tx1"/>
                </a:solidFill>
                <a:effectLst/>
                <a:latin typeface="+mn-lt"/>
                <a:ea typeface="ＭＳ Ｐゴシック" pitchFamily="-106" charset="-128"/>
                <a:cs typeface="ＭＳ Ｐゴシック" pitchFamily="-106" charset="-128"/>
              </a:rPr>
              <a:t>The Ongoing Danger: Human Righteousness Still Appeals to Believers</a:t>
            </a:r>
            <a:endParaRPr lang="en-US" sz="1200" kern="1200" dirty="0">
              <a:solidFill>
                <a:schemeClr val="tx1"/>
              </a:solidFill>
              <a:effectLst/>
              <a:latin typeface="+mn-lt"/>
              <a:ea typeface="ＭＳ Ｐゴシック" pitchFamily="-106" charset="-128"/>
              <a:cs typeface="ＭＳ Ｐゴシック" pitchFamily="-106" charset="-128"/>
            </a:endParaRPr>
          </a:p>
          <a:p>
            <a:pPr rtl="0" fontAlgn="ctr"/>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C287F40E-CE48-A072-4401-8E4B7C371DEB}"/>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13625020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148AE-81AB-7E22-7539-0E4344F7EA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96E9EA-95AB-FB1A-284D-3B26307D1EA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DAC1D87-4EDC-E878-D81C-72B1D017F423}"/>
              </a:ext>
            </a:extLst>
          </p:cNvPr>
          <p:cNvSpPr>
            <a:spLocks noGrp="1"/>
          </p:cNvSpPr>
          <p:nvPr>
            <p:ph type="body" idx="1"/>
          </p:nvPr>
        </p:nvSpPr>
        <p:spPr/>
        <p:txBody>
          <a:bodyPr>
            <a:normAutofit fontScale="85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The Great Contrast: Two Righteousnesses</a:t>
            </a:r>
            <a:endParaRPr lang="en-US" sz="1400" kern="1200" dirty="0">
              <a:solidFill>
                <a:schemeClr val="tx1"/>
              </a:solidFill>
              <a:effectLst/>
              <a:latin typeface="+mn-lt"/>
              <a:ea typeface="ＭＳ Ｐゴシック" pitchFamily="-106" charset="-128"/>
              <a:cs typeface="ＭＳ Ｐゴシック" pitchFamily="-106" charset="-128"/>
            </a:endParaRPr>
          </a:p>
          <a:p>
            <a:endParaRPr lang="en-US" sz="1400" dirty="0"/>
          </a:p>
          <a:p>
            <a:r>
              <a:rPr lang="en-US" sz="1400" b="0" i="0" kern="1200" dirty="0">
                <a:solidFill>
                  <a:schemeClr val="tx1"/>
                </a:solidFill>
                <a:effectLst/>
                <a:latin typeface="+mn-lt"/>
                <a:ea typeface="ＭＳ Ｐゴシック" pitchFamily="-106" charset="-128"/>
                <a:cs typeface="ＭＳ Ｐゴシック" pitchFamily="-106" charset="-128"/>
              </a:rPr>
              <a:t>Every person lives under one of two kinds of righteousness.</a:t>
            </a:r>
          </a:p>
          <a:p>
            <a:endParaRPr lang="en-US" sz="1400" b="0" i="0" kern="1200" dirty="0">
              <a:solidFill>
                <a:schemeClr val="tx1"/>
              </a:solidFill>
              <a:effectLst/>
              <a:latin typeface="+mn-lt"/>
              <a:ea typeface="ＭＳ Ｐゴシック" pitchFamily="-106" charset="-128"/>
              <a:cs typeface="ＭＳ Ｐゴシック" pitchFamily="-106" charset="-128"/>
            </a:endParaRPr>
          </a:p>
          <a:p>
            <a:r>
              <a:rPr lang="en-US" sz="1400" b="0" i="0" kern="1200" dirty="0">
                <a:solidFill>
                  <a:schemeClr val="tx1"/>
                </a:solidFill>
                <a:effectLst/>
                <a:latin typeface="+mn-lt"/>
                <a:ea typeface="ＭＳ Ｐゴシック" pitchFamily="-106" charset="-128"/>
                <a:cs typeface="ＭＳ Ｐゴシック" pitchFamily="-106" charset="-128"/>
              </a:rPr>
              <a:t>The first is the </a:t>
            </a:r>
            <a:r>
              <a:rPr lang="en-US" sz="1400" b="1" i="0" kern="1200" dirty="0">
                <a:solidFill>
                  <a:schemeClr val="tx1"/>
                </a:solidFill>
                <a:effectLst/>
                <a:latin typeface="+mn-lt"/>
                <a:ea typeface="ＭＳ Ｐゴシック" pitchFamily="-106" charset="-128"/>
                <a:cs typeface="ＭＳ Ｐゴシック" pitchFamily="-106" charset="-128"/>
              </a:rPr>
              <a:t>righteousness of man</a:t>
            </a:r>
            <a:r>
              <a:rPr lang="en-US" sz="1400" b="0" i="0" kern="1200" dirty="0">
                <a:solidFill>
                  <a:schemeClr val="tx1"/>
                </a:solidFill>
                <a:effectLst/>
                <a:latin typeface="+mn-lt"/>
                <a:ea typeface="ＭＳ Ｐゴシック" pitchFamily="-106" charset="-128"/>
                <a:cs typeface="ＭＳ Ｐゴシック" pitchFamily="-106" charset="-128"/>
              </a:rPr>
              <a:t>. This is built on self-trust. It depends on performance. It measures worth by effort, comparison, and outward behavior. It often leads to pride when we think we are doing well, and discouragement when we know we are not. This is the righteousness of the scribes and Pharisees. It looks strong on the outside but cannot stand before God.</a:t>
            </a:r>
          </a:p>
          <a:p>
            <a:endParaRPr lang="en-US" sz="1400" b="0" i="0" kern="1200" dirty="0">
              <a:solidFill>
                <a:schemeClr val="tx1"/>
              </a:solidFill>
              <a:effectLst/>
              <a:latin typeface="+mn-lt"/>
              <a:ea typeface="ＭＳ Ｐゴシック" pitchFamily="-106" charset="-128"/>
              <a:cs typeface="ＭＳ Ｐゴシック" pitchFamily="-106" charset="-128"/>
            </a:endParaRPr>
          </a:p>
          <a:p>
            <a:r>
              <a:rPr lang="en-US" sz="1400" b="0" i="0" kern="1200" dirty="0">
                <a:solidFill>
                  <a:schemeClr val="tx1"/>
                </a:solidFill>
                <a:effectLst/>
                <a:latin typeface="+mn-lt"/>
                <a:ea typeface="ＭＳ Ｐゴシック" pitchFamily="-106" charset="-128"/>
                <a:cs typeface="ＭＳ Ｐゴシック" pitchFamily="-106" charset="-128"/>
              </a:rPr>
              <a:t>The second is the </a:t>
            </a:r>
            <a:r>
              <a:rPr lang="en-US" sz="1400" b="1" i="0" kern="1200" dirty="0">
                <a:solidFill>
                  <a:schemeClr val="tx1"/>
                </a:solidFill>
                <a:effectLst/>
                <a:latin typeface="+mn-lt"/>
                <a:ea typeface="ＭＳ Ｐゴシック" pitchFamily="-106" charset="-128"/>
                <a:cs typeface="ＭＳ Ｐゴシック" pitchFamily="-106" charset="-128"/>
              </a:rPr>
              <a:t>righteousness of God</a:t>
            </a:r>
            <a:r>
              <a:rPr lang="en-US" sz="1400" b="0" i="0" kern="1200" dirty="0">
                <a:solidFill>
                  <a:schemeClr val="tx1"/>
                </a:solidFill>
                <a:effectLst/>
                <a:latin typeface="+mn-lt"/>
                <a:ea typeface="ＭＳ Ｐゴシック" pitchFamily="-106" charset="-128"/>
                <a:cs typeface="ＭＳ Ｐゴシック" pitchFamily="-106" charset="-128"/>
              </a:rPr>
              <a:t>. This does not come from us. It comes from Him. It is given by grace, received through faith, and grounded in Christ. It does not begin with what we do, but with what Christ has done. From there, it produces a new life that actually changes how we live.  Jesus said:</a:t>
            </a:r>
          </a:p>
          <a:p>
            <a:endParaRPr lang="en-US" sz="1400" b="1" i="0" kern="1200" dirty="0">
              <a:solidFill>
                <a:schemeClr val="tx1"/>
              </a:solidFill>
              <a:effectLst/>
              <a:latin typeface="+mn-lt"/>
              <a:ea typeface="ＭＳ Ｐゴシック" pitchFamily="-106" charset="-128"/>
              <a:cs typeface="ＭＳ Ｐゴシック" pitchFamily="-106" charset="-128"/>
            </a:endParaRPr>
          </a:p>
          <a:p>
            <a:r>
              <a:rPr lang="en-US" sz="1400" b="1" i="0" kern="1200" dirty="0">
                <a:solidFill>
                  <a:schemeClr val="tx1"/>
                </a:solidFill>
                <a:effectLst/>
                <a:latin typeface="+mn-lt"/>
                <a:ea typeface="ＭＳ Ｐゴシック" pitchFamily="-106" charset="-128"/>
                <a:cs typeface="ＭＳ Ｐゴシック" pitchFamily="-106" charset="-128"/>
              </a:rPr>
              <a:t>Matthew 5:20 </a:t>
            </a:r>
            <a:r>
              <a:rPr lang="en-US" sz="1400" b="0" i="0" kern="1200" dirty="0">
                <a:solidFill>
                  <a:schemeClr val="tx1"/>
                </a:solidFill>
                <a:effectLst/>
                <a:latin typeface="+mn-lt"/>
                <a:ea typeface="ＭＳ Ｐゴシック" pitchFamily="-106" charset="-128"/>
                <a:cs typeface="ＭＳ Ｐゴシック" pitchFamily="-106" charset="-128"/>
              </a:rPr>
              <a:t>“For I tell you, unless your righteousness goes beyond that of the experts in the law and the Pharisees, you will never enter the kingdom of heaven!”</a:t>
            </a:r>
          </a:p>
          <a:p>
            <a:r>
              <a:rPr lang="en-US" sz="1400" b="0" i="0" kern="1200" dirty="0">
                <a:solidFill>
                  <a:schemeClr val="tx1"/>
                </a:solidFill>
                <a:effectLst/>
                <a:latin typeface="+mn-lt"/>
                <a:ea typeface="ＭＳ Ｐゴシック" pitchFamily="-106" charset="-128"/>
                <a:cs typeface="ＭＳ Ｐゴシック" pitchFamily="-106" charset="-128"/>
              </a:rPr>
              <a:t>He was not calling for more rule-keeping. He was pointing to a different kind of righteousness altogether.  Paul explains the failure of Israel this way:</a:t>
            </a:r>
          </a:p>
          <a:p>
            <a:endParaRPr lang="en-US" sz="1400" b="1" i="0" kern="1200" dirty="0">
              <a:solidFill>
                <a:schemeClr val="tx1"/>
              </a:solidFill>
              <a:effectLst/>
              <a:latin typeface="+mn-lt"/>
              <a:ea typeface="ＭＳ Ｐゴシック" pitchFamily="-106" charset="-128"/>
              <a:cs typeface="ＭＳ Ｐゴシック" pitchFamily="-106" charset="-128"/>
            </a:endParaRPr>
          </a:p>
          <a:p>
            <a:r>
              <a:rPr lang="en-US" sz="1400" b="1" i="0" kern="1200" dirty="0">
                <a:solidFill>
                  <a:schemeClr val="tx1"/>
                </a:solidFill>
                <a:effectLst/>
                <a:latin typeface="+mn-lt"/>
                <a:ea typeface="ＭＳ Ｐゴシック" pitchFamily="-106" charset="-128"/>
                <a:cs typeface="ＭＳ Ｐゴシック" pitchFamily="-106" charset="-128"/>
              </a:rPr>
              <a:t>Romans 10:3-4 </a:t>
            </a:r>
            <a:r>
              <a:rPr lang="en-US" sz="1400" b="0" i="0" kern="1200" dirty="0">
                <a:solidFill>
                  <a:schemeClr val="tx1"/>
                </a:solidFill>
                <a:effectLst/>
                <a:latin typeface="+mn-lt"/>
                <a:ea typeface="ＭＳ Ｐゴシック" pitchFamily="-106" charset="-128"/>
                <a:cs typeface="ＭＳ Ｐゴシック" pitchFamily="-106" charset="-128"/>
              </a:rPr>
              <a:t>“For ignoring the righteousness that comes from God, and seeking instead to establish their own righteousness, they did not submit to God’s righteousness. For Christ is the end of the law, with the result that there is righteousness for everyone who believes.”</a:t>
            </a:r>
          </a:p>
          <a:p>
            <a:endParaRPr lang="en-US" sz="1400" b="0" i="0" kern="1200" dirty="0">
              <a:solidFill>
                <a:schemeClr val="tx1"/>
              </a:solidFill>
              <a:effectLst/>
              <a:latin typeface="+mn-lt"/>
              <a:ea typeface="ＭＳ Ｐゴシック" pitchFamily="-106" charset="-128"/>
              <a:cs typeface="ＭＳ Ｐゴシック" pitchFamily="-106" charset="-128"/>
            </a:endParaRPr>
          </a:p>
          <a:p>
            <a:r>
              <a:rPr lang="en-US" sz="1400" b="0" i="0" kern="1200" dirty="0">
                <a:solidFill>
                  <a:schemeClr val="tx1"/>
                </a:solidFill>
                <a:effectLst/>
                <a:latin typeface="+mn-lt"/>
                <a:ea typeface="ＭＳ Ｐゴシック" pitchFamily="-106" charset="-128"/>
                <a:cs typeface="ＭＳ Ｐゴシック" pitchFamily="-106" charset="-128"/>
              </a:rPr>
              <a:t>The call is simple: stop establishing your own righteousness. Submit to God’s.</a:t>
            </a:r>
          </a:p>
          <a:p>
            <a:r>
              <a:rPr lang="en-US" sz="1400" b="0" i="0" kern="1200" dirty="0">
                <a:solidFill>
                  <a:schemeClr val="tx1"/>
                </a:solidFill>
                <a:effectLst/>
                <a:latin typeface="+mn-lt"/>
                <a:ea typeface="ＭＳ Ｐゴシック" pitchFamily="-106" charset="-128"/>
                <a:cs typeface="ＭＳ Ｐゴシック" pitchFamily="-106" charset="-128"/>
              </a:rPr>
              <a:t>Depend on Him daily. Not just at the beginning of faith, but all the way through. The same grace that saves is the grace that sustains.  Walk in it.</a:t>
            </a:r>
          </a:p>
          <a:p>
            <a:br>
              <a:rPr lang="en-US" sz="1400" dirty="0"/>
            </a:br>
            <a:endParaRPr lang="en-US" dirty="0"/>
          </a:p>
        </p:txBody>
      </p:sp>
      <p:sp>
        <p:nvSpPr>
          <p:cNvPr id="4" name="Slide Number Placeholder 3">
            <a:extLst>
              <a:ext uri="{FF2B5EF4-FFF2-40B4-BE49-F238E27FC236}">
                <a16:creationId xmlns:a16="http://schemas.microsoft.com/office/drawing/2014/main" id="{A594A9AF-6B8B-510D-CE8F-FA4DB5C848C3}"/>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1000042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A8CCB-C901-38DC-6010-616A7178D4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678E8-782C-E19A-F3DC-CB530F97515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4473E0-8E31-8B9D-54B1-C9DE2C3C40F5}"/>
              </a:ext>
            </a:extLst>
          </p:cNvPr>
          <p:cNvSpPr>
            <a:spLocks noGrp="1"/>
          </p:cNvSpPr>
          <p:nvPr>
            <p:ph type="body" idx="1"/>
          </p:nvPr>
        </p:nvSpPr>
        <p:spPr/>
        <p:txBody>
          <a:bodyPr>
            <a:normAutofit fontScale="250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Moralism (be a good person)</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This is the most common view.</a:t>
            </a:r>
          </a:p>
          <a:p>
            <a:r>
              <a:rPr lang="en-US" sz="1400" kern="1200" dirty="0">
                <a:solidFill>
                  <a:schemeClr val="tx1"/>
                </a:solidFill>
                <a:effectLst/>
                <a:latin typeface="+mn-lt"/>
                <a:ea typeface="ＭＳ Ｐゴシック" pitchFamily="-106" charset="-128"/>
                <a:cs typeface="ＭＳ Ｐゴシック" pitchFamily="-106" charset="-128"/>
              </a:rPr>
              <a:t>People believe:</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if </a:t>
            </a:r>
            <a:r>
              <a:rPr lang="en-US" sz="1400" kern="1200" dirty="0" err="1">
                <a:solidFill>
                  <a:schemeClr val="tx1"/>
                </a:solidFill>
                <a:effectLst/>
                <a:latin typeface="+mn-lt"/>
                <a:ea typeface="ＭＳ Ｐゴシック" pitchFamily="-106" charset="-128"/>
                <a:cs typeface="ＭＳ Ｐゴシック" pitchFamily="-106" charset="-128"/>
              </a:rPr>
              <a:t>i</a:t>
            </a:r>
            <a:r>
              <a:rPr lang="en-US" sz="1400" kern="1200" dirty="0">
                <a:solidFill>
                  <a:schemeClr val="tx1"/>
                </a:solidFill>
                <a:effectLst/>
                <a:latin typeface="+mn-lt"/>
                <a:ea typeface="ＭＳ Ｐゴシック" pitchFamily="-106" charset="-128"/>
                <a:cs typeface="ＭＳ Ｐゴシック" pitchFamily="-106" charset="-128"/>
              </a:rPr>
              <a:t> do enough good</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if </a:t>
            </a:r>
            <a:r>
              <a:rPr lang="en-US" sz="1400" kern="1200" dirty="0" err="1">
                <a:solidFill>
                  <a:schemeClr val="tx1"/>
                </a:solidFill>
                <a:effectLst/>
                <a:latin typeface="+mn-lt"/>
                <a:ea typeface="ＭＳ Ｐゴシック" pitchFamily="-106" charset="-128"/>
                <a:cs typeface="ＭＳ Ｐゴシック" pitchFamily="-106" charset="-128"/>
              </a:rPr>
              <a:t>i</a:t>
            </a:r>
            <a:r>
              <a:rPr lang="en-US" sz="1400" kern="1200" dirty="0">
                <a:solidFill>
                  <a:schemeClr val="tx1"/>
                </a:solidFill>
                <a:effectLst/>
                <a:latin typeface="+mn-lt"/>
                <a:ea typeface="ＭＳ Ｐゴシック" pitchFamily="-106" charset="-128"/>
                <a:cs typeface="ＭＳ Ｐゴシック" pitchFamily="-106" charset="-128"/>
              </a:rPr>
              <a:t> avoid major wrongs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if </a:t>
            </a:r>
            <a:r>
              <a:rPr lang="en-US" sz="1400" kern="1200" dirty="0" err="1">
                <a:solidFill>
                  <a:schemeClr val="tx1"/>
                </a:solidFill>
                <a:effectLst/>
                <a:latin typeface="+mn-lt"/>
                <a:ea typeface="ＭＳ Ｐゴシック" pitchFamily="-106" charset="-128"/>
                <a:cs typeface="ＭＳ Ｐゴシック" pitchFamily="-106" charset="-128"/>
              </a:rPr>
              <a:t>i</a:t>
            </a:r>
            <a:r>
              <a:rPr lang="en-US" sz="1400" kern="1200" dirty="0">
                <a:solidFill>
                  <a:schemeClr val="tx1"/>
                </a:solidFill>
                <a:effectLst/>
                <a:latin typeface="+mn-lt"/>
                <a:ea typeface="ＭＳ Ｐゴシック" pitchFamily="-106" charset="-128"/>
                <a:cs typeface="ＭＳ Ｐゴシック" pitchFamily="-106" charset="-128"/>
              </a:rPr>
              <a:t> try hard</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then </a:t>
            </a:r>
            <a:r>
              <a:rPr lang="en-US" sz="1400" kern="1200" dirty="0" err="1">
                <a:solidFill>
                  <a:schemeClr val="tx1"/>
                </a:solidFill>
                <a:effectLst/>
                <a:latin typeface="+mn-lt"/>
                <a:ea typeface="ＭＳ Ｐゴシック" pitchFamily="-106" charset="-128"/>
                <a:cs typeface="ＭＳ Ｐゴシック" pitchFamily="-106" charset="-128"/>
              </a:rPr>
              <a:t>i</a:t>
            </a:r>
            <a:r>
              <a:rPr lang="en-US" sz="1400" kern="1200" dirty="0">
                <a:solidFill>
                  <a:schemeClr val="tx1"/>
                </a:solidFill>
                <a:effectLst/>
                <a:latin typeface="+mn-lt"/>
                <a:ea typeface="ＭＳ Ｐゴシック" pitchFamily="-106" charset="-128"/>
                <a:cs typeface="ＭＳ Ｐゴシック" pitchFamily="-106" charset="-128"/>
              </a:rPr>
              <a:t> will be accepted by God.</a:t>
            </a:r>
          </a:p>
          <a:p>
            <a:r>
              <a:rPr lang="en-US" sz="1400" kern="1200" dirty="0">
                <a:solidFill>
                  <a:schemeClr val="tx1"/>
                </a:solidFill>
                <a:effectLst/>
                <a:latin typeface="+mn-lt"/>
                <a:ea typeface="ＭＳ Ｐゴシック" pitchFamily="-106" charset="-128"/>
                <a:cs typeface="ＭＳ Ｐゴシック" pitchFamily="-106" charset="-128"/>
              </a:rPr>
              <a:t>This sounds reasonable. Even respectable.</a:t>
            </a:r>
          </a:p>
          <a:p>
            <a:r>
              <a:rPr lang="en-US" sz="1400" kern="1200" dirty="0">
                <a:solidFill>
                  <a:schemeClr val="tx1"/>
                </a:solidFill>
                <a:effectLst/>
                <a:latin typeface="+mn-lt"/>
                <a:ea typeface="ＭＳ Ｐゴシック" pitchFamily="-106" charset="-128"/>
                <a:cs typeface="ＭＳ Ｐゴシック" pitchFamily="-106" charset="-128"/>
              </a:rPr>
              <a:t>But the problem is deeper. Scripture says:  “for all have sinned and fall short of the glory of God” (Romans 3:23, NET)</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The standard is not “better than others.”</a:t>
            </a:r>
          </a:p>
          <a:p>
            <a:r>
              <a:rPr lang="en-US" sz="1400" kern="1200" dirty="0">
                <a:solidFill>
                  <a:schemeClr val="tx1"/>
                </a:solidFill>
                <a:effectLst/>
                <a:latin typeface="+mn-lt"/>
                <a:ea typeface="ＭＳ Ｐゴシック" pitchFamily="-106" charset="-128"/>
                <a:cs typeface="ＭＳ Ｐゴシック" pitchFamily="-106" charset="-128"/>
              </a:rPr>
              <a:t>It is God’s own righteousness.</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Moralism lowers the standard to something man can manage.</a:t>
            </a:r>
          </a:p>
          <a:p>
            <a:r>
              <a:rPr lang="en-US" sz="1400" kern="1200" dirty="0">
                <a:solidFill>
                  <a:schemeClr val="tx1"/>
                </a:solidFill>
                <a:effectLst/>
                <a:latin typeface="+mn-lt"/>
                <a:ea typeface="ＭＳ Ｐゴシック" pitchFamily="-106" charset="-128"/>
                <a:cs typeface="ＭＳ Ｐゴシック" pitchFamily="-106" charset="-128"/>
              </a:rPr>
              <a:t>But that standard is no longer God’s.  Result:</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outward effort</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inward guilt</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no real peace</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Legalism (rule-based righteousness)</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Legalism tries to solve the problem with structure.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Add rules. Add discipline. Add boundaries.</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This can even look very serious and committed.</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But it shifts focus: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from Christ → to performance</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from grace → to measurement</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Paul warns about this drift:  “Having begun by the Spirit, are you now trying to be made perfect by the flesh?” (Galatians 3:3, NET)</a:t>
            </a:r>
          </a:p>
          <a:p>
            <a:r>
              <a:rPr lang="en-US" sz="1400" kern="1200" dirty="0">
                <a:solidFill>
                  <a:schemeClr val="tx1"/>
                </a:solidFill>
                <a:effectLst/>
                <a:latin typeface="+mn-lt"/>
                <a:ea typeface="ＭＳ Ｐゴシック" pitchFamily="-106" charset="-128"/>
                <a:cs typeface="ＭＳ Ｐゴシック" pitchFamily="-106" charset="-128"/>
              </a:rPr>
              <a:t>Legalism creates two outcomes: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pride (“</a:t>
            </a:r>
            <a:r>
              <a:rPr lang="en-US" sz="1400" kern="1200" dirty="0" err="1">
                <a:solidFill>
                  <a:schemeClr val="tx1"/>
                </a:solidFill>
                <a:effectLst/>
                <a:latin typeface="+mn-lt"/>
                <a:ea typeface="ＭＳ Ｐゴシック" pitchFamily="-106" charset="-128"/>
                <a:cs typeface="ＭＳ Ｐゴシック" pitchFamily="-106" charset="-128"/>
              </a:rPr>
              <a:t>i’m</a:t>
            </a:r>
            <a:r>
              <a:rPr lang="en-US" sz="1400" kern="1200" dirty="0">
                <a:solidFill>
                  <a:schemeClr val="tx1"/>
                </a:solidFill>
                <a:effectLst/>
                <a:latin typeface="+mn-lt"/>
                <a:ea typeface="ＭＳ Ｐゴシック" pitchFamily="-106" charset="-128"/>
                <a:cs typeface="ＭＳ Ｐゴシック" pitchFamily="-106" charset="-128"/>
              </a:rPr>
              <a:t> doing better than others”)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or despair (“</a:t>
            </a:r>
            <a:r>
              <a:rPr lang="en-US" sz="1400" kern="1200" dirty="0" err="1">
                <a:solidFill>
                  <a:schemeClr val="tx1"/>
                </a:solidFill>
                <a:effectLst/>
                <a:latin typeface="+mn-lt"/>
                <a:ea typeface="ＭＳ Ｐゴシック" pitchFamily="-106" charset="-128"/>
                <a:cs typeface="ＭＳ Ｐゴシック" pitchFamily="-106" charset="-128"/>
              </a:rPr>
              <a:t>i</a:t>
            </a:r>
            <a:r>
              <a:rPr lang="en-US" sz="1400" kern="1200" dirty="0">
                <a:solidFill>
                  <a:schemeClr val="tx1"/>
                </a:solidFill>
                <a:effectLst/>
                <a:latin typeface="+mn-lt"/>
                <a:ea typeface="ＭＳ Ｐゴシック" pitchFamily="-106" charset="-128"/>
                <a:cs typeface="ＭＳ Ｐゴシック" pitchFamily="-106" charset="-128"/>
              </a:rPr>
              <a:t> can’t keep this up”)</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Either way, Christ is no longer the center.</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Religious identity (belonging instead of transformation)</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Some trust in:</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church background</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family history</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theology knowledge</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outward association</a:t>
            </a:r>
          </a:p>
          <a:p>
            <a:pPr marL="0" indent="0" rtl="0" fontAlgn="ctr">
              <a:buFont typeface="Arial" panose="020B0604020202020204" pitchFamily="34" charset="0"/>
              <a:buNone/>
            </a:pP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This was Israel’s struggle.  “They are ignorant of God’s righteousness and seeking to establish their own” (Romans 10:3, NET)</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The assumption:“</a:t>
            </a:r>
            <a:r>
              <a:rPr lang="en-US" sz="1400" kern="1200" dirty="0" err="1">
                <a:solidFill>
                  <a:schemeClr val="tx1"/>
                </a:solidFill>
                <a:effectLst/>
                <a:latin typeface="+mn-lt"/>
                <a:ea typeface="ＭＳ Ｐゴシック" pitchFamily="-106" charset="-128"/>
                <a:cs typeface="ＭＳ Ｐゴシック" pitchFamily="-106" charset="-128"/>
              </a:rPr>
              <a:t>i</a:t>
            </a:r>
            <a:r>
              <a:rPr lang="en-US" sz="1400" kern="1200" dirty="0">
                <a:solidFill>
                  <a:schemeClr val="tx1"/>
                </a:solidFill>
                <a:effectLst/>
                <a:latin typeface="+mn-lt"/>
                <a:ea typeface="ＭＳ Ｐゴシック" pitchFamily="-106" charset="-128"/>
                <a:cs typeface="ＭＳ Ｐゴシック" pitchFamily="-106" charset="-128"/>
              </a:rPr>
              <a:t> belong, therefore </a:t>
            </a:r>
            <a:r>
              <a:rPr lang="en-US" sz="1400" kern="1200" dirty="0" err="1">
                <a:solidFill>
                  <a:schemeClr val="tx1"/>
                </a:solidFill>
                <a:effectLst/>
                <a:latin typeface="+mn-lt"/>
                <a:ea typeface="ＭＳ Ｐゴシック" pitchFamily="-106" charset="-128"/>
                <a:cs typeface="ＭＳ Ｐゴシック" pitchFamily="-106" charset="-128"/>
              </a:rPr>
              <a:t>i</a:t>
            </a:r>
            <a:r>
              <a:rPr lang="en-US" sz="1400" kern="1200" dirty="0">
                <a:solidFill>
                  <a:schemeClr val="tx1"/>
                </a:solidFill>
                <a:effectLst/>
                <a:latin typeface="+mn-lt"/>
                <a:ea typeface="ＭＳ Ｐゴシック" pitchFamily="-106" charset="-128"/>
                <a:cs typeface="ＭＳ Ｐゴシック" pitchFamily="-106" charset="-128"/>
              </a:rPr>
              <a:t> am righteous.”</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But belonging does not equal new life.</a:t>
            </a:r>
          </a:p>
          <a:p>
            <a:r>
              <a:rPr lang="en-US" sz="1400" kern="1200" dirty="0">
                <a:solidFill>
                  <a:schemeClr val="tx1"/>
                </a:solidFill>
                <a:effectLst/>
                <a:latin typeface="+mn-lt"/>
                <a:ea typeface="ＭＳ Ｐゴシック" pitchFamily="-106" charset="-128"/>
                <a:cs typeface="ＭＳ Ｐゴシック" pitchFamily="-106" charset="-128"/>
              </a:rPr>
              <a:t>Result:</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confidence without change</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familiarity without holiness</a:t>
            </a:r>
          </a:p>
          <a:p>
            <a:pPr marL="0" indent="0" rtl="0" fontAlgn="ctr">
              <a:buFont typeface="Arial" panose="020B0604020202020204" pitchFamily="34" charset="0"/>
              <a:buNone/>
            </a:pP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Self-improvement worldview (modern version)</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Today, this shows up as: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personal growth</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discipline systems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mindset optimization</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The belief is:  “</a:t>
            </a:r>
            <a:r>
              <a:rPr lang="en-US" sz="1400" kern="1200" dirty="0" err="1">
                <a:solidFill>
                  <a:schemeClr val="tx1"/>
                </a:solidFill>
                <a:effectLst/>
                <a:latin typeface="+mn-lt"/>
                <a:ea typeface="ＭＳ Ｐゴシック" pitchFamily="-106" charset="-128"/>
                <a:cs typeface="ＭＳ Ｐゴシック" pitchFamily="-106" charset="-128"/>
              </a:rPr>
              <a:t>i</a:t>
            </a:r>
            <a:r>
              <a:rPr lang="en-US" sz="1400" kern="1200" dirty="0">
                <a:solidFill>
                  <a:schemeClr val="tx1"/>
                </a:solidFill>
                <a:effectLst/>
                <a:latin typeface="+mn-lt"/>
                <a:ea typeface="ＭＳ Ｐゴシック" pitchFamily="-106" charset="-128"/>
                <a:cs typeface="ＭＳ Ｐゴシック" pitchFamily="-106" charset="-128"/>
              </a:rPr>
              <a:t> can become who </a:t>
            </a:r>
            <a:r>
              <a:rPr lang="en-US" sz="1400" kern="1200" dirty="0" err="1">
                <a:solidFill>
                  <a:schemeClr val="tx1"/>
                </a:solidFill>
                <a:effectLst/>
                <a:latin typeface="+mn-lt"/>
                <a:ea typeface="ＭＳ Ｐゴシック" pitchFamily="-106" charset="-128"/>
                <a:cs typeface="ＭＳ Ｐゴシック" pitchFamily="-106" charset="-128"/>
              </a:rPr>
              <a:t>i</a:t>
            </a:r>
            <a:r>
              <a:rPr lang="en-US" sz="1400" kern="1200" dirty="0">
                <a:solidFill>
                  <a:schemeClr val="tx1"/>
                </a:solidFill>
                <a:effectLst/>
                <a:latin typeface="+mn-lt"/>
                <a:ea typeface="ＭＳ Ｐゴシック" pitchFamily="-106" charset="-128"/>
                <a:cs typeface="ＭＳ Ｐゴシック" pitchFamily="-106" charset="-128"/>
              </a:rPr>
              <a:t> need to be through effort and learning.”</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This can produce real change at a surface level.</a:t>
            </a:r>
          </a:p>
          <a:p>
            <a:r>
              <a:rPr lang="en-US" sz="1400" kern="1200" dirty="0">
                <a:solidFill>
                  <a:schemeClr val="tx1"/>
                </a:solidFill>
                <a:effectLst/>
                <a:latin typeface="+mn-lt"/>
                <a:ea typeface="ＭＳ Ｐゴシック" pitchFamily="-106" charset="-128"/>
                <a:cs typeface="ＭＳ Ｐゴシック" pitchFamily="-106" charset="-128"/>
              </a:rPr>
              <a:t>But it cannot deal with:</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sin nature</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guilt before God </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separation from Him</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It improves behavior, not the heart.</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Why all of these fail</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They all share the same foundation: </a:t>
            </a:r>
            <a:r>
              <a:rPr lang="en-US" sz="1400" b="1" kern="1200" dirty="0">
                <a:solidFill>
                  <a:schemeClr val="tx1"/>
                </a:solidFill>
                <a:effectLst/>
                <a:latin typeface="+mn-lt"/>
                <a:ea typeface="ＭＳ Ｐゴシック" pitchFamily="-106" charset="-128"/>
                <a:cs typeface="ＭＳ Ｐゴシック" pitchFamily="-106" charset="-128"/>
              </a:rPr>
              <a:t>man is the source of his own righteousness</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That is the core issue.</a:t>
            </a:r>
          </a:p>
          <a:p>
            <a:r>
              <a:rPr lang="en-US" sz="1400" kern="1200" dirty="0">
                <a:solidFill>
                  <a:schemeClr val="tx1"/>
                </a:solidFill>
                <a:effectLst/>
                <a:latin typeface="+mn-lt"/>
                <a:ea typeface="ＭＳ Ｐゴシック" pitchFamily="-106" charset="-128"/>
                <a:cs typeface="ＭＳ Ｐゴシック" pitchFamily="-106" charset="-128"/>
              </a:rPr>
              <a:t>Scripture is clear:</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 mindset of the flesh is hostile to God, because it does not submit to the law of God, nor is it able to do so” (Romans 8:7, NET)</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Not just unwilling — unable.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So even our best efforts: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cannot reach God’s standard</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cannot change our nature</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cannot produce true holiness</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The deeper problem</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Human righteousness is not just “insufficient.”</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It is </a:t>
            </a:r>
            <a:r>
              <a:rPr lang="en-US" sz="1400" b="1" kern="1200" dirty="0">
                <a:solidFill>
                  <a:schemeClr val="tx1"/>
                </a:solidFill>
                <a:effectLst/>
                <a:latin typeface="+mn-lt"/>
                <a:ea typeface="ＭＳ Ｐゴシック" pitchFamily="-106" charset="-128"/>
                <a:cs typeface="ＭＳ Ｐゴシック" pitchFamily="-106" charset="-128"/>
              </a:rPr>
              <a:t>misdirected trust</a:t>
            </a:r>
            <a:r>
              <a:rPr lang="en-US" sz="1400" kern="1200" dirty="0">
                <a:solidFill>
                  <a:schemeClr val="tx1"/>
                </a:solidFill>
                <a:effectLst/>
                <a:latin typeface="+mn-lt"/>
                <a:ea typeface="ＭＳ Ｐゴシック" pitchFamily="-106" charset="-128"/>
                <a:cs typeface="ＭＳ Ｐゴシック" pitchFamily="-106" charset="-128"/>
              </a:rPr>
              <a:t>.</a:t>
            </a:r>
          </a:p>
          <a:p>
            <a:r>
              <a:rPr lang="en-US" sz="1400" kern="1200" dirty="0">
                <a:solidFill>
                  <a:schemeClr val="tx1"/>
                </a:solidFill>
                <a:effectLst/>
                <a:latin typeface="+mn-lt"/>
                <a:ea typeface="ＭＳ Ｐゴシック" pitchFamily="-106" charset="-128"/>
                <a:cs typeface="ＭＳ Ｐゴシック" pitchFamily="-106" charset="-128"/>
              </a:rPr>
              <a:t>It says: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look at what </a:t>
            </a:r>
            <a:r>
              <a:rPr lang="en-US" sz="1400" kern="1200" dirty="0" err="1">
                <a:solidFill>
                  <a:schemeClr val="tx1"/>
                </a:solidFill>
                <a:effectLst/>
                <a:latin typeface="+mn-lt"/>
                <a:ea typeface="ＭＳ Ｐゴシック" pitchFamily="-106" charset="-128"/>
                <a:cs typeface="ＭＳ Ｐゴシック" pitchFamily="-106" charset="-128"/>
              </a:rPr>
              <a:t>i</a:t>
            </a:r>
            <a:r>
              <a:rPr lang="en-US" sz="1400" kern="1200" dirty="0">
                <a:solidFill>
                  <a:schemeClr val="tx1"/>
                </a:solidFill>
                <a:effectLst/>
                <a:latin typeface="+mn-lt"/>
                <a:ea typeface="ＭＳ Ｐゴシック" pitchFamily="-106" charset="-128"/>
                <a:cs typeface="ＭＳ Ｐゴシック" pitchFamily="-106" charset="-128"/>
              </a:rPr>
              <a:t> am doing</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measure me by my effort</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accept me based on my performance</a:t>
            </a:r>
          </a:p>
          <a:p>
            <a:r>
              <a:rPr lang="en-US" sz="1400" kern="1200" dirty="0">
                <a:solidFill>
                  <a:schemeClr val="tx1"/>
                </a:solidFill>
                <a:effectLst/>
                <a:latin typeface="+mn-lt"/>
                <a:ea typeface="ＭＳ Ｐゴシック" pitchFamily="-106" charset="-128"/>
                <a:cs typeface="ＭＳ Ｐゴシック" pitchFamily="-106" charset="-128"/>
              </a:rPr>
              <a:t>But the gospel says: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look at Christ</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trust what He has done</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receive what you cannot produce</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Why this is dangerous in the church</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This does not stay outside. It creeps inside.</a:t>
            </a:r>
          </a:p>
          <a:p>
            <a:r>
              <a:rPr lang="en-US" sz="1400" kern="1200" dirty="0">
                <a:solidFill>
                  <a:schemeClr val="tx1"/>
                </a:solidFill>
                <a:effectLst/>
                <a:latin typeface="+mn-lt"/>
                <a:ea typeface="ＭＳ Ｐゴシック" pitchFamily="-106" charset="-128"/>
                <a:cs typeface="ＭＳ Ｐゴシック" pitchFamily="-106" charset="-128"/>
              </a:rPr>
              <a:t>A person can:</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believe the right doctrine</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attend faithfully</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serve actively</a:t>
            </a:r>
          </a:p>
          <a:p>
            <a:r>
              <a:rPr lang="en-US" sz="1400" kern="1200" dirty="0">
                <a:solidFill>
                  <a:schemeClr val="tx1"/>
                </a:solidFill>
                <a:effectLst/>
                <a:latin typeface="+mn-lt"/>
                <a:ea typeface="ＭＳ Ｐゴシック" pitchFamily="-106" charset="-128"/>
                <a:cs typeface="ＭＳ Ｐゴシック" pitchFamily="-106" charset="-128"/>
              </a:rPr>
              <a:t>and still quietly measure themselves by:</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consistency</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discipline</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comparison to others</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This shifts the center.</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Instead of:  resting in Christ’s righteousness</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they begin:  managing their own</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That leads to:  subtle pride (“</a:t>
            </a:r>
            <a:r>
              <a:rPr lang="en-US" sz="1400" kern="1200" dirty="0" err="1">
                <a:solidFill>
                  <a:schemeClr val="tx1"/>
                </a:solidFill>
                <a:effectLst/>
                <a:latin typeface="+mn-lt"/>
                <a:ea typeface="ＭＳ Ｐゴシック" pitchFamily="-106" charset="-128"/>
                <a:cs typeface="ＭＳ Ｐゴシック" pitchFamily="-106" charset="-128"/>
              </a:rPr>
              <a:t>i’m</a:t>
            </a:r>
            <a:r>
              <a:rPr lang="en-US" sz="1400" kern="1200" dirty="0">
                <a:solidFill>
                  <a:schemeClr val="tx1"/>
                </a:solidFill>
                <a:effectLst/>
                <a:latin typeface="+mn-lt"/>
                <a:ea typeface="ＭＳ Ｐゴシック" pitchFamily="-106" charset="-128"/>
                <a:cs typeface="ＭＳ Ｐゴシック" pitchFamily="-106" charset="-128"/>
              </a:rPr>
              <a:t> doing well”)  or quiet despair (“</a:t>
            </a:r>
            <a:r>
              <a:rPr lang="en-US" sz="1400" kern="1200" dirty="0" err="1">
                <a:solidFill>
                  <a:schemeClr val="tx1"/>
                </a:solidFill>
                <a:effectLst/>
                <a:latin typeface="+mn-lt"/>
                <a:ea typeface="ＭＳ Ｐゴシック" pitchFamily="-106" charset="-128"/>
                <a:cs typeface="ＭＳ Ｐゴシック" pitchFamily="-106" charset="-128"/>
              </a:rPr>
              <a:t>i’m</a:t>
            </a:r>
            <a:r>
              <a:rPr lang="en-US" sz="1400" kern="1200" dirty="0">
                <a:solidFill>
                  <a:schemeClr val="tx1"/>
                </a:solidFill>
                <a:effectLst/>
                <a:latin typeface="+mn-lt"/>
                <a:ea typeface="ＭＳ Ｐゴシック" pitchFamily="-106" charset="-128"/>
                <a:cs typeface="ＭＳ Ｐゴシック" pitchFamily="-106" charset="-128"/>
              </a:rPr>
              <a:t> falling short again”)</a:t>
            </a:r>
          </a:p>
          <a:p>
            <a:endParaRPr lang="en-US" dirty="0"/>
          </a:p>
        </p:txBody>
      </p:sp>
      <p:sp>
        <p:nvSpPr>
          <p:cNvPr id="4" name="Slide Number Placeholder 3">
            <a:extLst>
              <a:ext uri="{FF2B5EF4-FFF2-40B4-BE49-F238E27FC236}">
                <a16:creationId xmlns:a16="http://schemas.microsoft.com/office/drawing/2014/main" id="{2FEA5835-E7EC-5D95-F359-F5C9B69E95B6}"/>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31745209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D21F3-74CF-4C48-7EBF-FC56E34F1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A38FF4-B9CF-3B07-1806-CD1DF95A01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F860F8E-A231-7F28-55ED-55531CCCC445}"/>
              </a:ext>
            </a:extLst>
          </p:cNvPr>
          <p:cNvSpPr>
            <a:spLocks noGrp="1"/>
          </p:cNvSpPr>
          <p:nvPr>
            <p:ph type="body" idx="1"/>
          </p:nvPr>
        </p:nvSpPr>
        <p:spPr/>
        <p:txBody>
          <a:bodyPr>
            <a:normAutofit fontScale="92500" lnSpcReduction="10000"/>
          </a:bodyPr>
          <a:lstStyle/>
          <a:p>
            <a:r>
              <a:rPr lang="en-US" sz="1400" b="1" kern="1200" dirty="0">
                <a:solidFill>
                  <a:schemeClr val="tx1"/>
                </a:solidFill>
                <a:effectLst/>
                <a:latin typeface="+mn-lt"/>
                <a:ea typeface="ＭＳ Ｐゴシック" pitchFamily="-106" charset="-128"/>
                <a:cs typeface="ＭＳ Ｐゴシック" pitchFamily="-106" charset="-128"/>
              </a:rPr>
              <a:t>What true righteousness requires:</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Not improvement.</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Not effort.</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But a different source.</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God’s righteousness is: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given, not earned</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received, not built</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rooted in Christ, not self</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Every human worldview that tries to produce righteousness ends the same way:</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it cannot reach God</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it cannot change the heart</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it cannot give peace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because it starts with man.</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Only the righteousness that comes from God can stand</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because it starts with Christ.</a:t>
            </a:r>
          </a:p>
          <a:p>
            <a:endParaRPr lang="en-US" dirty="0"/>
          </a:p>
        </p:txBody>
      </p:sp>
      <p:sp>
        <p:nvSpPr>
          <p:cNvPr id="4" name="Slide Number Placeholder 3">
            <a:extLst>
              <a:ext uri="{FF2B5EF4-FFF2-40B4-BE49-F238E27FC236}">
                <a16:creationId xmlns:a16="http://schemas.microsoft.com/office/drawing/2014/main" id="{C82726C9-BC11-CEA2-F5A0-998CA99D988B}"/>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dirty="0"/>
          </a:p>
        </p:txBody>
      </p:sp>
    </p:spTree>
    <p:extLst>
      <p:ext uri="{BB962C8B-B14F-4D97-AF65-F5344CB8AC3E}">
        <p14:creationId xmlns:p14="http://schemas.microsoft.com/office/powerpoint/2010/main" val="10680083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6B12F-0721-FD5F-7599-4CE14997C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2A3BA0-83BF-95DB-C862-9740A84AEAB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CEA7311-A2C6-47BE-A4C0-6CD44B6774DE}"/>
              </a:ext>
            </a:extLst>
          </p:cNvPr>
          <p:cNvSpPr>
            <a:spLocks noGrp="1"/>
          </p:cNvSpPr>
          <p:nvPr>
            <p:ph type="body" idx="1"/>
          </p:nvPr>
        </p:nvSpPr>
        <p:spPr/>
        <p:txBody>
          <a:bodyPr>
            <a:normAutofit fontScale="77500" lnSpcReduction="20000"/>
          </a:bodyPr>
          <a:lstStyle/>
          <a:p>
            <a:r>
              <a:rPr lang="en-US" sz="1400" b="1" kern="1200" dirty="0">
                <a:solidFill>
                  <a:schemeClr val="tx1"/>
                </a:solidFill>
                <a:effectLst/>
                <a:latin typeface="+mn-lt"/>
                <a:ea typeface="ＭＳ Ｐゴシック" pitchFamily="-106" charset="-128"/>
                <a:cs typeface="ＭＳ Ｐゴシック" pitchFamily="-106" charset="-128"/>
              </a:rPr>
              <a:t>God’s Purpose Is Bigger Than the Individual</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 is not merely producing righteous individuals in isolation; He is forming a righteous people together.</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 church becomes a visible witness to what God’s righteousness looks like in shared life.</a:t>
            </a:r>
          </a:p>
          <a:p>
            <a:pPr marL="171450" indent="-171450">
              <a:buFont typeface="Arial" panose="020B0604020202020204" pitchFamily="34" charset="0"/>
              <a:buChar char="•"/>
            </a:pPr>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The Church Must Not Repackage Human Righteousness</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A community can still become self-righteous if it builds its identity on comparison, rule-keeping, status, or control.</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So, this lesson should stress that the church is not called to display moral pride, but God’s character.</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A grace-shaped community shows humility instead of superiority, mercy instead of boasting, and obedience flowing from love rather than fear.</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God’s righteousness in community is seen when people live in holiness without self-exaltation.</a:t>
            </a:r>
          </a:p>
          <a:p>
            <a:pPr marL="171450" indent="-171450">
              <a:buFont typeface="Arial" panose="020B0604020202020204" pitchFamily="34" charset="0"/>
              <a:buChar char="•"/>
            </a:pPr>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The Daily Call: Live Between the Two With Discernment</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Every believer lives with a daily contrast:</a:t>
            </a:r>
          </a:p>
          <a:p>
            <a:pPr marL="628650" lvl="1"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mn-cs"/>
              </a:rPr>
              <a:t>trust in self or trust in Christ</a:t>
            </a:r>
          </a:p>
          <a:p>
            <a:pPr marL="628650" lvl="1"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mn-cs"/>
              </a:rPr>
              <a:t>performance for acceptance or obedience from acceptance</a:t>
            </a:r>
          </a:p>
          <a:p>
            <a:pPr marL="628650" lvl="1"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mn-cs"/>
              </a:rPr>
              <a:t>pride in personal righteousness or gratitude for God’s righteousness</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 Christian life requires discernment because the righteousness of man often disguises itself as maturity.</a:t>
            </a:r>
          </a:p>
          <a:p>
            <a:pPr marL="171450" indent="-171450" rtl="0" fontAlgn="ctr">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 answer is not less holiness, but deeper dependence on God.</a:t>
            </a:r>
          </a:p>
          <a:p>
            <a:endParaRPr lang="en-US" dirty="0"/>
          </a:p>
        </p:txBody>
      </p:sp>
      <p:sp>
        <p:nvSpPr>
          <p:cNvPr id="4" name="Slide Number Placeholder 3">
            <a:extLst>
              <a:ext uri="{FF2B5EF4-FFF2-40B4-BE49-F238E27FC236}">
                <a16:creationId xmlns:a16="http://schemas.microsoft.com/office/drawing/2014/main" id="{02801E7E-1AE7-D346-3DDB-8BC538A32F6A}"/>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1570009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E7836-B4AE-B57C-1E15-5BD0955CDB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C1628-3B90-EF96-E8B1-18862848CE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CF21D0D-5E71-FED6-68D4-9FBB3BFD3A1B}"/>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5E19BA0-A7F1-4661-CC5E-997A9BE9DCA9}"/>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25681285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RightWithGo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243EB-A19E-5ED1-CFA5-860A2DA6EE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223CA-BF56-C414-56BF-D76E4E24E13E}"/>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Righteousness</a:t>
            </a:r>
            <a:br>
              <a:rPr lang="en-US" dirty="0"/>
            </a:br>
            <a:endParaRPr lang="en-US" dirty="0"/>
          </a:p>
          <a:p>
            <a:r>
              <a:rPr lang="en-US" dirty="0"/>
              <a:t>Living as God’s Righteous People</a:t>
            </a:r>
          </a:p>
          <a:p>
            <a:endParaRPr lang="en-US" sz="2400" dirty="0">
              <a:solidFill>
                <a:schemeClr val="tx2">
                  <a:lumMod val="60000"/>
                  <a:lumOff val="40000"/>
                </a:schemeClr>
              </a:solidFill>
            </a:endParaRPr>
          </a:p>
          <a:p>
            <a:r>
              <a:rPr lang="en-US" sz="4000" b="0" dirty="0">
                <a:solidFill>
                  <a:schemeClr val="tx1"/>
                </a:solidFill>
                <a:ea typeface="ＭＳ Ｐゴシック" pitchFamily="-106" charset="-128"/>
                <a:cs typeface="ＭＳ Ｐゴシック" pitchFamily="-106" charset="-128"/>
              </a:rPr>
              <a:t>You foolish Galatians! Who has cast a spell on you? Before your eyes Jesus Christ was vividly portrayed as crucified! The only thing I want to learn from you is this: Did you receive the Spirit by doing the works of the law or by believing what you heard? Are you so foolish? </a:t>
            </a:r>
            <a:r>
              <a:rPr lang="en-US" sz="4000" dirty="0">
                <a:solidFill>
                  <a:schemeClr val="tx1"/>
                </a:solidFill>
                <a:ea typeface="ＭＳ Ｐゴシック" pitchFamily="-106" charset="-128"/>
                <a:cs typeface="ＭＳ Ｐゴシック" pitchFamily="-106" charset="-128"/>
              </a:rPr>
              <a:t>Although you began with the Spirit, are you now trying to finish by human effort?</a:t>
            </a:r>
          </a:p>
          <a:p>
            <a:r>
              <a:rPr lang="en-US" sz="4000" b="0" dirty="0">
                <a:solidFill>
                  <a:schemeClr val="tx1"/>
                </a:solidFill>
                <a:ea typeface="ＭＳ Ｐゴシック" pitchFamily="-106" charset="-128"/>
                <a:cs typeface="ＭＳ Ｐゴシック" pitchFamily="-106" charset="-128"/>
              </a:rPr>
              <a:t>(Galatians 3:1-3)</a:t>
            </a:r>
          </a:p>
          <a:p>
            <a:endParaRPr lang="en-US" sz="4000" dirty="0">
              <a:solidFill>
                <a:schemeClr val="tx2">
                  <a:lumMod val="60000"/>
                  <a:lumOff val="40000"/>
                </a:schemeClr>
              </a:solidFill>
            </a:endParaRPr>
          </a:p>
          <a:p>
            <a:r>
              <a:rPr lang="en-US" dirty="0">
                <a:solidFill>
                  <a:schemeClr val="tx2">
                    <a:lumMod val="60000"/>
                    <a:lumOff val="40000"/>
                  </a:schemeClr>
                </a:solidFill>
                <a:hlinkClick r:id="rId3"/>
              </a:rPr>
              <a:t>https://tinyurl.com/RightWithGod</a:t>
            </a:r>
            <a:endParaRPr lang="en-US" dirty="0">
              <a:solidFill>
                <a:schemeClr val="tx2">
                  <a:lumMod val="60000"/>
                  <a:lumOff val="40000"/>
                </a:schemeClr>
              </a:solidFill>
            </a:endParaRPr>
          </a:p>
          <a:p>
            <a:endParaRPr lang="en-US" dirty="0">
              <a:solidFill>
                <a:schemeClr val="tx2">
                  <a:lumMod val="60000"/>
                  <a:lumOff val="40000"/>
                </a:schemeClr>
              </a:solidFill>
            </a:endParaRPr>
          </a:p>
        </p:txBody>
      </p:sp>
    </p:spTree>
    <p:extLst>
      <p:ext uri="{BB962C8B-B14F-4D97-AF65-F5344CB8AC3E}">
        <p14:creationId xmlns:p14="http://schemas.microsoft.com/office/powerpoint/2010/main" val="2021845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451C2-0E62-2125-E3EA-295D98FDCDA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3B282F3-E871-98B3-C3D1-29959A62283A}"/>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Ongoing Danger</a:t>
            </a:r>
            <a:endParaRPr lang="en-US" sz="4500" dirty="0"/>
          </a:p>
          <a:p>
            <a:r>
              <a:rPr lang="en-US" sz="3400" dirty="0">
                <a:solidFill>
                  <a:schemeClr val="tx2">
                    <a:lumMod val="60000"/>
                    <a:lumOff val="40000"/>
                  </a:schemeClr>
                </a:solidFill>
              </a:rPr>
              <a:t>Human Righteousness Still Appeals to Believers</a:t>
            </a:r>
          </a:p>
        </p:txBody>
      </p:sp>
      <p:sp>
        <p:nvSpPr>
          <p:cNvPr id="2" name="TextBox 1">
            <a:extLst>
              <a:ext uri="{FF2B5EF4-FFF2-40B4-BE49-F238E27FC236}">
                <a16:creationId xmlns:a16="http://schemas.microsoft.com/office/drawing/2014/main" id="{828F005F-D998-5EE1-F643-11D56388289F}"/>
              </a:ext>
            </a:extLst>
          </p:cNvPr>
          <p:cNvSpPr txBox="1"/>
          <p:nvPr/>
        </p:nvSpPr>
        <p:spPr>
          <a:xfrm>
            <a:off x="233362" y="4157025"/>
            <a:ext cx="8605838" cy="1200329"/>
          </a:xfrm>
          <a:prstGeom prst="rect">
            <a:avLst/>
          </a:prstGeom>
          <a:noFill/>
        </p:spPr>
        <p:txBody>
          <a:bodyPr wrap="square" rtlCol="0">
            <a:spAutoFit/>
          </a:bodyPr>
          <a:lstStyle/>
          <a:p>
            <a:pPr fontAlgn="ctr"/>
            <a:r>
              <a:rPr lang="en-US" b="1" dirty="0">
                <a:ea typeface="ＭＳ Ｐゴシック" pitchFamily="-106" charset="-128"/>
                <a:cs typeface="ＭＳ Ｐゴシック" pitchFamily="-106" charset="-128"/>
              </a:rPr>
              <a:t>Galatians 3:1–3</a:t>
            </a:r>
            <a:r>
              <a:rPr lang="en-US" dirty="0">
                <a:ea typeface="ＭＳ Ｐゴシック" pitchFamily="-106" charset="-128"/>
                <a:cs typeface="ＭＳ Ｐゴシック" pitchFamily="-106" charset="-128"/>
              </a:rPr>
              <a:t> shows the danger of starting by the Spirit but trying to continue by the flesh.</a:t>
            </a:r>
          </a:p>
          <a:p>
            <a:pPr fontAlgn="ctr"/>
            <a:r>
              <a:rPr lang="en-US" b="1" dirty="0">
                <a:ea typeface="ＭＳ Ｐゴシック" pitchFamily="-106" charset="-128"/>
                <a:cs typeface="ＭＳ Ｐゴシック" pitchFamily="-106" charset="-128"/>
              </a:rPr>
              <a:t>Philippians 3:4–9</a:t>
            </a:r>
            <a:r>
              <a:rPr lang="en-US" dirty="0">
                <a:ea typeface="ＭＳ Ｐゴシック" pitchFamily="-106" charset="-128"/>
                <a:cs typeface="ＭＳ Ｐゴシック" pitchFamily="-106" charset="-128"/>
              </a:rPr>
              <a:t> shows Paul rejecting every ground of personal confidence so that Christ alone remains his righteousness.</a:t>
            </a:r>
          </a:p>
        </p:txBody>
      </p:sp>
      <p:sp>
        <p:nvSpPr>
          <p:cNvPr id="3" name="TextBox 2">
            <a:extLst>
              <a:ext uri="{FF2B5EF4-FFF2-40B4-BE49-F238E27FC236}">
                <a16:creationId xmlns:a16="http://schemas.microsoft.com/office/drawing/2014/main" id="{892551DB-85B4-F884-90E4-ACB787AC75B1}"/>
              </a:ext>
            </a:extLst>
          </p:cNvPr>
          <p:cNvSpPr txBox="1"/>
          <p:nvPr/>
        </p:nvSpPr>
        <p:spPr>
          <a:xfrm>
            <a:off x="233362" y="757110"/>
            <a:ext cx="8584035" cy="3416320"/>
          </a:xfrm>
          <a:prstGeom prst="rect">
            <a:avLst/>
          </a:prstGeom>
          <a:noFill/>
        </p:spPr>
        <p:txBody>
          <a:bodyPr wrap="square" rtlCol="0">
            <a:spAutoFit/>
          </a:bodyPr>
          <a:lstStyle/>
          <a:p>
            <a:r>
              <a:rPr lang="en-US" b="1" dirty="0"/>
              <a:t>Philippians 3:4-9  </a:t>
            </a:r>
            <a:r>
              <a:rPr lang="en-US" i="1" dirty="0"/>
              <a:t>... If someone thinks he has good reasons to put confidence in human credentials, I have more:  (5)  I was circumcised on the eighth day, from the people of Israel and the tribe of Benjamin, a Hebrew of Hebrews. I lived according to the law as a Pharisee.  (6)  In my zeal for God I persecuted the church. According to the righteousness stipulated in the law I was blameless.  (7)  But these assets I have come to regard as liabilities because of Christ.  (8)  More than that, I now regard all things as liabilities compared to the far greater value of knowing Christ Jesus my Lord, for whom I have suffered the loss of all things – indeed, I regard them as dung! – that I may gain Christ,  (9)  and be found in him, not because I have my own righteousness derived from the law, but </a:t>
            </a:r>
            <a:r>
              <a:rPr lang="en-US" i="1" u="sng" dirty="0"/>
              <a:t>because I have the righteousness that comes by way of Christ’s faithfulness – a righteousness from God that is in fact based on Christ’s faithfulness.</a:t>
            </a:r>
          </a:p>
        </p:txBody>
      </p:sp>
      <p:sp>
        <p:nvSpPr>
          <p:cNvPr id="4" name="TextBox 3">
            <a:extLst>
              <a:ext uri="{FF2B5EF4-FFF2-40B4-BE49-F238E27FC236}">
                <a16:creationId xmlns:a16="http://schemas.microsoft.com/office/drawing/2014/main" id="{463D45C0-F013-853A-7D1C-71B214A654FB}"/>
              </a:ext>
            </a:extLst>
          </p:cNvPr>
          <p:cNvSpPr txBox="1"/>
          <p:nvPr/>
        </p:nvSpPr>
        <p:spPr>
          <a:xfrm>
            <a:off x="233362" y="5340949"/>
            <a:ext cx="8605838" cy="1477328"/>
          </a:xfrm>
          <a:prstGeom prst="rect">
            <a:avLst/>
          </a:prstGeom>
          <a:noFill/>
        </p:spPr>
        <p:txBody>
          <a:bodyPr wrap="square" rtlCol="0">
            <a:spAutoFit/>
          </a:bodyPr>
          <a:lstStyle/>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Self-made righteousness is </a:t>
            </a:r>
            <a:r>
              <a:rPr lang="en-US" u="sng" dirty="0">
                <a:ea typeface="ＭＳ Ｐゴシック" pitchFamily="-106" charset="-128"/>
                <a:cs typeface="ＭＳ Ｐゴシック" pitchFamily="-106" charset="-128"/>
              </a:rPr>
              <a:t>not only</a:t>
            </a:r>
            <a:r>
              <a:rPr lang="en-US" dirty="0">
                <a:ea typeface="ＭＳ Ｐゴシック" pitchFamily="-106" charset="-128"/>
                <a:cs typeface="ＭＳ Ｐゴシック" pitchFamily="-106" charset="-128"/>
              </a:rPr>
              <a:t> an unbeliever’s problem.</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Even believers can begin in dependence on God and then slowly return to dependence on effort, performance, and control.</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Subtle forms of legalism, pride, comparison, and self-trust can re-enter Christian life.</a:t>
            </a:r>
          </a:p>
        </p:txBody>
      </p:sp>
    </p:spTree>
    <p:extLst>
      <p:ext uri="{BB962C8B-B14F-4D97-AF65-F5344CB8AC3E}">
        <p14:creationId xmlns:p14="http://schemas.microsoft.com/office/powerpoint/2010/main" val="2356103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16EED-3E54-13A4-496D-C075EB44381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43D1A3D-8457-5807-D9B1-1BC652D79A2A}"/>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The Great Contrast</a:t>
            </a:r>
            <a:endParaRPr lang="en-US" sz="4500" dirty="0"/>
          </a:p>
          <a:p>
            <a:r>
              <a:rPr lang="en-US" sz="3400" dirty="0">
                <a:solidFill>
                  <a:schemeClr val="tx2">
                    <a:lumMod val="60000"/>
                    <a:lumOff val="40000"/>
                  </a:schemeClr>
                </a:solidFill>
              </a:rPr>
              <a:t>Two Righteousnesses – Two Ways of Living</a:t>
            </a:r>
          </a:p>
        </p:txBody>
      </p:sp>
      <p:sp>
        <p:nvSpPr>
          <p:cNvPr id="2" name="TextBox 1">
            <a:extLst>
              <a:ext uri="{FF2B5EF4-FFF2-40B4-BE49-F238E27FC236}">
                <a16:creationId xmlns:a16="http://schemas.microsoft.com/office/drawing/2014/main" id="{EBC2DE38-7636-3FC8-109A-B3E7547871EC}"/>
              </a:ext>
            </a:extLst>
          </p:cNvPr>
          <p:cNvSpPr txBox="1"/>
          <p:nvPr/>
        </p:nvSpPr>
        <p:spPr>
          <a:xfrm>
            <a:off x="247278" y="2984920"/>
            <a:ext cx="8605838" cy="923330"/>
          </a:xfrm>
          <a:prstGeom prst="rect">
            <a:avLst/>
          </a:prstGeom>
          <a:noFill/>
        </p:spPr>
        <p:txBody>
          <a:bodyPr wrap="square" rtlCol="0">
            <a:spAutoFit/>
          </a:bodyPr>
          <a:lstStyle/>
          <a:p>
            <a:pPr fontAlgn="ctr"/>
            <a:r>
              <a:rPr lang="en-US" b="1" dirty="0"/>
              <a:t>Matthew 5:20  </a:t>
            </a:r>
            <a:r>
              <a:rPr lang="en-US" i="1" dirty="0"/>
              <a:t>For I tell you, </a:t>
            </a:r>
            <a:r>
              <a:rPr lang="en-US" i="1" u="sng" dirty="0"/>
              <a:t>unless your righteousness</a:t>
            </a:r>
            <a:r>
              <a:rPr lang="en-US" i="1" dirty="0"/>
              <a:t> goes beyond that of the experts in the law and the Pharisees, you will never enter the kingdom of heaven!</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Shows that </a:t>
            </a:r>
            <a:r>
              <a:rPr lang="en-US" u="sng" dirty="0">
                <a:ea typeface="ＭＳ Ｐゴシック" pitchFamily="-106" charset="-128"/>
                <a:cs typeface="ＭＳ Ｐゴシック" pitchFamily="-106" charset="-128"/>
              </a:rPr>
              <a:t>true</a:t>
            </a:r>
            <a:r>
              <a:rPr lang="en-US" dirty="0">
                <a:ea typeface="ＭＳ Ｐゴシック" pitchFamily="-106" charset="-128"/>
                <a:cs typeface="ＭＳ Ｐゴシック" pitchFamily="-106" charset="-128"/>
              </a:rPr>
              <a:t> righteousness must go beyond outward religious performance.</a:t>
            </a:r>
            <a:endParaRPr lang="en-US" i="1" dirty="0"/>
          </a:p>
        </p:txBody>
      </p:sp>
      <p:sp>
        <p:nvSpPr>
          <p:cNvPr id="3" name="TextBox 2">
            <a:extLst>
              <a:ext uri="{FF2B5EF4-FFF2-40B4-BE49-F238E27FC236}">
                <a16:creationId xmlns:a16="http://schemas.microsoft.com/office/drawing/2014/main" id="{A54F1D99-A919-C35A-BB09-83B18FA50D83}"/>
              </a:ext>
            </a:extLst>
          </p:cNvPr>
          <p:cNvSpPr txBox="1"/>
          <p:nvPr/>
        </p:nvSpPr>
        <p:spPr>
          <a:xfrm>
            <a:off x="247277" y="843366"/>
            <a:ext cx="8605839" cy="2031325"/>
          </a:xfrm>
          <a:prstGeom prst="rect">
            <a:avLst/>
          </a:prstGeom>
          <a:noFill/>
        </p:spPr>
        <p:txBody>
          <a:bodyPr wrap="square" rtlCol="0">
            <a:spAutoFit/>
          </a:bodyPr>
          <a:lstStyle/>
          <a:p>
            <a:r>
              <a:rPr lang="en-US" b="1" dirty="0"/>
              <a:t>Romans 10:2-4  </a:t>
            </a:r>
            <a:r>
              <a:rPr lang="en-US" i="1" dirty="0"/>
              <a:t>For I can testify that they are zealous for God, but their zeal is not in line with the truth.  (3)  </a:t>
            </a:r>
            <a:r>
              <a:rPr lang="en-US" i="1" u="sng" dirty="0"/>
              <a:t>For ignoring the righteousness that comes from God, and seeking instead to establish their own righteousness, they did not submit to God’s righteousness</a:t>
            </a:r>
            <a:r>
              <a:rPr lang="en-US" i="1" dirty="0"/>
              <a:t>.  (4)  For Christ is the end of the law, with the result that there is righteousness for everyone who believes.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Shows the </a:t>
            </a:r>
            <a:r>
              <a:rPr lang="en-US" u="sng" dirty="0">
                <a:ea typeface="ＭＳ Ｐゴシック" pitchFamily="-106" charset="-128"/>
                <a:cs typeface="ＭＳ Ｐゴシック" pitchFamily="-106" charset="-128"/>
              </a:rPr>
              <a:t>tragedy</a:t>
            </a:r>
            <a:r>
              <a:rPr lang="en-US" dirty="0">
                <a:ea typeface="ＭＳ Ｐゴシック" pitchFamily="-106" charset="-128"/>
                <a:cs typeface="ＭＳ Ｐゴシック" pitchFamily="-106" charset="-128"/>
              </a:rPr>
              <a:t> of trying to establish our own righteousness instead of submitting to God’s.</a:t>
            </a:r>
          </a:p>
        </p:txBody>
      </p:sp>
      <p:sp>
        <p:nvSpPr>
          <p:cNvPr id="6" name="TextBox 5">
            <a:extLst>
              <a:ext uri="{FF2B5EF4-FFF2-40B4-BE49-F238E27FC236}">
                <a16:creationId xmlns:a16="http://schemas.microsoft.com/office/drawing/2014/main" id="{DC39242B-F2B2-2547-0343-5A98526DBCE9}"/>
              </a:ext>
            </a:extLst>
          </p:cNvPr>
          <p:cNvSpPr txBox="1"/>
          <p:nvPr/>
        </p:nvSpPr>
        <p:spPr>
          <a:xfrm>
            <a:off x="247277" y="4018479"/>
            <a:ext cx="8605838" cy="1200329"/>
          </a:xfrm>
          <a:prstGeom prst="rect">
            <a:avLst/>
          </a:prstGeom>
          <a:noFill/>
        </p:spPr>
        <p:txBody>
          <a:bodyPr wrap="square" rtlCol="0">
            <a:spAutoFit/>
          </a:bodyPr>
          <a:lstStyle/>
          <a:p>
            <a:pPr fontAlgn="ctr"/>
            <a:r>
              <a:rPr lang="en-US" dirty="0">
                <a:ea typeface="ＭＳ Ｐゴシック" pitchFamily="-106" charset="-128"/>
                <a:cs typeface="ＭＳ Ｐゴシック" pitchFamily="-106" charset="-128"/>
              </a:rPr>
              <a:t>The main issue is not whether a person is religious, but whether he is trusting himself or trusting God.</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a:t>
            </a:r>
            <a:r>
              <a:rPr lang="en-US" u="sng" dirty="0">
                <a:ea typeface="ＭＳ Ｐゴシック" pitchFamily="-106" charset="-128"/>
                <a:cs typeface="ＭＳ Ｐゴシック" pitchFamily="-106" charset="-128"/>
              </a:rPr>
              <a:t>righteousness of man</a:t>
            </a:r>
            <a:r>
              <a:rPr lang="en-US" dirty="0">
                <a:ea typeface="ＭＳ Ｐゴシック" pitchFamily="-106" charset="-128"/>
                <a:cs typeface="ＭＳ Ｐゴシック" pitchFamily="-106" charset="-128"/>
              </a:rPr>
              <a:t>: self-trust, works, performance, pride</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a:t>
            </a:r>
            <a:r>
              <a:rPr lang="en-US" u="sng" dirty="0">
                <a:ea typeface="ＭＳ Ｐゴシック" pitchFamily="-106" charset="-128"/>
                <a:cs typeface="ＭＳ Ｐゴシック" pitchFamily="-106" charset="-128"/>
              </a:rPr>
              <a:t>righteousness of God</a:t>
            </a:r>
            <a:r>
              <a:rPr lang="en-US" dirty="0">
                <a:ea typeface="ＭＳ Ｐゴシック" pitchFamily="-106" charset="-128"/>
                <a:cs typeface="ＭＳ Ｐゴシック" pitchFamily="-106" charset="-128"/>
              </a:rPr>
              <a:t>: grace, faith, Christ, new life</a:t>
            </a:r>
          </a:p>
        </p:txBody>
      </p:sp>
      <p:sp>
        <p:nvSpPr>
          <p:cNvPr id="7" name="TextBox 6">
            <a:extLst>
              <a:ext uri="{FF2B5EF4-FFF2-40B4-BE49-F238E27FC236}">
                <a16:creationId xmlns:a16="http://schemas.microsoft.com/office/drawing/2014/main" id="{1CBC2FD0-BD05-E28E-F8ED-94F7D148179C}"/>
              </a:ext>
            </a:extLst>
          </p:cNvPr>
          <p:cNvSpPr txBox="1"/>
          <p:nvPr/>
        </p:nvSpPr>
        <p:spPr>
          <a:xfrm>
            <a:off x="247277" y="5329036"/>
            <a:ext cx="8605838" cy="1477328"/>
          </a:xfrm>
          <a:prstGeom prst="rect">
            <a:avLst/>
          </a:prstGeom>
          <a:noFill/>
        </p:spPr>
        <p:txBody>
          <a:bodyPr wrap="square" rtlCol="0">
            <a:spAutoFit/>
          </a:bodyPr>
          <a:lstStyle/>
          <a:p>
            <a:r>
              <a:rPr lang="en-US" dirty="0">
                <a:ea typeface="ＭＳ Ｐゴシック" pitchFamily="-106" charset="-128"/>
                <a:cs typeface="ＭＳ Ｐゴシック" pitchFamily="-106" charset="-128"/>
              </a:rPr>
              <a:t>That is the danger. A person can be serious, religious, and sincere, and still miss God by trying to build their own righteousness.  So, we live between these two paths every day.</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One path says, “prove yourself.”  The other says, “trust Christ.”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One leads to pride or despair.  The other leads to humility and life.</a:t>
            </a:r>
          </a:p>
        </p:txBody>
      </p:sp>
    </p:spTree>
    <p:extLst>
      <p:ext uri="{BB962C8B-B14F-4D97-AF65-F5344CB8AC3E}">
        <p14:creationId xmlns:p14="http://schemas.microsoft.com/office/powerpoint/2010/main" val="3927332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45A31-2F7A-D7BD-BB22-1547E9A7ACF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A615F41-C20C-2558-E379-637E1FA20A29}"/>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6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500" dirty="0"/>
              <a:t>Why Human Righteousness Always Fails</a:t>
            </a:r>
          </a:p>
          <a:p>
            <a:r>
              <a:rPr lang="en-US" sz="3500" dirty="0">
                <a:solidFill>
                  <a:schemeClr val="tx2">
                    <a:lumMod val="60000"/>
                    <a:lumOff val="40000"/>
                  </a:schemeClr>
                </a:solidFill>
              </a:rPr>
              <a:t>Because of where it comes from… </a:t>
            </a:r>
          </a:p>
        </p:txBody>
      </p:sp>
      <p:sp>
        <p:nvSpPr>
          <p:cNvPr id="2" name="TextBox 1">
            <a:extLst>
              <a:ext uri="{FF2B5EF4-FFF2-40B4-BE49-F238E27FC236}">
                <a16:creationId xmlns:a16="http://schemas.microsoft.com/office/drawing/2014/main" id="{25845912-668D-5F48-8E51-B616C48C613F}"/>
              </a:ext>
            </a:extLst>
          </p:cNvPr>
          <p:cNvSpPr txBox="1"/>
          <p:nvPr/>
        </p:nvSpPr>
        <p:spPr>
          <a:xfrm>
            <a:off x="269081" y="2362200"/>
            <a:ext cx="8605838" cy="1477328"/>
          </a:xfrm>
          <a:prstGeom prst="rect">
            <a:avLst/>
          </a:prstGeom>
          <a:noFill/>
        </p:spPr>
        <p:txBody>
          <a:bodyPr wrap="square" rtlCol="0">
            <a:spAutoFit/>
          </a:bodyPr>
          <a:lstStyle/>
          <a:p>
            <a:pPr fontAlgn="ctr"/>
            <a:r>
              <a:rPr lang="en-US" b="1" dirty="0"/>
              <a:t>Why these world-views fail…</a:t>
            </a:r>
          </a:p>
          <a:p>
            <a:pPr marL="285750" indent="-285750" fontAlgn="ctr">
              <a:buFont typeface="Arial" panose="020B0604020202020204" pitchFamily="34" charset="0"/>
              <a:buChar char="•"/>
            </a:pPr>
            <a:r>
              <a:rPr lang="en-US" b="1" dirty="0"/>
              <a:t>Rom 8:6-8  </a:t>
            </a:r>
            <a:r>
              <a:rPr lang="en-US" i="1" dirty="0"/>
              <a:t>For the outlook of the flesh is death, but the outlook of the Spirit is life and peace,  (7)  </a:t>
            </a:r>
            <a:r>
              <a:rPr lang="en-US" i="1" u="sng" dirty="0"/>
              <a:t>because the outlook of the flesh is hostile to God</a:t>
            </a:r>
            <a:r>
              <a:rPr lang="en-US" i="1" dirty="0"/>
              <a:t>, for it does not submit to the law of God, nor is it able to do so.  (8)  Those who are in the flesh cannot please God.</a:t>
            </a:r>
          </a:p>
        </p:txBody>
      </p:sp>
      <p:sp>
        <p:nvSpPr>
          <p:cNvPr id="3" name="TextBox 2">
            <a:extLst>
              <a:ext uri="{FF2B5EF4-FFF2-40B4-BE49-F238E27FC236}">
                <a16:creationId xmlns:a16="http://schemas.microsoft.com/office/drawing/2014/main" id="{CDF37D2F-DB5E-57B1-B613-8859DAEFF017}"/>
              </a:ext>
            </a:extLst>
          </p:cNvPr>
          <p:cNvSpPr txBox="1"/>
          <p:nvPr/>
        </p:nvSpPr>
        <p:spPr>
          <a:xfrm>
            <a:off x="269081" y="809897"/>
            <a:ext cx="8605839" cy="1477328"/>
          </a:xfrm>
          <a:prstGeom prst="rect">
            <a:avLst/>
          </a:prstGeom>
          <a:noFill/>
        </p:spPr>
        <p:txBody>
          <a:bodyPr wrap="square" rtlCol="0">
            <a:spAutoFit/>
          </a:bodyPr>
          <a:lstStyle/>
          <a:p>
            <a:r>
              <a:rPr lang="en-US" b="1" dirty="0"/>
              <a:t>Man trying to fix himself…</a:t>
            </a:r>
          </a:p>
          <a:p>
            <a:pPr marL="285750" indent="-285750" fontAlgn="ctr">
              <a:buFont typeface="Arial" panose="020B0604020202020204" pitchFamily="34" charset="0"/>
              <a:buChar char="•"/>
            </a:pPr>
            <a:r>
              <a:rPr lang="en-US" dirty="0"/>
              <a:t>Moralism (be a good person)</a:t>
            </a:r>
          </a:p>
          <a:p>
            <a:pPr marL="285750" indent="-285750" fontAlgn="ctr">
              <a:buFont typeface="Arial" panose="020B0604020202020204" pitchFamily="34" charset="0"/>
              <a:buChar char="•"/>
            </a:pPr>
            <a:r>
              <a:rPr lang="en-US" dirty="0"/>
              <a:t>Legalism (rule-based righteousness)</a:t>
            </a:r>
          </a:p>
          <a:p>
            <a:pPr marL="285750" indent="-285750" fontAlgn="ctr">
              <a:buFont typeface="Arial" panose="020B0604020202020204" pitchFamily="34" charset="0"/>
              <a:buChar char="•"/>
            </a:pPr>
            <a:r>
              <a:rPr lang="en-US" dirty="0"/>
              <a:t>Religious identity (belonging instead of transformation)</a:t>
            </a:r>
          </a:p>
          <a:p>
            <a:pPr marL="285750" indent="-285750" fontAlgn="ctr">
              <a:buFont typeface="Arial" panose="020B0604020202020204" pitchFamily="34" charset="0"/>
              <a:buChar char="•"/>
            </a:pPr>
            <a:r>
              <a:rPr lang="en-US" dirty="0"/>
              <a:t>Self-improvement worldview (modern version)</a:t>
            </a:r>
          </a:p>
        </p:txBody>
      </p:sp>
      <p:sp>
        <p:nvSpPr>
          <p:cNvPr id="4" name="TextBox 3">
            <a:extLst>
              <a:ext uri="{FF2B5EF4-FFF2-40B4-BE49-F238E27FC236}">
                <a16:creationId xmlns:a16="http://schemas.microsoft.com/office/drawing/2014/main" id="{19A803B4-4ACF-D14A-78C9-655DBB4ECE68}"/>
              </a:ext>
            </a:extLst>
          </p:cNvPr>
          <p:cNvSpPr txBox="1"/>
          <p:nvPr/>
        </p:nvSpPr>
        <p:spPr>
          <a:xfrm>
            <a:off x="269081" y="3914503"/>
            <a:ext cx="8605838" cy="2862322"/>
          </a:xfrm>
          <a:prstGeom prst="rect">
            <a:avLst/>
          </a:prstGeom>
          <a:noFill/>
        </p:spPr>
        <p:txBody>
          <a:bodyPr wrap="square" rtlCol="0">
            <a:spAutoFit/>
          </a:bodyPr>
          <a:lstStyle/>
          <a:p>
            <a:r>
              <a:rPr lang="en-US" dirty="0"/>
              <a:t>They all share the </a:t>
            </a:r>
            <a:r>
              <a:rPr lang="en-US" u="sng" dirty="0"/>
              <a:t>same foundation</a:t>
            </a:r>
            <a:r>
              <a:rPr lang="en-US" dirty="0"/>
              <a:t>:  </a:t>
            </a:r>
          </a:p>
          <a:p>
            <a:pPr marL="285750" indent="-285750">
              <a:buFont typeface="Arial" panose="020B0604020202020204" pitchFamily="34" charset="0"/>
              <a:buChar char="•"/>
            </a:pPr>
            <a:r>
              <a:rPr lang="en-US" b="1" dirty="0"/>
              <a:t>Man is the source of his own righteousness</a:t>
            </a:r>
            <a:r>
              <a:rPr lang="en-US" dirty="0"/>
              <a:t>.</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Human righteousness fails because it is rooted in the flesh.</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It may look disciplined, moral, or serious, but it cannot produce peace with God or true holiness.</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It produces either pride when we think we are succeeding, or despair when we know we are not.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It shifts the Christian life away from Christ and back onto self-measurement.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This is why self-righteousness remains spiritually dangerous even inside the church.</a:t>
            </a:r>
          </a:p>
        </p:txBody>
      </p:sp>
    </p:spTree>
    <p:extLst>
      <p:ext uri="{BB962C8B-B14F-4D97-AF65-F5344CB8AC3E}">
        <p14:creationId xmlns:p14="http://schemas.microsoft.com/office/powerpoint/2010/main" val="722364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719B9-42AE-0869-0ED4-64E40695113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A0251F8-527B-77A8-C0C6-A2601C7D9C1D}"/>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6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500" dirty="0"/>
              <a:t>What True Righteousness Requires</a:t>
            </a:r>
          </a:p>
          <a:p>
            <a:r>
              <a:rPr lang="en-US" sz="3500" dirty="0">
                <a:solidFill>
                  <a:schemeClr val="tx2">
                    <a:lumMod val="60000"/>
                    <a:lumOff val="40000"/>
                  </a:schemeClr>
                </a:solidFill>
              </a:rPr>
              <a:t>A Different Source – Not Self, but Christ Jesus</a:t>
            </a:r>
          </a:p>
        </p:txBody>
      </p:sp>
      <p:sp>
        <p:nvSpPr>
          <p:cNvPr id="2" name="TextBox 1">
            <a:extLst>
              <a:ext uri="{FF2B5EF4-FFF2-40B4-BE49-F238E27FC236}">
                <a16:creationId xmlns:a16="http://schemas.microsoft.com/office/drawing/2014/main" id="{CE6C0D32-4624-6D14-E753-A8E7571E3FA6}"/>
              </a:ext>
            </a:extLst>
          </p:cNvPr>
          <p:cNvSpPr txBox="1"/>
          <p:nvPr/>
        </p:nvSpPr>
        <p:spPr>
          <a:xfrm>
            <a:off x="215294" y="2646776"/>
            <a:ext cx="8722519" cy="923330"/>
          </a:xfrm>
          <a:prstGeom prst="rect">
            <a:avLst/>
          </a:prstGeom>
          <a:noFill/>
        </p:spPr>
        <p:txBody>
          <a:bodyPr wrap="square" rtlCol="0">
            <a:spAutoFit/>
          </a:bodyPr>
          <a:lstStyle/>
          <a:p>
            <a:pPr fontAlgn="ctr"/>
            <a:r>
              <a:rPr lang="en-US" b="1" dirty="0">
                <a:ea typeface="ＭＳ Ｐゴシック" pitchFamily="-106" charset="-128"/>
                <a:cs typeface="ＭＳ Ｐゴシック" pitchFamily="-106" charset="-128"/>
              </a:rPr>
              <a:t>Only the righteousness that comes from God can stand…</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Because it starts with Christ alone. Received, not built. Rooted in Christ, not self.</a:t>
            </a:r>
          </a:p>
          <a:p>
            <a:pPr marL="285750" indent="-285750" fontAlgn="ctr">
              <a:buFont typeface="Arial" panose="020B0604020202020204" pitchFamily="34" charset="0"/>
              <a:buChar char="•"/>
            </a:pPr>
            <a:r>
              <a:rPr lang="en-US" dirty="0"/>
              <a:t>It can reach God. It can change the heart. It can give peace.</a:t>
            </a:r>
          </a:p>
        </p:txBody>
      </p:sp>
      <p:sp>
        <p:nvSpPr>
          <p:cNvPr id="3" name="TextBox 2">
            <a:extLst>
              <a:ext uri="{FF2B5EF4-FFF2-40B4-BE49-F238E27FC236}">
                <a16:creationId xmlns:a16="http://schemas.microsoft.com/office/drawing/2014/main" id="{C8E1AE49-6FAD-B08E-0F94-41F9A6A74762}"/>
              </a:ext>
            </a:extLst>
          </p:cNvPr>
          <p:cNvSpPr txBox="1"/>
          <p:nvPr/>
        </p:nvSpPr>
        <p:spPr>
          <a:xfrm>
            <a:off x="215294" y="794657"/>
            <a:ext cx="8605839" cy="1754326"/>
          </a:xfrm>
          <a:prstGeom prst="rect">
            <a:avLst/>
          </a:prstGeom>
          <a:noFill/>
        </p:spPr>
        <p:txBody>
          <a:bodyPr wrap="square" rtlCol="0">
            <a:spAutoFit/>
          </a:bodyPr>
          <a:lstStyle/>
          <a:p>
            <a:r>
              <a:rPr lang="en-US" b="1" dirty="0"/>
              <a:t>Rom 3:21-24  </a:t>
            </a:r>
            <a:r>
              <a:rPr lang="en-US" i="1" dirty="0"/>
              <a:t>But now apart from the law the righteousness of God (although it is attested by the law and the prophets) has been disclosed –  (22)  namely, the righteousness of God through the faithfulness of Jesus Christ for all who believe. For there is no distinction,  (23)  for all have sinned and fall short of the glory of God.  (24)  But they are justified freely by his grace through the redemption that is in Christ Jesus.</a:t>
            </a:r>
          </a:p>
        </p:txBody>
      </p:sp>
      <p:sp>
        <p:nvSpPr>
          <p:cNvPr id="4" name="TextBox 3">
            <a:extLst>
              <a:ext uri="{FF2B5EF4-FFF2-40B4-BE49-F238E27FC236}">
                <a16:creationId xmlns:a16="http://schemas.microsoft.com/office/drawing/2014/main" id="{357D9CBC-96CF-3F0F-07AB-6E38F37A609F}"/>
              </a:ext>
            </a:extLst>
          </p:cNvPr>
          <p:cNvSpPr txBox="1"/>
          <p:nvPr/>
        </p:nvSpPr>
        <p:spPr>
          <a:xfrm>
            <a:off x="215294" y="3667899"/>
            <a:ext cx="8605838" cy="2308324"/>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God’s Righteousness Must Be Received Daily</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God’s righteousness is not something believers graduate from after conversion.</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It remains the ground of their standing and the source of their life every day.</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Christian life is not sustained by self-improvement, but by ongoing trust in Christ.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Daily dependence means returning again and again to grace rather than performance.</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This keeps repentance, humility, and gratitude central.</a:t>
            </a:r>
          </a:p>
        </p:txBody>
      </p:sp>
    </p:spTree>
    <p:extLst>
      <p:ext uri="{BB962C8B-B14F-4D97-AF65-F5344CB8AC3E}">
        <p14:creationId xmlns:p14="http://schemas.microsoft.com/office/powerpoint/2010/main" val="59941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6D270-C9EF-7B16-6C23-49A774ECF8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7E65838-947B-A08C-1F1F-627DC8C2482A}"/>
              </a:ext>
            </a:extLst>
          </p:cNvPr>
          <p:cNvSpPr txBox="1">
            <a:spLocks/>
          </p:cNvSpPr>
          <p:nvPr/>
        </p:nvSpPr>
        <p:spPr bwMode="auto">
          <a:xfrm>
            <a:off x="233362" y="32657"/>
            <a:ext cx="838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6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500" dirty="0"/>
              <a:t>God’s Purpose Is Bigger Than the Individual</a:t>
            </a:r>
          </a:p>
          <a:p>
            <a:r>
              <a:rPr lang="en-US" sz="3500" dirty="0">
                <a:solidFill>
                  <a:schemeClr val="tx2">
                    <a:lumMod val="60000"/>
                    <a:lumOff val="40000"/>
                  </a:schemeClr>
                </a:solidFill>
              </a:rPr>
              <a:t>The Church Must Not Repackage Human Righteousness </a:t>
            </a:r>
          </a:p>
        </p:txBody>
      </p:sp>
      <p:sp>
        <p:nvSpPr>
          <p:cNvPr id="2" name="TextBox 1">
            <a:extLst>
              <a:ext uri="{FF2B5EF4-FFF2-40B4-BE49-F238E27FC236}">
                <a16:creationId xmlns:a16="http://schemas.microsoft.com/office/drawing/2014/main" id="{CBF225DA-F38A-319B-105E-984DD582EDA5}"/>
              </a:ext>
            </a:extLst>
          </p:cNvPr>
          <p:cNvSpPr txBox="1"/>
          <p:nvPr/>
        </p:nvSpPr>
        <p:spPr>
          <a:xfrm>
            <a:off x="247277" y="3200400"/>
            <a:ext cx="8605838" cy="2031325"/>
          </a:xfrm>
          <a:prstGeom prst="rect">
            <a:avLst/>
          </a:prstGeom>
          <a:noFill/>
        </p:spPr>
        <p:txBody>
          <a:bodyPr wrap="square" rtlCol="0">
            <a:spAutoFit/>
          </a:bodyPr>
          <a:lstStyle/>
          <a:p>
            <a:pPr fontAlgn="ctr"/>
            <a:r>
              <a:rPr lang="en-US" b="1" dirty="0"/>
              <a:t>Titus 2:11-14  </a:t>
            </a:r>
            <a:r>
              <a:rPr lang="en-US" dirty="0"/>
              <a:t>For the grace of God has appeared, bringing salvation to all people.  (12)  It trains us to reject godless ways and worldly desires and to live self-controlled, upright, and godly lives in the present age,  (13)  as we wait for the happy fulfillment of our hope in the glorious appearing of our great God and Savior, Jesus Christ.  (14)  </a:t>
            </a:r>
            <a:r>
              <a:rPr lang="en-US" i="1" dirty="0"/>
              <a:t>He gave himself for us to set us free from every kind of lawlessness and to purify for himself a people who are truly his, who are eager to do good.</a:t>
            </a:r>
          </a:p>
        </p:txBody>
      </p:sp>
      <p:sp>
        <p:nvSpPr>
          <p:cNvPr id="3" name="TextBox 2">
            <a:extLst>
              <a:ext uri="{FF2B5EF4-FFF2-40B4-BE49-F238E27FC236}">
                <a16:creationId xmlns:a16="http://schemas.microsoft.com/office/drawing/2014/main" id="{162F90EF-D481-A920-029C-184DF56FD1BA}"/>
              </a:ext>
            </a:extLst>
          </p:cNvPr>
          <p:cNvSpPr txBox="1"/>
          <p:nvPr/>
        </p:nvSpPr>
        <p:spPr>
          <a:xfrm>
            <a:off x="247277" y="794657"/>
            <a:ext cx="8605839" cy="2308324"/>
          </a:xfrm>
          <a:prstGeom prst="rect">
            <a:avLst/>
          </a:prstGeom>
          <a:noFill/>
        </p:spPr>
        <p:txBody>
          <a:bodyPr wrap="square" rtlCol="0">
            <a:spAutoFit/>
          </a:bodyPr>
          <a:lstStyle/>
          <a:p>
            <a:r>
              <a:rPr lang="en-US" b="1" dirty="0"/>
              <a:t>1 Peter 2:9-12  </a:t>
            </a:r>
            <a:r>
              <a:rPr lang="en-US" dirty="0"/>
              <a:t>But you are </a:t>
            </a:r>
            <a:r>
              <a:rPr lang="en-US" i="1" dirty="0"/>
              <a:t>a chosen race</a:t>
            </a:r>
            <a:r>
              <a:rPr lang="en-US" dirty="0"/>
              <a:t>, </a:t>
            </a:r>
            <a:r>
              <a:rPr lang="en-US" i="1" dirty="0"/>
              <a:t>a royal priesthood</a:t>
            </a:r>
            <a:r>
              <a:rPr lang="en-US" dirty="0"/>
              <a:t>, </a:t>
            </a:r>
            <a:r>
              <a:rPr lang="en-US" i="1" dirty="0"/>
              <a:t>a holy nation</a:t>
            </a:r>
            <a:r>
              <a:rPr lang="en-US" dirty="0"/>
              <a:t>, </a:t>
            </a:r>
            <a:r>
              <a:rPr lang="en-US" i="1" dirty="0"/>
              <a:t>a people of his own</a:t>
            </a:r>
            <a:r>
              <a:rPr lang="en-US" dirty="0"/>
              <a:t>, so that you may </a:t>
            </a:r>
            <a:r>
              <a:rPr lang="en-US" i="1" dirty="0"/>
              <a:t>proclaim the virtues</a:t>
            </a:r>
            <a:r>
              <a:rPr lang="en-US" dirty="0"/>
              <a:t> of the one who called you out of darkness into his marvelous light.  (10)  You once were </a:t>
            </a:r>
            <a:r>
              <a:rPr lang="en-US" b="1" i="1" dirty="0"/>
              <a:t>not a people</a:t>
            </a:r>
            <a:r>
              <a:rPr lang="en-US" dirty="0"/>
              <a:t>, but now you are God’s people. You were </a:t>
            </a:r>
            <a:r>
              <a:rPr lang="en-US" b="1" i="1" dirty="0"/>
              <a:t>shown no mercy,</a:t>
            </a:r>
            <a:r>
              <a:rPr lang="en-US" dirty="0"/>
              <a:t> but now you have received mercy.  (11)  Dear friends, I urge you as foreigners and exiles to keep away from fleshly desires that do battle against the soul,  (12)  and maintain good conduct among the non-Christians, so that though they now malign you as wrongdoers, they may see your good deeds and glorify God when he appears.</a:t>
            </a:r>
          </a:p>
        </p:txBody>
      </p:sp>
      <p:sp>
        <p:nvSpPr>
          <p:cNvPr id="4" name="TextBox 3">
            <a:extLst>
              <a:ext uri="{FF2B5EF4-FFF2-40B4-BE49-F238E27FC236}">
                <a16:creationId xmlns:a16="http://schemas.microsoft.com/office/drawing/2014/main" id="{2152637F-511F-459D-6E37-333D4ED48161}"/>
              </a:ext>
            </a:extLst>
          </p:cNvPr>
          <p:cNvSpPr txBox="1"/>
          <p:nvPr/>
        </p:nvSpPr>
        <p:spPr>
          <a:xfrm>
            <a:off x="247277" y="5329144"/>
            <a:ext cx="8605838" cy="1477328"/>
          </a:xfrm>
          <a:prstGeom prst="rect">
            <a:avLst/>
          </a:prstGeom>
          <a:noFill/>
        </p:spPr>
        <p:txBody>
          <a:bodyPr wrap="square" rtlCol="0">
            <a:spAutoFit/>
          </a:bodyPr>
          <a:lstStyle/>
          <a:p>
            <a:pPr fontAlgn="ctr"/>
            <a:r>
              <a:rPr lang="en-US" b="1" dirty="0">
                <a:ea typeface="ＭＳ Ｐゴシック" pitchFamily="-106" charset="-128"/>
                <a:cs typeface="ＭＳ Ｐゴシック" pitchFamily="-106" charset="-128"/>
              </a:rPr>
              <a:t>God’s righteousness received by faith produces the holy people that human righteousness can never create.</a:t>
            </a:r>
            <a:endParaRPr lang="en-US" dirty="0">
              <a:ea typeface="ＭＳ Ｐゴシック" pitchFamily="-106" charset="-128"/>
              <a:cs typeface="ＭＳ Ｐゴシック" pitchFamily="-106" charset="-128"/>
            </a:endParaRP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The church is not called to display moral pride, but God’s character.</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God’s righteousness in community is seen when people live in holiness without self-exaltation. With Grace, Humility, Mercy, Obedience, and Love.</a:t>
            </a:r>
          </a:p>
        </p:txBody>
      </p:sp>
    </p:spTree>
    <p:extLst>
      <p:ext uri="{BB962C8B-B14F-4D97-AF65-F5344CB8AC3E}">
        <p14:creationId xmlns:p14="http://schemas.microsoft.com/office/powerpoint/2010/main" val="39711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995BA-9DAD-9CD0-3FFC-0C310720D03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F85C95-19A6-CC85-344F-56C35B5025ED}"/>
              </a:ext>
            </a:extLst>
          </p:cNvPr>
          <p:cNvSpPr txBox="1">
            <a:spLocks/>
          </p:cNvSpPr>
          <p:nvPr/>
        </p:nvSpPr>
        <p:spPr bwMode="auto">
          <a:xfrm>
            <a:off x="233362" y="32657"/>
            <a:ext cx="86820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One Unified Gospel</a:t>
            </a:r>
          </a:p>
          <a:p>
            <a:r>
              <a:rPr lang="en-US" sz="3500" dirty="0">
                <a:solidFill>
                  <a:schemeClr val="tx2">
                    <a:lumMod val="60000"/>
                    <a:lumOff val="40000"/>
                  </a:schemeClr>
                </a:solidFill>
              </a:rPr>
              <a:t>God’s Plan to Restore His Human Family</a:t>
            </a:r>
          </a:p>
        </p:txBody>
      </p:sp>
      <p:sp>
        <p:nvSpPr>
          <p:cNvPr id="2" name="TextBox 1">
            <a:extLst>
              <a:ext uri="{FF2B5EF4-FFF2-40B4-BE49-F238E27FC236}">
                <a16:creationId xmlns:a16="http://schemas.microsoft.com/office/drawing/2014/main" id="{03A9391E-B26E-2F0A-287D-17A785088990}"/>
              </a:ext>
            </a:extLst>
          </p:cNvPr>
          <p:cNvSpPr txBox="1"/>
          <p:nvPr/>
        </p:nvSpPr>
        <p:spPr>
          <a:xfrm>
            <a:off x="287634" y="2514600"/>
            <a:ext cx="8605838" cy="1477328"/>
          </a:xfrm>
          <a:prstGeom prst="rect">
            <a:avLst/>
          </a:prstGeom>
          <a:noFill/>
        </p:spPr>
        <p:txBody>
          <a:bodyPr wrap="square" rtlCol="0">
            <a:spAutoFit/>
          </a:bodyPr>
          <a:lstStyle/>
          <a:p>
            <a:r>
              <a:rPr lang="en-US" b="1" dirty="0"/>
              <a:t>Key Contrasts  </a:t>
            </a:r>
          </a:p>
          <a:p>
            <a:pPr marL="285750" indent="-285750" fontAlgn="ctr">
              <a:buFont typeface="Arial" panose="020B0604020202020204" pitchFamily="34" charset="0"/>
              <a:buChar char="•"/>
            </a:pPr>
            <a:r>
              <a:rPr lang="en-US" dirty="0"/>
              <a:t>Not human achievement, but divine provision.</a:t>
            </a:r>
          </a:p>
          <a:p>
            <a:pPr marL="285750" indent="-285750" fontAlgn="ctr">
              <a:buFont typeface="Arial" panose="020B0604020202020204" pitchFamily="34" charset="0"/>
              <a:buChar char="•"/>
            </a:pPr>
            <a:r>
              <a:rPr lang="en-US" dirty="0"/>
              <a:t>Not works as the basis, but faith as the means.</a:t>
            </a:r>
          </a:p>
          <a:p>
            <a:pPr marL="285750" indent="-285750" fontAlgn="ctr">
              <a:buFont typeface="Arial" panose="020B0604020202020204" pitchFamily="34" charset="0"/>
              <a:buChar char="•"/>
            </a:pPr>
            <a:r>
              <a:rPr lang="en-US" dirty="0"/>
              <a:t>Not outward conformity alone, but inward transformation.</a:t>
            </a:r>
          </a:p>
          <a:p>
            <a:pPr marL="285750" indent="-285750" fontAlgn="ctr">
              <a:buFont typeface="Arial" panose="020B0604020202020204" pitchFamily="34" charset="0"/>
              <a:buChar char="•"/>
            </a:pPr>
            <a:r>
              <a:rPr lang="en-US" dirty="0"/>
              <a:t>Not a one-time decision only, but a life continually shaped by grace.</a:t>
            </a:r>
          </a:p>
        </p:txBody>
      </p:sp>
      <p:sp>
        <p:nvSpPr>
          <p:cNvPr id="3" name="TextBox 2">
            <a:extLst>
              <a:ext uri="{FF2B5EF4-FFF2-40B4-BE49-F238E27FC236}">
                <a16:creationId xmlns:a16="http://schemas.microsoft.com/office/drawing/2014/main" id="{4DEF161B-E7E0-AAEC-459E-F16B7072C40E}"/>
              </a:ext>
            </a:extLst>
          </p:cNvPr>
          <p:cNvSpPr txBox="1"/>
          <p:nvPr/>
        </p:nvSpPr>
        <p:spPr>
          <a:xfrm>
            <a:off x="304800" y="794657"/>
            <a:ext cx="8570119" cy="1477328"/>
          </a:xfrm>
          <a:prstGeom prst="rect">
            <a:avLst/>
          </a:prstGeom>
          <a:noFill/>
        </p:spPr>
        <p:txBody>
          <a:bodyPr wrap="square" rtlCol="0">
            <a:spAutoFit/>
          </a:bodyPr>
          <a:lstStyle/>
          <a:p>
            <a:r>
              <a:rPr lang="en-US" b="1" dirty="0"/>
              <a:t>The Gospel Narrative</a:t>
            </a:r>
          </a:p>
          <a:p>
            <a:pPr marL="285750" indent="-285750" fontAlgn="ctr">
              <a:buFont typeface="Arial" panose="020B0604020202020204" pitchFamily="34" charset="0"/>
              <a:buChar char="•"/>
            </a:pPr>
            <a:r>
              <a:rPr lang="en-US" dirty="0"/>
              <a:t>Christ reveals God’s righteousness.</a:t>
            </a:r>
          </a:p>
          <a:p>
            <a:pPr marL="285750" indent="-285750" fontAlgn="ctr">
              <a:buFont typeface="Arial" panose="020B0604020202020204" pitchFamily="34" charset="0"/>
              <a:buChar char="•"/>
            </a:pPr>
            <a:r>
              <a:rPr lang="en-US" dirty="0"/>
              <a:t>Justification receives God’s righteousness.</a:t>
            </a:r>
          </a:p>
          <a:p>
            <a:pPr marL="285750" indent="-285750" fontAlgn="ctr">
              <a:buFont typeface="Arial" panose="020B0604020202020204" pitchFamily="34" charset="0"/>
              <a:buChar char="•"/>
            </a:pPr>
            <a:r>
              <a:rPr lang="en-US" dirty="0"/>
              <a:t>New birth implants God’s righteousness as new life.</a:t>
            </a:r>
          </a:p>
          <a:p>
            <a:pPr marL="285750" indent="-285750" fontAlgn="ctr">
              <a:buFont typeface="Arial" panose="020B0604020202020204" pitchFamily="34" charset="0"/>
              <a:buChar char="•"/>
            </a:pPr>
            <a:r>
              <a:rPr lang="en-US" dirty="0"/>
              <a:t>Sanctification expresses God’s righteousness in character and conduct.</a:t>
            </a:r>
          </a:p>
        </p:txBody>
      </p:sp>
      <p:sp>
        <p:nvSpPr>
          <p:cNvPr id="4" name="TextBox 3">
            <a:extLst>
              <a:ext uri="{FF2B5EF4-FFF2-40B4-BE49-F238E27FC236}">
                <a16:creationId xmlns:a16="http://schemas.microsoft.com/office/drawing/2014/main" id="{AD431C96-97AA-7FB4-AB48-DE097E519F07}"/>
              </a:ext>
            </a:extLst>
          </p:cNvPr>
          <p:cNvSpPr txBox="1"/>
          <p:nvPr/>
        </p:nvSpPr>
        <p:spPr>
          <a:xfrm>
            <a:off x="304800" y="4234543"/>
            <a:ext cx="8605838" cy="1477328"/>
          </a:xfrm>
          <a:prstGeom prst="rect">
            <a:avLst/>
          </a:prstGeom>
          <a:noFill/>
        </p:spPr>
        <p:txBody>
          <a:bodyPr wrap="square" rtlCol="0">
            <a:spAutoFit/>
          </a:bodyPr>
          <a:lstStyle/>
          <a:p>
            <a:r>
              <a:rPr lang="en-US" b="1" dirty="0"/>
              <a:t>Summary  </a:t>
            </a:r>
          </a:p>
          <a:p>
            <a:pPr marL="285750" indent="-285750" fontAlgn="ctr">
              <a:buFont typeface="Arial" panose="020B0604020202020204" pitchFamily="34" charset="0"/>
              <a:buChar char="•"/>
            </a:pPr>
            <a:r>
              <a:rPr lang="en-US" dirty="0"/>
              <a:t>God’s righteousness is revealed in Christ, credited through faith, planted in us by the Spirit, and lived out in holiness.</a:t>
            </a:r>
          </a:p>
          <a:p>
            <a:pPr marL="285750" indent="-285750" fontAlgn="ctr">
              <a:buFont typeface="Arial" panose="020B0604020202020204" pitchFamily="34" charset="0"/>
              <a:buChar char="•"/>
            </a:pPr>
            <a:r>
              <a:rPr lang="en-US" dirty="0"/>
              <a:t>The believer does not move beyond grace after conversion; he grows deeper into it.</a:t>
            </a:r>
          </a:p>
        </p:txBody>
      </p:sp>
    </p:spTree>
    <p:extLst>
      <p:ext uri="{BB962C8B-B14F-4D97-AF65-F5344CB8AC3E}">
        <p14:creationId xmlns:p14="http://schemas.microsoft.com/office/powerpoint/2010/main" val="2201730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47277</TotalTime>
  <Words>3005</Words>
  <Application>Microsoft Office PowerPoint</Application>
  <PresentationFormat>On-screen Show (4:3)</PresentationFormat>
  <Paragraphs>243</Paragraphs>
  <Slides>7</Slides>
  <Notes>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7</vt:i4>
      </vt:variant>
    </vt:vector>
  </HeadingPairs>
  <TitlesOfParts>
    <vt:vector size="13" baseType="lpstr">
      <vt:lpstr>ＭＳ Ｐゴシック</vt:lpstr>
      <vt:lpstr>Arial</vt:lpstr>
      <vt:lpstr>Arial Narrow</vt:lpstr>
      <vt:lpstr>Calibri</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1536</cp:revision>
  <cp:lastPrinted>2026-02-21T16:06:41Z</cp:lastPrinted>
  <dcterms:created xsi:type="dcterms:W3CDTF">2010-06-16T02:58:04Z</dcterms:created>
  <dcterms:modified xsi:type="dcterms:W3CDTF">2026-03-21T17:00:03Z</dcterms:modified>
</cp:coreProperties>
</file>