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23"/>
  </p:notesMasterIdLst>
  <p:sldIdLst>
    <p:sldId id="395" r:id="rId3"/>
    <p:sldId id="599" r:id="rId4"/>
    <p:sldId id="600" r:id="rId5"/>
    <p:sldId id="601" r:id="rId6"/>
    <p:sldId id="602" r:id="rId7"/>
    <p:sldId id="603" r:id="rId8"/>
    <p:sldId id="604" r:id="rId9"/>
    <p:sldId id="605" r:id="rId10"/>
    <p:sldId id="606" r:id="rId11"/>
    <p:sldId id="607" r:id="rId12"/>
    <p:sldId id="608" r:id="rId13"/>
    <p:sldId id="609" r:id="rId14"/>
    <p:sldId id="591" r:id="rId15"/>
    <p:sldId id="592" r:id="rId16"/>
    <p:sldId id="593" r:id="rId17"/>
    <p:sldId id="594" r:id="rId18"/>
    <p:sldId id="596" r:id="rId19"/>
    <p:sldId id="598" r:id="rId20"/>
    <p:sldId id="597" r:id="rId21"/>
    <p:sldId id="595" r:id="rId22"/>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51045" autoAdjust="0"/>
  </p:normalViewPr>
  <p:slideViewPr>
    <p:cSldViewPr>
      <p:cViewPr varScale="1">
        <p:scale>
          <a:sx n="78" d="100"/>
          <a:sy n="78" d="100"/>
        </p:scale>
        <p:origin x="2412" y="10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12/31/2025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lnSpcReduction="10000"/>
          </a:bodyPr>
          <a:lstStyle/>
          <a:p>
            <a:r>
              <a:rPr lang="en-US" sz="1400" b="1" kern="1200" dirty="0">
                <a:solidFill>
                  <a:schemeClr val="tx1"/>
                </a:solidFill>
                <a:effectLst/>
                <a:latin typeface="+mn-lt"/>
                <a:ea typeface="ＭＳ Ｐゴシック" pitchFamily="-106" charset="-128"/>
                <a:cs typeface="ＭＳ Ｐゴシック" pitchFamily="-106" charset="-128"/>
              </a:rPr>
              <a:t>What is “Righteousness” in the Bible?</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Discussion Questions</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0" i="0" kern="1200" dirty="0">
                <a:solidFill>
                  <a:schemeClr val="tx1"/>
                </a:solidFill>
                <a:effectLst/>
                <a:latin typeface="+mn-lt"/>
                <a:ea typeface="ＭＳ Ｐゴシック" pitchFamily="-106" charset="-128"/>
                <a:cs typeface="ＭＳ Ｐゴシック" pitchFamily="-106" charset="-128"/>
              </a:rPr>
              <a:t>How would you explain “righteousness” in simple words?</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Why must God define righteousness, not people?</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What parts of God’s character stand out most in these verses?</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How does knowing God’s righteousness change the way we see sin?</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Early Christian Understanding of Righteousness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Early Christian teachers understood righteousness as: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God’s nature.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God’s gift.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God’s work in His people.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They rejected the idea that righteousness is earned.</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They taught that righteousness is shared by God through faith and obedience.</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fits with apostolic teaching:</a:t>
            </a:r>
          </a:p>
          <a:p>
            <a:r>
              <a:rPr lang="en-US" sz="1400" b="1" kern="1200" dirty="0">
                <a:solidFill>
                  <a:schemeClr val="tx1"/>
                </a:solidFill>
                <a:effectLst/>
                <a:latin typeface="+mn-lt"/>
                <a:ea typeface="ＭＳ Ｐゴシック" pitchFamily="-106" charset="-128"/>
                <a:cs typeface="ＭＳ Ｐゴシック" pitchFamily="-106" charset="-128"/>
              </a:rPr>
              <a:t>Romans 1:17  </a:t>
            </a:r>
            <a:r>
              <a:rPr lang="en-US" sz="1400" kern="1200" dirty="0">
                <a:solidFill>
                  <a:schemeClr val="tx1"/>
                </a:solidFill>
                <a:effectLst/>
                <a:latin typeface="+mn-lt"/>
                <a:ea typeface="ＭＳ Ｐゴシック" pitchFamily="-106" charset="-128"/>
                <a:cs typeface="ＭＳ Ｐゴシック" pitchFamily="-106" charset="-128"/>
              </a:rPr>
              <a:t>“For the righteousness of God is revealed in the gospel from faith to faith, just as it is written, ‘The righteous by faith will live.’”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Righteousness flows from God to people.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does not rise from people to God.</a:t>
            </a:r>
          </a:p>
          <a:p>
            <a:endParaRPr lang="en-US" dirty="0"/>
          </a:p>
          <a:p>
            <a:r>
              <a:rPr lang="en-US" sz="1200" b="1" kern="1200" dirty="0">
                <a:solidFill>
                  <a:schemeClr val="tx1"/>
                </a:solidFill>
                <a:effectLst/>
                <a:latin typeface="+mn-lt"/>
                <a:ea typeface="ＭＳ Ｐゴシック" pitchFamily="-106" charset="-128"/>
                <a:cs typeface="ＭＳ Ｐゴシック" pitchFamily="-106" charset="-128"/>
              </a:rPr>
              <a:t>Why This Matters for the Whole Study</a:t>
            </a:r>
            <a:endParaRPr lang="en-US" sz="12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If we misunderstand righteousness at the start, everything else breaks.</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If righteousness starts with man, we end in pride or despair.</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If righteousness starts with God, we end in humility and trust.</a:t>
            </a:r>
          </a:p>
          <a:p>
            <a:r>
              <a:rPr lang="en-US" sz="1200" kern="1200" dirty="0">
                <a:solidFill>
                  <a:schemeClr val="tx1"/>
                </a:solidFill>
                <a:effectLst/>
                <a:latin typeface="+mn-lt"/>
                <a:ea typeface="ＭＳ Ｐゴシック" pitchFamily="-106" charset="-128"/>
                <a:cs typeface="ＭＳ Ｐゴシック" pitchFamily="-106" charset="-128"/>
              </a:rPr>
              <a:t>This sets up the entire contrast of the study:</a:t>
            </a:r>
          </a:p>
          <a:p>
            <a:pPr marL="171450" indent="-171450" rtl="0" fontAlgn="ctr">
              <a:buFont typeface="Arial" panose="020B0604020202020204" pitchFamily="34" charset="0"/>
              <a:buChar char="•"/>
            </a:pPr>
            <a:r>
              <a:rPr lang="en-US" sz="1200" b="1" kern="1200" dirty="0">
                <a:solidFill>
                  <a:schemeClr val="tx1"/>
                </a:solidFill>
                <a:effectLst/>
                <a:latin typeface="+mn-lt"/>
                <a:ea typeface="ＭＳ Ｐゴシック" pitchFamily="-106" charset="-128"/>
                <a:cs typeface="ＭＳ Ｐゴシック" pitchFamily="-106" charset="-128"/>
              </a:rPr>
              <a:t>The righteousness of man</a:t>
            </a:r>
            <a:r>
              <a:rPr lang="en-US" sz="1200" kern="1200" dirty="0">
                <a:solidFill>
                  <a:schemeClr val="tx1"/>
                </a:solidFill>
                <a:effectLst/>
                <a:latin typeface="+mn-lt"/>
                <a:ea typeface="ＭＳ Ｐゴシック" pitchFamily="-106" charset="-128"/>
                <a:cs typeface="ＭＳ Ｐゴシック" pitchFamily="-106" charset="-128"/>
              </a:rPr>
              <a:t> is self-made and unstable.</a:t>
            </a:r>
          </a:p>
          <a:p>
            <a:pPr marL="171450" indent="-171450" rtl="0" fontAlgn="ctr">
              <a:buFont typeface="Arial" panose="020B0604020202020204" pitchFamily="34" charset="0"/>
              <a:buChar char="•"/>
            </a:pPr>
            <a:r>
              <a:rPr lang="en-US" sz="1200" b="1" kern="1200" dirty="0">
                <a:solidFill>
                  <a:schemeClr val="tx1"/>
                </a:solidFill>
                <a:effectLst/>
                <a:latin typeface="+mn-lt"/>
                <a:ea typeface="ＭＳ Ｐゴシック" pitchFamily="-106" charset="-128"/>
                <a:cs typeface="ＭＳ Ｐゴシック" pitchFamily="-106" charset="-128"/>
              </a:rPr>
              <a:t>The righteousness of God</a:t>
            </a:r>
            <a:r>
              <a:rPr lang="en-US" sz="1200" kern="1200" dirty="0">
                <a:solidFill>
                  <a:schemeClr val="tx1"/>
                </a:solidFill>
                <a:effectLst/>
                <a:latin typeface="+mn-lt"/>
                <a:ea typeface="ＭＳ Ｐゴシック" pitchFamily="-106" charset="-128"/>
                <a:cs typeface="ＭＳ Ｐゴシック" pitchFamily="-106" charset="-128"/>
              </a:rPr>
              <a:t> is revealed, given, and life-giving.</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Expanded Discussion Questions</a:t>
            </a:r>
            <a:endParaRPr lang="en-US" sz="1200" kern="1200" dirty="0">
              <a:solidFill>
                <a:schemeClr val="tx1"/>
              </a:solidFill>
              <a:effectLst/>
              <a:latin typeface="+mn-lt"/>
              <a:ea typeface="ＭＳ Ｐゴシック" pitchFamily="-106" charset="-128"/>
              <a:cs typeface="ＭＳ Ｐゴシック" pitchFamily="-106" charset="-128"/>
            </a:endParaRPr>
          </a:p>
          <a:p>
            <a:pPr rtl="0" fontAlgn="ctr"/>
            <a:r>
              <a:rPr lang="en-US" sz="1200" b="0" i="0" kern="1200" dirty="0">
                <a:solidFill>
                  <a:schemeClr val="tx1"/>
                </a:solidFill>
                <a:effectLst/>
                <a:latin typeface="+mn-lt"/>
                <a:ea typeface="ＭＳ Ｐゴシック" pitchFamily="-106" charset="-128"/>
                <a:cs typeface="ＭＳ Ｐゴシック" pitchFamily="-106" charset="-128"/>
              </a:rPr>
              <a:t>If righteousness comes from God’s nature, how should that shape our view of morality?</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Why is it dangerous to define righteousness by culture or personal experience?</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How does seeing God as righteous before seeing ourselves as sinners change our response to Him?</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In what ways does God’s righteousness expose both our sin and our hope?</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4F5AB-F118-8CDF-27EC-39D311789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F9450-5117-EC4E-89C3-0A196CECBF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30C525-9D1E-EBD5-8D62-C2D4420B5869}"/>
              </a:ext>
            </a:extLst>
          </p:cNvPr>
          <p:cNvSpPr>
            <a:spLocks noGrp="1"/>
          </p:cNvSpPr>
          <p:nvPr>
            <p:ph type="body" idx="1"/>
          </p:nvPr>
        </p:nvSpPr>
        <p:spPr/>
        <p:txBody>
          <a:bodyPr>
            <a:normAutofit fontScale="2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Ecce Homo</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(“Behold the Man”)</a:t>
            </a:r>
          </a:p>
          <a:p>
            <a:pPr lvl="1"/>
            <a:r>
              <a:rPr lang="en-US" sz="1400" kern="1200" dirty="0">
                <a:solidFill>
                  <a:schemeClr val="tx1"/>
                </a:solidFill>
                <a:effectLst/>
                <a:latin typeface="+mn-lt"/>
                <a:ea typeface="ＭＳ Ｐゴシック" pitchFamily="-106" charset="-128"/>
                <a:cs typeface="ＭＳ Ｐゴシック" pitchFamily="-106" charset="-128"/>
              </a:rPr>
              <a:t> by </a:t>
            </a:r>
            <a:r>
              <a:rPr lang="en-US" sz="1400" b="1" kern="1200" dirty="0">
                <a:solidFill>
                  <a:schemeClr val="tx1"/>
                </a:solidFill>
                <a:effectLst/>
                <a:latin typeface="+mn-lt"/>
                <a:ea typeface="ＭＳ Ｐゴシック" pitchFamily="-106" charset="-128"/>
                <a:cs typeface="ＭＳ Ｐゴシック" pitchFamily="-106" charset="-128"/>
              </a:rPr>
              <a:t>Antonio </a:t>
            </a:r>
            <a:r>
              <a:rPr lang="en-US" sz="1400" b="1" kern="1200" dirty="0" err="1">
                <a:solidFill>
                  <a:schemeClr val="tx1"/>
                </a:solidFill>
                <a:effectLst/>
                <a:latin typeface="+mn-lt"/>
                <a:ea typeface="ＭＳ Ｐゴシック" pitchFamily="-106" charset="-128"/>
                <a:cs typeface="ＭＳ Ｐゴシック" pitchFamily="-106" charset="-128"/>
              </a:rPr>
              <a:t>Ciseri</a:t>
            </a:r>
            <a:r>
              <a:rPr lang="en-US" sz="1400" b="1" kern="1200" dirty="0">
                <a:solidFill>
                  <a:schemeClr val="tx1"/>
                </a:solidFill>
                <a:effectLst/>
                <a:latin typeface="+mn-lt"/>
                <a:ea typeface="ＭＳ Ｐゴシック" pitchFamily="-106" charset="-128"/>
                <a:cs typeface="ＭＳ Ｐゴシック" pitchFamily="-106" charset="-128"/>
              </a:rPr>
              <a:t>, 1871</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The title comes from </a:t>
            </a:r>
            <a:r>
              <a:rPr lang="en-US" sz="1400" b="1" kern="1200" dirty="0">
                <a:solidFill>
                  <a:schemeClr val="tx1"/>
                </a:solidFill>
                <a:effectLst/>
                <a:latin typeface="+mn-lt"/>
                <a:ea typeface="ＭＳ Ｐゴシック" pitchFamily="-106" charset="-128"/>
                <a:cs typeface="ＭＳ Ｐゴシック" pitchFamily="-106" charset="-128"/>
              </a:rPr>
              <a:t>John 19:5</a:t>
            </a:r>
            <a:r>
              <a:rPr lang="en-US" sz="1400" kern="1200" dirty="0">
                <a:solidFill>
                  <a:schemeClr val="tx1"/>
                </a:solidFill>
                <a:effectLst/>
                <a:latin typeface="+mn-lt"/>
                <a:ea typeface="ＭＳ Ｐゴシック" pitchFamily="-106" charset="-128"/>
                <a:cs typeface="ＭＳ Ｐゴシック" pitchFamily="-106" charset="-128"/>
              </a:rPr>
              <a:t>:  </a:t>
            </a:r>
            <a:r>
              <a:rPr lang="en-US" sz="1400" i="1" kern="1200" dirty="0">
                <a:solidFill>
                  <a:schemeClr val="tx1"/>
                </a:solidFill>
                <a:effectLst/>
                <a:latin typeface="+mn-lt"/>
                <a:ea typeface="ＭＳ Ｐゴシック" pitchFamily="-106" charset="-128"/>
                <a:cs typeface="ＭＳ Ｐゴシック" pitchFamily="-106" charset="-128"/>
              </a:rPr>
              <a:t>“So Jesus came out, wearing the crown of thorns and the purple robe. Pilate said to them,</a:t>
            </a:r>
            <a:r>
              <a:rPr lang="en-US" sz="1400" b="1" i="1" kern="1200" dirty="0">
                <a:solidFill>
                  <a:schemeClr val="tx1"/>
                </a:solidFill>
                <a:effectLst/>
                <a:latin typeface="+mn-lt"/>
                <a:ea typeface="ＭＳ Ｐゴシック" pitchFamily="-106" charset="-128"/>
                <a:cs typeface="ＭＳ Ｐゴシック" pitchFamily="-106" charset="-128"/>
              </a:rPr>
              <a:t> ‘Look, here is the man!’</a:t>
            </a:r>
            <a:r>
              <a:rPr lang="en-US" sz="1400" i="1" kern="1200" dirty="0">
                <a:solidFill>
                  <a:schemeClr val="tx1"/>
                </a:solidFill>
                <a:effectLst/>
                <a:latin typeface="+mn-lt"/>
                <a:ea typeface="ＭＳ Ｐゴシック" pitchFamily="-106" charset="-128"/>
                <a:cs typeface="ＭＳ Ｐゴシック" pitchFamily="-106" charset="-128"/>
              </a:rPr>
              <a:t>”</a:t>
            </a:r>
          </a:p>
          <a:p>
            <a:pPr lvl="1"/>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Subject and Scene</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The painting depicts </a:t>
            </a:r>
            <a:r>
              <a:rPr lang="en-US" sz="1400" b="1" kern="1200" dirty="0">
                <a:solidFill>
                  <a:schemeClr val="tx1"/>
                </a:solidFill>
                <a:effectLst/>
                <a:latin typeface="+mn-lt"/>
                <a:ea typeface="ＭＳ Ｐゴシック" pitchFamily="-106" charset="-128"/>
                <a:cs typeface="ＭＳ Ｐゴシック" pitchFamily="-106" charset="-128"/>
              </a:rPr>
              <a:t>Pontius Pilate presenting Jesus to the crowd</a:t>
            </a:r>
            <a:r>
              <a:rPr lang="en-US" sz="1400" kern="1200" dirty="0">
                <a:solidFill>
                  <a:schemeClr val="tx1"/>
                </a:solidFill>
                <a:effectLst/>
                <a:latin typeface="+mn-lt"/>
                <a:ea typeface="ＭＳ Ｐゴシック" pitchFamily="-106" charset="-128"/>
                <a:cs typeface="ＭＳ Ｐゴシック" pitchFamily="-106" charset="-128"/>
              </a:rPr>
              <a:t>.</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Jesus stands:</a:t>
            </a:r>
          </a:p>
          <a:p>
            <a:pPr lvl="2" rtl="0" fontAlgn="ctr"/>
            <a:r>
              <a:rPr lang="en-US" sz="1400" kern="1200" dirty="0">
                <a:solidFill>
                  <a:schemeClr val="tx1"/>
                </a:solidFill>
                <a:effectLst/>
                <a:latin typeface="+mn-lt"/>
                <a:ea typeface="ＭＳ Ｐゴシック" pitchFamily="-106" charset="-128"/>
                <a:cs typeface="ＭＳ Ｐゴシック" pitchFamily="-106" charset="-128"/>
              </a:rPr>
              <a:t>silent</a:t>
            </a:r>
          </a:p>
          <a:p>
            <a:pPr lvl="2" rtl="0" fontAlgn="ctr"/>
            <a:r>
              <a:rPr lang="en-US" sz="1400" kern="1200" dirty="0">
                <a:solidFill>
                  <a:schemeClr val="tx1"/>
                </a:solidFill>
                <a:effectLst/>
                <a:latin typeface="+mn-lt"/>
                <a:ea typeface="ＭＳ Ｐゴシック" pitchFamily="-106" charset="-128"/>
                <a:cs typeface="ＭＳ Ｐゴシック" pitchFamily="-106" charset="-128"/>
              </a:rPr>
              <a:t>bound</a:t>
            </a:r>
          </a:p>
          <a:p>
            <a:pPr lvl="2" rtl="0" fontAlgn="ctr"/>
            <a:r>
              <a:rPr lang="en-US" sz="1400" kern="1200" dirty="0">
                <a:solidFill>
                  <a:schemeClr val="tx1"/>
                </a:solidFill>
                <a:effectLst/>
                <a:latin typeface="+mn-lt"/>
                <a:ea typeface="ＭＳ Ｐゴシック" pitchFamily="-106" charset="-128"/>
                <a:cs typeface="ＭＳ Ｐゴシック" pitchFamily="-106" charset="-128"/>
              </a:rPr>
              <a:t>crowned with thorns</a:t>
            </a:r>
          </a:p>
          <a:p>
            <a:pPr lvl="2" rtl="0" fontAlgn="ctr"/>
            <a:r>
              <a:rPr lang="en-US" sz="1400" kern="1200" dirty="0">
                <a:solidFill>
                  <a:schemeClr val="tx1"/>
                </a:solidFill>
                <a:effectLst/>
                <a:latin typeface="+mn-lt"/>
                <a:ea typeface="ＭＳ Ｐゴシック" pitchFamily="-106" charset="-128"/>
                <a:cs typeface="ＭＳ Ｐゴシック" pitchFamily="-106" charset="-128"/>
              </a:rPr>
              <a:t>wearing a faded purple robe</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The crowd below is chaotic and aggressive.</a:t>
            </a:r>
          </a:p>
          <a:p>
            <a:pPr lvl="1"/>
            <a:r>
              <a:rPr lang="en-US" sz="1400" kern="1200" dirty="0">
                <a:solidFill>
                  <a:schemeClr val="tx1"/>
                </a:solidFill>
                <a:effectLst/>
                <a:latin typeface="+mn-lt"/>
                <a:ea typeface="ＭＳ Ｐゴシック" pitchFamily="-106" charset="-128"/>
                <a:cs typeface="ＭＳ Ｐゴシック" pitchFamily="-106" charset="-128"/>
              </a:rPr>
              <a:t>Roman authority stands firm and detached.</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This visual tension is intentional.</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Biblical Context</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b="1" kern="1200" dirty="0">
                <a:solidFill>
                  <a:schemeClr val="tx1"/>
                </a:solidFill>
                <a:effectLst/>
                <a:latin typeface="+mn-lt"/>
                <a:ea typeface="ＭＳ Ｐゴシック" pitchFamily="-106" charset="-128"/>
                <a:cs typeface="ＭＳ Ｐゴシック" pitchFamily="-106" charset="-128"/>
              </a:rPr>
              <a:t>John 19:4–6 </a:t>
            </a:r>
            <a:r>
              <a:rPr lang="en-US" sz="1400" b="1" i="0" kern="1200" dirty="0">
                <a:solidFill>
                  <a:schemeClr val="tx1"/>
                </a:solidFill>
                <a:effectLst/>
                <a:latin typeface="+mn-lt"/>
                <a:ea typeface="ＭＳ Ｐゴシック" pitchFamily="-106" charset="-128"/>
                <a:cs typeface="ＭＳ Ｐゴシック" pitchFamily="-106" charset="-128"/>
              </a:rPr>
              <a:t>: </a:t>
            </a:r>
            <a:r>
              <a:rPr lang="en-US" sz="1400" i="1" kern="1200" dirty="0">
                <a:solidFill>
                  <a:schemeClr val="tx1"/>
                </a:solidFill>
                <a:effectLst/>
                <a:latin typeface="+mn-lt"/>
                <a:ea typeface="ＭＳ Ｐゴシック" pitchFamily="-106" charset="-128"/>
                <a:cs typeface="ＭＳ Ｐゴシック" pitchFamily="-106" charset="-128"/>
              </a:rPr>
              <a:t>“Then Pilate went outside again and said to them, ‘Look, I am bringing him out to you, so that you may know that I find no reason for an accusation against him.’</a:t>
            </a:r>
          </a:p>
          <a:p>
            <a:pPr lvl="1"/>
            <a:r>
              <a:rPr lang="en-US" sz="1400" i="1" kern="1200" dirty="0">
                <a:solidFill>
                  <a:schemeClr val="tx1"/>
                </a:solidFill>
                <a:effectLst/>
                <a:latin typeface="+mn-lt"/>
                <a:ea typeface="ＭＳ Ｐゴシック" pitchFamily="-106" charset="-128"/>
                <a:cs typeface="ＭＳ Ｐゴシック" pitchFamily="-106" charset="-128"/>
              </a:rPr>
              <a:t>So Jesus came out… When the chief priests and their officers saw him, they shouted out, ‘Crucify! Crucify!’”</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err="1">
                <a:solidFill>
                  <a:schemeClr val="tx1"/>
                </a:solidFill>
                <a:effectLst/>
                <a:latin typeface="+mn-lt"/>
                <a:ea typeface="ＭＳ Ｐゴシック" pitchFamily="-106" charset="-128"/>
                <a:cs typeface="ＭＳ Ｐゴシック" pitchFamily="-106" charset="-128"/>
              </a:rPr>
              <a:t>Ciseri</a:t>
            </a:r>
            <a:r>
              <a:rPr lang="en-US" sz="1400" kern="1200" dirty="0">
                <a:solidFill>
                  <a:schemeClr val="tx1"/>
                </a:solidFill>
                <a:effectLst/>
                <a:latin typeface="+mn-lt"/>
                <a:ea typeface="ＭＳ Ｐゴシック" pitchFamily="-106" charset="-128"/>
                <a:cs typeface="ＭＳ Ｐゴシック" pitchFamily="-106" charset="-128"/>
              </a:rPr>
              <a:t> paints the moment where:</a:t>
            </a:r>
          </a:p>
          <a:p>
            <a:pPr lvl="2" rtl="0" fontAlgn="ctr"/>
            <a:r>
              <a:rPr lang="en-US" sz="1400" kern="1200" dirty="0">
                <a:solidFill>
                  <a:schemeClr val="tx1"/>
                </a:solidFill>
                <a:effectLst/>
                <a:latin typeface="+mn-lt"/>
                <a:ea typeface="ＭＳ Ｐゴシック" pitchFamily="-106" charset="-128"/>
                <a:cs typeface="ＭＳ Ｐゴシック" pitchFamily="-106" charset="-128"/>
              </a:rPr>
              <a:t>innocence stands exposed</a:t>
            </a:r>
          </a:p>
          <a:p>
            <a:pPr lvl="2" rtl="0" fontAlgn="ctr"/>
            <a:r>
              <a:rPr lang="en-US" sz="1400" kern="1200" dirty="0">
                <a:solidFill>
                  <a:schemeClr val="tx1"/>
                </a:solidFill>
                <a:effectLst/>
                <a:latin typeface="+mn-lt"/>
                <a:ea typeface="ＭＳ Ｐゴシック" pitchFamily="-106" charset="-128"/>
                <a:cs typeface="ＭＳ Ｐゴシック" pitchFamily="-106" charset="-128"/>
              </a:rPr>
              <a:t>power avoids responsibility</a:t>
            </a:r>
          </a:p>
          <a:p>
            <a:pPr lvl="2" rtl="0" fontAlgn="ctr"/>
            <a:r>
              <a:rPr lang="en-US" sz="1400" kern="1200" dirty="0">
                <a:solidFill>
                  <a:schemeClr val="tx1"/>
                </a:solidFill>
                <a:effectLst/>
                <a:latin typeface="+mn-lt"/>
                <a:ea typeface="ＭＳ Ｐゴシック" pitchFamily="-106" charset="-128"/>
                <a:cs typeface="ＭＳ Ｐゴシック" pitchFamily="-106" charset="-128"/>
              </a:rPr>
              <a:t>the crowd demands judgment</a:t>
            </a:r>
          </a:p>
          <a:p>
            <a:pPr lvl="1"/>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Theological Emphasis</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This is not a sentimental Christ.</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Jesus is:</a:t>
            </a:r>
          </a:p>
          <a:p>
            <a:pPr lvl="2" rtl="0" fontAlgn="ctr"/>
            <a:r>
              <a:rPr lang="en-US" sz="1400" kern="1200" dirty="0">
                <a:solidFill>
                  <a:schemeClr val="tx1"/>
                </a:solidFill>
                <a:effectLst/>
                <a:latin typeface="+mn-lt"/>
                <a:ea typeface="ＭＳ Ｐゴシック" pitchFamily="-106" charset="-128"/>
                <a:cs typeface="ＭＳ Ｐゴシック" pitchFamily="-106" charset="-128"/>
              </a:rPr>
              <a:t>humiliated</a:t>
            </a:r>
          </a:p>
          <a:p>
            <a:pPr lvl="2" rtl="0" fontAlgn="ctr"/>
            <a:r>
              <a:rPr lang="en-US" sz="1400" kern="1200" dirty="0">
                <a:solidFill>
                  <a:schemeClr val="tx1"/>
                </a:solidFill>
                <a:effectLst/>
                <a:latin typeface="+mn-lt"/>
                <a:ea typeface="ＭＳ Ｐゴシック" pitchFamily="-106" charset="-128"/>
                <a:cs typeface="ＭＳ Ｐゴシック" pitchFamily="-106" charset="-128"/>
              </a:rPr>
              <a:t>restrained</a:t>
            </a:r>
          </a:p>
          <a:p>
            <a:pPr lvl="2" rtl="0" fontAlgn="ctr"/>
            <a:r>
              <a:rPr lang="en-US" sz="1400" kern="1200" dirty="0">
                <a:solidFill>
                  <a:schemeClr val="tx1"/>
                </a:solidFill>
                <a:effectLst/>
                <a:latin typeface="+mn-lt"/>
                <a:ea typeface="ＭＳ Ｐゴシック" pitchFamily="-106" charset="-128"/>
                <a:cs typeface="ＭＳ Ｐゴシック" pitchFamily="-106" charset="-128"/>
              </a:rPr>
              <a:t>visibly human</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Yet He stands above the crowd, literally and morally.</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This reflects </a:t>
            </a:r>
            <a:r>
              <a:rPr lang="en-US" sz="1400" b="1" kern="1200" dirty="0">
                <a:solidFill>
                  <a:schemeClr val="tx1"/>
                </a:solidFill>
                <a:effectLst/>
                <a:latin typeface="+mn-lt"/>
                <a:ea typeface="ＭＳ Ｐゴシック" pitchFamily="-106" charset="-128"/>
                <a:cs typeface="ＭＳ Ｐゴシック" pitchFamily="-106" charset="-128"/>
              </a:rPr>
              <a:t>Isaiah 53:7</a:t>
            </a:r>
            <a:r>
              <a:rPr lang="en-US" sz="1400" kern="1200" dirty="0">
                <a:solidFill>
                  <a:schemeClr val="tx1"/>
                </a:solidFill>
                <a:effectLst/>
                <a:latin typeface="+mn-lt"/>
                <a:ea typeface="ＭＳ Ｐゴシック" pitchFamily="-106" charset="-128"/>
                <a:cs typeface="ＭＳ Ｐゴシック" pitchFamily="-106" charset="-128"/>
              </a:rPr>
              <a:t>:  </a:t>
            </a:r>
            <a:r>
              <a:rPr lang="en-US" sz="1400" i="1" kern="1200" dirty="0">
                <a:solidFill>
                  <a:schemeClr val="tx1"/>
                </a:solidFill>
                <a:effectLst/>
                <a:latin typeface="+mn-lt"/>
                <a:ea typeface="ＭＳ Ｐゴシック" pitchFamily="-106" charset="-128"/>
                <a:cs typeface="ＭＳ Ｐゴシック" pitchFamily="-106" charset="-128"/>
              </a:rPr>
              <a:t>“He was oppressed and afflicted, yet he did not open his mouth.”</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err="1">
                <a:solidFill>
                  <a:schemeClr val="tx1"/>
                </a:solidFill>
                <a:effectLst/>
                <a:latin typeface="+mn-lt"/>
                <a:ea typeface="ＭＳ Ｐゴシック" pitchFamily="-106" charset="-128"/>
                <a:cs typeface="ＭＳ Ｐゴシック" pitchFamily="-106" charset="-128"/>
              </a:rPr>
              <a:t>Ciseri</a:t>
            </a:r>
            <a:r>
              <a:rPr lang="en-US" sz="1400" kern="1200" dirty="0">
                <a:solidFill>
                  <a:schemeClr val="tx1"/>
                </a:solidFill>
                <a:effectLst/>
                <a:latin typeface="+mn-lt"/>
                <a:ea typeface="ＭＳ Ｐゴシック" pitchFamily="-106" charset="-128"/>
                <a:cs typeface="ＭＳ Ｐゴシック" pitchFamily="-106" charset="-128"/>
              </a:rPr>
              <a:t> emphasizes:</a:t>
            </a:r>
          </a:p>
          <a:p>
            <a:pPr lvl="2" rtl="0" fontAlgn="ctr"/>
            <a:r>
              <a:rPr lang="en-US" sz="1400" kern="1200" dirty="0">
                <a:solidFill>
                  <a:schemeClr val="tx1"/>
                </a:solidFill>
                <a:effectLst/>
                <a:latin typeface="+mn-lt"/>
                <a:ea typeface="ＭＳ Ｐゴシック" pitchFamily="-106" charset="-128"/>
                <a:cs typeface="ＭＳ Ｐゴシック" pitchFamily="-106" charset="-128"/>
              </a:rPr>
              <a:t>moral contrast, not drama</a:t>
            </a:r>
          </a:p>
          <a:p>
            <a:pPr lvl="2" rtl="0" fontAlgn="ctr"/>
            <a:r>
              <a:rPr lang="en-US" sz="1400" kern="1200" dirty="0">
                <a:solidFill>
                  <a:schemeClr val="tx1"/>
                </a:solidFill>
                <a:effectLst/>
                <a:latin typeface="+mn-lt"/>
                <a:ea typeface="ＭＳ Ｐゴシック" pitchFamily="-106" charset="-128"/>
                <a:cs typeface="ＭＳ Ｐゴシック" pitchFamily="-106" charset="-128"/>
              </a:rPr>
              <a:t>silence over spectacle</a:t>
            </a:r>
          </a:p>
          <a:p>
            <a:pPr lvl="2" rtl="0" fontAlgn="ctr"/>
            <a:r>
              <a:rPr lang="en-US" sz="1400" kern="1200" dirty="0">
                <a:solidFill>
                  <a:schemeClr val="tx1"/>
                </a:solidFill>
                <a:effectLst/>
                <a:latin typeface="+mn-lt"/>
                <a:ea typeface="ＭＳ Ｐゴシック" pitchFamily="-106" charset="-128"/>
                <a:cs typeface="ＭＳ Ｐゴシック" pitchFamily="-106" charset="-128"/>
              </a:rPr>
              <a:t>righteousness without defense</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Connection to this Study Theme</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This image visually captures:</a:t>
            </a:r>
          </a:p>
          <a:p>
            <a:pPr lvl="2" rtl="0" fontAlgn="ctr"/>
            <a:r>
              <a:rPr lang="en-US" sz="1400" b="1" kern="1200" dirty="0">
                <a:solidFill>
                  <a:schemeClr val="tx1"/>
                </a:solidFill>
                <a:effectLst/>
                <a:latin typeface="+mn-lt"/>
                <a:ea typeface="ＭＳ Ｐゴシック" pitchFamily="-106" charset="-128"/>
                <a:cs typeface="ＭＳ Ｐゴシック" pitchFamily="-106" charset="-128"/>
              </a:rPr>
              <a:t>the righteousness of God</a:t>
            </a:r>
            <a:r>
              <a:rPr lang="en-US" sz="1400" kern="1200" dirty="0">
                <a:solidFill>
                  <a:schemeClr val="tx1"/>
                </a:solidFill>
                <a:effectLst/>
                <a:latin typeface="+mn-lt"/>
                <a:ea typeface="ＭＳ Ｐゴシック" pitchFamily="-106" charset="-128"/>
                <a:cs typeface="ＭＳ Ｐゴシック" pitchFamily="-106" charset="-128"/>
              </a:rPr>
              <a:t> standing silent</a:t>
            </a:r>
          </a:p>
          <a:p>
            <a:pPr lvl="2" rtl="0" fontAlgn="ctr"/>
            <a:r>
              <a:rPr lang="en-US" sz="1400" b="1" kern="1200" dirty="0">
                <a:solidFill>
                  <a:schemeClr val="tx1"/>
                </a:solidFill>
                <a:effectLst/>
                <a:latin typeface="+mn-lt"/>
                <a:ea typeface="ＭＳ Ｐゴシック" pitchFamily="-106" charset="-128"/>
                <a:cs typeface="ＭＳ Ｐゴシック" pitchFamily="-106" charset="-128"/>
              </a:rPr>
              <a:t>the righteousness of man</a:t>
            </a:r>
            <a:r>
              <a:rPr lang="en-US" sz="1400" kern="1200" dirty="0">
                <a:solidFill>
                  <a:schemeClr val="tx1"/>
                </a:solidFill>
                <a:effectLst/>
                <a:latin typeface="+mn-lt"/>
                <a:ea typeface="ＭＳ Ｐゴシック" pitchFamily="-106" charset="-128"/>
                <a:cs typeface="ＭＳ Ｐゴシック" pitchFamily="-106" charset="-128"/>
              </a:rPr>
              <a:t> expressed through law, crowd pressure, and political calculation</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Pilate represents system-driven order.</a:t>
            </a:r>
          </a:p>
          <a:p>
            <a:pPr lvl="1"/>
            <a:r>
              <a:rPr lang="en-US" sz="1400" kern="1200" dirty="0">
                <a:solidFill>
                  <a:schemeClr val="tx1"/>
                </a:solidFill>
                <a:effectLst/>
                <a:latin typeface="+mn-lt"/>
                <a:ea typeface="ＭＳ Ｐゴシック" pitchFamily="-106" charset="-128"/>
                <a:cs typeface="ＭＳ Ｐゴシック" pitchFamily="-106" charset="-128"/>
              </a:rPr>
              <a:t>The crowd represents fear-driven morality.</a:t>
            </a:r>
          </a:p>
          <a:p>
            <a:pPr lvl="1"/>
            <a:r>
              <a:rPr lang="en-US" sz="1400" kern="1200" dirty="0">
                <a:solidFill>
                  <a:schemeClr val="tx1"/>
                </a:solidFill>
                <a:effectLst/>
                <a:latin typeface="+mn-lt"/>
                <a:ea typeface="ＭＳ Ｐゴシック" pitchFamily="-106" charset="-128"/>
                <a:cs typeface="ＭＳ Ｐゴシック" pitchFamily="-106" charset="-128"/>
              </a:rPr>
              <a:t>Jesus represents God’s righteousness without control.</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b="1" kern="1200" dirty="0">
                <a:solidFill>
                  <a:schemeClr val="tx1"/>
                </a:solidFill>
                <a:effectLst/>
                <a:latin typeface="+mn-lt"/>
                <a:ea typeface="ＭＳ Ｐゴシック" pitchFamily="-106" charset="-128"/>
                <a:cs typeface="ＭＳ Ｐゴシック" pitchFamily="-106" charset="-128"/>
              </a:rPr>
              <a:t>John 18:36</a:t>
            </a:r>
            <a:r>
              <a:rPr lang="en-US" sz="1400" b="0" i="0" kern="1200" dirty="0">
                <a:solidFill>
                  <a:schemeClr val="tx1"/>
                </a:solidFill>
                <a:effectLst/>
                <a:latin typeface="+mn-lt"/>
                <a:ea typeface="ＭＳ Ｐゴシック" pitchFamily="-106" charset="-128"/>
                <a:cs typeface="ＭＳ Ｐゴシック" pitchFamily="-106" charset="-128"/>
              </a:rPr>
              <a:t> : </a:t>
            </a:r>
            <a:r>
              <a:rPr lang="en-US" sz="1400" b="1" i="1" kern="1200" dirty="0">
                <a:solidFill>
                  <a:schemeClr val="tx1"/>
                </a:solidFill>
                <a:effectLst/>
                <a:latin typeface="+mn-lt"/>
                <a:ea typeface="ＭＳ Ｐゴシック" pitchFamily="-106" charset="-128"/>
                <a:cs typeface="ＭＳ Ｐゴシック" pitchFamily="-106" charset="-128"/>
              </a:rPr>
              <a:t>“My kingdom is not from this world.”</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That contrast is the heart of the painting.</a:t>
            </a:r>
          </a:p>
          <a:p>
            <a:pPr lvl="1"/>
            <a:endParaRPr lang="en-US" dirty="0"/>
          </a:p>
          <a:p>
            <a:endParaRPr lang="en-US" dirty="0"/>
          </a:p>
        </p:txBody>
      </p:sp>
      <p:sp>
        <p:nvSpPr>
          <p:cNvPr id="4" name="Slide Number Placeholder 3">
            <a:extLst>
              <a:ext uri="{FF2B5EF4-FFF2-40B4-BE49-F238E27FC236}">
                <a16:creationId xmlns:a16="http://schemas.microsoft.com/office/drawing/2014/main" id="{C6F29873-EE45-48AE-4AE0-E32B90947A31}"/>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2814491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8118B-7FA2-7978-0B8E-70AE27E11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385A7-378A-432B-25CD-5689CB85DC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F9B443-B68C-2C72-00E3-F6F3097B12E1}"/>
              </a:ext>
            </a:extLst>
          </p:cNvPr>
          <p:cNvSpPr>
            <a:spLocks noGrp="1"/>
          </p:cNvSpPr>
          <p:nvPr>
            <p:ph type="body" idx="1"/>
          </p:nvPr>
        </p:nvSpPr>
        <p:spPr/>
        <p:txBody>
          <a:bodyPr>
            <a:normAutofit fontScale="8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Uncertainty, Human Righteousness, and the Rise of Man-Made Systems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dirty="0"/>
              <a:t>Cultural Identity – the Pharisees, the Sadducees – Developed Theological Systems – Drove Culture – Enforced Their Own Righteousness</a:t>
            </a:r>
          </a:p>
          <a:p>
            <a:pPr marL="285750" indent="-285750">
              <a:buFont typeface="Arial" panose="020B0604020202020204" pitchFamily="34" charset="0"/>
              <a:buChar char="•"/>
            </a:pPr>
            <a:r>
              <a:rPr lang="en-US" sz="1400" dirty="0"/>
              <a:t>The Levites (scribes and priests) were prohibited from owning their own land, so they depended on contributions for food and goods.</a:t>
            </a:r>
          </a:p>
          <a:p>
            <a:pPr marL="285750" indent="-285750">
              <a:buFont typeface="Arial" panose="020B0604020202020204" pitchFamily="34" charset="0"/>
              <a:buChar char="•"/>
            </a:pPr>
            <a:r>
              <a:rPr lang="en-US" sz="1400" dirty="0"/>
              <a:t>That also means they never had to work the land or do the manual labor needed to produce what they ate.</a:t>
            </a:r>
          </a:p>
          <a:p>
            <a:pPr marL="285750" indent="-285750">
              <a:buFont typeface="Arial" panose="020B0604020202020204" pitchFamily="34" charset="0"/>
              <a:buChar char="•"/>
            </a:pPr>
            <a:r>
              <a:rPr lang="en-US" sz="1400" dirty="0"/>
              <a:t>They were of a higher class in society and culture.</a:t>
            </a:r>
          </a:p>
          <a:p>
            <a:pPr marL="285750" indent="-285750">
              <a:buFont typeface="Arial" panose="020B0604020202020204" pitchFamily="34" charset="0"/>
              <a:buChar char="•"/>
            </a:pPr>
            <a:r>
              <a:rPr lang="en-US" sz="1400" dirty="0"/>
              <a:t>They were insulated from the consequences of their own teaching.</a:t>
            </a:r>
          </a:p>
          <a:p>
            <a:pPr marL="285750" indent="-285750">
              <a:buFont typeface="Arial" panose="020B0604020202020204" pitchFamily="34" charset="0"/>
              <a:buChar char="•"/>
            </a:pPr>
            <a:r>
              <a:rPr lang="en-US" sz="1400" dirty="0"/>
              <a:t>Jesus identifies this problem…</a:t>
            </a:r>
          </a:p>
          <a:p>
            <a:pPr marL="742950" lvl="1" indent="-285750">
              <a:buFont typeface="Arial" panose="020B0604020202020204" pitchFamily="34" charset="0"/>
              <a:buChar char="•"/>
            </a:pPr>
            <a:r>
              <a:rPr lang="en-US" sz="1400" dirty="0"/>
              <a:t>It’s easy to write a law that says “don’t pick heads of grain on the Sabbath because that’s work” when you yourself are never starving or hungry enough to consider doing that.</a:t>
            </a:r>
          </a:p>
          <a:p>
            <a:pPr marL="742950" lvl="1" indent="-285750">
              <a:buFont typeface="Arial" panose="020B0604020202020204" pitchFamily="34" charset="0"/>
              <a:buChar char="•"/>
            </a:pPr>
            <a:r>
              <a:rPr lang="en-US" sz="1400" b="1" dirty="0"/>
              <a:t>Matthew 23:4 </a:t>
            </a:r>
            <a:r>
              <a:rPr lang="en-US" sz="1400" dirty="0"/>
              <a:t>: </a:t>
            </a:r>
            <a:r>
              <a:rPr lang="en-US" sz="1400" i="1" dirty="0"/>
              <a:t>“They tie up heavy, cumbersome loads and put them on other people’s shoulders, but they themselves are not willing to life a finger to move them.”</a:t>
            </a:r>
          </a:p>
          <a:p>
            <a:pPr marL="285750" indent="-285750">
              <a:buFont typeface="Arial" panose="020B0604020202020204" pitchFamily="34" charset="0"/>
              <a:buChar char="•"/>
            </a:pPr>
            <a:endParaRPr lang="en-US" sz="1400" dirty="0"/>
          </a:p>
          <a:p>
            <a:r>
              <a:rPr lang="en-US" sz="1400" b="1" dirty="0"/>
              <a:t>How does this relate to the Church today?</a:t>
            </a:r>
          </a:p>
          <a:p>
            <a:pPr marL="285750" indent="-285750">
              <a:buFont typeface="Arial" panose="020B0604020202020204" pitchFamily="34" charset="0"/>
              <a:buChar char="•"/>
            </a:pPr>
            <a:r>
              <a:rPr lang="en-US" sz="1400" dirty="0"/>
              <a:t>This same generalized pattern leads to Churches forcing truth-tellers out of the community for making everyone else uncomfortable.  </a:t>
            </a:r>
          </a:p>
          <a:p>
            <a:pPr marL="285750" indent="-285750">
              <a:buFont typeface="Arial" panose="020B0604020202020204" pitchFamily="34" charset="0"/>
              <a:buChar char="•"/>
            </a:pPr>
            <a:r>
              <a:rPr lang="en-US" sz="1400" dirty="0"/>
              <a:t>Once the truth-tellers are gone, though, the culture inevitably loses touch with reality.</a:t>
            </a:r>
          </a:p>
          <a:p>
            <a:pPr marL="171450" indent="-171450">
              <a:buFont typeface="Arial" panose="020B0604020202020204" pitchFamily="34" charset="0"/>
              <a:buChar char="•"/>
            </a:pPr>
            <a:endParaRPr lang="en-US" sz="1400" dirty="0"/>
          </a:p>
          <a:p>
            <a:r>
              <a:rPr lang="en-US" sz="1400" b="1" dirty="0"/>
              <a:t>When the people creating the systems and creating the culture and enforcing their own righteousness don’t experience the consequences of what they teach then they will always drift farther from reality.</a:t>
            </a:r>
          </a:p>
          <a:p>
            <a:endParaRPr lang="en-US" sz="1400" b="1" dirty="0"/>
          </a:p>
          <a:p>
            <a:r>
              <a:rPr lang="en-US" sz="1400" b="1" dirty="0"/>
              <a:t>But, we have God’s word…!  (they said)</a:t>
            </a:r>
          </a:p>
          <a:p>
            <a:pPr marL="171450" indent="-171450">
              <a:buFont typeface="Arial" panose="020B0604020202020204" pitchFamily="34" charset="0"/>
              <a:buChar char="•"/>
            </a:pPr>
            <a:r>
              <a:rPr lang="en-US" sz="1400" dirty="0"/>
              <a:t>When the religious leaders drifted away from truth, they didn’t see any difference between God’s word and their own words about God’s word.</a:t>
            </a:r>
          </a:p>
          <a:p>
            <a:pPr marL="171450" indent="-171450">
              <a:buFont typeface="Arial" panose="020B0604020202020204" pitchFamily="34" charset="0"/>
              <a:buChar char="•"/>
            </a:pPr>
            <a:r>
              <a:rPr lang="en-US" sz="1400" dirty="0"/>
              <a:t>Do we (i.e. broader Christendom) have a similar problem today?</a:t>
            </a:r>
          </a:p>
          <a:p>
            <a:pPr marL="628650" lvl="1" indent="-171450">
              <a:buFont typeface="Arial" panose="020B0604020202020204" pitchFamily="34" charset="0"/>
              <a:buChar char="•"/>
            </a:pPr>
            <a:r>
              <a:rPr lang="en-US" sz="1400" dirty="0"/>
              <a:t>Is the Bible silent on some cultural topics?  (Does the Bible provide clarity on all cultural topics?)</a:t>
            </a:r>
          </a:p>
          <a:p>
            <a:pPr marL="628650" lvl="1" indent="-171450">
              <a:buFont typeface="Arial" panose="020B0604020202020204" pitchFamily="34" charset="0"/>
              <a:buChar char="•"/>
            </a:pPr>
            <a:r>
              <a:rPr lang="en-US" sz="1400" dirty="0"/>
              <a:t>Does this cause uncertainty?</a:t>
            </a:r>
          </a:p>
          <a:p>
            <a:pPr marL="628650" lvl="1" indent="-171450">
              <a:buFont typeface="Arial" panose="020B0604020202020204" pitchFamily="34" charset="0"/>
              <a:buChar char="•"/>
            </a:pPr>
            <a:r>
              <a:rPr lang="en-US" sz="1400" dirty="0"/>
              <a:t>How do we deal with that…?   Extrapolate using Human Reasoning?</a:t>
            </a:r>
          </a:p>
          <a:p>
            <a:pPr marL="0" indent="0">
              <a:buFont typeface="Arial" panose="020B0604020202020204" pitchFamily="34" charset="0"/>
              <a:buNone/>
            </a:pPr>
            <a:endParaRPr lang="en-US" dirty="0"/>
          </a:p>
          <a:p>
            <a:pPr marL="0" indent="0">
              <a:buFont typeface="Arial" panose="020B0604020202020204" pitchFamily="34" charset="0"/>
              <a:buNone/>
            </a:pPr>
            <a:r>
              <a:rPr lang="en-US" sz="1400" b="1" dirty="0"/>
              <a:t>Consequences</a:t>
            </a:r>
          </a:p>
          <a:p>
            <a:pPr marL="171450" indent="-171450">
              <a:buFont typeface="Arial" panose="020B0604020202020204" pitchFamily="34" charset="0"/>
              <a:buChar char="•"/>
            </a:pPr>
            <a:r>
              <a:rPr lang="en-US" sz="1400" dirty="0"/>
              <a:t>Just like in Jesus’ time, things get harmful when you have this combination of culture that has drifted from reality and teachers who stop seeing any difference between their extrapolations from scripture and the actual scripture itself.</a:t>
            </a:r>
          </a:p>
          <a:p>
            <a:pPr marL="171450" indent="-171450">
              <a:buFont typeface="Arial" panose="020B0604020202020204" pitchFamily="34" charset="0"/>
              <a:buChar char="•"/>
            </a:pPr>
            <a:r>
              <a:rPr lang="en-US" sz="1400" dirty="0"/>
              <a:t>They have stopped teaching with humility and all those personal beliefs and interpretations get codified into man-made systems of theology.</a:t>
            </a:r>
          </a:p>
          <a:p>
            <a:pPr marL="171450" indent="-171450">
              <a:buFont typeface="Arial" panose="020B0604020202020204" pitchFamily="34" charset="0"/>
              <a:buChar char="•"/>
            </a:pPr>
            <a:r>
              <a:rPr lang="en-US" sz="1400" dirty="0"/>
              <a:t>Some will benefit…  some will be harmed.</a:t>
            </a:r>
          </a:p>
          <a:p>
            <a:pPr marL="171450" indent="-171450">
              <a:buFont typeface="Arial" panose="020B0604020202020204" pitchFamily="34" charset="0"/>
              <a:buChar char="•"/>
            </a:pPr>
            <a:r>
              <a:rPr lang="en-US" sz="1400" dirty="0"/>
              <a:t>There are a lot of instinctual and emotional forces working against those who seek God’s righteousness in every aspect of their life’s.</a:t>
            </a:r>
          </a:p>
          <a:p>
            <a:pPr marL="171450" indent="-171450">
              <a:buFont typeface="Arial" panose="020B0604020202020204" pitchFamily="34" charset="0"/>
              <a:buChar char="•"/>
            </a:pPr>
            <a:r>
              <a:rPr lang="en-US" sz="1400" dirty="0"/>
              <a:t>When humans elevate their systems of theology to be indisputably correct (certain), then they are essentially claiming to be God.</a:t>
            </a:r>
          </a:p>
          <a:p>
            <a:pPr marL="171450" indent="-171450">
              <a:buFont typeface="Arial" panose="020B0604020202020204" pitchFamily="34" charset="0"/>
              <a:buChar char="•"/>
            </a:pPr>
            <a:r>
              <a:rPr lang="en-US" sz="1400" dirty="0"/>
              <a:t>The “system” and “cultural norm” makes them feel certain.  They want that feeling more than they respect Truth.</a:t>
            </a:r>
          </a:p>
          <a:p>
            <a:pPr marL="171450" indent="-171450">
              <a:buFont typeface="Arial" panose="020B0604020202020204" pitchFamily="34" charset="0"/>
              <a:buChar char="•"/>
            </a:pPr>
            <a:endParaRPr lang="en-US" sz="1400" dirty="0"/>
          </a:p>
          <a:p>
            <a:pPr marL="0" indent="0">
              <a:buFont typeface="Arial" panose="020B0604020202020204" pitchFamily="34" charset="0"/>
              <a:buNone/>
            </a:pPr>
            <a:r>
              <a:rPr lang="en-US" sz="1400" b="1" dirty="0"/>
              <a:t>We won’t be able to withstand the culture around us if we aren’t </a:t>
            </a:r>
            <a:r>
              <a:rPr lang="en-US" sz="1400" b="1" u="sng" dirty="0"/>
              <a:t>SECURE IN HIM first</a:t>
            </a:r>
            <a:r>
              <a:rPr lang="en-US" sz="1400" b="1" dirty="0"/>
              <a:t>.   Trust and Obey.</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We need </a:t>
            </a:r>
            <a:r>
              <a:rPr lang="en-US" sz="1400" b="1" u="sng" dirty="0"/>
              <a:t>to prioritize Christ as Truth personified </a:t>
            </a:r>
            <a:r>
              <a:rPr lang="en-US" sz="1400" b="1" dirty="0"/>
              <a:t>and respect God’s Word as His revelation of truth accordingly.  Human interpretation or extrapolation are theory only.</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We need to </a:t>
            </a:r>
            <a:r>
              <a:rPr lang="en-US" sz="1400" b="1" u="sng" dirty="0"/>
              <a:t>prioritize relationship</a:t>
            </a:r>
            <a:r>
              <a:rPr lang="en-US" sz="1400" b="1" dirty="0"/>
              <a:t>…  this is the heart of the New Covenant, relationship with God Himself, and relationship with one another.  (Matthew 22)</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Relationship can be uncertain, messy, not logical.  Systems are certain, logical.  But, relationships are better, spiritual, and meaningful, and come with God’s blessings.</a:t>
            </a:r>
          </a:p>
          <a:p>
            <a:pPr marL="0" indent="0">
              <a:buFont typeface="Arial" panose="020B0604020202020204" pitchFamily="34" charset="0"/>
              <a:buNone/>
            </a:pPr>
            <a:endParaRPr lang="en-US" sz="1400" b="1" dirty="0"/>
          </a:p>
          <a:p>
            <a:pPr marL="0" indent="0">
              <a:buFont typeface="Arial" panose="020B0604020202020204" pitchFamily="34" charset="0"/>
              <a:buNone/>
            </a:pPr>
            <a:endParaRPr lang="en-US" sz="1400" b="1"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490CFCA-793D-860C-E846-0DD5536284FA}"/>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204280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A243E-E968-9996-1064-127B2F8D8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25D03-D5F2-820C-168A-CB66E72924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AE806D-95E3-585C-345A-23B3F6DDEAC7}"/>
              </a:ext>
            </a:extLst>
          </p:cNvPr>
          <p:cNvSpPr>
            <a:spLocks noGrp="1"/>
          </p:cNvSpPr>
          <p:nvPr>
            <p:ph type="body" idx="1"/>
          </p:nvPr>
        </p:nvSpPr>
        <p:spPr/>
        <p:txBody>
          <a:bodyPr>
            <a:normAutofit fontScale="92500" lnSpcReduction="20000"/>
          </a:bodyPr>
          <a:lstStyle/>
          <a:p>
            <a:r>
              <a:rPr lang="en-US" sz="1200" b="1" kern="1200" dirty="0">
                <a:solidFill>
                  <a:schemeClr val="tx1"/>
                </a:solidFill>
                <a:effectLst/>
                <a:latin typeface="+mn-lt"/>
                <a:ea typeface="ＭＳ Ｐゴシック" pitchFamily="-106" charset="-128"/>
                <a:cs typeface="ＭＳ Ｐゴシック" pitchFamily="-106" charset="-128"/>
              </a:rPr>
              <a:t>Why Uncertainty Pushes Us to Create Systems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p:txBody>
      </p:sp>
      <p:sp>
        <p:nvSpPr>
          <p:cNvPr id="4" name="Slide Number Placeholder 3">
            <a:extLst>
              <a:ext uri="{FF2B5EF4-FFF2-40B4-BE49-F238E27FC236}">
                <a16:creationId xmlns:a16="http://schemas.microsoft.com/office/drawing/2014/main" id="{ABB0C201-E575-FF85-6F67-B7662BB80A55}"/>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4036893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BE72E-736A-2813-C453-3DA3DB169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BB920-3222-F54D-7EC4-C399919575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6DDD48-EEAF-DDFF-732E-A004447B592D}"/>
              </a:ext>
            </a:extLst>
          </p:cNvPr>
          <p:cNvSpPr>
            <a:spLocks noGrp="1"/>
          </p:cNvSpPr>
          <p:nvPr>
            <p:ph type="body" idx="1"/>
          </p:nvPr>
        </p:nvSpPr>
        <p:spPr/>
        <p:txBody>
          <a:bodyPr>
            <a:normAutofit lnSpcReduction="10000"/>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Theology Can Become a Righteousness System</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400" b="1" dirty="0"/>
              <a:t>When the people creating the systems and creating the culture and enforcing their own righteousness don’t experience the consequences of what they teach then they will always drift farther from reality.</a:t>
            </a:r>
          </a:p>
          <a:p>
            <a:endParaRPr lang="en-US" sz="1400" b="1" dirty="0"/>
          </a:p>
          <a:p>
            <a:r>
              <a:rPr lang="en-US" sz="1400" b="1" dirty="0"/>
              <a:t>But, we have God’s word…!  (they said)</a:t>
            </a:r>
          </a:p>
          <a:p>
            <a:pPr marL="171450" indent="-171450">
              <a:buFont typeface="Arial" panose="020B0604020202020204" pitchFamily="34" charset="0"/>
              <a:buChar char="•"/>
            </a:pPr>
            <a:r>
              <a:rPr lang="en-US" sz="1400" dirty="0"/>
              <a:t>When the religious leaders drifted away from truth, they didn’t see any difference between God’s word and their own words about God’s word.</a:t>
            </a:r>
          </a:p>
          <a:p>
            <a:pPr marL="171450" indent="-171450">
              <a:buFont typeface="Arial" panose="020B0604020202020204" pitchFamily="34" charset="0"/>
              <a:buChar char="•"/>
            </a:pPr>
            <a:r>
              <a:rPr lang="en-US" sz="1400" dirty="0"/>
              <a:t>Do we (i.e. broader Christendom) have a similar problem today?</a:t>
            </a:r>
          </a:p>
          <a:p>
            <a:pPr marL="628650" lvl="1" indent="-171450">
              <a:buFont typeface="Arial" panose="020B0604020202020204" pitchFamily="34" charset="0"/>
              <a:buChar char="•"/>
            </a:pPr>
            <a:r>
              <a:rPr lang="en-US" sz="1400" dirty="0"/>
              <a:t>Is the Bible silent on some cultural topics?  (Does the Bible provide clarity on all cultural topics?)</a:t>
            </a:r>
          </a:p>
          <a:p>
            <a:pPr marL="628650" lvl="1" indent="-171450">
              <a:buFont typeface="Arial" panose="020B0604020202020204" pitchFamily="34" charset="0"/>
              <a:buChar char="•"/>
            </a:pPr>
            <a:r>
              <a:rPr lang="en-US" sz="1400" dirty="0"/>
              <a:t>Does this cause uncertainty?</a:t>
            </a:r>
          </a:p>
          <a:p>
            <a:pPr marL="628650" lvl="1" indent="-171450">
              <a:buFont typeface="Arial" panose="020B0604020202020204" pitchFamily="34" charset="0"/>
              <a:buChar char="•"/>
            </a:pPr>
            <a:r>
              <a:rPr lang="en-US" sz="1400" dirty="0"/>
              <a:t>How do we deal with that…?   Extrapolate using Human Reasoning?</a:t>
            </a:r>
          </a:p>
          <a:p>
            <a:pPr marL="0" indent="0">
              <a:buFont typeface="Arial" panose="020B0604020202020204" pitchFamily="34" charset="0"/>
              <a:buNone/>
            </a:pPr>
            <a:endParaRPr lang="en-US" dirty="0"/>
          </a:p>
          <a:p>
            <a:pPr marL="0" indent="0">
              <a:buFont typeface="Arial" panose="020B0604020202020204" pitchFamily="34" charset="0"/>
              <a:buNone/>
            </a:pPr>
            <a:r>
              <a:rPr lang="en-US" sz="1400" b="1" dirty="0"/>
              <a:t>Consequences</a:t>
            </a:r>
          </a:p>
          <a:p>
            <a:pPr marL="171450" indent="-171450">
              <a:buFont typeface="Arial" panose="020B0604020202020204" pitchFamily="34" charset="0"/>
              <a:buChar char="•"/>
            </a:pPr>
            <a:r>
              <a:rPr lang="en-US" sz="1400" dirty="0"/>
              <a:t>Just like in Jesus’ time, things get harmful when you have this combination of culture that has drifted from reality and teachers who stop seeing any difference between their extrapolations from scripture and the actual scripture itself.</a:t>
            </a:r>
          </a:p>
          <a:p>
            <a:pPr marL="171450" indent="-171450">
              <a:buFont typeface="Arial" panose="020B0604020202020204" pitchFamily="34" charset="0"/>
              <a:buChar char="•"/>
            </a:pPr>
            <a:r>
              <a:rPr lang="en-US" sz="1400" dirty="0"/>
              <a:t>They have stopped teaching with humility and all those personal beliefs and interpretations get codified into man-made systems of theology.</a:t>
            </a:r>
          </a:p>
          <a:p>
            <a:pPr marL="171450" indent="-171450">
              <a:buFont typeface="Arial" panose="020B0604020202020204" pitchFamily="34" charset="0"/>
              <a:buChar char="•"/>
            </a:pPr>
            <a:r>
              <a:rPr lang="en-US" sz="1400" dirty="0"/>
              <a:t>Some will benefit…  some will be harmed.</a:t>
            </a:r>
          </a:p>
          <a:p>
            <a:pPr marL="171450" indent="-171450">
              <a:buFont typeface="Arial" panose="020B0604020202020204" pitchFamily="34" charset="0"/>
              <a:buChar char="•"/>
            </a:pPr>
            <a:r>
              <a:rPr lang="en-US" sz="1400" dirty="0"/>
              <a:t>There are a lot of instinctual and emotional forces working against those who seek God’s righteousness in every aspect of their life’s.</a:t>
            </a:r>
          </a:p>
          <a:p>
            <a:pPr marL="171450" indent="-171450">
              <a:buFont typeface="Arial" panose="020B0604020202020204" pitchFamily="34" charset="0"/>
              <a:buChar char="•"/>
            </a:pPr>
            <a:r>
              <a:rPr lang="en-US" sz="1400" dirty="0"/>
              <a:t>When humans elevate their systems of theology to be indisputably correct (certain), then they are essentially claiming to be God.</a:t>
            </a:r>
          </a:p>
          <a:p>
            <a:pPr marL="171450" indent="-171450">
              <a:buFont typeface="Arial" panose="020B0604020202020204" pitchFamily="34" charset="0"/>
              <a:buChar char="•"/>
            </a:pPr>
            <a:r>
              <a:rPr lang="en-US" sz="1400" dirty="0"/>
              <a:t>The “system” and “cultural norm” makes them feel certain.  They want that feeling more than they respect Truth.</a:t>
            </a:r>
          </a:p>
          <a:p>
            <a:pPr marL="171450" indent="-171450">
              <a:buFont typeface="Arial" panose="020B0604020202020204" pitchFamily="34" charset="0"/>
              <a:buChar char="•"/>
            </a:pPr>
            <a:endParaRPr lang="en-US" sz="1400" dirty="0"/>
          </a:p>
          <a:p>
            <a:pPr marL="0" indent="0">
              <a:buFont typeface="Arial" panose="020B0604020202020204" pitchFamily="34" charset="0"/>
              <a:buNone/>
            </a:pPr>
            <a:r>
              <a:rPr lang="en-US" sz="1400" b="1" dirty="0"/>
              <a:t>We won’t be able to withstand the culture around us if we aren’t </a:t>
            </a:r>
            <a:r>
              <a:rPr lang="en-US" sz="1400" b="1" u="sng" dirty="0"/>
              <a:t>SECURE IN HIM first</a:t>
            </a:r>
            <a:r>
              <a:rPr lang="en-US" sz="1400" b="1" dirty="0"/>
              <a:t>.   Trust and Obey.</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We need </a:t>
            </a:r>
            <a:r>
              <a:rPr lang="en-US" sz="1400" b="1" u="sng" dirty="0"/>
              <a:t>to prioritize Christ as Truth personified </a:t>
            </a:r>
            <a:r>
              <a:rPr lang="en-US" sz="1400" b="1" dirty="0"/>
              <a:t>and respect God’s Word as His revelation of truth accordingly.  Human interpretation or extrapolation are theory only.</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We need to </a:t>
            </a:r>
            <a:r>
              <a:rPr lang="en-US" sz="1400" b="1" u="sng" dirty="0"/>
              <a:t>prioritize relationship</a:t>
            </a:r>
            <a:r>
              <a:rPr lang="en-US" sz="1400" b="1" dirty="0"/>
              <a:t>…  this is the heart of the New Covenant, relationship with God Himself, and relationship with one another.  (Matthew 22)</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Relationship can be uncertain, messy, not logical.  Systems are certain, logical.  But, relationships are better, spiritual, and meaningful, and come with God’s blessings.</a:t>
            </a:r>
          </a:p>
          <a:p>
            <a:pPr marL="0" indent="0">
              <a:buFont typeface="Arial" panose="020B0604020202020204" pitchFamily="34" charset="0"/>
              <a:buNone/>
            </a:pPr>
            <a:endParaRPr lang="en-US" sz="1400" b="1" dirty="0"/>
          </a:p>
          <a:p>
            <a:pPr marL="0" indent="0">
              <a:buFont typeface="Arial" panose="020B0604020202020204" pitchFamily="34" charset="0"/>
              <a:buNone/>
            </a:pPr>
            <a:endParaRPr lang="en-US" sz="1400" b="1"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endParaRPr lang="en-US" dirty="0"/>
          </a:p>
        </p:txBody>
      </p:sp>
      <p:sp>
        <p:nvSpPr>
          <p:cNvPr id="4" name="Slide Number Placeholder 3">
            <a:extLst>
              <a:ext uri="{FF2B5EF4-FFF2-40B4-BE49-F238E27FC236}">
                <a16:creationId xmlns:a16="http://schemas.microsoft.com/office/drawing/2014/main" id="{F14C2BA7-B27D-22B4-86C3-53551186F80B}"/>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1344647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028D9-2E86-C5DA-8719-9866F36CF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3D491-1144-8C8C-10D8-72278BF0A2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E5F4A-14E2-02C3-D084-FA8685B9D5BF}"/>
              </a:ext>
            </a:extLst>
          </p:cNvPr>
          <p:cNvSpPr>
            <a:spLocks noGrp="1"/>
          </p:cNvSpPr>
          <p:nvPr>
            <p:ph type="body" idx="1"/>
          </p:nvPr>
        </p:nvSpPr>
        <p:spPr/>
        <p:txBody>
          <a:bodyPr>
            <a:normAutofit lnSpcReduction="10000"/>
          </a:bodyPr>
          <a:lstStyle/>
          <a:p>
            <a:r>
              <a:rPr lang="en-US" sz="1400" b="1" kern="1200" dirty="0">
                <a:solidFill>
                  <a:schemeClr val="tx1"/>
                </a:solidFill>
                <a:effectLst/>
                <a:latin typeface="+mn-lt"/>
                <a:ea typeface="ＭＳ Ｐゴシック" pitchFamily="-106" charset="-128"/>
                <a:cs typeface="ＭＳ Ｐゴシック" pitchFamily="-106" charset="-128"/>
              </a:rPr>
              <a:t>Ideology as a Replacement for God’s Righteousness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Biblical Righteousness Is Relational, Not Cultural</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Bible does not define righteousness by culture, feelings, or majority opinion.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defines righteousness by God.</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Isaiah 33:22  </a:t>
            </a:r>
            <a:r>
              <a:rPr lang="en-US" sz="1400" kern="1200" dirty="0">
                <a:solidFill>
                  <a:schemeClr val="tx1"/>
                </a:solidFill>
                <a:effectLst/>
                <a:latin typeface="+mn-lt"/>
                <a:ea typeface="ＭＳ Ｐゴシック" pitchFamily="-106" charset="-128"/>
                <a:cs typeface="ＭＳ Ｐゴシック" pitchFamily="-106" charset="-128"/>
              </a:rPr>
              <a:t>“For the LORD is our ruler, the LORD is our lawgiver, the LORD is our king; he will deliver us.”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When people define righteousness, it shifts.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What is “right” today may be “wrong” tomorrow.</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When God defines righteousness, it is stable and true.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This is why Scripture consistently warns against doing what is “right in one’s own eyes”</a:t>
            </a:r>
          </a:p>
          <a:p>
            <a:endParaRPr lang="en-US" sz="1400"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Judges </a:t>
            </a:r>
            <a:r>
              <a:rPr lang="en-US" sz="1400" b="1" i="1" u="none" strike="noStrike" kern="1200" baseline="0" dirty="0">
                <a:solidFill>
                  <a:schemeClr val="tx1"/>
                </a:solidFill>
                <a:latin typeface="+mn-lt"/>
                <a:ea typeface="ＭＳ Ｐゴシック" pitchFamily="-106" charset="-128"/>
                <a:cs typeface="ＭＳ Ｐゴシック" pitchFamily="-106" charset="-128"/>
              </a:rPr>
              <a:t>21:25  </a:t>
            </a:r>
            <a:r>
              <a:rPr lang="en-US" sz="1400" b="0" i="1" u="none" strike="noStrike" kern="1200" baseline="0" dirty="0">
                <a:solidFill>
                  <a:schemeClr val="tx1"/>
                </a:solidFill>
                <a:latin typeface="+mn-lt"/>
                <a:ea typeface="ＭＳ Ｐゴシック" pitchFamily="-106" charset="-128"/>
                <a:cs typeface="ＭＳ Ｐゴシック" pitchFamily="-106" charset="-128"/>
              </a:rPr>
              <a:t>In those days there was no king in Israel; </a:t>
            </a:r>
            <a:r>
              <a:rPr lang="en-US" sz="1400" b="1" i="1" u="none" strike="noStrike" kern="1200" baseline="0" dirty="0">
                <a:solidFill>
                  <a:schemeClr val="tx1"/>
                </a:solidFill>
                <a:latin typeface="+mn-lt"/>
                <a:ea typeface="ＭＳ Ｐゴシック" pitchFamily="-106" charset="-128"/>
                <a:cs typeface="ＭＳ Ｐゴシック" pitchFamily="-106" charset="-128"/>
              </a:rPr>
              <a:t>everyone did what was right in his own eyes.</a:t>
            </a:r>
          </a:p>
          <a:p>
            <a:endParaRPr lang="en-US" sz="1200" kern="1200" dirty="0">
              <a:solidFill>
                <a:schemeClr val="tx1"/>
              </a:solidFill>
              <a:effectLst/>
              <a:latin typeface="+mn-lt"/>
              <a:ea typeface="ＭＳ Ｐゴシック" pitchFamily="-106" charset="-128"/>
              <a:cs typeface="ＭＳ Ｐゴシック" pitchFamily="-106" charset="-128"/>
            </a:endParaRPr>
          </a:p>
        </p:txBody>
      </p:sp>
      <p:sp>
        <p:nvSpPr>
          <p:cNvPr id="4" name="Slide Number Placeholder 3">
            <a:extLst>
              <a:ext uri="{FF2B5EF4-FFF2-40B4-BE49-F238E27FC236}">
                <a16:creationId xmlns:a16="http://schemas.microsoft.com/office/drawing/2014/main" id="{EF89DBDD-77AE-5E0F-DDC7-D3F916A7539B}"/>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309401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9BBA-1903-9D3E-4CA8-A85DE01CD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91098-3FCE-4664-2E66-16C680D7C4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AED84F-17C6-F833-CBCC-375A43BEA8EF}"/>
              </a:ext>
            </a:extLst>
          </p:cNvPr>
          <p:cNvSpPr>
            <a:spLocks noGrp="1"/>
          </p:cNvSpPr>
          <p:nvPr>
            <p:ph type="body" idx="1"/>
          </p:nvPr>
        </p:nvSpPr>
        <p:spPr/>
        <p:txBody>
          <a:bodyPr>
            <a:normAutofit fontScale="92500" lnSpcReduction="20000"/>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Social Contracts and the Righteousness of Man</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08C057B0-B555-08A4-097A-1F8B18BF7F18}"/>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2640746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D6AA9-30AE-364B-439B-D4EEEF598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A5021-4F24-B1A7-C1E9-76BAD9AFE8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7FA3AE-C0CC-865A-C6D8-C11610B43D69}"/>
              </a:ext>
            </a:extLst>
          </p:cNvPr>
          <p:cNvSpPr>
            <a:spLocks noGrp="1"/>
          </p:cNvSpPr>
          <p:nvPr>
            <p:ph type="body" idx="1"/>
          </p:nvPr>
        </p:nvSpPr>
        <p:spPr/>
        <p:txBody>
          <a:bodyPr>
            <a:normAutofit lnSpcReduction="10000"/>
          </a:bodyPr>
          <a:lstStyle/>
          <a:p>
            <a:r>
              <a:rPr lang="en-US" sz="1200" b="1" kern="1200" dirty="0">
                <a:solidFill>
                  <a:schemeClr val="tx1"/>
                </a:solidFill>
                <a:effectLst/>
                <a:latin typeface="+mn-lt"/>
                <a:ea typeface="ＭＳ Ｐゴシック" pitchFamily="-106" charset="-128"/>
                <a:cs typeface="ＭＳ Ｐゴシック" pitchFamily="-106" charset="-128"/>
              </a:rPr>
              <a:t>Why Social Contracts Feel Righteous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0384671D-2BF7-F9D0-ED3E-EB3B862D185D}"/>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2974400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46AA-8552-70D9-CFB1-464DB37AC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FCCEB-E923-B1AB-C0D5-F75B14C51F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2741BC-62BC-57E0-767A-FE222F2A88A4}"/>
              </a:ext>
            </a:extLst>
          </p:cNvPr>
          <p:cNvSpPr>
            <a:spLocks noGrp="1"/>
          </p:cNvSpPr>
          <p:nvPr>
            <p:ph type="body" idx="1"/>
          </p:nvPr>
        </p:nvSpPr>
        <p:spPr/>
        <p:txBody>
          <a:bodyPr>
            <a:normAutofit lnSpcReduction="10000"/>
          </a:bodyPr>
          <a:lstStyle/>
          <a:p>
            <a:r>
              <a:rPr lang="en-US" sz="1200" b="1" kern="1200" dirty="0">
                <a:solidFill>
                  <a:schemeClr val="tx1"/>
                </a:solidFill>
                <a:effectLst/>
                <a:latin typeface="+mn-lt"/>
                <a:ea typeface="ＭＳ Ｐゴシック" pitchFamily="-106" charset="-128"/>
                <a:cs typeface="ＭＳ Ｐゴシック" pitchFamily="-106" charset="-128"/>
              </a:rPr>
              <a:t>Apostolic Contrast: Covenant vs. Contract</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CD75A18B-09D1-A5AF-0FC7-8E0E49F8E91B}"/>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dirty="0"/>
          </a:p>
        </p:txBody>
      </p:sp>
    </p:spTree>
    <p:extLst>
      <p:ext uri="{BB962C8B-B14F-4D97-AF65-F5344CB8AC3E}">
        <p14:creationId xmlns:p14="http://schemas.microsoft.com/office/powerpoint/2010/main" val="2991915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AE9D-F895-53D2-1F9E-10D88DEC4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331F4-A968-753B-C73E-7631BA096A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BA5757-EA85-85B7-5815-ADC5CFB2AD8A}"/>
              </a:ext>
            </a:extLst>
          </p:cNvPr>
          <p:cNvSpPr>
            <a:spLocks noGrp="1"/>
          </p:cNvSpPr>
          <p:nvPr>
            <p:ph type="body" idx="1"/>
          </p:nvPr>
        </p:nvSpPr>
        <p:spPr/>
        <p:txBody>
          <a:bodyPr>
            <a:normAutofit/>
          </a:bodyPr>
          <a:lstStyle/>
          <a:p>
            <a:r>
              <a:rPr lang="en-US" sz="1200" b="1" kern="1200" dirty="0">
                <a:solidFill>
                  <a:schemeClr val="tx1"/>
                </a:solidFill>
                <a:effectLst/>
                <a:latin typeface="+mn-lt"/>
                <a:ea typeface="ＭＳ Ｐゴシック" pitchFamily="-106" charset="-128"/>
                <a:cs typeface="ＭＳ Ｐゴシック" pitchFamily="-106" charset="-128"/>
              </a:rPr>
              <a:t>Why Human Righteousness Always Hardens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sz="1200" kern="1200" dirty="0">
              <a:solidFill>
                <a:schemeClr val="tx1"/>
              </a:solidFill>
              <a:effectLst/>
              <a:latin typeface="+mn-lt"/>
              <a:ea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The Root Issue Is Trust, Not Knowledge</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CDF5DB80-D42F-E934-EB10-A7EFA5FF7C52}"/>
              </a:ext>
            </a:extLst>
          </p:cNvPr>
          <p:cNvSpPr>
            <a:spLocks noGrp="1"/>
          </p:cNvSpPr>
          <p:nvPr>
            <p:ph type="sldNum" sz="quarter" idx="10"/>
          </p:nvPr>
        </p:nvSpPr>
        <p:spPr/>
        <p:txBody>
          <a:bodyPr/>
          <a:lstStyle/>
          <a:p>
            <a:pPr>
              <a:defRPr/>
            </a:pPr>
            <a:fld id="{07776858-791E-4C8D-8FA3-473B3AFECFAC}" type="slidenum">
              <a:rPr lang="en-US" smtClean="0"/>
              <a:pPr>
                <a:defRPr/>
              </a:pPr>
              <a:t>10</a:t>
            </a:fld>
            <a:endParaRPr lang="en-US" dirty="0"/>
          </a:p>
        </p:txBody>
      </p:sp>
    </p:spTree>
    <p:extLst>
      <p:ext uri="{BB962C8B-B14F-4D97-AF65-F5344CB8AC3E}">
        <p14:creationId xmlns:p14="http://schemas.microsoft.com/office/powerpoint/2010/main" val="2034266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14545-E77E-C0C8-72D6-119555AF9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20499-3970-DF44-5577-AF700BEDF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D8A7C8-AE66-B681-C0A0-376B16AB27C5}"/>
              </a:ext>
            </a:extLst>
          </p:cNvPr>
          <p:cNvSpPr>
            <a:spLocks noGrp="1"/>
          </p:cNvSpPr>
          <p:nvPr>
            <p:ph type="body" idx="1"/>
          </p:nvPr>
        </p:nvSpPr>
        <p:spPr/>
        <p:txBody>
          <a:bodyPr>
            <a:normAutofit lnSpcReduction="10000"/>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Summary</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pPr rtl="0" fontAlgn="ctr"/>
            <a:r>
              <a:rPr lang="en-US" sz="1200" kern="1200" dirty="0">
                <a:solidFill>
                  <a:schemeClr val="tx1"/>
                </a:solidFill>
                <a:effectLst/>
                <a:latin typeface="+mn-lt"/>
                <a:ea typeface="ＭＳ Ｐゴシック" pitchFamily="-106" charset="-128"/>
                <a:cs typeface="ＭＳ Ｐゴシック" pitchFamily="-106" charset="-128"/>
              </a:rPr>
              <a:t>Uncertainty drives fear.</a:t>
            </a:r>
          </a:p>
          <a:p>
            <a:pPr rtl="0" fontAlgn="ctr"/>
            <a:r>
              <a:rPr lang="en-US" sz="1200" kern="1200" dirty="0">
                <a:solidFill>
                  <a:schemeClr val="tx1"/>
                </a:solidFill>
                <a:effectLst/>
                <a:latin typeface="+mn-lt"/>
                <a:ea typeface="ＭＳ Ｐゴシック" pitchFamily="-106" charset="-128"/>
                <a:cs typeface="ＭＳ Ｐゴシック" pitchFamily="-106" charset="-128"/>
              </a:rPr>
              <a:t>Fear demands control.</a:t>
            </a:r>
          </a:p>
          <a:p>
            <a:pPr rtl="0" fontAlgn="ctr"/>
            <a:r>
              <a:rPr lang="en-US" sz="1200" kern="1200" dirty="0">
                <a:solidFill>
                  <a:schemeClr val="tx1"/>
                </a:solidFill>
                <a:effectLst/>
                <a:latin typeface="+mn-lt"/>
                <a:ea typeface="ＭＳ Ｐゴシック" pitchFamily="-106" charset="-128"/>
                <a:cs typeface="ＭＳ Ｐゴシック" pitchFamily="-106" charset="-128"/>
              </a:rPr>
              <a:t>Control creates systems.</a:t>
            </a:r>
          </a:p>
          <a:p>
            <a:pPr rtl="0" fontAlgn="ctr"/>
            <a:r>
              <a:rPr lang="en-US" sz="1200" kern="1200" dirty="0">
                <a:solidFill>
                  <a:schemeClr val="tx1"/>
                </a:solidFill>
                <a:effectLst/>
                <a:latin typeface="+mn-lt"/>
                <a:ea typeface="ＭＳ Ｐゴシック" pitchFamily="-106" charset="-128"/>
                <a:cs typeface="ＭＳ Ｐゴシック" pitchFamily="-106" charset="-128"/>
              </a:rPr>
              <a:t>Systems produce human righteousness.</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Social contracts, theology, and ideology all become substitutes when they replace trust in God’s righteousness.</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The gospel does not remove uncertainty.</a:t>
            </a:r>
          </a:p>
          <a:p>
            <a:r>
              <a:rPr lang="en-US" sz="1200" kern="1200" dirty="0">
                <a:solidFill>
                  <a:schemeClr val="tx1"/>
                </a:solidFill>
                <a:effectLst/>
                <a:latin typeface="+mn-lt"/>
                <a:ea typeface="ＭＳ Ｐゴシック" pitchFamily="-106" charset="-128"/>
                <a:cs typeface="ＭＳ Ｐゴシック" pitchFamily="-106" charset="-128"/>
              </a:rPr>
              <a:t>It relocates trust.</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Proverbs 3:5  </a:t>
            </a:r>
            <a:r>
              <a:rPr lang="en-US" sz="1200" kern="1200" dirty="0">
                <a:solidFill>
                  <a:schemeClr val="tx1"/>
                </a:solidFill>
                <a:effectLst/>
                <a:latin typeface="+mn-lt"/>
                <a:ea typeface="ＭＳ Ｐゴシック" pitchFamily="-106" charset="-128"/>
                <a:cs typeface="ＭＳ Ｐゴシック" pitchFamily="-106" charset="-128"/>
              </a:rPr>
              <a:t>“Trust in the LORD with all your heart, and do not rely on your own understanding.”</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80BCF92D-88B5-C29F-DB54-11A9D4912FF8}"/>
              </a:ext>
            </a:extLst>
          </p:cNvPr>
          <p:cNvSpPr>
            <a:spLocks noGrp="1"/>
          </p:cNvSpPr>
          <p:nvPr>
            <p:ph type="sldNum" sz="quarter" idx="10"/>
          </p:nvPr>
        </p:nvSpPr>
        <p:spPr/>
        <p:txBody>
          <a:bodyPr/>
          <a:lstStyle/>
          <a:p>
            <a:pPr>
              <a:defRPr/>
            </a:pPr>
            <a:fld id="{07776858-791E-4C8D-8FA3-473B3AFECFAC}" type="slidenum">
              <a:rPr lang="en-US" smtClean="0"/>
              <a:pPr>
                <a:defRPr/>
              </a:pPr>
              <a:t>11</a:t>
            </a:fld>
            <a:endParaRPr lang="en-US" dirty="0"/>
          </a:p>
        </p:txBody>
      </p:sp>
    </p:spTree>
    <p:extLst>
      <p:ext uri="{BB962C8B-B14F-4D97-AF65-F5344CB8AC3E}">
        <p14:creationId xmlns:p14="http://schemas.microsoft.com/office/powerpoint/2010/main" val="4010536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6359-B1CE-CCED-AEFD-E625506BE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C9985-C34E-B2B2-72D6-C7F15C987C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7EB9EE-015F-B3B2-B054-9F315281B6D4}"/>
              </a:ext>
            </a:extLst>
          </p:cNvPr>
          <p:cNvSpPr>
            <a:spLocks noGrp="1"/>
          </p:cNvSpPr>
          <p:nvPr>
            <p:ph type="body" idx="1"/>
          </p:nvPr>
        </p:nvSpPr>
        <p:spPr/>
        <p:txBody>
          <a:bodyPr>
            <a:normAutofit/>
          </a:bodyPr>
          <a:lstStyle/>
          <a:p>
            <a:endParaRPr lang="en-US" sz="1600" dirty="0"/>
          </a:p>
          <a:p>
            <a:endParaRPr lang="en-US" dirty="0"/>
          </a:p>
        </p:txBody>
      </p:sp>
      <p:sp>
        <p:nvSpPr>
          <p:cNvPr id="4" name="Slide Number Placeholder 3">
            <a:extLst>
              <a:ext uri="{FF2B5EF4-FFF2-40B4-BE49-F238E27FC236}">
                <a16:creationId xmlns:a16="http://schemas.microsoft.com/office/drawing/2014/main" id="{6DF6C88C-9B76-A323-2D9C-A6A011DF0D93}"/>
              </a:ext>
            </a:extLst>
          </p:cNvPr>
          <p:cNvSpPr>
            <a:spLocks noGrp="1"/>
          </p:cNvSpPr>
          <p:nvPr>
            <p:ph type="sldNum" sz="quarter" idx="10"/>
          </p:nvPr>
        </p:nvSpPr>
        <p:spPr/>
        <p:txBody>
          <a:bodyPr/>
          <a:lstStyle/>
          <a:p>
            <a:pPr>
              <a:defRPr/>
            </a:pPr>
            <a:fld id="{07776858-791E-4C8D-8FA3-473B3AFECFAC}" type="slidenum">
              <a:rPr lang="en-US" smtClean="0"/>
              <a:pPr>
                <a:defRPr/>
              </a:pPr>
              <a:t>12</a:t>
            </a:fld>
            <a:endParaRPr lang="en-US" dirty="0"/>
          </a:p>
        </p:txBody>
      </p:sp>
    </p:spTree>
    <p:extLst>
      <p:ext uri="{BB962C8B-B14F-4D97-AF65-F5344CB8AC3E}">
        <p14:creationId xmlns:p14="http://schemas.microsoft.com/office/powerpoint/2010/main" val="1241311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AD57-92B0-A89D-53F5-C87238A50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A26A3-CFE9-3C50-8174-3CAA1F6EBA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CA9811-FB75-C4A8-E4DB-6C7ACDA838CE}"/>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1. Righteousness Starts With God, Not Man</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dirty="0"/>
          </a:p>
          <a:p>
            <a:r>
              <a:rPr lang="en-US" dirty="0"/>
              <a:t>What are several words that are synonymous or roughly equivalent to “righteousness”.</a:t>
            </a:r>
          </a:p>
          <a:p>
            <a:endParaRPr lang="en-US" dirty="0"/>
          </a:p>
          <a:p>
            <a:r>
              <a:rPr lang="en-US" dirty="0"/>
              <a:t>Regardless of God’s display of righteousness, mankind, throughout history has sought to establish himself as the measure of all things.  Why?</a:t>
            </a:r>
          </a:p>
          <a:p>
            <a:endParaRPr lang="en-US" dirty="0"/>
          </a:p>
          <a:p>
            <a:r>
              <a:rPr lang="en-US" dirty="0"/>
              <a:t>Name some of the attempts at man-based righteousness?</a:t>
            </a:r>
          </a:p>
          <a:p>
            <a:endParaRPr lang="en-US" dirty="0"/>
          </a:p>
          <a:p>
            <a:endParaRPr lang="en-US" dirty="0"/>
          </a:p>
        </p:txBody>
      </p:sp>
      <p:sp>
        <p:nvSpPr>
          <p:cNvPr id="4" name="Slide Number Placeholder 3">
            <a:extLst>
              <a:ext uri="{FF2B5EF4-FFF2-40B4-BE49-F238E27FC236}">
                <a16:creationId xmlns:a16="http://schemas.microsoft.com/office/drawing/2014/main" id="{F83ACFA3-2C2F-4CC0-AB9A-C399752124C1}"/>
              </a:ext>
            </a:extLst>
          </p:cNvPr>
          <p:cNvSpPr>
            <a:spLocks noGrp="1"/>
          </p:cNvSpPr>
          <p:nvPr>
            <p:ph type="sldNum" sz="quarter" idx="10"/>
          </p:nvPr>
        </p:nvSpPr>
        <p:spPr/>
        <p:txBody>
          <a:bodyPr/>
          <a:lstStyle/>
          <a:p>
            <a:pPr>
              <a:defRPr/>
            </a:pPr>
            <a:fld id="{07776858-791E-4C8D-8FA3-473B3AFECFAC}" type="slidenum">
              <a:rPr lang="en-US" smtClean="0"/>
              <a:pPr>
                <a:defRPr/>
              </a:pPr>
              <a:t>13</a:t>
            </a:fld>
            <a:endParaRPr lang="en-US" dirty="0"/>
          </a:p>
        </p:txBody>
      </p:sp>
    </p:spTree>
    <p:extLst>
      <p:ext uri="{BB962C8B-B14F-4D97-AF65-F5344CB8AC3E}">
        <p14:creationId xmlns:p14="http://schemas.microsoft.com/office/powerpoint/2010/main" val="3598520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25E0-2D8F-8843-BF14-8A274E33F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2C18F-7155-DD2B-C02D-455CEC395C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66C983-9E5B-E053-5B7B-FD971883A412}"/>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2. God’s Character Is the Measure of Right and Wrong</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Righteousness in Scripture is tied to God’s character.</a:t>
            </a:r>
          </a:p>
          <a:p>
            <a:r>
              <a:rPr lang="en-US" sz="1200" kern="1200" dirty="0">
                <a:solidFill>
                  <a:schemeClr val="tx1"/>
                </a:solidFill>
                <a:effectLst/>
                <a:latin typeface="+mn-lt"/>
                <a:ea typeface="ＭＳ Ｐゴシック" pitchFamily="-106" charset="-128"/>
                <a:cs typeface="ＭＳ Ｐゴシック" pitchFamily="-106" charset="-128"/>
              </a:rPr>
              <a:t>It is not abstract.</a:t>
            </a:r>
          </a:p>
          <a:p>
            <a:r>
              <a:rPr lang="en-US" sz="1200" kern="1200" dirty="0">
                <a:solidFill>
                  <a:schemeClr val="tx1"/>
                </a:solidFill>
                <a:effectLst/>
                <a:latin typeface="+mn-lt"/>
                <a:ea typeface="ＭＳ Ｐゴシック" pitchFamily="-106" charset="-128"/>
                <a:cs typeface="ＭＳ Ｐゴシック" pitchFamily="-106" charset="-128"/>
              </a:rPr>
              <a:t>It is personal.</a:t>
            </a:r>
          </a:p>
          <a:p>
            <a:r>
              <a:rPr lang="en-US" sz="1200" b="1" kern="1200" dirty="0">
                <a:solidFill>
                  <a:schemeClr val="tx1"/>
                </a:solidFill>
                <a:effectLst/>
                <a:latin typeface="+mn-lt"/>
                <a:ea typeface="ＭＳ Ｐゴシック" pitchFamily="-106" charset="-128"/>
                <a:cs typeface="ＭＳ Ｐゴシック" pitchFamily="-106" charset="-128"/>
              </a:rPr>
              <a:t>Deuteronomy 32:4</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“He is a Rock, his work is perfect, for all his ways are just. He is a reliable God who is never unjust, he is fair and upright.”</a:t>
            </a:r>
          </a:p>
          <a:p>
            <a:r>
              <a:rPr lang="en-US" sz="1200" kern="1200" dirty="0">
                <a:solidFill>
                  <a:schemeClr val="tx1"/>
                </a:solidFill>
                <a:effectLst/>
                <a:latin typeface="+mn-lt"/>
                <a:ea typeface="ＭＳ Ｐゴシック" pitchFamily="-106" charset="-128"/>
                <a:cs typeface="ＭＳ Ｐゴシック" pitchFamily="-106" charset="-128"/>
              </a:rPr>
              <a:t>Everything God does flows from who He is.</a:t>
            </a:r>
          </a:p>
          <a:p>
            <a:r>
              <a:rPr lang="en-US" sz="1200" kern="1200" dirty="0">
                <a:solidFill>
                  <a:schemeClr val="tx1"/>
                </a:solidFill>
                <a:effectLst/>
                <a:latin typeface="+mn-lt"/>
                <a:ea typeface="ＭＳ Ｐゴシック" pitchFamily="-106" charset="-128"/>
                <a:cs typeface="ＭＳ Ｐゴシック" pitchFamily="-106" charset="-128"/>
              </a:rPr>
              <a:t>He is just.</a:t>
            </a:r>
          </a:p>
          <a:p>
            <a:r>
              <a:rPr lang="en-US" sz="1200" kern="1200" dirty="0">
                <a:solidFill>
                  <a:schemeClr val="tx1"/>
                </a:solidFill>
                <a:effectLst/>
                <a:latin typeface="+mn-lt"/>
                <a:ea typeface="ＭＳ Ｐゴシック" pitchFamily="-106" charset="-128"/>
                <a:cs typeface="ＭＳ Ｐゴシック" pitchFamily="-106" charset="-128"/>
              </a:rPr>
              <a:t>He is faithful.</a:t>
            </a:r>
          </a:p>
          <a:p>
            <a:r>
              <a:rPr lang="en-US" sz="1200" kern="1200" dirty="0">
                <a:solidFill>
                  <a:schemeClr val="tx1"/>
                </a:solidFill>
                <a:effectLst/>
                <a:latin typeface="+mn-lt"/>
                <a:ea typeface="ＭＳ Ｐゴシック" pitchFamily="-106" charset="-128"/>
                <a:cs typeface="ＭＳ Ｐゴシック" pitchFamily="-106" charset="-128"/>
              </a:rPr>
              <a:t>He is upright.</a:t>
            </a:r>
          </a:p>
          <a:p>
            <a:r>
              <a:rPr lang="en-US" sz="1200" kern="1200" dirty="0">
                <a:solidFill>
                  <a:schemeClr val="tx1"/>
                </a:solidFill>
                <a:effectLst/>
                <a:latin typeface="+mn-lt"/>
                <a:ea typeface="ＭＳ Ｐゴシック" pitchFamily="-106" charset="-128"/>
                <a:cs typeface="ＭＳ Ｐゴシック" pitchFamily="-106" charset="-128"/>
              </a:rPr>
              <a:t>This means righteousness is not first about rules.</a:t>
            </a:r>
          </a:p>
          <a:p>
            <a:r>
              <a:rPr lang="en-US" sz="1200" kern="1200" dirty="0">
                <a:solidFill>
                  <a:schemeClr val="tx1"/>
                </a:solidFill>
                <a:effectLst/>
                <a:latin typeface="+mn-lt"/>
                <a:ea typeface="ＭＳ Ｐゴシック" pitchFamily="-106" charset="-128"/>
                <a:cs typeface="ＭＳ Ｐゴシック" pitchFamily="-106" charset="-128"/>
              </a:rPr>
              <a:t>It is about relationship with a righteous God.</a:t>
            </a:r>
          </a:p>
          <a:p>
            <a:endParaRPr lang="en-US" dirty="0"/>
          </a:p>
        </p:txBody>
      </p:sp>
      <p:sp>
        <p:nvSpPr>
          <p:cNvPr id="4" name="Slide Number Placeholder 3">
            <a:extLst>
              <a:ext uri="{FF2B5EF4-FFF2-40B4-BE49-F238E27FC236}">
                <a16:creationId xmlns:a16="http://schemas.microsoft.com/office/drawing/2014/main" id="{2AD89D0A-B707-3ABF-E5C6-C5CE364EC7B4}"/>
              </a:ext>
            </a:extLst>
          </p:cNvPr>
          <p:cNvSpPr>
            <a:spLocks noGrp="1"/>
          </p:cNvSpPr>
          <p:nvPr>
            <p:ph type="sldNum" sz="quarter" idx="10"/>
          </p:nvPr>
        </p:nvSpPr>
        <p:spPr/>
        <p:txBody>
          <a:bodyPr/>
          <a:lstStyle/>
          <a:p>
            <a:pPr>
              <a:defRPr/>
            </a:pPr>
            <a:fld id="{07776858-791E-4C8D-8FA3-473B3AFECFAC}" type="slidenum">
              <a:rPr lang="en-US" smtClean="0"/>
              <a:pPr>
                <a:defRPr/>
              </a:pPr>
              <a:t>14</a:t>
            </a:fld>
            <a:endParaRPr lang="en-US" dirty="0"/>
          </a:p>
        </p:txBody>
      </p:sp>
    </p:spTree>
    <p:extLst>
      <p:ext uri="{BB962C8B-B14F-4D97-AF65-F5344CB8AC3E}">
        <p14:creationId xmlns:p14="http://schemas.microsoft.com/office/powerpoint/2010/main" val="4160630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E5029-E8CC-BA78-790F-258B7AD9C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A2D35-B58E-BDEF-0C44-D7AC31202D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72D2D5-F18D-6A01-4F20-CDE4AD9EE0B0}"/>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3. God’s Law Reflects His Righteousness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God’s law does not create righteousness.</a:t>
            </a:r>
          </a:p>
          <a:p>
            <a:r>
              <a:rPr lang="en-US" sz="1200" kern="1200" dirty="0">
                <a:solidFill>
                  <a:schemeClr val="tx1"/>
                </a:solidFill>
                <a:effectLst/>
                <a:latin typeface="+mn-lt"/>
                <a:ea typeface="ＭＳ Ｐゴシック" pitchFamily="-106" charset="-128"/>
                <a:cs typeface="ＭＳ Ｐゴシック" pitchFamily="-106" charset="-128"/>
              </a:rPr>
              <a:t>It reveals it.</a:t>
            </a:r>
          </a:p>
          <a:p>
            <a:r>
              <a:rPr lang="en-US" sz="1200" kern="1200" dirty="0">
                <a:solidFill>
                  <a:schemeClr val="tx1"/>
                </a:solidFill>
                <a:effectLst/>
                <a:latin typeface="+mn-lt"/>
                <a:ea typeface="ＭＳ Ｐゴシック" pitchFamily="-106" charset="-128"/>
                <a:cs typeface="ＭＳ Ｐゴシック" pitchFamily="-106" charset="-128"/>
              </a:rPr>
              <a:t>The law shows us what God values because it reflects His character.</a:t>
            </a:r>
          </a:p>
          <a:p>
            <a:r>
              <a:rPr lang="en-US" sz="1200" b="1" kern="1200" dirty="0">
                <a:solidFill>
                  <a:schemeClr val="tx1"/>
                </a:solidFill>
                <a:effectLst/>
                <a:latin typeface="+mn-lt"/>
                <a:ea typeface="ＭＳ Ｐゴシック" pitchFamily="-106" charset="-128"/>
                <a:cs typeface="ＭＳ Ｐゴシック" pitchFamily="-106" charset="-128"/>
              </a:rPr>
              <a:t>Psalm 119:142</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“Your justice is eternal, and your law is reliable.”</a:t>
            </a:r>
          </a:p>
          <a:p>
            <a:r>
              <a:rPr lang="en-US" sz="1200" kern="1200" dirty="0">
                <a:solidFill>
                  <a:schemeClr val="tx1"/>
                </a:solidFill>
                <a:effectLst/>
                <a:latin typeface="+mn-lt"/>
                <a:ea typeface="ＭＳ Ｐゴシック" pitchFamily="-106" charset="-128"/>
                <a:cs typeface="ＭＳ Ｐゴシック" pitchFamily="-106" charset="-128"/>
              </a:rPr>
              <a:t>God’s law is righteous because God is righteous.</a:t>
            </a:r>
          </a:p>
          <a:p>
            <a:r>
              <a:rPr lang="en-US" sz="1200" kern="1200" dirty="0">
                <a:solidFill>
                  <a:schemeClr val="tx1"/>
                </a:solidFill>
                <a:effectLst/>
                <a:latin typeface="+mn-lt"/>
                <a:ea typeface="ＭＳ Ｐゴシック" pitchFamily="-106" charset="-128"/>
                <a:cs typeface="ＭＳ Ｐゴシック" pitchFamily="-106" charset="-128"/>
              </a:rPr>
              <a:t>It shows us what life looks like when it aligns with Him.</a:t>
            </a:r>
          </a:p>
          <a:p>
            <a:r>
              <a:rPr lang="en-US" sz="1200" kern="1200" dirty="0">
                <a:solidFill>
                  <a:schemeClr val="tx1"/>
                </a:solidFill>
                <a:effectLst/>
                <a:latin typeface="+mn-lt"/>
                <a:ea typeface="ＭＳ Ｐゴシック" pitchFamily="-106" charset="-128"/>
                <a:cs typeface="ＭＳ Ｐゴシック" pitchFamily="-106" charset="-128"/>
              </a:rPr>
              <a:t>Early Christians taught that the law points to God’s nature, but it cannot produce righteousness in sinful people.</a:t>
            </a:r>
          </a:p>
          <a:p>
            <a:r>
              <a:rPr lang="en-US" sz="1200" kern="1200" dirty="0">
                <a:solidFill>
                  <a:schemeClr val="tx1"/>
                </a:solidFill>
                <a:effectLst/>
                <a:latin typeface="+mn-lt"/>
                <a:ea typeface="ＭＳ Ｐゴシック" pitchFamily="-106" charset="-128"/>
                <a:cs typeface="ＭＳ Ｐゴシック" pitchFamily="-106" charset="-128"/>
              </a:rPr>
              <a:t>It reveals the standard.</a:t>
            </a:r>
          </a:p>
          <a:p>
            <a:r>
              <a:rPr lang="en-US" sz="1200" kern="1200" dirty="0">
                <a:solidFill>
                  <a:schemeClr val="tx1"/>
                </a:solidFill>
                <a:effectLst/>
                <a:latin typeface="+mn-lt"/>
                <a:ea typeface="ＭＳ Ｐゴシック" pitchFamily="-106" charset="-128"/>
                <a:cs typeface="ＭＳ Ｐゴシック" pitchFamily="-106" charset="-128"/>
              </a:rPr>
              <a:t>It does not supply the power.</a:t>
            </a:r>
          </a:p>
          <a:p>
            <a:endParaRPr lang="en-US" dirty="0"/>
          </a:p>
        </p:txBody>
      </p:sp>
      <p:sp>
        <p:nvSpPr>
          <p:cNvPr id="4" name="Slide Number Placeholder 3">
            <a:extLst>
              <a:ext uri="{FF2B5EF4-FFF2-40B4-BE49-F238E27FC236}">
                <a16:creationId xmlns:a16="http://schemas.microsoft.com/office/drawing/2014/main" id="{B94CAF73-82C9-F4FA-C165-3B91CAECDE66}"/>
              </a:ext>
            </a:extLst>
          </p:cNvPr>
          <p:cNvSpPr>
            <a:spLocks noGrp="1"/>
          </p:cNvSpPr>
          <p:nvPr>
            <p:ph type="sldNum" sz="quarter" idx="10"/>
          </p:nvPr>
        </p:nvSpPr>
        <p:spPr/>
        <p:txBody>
          <a:bodyPr/>
          <a:lstStyle/>
          <a:p>
            <a:pPr>
              <a:defRPr/>
            </a:pPr>
            <a:fld id="{07776858-791E-4C8D-8FA3-473B3AFECFAC}" type="slidenum">
              <a:rPr lang="en-US" smtClean="0"/>
              <a:pPr>
                <a:defRPr/>
              </a:pPr>
              <a:t>15</a:t>
            </a:fld>
            <a:endParaRPr lang="en-US" dirty="0"/>
          </a:p>
        </p:txBody>
      </p:sp>
    </p:spTree>
    <p:extLst>
      <p:ext uri="{BB962C8B-B14F-4D97-AF65-F5344CB8AC3E}">
        <p14:creationId xmlns:p14="http://schemas.microsoft.com/office/powerpoint/2010/main" val="91722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235E-D5B4-EF5D-28C9-9F4AB0DB3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794BE-0C64-6DF5-8B3F-5F191F7001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34C45D-7964-DDFB-E263-5A1D740B5726}"/>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4. Biblical Righteousness Is Relational, Not Cultural</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Bible does not define righteousness by culture, feelings, or majority opinion.</a:t>
            </a:r>
          </a:p>
          <a:p>
            <a:r>
              <a:rPr lang="en-US" sz="1200" kern="1200" dirty="0">
                <a:solidFill>
                  <a:schemeClr val="tx1"/>
                </a:solidFill>
                <a:effectLst/>
                <a:latin typeface="+mn-lt"/>
                <a:ea typeface="ＭＳ Ｐゴシック" pitchFamily="-106" charset="-128"/>
                <a:cs typeface="ＭＳ Ｐゴシック" pitchFamily="-106" charset="-128"/>
              </a:rPr>
              <a:t>It defines righteousness by God.</a:t>
            </a:r>
          </a:p>
          <a:p>
            <a:r>
              <a:rPr lang="en-US" sz="1200" b="1" kern="1200" dirty="0">
                <a:solidFill>
                  <a:schemeClr val="tx1"/>
                </a:solidFill>
                <a:effectLst/>
                <a:latin typeface="+mn-lt"/>
                <a:ea typeface="ＭＳ Ｐゴシック" pitchFamily="-106" charset="-128"/>
                <a:cs typeface="ＭＳ Ｐゴシック" pitchFamily="-106" charset="-128"/>
              </a:rPr>
              <a:t>Isaiah 33:22</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“For the LORD is our ruler, the LORD is our lawgiver, the LORD is our king; he will deliver us.”</a:t>
            </a:r>
          </a:p>
          <a:p>
            <a:r>
              <a:rPr lang="en-US" sz="1200" kern="1200" dirty="0">
                <a:solidFill>
                  <a:schemeClr val="tx1"/>
                </a:solidFill>
                <a:effectLst/>
                <a:latin typeface="+mn-lt"/>
                <a:ea typeface="ＭＳ Ｐゴシック" pitchFamily="-106" charset="-128"/>
                <a:cs typeface="ＭＳ Ｐゴシック" pitchFamily="-106" charset="-128"/>
              </a:rPr>
              <a:t>When people define righteousness, it shifts.</a:t>
            </a:r>
          </a:p>
          <a:p>
            <a:r>
              <a:rPr lang="en-US" sz="1200" kern="1200" dirty="0">
                <a:solidFill>
                  <a:schemeClr val="tx1"/>
                </a:solidFill>
                <a:effectLst/>
                <a:latin typeface="+mn-lt"/>
                <a:ea typeface="ＭＳ Ｐゴシック" pitchFamily="-106" charset="-128"/>
                <a:cs typeface="ＭＳ Ｐゴシック" pitchFamily="-106" charset="-128"/>
              </a:rPr>
              <a:t>What is “right” today may be “wrong” tomorrow.</a:t>
            </a:r>
          </a:p>
          <a:p>
            <a:r>
              <a:rPr lang="en-US" sz="1200" kern="1200" dirty="0">
                <a:solidFill>
                  <a:schemeClr val="tx1"/>
                </a:solidFill>
                <a:effectLst/>
                <a:latin typeface="+mn-lt"/>
                <a:ea typeface="ＭＳ Ｐゴシック" pitchFamily="-106" charset="-128"/>
                <a:cs typeface="ＭＳ Ｐゴシック" pitchFamily="-106" charset="-128"/>
              </a:rPr>
              <a:t>When God defines righteousness, it is stable and true.</a:t>
            </a:r>
          </a:p>
          <a:p>
            <a:r>
              <a:rPr lang="en-US" sz="1200" kern="1200" dirty="0">
                <a:solidFill>
                  <a:schemeClr val="tx1"/>
                </a:solidFill>
                <a:effectLst/>
                <a:latin typeface="+mn-lt"/>
                <a:ea typeface="ＭＳ Ｐゴシック" pitchFamily="-106" charset="-128"/>
                <a:cs typeface="ＭＳ Ｐゴシック" pitchFamily="-106" charset="-128"/>
              </a:rPr>
              <a:t>This is why Scripture consistently warns against doing what is “right in one’s own eyes”</a:t>
            </a:r>
          </a:p>
          <a:p>
            <a:r>
              <a:rPr lang="en-US" sz="1200" kern="1200" dirty="0">
                <a:solidFill>
                  <a:schemeClr val="tx1"/>
                </a:solidFill>
                <a:effectLst/>
                <a:latin typeface="+mn-lt"/>
                <a:ea typeface="ＭＳ Ｐゴシック" pitchFamily="-106" charset="-128"/>
                <a:cs typeface="ＭＳ Ｐゴシック" pitchFamily="-106" charset="-128"/>
              </a:rPr>
              <a:t>(see Judges 21:25).</a:t>
            </a:r>
          </a:p>
          <a:p>
            <a:endParaRPr lang="en-US" dirty="0"/>
          </a:p>
        </p:txBody>
      </p:sp>
      <p:sp>
        <p:nvSpPr>
          <p:cNvPr id="4" name="Slide Number Placeholder 3">
            <a:extLst>
              <a:ext uri="{FF2B5EF4-FFF2-40B4-BE49-F238E27FC236}">
                <a16:creationId xmlns:a16="http://schemas.microsoft.com/office/drawing/2014/main" id="{E35F5006-FA01-2103-8875-D7300BCC9D4C}"/>
              </a:ext>
            </a:extLst>
          </p:cNvPr>
          <p:cNvSpPr>
            <a:spLocks noGrp="1"/>
          </p:cNvSpPr>
          <p:nvPr>
            <p:ph type="sldNum" sz="quarter" idx="10"/>
          </p:nvPr>
        </p:nvSpPr>
        <p:spPr/>
        <p:txBody>
          <a:bodyPr/>
          <a:lstStyle/>
          <a:p>
            <a:pPr>
              <a:defRPr/>
            </a:pPr>
            <a:fld id="{07776858-791E-4C8D-8FA3-473B3AFECFAC}" type="slidenum">
              <a:rPr lang="en-US" smtClean="0"/>
              <a:pPr>
                <a:defRPr/>
              </a:pPr>
              <a:t>16</a:t>
            </a:fld>
            <a:endParaRPr lang="en-US" dirty="0"/>
          </a:p>
        </p:txBody>
      </p:sp>
    </p:spTree>
    <p:extLst>
      <p:ext uri="{BB962C8B-B14F-4D97-AF65-F5344CB8AC3E}">
        <p14:creationId xmlns:p14="http://schemas.microsoft.com/office/powerpoint/2010/main" val="595444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5E480-576A-436A-43C9-B5301BC24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BBF39-9A4A-414B-8724-84A02FA47D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C20965-3387-3A85-6AA3-BAC4D4F9DE11}"/>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5. Righteousness Is Revealed Before It Is Required</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God reveals His righteousness before He calls people to respond.</a:t>
            </a:r>
          </a:p>
          <a:p>
            <a:r>
              <a:rPr lang="en-US" sz="1200" kern="1200" dirty="0">
                <a:solidFill>
                  <a:schemeClr val="tx1"/>
                </a:solidFill>
                <a:effectLst/>
                <a:latin typeface="+mn-lt"/>
                <a:ea typeface="ＭＳ Ｐゴシック" pitchFamily="-106" charset="-128"/>
                <a:cs typeface="ＭＳ Ｐゴシック" pitchFamily="-106" charset="-128"/>
              </a:rPr>
              <a:t>We see this pattern throughout Scripture:</a:t>
            </a:r>
          </a:p>
          <a:p>
            <a:pPr rtl="0" fontAlgn="ctr"/>
            <a:r>
              <a:rPr lang="en-US" sz="1200" kern="1200" dirty="0">
                <a:solidFill>
                  <a:schemeClr val="tx1"/>
                </a:solidFill>
                <a:effectLst/>
                <a:latin typeface="+mn-lt"/>
                <a:ea typeface="ＭＳ Ｐゴシック" pitchFamily="-106" charset="-128"/>
                <a:cs typeface="ＭＳ Ｐゴシック" pitchFamily="-106" charset="-128"/>
              </a:rPr>
              <a:t>God reveals Himself.</a:t>
            </a:r>
          </a:p>
          <a:p>
            <a:pPr rtl="0" fontAlgn="ctr"/>
            <a:r>
              <a:rPr lang="en-US" sz="1200" kern="1200" dirty="0">
                <a:solidFill>
                  <a:schemeClr val="tx1"/>
                </a:solidFill>
                <a:effectLst/>
                <a:latin typeface="+mn-lt"/>
                <a:ea typeface="ＭＳ Ｐゴシック" pitchFamily="-106" charset="-128"/>
                <a:cs typeface="ＭＳ Ｐゴシック" pitchFamily="-106" charset="-128"/>
              </a:rPr>
              <a:t>People see His holiness.</a:t>
            </a:r>
          </a:p>
          <a:p>
            <a:pPr rtl="0" fontAlgn="ctr"/>
            <a:r>
              <a:rPr lang="en-US" sz="1200" kern="1200" dirty="0">
                <a:solidFill>
                  <a:schemeClr val="tx1"/>
                </a:solidFill>
                <a:effectLst/>
                <a:latin typeface="+mn-lt"/>
                <a:ea typeface="ＭＳ Ｐゴシック" pitchFamily="-106" charset="-128"/>
                <a:cs typeface="ＭＳ Ｐゴシック" pitchFamily="-106" charset="-128"/>
              </a:rPr>
              <a:t>Then they understand their need.</a:t>
            </a:r>
          </a:p>
          <a:p>
            <a:r>
              <a:rPr lang="en-US" sz="1200" b="1" kern="1200" dirty="0">
                <a:solidFill>
                  <a:schemeClr val="tx1"/>
                </a:solidFill>
                <a:effectLst/>
                <a:latin typeface="+mn-lt"/>
                <a:ea typeface="ＭＳ Ｐゴシック" pitchFamily="-106" charset="-128"/>
                <a:cs typeface="ＭＳ Ｐゴシック" pitchFamily="-106" charset="-128"/>
              </a:rPr>
              <a:t>Isaiah 5:16</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LORD who commands armies will be exalted when he executes justice, the holy God will be recognized as holy when he vindicates the innocent.”</a:t>
            </a:r>
          </a:p>
          <a:p>
            <a:r>
              <a:rPr lang="en-US" sz="1200" kern="1200" dirty="0">
                <a:solidFill>
                  <a:schemeClr val="tx1"/>
                </a:solidFill>
                <a:effectLst/>
                <a:latin typeface="+mn-lt"/>
                <a:ea typeface="ＭＳ Ｐゴシック" pitchFamily="-106" charset="-128"/>
                <a:cs typeface="ＭＳ Ｐゴシック" pitchFamily="-106" charset="-128"/>
              </a:rPr>
              <a:t>We do not discover righteousness by self-effort.</a:t>
            </a:r>
          </a:p>
          <a:p>
            <a:r>
              <a:rPr lang="en-US" sz="1200" kern="1200" dirty="0">
                <a:solidFill>
                  <a:schemeClr val="tx1"/>
                </a:solidFill>
                <a:effectLst/>
                <a:latin typeface="+mn-lt"/>
                <a:ea typeface="ＭＳ Ｐゴシック" pitchFamily="-106" charset="-128"/>
                <a:cs typeface="ＭＳ Ｐゴシック" pitchFamily="-106" charset="-128"/>
              </a:rPr>
              <a:t>We discover it by seeing God clearly.</a:t>
            </a:r>
          </a:p>
          <a:p>
            <a:endParaRPr lang="en-US" dirty="0"/>
          </a:p>
        </p:txBody>
      </p:sp>
      <p:sp>
        <p:nvSpPr>
          <p:cNvPr id="4" name="Slide Number Placeholder 3">
            <a:extLst>
              <a:ext uri="{FF2B5EF4-FFF2-40B4-BE49-F238E27FC236}">
                <a16:creationId xmlns:a16="http://schemas.microsoft.com/office/drawing/2014/main" id="{EAC0645D-C5DA-DE84-8E1F-E6E7C2A759BF}"/>
              </a:ext>
            </a:extLst>
          </p:cNvPr>
          <p:cNvSpPr>
            <a:spLocks noGrp="1"/>
          </p:cNvSpPr>
          <p:nvPr>
            <p:ph type="sldNum" sz="quarter" idx="10"/>
          </p:nvPr>
        </p:nvSpPr>
        <p:spPr/>
        <p:txBody>
          <a:bodyPr/>
          <a:lstStyle/>
          <a:p>
            <a:pPr>
              <a:defRPr/>
            </a:pPr>
            <a:fld id="{07776858-791E-4C8D-8FA3-473B3AFECFAC}" type="slidenum">
              <a:rPr lang="en-US" smtClean="0"/>
              <a:pPr>
                <a:defRPr/>
              </a:pPr>
              <a:t>17</a:t>
            </a:fld>
            <a:endParaRPr lang="en-US" dirty="0"/>
          </a:p>
        </p:txBody>
      </p:sp>
    </p:spTree>
    <p:extLst>
      <p:ext uri="{BB962C8B-B14F-4D97-AF65-F5344CB8AC3E}">
        <p14:creationId xmlns:p14="http://schemas.microsoft.com/office/powerpoint/2010/main" val="279942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09FA1-244C-2038-1139-546DEB8B6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3FE88-C9E5-42C1-C21B-3F39058EEA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474463-E63B-06A5-C836-BCFA3E601138}"/>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6. Early Christian Understanding of Righteousness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Early Christian teachers understood righteousness as:</a:t>
            </a:r>
          </a:p>
          <a:p>
            <a:pPr rtl="0" fontAlgn="ctr"/>
            <a:r>
              <a:rPr lang="en-US" sz="1200" kern="1200" dirty="0">
                <a:solidFill>
                  <a:schemeClr val="tx1"/>
                </a:solidFill>
                <a:effectLst/>
                <a:latin typeface="+mn-lt"/>
                <a:ea typeface="ＭＳ Ｐゴシック" pitchFamily="-106" charset="-128"/>
                <a:cs typeface="ＭＳ Ｐゴシック" pitchFamily="-106" charset="-128"/>
              </a:rPr>
              <a:t>God’s nature.</a:t>
            </a:r>
          </a:p>
          <a:p>
            <a:pPr rtl="0" fontAlgn="ctr"/>
            <a:r>
              <a:rPr lang="en-US" sz="1200" kern="1200" dirty="0">
                <a:solidFill>
                  <a:schemeClr val="tx1"/>
                </a:solidFill>
                <a:effectLst/>
                <a:latin typeface="+mn-lt"/>
                <a:ea typeface="ＭＳ Ｐゴシック" pitchFamily="-106" charset="-128"/>
                <a:cs typeface="ＭＳ Ｐゴシック" pitchFamily="-106" charset="-128"/>
              </a:rPr>
              <a:t>God’s gift.</a:t>
            </a:r>
          </a:p>
          <a:p>
            <a:pPr rtl="0" fontAlgn="ctr"/>
            <a:r>
              <a:rPr lang="en-US" sz="1200" kern="1200" dirty="0">
                <a:solidFill>
                  <a:schemeClr val="tx1"/>
                </a:solidFill>
                <a:effectLst/>
                <a:latin typeface="+mn-lt"/>
                <a:ea typeface="ＭＳ Ｐゴシック" pitchFamily="-106" charset="-128"/>
                <a:cs typeface="ＭＳ Ｐゴシック" pitchFamily="-106" charset="-128"/>
              </a:rPr>
              <a:t>God’s work in His people.</a:t>
            </a:r>
          </a:p>
          <a:p>
            <a:r>
              <a:rPr lang="en-US" sz="1200" kern="1200" dirty="0">
                <a:solidFill>
                  <a:schemeClr val="tx1"/>
                </a:solidFill>
                <a:effectLst/>
                <a:latin typeface="+mn-lt"/>
                <a:ea typeface="ＭＳ Ｐゴシック" pitchFamily="-106" charset="-128"/>
                <a:cs typeface="ＭＳ Ｐゴシック" pitchFamily="-106" charset="-128"/>
              </a:rPr>
              <a:t>They rejected the idea that righteousness is earned.</a:t>
            </a:r>
          </a:p>
          <a:p>
            <a:r>
              <a:rPr lang="en-US" sz="1200" kern="1200" dirty="0">
                <a:solidFill>
                  <a:schemeClr val="tx1"/>
                </a:solidFill>
                <a:effectLst/>
                <a:latin typeface="+mn-lt"/>
                <a:ea typeface="ＭＳ Ｐゴシック" pitchFamily="-106" charset="-128"/>
                <a:cs typeface="ＭＳ Ｐゴシック" pitchFamily="-106" charset="-128"/>
              </a:rPr>
              <a:t>They taught that righteousness is shared by God through faith and obedience.</a:t>
            </a:r>
          </a:p>
          <a:p>
            <a:r>
              <a:rPr lang="en-US" sz="1200" kern="1200" dirty="0">
                <a:solidFill>
                  <a:schemeClr val="tx1"/>
                </a:solidFill>
                <a:effectLst/>
                <a:latin typeface="+mn-lt"/>
                <a:ea typeface="ＭＳ Ｐゴシック" pitchFamily="-106" charset="-128"/>
                <a:cs typeface="ＭＳ Ｐゴシック" pitchFamily="-106" charset="-128"/>
              </a:rPr>
              <a:t>This fits with apostolic teaching:</a:t>
            </a:r>
          </a:p>
          <a:p>
            <a:r>
              <a:rPr lang="en-US" sz="1200" b="1" kern="1200" dirty="0">
                <a:solidFill>
                  <a:schemeClr val="tx1"/>
                </a:solidFill>
                <a:effectLst/>
                <a:latin typeface="+mn-lt"/>
                <a:ea typeface="ＭＳ Ｐゴシック" pitchFamily="-106" charset="-128"/>
                <a:cs typeface="ＭＳ Ｐゴシック" pitchFamily="-106" charset="-128"/>
              </a:rPr>
              <a:t>Romans 1:17</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“For the righteousness of God is revealed in the gospel from faith to faith, just as it is written, ‘The righteous by faith will live.’”</a:t>
            </a:r>
          </a:p>
          <a:p>
            <a:r>
              <a:rPr lang="en-US" sz="1200" kern="1200" dirty="0">
                <a:solidFill>
                  <a:schemeClr val="tx1"/>
                </a:solidFill>
                <a:effectLst/>
                <a:latin typeface="+mn-lt"/>
                <a:ea typeface="ＭＳ Ｐゴシック" pitchFamily="-106" charset="-128"/>
                <a:cs typeface="ＭＳ Ｐゴシック" pitchFamily="-106" charset="-128"/>
              </a:rPr>
              <a:t>Righteousness flows from God to people.</a:t>
            </a:r>
          </a:p>
          <a:p>
            <a:r>
              <a:rPr lang="en-US" sz="1200" kern="1200" dirty="0">
                <a:solidFill>
                  <a:schemeClr val="tx1"/>
                </a:solidFill>
                <a:effectLst/>
                <a:latin typeface="+mn-lt"/>
                <a:ea typeface="ＭＳ Ｐゴシック" pitchFamily="-106" charset="-128"/>
                <a:cs typeface="ＭＳ Ｐゴシック" pitchFamily="-106" charset="-128"/>
              </a:rPr>
              <a:t>It does not rise from people to God.</a:t>
            </a:r>
          </a:p>
          <a:p>
            <a:endParaRPr lang="en-US" dirty="0"/>
          </a:p>
        </p:txBody>
      </p:sp>
      <p:sp>
        <p:nvSpPr>
          <p:cNvPr id="4" name="Slide Number Placeholder 3">
            <a:extLst>
              <a:ext uri="{FF2B5EF4-FFF2-40B4-BE49-F238E27FC236}">
                <a16:creationId xmlns:a16="http://schemas.microsoft.com/office/drawing/2014/main" id="{4A580DD8-8890-32C1-0B12-4AD9ECF0748B}"/>
              </a:ext>
            </a:extLst>
          </p:cNvPr>
          <p:cNvSpPr>
            <a:spLocks noGrp="1"/>
          </p:cNvSpPr>
          <p:nvPr>
            <p:ph type="sldNum" sz="quarter" idx="10"/>
          </p:nvPr>
        </p:nvSpPr>
        <p:spPr/>
        <p:txBody>
          <a:bodyPr/>
          <a:lstStyle/>
          <a:p>
            <a:pPr>
              <a:defRPr/>
            </a:pPr>
            <a:fld id="{07776858-791E-4C8D-8FA3-473B3AFECFAC}" type="slidenum">
              <a:rPr lang="en-US" smtClean="0"/>
              <a:pPr>
                <a:defRPr/>
              </a:pPr>
              <a:t>18</a:t>
            </a:fld>
            <a:endParaRPr lang="en-US" dirty="0"/>
          </a:p>
        </p:txBody>
      </p:sp>
    </p:spTree>
    <p:extLst>
      <p:ext uri="{BB962C8B-B14F-4D97-AF65-F5344CB8AC3E}">
        <p14:creationId xmlns:p14="http://schemas.microsoft.com/office/powerpoint/2010/main" val="413354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70F8D-2016-2871-EF1A-F1E29A19A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3CF82-F42F-F41B-320F-72EBCCC12E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A98332-9D54-0A44-3A57-3ECB8E0DF737}"/>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7. Why This Matters for the Whole Study</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If we misunderstand righteousness at the start, everything else breaks.</a:t>
            </a:r>
          </a:p>
          <a:p>
            <a:pPr rtl="0" fontAlgn="ctr"/>
            <a:r>
              <a:rPr lang="en-US" sz="1200" kern="1200" dirty="0">
                <a:solidFill>
                  <a:schemeClr val="tx1"/>
                </a:solidFill>
                <a:effectLst/>
                <a:latin typeface="+mn-lt"/>
                <a:ea typeface="ＭＳ Ｐゴシック" pitchFamily="-106" charset="-128"/>
                <a:cs typeface="ＭＳ Ｐゴシック" pitchFamily="-106" charset="-128"/>
              </a:rPr>
              <a:t>If righteousness starts with man, we end in pride or despair.</a:t>
            </a:r>
          </a:p>
          <a:p>
            <a:pPr rtl="0" fontAlgn="ctr"/>
            <a:r>
              <a:rPr lang="en-US" sz="1200" kern="1200" dirty="0">
                <a:solidFill>
                  <a:schemeClr val="tx1"/>
                </a:solidFill>
                <a:effectLst/>
                <a:latin typeface="+mn-lt"/>
                <a:ea typeface="ＭＳ Ｐゴシック" pitchFamily="-106" charset="-128"/>
                <a:cs typeface="ＭＳ Ｐゴシック" pitchFamily="-106" charset="-128"/>
              </a:rPr>
              <a:t>If righteousness starts with God, we end in humility and trust.</a:t>
            </a:r>
          </a:p>
          <a:p>
            <a:r>
              <a:rPr lang="en-US" sz="1200" kern="1200" dirty="0">
                <a:solidFill>
                  <a:schemeClr val="tx1"/>
                </a:solidFill>
                <a:effectLst/>
                <a:latin typeface="+mn-lt"/>
                <a:ea typeface="ＭＳ Ｐゴシック" pitchFamily="-106" charset="-128"/>
                <a:cs typeface="ＭＳ Ｐゴシック" pitchFamily="-106" charset="-128"/>
              </a:rPr>
              <a:t>This sets up the entire contrast of the study:</a:t>
            </a:r>
          </a:p>
          <a:p>
            <a:pPr rtl="0" fontAlgn="ctr"/>
            <a:r>
              <a:rPr lang="en-US" sz="1200" b="1" kern="1200" dirty="0">
                <a:solidFill>
                  <a:schemeClr val="tx1"/>
                </a:solidFill>
                <a:effectLst/>
                <a:latin typeface="+mn-lt"/>
                <a:ea typeface="ＭＳ Ｐゴシック" pitchFamily="-106" charset="-128"/>
                <a:cs typeface="ＭＳ Ｐゴシック" pitchFamily="-106" charset="-128"/>
              </a:rPr>
              <a:t>The righteousness of man</a:t>
            </a:r>
            <a:r>
              <a:rPr lang="en-US" sz="1200" kern="1200" dirty="0">
                <a:solidFill>
                  <a:schemeClr val="tx1"/>
                </a:solidFill>
                <a:effectLst/>
                <a:latin typeface="+mn-lt"/>
                <a:ea typeface="ＭＳ Ｐゴシック" pitchFamily="-106" charset="-128"/>
                <a:cs typeface="ＭＳ Ｐゴシック" pitchFamily="-106" charset="-128"/>
              </a:rPr>
              <a:t> is self-made and unstable.</a:t>
            </a:r>
          </a:p>
          <a:p>
            <a:pPr rtl="0" fontAlgn="ctr"/>
            <a:r>
              <a:rPr lang="en-US" sz="1200" b="1" kern="1200" dirty="0">
                <a:solidFill>
                  <a:schemeClr val="tx1"/>
                </a:solidFill>
                <a:effectLst/>
                <a:latin typeface="+mn-lt"/>
                <a:ea typeface="ＭＳ Ｐゴシック" pitchFamily="-106" charset="-128"/>
                <a:cs typeface="ＭＳ Ｐゴシック" pitchFamily="-106" charset="-128"/>
              </a:rPr>
              <a:t>The righteousness of God</a:t>
            </a:r>
            <a:r>
              <a:rPr lang="en-US" sz="1200" kern="1200" dirty="0">
                <a:solidFill>
                  <a:schemeClr val="tx1"/>
                </a:solidFill>
                <a:effectLst/>
                <a:latin typeface="+mn-lt"/>
                <a:ea typeface="ＭＳ Ｐゴシック" pitchFamily="-106" charset="-128"/>
                <a:cs typeface="ＭＳ Ｐゴシック" pitchFamily="-106" charset="-128"/>
              </a:rPr>
              <a:t> is revealed, given, and life-giving.</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Expanded Discussion Questions</a:t>
            </a:r>
            <a:endParaRPr lang="en-US" sz="1200" kern="1200" dirty="0">
              <a:solidFill>
                <a:schemeClr val="tx1"/>
              </a:solidFill>
              <a:effectLst/>
              <a:latin typeface="+mn-lt"/>
              <a:ea typeface="ＭＳ Ｐゴシック" pitchFamily="-106" charset="-128"/>
              <a:cs typeface="ＭＳ Ｐゴシック" pitchFamily="-106" charset="-128"/>
            </a:endParaRPr>
          </a:p>
          <a:p>
            <a:pPr rtl="0" fontAlgn="ctr"/>
            <a:r>
              <a:rPr lang="en-US" sz="1200" b="0" i="0" kern="1200" dirty="0">
                <a:solidFill>
                  <a:schemeClr val="tx1"/>
                </a:solidFill>
                <a:effectLst/>
                <a:latin typeface="+mn-lt"/>
                <a:ea typeface="ＭＳ Ｐゴシック" pitchFamily="-106" charset="-128"/>
                <a:cs typeface="ＭＳ Ｐゴシック" pitchFamily="-106" charset="-128"/>
              </a:rPr>
              <a:t>If righteousness comes from God’s nature, how should that shape our view of morality?</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Why is it dangerous to define righteousness by culture or personal experience?</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How does seeing God as righteous before seeing ourselves as sinners change our response to Him?</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In what ways does God’s righteousness expose both our sin and our hope?</a:t>
            </a: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CB95C3F3-51C0-F33E-EDE2-7C7384BF4CBD}"/>
              </a:ext>
            </a:extLst>
          </p:cNvPr>
          <p:cNvSpPr>
            <a:spLocks noGrp="1"/>
          </p:cNvSpPr>
          <p:nvPr>
            <p:ph type="sldNum" sz="quarter" idx="10"/>
          </p:nvPr>
        </p:nvSpPr>
        <p:spPr/>
        <p:txBody>
          <a:bodyPr/>
          <a:lstStyle/>
          <a:p>
            <a:pPr>
              <a:defRPr/>
            </a:pPr>
            <a:fld id="{07776858-791E-4C8D-8FA3-473B3AFECFAC}" type="slidenum">
              <a:rPr lang="en-US" smtClean="0"/>
              <a:pPr>
                <a:defRPr/>
              </a:pPr>
              <a:t>19</a:t>
            </a:fld>
            <a:endParaRPr lang="en-US" dirty="0"/>
          </a:p>
        </p:txBody>
      </p:sp>
    </p:spTree>
    <p:extLst>
      <p:ext uri="{BB962C8B-B14F-4D97-AF65-F5344CB8AC3E}">
        <p14:creationId xmlns:p14="http://schemas.microsoft.com/office/powerpoint/2010/main" val="665559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FB425-8DD6-9600-C86A-A024524DA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7CA96-E504-0E97-07CE-DF81DB934C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B634FB-B066-FD92-0440-3E7BB00F5ABD}"/>
              </a:ext>
            </a:extLst>
          </p:cNvPr>
          <p:cNvSpPr>
            <a:spLocks noGrp="1"/>
          </p:cNvSpPr>
          <p:nvPr>
            <p:ph type="body" idx="1"/>
          </p:nvPr>
        </p:nvSpPr>
        <p:spPr/>
        <p:txBody>
          <a:bodyPr>
            <a:normAutofit/>
          </a:bodyPr>
          <a:lstStyle/>
          <a:p>
            <a:endParaRPr lang="en-US" sz="1600" dirty="0"/>
          </a:p>
          <a:p>
            <a:endParaRPr lang="en-US" dirty="0"/>
          </a:p>
        </p:txBody>
      </p:sp>
      <p:sp>
        <p:nvSpPr>
          <p:cNvPr id="4" name="Slide Number Placeholder 3">
            <a:extLst>
              <a:ext uri="{FF2B5EF4-FFF2-40B4-BE49-F238E27FC236}">
                <a16:creationId xmlns:a16="http://schemas.microsoft.com/office/drawing/2014/main" id="{6843A429-AA30-0856-8F49-6A020AF1B932}"/>
              </a:ext>
            </a:extLst>
          </p:cNvPr>
          <p:cNvSpPr>
            <a:spLocks noGrp="1"/>
          </p:cNvSpPr>
          <p:nvPr>
            <p:ph type="sldNum" sz="quarter" idx="10"/>
          </p:nvPr>
        </p:nvSpPr>
        <p:spPr/>
        <p:txBody>
          <a:bodyPr/>
          <a:lstStyle/>
          <a:p>
            <a:pPr>
              <a:defRPr/>
            </a:pPr>
            <a:fld id="{07776858-791E-4C8D-8FA3-473B3AFECFAC}" type="slidenum">
              <a:rPr lang="en-US" smtClean="0"/>
              <a:pPr>
                <a:defRPr/>
              </a:pPr>
              <a:t>20</a:t>
            </a:fld>
            <a:endParaRPr lang="en-US" dirty="0"/>
          </a:p>
        </p:txBody>
      </p:sp>
    </p:spTree>
    <p:extLst>
      <p:ext uri="{BB962C8B-B14F-4D97-AF65-F5344CB8AC3E}">
        <p14:creationId xmlns:p14="http://schemas.microsoft.com/office/powerpoint/2010/main" val="3647295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ightWithGo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Righteousness</a:t>
            </a:r>
            <a:br>
              <a:rPr lang="en-US" dirty="0"/>
            </a:br>
            <a:endParaRPr lang="en-US" dirty="0"/>
          </a:p>
          <a:p>
            <a:r>
              <a:rPr lang="en-US" dirty="0"/>
              <a:t>What Is “Righteousness” in the Bible?</a:t>
            </a:r>
          </a:p>
          <a:p>
            <a:endParaRPr lang="en-US" sz="2400" dirty="0">
              <a:solidFill>
                <a:schemeClr val="tx2">
                  <a:lumMod val="60000"/>
                  <a:lumOff val="40000"/>
                </a:schemeClr>
              </a:solidFill>
            </a:endParaRPr>
          </a:p>
          <a:p>
            <a:r>
              <a:rPr lang="en-US" b="0" dirty="0"/>
              <a:t>For I am not ashamed of the gospel of Christ, for it is the power of God to salvation for everyone who believes, for the Jew first and also for the Greek. For in it the righteousness of God is revealed from faith to faith; as it is written, "THE JUST SHALL LIVE BY FAITH."</a:t>
            </a:r>
          </a:p>
          <a:p>
            <a:r>
              <a:rPr lang="en-US" b="0" dirty="0"/>
              <a:t>(Romans 1:16-17)</a:t>
            </a:r>
          </a:p>
          <a:p>
            <a:endParaRPr lang="en-US" dirty="0">
              <a:solidFill>
                <a:schemeClr val="tx2">
                  <a:lumMod val="60000"/>
                  <a:lumOff val="40000"/>
                </a:schemeClr>
              </a:solidFill>
            </a:endParaRPr>
          </a:p>
          <a:p>
            <a:r>
              <a:rPr lang="en-US" dirty="0">
                <a:solidFill>
                  <a:schemeClr val="tx2">
                    <a:lumMod val="60000"/>
                    <a:lumOff val="40000"/>
                  </a:schemeClr>
                </a:solidFill>
                <a:hlinkClick r:id="rId3"/>
              </a:rPr>
              <a:t>https://tinyurl.com/RightWithGod</a:t>
            </a:r>
            <a:endParaRPr lang="en-US" dirty="0">
              <a:solidFill>
                <a:schemeClr val="tx2">
                  <a:lumMod val="60000"/>
                  <a:lumOff val="40000"/>
                </a:schemeClr>
              </a:solidFill>
            </a:endParaRPr>
          </a:p>
          <a:p>
            <a:endParaRPr lang="en-US"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AECEC-104B-7AF1-FE78-2E88549042E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88E0E6C-3CE1-CC07-04F6-FE6CC7BFE556}"/>
              </a:ext>
            </a:extLst>
          </p:cNvPr>
          <p:cNvSpPr txBox="1">
            <a:spLocks/>
          </p:cNvSpPr>
          <p:nvPr/>
        </p:nvSpPr>
        <p:spPr bwMode="auto">
          <a:xfrm>
            <a:off x="233362" y="32657"/>
            <a:ext cx="8682038" cy="72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2600" dirty="0">
                <a:solidFill>
                  <a:schemeClr val="tx2">
                    <a:lumMod val="60000"/>
                    <a:lumOff val="40000"/>
                  </a:schemeClr>
                </a:solidFill>
              </a:rPr>
              <a:t>Behold the Man!</a:t>
            </a:r>
          </a:p>
          <a:p>
            <a:r>
              <a:rPr lang="en-US" sz="1600" dirty="0">
                <a:solidFill>
                  <a:schemeClr val="tx2">
                    <a:lumMod val="60000"/>
                    <a:lumOff val="40000"/>
                  </a:schemeClr>
                </a:solidFill>
              </a:rPr>
              <a:t>John 19:5</a:t>
            </a:r>
          </a:p>
        </p:txBody>
      </p:sp>
      <p:pic>
        <p:nvPicPr>
          <p:cNvPr id="6" name="Picture 5" descr="John 19:5 - Behold the Man&#10;">
            <a:extLst>
              <a:ext uri="{FF2B5EF4-FFF2-40B4-BE49-F238E27FC236}">
                <a16:creationId xmlns:a16="http://schemas.microsoft.com/office/drawing/2014/main" id="{D141D759-D43B-AB8E-3A7C-2C59A7DF59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Tree>
    <p:extLst>
      <p:ext uri="{BB962C8B-B14F-4D97-AF65-F5344CB8AC3E}">
        <p14:creationId xmlns:p14="http://schemas.microsoft.com/office/powerpoint/2010/main" val="126124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4DAFF-4392-40D0-E060-BF310C60C7A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4C47876-E8A3-2180-BA39-B957CB059C19}"/>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100" dirty="0"/>
              <a:t>Uncertainty</a:t>
            </a:r>
            <a:br>
              <a:rPr lang="en-US" dirty="0"/>
            </a:br>
            <a:r>
              <a:rPr lang="en-US" sz="3100" dirty="0">
                <a:solidFill>
                  <a:schemeClr val="tx2">
                    <a:lumMod val="60000"/>
                    <a:lumOff val="40000"/>
                  </a:schemeClr>
                </a:solidFill>
              </a:rPr>
              <a:t>The Soil of Human Righteousness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357F40FD-C20E-9E3D-B1D1-B7EE01277A3D}"/>
              </a:ext>
            </a:extLst>
          </p:cNvPr>
          <p:cNvSpPr txBox="1"/>
          <p:nvPr/>
        </p:nvSpPr>
        <p:spPr>
          <a:xfrm>
            <a:off x="214308" y="770131"/>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Uncertainty, Human Righteousness, the Rise of Man-Made Systems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From the beginning, sin introduced uncertainty.</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When man lost trust in God, he gained fear.</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Fear demands control.</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Control produces systems.</a:t>
            </a:r>
          </a:p>
        </p:txBody>
      </p:sp>
      <p:sp>
        <p:nvSpPr>
          <p:cNvPr id="2" name="TextBox 1">
            <a:extLst>
              <a:ext uri="{FF2B5EF4-FFF2-40B4-BE49-F238E27FC236}">
                <a16:creationId xmlns:a16="http://schemas.microsoft.com/office/drawing/2014/main" id="{F509B1A1-A70C-D759-7386-8A7842B10A03}"/>
              </a:ext>
            </a:extLst>
          </p:cNvPr>
          <p:cNvSpPr txBox="1"/>
          <p:nvPr/>
        </p:nvSpPr>
        <p:spPr>
          <a:xfrm>
            <a:off x="214308" y="2465749"/>
            <a:ext cx="8677275" cy="1938992"/>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Genesis 3:10</a:t>
            </a:r>
            <a:r>
              <a:rPr lang="en-US" sz="2000" dirty="0">
                <a:ea typeface="ＭＳ Ｐゴシック" pitchFamily="-106" charset="-128"/>
                <a:cs typeface="ＭＳ Ｐゴシック" pitchFamily="-106" charset="-128"/>
              </a:rPr>
              <a:t>  </a:t>
            </a:r>
            <a:r>
              <a:rPr lang="en-US" sz="2000" b="1" dirty="0">
                <a:ea typeface="ＭＳ Ｐゴシック" pitchFamily="-106" charset="-128"/>
                <a:cs typeface="ＭＳ Ｐゴシック" pitchFamily="-106" charset="-128"/>
              </a:rPr>
              <a:t>“I was afraid because I was naked, so I hid.”</a:t>
            </a:r>
            <a:endParaRPr lang="en-US" sz="2000" dirty="0">
              <a:ea typeface="ＭＳ Ｐゴシック" pitchFamily="-106" charset="-128"/>
              <a:cs typeface="ＭＳ Ｐゴシック" pitchFamily="-106" charset="-128"/>
            </a:endParaRPr>
          </a:p>
          <a:p>
            <a:r>
              <a:rPr lang="en-US" sz="2000" dirty="0">
                <a:ea typeface="ＭＳ Ｐゴシック" pitchFamily="-106" charset="-128"/>
                <a:cs typeface="ＭＳ Ｐゴシック" pitchFamily="-106" charset="-128"/>
              </a:rPr>
              <a:t>Fear leads people to ask:</a:t>
            </a:r>
          </a:p>
          <a:p>
            <a:pPr lvl="1" fontAlgn="ctr"/>
            <a:r>
              <a:rPr lang="en-US" sz="2000" i="1" dirty="0">
                <a:ea typeface="ＭＳ Ｐゴシック" pitchFamily="-106" charset="-128"/>
                <a:cs typeface="ＭＳ Ｐゴシック" pitchFamily="-106" charset="-128"/>
              </a:rPr>
              <a:t>Am I safe?</a:t>
            </a:r>
            <a:endParaRPr lang="en-US" sz="2000" dirty="0">
              <a:ea typeface="ＭＳ Ｐゴシック" pitchFamily="-106" charset="-128"/>
              <a:cs typeface="ＭＳ Ｐゴシック" pitchFamily="-106" charset="-128"/>
            </a:endParaRPr>
          </a:p>
          <a:p>
            <a:pPr lvl="1" fontAlgn="ctr"/>
            <a:r>
              <a:rPr lang="en-US" sz="2000" i="1" dirty="0">
                <a:ea typeface="ＭＳ Ｐゴシック" pitchFamily="-106" charset="-128"/>
                <a:cs typeface="ＭＳ Ｐゴシック" pitchFamily="-106" charset="-128"/>
              </a:rPr>
              <a:t>Am I accepted?</a:t>
            </a:r>
            <a:endParaRPr lang="en-US" sz="2000" dirty="0">
              <a:ea typeface="ＭＳ Ｐゴシック" pitchFamily="-106" charset="-128"/>
              <a:cs typeface="ＭＳ Ｐゴシック" pitchFamily="-106" charset="-128"/>
            </a:endParaRPr>
          </a:p>
          <a:p>
            <a:pPr lvl="1" fontAlgn="ctr"/>
            <a:r>
              <a:rPr lang="en-US" sz="2000" i="1" dirty="0">
                <a:ea typeface="ＭＳ Ｐゴシック" pitchFamily="-106" charset="-128"/>
                <a:cs typeface="ＭＳ Ｐゴシック" pitchFamily="-106" charset="-128"/>
              </a:rPr>
              <a:t>Am I right?</a:t>
            </a:r>
            <a:endParaRPr lang="en-US" sz="2000" dirty="0">
              <a:ea typeface="ＭＳ Ｐゴシック" pitchFamily="-106" charset="-128"/>
              <a:cs typeface="ＭＳ Ｐゴシック" pitchFamily="-106" charset="-128"/>
            </a:endParaRPr>
          </a:p>
          <a:p>
            <a:r>
              <a:rPr lang="en-US" sz="2000" dirty="0">
                <a:ea typeface="ＭＳ Ｐゴシック" pitchFamily="-106" charset="-128"/>
                <a:cs typeface="ＭＳ Ｐゴシック" pitchFamily="-106" charset="-128"/>
              </a:rPr>
              <a:t>Instead of resting in God’s righteousness, </a:t>
            </a:r>
            <a:r>
              <a:rPr lang="en-US" sz="2000" u="sng" dirty="0">
                <a:ea typeface="ＭＳ Ｐゴシック" pitchFamily="-106" charset="-128"/>
                <a:cs typeface="ＭＳ Ｐゴシック" pitchFamily="-106" charset="-128"/>
              </a:rPr>
              <a:t>humans build substitutes</a:t>
            </a:r>
            <a:r>
              <a:rPr lang="en-US" sz="2000"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56E83953-1009-4C4D-EBC8-FAD44F6D9682}"/>
              </a:ext>
            </a:extLst>
          </p:cNvPr>
          <p:cNvSpPr txBox="1"/>
          <p:nvPr/>
        </p:nvSpPr>
        <p:spPr>
          <a:xfrm>
            <a:off x="214308" y="5179876"/>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Pharisees</a:t>
            </a:r>
            <a:r>
              <a:rPr lang="en-US" sz="2000" dirty="0">
                <a:ea typeface="ＭＳ Ｐゴシック" pitchFamily="-106" charset="-128"/>
                <a:cs typeface="ＭＳ Ｐゴシック" pitchFamily="-106" charset="-128"/>
              </a:rPr>
              <a:t> - </a:t>
            </a:r>
            <a:r>
              <a:rPr lang="en-US" sz="2000" b="1" dirty="0">
                <a:ea typeface="ＭＳ Ｐゴシック" pitchFamily="-106" charset="-128"/>
                <a:cs typeface="ＭＳ Ｐゴシック" pitchFamily="-106" charset="-128"/>
              </a:rPr>
              <a:t>Cultural Codes </a:t>
            </a:r>
            <a:r>
              <a:rPr lang="en-US" sz="2000" dirty="0">
                <a:ea typeface="ＭＳ Ｐゴシック" pitchFamily="-106" charset="-128"/>
                <a:cs typeface="ＭＳ Ｐゴシック" pitchFamily="-106" charset="-128"/>
              </a:rPr>
              <a:t>- God had stopped speaking to them and hadn't sent a prophet to them in about 400 years. So, they believed that if every Israelite were to perfectly observe all 613 commands in the Torah, then it would appease God and He would restore the Judean kingdom in Israel.</a:t>
            </a:r>
          </a:p>
        </p:txBody>
      </p:sp>
      <p:sp>
        <p:nvSpPr>
          <p:cNvPr id="6" name="TextBox 5">
            <a:extLst>
              <a:ext uri="{FF2B5EF4-FFF2-40B4-BE49-F238E27FC236}">
                <a16:creationId xmlns:a16="http://schemas.microsoft.com/office/drawing/2014/main" id="{04566FC9-AA33-BCC9-F45B-7E4117B48D43}"/>
              </a:ext>
            </a:extLst>
          </p:cNvPr>
          <p:cNvSpPr txBox="1"/>
          <p:nvPr/>
        </p:nvSpPr>
        <p:spPr>
          <a:xfrm>
            <a:off x="214308" y="4469143"/>
            <a:ext cx="8257389" cy="646331"/>
          </a:xfrm>
          <a:prstGeom prst="rect">
            <a:avLst/>
          </a:prstGeom>
          <a:noFill/>
        </p:spPr>
        <p:txBody>
          <a:bodyPr wrap="none" rtlCol="0">
            <a:spAutoFit/>
          </a:bodyPr>
          <a:lstStyle/>
          <a:p>
            <a:r>
              <a:rPr lang="en-US" b="1" dirty="0">
                <a:ea typeface="ＭＳ Ｐゴシック" pitchFamily="-106" charset="-128"/>
                <a:cs typeface="ＭＳ Ｐゴシック" pitchFamily="-106" charset="-128"/>
              </a:rPr>
              <a:t>Uncertainty </a:t>
            </a:r>
            <a:r>
              <a:rPr lang="en-US" b="1" dirty="0">
                <a:ea typeface="ＭＳ Ｐゴシック" pitchFamily="-106" charset="-128"/>
                <a:cs typeface="ＭＳ Ｐゴシック" pitchFamily="-106" charset="-128"/>
                <a:sym typeface="Wingdings" panose="05000000000000000000" pitchFamily="2" charset="2"/>
              </a:rPr>
              <a:t> </a:t>
            </a:r>
            <a:r>
              <a:rPr lang="en-US" b="1" u="sng" dirty="0">
                <a:ea typeface="ＭＳ Ｐゴシック" pitchFamily="-106" charset="-128"/>
                <a:cs typeface="ＭＳ Ｐゴシック" pitchFamily="-106" charset="-128"/>
                <a:sym typeface="Wingdings" panose="05000000000000000000" pitchFamily="2" charset="2"/>
              </a:rPr>
              <a:t>Systems</a:t>
            </a:r>
            <a:r>
              <a:rPr lang="en-US" b="1" dirty="0">
                <a:ea typeface="ＭＳ Ｐゴシック" pitchFamily="-106" charset="-128"/>
                <a:cs typeface="ＭＳ Ｐゴシック" pitchFamily="-106" charset="-128"/>
                <a:sym typeface="Wingdings" panose="05000000000000000000" pitchFamily="2" charset="2"/>
              </a:rPr>
              <a:t>  Culture  “Path to Good Life”  </a:t>
            </a:r>
            <a:r>
              <a:rPr lang="en-US" b="1" u="sng" dirty="0">
                <a:ea typeface="ＭＳ Ｐゴシック" pitchFamily="-106" charset="-128"/>
                <a:cs typeface="ＭＳ Ｐゴシック" pitchFamily="-106" charset="-128"/>
                <a:sym typeface="Wingdings" panose="05000000000000000000" pitchFamily="2" charset="2"/>
              </a:rPr>
              <a:t>Enforcement</a:t>
            </a:r>
            <a:r>
              <a:rPr lang="en-US" b="1" dirty="0">
                <a:ea typeface="ＭＳ Ｐゴシック" pitchFamily="-106" charset="-128"/>
                <a:cs typeface="ＭＳ Ｐゴシック" pitchFamily="-106" charset="-128"/>
                <a:sym typeface="Wingdings" panose="05000000000000000000" pitchFamily="2" charset="2"/>
              </a:rPr>
              <a:t> </a:t>
            </a:r>
          </a:p>
          <a:p>
            <a:r>
              <a:rPr lang="en-US" b="1" dirty="0">
                <a:ea typeface="ＭＳ Ｐゴシック" pitchFamily="-106" charset="-128"/>
                <a:cs typeface="ＭＳ Ｐゴシック" pitchFamily="-106" charset="-128"/>
                <a:sym typeface="Wingdings" panose="05000000000000000000" pitchFamily="2" charset="2"/>
              </a:rPr>
              <a:t>	(…against those who threaten or question the Systems)</a:t>
            </a:r>
          </a:p>
        </p:txBody>
      </p:sp>
    </p:spTree>
    <p:extLst>
      <p:ext uri="{BB962C8B-B14F-4D97-AF65-F5344CB8AC3E}">
        <p14:creationId xmlns:p14="http://schemas.microsoft.com/office/powerpoint/2010/main" val="259521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B612D-2782-6838-CDF7-6EB17781FEA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C067EC5-F184-AFD4-6084-3C1CBA6927E6}"/>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Uncertainty Leads to Systems</a:t>
            </a:r>
            <a:br>
              <a:rPr lang="en-US" dirty="0"/>
            </a:br>
            <a:r>
              <a:rPr lang="en-US" sz="2800" dirty="0">
                <a:solidFill>
                  <a:schemeClr val="tx2">
                    <a:lumMod val="60000"/>
                    <a:lumOff val="40000"/>
                  </a:schemeClr>
                </a:solidFill>
              </a:rPr>
              <a:t>What People Crave…</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EC65C75E-DAE9-9125-3531-815F1C495D89}"/>
              </a:ext>
            </a:extLst>
          </p:cNvPr>
          <p:cNvSpPr txBox="1"/>
          <p:nvPr/>
        </p:nvSpPr>
        <p:spPr>
          <a:xfrm>
            <a:off x="214311" y="838200"/>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Why Uncertainty Pushes Us to Create Systems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Uncertainty makes people crave stability.</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Systems promise clarity.</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Rules feel safer than trust.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Formulas feel safer than faith.</a:t>
            </a:r>
          </a:p>
        </p:txBody>
      </p:sp>
      <p:sp>
        <p:nvSpPr>
          <p:cNvPr id="2" name="TextBox 1">
            <a:extLst>
              <a:ext uri="{FF2B5EF4-FFF2-40B4-BE49-F238E27FC236}">
                <a16:creationId xmlns:a16="http://schemas.microsoft.com/office/drawing/2014/main" id="{565E82E4-F430-81E9-B1C3-014BEF12E03E}"/>
              </a:ext>
            </a:extLst>
          </p:cNvPr>
          <p:cNvSpPr txBox="1"/>
          <p:nvPr/>
        </p:nvSpPr>
        <p:spPr>
          <a:xfrm>
            <a:off x="233362" y="2667000"/>
            <a:ext cx="8677275" cy="1015663"/>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Romans 10:3</a:t>
            </a:r>
            <a:r>
              <a:rPr lang="en-US" sz="2000" b="1" i="1" dirty="0">
                <a:ea typeface="ＭＳ Ｐゴシック" pitchFamily="-106" charset="-128"/>
                <a:cs typeface="ＭＳ Ｐゴシック" pitchFamily="-106" charset="-128"/>
              </a:rPr>
              <a:t>  </a:t>
            </a:r>
            <a:r>
              <a:rPr lang="en-US" sz="2000" i="1" dirty="0">
                <a:ea typeface="ＭＳ Ｐゴシック" pitchFamily="-106" charset="-128"/>
                <a:cs typeface="ＭＳ Ｐゴシック" pitchFamily="-106" charset="-128"/>
              </a:rPr>
              <a:t>“For ignoring the righteousness that comes from God and seeking instead to establish their own righteousness, they did not submit to God’s righteousness.”</a:t>
            </a:r>
            <a:endParaRPr lang="en-US" sz="2000" dirty="0">
              <a:ea typeface="ＭＳ Ｐゴシック" pitchFamily="-106" charset="-128"/>
              <a:cs typeface="ＭＳ Ｐゴシック" pitchFamily="-106" charset="-128"/>
            </a:endParaRPr>
          </a:p>
        </p:txBody>
      </p:sp>
      <p:sp>
        <p:nvSpPr>
          <p:cNvPr id="4" name="TextBox 3">
            <a:extLst>
              <a:ext uri="{FF2B5EF4-FFF2-40B4-BE49-F238E27FC236}">
                <a16:creationId xmlns:a16="http://schemas.microsoft.com/office/drawing/2014/main" id="{C7CEA2AD-0FBD-8623-7D00-BACBCEC6B86A}"/>
              </a:ext>
            </a:extLst>
          </p:cNvPr>
          <p:cNvSpPr txBox="1"/>
          <p:nvPr/>
        </p:nvSpPr>
        <p:spPr>
          <a:xfrm>
            <a:off x="233362" y="3880247"/>
            <a:ext cx="8677275" cy="2246769"/>
          </a:xfrm>
          <a:prstGeom prst="rect">
            <a:avLst/>
          </a:prstGeom>
          <a:noFill/>
        </p:spPr>
        <p:txBody>
          <a:bodyPr wrap="square" rtlCol="0">
            <a:spAutoFit/>
          </a:bodyPr>
          <a:lstStyle/>
          <a:p>
            <a:r>
              <a:rPr lang="en-US" sz="2000" dirty="0">
                <a:ea typeface="ＭＳ Ｐゴシック" pitchFamily="-106" charset="-128"/>
                <a:cs typeface="ＭＳ Ｐゴシック" pitchFamily="-106" charset="-128"/>
              </a:rPr>
              <a:t>Paul does not say they rejected righteousness.</a:t>
            </a:r>
          </a:p>
          <a:p>
            <a:pPr lvl="1"/>
            <a:r>
              <a:rPr lang="en-US" sz="2000" dirty="0">
                <a:ea typeface="ＭＳ Ｐゴシック" pitchFamily="-106" charset="-128"/>
                <a:cs typeface="ＭＳ Ｐゴシック" pitchFamily="-106" charset="-128"/>
              </a:rPr>
              <a:t>They created their own.</a:t>
            </a:r>
          </a:p>
          <a:p>
            <a:r>
              <a:rPr lang="en-US" sz="2000" dirty="0">
                <a:ea typeface="ＭＳ Ｐゴシック" pitchFamily="-106" charset="-128"/>
                <a:cs typeface="ＭＳ Ｐゴシック" pitchFamily="-106" charset="-128"/>
              </a:rPr>
              <a:t> </a:t>
            </a:r>
          </a:p>
          <a:p>
            <a:r>
              <a:rPr lang="en-US" sz="2000" dirty="0">
                <a:ea typeface="ＭＳ Ｐゴシック" pitchFamily="-106" charset="-128"/>
                <a:cs typeface="ＭＳ Ｐゴシック" pitchFamily="-106" charset="-128"/>
              </a:rPr>
              <a:t>Human righteousness reduces fear by:</a:t>
            </a:r>
          </a:p>
          <a:p>
            <a:pPr lvl="1" fontAlgn="ctr"/>
            <a:r>
              <a:rPr lang="en-US" sz="2000" dirty="0">
                <a:ea typeface="ＭＳ Ｐゴシック" pitchFamily="-106" charset="-128"/>
                <a:cs typeface="ＭＳ Ｐゴシック" pitchFamily="-106" charset="-128"/>
              </a:rPr>
              <a:t>Defining who is “in” and who is “out”.</a:t>
            </a:r>
          </a:p>
          <a:p>
            <a:pPr lvl="1" fontAlgn="ctr"/>
            <a:r>
              <a:rPr lang="en-US" sz="2000" dirty="0">
                <a:ea typeface="ＭＳ Ｐゴシック" pitchFamily="-106" charset="-128"/>
                <a:cs typeface="ＭＳ Ｐゴシック" pitchFamily="-106" charset="-128"/>
              </a:rPr>
              <a:t>Measuring worth by performance.</a:t>
            </a:r>
          </a:p>
          <a:p>
            <a:pPr lvl="1" fontAlgn="ctr"/>
            <a:r>
              <a:rPr lang="en-US" sz="2000" dirty="0">
                <a:ea typeface="ＭＳ Ｐゴシック" pitchFamily="-106" charset="-128"/>
                <a:cs typeface="ＭＳ Ｐゴシック" pitchFamily="-106" charset="-128"/>
              </a:rPr>
              <a:t>Rewarding conformity.</a:t>
            </a:r>
          </a:p>
        </p:txBody>
      </p:sp>
    </p:spTree>
    <p:extLst>
      <p:ext uri="{BB962C8B-B14F-4D97-AF65-F5344CB8AC3E}">
        <p14:creationId xmlns:p14="http://schemas.microsoft.com/office/powerpoint/2010/main" val="598147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361AB-6EB9-AD25-8EC2-C69BD345E2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CC995C3-FB59-E9BA-470D-B53D31E75B2B}"/>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Systems and Theology</a:t>
            </a:r>
            <a:br>
              <a:rPr lang="en-US" dirty="0"/>
            </a:br>
            <a:r>
              <a:rPr lang="en-US" sz="2800" dirty="0">
                <a:solidFill>
                  <a:schemeClr val="tx2">
                    <a:lumMod val="60000"/>
                    <a:lumOff val="40000"/>
                  </a:schemeClr>
                </a:solidFill>
              </a:rPr>
              <a:t>From Uncertainty to Control</a:t>
            </a:r>
          </a:p>
        </p:txBody>
      </p:sp>
      <p:sp>
        <p:nvSpPr>
          <p:cNvPr id="3" name="TextBox 2">
            <a:extLst>
              <a:ext uri="{FF2B5EF4-FFF2-40B4-BE49-F238E27FC236}">
                <a16:creationId xmlns:a16="http://schemas.microsoft.com/office/drawing/2014/main" id="{02DFA595-39E1-0A5C-94BF-A3C4FFDDC523}"/>
              </a:ext>
            </a:extLst>
          </p:cNvPr>
          <p:cNvSpPr txBox="1"/>
          <p:nvPr/>
        </p:nvSpPr>
        <p:spPr>
          <a:xfrm>
            <a:off x="214310" y="838200"/>
            <a:ext cx="8677275" cy="1938992"/>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Theology Can Become a Righteousness System</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Theology itself is not the problem.</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Self-trust is.</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When theology is used to manage uncertainty, it becomes a system of control.</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Jesus confronted this directly.</a:t>
            </a:r>
          </a:p>
        </p:txBody>
      </p:sp>
      <p:sp>
        <p:nvSpPr>
          <p:cNvPr id="2" name="TextBox 1">
            <a:extLst>
              <a:ext uri="{FF2B5EF4-FFF2-40B4-BE49-F238E27FC236}">
                <a16:creationId xmlns:a16="http://schemas.microsoft.com/office/drawing/2014/main" id="{96B45E03-36AC-53D4-AEDF-420DA90A5AA4}"/>
              </a:ext>
            </a:extLst>
          </p:cNvPr>
          <p:cNvSpPr txBox="1"/>
          <p:nvPr/>
        </p:nvSpPr>
        <p:spPr>
          <a:xfrm>
            <a:off x="214310" y="2925288"/>
            <a:ext cx="8677275" cy="1015663"/>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Matthew </a:t>
            </a:r>
            <a:r>
              <a:rPr lang="en-US" sz="2000" b="1" i="1" dirty="0">
                <a:ea typeface="ＭＳ Ｐゴシック" pitchFamily="-106" charset="-128"/>
                <a:cs typeface="ＭＳ Ｐゴシック" pitchFamily="-106" charset="-128"/>
              </a:rPr>
              <a:t>23:4  </a:t>
            </a:r>
            <a:r>
              <a:rPr lang="en-US" sz="2000" i="1" dirty="0">
                <a:ea typeface="ＭＳ Ｐゴシック" pitchFamily="-106" charset="-128"/>
                <a:cs typeface="ＭＳ Ｐゴシック" pitchFamily="-106" charset="-128"/>
              </a:rPr>
              <a:t>“They tie up heavy loads, hard to carry, and put them on people’s shoulders, but they themselves are unwilling to lift a finger to move them.”</a:t>
            </a:r>
          </a:p>
        </p:txBody>
      </p:sp>
      <p:sp>
        <p:nvSpPr>
          <p:cNvPr id="4" name="TextBox 3">
            <a:extLst>
              <a:ext uri="{FF2B5EF4-FFF2-40B4-BE49-F238E27FC236}">
                <a16:creationId xmlns:a16="http://schemas.microsoft.com/office/drawing/2014/main" id="{6A0D40A7-E865-D4CD-F969-65BDD9CF8DA8}"/>
              </a:ext>
            </a:extLst>
          </p:cNvPr>
          <p:cNvSpPr txBox="1"/>
          <p:nvPr/>
        </p:nvSpPr>
        <p:spPr>
          <a:xfrm>
            <a:off x="214310" y="4089047"/>
            <a:ext cx="8677275"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 Pharisees built certainty through precision. But their righteousness was external.</a:t>
            </a:r>
          </a:p>
          <a:p>
            <a:pPr marL="342900" indent="-342900">
              <a:buFont typeface="Arial" panose="020B0604020202020204" pitchFamily="34" charset="0"/>
              <a:buChar char="•"/>
            </a:pPr>
            <a:r>
              <a:rPr lang="en-US" sz="2000" dirty="0"/>
              <a:t>When humans elevate their systems of theology to be indisputably correct (certain), then they are essentially claiming to be God.</a:t>
            </a:r>
          </a:p>
          <a:p>
            <a:pPr marL="342900" indent="-342900">
              <a:buFont typeface="Arial" panose="020B0604020202020204" pitchFamily="34" charset="0"/>
              <a:buChar char="•"/>
            </a:pPr>
            <a:r>
              <a:rPr lang="en-US" sz="2000" b="1" dirty="0"/>
              <a:t>When the people creating the systems and creating the culture and enforcing their own righteousness don’t experience the consequences of what they teach then they will always drift farther from reality.</a:t>
            </a:r>
          </a:p>
        </p:txBody>
      </p:sp>
    </p:spTree>
    <p:extLst>
      <p:ext uri="{BB962C8B-B14F-4D97-AF65-F5344CB8AC3E}">
        <p14:creationId xmlns:p14="http://schemas.microsoft.com/office/powerpoint/2010/main" val="137473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34A92-93FF-CAB4-CC04-9C8C82CBFA4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1EB1058-45F7-7A7C-A43B-A08FD85B05FD}"/>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Replacing God’s Righteousness</a:t>
            </a:r>
            <a:br>
              <a:rPr lang="en-US" dirty="0"/>
            </a:br>
            <a:r>
              <a:rPr lang="en-US" sz="2800" dirty="0">
                <a:solidFill>
                  <a:schemeClr val="tx2">
                    <a:lumMod val="60000"/>
                    <a:lumOff val="40000"/>
                  </a:schemeClr>
                </a:solidFill>
              </a:rPr>
              <a:t>Ideology – Cultural Morality</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E78FE65B-D9DD-89EF-0749-258317058683}"/>
              </a:ext>
            </a:extLst>
          </p:cNvPr>
          <p:cNvSpPr txBox="1"/>
          <p:nvPr/>
        </p:nvSpPr>
        <p:spPr>
          <a:xfrm>
            <a:off x="208133" y="761411"/>
            <a:ext cx="8677275" cy="2554545"/>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Ideology as a Replacement for God’s Righteousness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Ideology promises moral clarity </a:t>
            </a:r>
            <a:r>
              <a:rPr lang="en-US" sz="2000" u="sng" dirty="0">
                <a:ea typeface="ＭＳ Ｐゴシック" pitchFamily="-106" charset="-128"/>
                <a:cs typeface="ＭＳ Ｐゴシック" pitchFamily="-106" charset="-128"/>
              </a:rPr>
              <a:t>without</a:t>
            </a:r>
            <a:r>
              <a:rPr lang="en-US" sz="2000" dirty="0">
                <a:ea typeface="ＭＳ Ｐゴシック" pitchFamily="-106" charset="-128"/>
                <a:cs typeface="ＭＳ Ｐゴシック" pitchFamily="-106" charset="-128"/>
              </a:rPr>
              <a:t> God.</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It defines:</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Good and evil.</a:t>
            </a:r>
          </a:p>
          <a:p>
            <a:pPr marL="800100" lvl="1" indent="-342900" fontAlgn="ctr">
              <a:buFont typeface="Arial" panose="020B0604020202020204" pitchFamily="34" charset="0"/>
              <a:buChar char="•"/>
            </a:pPr>
            <a:r>
              <a:rPr lang="en-US" sz="2000" dirty="0">
                <a:ea typeface="ＭＳ Ｐゴシック" pitchFamily="-106" charset="-128"/>
                <a:cs typeface="ＭＳ Ｐゴシック" pitchFamily="-106" charset="-128"/>
              </a:rPr>
              <a:t>Insiders and outsiders.</a:t>
            </a:r>
          </a:p>
          <a:p>
            <a:pPr marL="800100" lvl="1" indent="-342900" fontAlgn="ctr">
              <a:buFont typeface="Arial" panose="020B0604020202020204" pitchFamily="34" charset="0"/>
              <a:buChar char="•"/>
            </a:pPr>
            <a:r>
              <a:rPr lang="en-US" sz="2000" dirty="0">
                <a:ea typeface="ＭＳ Ｐゴシック" pitchFamily="-106" charset="-128"/>
                <a:cs typeface="ＭＳ Ｐゴシック" pitchFamily="-106" charset="-128"/>
              </a:rPr>
              <a:t>Acceptable behavior.</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 Bible does not define righteousness by culture, feelings, or majority opinion. It defines righteousness by God’s character.</a:t>
            </a:r>
          </a:p>
        </p:txBody>
      </p:sp>
      <p:sp>
        <p:nvSpPr>
          <p:cNvPr id="2" name="TextBox 1">
            <a:extLst>
              <a:ext uri="{FF2B5EF4-FFF2-40B4-BE49-F238E27FC236}">
                <a16:creationId xmlns:a16="http://schemas.microsoft.com/office/drawing/2014/main" id="{E64CA2A7-AC0B-6EEC-F7B6-C72EABB5968D}"/>
              </a:ext>
            </a:extLst>
          </p:cNvPr>
          <p:cNvSpPr txBox="1"/>
          <p:nvPr/>
        </p:nvSpPr>
        <p:spPr>
          <a:xfrm>
            <a:off x="216371" y="3382990"/>
            <a:ext cx="8677275" cy="132343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Isaiah 5:20  </a:t>
            </a:r>
            <a:r>
              <a:rPr lang="en-US" sz="2000" i="1" dirty="0">
                <a:ea typeface="ＭＳ Ｐゴシック" pitchFamily="-106" charset="-128"/>
                <a:cs typeface="ＭＳ Ｐゴシック" pitchFamily="-106" charset="-128"/>
              </a:rPr>
              <a:t>“Those who call evil good and good evil… are as good as dead.”</a:t>
            </a:r>
          </a:p>
          <a:p>
            <a:r>
              <a:rPr lang="en-US" sz="2000" b="1" dirty="0">
                <a:ea typeface="ＭＳ Ｐゴシック" pitchFamily="-106" charset="-128"/>
                <a:cs typeface="ＭＳ Ｐゴシック" pitchFamily="-106" charset="-128"/>
              </a:rPr>
              <a:t>Isaiah 33:22  </a:t>
            </a:r>
            <a:r>
              <a:rPr lang="en-US" sz="2000" i="1" dirty="0">
                <a:ea typeface="ＭＳ Ｐゴシック" pitchFamily="-106" charset="-128"/>
                <a:cs typeface="ＭＳ Ｐゴシック" pitchFamily="-106" charset="-128"/>
              </a:rPr>
              <a:t>“For the LORD is our ruler, the LORD is our lawgiver, the LORD is our king; he will deliver us.”</a:t>
            </a:r>
          </a:p>
        </p:txBody>
      </p:sp>
      <p:sp>
        <p:nvSpPr>
          <p:cNvPr id="4" name="TextBox 3">
            <a:extLst>
              <a:ext uri="{FF2B5EF4-FFF2-40B4-BE49-F238E27FC236}">
                <a16:creationId xmlns:a16="http://schemas.microsoft.com/office/drawing/2014/main" id="{2C779FE4-25A1-06E9-C774-16406BDDEF61}"/>
              </a:ext>
            </a:extLst>
          </p:cNvPr>
          <p:cNvSpPr txBox="1"/>
          <p:nvPr/>
        </p:nvSpPr>
        <p:spPr>
          <a:xfrm>
            <a:off x="195776" y="4796117"/>
            <a:ext cx="8677275" cy="1631216"/>
          </a:xfrm>
          <a:prstGeom prst="rect">
            <a:avLst/>
          </a:prstGeom>
          <a:noFill/>
        </p:spPr>
        <p:txBody>
          <a:bodyPr wrap="square" rtlCol="0">
            <a:spAutoFit/>
          </a:bodyPr>
          <a:lstStyle/>
          <a:p>
            <a:r>
              <a:rPr lang="en-US" sz="2000" dirty="0"/>
              <a:t>Regardless of God’s display of righteousness, mankind, throughout history, has sought to establish himself as the measure of all things.  Why?</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Ideology thrives on fear and division.</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It offers identity without repentance.</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This is human righteousness wearing modern clothes.</a:t>
            </a:r>
          </a:p>
        </p:txBody>
      </p:sp>
    </p:spTree>
    <p:extLst>
      <p:ext uri="{BB962C8B-B14F-4D97-AF65-F5344CB8AC3E}">
        <p14:creationId xmlns:p14="http://schemas.microsoft.com/office/powerpoint/2010/main" val="427461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FCC19-18FC-167C-9B08-CFF169A6356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5ADA05A-7C40-6C5A-59F5-EF92B9FBF57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From Man’s Morality to Cultural Norms</a:t>
            </a:r>
            <a:br>
              <a:rPr lang="en-US" dirty="0"/>
            </a:br>
            <a:r>
              <a:rPr lang="en-US" sz="3400" dirty="0">
                <a:solidFill>
                  <a:schemeClr val="tx2">
                    <a:lumMod val="60000"/>
                    <a:lumOff val="40000"/>
                  </a:schemeClr>
                </a:solidFill>
              </a:rPr>
              <a:t>Social Contracts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BE239680-29DE-F943-8CB2-C448CEAE176A}"/>
              </a:ext>
            </a:extLst>
          </p:cNvPr>
          <p:cNvSpPr txBox="1"/>
          <p:nvPr/>
        </p:nvSpPr>
        <p:spPr>
          <a:xfrm>
            <a:off x="214311" y="838200"/>
            <a:ext cx="8677275" cy="224676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Social Contracts and the Righteousness of Man</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 A social contract says:</a:t>
            </a:r>
          </a:p>
          <a:p>
            <a:pPr marL="800100" lvl="1" indent="-342900" fontAlgn="ctr">
              <a:buFont typeface="Arial" panose="020B0604020202020204" pitchFamily="34" charset="0"/>
              <a:buChar char="•"/>
            </a:pPr>
            <a:r>
              <a:rPr lang="en-US" sz="2000" i="1" dirty="0">
                <a:ea typeface="ＭＳ Ｐゴシック" pitchFamily="-106" charset="-128"/>
                <a:cs typeface="ＭＳ Ｐゴシック" pitchFamily="-106" charset="-128"/>
              </a:rPr>
              <a:t>I will behave if you do.</a:t>
            </a:r>
            <a:endParaRPr lang="en-US" sz="2000" dirty="0">
              <a:ea typeface="ＭＳ Ｐゴシック" pitchFamily="-106" charset="-128"/>
              <a:cs typeface="ＭＳ Ｐゴシック" pitchFamily="-106" charset="-128"/>
            </a:endParaRPr>
          </a:p>
          <a:p>
            <a:pPr marL="800100" lvl="1" indent="-342900" fontAlgn="ctr">
              <a:buFont typeface="Arial" panose="020B0604020202020204" pitchFamily="34" charset="0"/>
              <a:buChar char="•"/>
            </a:pPr>
            <a:r>
              <a:rPr lang="en-US" sz="2000" i="1" dirty="0">
                <a:ea typeface="ＭＳ Ｐゴシック" pitchFamily="-106" charset="-128"/>
                <a:cs typeface="ＭＳ Ｐゴシック" pitchFamily="-106" charset="-128"/>
              </a:rPr>
              <a:t>I will accept you if you follow the rules.</a:t>
            </a:r>
            <a:endParaRPr lang="en-US" sz="2000" dirty="0">
              <a:ea typeface="ＭＳ Ｐゴシック" pitchFamily="-106" charset="-128"/>
              <a:cs typeface="ＭＳ Ｐゴシック" pitchFamily="-106" charset="-128"/>
            </a:endParaRPr>
          </a:p>
          <a:p>
            <a:pPr marL="800100" lvl="1" indent="-342900" fontAlgn="ctr">
              <a:buFont typeface="Arial" panose="020B0604020202020204" pitchFamily="34" charset="0"/>
              <a:buChar char="•"/>
            </a:pPr>
            <a:r>
              <a:rPr lang="en-US" sz="2000" i="1" dirty="0">
                <a:ea typeface="ＭＳ Ｐゴシック" pitchFamily="-106" charset="-128"/>
                <a:cs typeface="ＭＳ Ｐゴシック" pitchFamily="-106" charset="-128"/>
              </a:rPr>
              <a:t>We are righteous because we agree.</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This is not covenant.</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It is transaction.</a:t>
            </a:r>
          </a:p>
        </p:txBody>
      </p:sp>
      <p:sp>
        <p:nvSpPr>
          <p:cNvPr id="2" name="TextBox 1">
            <a:extLst>
              <a:ext uri="{FF2B5EF4-FFF2-40B4-BE49-F238E27FC236}">
                <a16:creationId xmlns:a16="http://schemas.microsoft.com/office/drawing/2014/main" id="{38D6BD89-D900-1B37-E516-5F99D537D09E}"/>
              </a:ext>
            </a:extLst>
          </p:cNvPr>
          <p:cNvSpPr txBox="1"/>
          <p:nvPr/>
        </p:nvSpPr>
        <p:spPr>
          <a:xfrm>
            <a:off x="229243" y="3172867"/>
            <a:ext cx="8677275" cy="1015663"/>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Romans 2:14–15  </a:t>
            </a:r>
            <a:r>
              <a:rPr lang="en-US" sz="2000" i="1" dirty="0">
                <a:ea typeface="ＭＳ Ｐゴシック" pitchFamily="-106" charset="-128"/>
                <a:cs typeface="ＭＳ Ｐゴシック" pitchFamily="-106" charset="-128"/>
              </a:rPr>
              <a:t>“For whenever the Gentiles, who do not have the law, do by nature the things required by the law… they show that the work of the law is written on their hearts.”</a:t>
            </a:r>
          </a:p>
        </p:txBody>
      </p:sp>
      <p:sp>
        <p:nvSpPr>
          <p:cNvPr id="4" name="TextBox 3">
            <a:extLst>
              <a:ext uri="{FF2B5EF4-FFF2-40B4-BE49-F238E27FC236}">
                <a16:creationId xmlns:a16="http://schemas.microsoft.com/office/drawing/2014/main" id="{EAEB5785-DE6B-B79B-9B1C-6AFAE77C91CA}"/>
              </a:ext>
            </a:extLst>
          </p:cNvPr>
          <p:cNvSpPr txBox="1"/>
          <p:nvPr/>
        </p:nvSpPr>
        <p:spPr>
          <a:xfrm>
            <a:off x="229243" y="4280547"/>
            <a:ext cx="8677275"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Social contracts appeal to conscience.</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But they cannot transform the heart.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They manage behavior.</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They do not produce righteousness.</a:t>
            </a:r>
          </a:p>
        </p:txBody>
      </p:sp>
    </p:spTree>
    <p:extLst>
      <p:ext uri="{BB962C8B-B14F-4D97-AF65-F5344CB8AC3E}">
        <p14:creationId xmlns:p14="http://schemas.microsoft.com/office/powerpoint/2010/main" val="22199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1000"/>
                                        <p:tgtEl>
                                          <p:spTgt spid="4">
                                            <p:txEl>
                                              <p:pRg st="0" end="0"/>
                                            </p:txEl>
                                          </p:spTgt>
                                        </p:tgtEl>
                                      </p:cBhvr>
                                    </p:animEffect>
                                    <p:anim calcmode="lin" valueType="num">
                                      <p:cBhvr>
                                        <p:cTn id="22"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0" end="0"/>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1000"/>
                                        <p:tgtEl>
                                          <p:spTgt spid="4">
                                            <p:txEl>
                                              <p:pRg st="1" end="1"/>
                                            </p:txEl>
                                          </p:spTgt>
                                        </p:tgtEl>
                                      </p:cBhvr>
                                    </p:animEffect>
                                    <p:anim calcmode="lin" valueType="num">
                                      <p:cBhvr>
                                        <p:cTn id="27"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2" end="2"/>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fade">
                                      <p:cBhvr>
                                        <p:cTn id="36" dur="1000"/>
                                        <p:tgtEl>
                                          <p:spTgt spid="4">
                                            <p:txEl>
                                              <p:pRg st="3" end="3"/>
                                            </p:txEl>
                                          </p:spTgt>
                                        </p:tgtEl>
                                      </p:cBhvr>
                                    </p:animEffect>
                                    <p:anim calcmode="lin" valueType="num">
                                      <p:cBhvr>
                                        <p:cTn id="3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C5E0E-5045-DFC8-A357-AE130A2C6B0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1BE258C-62C6-9C28-F9F1-5FD496B1A1BE}"/>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Moral Assurance</a:t>
            </a:r>
            <a:br>
              <a:rPr lang="en-US" dirty="0"/>
            </a:br>
            <a:r>
              <a:rPr lang="en-US" sz="2800" dirty="0">
                <a:solidFill>
                  <a:schemeClr val="tx2">
                    <a:lumMod val="60000"/>
                    <a:lumOff val="40000"/>
                  </a:schemeClr>
                </a:solidFill>
              </a:rPr>
              <a:t>Feeling Righteous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8847D78E-2848-F1A0-3CD1-28047E7543CD}"/>
              </a:ext>
            </a:extLst>
          </p:cNvPr>
          <p:cNvSpPr txBox="1"/>
          <p:nvPr/>
        </p:nvSpPr>
        <p:spPr>
          <a:xfrm>
            <a:off x="214311" y="838200"/>
            <a:ext cx="8677275" cy="1938992"/>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Why Social Contracts Feel Righteous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Social contracts reduce chaos.</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That feels moral.</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They create predictability.</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That feels safe.</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But safety is not righteousness.</a:t>
            </a:r>
          </a:p>
        </p:txBody>
      </p:sp>
      <p:sp>
        <p:nvSpPr>
          <p:cNvPr id="2" name="TextBox 1">
            <a:extLst>
              <a:ext uri="{FF2B5EF4-FFF2-40B4-BE49-F238E27FC236}">
                <a16:creationId xmlns:a16="http://schemas.microsoft.com/office/drawing/2014/main" id="{91C9D324-4B99-3C13-9DC9-86D9BBB2E144}"/>
              </a:ext>
            </a:extLst>
          </p:cNvPr>
          <p:cNvSpPr txBox="1"/>
          <p:nvPr/>
        </p:nvSpPr>
        <p:spPr>
          <a:xfrm>
            <a:off x="256016" y="4109641"/>
            <a:ext cx="8677275" cy="400110"/>
          </a:xfrm>
          <a:prstGeom prst="rect">
            <a:avLst/>
          </a:prstGeom>
          <a:noFill/>
        </p:spPr>
        <p:txBody>
          <a:bodyPr wrap="square" rtlCol="0">
            <a:spAutoFit/>
          </a:bodyPr>
          <a:lstStyle/>
          <a:p>
            <a:r>
              <a:rPr lang="en-US" sz="2000" dirty="0">
                <a:ea typeface="ＭＳ Ｐゴシック" pitchFamily="-106" charset="-128"/>
                <a:cs typeface="ＭＳ Ｐゴシック" pitchFamily="-106" charset="-128"/>
              </a:rPr>
              <a:t>Social contracts replace trust in God with trust in consensus.</a:t>
            </a:r>
          </a:p>
        </p:txBody>
      </p:sp>
      <p:sp>
        <p:nvSpPr>
          <p:cNvPr id="4" name="TextBox 3">
            <a:extLst>
              <a:ext uri="{FF2B5EF4-FFF2-40B4-BE49-F238E27FC236}">
                <a16:creationId xmlns:a16="http://schemas.microsoft.com/office/drawing/2014/main" id="{8CA62BA7-5690-8346-89F9-1958C603744F}"/>
              </a:ext>
            </a:extLst>
          </p:cNvPr>
          <p:cNvSpPr txBox="1"/>
          <p:nvPr/>
        </p:nvSpPr>
        <p:spPr>
          <a:xfrm>
            <a:off x="233362" y="3028890"/>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Jeremiah 17:5  </a:t>
            </a:r>
            <a:r>
              <a:rPr lang="en-US" sz="2000" i="1" dirty="0">
                <a:ea typeface="ＭＳ Ｐゴシック" pitchFamily="-106" charset="-128"/>
                <a:cs typeface="ＭＳ Ｐゴシック" pitchFamily="-106" charset="-128"/>
              </a:rPr>
              <a:t>“Cursed is the one who trusts in human beings… and whose heart turns away from the LORD.”</a:t>
            </a:r>
          </a:p>
        </p:txBody>
      </p:sp>
    </p:spTree>
    <p:extLst>
      <p:ext uri="{BB962C8B-B14F-4D97-AF65-F5344CB8AC3E}">
        <p14:creationId xmlns:p14="http://schemas.microsoft.com/office/powerpoint/2010/main" val="2340258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D0990-AD45-2678-773E-3CF5A90C7A6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CAB037E-F3E9-6DFB-0643-6556A0B58495}"/>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Covenant versus Contract</a:t>
            </a:r>
            <a:br>
              <a:rPr lang="en-US" dirty="0"/>
            </a:br>
            <a:r>
              <a:rPr lang="en-US" sz="2800" dirty="0">
                <a:solidFill>
                  <a:schemeClr val="tx2">
                    <a:lumMod val="60000"/>
                    <a:lumOff val="40000"/>
                  </a:schemeClr>
                </a:solidFill>
              </a:rPr>
              <a:t>Knowing God is Relationship – Covenant Faithfulness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0D4E93F2-3CC8-00E4-C8EB-CD15C2F16610}"/>
              </a:ext>
            </a:extLst>
          </p:cNvPr>
          <p:cNvSpPr txBox="1"/>
          <p:nvPr/>
        </p:nvSpPr>
        <p:spPr>
          <a:xfrm>
            <a:off x="214311" y="838200"/>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Apostolic Contrast: Covenant vs. Contract</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God does not relate by contract.</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He relates by covenant.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A </a:t>
            </a:r>
            <a:r>
              <a:rPr lang="en-US" sz="2000" u="sng" dirty="0">
                <a:ea typeface="ＭＳ Ｐゴシック" pitchFamily="-106" charset="-128"/>
                <a:cs typeface="ＭＳ Ｐゴシック" pitchFamily="-106" charset="-128"/>
              </a:rPr>
              <a:t>contract</a:t>
            </a:r>
            <a:r>
              <a:rPr lang="en-US" sz="2000" dirty="0">
                <a:ea typeface="ＭＳ Ｐゴシック" pitchFamily="-106" charset="-128"/>
                <a:cs typeface="ＭＳ Ｐゴシック" pitchFamily="-106" charset="-128"/>
              </a:rPr>
              <a:t> is based on mutual performance.</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A </a:t>
            </a:r>
            <a:r>
              <a:rPr lang="en-US" sz="2000" u="sng" dirty="0">
                <a:ea typeface="ＭＳ Ｐゴシック" pitchFamily="-106" charset="-128"/>
                <a:cs typeface="ＭＳ Ｐゴシック" pitchFamily="-106" charset="-128"/>
              </a:rPr>
              <a:t>covenant</a:t>
            </a:r>
            <a:r>
              <a:rPr lang="en-US" sz="2000" dirty="0">
                <a:ea typeface="ＭＳ Ｐゴシック" pitchFamily="-106" charset="-128"/>
                <a:cs typeface="ＭＳ Ｐゴシック" pitchFamily="-106" charset="-128"/>
              </a:rPr>
              <a:t> is based on God’s faithfulness.</a:t>
            </a:r>
          </a:p>
        </p:txBody>
      </p:sp>
      <p:sp>
        <p:nvSpPr>
          <p:cNvPr id="2" name="TextBox 1">
            <a:extLst>
              <a:ext uri="{FF2B5EF4-FFF2-40B4-BE49-F238E27FC236}">
                <a16:creationId xmlns:a16="http://schemas.microsoft.com/office/drawing/2014/main" id="{F0773188-3661-E712-08BD-F6E8DD8C8C6C}"/>
              </a:ext>
            </a:extLst>
          </p:cNvPr>
          <p:cNvSpPr txBox="1"/>
          <p:nvPr/>
        </p:nvSpPr>
        <p:spPr>
          <a:xfrm>
            <a:off x="214308" y="2672235"/>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Hebrews 8:10  </a:t>
            </a:r>
            <a:r>
              <a:rPr lang="en-US" sz="2000" i="1" dirty="0">
                <a:ea typeface="ＭＳ Ｐゴシック" pitchFamily="-106" charset="-128"/>
                <a:cs typeface="ＭＳ Ｐゴシック" pitchFamily="-106" charset="-128"/>
              </a:rPr>
              <a:t>“I will put my laws in their minds, and I will inscribe them on their hearts.”</a:t>
            </a:r>
          </a:p>
        </p:txBody>
      </p:sp>
      <p:sp>
        <p:nvSpPr>
          <p:cNvPr id="4" name="TextBox 3">
            <a:extLst>
              <a:ext uri="{FF2B5EF4-FFF2-40B4-BE49-F238E27FC236}">
                <a16:creationId xmlns:a16="http://schemas.microsoft.com/office/drawing/2014/main" id="{2252627C-E72D-4B5C-7C50-A04462A71ADD}"/>
              </a:ext>
            </a:extLst>
          </p:cNvPr>
          <p:cNvSpPr txBox="1"/>
          <p:nvPr/>
        </p:nvSpPr>
        <p:spPr>
          <a:xfrm>
            <a:off x="214309" y="4149524"/>
            <a:ext cx="8677275"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God’s righteousness does not come from agreement.</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It comes from transformation.</a:t>
            </a:r>
          </a:p>
          <a:p>
            <a:r>
              <a:rPr lang="en-US" sz="2000" dirty="0">
                <a:ea typeface="ＭＳ Ｐゴシック" pitchFamily="-106" charset="-128"/>
                <a:cs typeface="ＭＳ Ｐゴシック" pitchFamily="-106" charset="-128"/>
              </a:rPr>
              <a:t> </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Early Christians rejected civic morality as a basis for righteousness.</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They lived by allegiance to Christ, not social approval.</a:t>
            </a:r>
          </a:p>
        </p:txBody>
      </p:sp>
    </p:spTree>
    <p:extLst>
      <p:ext uri="{BB962C8B-B14F-4D97-AF65-F5344CB8AC3E}">
        <p14:creationId xmlns:p14="http://schemas.microsoft.com/office/powerpoint/2010/main" val="417657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ECB68-634B-5AF3-9BB4-AE3673B7109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12DC489-863A-58DF-6CE0-D428ABFFD836}"/>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Covenant Faithfulness, Trust, and Grace</a:t>
            </a:r>
            <a:br>
              <a:rPr lang="en-US" dirty="0"/>
            </a:br>
            <a:r>
              <a:rPr lang="en-US" sz="2800" dirty="0">
                <a:solidFill>
                  <a:schemeClr val="tx2">
                    <a:lumMod val="60000"/>
                    <a:lumOff val="40000"/>
                  </a:schemeClr>
                </a:solidFill>
              </a:rPr>
              <a:t>How Systems Deal with Grace</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B8A62BE6-EF05-C9DE-E190-64AF827863BA}"/>
              </a:ext>
            </a:extLst>
          </p:cNvPr>
          <p:cNvSpPr txBox="1"/>
          <p:nvPr/>
        </p:nvSpPr>
        <p:spPr>
          <a:xfrm>
            <a:off x="214311" y="838200"/>
            <a:ext cx="8677275" cy="132343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Why Human Righteousness Always Hardens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Systems cannot tolerate grace.</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Grace introduces risk.</a:t>
            </a:r>
          </a:p>
          <a:p>
            <a:pPr marL="342900" indent="-342900">
              <a:buFont typeface="Arial" panose="020B0604020202020204" pitchFamily="34" charset="0"/>
              <a:buChar char="•"/>
            </a:pPr>
            <a:r>
              <a:rPr lang="en-US" sz="2000" u="sng" dirty="0">
                <a:ea typeface="ＭＳ Ｐゴシック" pitchFamily="-106" charset="-128"/>
                <a:cs typeface="ＭＳ Ｐゴシック" pitchFamily="-106" charset="-128"/>
              </a:rPr>
              <a:t>Systems demand certainty</a:t>
            </a:r>
            <a:r>
              <a:rPr lang="en-US" sz="2000" dirty="0">
                <a:ea typeface="ＭＳ Ｐゴシック" pitchFamily="-106" charset="-128"/>
                <a:cs typeface="ＭＳ Ｐゴシック" pitchFamily="-106" charset="-128"/>
              </a:rPr>
              <a:t>.</a:t>
            </a:r>
          </a:p>
        </p:txBody>
      </p:sp>
      <p:sp>
        <p:nvSpPr>
          <p:cNvPr id="2" name="TextBox 1">
            <a:extLst>
              <a:ext uri="{FF2B5EF4-FFF2-40B4-BE49-F238E27FC236}">
                <a16:creationId xmlns:a16="http://schemas.microsoft.com/office/drawing/2014/main" id="{FDD42F93-09BD-EA85-726F-9324F06681B8}"/>
              </a:ext>
            </a:extLst>
          </p:cNvPr>
          <p:cNvSpPr txBox="1"/>
          <p:nvPr/>
        </p:nvSpPr>
        <p:spPr>
          <a:xfrm>
            <a:off x="214310" y="2362200"/>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Galatians </a:t>
            </a:r>
            <a:r>
              <a:rPr lang="en-US" sz="2000" b="1" i="1" dirty="0">
                <a:ea typeface="ＭＳ Ｐゴシック" pitchFamily="-106" charset="-128"/>
                <a:cs typeface="ＭＳ Ｐゴシック" pitchFamily="-106" charset="-128"/>
              </a:rPr>
              <a:t>2:21  </a:t>
            </a:r>
            <a:r>
              <a:rPr lang="en-US" sz="2000" i="1" dirty="0">
                <a:ea typeface="ＭＳ Ｐゴシック" pitchFamily="-106" charset="-128"/>
                <a:cs typeface="ＭＳ Ｐゴシック" pitchFamily="-106" charset="-128"/>
              </a:rPr>
              <a:t>“I do not set aside God’s grace, because if righteousness could come through the law, then Christ died for nothing.”</a:t>
            </a:r>
          </a:p>
        </p:txBody>
      </p:sp>
      <p:sp>
        <p:nvSpPr>
          <p:cNvPr id="4" name="TextBox 3">
            <a:extLst>
              <a:ext uri="{FF2B5EF4-FFF2-40B4-BE49-F238E27FC236}">
                <a16:creationId xmlns:a16="http://schemas.microsoft.com/office/drawing/2014/main" id="{9039E732-2C31-7EAF-CE82-16B71A8A0111}"/>
              </a:ext>
            </a:extLst>
          </p:cNvPr>
          <p:cNvSpPr txBox="1"/>
          <p:nvPr/>
        </p:nvSpPr>
        <p:spPr>
          <a:xfrm>
            <a:off x="233362" y="3285063"/>
            <a:ext cx="8677275" cy="317009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The Root Issue Is Trust, Not Knowledge</a:t>
            </a:r>
            <a:endParaRPr lang="en-US" sz="2000" dirty="0">
              <a:ea typeface="ＭＳ Ｐゴシック" pitchFamily="-106" charset="-128"/>
              <a:cs typeface="ＭＳ Ｐゴシック" pitchFamily="-106" charset="-128"/>
            </a:endParaRPr>
          </a:p>
          <a:p>
            <a:r>
              <a:rPr lang="en-US" sz="2000" dirty="0">
                <a:ea typeface="ＭＳ Ｐゴシック" pitchFamily="-106" charset="-128"/>
                <a:cs typeface="ＭＳ Ｐゴシック" pitchFamily="-106" charset="-128"/>
              </a:rPr>
              <a:t>Human righteousness is not created because people lack information.</a:t>
            </a:r>
          </a:p>
          <a:p>
            <a:r>
              <a:rPr lang="en-US" sz="2000" dirty="0">
                <a:ea typeface="ＭＳ Ｐゴシック" pitchFamily="-106" charset="-128"/>
                <a:cs typeface="ＭＳ Ｐゴシック" pitchFamily="-106" charset="-128"/>
              </a:rPr>
              <a:t>It is created because people fear dependence.</a:t>
            </a:r>
          </a:p>
          <a:p>
            <a:r>
              <a:rPr lang="en-US" sz="2000" dirty="0">
                <a:ea typeface="ＭＳ Ｐゴシック" pitchFamily="-106" charset="-128"/>
                <a:cs typeface="ＭＳ Ｐゴシック" pitchFamily="-106" charset="-128"/>
              </a:rPr>
              <a:t> </a:t>
            </a:r>
          </a:p>
          <a:p>
            <a:r>
              <a:rPr lang="en-US" sz="2000" dirty="0">
                <a:ea typeface="ＭＳ Ｐゴシック" pitchFamily="-106" charset="-128"/>
                <a:cs typeface="ＭＳ Ｐゴシック" pitchFamily="-106" charset="-128"/>
              </a:rPr>
              <a:t>Trust feels risky.</a:t>
            </a:r>
          </a:p>
          <a:p>
            <a:r>
              <a:rPr lang="en-US" sz="2000" dirty="0">
                <a:ea typeface="ＭＳ Ｐゴシック" pitchFamily="-106" charset="-128"/>
                <a:cs typeface="ＭＳ Ｐゴシック" pitchFamily="-106" charset="-128"/>
              </a:rPr>
              <a:t>Systems feel secure.</a:t>
            </a:r>
          </a:p>
          <a:p>
            <a:r>
              <a:rPr lang="en-US" sz="2000" dirty="0">
                <a:ea typeface="ＭＳ Ｐゴシック" pitchFamily="-106" charset="-128"/>
                <a:cs typeface="ＭＳ Ｐゴシック" pitchFamily="-106" charset="-128"/>
              </a:rPr>
              <a:t> </a:t>
            </a:r>
          </a:p>
          <a:p>
            <a:r>
              <a:rPr lang="en-US" sz="2000" dirty="0">
                <a:ea typeface="ＭＳ Ｐゴシック" pitchFamily="-106" charset="-128"/>
                <a:cs typeface="ＭＳ Ｐゴシック" pitchFamily="-106" charset="-128"/>
              </a:rPr>
              <a:t>But only trust leads to life.</a:t>
            </a:r>
          </a:p>
          <a:p>
            <a:endParaRPr lang="en-US" sz="2000" dirty="0">
              <a:ea typeface="ＭＳ Ｐゴシック" pitchFamily="-106" charset="-128"/>
              <a:cs typeface="ＭＳ Ｐゴシック" pitchFamily="-106" charset="-128"/>
            </a:endParaRPr>
          </a:p>
          <a:p>
            <a:r>
              <a:rPr lang="en-US" sz="2000" b="1" dirty="0">
                <a:ea typeface="ＭＳ Ｐゴシック" pitchFamily="-106" charset="-128"/>
                <a:cs typeface="ＭＳ Ｐゴシック" pitchFamily="-106" charset="-128"/>
              </a:rPr>
              <a:t>When certainty replaces trust, Christ becomes unnecessary.</a:t>
            </a:r>
          </a:p>
        </p:txBody>
      </p:sp>
    </p:spTree>
    <p:extLst>
      <p:ext uri="{BB962C8B-B14F-4D97-AF65-F5344CB8AC3E}">
        <p14:creationId xmlns:p14="http://schemas.microsoft.com/office/powerpoint/2010/main" val="141925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3190C-EF00-597F-C667-748CAC55CCE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36001CD-37D6-18CB-0ABA-54362D580F7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Summary</a:t>
            </a:r>
            <a:br>
              <a:rPr lang="en-US" dirty="0"/>
            </a:br>
            <a:r>
              <a:rPr lang="en-US" sz="2800" dirty="0">
                <a:solidFill>
                  <a:schemeClr val="tx2">
                    <a:lumMod val="60000"/>
                    <a:lumOff val="40000"/>
                  </a:schemeClr>
                </a:solidFill>
              </a:rPr>
              <a:t>Foundations of Man’s Righteousness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A4573C1E-3D31-295B-BC77-9DAEF1A04A88}"/>
              </a:ext>
            </a:extLst>
          </p:cNvPr>
          <p:cNvSpPr txBox="1"/>
          <p:nvPr/>
        </p:nvSpPr>
        <p:spPr>
          <a:xfrm>
            <a:off x="214311" y="838200"/>
            <a:ext cx="8677275" cy="2862322"/>
          </a:xfrm>
          <a:prstGeom prst="rect">
            <a:avLst/>
          </a:prstGeom>
          <a:noFill/>
        </p:spPr>
        <p:txBody>
          <a:bodyPr wrap="square" rtlCol="0">
            <a:spAutoFit/>
          </a:bodyPr>
          <a:lstStyle/>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Uncertainty drives fear.</a:t>
            </a:r>
          </a:p>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Fear demands control.</a:t>
            </a:r>
          </a:p>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Control creates systems.</a:t>
            </a:r>
          </a:p>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Systems produce human righteousness.</a:t>
            </a:r>
          </a:p>
          <a:p>
            <a:r>
              <a:rPr lang="en-US" sz="2000" dirty="0">
                <a:ea typeface="ＭＳ Ｐゴシック" pitchFamily="-106" charset="-128"/>
                <a:cs typeface="ＭＳ Ｐゴシック" pitchFamily="-106" charset="-128"/>
              </a:rPr>
              <a:t> </a:t>
            </a:r>
          </a:p>
          <a:p>
            <a:pPr marL="342900" indent="-342900">
              <a:buFont typeface="Wingdings" panose="05000000000000000000" pitchFamily="2" charset="2"/>
              <a:buChar char="Ø"/>
            </a:pPr>
            <a:r>
              <a:rPr lang="en-US" sz="2000" dirty="0">
                <a:ea typeface="ＭＳ Ｐゴシック" pitchFamily="-106" charset="-128"/>
                <a:cs typeface="ＭＳ Ｐゴシック" pitchFamily="-106" charset="-128"/>
              </a:rPr>
              <a:t>Social contracts, theology, and ideology all become substitutes when they replace trust in God’s righteousness.</a:t>
            </a:r>
          </a:p>
          <a:p>
            <a:r>
              <a:rPr lang="en-US" sz="2000" dirty="0">
                <a:ea typeface="ＭＳ Ｐゴシック" pitchFamily="-106" charset="-128"/>
                <a:cs typeface="ＭＳ Ｐゴシック" pitchFamily="-106" charset="-128"/>
              </a:rPr>
              <a:t> </a:t>
            </a:r>
          </a:p>
          <a:p>
            <a:pPr marL="342900" indent="-342900">
              <a:buFont typeface="Wingdings" panose="05000000000000000000" pitchFamily="2" charset="2"/>
              <a:buChar char="Ø"/>
            </a:pPr>
            <a:r>
              <a:rPr lang="en-US" sz="2000" dirty="0">
                <a:ea typeface="ＭＳ Ｐゴシック" pitchFamily="-106" charset="-128"/>
                <a:cs typeface="ＭＳ Ｐゴシック" pitchFamily="-106" charset="-128"/>
              </a:rPr>
              <a:t>The gospel does not remove uncertainty.  It relocates trust.</a:t>
            </a:r>
          </a:p>
        </p:txBody>
      </p:sp>
      <p:sp>
        <p:nvSpPr>
          <p:cNvPr id="2" name="TextBox 1">
            <a:extLst>
              <a:ext uri="{FF2B5EF4-FFF2-40B4-BE49-F238E27FC236}">
                <a16:creationId xmlns:a16="http://schemas.microsoft.com/office/drawing/2014/main" id="{F9DC8F44-6436-B618-AB38-4D32578F547C}"/>
              </a:ext>
            </a:extLst>
          </p:cNvPr>
          <p:cNvSpPr txBox="1"/>
          <p:nvPr/>
        </p:nvSpPr>
        <p:spPr>
          <a:xfrm>
            <a:off x="214310" y="4233957"/>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Proverbs 3:5  </a:t>
            </a:r>
            <a:r>
              <a:rPr lang="en-US" sz="2000" i="1" dirty="0">
                <a:ea typeface="ＭＳ Ｐゴシック" pitchFamily="-106" charset="-128"/>
                <a:cs typeface="ＭＳ Ｐゴシック" pitchFamily="-106" charset="-128"/>
              </a:rPr>
              <a:t>“Trust in the LORD with all your heart, and do not rely on your own understanding.”</a:t>
            </a:r>
          </a:p>
        </p:txBody>
      </p:sp>
    </p:spTree>
    <p:extLst>
      <p:ext uri="{BB962C8B-B14F-4D97-AF65-F5344CB8AC3E}">
        <p14:creationId xmlns:p14="http://schemas.microsoft.com/office/powerpoint/2010/main" val="146265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C0DD8-CEC7-E654-A5B9-F3D213FBAFA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5AB05F0-884A-2F36-6E9F-3575067070C1}"/>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Intro</a:t>
            </a:r>
            <a:br>
              <a:rPr lang="en-US" dirty="0"/>
            </a:br>
            <a:r>
              <a:rPr lang="en-US" sz="2800" dirty="0">
                <a:solidFill>
                  <a:schemeClr val="tx2">
                    <a:lumMod val="60000"/>
                    <a:lumOff val="40000"/>
                  </a:schemeClr>
                </a:solidFill>
              </a:rPr>
              <a:t>The</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DD03969E-8788-644E-470C-777569F1A33E}"/>
              </a:ext>
            </a:extLst>
          </p:cNvPr>
          <p:cNvSpPr txBox="1"/>
          <p:nvPr/>
        </p:nvSpPr>
        <p:spPr>
          <a:xfrm>
            <a:off x="214311" y="838200"/>
            <a:ext cx="8677275" cy="400110"/>
          </a:xfrm>
          <a:prstGeom prst="rect">
            <a:avLst/>
          </a:prstGeom>
          <a:noFill/>
        </p:spPr>
        <p:txBody>
          <a:bodyPr wrap="square" rtlCol="0">
            <a:spAutoFit/>
          </a:bodyPr>
          <a:lstStyle/>
          <a:p>
            <a:r>
              <a:rPr lang="en-US" sz="2000" dirty="0"/>
              <a:t>He</a:t>
            </a:r>
          </a:p>
        </p:txBody>
      </p:sp>
      <p:sp>
        <p:nvSpPr>
          <p:cNvPr id="2" name="TextBox 1">
            <a:extLst>
              <a:ext uri="{FF2B5EF4-FFF2-40B4-BE49-F238E27FC236}">
                <a16:creationId xmlns:a16="http://schemas.microsoft.com/office/drawing/2014/main" id="{20FD5FE9-929A-4DA7-17EC-A4AD5E449D85}"/>
              </a:ext>
            </a:extLst>
          </p:cNvPr>
          <p:cNvSpPr txBox="1"/>
          <p:nvPr/>
        </p:nvSpPr>
        <p:spPr>
          <a:xfrm>
            <a:off x="214310" y="2362200"/>
            <a:ext cx="8677275" cy="400110"/>
          </a:xfrm>
          <a:prstGeom prst="rect">
            <a:avLst/>
          </a:prstGeom>
          <a:noFill/>
        </p:spPr>
        <p:txBody>
          <a:bodyPr wrap="square" rtlCol="0">
            <a:spAutoFit/>
          </a:bodyPr>
          <a:lstStyle/>
          <a:p>
            <a:r>
              <a:rPr lang="en-US" sz="2000" dirty="0">
                <a:ea typeface="ＭＳ Ｐゴシック" pitchFamily="-106" charset="-128"/>
                <a:cs typeface="ＭＳ Ｐゴシック" pitchFamily="-106" charset="-128"/>
              </a:rPr>
              <a:t>This</a:t>
            </a:r>
            <a:endParaRPr lang="en-US" sz="1600" dirty="0">
              <a:ea typeface="ＭＳ Ｐゴシック" pitchFamily="-106" charset="-128"/>
              <a:cs typeface="ＭＳ Ｐゴシック" pitchFamily="-106" charset="-128"/>
            </a:endParaRPr>
          </a:p>
        </p:txBody>
      </p:sp>
      <p:sp>
        <p:nvSpPr>
          <p:cNvPr id="4" name="TextBox 3">
            <a:extLst>
              <a:ext uri="{FF2B5EF4-FFF2-40B4-BE49-F238E27FC236}">
                <a16:creationId xmlns:a16="http://schemas.microsoft.com/office/drawing/2014/main" id="{D224D50D-20C2-15AA-5EA2-F71081ECCBD6}"/>
              </a:ext>
            </a:extLst>
          </p:cNvPr>
          <p:cNvSpPr txBox="1"/>
          <p:nvPr/>
        </p:nvSpPr>
        <p:spPr>
          <a:xfrm>
            <a:off x="214309" y="4149524"/>
            <a:ext cx="8677275" cy="400110"/>
          </a:xfrm>
          <a:prstGeom prst="rect">
            <a:avLst/>
          </a:prstGeom>
          <a:noFill/>
        </p:spPr>
        <p:txBody>
          <a:bodyPr wrap="square" rtlCol="0">
            <a:spAutoFit/>
          </a:bodyPr>
          <a:lstStyle/>
          <a:p>
            <a:r>
              <a:rPr lang="en-US" sz="2000" dirty="0">
                <a:ea typeface="ＭＳ Ｐゴシック" pitchFamily="-106" charset="-128"/>
                <a:cs typeface="ＭＳ Ｐゴシック" pitchFamily="-106" charset="-128"/>
              </a:rPr>
              <a:t>This</a:t>
            </a:r>
            <a:endParaRPr lang="en-US" sz="1600"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20574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28DDE-CD4E-7C8C-8440-858EF19C00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AC67E6-9601-AEE3-1489-23082B10AFF9}"/>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solidFill>
                  <a:schemeClr val="tx1"/>
                </a:solidFill>
                <a:ea typeface="ＭＳ Ｐゴシック" pitchFamily="-106" charset="-128"/>
                <a:cs typeface="ＭＳ Ｐゴシック" pitchFamily="-106" charset="-128"/>
              </a:rPr>
              <a:t>Righteousness Starts With God, Not Man</a:t>
            </a:r>
            <a:br>
              <a:rPr lang="en-US" dirty="0"/>
            </a:br>
            <a:r>
              <a:rPr lang="en-US" sz="3100" dirty="0">
                <a:solidFill>
                  <a:schemeClr val="tx2">
                    <a:lumMod val="60000"/>
                    <a:lumOff val="40000"/>
                  </a:schemeClr>
                </a:solidFill>
              </a:rPr>
              <a:t>Who is the standard?</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D6D12C54-7D34-01D6-341D-7B239249B2B3}"/>
              </a:ext>
            </a:extLst>
          </p:cNvPr>
          <p:cNvSpPr txBox="1"/>
          <p:nvPr/>
        </p:nvSpPr>
        <p:spPr>
          <a:xfrm>
            <a:off x="214311" y="838200"/>
            <a:ext cx="8677275" cy="3139321"/>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Psalm 11:7</a:t>
            </a:r>
            <a:r>
              <a:rPr lang="en-US" sz="2200" dirty="0">
                <a:ea typeface="ＭＳ Ｐゴシック" pitchFamily="-106" charset="-128"/>
                <a:cs typeface="ＭＳ Ｐゴシック" pitchFamily="-106" charset="-128"/>
              </a:rPr>
              <a:t>  </a:t>
            </a:r>
            <a:r>
              <a:rPr lang="en-US" sz="2200" i="1" dirty="0">
                <a:ea typeface="ＭＳ Ｐゴシック" pitchFamily="-106" charset="-128"/>
                <a:cs typeface="ＭＳ Ｐゴシック" pitchFamily="-106" charset="-128"/>
              </a:rPr>
              <a:t>Certainly, the LORD is just; he rewards godly deeds; the upright will experience his favor.</a:t>
            </a:r>
          </a:p>
          <a:p>
            <a:endParaRPr lang="en-US" sz="2200" i="1" dirty="0">
              <a:ea typeface="ＭＳ Ｐゴシック" pitchFamily="-106" charset="-128"/>
              <a:cs typeface="ＭＳ Ｐゴシック" pitchFamily="-106" charset="-128"/>
            </a:endParaRPr>
          </a:p>
          <a:p>
            <a:r>
              <a:rPr lang="en-US" sz="2200" b="1" dirty="0">
                <a:ea typeface="ＭＳ Ｐゴシック" pitchFamily="-106" charset="-128"/>
                <a:cs typeface="ＭＳ Ｐゴシック" pitchFamily="-106" charset="-128"/>
              </a:rPr>
              <a:t>Psalm 119:142  </a:t>
            </a:r>
            <a:r>
              <a:rPr lang="en-US" sz="2200" i="1" dirty="0">
                <a:ea typeface="ＭＳ Ｐゴシック" pitchFamily="-106" charset="-128"/>
                <a:cs typeface="ＭＳ Ｐゴシック" pitchFamily="-106" charset="-128"/>
              </a:rPr>
              <a:t>Your righteousness is an everlasting righteousness, And Your law is truth.</a:t>
            </a:r>
          </a:p>
          <a:p>
            <a:endParaRPr lang="en-US" sz="2200" i="1" dirty="0">
              <a:ea typeface="ＭＳ Ｐゴシック" pitchFamily="-106" charset="-128"/>
              <a:cs typeface="ＭＳ Ｐゴシック" pitchFamily="-106" charset="-128"/>
            </a:endParaRPr>
          </a:p>
          <a:p>
            <a:r>
              <a:rPr lang="en-US" sz="2200" b="1" dirty="0">
                <a:ea typeface="ＭＳ Ｐゴシック" pitchFamily="-106" charset="-128"/>
                <a:cs typeface="ＭＳ Ｐゴシック" pitchFamily="-106" charset="-128"/>
              </a:rPr>
              <a:t>Deuteronomy 32:4  </a:t>
            </a:r>
            <a:r>
              <a:rPr lang="en-US" sz="2200" i="1" dirty="0">
                <a:ea typeface="ＭＳ Ｐゴシック" pitchFamily="-106" charset="-128"/>
                <a:cs typeface="ＭＳ Ｐゴシック" pitchFamily="-106" charset="-128"/>
              </a:rPr>
              <a:t>He is the Rock, His work is perfect; For all His ways are justice, A God of truth and without injustice; Righteous and upright is He.</a:t>
            </a:r>
          </a:p>
        </p:txBody>
      </p:sp>
      <p:sp>
        <p:nvSpPr>
          <p:cNvPr id="2" name="TextBox 1">
            <a:extLst>
              <a:ext uri="{FF2B5EF4-FFF2-40B4-BE49-F238E27FC236}">
                <a16:creationId xmlns:a16="http://schemas.microsoft.com/office/drawing/2014/main" id="{D929C956-86B9-5893-5AA6-2026F654E6CD}"/>
              </a:ext>
            </a:extLst>
          </p:cNvPr>
          <p:cNvSpPr txBox="1"/>
          <p:nvPr/>
        </p:nvSpPr>
        <p:spPr>
          <a:xfrm>
            <a:off x="214311" y="3954075"/>
            <a:ext cx="8677275" cy="2800767"/>
          </a:xfrm>
          <a:prstGeom prst="rect">
            <a:avLst/>
          </a:prstGeom>
          <a:noFill/>
        </p:spPr>
        <p:txBody>
          <a:bodyPr wrap="square" rtlCol="0">
            <a:spAutoFit/>
          </a:bodyPr>
          <a:lstStyle/>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In the Bible, righteousness does not begin with human behavior.</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It begins with who God is.</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God does not measure Himself by a standard outside of Himself.</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He </a:t>
            </a:r>
            <a:r>
              <a:rPr lang="en-US" sz="2200" i="1" dirty="0">
                <a:ea typeface="ＭＳ Ｐゴシック" pitchFamily="-106" charset="-128"/>
                <a:cs typeface="ＭＳ Ｐゴシック" pitchFamily="-106" charset="-128"/>
              </a:rPr>
              <a:t>is</a:t>
            </a:r>
            <a:r>
              <a:rPr lang="en-US" sz="2200" dirty="0">
                <a:ea typeface="ＭＳ Ｐゴシック" pitchFamily="-106" charset="-128"/>
                <a:cs typeface="ＭＳ Ｐゴシック" pitchFamily="-106" charset="-128"/>
              </a:rPr>
              <a:t> the standard.</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God is righteous because His nature is righteous.</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He does what is right because He is right.</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Human ideas of goodness change.</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God does not change.</a:t>
            </a:r>
          </a:p>
        </p:txBody>
      </p:sp>
    </p:spTree>
    <p:extLst>
      <p:ext uri="{BB962C8B-B14F-4D97-AF65-F5344CB8AC3E}">
        <p14:creationId xmlns:p14="http://schemas.microsoft.com/office/powerpoint/2010/main" val="313069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1A01C-9C44-55C4-AAC4-5D0B8E20835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57326F0-612E-9C24-7EA0-E2281086B240}"/>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073D1E02-6E41-EB94-5687-6C9716BB4860}"/>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9CB49379-F891-9943-0C83-A428C1D3EF5F}"/>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89910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8B15-BA82-4696-178A-0B3E69DE4C5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BB73DD5-46E1-2A7E-897C-7457A0722CD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FF594920-2471-3E6E-DB6E-8D63DE0D6A7B}"/>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BF48A577-379F-C5EF-C396-F6D7FB9CA70B}"/>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02099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8184-3839-364C-D70F-5B9D83B820E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20CD831-6EEB-3207-97FA-0E2D9C3E6105}"/>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F5751D61-13CE-FC1F-70AB-70668CE283A2}"/>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7026B474-797E-E1C7-5C2B-56B0FC15068E}"/>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384345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83000-21C1-4EA9-1F02-90D28597F4C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BCBC5D1-2AF0-28AC-64B9-4C20892D5524}"/>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9F77B956-8E19-CE6F-1B87-520407D4CD95}"/>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FEBE30BB-7CCE-EDE4-82F5-5D0928243FB0}"/>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416046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2C146-9433-AABB-0BBD-002BD21B591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6BD0FA9-FBC7-E053-654C-C75EC9A8F29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9F3ECD47-6C53-DD9F-8047-85BFE18B2B15}"/>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C3DB64E0-A288-423E-B788-A1D0ADDD58B4}"/>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02794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5581A-3DF5-022B-2FC6-F37264D65FF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0498D79-991A-5EE3-6C1E-1F976EB52E98}"/>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F20A570B-344D-DBE6-FED0-BC58A9BF4403}"/>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C67198F1-D983-AFB7-3B9E-364144AEEEEE}"/>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84216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6BB4-6652-9E83-7120-8C8F7C46BC9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2BA949A-865C-7FCC-7063-52A64BE0C96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F5B35FED-1E26-5794-2F3A-F4ADBF984541}"/>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7D9392B6-DD23-762A-A439-49D72FBE9942}"/>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361557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42554</TotalTime>
  <Words>3890</Words>
  <Application>Microsoft Office PowerPoint</Application>
  <PresentationFormat>On-screen Show (4:3)</PresentationFormat>
  <Paragraphs>470</Paragraphs>
  <Slides>20</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ＭＳ Ｐゴシック</vt:lpstr>
      <vt:lpstr>Arial</vt:lpstr>
      <vt:lpstr>Arial Narrow</vt:lpstr>
      <vt:lpstr>Calibri</vt:lpstr>
      <vt:lpstr>Wingdings</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1427</cp:revision>
  <cp:lastPrinted>2025-12-28T01:41:35Z</cp:lastPrinted>
  <dcterms:created xsi:type="dcterms:W3CDTF">2010-06-16T02:58:04Z</dcterms:created>
  <dcterms:modified xsi:type="dcterms:W3CDTF">2026-01-03T20:40:52Z</dcterms:modified>
</cp:coreProperties>
</file>