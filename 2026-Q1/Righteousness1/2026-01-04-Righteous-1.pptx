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4068" r:id="rId1"/>
    <p:sldMasterId id="2147484131" r:id="rId2"/>
  </p:sldMasterIdLst>
  <p:notesMasterIdLst>
    <p:notesMasterId r:id="rId16"/>
  </p:notesMasterIdLst>
  <p:sldIdLst>
    <p:sldId id="395" r:id="rId3"/>
    <p:sldId id="599" r:id="rId4"/>
    <p:sldId id="611" r:id="rId5"/>
    <p:sldId id="601" r:id="rId6"/>
    <p:sldId id="602" r:id="rId7"/>
    <p:sldId id="603" r:id="rId8"/>
    <p:sldId id="604" r:id="rId9"/>
    <p:sldId id="605" r:id="rId10"/>
    <p:sldId id="606" r:id="rId11"/>
    <p:sldId id="607" r:id="rId12"/>
    <p:sldId id="608" r:id="rId13"/>
    <p:sldId id="610" r:id="rId14"/>
    <p:sldId id="609" r:id="rId15"/>
  </p:sldIdLst>
  <p:sldSz cx="9144000" cy="6858000" type="screen4x3"/>
  <p:notesSz cx="7315200" cy="9601200"/>
  <p:defaultTextStyle>
    <a:defPPr>
      <a:defRPr lang="en-US"/>
    </a:defPPr>
    <a:lvl1pPr algn="l" rtl="0" fontAlgn="base">
      <a:spcBef>
        <a:spcPct val="0"/>
      </a:spcBef>
      <a:spcAft>
        <a:spcPct val="0"/>
      </a:spcAft>
      <a:defRPr kern="1200">
        <a:solidFill>
          <a:schemeClr val="tx1"/>
        </a:solidFill>
        <a:latin typeface="Arial" charset="0"/>
        <a:ea typeface="ＭＳ Ｐゴシック" pitchFamily="34" charset="-128"/>
        <a:cs typeface="+mn-cs"/>
      </a:defRPr>
    </a:lvl1pPr>
    <a:lvl2pPr marL="457200" algn="l" rtl="0" fontAlgn="base">
      <a:spcBef>
        <a:spcPct val="0"/>
      </a:spcBef>
      <a:spcAft>
        <a:spcPct val="0"/>
      </a:spcAft>
      <a:defRPr kern="1200">
        <a:solidFill>
          <a:schemeClr val="tx1"/>
        </a:solidFill>
        <a:latin typeface="Arial" charset="0"/>
        <a:ea typeface="ＭＳ Ｐゴシック" pitchFamily="34" charset="-128"/>
        <a:cs typeface="+mn-cs"/>
      </a:defRPr>
    </a:lvl2pPr>
    <a:lvl3pPr marL="914400" algn="l" rtl="0" fontAlgn="base">
      <a:spcBef>
        <a:spcPct val="0"/>
      </a:spcBef>
      <a:spcAft>
        <a:spcPct val="0"/>
      </a:spcAft>
      <a:defRPr kern="1200">
        <a:solidFill>
          <a:schemeClr val="tx1"/>
        </a:solidFill>
        <a:latin typeface="Arial" charset="0"/>
        <a:ea typeface="ＭＳ Ｐゴシック" pitchFamily="34" charset="-128"/>
        <a:cs typeface="+mn-cs"/>
      </a:defRPr>
    </a:lvl3pPr>
    <a:lvl4pPr marL="1371600" algn="l" rtl="0" fontAlgn="base">
      <a:spcBef>
        <a:spcPct val="0"/>
      </a:spcBef>
      <a:spcAft>
        <a:spcPct val="0"/>
      </a:spcAft>
      <a:defRPr kern="1200">
        <a:solidFill>
          <a:schemeClr val="tx1"/>
        </a:solidFill>
        <a:latin typeface="Arial" charset="0"/>
        <a:ea typeface="ＭＳ Ｐゴシック" pitchFamily="34" charset="-128"/>
        <a:cs typeface="+mn-cs"/>
      </a:defRPr>
    </a:lvl4pPr>
    <a:lvl5pPr marL="1828800" algn="l" rtl="0" fontAlgn="base">
      <a:spcBef>
        <a:spcPct val="0"/>
      </a:spcBef>
      <a:spcAft>
        <a:spcPct val="0"/>
      </a:spcAft>
      <a:defRPr kern="1200">
        <a:solidFill>
          <a:schemeClr val="tx1"/>
        </a:solidFill>
        <a:latin typeface="Arial" charset="0"/>
        <a:ea typeface="ＭＳ Ｐゴシック" pitchFamily="34" charset="-128"/>
        <a:cs typeface="+mn-cs"/>
      </a:defRPr>
    </a:lvl5pPr>
    <a:lvl6pPr marL="2286000" algn="l" defTabSz="914400" rtl="0" eaLnBrk="1" latinLnBrk="0" hangingPunct="1">
      <a:defRPr kern="1200">
        <a:solidFill>
          <a:schemeClr val="tx1"/>
        </a:solidFill>
        <a:latin typeface="Arial" charset="0"/>
        <a:ea typeface="ＭＳ Ｐゴシック" pitchFamily="34" charset="-128"/>
        <a:cs typeface="+mn-cs"/>
      </a:defRPr>
    </a:lvl6pPr>
    <a:lvl7pPr marL="2743200" algn="l" defTabSz="914400" rtl="0" eaLnBrk="1" latinLnBrk="0" hangingPunct="1">
      <a:defRPr kern="1200">
        <a:solidFill>
          <a:schemeClr val="tx1"/>
        </a:solidFill>
        <a:latin typeface="Arial" charset="0"/>
        <a:ea typeface="ＭＳ Ｐゴシック" pitchFamily="34" charset="-128"/>
        <a:cs typeface="+mn-cs"/>
      </a:defRPr>
    </a:lvl7pPr>
    <a:lvl8pPr marL="3200400" algn="l" defTabSz="914400" rtl="0" eaLnBrk="1" latinLnBrk="0" hangingPunct="1">
      <a:defRPr kern="1200">
        <a:solidFill>
          <a:schemeClr val="tx1"/>
        </a:solidFill>
        <a:latin typeface="Arial" charset="0"/>
        <a:ea typeface="ＭＳ Ｐゴシック" pitchFamily="34" charset="-128"/>
        <a:cs typeface="+mn-cs"/>
      </a:defRPr>
    </a:lvl8pPr>
    <a:lvl9pPr marL="3657600" algn="l" defTabSz="914400" rtl="0" eaLnBrk="1" latinLnBrk="0" hangingPunct="1">
      <a:defRPr kern="1200">
        <a:solidFill>
          <a:schemeClr val="tx1"/>
        </a:solidFill>
        <a:latin typeface="Arial" charset="0"/>
        <a:ea typeface="ＭＳ Ｐゴシック" pitchFamily="34" charset="-128"/>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Phillip Pennington" initials="PP" lastIdx="2" clrIdx="0">
    <p:extLst>
      <p:ext uri="{19B8F6BF-5375-455C-9EA6-DF929625EA0E}">
        <p15:presenceInfo xmlns:p15="http://schemas.microsoft.com/office/powerpoint/2012/main" userId="7a30b84b863a4f94"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862" autoAdjust="0"/>
    <p:restoredTop sz="70906" autoAdjust="0"/>
  </p:normalViewPr>
  <p:slideViewPr>
    <p:cSldViewPr>
      <p:cViewPr varScale="1">
        <p:scale>
          <a:sx n="109" d="100"/>
          <a:sy n="109" d="100"/>
        </p:scale>
        <p:origin x="1512" y="126"/>
      </p:cViewPr>
      <p:guideLst>
        <p:guide orient="horz" pos="2160"/>
        <p:guide pos="2880"/>
      </p:guideLst>
    </p:cSldViewPr>
  </p:slideViewPr>
  <p:notesTextViewPr>
    <p:cViewPr>
      <p:scale>
        <a:sx n="3" d="2"/>
        <a:sy n="3" d="2"/>
      </p:scale>
      <p:origin x="-6" y="-3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presProps" Target="presProps.xml"/><Relationship Id="rId3" Type="http://schemas.openxmlformats.org/officeDocument/2006/relationships/slide" Target="slides/slide1.xml"/><Relationship Id="rId21" Type="http://schemas.openxmlformats.org/officeDocument/2006/relationships/tableStyles" Target="tableStyle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commentAuthors" Target="commentAuthors.xml"/><Relationship Id="rId2" Type="http://schemas.openxmlformats.org/officeDocument/2006/relationships/slideMaster" Target="slideMasters/slideMaster2.xml"/><Relationship Id="rId16" Type="http://schemas.openxmlformats.org/officeDocument/2006/relationships/notesMaster" Target="notesMasters/notesMaster1.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slide" Target="slides/slide13.xml"/><Relationship Id="rId10" Type="http://schemas.openxmlformats.org/officeDocument/2006/relationships/slide" Target="slides/slide8.xml"/><Relationship Id="rId19"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4"/>
            <a:ext cx="3169921" cy="480060"/>
          </a:xfrm>
          <a:prstGeom prst="rect">
            <a:avLst/>
          </a:prstGeom>
        </p:spPr>
        <p:txBody>
          <a:bodyPr vert="horz" wrap="square" lIns="96579" tIns="48290" rIns="96579" bIns="48290" numCol="1" anchor="t" anchorCtr="0" compatLnSpc="1">
            <a:prstTxWarp prst="textNoShape">
              <a:avLst/>
            </a:prstTxWarp>
          </a:bodyPr>
          <a:lstStyle>
            <a:lvl1pPr>
              <a:defRPr sz="1200">
                <a:latin typeface="Arial" pitchFamily="34" charset="0"/>
                <a:ea typeface="ＭＳ Ｐゴシック" pitchFamily="-106" charset="-128"/>
              </a:defRPr>
            </a:lvl1pPr>
          </a:lstStyle>
          <a:p>
            <a:pPr>
              <a:defRPr/>
            </a:pPr>
            <a:endParaRPr lang="en-US"/>
          </a:p>
        </p:txBody>
      </p:sp>
      <p:sp>
        <p:nvSpPr>
          <p:cNvPr id="3" name="Date Placeholder 2"/>
          <p:cNvSpPr>
            <a:spLocks noGrp="1"/>
          </p:cNvSpPr>
          <p:nvPr>
            <p:ph type="dt" idx="1"/>
          </p:nvPr>
        </p:nvSpPr>
        <p:spPr>
          <a:xfrm>
            <a:off x="4143589" y="4"/>
            <a:ext cx="3169921" cy="480060"/>
          </a:xfrm>
          <a:prstGeom prst="rect">
            <a:avLst/>
          </a:prstGeom>
        </p:spPr>
        <p:txBody>
          <a:bodyPr vert="horz" wrap="square" lIns="96579" tIns="48290" rIns="96579" bIns="48290" numCol="1" anchor="t" anchorCtr="0" compatLnSpc="1">
            <a:prstTxWarp prst="textNoShape">
              <a:avLst/>
            </a:prstTxWarp>
          </a:bodyPr>
          <a:lstStyle>
            <a:lvl1pPr algn="r">
              <a:defRPr sz="1200">
                <a:latin typeface="Arial" pitchFamily="34" charset="0"/>
                <a:ea typeface="ＭＳ Ｐゴシック" pitchFamily="-106" charset="-128"/>
              </a:defRPr>
            </a:lvl1pPr>
          </a:lstStyle>
          <a:p>
            <a:pPr>
              <a:defRPr/>
            </a:pPr>
            <a:fld id="{37B93000-4848-40F5-8AEF-44DFB12065B3}" type="datetime1">
              <a:rPr lang="en-US"/>
              <a:pPr>
                <a:defRPr/>
              </a:pPr>
              <a:t>1/4/2026</a:t>
            </a:fld>
            <a:endParaRPr lang="en-US"/>
          </a:p>
        </p:txBody>
      </p:sp>
      <p:sp>
        <p:nvSpPr>
          <p:cNvPr id="4" name="Slide Image Placeholder 3"/>
          <p:cNvSpPr>
            <a:spLocks noGrp="1" noRot="1" noChangeAspect="1"/>
          </p:cNvSpPr>
          <p:nvPr>
            <p:ph type="sldImg" idx="2"/>
          </p:nvPr>
        </p:nvSpPr>
        <p:spPr>
          <a:xfrm>
            <a:off x="1257300" y="720725"/>
            <a:ext cx="4800600" cy="3600450"/>
          </a:xfrm>
          <a:prstGeom prst="rect">
            <a:avLst/>
          </a:prstGeom>
          <a:noFill/>
          <a:ln w="12700">
            <a:solidFill>
              <a:prstClr val="black"/>
            </a:solidFill>
          </a:ln>
        </p:spPr>
        <p:txBody>
          <a:bodyPr vert="horz" wrap="square" lIns="96579" tIns="48290" rIns="96579" bIns="48290" numCol="1" anchor="ctr" anchorCtr="0" compatLnSpc="1">
            <a:prstTxWarp prst="textNoShape">
              <a:avLst/>
            </a:prstTxWarp>
          </a:bodyPr>
          <a:lstStyle/>
          <a:p>
            <a:pPr lvl="0"/>
            <a:endParaRPr lang="en-US" noProof="0"/>
          </a:p>
        </p:txBody>
      </p:sp>
      <p:sp>
        <p:nvSpPr>
          <p:cNvPr id="5" name="Notes Placeholder 4"/>
          <p:cNvSpPr>
            <a:spLocks noGrp="1"/>
          </p:cNvSpPr>
          <p:nvPr>
            <p:ph type="body" sz="quarter" idx="3"/>
          </p:nvPr>
        </p:nvSpPr>
        <p:spPr>
          <a:xfrm>
            <a:off x="731521" y="4560571"/>
            <a:ext cx="5852160" cy="4320540"/>
          </a:xfrm>
          <a:prstGeom prst="rect">
            <a:avLst/>
          </a:prstGeom>
        </p:spPr>
        <p:txBody>
          <a:bodyPr vert="horz" wrap="square" lIns="96579" tIns="48290" rIns="96579" bIns="48290" numCol="1" anchor="t" anchorCtr="0" compatLnSpc="1">
            <a:prstTxWarp prst="textNoShape">
              <a:avLst/>
            </a:prstTxWarp>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5" y="9119474"/>
            <a:ext cx="3169921" cy="480060"/>
          </a:xfrm>
          <a:prstGeom prst="rect">
            <a:avLst/>
          </a:prstGeom>
        </p:spPr>
        <p:txBody>
          <a:bodyPr vert="horz" wrap="square" lIns="96579" tIns="48290" rIns="96579" bIns="48290" numCol="1" anchor="b" anchorCtr="0" compatLnSpc="1">
            <a:prstTxWarp prst="textNoShape">
              <a:avLst/>
            </a:prstTxWarp>
          </a:bodyPr>
          <a:lstStyle>
            <a:lvl1pPr>
              <a:defRPr sz="1200">
                <a:latin typeface="Arial" pitchFamily="34" charset="0"/>
                <a:ea typeface="ＭＳ Ｐゴシック" pitchFamily="-106" charset="-128"/>
              </a:defRPr>
            </a:lvl1pPr>
          </a:lstStyle>
          <a:p>
            <a:pPr>
              <a:defRPr/>
            </a:pPr>
            <a:endParaRPr lang="en-US"/>
          </a:p>
        </p:txBody>
      </p:sp>
      <p:sp>
        <p:nvSpPr>
          <p:cNvPr id="7" name="Slide Number Placeholder 6"/>
          <p:cNvSpPr>
            <a:spLocks noGrp="1"/>
          </p:cNvSpPr>
          <p:nvPr>
            <p:ph type="sldNum" sz="quarter" idx="5"/>
          </p:nvPr>
        </p:nvSpPr>
        <p:spPr>
          <a:xfrm>
            <a:off x="4143589" y="9119474"/>
            <a:ext cx="3169921" cy="480060"/>
          </a:xfrm>
          <a:prstGeom prst="rect">
            <a:avLst/>
          </a:prstGeom>
        </p:spPr>
        <p:txBody>
          <a:bodyPr vert="horz" wrap="square" lIns="96579" tIns="48290" rIns="96579" bIns="48290" numCol="1" anchor="b" anchorCtr="0" compatLnSpc="1">
            <a:prstTxWarp prst="textNoShape">
              <a:avLst/>
            </a:prstTxWarp>
          </a:bodyPr>
          <a:lstStyle>
            <a:lvl1pPr algn="r">
              <a:defRPr sz="1200">
                <a:latin typeface="Arial" pitchFamily="34" charset="0"/>
                <a:ea typeface="ＭＳ Ｐゴシック" pitchFamily="-106" charset="-128"/>
              </a:defRPr>
            </a:lvl1pPr>
          </a:lstStyle>
          <a:p>
            <a:pPr>
              <a:defRPr/>
            </a:pPr>
            <a:fld id="{07776858-791E-4C8D-8FA3-473B3AFECFAC}" type="slidenum">
              <a:rPr lang="en-US"/>
              <a:pPr>
                <a:defRPr/>
              </a:pPr>
              <a:t>‹#›</a:t>
            </a:fld>
            <a:endParaRPr lang="en-US"/>
          </a:p>
        </p:txBody>
      </p:sp>
    </p:spTree>
    <p:extLst>
      <p:ext uri="{BB962C8B-B14F-4D97-AF65-F5344CB8AC3E}">
        <p14:creationId xmlns:p14="http://schemas.microsoft.com/office/powerpoint/2010/main" val="4118375044"/>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ＭＳ Ｐゴシック" pitchFamily="-106" charset="-128"/>
        <a:cs typeface="ＭＳ Ｐゴシック" pitchFamily="-106" charset="-128"/>
      </a:defRPr>
    </a:lvl1pPr>
    <a:lvl2pPr marL="4572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2pPr>
    <a:lvl3pPr marL="9144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3pPr>
    <a:lvl4pPr marL="13716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4pPr>
    <a:lvl5pPr marL="18288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normAutofit fontScale="47500" lnSpcReduction="20000"/>
          </a:bodyPr>
          <a:lstStyle/>
          <a:p>
            <a:r>
              <a:rPr lang="en-US" sz="1400" b="1" kern="1200" dirty="0">
                <a:solidFill>
                  <a:schemeClr val="tx1"/>
                </a:solidFill>
                <a:effectLst/>
                <a:latin typeface="+mn-lt"/>
                <a:ea typeface="ＭＳ Ｐゴシック" pitchFamily="-106" charset="-128"/>
                <a:cs typeface="ＭＳ Ｐゴシック" pitchFamily="-106" charset="-128"/>
              </a:rPr>
              <a:t>What is “Righteousness” in the Bible?</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Discussion Questions</a:t>
            </a: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b="0" i="0" kern="1200" dirty="0">
                <a:solidFill>
                  <a:schemeClr val="tx1"/>
                </a:solidFill>
                <a:effectLst/>
                <a:latin typeface="+mn-lt"/>
                <a:ea typeface="ＭＳ Ｐゴシック" pitchFamily="-106" charset="-128"/>
                <a:cs typeface="ＭＳ Ｐゴシック" pitchFamily="-106" charset="-128"/>
              </a:rPr>
              <a:t>How would you explain “righteousness” in simple words?</a:t>
            </a:r>
          </a:p>
          <a:p>
            <a:pPr rtl="0" fontAlgn="ctr"/>
            <a:r>
              <a:rPr lang="en-US" sz="1400" b="0" i="0" kern="1200" dirty="0">
                <a:solidFill>
                  <a:schemeClr val="tx1"/>
                </a:solidFill>
                <a:effectLst/>
                <a:latin typeface="+mn-lt"/>
                <a:ea typeface="ＭＳ Ｐゴシック" pitchFamily="-106" charset="-128"/>
                <a:cs typeface="ＭＳ Ｐゴシック" pitchFamily="-106" charset="-128"/>
              </a:rPr>
              <a:t>Why must God define righteousness, not people?</a:t>
            </a:r>
          </a:p>
          <a:p>
            <a:pPr rtl="0" fontAlgn="ctr"/>
            <a:r>
              <a:rPr lang="en-US" sz="1400" b="0" i="0" kern="1200" dirty="0">
                <a:solidFill>
                  <a:schemeClr val="tx1"/>
                </a:solidFill>
                <a:effectLst/>
                <a:latin typeface="+mn-lt"/>
                <a:ea typeface="ＭＳ Ｐゴシック" pitchFamily="-106" charset="-128"/>
                <a:cs typeface="ＭＳ Ｐゴシック" pitchFamily="-106" charset="-128"/>
              </a:rPr>
              <a:t>What parts of God’s character stand out most in these verses?</a:t>
            </a:r>
          </a:p>
          <a:p>
            <a:pPr rtl="0" fontAlgn="ctr"/>
            <a:r>
              <a:rPr lang="en-US" sz="1400" b="0" i="0" kern="1200" dirty="0">
                <a:solidFill>
                  <a:schemeClr val="tx1"/>
                </a:solidFill>
                <a:effectLst/>
                <a:latin typeface="+mn-lt"/>
                <a:ea typeface="ＭＳ Ｐゴシック" pitchFamily="-106" charset="-128"/>
                <a:cs typeface="ＭＳ Ｐゴシック" pitchFamily="-106" charset="-128"/>
              </a:rPr>
              <a:t>How does knowing God’s righteousness change the way we see sin?</a:t>
            </a:r>
          </a:p>
          <a:p>
            <a:endParaRPr lang="en-US" sz="1400" dirty="0"/>
          </a:p>
          <a:p>
            <a:r>
              <a:rPr lang="en-US" sz="1400" b="1" kern="1200" dirty="0">
                <a:solidFill>
                  <a:schemeClr val="tx1"/>
                </a:solidFill>
                <a:effectLst/>
                <a:latin typeface="+mn-lt"/>
                <a:ea typeface="ＭＳ Ｐゴシック" pitchFamily="-106" charset="-128"/>
                <a:cs typeface="ＭＳ Ｐゴシック" pitchFamily="-106" charset="-128"/>
              </a:rPr>
              <a:t>Early Christian Understanding of Righteousness</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Early Christian teachers understood righteousness as:</a:t>
            </a:r>
          </a:p>
          <a:p>
            <a:pPr marL="171450" indent="-171450" rtl="0" fontAlgn="ctr">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God’s nature.</a:t>
            </a:r>
          </a:p>
          <a:p>
            <a:pPr marL="171450" indent="-171450" rtl="0" fontAlgn="ctr">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God’s gift.</a:t>
            </a:r>
          </a:p>
          <a:p>
            <a:pPr marL="171450" indent="-171450" rtl="0" fontAlgn="ctr">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God’s work in His people.</a:t>
            </a:r>
          </a:p>
          <a:p>
            <a:pPr marL="171450" indent="-171450">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They rejected the idea that righteousness is earned.</a:t>
            </a:r>
          </a:p>
          <a:p>
            <a:pPr marL="171450" indent="-171450">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They taught that righteousness is shared by God through faith and obedience.</a:t>
            </a:r>
          </a:p>
          <a:p>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This fits with apostolic teaching:</a:t>
            </a:r>
          </a:p>
          <a:p>
            <a:r>
              <a:rPr lang="en-US" sz="1400" b="1" kern="1200" dirty="0">
                <a:solidFill>
                  <a:schemeClr val="tx1"/>
                </a:solidFill>
                <a:effectLst/>
                <a:latin typeface="+mn-lt"/>
                <a:ea typeface="ＭＳ Ｐゴシック" pitchFamily="-106" charset="-128"/>
                <a:cs typeface="ＭＳ Ｐゴシック" pitchFamily="-106" charset="-128"/>
              </a:rPr>
              <a:t>Romans 1:17  </a:t>
            </a:r>
            <a:r>
              <a:rPr lang="en-US" sz="1400" kern="1200" dirty="0">
                <a:solidFill>
                  <a:schemeClr val="tx1"/>
                </a:solidFill>
                <a:effectLst/>
                <a:latin typeface="+mn-lt"/>
                <a:ea typeface="ＭＳ Ｐゴシック" pitchFamily="-106" charset="-128"/>
                <a:cs typeface="ＭＳ Ｐゴシック" pitchFamily="-106" charset="-128"/>
              </a:rPr>
              <a:t>“For the righteousness of God is revealed in the gospel from faith to faith, just as it is written, ‘The righteous by faith will live.’”</a:t>
            </a:r>
          </a:p>
          <a:p>
            <a:pPr marL="171450" indent="-171450">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Righteousness flows from God to people.</a:t>
            </a:r>
          </a:p>
          <a:p>
            <a:pPr marL="171450" indent="-171450">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It does not rise from people to God.</a:t>
            </a:r>
          </a:p>
          <a:p>
            <a:endParaRPr lang="en-US" dirty="0"/>
          </a:p>
          <a:p>
            <a:r>
              <a:rPr lang="en-US" sz="1200" b="1" kern="1200" dirty="0">
                <a:solidFill>
                  <a:schemeClr val="tx1"/>
                </a:solidFill>
                <a:effectLst/>
                <a:latin typeface="+mn-lt"/>
                <a:ea typeface="ＭＳ Ｐゴシック" pitchFamily="-106" charset="-128"/>
                <a:cs typeface="ＭＳ Ｐゴシック" pitchFamily="-106" charset="-128"/>
              </a:rPr>
              <a:t>Why This Matters for the Whole Study</a:t>
            </a:r>
            <a:endParaRPr lang="en-US" sz="1200" kern="1200" dirty="0">
              <a:solidFill>
                <a:schemeClr val="tx1"/>
              </a:solidFill>
              <a:effectLst/>
              <a:latin typeface="+mn-lt"/>
              <a:ea typeface="ＭＳ Ｐゴシック" pitchFamily="-106" charset="-128"/>
              <a:cs typeface="ＭＳ Ｐゴシック" pitchFamily="-106" charset="-128"/>
            </a:endParaRPr>
          </a:p>
          <a:p>
            <a:pPr marL="171450" indent="-171450">
              <a:buFont typeface="Arial" panose="020B0604020202020204" pitchFamily="34" charset="0"/>
              <a:buChar char="•"/>
            </a:pPr>
            <a:r>
              <a:rPr lang="en-US" sz="1200" kern="1200" dirty="0">
                <a:solidFill>
                  <a:schemeClr val="tx1"/>
                </a:solidFill>
                <a:effectLst/>
                <a:latin typeface="+mn-lt"/>
                <a:ea typeface="ＭＳ Ｐゴシック" pitchFamily="-106" charset="-128"/>
                <a:cs typeface="ＭＳ Ｐゴシック" pitchFamily="-106" charset="-128"/>
              </a:rPr>
              <a:t>If we misunderstand righteousness at the start, everything else breaks.</a:t>
            </a:r>
          </a:p>
          <a:p>
            <a:pPr marL="171450" indent="-171450" rtl="0" fontAlgn="ctr">
              <a:buFont typeface="Arial" panose="020B0604020202020204" pitchFamily="34" charset="0"/>
              <a:buChar char="•"/>
            </a:pPr>
            <a:r>
              <a:rPr lang="en-US" sz="1200" kern="1200" dirty="0">
                <a:solidFill>
                  <a:schemeClr val="tx1"/>
                </a:solidFill>
                <a:effectLst/>
                <a:latin typeface="+mn-lt"/>
                <a:ea typeface="ＭＳ Ｐゴシック" pitchFamily="-106" charset="-128"/>
                <a:cs typeface="ＭＳ Ｐゴシック" pitchFamily="-106" charset="-128"/>
              </a:rPr>
              <a:t>If righteousness starts with man, we end in pride or despair.</a:t>
            </a:r>
          </a:p>
          <a:p>
            <a:pPr marL="171450" indent="-171450" rtl="0" fontAlgn="ctr">
              <a:buFont typeface="Arial" panose="020B0604020202020204" pitchFamily="34" charset="0"/>
              <a:buChar char="•"/>
            </a:pPr>
            <a:r>
              <a:rPr lang="en-US" sz="1200" kern="1200" dirty="0">
                <a:solidFill>
                  <a:schemeClr val="tx1"/>
                </a:solidFill>
                <a:effectLst/>
                <a:latin typeface="+mn-lt"/>
                <a:ea typeface="ＭＳ Ｐゴシック" pitchFamily="-106" charset="-128"/>
                <a:cs typeface="ＭＳ Ｐゴシック" pitchFamily="-106" charset="-128"/>
              </a:rPr>
              <a:t>If righteousness starts with God, we end in humility and trust.</a:t>
            </a:r>
          </a:p>
          <a:p>
            <a:r>
              <a:rPr lang="en-US" sz="1200" kern="1200" dirty="0">
                <a:solidFill>
                  <a:schemeClr val="tx1"/>
                </a:solidFill>
                <a:effectLst/>
                <a:latin typeface="+mn-lt"/>
                <a:ea typeface="ＭＳ Ｐゴシック" pitchFamily="-106" charset="-128"/>
                <a:cs typeface="ＭＳ Ｐゴシック" pitchFamily="-106" charset="-128"/>
              </a:rPr>
              <a:t>This sets up the entire contrast of the study:</a:t>
            </a:r>
          </a:p>
          <a:p>
            <a:pPr marL="171450" indent="-171450" rtl="0" fontAlgn="ctr">
              <a:buFont typeface="Arial" panose="020B0604020202020204" pitchFamily="34" charset="0"/>
              <a:buChar char="•"/>
            </a:pPr>
            <a:r>
              <a:rPr lang="en-US" sz="1200" b="1" kern="1200" dirty="0">
                <a:solidFill>
                  <a:schemeClr val="tx1"/>
                </a:solidFill>
                <a:effectLst/>
                <a:latin typeface="+mn-lt"/>
                <a:ea typeface="ＭＳ Ｐゴシック" pitchFamily="-106" charset="-128"/>
                <a:cs typeface="ＭＳ Ｐゴシック" pitchFamily="-106" charset="-128"/>
              </a:rPr>
              <a:t>The righteousness of man</a:t>
            </a:r>
            <a:r>
              <a:rPr lang="en-US" sz="1200" kern="1200" dirty="0">
                <a:solidFill>
                  <a:schemeClr val="tx1"/>
                </a:solidFill>
                <a:effectLst/>
                <a:latin typeface="+mn-lt"/>
                <a:ea typeface="ＭＳ Ｐゴシック" pitchFamily="-106" charset="-128"/>
                <a:cs typeface="ＭＳ Ｐゴシック" pitchFamily="-106" charset="-128"/>
              </a:rPr>
              <a:t> is self-made and unstable.</a:t>
            </a:r>
          </a:p>
          <a:p>
            <a:pPr marL="171450" indent="-171450" rtl="0" fontAlgn="ctr">
              <a:buFont typeface="Arial" panose="020B0604020202020204" pitchFamily="34" charset="0"/>
              <a:buChar char="•"/>
            </a:pPr>
            <a:r>
              <a:rPr lang="en-US" sz="1200" b="1" kern="1200" dirty="0">
                <a:solidFill>
                  <a:schemeClr val="tx1"/>
                </a:solidFill>
                <a:effectLst/>
                <a:latin typeface="+mn-lt"/>
                <a:ea typeface="ＭＳ Ｐゴシック" pitchFamily="-106" charset="-128"/>
                <a:cs typeface="ＭＳ Ｐゴシック" pitchFamily="-106" charset="-128"/>
              </a:rPr>
              <a:t>The righteousness of God</a:t>
            </a:r>
            <a:r>
              <a:rPr lang="en-US" sz="1200" kern="1200" dirty="0">
                <a:solidFill>
                  <a:schemeClr val="tx1"/>
                </a:solidFill>
                <a:effectLst/>
                <a:latin typeface="+mn-lt"/>
                <a:ea typeface="ＭＳ Ｐゴシック" pitchFamily="-106" charset="-128"/>
                <a:cs typeface="ＭＳ Ｐゴシック" pitchFamily="-106" charset="-128"/>
              </a:rPr>
              <a:t> is revealed, given, and life-giving.</a:t>
            </a:r>
          </a:p>
          <a:p>
            <a:r>
              <a:rPr lang="en-US" sz="1200" kern="1200" dirty="0">
                <a:solidFill>
                  <a:schemeClr val="tx1"/>
                </a:solidFill>
                <a:effectLst/>
                <a:latin typeface="+mn-lt"/>
                <a:ea typeface="ＭＳ Ｐゴシック" pitchFamily="-106" charset="-128"/>
                <a:cs typeface="ＭＳ Ｐゴシック" pitchFamily="-106" charset="-128"/>
              </a:rPr>
              <a:t> </a:t>
            </a:r>
          </a:p>
          <a:p>
            <a:r>
              <a:rPr lang="en-US" sz="1200" b="1" kern="1200" dirty="0">
                <a:solidFill>
                  <a:schemeClr val="tx1"/>
                </a:solidFill>
                <a:effectLst/>
                <a:latin typeface="+mn-lt"/>
                <a:ea typeface="ＭＳ Ｐゴシック" pitchFamily="-106" charset="-128"/>
                <a:cs typeface="ＭＳ Ｐゴシック" pitchFamily="-106" charset="-128"/>
              </a:rPr>
              <a:t>Expanded Discussion Questions</a:t>
            </a:r>
            <a:endParaRPr lang="en-US" sz="1200" kern="1200" dirty="0">
              <a:solidFill>
                <a:schemeClr val="tx1"/>
              </a:solidFill>
              <a:effectLst/>
              <a:latin typeface="+mn-lt"/>
              <a:ea typeface="ＭＳ Ｐゴシック" pitchFamily="-106" charset="-128"/>
              <a:cs typeface="ＭＳ Ｐゴシック" pitchFamily="-106" charset="-128"/>
            </a:endParaRPr>
          </a:p>
          <a:p>
            <a:pPr rtl="0" fontAlgn="ctr"/>
            <a:r>
              <a:rPr lang="en-US" sz="1200" b="0" i="0" kern="1200" dirty="0">
                <a:solidFill>
                  <a:schemeClr val="tx1"/>
                </a:solidFill>
                <a:effectLst/>
                <a:latin typeface="+mn-lt"/>
                <a:ea typeface="ＭＳ Ｐゴシック" pitchFamily="-106" charset="-128"/>
                <a:cs typeface="ＭＳ Ｐゴシック" pitchFamily="-106" charset="-128"/>
              </a:rPr>
              <a:t>If righteousness comes from God’s nature, how should that shape our view of morality?</a:t>
            </a:r>
          </a:p>
          <a:p>
            <a:pPr rtl="0" fontAlgn="ctr"/>
            <a:r>
              <a:rPr lang="en-US" sz="1200" b="0" i="0" kern="1200" dirty="0">
                <a:solidFill>
                  <a:schemeClr val="tx1"/>
                </a:solidFill>
                <a:effectLst/>
                <a:latin typeface="+mn-lt"/>
                <a:ea typeface="ＭＳ Ｐゴシック" pitchFamily="-106" charset="-128"/>
                <a:cs typeface="ＭＳ Ｐゴシック" pitchFamily="-106" charset="-128"/>
              </a:rPr>
              <a:t>Why is it dangerous to define righteousness by culture or personal experience?</a:t>
            </a:r>
          </a:p>
          <a:p>
            <a:pPr rtl="0" fontAlgn="ctr"/>
            <a:r>
              <a:rPr lang="en-US" sz="1200" b="0" i="0" kern="1200" dirty="0">
                <a:solidFill>
                  <a:schemeClr val="tx1"/>
                </a:solidFill>
                <a:effectLst/>
                <a:latin typeface="+mn-lt"/>
                <a:ea typeface="ＭＳ Ｐゴシック" pitchFamily="-106" charset="-128"/>
                <a:cs typeface="ＭＳ Ｐゴシック" pitchFamily="-106" charset="-128"/>
              </a:rPr>
              <a:t>How does seeing God as righteous before seeing ourselves as sinners change our response to Him?</a:t>
            </a:r>
          </a:p>
          <a:p>
            <a:pPr rtl="0" fontAlgn="ctr"/>
            <a:r>
              <a:rPr lang="en-US" sz="1200" b="0" i="0" kern="1200" dirty="0">
                <a:solidFill>
                  <a:schemeClr val="tx1"/>
                </a:solidFill>
                <a:effectLst/>
                <a:latin typeface="+mn-lt"/>
                <a:ea typeface="ＭＳ Ｐゴシック" pitchFamily="-106" charset="-128"/>
                <a:cs typeface="ＭＳ Ｐゴシック" pitchFamily="-106" charset="-128"/>
              </a:rPr>
              <a:t>In what ways does God’s righteousness expose both our sin and our hope?</a:t>
            </a:r>
          </a:p>
          <a:p>
            <a:endParaRPr lang="en-US" dirty="0"/>
          </a:p>
        </p:txBody>
      </p:sp>
      <p:sp>
        <p:nvSpPr>
          <p:cNvPr id="4" name="Slide Number Placeholder 3"/>
          <p:cNvSpPr>
            <a:spLocks noGrp="1"/>
          </p:cNvSpPr>
          <p:nvPr>
            <p:ph type="sldNum" sz="quarter" idx="5"/>
          </p:nvPr>
        </p:nvSpPr>
        <p:spPr/>
        <p:txBody>
          <a:bodyPr/>
          <a:lstStyle/>
          <a:p>
            <a:pPr>
              <a:defRPr/>
            </a:pPr>
            <a:fld id="{07776858-791E-4C8D-8FA3-473B3AFECFAC}" type="slidenum">
              <a:rPr lang="en-US" smtClean="0"/>
              <a:pPr>
                <a:defRPr/>
              </a:pPr>
              <a:t>1</a:t>
            </a:fld>
            <a:endParaRPr lang="en-US"/>
          </a:p>
        </p:txBody>
      </p:sp>
    </p:spTree>
    <p:extLst>
      <p:ext uri="{BB962C8B-B14F-4D97-AF65-F5344CB8AC3E}">
        <p14:creationId xmlns:p14="http://schemas.microsoft.com/office/powerpoint/2010/main" val="356242095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94F5AB-F118-8CDF-27EC-39D311789E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EF9450-5117-EC4E-89C3-0A196CECBF5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530C525-9D1E-EBD5-8D62-C2D4420B5869}"/>
              </a:ext>
            </a:extLst>
          </p:cNvPr>
          <p:cNvSpPr>
            <a:spLocks noGrp="1"/>
          </p:cNvSpPr>
          <p:nvPr>
            <p:ph type="body" idx="1"/>
          </p:nvPr>
        </p:nvSpPr>
        <p:spPr/>
        <p:txBody>
          <a:bodyPr>
            <a:normAutofit fontScale="25000" lnSpcReduction="20000"/>
          </a:bodyPr>
          <a:lstStyle/>
          <a:p>
            <a:r>
              <a:rPr lang="en-US" sz="1400" b="1" kern="1200" dirty="0">
                <a:solidFill>
                  <a:schemeClr val="tx1"/>
                </a:solidFill>
                <a:effectLst/>
                <a:latin typeface="+mn-lt"/>
                <a:ea typeface="ＭＳ Ｐゴシック" pitchFamily="-106" charset="-128"/>
                <a:cs typeface="ＭＳ Ｐゴシック" pitchFamily="-106" charset="-128"/>
              </a:rPr>
              <a:t>Ecce Homo</a:t>
            </a:r>
            <a:endParaRPr lang="en-US" sz="1400" kern="1200" dirty="0">
              <a:solidFill>
                <a:schemeClr val="tx1"/>
              </a:solidFill>
              <a:effectLst/>
              <a:latin typeface="+mn-lt"/>
              <a:ea typeface="ＭＳ Ｐゴシック" pitchFamily="-106" charset="-128"/>
              <a:cs typeface="ＭＳ Ｐゴシック" pitchFamily="-106" charset="-128"/>
            </a:endParaRPr>
          </a:p>
          <a:p>
            <a:pPr lvl="1"/>
            <a:r>
              <a:rPr lang="en-US" sz="1400" kern="1200" dirty="0">
                <a:solidFill>
                  <a:schemeClr val="tx1"/>
                </a:solidFill>
                <a:effectLst/>
                <a:latin typeface="+mn-lt"/>
                <a:ea typeface="ＭＳ Ｐゴシック" pitchFamily="-106" charset="-128"/>
                <a:cs typeface="ＭＳ Ｐゴシック" pitchFamily="-106" charset="-128"/>
              </a:rPr>
              <a:t>(“Behold the Man”)</a:t>
            </a:r>
          </a:p>
          <a:p>
            <a:pPr lvl="1"/>
            <a:r>
              <a:rPr lang="en-US" sz="1400" kern="1200" dirty="0">
                <a:solidFill>
                  <a:schemeClr val="tx1"/>
                </a:solidFill>
                <a:effectLst/>
                <a:latin typeface="+mn-lt"/>
                <a:ea typeface="ＭＳ Ｐゴシック" pitchFamily="-106" charset="-128"/>
                <a:cs typeface="ＭＳ Ｐゴシック" pitchFamily="-106" charset="-128"/>
              </a:rPr>
              <a:t> by </a:t>
            </a:r>
            <a:r>
              <a:rPr lang="en-US" sz="1400" b="1" kern="1200" dirty="0">
                <a:solidFill>
                  <a:schemeClr val="tx1"/>
                </a:solidFill>
                <a:effectLst/>
                <a:latin typeface="+mn-lt"/>
                <a:ea typeface="ＭＳ Ｐゴシック" pitchFamily="-106" charset="-128"/>
                <a:cs typeface="ＭＳ Ｐゴシック" pitchFamily="-106" charset="-128"/>
              </a:rPr>
              <a:t>Antonio </a:t>
            </a:r>
            <a:r>
              <a:rPr lang="en-US" sz="1400" b="1" kern="1200" dirty="0" err="1">
                <a:solidFill>
                  <a:schemeClr val="tx1"/>
                </a:solidFill>
                <a:effectLst/>
                <a:latin typeface="+mn-lt"/>
                <a:ea typeface="ＭＳ Ｐゴシック" pitchFamily="-106" charset="-128"/>
                <a:cs typeface="ＭＳ Ｐゴシック" pitchFamily="-106" charset="-128"/>
              </a:rPr>
              <a:t>Ciseri</a:t>
            </a:r>
            <a:r>
              <a:rPr lang="en-US" sz="1400" b="1" kern="1200" dirty="0">
                <a:solidFill>
                  <a:schemeClr val="tx1"/>
                </a:solidFill>
                <a:effectLst/>
                <a:latin typeface="+mn-lt"/>
                <a:ea typeface="ＭＳ Ｐゴシック" pitchFamily="-106" charset="-128"/>
                <a:cs typeface="ＭＳ Ｐゴシック" pitchFamily="-106" charset="-128"/>
              </a:rPr>
              <a:t>, 1871</a:t>
            </a:r>
            <a:r>
              <a:rPr lang="en-US" sz="1400" kern="1200" dirty="0">
                <a:solidFill>
                  <a:schemeClr val="tx1"/>
                </a:solidFill>
                <a:effectLst/>
                <a:latin typeface="+mn-lt"/>
                <a:ea typeface="ＭＳ Ｐゴシック" pitchFamily="-106" charset="-128"/>
                <a:cs typeface="ＭＳ Ｐゴシック" pitchFamily="-106" charset="-128"/>
              </a:rPr>
              <a:t> </a:t>
            </a:r>
          </a:p>
          <a:p>
            <a:pPr lvl="1"/>
            <a:r>
              <a:rPr lang="en-US" sz="1400" kern="1200" dirty="0">
                <a:solidFill>
                  <a:schemeClr val="tx1"/>
                </a:solidFill>
                <a:effectLst/>
                <a:latin typeface="+mn-lt"/>
                <a:ea typeface="ＭＳ Ｐゴシック" pitchFamily="-106" charset="-128"/>
                <a:cs typeface="ＭＳ Ｐゴシック" pitchFamily="-106" charset="-128"/>
              </a:rPr>
              <a:t>The title comes from </a:t>
            </a:r>
            <a:r>
              <a:rPr lang="en-US" sz="1400" b="1" kern="1200" dirty="0">
                <a:solidFill>
                  <a:schemeClr val="tx1"/>
                </a:solidFill>
                <a:effectLst/>
                <a:latin typeface="+mn-lt"/>
                <a:ea typeface="ＭＳ Ｐゴシック" pitchFamily="-106" charset="-128"/>
                <a:cs typeface="ＭＳ Ｐゴシック" pitchFamily="-106" charset="-128"/>
              </a:rPr>
              <a:t>John 19:5</a:t>
            </a:r>
            <a:r>
              <a:rPr lang="en-US" sz="1400" kern="1200" dirty="0">
                <a:solidFill>
                  <a:schemeClr val="tx1"/>
                </a:solidFill>
                <a:effectLst/>
                <a:latin typeface="+mn-lt"/>
                <a:ea typeface="ＭＳ Ｐゴシック" pitchFamily="-106" charset="-128"/>
                <a:cs typeface="ＭＳ Ｐゴシック" pitchFamily="-106" charset="-128"/>
              </a:rPr>
              <a:t>:  </a:t>
            </a:r>
            <a:r>
              <a:rPr lang="en-US" sz="1400" i="1" kern="1200" dirty="0">
                <a:solidFill>
                  <a:schemeClr val="tx1"/>
                </a:solidFill>
                <a:effectLst/>
                <a:latin typeface="+mn-lt"/>
                <a:ea typeface="ＭＳ Ｐゴシック" pitchFamily="-106" charset="-128"/>
                <a:cs typeface="ＭＳ Ｐゴシック" pitchFamily="-106" charset="-128"/>
              </a:rPr>
              <a:t>“So Jesus came out, wearing the crown of thorns and the purple robe. Pilate said to them,</a:t>
            </a:r>
            <a:r>
              <a:rPr lang="en-US" sz="1400" b="1" i="1" kern="1200" dirty="0">
                <a:solidFill>
                  <a:schemeClr val="tx1"/>
                </a:solidFill>
                <a:effectLst/>
                <a:latin typeface="+mn-lt"/>
                <a:ea typeface="ＭＳ Ｐゴシック" pitchFamily="-106" charset="-128"/>
                <a:cs typeface="ＭＳ Ｐゴシック" pitchFamily="-106" charset="-128"/>
              </a:rPr>
              <a:t> ‘Look, here is the man!’</a:t>
            </a:r>
            <a:r>
              <a:rPr lang="en-US" sz="1400" i="1" kern="1200" dirty="0">
                <a:solidFill>
                  <a:schemeClr val="tx1"/>
                </a:solidFill>
                <a:effectLst/>
                <a:latin typeface="+mn-lt"/>
                <a:ea typeface="ＭＳ Ｐゴシック" pitchFamily="-106" charset="-128"/>
                <a:cs typeface="ＭＳ Ｐゴシック" pitchFamily="-106" charset="-128"/>
              </a:rPr>
              <a:t>”</a:t>
            </a:r>
          </a:p>
          <a:p>
            <a:pPr lvl="1"/>
            <a:endParaRPr lang="en-US" sz="1400" dirty="0"/>
          </a:p>
          <a:p>
            <a:r>
              <a:rPr lang="en-US" sz="1400" b="1" kern="1200" dirty="0">
                <a:solidFill>
                  <a:schemeClr val="tx1"/>
                </a:solidFill>
                <a:effectLst/>
                <a:latin typeface="+mn-lt"/>
                <a:ea typeface="ＭＳ Ｐゴシック" pitchFamily="-106" charset="-128"/>
                <a:cs typeface="ＭＳ Ｐゴシック" pitchFamily="-106" charset="-128"/>
              </a:rPr>
              <a:t>Subject and Scene</a:t>
            </a:r>
            <a:endParaRPr lang="en-US" sz="1400" kern="1200" dirty="0">
              <a:solidFill>
                <a:schemeClr val="tx1"/>
              </a:solidFill>
              <a:effectLst/>
              <a:latin typeface="+mn-lt"/>
              <a:ea typeface="ＭＳ Ｐゴシック" pitchFamily="-106" charset="-128"/>
              <a:cs typeface="ＭＳ Ｐゴシック" pitchFamily="-106" charset="-128"/>
            </a:endParaRPr>
          </a:p>
          <a:p>
            <a:pPr lvl="1"/>
            <a:r>
              <a:rPr lang="en-US" sz="1400" kern="1200" dirty="0">
                <a:solidFill>
                  <a:schemeClr val="tx1"/>
                </a:solidFill>
                <a:effectLst/>
                <a:latin typeface="+mn-lt"/>
                <a:ea typeface="ＭＳ Ｐゴシック" pitchFamily="-106" charset="-128"/>
                <a:cs typeface="ＭＳ Ｐゴシック" pitchFamily="-106" charset="-128"/>
              </a:rPr>
              <a:t>The painting depicts </a:t>
            </a:r>
            <a:r>
              <a:rPr lang="en-US" sz="1400" b="1" kern="1200" dirty="0">
                <a:solidFill>
                  <a:schemeClr val="tx1"/>
                </a:solidFill>
                <a:effectLst/>
                <a:latin typeface="+mn-lt"/>
                <a:ea typeface="ＭＳ Ｐゴシック" pitchFamily="-106" charset="-128"/>
                <a:cs typeface="ＭＳ Ｐゴシック" pitchFamily="-106" charset="-128"/>
              </a:rPr>
              <a:t>Pontius Pilate presenting Jesus to the crowd</a:t>
            </a:r>
            <a:r>
              <a:rPr lang="en-US" sz="1400" kern="1200" dirty="0">
                <a:solidFill>
                  <a:schemeClr val="tx1"/>
                </a:solidFill>
                <a:effectLst/>
                <a:latin typeface="+mn-lt"/>
                <a:ea typeface="ＭＳ Ｐゴシック" pitchFamily="-106" charset="-128"/>
                <a:cs typeface="ＭＳ Ｐゴシック" pitchFamily="-106" charset="-128"/>
              </a:rPr>
              <a:t>.</a:t>
            </a:r>
          </a:p>
          <a:p>
            <a:pPr lvl="1"/>
            <a:r>
              <a:rPr lang="en-US" sz="1400" kern="1200" dirty="0">
                <a:solidFill>
                  <a:schemeClr val="tx1"/>
                </a:solidFill>
                <a:effectLst/>
                <a:latin typeface="+mn-lt"/>
                <a:ea typeface="ＭＳ Ｐゴシック" pitchFamily="-106" charset="-128"/>
                <a:cs typeface="ＭＳ Ｐゴシック" pitchFamily="-106" charset="-128"/>
              </a:rPr>
              <a:t> </a:t>
            </a:r>
          </a:p>
          <a:p>
            <a:pPr lvl="1"/>
            <a:r>
              <a:rPr lang="en-US" sz="1400" kern="1200" dirty="0">
                <a:solidFill>
                  <a:schemeClr val="tx1"/>
                </a:solidFill>
                <a:effectLst/>
                <a:latin typeface="+mn-lt"/>
                <a:ea typeface="ＭＳ Ｐゴシック" pitchFamily="-106" charset="-128"/>
                <a:cs typeface="ＭＳ Ｐゴシック" pitchFamily="-106" charset="-128"/>
              </a:rPr>
              <a:t>Jesus stands:</a:t>
            </a:r>
          </a:p>
          <a:p>
            <a:pPr lvl="2" rtl="0" fontAlgn="ctr"/>
            <a:r>
              <a:rPr lang="en-US" sz="1400" kern="1200" dirty="0">
                <a:solidFill>
                  <a:schemeClr val="tx1"/>
                </a:solidFill>
                <a:effectLst/>
                <a:latin typeface="+mn-lt"/>
                <a:ea typeface="ＭＳ Ｐゴシック" pitchFamily="-106" charset="-128"/>
                <a:cs typeface="ＭＳ Ｐゴシック" pitchFamily="-106" charset="-128"/>
              </a:rPr>
              <a:t>silent</a:t>
            </a:r>
          </a:p>
          <a:p>
            <a:pPr lvl="2" rtl="0" fontAlgn="ctr"/>
            <a:r>
              <a:rPr lang="en-US" sz="1400" kern="1200" dirty="0">
                <a:solidFill>
                  <a:schemeClr val="tx1"/>
                </a:solidFill>
                <a:effectLst/>
                <a:latin typeface="+mn-lt"/>
                <a:ea typeface="ＭＳ Ｐゴシック" pitchFamily="-106" charset="-128"/>
                <a:cs typeface="ＭＳ Ｐゴシック" pitchFamily="-106" charset="-128"/>
              </a:rPr>
              <a:t>bound</a:t>
            </a:r>
          </a:p>
          <a:p>
            <a:pPr lvl="2" rtl="0" fontAlgn="ctr"/>
            <a:r>
              <a:rPr lang="en-US" sz="1400" kern="1200" dirty="0">
                <a:solidFill>
                  <a:schemeClr val="tx1"/>
                </a:solidFill>
                <a:effectLst/>
                <a:latin typeface="+mn-lt"/>
                <a:ea typeface="ＭＳ Ｐゴシック" pitchFamily="-106" charset="-128"/>
                <a:cs typeface="ＭＳ Ｐゴシック" pitchFamily="-106" charset="-128"/>
              </a:rPr>
              <a:t>crowned with thorns</a:t>
            </a:r>
          </a:p>
          <a:p>
            <a:pPr lvl="2" rtl="0" fontAlgn="ctr"/>
            <a:r>
              <a:rPr lang="en-US" sz="1400" kern="1200" dirty="0">
                <a:solidFill>
                  <a:schemeClr val="tx1"/>
                </a:solidFill>
                <a:effectLst/>
                <a:latin typeface="+mn-lt"/>
                <a:ea typeface="ＭＳ Ｐゴシック" pitchFamily="-106" charset="-128"/>
                <a:cs typeface="ＭＳ Ｐゴシック" pitchFamily="-106" charset="-128"/>
              </a:rPr>
              <a:t>wearing a faded purple robe</a:t>
            </a:r>
          </a:p>
          <a:p>
            <a:pPr lvl="1"/>
            <a:r>
              <a:rPr lang="en-US" sz="1400" kern="1200" dirty="0">
                <a:solidFill>
                  <a:schemeClr val="tx1"/>
                </a:solidFill>
                <a:effectLst/>
                <a:latin typeface="+mn-lt"/>
                <a:ea typeface="ＭＳ Ｐゴシック" pitchFamily="-106" charset="-128"/>
                <a:cs typeface="ＭＳ Ｐゴシック" pitchFamily="-106" charset="-128"/>
              </a:rPr>
              <a:t> </a:t>
            </a:r>
          </a:p>
          <a:p>
            <a:pPr lvl="1"/>
            <a:r>
              <a:rPr lang="en-US" sz="1400" kern="1200" dirty="0">
                <a:solidFill>
                  <a:schemeClr val="tx1"/>
                </a:solidFill>
                <a:effectLst/>
                <a:latin typeface="+mn-lt"/>
                <a:ea typeface="ＭＳ Ｐゴシック" pitchFamily="-106" charset="-128"/>
                <a:cs typeface="ＭＳ Ｐゴシック" pitchFamily="-106" charset="-128"/>
              </a:rPr>
              <a:t>The crowd below is chaotic and aggressive.</a:t>
            </a:r>
          </a:p>
          <a:p>
            <a:pPr lvl="1"/>
            <a:r>
              <a:rPr lang="en-US" sz="1400" kern="1200" dirty="0">
                <a:solidFill>
                  <a:schemeClr val="tx1"/>
                </a:solidFill>
                <a:effectLst/>
                <a:latin typeface="+mn-lt"/>
                <a:ea typeface="ＭＳ Ｐゴシック" pitchFamily="-106" charset="-128"/>
                <a:cs typeface="ＭＳ Ｐゴシック" pitchFamily="-106" charset="-128"/>
              </a:rPr>
              <a:t>Roman authority stands firm and detached.</a:t>
            </a:r>
          </a:p>
          <a:p>
            <a:pPr lvl="1"/>
            <a:r>
              <a:rPr lang="en-US" sz="1400" kern="1200" dirty="0">
                <a:solidFill>
                  <a:schemeClr val="tx1"/>
                </a:solidFill>
                <a:effectLst/>
                <a:latin typeface="+mn-lt"/>
                <a:ea typeface="ＭＳ Ｐゴシック" pitchFamily="-106" charset="-128"/>
                <a:cs typeface="ＭＳ Ｐゴシック" pitchFamily="-106" charset="-128"/>
              </a:rPr>
              <a:t> </a:t>
            </a:r>
          </a:p>
          <a:p>
            <a:pPr lvl="1"/>
            <a:r>
              <a:rPr lang="en-US" sz="1400" kern="1200" dirty="0">
                <a:solidFill>
                  <a:schemeClr val="tx1"/>
                </a:solidFill>
                <a:effectLst/>
                <a:latin typeface="+mn-lt"/>
                <a:ea typeface="ＭＳ Ｐゴシック" pitchFamily="-106" charset="-128"/>
                <a:cs typeface="ＭＳ Ｐゴシック" pitchFamily="-106" charset="-128"/>
              </a:rPr>
              <a:t>This visual tension is intentional.</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Biblical Context</a:t>
            </a:r>
            <a:endParaRPr lang="en-US" sz="1400" kern="1200" dirty="0">
              <a:solidFill>
                <a:schemeClr val="tx1"/>
              </a:solidFill>
              <a:effectLst/>
              <a:latin typeface="+mn-lt"/>
              <a:ea typeface="ＭＳ Ｐゴシック" pitchFamily="-106" charset="-128"/>
              <a:cs typeface="ＭＳ Ｐゴシック" pitchFamily="-106" charset="-128"/>
            </a:endParaRPr>
          </a:p>
          <a:p>
            <a:pPr lvl="1"/>
            <a:r>
              <a:rPr lang="en-US" sz="1400" b="1" kern="1200" dirty="0">
                <a:solidFill>
                  <a:schemeClr val="tx1"/>
                </a:solidFill>
                <a:effectLst/>
                <a:latin typeface="+mn-lt"/>
                <a:ea typeface="ＭＳ Ｐゴシック" pitchFamily="-106" charset="-128"/>
                <a:cs typeface="ＭＳ Ｐゴシック" pitchFamily="-106" charset="-128"/>
              </a:rPr>
              <a:t>John 19:4–6 </a:t>
            </a:r>
            <a:r>
              <a:rPr lang="en-US" sz="1400" b="1" i="0" kern="1200" dirty="0">
                <a:solidFill>
                  <a:schemeClr val="tx1"/>
                </a:solidFill>
                <a:effectLst/>
                <a:latin typeface="+mn-lt"/>
                <a:ea typeface="ＭＳ Ｐゴシック" pitchFamily="-106" charset="-128"/>
                <a:cs typeface="ＭＳ Ｐゴシック" pitchFamily="-106" charset="-128"/>
              </a:rPr>
              <a:t>: </a:t>
            </a:r>
            <a:r>
              <a:rPr lang="en-US" sz="1400" i="1" kern="1200" dirty="0">
                <a:solidFill>
                  <a:schemeClr val="tx1"/>
                </a:solidFill>
                <a:effectLst/>
                <a:latin typeface="+mn-lt"/>
                <a:ea typeface="ＭＳ Ｐゴシック" pitchFamily="-106" charset="-128"/>
                <a:cs typeface="ＭＳ Ｐゴシック" pitchFamily="-106" charset="-128"/>
              </a:rPr>
              <a:t>“Then Pilate went outside again and said to them, ‘Look, I am bringing him out to you, so that you may know that I find no reason for an accusation against him.’</a:t>
            </a:r>
          </a:p>
          <a:p>
            <a:pPr lvl="1"/>
            <a:r>
              <a:rPr lang="en-US" sz="1400" i="1" kern="1200" dirty="0">
                <a:solidFill>
                  <a:schemeClr val="tx1"/>
                </a:solidFill>
                <a:effectLst/>
                <a:latin typeface="+mn-lt"/>
                <a:ea typeface="ＭＳ Ｐゴシック" pitchFamily="-106" charset="-128"/>
                <a:cs typeface="ＭＳ Ｐゴシック" pitchFamily="-106" charset="-128"/>
              </a:rPr>
              <a:t>So Jesus came out… When the chief priests and their officers saw him, they shouted out, ‘Crucify! Crucify!’”</a:t>
            </a:r>
          </a:p>
          <a:p>
            <a:pPr lvl="1"/>
            <a:r>
              <a:rPr lang="en-US" sz="1400" kern="1200" dirty="0">
                <a:solidFill>
                  <a:schemeClr val="tx1"/>
                </a:solidFill>
                <a:effectLst/>
                <a:latin typeface="+mn-lt"/>
                <a:ea typeface="ＭＳ Ｐゴシック" pitchFamily="-106" charset="-128"/>
                <a:cs typeface="ＭＳ Ｐゴシック" pitchFamily="-106" charset="-128"/>
              </a:rPr>
              <a:t> </a:t>
            </a:r>
          </a:p>
          <a:p>
            <a:pPr lvl="1"/>
            <a:r>
              <a:rPr lang="en-US" sz="1400" kern="1200" dirty="0" err="1">
                <a:solidFill>
                  <a:schemeClr val="tx1"/>
                </a:solidFill>
                <a:effectLst/>
                <a:latin typeface="+mn-lt"/>
                <a:ea typeface="ＭＳ Ｐゴシック" pitchFamily="-106" charset="-128"/>
                <a:cs typeface="ＭＳ Ｐゴシック" pitchFamily="-106" charset="-128"/>
              </a:rPr>
              <a:t>Ciseri</a:t>
            </a:r>
            <a:r>
              <a:rPr lang="en-US" sz="1400" kern="1200" dirty="0">
                <a:solidFill>
                  <a:schemeClr val="tx1"/>
                </a:solidFill>
                <a:effectLst/>
                <a:latin typeface="+mn-lt"/>
                <a:ea typeface="ＭＳ Ｐゴシック" pitchFamily="-106" charset="-128"/>
                <a:cs typeface="ＭＳ Ｐゴシック" pitchFamily="-106" charset="-128"/>
              </a:rPr>
              <a:t> paints the moment where:</a:t>
            </a:r>
          </a:p>
          <a:p>
            <a:pPr lvl="2" rtl="0" fontAlgn="ctr"/>
            <a:r>
              <a:rPr lang="en-US" sz="1400" kern="1200" dirty="0">
                <a:solidFill>
                  <a:schemeClr val="tx1"/>
                </a:solidFill>
                <a:effectLst/>
                <a:latin typeface="+mn-lt"/>
                <a:ea typeface="ＭＳ Ｐゴシック" pitchFamily="-106" charset="-128"/>
                <a:cs typeface="ＭＳ Ｐゴシック" pitchFamily="-106" charset="-128"/>
              </a:rPr>
              <a:t>innocence stands exposed</a:t>
            </a:r>
          </a:p>
          <a:p>
            <a:pPr lvl="2" rtl="0" fontAlgn="ctr"/>
            <a:r>
              <a:rPr lang="en-US" sz="1400" kern="1200" dirty="0">
                <a:solidFill>
                  <a:schemeClr val="tx1"/>
                </a:solidFill>
                <a:effectLst/>
                <a:latin typeface="+mn-lt"/>
                <a:ea typeface="ＭＳ Ｐゴシック" pitchFamily="-106" charset="-128"/>
                <a:cs typeface="ＭＳ Ｐゴシック" pitchFamily="-106" charset="-128"/>
              </a:rPr>
              <a:t>power avoids responsibility</a:t>
            </a:r>
          </a:p>
          <a:p>
            <a:pPr lvl="2" rtl="0" fontAlgn="ctr"/>
            <a:r>
              <a:rPr lang="en-US" sz="1400" kern="1200" dirty="0">
                <a:solidFill>
                  <a:schemeClr val="tx1"/>
                </a:solidFill>
                <a:effectLst/>
                <a:latin typeface="+mn-lt"/>
                <a:ea typeface="ＭＳ Ｐゴシック" pitchFamily="-106" charset="-128"/>
                <a:cs typeface="ＭＳ Ｐゴシック" pitchFamily="-106" charset="-128"/>
              </a:rPr>
              <a:t>the crowd demands judgment</a:t>
            </a:r>
          </a:p>
          <a:p>
            <a:pPr lvl="1"/>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Theological Emphasis</a:t>
            </a:r>
            <a:endParaRPr lang="en-US" sz="1400" kern="1200" dirty="0">
              <a:solidFill>
                <a:schemeClr val="tx1"/>
              </a:solidFill>
              <a:effectLst/>
              <a:latin typeface="+mn-lt"/>
              <a:ea typeface="ＭＳ Ｐゴシック" pitchFamily="-106" charset="-128"/>
              <a:cs typeface="ＭＳ Ｐゴシック" pitchFamily="-106" charset="-128"/>
            </a:endParaRPr>
          </a:p>
          <a:p>
            <a:pPr lvl="1"/>
            <a:r>
              <a:rPr lang="en-US" sz="1400" kern="1200" dirty="0">
                <a:solidFill>
                  <a:schemeClr val="tx1"/>
                </a:solidFill>
                <a:effectLst/>
                <a:latin typeface="+mn-lt"/>
                <a:ea typeface="ＭＳ Ｐゴシック" pitchFamily="-106" charset="-128"/>
                <a:cs typeface="ＭＳ Ｐゴシック" pitchFamily="-106" charset="-128"/>
              </a:rPr>
              <a:t>This is not a sentimental Christ.</a:t>
            </a:r>
          </a:p>
          <a:p>
            <a:pPr lvl="1"/>
            <a:r>
              <a:rPr lang="en-US" sz="1400" kern="1200" dirty="0">
                <a:solidFill>
                  <a:schemeClr val="tx1"/>
                </a:solidFill>
                <a:effectLst/>
                <a:latin typeface="+mn-lt"/>
                <a:ea typeface="ＭＳ Ｐゴシック" pitchFamily="-106" charset="-128"/>
                <a:cs typeface="ＭＳ Ｐゴシック" pitchFamily="-106" charset="-128"/>
              </a:rPr>
              <a:t> </a:t>
            </a:r>
          </a:p>
          <a:p>
            <a:pPr lvl="1"/>
            <a:r>
              <a:rPr lang="en-US" sz="1400" kern="1200" dirty="0">
                <a:solidFill>
                  <a:schemeClr val="tx1"/>
                </a:solidFill>
                <a:effectLst/>
                <a:latin typeface="+mn-lt"/>
                <a:ea typeface="ＭＳ Ｐゴシック" pitchFamily="-106" charset="-128"/>
                <a:cs typeface="ＭＳ Ｐゴシック" pitchFamily="-106" charset="-128"/>
              </a:rPr>
              <a:t>Jesus is:</a:t>
            </a:r>
          </a:p>
          <a:p>
            <a:pPr lvl="2" rtl="0" fontAlgn="ctr"/>
            <a:r>
              <a:rPr lang="en-US" sz="1400" kern="1200" dirty="0">
                <a:solidFill>
                  <a:schemeClr val="tx1"/>
                </a:solidFill>
                <a:effectLst/>
                <a:latin typeface="+mn-lt"/>
                <a:ea typeface="ＭＳ Ｐゴシック" pitchFamily="-106" charset="-128"/>
                <a:cs typeface="ＭＳ Ｐゴシック" pitchFamily="-106" charset="-128"/>
              </a:rPr>
              <a:t>humiliated</a:t>
            </a:r>
          </a:p>
          <a:p>
            <a:pPr lvl="2" rtl="0" fontAlgn="ctr"/>
            <a:r>
              <a:rPr lang="en-US" sz="1400" kern="1200" dirty="0">
                <a:solidFill>
                  <a:schemeClr val="tx1"/>
                </a:solidFill>
                <a:effectLst/>
                <a:latin typeface="+mn-lt"/>
                <a:ea typeface="ＭＳ Ｐゴシック" pitchFamily="-106" charset="-128"/>
                <a:cs typeface="ＭＳ Ｐゴシック" pitchFamily="-106" charset="-128"/>
              </a:rPr>
              <a:t>restrained</a:t>
            </a:r>
          </a:p>
          <a:p>
            <a:pPr lvl="2" rtl="0" fontAlgn="ctr"/>
            <a:r>
              <a:rPr lang="en-US" sz="1400" kern="1200" dirty="0">
                <a:solidFill>
                  <a:schemeClr val="tx1"/>
                </a:solidFill>
                <a:effectLst/>
                <a:latin typeface="+mn-lt"/>
                <a:ea typeface="ＭＳ Ｐゴシック" pitchFamily="-106" charset="-128"/>
                <a:cs typeface="ＭＳ Ｐゴシック" pitchFamily="-106" charset="-128"/>
              </a:rPr>
              <a:t>visibly human</a:t>
            </a:r>
          </a:p>
          <a:p>
            <a:pPr lvl="1"/>
            <a:r>
              <a:rPr lang="en-US" sz="1400" kern="1200" dirty="0">
                <a:solidFill>
                  <a:schemeClr val="tx1"/>
                </a:solidFill>
                <a:effectLst/>
                <a:latin typeface="+mn-lt"/>
                <a:ea typeface="ＭＳ Ｐゴシック" pitchFamily="-106" charset="-128"/>
                <a:cs typeface="ＭＳ Ｐゴシック" pitchFamily="-106" charset="-128"/>
              </a:rPr>
              <a:t> </a:t>
            </a:r>
          </a:p>
          <a:p>
            <a:pPr lvl="1"/>
            <a:r>
              <a:rPr lang="en-US" sz="1400" kern="1200" dirty="0">
                <a:solidFill>
                  <a:schemeClr val="tx1"/>
                </a:solidFill>
                <a:effectLst/>
                <a:latin typeface="+mn-lt"/>
                <a:ea typeface="ＭＳ Ｐゴシック" pitchFamily="-106" charset="-128"/>
                <a:cs typeface="ＭＳ Ｐゴシック" pitchFamily="-106" charset="-128"/>
              </a:rPr>
              <a:t>Yet He stands above the crowd, literally and morally.</a:t>
            </a:r>
          </a:p>
          <a:p>
            <a:pPr lvl="1"/>
            <a:r>
              <a:rPr lang="en-US" sz="1400" kern="1200" dirty="0">
                <a:solidFill>
                  <a:schemeClr val="tx1"/>
                </a:solidFill>
                <a:effectLst/>
                <a:latin typeface="+mn-lt"/>
                <a:ea typeface="ＭＳ Ｐゴシック" pitchFamily="-106" charset="-128"/>
                <a:cs typeface="ＭＳ Ｐゴシック" pitchFamily="-106" charset="-128"/>
              </a:rPr>
              <a:t> </a:t>
            </a:r>
          </a:p>
          <a:p>
            <a:pPr lvl="1"/>
            <a:r>
              <a:rPr lang="en-US" sz="1400" kern="1200" dirty="0">
                <a:solidFill>
                  <a:schemeClr val="tx1"/>
                </a:solidFill>
                <a:effectLst/>
                <a:latin typeface="+mn-lt"/>
                <a:ea typeface="ＭＳ Ｐゴシック" pitchFamily="-106" charset="-128"/>
                <a:cs typeface="ＭＳ Ｐゴシック" pitchFamily="-106" charset="-128"/>
              </a:rPr>
              <a:t>This reflects </a:t>
            </a:r>
            <a:r>
              <a:rPr lang="en-US" sz="1400" b="1" kern="1200" dirty="0">
                <a:solidFill>
                  <a:schemeClr val="tx1"/>
                </a:solidFill>
                <a:effectLst/>
                <a:latin typeface="+mn-lt"/>
                <a:ea typeface="ＭＳ Ｐゴシック" pitchFamily="-106" charset="-128"/>
                <a:cs typeface="ＭＳ Ｐゴシック" pitchFamily="-106" charset="-128"/>
              </a:rPr>
              <a:t>Isaiah 53:7</a:t>
            </a:r>
            <a:r>
              <a:rPr lang="en-US" sz="1400" kern="1200" dirty="0">
                <a:solidFill>
                  <a:schemeClr val="tx1"/>
                </a:solidFill>
                <a:effectLst/>
                <a:latin typeface="+mn-lt"/>
                <a:ea typeface="ＭＳ Ｐゴシック" pitchFamily="-106" charset="-128"/>
                <a:cs typeface="ＭＳ Ｐゴシック" pitchFamily="-106" charset="-128"/>
              </a:rPr>
              <a:t>:  </a:t>
            </a:r>
            <a:r>
              <a:rPr lang="en-US" sz="1400" i="1" kern="1200" dirty="0">
                <a:solidFill>
                  <a:schemeClr val="tx1"/>
                </a:solidFill>
                <a:effectLst/>
                <a:latin typeface="+mn-lt"/>
                <a:ea typeface="ＭＳ Ｐゴシック" pitchFamily="-106" charset="-128"/>
                <a:cs typeface="ＭＳ Ｐゴシック" pitchFamily="-106" charset="-128"/>
              </a:rPr>
              <a:t>“He was oppressed and afflicted, yet he did not open his mouth.”</a:t>
            </a:r>
          </a:p>
          <a:p>
            <a:pPr lvl="1"/>
            <a:r>
              <a:rPr lang="en-US" sz="1400" kern="1200" dirty="0">
                <a:solidFill>
                  <a:schemeClr val="tx1"/>
                </a:solidFill>
                <a:effectLst/>
                <a:latin typeface="+mn-lt"/>
                <a:ea typeface="ＭＳ Ｐゴシック" pitchFamily="-106" charset="-128"/>
                <a:cs typeface="ＭＳ Ｐゴシック" pitchFamily="-106" charset="-128"/>
              </a:rPr>
              <a:t> </a:t>
            </a:r>
          </a:p>
          <a:p>
            <a:pPr lvl="1"/>
            <a:r>
              <a:rPr lang="en-US" sz="1400" kern="1200" dirty="0" err="1">
                <a:solidFill>
                  <a:schemeClr val="tx1"/>
                </a:solidFill>
                <a:effectLst/>
                <a:latin typeface="+mn-lt"/>
                <a:ea typeface="ＭＳ Ｐゴシック" pitchFamily="-106" charset="-128"/>
                <a:cs typeface="ＭＳ Ｐゴシック" pitchFamily="-106" charset="-128"/>
              </a:rPr>
              <a:t>Ciseri</a:t>
            </a:r>
            <a:r>
              <a:rPr lang="en-US" sz="1400" kern="1200" dirty="0">
                <a:solidFill>
                  <a:schemeClr val="tx1"/>
                </a:solidFill>
                <a:effectLst/>
                <a:latin typeface="+mn-lt"/>
                <a:ea typeface="ＭＳ Ｐゴシック" pitchFamily="-106" charset="-128"/>
                <a:cs typeface="ＭＳ Ｐゴシック" pitchFamily="-106" charset="-128"/>
              </a:rPr>
              <a:t> emphasizes:</a:t>
            </a:r>
          </a:p>
          <a:p>
            <a:pPr lvl="2" rtl="0" fontAlgn="ctr"/>
            <a:r>
              <a:rPr lang="en-US" sz="1400" kern="1200" dirty="0">
                <a:solidFill>
                  <a:schemeClr val="tx1"/>
                </a:solidFill>
                <a:effectLst/>
                <a:latin typeface="+mn-lt"/>
                <a:ea typeface="ＭＳ Ｐゴシック" pitchFamily="-106" charset="-128"/>
                <a:cs typeface="ＭＳ Ｐゴシック" pitchFamily="-106" charset="-128"/>
              </a:rPr>
              <a:t>moral contrast, not drama</a:t>
            </a:r>
          </a:p>
          <a:p>
            <a:pPr lvl="2" rtl="0" fontAlgn="ctr"/>
            <a:r>
              <a:rPr lang="en-US" sz="1400" kern="1200" dirty="0">
                <a:solidFill>
                  <a:schemeClr val="tx1"/>
                </a:solidFill>
                <a:effectLst/>
                <a:latin typeface="+mn-lt"/>
                <a:ea typeface="ＭＳ Ｐゴシック" pitchFamily="-106" charset="-128"/>
                <a:cs typeface="ＭＳ Ｐゴシック" pitchFamily="-106" charset="-128"/>
              </a:rPr>
              <a:t>silence over spectacle</a:t>
            </a:r>
          </a:p>
          <a:p>
            <a:pPr lvl="2" rtl="0" fontAlgn="ctr"/>
            <a:r>
              <a:rPr lang="en-US" sz="1400" kern="1200" dirty="0">
                <a:solidFill>
                  <a:schemeClr val="tx1"/>
                </a:solidFill>
                <a:effectLst/>
                <a:latin typeface="+mn-lt"/>
                <a:ea typeface="ＭＳ Ｐゴシック" pitchFamily="-106" charset="-128"/>
                <a:cs typeface="ＭＳ Ｐゴシック" pitchFamily="-106" charset="-128"/>
              </a:rPr>
              <a:t>righteousness without defense</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Connection to this Study Theme</a:t>
            </a:r>
            <a:endParaRPr lang="en-US" sz="1400" kern="1200" dirty="0">
              <a:solidFill>
                <a:schemeClr val="tx1"/>
              </a:solidFill>
              <a:effectLst/>
              <a:latin typeface="+mn-lt"/>
              <a:ea typeface="ＭＳ Ｐゴシック" pitchFamily="-106" charset="-128"/>
              <a:cs typeface="ＭＳ Ｐゴシック" pitchFamily="-106" charset="-128"/>
            </a:endParaRPr>
          </a:p>
          <a:p>
            <a:pPr lvl="1"/>
            <a:r>
              <a:rPr lang="en-US" sz="1400" kern="1200" dirty="0">
                <a:solidFill>
                  <a:schemeClr val="tx1"/>
                </a:solidFill>
                <a:effectLst/>
                <a:latin typeface="+mn-lt"/>
                <a:ea typeface="ＭＳ Ｐゴシック" pitchFamily="-106" charset="-128"/>
                <a:cs typeface="ＭＳ Ｐゴシック" pitchFamily="-106" charset="-128"/>
              </a:rPr>
              <a:t>This image visually captures:</a:t>
            </a:r>
          </a:p>
          <a:p>
            <a:pPr lvl="2" rtl="0" fontAlgn="ctr"/>
            <a:r>
              <a:rPr lang="en-US" sz="1400" b="1" kern="1200" dirty="0">
                <a:solidFill>
                  <a:schemeClr val="tx1"/>
                </a:solidFill>
                <a:effectLst/>
                <a:latin typeface="+mn-lt"/>
                <a:ea typeface="ＭＳ Ｐゴシック" pitchFamily="-106" charset="-128"/>
                <a:cs typeface="ＭＳ Ｐゴシック" pitchFamily="-106" charset="-128"/>
              </a:rPr>
              <a:t>the righteousness of God</a:t>
            </a:r>
            <a:r>
              <a:rPr lang="en-US" sz="1400" kern="1200" dirty="0">
                <a:solidFill>
                  <a:schemeClr val="tx1"/>
                </a:solidFill>
                <a:effectLst/>
                <a:latin typeface="+mn-lt"/>
                <a:ea typeface="ＭＳ Ｐゴシック" pitchFamily="-106" charset="-128"/>
                <a:cs typeface="ＭＳ Ｐゴシック" pitchFamily="-106" charset="-128"/>
              </a:rPr>
              <a:t> standing silent</a:t>
            </a:r>
          </a:p>
          <a:p>
            <a:pPr lvl="2" rtl="0" fontAlgn="ctr"/>
            <a:r>
              <a:rPr lang="en-US" sz="1400" b="1" kern="1200" dirty="0">
                <a:solidFill>
                  <a:schemeClr val="tx1"/>
                </a:solidFill>
                <a:effectLst/>
                <a:latin typeface="+mn-lt"/>
                <a:ea typeface="ＭＳ Ｐゴシック" pitchFamily="-106" charset="-128"/>
                <a:cs typeface="ＭＳ Ｐゴシック" pitchFamily="-106" charset="-128"/>
              </a:rPr>
              <a:t>the righteousness of man</a:t>
            </a:r>
            <a:r>
              <a:rPr lang="en-US" sz="1400" kern="1200" dirty="0">
                <a:solidFill>
                  <a:schemeClr val="tx1"/>
                </a:solidFill>
                <a:effectLst/>
                <a:latin typeface="+mn-lt"/>
                <a:ea typeface="ＭＳ Ｐゴシック" pitchFamily="-106" charset="-128"/>
                <a:cs typeface="ＭＳ Ｐゴシック" pitchFamily="-106" charset="-128"/>
              </a:rPr>
              <a:t> expressed through law, crowd pressure, and political calculation</a:t>
            </a:r>
          </a:p>
          <a:p>
            <a:pPr lvl="1"/>
            <a:r>
              <a:rPr lang="en-US" sz="1400" kern="1200" dirty="0">
                <a:solidFill>
                  <a:schemeClr val="tx1"/>
                </a:solidFill>
                <a:effectLst/>
                <a:latin typeface="+mn-lt"/>
                <a:ea typeface="ＭＳ Ｐゴシック" pitchFamily="-106" charset="-128"/>
                <a:cs typeface="ＭＳ Ｐゴシック" pitchFamily="-106" charset="-128"/>
              </a:rPr>
              <a:t> </a:t>
            </a:r>
          </a:p>
          <a:p>
            <a:pPr lvl="1"/>
            <a:r>
              <a:rPr lang="en-US" sz="1400" kern="1200" dirty="0">
                <a:solidFill>
                  <a:schemeClr val="tx1"/>
                </a:solidFill>
                <a:effectLst/>
                <a:latin typeface="+mn-lt"/>
                <a:ea typeface="ＭＳ Ｐゴシック" pitchFamily="-106" charset="-128"/>
                <a:cs typeface="ＭＳ Ｐゴシック" pitchFamily="-106" charset="-128"/>
              </a:rPr>
              <a:t>Pilate represents system-driven order.</a:t>
            </a:r>
          </a:p>
          <a:p>
            <a:pPr lvl="1"/>
            <a:r>
              <a:rPr lang="en-US" sz="1400" kern="1200" dirty="0">
                <a:solidFill>
                  <a:schemeClr val="tx1"/>
                </a:solidFill>
                <a:effectLst/>
                <a:latin typeface="+mn-lt"/>
                <a:ea typeface="ＭＳ Ｐゴシック" pitchFamily="-106" charset="-128"/>
                <a:cs typeface="ＭＳ Ｐゴシック" pitchFamily="-106" charset="-128"/>
              </a:rPr>
              <a:t>The crowd represents fear-driven morality.</a:t>
            </a:r>
          </a:p>
          <a:p>
            <a:pPr lvl="1"/>
            <a:r>
              <a:rPr lang="en-US" sz="1400" kern="1200" dirty="0">
                <a:solidFill>
                  <a:schemeClr val="tx1"/>
                </a:solidFill>
                <a:effectLst/>
                <a:latin typeface="+mn-lt"/>
                <a:ea typeface="ＭＳ Ｐゴシック" pitchFamily="-106" charset="-128"/>
                <a:cs typeface="ＭＳ Ｐゴシック" pitchFamily="-106" charset="-128"/>
              </a:rPr>
              <a:t>Jesus represents God’s righteousness without control.</a:t>
            </a:r>
          </a:p>
          <a:p>
            <a:pPr lvl="1"/>
            <a:r>
              <a:rPr lang="en-US" sz="1400" kern="1200" dirty="0">
                <a:solidFill>
                  <a:schemeClr val="tx1"/>
                </a:solidFill>
                <a:effectLst/>
                <a:latin typeface="+mn-lt"/>
                <a:ea typeface="ＭＳ Ｐゴシック" pitchFamily="-106" charset="-128"/>
                <a:cs typeface="ＭＳ Ｐゴシック" pitchFamily="-106" charset="-128"/>
              </a:rPr>
              <a:t> </a:t>
            </a:r>
          </a:p>
          <a:p>
            <a:pPr lvl="1"/>
            <a:r>
              <a:rPr lang="en-US" sz="1400" b="1" kern="1200" dirty="0">
                <a:solidFill>
                  <a:schemeClr val="tx1"/>
                </a:solidFill>
                <a:effectLst/>
                <a:latin typeface="+mn-lt"/>
                <a:ea typeface="ＭＳ Ｐゴシック" pitchFamily="-106" charset="-128"/>
                <a:cs typeface="ＭＳ Ｐゴシック" pitchFamily="-106" charset="-128"/>
              </a:rPr>
              <a:t>John 18:36</a:t>
            </a:r>
            <a:r>
              <a:rPr lang="en-US" sz="1400" b="0" i="0" kern="1200" dirty="0">
                <a:solidFill>
                  <a:schemeClr val="tx1"/>
                </a:solidFill>
                <a:effectLst/>
                <a:latin typeface="+mn-lt"/>
                <a:ea typeface="ＭＳ Ｐゴシック" pitchFamily="-106" charset="-128"/>
                <a:cs typeface="ＭＳ Ｐゴシック" pitchFamily="-106" charset="-128"/>
              </a:rPr>
              <a:t> : </a:t>
            </a:r>
            <a:r>
              <a:rPr lang="en-US" sz="1400" b="1" i="1" kern="1200" dirty="0">
                <a:solidFill>
                  <a:schemeClr val="tx1"/>
                </a:solidFill>
                <a:effectLst/>
                <a:latin typeface="+mn-lt"/>
                <a:ea typeface="ＭＳ Ｐゴシック" pitchFamily="-106" charset="-128"/>
                <a:cs typeface="ＭＳ Ｐゴシック" pitchFamily="-106" charset="-128"/>
              </a:rPr>
              <a:t>“My kingdom is not from this world.”</a:t>
            </a:r>
          </a:p>
          <a:p>
            <a:pPr lvl="1"/>
            <a:r>
              <a:rPr lang="en-US" sz="1400" kern="1200" dirty="0">
                <a:solidFill>
                  <a:schemeClr val="tx1"/>
                </a:solidFill>
                <a:effectLst/>
                <a:latin typeface="+mn-lt"/>
                <a:ea typeface="ＭＳ Ｐゴシック" pitchFamily="-106" charset="-128"/>
                <a:cs typeface="ＭＳ Ｐゴシック" pitchFamily="-106" charset="-128"/>
              </a:rPr>
              <a:t> </a:t>
            </a:r>
          </a:p>
          <a:p>
            <a:pPr lvl="1"/>
            <a:r>
              <a:rPr lang="en-US" sz="1400" kern="1200" dirty="0">
                <a:solidFill>
                  <a:schemeClr val="tx1"/>
                </a:solidFill>
                <a:effectLst/>
                <a:latin typeface="+mn-lt"/>
                <a:ea typeface="ＭＳ Ｐゴシック" pitchFamily="-106" charset="-128"/>
                <a:cs typeface="ＭＳ Ｐゴシック" pitchFamily="-106" charset="-128"/>
              </a:rPr>
              <a:t>That contrast is the heart of the painting.</a:t>
            </a:r>
          </a:p>
          <a:p>
            <a:pPr lvl="1"/>
            <a:endParaRPr lang="en-US" sz="1400" dirty="0"/>
          </a:p>
          <a:p>
            <a:endParaRPr lang="en-US" dirty="0"/>
          </a:p>
        </p:txBody>
      </p:sp>
      <p:sp>
        <p:nvSpPr>
          <p:cNvPr id="4" name="Slide Number Placeholder 3">
            <a:extLst>
              <a:ext uri="{FF2B5EF4-FFF2-40B4-BE49-F238E27FC236}">
                <a16:creationId xmlns:a16="http://schemas.microsoft.com/office/drawing/2014/main" id="{C6F29873-EE45-48AE-4AE0-E32B90947A31}"/>
              </a:ext>
            </a:extLst>
          </p:cNvPr>
          <p:cNvSpPr>
            <a:spLocks noGrp="1"/>
          </p:cNvSpPr>
          <p:nvPr>
            <p:ph type="sldNum" sz="quarter" idx="10"/>
          </p:nvPr>
        </p:nvSpPr>
        <p:spPr/>
        <p:txBody>
          <a:bodyPr/>
          <a:lstStyle/>
          <a:p>
            <a:pPr>
              <a:defRPr/>
            </a:pPr>
            <a:fld id="{07776858-791E-4C8D-8FA3-473B3AFECFAC}" type="slidenum">
              <a:rPr lang="en-US" smtClean="0"/>
              <a:pPr>
                <a:defRPr/>
              </a:pPr>
              <a:t>2</a:t>
            </a:fld>
            <a:endParaRPr lang="en-US" dirty="0"/>
          </a:p>
        </p:txBody>
      </p:sp>
    </p:spTree>
    <p:extLst>
      <p:ext uri="{BB962C8B-B14F-4D97-AF65-F5344CB8AC3E}">
        <p14:creationId xmlns:p14="http://schemas.microsoft.com/office/powerpoint/2010/main" val="281449123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C1E52B-DE3E-0C07-DFBC-59A4BA0BE7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9488A8-CB4E-A146-98CA-8ADB8575378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94FBC29-20F4-DCC2-0757-C693F804536E}"/>
              </a:ext>
            </a:extLst>
          </p:cNvPr>
          <p:cNvSpPr>
            <a:spLocks noGrp="1"/>
          </p:cNvSpPr>
          <p:nvPr>
            <p:ph type="body" idx="1"/>
          </p:nvPr>
        </p:nvSpPr>
        <p:spPr/>
        <p:txBody>
          <a:bodyPr>
            <a:normAutofit fontScale="40000" lnSpcReduction="20000"/>
          </a:bodyPr>
          <a:lstStyle/>
          <a:p>
            <a:r>
              <a:rPr lang="en-US" sz="1400" b="1" kern="1200" dirty="0">
                <a:solidFill>
                  <a:schemeClr val="tx1"/>
                </a:solidFill>
                <a:effectLst/>
                <a:latin typeface="+mn-lt"/>
                <a:ea typeface="ＭＳ Ｐゴシック" pitchFamily="-106" charset="-128"/>
                <a:cs typeface="ＭＳ Ｐゴシック" pitchFamily="-106" charset="-128"/>
              </a:rPr>
              <a:t>Uncertainty, Human Righteousness, and the Rise of Man-Made Systems</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dirty="0"/>
              <a:t>Cultural Identity – the Pharisees, the Sadducees – Developed Theological Systems – Drove Culture – Enforced Their Own Righteousness</a:t>
            </a:r>
          </a:p>
          <a:p>
            <a:pPr marL="285750" indent="-285750">
              <a:buFont typeface="Arial" panose="020B0604020202020204" pitchFamily="34" charset="0"/>
              <a:buChar char="•"/>
            </a:pPr>
            <a:r>
              <a:rPr lang="en-US" sz="1400" dirty="0"/>
              <a:t>The Levites (scribes and priests) were prohibited from owning their own land, so they depended on contributions for food and goods.</a:t>
            </a:r>
          </a:p>
          <a:p>
            <a:pPr marL="285750" indent="-285750">
              <a:buFont typeface="Arial" panose="020B0604020202020204" pitchFamily="34" charset="0"/>
              <a:buChar char="•"/>
            </a:pPr>
            <a:r>
              <a:rPr lang="en-US" sz="1400" dirty="0"/>
              <a:t>That also means they never had to work the land or do the manual labor needed to produce what they ate.</a:t>
            </a:r>
          </a:p>
          <a:p>
            <a:pPr marL="285750" indent="-285750">
              <a:buFont typeface="Arial" panose="020B0604020202020204" pitchFamily="34" charset="0"/>
              <a:buChar char="•"/>
            </a:pPr>
            <a:r>
              <a:rPr lang="en-US" sz="1400" dirty="0"/>
              <a:t>They were of a higher class in society and culture.</a:t>
            </a:r>
          </a:p>
          <a:p>
            <a:pPr marL="285750" indent="-285750">
              <a:buFont typeface="Arial" panose="020B0604020202020204" pitchFamily="34" charset="0"/>
              <a:buChar char="•"/>
            </a:pPr>
            <a:r>
              <a:rPr lang="en-US" sz="1400" dirty="0"/>
              <a:t>They were insulated from the consequences of their own teaching.</a:t>
            </a:r>
          </a:p>
          <a:p>
            <a:pPr marL="285750" indent="-285750">
              <a:buFont typeface="Arial" panose="020B0604020202020204" pitchFamily="34" charset="0"/>
              <a:buChar char="•"/>
            </a:pPr>
            <a:r>
              <a:rPr lang="en-US" sz="1400" dirty="0"/>
              <a:t>Jesus identifies this problem…</a:t>
            </a:r>
          </a:p>
          <a:p>
            <a:pPr marL="742950" lvl="1" indent="-285750">
              <a:buFont typeface="Arial" panose="020B0604020202020204" pitchFamily="34" charset="0"/>
              <a:buChar char="•"/>
            </a:pPr>
            <a:r>
              <a:rPr lang="en-US" sz="1400" dirty="0"/>
              <a:t>It’s easy to write a law that says “don’t pick heads of grain on the Sabbath because that’s work” when you yourself are never starving or hungry enough to consider doing that.</a:t>
            </a:r>
          </a:p>
          <a:p>
            <a:pPr marL="742950" lvl="1" indent="-285750">
              <a:buFont typeface="Arial" panose="020B0604020202020204" pitchFamily="34" charset="0"/>
              <a:buChar char="•"/>
            </a:pPr>
            <a:r>
              <a:rPr lang="en-US" sz="1400" b="1" dirty="0"/>
              <a:t>Matthew 23:4 </a:t>
            </a:r>
            <a:r>
              <a:rPr lang="en-US" sz="1400" dirty="0"/>
              <a:t>: </a:t>
            </a:r>
            <a:r>
              <a:rPr lang="en-US" sz="1400" i="1" dirty="0"/>
              <a:t>“They tie up heavy, cumbersome loads and put them on other people’s shoulders, but they themselves are not willing to life a finger to move them.”</a:t>
            </a:r>
          </a:p>
          <a:p>
            <a:pPr marL="285750" indent="-285750">
              <a:buFont typeface="Arial" panose="020B0604020202020204" pitchFamily="34" charset="0"/>
              <a:buChar char="•"/>
            </a:pPr>
            <a:endParaRPr lang="en-US" sz="1400" dirty="0"/>
          </a:p>
          <a:p>
            <a:r>
              <a:rPr lang="en-US" sz="1400" b="1" dirty="0"/>
              <a:t>How does this relate to the Church today?</a:t>
            </a:r>
          </a:p>
          <a:p>
            <a:pPr marL="285750" indent="-285750">
              <a:buFont typeface="Arial" panose="020B0604020202020204" pitchFamily="34" charset="0"/>
              <a:buChar char="•"/>
            </a:pPr>
            <a:r>
              <a:rPr lang="en-US" sz="1400" dirty="0"/>
              <a:t>This same generalized pattern leads to Churches forcing truth-tellers out of the community for making everyone else uncomfortable.  </a:t>
            </a:r>
          </a:p>
          <a:p>
            <a:pPr marL="285750" indent="-285750">
              <a:buFont typeface="Arial" panose="020B0604020202020204" pitchFamily="34" charset="0"/>
              <a:buChar char="•"/>
            </a:pPr>
            <a:r>
              <a:rPr lang="en-US" sz="1400" dirty="0"/>
              <a:t>Once the truth-tellers are gone, though, the culture inevitably loses touch with reality.</a:t>
            </a:r>
          </a:p>
          <a:p>
            <a:pPr marL="171450" indent="-171450">
              <a:buFont typeface="Arial" panose="020B0604020202020204" pitchFamily="34" charset="0"/>
              <a:buChar char="•"/>
            </a:pPr>
            <a:endParaRPr lang="en-US" sz="1400" dirty="0"/>
          </a:p>
          <a:p>
            <a:r>
              <a:rPr lang="en-US" sz="1400" b="1" dirty="0"/>
              <a:t>When the people creating the systems and creating the culture and enforcing their own righteousness don’t experience the consequences of what they teach then they will always drift farther from reality.</a:t>
            </a:r>
          </a:p>
          <a:p>
            <a:endParaRPr lang="en-US" sz="1400" b="1" dirty="0"/>
          </a:p>
          <a:p>
            <a:r>
              <a:rPr lang="en-US" sz="1400" b="1" dirty="0"/>
              <a:t>But, we have God’s word…!  (they said)</a:t>
            </a:r>
          </a:p>
          <a:p>
            <a:pPr marL="171450" indent="-171450">
              <a:buFont typeface="Arial" panose="020B0604020202020204" pitchFamily="34" charset="0"/>
              <a:buChar char="•"/>
            </a:pPr>
            <a:r>
              <a:rPr lang="en-US" sz="1400" dirty="0"/>
              <a:t>When the religious leaders drifted away from truth, they didn’t see any difference between God’s word and their own words about God’s word.</a:t>
            </a:r>
          </a:p>
          <a:p>
            <a:pPr marL="171450" indent="-171450">
              <a:buFont typeface="Arial" panose="020B0604020202020204" pitchFamily="34" charset="0"/>
              <a:buChar char="•"/>
            </a:pPr>
            <a:r>
              <a:rPr lang="en-US" sz="1400" dirty="0"/>
              <a:t>Do we (i.e. broader Christendom) have a similar problem today?</a:t>
            </a:r>
          </a:p>
          <a:p>
            <a:pPr marL="628650" lvl="1" indent="-171450">
              <a:buFont typeface="Arial" panose="020B0604020202020204" pitchFamily="34" charset="0"/>
              <a:buChar char="•"/>
            </a:pPr>
            <a:r>
              <a:rPr lang="en-US" sz="1400" dirty="0"/>
              <a:t>Is the Bible silent on some cultural topics?  (Does the Bible provide clarity on all cultural topics?)</a:t>
            </a:r>
          </a:p>
          <a:p>
            <a:pPr marL="628650" lvl="1" indent="-171450">
              <a:buFont typeface="Arial" panose="020B0604020202020204" pitchFamily="34" charset="0"/>
              <a:buChar char="•"/>
            </a:pPr>
            <a:r>
              <a:rPr lang="en-US" sz="1400" dirty="0"/>
              <a:t>Does this cause uncertainty?</a:t>
            </a:r>
          </a:p>
          <a:p>
            <a:pPr marL="628650" lvl="1" indent="-171450">
              <a:buFont typeface="Arial" panose="020B0604020202020204" pitchFamily="34" charset="0"/>
              <a:buChar char="•"/>
            </a:pPr>
            <a:r>
              <a:rPr lang="en-US" sz="1400" dirty="0"/>
              <a:t>How do we deal with that…?   Extrapolate using Human Reasoning?</a:t>
            </a:r>
          </a:p>
          <a:p>
            <a:pPr marL="0" indent="0">
              <a:buFont typeface="Arial" panose="020B0604020202020204" pitchFamily="34" charset="0"/>
              <a:buNone/>
            </a:pPr>
            <a:endParaRPr lang="en-US" sz="1400" dirty="0"/>
          </a:p>
          <a:p>
            <a:pPr marL="0" indent="0">
              <a:buFont typeface="Arial" panose="020B0604020202020204" pitchFamily="34" charset="0"/>
              <a:buNone/>
            </a:pPr>
            <a:r>
              <a:rPr lang="en-US" sz="1400" b="1" dirty="0"/>
              <a:t>Consequences</a:t>
            </a:r>
          </a:p>
          <a:p>
            <a:pPr marL="171450" indent="-171450">
              <a:buFont typeface="Arial" panose="020B0604020202020204" pitchFamily="34" charset="0"/>
              <a:buChar char="•"/>
            </a:pPr>
            <a:r>
              <a:rPr lang="en-US" sz="1400" dirty="0"/>
              <a:t>Just like in Jesus’ time, things get harmful when you have this combination of culture that has drifted from reality and teachers who stop seeing any difference between their extrapolations from scripture and the actual scripture itself.</a:t>
            </a:r>
          </a:p>
          <a:p>
            <a:pPr marL="171450" indent="-171450">
              <a:buFont typeface="Arial" panose="020B0604020202020204" pitchFamily="34" charset="0"/>
              <a:buChar char="•"/>
            </a:pPr>
            <a:r>
              <a:rPr lang="en-US" sz="1400" dirty="0"/>
              <a:t>They have stopped teaching with humility and all those personal beliefs and interpretations get codified into man-made systems of theology.</a:t>
            </a:r>
          </a:p>
          <a:p>
            <a:pPr marL="171450" indent="-171450">
              <a:buFont typeface="Arial" panose="020B0604020202020204" pitchFamily="34" charset="0"/>
              <a:buChar char="•"/>
            </a:pPr>
            <a:r>
              <a:rPr lang="en-US" sz="1400" dirty="0"/>
              <a:t>Some will benefit…  some will be harmed.</a:t>
            </a:r>
          </a:p>
          <a:p>
            <a:pPr marL="171450" indent="-171450">
              <a:buFont typeface="Arial" panose="020B0604020202020204" pitchFamily="34" charset="0"/>
              <a:buChar char="•"/>
            </a:pPr>
            <a:r>
              <a:rPr lang="en-US" sz="1400" dirty="0"/>
              <a:t>There are a lot of instinctual and emotional forces working against those who seek God’s righteousness in every aspect of their life’s.</a:t>
            </a:r>
          </a:p>
          <a:p>
            <a:pPr marL="171450" indent="-171450">
              <a:buFont typeface="Arial" panose="020B0604020202020204" pitchFamily="34" charset="0"/>
              <a:buChar char="•"/>
            </a:pPr>
            <a:r>
              <a:rPr lang="en-US" sz="1400" dirty="0"/>
              <a:t>When humans elevate their systems of theology to be indisputably correct (certain), then they are essentially claiming to be God.</a:t>
            </a:r>
          </a:p>
          <a:p>
            <a:pPr marL="171450" indent="-171450">
              <a:buFont typeface="Arial" panose="020B0604020202020204" pitchFamily="34" charset="0"/>
              <a:buChar char="•"/>
            </a:pPr>
            <a:r>
              <a:rPr lang="en-US" sz="1400" dirty="0"/>
              <a:t>The “system” and “cultural norm” makes them feel certain.  They want that feeling more than they respect Truth.</a:t>
            </a:r>
          </a:p>
          <a:p>
            <a:pPr marL="171450" indent="-171450">
              <a:buFont typeface="Arial" panose="020B0604020202020204" pitchFamily="34" charset="0"/>
              <a:buChar char="•"/>
            </a:pPr>
            <a:endParaRPr lang="en-US" sz="1400" dirty="0"/>
          </a:p>
          <a:p>
            <a:pPr marL="0" indent="0">
              <a:buFont typeface="Arial" panose="020B0604020202020204" pitchFamily="34" charset="0"/>
              <a:buNone/>
            </a:pPr>
            <a:r>
              <a:rPr lang="en-US" sz="1400" b="1" dirty="0"/>
              <a:t>We won’t be able to withstand the culture around us if we aren’t </a:t>
            </a:r>
            <a:r>
              <a:rPr lang="en-US" sz="1400" b="1" u="sng" dirty="0"/>
              <a:t>SECURE IN HIM first</a:t>
            </a:r>
            <a:r>
              <a:rPr lang="en-US" sz="1400" b="1" dirty="0"/>
              <a:t>.   Trust and Obey.</a:t>
            </a:r>
          </a:p>
          <a:p>
            <a:pPr marL="0" indent="0">
              <a:buFont typeface="Arial" panose="020B0604020202020204" pitchFamily="34" charset="0"/>
              <a:buNone/>
            </a:pPr>
            <a:endParaRPr lang="en-US" sz="1400" b="1" dirty="0"/>
          </a:p>
          <a:p>
            <a:pPr marL="0" indent="0">
              <a:buFont typeface="Arial" panose="020B0604020202020204" pitchFamily="34" charset="0"/>
              <a:buNone/>
            </a:pPr>
            <a:r>
              <a:rPr lang="en-US" sz="1400" b="1" dirty="0"/>
              <a:t>We need </a:t>
            </a:r>
            <a:r>
              <a:rPr lang="en-US" sz="1400" b="1" u="sng" dirty="0"/>
              <a:t>to prioritize Christ as Truth personified </a:t>
            </a:r>
            <a:r>
              <a:rPr lang="en-US" sz="1400" b="1" dirty="0"/>
              <a:t>and respect God’s Word as His revelation of truth accordingly.  Human interpretation or extrapolation are theory only.</a:t>
            </a:r>
          </a:p>
          <a:p>
            <a:pPr marL="0" indent="0">
              <a:buFont typeface="Arial" panose="020B0604020202020204" pitchFamily="34" charset="0"/>
              <a:buNone/>
            </a:pPr>
            <a:endParaRPr lang="en-US" sz="1400" b="1" dirty="0"/>
          </a:p>
          <a:p>
            <a:pPr marL="0" indent="0">
              <a:buFont typeface="Arial" panose="020B0604020202020204" pitchFamily="34" charset="0"/>
              <a:buNone/>
            </a:pPr>
            <a:r>
              <a:rPr lang="en-US" sz="1400" b="1" dirty="0"/>
              <a:t>We need to </a:t>
            </a:r>
            <a:r>
              <a:rPr lang="en-US" sz="1400" b="1" u="sng" dirty="0"/>
              <a:t>prioritize relationship</a:t>
            </a:r>
            <a:r>
              <a:rPr lang="en-US" sz="1400" b="1" dirty="0"/>
              <a:t>…  this is the heart of the New Covenant, relationship with God Himself, and relationship with one another.  (Matthew 22)</a:t>
            </a:r>
          </a:p>
          <a:p>
            <a:pPr marL="0" indent="0">
              <a:buFont typeface="Arial" panose="020B0604020202020204" pitchFamily="34" charset="0"/>
              <a:buNone/>
            </a:pPr>
            <a:endParaRPr lang="en-US" sz="1400" b="1" dirty="0"/>
          </a:p>
          <a:p>
            <a:pPr marL="0" indent="0">
              <a:buFont typeface="Arial" panose="020B0604020202020204" pitchFamily="34" charset="0"/>
              <a:buNone/>
            </a:pPr>
            <a:r>
              <a:rPr lang="en-US" sz="1400" b="1" dirty="0"/>
              <a:t>Relationship can be uncertain, messy, not logical.  Systems are certain, logical.  But, relationships are better, spiritual, and meaningful, and come with God’s blessings.</a:t>
            </a:r>
          </a:p>
          <a:p>
            <a:pPr marL="0" indent="0">
              <a:buFont typeface="Arial" panose="020B0604020202020204" pitchFamily="34" charset="0"/>
              <a:buNone/>
            </a:pPr>
            <a:endParaRPr lang="en-US" sz="1400" b="1" dirty="0"/>
          </a:p>
          <a:p>
            <a:pPr marL="0" indent="0">
              <a:buFont typeface="Arial" panose="020B0604020202020204" pitchFamily="34" charset="0"/>
              <a:buNone/>
            </a:pPr>
            <a:endParaRPr lang="en-US" sz="1400" b="1" dirty="0"/>
          </a:p>
          <a:p>
            <a:pPr marL="0" indent="0">
              <a:buFont typeface="Arial" panose="020B0604020202020204" pitchFamily="34" charset="0"/>
              <a:buNone/>
            </a:pPr>
            <a:endParaRPr lang="en-US" sz="1400" dirty="0"/>
          </a:p>
          <a:p>
            <a:pPr marL="0" indent="0">
              <a:buFont typeface="Arial" panose="020B0604020202020204" pitchFamily="34" charset="0"/>
              <a:buNone/>
            </a:pPr>
            <a:endParaRPr lang="en-US" sz="1400" dirty="0"/>
          </a:p>
          <a:p>
            <a:pPr marL="171450" indent="-171450">
              <a:buFont typeface="Arial" panose="020B0604020202020204" pitchFamily="34" charset="0"/>
              <a:buChar char="•"/>
            </a:pPr>
            <a:endParaRPr lang="en-US" sz="1400" dirty="0"/>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671A3D5B-C6B7-F0DE-4707-F4AA71B23417}"/>
              </a:ext>
            </a:extLst>
          </p:cNvPr>
          <p:cNvSpPr>
            <a:spLocks noGrp="1"/>
          </p:cNvSpPr>
          <p:nvPr>
            <p:ph type="sldNum" sz="quarter" idx="10"/>
          </p:nvPr>
        </p:nvSpPr>
        <p:spPr/>
        <p:txBody>
          <a:bodyPr/>
          <a:lstStyle/>
          <a:p>
            <a:pPr>
              <a:defRPr/>
            </a:pPr>
            <a:fld id="{07776858-791E-4C8D-8FA3-473B3AFECFAC}" type="slidenum">
              <a:rPr lang="en-US" smtClean="0"/>
              <a:pPr>
                <a:defRPr/>
              </a:pPr>
              <a:t>3</a:t>
            </a:fld>
            <a:endParaRPr lang="en-US" dirty="0"/>
          </a:p>
        </p:txBody>
      </p:sp>
    </p:spTree>
    <p:extLst>
      <p:ext uri="{BB962C8B-B14F-4D97-AF65-F5344CB8AC3E}">
        <p14:creationId xmlns:p14="http://schemas.microsoft.com/office/powerpoint/2010/main" val="9291758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FA243E-E968-9996-1064-127B2F8D85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925D03-D5F2-820C-168A-CB66E7292473}"/>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9AE806D-95E3-585C-345A-23B3F6DDEAC7}"/>
              </a:ext>
            </a:extLst>
          </p:cNvPr>
          <p:cNvSpPr>
            <a:spLocks noGrp="1"/>
          </p:cNvSpPr>
          <p:nvPr>
            <p:ph type="body" idx="1"/>
          </p:nvPr>
        </p:nvSpPr>
        <p:spPr/>
        <p:txBody>
          <a:bodyPr>
            <a:normAutofit/>
          </a:bodyPr>
          <a:lstStyle/>
          <a:p>
            <a:r>
              <a:rPr lang="en-US" sz="1200" b="1" kern="1200" dirty="0">
                <a:solidFill>
                  <a:schemeClr val="tx1"/>
                </a:solidFill>
                <a:effectLst/>
                <a:latin typeface="+mn-lt"/>
                <a:ea typeface="ＭＳ Ｐゴシック" pitchFamily="-106" charset="-128"/>
                <a:cs typeface="ＭＳ Ｐゴシック" pitchFamily="-106" charset="-128"/>
              </a:rPr>
              <a:t>Why Uncertainty Pushes Us to Create Systems</a:t>
            </a:r>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kern="1200" dirty="0">
                <a:solidFill>
                  <a:schemeClr val="tx1"/>
                </a:solidFill>
                <a:effectLst/>
                <a:latin typeface="+mn-lt"/>
                <a:ea typeface="ＭＳ Ｐゴシック" pitchFamily="-106" charset="-128"/>
                <a:cs typeface="ＭＳ Ｐゴシック" pitchFamily="-106" charset="-128"/>
              </a:rPr>
              <a:t> </a:t>
            </a:r>
          </a:p>
        </p:txBody>
      </p:sp>
      <p:sp>
        <p:nvSpPr>
          <p:cNvPr id="4" name="Slide Number Placeholder 3">
            <a:extLst>
              <a:ext uri="{FF2B5EF4-FFF2-40B4-BE49-F238E27FC236}">
                <a16:creationId xmlns:a16="http://schemas.microsoft.com/office/drawing/2014/main" id="{ABB0C201-E575-FF85-6F67-B7662BB80A55}"/>
              </a:ext>
            </a:extLst>
          </p:cNvPr>
          <p:cNvSpPr>
            <a:spLocks noGrp="1"/>
          </p:cNvSpPr>
          <p:nvPr>
            <p:ph type="sldNum" sz="quarter" idx="10"/>
          </p:nvPr>
        </p:nvSpPr>
        <p:spPr/>
        <p:txBody>
          <a:bodyPr/>
          <a:lstStyle/>
          <a:p>
            <a:pPr>
              <a:defRPr/>
            </a:pPr>
            <a:fld id="{07776858-791E-4C8D-8FA3-473B3AFECFAC}" type="slidenum">
              <a:rPr lang="en-US" smtClean="0"/>
              <a:pPr>
                <a:defRPr/>
              </a:pPr>
              <a:t>4</a:t>
            </a:fld>
            <a:endParaRPr lang="en-US" dirty="0"/>
          </a:p>
        </p:txBody>
      </p:sp>
    </p:spTree>
    <p:extLst>
      <p:ext uri="{BB962C8B-B14F-4D97-AF65-F5344CB8AC3E}">
        <p14:creationId xmlns:p14="http://schemas.microsoft.com/office/powerpoint/2010/main" val="403689373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3BE72E-736A-2813-C453-3DA3DB169D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EBB920-3222-F54D-7EC4-C399919575C3}"/>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66DDD48-EEAF-DDFF-732E-A004447B592D}"/>
              </a:ext>
            </a:extLst>
          </p:cNvPr>
          <p:cNvSpPr>
            <a:spLocks noGrp="1"/>
          </p:cNvSpPr>
          <p:nvPr>
            <p:ph type="body" idx="1"/>
          </p:nvPr>
        </p:nvSpPr>
        <p:spPr/>
        <p:txBody>
          <a:bodyPr>
            <a:normAutofit fontScale="47500" lnSpcReduction="20000"/>
          </a:bodyPr>
          <a:lstStyle/>
          <a:p>
            <a:endParaRPr lang="en-US" sz="1600" dirty="0"/>
          </a:p>
          <a:p>
            <a:r>
              <a:rPr lang="en-US" sz="1400" b="1" kern="1200" dirty="0">
                <a:solidFill>
                  <a:schemeClr val="tx1"/>
                </a:solidFill>
                <a:effectLst/>
                <a:latin typeface="+mn-lt"/>
                <a:ea typeface="ＭＳ Ｐゴシック" pitchFamily="-106" charset="-128"/>
                <a:cs typeface="ＭＳ Ｐゴシック" pitchFamily="-106" charset="-128"/>
              </a:rPr>
              <a:t>Theology Can Become a Righteousness System</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dirty="0"/>
              <a:t>When the people creating the systems and creating the culture and enforcing their own righteousness don’t experience the consequences of what they teach then they will always drift farther from reality.</a:t>
            </a:r>
          </a:p>
          <a:p>
            <a:endParaRPr lang="en-US" sz="1400" b="1" dirty="0"/>
          </a:p>
          <a:p>
            <a:r>
              <a:rPr lang="en-US" sz="1400" b="1" dirty="0"/>
              <a:t>But, we have God’s word…!  (they said)</a:t>
            </a:r>
          </a:p>
          <a:p>
            <a:pPr marL="171450" indent="-171450">
              <a:buFont typeface="Arial" panose="020B0604020202020204" pitchFamily="34" charset="0"/>
              <a:buChar char="•"/>
            </a:pPr>
            <a:r>
              <a:rPr lang="en-US" sz="1400" dirty="0"/>
              <a:t>When the religious leaders drifted away from truth, they didn’t see any difference between God’s word and their own words about God’s word.</a:t>
            </a:r>
          </a:p>
          <a:p>
            <a:pPr marL="171450" indent="-171450">
              <a:buFont typeface="Arial" panose="020B0604020202020204" pitchFamily="34" charset="0"/>
              <a:buChar char="•"/>
            </a:pPr>
            <a:r>
              <a:rPr lang="en-US" sz="1400" dirty="0"/>
              <a:t>Do we (i.e. broader Christendom) have a similar problem today?</a:t>
            </a:r>
          </a:p>
          <a:p>
            <a:pPr marL="628650" lvl="1" indent="-171450">
              <a:buFont typeface="Arial" panose="020B0604020202020204" pitchFamily="34" charset="0"/>
              <a:buChar char="•"/>
            </a:pPr>
            <a:r>
              <a:rPr lang="en-US" sz="1400" dirty="0"/>
              <a:t>Is the Bible silent on some cultural topics?  (Does the Bible provide clarity on all cultural topics?)</a:t>
            </a:r>
          </a:p>
          <a:p>
            <a:pPr marL="628650" lvl="1" indent="-171450">
              <a:buFont typeface="Arial" panose="020B0604020202020204" pitchFamily="34" charset="0"/>
              <a:buChar char="•"/>
            </a:pPr>
            <a:r>
              <a:rPr lang="en-US" sz="1400" dirty="0"/>
              <a:t>Does this cause uncertainty?</a:t>
            </a:r>
          </a:p>
          <a:p>
            <a:pPr marL="628650" lvl="1" indent="-171450">
              <a:buFont typeface="Arial" panose="020B0604020202020204" pitchFamily="34" charset="0"/>
              <a:buChar char="•"/>
            </a:pPr>
            <a:r>
              <a:rPr lang="en-US" sz="1400" dirty="0"/>
              <a:t>How do we deal with that…?   Extrapolate using Human Reasoning?</a:t>
            </a:r>
          </a:p>
          <a:p>
            <a:pPr marL="0" indent="0">
              <a:buFont typeface="Arial" panose="020B0604020202020204" pitchFamily="34" charset="0"/>
              <a:buNone/>
            </a:pPr>
            <a:endParaRPr lang="en-US" sz="1400" dirty="0"/>
          </a:p>
          <a:p>
            <a:pPr marL="0" indent="0">
              <a:buFont typeface="Arial" panose="020B0604020202020204" pitchFamily="34" charset="0"/>
              <a:buNone/>
            </a:pPr>
            <a:r>
              <a:rPr lang="en-US" sz="1400" b="1" dirty="0"/>
              <a:t>Consequences</a:t>
            </a:r>
          </a:p>
          <a:p>
            <a:pPr marL="171450" indent="-171450">
              <a:buFont typeface="Arial" panose="020B0604020202020204" pitchFamily="34" charset="0"/>
              <a:buChar char="•"/>
            </a:pPr>
            <a:r>
              <a:rPr lang="en-US" sz="1400" dirty="0"/>
              <a:t>Just like in Jesus’ time, things get harmful when you have this combination of culture that has drifted from reality and teachers who stop seeing any difference between their extrapolations from scripture and the actual scripture itself.</a:t>
            </a:r>
          </a:p>
          <a:p>
            <a:pPr marL="171450" indent="-171450">
              <a:buFont typeface="Arial" panose="020B0604020202020204" pitchFamily="34" charset="0"/>
              <a:buChar char="•"/>
            </a:pPr>
            <a:r>
              <a:rPr lang="en-US" sz="1400" dirty="0"/>
              <a:t>They have stopped teaching with humility and all those personal beliefs and interpretations get codified into man-made systems of theology.</a:t>
            </a:r>
          </a:p>
          <a:p>
            <a:pPr marL="171450" indent="-171450">
              <a:buFont typeface="Arial" panose="020B0604020202020204" pitchFamily="34" charset="0"/>
              <a:buChar char="•"/>
            </a:pPr>
            <a:r>
              <a:rPr lang="en-US" sz="1400" dirty="0"/>
              <a:t>Some will benefit…  some will be harmed.</a:t>
            </a:r>
          </a:p>
          <a:p>
            <a:pPr marL="171450" indent="-171450">
              <a:buFont typeface="Arial" panose="020B0604020202020204" pitchFamily="34" charset="0"/>
              <a:buChar char="•"/>
            </a:pPr>
            <a:r>
              <a:rPr lang="en-US" sz="1400" dirty="0"/>
              <a:t>There are a lot of instinctual and emotional forces working against those who seek God’s righteousness in every aspect of their life’s.</a:t>
            </a:r>
          </a:p>
          <a:p>
            <a:pPr marL="171450" indent="-171450">
              <a:buFont typeface="Arial" panose="020B0604020202020204" pitchFamily="34" charset="0"/>
              <a:buChar char="•"/>
            </a:pPr>
            <a:r>
              <a:rPr lang="en-US" sz="1400" dirty="0"/>
              <a:t>When humans elevate their systems of theology to be indisputably correct (certain), then they are essentially claiming to be God.</a:t>
            </a:r>
          </a:p>
          <a:p>
            <a:pPr marL="171450" indent="-171450">
              <a:buFont typeface="Arial" panose="020B0604020202020204" pitchFamily="34" charset="0"/>
              <a:buChar char="•"/>
            </a:pPr>
            <a:r>
              <a:rPr lang="en-US" sz="1400" dirty="0"/>
              <a:t>The “system” and “cultural norm” makes them feel certain.  They want that feeling more than they respect Truth.</a:t>
            </a:r>
          </a:p>
          <a:p>
            <a:pPr marL="171450" indent="-171450">
              <a:buFont typeface="Arial" panose="020B0604020202020204" pitchFamily="34" charset="0"/>
              <a:buChar char="•"/>
            </a:pPr>
            <a:endParaRPr lang="en-US" sz="1400" dirty="0"/>
          </a:p>
          <a:p>
            <a:pPr marL="0" indent="0">
              <a:buFont typeface="Arial" panose="020B0604020202020204" pitchFamily="34" charset="0"/>
              <a:buNone/>
            </a:pPr>
            <a:r>
              <a:rPr lang="en-US" sz="1400" b="1" dirty="0"/>
              <a:t>We won’t be able to withstand the culture around us if we aren’t </a:t>
            </a:r>
            <a:r>
              <a:rPr lang="en-US" sz="1400" b="1" u="sng" dirty="0"/>
              <a:t>SECURE IN HIM first</a:t>
            </a:r>
            <a:r>
              <a:rPr lang="en-US" sz="1400" b="1" dirty="0"/>
              <a:t>.   Trust and Obey.</a:t>
            </a:r>
          </a:p>
          <a:p>
            <a:pPr marL="0" indent="0">
              <a:buFont typeface="Arial" panose="020B0604020202020204" pitchFamily="34" charset="0"/>
              <a:buNone/>
            </a:pPr>
            <a:endParaRPr lang="en-US" sz="1400" b="1" dirty="0"/>
          </a:p>
          <a:p>
            <a:pPr marL="0" indent="0">
              <a:buFont typeface="Arial" panose="020B0604020202020204" pitchFamily="34" charset="0"/>
              <a:buNone/>
            </a:pPr>
            <a:r>
              <a:rPr lang="en-US" sz="1400" b="1" dirty="0"/>
              <a:t>We need </a:t>
            </a:r>
            <a:r>
              <a:rPr lang="en-US" sz="1400" b="1" u="sng" dirty="0"/>
              <a:t>to prioritize Christ as Truth personified </a:t>
            </a:r>
            <a:r>
              <a:rPr lang="en-US" sz="1400" b="1" dirty="0"/>
              <a:t>and respect God’s Word as His revelation of truth accordingly.  Human interpretation or extrapolation are theory only.</a:t>
            </a:r>
          </a:p>
          <a:p>
            <a:pPr marL="0" indent="0">
              <a:buFont typeface="Arial" panose="020B0604020202020204" pitchFamily="34" charset="0"/>
              <a:buNone/>
            </a:pPr>
            <a:endParaRPr lang="en-US" sz="1400" b="1" dirty="0"/>
          </a:p>
          <a:p>
            <a:pPr marL="0" indent="0">
              <a:buFont typeface="Arial" panose="020B0604020202020204" pitchFamily="34" charset="0"/>
              <a:buNone/>
            </a:pPr>
            <a:r>
              <a:rPr lang="en-US" sz="1400" b="1" dirty="0"/>
              <a:t>We need to </a:t>
            </a:r>
            <a:r>
              <a:rPr lang="en-US" sz="1400" b="1" u="sng" dirty="0"/>
              <a:t>prioritize relationship</a:t>
            </a:r>
            <a:r>
              <a:rPr lang="en-US" sz="1400" b="1" dirty="0"/>
              <a:t>…  this is the heart of the New Covenant, relationship with God Himself, and relationship with one another.  (Matthew 22)</a:t>
            </a:r>
          </a:p>
          <a:p>
            <a:pPr marL="0" indent="0">
              <a:buFont typeface="Arial" panose="020B0604020202020204" pitchFamily="34" charset="0"/>
              <a:buNone/>
            </a:pPr>
            <a:endParaRPr lang="en-US" sz="1400" b="1" dirty="0"/>
          </a:p>
          <a:p>
            <a:pPr marL="0" indent="0">
              <a:buFont typeface="Arial" panose="020B0604020202020204" pitchFamily="34" charset="0"/>
              <a:buNone/>
            </a:pPr>
            <a:r>
              <a:rPr lang="en-US" sz="1400" b="1" dirty="0"/>
              <a:t>Relationship can be uncertain, messy, not logical.  Systems are certain, logical.  But, relationships are better, spiritual, and meaningful, and come with God’s blessings.</a:t>
            </a:r>
          </a:p>
          <a:p>
            <a:pPr marL="0" indent="0">
              <a:buFont typeface="Arial" panose="020B0604020202020204" pitchFamily="34" charset="0"/>
              <a:buNone/>
            </a:pPr>
            <a:endParaRPr lang="en-US" sz="1400" b="1" dirty="0"/>
          </a:p>
          <a:p>
            <a:pPr marL="0" indent="0">
              <a:buFont typeface="Arial" panose="020B0604020202020204" pitchFamily="34" charset="0"/>
              <a:buNone/>
            </a:pPr>
            <a:endParaRPr lang="en-US" sz="1400" b="1" dirty="0"/>
          </a:p>
          <a:p>
            <a:pPr marL="0" indent="0">
              <a:buFont typeface="Arial" panose="020B0604020202020204" pitchFamily="34" charset="0"/>
              <a:buNone/>
            </a:pPr>
            <a:endParaRPr lang="en-US" sz="1400" dirty="0"/>
          </a:p>
          <a:p>
            <a:pPr marL="0" indent="0">
              <a:buFont typeface="Arial" panose="020B0604020202020204" pitchFamily="34" charset="0"/>
              <a:buNone/>
            </a:pPr>
            <a:endParaRPr lang="en-US" sz="1400" dirty="0"/>
          </a:p>
          <a:p>
            <a:endParaRPr lang="en-US" dirty="0"/>
          </a:p>
        </p:txBody>
      </p:sp>
      <p:sp>
        <p:nvSpPr>
          <p:cNvPr id="4" name="Slide Number Placeholder 3">
            <a:extLst>
              <a:ext uri="{FF2B5EF4-FFF2-40B4-BE49-F238E27FC236}">
                <a16:creationId xmlns:a16="http://schemas.microsoft.com/office/drawing/2014/main" id="{F14C2BA7-B27D-22B4-86C3-53551186F80B}"/>
              </a:ext>
            </a:extLst>
          </p:cNvPr>
          <p:cNvSpPr>
            <a:spLocks noGrp="1"/>
          </p:cNvSpPr>
          <p:nvPr>
            <p:ph type="sldNum" sz="quarter" idx="10"/>
          </p:nvPr>
        </p:nvSpPr>
        <p:spPr/>
        <p:txBody>
          <a:bodyPr/>
          <a:lstStyle/>
          <a:p>
            <a:pPr>
              <a:defRPr/>
            </a:pPr>
            <a:fld id="{07776858-791E-4C8D-8FA3-473B3AFECFAC}" type="slidenum">
              <a:rPr lang="en-US" smtClean="0"/>
              <a:pPr>
                <a:defRPr/>
              </a:pPr>
              <a:t>5</a:t>
            </a:fld>
            <a:endParaRPr lang="en-US" dirty="0"/>
          </a:p>
        </p:txBody>
      </p:sp>
    </p:spTree>
    <p:extLst>
      <p:ext uri="{BB962C8B-B14F-4D97-AF65-F5344CB8AC3E}">
        <p14:creationId xmlns:p14="http://schemas.microsoft.com/office/powerpoint/2010/main" val="134464771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E028D9-2E86-C5DA-8719-9866F36CFC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43D491-1144-8C8C-10D8-72278BF0A24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81E5F4A-14E2-02C3-D084-FA8685B9D5BF}"/>
              </a:ext>
            </a:extLst>
          </p:cNvPr>
          <p:cNvSpPr>
            <a:spLocks noGrp="1"/>
          </p:cNvSpPr>
          <p:nvPr>
            <p:ph type="body" idx="1"/>
          </p:nvPr>
        </p:nvSpPr>
        <p:spPr/>
        <p:txBody>
          <a:bodyPr>
            <a:normAutofit lnSpcReduction="10000"/>
          </a:bodyPr>
          <a:lstStyle/>
          <a:p>
            <a:r>
              <a:rPr lang="en-US" sz="1400" b="1" kern="1200" dirty="0">
                <a:solidFill>
                  <a:schemeClr val="tx1"/>
                </a:solidFill>
                <a:effectLst/>
                <a:latin typeface="+mn-lt"/>
                <a:ea typeface="ＭＳ Ｐゴシック" pitchFamily="-106" charset="-128"/>
                <a:cs typeface="ＭＳ Ｐゴシック" pitchFamily="-106" charset="-128"/>
              </a:rPr>
              <a:t>Ideology as a Replacement for God’s Righteousness</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Biblical Righteousness Is Relational, Not Cultural</a:t>
            </a:r>
            <a:endParaRPr lang="en-US" sz="1400" kern="1200" dirty="0">
              <a:solidFill>
                <a:schemeClr val="tx1"/>
              </a:solidFill>
              <a:effectLst/>
              <a:latin typeface="+mn-lt"/>
              <a:ea typeface="ＭＳ Ｐゴシック" pitchFamily="-106" charset="-128"/>
              <a:cs typeface="ＭＳ Ｐゴシック" pitchFamily="-106" charset="-128"/>
            </a:endParaRPr>
          </a:p>
          <a:p>
            <a:pPr marL="171450" indent="-171450">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The Bible does not define righteousness by culture, feelings, or majority opinion.</a:t>
            </a:r>
          </a:p>
          <a:p>
            <a:pPr marL="171450" indent="-171450">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It defines righteousness by God.</a:t>
            </a:r>
          </a:p>
          <a:p>
            <a:endParaRPr lang="en-US" sz="1400" b="1" kern="1200" dirty="0">
              <a:solidFill>
                <a:schemeClr val="tx1"/>
              </a:solidFill>
              <a:effectLst/>
              <a:latin typeface="+mn-lt"/>
              <a:ea typeface="ＭＳ Ｐゴシック" pitchFamily="-106" charset="-128"/>
              <a:cs typeface="ＭＳ Ｐゴシック" pitchFamily="-106" charset="-128"/>
            </a:endParaRPr>
          </a:p>
          <a:p>
            <a:r>
              <a:rPr lang="en-US" sz="1400" b="1" kern="1200" dirty="0">
                <a:solidFill>
                  <a:schemeClr val="tx1"/>
                </a:solidFill>
                <a:effectLst/>
                <a:latin typeface="+mn-lt"/>
                <a:ea typeface="ＭＳ Ｐゴシック" pitchFamily="-106" charset="-128"/>
                <a:cs typeface="ＭＳ Ｐゴシック" pitchFamily="-106" charset="-128"/>
              </a:rPr>
              <a:t>Isaiah 33:22  </a:t>
            </a:r>
            <a:r>
              <a:rPr lang="en-US" sz="1400" kern="1200" dirty="0">
                <a:solidFill>
                  <a:schemeClr val="tx1"/>
                </a:solidFill>
                <a:effectLst/>
                <a:latin typeface="+mn-lt"/>
                <a:ea typeface="ＭＳ Ｐゴシック" pitchFamily="-106" charset="-128"/>
                <a:cs typeface="ＭＳ Ｐゴシック" pitchFamily="-106" charset="-128"/>
              </a:rPr>
              <a:t>“For the LORD is our ruler, the LORD is our lawgiver, the LORD is our king; he will deliver us.”</a:t>
            </a:r>
          </a:p>
          <a:p>
            <a:pPr marL="171450" indent="-171450">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When people define righteousness, it shifts.</a:t>
            </a:r>
          </a:p>
          <a:p>
            <a:pPr marL="171450" indent="-171450">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What is “right” today may be “wrong” tomorrow.</a:t>
            </a:r>
          </a:p>
          <a:p>
            <a:pPr marL="171450" indent="-171450">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When God defines righteousness, it is stable and true.</a:t>
            </a:r>
          </a:p>
          <a:p>
            <a:pPr marL="171450" indent="-171450">
              <a:buFont typeface="Arial" panose="020B0604020202020204" pitchFamily="34" charset="0"/>
              <a:buChar char="•"/>
            </a:pPr>
            <a:r>
              <a:rPr lang="en-US" sz="1400" kern="1200" dirty="0">
                <a:solidFill>
                  <a:schemeClr val="tx1"/>
                </a:solidFill>
                <a:effectLst/>
                <a:latin typeface="+mn-lt"/>
                <a:ea typeface="ＭＳ Ｐゴシック" pitchFamily="-106" charset="-128"/>
                <a:cs typeface="ＭＳ Ｐゴシック" pitchFamily="-106" charset="-128"/>
              </a:rPr>
              <a:t>This is why Scripture consistently warns against doing what is “right in one’s own eyes”</a:t>
            </a:r>
          </a:p>
          <a:p>
            <a:endParaRPr lang="en-US" sz="1400" kern="1200" dirty="0">
              <a:solidFill>
                <a:schemeClr val="tx1"/>
              </a:solidFill>
              <a:effectLst/>
              <a:latin typeface="+mn-lt"/>
              <a:ea typeface="ＭＳ Ｐゴシック" pitchFamily="-106" charset="-128"/>
              <a:cs typeface="ＭＳ Ｐゴシック" pitchFamily="-106" charset="-128"/>
            </a:endParaRPr>
          </a:p>
          <a:p>
            <a:pPr marL="0" marR="0" lvl="0" indent="0" algn="l" defTabSz="914400" rtl="0" eaLnBrk="0" fontAlgn="base" latinLnBrk="0" hangingPunct="0">
              <a:lnSpc>
                <a:spcPct val="100000"/>
              </a:lnSpc>
              <a:spcBef>
                <a:spcPct val="30000"/>
              </a:spcBef>
              <a:spcAft>
                <a:spcPct val="0"/>
              </a:spcAft>
              <a:buClrTx/>
              <a:buSzTx/>
              <a:buFontTx/>
              <a:buNone/>
              <a:tabLst/>
              <a:defRPr/>
            </a:pPr>
            <a:r>
              <a:rPr lang="en-US" sz="1400" b="1" i="0" u="none" strike="noStrike" kern="1200" baseline="0" dirty="0">
                <a:solidFill>
                  <a:schemeClr val="tx1"/>
                </a:solidFill>
                <a:latin typeface="+mn-lt"/>
                <a:ea typeface="ＭＳ Ｐゴシック" pitchFamily="-106" charset="-128"/>
                <a:cs typeface="ＭＳ Ｐゴシック" pitchFamily="-106" charset="-128"/>
              </a:rPr>
              <a:t>Judges </a:t>
            </a:r>
            <a:r>
              <a:rPr lang="en-US" sz="1400" b="1" i="1" u="none" strike="noStrike" kern="1200" baseline="0" dirty="0">
                <a:solidFill>
                  <a:schemeClr val="tx1"/>
                </a:solidFill>
                <a:latin typeface="+mn-lt"/>
                <a:ea typeface="ＭＳ Ｐゴシック" pitchFamily="-106" charset="-128"/>
                <a:cs typeface="ＭＳ Ｐゴシック" pitchFamily="-106" charset="-128"/>
              </a:rPr>
              <a:t>21:25  </a:t>
            </a:r>
            <a:r>
              <a:rPr lang="en-US" sz="1400" b="0" i="1" u="none" strike="noStrike" kern="1200" baseline="0" dirty="0">
                <a:solidFill>
                  <a:schemeClr val="tx1"/>
                </a:solidFill>
                <a:latin typeface="+mn-lt"/>
                <a:ea typeface="ＭＳ Ｐゴシック" pitchFamily="-106" charset="-128"/>
                <a:cs typeface="ＭＳ Ｐゴシック" pitchFamily="-106" charset="-128"/>
              </a:rPr>
              <a:t>In those days there was no king in Israel; </a:t>
            </a:r>
            <a:r>
              <a:rPr lang="en-US" sz="1400" b="1" i="1" u="none" strike="noStrike" kern="1200" baseline="0" dirty="0">
                <a:solidFill>
                  <a:schemeClr val="tx1"/>
                </a:solidFill>
                <a:latin typeface="+mn-lt"/>
                <a:ea typeface="ＭＳ Ｐゴシック" pitchFamily="-106" charset="-128"/>
                <a:cs typeface="ＭＳ Ｐゴシック" pitchFamily="-106" charset="-128"/>
              </a:rPr>
              <a:t>everyone did what was right in his own eyes.</a:t>
            </a:r>
          </a:p>
          <a:p>
            <a:endParaRPr lang="en-US" sz="1200" kern="1200" dirty="0">
              <a:solidFill>
                <a:schemeClr val="tx1"/>
              </a:solidFill>
              <a:effectLst/>
              <a:latin typeface="+mn-lt"/>
              <a:ea typeface="ＭＳ Ｐゴシック" pitchFamily="-106" charset="-128"/>
              <a:cs typeface="ＭＳ Ｐゴシック" pitchFamily="-106" charset="-128"/>
            </a:endParaRPr>
          </a:p>
        </p:txBody>
      </p:sp>
      <p:sp>
        <p:nvSpPr>
          <p:cNvPr id="4" name="Slide Number Placeholder 3">
            <a:extLst>
              <a:ext uri="{FF2B5EF4-FFF2-40B4-BE49-F238E27FC236}">
                <a16:creationId xmlns:a16="http://schemas.microsoft.com/office/drawing/2014/main" id="{EF89DBDD-77AE-5E0F-DDC7-D3F916A7539B}"/>
              </a:ext>
            </a:extLst>
          </p:cNvPr>
          <p:cNvSpPr>
            <a:spLocks noGrp="1"/>
          </p:cNvSpPr>
          <p:nvPr>
            <p:ph type="sldNum" sz="quarter" idx="10"/>
          </p:nvPr>
        </p:nvSpPr>
        <p:spPr/>
        <p:txBody>
          <a:bodyPr/>
          <a:lstStyle/>
          <a:p>
            <a:pPr>
              <a:defRPr/>
            </a:pPr>
            <a:fld id="{07776858-791E-4C8D-8FA3-473B3AFECFAC}" type="slidenum">
              <a:rPr lang="en-US" smtClean="0"/>
              <a:pPr>
                <a:defRPr/>
              </a:pPr>
              <a:t>6</a:t>
            </a:fld>
            <a:endParaRPr lang="en-US" dirty="0"/>
          </a:p>
        </p:txBody>
      </p:sp>
    </p:spTree>
    <p:extLst>
      <p:ext uri="{BB962C8B-B14F-4D97-AF65-F5344CB8AC3E}">
        <p14:creationId xmlns:p14="http://schemas.microsoft.com/office/powerpoint/2010/main" val="23094017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529BBA-1903-9D3E-4CA8-A85DE01CD1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491098-3FCE-4664-2E66-16C680D7C42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3AED84F-17C6-F833-CBCC-375A43BEA8EF}"/>
              </a:ext>
            </a:extLst>
          </p:cNvPr>
          <p:cNvSpPr>
            <a:spLocks noGrp="1"/>
          </p:cNvSpPr>
          <p:nvPr>
            <p:ph type="body" idx="1"/>
          </p:nvPr>
        </p:nvSpPr>
        <p:spPr/>
        <p:txBody>
          <a:bodyPr>
            <a:normAutofit/>
          </a:bodyPr>
          <a:lstStyle/>
          <a:p>
            <a:endParaRPr lang="en-US" sz="1600" dirty="0"/>
          </a:p>
          <a:p>
            <a:r>
              <a:rPr lang="en-US" sz="1200" b="1" kern="1200" dirty="0">
                <a:solidFill>
                  <a:schemeClr val="tx1"/>
                </a:solidFill>
                <a:effectLst/>
                <a:latin typeface="+mn-lt"/>
                <a:ea typeface="ＭＳ Ｐゴシック" pitchFamily="-106" charset="-128"/>
                <a:cs typeface="ＭＳ Ｐゴシック" pitchFamily="-106" charset="-128"/>
              </a:rPr>
              <a:t>Social Contracts and the Righteousness of Man</a:t>
            </a:r>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kern="1200" dirty="0">
                <a:solidFill>
                  <a:schemeClr val="tx1"/>
                </a:solidFill>
                <a:effectLst/>
                <a:latin typeface="+mn-lt"/>
                <a:ea typeface="ＭＳ Ｐゴシック" pitchFamily="-106" charset="-128"/>
                <a:cs typeface="ＭＳ Ｐゴシック" pitchFamily="-106" charset="-128"/>
              </a:rPr>
              <a:t> </a:t>
            </a:r>
          </a:p>
          <a:p>
            <a:endParaRPr lang="en-US" dirty="0"/>
          </a:p>
        </p:txBody>
      </p:sp>
      <p:sp>
        <p:nvSpPr>
          <p:cNvPr id="4" name="Slide Number Placeholder 3">
            <a:extLst>
              <a:ext uri="{FF2B5EF4-FFF2-40B4-BE49-F238E27FC236}">
                <a16:creationId xmlns:a16="http://schemas.microsoft.com/office/drawing/2014/main" id="{08C057B0-B555-08A4-097A-1F8B18BF7F18}"/>
              </a:ext>
            </a:extLst>
          </p:cNvPr>
          <p:cNvSpPr>
            <a:spLocks noGrp="1"/>
          </p:cNvSpPr>
          <p:nvPr>
            <p:ph type="sldNum" sz="quarter" idx="10"/>
          </p:nvPr>
        </p:nvSpPr>
        <p:spPr/>
        <p:txBody>
          <a:bodyPr/>
          <a:lstStyle/>
          <a:p>
            <a:pPr>
              <a:defRPr/>
            </a:pPr>
            <a:fld id="{07776858-791E-4C8D-8FA3-473B3AFECFAC}" type="slidenum">
              <a:rPr lang="en-US" smtClean="0"/>
              <a:pPr>
                <a:defRPr/>
              </a:pPr>
              <a:t>7</a:t>
            </a:fld>
            <a:endParaRPr lang="en-US" dirty="0"/>
          </a:p>
        </p:txBody>
      </p:sp>
    </p:spTree>
    <p:extLst>
      <p:ext uri="{BB962C8B-B14F-4D97-AF65-F5344CB8AC3E}">
        <p14:creationId xmlns:p14="http://schemas.microsoft.com/office/powerpoint/2010/main" val="264074681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D6AA9-30AE-364B-439B-D4EEEF598B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0A5021-4F24-B1A7-C1E9-76BAD9AFE8D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D7FA3AE-C0CC-865A-C6D8-C11610B43D69}"/>
              </a:ext>
            </a:extLst>
          </p:cNvPr>
          <p:cNvSpPr>
            <a:spLocks noGrp="1"/>
          </p:cNvSpPr>
          <p:nvPr>
            <p:ph type="body" idx="1"/>
          </p:nvPr>
        </p:nvSpPr>
        <p:spPr/>
        <p:txBody>
          <a:bodyPr>
            <a:normAutofit/>
          </a:bodyPr>
          <a:lstStyle/>
          <a:p>
            <a:r>
              <a:rPr lang="en-US" sz="1200" b="1" kern="1200" dirty="0">
                <a:solidFill>
                  <a:schemeClr val="tx1"/>
                </a:solidFill>
                <a:effectLst/>
                <a:latin typeface="+mn-lt"/>
                <a:ea typeface="ＭＳ Ｐゴシック" pitchFamily="-106" charset="-128"/>
                <a:cs typeface="ＭＳ Ｐゴシック" pitchFamily="-106" charset="-128"/>
              </a:rPr>
              <a:t>Why Social Contracts Feel Righteous</a:t>
            </a:r>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kern="1200" dirty="0">
                <a:solidFill>
                  <a:schemeClr val="tx1"/>
                </a:solidFill>
                <a:effectLst/>
                <a:latin typeface="+mn-lt"/>
                <a:ea typeface="ＭＳ Ｐゴシック" pitchFamily="-106" charset="-128"/>
                <a:cs typeface="ＭＳ Ｐゴシック" pitchFamily="-106" charset="-128"/>
              </a:rPr>
              <a:t> </a:t>
            </a:r>
          </a:p>
          <a:p>
            <a:r>
              <a:rPr lang="en-US" sz="1200" kern="1200" dirty="0">
                <a:solidFill>
                  <a:schemeClr val="tx1"/>
                </a:solidFill>
                <a:effectLst/>
                <a:latin typeface="+mn-lt"/>
                <a:ea typeface="ＭＳ Ｐゴシック" pitchFamily="-106" charset="-128"/>
                <a:cs typeface="ＭＳ Ｐゴシック" pitchFamily="-106" charset="-128"/>
              </a:rPr>
              <a:t> </a:t>
            </a:r>
          </a:p>
          <a:p>
            <a:endParaRPr lang="en-US" dirty="0"/>
          </a:p>
        </p:txBody>
      </p:sp>
      <p:sp>
        <p:nvSpPr>
          <p:cNvPr id="4" name="Slide Number Placeholder 3">
            <a:extLst>
              <a:ext uri="{FF2B5EF4-FFF2-40B4-BE49-F238E27FC236}">
                <a16:creationId xmlns:a16="http://schemas.microsoft.com/office/drawing/2014/main" id="{0384671D-2BF7-F9D0-ED3E-EB3B862D185D}"/>
              </a:ext>
            </a:extLst>
          </p:cNvPr>
          <p:cNvSpPr>
            <a:spLocks noGrp="1"/>
          </p:cNvSpPr>
          <p:nvPr>
            <p:ph type="sldNum" sz="quarter" idx="10"/>
          </p:nvPr>
        </p:nvSpPr>
        <p:spPr/>
        <p:txBody>
          <a:bodyPr/>
          <a:lstStyle/>
          <a:p>
            <a:pPr>
              <a:defRPr/>
            </a:pPr>
            <a:fld id="{07776858-791E-4C8D-8FA3-473B3AFECFAC}" type="slidenum">
              <a:rPr lang="en-US" smtClean="0"/>
              <a:pPr>
                <a:defRPr/>
              </a:pPr>
              <a:t>8</a:t>
            </a:fld>
            <a:endParaRPr lang="en-US" dirty="0"/>
          </a:p>
        </p:txBody>
      </p:sp>
    </p:spTree>
    <p:extLst>
      <p:ext uri="{BB962C8B-B14F-4D97-AF65-F5344CB8AC3E}">
        <p14:creationId xmlns:p14="http://schemas.microsoft.com/office/powerpoint/2010/main" val="29744006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3546AA-8552-70D9-CFB1-464DB37AC4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FFCCEB-E923-B1AB-C0D5-F75B14C51FE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82741BC-62BC-57E0-767A-FE222F2A88A4}"/>
              </a:ext>
            </a:extLst>
          </p:cNvPr>
          <p:cNvSpPr>
            <a:spLocks noGrp="1"/>
          </p:cNvSpPr>
          <p:nvPr>
            <p:ph type="body" idx="1"/>
          </p:nvPr>
        </p:nvSpPr>
        <p:spPr/>
        <p:txBody>
          <a:bodyPr>
            <a:normAutofit/>
          </a:bodyPr>
          <a:lstStyle/>
          <a:p>
            <a:r>
              <a:rPr lang="en-US" sz="1200" b="1" kern="1200" dirty="0">
                <a:solidFill>
                  <a:schemeClr val="tx1"/>
                </a:solidFill>
                <a:effectLst/>
                <a:latin typeface="+mn-lt"/>
                <a:ea typeface="ＭＳ Ｐゴシック" pitchFamily="-106" charset="-128"/>
                <a:cs typeface="ＭＳ Ｐゴシック" pitchFamily="-106" charset="-128"/>
              </a:rPr>
              <a:t>Apostolic Contrast: Covenant vs. Contract</a:t>
            </a:r>
            <a:endParaRPr lang="en-US" sz="1200" kern="1200" dirty="0">
              <a:solidFill>
                <a:schemeClr val="tx1"/>
              </a:solidFill>
              <a:effectLst/>
              <a:latin typeface="+mn-lt"/>
              <a:ea typeface="ＭＳ Ｐゴシック" pitchFamily="-106" charset="-128"/>
              <a:cs typeface="ＭＳ Ｐゴシック" pitchFamily="-106" charset="-128"/>
            </a:endParaRPr>
          </a:p>
          <a:p>
            <a:endParaRPr lang="en-US" dirty="0"/>
          </a:p>
        </p:txBody>
      </p:sp>
      <p:sp>
        <p:nvSpPr>
          <p:cNvPr id="4" name="Slide Number Placeholder 3">
            <a:extLst>
              <a:ext uri="{FF2B5EF4-FFF2-40B4-BE49-F238E27FC236}">
                <a16:creationId xmlns:a16="http://schemas.microsoft.com/office/drawing/2014/main" id="{CD75A18B-09D1-A5AF-0FC7-8E0E49F8E91B}"/>
              </a:ext>
            </a:extLst>
          </p:cNvPr>
          <p:cNvSpPr>
            <a:spLocks noGrp="1"/>
          </p:cNvSpPr>
          <p:nvPr>
            <p:ph type="sldNum" sz="quarter" idx="10"/>
          </p:nvPr>
        </p:nvSpPr>
        <p:spPr/>
        <p:txBody>
          <a:bodyPr/>
          <a:lstStyle/>
          <a:p>
            <a:pPr>
              <a:defRPr/>
            </a:pPr>
            <a:fld id="{07776858-791E-4C8D-8FA3-473B3AFECFAC}" type="slidenum">
              <a:rPr lang="en-US" smtClean="0"/>
              <a:pPr>
                <a:defRPr/>
              </a:pPr>
              <a:t>9</a:t>
            </a:fld>
            <a:endParaRPr lang="en-US" dirty="0"/>
          </a:p>
        </p:txBody>
      </p:sp>
    </p:spTree>
    <p:extLst>
      <p:ext uri="{BB962C8B-B14F-4D97-AF65-F5344CB8AC3E}">
        <p14:creationId xmlns:p14="http://schemas.microsoft.com/office/powerpoint/2010/main" val="299191530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60AE9D-F895-53D2-1F9E-10D88DEC47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C331F4-A968-753B-C73E-7631BA096A6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1BA5757-EA85-85B7-5815-ADC5CFB2AD8A}"/>
              </a:ext>
            </a:extLst>
          </p:cNvPr>
          <p:cNvSpPr>
            <a:spLocks noGrp="1"/>
          </p:cNvSpPr>
          <p:nvPr>
            <p:ph type="body" idx="1"/>
          </p:nvPr>
        </p:nvSpPr>
        <p:spPr/>
        <p:txBody>
          <a:bodyPr>
            <a:normAutofit/>
          </a:bodyPr>
          <a:lstStyle/>
          <a:p>
            <a:r>
              <a:rPr lang="en-US" sz="1200" b="1" kern="1200" dirty="0">
                <a:solidFill>
                  <a:schemeClr val="tx1"/>
                </a:solidFill>
                <a:effectLst/>
                <a:latin typeface="+mn-lt"/>
                <a:ea typeface="ＭＳ Ｐゴシック" pitchFamily="-106" charset="-128"/>
                <a:cs typeface="ＭＳ Ｐゴシック" pitchFamily="-106" charset="-128"/>
              </a:rPr>
              <a:t>Why Human Righteousness Always Hardens</a:t>
            </a:r>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kern="1200" dirty="0">
                <a:solidFill>
                  <a:schemeClr val="tx1"/>
                </a:solidFill>
                <a:effectLst/>
                <a:latin typeface="+mn-lt"/>
                <a:ea typeface="ＭＳ Ｐゴシック" pitchFamily="-106" charset="-128"/>
                <a:cs typeface="ＭＳ Ｐゴシック" pitchFamily="-106" charset="-128"/>
              </a:rPr>
              <a:t> </a:t>
            </a:r>
          </a:p>
          <a:p>
            <a:endParaRPr lang="en-US" sz="1200" kern="1200" dirty="0">
              <a:solidFill>
                <a:schemeClr val="tx1"/>
              </a:solidFill>
              <a:effectLst/>
              <a:latin typeface="+mn-lt"/>
              <a:ea typeface="ＭＳ Ｐゴシック" pitchFamily="-106" charset="-128"/>
            </a:endParaRPr>
          </a:p>
          <a:p>
            <a:r>
              <a:rPr lang="en-US" sz="1200" b="1" kern="1200" dirty="0">
                <a:solidFill>
                  <a:schemeClr val="tx1"/>
                </a:solidFill>
                <a:effectLst/>
                <a:latin typeface="+mn-lt"/>
                <a:ea typeface="ＭＳ Ｐゴシック" pitchFamily="-106" charset="-128"/>
                <a:cs typeface="ＭＳ Ｐゴシック" pitchFamily="-106" charset="-128"/>
              </a:rPr>
              <a:t>The Root Issue Is Trust, Not Knowledge</a:t>
            </a:r>
            <a:endParaRPr lang="en-US" sz="1200" kern="1200" dirty="0">
              <a:solidFill>
                <a:schemeClr val="tx1"/>
              </a:solidFill>
              <a:effectLst/>
              <a:latin typeface="+mn-lt"/>
              <a:ea typeface="ＭＳ Ｐゴシック" pitchFamily="-106" charset="-128"/>
              <a:cs typeface="ＭＳ Ｐゴシック" pitchFamily="-106" charset="-128"/>
            </a:endParaRPr>
          </a:p>
          <a:p>
            <a:endParaRPr lang="en-US" dirty="0"/>
          </a:p>
        </p:txBody>
      </p:sp>
      <p:sp>
        <p:nvSpPr>
          <p:cNvPr id="4" name="Slide Number Placeholder 3">
            <a:extLst>
              <a:ext uri="{FF2B5EF4-FFF2-40B4-BE49-F238E27FC236}">
                <a16:creationId xmlns:a16="http://schemas.microsoft.com/office/drawing/2014/main" id="{CDF5DB80-D42F-E934-EB10-A7EFA5FF7C52}"/>
              </a:ext>
            </a:extLst>
          </p:cNvPr>
          <p:cNvSpPr>
            <a:spLocks noGrp="1"/>
          </p:cNvSpPr>
          <p:nvPr>
            <p:ph type="sldNum" sz="quarter" idx="10"/>
          </p:nvPr>
        </p:nvSpPr>
        <p:spPr/>
        <p:txBody>
          <a:bodyPr/>
          <a:lstStyle/>
          <a:p>
            <a:pPr>
              <a:defRPr/>
            </a:pPr>
            <a:fld id="{07776858-791E-4C8D-8FA3-473B3AFECFAC}" type="slidenum">
              <a:rPr lang="en-US" smtClean="0"/>
              <a:pPr>
                <a:defRPr/>
              </a:pPr>
              <a:t>10</a:t>
            </a:fld>
            <a:endParaRPr lang="en-US" dirty="0"/>
          </a:p>
        </p:txBody>
      </p:sp>
    </p:spTree>
    <p:extLst>
      <p:ext uri="{BB962C8B-B14F-4D97-AF65-F5344CB8AC3E}">
        <p14:creationId xmlns:p14="http://schemas.microsoft.com/office/powerpoint/2010/main" val="20342665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B14545-E77E-C0C8-72D6-119555AF9B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620499-3970-DF44-5577-AF700BEDF19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8D8A7C8-AE66-B681-C0A0-376B16AB27C5}"/>
              </a:ext>
            </a:extLst>
          </p:cNvPr>
          <p:cNvSpPr>
            <a:spLocks noGrp="1"/>
          </p:cNvSpPr>
          <p:nvPr>
            <p:ph type="body" idx="1"/>
          </p:nvPr>
        </p:nvSpPr>
        <p:spPr/>
        <p:txBody>
          <a:bodyPr>
            <a:normAutofit/>
          </a:bodyPr>
          <a:lstStyle/>
          <a:p>
            <a:endParaRPr lang="en-US" sz="1600" dirty="0"/>
          </a:p>
          <a:p>
            <a:r>
              <a:rPr lang="en-US" sz="1200" b="1" kern="1200" dirty="0">
                <a:solidFill>
                  <a:schemeClr val="tx1"/>
                </a:solidFill>
                <a:effectLst/>
                <a:latin typeface="+mn-lt"/>
                <a:ea typeface="ＭＳ Ｐゴシック" pitchFamily="-106" charset="-128"/>
                <a:cs typeface="ＭＳ Ｐゴシック" pitchFamily="-106" charset="-128"/>
              </a:rPr>
              <a:t>Summary</a:t>
            </a:r>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kern="1200" dirty="0">
                <a:solidFill>
                  <a:schemeClr val="tx1"/>
                </a:solidFill>
                <a:effectLst/>
                <a:latin typeface="+mn-lt"/>
                <a:ea typeface="ＭＳ Ｐゴシック" pitchFamily="-106" charset="-128"/>
                <a:cs typeface="ＭＳ Ｐゴシック" pitchFamily="-106" charset="-128"/>
              </a:rPr>
              <a:t> </a:t>
            </a:r>
          </a:p>
          <a:p>
            <a:pPr rtl="0" fontAlgn="ctr"/>
            <a:r>
              <a:rPr lang="en-US" sz="1200" kern="1200" dirty="0">
                <a:solidFill>
                  <a:schemeClr val="tx1"/>
                </a:solidFill>
                <a:effectLst/>
                <a:latin typeface="+mn-lt"/>
                <a:ea typeface="ＭＳ Ｐゴシック" pitchFamily="-106" charset="-128"/>
                <a:cs typeface="ＭＳ Ｐゴシック" pitchFamily="-106" charset="-128"/>
              </a:rPr>
              <a:t>Uncertainty drives fear.</a:t>
            </a:r>
          </a:p>
          <a:p>
            <a:pPr rtl="0" fontAlgn="ctr"/>
            <a:r>
              <a:rPr lang="en-US" sz="1200" kern="1200" dirty="0">
                <a:solidFill>
                  <a:schemeClr val="tx1"/>
                </a:solidFill>
                <a:effectLst/>
                <a:latin typeface="+mn-lt"/>
                <a:ea typeface="ＭＳ Ｐゴシック" pitchFamily="-106" charset="-128"/>
                <a:cs typeface="ＭＳ Ｐゴシック" pitchFamily="-106" charset="-128"/>
              </a:rPr>
              <a:t>Fear demands control.</a:t>
            </a:r>
          </a:p>
          <a:p>
            <a:pPr rtl="0" fontAlgn="ctr"/>
            <a:r>
              <a:rPr lang="en-US" sz="1200" kern="1200" dirty="0">
                <a:solidFill>
                  <a:schemeClr val="tx1"/>
                </a:solidFill>
                <a:effectLst/>
                <a:latin typeface="+mn-lt"/>
                <a:ea typeface="ＭＳ Ｐゴシック" pitchFamily="-106" charset="-128"/>
                <a:cs typeface="ＭＳ Ｐゴシック" pitchFamily="-106" charset="-128"/>
              </a:rPr>
              <a:t>Control creates systems.</a:t>
            </a:r>
          </a:p>
          <a:p>
            <a:pPr rtl="0" fontAlgn="ctr"/>
            <a:r>
              <a:rPr lang="en-US" sz="1200" kern="1200" dirty="0">
                <a:solidFill>
                  <a:schemeClr val="tx1"/>
                </a:solidFill>
                <a:effectLst/>
                <a:latin typeface="+mn-lt"/>
                <a:ea typeface="ＭＳ Ｐゴシック" pitchFamily="-106" charset="-128"/>
                <a:cs typeface="ＭＳ Ｐゴシック" pitchFamily="-106" charset="-128"/>
              </a:rPr>
              <a:t>Systems produce human righteousness.</a:t>
            </a:r>
          </a:p>
          <a:p>
            <a:r>
              <a:rPr lang="en-US" sz="1200" kern="1200" dirty="0">
                <a:solidFill>
                  <a:schemeClr val="tx1"/>
                </a:solidFill>
                <a:effectLst/>
                <a:latin typeface="+mn-lt"/>
                <a:ea typeface="ＭＳ Ｐゴシック" pitchFamily="-106" charset="-128"/>
                <a:cs typeface="ＭＳ Ｐゴシック" pitchFamily="-106" charset="-128"/>
              </a:rPr>
              <a:t> </a:t>
            </a:r>
          </a:p>
          <a:p>
            <a:r>
              <a:rPr lang="en-US" sz="1200" kern="1200" dirty="0">
                <a:solidFill>
                  <a:schemeClr val="tx1"/>
                </a:solidFill>
                <a:effectLst/>
                <a:latin typeface="+mn-lt"/>
                <a:ea typeface="ＭＳ Ｐゴシック" pitchFamily="-106" charset="-128"/>
                <a:cs typeface="ＭＳ Ｐゴシック" pitchFamily="-106" charset="-128"/>
              </a:rPr>
              <a:t>Social contracts, theology, and ideology all become substitutes when they replace trust in God’s righteousness.</a:t>
            </a:r>
          </a:p>
          <a:p>
            <a:r>
              <a:rPr lang="en-US" sz="1200" kern="1200" dirty="0">
                <a:solidFill>
                  <a:schemeClr val="tx1"/>
                </a:solidFill>
                <a:effectLst/>
                <a:latin typeface="+mn-lt"/>
                <a:ea typeface="ＭＳ Ｐゴシック" pitchFamily="-106" charset="-128"/>
                <a:cs typeface="ＭＳ Ｐゴシック" pitchFamily="-106" charset="-128"/>
              </a:rPr>
              <a:t> </a:t>
            </a:r>
          </a:p>
          <a:p>
            <a:r>
              <a:rPr lang="en-US" sz="1200" kern="1200" dirty="0">
                <a:solidFill>
                  <a:schemeClr val="tx1"/>
                </a:solidFill>
                <a:effectLst/>
                <a:latin typeface="+mn-lt"/>
                <a:ea typeface="ＭＳ Ｐゴシック" pitchFamily="-106" charset="-128"/>
                <a:cs typeface="ＭＳ Ｐゴシック" pitchFamily="-106" charset="-128"/>
              </a:rPr>
              <a:t>The gospel does not remove uncertainty.</a:t>
            </a:r>
          </a:p>
          <a:p>
            <a:r>
              <a:rPr lang="en-US" sz="1200" kern="1200" dirty="0">
                <a:solidFill>
                  <a:schemeClr val="tx1"/>
                </a:solidFill>
                <a:effectLst/>
                <a:latin typeface="+mn-lt"/>
                <a:ea typeface="ＭＳ Ｐゴシック" pitchFamily="-106" charset="-128"/>
                <a:cs typeface="ＭＳ Ｐゴシック" pitchFamily="-106" charset="-128"/>
              </a:rPr>
              <a:t>It relocates trust.</a:t>
            </a:r>
          </a:p>
          <a:p>
            <a:r>
              <a:rPr lang="en-US" sz="1200" kern="1200" dirty="0">
                <a:solidFill>
                  <a:schemeClr val="tx1"/>
                </a:solidFill>
                <a:effectLst/>
                <a:latin typeface="+mn-lt"/>
                <a:ea typeface="ＭＳ Ｐゴシック" pitchFamily="-106" charset="-128"/>
                <a:cs typeface="ＭＳ Ｐゴシック" pitchFamily="-106" charset="-128"/>
              </a:rPr>
              <a:t> </a:t>
            </a:r>
          </a:p>
          <a:p>
            <a:r>
              <a:rPr lang="en-US" sz="1200" b="1" kern="1200" dirty="0">
                <a:solidFill>
                  <a:schemeClr val="tx1"/>
                </a:solidFill>
                <a:effectLst/>
                <a:latin typeface="+mn-lt"/>
                <a:ea typeface="ＭＳ Ｐゴシック" pitchFamily="-106" charset="-128"/>
                <a:cs typeface="ＭＳ Ｐゴシック" pitchFamily="-106" charset="-128"/>
              </a:rPr>
              <a:t>Proverbs 3:5  </a:t>
            </a:r>
            <a:r>
              <a:rPr lang="en-US" sz="1200" kern="1200" dirty="0">
                <a:solidFill>
                  <a:schemeClr val="tx1"/>
                </a:solidFill>
                <a:effectLst/>
                <a:latin typeface="+mn-lt"/>
                <a:ea typeface="ＭＳ Ｐゴシック" pitchFamily="-106" charset="-128"/>
                <a:cs typeface="ＭＳ Ｐゴシック" pitchFamily="-106" charset="-128"/>
              </a:rPr>
              <a:t>“Trust in the LORD with all your heart, and do not rely on your own understanding.”</a:t>
            </a:r>
          </a:p>
          <a:p>
            <a:r>
              <a:rPr lang="en-US" sz="1200" kern="1200" dirty="0">
                <a:solidFill>
                  <a:schemeClr val="tx1"/>
                </a:solidFill>
                <a:effectLst/>
                <a:latin typeface="+mn-lt"/>
                <a:ea typeface="ＭＳ Ｐゴシック" pitchFamily="-106" charset="-128"/>
                <a:cs typeface="ＭＳ Ｐゴシック" pitchFamily="-106" charset="-128"/>
              </a:rPr>
              <a:t> </a:t>
            </a:r>
          </a:p>
          <a:p>
            <a:r>
              <a:rPr lang="en-US" sz="1200" kern="1200" dirty="0">
                <a:solidFill>
                  <a:schemeClr val="tx1"/>
                </a:solidFill>
                <a:effectLst/>
                <a:latin typeface="+mn-lt"/>
                <a:ea typeface="ＭＳ Ｐゴシック" pitchFamily="-106" charset="-128"/>
                <a:cs typeface="ＭＳ Ｐゴシック" pitchFamily="-106" charset="-128"/>
              </a:rPr>
              <a:t> </a:t>
            </a:r>
          </a:p>
          <a:p>
            <a:endParaRPr lang="en-US" dirty="0"/>
          </a:p>
        </p:txBody>
      </p:sp>
      <p:sp>
        <p:nvSpPr>
          <p:cNvPr id="4" name="Slide Number Placeholder 3">
            <a:extLst>
              <a:ext uri="{FF2B5EF4-FFF2-40B4-BE49-F238E27FC236}">
                <a16:creationId xmlns:a16="http://schemas.microsoft.com/office/drawing/2014/main" id="{80BCF92D-88B5-C29F-DB54-11A9D4912FF8}"/>
              </a:ext>
            </a:extLst>
          </p:cNvPr>
          <p:cNvSpPr>
            <a:spLocks noGrp="1"/>
          </p:cNvSpPr>
          <p:nvPr>
            <p:ph type="sldNum" sz="quarter" idx="10"/>
          </p:nvPr>
        </p:nvSpPr>
        <p:spPr/>
        <p:txBody>
          <a:bodyPr/>
          <a:lstStyle/>
          <a:p>
            <a:pPr>
              <a:defRPr/>
            </a:pPr>
            <a:fld id="{07776858-791E-4C8D-8FA3-473B3AFECFAC}" type="slidenum">
              <a:rPr lang="en-US" smtClean="0"/>
              <a:pPr>
                <a:defRPr/>
              </a:pPr>
              <a:t>11</a:t>
            </a:fld>
            <a:endParaRPr lang="en-US" dirty="0"/>
          </a:p>
        </p:txBody>
      </p:sp>
    </p:spTree>
    <p:extLst>
      <p:ext uri="{BB962C8B-B14F-4D97-AF65-F5344CB8AC3E}">
        <p14:creationId xmlns:p14="http://schemas.microsoft.com/office/powerpoint/2010/main" val="401053608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5349C-03D0-4DFB-AB48-B4F8A785E8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6F37C6-59A4-0546-3E25-C42AD96522F1}"/>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D71916B-9986-3F55-1F44-F13826A9FC5F}"/>
              </a:ext>
            </a:extLst>
          </p:cNvPr>
          <p:cNvSpPr>
            <a:spLocks noGrp="1"/>
          </p:cNvSpPr>
          <p:nvPr>
            <p:ph type="body" idx="1"/>
          </p:nvPr>
        </p:nvSpPr>
        <p:spPr/>
        <p:txBody>
          <a:bodyPr>
            <a:normAutofit fontScale="25000" lnSpcReduction="20000"/>
          </a:bodyPr>
          <a:lstStyle/>
          <a:p>
            <a:r>
              <a:rPr lang="en-US" sz="1400" b="1" kern="1200" dirty="0">
                <a:solidFill>
                  <a:schemeClr val="tx1"/>
                </a:solidFill>
                <a:effectLst/>
                <a:latin typeface="+mn-lt"/>
                <a:ea typeface="ＭＳ Ｐゴシック" pitchFamily="-106" charset="-128"/>
                <a:cs typeface="ＭＳ Ｐゴシック" pitchFamily="-106" charset="-128"/>
              </a:rPr>
              <a:t>Ecce Homo</a:t>
            </a:r>
            <a:endParaRPr lang="en-US" sz="1400" kern="1200" dirty="0">
              <a:solidFill>
                <a:schemeClr val="tx1"/>
              </a:solidFill>
              <a:effectLst/>
              <a:latin typeface="+mn-lt"/>
              <a:ea typeface="ＭＳ Ｐゴシック" pitchFamily="-106" charset="-128"/>
              <a:cs typeface="ＭＳ Ｐゴシック" pitchFamily="-106" charset="-128"/>
            </a:endParaRPr>
          </a:p>
          <a:p>
            <a:pPr lvl="1"/>
            <a:r>
              <a:rPr lang="en-US" sz="1400" kern="1200" dirty="0">
                <a:solidFill>
                  <a:schemeClr val="tx1"/>
                </a:solidFill>
                <a:effectLst/>
                <a:latin typeface="+mn-lt"/>
                <a:ea typeface="ＭＳ Ｐゴシック" pitchFamily="-106" charset="-128"/>
                <a:cs typeface="ＭＳ Ｐゴシック" pitchFamily="-106" charset="-128"/>
              </a:rPr>
              <a:t>(“Behold the Man”)</a:t>
            </a:r>
          </a:p>
          <a:p>
            <a:pPr lvl="1"/>
            <a:r>
              <a:rPr lang="en-US" sz="1400" kern="1200" dirty="0">
                <a:solidFill>
                  <a:schemeClr val="tx1"/>
                </a:solidFill>
                <a:effectLst/>
                <a:latin typeface="+mn-lt"/>
                <a:ea typeface="ＭＳ Ｐゴシック" pitchFamily="-106" charset="-128"/>
                <a:cs typeface="ＭＳ Ｐゴシック" pitchFamily="-106" charset="-128"/>
              </a:rPr>
              <a:t> by </a:t>
            </a:r>
            <a:r>
              <a:rPr lang="en-US" sz="1400" b="1" kern="1200" dirty="0">
                <a:solidFill>
                  <a:schemeClr val="tx1"/>
                </a:solidFill>
                <a:effectLst/>
                <a:latin typeface="+mn-lt"/>
                <a:ea typeface="ＭＳ Ｐゴシック" pitchFamily="-106" charset="-128"/>
                <a:cs typeface="ＭＳ Ｐゴシック" pitchFamily="-106" charset="-128"/>
              </a:rPr>
              <a:t>Antonio </a:t>
            </a:r>
            <a:r>
              <a:rPr lang="en-US" sz="1400" b="1" kern="1200" dirty="0" err="1">
                <a:solidFill>
                  <a:schemeClr val="tx1"/>
                </a:solidFill>
                <a:effectLst/>
                <a:latin typeface="+mn-lt"/>
                <a:ea typeface="ＭＳ Ｐゴシック" pitchFamily="-106" charset="-128"/>
                <a:cs typeface="ＭＳ Ｐゴシック" pitchFamily="-106" charset="-128"/>
              </a:rPr>
              <a:t>Ciseri</a:t>
            </a:r>
            <a:r>
              <a:rPr lang="en-US" sz="1400" b="1" kern="1200" dirty="0">
                <a:solidFill>
                  <a:schemeClr val="tx1"/>
                </a:solidFill>
                <a:effectLst/>
                <a:latin typeface="+mn-lt"/>
                <a:ea typeface="ＭＳ Ｐゴシック" pitchFamily="-106" charset="-128"/>
                <a:cs typeface="ＭＳ Ｐゴシック" pitchFamily="-106" charset="-128"/>
              </a:rPr>
              <a:t>, 1871</a:t>
            </a:r>
            <a:endParaRPr lang="en-US" sz="1400" kern="1200" dirty="0">
              <a:solidFill>
                <a:schemeClr val="tx1"/>
              </a:solidFill>
              <a:effectLst/>
              <a:latin typeface="+mn-lt"/>
              <a:ea typeface="ＭＳ Ｐゴシック" pitchFamily="-106" charset="-128"/>
              <a:cs typeface="ＭＳ Ｐゴシック" pitchFamily="-106" charset="-128"/>
            </a:endParaRPr>
          </a:p>
          <a:p>
            <a:pPr lvl="1"/>
            <a:r>
              <a:rPr lang="en-US" sz="1400" kern="1200" dirty="0">
                <a:solidFill>
                  <a:schemeClr val="tx1"/>
                </a:solidFill>
                <a:effectLst/>
                <a:latin typeface="+mn-lt"/>
                <a:ea typeface="ＭＳ Ｐゴシック" pitchFamily="-106" charset="-128"/>
                <a:cs typeface="ＭＳ Ｐゴシック" pitchFamily="-106" charset="-128"/>
              </a:rPr>
              <a:t> </a:t>
            </a:r>
          </a:p>
          <a:p>
            <a:pPr lvl="1"/>
            <a:r>
              <a:rPr lang="en-US" sz="1400" kern="1200" dirty="0">
                <a:solidFill>
                  <a:schemeClr val="tx1"/>
                </a:solidFill>
                <a:effectLst/>
                <a:latin typeface="+mn-lt"/>
                <a:ea typeface="ＭＳ Ｐゴシック" pitchFamily="-106" charset="-128"/>
                <a:cs typeface="ＭＳ Ｐゴシック" pitchFamily="-106" charset="-128"/>
              </a:rPr>
              <a:t>The title comes from </a:t>
            </a:r>
            <a:r>
              <a:rPr lang="en-US" sz="1400" b="1" kern="1200" dirty="0">
                <a:solidFill>
                  <a:schemeClr val="tx1"/>
                </a:solidFill>
                <a:effectLst/>
                <a:latin typeface="+mn-lt"/>
                <a:ea typeface="ＭＳ Ｐゴシック" pitchFamily="-106" charset="-128"/>
                <a:cs typeface="ＭＳ Ｐゴシック" pitchFamily="-106" charset="-128"/>
              </a:rPr>
              <a:t>John 19:5</a:t>
            </a:r>
            <a:r>
              <a:rPr lang="en-US" sz="1400" kern="1200" dirty="0">
                <a:solidFill>
                  <a:schemeClr val="tx1"/>
                </a:solidFill>
                <a:effectLst/>
                <a:latin typeface="+mn-lt"/>
                <a:ea typeface="ＭＳ Ｐゴシック" pitchFamily="-106" charset="-128"/>
                <a:cs typeface="ＭＳ Ｐゴシック" pitchFamily="-106" charset="-128"/>
              </a:rPr>
              <a:t>:  </a:t>
            </a:r>
            <a:r>
              <a:rPr lang="en-US" sz="1400" i="1" kern="1200" dirty="0">
                <a:solidFill>
                  <a:schemeClr val="tx1"/>
                </a:solidFill>
                <a:effectLst/>
                <a:latin typeface="+mn-lt"/>
                <a:ea typeface="ＭＳ Ｐゴシック" pitchFamily="-106" charset="-128"/>
                <a:cs typeface="ＭＳ Ｐゴシック" pitchFamily="-106" charset="-128"/>
              </a:rPr>
              <a:t>“So Jesus came out, wearing the crown of thorns and the purple robe. Pilate said to them,</a:t>
            </a:r>
            <a:r>
              <a:rPr lang="en-US" sz="1400" b="1" i="1" kern="1200" dirty="0">
                <a:solidFill>
                  <a:schemeClr val="tx1"/>
                </a:solidFill>
                <a:effectLst/>
                <a:latin typeface="+mn-lt"/>
                <a:ea typeface="ＭＳ Ｐゴシック" pitchFamily="-106" charset="-128"/>
                <a:cs typeface="ＭＳ Ｐゴシック" pitchFamily="-106" charset="-128"/>
              </a:rPr>
              <a:t> ‘Look, here is the man!’</a:t>
            </a:r>
            <a:r>
              <a:rPr lang="en-US" sz="1400" i="1" kern="1200" dirty="0">
                <a:solidFill>
                  <a:schemeClr val="tx1"/>
                </a:solidFill>
                <a:effectLst/>
                <a:latin typeface="+mn-lt"/>
                <a:ea typeface="ＭＳ Ｐゴシック" pitchFamily="-106" charset="-128"/>
                <a:cs typeface="ＭＳ Ｐゴシック" pitchFamily="-106" charset="-128"/>
              </a:rPr>
              <a:t>”</a:t>
            </a:r>
          </a:p>
          <a:p>
            <a:pPr lvl="1"/>
            <a:endParaRPr lang="en-US" sz="1400" dirty="0"/>
          </a:p>
          <a:p>
            <a:r>
              <a:rPr lang="en-US" sz="1400" b="1" kern="1200" dirty="0">
                <a:solidFill>
                  <a:schemeClr val="tx1"/>
                </a:solidFill>
                <a:effectLst/>
                <a:latin typeface="+mn-lt"/>
                <a:ea typeface="ＭＳ Ｐゴシック" pitchFamily="-106" charset="-128"/>
                <a:cs typeface="ＭＳ Ｐゴシック" pitchFamily="-106" charset="-128"/>
              </a:rPr>
              <a:t>Subject and Scene</a:t>
            </a:r>
            <a:endParaRPr lang="en-US" sz="1400" kern="1200" dirty="0">
              <a:solidFill>
                <a:schemeClr val="tx1"/>
              </a:solidFill>
              <a:effectLst/>
              <a:latin typeface="+mn-lt"/>
              <a:ea typeface="ＭＳ Ｐゴシック" pitchFamily="-106" charset="-128"/>
              <a:cs typeface="ＭＳ Ｐゴシック" pitchFamily="-106" charset="-128"/>
            </a:endParaRPr>
          </a:p>
          <a:p>
            <a:pPr lvl="1"/>
            <a:r>
              <a:rPr lang="en-US" sz="1400" kern="1200" dirty="0">
                <a:solidFill>
                  <a:schemeClr val="tx1"/>
                </a:solidFill>
                <a:effectLst/>
                <a:latin typeface="+mn-lt"/>
                <a:ea typeface="ＭＳ Ｐゴシック" pitchFamily="-106" charset="-128"/>
                <a:cs typeface="ＭＳ Ｐゴシック" pitchFamily="-106" charset="-128"/>
              </a:rPr>
              <a:t>The painting depicts </a:t>
            </a:r>
            <a:r>
              <a:rPr lang="en-US" sz="1400" b="1" kern="1200" dirty="0">
                <a:solidFill>
                  <a:schemeClr val="tx1"/>
                </a:solidFill>
                <a:effectLst/>
                <a:latin typeface="+mn-lt"/>
                <a:ea typeface="ＭＳ Ｐゴシック" pitchFamily="-106" charset="-128"/>
                <a:cs typeface="ＭＳ Ｐゴシック" pitchFamily="-106" charset="-128"/>
              </a:rPr>
              <a:t>Pontius Pilate presenting Jesus to the crowd</a:t>
            </a:r>
            <a:r>
              <a:rPr lang="en-US" sz="1400" kern="1200" dirty="0">
                <a:solidFill>
                  <a:schemeClr val="tx1"/>
                </a:solidFill>
                <a:effectLst/>
                <a:latin typeface="+mn-lt"/>
                <a:ea typeface="ＭＳ Ｐゴシック" pitchFamily="-106" charset="-128"/>
                <a:cs typeface="ＭＳ Ｐゴシック" pitchFamily="-106" charset="-128"/>
              </a:rPr>
              <a:t>.</a:t>
            </a:r>
          </a:p>
          <a:p>
            <a:pPr lvl="1"/>
            <a:r>
              <a:rPr lang="en-US" sz="1400" kern="1200" dirty="0">
                <a:solidFill>
                  <a:schemeClr val="tx1"/>
                </a:solidFill>
                <a:effectLst/>
                <a:latin typeface="+mn-lt"/>
                <a:ea typeface="ＭＳ Ｐゴシック" pitchFamily="-106" charset="-128"/>
                <a:cs typeface="ＭＳ Ｐゴシック" pitchFamily="-106" charset="-128"/>
              </a:rPr>
              <a:t> </a:t>
            </a:r>
          </a:p>
          <a:p>
            <a:pPr lvl="1"/>
            <a:r>
              <a:rPr lang="en-US" sz="1400" kern="1200" dirty="0">
                <a:solidFill>
                  <a:schemeClr val="tx1"/>
                </a:solidFill>
                <a:effectLst/>
                <a:latin typeface="+mn-lt"/>
                <a:ea typeface="ＭＳ Ｐゴシック" pitchFamily="-106" charset="-128"/>
                <a:cs typeface="ＭＳ Ｐゴシック" pitchFamily="-106" charset="-128"/>
              </a:rPr>
              <a:t>Jesus stands:</a:t>
            </a:r>
          </a:p>
          <a:p>
            <a:pPr lvl="2" rtl="0" fontAlgn="ctr"/>
            <a:r>
              <a:rPr lang="en-US" sz="1400" kern="1200" dirty="0">
                <a:solidFill>
                  <a:schemeClr val="tx1"/>
                </a:solidFill>
                <a:effectLst/>
                <a:latin typeface="+mn-lt"/>
                <a:ea typeface="ＭＳ Ｐゴシック" pitchFamily="-106" charset="-128"/>
                <a:cs typeface="ＭＳ Ｐゴシック" pitchFamily="-106" charset="-128"/>
              </a:rPr>
              <a:t>silent</a:t>
            </a:r>
          </a:p>
          <a:p>
            <a:pPr lvl="2" rtl="0" fontAlgn="ctr"/>
            <a:r>
              <a:rPr lang="en-US" sz="1400" kern="1200" dirty="0">
                <a:solidFill>
                  <a:schemeClr val="tx1"/>
                </a:solidFill>
                <a:effectLst/>
                <a:latin typeface="+mn-lt"/>
                <a:ea typeface="ＭＳ Ｐゴシック" pitchFamily="-106" charset="-128"/>
                <a:cs typeface="ＭＳ Ｐゴシック" pitchFamily="-106" charset="-128"/>
              </a:rPr>
              <a:t>bound</a:t>
            </a:r>
          </a:p>
          <a:p>
            <a:pPr lvl="2" rtl="0" fontAlgn="ctr"/>
            <a:r>
              <a:rPr lang="en-US" sz="1400" kern="1200" dirty="0">
                <a:solidFill>
                  <a:schemeClr val="tx1"/>
                </a:solidFill>
                <a:effectLst/>
                <a:latin typeface="+mn-lt"/>
                <a:ea typeface="ＭＳ Ｐゴシック" pitchFamily="-106" charset="-128"/>
                <a:cs typeface="ＭＳ Ｐゴシック" pitchFamily="-106" charset="-128"/>
              </a:rPr>
              <a:t>crowned with thorns</a:t>
            </a:r>
          </a:p>
          <a:p>
            <a:pPr lvl="2" rtl="0" fontAlgn="ctr"/>
            <a:r>
              <a:rPr lang="en-US" sz="1400" kern="1200" dirty="0">
                <a:solidFill>
                  <a:schemeClr val="tx1"/>
                </a:solidFill>
                <a:effectLst/>
                <a:latin typeface="+mn-lt"/>
                <a:ea typeface="ＭＳ Ｐゴシック" pitchFamily="-106" charset="-128"/>
                <a:cs typeface="ＭＳ Ｐゴシック" pitchFamily="-106" charset="-128"/>
              </a:rPr>
              <a:t>wearing a faded purple robe</a:t>
            </a:r>
          </a:p>
          <a:p>
            <a:pPr lvl="1"/>
            <a:r>
              <a:rPr lang="en-US" sz="1400" kern="1200" dirty="0">
                <a:solidFill>
                  <a:schemeClr val="tx1"/>
                </a:solidFill>
                <a:effectLst/>
                <a:latin typeface="+mn-lt"/>
                <a:ea typeface="ＭＳ Ｐゴシック" pitchFamily="-106" charset="-128"/>
                <a:cs typeface="ＭＳ Ｐゴシック" pitchFamily="-106" charset="-128"/>
              </a:rPr>
              <a:t> </a:t>
            </a:r>
          </a:p>
          <a:p>
            <a:pPr lvl="1"/>
            <a:r>
              <a:rPr lang="en-US" sz="1400" kern="1200" dirty="0">
                <a:solidFill>
                  <a:schemeClr val="tx1"/>
                </a:solidFill>
                <a:effectLst/>
                <a:latin typeface="+mn-lt"/>
                <a:ea typeface="ＭＳ Ｐゴシック" pitchFamily="-106" charset="-128"/>
                <a:cs typeface="ＭＳ Ｐゴシック" pitchFamily="-106" charset="-128"/>
              </a:rPr>
              <a:t>The crowd below is chaotic and aggressive.</a:t>
            </a:r>
          </a:p>
          <a:p>
            <a:pPr lvl="1"/>
            <a:r>
              <a:rPr lang="en-US" sz="1400" kern="1200" dirty="0">
                <a:solidFill>
                  <a:schemeClr val="tx1"/>
                </a:solidFill>
                <a:effectLst/>
                <a:latin typeface="+mn-lt"/>
                <a:ea typeface="ＭＳ Ｐゴシック" pitchFamily="-106" charset="-128"/>
                <a:cs typeface="ＭＳ Ｐゴシック" pitchFamily="-106" charset="-128"/>
              </a:rPr>
              <a:t>Roman authority stands firm and detached.</a:t>
            </a:r>
          </a:p>
          <a:p>
            <a:pPr lvl="1"/>
            <a:r>
              <a:rPr lang="en-US" sz="1400" kern="1200" dirty="0">
                <a:solidFill>
                  <a:schemeClr val="tx1"/>
                </a:solidFill>
                <a:effectLst/>
                <a:latin typeface="+mn-lt"/>
                <a:ea typeface="ＭＳ Ｐゴシック" pitchFamily="-106" charset="-128"/>
                <a:cs typeface="ＭＳ Ｐゴシック" pitchFamily="-106" charset="-128"/>
              </a:rPr>
              <a:t> </a:t>
            </a:r>
          </a:p>
          <a:p>
            <a:pPr lvl="1"/>
            <a:r>
              <a:rPr lang="en-US" sz="1400" kern="1200" dirty="0">
                <a:solidFill>
                  <a:schemeClr val="tx1"/>
                </a:solidFill>
                <a:effectLst/>
                <a:latin typeface="+mn-lt"/>
                <a:ea typeface="ＭＳ Ｐゴシック" pitchFamily="-106" charset="-128"/>
                <a:cs typeface="ＭＳ Ｐゴシック" pitchFamily="-106" charset="-128"/>
              </a:rPr>
              <a:t>This visual tension is intentional.</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Biblical Context</a:t>
            </a:r>
            <a:endParaRPr lang="en-US" sz="1400" kern="1200" dirty="0">
              <a:solidFill>
                <a:schemeClr val="tx1"/>
              </a:solidFill>
              <a:effectLst/>
              <a:latin typeface="+mn-lt"/>
              <a:ea typeface="ＭＳ Ｐゴシック" pitchFamily="-106" charset="-128"/>
              <a:cs typeface="ＭＳ Ｐゴシック" pitchFamily="-106" charset="-128"/>
            </a:endParaRPr>
          </a:p>
          <a:p>
            <a:pPr lvl="1"/>
            <a:r>
              <a:rPr lang="en-US" sz="1400" b="1" kern="1200" dirty="0">
                <a:solidFill>
                  <a:schemeClr val="tx1"/>
                </a:solidFill>
                <a:effectLst/>
                <a:latin typeface="+mn-lt"/>
                <a:ea typeface="ＭＳ Ｐゴシック" pitchFamily="-106" charset="-128"/>
                <a:cs typeface="ＭＳ Ｐゴシック" pitchFamily="-106" charset="-128"/>
              </a:rPr>
              <a:t>John 19:4–6 </a:t>
            </a:r>
            <a:r>
              <a:rPr lang="en-US" sz="1400" b="1" i="0" kern="1200" dirty="0">
                <a:solidFill>
                  <a:schemeClr val="tx1"/>
                </a:solidFill>
                <a:effectLst/>
                <a:latin typeface="+mn-lt"/>
                <a:ea typeface="ＭＳ Ｐゴシック" pitchFamily="-106" charset="-128"/>
                <a:cs typeface="ＭＳ Ｐゴシック" pitchFamily="-106" charset="-128"/>
              </a:rPr>
              <a:t>: </a:t>
            </a:r>
            <a:r>
              <a:rPr lang="en-US" sz="1400" i="1" kern="1200" dirty="0">
                <a:solidFill>
                  <a:schemeClr val="tx1"/>
                </a:solidFill>
                <a:effectLst/>
                <a:latin typeface="+mn-lt"/>
                <a:ea typeface="ＭＳ Ｐゴシック" pitchFamily="-106" charset="-128"/>
                <a:cs typeface="ＭＳ Ｐゴシック" pitchFamily="-106" charset="-128"/>
              </a:rPr>
              <a:t>“Then Pilate went outside again and said to them, ‘Look, I am bringing him out to you, so that you may know that I find no reason for an accusation against him.’</a:t>
            </a:r>
          </a:p>
          <a:p>
            <a:pPr lvl="1"/>
            <a:r>
              <a:rPr lang="en-US" sz="1400" i="1" kern="1200" dirty="0">
                <a:solidFill>
                  <a:schemeClr val="tx1"/>
                </a:solidFill>
                <a:effectLst/>
                <a:latin typeface="+mn-lt"/>
                <a:ea typeface="ＭＳ Ｐゴシック" pitchFamily="-106" charset="-128"/>
                <a:cs typeface="ＭＳ Ｐゴシック" pitchFamily="-106" charset="-128"/>
              </a:rPr>
              <a:t>So Jesus came out… When the chief priests and their officers saw him, they shouted out, ‘Crucify! Crucify!’”</a:t>
            </a:r>
          </a:p>
          <a:p>
            <a:pPr lvl="1"/>
            <a:r>
              <a:rPr lang="en-US" sz="1400" kern="1200" dirty="0">
                <a:solidFill>
                  <a:schemeClr val="tx1"/>
                </a:solidFill>
                <a:effectLst/>
                <a:latin typeface="+mn-lt"/>
                <a:ea typeface="ＭＳ Ｐゴシック" pitchFamily="-106" charset="-128"/>
                <a:cs typeface="ＭＳ Ｐゴシック" pitchFamily="-106" charset="-128"/>
              </a:rPr>
              <a:t> </a:t>
            </a:r>
          </a:p>
          <a:p>
            <a:pPr lvl="1"/>
            <a:r>
              <a:rPr lang="en-US" sz="1400" kern="1200" dirty="0" err="1">
                <a:solidFill>
                  <a:schemeClr val="tx1"/>
                </a:solidFill>
                <a:effectLst/>
                <a:latin typeface="+mn-lt"/>
                <a:ea typeface="ＭＳ Ｐゴシック" pitchFamily="-106" charset="-128"/>
                <a:cs typeface="ＭＳ Ｐゴシック" pitchFamily="-106" charset="-128"/>
              </a:rPr>
              <a:t>Ciseri</a:t>
            </a:r>
            <a:r>
              <a:rPr lang="en-US" sz="1400" kern="1200" dirty="0">
                <a:solidFill>
                  <a:schemeClr val="tx1"/>
                </a:solidFill>
                <a:effectLst/>
                <a:latin typeface="+mn-lt"/>
                <a:ea typeface="ＭＳ Ｐゴシック" pitchFamily="-106" charset="-128"/>
                <a:cs typeface="ＭＳ Ｐゴシック" pitchFamily="-106" charset="-128"/>
              </a:rPr>
              <a:t> paints the moment where:</a:t>
            </a:r>
          </a:p>
          <a:p>
            <a:pPr lvl="2" rtl="0" fontAlgn="ctr"/>
            <a:r>
              <a:rPr lang="en-US" sz="1400" kern="1200" dirty="0">
                <a:solidFill>
                  <a:schemeClr val="tx1"/>
                </a:solidFill>
                <a:effectLst/>
                <a:latin typeface="+mn-lt"/>
                <a:ea typeface="ＭＳ Ｐゴシック" pitchFamily="-106" charset="-128"/>
                <a:cs typeface="ＭＳ Ｐゴシック" pitchFamily="-106" charset="-128"/>
              </a:rPr>
              <a:t>innocence stands exposed</a:t>
            </a:r>
          </a:p>
          <a:p>
            <a:pPr lvl="2" rtl="0" fontAlgn="ctr"/>
            <a:r>
              <a:rPr lang="en-US" sz="1400" kern="1200" dirty="0">
                <a:solidFill>
                  <a:schemeClr val="tx1"/>
                </a:solidFill>
                <a:effectLst/>
                <a:latin typeface="+mn-lt"/>
                <a:ea typeface="ＭＳ Ｐゴシック" pitchFamily="-106" charset="-128"/>
                <a:cs typeface="ＭＳ Ｐゴシック" pitchFamily="-106" charset="-128"/>
              </a:rPr>
              <a:t>power avoids responsibility</a:t>
            </a:r>
          </a:p>
          <a:p>
            <a:pPr lvl="2" rtl="0" fontAlgn="ctr"/>
            <a:r>
              <a:rPr lang="en-US" sz="1400" kern="1200" dirty="0">
                <a:solidFill>
                  <a:schemeClr val="tx1"/>
                </a:solidFill>
                <a:effectLst/>
                <a:latin typeface="+mn-lt"/>
                <a:ea typeface="ＭＳ Ｐゴシック" pitchFamily="-106" charset="-128"/>
                <a:cs typeface="ＭＳ Ｐゴシック" pitchFamily="-106" charset="-128"/>
              </a:rPr>
              <a:t>the crowd demands judgment</a:t>
            </a:r>
          </a:p>
          <a:p>
            <a:pPr lvl="1"/>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Theological Emphasis</a:t>
            </a:r>
            <a:endParaRPr lang="en-US" sz="1400" kern="1200" dirty="0">
              <a:solidFill>
                <a:schemeClr val="tx1"/>
              </a:solidFill>
              <a:effectLst/>
              <a:latin typeface="+mn-lt"/>
              <a:ea typeface="ＭＳ Ｐゴシック" pitchFamily="-106" charset="-128"/>
              <a:cs typeface="ＭＳ Ｐゴシック" pitchFamily="-106" charset="-128"/>
            </a:endParaRPr>
          </a:p>
          <a:p>
            <a:pPr lvl="1"/>
            <a:r>
              <a:rPr lang="en-US" sz="1400" kern="1200" dirty="0">
                <a:solidFill>
                  <a:schemeClr val="tx1"/>
                </a:solidFill>
                <a:effectLst/>
                <a:latin typeface="+mn-lt"/>
                <a:ea typeface="ＭＳ Ｐゴシック" pitchFamily="-106" charset="-128"/>
                <a:cs typeface="ＭＳ Ｐゴシック" pitchFamily="-106" charset="-128"/>
              </a:rPr>
              <a:t>This is not a sentimental Christ.</a:t>
            </a:r>
          </a:p>
          <a:p>
            <a:pPr lvl="1"/>
            <a:r>
              <a:rPr lang="en-US" sz="1400" kern="1200" dirty="0">
                <a:solidFill>
                  <a:schemeClr val="tx1"/>
                </a:solidFill>
                <a:effectLst/>
                <a:latin typeface="+mn-lt"/>
                <a:ea typeface="ＭＳ Ｐゴシック" pitchFamily="-106" charset="-128"/>
                <a:cs typeface="ＭＳ Ｐゴシック" pitchFamily="-106" charset="-128"/>
              </a:rPr>
              <a:t> </a:t>
            </a:r>
          </a:p>
          <a:p>
            <a:pPr lvl="1"/>
            <a:r>
              <a:rPr lang="en-US" sz="1400" kern="1200" dirty="0">
                <a:solidFill>
                  <a:schemeClr val="tx1"/>
                </a:solidFill>
                <a:effectLst/>
                <a:latin typeface="+mn-lt"/>
                <a:ea typeface="ＭＳ Ｐゴシック" pitchFamily="-106" charset="-128"/>
                <a:cs typeface="ＭＳ Ｐゴシック" pitchFamily="-106" charset="-128"/>
              </a:rPr>
              <a:t>Jesus is:</a:t>
            </a:r>
          </a:p>
          <a:p>
            <a:pPr lvl="2" rtl="0" fontAlgn="ctr"/>
            <a:r>
              <a:rPr lang="en-US" sz="1400" kern="1200" dirty="0">
                <a:solidFill>
                  <a:schemeClr val="tx1"/>
                </a:solidFill>
                <a:effectLst/>
                <a:latin typeface="+mn-lt"/>
                <a:ea typeface="ＭＳ Ｐゴシック" pitchFamily="-106" charset="-128"/>
                <a:cs typeface="ＭＳ Ｐゴシック" pitchFamily="-106" charset="-128"/>
              </a:rPr>
              <a:t>humiliated</a:t>
            </a:r>
          </a:p>
          <a:p>
            <a:pPr lvl="2" rtl="0" fontAlgn="ctr"/>
            <a:r>
              <a:rPr lang="en-US" sz="1400" kern="1200" dirty="0">
                <a:solidFill>
                  <a:schemeClr val="tx1"/>
                </a:solidFill>
                <a:effectLst/>
                <a:latin typeface="+mn-lt"/>
                <a:ea typeface="ＭＳ Ｐゴシック" pitchFamily="-106" charset="-128"/>
                <a:cs typeface="ＭＳ Ｐゴシック" pitchFamily="-106" charset="-128"/>
              </a:rPr>
              <a:t>restrained</a:t>
            </a:r>
          </a:p>
          <a:p>
            <a:pPr lvl="2" rtl="0" fontAlgn="ctr"/>
            <a:r>
              <a:rPr lang="en-US" sz="1400" kern="1200" dirty="0">
                <a:solidFill>
                  <a:schemeClr val="tx1"/>
                </a:solidFill>
                <a:effectLst/>
                <a:latin typeface="+mn-lt"/>
                <a:ea typeface="ＭＳ Ｐゴシック" pitchFamily="-106" charset="-128"/>
                <a:cs typeface="ＭＳ Ｐゴシック" pitchFamily="-106" charset="-128"/>
              </a:rPr>
              <a:t>visibly human</a:t>
            </a:r>
          </a:p>
          <a:p>
            <a:pPr lvl="1"/>
            <a:r>
              <a:rPr lang="en-US" sz="1400" kern="1200" dirty="0">
                <a:solidFill>
                  <a:schemeClr val="tx1"/>
                </a:solidFill>
                <a:effectLst/>
                <a:latin typeface="+mn-lt"/>
                <a:ea typeface="ＭＳ Ｐゴシック" pitchFamily="-106" charset="-128"/>
                <a:cs typeface="ＭＳ Ｐゴシック" pitchFamily="-106" charset="-128"/>
              </a:rPr>
              <a:t> </a:t>
            </a:r>
          </a:p>
          <a:p>
            <a:pPr lvl="1"/>
            <a:r>
              <a:rPr lang="en-US" sz="1400" kern="1200" dirty="0">
                <a:solidFill>
                  <a:schemeClr val="tx1"/>
                </a:solidFill>
                <a:effectLst/>
                <a:latin typeface="+mn-lt"/>
                <a:ea typeface="ＭＳ Ｐゴシック" pitchFamily="-106" charset="-128"/>
                <a:cs typeface="ＭＳ Ｐゴシック" pitchFamily="-106" charset="-128"/>
              </a:rPr>
              <a:t>Yet He stands above the crowd, literally and morally.</a:t>
            </a:r>
          </a:p>
          <a:p>
            <a:pPr lvl="1"/>
            <a:r>
              <a:rPr lang="en-US" sz="1400" kern="1200" dirty="0">
                <a:solidFill>
                  <a:schemeClr val="tx1"/>
                </a:solidFill>
                <a:effectLst/>
                <a:latin typeface="+mn-lt"/>
                <a:ea typeface="ＭＳ Ｐゴシック" pitchFamily="-106" charset="-128"/>
                <a:cs typeface="ＭＳ Ｐゴシック" pitchFamily="-106" charset="-128"/>
              </a:rPr>
              <a:t> </a:t>
            </a:r>
          </a:p>
          <a:p>
            <a:pPr lvl="1"/>
            <a:r>
              <a:rPr lang="en-US" sz="1400" kern="1200" dirty="0">
                <a:solidFill>
                  <a:schemeClr val="tx1"/>
                </a:solidFill>
                <a:effectLst/>
                <a:latin typeface="+mn-lt"/>
                <a:ea typeface="ＭＳ Ｐゴシック" pitchFamily="-106" charset="-128"/>
                <a:cs typeface="ＭＳ Ｐゴシック" pitchFamily="-106" charset="-128"/>
              </a:rPr>
              <a:t>This reflects </a:t>
            </a:r>
            <a:r>
              <a:rPr lang="en-US" sz="1400" b="1" kern="1200" dirty="0">
                <a:solidFill>
                  <a:schemeClr val="tx1"/>
                </a:solidFill>
                <a:effectLst/>
                <a:latin typeface="+mn-lt"/>
                <a:ea typeface="ＭＳ Ｐゴシック" pitchFamily="-106" charset="-128"/>
                <a:cs typeface="ＭＳ Ｐゴシック" pitchFamily="-106" charset="-128"/>
              </a:rPr>
              <a:t>Isaiah 53:7</a:t>
            </a:r>
            <a:r>
              <a:rPr lang="en-US" sz="1400" kern="1200" dirty="0">
                <a:solidFill>
                  <a:schemeClr val="tx1"/>
                </a:solidFill>
                <a:effectLst/>
                <a:latin typeface="+mn-lt"/>
                <a:ea typeface="ＭＳ Ｐゴシック" pitchFamily="-106" charset="-128"/>
                <a:cs typeface="ＭＳ Ｐゴシック" pitchFamily="-106" charset="-128"/>
              </a:rPr>
              <a:t>:  </a:t>
            </a:r>
            <a:r>
              <a:rPr lang="en-US" sz="1400" i="1" kern="1200" dirty="0">
                <a:solidFill>
                  <a:schemeClr val="tx1"/>
                </a:solidFill>
                <a:effectLst/>
                <a:latin typeface="+mn-lt"/>
                <a:ea typeface="ＭＳ Ｐゴシック" pitchFamily="-106" charset="-128"/>
                <a:cs typeface="ＭＳ Ｐゴシック" pitchFamily="-106" charset="-128"/>
              </a:rPr>
              <a:t>“He was oppressed and afflicted, yet he did not open his mouth.”</a:t>
            </a:r>
          </a:p>
          <a:p>
            <a:pPr lvl="1"/>
            <a:r>
              <a:rPr lang="en-US" sz="1400" kern="1200" dirty="0">
                <a:solidFill>
                  <a:schemeClr val="tx1"/>
                </a:solidFill>
                <a:effectLst/>
                <a:latin typeface="+mn-lt"/>
                <a:ea typeface="ＭＳ Ｐゴシック" pitchFamily="-106" charset="-128"/>
                <a:cs typeface="ＭＳ Ｐゴシック" pitchFamily="-106" charset="-128"/>
              </a:rPr>
              <a:t> </a:t>
            </a:r>
          </a:p>
          <a:p>
            <a:pPr lvl="1"/>
            <a:r>
              <a:rPr lang="en-US" sz="1400" kern="1200" dirty="0" err="1">
                <a:solidFill>
                  <a:schemeClr val="tx1"/>
                </a:solidFill>
                <a:effectLst/>
                <a:latin typeface="+mn-lt"/>
                <a:ea typeface="ＭＳ Ｐゴシック" pitchFamily="-106" charset="-128"/>
                <a:cs typeface="ＭＳ Ｐゴシック" pitchFamily="-106" charset="-128"/>
              </a:rPr>
              <a:t>Ciseri</a:t>
            </a:r>
            <a:r>
              <a:rPr lang="en-US" sz="1400" kern="1200" dirty="0">
                <a:solidFill>
                  <a:schemeClr val="tx1"/>
                </a:solidFill>
                <a:effectLst/>
                <a:latin typeface="+mn-lt"/>
                <a:ea typeface="ＭＳ Ｐゴシック" pitchFamily="-106" charset="-128"/>
                <a:cs typeface="ＭＳ Ｐゴシック" pitchFamily="-106" charset="-128"/>
              </a:rPr>
              <a:t> emphasizes:</a:t>
            </a:r>
          </a:p>
          <a:p>
            <a:pPr lvl="2" rtl="0" fontAlgn="ctr"/>
            <a:r>
              <a:rPr lang="en-US" sz="1400" kern="1200" dirty="0">
                <a:solidFill>
                  <a:schemeClr val="tx1"/>
                </a:solidFill>
                <a:effectLst/>
                <a:latin typeface="+mn-lt"/>
                <a:ea typeface="ＭＳ Ｐゴシック" pitchFamily="-106" charset="-128"/>
                <a:cs typeface="ＭＳ Ｐゴシック" pitchFamily="-106" charset="-128"/>
              </a:rPr>
              <a:t>moral contrast, not drama</a:t>
            </a:r>
          </a:p>
          <a:p>
            <a:pPr lvl="2" rtl="0" fontAlgn="ctr"/>
            <a:r>
              <a:rPr lang="en-US" sz="1400" kern="1200" dirty="0">
                <a:solidFill>
                  <a:schemeClr val="tx1"/>
                </a:solidFill>
                <a:effectLst/>
                <a:latin typeface="+mn-lt"/>
                <a:ea typeface="ＭＳ Ｐゴシック" pitchFamily="-106" charset="-128"/>
                <a:cs typeface="ＭＳ Ｐゴシック" pitchFamily="-106" charset="-128"/>
              </a:rPr>
              <a:t>silence over spectacle</a:t>
            </a:r>
          </a:p>
          <a:p>
            <a:pPr lvl="2" rtl="0" fontAlgn="ctr"/>
            <a:r>
              <a:rPr lang="en-US" sz="1400" kern="1200" dirty="0">
                <a:solidFill>
                  <a:schemeClr val="tx1"/>
                </a:solidFill>
                <a:effectLst/>
                <a:latin typeface="+mn-lt"/>
                <a:ea typeface="ＭＳ Ｐゴシック" pitchFamily="-106" charset="-128"/>
                <a:cs typeface="ＭＳ Ｐゴシック" pitchFamily="-106" charset="-128"/>
              </a:rPr>
              <a:t>righteousness without defense</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Connection to this Study Theme</a:t>
            </a:r>
            <a:endParaRPr lang="en-US" sz="1400" kern="1200" dirty="0">
              <a:solidFill>
                <a:schemeClr val="tx1"/>
              </a:solidFill>
              <a:effectLst/>
              <a:latin typeface="+mn-lt"/>
              <a:ea typeface="ＭＳ Ｐゴシック" pitchFamily="-106" charset="-128"/>
              <a:cs typeface="ＭＳ Ｐゴシック" pitchFamily="-106" charset="-128"/>
            </a:endParaRPr>
          </a:p>
          <a:p>
            <a:pPr lvl="1"/>
            <a:r>
              <a:rPr lang="en-US" sz="1400" kern="1200" dirty="0">
                <a:solidFill>
                  <a:schemeClr val="tx1"/>
                </a:solidFill>
                <a:effectLst/>
                <a:latin typeface="+mn-lt"/>
                <a:ea typeface="ＭＳ Ｐゴシック" pitchFamily="-106" charset="-128"/>
                <a:cs typeface="ＭＳ Ｐゴシック" pitchFamily="-106" charset="-128"/>
              </a:rPr>
              <a:t>This image visually captures:</a:t>
            </a:r>
          </a:p>
          <a:p>
            <a:pPr lvl="2" rtl="0" fontAlgn="ctr"/>
            <a:r>
              <a:rPr lang="en-US" sz="1400" b="1" kern="1200" dirty="0">
                <a:solidFill>
                  <a:schemeClr val="tx1"/>
                </a:solidFill>
                <a:effectLst/>
                <a:latin typeface="+mn-lt"/>
                <a:ea typeface="ＭＳ Ｐゴシック" pitchFamily="-106" charset="-128"/>
                <a:cs typeface="ＭＳ Ｐゴシック" pitchFamily="-106" charset="-128"/>
              </a:rPr>
              <a:t>the righteousness of God</a:t>
            </a:r>
            <a:r>
              <a:rPr lang="en-US" sz="1400" kern="1200" dirty="0">
                <a:solidFill>
                  <a:schemeClr val="tx1"/>
                </a:solidFill>
                <a:effectLst/>
                <a:latin typeface="+mn-lt"/>
                <a:ea typeface="ＭＳ Ｐゴシック" pitchFamily="-106" charset="-128"/>
                <a:cs typeface="ＭＳ Ｐゴシック" pitchFamily="-106" charset="-128"/>
              </a:rPr>
              <a:t> standing silent</a:t>
            </a:r>
          </a:p>
          <a:p>
            <a:pPr lvl="2" rtl="0" fontAlgn="ctr"/>
            <a:r>
              <a:rPr lang="en-US" sz="1400" b="1" kern="1200" dirty="0">
                <a:solidFill>
                  <a:schemeClr val="tx1"/>
                </a:solidFill>
                <a:effectLst/>
                <a:latin typeface="+mn-lt"/>
                <a:ea typeface="ＭＳ Ｐゴシック" pitchFamily="-106" charset="-128"/>
                <a:cs typeface="ＭＳ Ｐゴシック" pitchFamily="-106" charset="-128"/>
              </a:rPr>
              <a:t>the righteousness of man</a:t>
            </a:r>
            <a:r>
              <a:rPr lang="en-US" sz="1400" kern="1200" dirty="0">
                <a:solidFill>
                  <a:schemeClr val="tx1"/>
                </a:solidFill>
                <a:effectLst/>
                <a:latin typeface="+mn-lt"/>
                <a:ea typeface="ＭＳ Ｐゴシック" pitchFamily="-106" charset="-128"/>
                <a:cs typeface="ＭＳ Ｐゴシック" pitchFamily="-106" charset="-128"/>
              </a:rPr>
              <a:t> expressed through law, crowd pressure, and political calculation</a:t>
            </a:r>
          </a:p>
          <a:p>
            <a:pPr lvl="1"/>
            <a:r>
              <a:rPr lang="en-US" sz="1400" kern="1200" dirty="0">
                <a:solidFill>
                  <a:schemeClr val="tx1"/>
                </a:solidFill>
                <a:effectLst/>
                <a:latin typeface="+mn-lt"/>
                <a:ea typeface="ＭＳ Ｐゴシック" pitchFamily="-106" charset="-128"/>
                <a:cs typeface="ＭＳ Ｐゴシック" pitchFamily="-106" charset="-128"/>
              </a:rPr>
              <a:t> </a:t>
            </a:r>
          </a:p>
          <a:p>
            <a:pPr lvl="1"/>
            <a:r>
              <a:rPr lang="en-US" sz="1400" kern="1200" dirty="0">
                <a:solidFill>
                  <a:schemeClr val="tx1"/>
                </a:solidFill>
                <a:effectLst/>
                <a:latin typeface="+mn-lt"/>
                <a:ea typeface="ＭＳ Ｐゴシック" pitchFamily="-106" charset="-128"/>
                <a:cs typeface="ＭＳ Ｐゴシック" pitchFamily="-106" charset="-128"/>
              </a:rPr>
              <a:t>Pilate represents system-driven order.</a:t>
            </a:r>
          </a:p>
          <a:p>
            <a:pPr lvl="1"/>
            <a:r>
              <a:rPr lang="en-US" sz="1400" kern="1200" dirty="0">
                <a:solidFill>
                  <a:schemeClr val="tx1"/>
                </a:solidFill>
                <a:effectLst/>
                <a:latin typeface="+mn-lt"/>
                <a:ea typeface="ＭＳ Ｐゴシック" pitchFamily="-106" charset="-128"/>
                <a:cs typeface="ＭＳ Ｐゴシック" pitchFamily="-106" charset="-128"/>
              </a:rPr>
              <a:t>The crowd represents fear-driven morality.</a:t>
            </a:r>
          </a:p>
          <a:p>
            <a:pPr lvl="1"/>
            <a:r>
              <a:rPr lang="en-US" sz="1400" kern="1200" dirty="0">
                <a:solidFill>
                  <a:schemeClr val="tx1"/>
                </a:solidFill>
                <a:effectLst/>
                <a:latin typeface="+mn-lt"/>
                <a:ea typeface="ＭＳ Ｐゴシック" pitchFamily="-106" charset="-128"/>
                <a:cs typeface="ＭＳ Ｐゴシック" pitchFamily="-106" charset="-128"/>
              </a:rPr>
              <a:t>Jesus represents God’s righteousness without control.</a:t>
            </a:r>
          </a:p>
          <a:p>
            <a:pPr lvl="1"/>
            <a:r>
              <a:rPr lang="en-US" sz="1400" kern="1200" dirty="0">
                <a:solidFill>
                  <a:schemeClr val="tx1"/>
                </a:solidFill>
                <a:effectLst/>
                <a:latin typeface="+mn-lt"/>
                <a:ea typeface="ＭＳ Ｐゴシック" pitchFamily="-106" charset="-128"/>
                <a:cs typeface="ＭＳ Ｐゴシック" pitchFamily="-106" charset="-128"/>
              </a:rPr>
              <a:t> </a:t>
            </a:r>
          </a:p>
          <a:p>
            <a:pPr lvl="1"/>
            <a:r>
              <a:rPr lang="en-US" sz="1400" b="1" kern="1200" dirty="0">
                <a:solidFill>
                  <a:schemeClr val="tx1"/>
                </a:solidFill>
                <a:effectLst/>
                <a:latin typeface="+mn-lt"/>
                <a:ea typeface="ＭＳ Ｐゴシック" pitchFamily="-106" charset="-128"/>
                <a:cs typeface="ＭＳ Ｐゴシック" pitchFamily="-106" charset="-128"/>
              </a:rPr>
              <a:t>John 18:36</a:t>
            </a:r>
            <a:r>
              <a:rPr lang="en-US" sz="1400" b="0" i="0" kern="1200" dirty="0">
                <a:solidFill>
                  <a:schemeClr val="tx1"/>
                </a:solidFill>
                <a:effectLst/>
                <a:latin typeface="+mn-lt"/>
                <a:ea typeface="ＭＳ Ｐゴシック" pitchFamily="-106" charset="-128"/>
                <a:cs typeface="ＭＳ Ｐゴシック" pitchFamily="-106" charset="-128"/>
              </a:rPr>
              <a:t> : </a:t>
            </a:r>
            <a:r>
              <a:rPr lang="en-US" sz="1400" b="1" i="1" kern="1200" dirty="0">
                <a:solidFill>
                  <a:schemeClr val="tx1"/>
                </a:solidFill>
                <a:effectLst/>
                <a:latin typeface="+mn-lt"/>
                <a:ea typeface="ＭＳ Ｐゴシック" pitchFamily="-106" charset="-128"/>
                <a:cs typeface="ＭＳ Ｐゴシック" pitchFamily="-106" charset="-128"/>
              </a:rPr>
              <a:t>“My kingdom is not from this world.”</a:t>
            </a:r>
          </a:p>
          <a:p>
            <a:pPr lvl="1"/>
            <a:r>
              <a:rPr lang="en-US" sz="1400" kern="1200" dirty="0">
                <a:solidFill>
                  <a:schemeClr val="tx1"/>
                </a:solidFill>
                <a:effectLst/>
                <a:latin typeface="+mn-lt"/>
                <a:ea typeface="ＭＳ Ｐゴシック" pitchFamily="-106" charset="-128"/>
                <a:cs typeface="ＭＳ Ｐゴシック" pitchFamily="-106" charset="-128"/>
              </a:rPr>
              <a:t> </a:t>
            </a:r>
          </a:p>
          <a:p>
            <a:pPr lvl="1"/>
            <a:r>
              <a:rPr lang="en-US" sz="1400" kern="1200" dirty="0">
                <a:solidFill>
                  <a:schemeClr val="tx1"/>
                </a:solidFill>
                <a:effectLst/>
                <a:latin typeface="+mn-lt"/>
                <a:ea typeface="ＭＳ Ｐゴシック" pitchFamily="-106" charset="-128"/>
                <a:cs typeface="ＭＳ Ｐゴシック" pitchFamily="-106" charset="-128"/>
              </a:rPr>
              <a:t>That contrast is the heart of the painting.</a:t>
            </a:r>
          </a:p>
          <a:p>
            <a:pPr lvl="1"/>
            <a:endParaRPr lang="en-US" dirty="0"/>
          </a:p>
          <a:p>
            <a:endParaRPr lang="en-US" dirty="0"/>
          </a:p>
        </p:txBody>
      </p:sp>
      <p:sp>
        <p:nvSpPr>
          <p:cNvPr id="4" name="Slide Number Placeholder 3">
            <a:extLst>
              <a:ext uri="{FF2B5EF4-FFF2-40B4-BE49-F238E27FC236}">
                <a16:creationId xmlns:a16="http://schemas.microsoft.com/office/drawing/2014/main" id="{A9FAE30B-6432-D2BA-5253-541D17AB6D3C}"/>
              </a:ext>
            </a:extLst>
          </p:cNvPr>
          <p:cNvSpPr>
            <a:spLocks noGrp="1"/>
          </p:cNvSpPr>
          <p:nvPr>
            <p:ph type="sldNum" sz="quarter" idx="10"/>
          </p:nvPr>
        </p:nvSpPr>
        <p:spPr/>
        <p:txBody>
          <a:bodyPr/>
          <a:lstStyle/>
          <a:p>
            <a:pPr>
              <a:defRPr/>
            </a:pPr>
            <a:fld id="{07776858-791E-4C8D-8FA3-473B3AFECFAC}" type="slidenum">
              <a:rPr lang="en-US" smtClean="0"/>
              <a:pPr>
                <a:defRPr/>
              </a:pPr>
              <a:t>12</a:t>
            </a:fld>
            <a:endParaRPr lang="en-US" dirty="0"/>
          </a:p>
        </p:txBody>
      </p:sp>
    </p:spTree>
    <p:extLst>
      <p:ext uri="{BB962C8B-B14F-4D97-AF65-F5344CB8AC3E}">
        <p14:creationId xmlns:p14="http://schemas.microsoft.com/office/powerpoint/2010/main" val="417873765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A36359-B1CE-CCED-AEFD-E625506BEC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6C9985-C34E-B2B2-72D6-C7F15C987C1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67EB9EE-015F-B3B2-B054-9F315281B6D4}"/>
              </a:ext>
            </a:extLst>
          </p:cNvPr>
          <p:cNvSpPr>
            <a:spLocks noGrp="1"/>
          </p:cNvSpPr>
          <p:nvPr>
            <p:ph type="body" idx="1"/>
          </p:nvPr>
        </p:nvSpPr>
        <p:spPr/>
        <p:txBody>
          <a:bodyPr>
            <a:normAutofit fontScale="25000" lnSpcReduction="20000"/>
          </a:bodyPr>
          <a:lstStyle/>
          <a:p>
            <a:endParaRPr lang="en-US" sz="1400" dirty="0"/>
          </a:p>
          <a:p>
            <a:r>
              <a:rPr lang="en-US" sz="1400" b="1" kern="1200" dirty="0">
                <a:solidFill>
                  <a:schemeClr val="tx1"/>
                </a:solidFill>
                <a:effectLst/>
                <a:latin typeface="+mn-lt"/>
                <a:ea typeface="ＭＳ Ｐゴシック" pitchFamily="-106" charset="-128"/>
                <a:cs typeface="ＭＳ Ｐゴシック" pitchFamily="-106" charset="-128"/>
              </a:rPr>
              <a:t>1. Pharisaic Righteousness: Managing Uncertainty With Religious Systems</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Pharisaic righteousness did not start with rebellion.</a:t>
            </a:r>
          </a:p>
          <a:p>
            <a:r>
              <a:rPr lang="en-US" sz="1400" kern="1200" dirty="0">
                <a:solidFill>
                  <a:schemeClr val="tx1"/>
                </a:solidFill>
                <a:effectLst/>
                <a:latin typeface="+mn-lt"/>
                <a:ea typeface="ＭＳ Ｐゴシック" pitchFamily="-106" charset="-128"/>
                <a:cs typeface="ＭＳ Ｐゴシック" pitchFamily="-106" charset="-128"/>
              </a:rPr>
              <a:t>It started with fear.</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Israel feared losing identity, purity, and God’s favor.</a:t>
            </a:r>
          </a:p>
          <a:p>
            <a:r>
              <a:rPr lang="en-US" sz="1400" kern="1200" dirty="0">
                <a:solidFill>
                  <a:schemeClr val="tx1"/>
                </a:solidFill>
                <a:effectLst/>
                <a:latin typeface="+mn-lt"/>
                <a:ea typeface="ＭＳ Ｐゴシック" pitchFamily="-106" charset="-128"/>
                <a:cs typeface="ＭＳ Ｐゴシック" pitchFamily="-106" charset="-128"/>
              </a:rPr>
              <a:t>So they built layers of rules to protect themselves.</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Jesus exposes this.</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Matthew 23:23</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“You give a tenth of mint, dill, and cumin, yet you neglect what is more important in the law—justice, mercy, and faithfulness.”</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The Pharisees were not rejecting righteousness.</a:t>
            </a:r>
          </a:p>
          <a:p>
            <a:r>
              <a:rPr lang="en-US" sz="1400" kern="1200" dirty="0">
                <a:solidFill>
                  <a:schemeClr val="tx1"/>
                </a:solidFill>
                <a:effectLst/>
                <a:latin typeface="+mn-lt"/>
                <a:ea typeface="ＭＳ Ｐゴシック" pitchFamily="-106" charset="-128"/>
                <a:cs typeface="ＭＳ Ｐゴシック" pitchFamily="-106" charset="-128"/>
              </a:rPr>
              <a:t>They were trying to control it.</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How uncertainty shaped their system</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pPr rtl="0" fontAlgn="ctr"/>
            <a:r>
              <a:rPr lang="en-US" sz="1400" kern="1200" dirty="0">
                <a:solidFill>
                  <a:schemeClr val="tx1"/>
                </a:solidFill>
                <a:effectLst/>
                <a:latin typeface="+mn-lt"/>
                <a:ea typeface="ＭＳ Ｐゴシック" pitchFamily="-106" charset="-128"/>
                <a:cs typeface="ＭＳ Ｐゴシック" pitchFamily="-106" charset="-128"/>
              </a:rPr>
              <a:t>Fear of disobedience led to rule expansion</a:t>
            </a:r>
          </a:p>
          <a:p>
            <a:pPr rtl="0" fontAlgn="ctr"/>
            <a:r>
              <a:rPr lang="en-US" sz="1400" kern="1200" dirty="0">
                <a:solidFill>
                  <a:schemeClr val="tx1"/>
                </a:solidFill>
                <a:effectLst/>
                <a:latin typeface="+mn-lt"/>
                <a:ea typeface="ＭＳ Ｐゴシック" pitchFamily="-106" charset="-128"/>
                <a:cs typeface="ＭＳ Ｐゴシック" pitchFamily="-106" charset="-128"/>
              </a:rPr>
              <a:t>Fear of impurity led to separation</a:t>
            </a:r>
          </a:p>
          <a:p>
            <a:pPr rtl="0" fontAlgn="ctr"/>
            <a:r>
              <a:rPr lang="en-US" sz="1400" kern="1200" dirty="0">
                <a:solidFill>
                  <a:schemeClr val="tx1"/>
                </a:solidFill>
                <a:effectLst/>
                <a:latin typeface="+mn-lt"/>
                <a:ea typeface="ＭＳ Ｐゴシック" pitchFamily="-106" charset="-128"/>
                <a:cs typeface="ＭＳ Ｐゴシック" pitchFamily="-106" charset="-128"/>
              </a:rPr>
              <a:t>Fear of judgment led to performance-based assurance</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Their system promised certainty:</a:t>
            </a:r>
          </a:p>
          <a:p>
            <a:r>
              <a:rPr lang="en-US" sz="1400" kern="1200" dirty="0">
                <a:solidFill>
                  <a:schemeClr val="tx1"/>
                </a:solidFill>
                <a:effectLst/>
                <a:latin typeface="+mn-lt"/>
                <a:ea typeface="ＭＳ Ｐゴシック" pitchFamily="-106" charset="-128"/>
                <a:cs typeface="ＭＳ Ｐゴシック" pitchFamily="-106" charset="-128"/>
              </a:rPr>
              <a:t> </a:t>
            </a:r>
          </a:p>
          <a:p>
            <a:pPr rtl="0" fontAlgn="ctr"/>
            <a:r>
              <a:rPr lang="en-US" sz="1400" i="1" kern="1200" dirty="0">
                <a:solidFill>
                  <a:schemeClr val="tx1"/>
                </a:solidFill>
                <a:effectLst/>
                <a:latin typeface="+mn-lt"/>
                <a:ea typeface="ＭＳ Ｐゴシック" pitchFamily="-106" charset="-128"/>
                <a:cs typeface="ＭＳ Ｐゴシック" pitchFamily="-106" charset="-128"/>
              </a:rPr>
              <a:t>If I do this, I am righteous.</a:t>
            </a:r>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i="1" kern="1200" dirty="0">
                <a:solidFill>
                  <a:schemeClr val="tx1"/>
                </a:solidFill>
                <a:effectLst/>
                <a:latin typeface="+mn-lt"/>
                <a:ea typeface="ＭＳ Ｐゴシック" pitchFamily="-106" charset="-128"/>
                <a:cs typeface="ＭＳ Ｐゴシック" pitchFamily="-106" charset="-128"/>
              </a:rPr>
              <a:t>If I avoid that, I am safe.</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Jesus shows the flaw.</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Luke 18:9</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“Jesus also told this parable to some who were confident that they were righteous and looked down on everyone else.”</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Confidence replaced trust.</a:t>
            </a:r>
          </a:p>
          <a:p>
            <a:r>
              <a:rPr lang="en-US" sz="1400" kern="1200" dirty="0">
                <a:solidFill>
                  <a:schemeClr val="tx1"/>
                </a:solidFill>
                <a:effectLst/>
                <a:latin typeface="+mn-lt"/>
                <a:ea typeface="ＭＳ Ｐゴシック" pitchFamily="-106" charset="-128"/>
                <a:cs typeface="ＭＳ Ｐゴシック" pitchFamily="-106" charset="-128"/>
              </a:rPr>
              <a:t>Comparison replaced repentance.</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This is the righteousness of man wearing religious clothing.</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2. Modern Church Culture: New Systems, Same Instinct</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The forms change.</a:t>
            </a:r>
          </a:p>
          <a:p>
            <a:r>
              <a:rPr lang="en-US" sz="1400" kern="1200" dirty="0">
                <a:solidFill>
                  <a:schemeClr val="tx1"/>
                </a:solidFill>
                <a:effectLst/>
                <a:latin typeface="+mn-lt"/>
                <a:ea typeface="ＭＳ Ｐゴシック" pitchFamily="-106" charset="-128"/>
                <a:cs typeface="ＭＳ Ｐゴシック" pitchFamily="-106" charset="-128"/>
              </a:rPr>
              <a:t>The instinct stays the same.</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Modern churches often rebuild Pharisaic righteousness without realizing it.</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Common modern versions</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pPr rtl="0" fontAlgn="ctr"/>
            <a:r>
              <a:rPr lang="en-US" sz="1400" kern="1200" dirty="0">
                <a:solidFill>
                  <a:schemeClr val="tx1"/>
                </a:solidFill>
                <a:effectLst/>
                <a:latin typeface="+mn-lt"/>
                <a:ea typeface="ＭＳ Ｐゴシック" pitchFamily="-106" charset="-128"/>
                <a:cs typeface="ＭＳ Ｐゴシック" pitchFamily="-106" charset="-128"/>
              </a:rPr>
              <a:t>Moral performance as spiritual proof</a:t>
            </a:r>
          </a:p>
          <a:p>
            <a:pPr rtl="0" fontAlgn="ctr"/>
            <a:r>
              <a:rPr lang="en-US" sz="1400" kern="1200" dirty="0">
                <a:solidFill>
                  <a:schemeClr val="tx1"/>
                </a:solidFill>
                <a:effectLst/>
                <a:latin typeface="+mn-lt"/>
                <a:ea typeface="ＭＳ Ｐゴシック" pitchFamily="-106" charset="-128"/>
                <a:cs typeface="ＭＳ Ｐゴシック" pitchFamily="-106" charset="-128"/>
              </a:rPr>
              <a:t>Doctrinal precision as righteousness</a:t>
            </a:r>
          </a:p>
          <a:p>
            <a:pPr rtl="0" fontAlgn="ctr"/>
            <a:r>
              <a:rPr lang="en-US" sz="1400" kern="1200" dirty="0">
                <a:solidFill>
                  <a:schemeClr val="tx1"/>
                </a:solidFill>
                <a:effectLst/>
                <a:latin typeface="+mn-lt"/>
                <a:ea typeface="ＭＳ Ｐゴシック" pitchFamily="-106" charset="-128"/>
                <a:cs typeface="ＭＳ Ｐゴシック" pitchFamily="-106" charset="-128"/>
              </a:rPr>
              <a:t>Political alignment as holiness</a:t>
            </a:r>
          </a:p>
          <a:p>
            <a:pPr rtl="0" fontAlgn="ctr"/>
            <a:r>
              <a:rPr lang="en-US" sz="1400" kern="1200" dirty="0">
                <a:solidFill>
                  <a:schemeClr val="tx1"/>
                </a:solidFill>
                <a:effectLst/>
                <a:latin typeface="+mn-lt"/>
                <a:ea typeface="ＭＳ Ｐゴシック" pitchFamily="-106" charset="-128"/>
                <a:cs typeface="ＭＳ Ｐゴシック" pitchFamily="-106" charset="-128"/>
              </a:rPr>
              <a:t>Ministry output as faithfulness</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None of these are evil on their own.</a:t>
            </a:r>
          </a:p>
          <a:p>
            <a:r>
              <a:rPr lang="en-US" sz="1400" kern="1200" dirty="0">
                <a:solidFill>
                  <a:schemeClr val="tx1"/>
                </a:solidFill>
                <a:effectLst/>
                <a:latin typeface="+mn-lt"/>
                <a:ea typeface="ＭＳ Ｐゴシック" pitchFamily="-106" charset="-128"/>
                <a:cs typeface="ＭＳ Ｐゴシック" pitchFamily="-106" charset="-128"/>
              </a:rPr>
              <a:t>They become dangerous when they provide identity and assurance.</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Galatians 3:3</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“After beginning with the Spirit, are you now trying to finish by human effort?”</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Uncertainty drives this.</a:t>
            </a:r>
          </a:p>
          <a:p>
            <a:r>
              <a:rPr lang="en-US" sz="1400" kern="1200" dirty="0">
                <a:solidFill>
                  <a:schemeClr val="tx1"/>
                </a:solidFill>
                <a:effectLst/>
                <a:latin typeface="+mn-lt"/>
                <a:ea typeface="ＭＳ Ｐゴシック" pitchFamily="-106" charset="-128"/>
                <a:cs typeface="ＭＳ Ｐゴシック" pitchFamily="-106" charset="-128"/>
              </a:rPr>
              <a:t> </a:t>
            </a:r>
          </a:p>
          <a:p>
            <a:pPr rtl="0" fontAlgn="ctr"/>
            <a:r>
              <a:rPr lang="en-US" sz="1400" kern="1200" dirty="0">
                <a:solidFill>
                  <a:schemeClr val="tx1"/>
                </a:solidFill>
                <a:effectLst/>
                <a:latin typeface="+mn-lt"/>
                <a:ea typeface="ＭＳ Ｐゴシック" pitchFamily="-106" charset="-128"/>
                <a:cs typeface="ＭＳ Ｐゴシック" pitchFamily="-106" charset="-128"/>
              </a:rPr>
              <a:t>Fear of being wrong</a:t>
            </a:r>
          </a:p>
          <a:p>
            <a:pPr rtl="0" fontAlgn="ctr"/>
            <a:r>
              <a:rPr lang="en-US" sz="1400" kern="1200" dirty="0">
                <a:solidFill>
                  <a:schemeClr val="tx1"/>
                </a:solidFill>
                <a:effectLst/>
                <a:latin typeface="+mn-lt"/>
                <a:ea typeface="ＭＳ Ｐゴシック" pitchFamily="-106" charset="-128"/>
                <a:cs typeface="ＭＳ Ｐゴシック" pitchFamily="-106" charset="-128"/>
              </a:rPr>
              <a:t>Fear of being excluded</a:t>
            </a:r>
          </a:p>
          <a:p>
            <a:pPr rtl="0" fontAlgn="ctr"/>
            <a:r>
              <a:rPr lang="en-US" sz="1400" kern="1200" dirty="0">
                <a:solidFill>
                  <a:schemeClr val="tx1"/>
                </a:solidFill>
                <a:effectLst/>
                <a:latin typeface="+mn-lt"/>
                <a:ea typeface="ＭＳ Ｐゴシック" pitchFamily="-106" charset="-128"/>
                <a:cs typeface="ＭＳ Ｐゴシック" pitchFamily="-106" charset="-128"/>
              </a:rPr>
              <a:t>Fear of losing control</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So systems form:</a:t>
            </a:r>
          </a:p>
          <a:p>
            <a:r>
              <a:rPr lang="en-US" sz="1400" kern="1200" dirty="0">
                <a:solidFill>
                  <a:schemeClr val="tx1"/>
                </a:solidFill>
                <a:effectLst/>
                <a:latin typeface="+mn-lt"/>
                <a:ea typeface="ＭＳ Ｐゴシック" pitchFamily="-106" charset="-128"/>
                <a:cs typeface="ＭＳ Ｐゴシック" pitchFamily="-106" charset="-128"/>
              </a:rPr>
              <a:t> </a:t>
            </a:r>
          </a:p>
          <a:p>
            <a:pPr rtl="0" fontAlgn="ctr"/>
            <a:r>
              <a:rPr lang="en-US" sz="1400" kern="1200" dirty="0">
                <a:solidFill>
                  <a:schemeClr val="tx1"/>
                </a:solidFill>
                <a:effectLst/>
                <a:latin typeface="+mn-lt"/>
                <a:ea typeface="ＭＳ Ｐゴシック" pitchFamily="-106" charset="-128"/>
                <a:cs typeface="ＭＳ Ｐゴシック" pitchFamily="-106" charset="-128"/>
              </a:rPr>
              <a:t>behavioral codes</a:t>
            </a:r>
          </a:p>
          <a:p>
            <a:pPr rtl="0" fontAlgn="ctr"/>
            <a:r>
              <a:rPr lang="en-US" sz="1400" kern="1200" dirty="0">
                <a:solidFill>
                  <a:schemeClr val="tx1"/>
                </a:solidFill>
                <a:effectLst/>
                <a:latin typeface="+mn-lt"/>
                <a:ea typeface="ＭＳ Ｐゴシック" pitchFamily="-106" charset="-128"/>
                <a:cs typeface="ＭＳ Ｐゴシック" pitchFamily="-106" charset="-128"/>
              </a:rPr>
              <a:t>cultural expectations</a:t>
            </a:r>
          </a:p>
          <a:p>
            <a:pPr rtl="0" fontAlgn="ctr"/>
            <a:r>
              <a:rPr lang="en-US" sz="1400" kern="1200" dirty="0">
                <a:solidFill>
                  <a:schemeClr val="tx1"/>
                </a:solidFill>
                <a:effectLst/>
                <a:latin typeface="+mn-lt"/>
                <a:ea typeface="ＭＳ Ｐゴシック" pitchFamily="-106" charset="-128"/>
                <a:cs typeface="ＭＳ Ｐゴシック" pitchFamily="-106" charset="-128"/>
              </a:rPr>
              <a:t>unspoken social contracts</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You belong if you comply.</a:t>
            </a:r>
          </a:p>
          <a:p>
            <a:r>
              <a:rPr lang="en-US" sz="1400" kern="1200" dirty="0">
                <a:solidFill>
                  <a:schemeClr val="tx1"/>
                </a:solidFill>
                <a:effectLst/>
                <a:latin typeface="+mn-lt"/>
                <a:ea typeface="ＭＳ Ｐゴシック" pitchFamily="-106" charset="-128"/>
                <a:cs typeface="ＭＳ Ｐゴシック" pitchFamily="-106" charset="-128"/>
              </a:rPr>
              <a:t>You are “righteous” if you align.</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This is not covenant.</a:t>
            </a:r>
          </a:p>
          <a:p>
            <a:r>
              <a:rPr lang="en-US" sz="1400" kern="1200" dirty="0">
                <a:solidFill>
                  <a:schemeClr val="tx1"/>
                </a:solidFill>
                <a:effectLst/>
                <a:latin typeface="+mn-lt"/>
                <a:ea typeface="ＭＳ Ｐゴシック" pitchFamily="-106" charset="-128"/>
                <a:cs typeface="ＭＳ Ｐゴシック" pitchFamily="-106" charset="-128"/>
              </a:rPr>
              <a:t>It is managed morality.</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3. Faith-Based Obedience vs System-Based Morality (Scriptural Contrast)</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A. Faith-Based Obedience</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Faith-based obedience flows from trust.</a:t>
            </a:r>
          </a:p>
          <a:p>
            <a:r>
              <a:rPr lang="en-US" sz="1400" kern="1200" dirty="0">
                <a:solidFill>
                  <a:schemeClr val="tx1"/>
                </a:solidFill>
                <a:effectLst/>
                <a:latin typeface="+mn-lt"/>
                <a:ea typeface="ＭＳ Ｐゴシック" pitchFamily="-106" charset="-128"/>
                <a:cs typeface="ＭＳ Ｐゴシック" pitchFamily="-106" charset="-128"/>
              </a:rPr>
              <a:t>It begins with God’s action, not ours.</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Romans 4:5</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“But to the one who does not work, but believes in the one who declares the ungodly righteous, his faith is credited as righteousness.”</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Key traits:</a:t>
            </a:r>
          </a:p>
          <a:p>
            <a:r>
              <a:rPr lang="en-US" sz="1400" kern="1200" dirty="0">
                <a:solidFill>
                  <a:schemeClr val="tx1"/>
                </a:solidFill>
                <a:effectLst/>
                <a:latin typeface="+mn-lt"/>
                <a:ea typeface="ＭＳ Ｐゴシック" pitchFamily="-106" charset="-128"/>
                <a:cs typeface="ＭＳ Ｐゴシック" pitchFamily="-106" charset="-128"/>
              </a:rPr>
              <a:t> </a:t>
            </a:r>
          </a:p>
          <a:p>
            <a:pPr rtl="0" fontAlgn="ctr"/>
            <a:r>
              <a:rPr lang="en-US" sz="1400" kern="1200" dirty="0">
                <a:solidFill>
                  <a:schemeClr val="tx1"/>
                </a:solidFill>
                <a:effectLst/>
                <a:latin typeface="+mn-lt"/>
                <a:ea typeface="ＭＳ Ｐゴシック" pitchFamily="-106" charset="-128"/>
                <a:cs typeface="ＭＳ Ｐゴシック" pitchFamily="-106" charset="-128"/>
              </a:rPr>
              <a:t>obedience grows from relationship</a:t>
            </a:r>
          </a:p>
          <a:p>
            <a:pPr rtl="0" fontAlgn="ctr"/>
            <a:r>
              <a:rPr lang="en-US" sz="1400" kern="1200" dirty="0">
                <a:solidFill>
                  <a:schemeClr val="tx1"/>
                </a:solidFill>
                <a:effectLst/>
                <a:latin typeface="+mn-lt"/>
                <a:ea typeface="ＭＳ Ｐゴシック" pitchFamily="-106" charset="-128"/>
                <a:cs typeface="ＭＳ Ｐゴシック" pitchFamily="-106" charset="-128"/>
              </a:rPr>
              <a:t>repentance stays central</a:t>
            </a:r>
          </a:p>
          <a:p>
            <a:pPr rtl="0" fontAlgn="ctr"/>
            <a:r>
              <a:rPr lang="en-US" sz="1400" kern="1200" dirty="0">
                <a:solidFill>
                  <a:schemeClr val="tx1"/>
                </a:solidFill>
                <a:effectLst/>
                <a:latin typeface="+mn-lt"/>
                <a:ea typeface="ＭＳ Ｐゴシック" pitchFamily="-106" charset="-128"/>
                <a:cs typeface="ＭＳ Ｐゴシック" pitchFamily="-106" charset="-128"/>
              </a:rPr>
              <a:t>humility remains possible</a:t>
            </a:r>
          </a:p>
          <a:p>
            <a:pPr rtl="0" fontAlgn="ctr"/>
            <a:r>
              <a:rPr lang="en-US" sz="1400" kern="1200" dirty="0">
                <a:solidFill>
                  <a:schemeClr val="tx1"/>
                </a:solidFill>
                <a:effectLst/>
                <a:latin typeface="+mn-lt"/>
                <a:ea typeface="ＭＳ Ｐゴシック" pitchFamily="-106" charset="-128"/>
                <a:cs typeface="ＭＳ Ｐゴシック" pitchFamily="-106" charset="-128"/>
              </a:rPr>
              <a:t>love fulfills the law</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Galatians 5:6</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“The only thing that matters is faith working through love.”</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Faith does not remove obedience.</a:t>
            </a:r>
          </a:p>
          <a:p>
            <a:r>
              <a:rPr lang="en-US" sz="1400" kern="1200" dirty="0">
                <a:solidFill>
                  <a:schemeClr val="tx1"/>
                </a:solidFill>
                <a:effectLst/>
                <a:latin typeface="+mn-lt"/>
                <a:ea typeface="ＭＳ Ｐゴシック" pitchFamily="-106" charset="-128"/>
                <a:cs typeface="ＭＳ Ｐゴシック" pitchFamily="-106" charset="-128"/>
              </a:rPr>
              <a:t>It roots obedience in trust.</a:t>
            </a:r>
          </a:p>
          <a:p>
            <a:r>
              <a:rPr lang="en-US" sz="1400" kern="1200" dirty="0">
                <a:solidFill>
                  <a:schemeClr val="tx1"/>
                </a:solidFill>
                <a:effectLst/>
                <a:latin typeface="+mn-lt"/>
                <a:ea typeface="ＭＳ Ｐゴシック" pitchFamily="-106" charset="-128"/>
                <a:cs typeface="ＭＳ Ｐゴシック" pitchFamily="-106" charset="-128"/>
              </a:rPr>
              <a:t> </a:t>
            </a:r>
          </a:p>
          <a:p>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b="1" kern="1200" dirty="0">
                <a:solidFill>
                  <a:schemeClr val="tx1"/>
                </a:solidFill>
                <a:effectLst/>
                <a:latin typeface="+mn-lt"/>
                <a:ea typeface="ＭＳ Ｐゴシック" pitchFamily="-106" charset="-128"/>
                <a:cs typeface="ＭＳ Ｐゴシック" pitchFamily="-106" charset="-128"/>
              </a:rPr>
              <a:t>B. System-Based Morality</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System-based morality flows from fear.</a:t>
            </a:r>
          </a:p>
          <a:p>
            <a:r>
              <a:rPr lang="en-US" sz="1400" kern="1200" dirty="0">
                <a:solidFill>
                  <a:schemeClr val="tx1"/>
                </a:solidFill>
                <a:effectLst/>
                <a:latin typeface="+mn-lt"/>
                <a:ea typeface="ＭＳ Ｐゴシック" pitchFamily="-106" charset="-128"/>
                <a:cs typeface="ＭＳ Ｐゴシック" pitchFamily="-106" charset="-128"/>
              </a:rPr>
              <a:t>It begins with control.</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Colossians 2:20–23</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“Why do you submit to them as if you lived in the world? … They have the appearance of wisdom… but they are of no value against fleshly indulgence.”</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Key traits:</a:t>
            </a:r>
          </a:p>
          <a:p>
            <a:r>
              <a:rPr lang="en-US" sz="1400" kern="1200" dirty="0">
                <a:solidFill>
                  <a:schemeClr val="tx1"/>
                </a:solidFill>
                <a:effectLst/>
                <a:latin typeface="+mn-lt"/>
                <a:ea typeface="ＭＳ Ｐゴシック" pitchFamily="-106" charset="-128"/>
                <a:cs typeface="ＭＳ Ｐゴシック" pitchFamily="-106" charset="-128"/>
              </a:rPr>
              <a:t> </a:t>
            </a:r>
          </a:p>
          <a:p>
            <a:pPr rtl="0" fontAlgn="ctr"/>
            <a:r>
              <a:rPr lang="en-US" sz="1400" kern="1200" dirty="0">
                <a:solidFill>
                  <a:schemeClr val="tx1"/>
                </a:solidFill>
                <a:effectLst/>
                <a:latin typeface="+mn-lt"/>
                <a:ea typeface="ＭＳ Ｐゴシック" pitchFamily="-106" charset="-128"/>
                <a:cs typeface="ＭＳ Ｐゴシック" pitchFamily="-106" charset="-128"/>
              </a:rPr>
              <a:t>obedience replaces trust</a:t>
            </a:r>
          </a:p>
          <a:p>
            <a:pPr rtl="0" fontAlgn="ctr"/>
            <a:r>
              <a:rPr lang="en-US" sz="1400" kern="1200" dirty="0">
                <a:solidFill>
                  <a:schemeClr val="tx1"/>
                </a:solidFill>
                <a:effectLst/>
                <a:latin typeface="+mn-lt"/>
                <a:ea typeface="ＭＳ Ｐゴシック" pitchFamily="-106" charset="-128"/>
                <a:cs typeface="ＭＳ Ｐゴシック" pitchFamily="-106" charset="-128"/>
              </a:rPr>
              <a:t>rules replace conscience</a:t>
            </a:r>
          </a:p>
          <a:p>
            <a:pPr rtl="0" fontAlgn="ctr"/>
            <a:r>
              <a:rPr lang="en-US" sz="1400" kern="1200" dirty="0">
                <a:solidFill>
                  <a:schemeClr val="tx1"/>
                </a:solidFill>
                <a:effectLst/>
                <a:latin typeface="+mn-lt"/>
                <a:ea typeface="ＭＳ Ｐゴシック" pitchFamily="-106" charset="-128"/>
                <a:cs typeface="ＭＳ Ｐゴシック" pitchFamily="-106" charset="-128"/>
              </a:rPr>
              <a:t>conformity replaces transformation</a:t>
            </a:r>
          </a:p>
          <a:p>
            <a:pPr rtl="0" fontAlgn="ctr"/>
            <a:r>
              <a:rPr lang="en-US" sz="1400" kern="1200" dirty="0">
                <a:solidFill>
                  <a:schemeClr val="tx1"/>
                </a:solidFill>
                <a:effectLst/>
                <a:latin typeface="+mn-lt"/>
                <a:ea typeface="ＭＳ Ｐゴシック" pitchFamily="-106" charset="-128"/>
                <a:cs typeface="ＭＳ Ｐゴシック" pitchFamily="-106" charset="-128"/>
              </a:rPr>
              <a:t>pride or despair results</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Systems can shape behavior.</a:t>
            </a:r>
          </a:p>
          <a:p>
            <a:r>
              <a:rPr lang="en-US" sz="1400" kern="1200" dirty="0">
                <a:solidFill>
                  <a:schemeClr val="tx1"/>
                </a:solidFill>
                <a:effectLst/>
                <a:latin typeface="+mn-lt"/>
                <a:ea typeface="ＭＳ Ｐゴシック" pitchFamily="-106" charset="-128"/>
                <a:cs typeface="ＭＳ Ｐゴシック" pitchFamily="-106" charset="-128"/>
              </a:rPr>
              <a:t>They cannot produce righteousness.</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C. Jesus’ Summary of the Difference</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Matthew 5:20</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“Unless your righteousness goes beyond that of the experts in the law and the Pharisees, you will never enter the kingdom of heaven.”</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“Beyond” does not mean </a:t>
            </a:r>
            <a:r>
              <a:rPr lang="en-US" sz="1400" i="1" kern="1200" dirty="0">
                <a:solidFill>
                  <a:schemeClr val="tx1"/>
                </a:solidFill>
                <a:effectLst/>
                <a:latin typeface="+mn-lt"/>
                <a:ea typeface="ＭＳ Ｐゴシック" pitchFamily="-106" charset="-128"/>
                <a:cs typeface="ＭＳ Ｐゴシック" pitchFamily="-106" charset="-128"/>
              </a:rPr>
              <a:t>more rules</a:t>
            </a:r>
            <a:r>
              <a:rPr lang="en-US" sz="1400" kern="1200" dirty="0">
                <a:solidFill>
                  <a:schemeClr val="tx1"/>
                </a:solidFill>
                <a:effectLst/>
                <a:latin typeface="+mn-lt"/>
                <a:ea typeface="ＭＳ Ｐゴシック" pitchFamily="-106" charset="-128"/>
                <a:cs typeface="ＭＳ Ｐゴシック" pitchFamily="-106" charset="-128"/>
              </a:rPr>
              <a:t>.</a:t>
            </a:r>
          </a:p>
          <a:p>
            <a:r>
              <a:rPr lang="en-US" sz="1400" kern="1200" dirty="0">
                <a:solidFill>
                  <a:schemeClr val="tx1"/>
                </a:solidFill>
                <a:effectLst/>
                <a:latin typeface="+mn-lt"/>
                <a:ea typeface="ＭＳ Ｐゴシック" pitchFamily="-106" charset="-128"/>
                <a:cs typeface="ＭＳ Ｐゴシック" pitchFamily="-106" charset="-128"/>
              </a:rPr>
              <a:t>It means a different source.</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One comes from man upward.</a:t>
            </a:r>
          </a:p>
          <a:p>
            <a:r>
              <a:rPr lang="en-US" sz="1400" kern="1200" dirty="0">
                <a:solidFill>
                  <a:schemeClr val="tx1"/>
                </a:solidFill>
                <a:effectLst/>
                <a:latin typeface="+mn-lt"/>
                <a:ea typeface="ＭＳ Ｐゴシック" pitchFamily="-106" charset="-128"/>
                <a:cs typeface="ＭＳ Ｐゴシック" pitchFamily="-106" charset="-128"/>
              </a:rPr>
              <a:t>The other comes from God downward.</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Final Synthesis</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Pharisaic righteousness, modern church systems, and moral ideologies all share the same root:</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Uncertainty without trust.</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So humans:</a:t>
            </a:r>
          </a:p>
          <a:p>
            <a:r>
              <a:rPr lang="en-US" sz="1400" kern="1200" dirty="0">
                <a:solidFill>
                  <a:schemeClr val="tx1"/>
                </a:solidFill>
                <a:effectLst/>
                <a:latin typeface="+mn-lt"/>
                <a:ea typeface="ＭＳ Ｐゴシック" pitchFamily="-106" charset="-128"/>
                <a:cs typeface="ＭＳ Ｐゴシック" pitchFamily="-106" charset="-128"/>
              </a:rPr>
              <a:t> </a:t>
            </a:r>
          </a:p>
          <a:p>
            <a:pPr rtl="0" fontAlgn="ctr"/>
            <a:r>
              <a:rPr lang="en-US" sz="1400" kern="1200" dirty="0">
                <a:solidFill>
                  <a:schemeClr val="tx1"/>
                </a:solidFill>
                <a:effectLst/>
                <a:latin typeface="+mn-lt"/>
                <a:ea typeface="ＭＳ Ｐゴシック" pitchFamily="-106" charset="-128"/>
                <a:cs typeface="ＭＳ Ｐゴシック" pitchFamily="-106" charset="-128"/>
              </a:rPr>
              <a:t>build systems</a:t>
            </a:r>
          </a:p>
          <a:p>
            <a:pPr rtl="0" fontAlgn="ctr"/>
            <a:r>
              <a:rPr lang="en-US" sz="1400" kern="1200" dirty="0">
                <a:solidFill>
                  <a:schemeClr val="tx1"/>
                </a:solidFill>
                <a:effectLst/>
                <a:latin typeface="+mn-lt"/>
                <a:ea typeface="ＭＳ Ｐゴシック" pitchFamily="-106" charset="-128"/>
                <a:cs typeface="ＭＳ Ｐゴシック" pitchFamily="-106" charset="-128"/>
              </a:rPr>
              <a:t>form contracts</a:t>
            </a:r>
          </a:p>
          <a:p>
            <a:pPr rtl="0" fontAlgn="ctr"/>
            <a:r>
              <a:rPr lang="en-US" sz="1400" kern="1200" dirty="0">
                <a:solidFill>
                  <a:schemeClr val="tx1"/>
                </a:solidFill>
                <a:effectLst/>
                <a:latin typeface="+mn-lt"/>
                <a:ea typeface="ＭＳ Ｐゴシック" pitchFamily="-106" charset="-128"/>
                <a:cs typeface="ＭＳ Ｐゴシック" pitchFamily="-106" charset="-128"/>
              </a:rPr>
              <a:t>enforce conformity</a:t>
            </a:r>
          </a:p>
          <a:p>
            <a:pPr rtl="0" fontAlgn="ctr"/>
            <a:r>
              <a:rPr lang="en-US" sz="1400" kern="1200" dirty="0">
                <a:solidFill>
                  <a:schemeClr val="tx1"/>
                </a:solidFill>
                <a:effectLst/>
                <a:latin typeface="+mn-lt"/>
                <a:ea typeface="ＭＳ Ｐゴシック" pitchFamily="-106" charset="-128"/>
                <a:cs typeface="ＭＳ Ｐゴシック" pitchFamily="-106" charset="-128"/>
              </a:rPr>
              <a:t>call it righteousness</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But God offers something else.</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Romans 1:17</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“The righteousness of God is revealed in the gospel from faith to faith.”</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God’s righteousness is not negotiated.</a:t>
            </a:r>
          </a:p>
          <a:p>
            <a:r>
              <a:rPr lang="en-US" sz="1400" kern="1200" dirty="0">
                <a:solidFill>
                  <a:schemeClr val="tx1"/>
                </a:solidFill>
                <a:effectLst/>
                <a:latin typeface="+mn-lt"/>
                <a:ea typeface="ＭＳ Ｐゴシック" pitchFamily="-106" charset="-128"/>
                <a:cs typeface="ＭＳ Ｐゴシック" pitchFamily="-106" charset="-128"/>
              </a:rPr>
              <a:t>It is revealed.</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And it is received by trust, not managed by systems.</a:t>
            </a:r>
          </a:p>
          <a:p>
            <a:endParaRPr lang="en-US" dirty="0"/>
          </a:p>
        </p:txBody>
      </p:sp>
      <p:sp>
        <p:nvSpPr>
          <p:cNvPr id="4" name="Slide Number Placeholder 3">
            <a:extLst>
              <a:ext uri="{FF2B5EF4-FFF2-40B4-BE49-F238E27FC236}">
                <a16:creationId xmlns:a16="http://schemas.microsoft.com/office/drawing/2014/main" id="{6DF6C88C-9B76-A323-2D9C-A6A011DF0D93}"/>
              </a:ext>
            </a:extLst>
          </p:cNvPr>
          <p:cNvSpPr>
            <a:spLocks noGrp="1"/>
          </p:cNvSpPr>
          <p:nvPr>
            <p:ph type="sldNum" sz="quarter" idx="10"/>
          </p:nvPr>
        </p:nvSpPr>
        <p:spPr/>
        <p:txBody>
          <a:bodyPr/>
          <a:lstStyle/>
          <a:p>
            <a:pPr>
              <a:defRPr/>
            </a:pPr>
            <a:fld id="{07776858-791E-4C8D-8FA3-473B3AFECFAC}" type="slidenum">
              <a:rPr lang="en-US" smtClean="0"/>
              <a:pPr>
                <a:defRPr/>
              </a:pPr>
              <a:t>13</a:t>
            </a:fld>
            <a:endParaRPr lang="en-US" dirty="0"/>
          </a:p>
        </p:txBody>
      </p:sp>
    </p:spTree>
    <p:extLst>
      <p:ext uri="{BB962C8B-B14F-4D97-AF65-F5344CB8AC3E}">
        <p14:creationId xmlns:p14="http://schemas.microsoft.com/office/powerpoint/2010/main" val="12413119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lvl1pPr>
              <a:defRPr lang="en-US" sz="4400" b="1" kern="1200" dirty="0">
                <a:solidFill>
                  <a:schemeClr val="tx2"/>
                </a:solidFill>
                <a:latin typeface="+mj-lt"/>
                <a:ea typeface="ＭＳ Ｐゴシック" pitchFamily="34" charset="-128"/>
                <a:cs typeface="+mj-cs"/>
              </a:defRPr>
            </a:lvl1pPr>
          </a:lstStyle>
          <a:p>
            <a:r>
              <a:rPr lang="en-US"/>
              <a:t>Click to edit Master title style</a:t>
            </a:r>
            <a:endParaRPr lang="en-US" dirty="0"/>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42439187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5347413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dirty="0"/>
              <a:t>Click to edit Master title style</a:t>
            </a:r>
          </a:p>
        </p:txBody>
      </p:sp>
      <p:sp>
        <p:nvSpPr>
          <p:cNvPr id="3" name="Content Placeholder 2"/>
          <p:cNvSpPr>
            <a:spLocks noGrp="1"/>
          </p:cNvSpPr>
          <p:nvPr>
            <p:ph idx="1"/>
          </p:nvPr>
        </p:nvSpPr>
        <p:spPr/>
        <p:txBody>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62373462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7" name="Title Placeholder 1"/>
          <p:cNvSpPr>
            <a:spLocks noGrp="1"/>
          </p:cNvSpPr>
          <p:nvPr>
            <p:ph type="title"/>
          </p:nvPr>
        </p:nvSpPr>
        <p:spPr bwMode="auto">
          <a:xfrm>
            <a:off x="457200" y="0"/>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8" name="Text Placeholder 2"/>
          <p:cNvSpPr>
            <a:spLocks noGrp="1"/>
          </p:cNvSpPr>
          <p:nvPr>
            <p:ph type="body" idx="1"/>
          </p:nvPr>
        </p:nvSpPr>
        <p:spPr bwMode="auto">
          <a:xfrm>
            <a:off x="457200" y="1143000"/>
            <a:ext cx="8229600" cy="510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cSld>
  <p:clrMap bg1="lt1" tx1="dk1" bg2="lt2" tx2="dk2" accent1="accent1" accent2="accent2" accent3="accent3" accent4="accent4" accent5="accent5" accent6="accent6" hlink="hlink" folHlink="folHlink"/>
  <p:sldLayoutIdLst>
    <p:sldLayoutId id="2147484149" r:id="rId1"/>
    <p:sldLayoutId id="2147484150" r:id="rId2"/>
  </p:sldLayoutIdLst>
  <p:hf hdr="0"/>
  <p:txStyles>
    <p:titleStyle>
      <a:lvl1pPr algn="ctr" rtl="0" eaLnBrk="1" fontAlgn="base" hangingPunct="1">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p:titleStyle>
    <p:bodyStyle>
      <a:lvl1pPr marL="342900" indent="-342900" algn="l" rtl="0" eaLnBrk="1" fontAlgn="base" hangingPunct="1">
        <a:spcBef>
          <a:spcPct val="20000"/>
        </a:spcBef>
        <a:spcAft>
          <a:spcPct val="0"/>
        </a:spcAft>
        <a:buFont typeface="Arial" charset="0"/>
        <a:buChar char="•"/>
        <a:defRPr sz="3200" kern="1200">
          <a:solidFill>
            <a:schemeClr val="tx1"/>
          </a:solidFill>
          <a:latin typeface="Arial Narrow" pitchFamily="34" charset="0"/>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Arial Narrow" pitchFamily="34" charset="0"/>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Arial Narrow" pitchFamily="34" charset="0"/>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Arial Narrow" pitchFamily="34" charset="0"/>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Arial Narrow"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050" name="Title Placeholder 1"/>
          <p:cNvSpPr>
            <a:spLocks noGrp="1"/>
          </p:cNvSpPr>
          <p:nvPr>
            <p:ph type="title"/>
          </p:nvPr>
        </p:nvSpPr>
        <p:spPr bwMode="auto">
          <a:xfrm>
            <a:off x="457200" y="0"/>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2051" name="Text Placeholder 2"/>
          <p:cNvSpPr>
            <a:spLocks noGrp="1"/>
          </p:cNvSpPr>
          <p:nvPr>
            <p:ph type="body" idx="1"/>
          </p:nvPr>
        </p:nvSpPr>
        <p:spPr bwMode="auto">
          <a:xfrm>
            <a:off x="457200" y="1143000"/>
            <a:ext cx="8229600" cy="510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cSld>
  <p:clrMap bg1="lt1" tx1="dk1" bg2="lt2" tx2="dk2" accent1="accent1" accent2="accent2" accent3="accent3" accent4="accent4" accent5="accent5" accent6="accent6" hlink="hlink" folHlink="folHlink"/>
  <p:sldLayoutIdLst>
    <p:sldLayoutId id="2147484151" r:id="rId1"/>
  </p:sldLayoutIdLst>
  <p:hf hdr="0"/>
  <p:txStyles>
    <p:titleStyle>
      <a:lvl1pPr algn="ctr" rtl="0" eaLnBrk="0" fontAlgn="base" hangingPunct="0">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0" fontAlgn="base" hangingPunct="0">
        <a:spcBef>
          <a:spcPct val="0"/>
        </a:spcBef>
        <a:spcAft>
          <a:spcPct val="0"/>
        </a:spcAft>
        <a:defRPr sz="4400" b="1">
          <a:solidFill>
            <a:schemeClr val="tx2"/>
          </a:solidFill>
          <a:latin typeface="Arial" charset="0"/>
          <a:ea typeface="ＭＳ Ｐゴシック" pitchFamily="34" charset="-128"/>
        </a:defRPr>
      </a:lvl2pPr>
      <a:lvl3pPr algn="ctr" rtl="0" eaLnBrk="0" fontAlgn="base" hangingPunct="0">
        <a:spcBef>
          <a:spcPct val="0"/>
        </a:spcBef>
        <a:spcAft>
          <a:spcPct val="0"/>
        </a:spcAft>
        <a:defRPr sz="4400" b="1">
          <a:solidFill>
            <a:schemeClr val="tx2"/>
          </a:solidFill>
          <a:latin typeface="Arial" charset="0"/>
          <a:ea typeface="ＭＳ Ｐゴシック" pitchFamily="34" charset="-128"/>
        </a:defRPr>
      </a:lvl3pPr>
      <a:lvl4pPr algn="ctr" rtl="0" eaLnBrk="0" fontAlgn="base" hangingPunct="0">
        <a:spcBef>
          <a:spcPct val="0"/>
        </a:spcBef>
        <a:spcAft>
          <a:spcPct val="0"/>
        </a:spcAft>
        <a:defRPr sz="4400" b="1">
          <a:solidFill>
            <a:schemeClr val="tx2"/>
          </a:solidFill>
          <a:latin typeface="Arial" charset="0"/>
          <a:ea typeface="ＭＳ Ｐゴシック" pitchFamily="34" charset="-128"/>
        </a:defRPr>
      </a:lvl4pPr>
      <a:lvl5pPr algn="ctr" rtl="0" eaLnBrk="0" fontAlgn="base" hangingPunct="0">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p:titleStyle>
    <p:bodyStyle>
      <a:lvl1pPr marL="342900" indent="-342900" algn="l" rtl="0" eaLnBrk="0" fontAlgn="base" hangingPunct="0">
        <a:spcBef>
          <a:spcPct val="20000"/>
        </a:spcBef>
        <a:spcAft>
          <a:spcPct val="0"/>
        </a:spcAft>
        <a:buFont typeface="Arial" charset="0"/>
        <a:buChar char="•"/>
        <a:defRPr sz="3200" kern="1200">
          <a:solidFill>
            <a:schemeClr val="tx1"/>
          </a:solidFill>
          <a:latin typeface="Arial Narrow" pitchFamily="34" charset="0"/>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Arial Narrow" pitchFamily="34" charset="0"/>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Arial Narrow" pitchFamily="34" charset="0"/>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Arial Narrow" pitchFamily="34" charset="0"/>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Arial Narrow"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tinyurl.com/RightWithGod"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5A53F3-F5FA-47DF-8211-8B502AD79E23}"/>
              </a:ext>
            </a:extLst>
          </p:cNvPr>
          <p:cNvSpPr txBox="1">
            <a:spLocks/>
          </p:cNvSpPr>
          <p:nvPr/>
        </p:nvSpPr>
        <p:spPr bwMode="auto">
          <a:xfrm>
            <a:off x="457200" y="419100"/>
            <a:ext cx="8229600" cy="6019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77500" lnSpcReduction="20000"/>
          </a:bodyPr>
          <a:lstStyle>
            <a:lvl1pPr algn="ctr" rtl="0" eaLnBrk="1" fontAlgn="base" hangingPunct="1">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6700" dirty="0"/>
              <a:t>Righteousness</a:t>
            </a:r>
            <a:br>
              <a:rPr lang="en-US" dirty="0"/>
            </a:br>
            <a:endParaRPr lang="en-US" dirty="0"/>
          </a:p>
          <a:p>
            <a:r>
              <a:rPr lang="en-US" dirty="0"/>
              <a:t>What Is “Righteousness” in the Bible?</a:t>
            </a:r>
          </a:p>
          <a:p>
            <a:endParaRPr lang="en-US" sz="2400" dirty="0">
              <a:solidFill>
                <a:schemeClr val="tx2">
                  <a:lumMod val="60000"/>
                  <a:lumOff val="40000"/>
                </a:schemeClr>
              </a:solidFill>
            </a:endParaRPr>
          </a:p>
          <a:p>
            <a:r>
              <a:rPr lang="en-US" b="0" dirty="0"/>
              <a:t>For I am not ashamed of the gospel of Christ, for it is the power of God to salvation for everyone who believes, for the Jew first and also for the Greek. For in it the righteousness of God is revealed from faith to faith; as it is written, "THE JUST SHALL LIVE BY FAITH."</a:t>
            </a:r>
          </a:p>
          <a:p>
            <a:r>
              <a:rPr lang="en-US" b="0" dirty="0"/>
              <a:t>(Romans 1:16-17)</a:t>
            </a:r>
          </a:p>
          <a:p>
            <a:endParaRPr lang="en-US" dirty="0">
              <a:solidFill>
                <a:schemeClr val="tx2">
                  <a:lumMod val="60000"/>
                  <a:lumOff val="40000"/>
                </a:schemeClr>
              </a:solidFill>
            </a:endParaRPr>
          </a:p>
          <a:p>
            <a:r>
              <a:rPr lang="en-US" dirty="0">
                <a:solidFill>
                  <a:schemeClr val="tx2">
                    <a:lumMod val="60000"/>
                    <a:lumOff val="40000"/>
                  </a:schemeClr>
                </a:solidFill>
                <a:hlinkClick r:id="rId3"/>
              </a:rPr>
              <a:t>https://tinyurl.com/RightWithGod</a:t>
            </a:r>
            <a:endParaRPr lang="en-US" dirty="0">
              <a:solidFill>
                <a:schemeClr val="tx2">
                  <a:lumMod val="60000"/>
                  <a:lumOff val="40000"/>
                </a:schemeClr>
              </a:solidFill>
            </a:endParaRPr>
          </a:p>
          <a:p>
            <a:endParaRPr lang="en-US" dirty="0">
              <a:solidFill>
                <a:schemeClr val="tx2">
                  <a:lumMod val="60000"/>
                  <a:lumOff val="40000"/>
                </a:schemeClr>
              </a:solidFill>
            </a:endParaRPr>
          </a:p>
        </p:txBody>
      </p:sp>
    </p:spTree>
    <p:extLst>
      <p:ext uri="{BB962C8B-B14F-4D97-AF65-F5344CB8AC3E}">
        <p14:creationId xmlns:p14="http://schemas.microsoft.com/office/powerpoint/2010/main" val="4586589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6AECEC-104B-7AF1-FE78-2E88549042EE}"/>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488E0E6C-3CE1-CC07-04F6-FE6CC7BFE556}"/>
              </a:ext>
            </a:extLst>
          </p:cNvPr>
          <p:cNvSpPr txBox="1">
            <a:spLocks/>
          </p:cNvSpPr>
          <p:nvPr/>
        </p:nvSpPr>
        <p:spPr bwMode="auto">
          <a:xfrm>
            <a:off x="233362" y="32657"/>
            <a:ext cx="8682038" cy="7293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lnSpcReduction="1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2600" dirty="0">
                <a:solidFill>
                  <a:schemeClr val="tx2">
                    <a:lumMod val="60000"/>
                    <a:lumOff val="40000"/>
                  </a:schemeClr>
                </a:solidFill>
              </a:rPr>
              <a:t>Behold the Man!</a:t>
            </a:r>
          </a:p>
          <a:p>
            <a:r>
              <a:rPr lang="en-US" sz="1600" dirty="0">
                <a:solidFill>
                  <a:schemeClr val="tx2">
                    <a:lumMod val="60000"/>
                    <a:lumOff val="40000"/>
                  </a:schemeClr>
                </a:solidFill>
              </a:rPr>
              <a:t>John 19:5</a:t>
            </a:r>
          </a:p>
        </p:txBody>
      </p:sp>
      <p:pic>
        <p:nvPicPr>
          <p:cNvPr id="6" name="Picture 5" descr="John 19:5 - Behold the Man&#10;">
            <a:extLst>
              <a:ext uri="{FF2B5EF4-FFF2-40B4-BE49-F238E27FC236}">
                <a16:creationId xmlns:a16="http://schemas.microsoft.com/office/drawing/2014/main" id="{D141D759-D43B-AB8E-3A7C-2C59A7DF59D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0" y="857250"/>
            <a:ext cx="9144000" cy="5143500"/>
          </a:xfrm>
          <a:prstGeom prst="rect">
            <a:avLst/>
          </a:prstGeom>
        </p:spPr>
      </p:pic>
      <p:sp>
        <p:nvSpPr>
          <p:cNvPr id="2" name="TextBox 1">
            <a:extLst>
              <a:ext uri="{FF2B5EF4-FFF2-40B4-BE49-F238E27FC236}">
                <a16:creationId xmlns:a16="http://schemas.microsoft.com/office/drawing/2014/main" id="{691A195E-1143-8341-CC07-06D9FF68C831}"/>
              </a:ext>
            </a:extLst>
          </p:cNvPr>
          <p:cNvSpPr txBox="1"/>
          <p:nvPr/>
        </p:nvSpPr>
        <p:spPr>
          <a:xfrm>
            <a:off x="233362" y="6000750"/>
            <a:ext cx="8682038" cy="707886"/>
          </a:xfrm>
          <a:prstGeom prst="rect">
            <a:avLst/>
          </a:prstGeom>
          <a:noFill/>
        </p:spPr>
        <p:txBody>
          <a:bodyPr wrap="square" rtlCol="0">
            <a:spAutoFit/>
          </a:bodyPr>
          <a:lstStyle/>
          <a:p>
            <a:r>
              <a:rPr lang="en-US" sz="2000" i="1" dirty="0">
                <a:ea typeface="ＭＳ Ｐゴシック" pitchFamily="-106" charset="-128"/>
                <a:cs typeface="ＭＳ Ｐゴシック" pitchFamily="-106" charset="-128"/>
              </a:rPr>
              <a:t>“So Jesus came out, wearing the crown of thorns and the purple robe. </a:t>
            </a:r>
          </a:p>
          <a:p>
            <a:r>
              <a:rPr lang="en-US" sz="2000" i="1" dirty="0">
                <a:ea typeface="ＭＳ Ｐゴシック" pitchFamily="-106" charset="-128"/>
                <a:cs typeface="ＭＳ Ｐゴシック" pitchFamily="-106" charset="-128"/>
              </a:rPr>
              <a:t>Pilate said to them,</a:t>
            </a:r>
            <a:r>
              <a:rPr lang="en-US" sz="2000" b="1" i="1" dirty="0">
                <a:ea typeface="ＭＳ Ｐゴシック" pitchFamily="-106" charset="-128"/>
                <a:cs typeface="ＭＳ Ｐゴシック" pitchFamily="-106" charset="-128"/>
              </a:rPr>
              <a:t> ‘Look, here is the man!’</a:t>
            </a:r>
            <a:r>
              <a:rPr lang="en-US" sz="2000" i="1" dirty="0">
                <a:ea typeface="ＭＳ Ｐゴシック" pitchFamily="-106" charset="-128"/>
                <a:cs typeface="ＭＳ Ｐゴシック" pitchFamily="-106" charset="-128"/>
              </a:rPr>
              <a:t>”</a:t>
            </a:r>
          </a:p>
        </p:txBody>
      </p:sp>
    </p:spTree>
    <p:extLst>
      <p:ext uri="{BB962C8B-B14F-4D97-AF65-F5344CB8AC3E}">
        <p14:creationId xmlns:p14="http://schemas.microsoft.com/office/powerpoint/2010/main" val="12612476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B7408-72F1-54EE-327E-3AA50B64D2F3}"/>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2AF56024-7F77-1216-3878-34EF5E1B051A}"/>
              </a:ext>
            </a:extLst>
          </p:cNvPr>
          <p:cNvSpPr txBox="1">
            <a:spLocks/>
          </p:cNvSpPr>
          <p:nvPr/>
        </p:nvSpPr>
        <p:spPr bwMode="auto">
          <a:xfrm>
            <a:off x="233362" y="32657"/>
            <a:ext cx="838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700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4100" dirty="0"/>
              <a:t>Uncertainty</a:t>
            </a:r>
            <a:br>
              <a:rPr lang="en-US" dirty="0"/>
            </a:br>
            <a:r>
              <a:rPr lang="en-US" sz="3100" dirty="0">
                <a:solidFill>
                  <a:schemeClr val="tx2">
                    <a:lumMod val="60000"/>
                    <a:lumOff val="40000"/>
                  </a:schemeClr>
                </a:solidFill>
              </a:rPr>
              <a:t>The Soil of Human Righteousness</a:t>
            </a:r>
            <a:endParaRPr lang="en-US" sz="2600" dirty="0">
              <a:solidFill>
                <a:schemeClr val="tx2">
                  <a:lumMod val="60000"/>
                  <a:lumOff val="40000"/>
                </a:schemeClr>
              </a:solidFill>
            </a:endParaRPr>
          </a:p>
        </p:txBody>
      </p:sp>
      <p:sp>
        <p:nvSpPr>
          <p:cNvPr id="3" name="TextBox 2">
            <a:extLst>
              <a:ext uri="{FF2B5EF4-FFF2-40B4-BE49-F238E27FC236}">
                <a16:creationId xmlns:a16="http://schemas.microsoft.com/office/drawing/2014/main" id="{20D7F73F-557F-92F1-2EB8-7722955B1D98}"/>
              </a:ext>
            </a:extLst>
          </p:cNvPr>
          <p:cNvSpPr txBox="1"/>
          <p:nvPr/>
        </p:nvSpPr>
        <p:spPr>
          <a:xfrm>
            <a:off x="214308" y="770131"/>
            <a:ext cx="8677275" cy="1631216"/>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Uncertainty, Human Righteousness, the Rise of Man-Made Systems</a:t>
            </a:r>
            <a:endParaRPr lang="en-US" sz="2000" dirty="0">
              <a:ea typeface="ＭＳ Ｐゴシック" pitchFamily="-106" charset="-128"/>
              <a:cs typeface="ＭＳ Ｐゴシック" pitchFamily="-106" charset="-128"/>
            </a:endParaRPr>
          </a:p>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From the beginning, sin introduced uncertainty.</a:t>
            </a:r>
          </a:p>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When man lost trust in God, he gained fear.</a:t>
            </a:r>
          </a:p>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Fear demands control.</a:t>
            </a:r>
          </a:p>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Control produces systems.</a:t>
            </a:r>
          </a:p>
        </p:txBody>
      </p:sp>
      <p:sp>
        <p:nvSpPr>
          <p:cNvPr id="2" name="TextBox 1">
            <a:extLst>
              <a:ext uri="{FF2B5EF4-FFF2-40B4-BE49-F238E27FC236}">
                <a16:creationId xmlns:a16="http://schemas.microsoft.com/office/drawing/2014/main" id="{C7F60B43-BF6B-89DD-6EBB-A7A13EE4DFDE}"/>
              </a:ext>
            </a:extLst>
          </p:cNvPr>
          <p:cNvSpPr txBox="1"/>
          <p:nvPr/>
        </p:nvSpPr>
        <p:spPr>
          <a:xfrm>
            <a:off x="214308" y="2465749"/>
            <a:ext cx="8677275" cy="1938992"/>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Genesis 3:10</a:t>
            </a:r>
            <a:r>
              <a:rPr lang="en-US" sz="2000" dirty="0">
                <a:ea typeface="ＭＳ Ｐゴシック" pitchFamily="-106" charset="-128"/>
                <a:cs typeface="ＭＳ Ｐゴシック" pitchFamily="-106" charset="-128"/>
              </a:rPr>
              <a:t>  </a:t>
            </a:r>
            <a:r>
              <a:rPr lang="en-US" sz="2000" b="1" dirty="0">
                <a:ea typeface="ＭＳ Ｐゴシック" pitchFamily="-106" charset="-128"/>
                <a:cs typeface="ＭＳ Ｐゴシック" pitchFamily="-106" charset="-128"/>
              </a:rPr>
              <a:t>“I was afraid because I was naked, so I hid.”</a:t>
            </a:r>
            <a:endParaRPr lang="en-US" sz="2000" dirty="0">
              <a:ea typeface="ＭＳ Ｐゴシック" pitchFamily="-106" charset="-128"/>
              <a:cs typeface="ＭＳ Ｐゴシック" pitchFamily="-106" charset="-128"/>
            </a:endParaRPr>
          </a:p>
          <a:p>
            <a:r>
              <a:rPr lang="en-US" sz="2000" dirty="0">
                <a:ea typeface="ＭＳ Ｐゴシック" pitchFamily="-106" charset="-128"/>
                <a:cs typeface="ＭＳ Ｐゴシック" pitchFamily="-106" charset="-128"/>
              </a:rPr>
              <a:t>Fear leads people to ask:</a:t>
            </a:r>
          </a:p>
          <a:p>
            <a:pPr lvl="1" fontAlgn="ctr"/>
            <a:r>
              <a:rPr lang="en-US" sz="2000" i="1" dirty="0">
                <a:ea typeface="ＭＳ Ｐゴシック" pitchFamily="-106" charset="-128"/>
                <a:cs typeface="ＭＳ Ｐゴシック" pitchFamily="-106" charset="-128"/>
              </a:rPr>
              <a:t>Am I safe?</a:t>
            </a:r>
            <a:endParaRPr lang="en-US" sz="2000" dirty="0">
              <a:ea typeface="ＭＳ Ｐゴシック" pitchFamily="-106" charset="-128"/>
              <a:cs typeface="ＭＳ Ｐゴシック" pitchFamily="-106" charset="-128"/>
            </a:endParaRPr>
          </a:p>
          <a:p>
            <a:pPr lvl="1" fontAlgn="ctr"/>
            <a:r>
              <a:rPr lang="en-US" sz="2000" i="1" dirty="0">
                <a:ea typeface="ＭＳ Ｐゴシック" pitchFamily="-106" charset="-128"/>
                <a:cs typeface="ＭＳ Ｐゴシック" pitchFamily="-106" charset="-128"/>
              </a:rPr>
              <a:t>Am I accepted?</a:t>
            </a:r>
            <a:endParaRPr lang="en-US" sz="2000" dirty="0">
              <a:ea typeface="ＭＳ Ｐゴシック" pitchFamily="-106" charset="-128"/>
              <a:cs typeface="ＭＳ Ｐゴシック" pitchFamily="-106" charset="-128"/>
            </a:endParaRPr>
          </a:p>
          <a:p>
            <a:pPr lvl="1" fontAlgn="ctr"/>
            <a:r>
              <a:rPr lang="en-US" sz="2000" i="1" dirty="0">
                <a:ea typeface="ＭＳ Ｐゴシック" pitchFamily="-106" charset="-128"/>
                <a:cs typeface="ＭＳ Ｐゴシック" pitchFamily="-106" charset="-128"/>
              </a:rPr>
              <a:t>Am I right?</a:t>
            </a:r>
            <a:endParaRPr lang="en-US" sz="2000" dirty="0">
              <a:ea typeface="ＭＳ Ｐゴシック" pitchFamily="-106" charset="-128"/>
              <a:cs typeface="ＭＳ Ｐゴシック" pitchFamily="-106" charset="-128"/>
            </a:endParaRPr>
          </a:p>
          <a:p>
            <a:r>
              <a:rPr lang="en-US" sz="2000" dirty="0">
                <a:ea typeface="ＭＳ Ｐゴシック" pitchFamily="-106" charset="-128"/>
                <a:cs typeface="ＭＳ Ｐゴシック" pitchFamily="-106" charset="-128"/>
              </a:rPr>
              <a:t>Instead of resting in God’s righteousness, </a:t>
            </a:r>
            <a:r>
              <a:rPr lang="en-US" sz="2000" u="sng" dirty="0">
                <a:ea typeface="ＭＳ Ｐゴシック" pitchFamily="-106" charset="-128"/>
                <a:cs typeface="ＭＳ Ｐゴシック" pitchFamily="-106" charset="-128"/>
              </a:rPr>
              <a:t>humans build substitutes</a:t>
            </a:r>
            <a:r>
              <a:rPr lang="en-US" sz="2000" dirty="0">
                <a:ea typeface="ＭＳ Ｐゴシック" pitchFamily="-106" charset="-128"/>
                <a:cs typeface="ＭＳ Ｐゴシック" pitchFamily="-106" charset="-128"/>
              </a:rPr>
              <a:t>.</a:t>
            </a:r>
          </a:p>
        </p:txBody>
      </p:sp>
      <p:sp>
        <p:nvSpPr>
          <p:cNvPr id="4" name="TextBox 3">
            <a:extLst>
              <a:ext uri="{FF2B5EF4-FFF2-40B4-BE49-F238E27FC236}">
                <a16:creationId xmlns:a16="http://schemas.microsoft.com/office/drawing/2014/main" id="{227E7407-E81D-8750-0542-9B9D6985C61D}"/>
              </a:ext>
            </a:extLst>
          </p:cNvPr>
          <p:cNvSpPr txBox="1"/>
          <p:nvPr/>
        </p:nvSpPr>
        <p:spPr>
          <a:xfrm>
            <a:off x="214308" y="5179876"/>
            <a:ext cx="8677275" cy="1631216"/>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Pharisees</a:t>
            </a:r>
            <a:r>
              <a:rPr lang="en-US" sz="2000" dirty="0">
                <a:ea typeface="ＭＳ Ｐゴシック" pitchFamily="-106" charset="-128"/>
                <a:cs typeface="ＭＳ Ｐゴシック" pitchFamily="-106" charset="-128"/>
              </a:rPr>
              <a:t> - </a:t>
            </a:r>
            <a:r>
              <a:rPr lang="en-US" sz="2000" b="1" dirty="0">
                <a:ea typeface="ＭＳ Ｐゴシック" pitchFamily="-106" charset="-128"/>
                <a:cs typeface="ＭＳ Ｐゴシック" pitchFamily="-106" charset="-128"/>
              </a:rPr>
              <a:t>Cultural Codes </a:t>
            </a:r>
            <a:r>
              <a:rPr lang="en-US" sz="2000" dirty="0">
                <a:ea typeface="ＭＳ Ｐゴシック" pitchFamily="-106" charset="-128"/>
                <a:cs typeface="ＭＳ Ｐゴシック" pitchFamily="-106" charset="-128"/>
              </a:rPr>
              <a:t>- God had stopped speaking to them and hadn't sent a prophet to them in about 400 years. So, they believed that if every Israelite were to perfectly observe all 613 commands in the Torah, then it would appease God and He would restore the Judean kingdom in Israel.</a:t>
            </a:r>
          </a:p>
        </p:txBody>
      </p:sp>
      <p:sp>
        <p:nvSpPr>
          <p:cNvPr id="6" name="TextBox 5">
            <a:extLst>
              <a:ext uri="{FF2B5EF4-FFF2-40B4-BE49-F238E27FC236}">
                <a16:creationId xmlns:a16="http://schemas.microsoft.com/office/drawing/2014/main" id="{B17DD1EC-058A-DA71-E853-0B7A54948E1B}"/>
              </a:ext>
            </a:extLst>
          </p:cNvPr>
          <p:cNvSpPr txBox="1"/>
          <p:nvPr/>
        </p:nvSpPr>
        <p:spPr>
          <a:xfrm>
            <a:off x="214308" y="4469143"/>
            <a:ext cx="8257389" cy="646331"/>
          </a:xfrm>
          <a:prstGeom prst="rect">
            <a:avLst/>
          </a:prstGeom>
          <a:noFill/>
        </p:spPr>
        <p:txBody>
          <a:bodyPr wrap="none" rtlCol="0">
            <a:spAutoFit/>
          </a:bodyPr>
          <a:lstStyle/>
          <a:p>
            <a:r>
              <a:rPr lang="en-US" b="1" dirty="0">
                <a:ea typeface="ＭＳ Ｐゴシック" pitchFamily="-106" charset="-128"/>
                <a:cs typeface="ＭＳ Ｐゴシック" pitchFamily="-106" charset="-128"/>
              </a:rPr>
              <a:t>Uncertainty </a:t>
            </a:r>
            <a:r>
              <a:rPr lang="en-US" b="1" dirty="0">
                <a:ea typeface="ＭＳ Ｐゴシック" pitchFamily="-106" charset="-128"/>
                <a:cs typeface="ＭＳ Ｐゴシック" pitchFamily="-106" charset="-128"/>
                <a:sym typeface="Wingdings" panose="05000000000000000000" pitchFamily="2" charset="2"/>
              </a:rPr>
              <a:t> </a:t>
            </a:r>
            <a:r>
              <a:rPr lang="en-US" b="1" u="sng" dirty="0">
                <a:ea typeface="ＭＳ Ｐゴシック" pitchFamily="-106" charset="-128"/>
                <a:cs typeface="ＭＳ Ｐゴシック" pitchFamily="-106" charset="-128"/>
                <a:sym typeface="Wingdings" panose="05000000000000000000" pitchFamily="2" charset="2"/>
              </a:rPr>
              <a:t>Systems</a:t>
            </a:r>
            <a:r>
              <a:rPr lang="en-US" b="1" dirty="0">
                <a:ea typeface="ＭＳ Ｐゴシック" pitchFamily="-106" charset="-128"/>
                <a:cs typeface="ＭＳ Ｐゴシック" pitchFamily="-106" charset="-128"/>
                <a:sym typeface="Wingdings" panose="05000000000000000000" pitchFamily="2" charset="2"/>
              </a:rPr>
              <a:t>  Culture  “Path to Good Life”  </a:t>
            </a:r>
            <a:r>
              <a:rPr lang="en-US" b="1" u="sng" dirty="0">
                <a:ea typeface="ＭＳ Ｐゴシック" pitchFamily="-106" charset="-128"/>
                <a:cs typeface="ＭＳ Ｐゴシック" pitchFamily="-106" charset="-128"/>
                <a:sym typeface="Wingdings" panose="05000000000000000000" pitchFamily="2" charset="2"/>
              </a:rPr>
              <a:t>Enforcement</a:t>
            </a:r>
            <a:r>
              <a:rPr lang="en-US" b="1" dirty="0">
                <a:ea typeface="ＭＳ Ｐゴシック" pitchFamily="-106" charset="-128"/>
                <a:cs typeface="ＭＳ Ｐゴシック" pitchFamily="-106" charset="-128"/>
                <a:sym typeface="Wingdings" panose="05000000000000000000" pitchFamily="2" charset="2"/>
              </a:rPr>
              <a:t> </a:t>
            </a:r>
          </a:p>
          <a:p>
            <a:r>
              <a:rPr lang="en-US" b="1" dirty="0">
                <a:ea typeface="ＭＳ Ｐゴシック" pitchFamily="-106" charset="-128"/>
                <a:cs typeface="ＭＳ Ｐゴシック" pitchFamily="-106" charset="-128"/>
                <a:sym typeface="Wingdings" panose="05000000000000000000" pitchFamily="2" charset="2"/>
              </a:rPr>
              <a:t>	(…against those who threaten or question the Systems)</a:t>
            </a:r>
          </a:p>
        </p:txBody>
      </p:sp>
    </p:spTree>
    <p:extLst>
      <p:ext uri="{BB962C8B-B14F-4D97-AF65-F5344CB8AC3E}">
        <p14:creationId xmlns:p14="http://schemas.microsoft.com/office/powerpoint/2010/main" val="13125198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1000"/>
                                        <p:tgtEl>
                                          <p:spTgt spid="2"/>
                                        </p:tgtEl>
                                      </p:cBhvr>
                                    </p:animEffect>
                                    <p:anim calcmode="lin" valueType="num">
                                      <p:cBhvr>
                                        <p:cTn id="15" dur="1000" fill="hold"/>
                                        <p:tgtEl>
                                          <p:spTgt spid="2"/>
                                        </p:tgtEl>
                                        <p:attrNameLst>
                                          <p:attrName>ppt_x</p:attrName>
                                        </p:attrNameLst>
                                      </p:cBhvr>
                                      <p:tavLst>
                                        <p:tav tm="0">
                                          <p:val>
                                            <p:strVal val="#ppt_x"/>
                                          </p:val>
                                        </p:tav>
                                        <p:tav tm="100000">
                                          <p:val>
                                            <p:strVal val="#ppt_x"/>
                                          </p:val>
                                        </p:tav>
                                      </p:tavLst>
                                    </p:anim>
                                    <p:anim calcmode="lin" valueType="num">
                                      <p:cBhvr>
                                        <p:cTn id="1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anim calcmode="lin" valueType="num">
                                      <p:cBhvr>
                                        <p:cTn id="22" dur="1000" fill="hold"/>
                                        <p:tgtEl>
                                          <p:spTgt spid="6"/>
                                        </p:tgtEl>
                                        <p:attrNameLst>
                                          <p:attrName>ppt_x</p:attrName>
                                        </p:attrNameLst>
                                      </p:cBhvr>
                                      <p:tavLst>
                                        <p:tav tm="0">
                                          <p:val>
                                            <p:strVal val="#ppt_x"/>
                                          </p:val>
                                        </p:tav>
                                        <p:tav tm="100000">
                                          <p:val>
                                            <p:strVal val="#ppt_x"/>
                                          </p:val>
                                        </p:tav>
                                      </p:tavLst>
                                    </p:anim>
                                    <p:anim calcmode="lin" valueType="num">
                                      <p:cBhvr>
                                        <p:cTn id="23"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4"/>
                                        </p:tgtEl>
                                        <p:attrNameLst>
                                          <p:attrName>style.visibility</p:attrName>
                                        </p:attrNameLst>
                                      </p:cBhvr>
                                      <p:to>
                                        <p:strVal val="visible"/>
                                      </p:to>
                                    </p:set>
                                    <p:animEffect transition="in" filter="fade">
                                      <p:cBhvr>
                                        <p:cTn id="28" dur="1000"/>
                                        <p:tgtEl>
                                          <p:spTgt spid="4"/>
                                        </p:tgtEl>
                                      </p:cBhvr>
                                    </p:animEffect>
                                    <p:anim calcmode="lin" valueType="num">
                                      <p:cBhvr>
                                        <p:cTn id="29" dur="1000" fill="hold"/>
                                        <p:tgtEl>
                                          <p:spTgt spid="4"/>
                                        </p:tgtEl>
                                        <p:attrNameLst>
                                          <p:attrName>ppt_x</p:attrName>
                                        </p:attrNameLst>
                                      </p:cBhvr>
                                      <p:tavLst>
                                        <p:tav tm="0">
                                          <p:val>
                                            <p:strVal val="#ppt_x"/>
                                          </p:val>
                                        </p:tav>
                                        <p:tav tm="100000">
                                          <p:val>
                                            <p:strVal val="#ppt_x"/>
                                          </p:val>
                                        </p:tav>
                                      </p:tavLst>
                                    </p:anim>
                                    <p:anim calcmode="lin" valueType="num">
                                      <p:cBhvr>
                                        <p:cTn id="30"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 grpId="0"/>
      <p:bldP spid="4" grpId="0"/>
      <p:bldP spid="6"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4B612D-2782-6838-CDF7-6EB17781FEAC}"/>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BC067EC5-F184-AFD4-6084-3C1CBA6927E6}"/>
              </a:ext>
            </a:extLst>
          </p:cNvPr>
          <p:cNvSpPr txBox="1">
            <a:spLocks/>
          </p:cNvSpPr>
          <p:nvPr/>
        </p:nvSpPr>
        <p:spPr bwMode="auto">
          <a:xfrm>
            <a:off x="233362" y="32657"/>
            <a:ext cx="838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850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3300" dirty="0"/>
              <a:t>Uncertainty Leads to Systems</a:t>
            </a:r>
            <a:br>
              <a:rPr lang="en-US" dirty="0"/>
            </a:br>
            <a:r>
              <a:rPr lang="en-US" sz="2800" dirty="0">
                <a:solidFill>
                  <a:schemeClr val="tx2">
                    <a:lumMod val="60000"/>
                    <a:lumOff val="40000"/>
                  </a:schemeClr>
                </a:solidFill>
              </a:rPr>
              <a:t>What People Crave…</a:t>
            </a:r>
            <a:endParaRPr lang="en-US" sz="2600" dirty="0">
              <a:solidFill>
                <a:schemeClr val="tx2">
                  <a:lumMod val="60000"/>
                  <a:lumOff val="40000"/>
                </a:schemeClr>
              </a:solidFill>
            </a:endParaRPr>
          </a:p>
        </p:txBody>
      </p:sp>
      <p:sp>
        <p:nvSpPr>
          <p:cNvPr id="3" name="TextBox 2">
            <a:extLst>
              <a:ext uri="{FF2B5EF4-FFF2-40B4-BE49-F238E27FC236}">
                <a16:creationId xmlns:a16="http://schemas.microsoft.com/office/drawing/2014/main" id="{EC65C75E-DAE9-9125-3531-815F1C495D89}"/>
              </a:ext>
            </a:extLst>
          </p:cNvPr>
          <p:cNvSpPr txBox="1"/>
          <p:nvPr/>
        </p:nvSpPr>
        <p:spPr>
          <a:xfrm>
            <a:off x="214311" y="838200"/>
            <a:ext cx="8677275" cy="1631216"/>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Why Uncertainty Pushes Us to Create Systems</a:t>
            </a:r>
            <a:endParaRPr lang="en-US" sz="2000" dirty="0">
              <a:ea typeface="ＭＳ Ｐゴシック" pitchFamily="-106" charset="-128"/>
              <a:cs typeface="ＭＳ Ｐゴシック" pitchFamily="-106" charset="-128"/>
            </a:endParaRPr>
          </a:p>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Uncertainty makes people crave stability.</a:t>
            </a:r>
          </a:p>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Systems promise clarity.</a:t>
            </a:r>
          </a:p>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Rules feel safer than trust.</a:t>
            </a:r>
          </a:p>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Formulas feel safer than faith.</a:t>
            </a:r>
          </a:p>
        </p:txBody>
      </p:sp>
      <p:sp>
        <p:nvSpPr>
          <p:cNvPr id="2" name="TextBox 1">
            <a:extLst>
              <a:ext uri="{FF2B5EF4-FFF2-40B4-BE49-F238E27FC236}">
                <a16:creationId xmlns:a16="http://schemas.microsoft.com/office/drawing/2014/main" id="{565E82E4-F430-81E9-B1C3-014BEF12E03E}"/>
              </a:ext>
            </a:extLst>
          </p:cNvPr>
          <p:cNvSpPr txBox="1"/>
          <p:nvPr/>
        </p:nvSpPr>
        <p:spPr>
          <a:xfrm>
            <a:off x="233362" y="2667000"/>
            <a:ext cx="8677275" cy="1015663"/>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Romans 10:3</a:t>
            </a:r>
            <a:r>
              <a:rPr lang="en-US" sz="2000" b="1" i="1" dirty="0">
                <a:ea typeface="ＭＳ Ｐゴシック" pitchFamily="-106" charset="-128"/>
                <a:cs typeface="ＭＳ Ｐゴシック" pitchFamily="-106" charset="-128"/>
              </a:rPr>
              <a:t>  </a:t>
            </a:r>
            <a:r>
              <a:rPr lang="en-US" sz="2000" i="1" dirty="0">
                <a:ea typeface="ＭＳ Ｐゴシック" pitchFamily="-106" charset="-128"/>
                <a:cs typeface="ＭＳ Ｐゴシック" pitchFamily="-106" charset="-128"/>
              </a:rPr>
              <a:t>“For ignoring the righteousness that comes from God and seeking instead to establish their own righteousness, they did not submit to God’s righteousness.”</a:t>
            </a:r>
            <a:endParaRPr lang="en-US" sz="2000" dirty="0">
              <a:ea typeface="ＭＳ Ｐゴシック" pitchFamily="-106" charset="-128"/>
              <a:cs typeface="ＭＳ Ｐゴシック" pitchFamily="-106" charset="-128"/>
            </a:endParaRPr>
          </a:p>
        </p:txBody>
      </p:sp>
      <p:sp>
        <p:nvSpPr>
          <p:cNvPr id="4" name="TextBox 3">
            <a:extLst>
              <a:ext uri="{FF2B5EF4-FFF2-40B4-BE49-F238E27FC236}">
                <a16:creationId xmlns:a16="http://schemas.microsoft.com/office/drawing/2014/main" id="{C7CEA2AD-0FBD-8623-7D00-BACBCEC6B86A}"/>
              </a:ext>
            </a:extLst>
          </p:cNvPr>
          <p:cNvSpPr txBox="1"/>
          <p:nvPr/>
        </p:nvSpPr>
        <p:spPr>
          <a:xfrm>
            <a:off x="233362" y="3880247"/>
            <a:ext cx="8677275" cy="2246769"/>
          </a:xfrm>
          <a:prstGeom prst="rect">
            <a:avLst/>
          </a:prstGeom>
          <a:noFill/>
        </p:spPr>
        <p:txBody>
          <a:bodyPr wrap="square" rtlCol="0">
            <a:spAutoFit/>
          </a:bodyPr>
          <a:lstStyle/>
          <a:p>
            <a:r>
              <a:rPr lang="en-US" sz="2000" dirty="0">
                <a:ea typeface="ＭＳ Ｐゴシック" pitchFamily="-106" charset="-128"/>
                <a:cs typeface="ＭＳ Ｐゴシック" pitchFamily="-106" charset="-128"/>
              </a:rPr>
              <a:t>Paul does not say they rejected righteousness.</a:t>
            </a:r>
          </a:p>
          <a:p>
            <a:pPr lvl="1"/>
            <a:r>
              <a:rPr lang="en-US" sz="2000" dirty="0">
                <a:ea typeface="ＭＳ Ｐゴシック" pitchFamily="-106" charset="-128"/>
                <a:cs typeface="ＭＳ Ｐゴシック" pitchFamily="-106" charset="-128"/>
              </a:rPr>
              <a:t>They created their own.</a:t>
            </a:r>
          </a:p>
          <a:p>
            <a:r>
              <a:rPr lang="en-US" sz="2000" dirty="0">
                <a:ea typeface="ＭＳ Ｐゴシック" pitchFamily="-106" charset="-128"/>
                <a:cs typeface="ＭＳ Ｐゴシック" pitchFamily="-106" charset="-128"/>
              </a:rPr>
              <a:t> </a:t>
            </a:r>
          </a:p>
          <a:p>
            <a:r>
              <a:rPr lang="en-US" sz="2000" dirty="0">
                <a:ea typeface="ＭＳ Ｐゴシック" pitchFamily="-106" charset="-128"/>
                <a:cs typeface="ＭＳ Ｐゴシック" pitchFamily="-106" charset="-128"/>
              </a:rPr>
              <a:t>Human righteousness reduces fear by:</a:t>
            </a:r>
          </a:p>
          <a:p>
            <a:pPr lvl="1" fontAlgn="ctr"/>
            <a:r>
              <a:rPr lang="en-US" sz="2000" dirty="0">
                <a:ea typeface="ＭＳ Ｐゴシック" pitchFamily="-106" charset="-128"/>
                <a:cs typeface="ＭＳ Ｐゴシック" pitchFamily="-106" charset="-128"/>
              </a:rPr>
              <a:t>Defining who is “in” and who is “out”.</a:t>
            </a:r>
          </a:p>
          <a:p>
            <a:pPr lvl="1" fontAlgn="ctr"/>
            <a:r>
              <a:rPr lang="en-US" sz="2000" dirty="0">
                <a:ea typeface="ＭＳ Ｐゴシック" pitchFamily="-106" charset="-128"/>
                <a:cs typeface="ＭＳ Ｐゴシック" pitchFamily="-106" charset="-128"/>
              </a:rPr>
              <a:t>Measuring worth by performance.</a:t>
            </a:r>
          </a:p>
          <a:p>
            <a:pPr lvl="1" fontAlgn="ctr"/>
            <a:r>
              <a:rPr lang="en-US" sz="2000" dirty="0">
                <a:ea typeface="ＭＳ Ｐゴシック" pitchFamily="-106" charset="-128"/>
                <a:cs typeface="ＭＳ Ｐゴシック" pitchFamily="-106" charset="-128"/>
              </a:rPr>
              <a:t>Rewarding conformity.</a:t>
            </a:r>
          </a:p>
        </p:txBody>
      </p:sp>
    </p:spTree>
    <p:extLst>
      <p:ext uri="{BB962C8B-B14F-4D97-AF65-F5344CB8AC3E}">
        <p14:creationId xmlns:p14="http://schemas.microsoft.com/office/powerpoint/2010/main" val="5981472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1000"/>
                                        <p:tgtEl>
                                          <p:spTgt spid="2"/>
                                        </p:tgtEl>
                                      </p:cBhvr>
                                    </p:animEffect>
                                    <p:anim calcmode="lin" valueType="num">
                                      <p:cBhvr>
                                        <p:cTn id="15" dur="1000" fill="hold"/>
                                        <p:tgtEl>
                                          <p:spTgt spid="2"/>
                                        </p:tgtEl>
                                        <p:attrNameLst>
                                          <p:attrName>ppt_x</p:attrName>
                                        </p:attrNameLst>
                                      </p:cBhvr>
                                      <p:tavLst>
                                        <p:tav tm="0">
                                          <p:val>
                                            <p:strVal val="#ppt_x"/>
                                          </p:val>
                                        </p:tav>
                                        <p:tav tm="100000">
                                          <p:val>
                                            <p:strVal val="#ppt_x"/>
                                          </p:val>
                                        </p:tav>
                                      </p:tavLst>
                                    </p:anim>
                                    <p:anim calcmode="lin" valueType="num">
                                      <p:cBhvr>
                                        <p:cTn id="1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1000"/>
                                        <p:tgtEl>
                                          <p:spTgt spid="4"/>
                                        </p:tgtEl>
                                      </p:cBhvr>
                                    </p:animEffect>
                                    <p:anim calcmode="lin" valueType="num">
                                      <p:cBhvr>
                                        <p:cTn id="22" dur="1000" fill="hold"/>
                                        <p:tgtEl>
                                          <p:spTgt spid="4"/>
                                        </p:tgtEl>
                                        <p:attrNameLst>
                                          <p:attrName>ppt_x</p:attrName>
                                        </p:attrNameLst>
                                      </p:cBhvr>
                                      <p:tavLst>
                                        <p:tav tm="0">
                                          <p:val>
                                            <p:strVal val="#ppt_x"/>
                                          </p:val>
                                        </p:tav>
                                        <p:tav tm="100000">
                                          <p:val>
                                            <p:strVal val="#ppt_x"/>
                                          </p:val>
                                        </p:tav>
                                      </p:tavLst>
                                    </p:anim>
                                    <p:anim calcmode="lin" valueType="num">
                                      <p:cBhvr>
                                        <p:cTn id="23"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 grpId="0"/>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0361AB-6EB9-AD25-8EC2-C69BD345E20B}"/>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3CC995C3-FB59-E9BA-470D-B53D31E75B2B}"/>
              </a:ext>
            </a:extLst>
          </p:cNvPr>
          <p:cNvSpPr txBox="1">
            <a:spLocks/>
          </p:cNvSpPr>
          <p:nvPr/>
        </p:nvSpPr>
        <p:spPr bwMode="auto">
          <a:xfrm>
            <a:off x="233362" y="32657"/>
            <a:ext cx="838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850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3600" dirty="0"/>
              <a:t>Systems and Theology</a:t>
            </a:r>
            <a:br>
              <a:rPr lang="en-US" dirty="0"/>
            </a:br>
            <a:r>
              <a:rPr lang="en-US" sz="2800" dirty="0">
                <a:solidFill>
                  <a:schemeClr val="tx2">
                    <a:lumMod val="60000"/>
                    <a:lumOff val="40000"/>
                  </a:schemeClr>
                </a:solidFill>
              </a:rPr>
              <a:t>From Uncertainty to Control</a:t>
            </a:r>
          </a:p>
        </p:txBody>
      </p:sp>
      <p:sp>
        <p:nvSpPr>
          <p:cNvPr id="3" name="TextBox 2">
            <a:extLst>
              <a:ext uri="{FF2B5EF4-FFF2-40B4-BE49-F238E27FC236}">
                <a16:creationId xmlns:a16="http://schemas.microsoft.com/office/drawing/2014/main" id="{02DFA595-39E1-0A5C-94BF-A3C4FFDDC523}"/>
              </a:ext>
            </a:extLst>
          </p:cNvPr>
          <p:cNvSpPr txBox="1"/>
          <p:nvPr/>
        </p:nvSpPr>
        <p:spPr>
          <a:xfrm>
            <a:off x="214310" y="838200"/>
            <a:ext cx="8677275" cy="1938992"/>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Theology Can Become a Righteousness System</a:t>
            </a:r>
            <a:endParaRPr lang="en-US" sz="2000" dirty="0">
              <a:ea typeface="ＭＳ Ｐゴシック" pitchFamily="-106" charset="-128"/>
              <a:cs typeface="ＭＳ Ｐゴシック" pitchFamily="-106" charset="-128"/>
            </a:endParaRPr>
          </a:p>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Theology itself is not the problem.</a:t>
            </a:r>
          </a:p>
          <a:p>
            <a:pPr marL="800100" lvl="1" indent="-342900">
              <a:buFont typeface="Arial" panose="020B0604020202020204" pitchFamily="34" charset="0"/>
              <a:buChar char="•"/>
            </a:pPr>
            <a:r>
              <a:rPr lang="en-US" sz="2000" dirty="0">
                <a:ea typeface="ＭＳ Ｐゴシック" pitchFamily="-106" charset="-128"/>
                <a:cs typeface="ＭＳ Ｐゴシック" pitchFamily="-106" charset="-128"/>
              </a:rPr>
              <a:t>Self-trust is.</a:t>
            </a:r>
          </a:p>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When theology is used to manage uncertainty, it becomes a system of control.</a:t>
            </a:r>
          </a:p>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Jesus confronted this directly.</a:t>
            </a:r>
          </a:p>
        </p:txBody>
      </p:sp>
      <p:sp>
        <p:nvSpPr>
          <p:cNvPr id="2" name="TextBox 1">
            <a:extLst>
              <a:ext uri="{FF2B5EF4-FFF2-40B4-BE49-F238E27FC236}">
                <a16:creationId xmlns:a16="http://schemas.microsoft.com/office/drawing/2014/main" id="{96B45E03-36AC-53D4-AEDF-420DA90A5AA4}"/>
              </a:ext>
            </a:extLst>
          </p:cNvPr>
          <p:cNvSpPr txBox="1"/>
          <p:nvPr/>
        </p:nvSpPr>
        <p:spPr>
          <a:xfrm>
            <a:off x="214310" y="2925288"/>
            <a:ext cx="8677275" cy="1015663"/>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Matthew </a:t>
            </a:r>
            <a:r>
              <a:rPr lang="en-US" sz="2000" b="1" i="1" dirty="0">
                <a:ea typeface="ＭＳ Ｐゴシック" pitchFamily="-106" charset="-128"/>
                <a:cs typeface="ＭＳ Ｐゴシック" pitchFamily="-106" charset="-128"/>
              </a:rPr>
              <a:t>23:4  </a:t>
            </a:r>
            <a:r>
              <a:rPr lang="en-US" sz="2000" i="1" dirty="0">
                <a:ea typeface="ＭＳ Ｐゴシック" pitchFamily="-106" charset="-128"/>
                <a:cs typeface="ＭＳ Ｐゴシック" pitchFamily="-106" charset="-128"/>
              </a:rPr>
              <a:t>“They tie up heavy loads, hard to carry, and put them on people’s shoulders, but they themselves are unwilling to lift a finger to move them.”</a:t>
            </a:r>
          </a:p>
        </p:txBody>
      </p:sp>
      <p:sp>
        <p:nvSpPr>
          <p:cNvPr id="4" name="TextBox 3">
            <a:extLst>
              <a:ext uri="{FF2B5EF4-FFF2-40B4-BE49-F238E27FC236}">
                <a16:creationId xmlns:a16="http://schemas.microsoft.com/office/drawing/2014/main" id="{6A0D40A7-E865-D4CD-F969-65BDD9CF8DA8}"/>
              </a:ext>
            </a:extLst>
          </p:cNvPr>
          <p:cNvSpPr txBox="1"/>
          <p:nvPr/>
        </p:nvSpPr>
        <p:spPr>
          <a:xfrm>
            <a:off x="214310" y="4089047"/>
            <a:ext cx="8677275" cy="2554545"/>
          </a:xfrm>
          <a:prstGeom prst="rect">
            <a:avLst/>
          </a:prstGeom>
          <a:noFill/>
        </p:spPr>
        <p:txBody>
          <a:bodyPr wrap="square" rtlCol="0">
            <a:spAutoFit/>
          </a:bodyPr>
          <a:lstStyle/>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The Pharisees built certainty through precision. But their righteousness was external.</a:t>
            </a:r>
          </a:p>
          <a:p>
            <a:pPr marL="342900" indent="-342900">
              <a:buFont typeface="Arial" panose="020B0604020202020204" pitchFamily="34" charset="0"/>
              <a:buChar char="•"/>
            </a:pPr>
            <a:r>
              <a:rPr lang="en-US" sz="2000" dirty="0"/>
              <a:t>When humans elevate their systems of theology to be indisputably correct (certain), then they are essentially claiming to be God.</a:t>
            </a:r>
          </a:p>
          <a:p>
            <a:pPr marL="342900" indent="-342900">
              <a:buFont typeface="Arial" panose="020B0604020202020204" pitchFamily="34" charset="0"/>
              <a:buChar char="•"/>
            </a:pPr>
            <a:r>
              <a:rPr lang="en-US" sz="2000" b="1" dirty="0"/>
              <a:t>When the people creating the systems and creating the culture and enforcing their own righteousness don’t experience the consequences of what they teach then they will always drift farther from reality.</a:t>
            </a:r>
          </a:p>
        </p:txBody>
      </p:sp>
    </p:spTree>
    <p:extLst>
      <p:ext uri="{BB962C8B-B14F-4D97-AF65-F5344CB8AC3E}">
        <p14:creationId xmlns:p14="http://schemas.microsoft.com/office/powerpoint/2010/main" val="13747348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1000"/>
                                        <p:tgtEl>
                                          <p:spTgt spid="2"/>
                                        </p:tgtEl>
                                      </p:cBhvr>
                                    </p:animEffect>
                                    <p:anim calcmode="lin" valueType="num">
                                      <p:cBhvr>
                                        <p:cTn id="15" dur="1000" fill="hold"/>
                                        <p:tgtEl>
                                          <p:spTgt spid="2"/>
                                        </p:tgtEl>
                                        <p:attrNameLst>
                                          <p:attrName>ppt_x</p:attrName>
                                        </p:attrNameLst>
                                      </p:cBhvr>
                                      <p:tavLst>
                                        <p:tav tm="0">
                                          <p:val>
                                            <p:strVal val="#ppt_x"/>
                                          </p:val>
                                        </p:tav>
                                        <p:tav tm="100000">
                                          <p:val>
                                            <p:strVal val="#ppt_x"/>
                                          </p:val>
                                        </p:tav>
                                      </p:tavLst>
                                    </p:anim>
                                    <p:anim calcmode="lin" valueType="num">
                                      <p:cBhvr>
                                        <p:cTn id="1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1000"/>
                                        <p:tgtEl>
                                          <p:spTgt spid="4"/>
                                        </p:tgtEl>
                                      </p:cBhvr>
                                    </p:animEffect>
                                    <p:anim calcmode="lin" valueType="num">
                                      <p:cBhvr>
                                        <p:cTn id="22" dur="1000" fill="hold"/>
                                        <p:tgtEl>
                                          <p:spTgt spid="4"/>
                                        </p:tgtEl>
                                        <p:attrNameLst>
                                          <p:attrName>ppt_x</p:attrName>
                                        </p:attrNameLst>
                                      </p:cBhvr>
                                      <p:tavLst>
                                        <p:tav tm="0">
                                          <p:val>
                                            <p:strVal val="#ppt_x"/>
                                          </p:val>
                                        </p:tav>
                                        <p:tav tm="100000">
                                          <p:val>
                                            <p:strVal val="#ppt_x"/>
                                          </p:val>
                                        </p:tav>
                                      </p:tavLst>
                                    </p:anim>
                                    <p:anim calcmode="lin" valueType="num">
                                      <p:cBhvr>
                                        <p:cTn id="23"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 grpId="0"/>
      <p:bldP spid="4"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734A92-93FF-CAB4-CC04-9C8C82CBFA4C}"/>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61EB1058-45F7-7A7C-A43B-A08FD85B05FD}"/>
              </a:ext>
            </a:extLst>
          </p:cNvPr>
          <p:cNvSpPr txBox="1">
            <a:spLocks/>
          </p:cNvSpPr>
          <p:nvPr/>
        </p:nvSpPr>
        <p:spPr bwMode="auto">
          <a:xfrm>
            <a:off x="233362" y="32657"/>
            <a:ext cx="838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850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3300" dirty="0"/>
              <a:t>Replacing God’s Righteousness</a:t>
            </a:r>
            <a:br>
              <a:rPr lang="en-US" dirty="0"/>
            </a:br>
            <a:r>
              <a:rPr lang="en-US" sz="2800" dirty="0">
                <a:solidFill>
                  <a:schemeClr val="tx2">
                    <a:lumMod val="60000"/>
                    <a:lumOff val="40000"/>
                  </a:schemeClr>
                </a:solidFill>
              </a:rPr>
              <a:t>Ideology – Cultural Morality</a:t>
            </a:r>
            <a:endParaRPr lang="en-US" sz="2600" dirty="0">
              <a:solidFill>
                <a:schemeClr val="tx2">
                  <a:lumMod val="60000"/>
                  <a:lumOff val="40000"/>
                </a:schemeClr>
              </a:solidFill>
            </a:endParaRPr>
          </a:p>
        </p:txBody>
      </p:sp>
      <p:sp>
        <p:nvSpPr>
          <p:cNvPr id="3" name="TextBox 2">
            <a:extLst>
              <a:ext uri="{FF2B5EF4-FFF2-40B4-BE49-F238E27FC236}">
                <a16:creationId xmlns:a16="http://schemas.microsoft.com/office/drawing/2014/main" id="{E78FE65B-D9DD-89EF-0749-258317058683}"/>
              </a:ext>
            </a:extLst>
          </p:cNvPr>
          <p:cNvSpPr txBox="1"/>
          <p:nvPr/>
        </p:nvSpPr>
        <p:spPr>
          <a:xfrm>
            <a:off x="208133" y="761411"/>
            <a:ext cx="8677275" cy="2554545"/>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Ideology as a Replacement for God’s Righteousness</a:t>
            </a:r>
            <a:endParaRPr lang="en-US" sz="2000" dirty="0">
              <a:ea typeface="ＭＳ Ｐゴシック" pitchFamily="-106" charset="-128"/>
              <a:cs typeface="ＭＳ Ｐゴシック" pitchFamily="-106" charset="-128"/>
            </a:endParaRPr>
          </a:p>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Ideology promises moral clarity </a:t>
            </a:r>
            <a:r>
              <a:rPr lang="en-US" sz="2000" u="sng" dirty="0">
                <a:ea typeface="ＭＳ Ｐゴシック" pitchFamily="-106" charset="-128"/>
                <a:cs typeface="ＭＳ Ｐゴシック" pitchFamily="-106" charset="-128"/>
              </a:rPr>
              <a:t>without</a:t>
            </a:r>
            <a:r>
              <a:rPr lang="en-US" sz="2000" dirty="0">
                <a:ea typeface="ＭＳ Ｐゴシック" pitchFamily="-106" charset="-128"/>
                <a:cs typeface="ＭＳ Ｐゴシック" pitchFamily="-106" charset="-128"/>
              </a:rPr>
              <a:t> God.</a:t>
            </a:r>
          </a:p>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It defines:</a:t>
            </a:r>
          </a:p>
          <a:p>
            <a:pPr marL="800100" lvl="1" indent="-342900">
              <a:buFont typeface="Arial" panose="020B0604020202020204" pitchFamily="34" charset="0"/>
              <a:buChar char="•"/>
            </a:pPr>
            <a:r>
              <a:rPr lang="en-US" sz="2000" dirty="0">
                <a:ea typeface="ＭＳ Ｐゴシック" pitchFamily="-106" charset="-128"/>
                <a:cs typeface="ＭＳ Ｐゴシック" pitchFamily="-106" charset="-128"/>
              </a:rPr>
              <a:t>Good and evil.</a:t>
            </a:r>
          </a:p>
          <a:p>
            <a:pPr marL="800100" lvl="1" indent="-342900" fontAlgn="ctr">
              <a:buFont typeface="Arial" panose="020B0604020202020204" pitchFamily="34" charset="0"/>
              <a:buChar char="•"/>
            </a:pPr>
            <a:r>
              <a:rPr lang="en-US" sz="2000" dirty="0">
                <a:ea typeface="ＭＳ Ｐゴシック" pitchFamily="-106" charset="-128"/>
                <a:cs typeface="ＭＳ Ｐゴシック" pitchFamily="-106" charset="-128"/>
              </a:rPr>
              <a:t>Insiders and outsiders.</a:t>
            </a:r>
          </a:p>
          <a:p>
            <a:pPr marL="800100" lvl="1" indent="-342900" fontAlgn="ctr">
              <a:buFont typeface="Arial" panose="020B0604020202020204" pitchFamily="34" charset="0"/>
              <a:buChar char="•"/>
            </a:pPr>
            <a:r>
              <a:rPr lang="en-US" sz="2000" dirty="0">
                <a:ea typeface="ＭＳ Ｐゴシック" pitchFamily="-106" charset="-128"/>
                <a:cs typeface="ＭＳ Ｐゴシック" pitchFamily="-106" charset="-128"/>
              </a:rPr>
              <a:t>Acceptable behavior.</a:t>
            </a:r>
          </a:p>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The Bible does not define righteousness by culture, feelings, or majority opinion. </a:t>
            </a:r>
            <a:r>
              <a:rPr lang="en-US" sz="2000" u="sng" dirty="0">
                <a:ea typeface="ＭＳ Ｐゴシック" pitchFamily="-106" charset="-128"/>
                <a:cs typeface="ＭＳ Ｐゴシック" pitchFamily="-106" charset="-128"/>
              </a:rPr>
              <a:t>The Bible defines righteousness by God’s character</a:t>
            </a:r>
            <a:r>
              <a:rPr lang="en-US" sz="2000" dirty="0">
                <a:ea typeface="ＭＳ Ｐゴシック" pitchFamily="-106" charset="-128"/>
                <a:cs typeface="ＭＳ Ｐゴシック" pitchFamily="-106" charset="-128"/>
              </a:rPr>
              <a:t>.</a:t>
            </a:r>
          </a:p>
        </p:txBody>
      </p:sp>
      <p:sp>
        <p:nvSpPr>
          <p:cNvPr id="2" name="TextBox 1">
            <a:extLst>
              <a:ext uri="{FF2B5EF4-FFF2-40B4-BE49-F238E27FC236}">
                <a16:creationId xmlns:a16="http://schemas.microsoft.com/office/drawing/2014/main" id="{E64CA2A7-AC0B-6EEC-F7B6-C72EABB5968D}"/>
              </a:ext>
            </a:extLst>
          </p:cNvPr>
          <p:cNvSpPr txBox="1"/>
          <p:nvPr/>
        </p:nvSpPr>
        <p:spPr>
          <a:xfrm>
            <a:off x="216371" y="3382990"/>
            <a:ext cx="8677275" cy="1323439"/>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Isaiah 5:20  </a:t>
            </a:r>
            <a:r>
              <a:rPr lang="en-US" sz="2000" i="1" dirty="0">
                <a:ea typeface="ＭＳ Ｐゴシック" pitchFamily="-106" charset="-128"/>
                <a:cs typeface="ＭＳ Ｐゴシック" pitchFamily="-106" charset="-128"/>
              </a:rPr>
              <a:t>“Those who call evil good and good evil… are as good as dead.”</a:t>
            </a:r>
          </a:p>
          <a:p>
            <a:r>
              <a:rPr lang="en-US" sz="2000" b="1" dirty="0">
                <a:ea typeface="ＭＳ Ｐゴシック" pitchFamily="-106" charset="-128"/>
                <a:cs typeface="ＭＳ Ｐゴシック" pitchFamily="-106" charset="-128"/>
              </a:rPr>
              <a:t>Isaiah 33:22  </a:t>
            </a:r>
            <a:r>
              <a:rPr lang="en-US" sz="2000" i="1" dirty="0">
                <a:ea typeface="ＭＳ Ｐゴシック" pitchFamily="-106" charset="-128"/>
                <a:cs typeface="ＭＳ Ｐゴシック" pitchFamily="-106" charset="-128"/>
              </a:rPr>
              <a:t>“For the LORD is our ruler, the LORD is our lawgiver, the LORD is our king; he will deliver us.”</a:t>
            </a:r>
          </a:p>
        </p:txBody>
      </p:sp>
      <p:sp>
        <p:nvSpPr>
          <p:cNvPr id="4" name="TextBox 3">
            <a:extLst>
              <a:ext uri="{FF2B5EF4-FFF2-40B4-BE49-F238E27FC236}">
                <a16:creationId xmlns:a16="http://schemas.microsoft.com/office/drawing/2014/main" id="{2C779FE4-25A1-06E9-C774-16406BDDEF61}"/>
              </a:ext>
            </a:extLst>
          </p:cNvPr>
          <p:cNvSpPr txBox="1"/>
          <p:nvPr/>
        </p:nvSpPr>
        <p:spPr>
          <a:xfrm>
            <a:off x="195776" y="4796117"/>
            <a:ext cx="8677275" cy="1631216"/>
          </a:xfrm>
          <a:prstGeom prst="rect">
            <a:avLst/>
          </a:prstGeom>
          <a:noFill/>
        </p:spPr>
        <p:txBody>
          <a:bodyPr wrap="square" rtlCol="0">
            <a:spAutoFit/>
          </a:bodyPr>
          <a:lstStyle/>
          <a:p>
            <a:r>
              <a:rPr lang="en-US" sz="2000" dirty="0"/>
              <a:t>Regardless of God’s display of righteousness, mankind, throughout history, has sought to establish himself as the measure of all things.  Why?</a:t>
            </a:r>
            <a:endParaRPr lang="en-US" sz="2000" dirty="0">
              <a:ea typeface="ＭＳ Ｐゴシック" pitchFamily="-106" charset="-128"/>
              <a:cs typeface="ＭＳ Ｐゴシック" pitchFamily="-106" charset="-128"/>
            </a:endParaRPr>
          </a:p>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Ideology thrives on fear and division.</a:t>
            </a:r>
          </a:p>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It offers identity without repentance.</a:t>
            </a:r>
          </a:p>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This is human righteousness wearing modern clothes.</a:t>
            </a:r>
          </a:p>
        </p:txBody>
      </p:sp>
    </p:spTree>
    <p:extLst>
      <p:ext uri="{BB962C8B-B14F-4D97-AF65-F5344CB8AC3E}">
        <p14:creationId xmlns:p14="http://schemas.microsoft.com/office/powerpoint/2010/main" val="4274613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1000"/>
                                        <p:tgtEl>
                                          <p:spTgt spid="2"/>
                                        </p:tgtEl>
                                      </p:cBhvr>
                                    </p:animEffect>
                                    <p:anim calcmode="lin" valueType="num">
                                      <p:cBhvr>
                                        <p:cTn id="15" dur="1000" fill="hold"/>
                                        <p:tgtEl>
                                          <p:spTgt spid="2"/>
                                        </p:tgtEl>
                                        <p:attrNameLst>
                                          <p:attrName>ppt_x</p:attrName>
                                        </p:attrNameLst>
                                      </p:cBhvr>
                                      <p:tavLst>
                                        <p:tav tm="0">
                                          <p:val>
                                            <p:strVal val="#ppt_x"/>
                                          </p:val>
                                        </p:tav>
                                        <p:tav tm="100000">
                                          <p:val>
                                            <p:strVal val="#ppt_x"/>
                                          </p:val>
                                        </p:tav>
                                      </p:tavLst>
                                    </p:anim>
                                    <p:anim calcmode="lin" valueType="num">
                                      <p:cBhvr>
                                        <p:cTn id="1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1000"/>
                                        <p:tgtEl>
                                          <p:spTgt spid="4"/>
                                        </p:tgtEl>
                                      </p:cBhvr>
                                    </p:animEffect>
                                    <p:anim calcmode="lin" valueType="num">
                                      <p:cBhvr>
                                        <p:cTn id="22" dur="1000" fill="hold"/>
                                        <p:tgtEl>
                                          <p:spTgt spid="4"/>
                                        </p:tgtEl>
                                        <p:attrNameLst>
                                          <p:attrName>ppt_x</p:attrName>
                                        </p:attrNameLst>
                                      </p:cBhvr>
                                      <p:tavLst>
                                        <p:tav tm="0">
                                          <p:val>
                                            <p:strVal val="#ppt_x"/>
                                          </p:val>
                                        </p:tav>
                                        <p:tav tm="100000">
                                          <p:val>
                                            <p:strVal val="#ppt_x"/>
                                          </p:val>
                                        </p:tav>
                                      </p:tavLst>
                                    </p:anim>
                                    <p:anim calcmode="lin" valueType="num">
                                      <p:cBhvr>
                                        <p:cTn id="23"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 grpId="0"/>
      <p:bldP spid="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9FCC19-18FC-167C-9B08-CFF169A6356D}"/>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95ADA05A-7C40-6C5A-59F5-EF92B9FBF57F}"/>
              </a:ext>
            </a:extLst>
          </p:cNvPr>
          <p:cNvSpPr txBox="1">
            <a:spLocks/>
          </p:cNvSpPr>
          <p:nvPr/>
        </p:nvSpPr>
        <p:spPr bwMode="auto">
          <a:xfrm>
            <a:off x="233362" y="32657"/>
            <a:ext cx="838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700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From Cultural Morality to Cultural Norms</a:t>
            </a:r>
            <a:br>
              <a:rPr lang="en-US" dirty="0"/>
            </a:br>
            <a:r>
              <a:rPr lang="en-US" sz="3400" dirty="0">
                <a:solidFill>
                  <a:schemeClr val="tx2">
                    <a:lumMod val="60000"/>
                    <a:lumOff val="40000"/>
                  </a:schemeClr>
                </a:solidFill>
              </a:rPr>
              <a:t>Social Contracts</a:t>
            </a:r>
            <a:endParaRPr lang="en-US" sz="2600" dirty="0">
              <a:solidFill>
                <a:schemeClr val="tx2">
                  <a:lumMod val="60000"/>
                  <a:lumOff val="40000"/>
                </a:schemeClr>
              </a:solidFill>
            </a:endParaRPr>
          </a:p>
        </p:txBody>
      </p:sp>
      <p:sp>
        <p:nvSpPr>
          <p:cNvPr id="3" name="TextBox 2">
            <a:extLst>
              <a:ext uri="{FF2B5EF4-FFF2-40B4-BE49-F238E27FC236}">
                <a16:creationId xmlns:a16="http://schemas.microsoft.com/office/drawing/2014/main" id="{BE239680-29DE-F943-8CB2-C448CEAE176A}"/>
              </a:ext>
            </a:extLst>
          </p:cNvPr>
          <p:cNvSpPr txBox="1"/>
          <p:nvPr/>
        </p:nvSpPr>
        <p:spPr>
          <a:xfrm>
            <a:off x="214311" y="838200"/>
            <a:ext cx="8677275" cy="2246769"/>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Social Contracts and the Righteousness of Man</a:t>
            </a:r>
            <a:endParaRPr lang="en-US" sz="2000" dirty="0">
              <a:ea typeface="ＭＳ Ｐゴシック" pitchFamily="-106" charset="-128"/>
              <a:cs typeface="ＭＳ Ｐゴシック" pitchFamily="-106" charset="-128"/>
            </a:endParaRPr>
          </a:p>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 A social contract says:</a:t>
            </a:r>
          </a:p>
          <a:p>
            <a:pPr marL="800100" lvl="1" indent="-342900" fontAlgn="ctr">
              <a:buFont typeface="Arial" panose="020B0604020202020204" pitchFamily="34" charset="0"/>
              <a:buChar char="•"/>
            </a:pPr>
            <a:r>
              <a:rPr lang="en-US" sz="2000" i="1" dirty="0">
                <a:ea typeface="ＭＳ Ｐゴシック" pitchFamily="-106" charset="-128"/>
                <a:cs typeface="ＭＳ Ｐゴシック" pitchFamily="-106" charset="-128"/>
              </a:rPr>
              <a:t>I will behave if you do.</a:t>
            </a:r>
            <a:endParaRPr lang="en-US" sz="2000" dirty="0">
              <a:ea typeface="ＭＳ Ｐゴシック" pitchFamily="-106" charset="-128"/>
              <a:cs typeface="ＭＳ Ｐゴシック" pitchFamily="-106" charset="-128"/>
            </a:endParaRPr>
          </a:p>
          <a:p>
            <a:pPr marL="800100" lvl="1" indent="-342900" fontAlgn="ctr">
              <a:buFont typeface="Arial" panose="020B0604020202020204" pitchFamily="34" charset="0"/>
              <a:buChar char="•"/>
            </a:pPr>
            <a:r>
              <a:rPr lang="en-US" sz="2000" i="1" dirty="0">
                <a:ea typeface="ＭＳ Ｐゴシック" pitchFamily="-106" charset="-128"/>
                <a:cs typeface="ＭＳ Ｐゴシック" pitchFamily="-106" charset="-128"/>
              </a:rPr>
              <a:t>I will accept you if you follow the rules.</a:t>
            </a:r>
            <a:endParaRPr lang="en-US" sz="2000" dirty="0">
              <a:ea typeface="ＭＳ Ｐゴシック" pitchFamily="-106" charset="-128"/>
              <a:cs typeface="ＭＳ Ｐゴシック" pitchFamily="-106" charset="-128"/>
            </a:endParaRPr>
          </a:p>
          <a:p>
            <a:pPr marL="800100" lvl="1" indent="-342900" fontAlgn="ctr">
              <a:buFont typeface="Arial" panose="020B0604020202020204" pitchFamily="34" charset="0"/>
              <a:buChar char="•"/>
            </a:pPr>
            <a:r>
              <a:rPr lang="en-US" sz="2000" i="1" dirty="0">
                <a:ea typeface="ＭＳ Ｐゴシック" pitchFamily="-106" charset="-128"/>
                <a:cs typeface="ＭＳ Ｐゴシック" pitchFamily="-106" charset="-128"/>
              </a:rPr>
              <a:t>We are righteous because we agree.</a:t>
            </a:r>
            <a:endParaRPr lang="en-US" sz="2000" dirty="0">
              <a:ea typeface="ＭＳ Ｐゴシック" pitchFamily="-106" charset="-128"/>
              <a:cs typeface="ＭＳ Ｐゴシック" pitchFamily="-106" charset="-128"/>
            </a:endParaRPr>
          </a:p>
          <a:p>
            <a:pPr marL="342900" indent="-342900">
              <a:buFont typeface="Arial" panose="020B0604020202020204" pitchFamily="34" charset="0"/>
              <a:buChar char="•"/>
            </a:pPr>
            <a:r>
              <a:rPr lang="en-US" sz="2000" u="sng" dirty="0">
                <a:ea typeface="ＭＳ Ｐゴシック" pitchFamily="-106" charset="-128"/>
                <a:cs typeface="ＭＳ Ｐゴシック" pitchFamily="-106" charset="-128"/>
              </a:rPr>
              <a:t>This is not covenant</a:t>
            </a:r>
            <a:r>
              <a:rPr lang="en-US" sz="2000" dirty="0">
                <a:ea typeface="ＭＳ Ｐゴシック" pitchFamily="-106" charset="-128"/>
                <a:cs typeface="ＭＳ Ｐゴシック" pitchFamily="-106" charset="-128"/>
              </a:rPr>
              <a:t>.</a:t>
            </a:r>
          </a:p>
          <a:p>
            <a:pPr marL="800100" lvl="1" indent="-342900">
              <a:buFont typeface="Arial" panose="020B0604020202020204" pitchFamily="34" charset="0"/>
              <a:buChar char="•"/>
            </a:pPr>
            <a:r>
              <a:rPr lang="en-US" sz="2000" u="sng" dirty="0">
                <a:ea typeface="ＭＳ Ｐゴシック" pitchFamily="-106" charset="-128"/>
                <a:cs typeface="ＭＳ Ｐゴシック" pitchFamily="-106" charset="-128"/>
              </a:rPr>
              <a:t>It is transaction</a:t>
            </a:r>
            <a:r>
              <a:rPr lang="en-US" sz="2000" dirty="0">
                <a:ea typeface="ＭＳ Ｐゴシック" pitchFamily="-106" charset="-128"/>
                <a:cs typeface="ＭＳ Ｐゴシック" pitchFamily="-106" charset="-128"/>
              </a:rPr>
              <a:t>.</a:t>
            </a:r>
          </a:p>
        </p:txBody>
      </p:sp>
      <p:sp>
        <p:nvSpPr>
          <p:cNvPr id="2" name="TextBox 1">
            <a:extLst>
              <a:ext uri="{FF2B5EF4-FFF2-40B4-BE49-F238E27FC236}">
                <a16:creationId xmlns:a16="http://schemas.microsoft.com/office/drawing/2014/main" id="{38D6BD89-D900-1B37-E516-5F99D537D09E}"/>
              </a:ext>
            </a:extLst>
          </p:cNvPr>
          <p:cNvSpPr txBox="1"/>
          <p:nvPr/>
        </p:nvSpPr>
        <p:spPr>
          <a:xfrm>
            <a:off x="229243" y="3172867"/>
            <a:ext cx="8677275" cy="1015663"/>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Romans 2:14–15  </a:t>
            </a:r>
            <a:r>
              <a:rPr lang="en-US" sz="2000" i="1" dirty="0">
                <a:ea typeface="ＭＳ Ｐゴシック" pitchFamily="-106" charset="-128"/>
                <a:cs typeface="ＭＳ Ｐゴシック" pitchFamily="-106" charset="-128"/>
              </a:rPr>
              <a:t>“For whenever the Gentiles, who do not have the law, do by nature the things required by the law… they show that the work of the law is written on their hearts.”</a:t>
            </a:r>
          </a:p>
        </p:txBody>
      </p:sp>
      <p:sp>
        <p:nvSpPr>
          <p:cNvPr id="4" name="TextBox 3">
            <a:extLst>
              <a:ext uri="{FF2B5EF4-FFF2-40B4-BE49-F238E27FC236}">
                <a16:creationId xmlns:a16="http://schemas.microsoft.com/office/drawing/2014/main" id="{EAEB5785-DE6B-B79B-9B1C-6AFAE77C91CA}"/>
              </a:ext>
            </a:extLst>
          </p:cNvPr>
          <p:cNvSpPr txBox="1"/>
          <p:nvPr/>
        </p:nvSpPr>
        <p:spPr>
          <a:xfrm>
            <a:off x="229243" y="4280547"/>
            <a:ext cx="8677275" cy="1323439"/>
          </a:xfrm>
          <a:prstGeom prst="rect">
            <a:avLst/>
          </a:prstGeom>
          <a:noFill/>
        </p:spPr>
        <p:txBody>
          <a:bodyPr wrap="square" rtlCol="0">
            <a:spAutoFit/>
          </a:bodyPr>
          <a:lstStyle/>
          <a:p>
            <a:pPr marL="342900" indent="-342900">
              <a:buFont typeface="Arial" panose="020B0604020202020204" pitchFamily="34" charset="0"/>
              <a:buChar char="•"/>
            </a:pPr>
            <a:r>
              <a:rPr lang="en-US" sz="2000" u="sng" dirty="0">
                <a:ea typeface="ＭＳ Ｐゴシック" pitchFamily="-106" charset="-128"/>
                <a:cs typeface="ＭＳ Ｐゴシック" pitchFamily="-106" charset="-128"/>
              </a:rPr>
              <a:t>Social contracts appeal to conscience</a:t>
            </a:r>
            <a:r>
              <a:rPr lang="en-US" sz="2000" dirty="0">
                <a:ea typeface="ＭＳ Ｐゴシック" pitchFamily="-106" charset="-128"/>
                <a:cs typeface="ＭＳ Ｐゴシック" pitchFamily="-106" charset="-128"/>
              </a:rPr>
              <a:t>.</a:t>
            </a:r>
          </a:p>
          <a:p>
            <a:pPr marL="800100" lvl="1" indent="-342900">
              <a:buFont typeface="Arial" panose="020B0604020202020204" pitchFamily="34" charset="0"/>
              <a:buChar char="•"/>
            </a:pPr>
            <a:r>
              <a:rPr lang="en-US" sz="2000" dirty="0">
                <a:ea typeface="ＭＳ Ｐゴシック" pitchFamily="-106" charset="-128"/>
                <a:cs typeface="ＭＳ Ｐゴシック" pitchFamily="-106" charset="-128"/>
              </a:rPr>
              <a:t>But they cannot transform the heart.</a:t>
            </a:r>
          </a:p>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They manage behavior.</a:t>
            </a:r>
          </a:p>
          <a:p>
            <a:pPr marL="342900" indent="-342900">
              <a:buFont typeface="Arial" panose="020B0604020202020204" pitchFamily="34" charset="0"/>
              <a:buChar char="•"/>
            </a:pPr>
            <a:r>
              <a:rPr lang="en-US" sz="2000" u="sng" dirty="0">
                <a:ea typeface="ＭＳ Ｐゴシック" pitchFamily="-106" charset="-128"/>
                <a:cs typeface="ＭＳ Ｐゴシック" pitchFamily="-106" charset="-128"/>
              </a:rPr>
              <a:t>They do not produce righteousness</a:t>
            </a:r>
            <a:r>
              <a:rPr lang="en-US" sz="2000" dirty="0">
                <a:ea typeface="ＭＳ Ｐゴシック" pitchFamily="-106" charset="-128"/>
                <a:cs typeface="ＭＳ Ｐゴシック" pitchFamily="-106" charset="-128"/>
              </a:rPr>
              <a:t>.</a:t>
            </a:r>
          </a:p>
        </p:txBody>
      </p:sp>
    </p:spTree>
    <p:extLst>
      <p:ext uri="{BB962C8B-B14F-4D97-AF65-F5344CB8AC3E}">
        <p14:creationId xmlns:p14="http://schemas.microsoft.com/office/powerpoint/2010/main" val="2219918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1000"/>
                                        <p:tgtEl>
                                          <p:spTgt spid="2"/>
                                        </p:tgtEl>
                                      </p:cBhvr>
                                    </p:animEffect>
                                    <p:anim calcmode="lin" valueType="num">
                                      <p:cBhvr>
                                        <p:cTn id="15" dur="1000" fill="hold"/>
                                        <p:tgtEl>
                                          <p:spTgt spid="2"/>
                                        </p:tgtEl>
                                        <p:attrNameLst>
                                          <p:attrName>ppt_x</p:attrName>
                                        </p:attrNameLst>
                                      </p:cBhvr>
                                      <p:tavLst>
                                        <p:tav tm="0">
                                          <p:val>
                                            <p:strVal val="#ppt_x"/>
                                          </p:val>
                                        </p:tav>
                                        <p:tav tm="100000">
                                          <p:val>
                                            <p:strVal val="#ppt_x"/>
                                          </p:val>
                                        </p:tav>
                                      </p:tavLst>
                                    </p:anim>
                                    <p:anim calcmode="lin" valueType="num">
                                      <p:cBhvr>
                                        <p:cTn id="1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4">
                                            <p:txEl>
                                              <p:pRg st="0" end="0"/>
                                            </p:txEl>
                                          </p:spTgt>
                                        </p:tgtEl>
                                        <p:attrNameLst>
                                          <p:attrName>style.visibility</p:attrName>
                                        </p:attrNameLst>
                                      </p:cBhvr>
                                      <p:to>
                                        <p:strVal val="visible"/>
                                      </p:to>
                                    </p:set>
                                    <p:animEffect transition="in" filter="fade">
                                      <p:cBhvr>
                                        <p:cTn id="21" dur="1000"/>
                                        <p:tgtEl>
                                          <p:spTgt spid="4">
                                            <p:txEl>
                                              <p:pRg st="0" end="0"/>
                                            </p:txEl>
                                          </p:spTgt>
                                        </p:tgtEl>
                                      </p:cBhvr>
                                    </p:animEffect>
                                    <p:anim calcmode="lin" valueType="num">
                                      <p:cBhvr>
                                        <p:cTn id="22" dur="1000" fill="hold"/>
                                        <p:tgtEl>
                                          <p:spTgt spid="4">
                                            <p:txEl>
                                              <p:pRg st="0" end="0"/>
                                            </p:txEl>
                                          </p:spTgt>
                                        </p:tgtEl>
                                        <p:attrNameLst>
                                          <p:attrName>ppt_x</p:attrName>
                                        </p:attrNameLst>
                                      </p:cBhvr>
                                      <p:tavLst>
                                        <p:tav tm="0">
                                          <p:val>
                                            <p:strVal val="#ppt_x"/>
                                          </p:val>
                                        </p:tav>
                                        <p:tav tm="100000">
                                          <p:val>
                                            <p:strVal val="#ppt_x"/>
                                          </p:val>
                                        </p:tav>
                                      </p:tavLst>
                                    </p:anim>
                                    <p:anim calcmode="lin" valueType="num">
                                      <p:cBhvr>
                                        <p:cTn id="23" dur="1000" fill="hold"/>
                                        <p:tgtEl>
                                          <p:spTgt spid="4">
                                            <p:txEl>
                                              <p:pRg st="0" end="0"/>
                                            </p:txEl>
                                          </p:spTgt>
                                        </p:tgtEl>
                                        <p:attrNameLst>
                                          <p:attrName>ppt_y</p:attrName>
                                        </p:attrNameLst>
                                      </p:cBhvr>
                                      <p:tavLst>
                                        <p:tav tm="0">
                                          <p:val>
                                            <p:strVal val="#ppt_y+.1"/>
                                          </p:val>
                                        </p:tav>
                                        <p:tav tm="100000">
                                          <p:val>
                                            <p:strVal val="#ppt_y"/>
                                          </p:val>
                                        </p:tav>
                                      </p:tavLst>
                                    </p:anim>
                                  </p:childTnLst>
                                </p:cTn>
                              </p:par>
                              <p:par>
                                <p:cTn id="24" presetID="42" presetClass="entr" presetSubtype="0" fill="hold" grpId="0" nodeType="withEffect">
                                  <p:stCondLst>
                                    <p:cond delay="0"/>
                                  </p:stCondLst>
                                  <p:childTnLst>
                                    <p:set>
                                      <p:cBhvr>
                                        <p:cTn id="25" dur="1" fill="hold">
                                          <p:stCondLst>
                                            <p:cond delay="0"/>
                                          </p:stCondLst>
                                        </p:cTn>
                                        <p:tgtEl>
                                          <p:spTgt spid="4">
                                            <p:txEl>
                                              <p:pRg st="1" end="1"/>
                                            </p:txEl>
                                          </p:spTgt>
                                        </p:tgtEl>
                                        <p:attrNameLst>
                                          <p:attrName>style.visibility</p:attrName>
                                        </p:attrNameLst>
                                      </p:cBhvr>
                                      <p:to>
                                        <p:strVal val="visible"/>
                                      </p:to>
                                    </p:set>
                                    <p:animEffect transition="in" filter="fade">
                                      <p:cBhvr>
                                        <p:cTn id="26" dur="1000"/>
                                        <p:tgtEl>
                                          <p:spTgt spid="4">
                                            <p:txEl>
                                              <p:pRg st="1" end="1"/>
                                            </p:txEl>
                                          </p:spTgt>
                                        </p:tgtEl>
                                      </p:cBhvr>
                                    </p:animEffect>
                                    <p:anim calcmode="lin" valueType="num">
                                      <p:cBhvr>
                                        <p:cTn id="27" dur="1000" fill="hold"/>
                                        <p:tgtEl>
                                          <p:spTgt spid="4">
                                            <p:txEl>
                                              <p:pRg st="1" end="1"/>
                                            </p:txEl>
                                          </p:spTgt>
                                        </p:tgtEl>
                                        <p:attrNameLst>
                                          <p:attrName>ppt_x</p:attrName>
                                        </p:attrNameLst>
                                      </p:cBhvr>
                                      <p:tavLst>
                                        <p:tav tm="0">
                                          <p:val>
                                            <p:strVal val="#ppt_x"/>
                                          </p:val>
                                        </p:tav>
                                        <p:tav tm="100000">
                                          <p:val>
                                            <p:strVal val="#ppt_x"/>
                                          </p:val>
                                        </p:tav>
                                      </p:tavLst>
                                    </p:anim>
                                    <p:anim calcmode="lin" valueType="num">
                                      <p:cBhvr>
                                        <p:cTn id="28" dur="1000" fill="hold"/>
                                        <p:tgtEl>
                                          <p:spTgt spid="4">
                                            <p:txEl>
                                              <p:pRg st="1" end="1"/>
                                            </p:txEl>
                                          </p:spTgt>
                                        </p:tgtEl>
                                        <p:attrNameLst>
                                          <p:attrName>ppt_y</p:attrName>
                                        </p:attrNameLst>
                                      </p:cBhvr>
                                      <p:tavLst>
                                        <p:tav tm="0">
                                          <p:val>
                                            <p:strVal val="#ppt_y+.1"/>
                                          </p:val>
                                        </p:tav>
                                        <p:tav tm="100000">
                                          <p:val>
                                            <p:strVal val="#ppt_y"/>
                                          </p:val>
                                        </p:tav>
                                      </p:tavLst>
                                    </p:anim>
                                  </p:childTnLst>
                                </p:cTn>
                              </p:par>
                              <p:par>
                                <p:cTn id="29" presetID="42" presetClass="entr" presetSubtype="0" fill="hold" grpId="0" nodeType="withEffect">
                                  <p:stCondLst>
                                    <p:cond delay="0"/>
                                  </p:stCondLst>
                                  <p:childTnLst>
                                    <p:set>
                                      <p:cBhvr>
                                        <p:cTn id="30" dur="1" fill="hold">
                                          <p:stCondLst>
                                            <p:cond delay="0"/>
                                          </p:stCondLst>
                                        </p:cTn>
                                        <p:tgtEl>
                                          <p:spTgt spid="4">
                                            <p:txEl>
                                              <p:pRg st="2" end="2"/>
                                            </p:txEl>
                                          </p:spTgt>
                                        </p:tgtEl>
                                        <p:attrNameLst>
                                          <p:attrName>style.visibility</p:attrName>
                                        </p:attrNameLst>
                                      </p:cBhvr>
                                      <p:to>
                                        <p:strVal val="visible"/>
                                      </p:to>
                                    </p:set>
                                    <p:animEffect transition="in" filter="fade">
                                      <p:cBhvr>
                                        <p:cTn id="31" dur="1000"/>
                                        <p:tgtEl>
                                          <p:spTgt spid="4">
                                            <p:txEl>
                                              <p:pRg st="2" end="2"/>
                                            </p:txEl>
                                          </p:spTgt>
                                        </p:tgtEl>
                                      </p:cBhvr>
                                    </p:animEffect>
                                    <p:anim calcmode="lin" valueType="num">
                                      <p:cBhvr>
                                        <p:cTn id="32" dur="1000" fill="hold"/>
                                        <p:tgtEl>
                                          <p:spTgt spid="4">
                                            <p:txEl>
                                              <p:pRg st="2" end="2"/>
                                            </p:txEl>
                                          </p:spTgt>
                                        </p:tgtEl>
                                        <p:attrNameLst>
                                          <p:attrName>ppt_x</p:attrName>
                                        </p:attrNameLst>
                                      </p:cBhvr>
                                      <p:tavLst>
                                        <p:tav tm="0">
                                          <p:val>
                                            <p:strVal val="#ppt_x"/>
                                          </p:val>
                                        </p:tav>
                                        <p:tav tm="100000">
                                          <p:val>
                                            <p:strVal val="#ppt_x"/>
                                          </p:val>
                                        </p:tav>
                                      </p:tavLst>
                                    </p:anim>
                                    <p:anim calcmode="lin" valueType="num">
                                      <p:cBhvr>
                                        <p:cTn id="33" dur="1000" fill="hold"/>
                                        <p:tgtEl>
                                          <p:spTgt spid="4">
                                            <p:txEl>
                                              <p:pRg st="2" end="2"/>
                                            </p:txEl>
                                          </p:spTgt>
                                        </p:tgtEl>
                                        <p:attrNameLst>
                                          <p:attrName>ppt_y</p:attrName>
                                        </p:attrNameLst>
                                      </p:cBhvr>
                                      <p:tavLst>
                                        <p:tav tm="0">
                                          <p:val>
                                            <p:strVal val="#ppt_y+.1"/>
                                          </p:val>
                                        </p:tav>
                                        <p:tav tm="100000">
                                          <p:val>
                                            <p:strVal val="#ppt_y"/>
                                          </p:val>
                                        </p:tav>
                                      </p:tavLst>
                                    </p:anim>
                                  </p:childTnLst>
                                </p:cTn>
                              </p:par>
                              <p:par>
                                <p:cTn id="34" presetID="42" presetClass="entr" presetSubtype="0" fill="hold" grpId="0" nodeType="withEffect">
                                  <p:stCondLst>
                                    <p:cond delay="0"/>
                                  </p:stCondLst>
                                  <p:childTnLst>
                                    <p:set>
                                      <p:cBhvr>
                                        <p:cTn id="35" dur="1" fill="hold">
                                          <p:stCondLst>
                                            <p:cond delay="0"/>
                                          </p:stCondLst>
                                        </p:cTn>
                                        <p:tgtEl>
                                          <p:spTgt spid="4">
                                            <p:txEl>
                                              <p:pRg st="3" end="3"/>
                                            </p:txEl>
                                          </p:spTgt>
                                        </p:tgtEl>
                                        <p:attrNameLst>
                                          <p:attrName>style.visibility</p:attrName>
                                        </p:attrNameLst>
                                      </p:cBhvr>
                                      <p:to>
                                        <p:strVal val="visible"/>
                                      </p:to>
                                    </p:set>
                                    <p:animEffect transition="in" filter="fade">
                                      <p:cBhvr>
                                        <p:cTn id="36" dur="1000"/>
                                        <p:tgtEl>
                                          <p:spTgt spid="4">
                                            <p:txEl>
                                              <p:pRg st="3" end="3"/>
                                            </p:txEl>
                                          </p:spTgt>
                                        </p:tgtEl>
                                      </p:cBhvr>
                                    </p:animEffect>
                                    <p:anim calcmode="lin" valueType="num">
                                      <p:cBhvr>
                                        <p:cTn id="37" dur="1000" fill="hold"/>
                                        <p:tgtEl>
                                          <p:spTgt spid="4">
                                            <p:txEl>
                                              <p:pRg st="3" end="3"/>
                                            </p:txEl>
                                          </p:spTgt>
                                        </p:tgtEl>
                                        <p:attrNameLst>
                                          <p:attrName>ppt_x</p:attrName>
                                        </p:attrNameLst>
                                      </p:cBhvr>
                                      <p:tavLst>
                                        <p:tav tm="0">
                                          <p:val>
                                            <p:strVal val="#ppt_x"/>
                                          </p:val>
                                        </p:tav>
                                        <p:tav tm="100000">
                                          <p:val>
                                            <p:strVal val="#ppt_x"/>
                                          </p:val>
                                        </p:tav>
                                      </p:tavLst>
                                    </p:anim>
                                    <p:anim calcmode="lin" valueType="num">
                                      <p:cBhvr>
                                        <p:cTn id="38" dur="1000" fill="hold"/>
                                        <p:tgtEl>
                                          <p:spTgt spid="4">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 grpId="0"/>
      <p:bldP spid="4" grpId="0" build="allAtOnce"/>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1C5E0E-5045-DFC8-A357-AE130A2C6B05}"/>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41BE258C-62C6-9C28-F9F1-5FD496B1A1BE}"/>
              </a:ext>
            </a:extLst>
          </p:cNvPr>
          <p:cNvSpPr txBox="1">
            <a:spLocks/>
          </p:cNvSpPr>
          <p:nvPr/>
        </p:nvSpPr>
        <p:spPr bwMode="auto">
          <a:xfrm>
            <a:off x="233362" y="32657"/>
            <a:ext cx="838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850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3300" dirty="0"/>
              <a:t>Moral Assurance</a:t>
            </a:r>
            <a:br>
              <a:rPr lang="en-US" dirty="0"/>
            </a:br>
            <a:r>
              <a:rPr lang="en-US" sz="2800" dirty="0">
                <a:solidFill>
                  <a:schemeClr val="tx2">
                    <a:lumMod val="60000"/>
                    <a:lumOff val="40000"/>
                  </a:schemeClr>
                </a:solidFill>
              </a:rPr>
              <a:t>Feeling Righteous</a:t>
            </a:r>
            <a:endParaRPr lang="en-US" sz="2600" dirty="0">
              <a:solidFill>
                <a:schemeClr val="tx2">
                  <a:lumMod val="60000"/>
                  <a:lumOff val="40000"/>
                </a:schemeClr>
              </a:solidFill>
            </a:endParaRPr>
          </a:p>
        </p:txBody>
      </p:sp>
      <p:sp>
        <p:nvSpPr>
          <p:cNvPr id="3" name="TextBox 2">
            <a:extLst>
              <a:ext uri="{FF2B5EF4-FFF2-40B4-BE49-F238E27FC236}">
                <a16:creationId xmlns:a16="http://schemas.microsoft.com/office/drawing/2014/main" id="{8847D78E-2848-F1A0-3CD1-28047E7543CD}"/>
              </a:ext>
            </a:extLst>
          </p:cNvPr>
          <p:cNvSpPr txBox="1"/>
          <p:nvPr/>
        </p:nvSpPr>
        <p:spPr>
          <a:xfrm>
            <a:off x="214311" y="838200"/>
            <a:ext cx="8677275" cy="1938992"/>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Why Social Contracts Feel Righteous</a:t>
            </a:r>
            <a:endParaRPr lang="en-US" sz="2000" dirty="0">
              <a:ea typeface="ＭＳ Ｐゴシック" pitchFamily="-106" charset="-128"/>
              <a:cs typeface="ＭＳ Ｐゴシック" pitchFamily="-106" charset="-128"/>
            </a:endParaRPr>
          </a:p>
          <a:p>
            <a:pPr marL="342900" indent="-342900">
              <a:buFont typeface="Arial" panose="020B0604020202020204" pitchFamily="34" charset="0"/>
              <a:buChar char="•"/>
            </a:pPr>
            <a:r>
              <a:rPr lang="en-US" sz="2000" u="sng" dirty="0">
                <a:ea typeface="ＭＳ Ｐゴシック" pitchFamily="-106" charset="-128"/>
                <a:cs typeface="ＭＳ Ｐゴシック" pitchFamily="-106" charset="-128"/>
              </a:rPr>
              <a:t>Social contracts reduce chaos</a:t>
            </a:r>
            <a:r>
              <a:rPr lang="en-US" sz="2000" dirty="0">
                <a:ea typeface="ＭＳ Ｐゴシック" pitchFamily="-106" charset="-128"/>
                <a:cs typeface="ＭＳ Ｐゴシック" pitchFamily="-106" charset="-128"/>
              </a:rPr>
              <a:t>.</a:t>
            </a:r>
          </a:p>
          <a:p>
            <a:pPr marL="800100" lvl="1" indent="-342900">
              <a:buFont typeface="Arial" panose="020B0604020202020204" pitchFamily="34" charset="0"/>
              <a:buChar char="•"/>
            </a:pPr>
            <a:r>
              <a:rPr lang="en-US" sz="2000" u="sng" dirty="0">
                <a:ea typeface="ＭＳ Ｐゴシック" pitchFamily="-106" charset="-128"/>
                <a:cs typeface="ＭＳ Ｐゴシック" pitchFamily="-106" charset="-128"/>
              </a:rPr>
              <a:t>That feels moral</a:t>
            </a:r>
            <a:r>
              <a:rPr lang="en-US" sz="2000" dirty="0">
                <a:ea typeface="ＭＳ Ｐゴシック" pitchFamily="-106" charset="-128"/>
                <a:cs typeface="ＭＳ Ｐゴシック" pitchFamily="-106" charset="-128"/>
              </a:rPr>
              <a:t>.</a:t>
            </a:r>
          </a:p>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They create predictability.</a:t>
            </a:r>
          </a:p>
          <a:p>
            <a:pPr marL="800100" lvl="1" indent="-342900">
              <a:buFont typeface="Arial" panose="020B0604020202020204" pitchFamily="34" charset="0"/>
              <a:buChar char="•"/>
            </a:pPr>
            <a:r>
              <a:rPr lang="en-US" sz="2000" dirty="0">
                <a:ea typeface="ＭＳ Ｐゴシック" pitchFamily="-106" charset="-128"/>
                <a:cs typeface="ＭＳ Ｐゴシック" pitchFamily="-106" charset="-128"/>
              </a:rPr>
              <a:t>That feels safe.</a:t>
            </a:r>
          </a:p>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But safety is not righteousness.</a:t>
            </a:r>
          </a:p>
        </p:txBody>
      </p:sp>
      <p:sp>
        <p:nvSpPr>
          <p:cNvPr id="2" name="TextBox 1">
            <a:extLst>
              <a:ext uri="{FF2B5EF4-FFF2-40B4-BE49-F238E27FC236}">
                <a16:creationId xmlns:a16="http://schemas.microsoft.com/office/drawing/2014/main" id="{91C9D324-4B99-3C13-9DC9-86D9BBB2E144}"/>
              </a:ext>
            </a:extLst>
          </p:cNvPr>
          <p:cNvSpPr txBox="1"/>
          <p:nvPr/>
        </p:nvSpPr>
        <p:spPr>
          <a:xfrm>
            <a:off x="256016" y="4109641"/>
            <a:ext cx="8677275" cy="400110"/>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Social contracts replace trust in God with </a:t>
            </a:r>
            <a:r>
              <a:rPr lang="en-US" sz="2000" b="1" u="sng" dirty="0">
                <a:ea typeface="ＭＳ Ｐゴシック" pitchFamily="-106" charset="-128"/>
                <a:cs typeface="ＭＳ Ｐゴシック" pitchFamily="-106" charset="-128"/>
              </a:rPr>
              <a:t>trust in consensus</a:t>
            </a:r>
            <a:r>
              <a:rPr lang="en-US" sz="2000" b="1" dirty="0">
                <a:ea typeface="ＭＳ Ｐゴシック" pitchFamily="-106" charset="-128"/>
                <a:cs typeface="ＭＳ Ｐゴシック" pitchFamily="-106" charset="-128"/>
              </a:rPr>
              <a:t>.</a:t>
            </a:r>
          </a:p>
        </p:txBody>
      </p:sp>
      <p:sp>
        <p:nvSpPr>
          <p:cNvPr id="4" name="TextBox 3">
            <a:extLst>
              <a:ext uri="{FF2B5EF4-FFF2-40B4-BE49-F238E27FC236}">
                <a16:creationId xmlns:a16="http://schemas.microsoft.com/office/drawing/2014/main" id="{8CA62BA7-5690-8346-89F9-1958C603744F}"/>
              </a:ext>
            </a:extLst>
          </p:cNvPr>
          <p:cNvSpPr txBox="1"/>
          <p:nvPr/>
        </p:nvSpPr>
        <p:spPr>
          <a:xfrm>
            <a:off x="233362" y="3028890"/>
            <a:ext cx="8677275" cy="707886"/>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Jeremiah 17:5  </a:t>
            </a:r>
            <a:r>
              <a:rPr lang="en-US" sz="2000" i="1" dirty="0">
                <a:ea typeface="ＭＳ Ｐゴシック" pitchFamily="-106" charset="-128"/>
                <a:cs typeface="ＭＳ Ｐゴシック" pitchFamily="-106" charset="-128"/>
              </a:rPr>
              <a:t>“Cursed is the one who </a:t>
            </a:r>
            <a:r>
              <a:rPr lang="en-US" sz="2000" i="1" u="sng" dirty="0">
                <a:ea typeface="ＭＳ Ｐゴシック" pitchFamily="-106" charset="-128"/>
                <a:cs typeface="ＭＳ Ｐゴシック" pitchFamily="-106" charset="-128"/>
              </a:rPr>
              <a:t>trusts in human beings</a:t>
            </a:r>
            <a:r>
              <a:rPr lang="en-US" sz="2000" i="1" dirty="0">
                <a:ea typeface="ＭＳ Ｐゴシック" pitchFamily="-106" charset="-128"/>
                <a:cs typeface="ＭＳ Ｐゴシック" pitchFamily="-106" charset="-128"/>
              </a:rPr>
              <a:t>… and whose heart turns away from the LORD.”</a:t>
            </a:r>
          </a:p>
        </p:txBody>
      </p:sp>
    </p:spTree>
    <p:extLst>
      <p:ext uri="{BB962C8B-B14F-4D97-AF65-F5344CB8AC3E}">
        <p14:creationId xmlns:p14="http://schemas.microsoft.com/office/powerpoint/2010/main" val="23402582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1000"/>
                                        <p:tgtEl>
                                          <p:spTgt spid="4"/>
                                        </p:tgtEl>
                                      </p:cBhvr>
                                    </p:animEffect>
                                    <p:anim calcmode="lin" valueType="num">
                                      <p:cBhvr>
                                        <p:cTn id="15" dur="1000" fill="hold"/>
                                        <p:tgtEl>
                                          <p:spTgt spid="4"/>
                                        </p:tgtEl>
                                        <p:attrNameLst>
                                          <p:attrName>ppt_x</p:attrName>
                                        </p:attrNameLst>
                                      </p:cBhvr>
                                      <p:tavLst>
                                        <p:tav tm="0">
                                          <p:val>
                                            <p:strVal val="#ppt_x"/>
                                          </p:val>
                                        </p:tav>
                                        <p:tav tm="100000">
                                          <p:val>
                                            <p:strVal val="#ppt_x"/>
                                          </p:val>
                                        </p:tav>
                                      </p:tavLst>
                                    </p:anim>
                                    <p:anim calcmode="lin" valueType="num">
                                      <p:cBhvr>
                                        <p:cTn id="16"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gtEl>
                                        <p:attrNameLst>
                                          <p:attrName>style.visibility</p:attrName>
                                        </p:attrNameLst>
                                      </p:cBhvr>
                                      <p:to>
                                        <p:strVal val="visible"/>
                                      </p:to>
                                    </p:set>
                                    <p:animEffect transition="in" filter="fade">
                                      <p:cBhvr>
                                        <p:cTn id="21" dur="1000"/>
                                        <p:tgtEl>
                                          <p:spTgt spid="2"/>
                                        </p:tgtEl>
                                      </p:cBhvr>
                                    </p:animEffect>
                                    <p:anim calcmode="lin" valueType="num">
                                      <p:cBhvr>
                                        <p:cTn id="22" dur="1000" fill="hold"/>
                                        <p:tgtEl>
                                          <p:spTgt spid="2"/>
                                        </p:tgtEl>
                                        <p:attrNameLst>
                                          <p:attrName>ppt_x</p:attrName>
                                        </p:attrNameLst>
                                      </p:cBhvr>
                                      <p:tavLst>
                                        <p:tav tm="0">
                                          <p:val>
                                            <p:strVal val="#ppt_x"/>
                                          </p:val>
                                        </p:tav>
                                        <p:tav tm="100000">
                                          <p:val>
                                            <p:strVal val="#ppt_x"/>
                                          </p:val>
                                        </p:tav>
                                      </p:tavLst>
                                    </p:anim>
                                    <p:anim calcmode="lin" valueType="num">
                                      <p:cBhvr>
                                        <p:cTn id="23"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 grpId="0"/>
      <p:bldP spid="4"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D0990-AD45-2678-773E-3CF5A90C7A69}"/>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FCAB037E-F3E9-6DFB-0643-6556A0B58495}"/>
              </a:ext>
            </a:extLst>
          </p:cNvPr>
          <p:cNvSpPr txBox="1">
            <a:spLocks/>
          </p:cNvSpPr>
          <p:nvPr/>
        </p:nvSpPr>
        <p:spPr bwMode="auto">
          <a:xfrm>
            <a:off x="233362" y="32657"/>
            <a:ext cx="838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775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Covenant versus Contract</a:t>
            </a:r>
            <a:br>
              <a:rPr lang="en-US" dirty="0"/>
            </a:br>
            <a:r>
              <a:rPr lang="en-US" sz="2800" dirty="0">
                <a:solidFill>
                  <a:schemeClr val="tx2">
                    <a:lumMod val="60000"/>
                    <a:lumOff val="40000"/>
                  </a:schemeClr>
                </a:solidFill>
              </a:rPr>
              <a:t>Knowing God is Relationship – Covenant Faithfulness</a:t>
            </a:r>
            <a:endParaRPr lang="en-US" sz="2600" dirty="0">
              <a:solidFill>
                <a:schemeClr val="tx2">
                  <a:lumMod val="60000"/>
                  <a:lumOff val="40000"/>
                </a:schemeClr>
              </a:solidFill>
            </a:endParaRPr>
          </a:p>
        </p:txBody>
      </p:sp>
      <p:sp>
        <p:nvSpPr>
          <p:cNvPr id="3" name="TextBox 2">
            <a:extLst>
              <a:ext uri="{FF2B5EF4-FFF2-40B4-BE49-F238E27FC236}">
                <a16:creationId xmlns:a16="http://schemas.microsoft.com/office/drawing/2014/main" id="{0D4E93F2-3CC8-00E4-C8EB-CD15C2F16610}"/>
              </a:ext>
            </a:extLst>
          </p:cNvPr>
          <p:cNvSpPr txBox="1"/>
          <p:nvPr/>
        </p:nvSpPr>
        <p:spPr>
          <a:xfrm>
            <a:off x="214311" y="838200"/>
            <a:ext cx="8677275" cy="1631216"/>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Apostolic Contrast: Covenant vs. Contract</a:t>
            </a:r>
            <a:endParaRPr lang="en-US" sz="2000" dirty="0">
              <a:ea typeface="ＭＳ Ｐゴシック" pitchFamily="-106" charset="-128"/>
              <a:cs typeface="ＭＳ Ｐゴシック" pitchFamily="-106" charset="-128"/>
            </a:endParaRPr>
          </a:p>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God does not relate by contract.</a:t>
            </a:r>
          </a:p>
          <a:p>
            <a:pPr marL="800100" lvl="1" indent="-342900">
              <a:buFont typeface="Arial" panose="020B0604020202020204" pitchFamily="34" charset="0"/>
              <a:buChar char="•"/>
            </a:pPr>
            <a:r>
              <a:rPr lang="en-US" sz="2000" dirty="0">
                <a:ea typeface="ＭＳ Ｐゴシック" pitchFamily="-106" charset="-128"/>
                <a:cs typeface="ＭＳ Ｐゴシック" pitchFamily="-106" charset="-128"/>
              </a:rPr>
              <a:t>He relates by covenant.</a:t>
            </a:r>
          </a:p>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A </a:t>
            </a:r>
            <a:r>
              <a:rPr lang="en-US" sz="2000" u="sng" dirty="0">
                <a:ea typeface="ＭＳ Ｐゴシック" pitchFamily="-106" charset="-128"/>
                <a:cs typeface="ＭＳ Ｐゴシック" pitchFamily="-106" charset="-128"/>
              </a:rPr>
              <a:t>contract</a:t>
            </a:r>
            <a:r>
              <a:rPr lang="en-US" sz="2000" dirty="0">
                <a:ea typeface="ＭＳ Ｐゴシック" pitchFamily="-106" charset="-128"/>
                <a:cs typeface="ＭＳ Ｐゴシック" pitchFamily="-106" charset="-128"/>
              </a:rPr>
              <a:t> is based on mutual performance.</a:t>
            </a:r>
          </a:p>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A </a:t>
            </a:r>
            <a:r>
              <a:rPr lang="en-US" sz="2000" u="sng" dirty="0">
                <a:ea typeface="ＭＳ Ｐゴシック" pitchFamily="-106" charset="-128"/>
                <a:cs typeface="ＭＳ Ｐゴシック" pitchFamily="-106" charset="-128"/>
              </a:rPr>
              <a:t>covenant</a:t>
            </a:r>
            <a:r>
              <a:rPr lang="en-US" sz="2000" dirty="0">
                <a:ea typeface="ＭＳ Ｐゴシック" pitchFamily="-106" charset="-128"/>
                <a:cs typeface="ＭＳ Ｐゴシック" pitchFamily="-106" charset="-128"/>
              </a:rPr>
              <a:t> is based on </a:t>
            </a:r>
            <a:r>
              <a:rPr lang="en-US" sz="2000" u="sng" dirty="0">
                <a:ea typeface="ＭＳ Ｐゴシック" pitchFamily="-106" charset="-128"/>
                <a:cs typeface="ＭＳ Ｐゴシック" pitchFamily="-106" charset="-128"/>
              </a:rPr>
              <a:t>God’s faithfulness</a:t>
            </a:r>
            <a:r>
              <a:rPr lang="en-US" sz="2000" dirty="0">
                <a:ea typeface="ＭＳ Ｐゴシック" pitchFamily="-106" charset="-128"/>
                <a:cs typeface="ＭＳ Ｐゴシック" pitchFamily="-106" charset="-128"/>
              </a:rPr>
              <a:t>.</a:t>
            </a:r>
          </a:p>
        </p:txBody>
      </p:sp>
      <p:sp>
        <p:nvSpPr>
          <p:cNvPr id="2" name="TextBox 1">
            <a:extLst>
              <a:ext uri="{FF2B5EF4-FFF2-40B4-BE49-F238E27FC236}">
                <a16:creationId xmlns:a16="http://schemas.microsoft.com/office/drawing/2014/main" id="{F0773188-3661-E712-08BD-F6E8DD8C8C6C}"/>
              </a:ext>
            </a:extLst>
          </p:cNvPr>
          <p:cNvSpPr txBox="1"/>
          <p:nvPr/>
        </p:nvSpPr>
        <p:spPr>
          <a:xfrm>
            <a:off x="224606" y="2955527"/>
            <a:ext cx="8677275" cy="707886"/>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Hebrews 8:10  </a:t>
            </a:r>
            <a:r>
              <a:rPr lang="en-US" sz="2000" i="1" dirty="0">
                <a:ea typeface="ＭＳ Ｐゴシック" pitchFamily="-106" charset="-128"/>
                <a:cs typeface="ＭＳ Ｐゴシック" pitchFamily="-106" charset="-128"/>
              </a:rPr>
              <a:t>“I will put my laws in their minds, and I will inscribe them on their hearts.”</a:t>
            </a:r>
          </a:p>
        </p:txBody>
      </p:sp>
      <p:sp>
        <p:nvSpPr>
          <p:cNvPr id="4" name="TextBox 3">
            <a:extLst>
              <a:ext uri="{FF2B5EF4-FFF2-40B4-BE49-F238E27FC236}">
                <a16:creationId xmlns:a16="http://schemas.microsoft.com/office/drawing/2014/main" id="{2252627C-E72D-4B5C-7C50-A04462A71ADD}"/>
              </a:ext>
            </a:extLst>
          </p:cNvPr>
          <p:cNvSpPr txBox="1"/>
          <p:nvPr/>
        </p:nvSpPr>
        <p:spPr>
          <a:xfrm>
            <a:off x="214309" y="4149524"/>
            <a:ext cx="8677275" cy="1631216"/>
          </a:xfrm>
          <a:prstGeom prst="rect">
            <a:avLst/>
          </a:prstGeom>
          <a:noFill/>
        </p:spPr>
        <p:txBody>
          <a:bodyPr wrap="square" rtlCol="0">
            <a:spAutoFit/>
          </a:bodyPr>
          <a:lstStyle/>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God’s righteousness does not come from agreement.</a:t>
            </a:r>
          </a:p>
          <a:p>
            <a:pPr marL="800100" lvl="1" indent="-342900">
              <a:buFont typeface="Arial" panose="020B0604020202020204" pitchFamily="34" charset="0"/>
              <a:buChar char="•"/>
            </a:pPr>
            <a:r>
              <a:rPr lang="en-US" sz="2000" dirty="0">
                <a:ea typeface="ＭＳ Ｐゴシック" pitchFamily="-106" charset="-128"/>
                <a:cs typeface="ＭＳ Ｐゴシック" pitchFamily="-106" charset="-128"/>
              </a:rPr>
              <a:t>It comes from transformation.</a:t>
            </a:r>
          </a:p>
          <a:p>
            <a:r>
              <a:rPr lang="en-US" sz="2000" dirty="0">
                <a:ea typeface="ＭＳ Ｐゴシック" pitchFamily="-106" charset="-128"/>
                <a:cs typeface="ＭＳ Ｐゴシック" pitchFamily="-106" charset="-128"/>
              </a:rPr>
              <a:t> </a:t>
            </a:r>
          </a:p>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Early Christians rejected civic morality as a basis for righteousness.</a:t>
            </a:r>
          </a:p>
          <a:p>
            <a:pPr marL="800100" lvl="1" indent="-342900">
              <a:buFont typeface="Arial" panose="020B0604020202020204" pitchFamily="34" charset="0"/>
              <a:buChar char="•"/>
            </a:pPr>
            <a:r>
              <a:rPr lang="en-US" sz="2000" dirty="0">
                <a:ea typeface="ＭＳ Ｐゴシック" pitchFamily="-106" charset="-128"/>
                <a:cs typeface="ＭＳ Ｐゴシック" pitchFamily="-106" charset="-128"/>
              </a:rPr>
              <a:t>They lived by allegiance to Christ, not social approval.</a:t>
            </a:r>
          </a:p>
        </p:txBody>
      </p:sp>
    </p:spTree>
    <p:extLst>
      <p:ext uri="{BB962C8B-B14F-4D97-AF65-F5344CB8AC3E}">
        <p14:creationId xmlns:p14="http://schemas.microsoft.com/office/powerpoint/2010/main" val="41765790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1000"/>
                                        <p:tgtEl>
                                          <p:spTgt spid="2"/>
                                        </p:tgtEl>
                                      </p:cBhvr>
                                    </p:animEffect>
                                    <p:anim calcmode="lin" valueType="num">
                                      <p:cBhvr>
                                        <p:cTn id="15" dur="1000" fill="hold"/>
                                        <p:tgtEl>
                                          <p:spTgt spid="2"/>
                                        </p:tgtEl>
                                        <p:attrNameLst>
                                          <p:attrName>ppt_x</p:attrName>
                                        </p:attrNameLst>
                                      </p:cBhvr>
                                      <p:tavLst>
                                        <p:tav tm="0">
                                          <p:val>
                                            <p:strVal val="#ppt_x"/>
                                          </p:val>
                                        </p:tav>
                                        <p:tav tm="100000">
                                          <p:val>
                                            <p:strVal val="#ppt_x"/>
                                          </p:val>
                                        </p:tav>
                                      </p:tavLst>
                                    </p:anim>
                                    <p:anim calcmode="lin" valueType="num">
                                      <p:cBhvr>
                                        <p:cTn id="1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1000"/>
                                        <p:tgtEl>
                                          <p:spTgt spid="4"/>
                                        </p:tgtEl>
                                      </p:cBhvr>
                                    </p:animEffect>
                                    <p:anim calcmode="lin" valueType="num">
                                      <p:cBhvr>
                                        <p:cTn id="22" dur="1000" fill="hold"/>
                                        <p:tgtEl>
                                          <p:spTgt spid="4"/>
                                        </p:tgtEl>
                                        <p:attrNameLst>
                                          <p:attrName>ppt_x</p:attrName>
                                        </p:attrNameLst>
                                      </p:cBhvr>
                                      <p:tavLst>
                                        <p:tav tm="0">
                                          <p:val>
                                            <p:strVal val="#ppt_x"/>
                                          </p:val>
                                        </p:tav>
                                        <p:tav tm="100000">
                                          <p:val>
                                            <p:strVal val="#ppt_x"/>
                                          </p:val>
                                        </p:tav>
                                      </p:tavLst>
                                    </p:anim>
                                    <p:anim calcmode="lin" valueType="num">
                                      <p:cBhvr>
                                        <p:cTn id="23"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 grpId="0"/>
      <p:bldP spid="4"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2ECB68-634B-5AF3-9BB4-AE3673B71098}"/>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612DC489-863A-58DF-6CE0-D428ABFFD836}"/>
              </a:ext>
            </a:extLst>
          </p:cNvPr>
          <p:cNvSpPr txBox="1">
            <a:spLocks/>
          </p:cNvSpPr>
          <p:nvPr/>
        </p:nvSpPr>
        <p:spPr bwMode="auto">
          <a:xfrm>
            <a:off x="233362" y="32657"/>
            <a:ext cx="838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775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Covenant Faithfulness, Trust, and Grace</a:t>
            </a:r>
            <a:br>
              <a:rPr lang="en-US" dirty="0"/>
            </a:br>
            <a:r>
              <a:rPr lang="en-US" sz="2800" dirty="0">
                <a:solidFill>
                  <a:schemeClr val="tx2">
                    <a:lumMod val="60000"/>
                    <a:lumOff val="40000"/>
                  </a:schemeClr>
                </a:solidFill>
              </a:rPr>
              <a:t>How Systems Deal with Grace</a:t>
            </a:r>
            <a:endParaRPr lang="en-US" sz="2600" dirty="0">
              <a:solidFill>
                <a:schemeClr val="tx2">
                  <a:lumMod val="60000"/>
                  <a:lumOff val="40000"/>
                </a:schemeClr>
              </a:solidFill>
            </a:endParaRPr>
          </a:p>
        </p:txBody>
      </p:sp>
      <p:sp>
        <p:nvSpPr>
          <p:cNvPr id="3" name="TextBox 2">
            <a:extLst>
              <a:ext uri="{FF2B5EF4-FFF2-40B4-BE49-F238E27FC236}">
                <a16:creationId xmlns:a16="http://schemas.microsoft.com/office/drawing/2014/main" id="{B8A62BE6-EF05-C9DE-E190-64AF827863BA}"/>
              </a:ext>
            </a:extLst>
          </p:cNvPr>
          <p:cNvSpPr txBox="1"/>
          <p:nvPr/>
        </p:nvSpPr>
        <p:spPr>
          <a:xfrm>
            <a:off x="214311" y="838200"/>
            <a:ext cx="8677275" cy="1323439"/>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Why Human Righteousness Always Hardens</a:t>
            </a:r>
            <a:endParaRPr lang="en-US" sz="2000" dirty="0">
              <a:ea typeface="ＭＳ Ｐゴシック" pitchFamily="-106" charset="-128"/>
              <a:cs typeface="ＭＳ Ｐゴシック" pitchFamily="-106" charset="-128"/>
            </a:endParaRPr>
          </a:p>
          <a:p>
            <a:pPr marL="342900" indent="-342900">
              <a:buFont typeface="Arial" panose="020B0604020202020204" pitchFamily="34" charset="0"/>
              <a:buChar char="•"/>
            </a:pPr>
            <a:r>
              <a:rPr lang="en-US" sz="2000" u="sng" dirty="0">
                <a:ea typeface="ＭＳ Ｐゴシック" pitchFamily="-106" charset="-128"/>
                <a:cs typeface="ＭＳ Ｐゴシック" pitchFamily="-106" charset="-128"/>
              </a:rPr>
              <a:t>Systems cannot tolerate grace</a:t>
            </a:r>
            <a:r>
              <a:rPr lang="en-US" sz="2000" dirty="0">
                <a:ea typeface="ＭＳ Ｐゴシック" pitchFamily="-106" charset="-128"/>
                <a:cs typeface="ＭＳ Ｐゴシック" pitchFamily="-106" charset="-128"/>
              </a:rPr>
              <a:t>.</a:t>
            </a:r>
          </a:p>
          <a:p>
            <a:pPr marL="800100" lvl="1" indent="-342900">
              <a:buFont typeface="Arial" panose="020B0604020202020204" pitchFamily="34" charset="0"/>
              <a:buChar char="•"/>
            </a:pPr>
            <a:r>
              <a:rPr lang="en-US" sz="2000" u="sng" dirty="0">
                <a:ea typeface="ＭＳ Ｐゴシック" pitchFamily="-106" charset="-128"/>
                <a:cs typeface="ＭＳ Ｐゴシック" pitchFamily="-106" charset="-128"/>
              </a:rPr>
              <a:t>Grace introduces risk</a:t>
            </a:r>
            <a:r>
              <a:rPr lang="en-US" sz="2000" dirty="0">
                <a:ea typeface="ＭＳ Ｐゴシック" pitchFamily="-106" charset="-128"/>
                <a:cs typeface="ＭＳ Ｐゴシック" pitchFamily="-106" charset="-128"/>
              </a:rPr>
              <a:t>.</a:t>
            </a:r>
          </a:p>
          <a:p>
            <a:pPr marL="342900" indent="-342900">
              <a:buFont typeface="Arial" panose="020B0604020202020204" pitchFamily="34" charset="0"/>
              <a:buChar char="•"/>
            </a:pPr>
            <a:r>
              <a:rPr lang="en-US" sz="2000" u="sng" dirty="0">
                <a:ea typeface="ＭＳ Ｐゴシック" pitchFamily="-106" charset="-128"/>
                <a:cs typeface="ＭＳ Ｐゴシック" pitchFamily="-106" charset="-128"/>
              </a:rPr>
              <a:t>Systems demand certainty</a:t>
            </a:r>
            <a:r>
              <a:rPr lang="en-US" sz="2000" dirty="0">
                <a:ea typeface="ＭＳ Ｐゴシック" pitchFamily="-106" charset="-128"/>
                <a:cs typeface="ＭＳ Ｐゴシック" pitchFamily="-106" charset="-128"/>
              </a:rPr>
              <a:t>.</a:t>
            </a:r>
          </a:p>
        </p:txBody>
      </p:sp>
      <p:sp>
        <p:nvSpPr>
          <p:cNvPr id="2" name="TextBox 1">
            <a:extLst>
              <a:ext uri="{FF2B5EF4-FFF2-40B4-BE49-F238E27FC236}">
                <a16:creationId xmlns:a16="http://schemas.microsoft.com/office/drawing/2014/main" id="{FDD42F93-09BD-EA85-726F-9324F06681B8}"/>
              </a:ext>
            </a:extLst>
          </p:cNvPr>
          <p:cNvSpPr txBox="1"/>
          <p:nvPr/>
        </p:nvSpPr>
        <p:spPr>
          <a:xfrm>
            <a:off x="214310" y="2362200"/>
            <a:ext cx="8677275" cy="707886"/>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Galatians </a:t>
            </a:r>
            <a:r>
              <a:rPr lang="en-US" sz="2000" b="1" i="1" dirty="0">
                <a:ea typeface="ＭＳ Ｐゴシック" pitchFamily="-106" charset="-128"/>
                <a:cs typeface="ＭＳ Ｐゴシック" pitchFamily="-106" charset="-128"/>
              </a:rPr>
              <a:t>2:21  </a:t>
            </a:r>
            <a:r>
              <a:rPr lang="en-US" sz="2000" i="1" dirty="0">
                <a:ea typeface="ＭＳ Ｐゴシック" pitchFamily="-106" charset="-128"/>
                <a:cs typeface="ＭＳ Ｐゴシック" pitchFamily="-106" charset="-128"/>
              </a:rPr>
              <a:t>“I do not set aside God’s grace, because if righteousness could come through the law, then Christ died for nothing.”</a:t>
            </a:r>
          </a:p>
        </p:txBody>
      </p:sp>
      <p:sp>
        <p:nvSpPr>
          <p:cNvPr id="4" name="TextBox 3">
            <a:extLst>
              <a:ext uri="{FF2B5EF4-FFF2-40B4-BE49-F238E27FC236}">
                <a16:creationId xmlns:a16="http://schemas.microsoft.com/office/drawing/2014/main" id="{9039E732-2C31-7EAF-CE82-16B71A8A0111}"/>
              </a:ext>
            </a:extLst>
          </p:cNvPr>
          <p:cNvSpPr txBox="1"/>
          <p:nvPr/>
        </p:nvSpPr>
        <p:spPr>
          <a:xfrm>
            <a:off x="233362" y="3285063"/>
            <a:ext cx="8677275" cy="3170099"/>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The Root Issue Is Trust, Not Knowledge</a:t>
            </a:r>
            <a:endParaRPr lang="en-US" sz="2000" dirty="0">
              <a:ea typeface="ＭＳ Ｐゴシック" pitchFamily="-106" charset="-128"/>
              <a:cs typeface="ＭＳ Ｐゴシック" pitchFamily="-106" charset="-128"/>
            </a:endParaRPr>
          </a:p>
          <a:p>
            <a:r>
              <a:rPr lang="en-US" sz="2000" dirty="0">
                <a:ea typeface="ＭＳ Ｐゴシック" pitchFamily="-106" charset="-128"/>
                <a:cs typeface="ＭＳ Ｐゴシック" pitchFamily="-106" charset="-128"/>
              </a:rPr>
              <a:t>Human righteousness is not created because people lack information.</a:t>
            </a:r>
          </a:p>
          <a:p>
            <a:r>
              <a:rPr lang="en-US" sz="2000" dirty="0">
                <a:ea typeface="ＭＳ Ｐゴシック" pitchFamily="-106" charset="-128"/>
                <a:cs typeface="ＭＳ Ｐゴシック" pitchFamily="-106" charset="-128"/>
              </a:rPr>
              <a:t>It is created because people fear dependence.</a:t>
            </a:r>
          </a:p>
          <a:p>
            <a:r>
              <a:rPr lang="en-US" sz="2000" dirty="0">
                <a:ea typeface="ＭＳ Ｐゴシック" pitchFamily="-106" charset="-128"/>
                <a:cs typeface="ＭＳ Ｐゴシック" pitchFamily="-106" charset="-128"/>
              </a:rPr>
              <a:t> </a:t>
            </a:r>
          </a:p>
          <a:p>
            <a:r>
              <a:rPr lang="en-US" sz="2000" dirty="0">
                <a:ea typeface="ＭＳ Ｐゴシック" pitchFamily="-106" charset="-128"/>
                <a:cs typeface="ＭＳ Ｐゴシック" pitchFamily="-106" charset="-128"/>
              </a:rPr>
              <a:t>Trust feels risky.</a:t>
            </a:r>
          </a:p>
          <a:p>
            <a:r>
              <a:rPr lang="en-US" sz="2000" dirty="0">
                <a:ea typeface="ＭＳ Ｐゴシック" pitchFamily="-106" charset="-128"/>
                <a:cs typeface="ＭＳ Ｐゴシック" pitchFamily="-106" charset="-128"/>
              </a:rPr>
              <a:t>Systems feel secure.</a:t>
            </a:r>
          </a:p>
          <a:p>
            <a:r>
              <a:rPr lang="en-US" sz="2000" dirty="0">
                <a:ea typeface="ＭＳ Ｐゴシック" pitchFamily="-106" charset="-128"/>
                <a:cs typeface="ＭＳ Ｐゴシック" pitchFamily="-106" charset="-128"/>
              </a:rPr>
              <a:t> </a:t>
            </a:r>
          </a:p>
          <a:p>
            <a:r>
              <a:rPr lang="en-US" sz="2000" dirty="0">
                <a:ea typeface="ＭＳ Ｐゴシック" pitchFamily="-106" charset="-128"/>
                <a:cs typeface="ＭＳ Ｐゴシック" pitchFamily="-106" charset="-128"/>
              </a:rPr>
              <a:t>But only trust leads to life.</a:t>
            </a:r>
          </a:p>
          <a:p>
            <a:endParaRPr lang="en-US" sz="2000" dirty="0">
              <a:ea typeface="ＭＳ Ｐゴシック" pitchFamily="-106" charset="-128"/>
              <a:cs typeface="ＭＳ Ｐゴシック" pitchFamily="-106" charset="-128"/>
            </a:endParaRPr>
          </a:p>
          <a:p>
            <a:r>
              <a:rPr lang="en-US" sz="2000" b="1" dirty="0">
                <a:ea typeface="ＭＳ Ｐゴシック" pitchFamily="-106" charset="-128"/>
                <a:cs typeface="ＭＳ Ｐゴシック" pitchFamily="-106" charset="-128"/>
              </a:rPr>
              <a:t>When certainty replaces trust, Christ becomes unnecessary.</a:t>
            </a:r>
          </a:p>
        </p:txBody>
      </p:sp>
    </p:spTree>
    <p:extLst>
      <p:ext uri="{BB962C8B-B14F-4D97-AF65-F5344CB8AC3E}">
        <p14:creationId xmlns:p14="http://schemas.microsoft.com/office/powerpoint/2010/main" val="14192551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1000"/>
                                        <p:tgtEl>
                                          <p:spTgt spid="2"/>
                                        </p:tgtEl>
                                      </p:cBhvr>
                                    </p:animEffect>
                                    <p:anim calcmode="lin" valueType="num">
                                      <p:cBhvr>
                                        <p:cTn id="15" dur="1000" fill="hold"/>
                                        <p:tgtEl>
                                          <p:spTgt spid="2"/>
                                        </p:tgtEl>
                                        <p:attrNameLst>
                                          <p:attrName>ppt_x</p:attrName>
                                        </p:attrNameLst>
                                      </p:cBhvr>
                                      <p:tavLst>
                                        <p:tav tm="0">
                                          <p:val>
                                            <p:strVal val="#ppt_x"/>
                                          </p:val>
                                        </p:tav>
                                        <p:tav tm="100000">
                                          <p:val>
                                            <p:strVal val="#ppt_x"/>
                                          </p:val>
                                        </p:tav>
                                      </p:tavLst>
                                    </p:anim>
                                    <p:anim calcmode="lin" valueType="num">
                                      <p:cBhvr>
                                        <p:cTn id="1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1000"/>
                                        <p:tgtEl>
                                          <p:spTgt spid="4"/>
                                        </p:tgtEl>
                                      </p:cBhvr>
                                    </p:animEffect>
                                    <p:anim calcmode="lin" valueType="num">
                                      <p:cBhvr>
                                        <p:cTn id="22" dur="1000" fill="hold"/>
                                        <p:tgtEl>
                                          <p:spTgt spid="4"/>
                                        </p:tgtEl>
                                        <p:attrNameLst>
                                          <p:attrName>ppt_x</p:attrName>
                                        </p:attrNameLst>
                                      </p:cBhvr>
                                      <p:tavLst>
                                        <p:tav tm="0">
                                          <p:val>
                                            <p:strVal val="#ppt_x"/>
                                          </p:val>
                                        </p:tav>
                                        <p:tav tm="100000">
                                          <p:val>
                                            <p:strVal val="#ppt_x"/>
                                          </p:val>
                                        </p:tav>
                                      </p:tavLst>
                                    </p:anim>
                                    <p:anim calcmode="lin" valueType="num">
                                      <p:cBhvr>
                                        <p:cTn id="23"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 grpId="0"/>
      <p:bldP spid="4"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03190C-EF00-597F-C667-748CAC55CCE3}"/>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536001CD-37D6-18CB-0ABA-54362D580F7F}"/>
              </a:ext>
            </a:extLst>
          </p:cNvPr>
          <p:cNvSpPr txBox="1">
            <a:spLocks/>
          </p:cNvSpPr>
          <p:nvPr/>
        </p:nvSpPr>
        <p:spPr bwMode="auto">
          <a:xfrm>
            <a:off x="233362" y="32657"/>
            <a:ext cx="838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775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Summary</a:t>
            </a:r>
            <a:br>
              <a:rPr lang="en-US" dirty="0"/>
            </a:br>
            <a:r>
              <a:rPr lang="en-US" sz="2800" dirty="0">
                <a:solidFill>
                  <a:schemeClr val="tx2">
                    <a:lumMod val="60000"/>
                    <a:lumOff val="40000"/>
                  </a:schemeClr>
                </a:solidFill>
              </a:rPr>
              <a:t>Foundations of Man’s Righteousness</a:t>
            </a:r>
            <a:endParaRPr lang="en-US" sz="2600" dirty="0">
              <a:solidFill>
                <a:schemeClr val="tx2">
                  <a:lumMod val="60000"/>
                  <a:lumOff val="40000"/>
                </a:schemeClr>
              </a:solidFill>
            </a:endParaRPr>
          </a:p>
        </p:txBody>
      </p:sp>
      <p:sp>
        <p:nvSpPr>
          <p:cNvPr id="3" name="TextBox 2">
            <a:extLst>
              <a:ext uri="{FF2B5EF4-FFF2-40B4-BE49-F238E27FC236}">
                <a16:creationId xmlns:a16="http://schemas.microsoft.com/office/drawing/2014/main" id="{A4573C1E-3D31-295B-BC77-9DAEF1A04A88}"/>
              </a:ext>
            </a:extLst>
          </p:cNvPr>
          <p:cNvSpPr txBox="1"/>
          <p:nvPr/>
        </p:nvSpPr>
        <p:spPr>
          <a:xfrm>
            <a:off x="214311" y="838200"/>
            <a:ext cx="8677275" cy="2862322"/>
          </a:xfrm>
          <a:prstGeom prst="rect">
            <a:avLst/>
          </a:prstGeom>
          <a:noFill/>
        </p:spPr>
        <p:txBody>
          <a:bodyPr wrap="square" rtlCol="0">
            <a:spAutoFit/>
          </a:bodyPr>
          <a:lstStyle/>
          <a:p>
            <a:pPr marL="342900" indent="-342900" fontAlgn="ctr">
              <a:buFont typeface="Wingdings" panose="05000000000000000000" pitchFamily="2" charset="2"/>
              <a:buChar char="Ø"/>
            </a:pPr>
            <a:r>
              <a:rPr lang="en-US" sz="2000" dirty="0">
                <a:ea typeface="ＭＳ Ｐゴシック" pitchFamily="-106" charset="-128"/>
                <a:cs typeface="ＭＳ Ｐゴシック" pitchFamily="-106" charset="-128"/>
              </a:rPr>
              <a:t>Uncertainty drives fear.</a:t>
            </a:r>
          </a:p>
          <a:p>
            <a:pPr marL="342900" indent="-342900" fontAlgn="ctr">
              <a:buFont typeface="Wingdings" panose="05000000000000000000" pitchFamily="2" charset="2"/>
              <a:buChar char="Ø"/>
            </a:pPr>
            <a:r>
              <a:rPr lang="en-US" sz="2000" dirty="0">
                <a:ea typeface="ＭＳ Ｐゴシック" pitchFamily="-106" charset="-128"/>
                <a:cs typeface="ＭＳ Ｐゴシック" pitchFamily="-106" charset="-128"/>
              </a:rPr>
              <a:t>Fear demands control.</a:t>
            </a:r>
          </a:p>
          <a:p>
            <a:pPr marL="342900" indent="-342900" fontAlgn="ctr">
              <a:buFont typeface="Wingdings" panose="05000000000000000000" pitchFamily="2" charset="2"/>
              <a:buChar char="Ø"/>
            </a:pPr>
            <a:r>
              <a:rPr lang="en-US" sz="2000" dirty="0">
                <a:ea typeface="ＭＳ Ｐゴシック" pitchFamily="-106" charset="-128"/>
                <a:cs typeface="ＭＳ Ｐゴシック" pitchFamily="-106" charset="-128"/>
              </a:rPr>
              <a:t>Control creates systems.</a:t>
            </a:r>
          </a:p>
          <a:p>
            <a:pPr marL="342900" indent="-342900" fontAlgn="ctr">
              <a:buFont typeface="Wingdings" panose="05000000000000000000" pitchFamily="2" charset="2"/>
              <a:buChar char="Ø"/>
            </a:pPr>
            <a:r>
              <a:rPr lang="en-US" sz="2000" dirty="0">
                <a:ea typeface="ＭＳ Ｐゴシック" pitchFamily="-106" charset="-128"/>
                <a:cs typeface="ＭＳ Ｐゴシック" pitchFamily="-106" charset="-128"/>
              </a:rPr>
              <a:t>Systems produce human righteousness.</a:t>
            </a:r>
          </a:p>
          <a:p>
            <a:r>
              <a:rPr lang="en-US" sz="2000" dirty="0">
                <a:ea typeface="ＭＳ Ｐゴシック" pitchFamily="-106" charset="-128"/>
                <a:cs typeface="ＭＳ Ｐゴシック" pitchFamily="-106" charset="-128"/>
              </a:rPr>
              <a:t> </a:t>
            </a:r>
          </a:p>
          <a:p>
            <a:pPr marL="342900" indent="-342900">
              <a:buFont typeface="Wingdings" panose="05000000000000000000" pitchFamily="2" charset="2"/>
              <a:buChar char="Ø"/>
            </a:pPr>
            <a:r>
              <a:rPr lang="en-US" sz="2000" dirty="0">
                <a:ea typeface="ＭＳ Ｐゴシック" pitchFamily="-106" charset="-128"/>
                <a:cs typeface="ＭＳ Ｐゴシック" pitchFamily="-106" charset="-128"/>
              </a:rPr>
              <a:t>Social contracts, theology, and ideology all become substitutes when they replace trust in God’s righteousness.</a:t>
            </a:r>
          </a:p>
          <a:p>
            <a:r>
              <a:rPr lang="en-US" sz="2000" dirty="0">
                <a:ea typeface="ＭＳ Ｐゴシック" pitchFamily="-106" charset="-128"/>
                <a:cs typeface="ＭＳ Ｐゴシック" pitchFamily="-106" charset="-128"/>
              </a:rPr>
              <a:t> </a:t>
            </a:r>
          </a:p>
          <a:p>
            <a:pPr marL="342900" indent="-342900">
              <a:buFont typeface="Wingdings" panose="05000000000000000000" pitchFamily="2" charset="2"/>
              <a:buChar char="Ø"/>
            </a:pPr>
            <a:r>
              <a:rPr lang="en-US" sz="2000" dirty="0">
                <a:ea typeface="ＭＳ Ｐゴシック" pitchFamily="-106" charset="-128"/>
                <a:cs typeface="ＭＳ Ｐゴシック" pitchFamily="-106" charset="-128"/>
              </a:rPr>
              <a:t>The </a:t>
            </a:r>
            <a:r>
              <a:rPr lang="en-US" sz="2000" u="sng" dirty="0">
                <a:ea typeface="ＭＳ Ｐゴシック" pitchFamily="-106" charset="-128"/>
                <a:cs typeface="ＭＳ Ｐゴシック" pitchFamily="-106" charset="-128"/>
              </a:rPr>
              <a:t>gospel</a:t>
            </a:r>
            <a:r>
              <a:rPr lang="en-US" sz="2000" dirty="0">
                <a:ea typeface="ＭＳ Ｐゴシック" pitchFamily="-106" charset="-128"/>
                <a:cs typeface="ＭＳ Ｐゴシック" pitchFamily="-106" charset="-128"/>
              </a:rPr>
              <a:t> does not remove uncertainty.  </a:t>
            </a:r>
            <a:r>
              <a:rPr lang="en-US" sz="2000" u="sng" dirty="0">
                <a:ea typeface="ＭＳ Ｐゴシック" pitchFamily="-106" charset="-128"/>
                <a:cs typeface="ＭＳ Ｐゴシック" pitchFamily="-106" charset="-128"/>
              </a:rPr>
              <a:t>It relocates trust</a:t>
            </a:r>
            <a:r>
              <a:rPr lang="en-US" sz="2000" dirty="0">
                <a:ea typeface="ＭＳ Ｐゴシック" pitchFamily="-106" charset="-128"/>
                <a:cs typeface="ＭＳ Ｐゴシック" pitchFamily="-106" charset="-128"/>
              </a:rPr>
              <a:t>.</a:t>
            </a:r>
          </a:p>
        </p:txBody>
      </p:sp>
      <p:sp>
        <p:nvSpPr>
          <p:cNvPr id="2" name="TextBox 1">
            <a:extLst>
              <a:ext uri="{FF2B5EF4-FFF2-40B4-BE49-F238E27FC236}">
                <a16:creationId xmlns:a16="http://schemas.microsoft.com/office/drawing/2014/main" id="{F9DC8F44-6436-B618-AB38-4D32578F547C}"/>
              </a:ext>
            </a:extLst>
          </p:cNvPr>
          <p:cNvSpPr txBox="1"/>
          <p:nvPr/>
        </p:nvSpPr>
        <p:spPr>
          <a:xfrm>
            <a:off x="214310" y="4233957"/>
            <a:ext cx="8677275" cy="707886"/>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Proverbs 3:5  </a:t>
            </a:r>
            <a:r>
              <a:rPr lang="en-US" sz="2000" i="1" dirty="0">
                <a:ea typeface="ＭＳ Ｐゴシック" pitchFamily="-106" charset="-128"/>
                <a:cs typeface="ＭＳ Ｐゴシック" pitchFamily="-106" charset="-128"/>
              </a:rPr>
              <a:t>“</a:t>
            </a:r>
            <a:r>
              <a:rPr lang="en-US" sz="2000" i="1" u="sng" dirty="0">
                <a:ea typeface="ＭＳ Ｐゴシック" pitchFamily="-106" charset="-128"/>
                <a:cs typeface="ＭＳ Ｐゴシック" pitchFamily="-106" charset="-128"/>
              </a:rPr>
              <a:t>Trust in the LORD </a:t>
            </a:r>
            <a:r>
              <a:rPr lang="en-US" sz="2000" i="1" dirty="0">
                <a:ea typeface="ＭＳ Ｐゴシック" pitchFamily="-106" charset="-128"/>
                <a:cs typeface="ＭＳ Ｐゴシック" pitchFamily="-106" charset="-128"/>
              </a:rPr>
              <a:t>with all your heart, and do not rely on your own understanding.”</a:t>
            </a:r>
          </a:p>
        </p:txBody>
      </p:sp>
    </p:spTree>
    <p:extLst>
      <p:ext uri="{BB962C8B-B14F-4D97-AF65-F5344CB8AC3E}">
        <p14:creationId xmlns:p14="http://schemas.microsoft.com/office/powerpoint/2010/main" val="1462651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1000"/>
                                        <p:tgtEl>
                                          <p:spTgt spid="2"/>
                                        </p:tgtEl>
                                      </p:cBhvr>
                                    </p:animEffect>
                                    <p:anim calcmode="lin" valueType="num">
                                      <p:cBhvr>
                                        <p:cTn id="15" dur="1000" fill="hold"/>
                                        <p:tgtEl>
                                          <p:spTgt spid="2"/>
                                        </p:tgtEl>
                                        <p:attrNameLst>
                                          <p:attrName>ppt_x</p:attrName>
                                        </p:attrNameLst>
                                      </p:cBhvr>
                                      <p:tavLst>
                                        <p:tav tm="0">
                                          <p:val>
                                            <p:strVal val="#ppt_x"/>
                                          </p:val>
                                        </p:tav>
                                        <p:tav tm="100000">
                                          <p:val>
                                            <p:strVal val="#ppt_x"/>
                                          </p:val>
                                        </p:tav>
                                      </p:tavLst>
                                    </p:anim>
                                    <p:anim calcmode="lin" valueType="num">
                                      <p:cBhvr>
                                        <p:cTn id="1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510704-B793-A91F-574D-A4FFEFBDC836}"/>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782FD433-67BB-E753-D211-DE525D17751F}"/>
              </a:ext>
            </a:extLst>
          </p:cNvPr>
          <p:cNvSpPr txBox="1">
            <a:spLocks/>
          </p:cNvSpPr>
          <p:nvPr/>
        </p:nvSpPr>
        <p:spPr bwMode="auto">
          <a:xfrm>
            <a:off x="233362" y="32657"/>
            <a:ext cx="8682038" cy="7293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lnSpcReduction="1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2600" dirty="0">
                <a:solidFill>
                  <a:schemeClr val="tx2">
                    <a:lumMod val="60000"/>
                    <a:lumOff val="40000"/>
                  </a:schemeClr>
                </a:solidFill>
              </a:rPr>
              <a:t>Behold the Man!</a:t>
            </a:r>
          </a:p>
          <a:p>
            <a:r>
              <a:rPr lang="en-US" sz="1600" dirty="0">
                <a:solidFill>
                  <a:schemeClr val="tx2">
                    <a:lumMod val="60000"/>
                    <a:lumOff val="40000"/>
                  </a:schemeClr>
                </a:solidFill>
              </a:rPr>
              <a:t>John 19:5</a:t>
            </a:r>
          </a:p>
        </p:txBody>
      </p:sp>
      <p:pic>
        <p:nvPicPr>
          <p:cNvPr id="6" name="Picture 5" descr="John 19:5 - Behold the Man&#10;">
            <a:extLst>
              <a:ext uri="{FF2B5EF4-FFF2-40B4-BE49-F238E27FC236}">
                <a16:creationId xmlns:a16="http://schemas.microsoft.com/office/drawing/2014/main" id="{AABD4270-4975-0EE8-8368-F37D62CEDC5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0" y="857250"/>
            <a:ext cx="9144000" cy="5143500"/>
          </a:xfrm>
          <a:prstGeom prst="rect">
            <a:avLst/>
          </a:prstGeom>
        </p:spPr>
      </p:pic>
      <p:sp>
        <p:nvSpPr>
          <p:cNvPr id="2" name="TextBox 1">
            <a:extLst>
              <a:ext uri="{FF2B5EF4-FFF2-40B4-BE49-F238E27FC236}">
                <a16:creationId xmlns:a16="http://schemas.microsoft.com/office/drawing/2014/main" id="{FD3656B8-66E1-18C0-0FC7-538EBB153923}"/>
              </a:ext>
            </a:extLst>
          </p:cNvPr>
          <p:cNvSpPr txBox="1"/>
          <p:nvPr/>
        </p:nvSpPr>
        <p:spPr>
          <a:xfrm>
            <a:off x="492421" y="6248400"/>
            <a:ext cx="8159157" cy="369332"/>
          </a:xfrm>
          <a:prstGeom prst="rect">
            <a:avLst/>
          </a:prstGeom>
          <a:noFill/>
        </p:spPr>
        <p:txBody>
          <a:bodyPr wrap="none" rtlCol="0">
            <a:spAutoFit/>
          </a:bodyPr>
          <a:lstStyle/>
          <a:p>
            <a:r>
              <a:rPr lang="en-US" b="1" dirty="0"/>
              <a:t>Pharisaic Righteousness: Managing Uncertainty With Religious Systems</a:t>
            </a:r>
            <a:endParaRPr lang="en-US" dirty="0"/>
          </a:p>
        </p:txBody>
      </p:sp>
    </p:spTree>
    <p:extLst>
      <p:ext uri="{BB962C8B-B14F-4D97-AF65-F5344CB8AC3E}">
        <p14:creationId xmlns:p14="http://schemas.microsoft.com/office/powerpoint/2010/main" val="16986769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6C0DD8-CEC7-E654-A5B9-F3D213FBAFAB}"/>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85AB05F0-884A-2F36-6E9F-3575067070C1}"/>
              </a:ext>
            </a:extLst>
          </p:cNvPr>
          <p:cNvSpPr txBox="1">
            <a:spLocks/>
          </p:cNvSpPr>
          <p:nvPr/>
        </p:nvSpPr>
        <p:spPr bwMode="auto">
          <a:xfrm>
            <a:off x="233362" y="32657"/>
            <a:ext cx="838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850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3300" dirty="0"/>
              <a:t>Title</a:t>
            </a:r>
            <a:br>
              <a:rPr lang="en-US" dirty="0"/>
            </a:br>
            <a:r>
              <a:rPr lang="en-US" sz="2800" dirty="0" err="1">
                <a:solidFill>
                  <a:schemeClr val="tx2">
                    <a:lumMod val="60000"/>
                    <a:lumOff val="40000"/>
                  </a:schemeClr>
                </a:solidFill>
              </a:rPr>
              <a:t>SubTitle</a:t>
            </a:r>
            <a:endParaRPr lang="en-US" sz="2600" dirty="0">
              <a:solidFill>
                <a:schemeClr val="tx2">
                  <a:lumMod val="60000"/>
                  <a:lumOff val="40000"/>
                </a:schemeClr>
              </a:solidFill>
            </a:endParaRPr>
          </a:p>
        </p:txBody>
      </p:sp>
      <p:sp>
        <p:nvSpPr>
          <p:cNvPr id="3" name="TextBox 2">
            <a:extLst>
              <a:ext uri="{FF2B5EF4-FFF2-40B4-BE49-F238E27FC236}">
                <a16:creationId xmlns:a16="http://schemas.microsoft.com/office/drawing/2014/main" id="{DD03969E-8788-644E-470C-777569F1A33E}"/>
              </a:ext>
            </a:extLst>
          </p:cNvPr>
          <p:cNvSpPr txBox="1"/>
          <p:nvPr/>
        </p:nvSpPr>
        <p:spPr>
          <a:xfrm>
            <a:off x="214311" y="838200"/>
            <a:ext cx="8677275" cy="400110"/>
          </a:xfrm>
          <a:prstGeom prst="rect">
            <a:avLst/>
          </a:prstGeom>
          <a:noFill/>
        </p:spPr>
        <p:txBody>
          <a:bodyPr wrap="square" rtlCol="0">
            <a:spAutoFit/>
          </a:bodyPr>
          <a:lstStyle/>
          <a:p>
            <a:r>
              <a:rPr lang="en-US" sz="2000" dirty="0"/>
              <a:t>Points</a:t>
            </a:r>
          </a:p>
        </p:txBody>
      </p:sp>
      <p:sp>
        <p:nvSpPr>
          <p:cNvPr id="2" name="TextBox 1">
            <a:extLst>
              <a:ext uri="{FF2B5EF4-FFF2-40B4-BE49-F238E27FC236}">
                <a16:creationId xmlns:a16="http://schemas.microsoft.com/office/drawing/2014/main" id="{20FD5FE9-929A-4DA7-17EC-A4AD5E449D85}"/>
              </a:ext>
            </a:extLst>
          </p:cNvPr>
          <p:cNvSpPr txBox="1"/>
          <p:nvPr/>
        </p:nvSpPr>
        <p:spPr>
          <a:xfrm>
            <a:off x="214310" y="2362200"/>
            <a:ext cx="8677275" cy="400110"/>
          </a:xfrm>
          <a:prstGeom prst="rect">
            <a:avLst/>
          </a:prstGeom>
          <a:noFill/>
        </p:spPr>
        <p:txBody>
          <a:bodyPr wrap="square" rtlCol="0">
            <a:spAutoFit/>
          </a:bodyPr>
          <a:lstStyle/>
          <a:p>
            <a:r>
              <a:rPr lang="en-US" sz="2000" dirty="0">
                <a:ea typeface="ＭＳ Ｐゴシック" pitchFamily="-106" charset="-128"/>
                <a:cs typeface="ＭＳ Ｐゴシック" pitchFamily="-106" charset="-128"/>
              </a:rPr>
              <a:t>Points</a:t>
            </a:r>
            <a:endParaRPr lang="en-US" sz="1600" dirty="0">
              <a:ea typeface="ＭＳ Ｐゴシック" pitchFamily="-106" charset="-128"/>
              <a:cs typeface="ＭＳ Ｐゴシック" pitchFamily="-106" charset="-128"/>
            </a:endParaRPr>
          </a:p>
        </p:txBody>
      </p:sp>
      <p:sp>
        <p:nvSpPr>
          <p:cNvPr id="4" name="TextBox 3">
            <a:extLst>
              <a:ext uri="{FF2B5EF4-FFF2-40B4-BE49-F238E27FC236}">
                <a16:creationId xmlns:a16="http://schemas.microsoft.com/office/drawing/2014/main" id="{D224D50D-20C2-15AA-5EA2-F71081ECCBD6}"/>
              </a:ext>
            </a:extLst>
          </p:cNvPr>
          <p:cNvSpPr txBox="1"/>
          <p:nvPr/>
        </p:nvSpPr>
        <p:spPr>
          <a:xfrm>
            <a:off x="214309" y="4149524"/>
            <a:ext cx="8677275" cy="400110"/>
          </a:xfrm>
          <a:prstGeom prst="rect">
            <a:avLst/>
          </a:prstGeom>
          <a:noFill/>
        </p:spPr>
        <p:txBody>
          <a:bodyPr wrap="square" rtlCol="0">
            <a:spAutoFit/>
          </a:bodyPr>
          <a:lstStyle/>
          <a:p>
            <a:r>
              <a:rPr lang="en-US" sz="2000" dirty="0">
                <a:ea typeface="ＭＳ Ｐゴシック" pitchFamily="-106" charset="-128"/>
                <a:cs typeface="ＭＳ Ｐゴシック" pitchFamily="-106" charset="-128"/>
              </a:rPr>
              <a:t>Points</a:t>
            </a:r>
            <a:endParaRPr lang="en-US" sz="1600" dirty="0">
              <a:ea typeface="ＭＳ Ｐゴシック" pitchFamily="-106" charset="-128"/>
              <a:cs typeface="ＭＳ Ｐゴシック" pitchFamily="-106" charset="-128"/>
            </a:endParaRPr>
          </a:p>
        </p:txBody>
      </p:sp>
    </p:spTree>
    <p:extLst>
      <p:ext uri="{BB962C8B-B14F-4D97-AF65-F5344CB8AC3E}">
        <p14:creationId xmlns:p14="http://schemas.microsoft.com/office/powerpoint/2010/main" val="12057457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1000"/>
                                        <p:tgtEl>
                                          <p:spTgt spid="2"/>
                                        </p:tgtEl>
                                      </p:cBhvr>
                                    </p:animEffect>
                                    <p:anim calcmode="lin" valueType="num">
                                      <p:cBhvr>
                                        <p:cTn id="15" dur="1000" fill="hold"/>
                                        <p:tgtEl>
                                          <p:spTgt spid="2"/>
                                        </p:tgtEl>
                                        <p:attrNameLst>
                                          <p:attrName>ppt_x</p:attrName>
                                        </p:attrNameLst>
                                      </p:cBhvr>
                                      <p:tavLst>
                                        <p:tav tm="0">
                                          <p:val>
                                            <p:strVal val="#ppt_x"/>
                                          </p:val>
                                        </p:tav>
                                        <p:tav tm="100000">
                                          <p:val>
                                            <p:strVal val="#ppt_x"/>
                                          </p:val>
                                        </p:tav>
                                      </p:tavLst>
                                    </p:anim>
                                    <p:anim calcmode="lin" valueType="num">
                                      <p:cBhvr>
                                        <p:cTn id="1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1000"/>
                                        <p:tgtEl>
                                          <p:spTgt spid="4"/>
                                        </p:tgtEl>
                                      </p:cBhvr>
                                    </p:animEffect>
                                    <p:anim calcmode="lin" valueType="num">
                                      <p:cBhvr>
                                        <p:cTn id="22" dur="1000" fill="hold"/>
                                        <p:tgtEl>
                                          <p:spTgt spid="4"/>
                                        </p:tgtEl>
                                        <p:attrNameLst>
                                          <p:attrName>ppt_x</p:attrName>
                                        </p:attrNameLst>
                                      </p:cBhvr>
                                      <p:tavLst>
                                        <p:tav tm="0">
                                          <p:val>
                                            <p:strVal val="#ppt_x"/>
                                          </p:val>
                                        </p:tav>
                                        <p:tav tm="100000">
                                          <p:val>
                                            <p:strVal val="#ppt_x"/>
                                          </p:val>
                                        </p:tav>
                                      </p:tavLst>
                                    </p:anim>
                                    <p:anim calcmode="lin" valueType="num">
                                      <p:cBhvr>
                                        <p:cTn id="23"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 grpId="0"/>
      <p:bldP spid="4" grpId="0"/>
    </p:bldLst>
  </p:timing>
</p:sld>
</file>

<file path=ppt/theme/theme1.xml><?xml version="1.0" encoding="utf-8"?>
<a:theme xmlns:a="http://schemas.openxmlformats.org/drawingml/2006/main" name="PPT_Template_2010SummerSchool">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UPCRC_Powerpoint_Template_with I-Ma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PPT_Template_2010SummerSchool</Template>
  <TotalTime>42628</TotalTime>
  <Words>4082</Words>
  <Application>Microsoft Office PowerPoint</Application>
  <PresentationFormat>On-screen Show (4:3)</PresentationFormat>
  <Paragraphs>571</Paragraphs>
  <Slides>13</Slides>
  <Notes>13</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13</vt:i4>
      </vt:variant>
    </vt:vector>
  </HeadingPairs>
  <TitlesOfParts>
    <vt:vector size="20" baseType="lpstr">
      <vt:lpstr>ＭＳ Ｐゴシック</vt:lpstr>
      <vt:lpstr>Arial</vt:lpstr>
      <vt:lpstr>Arial Narrow</vt:lpstr>
      <vt:lpstr>Calibri</vt:lpstr>
      <vt:lpstr>Wingdings</vt:lpstr>
      <vt:lpstr>PPT_Template_2010SummerSchool</vt:lpstr>
      <vt:lpstr>1_UPCRC_Powerpoint_Template_with I-Mark</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Phil Pennington</dc:creator>
  <cp:lastModifiedBy>Phil Pennington</cp:lastModifiedBy>
  <cp:revision>1437</cp:revision>
  <cp:lastPrinted>2026-01-04T13:07:02Z</cp:lastPrinted>
  <dcterms:created xsi:type="dcterms:W3CDTF">2010-06-16T02:58:04Z</dcterms:created>
  <dcterms:modified xsi:type="dcterms:W3CDTF">2026-01-04T13:58:04Z</dcterms:modified>
</cp:coreProperties>
</file>