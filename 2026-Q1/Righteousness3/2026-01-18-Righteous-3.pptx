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6"/>
  </p:notesMasterIdLst>
  <p:sldIdLst>
    <p:sldId id="615" r:id="rId3"/>
    <p:sldId id="614" r:id="rId4"/>
    <p:sldId id="616" r:id="rId5"/>
    <p:sldId id="609" r:id="rId6"/>
    <p:sldId id="612" r:id="rId7"/>
    <p:sldId id="613" r:id="rId8"/>
    <p:sldId id="617" r:id="rId9"/>
    <p:sldId id="618" r:id="rId10"/>
    <p:sldId id="591" r:id="rId11"/>
    <p:sldId id="611" r:id="rId12"/>
    <p:sldId id="619" r:id="rId13"/>
    <p:sldId id="620" r:id="rId14"/>
    <p:sldId id="595" r:id="rId15"/>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62" autoAdjust="0"/>
    <p:restoredTop sz="51045" autoAdjust="0"/>
  </p:normalViewPr>
  <p:slideViewPr>
    <p:cSldViewPr>
      <p:cViewPr varScale="1">
        <p:scale>
          <a:sx n="78" d="100"/>
          <a:sy n="78" d="100"/>
        </p:scale>
        <p:origin x="1788" y="96"/>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commentAuthors" Target="commentAuthors.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4"/>
            <a:ext cx="3169921" cy="480060"/>
          </a:xfrm>
          <a:prstGeom prst="rect">
            <a:avLst/>
          </a:prstGeom>
        </p:spPr>
        <p:txBody>
          <a:bodyPr vert="horz" wrap="square" lIns="96579" tIns="48290" rIns="96579" bIns="48290"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143589" y="4"/>
            <a:ext cx="3169921" cy="480060"/>
          </a:xfrm>
          <a:prstGeom prst="rect">
            <a:avLst/>
          </a:prstGeom>
        </p:spPr>
        <p:txBody>
          <a:bodyPr vert="horz" wrap="square" lIns="96579" tIns="48290" rIns="96579" bIns="48290"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1/16/2026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wrap="square" lIns="96579" tIns="48290" rIns="96579" bIns="48290"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31521" y="4560571"/>
            <a:ext cx="5852160" cy="4320540"/>
          </a:xfrm>
          <a:prstGeom prst="rect">
            <a:avLst/>
          </a:prstGeom>
        </p:spPr>
        <p:txBody>
          <a:bodyPr vert="horz" wrap="square" lIns="96579" tIns="48290" rIns="96579" bIns="4829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5" y="9119474"/>
            <a:ext cx="3169921" cy="480060"/>
          </a:xfrm>
          <a:prstGeom prst="rect">
            <a:avLst/>
          </a:prstGeom>
        </p:spPr>
        <p:txBody>
          <a:bodyPr vert="horz" wrap="square" lIns="96579" tIns="48290" rIns="96579" bIns="48290"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143589" y="9119474"/>
            <a:ext cx="3169921" cy="480060"/>
          </a:xfrm>
          <a:prstGeom prst="rect">
            <a:avLst/>
          </a:prstGeom>
        </p:spPr>
        <p:txBody>
          <a:bodyPr vert="horz" wrap="square" lIns="96579" tIns="48290" rIns="96579" bIns="48290"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8CBE0-8759-6627-93F4-AA84641D1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EF4D04-E101-2EEF-C76A-8EB4C9331E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1D401B5-AFBE-D1A7-D71C-3C31F203A1DD}"/>
              </a:ext>
            </a:extLst>
          </p:cNvPr>
          <p:cNvSpPr>
            <a:spLocks noGrp="1"/>
          </p:cNvSpPr>
          <p:nvPr>
            <p:ph type="body" idx="1"/>
          </p:nvPr>
        </p:nvSpPr>
        <p:spPr/>
        <p:txBody>
          <a:bodyPr>
            <a:normAutofit/>
          </a:bodyPr>
          <a:lstStyle/>
          <a:p>
            <a:r>
              <a:rPr lang="en-US" sz="1400" b="1" kern="1200" dirty="0">
                <a:solidFill>
                  <a:schemeClr val="tx1"/>
                </a:solidFill>
                <a:effectLst/>
                <a:latin typeface="+mn-lt"/>
                <a:ea typeface="ＭＳ Ｐゴシック" pitchFamily="-106" charset="-128"/>
                <a:cs typeface="ＭＳ Ｐゴシック" pitchFamily="-106" charset="-128"/>
              </a:rPr>
              <a:t>What is “Righteousness” in the Bible?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Why This Matters for the Whole Study</a:t>
            </a:r>
            <a:endParaRPr lang="en-US" sz="1400" kern="1200" dirty="0">
              <a:solidFill>
                <a:schemeClr val="tx1"/>
              </a:solidFill>
              <a:effectLst/>
              <a:latin typeface="+mn-lt"/>
              <a:ea typeface="ＭＳ Ｐゴシック" pitchFamily="-106" charset="-128"/>
              <a:cs typeface="ＭＳ Ｐゴシック" pitchFamily="-106" charset="-128"/>
            </a:endParaRP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If we misunderstand righteousness at the start, everything else breaks.</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If righteousness starts with man, we end in pride or despair.</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If righteousness starts with God, we end in humility and trust.</a:t>
            </a:r>
          </a:p>
          <a:p>
            <a:r>
              <a:rPr lang="en-US" sz="1400" kern="1200" dirty="0">
                <a:solidFill>
                  <a:schemeClr val="tx1"/>
                </a:solidFill>
                <a:effectLst/>
                <a:latin typeface="+mn-lt"/>
                <a:ea typeface="ＭＳ Ｐゴシック" pitchFamily="-106" charset="-128"/>
                <a:cs typeface="ＭＳ Ｐゴシック" pitchFamily="-106" charset="-128"/>
              </a:rPr>
              <a:t>This sets up the entire contrast of the study:</a:t>
            </a:r>
          </a:p>
          <a:p>
            <a:pPr marL="171450" indent="-171450" rtl="0" fontAlgn="ctr">
              <a:buFont typeface="Arial" panose="020B0604020202020204" pitchFamily="34" charset="0"/>
              <a:buChar char="•"/>
            </a:pPr>
            <a:r>
              <a:rPr lang="en-US" sz="1400" b="1" kern="1200" dirty="0">
                <a:solidFill>
                  <a:schemeClr val="tx1"/>
                </a:solidFill>
                <a:effectLst/>
                <a:latin typeface="+mn-lt"/>
                <a:ea typeface="ＭＳ Ｐゴシック" pitchFamily="-106" charset="-128"/>
                <a:cs typeface="ＭＳ Ｐゴシック" pitchFamily="-106" charset="-128"/>
              </a:rPr>
              <a:t>The righteousness of man</a:t>
            </a:r>
            <a:r>
              <a:rPr lang="en-US" sz="1400" kern="1200" dirty="0">
                <a:solidFill>
                  <a:schemeClr val="tx1"/>
                </a:solidFill>
                <a:effectLst/>
                <a:latin typeface="+mn-lt"/>
                <a:ea typeface="ＭＳ Ｐゴシック" pitchFamily="-106" charset="-128"/>
                <a:cs typeface="ＭＳ Ｐゴシック" pitchFamily="-106" charset="-128"/>
              </a:rPr>
              <a:t> is self-made and unstable.</a:t>
            </a:r>
          </a:p>
          <a:p>
            <a:pPr marL="171450" indent="-171450" rtl="0" fontAlgn="ctr">
              <a:buFont typeface="Arial" panose="020B0604020202020204" pitchFamily="34" charset="0"/>
              <a:buChar char="•"/>
            </a:pPr>
            <a:r>
              <a:rPr lang="en-US" sz="1400" b="1" kern="1200" dirty="0">
                <a:solidFill>
                  <a:schemeClr val="tx1"/>
                </a:solidFill>
                <a:effectLst/>
                <a:latin typeface="+mn-lt"/>
                <a:ea typeface="ＭＳ Ｐゴシック" pitchFamily="-106" charset="-128"/>
                <a:cs typeface="ＭＳ Ｐゴシック" pitchFamily="-106" charset="-128"/>
              </a:rPr>
              <a:t>The righteousness of God</a:t>
            </a:r>
            <a:r>
              <a:rPr lang="en-US" sz="1400" kern="1200" dirty="0">
                <a:solidFill>
                  <a:schemeClr val="tx1"/>
                </a:solidFill>
                <a:effectLst/>
                <a:latin typeface="+mn-lt"/>
                <a:ea typeface="ＭＳ Ｐゴシック" pitchFamily="-106" charset="-128"/>
                <a:cs typeface="ＭＳ Ｐゴシック" pitchFamily="-106" charset="-128"/>
              </a:rPr>
              <a:t> is revealed, given, and life-giving.</a:t>
            </a:r>
          </a:p>
          <a:p>
            <a:r>
              <a:rPr lang="en-US" sz="1400" kern="1200" dirty="0">
                <a:solidFill>
                  <a:schemeClr val="tx1"/>
                </a:solidFill>
                <a:effectLst/>
                <a:latin typeface="+mn-lt"/>
                <a:ea typeface="ＭＳ Ｐゴシック" pitchFamily="-106" charset="-128"/>
                <a:cs typeface="ＭＳ Ｐゴシック" pitchFamily="-106" charset="-128"/>
              </a:rPr>
              <a:t> </a:t>
            </a:r>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Early Christian Understanding of Righteousness</a:t>
            </a:r>
            <a:endParaRPr lang="en-US" sz="1400" kern="1200" dirty="0">
              <a:solidFill>
                <a:schemeClr val="tx1"/>
              </a:solidFill>
              <a:effectLst/>
              <a:latin typeface="+mn-lt"/>
              <a:ea typeface="ＭＳ Ｐゴシック" pitchFamily="-106" charset="-128"/>
              <a:cs typeface="ＭＳ Ｐゴシック" pitchFamily="-106" charset="-128"/>
            </a:endParaRP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God’s nature.</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God’s gift.</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God’s work in His people.</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They rejected the idea that righteousness is earned.</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They taught that righteousness is shared by God through faith and obedience.</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This fits with apostolic teaching:</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Righteousness flows from God to people.</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It does not rise from people to God.</a:t>
            </a:r>
          </a:p>
          <a:p>
            <a:endParaRPr lang="en-US" dirty="0"/>
          </a:p>
          <a:p>
            <a:r>
              <a:rPr lang="en-US" sz="1200" b="1" kern="1200" dirty="0">
                <a:solidFill>
                  <a:schemeClr val="tx1"/>
                </a:solidFill>
                <a:effectLst/>
                <a:latin typeface="+mn-lt"/>
                <a:ea typeface="ＭＳ Ｐゴシック" pitchFamily="-106" charset="-128"/>
                <a:cs typeface="ＭＳ Ｐゴシック" pitchFamily="-106" charset="-128"/>
              </a:rPr>
              <a:t>Expanded Discussion Questions</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0" i="0" kern="1200" dirty="0">
                <a:solidFill>
                  <a:schemeClr val="tx1"/>
                </a:solidFill>
                <a:effectLst/>
                <a:latin typeface="+mn-lt"/>
                <a:ea typeface="ＭＳ Ｐゴシック" pitchFamily="-106" charset="-128"/>
                <a:cs typeface="ＭＳ Ｐゴシック" pitchFamily="-106" charset="-128"/>
              </a:rPr>
              <a:t>If righteousness comes from God’s nature, how should that shape our view of morality?</a:t>
            </a:r>
          </a:p>
          <a:p>
            <a:pPr rtl="0" fontAlgn="ctr"/>
            <a:r>
              <a:rPr lang="en-US" sz="1200" b="0" i="0" kern="1200" dirty="0">
                <a:solidFill>
                  <a:schemeClr val="tx1"/>
                </a:solidFill>
                <a:effectLst/>
                <a:latin typeface="+mn-lt"/>
                <a:ea typeface="ＭＳ Ｐゴシック" pitchFamily="-106" charset="-128"/>
                <a:cs typeface="ＭＳ Ｐゴシック" pitchFamily="-106" charset="-128"/>
              </a:rPr>
              <a:t>Why is it dangerous to define righteousness by culture or personal experience?</a:t>
            </a:r>
          </a:p>
          <a:p>
            <a:pPr rtl="0" fontAlgn="ctr"/>
            <a:r>
              <a:rPr lang="en-US" sz="1200" b="0" i="0" kern="1200" dirty="0">
                <a:solidFill>
                  <a:schemeClr val="tx1"/>
                </a:solidFill>
                <a:effectLst/>
                <a:latin typeface="+mn-lt"/>
                <a:ea typeface="ＭＳ Ｐゴシック" pitchFamily="-106" charset="-128"/>
                <a:cs typeface="ＭＳ Ｐゴシック" pitchFamily="-106" charset="-128"/>
              </a:rPr>
              <a:t>How does seeing God as righteous before seeing ourselves as sinners change our response to Him?</a:t>
            </a:r>
          </a:p>
          <a:p>
            <a:pPr rtl="0" fontAlgn="ctr"/>
            <a:r>
              <a:rPr lang="en-US" sz="1200" b="0" i="0" kern="1200" dirty="0">
                <a:solidFill>
                  <a:schemeClr val="tx1"/>
                </a:solidFill>
                <a:effectLst/>
                <a:latin typeface="+mn-lt"/>
                <a:ea typeface="ＭＳ Ｐゴシック" pitchFamily="-106" charset="-128"/>
                <a:cs typeface="ＭＳ Ｐゴシック" pitchFamily="-106" charset="-128"/>
              </a:rPr>
              <a:t>In what ways does God’s righteousness expose both our sin and our hope?</a:t>
            </a:r>
            <a:endParaRPr lang="en-US" sz="1200" dirty="0"/>
          </a:p>
          <a:p>
            <a:endParaRPr lang="en-US" dirty="0"/>
          </a:p>
        </p:txBody>
      </p:sp>
      <p:sp>
        <p:nvSpPr>
          <p:cNvPr id="4" name="Slide Number Placeholder 3">
            <a:extLst>
              <a:ext uri="{FF2B5EF4-FFF2-40B4-BE49-F238E27FC236}">
                <a16:creationId xmlns:a16="http://schemas.microsoft.com/office/drawing/2014/main" id="{5590D934-881A-33E6-E051-ECDEEA6B301F}"/>
              </a:ext>
            </a:extLst>
          </p:cNvPr>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0161894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57A05-370D-EC95-DD33-A248F87A0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B87578-A03E-57BD-2F68-2AC24A54471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53E21E9-3B03-9C3A-A23A-8A71293D0A3D}"/>
              </a:ext>
            </a:extLst>
          </p:cNvPr>
          <p:cNvSpPr>
            <a:spLocks noGrp="1"/>
          </p:cNvSpPr>
          <p:nvPr>
            <p:ph type="body" idx="1"/>
          </p:nvPr>
        </p:nvSpPr>
        <p:spPr/>
        <p:txBody>
          <a:bodyPr>
            <a:normAutofit fontScale="25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Ecce Homo</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(“Behold the Man”)</a:t>
            </a:r>
          </a:p>
          <a:p>
            <a:pPr lvl="1"/>
            <a:r>
              <a:rPr lang="en-US" sz="1400" kern="1200" dirty="0">
                <a:solidFill>
                  <a:schemeClr val="tx1"/>
                </a:solidFill>
                <a:effectLst/>
                <a:latin typeface="+mn-lt"/>
                <a:ea typeface="ＭＳ Ｐゴシック" pitchFamily="-106" charset="-128"/>
                <a:cs typeface="ＭＳ Ｐゴシック" pitchFamily="-106" charset="-128"/>
              </a:rPr>
              <a:t> by </a:t>
            </a:r>
            <a:r>
              <a:rPr lang="en-US" sz="1400" b="1" kern="1200" dirty="0">
                <a:solidFill>
                  <a:schemeClr val="tx1"/>
                </a:solidFill>
                <a:effectLst/>
                <a:latin typeface="+mn-lt"/>
                <a:ea typeface="ＭＳ Ｐゴシック" pitchFamily="-106" charset="-128"/>
                <a:cs typeface="ＭＳ Ｐゴシック" pitchFamily="-106" charset="-128"/>
              </a:rPr>
              <a:t>Antonio </a:t>
            </a:r>
            <a:r>
              <a:rPr lang="en-US" sz="1400" b="1" kern="1200" dirty="0" err="1">
                <a:solidFill>
                  <a:schemeClr val="tx1"/>
                </a:solidFill>
                <a:effectLst/>
                <a:latin typeface="+mn-lt"/>
                <a:ea typeface="ＭＳ Ｐゴシック" pitchFamily="-106" charset="-128"/>
                <a:cs typeface="ＭＳ Ｐゴシック" pitchFamily="-106" charset="-128"/>
              </a:rPr>
              <a:t>Ciseri</a:t>
            </a:r>
            <a:r>
              <a:rPr lang="en-US" sz="1400" b="1" kern="1200" dirty="0">
                <a:solidFill>
                  <a:schemeClr val="tx1"/>
                </a:solidFill>
                <a:effectLst/>
                <a:latin typeface="+mn-lt"/>
                <a:ea typeface="ＭＳ Ｐゴシック" pitchFamily="-106" charset="-128"/>
                <a:cs typeface="ＭＳ Ｐゴシック" pitchFamily="-106" charset="-128"/>
              </a:rPr>
              <a:t>, 1871</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The title comes from </a:t>
            </a:r>
            <a:r>
              <a:rPr lang="en-US" sz="1400" b="1" kern="1200" dirty="0">
                <a:solidFill>
                  <a:schemeClr val="tx1"/>
                </a:solidFill>
                <a:effectLst/>
                <a:latin typeface="+mn-lt"/>
                <a:ea typeface="ＭＳ Ｐゴシック" pitchFamily="-106" charset="-128"/>
                <a:cs typeface="ＭＳ Ｐゴシック" pitchFamily="-106" charset="-128"/>
              </a:rPr>
              <a:t>John 19:5</a:t>
            </a:r>
            <a:r>
              <a:rPr lang="en-US" sz="1400" kern="1200" dirty="0">
                <a:solidFill>
                  <a:schemeClr val="tx1"/>
                </a:solidFill>
                <a:effectLst/>
                <a:latin typeface="+mn-lt"/>
                <a:ea typeface="ＭＳ Ｐゴシック" pitchFamily="-106" charset="-128"/>
                <a:cs typeface="ＭＳ Ｐゴシック" pitchFamily="-106" charset="-128"/>
              </a:rPr>
              <a:t>:  </a:t>
            </a:r>
            <a:r>
              <a:rPr lang="en-US" sz="1400" i="1" kern="1200" dirty="0">
                <a:solidFill>
                  <a:schemeClr val="tx1"/>
                </a:solidFill>
                <a:effectLst/>
                <a:latin typeface="+mn-lt"/>
                <a:ea typeface="ＭＳ Ｐゴシック" pitchFamily="-106" charset="-128"/>
                <a:cs typeface="ＭＳ Ｐゴシック" pitchFamily="-106" charset="-128"/>
              </a:rPr>
              <a:t>“So Jesus came out, wearing the crown of thorns and the purple robe. Pilate said to them,</a:t>
            </a:r>
            <a:r>
              <a:rPr lang="en-US" sz="1400" b="1" i="1" kern="1200" dirty="0">
                <a:solidFill>
                  <a:schemeClr val="tx1"/>
                </a:solidFill>
                <a:effectLst/>
                <a:latin typeface="+mn-lt"/>
                <a:ea typeface="ＭＳ Ｐゴシック" pitchFamily="-106" charset="-128"/>
                <a:cs typeface="ＭＳ Ｐゴシック" pitchFamily="-106" charset="-128"/>
              </a:rPr>
              <a:t> ‘Look, here is the man!’</a:t>
            </a:r>
            <a:r>
              <a:rPr lang="en-US" sz="1400" i="1" kern="1200" dirty="0">
                <a:solidFill>
                  <a:schemeClr val="tx1"/>
                </a:solidFill>
                <a:effectLst/>
                <a:latin typeface="+mn-lt"/>
                <a:ea typeface="ＭＳ Ｐゴシック" pitchFamily="-106" charset="-128"/>
                <a:cs typeface="ＭＳ Ｐゴシック" pitchFamily="-106" charset="-128"/>
              </a:rPr>
              <a:t>”</a:t>
            </a:r>
          </a:p>
          <a:p>
            <a:pPr lvl="1"/>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Subject and Scene</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The painting depicts </a:t>
            </a:r>
            <a:r>
              <a:rPr lang="en-US" sz="1400" b="1" kern="1200" dirty="0">
                <a:solidFill>
                  <a:schemeClr val="tx1"/>
                </a:solidFill>
                <a:effectLst/>
                <a:latin typeface="+mn-lt"/>
                <a:ea typeface="ＭＳ Ｐゴシック" pitchFamily="-106" charset="-128"/>
                <a:cs typeface="ＭＳ Ｐゴシック" pitchFamily="-106" charset="-128"/>
              </a:rPr>
              <a:t>Pontius Pilate presenting Jesus to the crowd</a:t>
            </a:r>
            <a:r>
              <a:rPr lang="en-US" sz="1400" kern="1200" dirty="0">
                <a:solidFill>
                  <a:schemeClr val="tx1"/>
                </a:solidFill>
                <a:effectLst/>
                <a:latin typeface="+mn-lt"/>
                <a:ea typeface="ＭＳ Ｐゴシック" pitchFamily="-106" charset="-128"/>
                <a:cs typeface="ＭＳ Ｐゴシック" pitchFamily="-106" charset="-128"/>
              </a:rPr>
              <a:t>.</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Jesus stands: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silent</a:t>
            </a:r>
          </a:p>
          <a:p>
            <a:pPr lvl="2" rtl="0" fontAlgn="ctr"/>
            <a:r>
              <a:rPr lang="en-US" sz="1400" kern="1200" dirty="0">
                <a:solidFill>
                  <a:schemeClr val="tx1"/>
                </a:solidFill>
                <a:effectLst/>
                <a:latin typeface="+mn-lt"/>
                <a:ea typeface="ＭＳ Ｐゴシック" pitchFamily="-106" charset="-128"/>
                <a:cs typeface="ＭＳ Ｐゴシック" pitchFamily="-106" charset="-128"/>
              </a:rPr>
              <a:t>bound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crowned with thorns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wearing a faded purple robe</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The crowd below is chaotic and aggressive.</a:t>
            </a:r>
          </a:p>
          <a:p>
            <a:pPr lvl="1"/>
            <a:r>
              <a:rPr lang="en-US" sz="1400" kern="1200" dirty="0">
                <a:solidFill>
                  <a:schemeClr val="tx1"/>
                </a:solidFill>
                <a:effectLst/>
                <a:latin typeface="+mn-lt"/>
                <a:ea typeface="ＭＳ Ｐゴシック" pitchFamily="-106" charset="-128"/>
                <a:cs typeface="ＭＳ Ｐゴシック" pitchFamily="-106" charset="-128"/>
              </a:rPr>
              <a:t>Roman authority stands firm and detached.</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This visual tension is intentional.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Biblical Context</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b="1" kern="1200" dirty="0">
                <a:solidFill>
                  <a:schemeClr val="tx1"/>
                </a:solidFill>
                <a:effectLst/>
                <a:latin typeface="+mn-lt"/>
                <a:ea typeface="ＭＳ Ｐゴシック" pitchFamily="-106" charset="-128"/>
                <a:cs typeface="ＭＳ Ｐゴシック" pitchFamily="-106" charset="-128"/>
              </a:rPr>
              <a:t>John 19:4–6 </a:t>
            </a:r>
            <a:r>
              <a:rPr lang="en-US" sz="1400" b="1" i="0" kern="1200" dirty="0">
                <a:solidFill>
                  <a:schemeClr val="tx1"/>
                </a:solidFill>
                <a:effectLst/>
                <a:latin typeface="+mn-lt"/>
                <a:ea typeface="ＭＳ Ｐゴシック" pitchFamily="-106" charset="-128"/>
                <a:cs typeface="ＭＳ Ｐゴシック" pitchFamily="-106" charset="-128"/>
              </a:rPr>
              <a:t>: </a:t>
            </a:r>
            <a:r>
              <a:rPr lang="en-US" sz="1400" i="1" kern="1200" dirty="0">
                <a:solidFill>
                  <a:schemeClr val="tx1"/>
                </a:solidFill>
                <a:effectLst/>
                <a:latin typeface="+mn-lt"/>
                <a:ea typeface="ＭＳ Ｐゴシック" pitchFamily="-106" charset="-128"/>
                <a:cs typeface="ＭＳ Ｐゴシック" pitchFamily="-106" charset="-128"/>
              </a:rPr>
              <a:t>“Then Pilate went outside again and said to them, ‘Look, I am bringing him out to you, so that you may know that I find no reason for an accusation against him.’</a:t>
            </a:r>
          </a:p>
          <a:p>
            <a:pPr lvl="1"/>
            <a:r>
              <a:rPr lang="en-US" sz="1400" i="1" kern="1200" dirty="0">
                <a:solidFill>
                  <a:schemeClr val="tx1"/>
                </a:solidFill>
                <a:effectLst/>
                <a:latin typeface="+mn-lt"/>
                <a:ea typeface="ＭＳ Ｐゴシック" pitchFamily="-106" charset="-128"/>
                <a:cs typeface="ＭＳ Ｐゴシック" pitchFamily="-106" charset="-128"/>
              </a:rPr>
              <a:t>So Jesus came out… When the chief priests and their officers saw him, they shouted out, ‘Crucify! Crucify!’”</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err="1">
                <a:solidFill>
                  <a:schemeClr val="tx1"/>
                </a:solidFill>
                <a:effectLst/>
                <a:latin typeface="+mn-lt"/>
                <a:ea typeface="ＭＳ Ｐゴシック" pitchFamily="-106" charset="-128"/>
                <a:cs typeface="ＭＳ Ｐゴシック" pitchFamily="-106" charset="-128"/>
              </a:rPr>
              <a:t>Ciseri</a:t>
            </a:r>
            <a:r>
              <a:rPr lang="en-US" sz="1400" kern="1200" dirty="0">
                <a:solidFill>
                  <a:schemeClr val="tx1"/>
                </a:solidFill>
                <a:effectLst/>
                <a:latin typeface="+mn-lt"/>
                <a:ea typeface="ＭＳ Ｐゴシック" pitchFamily="-106" charset="-128"/>
                <a:cs typeface="ＭＳ Ｐゴシック" pitchFamily="-106" charset="-128"/>
              </a:rPr>
              <a:t> paints the moment where:</a:t>
            </a:r>
          </a:p>
          <a:p>
            <a:pPr lvl="2" rtl="0" fontAlgn="ctr"/>
            <a:r>
              <a:rPr lang="en-US" sz="1400" kern="1200" dirty="0">
                <a:solidFill>
                  <a:schemeClr val="tx1"/>
                </a:solidFill>
                <a:effectLst/>
                <a:latin typeface="+mn-lt"/>
                <a:ea typeface="ＭＳ Ｐゴシック" pitchFamily="-106" charset="-128"/>
                <a:cs typeface="ＭＳ Ｐゴシック" pitchFamily="-106" charset="-128"/>
              </a:rPr>
              <a:t>innocence stands exposed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power avoids responsibility</a:t>
            </a:r>
          </a:p>
          <a:p>
            <a:pPr lvl="2" rtl="0" fontAlgn="ctr"/>
            <a:r>
              <a:rPr lang="en-US" sz="1400" kern="1200" dirty="0">
                <a:solidFill>
                  <a:schemeClr val="tx1"/>
                </a:solidFill>
                <a:effectLst/>
                <a:latin typeface="+mn-lt"/>
                <a:ea typeface="ＭＳ Ｐゴシック" pitchFamily="-106" charset="-128"/>
                <a:cs typeface="ＭＳ Ｐゴシック" pitchFamily="-106" charset="-128"/>
              </a:rPr>
              <a:t>the crowd demands judgment</a:t>
            </a:r>
          </a:p>
          <a:p>
            <a:pPr lvl="1"/>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Theological Emphasis</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This is not a sentimental Christ.</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Jesus is: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humiliated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restrained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visibly human</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Yet He stands above the crowd, literally and morally.</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This reflects </a:t>
            </a:r>
            <a:r>
              <a:rPr lang="en-US" sz="1400" b="1" kern="1200" dirty="0">
                <a:solidFill>
                  <a:schemeClr val="tx1"/>
                </a:solidFill>
                <a:effectLst/>
                <a:latin typeface="+mn-lt"/>
                <a:ea typeface="ＭＳ Ｐゴシック" pitchFamily="-106" charset="-128"/>
                <a:cs typeface="ＭＳ Ｐゴシック" pitchFamily="-106" charset="-128"/>
              </a:rPr>
              <a:t>Isaiah 53:7</a:t>
            </a:r>
            <a:r>
              <a:rPr lang="en-US" sz="1400" kern="1200" dirty="0">
                <a:solidFill>
                  <a:schemeClr val="tx1"/>
                </a:solidFill>
                <a:effectLst/>
                <a:latin typeface="+mn-lt"/>
                <a:ea typeface="ＭＳ Ｐゴシック" pitchFamily="-106" charset="-128"/>
                <a:cs typeface="ＭＳ Ｐゴシック" pitchFamily="-106" charset="-128"/>
              </a:rPr>
              <a:t>:  </a:t>
            </a:r>
            <a:r>
              <a:rPr lang="en-US" sz="1400" i="1" kern="1200" dirty="0">
                <a:solidFill>
                  <a:schemeClr val="tx1"/>
                </a:solidFill>
                <a:effectLst/>
                <a:latin typeface="+mn-lt"/>
                <a:ea typeface="ＭＳ Ｐゴシック" pitchFamily="-106" charset="-128"/>
                <a:cs typeface="ＭＳ Ｐゴシック" pitchFamily="-106" charset="-128"/>
              </a:rPr>
              <a:t>“He was oppressed and afflicted, yet he did not open his mouth.”</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err="1">
                <a:solidFill>
                  <a:schemeClr val="tx1"/>
                </a:solidFill>
                <a:effectLst/>
                <a:latin typeface="+mn-lt"/>
                <a:ea typeface="ＭＳ Ｐゴシック" pitchFamily="-106" charset="-128"/>
                <a:cs typeface="ＭＳ Ｐゴシック" pitchFamily="-106" charset="-128"/>
              </a:rPr>
              <a:t>Ciseri</a:t>
            </a:r>
            <a:r>
              <a:rPr lang="en-US" sz="1400" kern="1200" dirty="0">
                <a:solidFill>
                  <a:schemeClr val="tx1"/>
                </a:solidFill>
                <a:effectLst/>
                <a:latin typeface="+mn-lt"/>
                <a:ea typeface="ＭＳ Ｐゴシック" pitchFamily="-106" charset="-128"/>
                <a:cs typeface="ＭＳ Ｐゴシック" pitchFamily="-106" charset="-128"/>
              </a:rPr>
              <a:t> emphasizes: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moral contrast, not drama</a:t>
            </a:r>
          </a:p>
          <a:p>
            <a:pPr lvl="2" rtl="0" fontAlgn="ctr"/>
            <a:r>
              <a:rPr lang="en-US" sz="1400" kern="1200" dirty="0">
                <a:solidFill>
                  <a:schemeClr val="tx1"/>
                </a:solidFill>
                <a:effectLst/>
                <a:latin typeface="+mn-lt"/>
                <a:ea typeface="ＭＳ Ｐゴシック" pitchFamily="-106" charset="-128"/>
                <a:cs typeface="ＭＳ Ｐゴシック" pitchFamily="-106" charset="-128"/>
              </a:rPr>
              <a:t>silence over spectacle</a:t>
            </a:r>
          </a:p>
          <a:p>
            <a:pPr lvl="2" rtl="0" fontAlgn="ctr"/>
            <a:r>
              <a:rPr lang="en-US" sz="1400" kern="1200" dirty="0">
                <a:solidFill>
                  <a:schemeClr val="tx1"/>
                </a:solidFill>
                <a:effectLst/>
                <a:latin typeface="+mn-lt"/>
                <a:ea typeface="ＭＳ Ｐゴシック" pitchFamily="-106" charset="-128"/>
                <a:cs typeface="ＭＳ Ｐゴシック" pitchFamily="-106" charset="-128"/>
              </a:rPr>
              <a:t>righteousness without defense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Connection to this Study Theme</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This image visually captures:</a:t>
            </a:r>
          </a:p>
          <a:p>
            <a:pPr lvl="2" rtl="0" fontAlgn="ctr"/>
            <a:r>
              <a:rPr lang="en-US" sz="1400" b="1" kern="1200" dirty="0">
                <a:solidFill>
                  <a:schemeClr val="tx1"/>
                </a:solidFill>
                <a:effectLst/>
                <a:latin typeface="+mn-lt"/>
                <a:ea typeface="ＭＳ Ｐゴシック" pitchFamily="-106" charset="-128"/>
                <a:cs typeface="ＭＳ Ｐゴシック" pitchFamily="-106" charset="-128"/>
              </a:rPr>
              <a:t>the righteousness of God</a:t>
            </a:r>
            <a:r>
              <a:rPr lang="en-US" sz="1400" kern="1200" dirty="0">
                <a:solidFill>
                  <a:schemeClr val="tx1"/>
                </a:solidFill>
                <a:effectLst/>
                <a:latin typeface="+mn-lt"/>
                <a:ea typeface="ＭＳ Ｐゴシック" pitchFamily="-106" charset="-128"/>
                <a:cs typeface="ＭＳ Ｐゴシック" pitchFamily="-106" charset="-128"/>
              </a:rPr>
              <a:t> standing silent</a:t>
            </a:r>
          </a:p>
          <a:p>
            <a:pPr lvl="2" rtl="0" fontAlgn="ctr"/>
            <a:r>
              <a:rPr lang="en-US" sz="1400" b="1" kern="1200" dirty="0">
                <a:solidFill>
                  <a:schemeClr val="tx1"/>
                </a:solidFill>
                <a:effectLst/>
                <a:latin typeface="+mn-lt"/>
                <a:ea typeface="ＭＳ Ｐゴシック" pitchFamily="-106" charset="-128"/>
                <a:cs typeface="ＭＳ Ｐゴシック" pitchFamily="-106" charset="-128"/>
              </a:rPr>
              <a:t>the righteousness of man</a:t>
            </a:r>
            <a:r>
              <a:rPr lang="en-US" sz="1400" kern="1200" dirty="0">
                <a:solidFill>
                  <a:schemeClr val="tx1"/>
                </a:solidFill>
                <a:effectLst/>
                <a:latin typeface="+mn-lt"/>
                <a:ea typeface="ＭＳ Ｐゴシック" pitchFamily="-106" charset="-128"/>
                <a:cs typeface="ＭＳ Ｐゴシック" pitchFamily="-106" charset="-128"/>
              </a:rPr>
              <a:t> expressed through law, crowd pressure, and political calculation</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Pilate represents system-driven order.</a:t>
            </a:r>
          </a:p>
          <a:p>
            <a:pPr lvl="1"/>
            <a:r>
              <a:rPr lang="en-US" sz="1400" kern="1200" dirty="0">
                <a:solidFill>
                  <a:schemeClr val="tx1"/>
                </a:solidFill>
                <a:effectLst/>
                <a:latin typeface="+mn-lt"/>
                <a:ea typeface="ＭＳ Ｐゴシック" pitchFamily="-106" charset="-128"/>
                <a:cs typeface="ＭＳ Ｐゴシック" pitchFamily="-106" charset="-128"/>
              </a:rPr>
              <a:t>The crowd represents fear-driven morality.</a:t>
            </a:r>
          </a:p>
          <a:p>
            <a:pPr lvl="1"/>
            <a:r>
              <a:rPr lang="en-US" sz="1400" kern="1200" dirty="0">
                <a:solidFill>
                  <a:schemeClr val="tx1"/>
                </a:solidFill>
                <a:effectLst/>
                <a:latin typeface="+mn-lt"/>
                <a:ea typeface="ＭＳ Ｐゴシック" pitchFamily="-106" charset="-128"/>
                <a:cs typeface="ＭＳ Ｐゴシック" pitchFamily="-106" charset="-128"/>
              </a:rPr>
              <a:t>Jesus represents God’s righteousness without control.</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b="1" kern="1200" dirty="0">
                <a:solidFill>
                  <a:schemeClr val="tx1"/>
                </a:solidFill>
                <a:effectLst/>
                <a:latin typeface="+mn-lt"/>
                <a:ea typeface="ＭＳ Ｐゴシック" pitchFamily="-106" charset="-128"/>
                <a:cs typeface="ＭＳ Ｐゴシック" pitchFamily="-106" charset="-128"/>
              </a:rPr>
              <a:t>John 18:36</a:t>
            </a:r>
            <a:r>
              <a:rPr lang="en-US" sz="1400" b="0" i="0" kern="1200" dirty="0">
                <a:solidFill>
                  <a:schemeClr val="tx1"/>
                </a:solidFill>
                <a:effectLst/>
                <a:latin typeface="+mn-lt"/>
                <a:ea typeface="ＭＳ Ｐゴシック" pitchFamily="-106" charset="-128"/>
                <a:cs typeface="ＭＳ Ｐゴシック" pitchFamily="-106" charset="-128"/>
              </a:rPr>
              <a:t> : </a:t>
            </a:r>
            <a:r>
              <a:rPr lang="en-US" sz="1400" b="1" i="1" kern="1200" dirty="0">
                <a:solidFill>
                  <a:schemeClr val="tx1"/>
                </a:solidFill>
                <a:effectLst/>
                <a:latin typeface="+mn-lt"/>
                <a:ea typeface="ＭＳ Ｐゴシック" pitchFamily="-106" charset="-128"/>
                <a:cs typeface="ＭＳ Ｐゴシック" pitchFamily="-106" charset="-128"/>
              </a:rPr>
              <a:t>“My kingdom is not from this world.”</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That contrast is the heart of the painting.</a:t>
            </a:r>
          </a:p>
          <a:p>
            <a:pPr lvl="1"/>
            <a:endParaRPr lang="en-US" dirty="0"/>
          </a:p>
          <a:p>
            <a:endParaRPr lang="en-US" dirty="0"/>
          </a:p>
        </p:txBody>
      </p:sp>
      <p:sp>
        <p:nvSpPr>
          <p:cNvPr id="4" name="Slide Number Placeholder 3">
            <a:extLst>
              <a:ext uri="{FF2B5EF4-FFF2-40B4-BE49-F238E27FC236}">
                <a16:creationId xmlns:a16="http://schemas.microsoft.com/office/drawing/2014/main" id="{1BFF7C20-D80F-C94F-31CD-FEC00B74240A}"/>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36286162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D5D05-C3E6-CF8D-D198-87518BB5A3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796C6A-7163-9AF7-7BED-84AD3E07078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EADB0B6-6B93-4C01-DCA8-AC2F4611B314}"/>
              </a:ext>
            </a:extLst>
          </p:cNvPr>
          <p:cNvSpPr>
            <a:spLocks noGrp="1"/>
          </p:cNvSpPr>
          <p:nvPr>
            <p:ph type="body" idx="1"/>
          </p:nvPr>
        </p:nvSpPr>
        <p:spPr/>
        <p:txBody>
          <a:bodyPr>
            <a:normAutofit fontScale="77500" lnSpcReduction="20000"/>
          </a:bodyPr>
          <a:lstStyle/>
          <a:p>
            <a:endParaRPr lang="en-US" sz="1600" dirty="0"/>
          </a:p>
          <a:p>
            <a:r>
              <a:rPr lang="en-US" sz="1400" b="1" dirty="0">
                <a:ea typeface="ＭＳ Ｐゴシック" pitchFamily="-106" charset="-128"/>
                <a:cs typeface="ＭＳ Ｐゴシック" pitchFamily="-106" charset="-128"/>
              </a:rPr>
              <a:t>Apostolic Contrast: Covenant vs. Contract</a:t>
            </a:r>
            <a:endParaRPr lang="en-US" sz="14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1400" dirty="0">
                <a:ea typeface="ＭＳ Ｐゴシック" pitchFamily="-106" charset="-128"/>
                <a:cs typeface="ＭＳ Ｐゴシック" pitchFamily="-106" charset="-128"/>
              </a:rPr>
              <a:t>God does not relate by contract.</a:t>
            </a:r>
          </a:p>
          <a:p>
            <a:pPr marL="800100" lvl="1" indent="-342900">
              <a:buFont typeface="Arial" panose="020B0604020202020204" pitchFamily="34" charset="0"/>
              <a:buChar char="•"/>
            </a:pPr>
            <a:r>
              <a:rPr lang="en-US" sz="1400" dirty="0">
                <a:ea typeface="ＭＳ Ｐゴシック" pitchFamily="-106" charset="-128"/>
                <a:cs typeface="ＭＳ Ｐゴシック" pitchFamily="-106" charset="-128"/>
              </a:rPr>
              <a:t>He relates by covenant.</a:t>
            </a:r>
          </a:p>
          <a:p>
            <a:pPr marL="342900" indent="-342900">
              <a:buFont typeface="Arial" panose="020B0604020202020204" pitchFamily="34" charset="0"/>
              <a:buChar char="•"/>
            </a:pPr>
            <a:r>
              <a:rPr lang="en-US" sz="1400" dirty="0">
                <a:ea typeface="ＭＳ Ｐゴシック" pitchFamily="-106" charset="-128"/>
                <a:cs typeface="ＭＳ Ｐゴシック" pitchFamily="-106" charset="-128"/>
              </a:rPr>
              <a:t>A </a:t>
            </a:r>
            <a:r>
              <a:rPr lang="en-US" sz="1400" u="sng" dirty="0">
                <a:ea typeface="ＭＳ Ｐゴシック" pitchFamily="-106" charset="-128"/>
                <a:cs typeface="ＭＳ Ｐゴシック" pitchFamily="-106" charset="-128"/>
              </a:rPr>
              <a:t>contract</a:t>
            </a:r>
            <a:r>
              <a:rPr lang="en-US" sz="1400" dirty="0">
                <a:ea typeface="ＭＳ Ｐゴシック" pitchFamily="-106" charset="-128"/>
                <a:cs typeface="ＭＳ Ｐゴシック" pitchFamily="-106" charset="-128"/>
              </a:rPr>
              <a:t> is based on mutual performance.</a:t>
            </a:r>
          </a:p>
          <a:p>
            <a:pPr marL="342900" indent="-342900">
              <a:buFont typeface="Arial" panose="020B0604020202020204" pitchFamily="34" charset="0"/>
              <a:buChar char="•"/>
            </a:pPr>
            <a:r>
              <a:rPr lang="en-US" sz="1400" dirty="0">
                <a:ea typeface="ＭＳ Ｐゴシック" pitchFamily="-106" charset="-128"/>
                <a:cs typeface="ＭＳ Ｐゴシック" pitchFamily="-106" charset="-128"/>
              </a:rPr>
              <a:t>A </a:t>
            </a:r>
            <a:r>
              <a:rPr lang="en-US" sz="1400" u="sng" dirty="0">
                <a:ea typeface="ＭＳ Ｐゴシック" pitchFamily="-106" charset="-128"/>
                <a:cs typeface="ＭＳ Ｐゴシック" pitchFamily="-106" charset="-128"/>
              </a:rPr>
              <a:t>covenant</a:t>
            </a:r>
            <a:r>
              <a:rPr lang="en-US" sz="1400" dirty="0">
                <a:ea typeface="ＭＳ Ｐゴシック" pitchFamily="-106" charset="-128"/>
                <a:cs typeface="ＭＳ Ｐゴシック" pitchFamily="-106" charset="-128"/>
              </a:rPr>
              <a:t> is based on God’s faithfulness.</a:t>
            </a:r>
          </a:p>
          <a:p>
            <a:pPr marL="342900" indent="-342900">
              <a:buFont typeface="Arial" panose="020B0604020202020204" pitchFamily="34" charset="0"/>
              <a:buChar char="•"/>
            </a:pPr>
            <a:r>
              <a:rPr lang="en-US" sz="1400" dirty="0">
                <a:ea typeface="ＭＳ Ｐゴシック" pitchFamily="-106" charset="-128"/>
                <a:cs typeface="ＭＳ Ｐゴシック" pitchFamily="-106" charset="-128"/>
              </a:rPr>
              <a:t>God’s righteousness does not come from agreement.</a:t>
            </a:r>
          </a:p>
          <a:p>
            <a:pPr marL="800100" lvl="1" indent="-342900">
              <a:buFont typeface="Arial" panose="020B0604020202020204" pitchFamily="34" charset="0"/>
              <a:buChar char="•"/>
            </a:pPr>
            <a:r>
              <a:rPr lang="en-US" sz="1400" dirty="0">
                <a:ea typeface="ＭＳ Ｐゴシック" pitchFamily="-106" charset="-128"/>
                <a:cs typeface="ＭＳ Ｐゴシック" pitchFamily="-106" charset="-128"/>
              </a:rPr>
              <a:t>It comes from transformation.</a:t>
            </a:r>
          </a:p>
          <a:p>
            <a:pPr marL="342900" indent="-342900">
              <a:buFont typeface="Arial" panose="020B0604020202020204" pitchFamily="34" charset="0"/>
              <a:buChar char="•"/>
            </a:pPr>
            <a:r>
              <a:rPr lang="en-US" sz="1400" dirty="0">
                <a:ea typeface="ＭＳ Ｐゴシック" pitchFamily="-106" charset="-128"/>
                <a:cs typeface="ＭＳ Ｐゴシック" pitchFamily="-106" charset="-128"/>
              </a:rPr>
              <a:t>Early Christians rejected civic morality as a basis for righteousness.</a:t>
            </a:r>
          </a:p>
          <a:p>
            <a:pPr marL="800100" lvl="1" indent="-342900">
              <a:buFont typeface="Arial" panose="020B0604020202020204" pitchFamily="34" charset="0"/>
              <a:buChar char="•"/>
            </a:pPr>
            <a:r>
              <a:rPr lang="en-US" sz="1400" dirty="0">
                <a:ea typeface="ＭＳ Ｐゴシック" pitchFamily="-106" charset="-128"/>
                <a:cs typeface="ＭＳ Ｐゴシック" pitchFamily="-106" charset="-128"/>
              </a:rPr>
              <a:t>They lived by allegiance to Christ, not social approval.</a:t>
            </a:r>
          </a:p>
          <a:p>
            <a:endParaRPr lang="en-US" sz="1400" kern="1200" dirty="0">
              <a:solidFill>
                <a:schemeClr val="tx1"/>
              </a:solidFill>
              <a:effectLst/>
              <a:latin typeface="+mn-lt"/>
              <a:ea typeface="ＭＳ Ｐゴシック" pitchFamily="-106" charset="-128"/>
              <a:cs typeface="ＭＳ Ｐゴシック" pitchFamily="-106" charset="-128"/>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dirty="0">
                <a:ea typeface="ＭＳ Ｐゴシック" pitchFamily="-106" charset="-128"/>
                <a:cs typeface="ＭＳ Ｐゴシック" pitchFamily="-106" charset="-128"/>
              </a:rPr>
              <a:t>Galatians </a:t>
            </a:r>
            <a:r>
              <a:rPr lang="en-US" sz="1400" b="1" i="1" dirty="0">
                <a:ea typeface="ＭＳ Ｐゴシック" pitchFamily="-106" charset="-128"/>
                <a:cs typeface="ＭＳ Ｐゴシック" pitchFamily="-106" charset="-128"/>
              </a:rPr>
              <a:t>2:21  </a:t>
            </a:r>
            <a:r>
              <a:rPr lang="en-US" sz="1400" i="1" dirty="0">
                <a:ea typeface="ＭＳ Ｐゴシック" pitchFamily="-106" charset="-128"/>
                <a:cs typeface="ＭＳ Ｐゴシック" pitchFamily="-106" charset="-128"/>
              </a:rPr>
              <a:t>“I do not set aside God’s grace, because if righteousness could come through the law, then Christ died for nothing.”</a:t>
            </a:r>
          </a:p>
          <a:p>
            <a:endParaRPr lang="en-US" sz="1400" dirty="0"/>
          </a:p>
          <a:p>
            <a:r>
              <a:rPr lang="en-US" sz="1400" b="1" dirty="0">
                <a:ea typeface="ＭＳ Ｐゴシック" pitchFamily="-106" charset="-128"/>
                <a:cs typeface="ＭＳ Ｐゴシック" pitchFamily="-106" charset="-128"/>
              </a:rPr>
              <a:t>The Root Issue Is Trust, Not Knowledge</a:t>
            </a:r>
            <a:endParaRPr lang="en-US" sz="1400" dirty="0">
              <a:ea typeface="ＭＳ Ｐゴシック" pitchFamily="-106" charset="-128"/>
              <a:cs typeface="ＭＳ Ｐゴシック" pitchFamily="-106" charset="-128"/>
            </a:endParaRPr>
          </a:p>
          <a:p>
            <a:r>
              <a:rPr lang="en-US" sz="1400" dirty="0">
                <a:ea typeface="ＭＳ Ｐゴシック" pitchFamily="-106" charset="-128"/>
                <a:cs typeface="ＭＳ Ｐゴシック" pitchFamily="-106" charset="-128"/>
              </a:rPr>
              <a:t>Human righteousness is not created because people lack information.</a:t>
            </a:r>
          </a:p>
          <a:p>
            <a:r>
              <a:rPr lang="en-US" sz="1400" dirty="0">
                <a:ea typeface="ＭＳ Ｐゴシック" pitchFamily="-106" charset="-128"/>
                <a:cs typeface="ＭＳ Ｐゴシック" pitchFamily="-106" charset="-128"/>
              </a:rPr>
              <a:t>It is created because people fear dependence.</a:t>
            </a:r>
          </a:p>
          <a:p>
            <a:r>
              <a:rPr lang="en-US" sz="1400" dirty="0">
                <a:ea typeface="ＭＳ Ｐゴシック" pitchFamily="-106" charset="-128"/>
                <a:cs typeface="ＭＳ Ｐゴシック" pitchFamily="-106" charset="-128"/>
              </a:rPr>
              <a:t> </a:t>
            </a:r>
          </a:p>
          <a:p>
            <a:r>
              <a:rPr lang="en-US" sz="1400" dirty="0">
                <a:ea typeface="ＭＳ Ｐゴシック" pitchFamily="-106" charset="-128"/>
                <a:cs typeface="ＭＳ Ｐゴシック" pitchFamily="-106" charset="-128"/>
              </a:rPr>
              <a:t>Trust feels risky.</a:t>
            </a:r>
          </a:p>
          <a:p>
            <a:r>
              <a:rPr lang="en-US" sz="1400" dirty="0">
                <a:ea typeface="ＭＳ Ｐゴシック" pitchFamily="-106" charset="-128"/>
                <a:cs typeface="ＭＳ Ｐゴシック" pitchFamily="-106" charset="-128"/>
              </a:rPr>
              <a:t>Systems feel secure.</a:t>
            </a:r>
          </a:p>
          <a:p>
            <a:r>
              <a:rPr lang="en-US" sz="1400" dirty="0">
                <a:ea typeface="ＭＳ Ｐゴシック" pitchFamily="-106" charset="-128"/>
                <a:cs typeface="ＭＳ Ｐゴシック" pitchFamily="-106" charset="-128"/>
              </a:rPr>
              <a:t> </a:t>
            </a:r>
          </a:p>
          <a:p>
            <a:r>
              <a:rPr lang="en-US" sz="1400" dirty="0">
                <a:ea typeface="ＭＳ Ｐゴシック" pitchFamily="-106" charset="-128"/>
                <a:cs typeface="ＭＳ Ｐゴシック" pitchFamily="-106" charset="-128"/>
              </a:rPr>
              <a:t>But only trust leads to life.</a:t>
            </a:r>
          </a:p>
          <a:p>
            <a:endParaRPr lang="en-US" sz="1400" dirty="0">
              <a:ea typeface="ＭＳ Ｐゴシック" pitchFamily="-106" charset="-128"/>
              <a:cs typeface="ＭＳ Ｐゴシック" pitchFamily="-106" charset="-128"/>
            </a:endParaRPr>
          </a:p>
          <a:p>
            <a:r>
              <a:rPr lang="en-US" sz="1400" b="1" dirty="0">
                <a:ea typeface="ＭＳ Ｐゴシック" pitchFamily="-106" charset="-128"/>
                <a:cs typeface="ＭＳ Ｐゴシック" pitchFamily="-106" charset="-128"/>
              </a:rPr>
              <a:t>When certainty replaces trust, Christ becomes unnecessary.</a:t>
            </a:r>
          </a:p>
          <a:p>
            <a:endParaRPr lang="en-US" sz="1400" dirty="0"/>
          </a:p>
          <a:p>
            <a:endParaRPr lang="en-US" dirty="0"/>
          </a:p>
        </p:txBody>
      </p:sp>
      <p:sp>
        <p:nvSpPr>
          <p:cNvPr id="4" name="Slide Number Placeholder 3">
            <a:extLst>
              <a:ext uri="{FF2B5EF4-FFF2-40B4-BE49-F238E27FC236}">
                <a16:creationId xmlns:a16="http://schemas.microsoft.com/office/drawing/2014/main" id="{5AE6D3BB-D550-878D-CAAF-A4C443728468}"/>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dirty="0"/>
          </a:p>
        </p:txBody>
      </p:sp>
    </p:spTree>
    <p:extLst>
      <p:ext uri="{BB962C8B-B14F-4D97-AF65-F5344CB8AC3E}">
        <p14:creationId xmlns:p14="http://schemas.microsoft.com/office/powerpoint/2010/main" val="165423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36359-B1CE-CCED-AEFD-E625506BEC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6C9985-C34E-B2B2-72D6-C7F15C987C1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67EB9EE-015F-B3B2-B054-9F315281B6D4}"/>
              </a:ext>
            </a:extLst>
          </p:cNvPr>
          <p:cNvSpPr>
            <a:spLocks noGrp="1"/>
          </p:cNvSpPr>
          <p:nvPr>
            <p:ph type="body" idx="1"/>
          </p:nvPr>
        </p:nvSpPr>
        <p:spPr/>
        <p:txBody>
          <a:bodyPr>
            <a:normAutofit fontScale="47500" lnSpcReduction="20000"/>
          </a:bodyPr>
          <a:lstStyle/>
          <a:p>
            <a:endParaRPr lang="en-US" sz="1600" dirty="0"/>
          </a:p>
          <a:p>
            <a:r>
              <a:rPr lang="en-US" sz="1400" b="1" kern="1200" dirty="0">
                <a:solidFill>
                  <a:schemeClr val="tx1"/>
                </a:solidFill>
                <a:effectLst/>
                <a:latin typeface="+mn-lt"/>
                <a:ea typeface="ＭＳ Ｐゴシック" pitchFamily="-106" charset="-128"/>
                <a:cs typeface="ＭＳ Ｐゴシック" pitchFamily="-106" charset="-128"/>
              </a:rPr>
              <a:t>Pharisaic Righteousness: Managing Uncertainty With Religious Systems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endParaRPr lang="en-US" dirty="0"/>
          </a:p>
        </p:txBody>
      </p:sp>
      <p:sp>
        <p:nvSpPr>
          <p:cNvPr id="4" name="Slide Number Placeholder 3">
            <a:extLst>
              <a:ext uri="{FF2B5EF4-FFF2-40B4-BE49-F238E27FC236}">
                <a16:creationId xmlns:a16="http://schemas.microsoft.com/office/drawing/2014/main" id="{6DF6C88C-9B76-A323-2D9C-A6A011DF0D93}"/>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12413119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91910-DD26-DF05-1B89-DFFF40C76B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5A4A91-6998-2296-6D9B-0C9B68D083D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055DC8A-8624-731E-FFA7-842EA7840F7E}"/>
              </a:ext>
            </a:extLst>
          </p:cNvPr>
          <p:cNvSpPr>
            <a:spLocks noGrp="1"/>
          </p:cNvSpPr>
          <p:nvPr>
            <p:ph type="body" idx="1"/>
          </p:nvPr>
        </p:nvSpPr>
        <p:spPr/>
        <p:txBody>
          <a:bodyPr>
            <a:normAutofit fontScale="47500" lnSpcReduction="20000"/>
          </a:bodyPr>
          <a:lstStyle/>
          <a:p>
            <a:endParaRPr lang="en-US" sz="1600" dirty="0"/>
          </a:p>
          <a:p>
            <a:r>
              <a:rPr lang="en-US" sz="1400" b="1" kern="1200" dirty="0">
                <a:solidFill>
                  <a:schemeClr val="tx1"/>
                </a:solidFill>
                <a:effectLst/>
                <a:latin typeface="+mn-lt"/>
                <a:ea typeface="ＭＳ Ｐゴシック" pitchFamily="-106" charset="-128"/>
                <a:cs typeface="ＭＳ Ｐゴシック" pitchFamily="-106" charset="-128"/>
              </a:rPr>
              <a:t>Modern Church Culture: New Systems, Same Instinct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forms change.</a:t>
            </a:r>
          </a:p>
          <a:p>
            <a:r>
              <a:rPr lang="en-US" sz="1400" kern="1200" dirty="0">
                <a:solidFill>
                  <a:schemeClr val="tx1"/>
                </a:solidFill>
                <a:effectLst/>
                <a:latin typeface="+mn-lt"/>
                <a:ea typeface="ＭＳ Ｐゴシック" pitchFamily="-106" charset="-128"/>
                <a:cs typeface="ＭＳ Ｐゴシック" pitchFamily="-106" charset="-128"/>
              </a:rPr>
              <a:t>The instinct stays the same.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Modern churches often rebuild Pharisaic righteousness without realizing it.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endParaRPr lang="en-US" sz="1200" kern="1200" dirty="0">
              <a:solidFill>
                <a:schemeClr val="tx1"/>
              </a:solidFill>
              <a:effectLst/>
              <a:latin typeface="+mn-lt"/>
              <a:ea typeface="ＭＳ Ｐゴシック" pitchFamily="-106" charset="-128"/>
              <a:cs typeface="ＭＳ Ｐゴシック" pitchFamily="-106" charset="-128"/>
            </a:endParaRPr>
          </a:p>
        </p:txBody>
      </p:sp>
      <p:sp>
        <p:nvSpPr>
          <p:cNvPr id="4" name="Slide Number Placeholder 3">
            <a:extLst>
              <a:ext uri="{FF2B5EF4-FFF2-40B4-BE49-F238E27FC236}">
                <a16:creationId xmlns:a16="http://schemas.microsoft.com/office/drawing/2014/main" id="{2D091517-C2E3-748B-436F-1AAFD8EEDED5}"/>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dirty="0"/>
          </a:p>
        </p:txBody>
      </p:sp>
    </p:spTree>
    <p:extLst>
      <p:ext uri="{BB962C8B-B14F-4D97-AF65-F5344CB8AC3E}">
        <p14:creationId xmlns:p14="http://schemas.microsoft.com/office/powerpoint/2010/main" val="2212877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590BF-8A11-AEC6-4F7A-96CD367F2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FB780F-703E-3A9D-79ED-FA6EE7CCAED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48646D0-C27D-D020-1FB9-294C6FAF2D8D}"/>
              </a:ext>
            </a:extLst>
          </p:cNvPr>
          <p:cNvSpPr>
            <a:spLocks noGrp="1"/>
          </p:cNvSpPr>
          <p:nvPr>
            <p:ph type="body" idx="1"/>
          </p:nvPr>
        </p:nvSpPr>
        <p:spPr/>
        <p:txBody>
          <a:bodyPr>
            <a:normAutofit fontScale="77500" lnSpcReduction="20000"/>
          </a:bodyPr>
          <a:lstStyle/>
          <a:p>
            <a:endParaRPr lang="en-US" sz="1600" dirty="0"/>
          </a:p>
          <a:p>
            <a:r>
              <a:rPr lang="en-US" sz="1200" b="1" kern="1200" dirty="0">
                <a:solidFill>
                  <a:schemeClr val="tx1"/>
                </a:solidFill>
                <a:effectLst/>
                <a:latin typeface="+mn-lt"/>
                <a:ea typeface="ＭＳ Ｐゴシック" pitchFamily="-106" charset="-128"/>
                <a:cs typeface="ＭＳ Ｐゴシック" pitchFamily="-106" charset="-128"/>
              </a:rPr>
              <a:t>Faith-Based Obedience vs System-Based Morality (Scriptural Contrast)</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A. Faith-Based Obedience</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p:txBody>
      </p:sp>
      <p:sp>
        <p:nvSpPr>
          <p:cNvPr id="4" name="Slide Number Placeholder 3">
            <a:extLst>
              <a:ext uri="{FF2B5EF4-FFF2-40B4-BE49-F238E27FC236}">
                <a16:creationId xmlns:a16="http://schemas.microsoft.com/office/drawing/2014/main" id="{7249A549-4D2B-BFB5-0106-89732A989F72}"/>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755006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166DF-9B56-63C5-272F-ADB38E72B8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9D2D46-991B-6F2C-B302-21DC19AC23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C3A15C6-CA27-B450-4485-4E989D24871D}"/>
              </a:ext>
            </a:extLst>
          </p:cNvPr>
          <p:cNvSpPr>
            <a:spLocks noGrp="1"/>
          </p:cNvSpPr>
          <p:nvPr>
            <p:ph type="body" idx="1"/>
          </p:nvPr>
        </p:nvSpPr>
        <p:spPr/>
        <p:txBody>
          <a:bodyPr>
            <a:normAutofit/>
          </a:bodyPr>
          <a:lstStyle/>
          <a:p>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Faith-Based Obedience vs System-Based Morality (Scriptural Contrast)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B. System-Based Morality</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 </a:t>
            </a:r>
          </a:p>
        </p:txBody>
      </p:sp>
      <p:sp>
        <p:nvSpPr>
          <p:cNvPr id="4" name="Slide Number Placeholder 3">
            <a:extLst>
              <a:ext uri="{FF2B5EF4-FFF2-40B4-BE49-F238E27FC236}">
                <a16:creationId xmlns:a16="http://schemas.microsoft.com/office/drawing/2014/main" id="{A24EFEF3-F5E8-C746-929F-F7C5B8B2A9CF}"/>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33269284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1E9A3-6DAA-FEB9-1931-91AEE09A3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77A25-71D5-C06C-C6B7-EB4413A853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F596E9-DFE4-BB1F-58C2-A72D2DE019FD}"/>
              </a:ext>
            </a:extLst>
          </p:cNvPr>
          <p:cNvSpPr>
            <a:spLocks noGrp="1"/>
          </p:cNvSpPr>
          <p:nvPr>
            <p:ph type="body" idx="1"/>
          </p:nvPr>
        </p:nvSpPr>
        <p:spPr/>
        <p:txBody>
          <a:bodyPr>
            <a:normAutofit/>
          </a:bodyPr>
          <a:lstStyle/>
          <a:p>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Faith-Based Obedience vs System-Based Morality (Scriptural Contrast)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Jesus’ Summary of the Difference</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Romans 1:17  </a:t>
            </a:r>
            <a:r>
              <a:rPr lang="en-US" sz="1400" b="1" i="1" kern="1200" dirty="0">
                <a:solidFill>
                  <a:schemeClr val="tx1"/>
                </a:solidFill>
                <a:effectLst/>
                <a:latin typeface="+mn-lt"/>
                <a:ea typeface="ＭＳ Ｐゴシック" pitchFamily="-106" charset="-128"/>
                <a:cs typeface="ＭＳ Ｐゴシック" pitchFamily="-106" charset="-128"/>
              </a:rPr>
              <a:t>“The righteousness of God is revealed in the gospel from faith to faith.”</a:t>
            </a:r>
          </a:p>
          <a:p>
            <a:endParaRPr lang="en-US" sz="1400" b="1" i="1" kern="1200" dirty="0">
              <a:solidFill>
                <a:schemeClr val="tx1"/>
              </a:solidFill>
              <a:effectLst/>
              <a:latin typeface="+mn-lt"/>
              <a:ea typeface="ＭＳ Ｐゴシック" pitchFamily="-106" charset="-128"/>
              <a:cs typeface="ＭＳ Ｐゴシック" pitchFamily="-106" charset="-128"/>
            </a:endParaRPr>
          </a:p>
          <a:p>
            <a:endParaRPr lang="en-US" sz="1200" kern="1200" dirty="0">
              <a:solidFill>
                <a:schemeClr val="tx1"/>
              </a:solidFill>
              <a:effectLst/>
              <a:latin typeface="+mn-lt"/>
              <a:ea typeface="ＭＳ Ｐゴシック" pitchFamily="-106" charset="-128"/>
              <a:cs typeface="ＭＳ Ｐゴシック" pitchFamily="-106" charset="-128"/>
            </a:endParaRPr>
          </a:p>
        </p:txBody>
      </p:sp>
      <p:sp>
        <p:nvSpPr>
          <p:cNvPr id="4" name="Slide Number Placeholder 3">
            <a:extLst>
              <a:ext uri="{FF2B5EF4-FFF2-40B4-BE49-F238E27FC236}">
                <a16:creationId xmlns:a16="http://schemas.microsoft.com/office/drawing/2014/main" id="{18AAF1C4-4FDD-D77F-58FE-9E7BCD6CF44E}"/>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36131923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3AD57-92B0-A89D-53F5-C87238A504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4A26A3-CFE9-3C50-8174-3CAA1F6EBA3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CCA9811-FB75-C4A8-E4DB-6C7ACDA838CE}"/>
              </a:ext>
            </a:extLst>
          </p:cNvPr>
          <p:cNvSpPr>
            <a:spLocks noGrp="1"/>
          </p:cNvSpPr>
          <p:nvPr>
            <p:ph type="body" idx="1"/>
          </p:nvPr>
        </p:nvSpPr>
        <p:spPr/>
        <p:txBody>
          <a:bodyPr>
            <a:normAutofit/>
          </a:bodyPr>
          <a:lstStyle/>
          <a:p>
            <a:r>
              <a:rPr lang="en-US" sz="1400" b="1" kern="1200" dirty="0">
                <a:solidFill>
                  <a:schemeClr val="tx1"/>
                </a:solidFill>
                <a:effectLst/>
                <a:latin typeface="+mn-lt"/>
                <a:ea typeface="ＭＳ Ｐゴシック" pitchFamily="-106" charset="-128"/>
                <a:cs typeface="ＭＳ Ｐゴシック" pitchFamily="-106" charset="-128"/>
              </a:rPr>
              <a:t>Righteousness Starts With God, Not Man</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dirty="0"/>
          </a:p>
          <a:p>
            <a:r>
              <a:rPr lang="en-US" sz="1400" dirty="0"/>
              <a:t>Regardless of God’s display of righteousness, mankind, throughout history has sought to establish himself as the measure of all things.  Why?</a:t>
            </a:r>
          </a:p>
          <a:p>
            <a:endParaRPr lang="en-US" sz="1400" dirty="0"/>
          </a:p>
          <a:p>
            <a:r>
              <a:rPr lang="en-US" sz="1400" dirty="0"/>
              <a:t>Name some of the attempts at man-based righteousness?</a:t>
            </a:r>
          </a:p>
          <a:p>
            <a:endParaRPr lang="en-US" dirty="0"/>
          </a:p>
          <a:p>
            <a:endParaRPr lang="en-US" dirty="0"/>
          </a:p>
        </p:txBody>
      </p:sp>
      <p:sp>
        <p:nvSpPr>
          <p:cNvPr id="4" name="Slide Number Placeholder 3">
            <a:extLst>
              <a:ext uri="{FF2B5EF4-FFF2-40B4-BE49-F238E27FC236}">
                <a16:creationId xmlns:a16="http://schemas.microsoft.com/office/drawing/2014/main" id="{F83ACFA3-2C2F-4CC0-AB9A-C399752124C1}"/>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dirty="0"/>
          </a:p>
        </p:txBody>
      </p:sp>
    </p:spTree>
    <p:extLst>
      <p:ext uri="{BB962C8B-B14F-4D97-AF65-F5344CB8AC3E}">
        <p14:creationId xmlns:p14="http://schemas.microsoft.com/office/powerpoint/2010/main" val="35985209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FC657-D0C8-8DB2-9121-2543583892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7D9B6-24B4-7187-6D67-1FA349C98A9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A04247-44DF-51BF-FA83-990E4C6B6989}"/>
              </a:ext>
            </a:extLst>
          </p:cNvPr>
          <p:cNvSpPr>
            <a:spLocks noGrp="1"/>
          </p:cNvSpPr>
          <p:nvPr>
            <p:ph type="body" idx="1"/>
          </p:nvPr>
        </p:nvSpPr>
        <p:spPr/>
        <p:txBody>
          <a:bodyPr>
            <a:normAutofit fontScale="25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How Grace Dismantles Fear-Based Systems in the New Testament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 Fear Builds Systems. Grace Exposes Them.</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 always asks:</a:t>
            </a:r>
          </a:p>
          <a:p>
            <a:r>
              <a:rPr lang="en-US" sz="1400" i="1" kern="1200" dirty="0">
                <a:solidFill>
                  <a:schemeClr val="tx1"/>
                </a:solidFill>
                <a:effectLst/>
                <a:latin typeface="+mn-lt"/>
                <a:ea typeface="ＭＳ Ｐゴシック" pitchFamily="-106" charset="-128"/>
                <a:cs typeface="ＭＳ Ｐゴシック" pitchFamily="-106" charset="-128"/>
              </a:rPr>
              <a:t>How do I protect myself?</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i="1" kern="1200" dirty="0">
                <a:solidFill>
                  <a:schemeClr val="tx1"/>
                </a:solidFill>
                <a:effectLst/>
                <a:latin typeface="+mn-lt"/>
                <a:ea typeface="ＭＳ Ｐゴシック" pitchFamily="-106" charset="-128"/>
                <a:cs typeface="ＭＳ Ｐゴシック" pitchFamily="-106" charset="-128"/>
              </a:rPr>
              <a:t>How do I stay accepted?</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Grace asks something else:</a:t>
            </a:r>
          </a:p>
          <a:p>
            <a:r>
              <a:rPr lang="en-US" sz="1400" i="1" kern="1200" dirty="0">
                <a:solidFill>
                  <a:schemeClr val="tx1"/>
                </a:solidFill>
                <a:effectLst/>
                <a:latin typeface="+mn-lt"/>
                <a:ea typeface="ＭＳ Ｐゴシック" pitchFamily="-106" charset="-128"/>
                <a:cs typeface="ＭＳ Ｐゴシック" pitchFamily="-106" charset="-128"/>
              </a:rPr>
              <a:t>Who is God, and can He be trusted?</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Romans 8:15</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“For you did not receive the spirit of slavery leading again to fear, but you received the Spirit of adoption.”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 produces slavery.</a:t>
            </a:r>
          </a:p>
          <a:p>
            <a:r>
              <a:rPr lang="en-US" sz="1400" kern="1200" dirty="0">
                <a:solidFill>
                  <a:schemeClr val="tx1"/>
                </a:solidFill>
                <a:effectLst/>
                <a:latin typeface="+mn-lt"/>
                <a:ea typeface="ＭＳ Ｐゴシック" pitchFamily="-106" charset="-128"/>
                <a:cs typeface="ＭＳ Ｐゴシック" pitchFamily="-106" charset="-128"/>
              </a:rPr>
              <a:t>Grace produces sonship.</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Systems need fear to survive.</a:t>
            </a:r>
          </a:p>
          <a:p>
            <a:r>
              <a:rPr lang="en-US" sz="1400" kern="1200" dirty="0">
                <a:solidFill>
                  <a:schemeClr val="tx1"/>
                </a:solidFill>
                <a:effectLst/>
                <a:latin typeface="+mn-lt"/>
                <a:ea typeface="ＭＳ Ｐゴシック" pitchFamily="-106" charset="-128"/>
                <a:cs typeface="ＭＳ Ｐゴシック" pitchFamily="-106" charset="-128"/>
              </a:rPr>
              <a:t>Grace removes the fear that systems depend on.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2. Grace Removes the Need for Control</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Fear-based systems work by control:</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rules</a:t>
            </a:r>
          </a:p>
          <a:p>
            <a:pPr rtl="0" fontAlgn="ctr"/>
            <a:r>
              <a:rPr lang="en-US" sz="1400" kern="1200" dirty="0">
                <a:solidFill>
                  <a:schemeClr val="tx1"/>
                </a:solidFill>
                <a:effectLst/>
                <a:latin typeface="+mn-lt"/>
                <a:ea typeface="ＭＳ Ｐゴシック" pitchFamily="-106" charset="-128"/>
                <a:cs typeface="ＭＳ Ｐゴシック" pitchFamily="-106" charset="-128"/>
              </a:rPr>
              <a:t>penalties</a:t>
            </a:r>
          </a:p>
          <a:p>
            <a:pPr rtl="0" fontAlgn="ctr"/>
            <a:r>
              <a:rPr lang="en-US" sz="1400" kern="1200" dirty="0">
                <a:solidFill>
                  <a:schemeClr val="tx1"/>
                </a:solidFill>
                <a:effectLst/>
                <a:latin typeface="+mn-lt"/>
                <a:ea typeface="ＭＳ Ｐゴシック" pitchFamily="-106" charset="-128"/>
                <a:cs typeface="ＭＳ Ｐゴシック" pitchFamily="-106" charset="-128"/>
              </a:rPr>
              <a:t>social pressure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Grace replaces control with relationship.</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Galatians 4:4–7</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“So you are no longer a slave but a son, and if you are a son, then you are also an heir through God.”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A slave needs rules to survive.</a:t>
            </a:r>
          </a:p>
          <a:p>
            <a:r>
              <a:rPr lang="en-US" sz="1400" kern="1200" dirty="0">
                <a:solidFill>
                  <a:schemeClr val="tx1"/>
                </a:solidFill>
                <a:effectLst/>
                <a:latin typeface="+mn-lt"/>
                <a:ea typeface="ＭＳ Ｐゴシック" pitchFamily="-106" charset="-128"/>
                <a:cs typeface="ＭＳ Ｐゴシック" pitchFamily="-106" charset="-128"/>
              </a:rPr>
              <a:t>A son lives from belonging.</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Once belonging is secure, control loses its power.</a:t>
            </a: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3. Grace Shifts Obedience From Fear to Love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Fear-based obedience asks:</a:t>
            </a:r>
          </a:p>
          <a:p>
            <a:r>
              <a:rPr lang="en-US" sz="1400" i="1" kern="1200" dirty="0">
                <a:solidFill>
                  <a:schemeClr val="tx1"/>
                </a:solidFill>
                <a:effectLst/>
                <a:latin typeface="+mn-lt"/>
                <a:ea typeface="ＭＳ Ｐゴシック" pitchFamily="-106" charset="-128"/>
                <a:cs typeface="ＭＳ Ｐゴシック" pitchFamily="-106" charset="-128"/>
              </a:rPr>
              <a:t>What happens if I fail?</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Grace-based obedience asks:</a:t>
            </a:r>
          </a:p>
          <a:p>
            <a:r>
              <a:rPr lang="en-US" sz="1400" i="1" kern="1200" dirty="0">
                <a:solidFill>
                  <a:schemeClr val="tx1"/>
                </a:solidFill>
                <a:effectLst/>
                <a:latin typeface="+mn-lt"/>
                <a:ea typeface="ＭＳ Ｐゴシック" pitchFamily="-106" charset="-128"/>
                <a:cs typeface="ＭＳ Ｐゴシック" pitchFamily="-106" charset="-128"/>
              </a:rPr>
              <a:t>How do I honor the one who loves me?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 John 4:18</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“There is no fear in love, but perfect love drives out fear.”</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 cannot coexist with love.</a:t>
            </a:r>
          </a:p>
          <a:p>
            <a:r>
              <a:rPr lang="en-US" sz="1400" kern="1200" dirty="0">
                <a:solidFill>
                  <a:schemeClr val="tx1"/>
                </a:solidFill>
                <a:effectLst/>
                <a:latin typeface="+mn-lt"/>
                <a:ea typeface="ＭＳ Ｐゴシック" pitchFamily="-106" charset="-128"/>
                <a:cs typeface="ＭＳ Ｐゴシック" pitchFamily="-106" charset="-128"/>
              </a:rPr>
              <a:t>When love rules, systems collapse.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4. Grace Dismantles Religious Hierarchies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Fear-based systems require mediators: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experts</a:t>
            </a:r>
          </a:p>
          <a:p>
            <a:pPr rtl="0" fontAlgn="ctr"/>
            <a:r>
              <a:rPr lang="en-US" sz="1400" kern="1200" dirty="0">
                <a:solidFill>
                  <a:schemeClr val="tx1"/>
                </a:solidFill>
                <a:effectLst/>
                <a:latin typeface="+mn-lt"/>
                <a:ea typeface="ＭＳ Ｐゴシック" pitchFamily="-106" charset="-128"/>
                <a:cs typeface="ＭＳ Ｐゴシック" pitchFamily="-106" charset="-128"/>
              </a:rPr>
              <a:t>gatekeepers</a:t>
            </a:r>
          </a:p>
          <a:p>
            <a:pPr rtl="0" fontAlgn="ctr"/>
            <a:r>
              <a:rPr lang="en-US" sz="1400" kern="1200" dirty="0">
                <a:solidFill>
                  <a:schemeClr val="tx1"/>
                </a:solidFill>
                <a:effectLst/>
                <a:latin typeface="+mn-lt"/>
                <a:ea typeface="ＭＳ Ｐゴシック" pitchFamily="-106" charset="-128"/>
                <a:cs typeface="ＭＳ Ｐゴシック" pitchFamily="-106" charset="-128"/>
              </a:rPr>
              <a:t>elites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Grace gives direct access to God.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Hebrews 4:16</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“Therefore let us confidently approach the throne of grace to receive mercy and find grace whenever we need help.”</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Confidence replaces dependence on religious authority structures.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is why grace always threatens institutional control.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5. Grace Ends the Need for Performance Identity</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Fear-based systems define worth by performance.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Grace defines identity by Christ.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Ephesians 2:8–9</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“For by grace you are saved through faith… it is the gift of God; it is not from works.”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If righteousness is a gift,</a:t>
            </a:r>
          </a:p>
          <a:p>
            <a:r>
              <a:rPr lang="en-US" sz="1400" kern="1200" dirty="0">
                <a:solidFill>
                  <a:schemeClr val="tx1"/>
                </a:solidFill>
                <a:effectLst/>
                <a:latin typeface="+mn-lt"/>
                <a:ea typeface="ＭＳ Ｐゴシック" pitchFamily="-106" charset="-128"/>
                <a:cs typeface="ＭＳ Ｐゴシック" pitchFamily="-106" charset="-128"/>
              </a:rPr>
              <a:t>there is nothing left to earn.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Systems collapse when comparison loses meaning.</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6. Grace Replaces External Rules With Internal Transformation</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 systems manage behavior.</a:t>
            </a:r>
          </a:p>
          <a:p>
            <a:r>
              <a:rPr lang="en-US" sz="1400" kern="1200" dirty="0">
                <a:solidFill>
                  <a:schemeClr val="tx1"/>
                </a:solidFill>
                <a:effectLst/>
                <a:latin typeface="+mn-lt"/>
                <a:ea typeface="ＭＳ Ｐゴシック" pitchFamily="-106" charset="-128"/>
                <a:cs typeface="ＭＳ Ｐゴシック" pitchFamily="-106" charset="-128"/>
              </a:rPr>
              <a:t>Grace changes the heart.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Titus 2:11–12</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“For the grace of God has appeared… training us to reject godless ways.”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Grace teaches.</a:t>
            </a:r>
          </a:p>
          <a:p>
            <a:r>
              <a:rPr lang="en-US" sz="1400" kern="1200" dirty="0">
                <a:solidFill>
                  <a:schemeClr val="tx1"/>
                </a:solidFill>
                <a:effectLst/>
                <a:latin typeface="+mn-lt"/>
                <a:ea typeface="ＭＳ Ｐゴシック" pitchFamily="-106" charset="-128"/>
                <a:cs typeface="ＭＳ Ｐゴシック" pitchFamily="-106" charset="-128"/>
              </a:rPr>
              <a:t>Law demands.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 controls from the outside.</a:t>
            </a:r>
          </a:p>
          <a:p>
            <a:r>
              <a:rPr lang="en-US" sz="1400" kern="1200" dirty="0">
                <a:solidFill>
                  <a:schemeClr val="tx1"/>
                </a:solidFill>
                <a:effectLst/>
                <a:latin typeface="+mn-lt"/>
                <a:ea typeface="ＭＳ Ｐゴシック" pitchFamily="-106" charset="-128"/>
                <a:cs typeface="ＭＳ Ｐゴシック" pitchFamily="-106" charset="-128"/>
              </a:rPr>
              <a:t>Grace forms from the inside.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7. Grace Breaks Social Contracts Inside the Church</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Social contracts say:</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behave and belong</a:t>
            </a:r>
          </a:p>
          <a:p>
            <a:pPr rtl="0" fontAlgn="ctr"/>
            <a:r>
              <a:rPr lang="en-US" sz="1400" kern="1200" dirty="0">
                <a:solidFill>
                  <a:schemeClr val="tx1"/>
                </a:solidFill>
                <a:effectLst/>
                <a:latin typeface="+mn-lt"/>
                <a:ea typeface="ＭＳ Ｐゴシック" pitchFamily="-106" charset="-128"/>
                <a:cs typeface="ＭＳ Ｐゴシック" pitchFamily="-106" charset="-128"/>
              </a:rPr>
              <a:t>conform and be accepted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Grace says: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belong, therefore grow</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Romans 15:7</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“Receive one another, just as Christ also received you.”</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Christ did not receive us after improvement.</a:t>
            </a:r>
          </a:p>
          <a:p>
            <a:r>
              <a:rPr lang="en-US" sz="1400" kern="1200" dirty="0">
                <a:solidFill>
                  <a:schemeClr val="tx1"/>
                </a:solidFill>
                <a:effectLst/>
                <a:latin typeface="+mn-lt"/>
                <a:ea typeface="ＭＳ Ｐゴシック" pitchFamily="-106" charset="-128"/>
                <a:cs typeface="ＭＳ Ｐゴシック" pitchFamily="-106" charset="-128"/>
              </a:rPr>
              <a:t>He received us before it.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destroys transactional righteousness.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8. Grace Destroys the Economy of Shame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Fear-based systems need shame to function.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Grace absorbs shame.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Hebrews 12:2</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“He endured the cross, disregarding its shame.”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When shame is removed,</a:t>
            </a:r>
          </a:p>
          <a:p>
            <a:r>
              <a:rPr lang="en-US" sz="1400" kern="1200" dirty="0">
                <a:solidFill>
                  <a:schemeClr val="tx1"/>
                </a:solidFill>
                <a:effectLst/>
                <a:latin typeface="+mn-lt"/>
                <a:ea typeface="ＭＳ Ｐゴシック" pitchFamily="-106" charset="-128"/>
                <a:cs typeface="ＭＳ Ｐゴシック" pitchFamily="-106" charset="-128"/>
              </a:rPr>
              <a:t>fear loses its leverage.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9. Grace Makes the Law Obsolete as a Control System</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Law exposed sin.</a:t>
            </a:r>
          </a:p>
          <a:p>
            <a:r>
              <a:rPr lang="en-US" sz="1400" kern="1200" dirty="0">
                <a:solidFill>
                  <a:schemeClr val="tx1"/>
                </a:solidFill>
                <a:effectLst/>
                <a:latin typeface="+mn-lt"/>
                <a:ea typeface="ＭＳ Ｐゴシック" pitchFamily="-106" charset="-128"/>
                <a:cs typeface="ＭＳ Ｐゴシック" pitchFamily="-106" charset="-128"/>
              </a:rPr>
              <a:t>Grace removes condemnation.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Romans 8:1</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“There is therefore now no condemnation for those who are in Christ Jesus.”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Without condemnation:</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fear loses urgency</a:t>
            </a:r>
          </a:p>
          <a:p>
            <a:pPr rtl="0" fontAlgn="ctr"/>
            <a:r>
              <a:rPr lang="en-US" sz="1400" kern="1200" dirty="0">
                <a:solidFill>
                  <a:schemeClr val="tx1"/>
                </a:solidFill>
                <a:effectLst/>
                <a:latin typeface="+mn-lt"/>
                <a:ea typeface="ＭＳ Ｐゴシック" pitchFamily="-106" charset="-128"/>
                <a:cs typeface="ＭＳ Ｐゴシック" pitchFamily="-106" charset="-128"/>
              </a:rPr>
              <a:t>systems lose authority</a:t>
            </a:r>
          </a:p>
          <a:p>
            <a:pPr rtl="0" fontAlgn="ctr"/>
            <a:r>
              <a:rPr lang="en-US" sz="1400" kern="1200" dirty="0">
                <a:solidFill>
                  <a:schemeClr val="tx1"/>
                </a:solidFill>
                <a:effectLst/>
                <a:latin typeface="+mn-lt"/>
                <a:ea typeface="ＭＳ Ｐゴシック" pitchFamily="-106" charset="-128"/>
                <a:cs typeface="ＭＳ Ｐゴシック" pitchFamily="-106" charset="-128"/>
              </a:rPr>
              <a:t>trust becomes possible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10. Why Grace Is So Threatening</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Grace cannot be controlled.</a:t>
            </a:r>
          </a:p>
          <a:p>
            <a:r>
              <a:rPr lang="en-US" sz="1400" kern="1200" dirty="0">
                <a:solidFill>
                  <a:schemeClr val="tx1"/>
                </a:solidFill>
                <a:effectLst/>
                <a:latin typeface="+mn-lt"/>
                <a:ea typeface="ＭＳ Ｐゴシック" pitchFamily="-106" charset="-128"/>
                <a:cs typeface="ＭＳ Ｐゴシック" pitchFamily="-106" charset="-128"/>
              </a:rPr>
              <a:t>It cannot be measured.</a:t>
            </a:r>
          </a:p>
          <a:p>
            <a:r>
              <a:rPr lang="en-US" sz="1400" kern="1200" dirty="0">
                <a:solidFill>
                  <a:schemeClr val="tx1"/>
                </a:solidFill>
                <a:effectLst/>
                <a:latin typeface="+mn-lt"/>
                <a:ea typeface="ＭＳ Ｐゴシック" pitchFamily="-106" charset="-128"/>
                <a:cs typeface="ＭＳ Ｐゴシック" pitchFamily="-106" charset="-128"/>
              </a:rPr>
              <a:t>It cannot be monopolized.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Galatians 5:1</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“For freedom Christ has set us free.”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Freedom is dangerous to systems.</a:t>
            </a:r>
          </a:p>
          <a:p>
            <a:r>
              <a:rPr lang="en-US" sz="1400" kern="1200" dirty="0">
                <a:solidFill>
                  <a:schemeClr val="tx1"/>
                </a:solidFill>
                <a:effectLst/>
                <a:latin typeface="+mn-lt"/>
                <a:ea typeface="ＭＳ Ｐゴシック" pitchFamily="-106" charset="-128"/>
                <a:cs typeface="ＭＳ Ｐゴシック" pitchFamily="-106" charset="-128"/>
              </a:rPr>
              <a:t>But it is essential for life.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11. Apostolic Pattern: From System to Life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Every New Testament shift follows this pattern:</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from law to life</a:t>
            </a:r>
          </a:p>
          <a:p>
            <a:pPr rtl="0" fontAlgn="ctr"/>
            <a:r>
              <a:rPr lang="en-US" sz="1400" kern="1200" dirty="0">
                <a:solidFill>
                  <a:schemeClr val="tx1"/>
                </a:solidFill>
                <a:effectLst/>
                <a:latin typeface="+mn-lt"/>
                <a:ea typeface="ＭＳ Ｐゴシック" pitchFamily="-106" charset="-128"/>
                <a:cs typeface="ＭＳ Ｐゴシック" pitchFamily="-106" charset="-128"/>
              </a:rPr>
              <a:t>from fear to faith</a:t>
            </a:r>
          </a:p>
          <a:p>
            <a:pPr rtl="0" fontAlgn="ctr"/>
            <a:r>
              <a:rPr lang="en-US" sz="1400" kern="1200" dirty="0">
                <a:solidFill>
                  <a:schemeClr val="tx1"/>
                </a:solidFill>
                <a:effectLst/>
                <a:latin typeface="+mn-lt"/>
                <a:ea typeface="ＭＳ Ｐゴシック" pitchFamily="-106" charset="-128"/>
                <a:cs typeface="ＭＳ Ｐゴシック" pitchFamily="-106" charset="-128"/>
              </a:rPr>
              <a:t>from performance to promise</a:t>
            </a:r>
          </a:p>
          <a:p>
            <a:pPr rtl="0" fontAlgn="ctr"/>
            <a:r>
              <a:rPr lang="en-US" sz="1400" kern="1200" dirty="0">
                <a:solidFill>
                  <a:schemeClr val="tx1"/>
                </a:solidFill>
                <a:effectLst/>
                <a:latin typeface="+mn-lt"/>
                <a:ea typeface="ＭＳ Ｐゴシック" pitchFamily="-106" charset="-128"/>
                <a:cs typeface="ＭＳ Ｐゴシック" pitchFamily="-106" charset="-128"/>
              </a:rPr>
              <a:t>from system to Spirit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2 Corinthians 3:17</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“Now the Lord is the Spirit, and where the Spirit of the Lord is present, there is freedom.”</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Final Summary</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 builds systems to protect identity.</a:t>
            </a:r>
          </a:p>
          <a:p>
            <a:r>
              <a:rPr lang="en-US" sz="1400" kern="1200" dirty="0">
                <a:solidFill>
                  <a:schemeClr val="tx1"/>
                </a:solidFill>
                <a:effectLst/>
                <a:latin typeface="+mn-lt"/>
                <a:ea typeface="ＭＳ Ｐゴシック" pitchFamily="-106" charset="-128"/>
                <a:cs typeface="ＭＳ Ｐゴシック" pitchFamily="-106" charset="-128"/>
              </a:rPr>
              <a:t>Grace reveals identity so systems are no longer needed.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 asks: </a:t>
            </a:r>
            <a:r>
              <a:rPr lang="en-US" sz="1400" i="1" kern="1200" dirty="0">
                <a:solidFill>
                  <a:schemeClr val="tx1"/>
                </a:solidFill>
                <a:effectLst/>
                <a:latin typeface="+mn-lt"/>
                <a:ea typeface="ＭＳ Ｐゴシック" pitchFamily="-106" charset="-128"/>
                <a:cs typeface="ＭＳ Ｐゴシック" pitchFamily="-106" charset="-128"/>
              </a:rPr>
              <a:t>Am I safe?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Grace answers: </a:t>
            </a:r>
            <a:r>
              <a:rPr lang="en-US" sz="1400" i="1" kern="1200" dirty="0">
                <a:solidFill>
                  <a:schemeClr val="tx1"/>
                </a:solidFill>
                <a:effectLst/>
                <a:latin typeface="+mn-lt"/>
                <a:ea typeface="ＭＳ Ｐゴシック" pitchFamily="-106" charset="-128"/>
                <a:cs typeface="ＭＳ Ｐゴシック" pitchFamily="-106" charset="-128"/>
              </a:rPr>
              <a:t>You are mine.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And once that is settled,</a:t>
            </a:r>
          </a:p>
          <a:p>
            <a:r>
              <a:rPr lang="en-US" sz="1400" kern="1200" dirty="0">
                <a:solidFill>
                  <a:schemeClr val="tx1"/>
                </a:solidFill>
                <a:effectLst/>
                <a:latin typeface="+mn-lt"/>
                <a:ea typeface="ＭＳ Ｐゴシック" pitchFamily="-106" charset="-128"/>
                <a:cs typeface="ＭＳ Ｐゴシック" pitchFamily="-106" charset="-128"/>
              </a:rPr>
              <a:t>righteousness no longer needs to be managed.</a:t>
            </a:r>
          </a:p>
          <a:p>
            <a:r>
              <a:rPr lang="en-US" sz="1400" kern="1200" dirty="0">
                <a:solidFill>
                  <a:schemeClr val="tx1"/>
                </a:solidFill>
                <a:effectLst/>
                <a:latin typeface="+mn-lt"/>
                <a:ea typeface="ＭＳ Ｐゴシック" pitchFamily="-106" charset="-128"/>
                <a:cs typeface="ＭＳ Ｐゴシック" pitchFamily="-106" charset="-128"/>
              </a:rPr>
              <a:t> </a:t>
            </a:r>
          </a:p>
          <a:p>
            <a:endParaRPr lang="en-US" dirty="0"/>
          </a:p>
        </p:txBody>
      </p:sp>
      <p:sp>
        <p:nvSpPr>
          <p:cNvPr id="4" name="Slide Number Placeholder 3">
            <a:extLst>
              <a:ext uri="{FF2B5EF4-FFF2-40B4-BE49-F238E27FC236}">
                <a16:creationId xmlns:a16="http://schemas.microsoft.com/office/drawing/2014/main" id="{B94CA793-3D0D-0E37-16B5-C97ADBA9A2B0}"/>
              </a:ext>
            </a:extLst>
          </p:cNvPr>
          <p:cNvSpPr>
            <a:spLocks noGrp="1"/>
          </p:cNvSpPr>
          <p:nvPr>
            <p:ph type="sldNum" sz="quarter" idx="10"/>
          </p:nvPr>
        </p:nvSpPr>
        <p:spPr/>
        <p:txBody>
          <a:bodyPr/>
          <a:lstStyle/>
          <a:p>
            <a:pPr>
              <a:defRPr/>
            </a:pPr>
            <a:fld id="{07776858-791E-4C8D-8FA3-473B3AFECFAC}" type="slidenum">
              <a:rPr lang="en-US" smtClean="0"/>
              <a:pPr>
                <a:defRPr/>
              </a:pPr>
              <a:t>10</a:t>
            </a:fld>
            <a:endParaRPr lang="en-US" dirty="0"/>
          </a:p>
        </p:txBody>
      </p:sp>
    </p:spTree>
    <p:extLst>
      <p:ext uri="{BB962C8B-B14F-4D97-AF65-F5344CB8AC3E}">
        <p14:creationId xmlns:p14="http://schemas.microsoft.com/office/powerpoint/2010/main" val="21633139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37467-3602-9284-FA3F-053ECC5201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9331A3-E536-CEC3-E50D-13528F617D3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76DF4C3-B299-0A38-7D7B-A8D639FCEC05}"/>
              </a:ext>
            </a:extLst>
          </p:cNvPr>
          <p:cNvSpPr>
            <a:spLocks noGrp="1"/>
          </p:cNvSpPr>
          <p:nvPr>
            <p:ph type="body" idx="1"/>
          </p:nvPr>
        </p:nvSpPr>
        <p:spPr/>
        <p:txBody>
          <a:bodyPr>
            <a:normAutofit fontScale="25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How the Early Church Resisted System-Driven Religion</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 They Resisted Replacing Christ With a System</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apostles did not offer a new religious structure.</a:t>
            </a:r>
          </a:p>
          <a:p>
            <a:r>
              <a:rPr lang="en-US" sz="1400" kern="1200" dirty="0">
                <a:solidFill>
                  <a:schemeClr val="tx1"/>
                </a:solidFill>
                <a:effectLst/>
                <a:latin typeface="+mn-lt"/>
                <a:ea typeface="ＭＳ Ｐゴシック" pitchFamily="-106" charset="-128"/>
                <a:cs typeface="ＭＳ Ｐゴシック" pitchFamily="-106" charset="-128"/>
              </a:rPr>
              <a:t>They proclaimed a risen Lord.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Acts 2:36</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“God has made this Jesus whom you crucified both Lord and Christ.”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Their allegiance was personal, not institutional.</a:t>
            </a:r>
          </a:p>
          <a:p>
            <a:r>
              <a:rPr lang="en-US" sz="1400" kern="1200" dirty="0">
                <a:solidFill>
                  <a:schemeClr val="tx1"/>
                </a:solidFill>
                <a:effectLst/>
                <a:latin typeface="+mn-lt"/>
                <a:ea typeface="ＭＳ Ｐゴシック" pitchFamily="-106" charset="-128"/>
                <a:cs typeface="ＭＳ Ｐゴシック" pitchFamily="-106" charset="-128"/>
              </a:rPr>
              <a:t>Christ was not the foundation of a system.</a:t>
            </a:r>
          </a:p>
          <a:p>
            <a:r>
              <a:rPr lang="en-US" sz="1400" kern="1200" dirty="0">
                <a:solidFill>
                  <a:schemeClr val="tx1"/>
                </a:solidFill>
                <a:effectLst/>
                <a:latin typeface="+mn-lt"/>
                <a:ea typeface="ＭＳ Ｐゴシック" pitchFamily="-106" charset="-128"/>
                <a:cs typeface="ＭＳ Ｐゴシック" pitchFamily="-106" charset="-128"/>
              </a:rPr>
              <a:t>He was the center of life.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is why the church spread before it had buildings, creeds, or hierarchies.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2. They Rejected Law as a Control Mechanism</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first major crisis tested this directly.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Should Gentile believers submit to the Jewish Law?</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apostles answered clearly.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Acts 15:10–11</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“Why are you putting God to the test by placing on the neck of the disciples a yoke that neither our ancestors nor we have been able to bear?”</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They refused to rebuild the Law as a righteousness system.</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moment defined the church:</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no ethnic righteousness</a:t>
            </a:r>
          </a:p>
          <a:p>
            <a:pPr rtl="0" fontAlgn="ctr"/>
            <a:r>
              <a:rPr lang="en-US" sz="1400" kern="1200" dirty="0">
                <a:solidFill>
                  <a:schemeClr val="tx1"/>
                </a:solidFill>
                <a:effectLst/>
                <a:latin typeface="+mn-lt"/>
                <a:ea typeface="ＭＳ Ｐゴシック" pitchFamily="-106" charset="-128"/>
                <a:cs typeface="ＭＳ Ｐゴシック" pitchFamily="-106" charset="-128"/>
              </a:rPr>
              <a:t>no performance entry</a:t>
            </a:r>
          </a:p>
          <a:p>
            <a:pPr rtl="0" fontAlgn="ctr"/>
            <a:r>
              <a:rPr lang="en-US" sz="1400" kern="1200" dirty="0">
                <a:solidFill>
                  <a:schemeClr val="tx1"/>
                </a:solidFill>
                <a:effectLst/>
                <a:latin typeface="+mn-lt"/>
                <a:ea typeface="ＭＳ Ｐゴシック" pitchFamily="-106" charset="-128"/>
                <a:cs typeface="ＭＳ Ｐゴシック" pitchFamily="-106" charset="-128"/>
              </a:rPr>
              <a:t>no system replacing grace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3. They Centered Fellowship, Not Regulation</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Early Christian life was relational, not procedural.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Acts 2:42</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“They were devoting themselves to the apostles’ teaching and to fellowship, to the breaking of bread and to prayer.”</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Notice what is missing:</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no rulebook</a:t>
            </a:r>
          </a:p>
          <a:p>
            <a:pPr rtl="0" fontAlgn="ctr"/>
            <a:r>
              <a:rPr lang="en-US" sz="1400" kern="1200" dirty="0">
                <a:solidFill>
                  <a:schemeClr val="tx1"/>
                </a:solidFill>
                <a:effectLst/>
                <a:latin typeface="+mn-lt"/>
                <a:ea typeface="ＭＳ Ｐゴシック" pitchFamily="-106" charset="-128"/>
                <a:cs typeface="ＭＳ Ｐゴシック" pitchFamily="-106" charset="-128"/>
              </a:rPr>
              <a:t>no enforcement structure</a:t>
            </a:r>
          </a:p>
          <a:p>
            <a:pPr rtl="0" fontAlgn="ctr"/>
            <a:r>
              <a:rPr lang="en-US" sz="1400" kern="1200" dirty="0">
                <a:solidFill>
                  <a:schemeClr val="tx1"/>
                </a:solidFill>
                <a:effectLst/>
                <a:latin typeface="+mn-lt"/>
                <a:ea typeface="ＭＳ Ｐゴシック" pitchFamily="-106" charset="-128"/>
                <a:cs typeface="ＭＳ Ｐゴシック" pitchFamily="-106" charset="-128"/>
              </a:rPr>
              <a:t>no membership system</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Order existed.</a:t>
            </a:r>
          </a:p>
          <a:p>
            <a:r>
              <a:rPr lang="en-US" sz="1400" kern="1200" dirty="0">
                <a:solidFill>
                  <a:schemeClr val="tx1"/>
                </a:solidFill>
                <a:effectLst/>
                <a:latin typeface="+mn-lt"/>
                <a:ea typeface="ＭＳ Ｐゴシック" pitchFamily="-106" charset="-128"/>
                <a:cs typeface="ＭＳ Ｐゴシック" pitchFamily="-106" charset="-128"/>
              </a:rPr>
              <a:t>Control did not.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4. They Lived Without Temple Dependence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early church did not build a replacement temple.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They believed something radical.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 Corinthians 3:16</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“Do you not know that you are God’s temple and that God’s Spirit lives in you?”</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removed sacred space as a control tool.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No priesthood monopoly.</a:t>
            </a:r>
          </a:p>
          <a:p>
            <a:r>
              <a:rPr lang="en-US" sz="1400" kern="1200" dirty="0">
                <a:solidFill>
                  <a:schemeClr val="tx1"/>
                </a:solidFill>
                <a:effectLst/>
                <a:latin typeface="+mn-lt"/>
                <a:ea typeface="ＭＳ Ｐゴシック" pitchFamily="-106" charset="-128"/>
                <a:cs typeface="ＭＳ Ｐゴシック" pitchFamily="-106" charset="-128"/>
              </a:rPr>
              <a:t>No sacred geography.</a:t>
            </a:r>
          </a:p>
          <a:p>
            <a:r>
              <a:rPr lang="en-US" sz="1400" kern="1200" dirty="0">
                <a:solidFill>
                  <a:schemeClr val="tx1"/>
                </a:solidFill>
                <a:effectLst/>
                <a:latin typeface="+mn-lt"/>
                <a:ea typeface="ＭＳ Ｐゴシック" pitchFamily="-106" charset="-128"/>
                <a:cs typeface="ＭＳ Ｐゴシック" pitchFamily="-106" charset="-128"/>
              </a:rPr>
              <a:t>No system of access.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5. They Resisted Religious Elites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Authority existed, but it was relational and accountable.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Matthew 23:8</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“But you are not to be called ‘Rabbi,’ for you have one Teacher and you are all brothers.”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Early leaders served.</a:t>
            </a:r>
          </a:p>
          <a:p>
            <a:r>
              <a:rPr lang="en-US" sz="1400" kern="1200" dirty="0">
                <a:solidFill>
                  <a:schemeClr val="tx1"/>
                </a:solidFill>
                <a:effectLst/>
                <a:latin typeface="+mn-lt"/>
                <a:ea typeface="ＭＳ Ｐゴシック" pitchFamily="-106" charset="-128"/>
                <a:cs typeface="ＭＳ Ｐゴシック" pitchFamily="-106" charset="-128"/>
              </a:rPr>
              <a:t>They did not dominate.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 Peter 5:2–3</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“Shepherd the flock of God among you… not as lording it over those entrusted to you.”</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System-driven religion needs rank.</a:t>
            </a:r>
          </a:p>
          <a:p>
            <a:r>
              <a:rPr lang="en-US" sz="1400" kern="1200" dirty="0">
                <a:solidFill>
                  <a:schemeClr val="tx1"/>
                </a:solidFill>
                <a:effectLst/>
                <a:latin typeface="+mn-lt"/>
                <a:ea typeface="ＭＳ Ｐゴシック" pitchFamily="-106" charset="-128"/>
                <a:cs typeface="ＭＳ Ｐゴシック" pitchFamily="-106" charset="-128"/>
              </a:rPr>
              <a:t>The early church emphasized brotherhood.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6. They Refused Social Contract Morality</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church did not blend into Roman civic religion.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Their righteousness did not come from social approval.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Acts 5:29</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“We must obey God rather than people.”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They were willing to suffer exclusion rather than compromise allegiance.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is why persecution followed.</a:t>
            </a:r>
          </a:p>
          <a:p>
            <a:r>
              <a:rPr lang="en-US" sz="1400" kern="1200" dirty="0">
                <a:solidFill>
                  <a:schemeClr val="tx1"/>
                </a:solidFill>
                <a:effectLst/>
                <a:latin typeface="+mn-lt"/>
                <a:ea typeface="ＭＳ Ｐゴシック" pitchFamily="-106" charset="-128"/>
                <a:cs typeface="ＭＳ Ｐゴシック" pitchFamily="-106" charset="-128"/>
              </a:rPr>
              <a:t>Grace-made people do not submit easily to moral systems.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7. They Practiced Voluntary, Not Enforced, Obedience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Giving, service, and sacrifice were not compelled.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2 Corinthians 9:7</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“Each one of you should give just as he has decided in his heart… for God loves a cheerful giver.”</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Fear systems demand compliance.</a:t>
            </a:r>
          </a:p>
          <a:p>
            <a:r>
              <a:rPr lang="en-US" sz="1400" kern="1200" dirty="0">
                <a:solidFill>
                  <a:schemeClr val="tx1"/>
                </a:solidFill>
                <a:effectLst/>
                <a:latin typeface="+mn-lt"/>
                <a:ea typeface="ＭＳ Ｐゴシック" pitchFamily="-106" charset="-128"/>
                <a:cs typeface="ＭＳ Ｐゴシック" pitchFamily="-106" charset="-128"/>
              </a:rPr>
              <a:t>Grace invites response.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preserved sincerity and humility.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8. They Kept Repentance Central</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System religion minimizes repentance.</a:t>
            </a:r>
          </a:p>
          <a:p>
            <a:r>
              <a:rPr lang="en-US" sz="1400" kern="1200" dirty="0">
                <a:solidFill>
                  <a:schemeClr val="tx1"/>
                </a:solidFill>
                <a:effectLst/>
                <a:latin typeface="+mn-lt"/>
                <a:ea typeface="ＭＳ Ｐゴシック" pitchFamily="-106" charset="-128"/>
                <a:cs typeface="ＭＳ Ｐゴシック" pitchFamily="-106" charset="-128"/>
              </a:rPr>
              <a:t>It prefers rule-keeping.</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early church preached repentance constantly.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Acts 3:19</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“Therefore repent and turn back so that your sins may be wiped out.”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Repentance keeps power from settling into systems.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It keeps everyone equal at the foot of the cross.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9. They Expected the Spirit to Lead</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early church trusted the Spirit more than structure.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Romans 8:14</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“For all who are led by the Spirit of God are the sons of God.”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did not mean chaos.</a:t>
            </a:r>
          </a:p>
          <a:p>
            <a:r>
              <a:rPr lang="en-US" sz="1400" kern="1200" dirty="0">
                <a:solidFill>
                  <a:schemeClr val="tx1"/>
                </a:solidFill>
                <a:effectLst/>
                <a:latin typeface="+mn-lt"/>
                <a:ea typeface="ＭＳ Ｐゴシック" pitchFamily="-106" charset="-128"/>
                <a:cs typeface="ＭＳ Ｐゴシック" pitchFamily="-106" charset="-128"/>
              </a:rPr>
              <a:t>It meant dependence.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Systems promise predictability.</a:t>
            </a:r>
          </a:p>
          <a:p>
            <a:r>
              <a:rPr lang="en-US" sz="1400" kern="1200" dirty="0">
                <a:solidFill>
                  <a:schemeClr val="tx1"/>
                </a:solidFill>
                <a:effectLst/>
                <a:latin typeface="+mn-lt"/>
                <a:ea typeface="ＭＳ Ｐゴシック" pitchFamily="-106" charset="-128"/>
                <a:cs typeface="ＭＳ Ｐゴシック" pitchFamily="-106" charset="-128"/>
              </a:rPr>
              <a:t>The Spirit requires trust.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10. They Warned Against Returning to Systems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apostles repeatedly warned believers not to go backward.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Galatians 5:4</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“You have been severed from Christ, you who are trying to be justified by the law.”</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Returning to system-based righteousness was seen as spiritual danger.</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Not maturity.</a:t>
            </a:r>
          </a:p>
          <a:p>
            <a:r>
              <a:rPr lang="en-US" sz="1400" kern="1200" dirty="0">
                <a:solidFill>
                  <a:schemeClr val="tx1"/>
                </a:solidFill>
                <a:effectLst/>
                <a:latin typeface="+mn-lt"/>
                <a:ea typeface="ＭＳ Ｐゴシック" pitchFamily="-106" charset="-128"/>
                <a:cs typeface="ＭＳ Ｐゴシック" pitchFamily="-106" charset="-128"/>
              </a:rPr>
              <a:t>Not stability.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11. Why This Resistance Could Not Last Forever</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By the late second and third centuries: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persecution increased</a:t>
            </a:r>
          </a:p>
          <a:p>
            <a:pPr rtl="0" fontAlgn="ctr"/>
            <a:r>
              <a:rPr lang="en-US" sz="1400" kern="1200" dirty="0">
                <a:solidFill>
                  <a:schemeClr val="tx1"/>
                </a:solidFill>
                <a:effectLst/>
                <a:latin typeface="+mn-lt"/>
                <a:ea typeface="ＭＳ Ｐゴシック" pitchFamily="-106" charset="-128"/>
                <a:cs typeface="ＭＳ Ｐゴシック" pitchFamily="-106" charset="-128"/>
              </a:rPr>
              <a:t>growth demanded organization</a:t>
            </a:r>
          </a:p>
          <a:p>
            <a:pPr rtl="0" fontAlgn="ctr"/>
            <a:r>
              <a:rPr lang="en-US" sz="1400" kern="1200" dirty="0">
                <a:solidFill>
                  <a:schemeClr val="tx1"/>
                </a:solidFill>
                <a:effectLst/>
                <a:latin typeface="+mn-lt"/>
                <a:ea typeface="ＭＳ Ｐゴシック" pitchFamily="-106" charset="-128"/>
                <a:cs typeface="ＭＳ Ｐゴシック" pitchFamily="-106" charset="-128"/>
              </a:rPr>
              <a:t>fear re-entered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Systems slowly replaced trust.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But the New Testament witness remains clear:</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life before institution</a:t>
            </a:r>
          </a:p>
          <a:p>
            <a:pPr rtl="0" fontAlgn="ctr"/>
            <a:r>
              <a:rPr lang="en-US" sz="1400" kern="1200" dirty="0">
                <a:solidFill>
                  <a:schemeClr val="tx1"/>
                </a:solidFill>
                <a:effectLst/>
                <a:latin typeface="+mn-lt"/>
                <a:ea typeface="ＭＳ Ｐゴシック" pitchFamily="-106" charset="-128"/>
                <a:cs typeface="ＭＳ Ｐゴシック" pitchFamily="-106" charset="-128"/>
              </a:rPr>
              <a:t>grace before structure</a:t>
            </a:r>
          </a:p>
          <a:p>
            <a:pPr rtl="0" fontAlgn="ctr"/>
            <a:r>
              <a:rPr lang="en-US" sz="1400" kern="1200" dirty="0">
                <a:solidFill>
                  <a:schemeClr val="tx1"/>
                </a:solidFill>
                <a:effectLst/>
                <a:latin typeface="+mn-lt"/>
                <a:ea typeface="ＭＳ Ｐゴシック" pitchFamily="-106" charset="-128"/>
                <a:cs typeface="ＭＳ Ｐゴシック" pitchFamily="-106" charset="-128"/>
              </a:rPr>
              <a:t>covenant before contract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Summary</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early church resisted system-driven religion by:</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centering on Christ, not control</a:t>
            </a:r>
          </a:p>
          <a:p>
            <a:pPr rtl="0" fontAlgn="ctr"/>
            <a:r>
              <a:rPr lang="en-US" sz="1400" kern="1200" dirty="0">
                <a:solidFill>
                  <a:schemeClr val="tx1"/>
                </a:solidFill>
                <a:effectLst/>
                <a:latin typeface="+mn-lt"/>
                <a:ea typeface="ＭＳ Ｐゴシック" pitchFamily="-106" charset="-128"/>
                <a:cs typeface="ＭＳ Ｐゴシック" pitchFamily="-106" charset="-128"/>
              </a:rPr>
              <a:t>trusting grace over law</a:t>
            </a:r>
          </a:p>
          <a:p>
            <a:pPr rtl="0" fontAlgn="ctr"/>
            <a:r>
              <a:rPr lang="en-US" sz="1400" kern="1200" dirty="0">
                <a:solidFill>
                  <a:schemeClr val="tx1"/>
                </a:solidFill>
                <a:effectLst/>
                <a:latin typeface="+mn-lt"/>
                <a:ea typeface="ＭＳ Ｐゴシック" pitchFamily="-106" charset="-128"/>
                <a:cs typeface="ＭＳ Ｐゴシック" pitchFamily="-106" charset="-128"/>
              </a:rPr>
              <a:t>valuing relationship over regulation</a:t>
            </a:r>
          </a:p>
          <a:p>
            <a:pPr rtl="0" fontAlgn="ctr"/>
            <a:r>
              <a:rPr lang="en-US" sz="1400" kern="1200" dirty="0">
                <a:solidFill>
                  <a:schemeClr val="tx1"/>
                </a:solidFill>
                <a:effectLst/>
                <a:latin typeface="+mn-lt"/>
                <a:ea typeface="ＭＳ Ｐゴシック" pitchFamily="-106" charset="-128"/>
                <a:cs typeface="ＭＳ Ｐゴシック" pitchFamily="-106" charset="-128"/>
              </a:rPr>
              <a:t>obeying from love, not fear</a:t>
            </a:r>
          </a:p>
          <a:p>
            <a:pPr rtl="0" fontAlgn="ctr"/>
            <a:r>
              <a:rPr lang="en-US" sz="1400" kern="1200" dirty="0">
                <a:solidFill>
                  <a:schemeClr val="tx1"/>
                </a:solidFill>
                <a:effectLst/>
                <a:latin typeface="+mn-lt"/>
                <a:ea typeface="ＭＳ Ｐゴシック" pitchFamily="-106" charset="-128"/>
                <a:cs typeface="ＭＳ Ｐゴシック" pitchFamily="-106" charset="-128"/>
              </a:rPr>
              <a:t>living by covenant, not contract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They were not anti-order.</a:t>
            </a:r>
          </a:p>
          <a:p>
            <a:r>
              <a:rPr lang="en-US" sz="1400" kern="1200" dirty="0">
                <a:solidFill>
                  <a:schemeClr val="tx1"/>
                </a:solidFill>
                <a:effectLst/>
                <a:latin typeface="+mn-lt"/>
                <a:ea typeface="ＭＳ Ｐゴシック" pitchFamily="-106" charset="-128"/>
                <a:cs typeface="ＭＳ Ｐゴシック" pitchFamily="-106" charset="-128"/>
              </a:rPr>
              <a:t>They were anti-replacement.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Anything that replaces trust in God’s righteousness becomes the righteousness of man.</a:t>
            </a:r>
          </a:p>
          <a:p>
            <a:r>
              <a:rPr lang="en-US" sz="1400" kern="1200" dirty="0">
                <a:solidFill>
                  <a:schemeClr val="tx1"/>
                </a:solidFill>
                <a:effectLst/>
                <a:latin typeface="+mn-lt"/>
                <a:ea typeface="ＭＳ Ｐゴシック" pitchFamily="-106" charset="-128"/>
                <a:cs typeface="ＭＳ Ｐゴシック" pitchFamily="-106" charset="-128"/>
              </a:rPr>
              <a:t> </a:t>
            </a:r>
          </a:p>
          <a:p>
            <a:endParaRPr lang="en-US" dirty="0"/>
          </a:p>
        </p:txBody>
      </p:sp>
      <p:sp>
        <p:nvSpPr>
          <p:cNvPr id="4" name="Slide Number Placeholder 3">
            <a:extLst>
              <a:ext uri="{FF2B5EF4-FFF2-40B4-BE49-F238E27FC236}">
                <a16:creationId xmlns:a16="http://schemas.microsoft.com/office/drawing/2014/main" id="{189E3DFD-4AB2-A300-7627-42251A9BACBA}"/>
              </a:ext>
            </a:extLst>
          </p:cNvPr>
          <p:cNvSpPr>
            <a:spLocks noGrp="1"/>
          </p:cNvSpPr>
          <p:nvPr>
            <p:ph type="sldNum" sz="quarter" idx="10"/>
          </p:nvPr>
        </p:nvSpPr>
        <p:spPr/>
        <p:txBody>
          <a:bodyPr/>
          <a:lstStyle/>
          <a:p>
            <a:pPr>
              <a:defRPr/>
            </a:pPr>
            <a:fld id="{07776858-791E-4C8D-8FA3-473B3AFECFAC}" type="slidenum">
              <a:rPr lang="en-US" smtClean="0"/>
              <a:pPr>
                <a:defRPr/>
              </a:pPr>
              <a:t>11</a:t>
            </a:fld>
            <a:endParaRPr lang="en-US" dirty="0"/>
          </a:p>
        </p:txBody>
      </p:sp>
    </p:spTree>
    <p:extLst>
      <p:ext uri="{BB962C8B-B14F-4D97-AF65-F5344CB8AC3E}">
        <p14:creationId xmlns:p14="http://schemas.microsoft.com/office/powerpoint/2010/main" val="4216409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7F4AE-98D3-76B4-5D87-425119BA7D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62F04-D03E-B57F-3002-8B337838BB5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0EF52D3-02CC-57C2-4B24-56CC5EF36889}"/>
              </a:ext>
            </a:extLst>
          </p:cNvPr>
          <p:cNvSpPr>
            <a:spLocks noGrp="1"/>
          </p:cNvSpPr>
          <p:nvPr>
            <p:ph type="body" idx="1"/>
          </p:nvPr>
        </p:nvSpPr>
        <p:spPr/>
        <p:txBody>
          <a:bodyPr>
            <a:normAutofit fontScale="25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How the New Testament Balances Order Without Control</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 Order Comes From Life, Not Enforcement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In the New Testament, order grows out of shared life in Christ.</a:t>
            </a:r>
          </a:p>
          <a:p>
            <a:r>
              <a:rPr lang="en-US" sz="1400" kern="1200" dirty="0">
                <a:solidFill>
                  <a:schemeClr val="tx1"/>
                </a:solidFill>
                <a:effectLst/>
                <a:latin typeface="+mn-lt"/>
                <a:ea typeface="ＭＳ Ｐゴシック" pitchFamily="-106" charset="-128"/>
                <a:cs typeface="ＭＳ Ｐゴシック" pitchFamily="-106" charset="-128"/>
              </a:rPr>
              <a:t>It is not imposed from above.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 Corinthians 14:33</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“For God is not a God of disorder but of peace.”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Peace flows from God’s presence, not from strict regulation.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Order is the fruit of the Spirit working in people, not the result of tight systems.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2. Authority Is Functional, Not Positional</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Authority exists, but it serves the body.</a:t>
            </a:r>
          </a:p>
          <a:p>
            <a:r>
              <a:rPr lang="en-US" sz="1400" kern="1200" dirty="0">
                <a:solidFill>
                  <a:schemeClr val="tx1"/>
                </a:solidFill>
                <a:effectLst/>
                <a:latin typeface="+mn-lt"/>
                <a:ea typeface="ＭＳ Ｐゴシック" pitchFamily="-106" charset="-128"/>
                <a:cs typeface="ＭＳ Ｐゴシック" pitchFamily="-106" charset="-128"/>
              </a:rPr>
              <a:t>It is not a chain of command.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Ephesians 4:11–12</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“It was he who gave some as apostles, some as prophets, some as evangelists, and some as pastors and teachers, to equip the saints.”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Leaders equip.</a:t>
            </a:r>
          </a:p>
          <a:p>
            <a:r>
              <a:rPr lang="en-US" sz="1400" kern="1200" dirty="0">
                <a:solidFill>
                  <a:schemeClr val="tx1"/>
                </a:solidFill>
                <a:effectLst/>
                <a:latin typeface="+mn-lt"/>
                <a:ea typeface="ＭＳ Ｐゴシック" pitchFamily="-106" charset="-128"/>
                <a:cs typeface="ＭＳ Ｐゴシック" pitchFamily="-106" charset="-128"/>
              </a:rPr>
              <a:t>They do not control.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Their role is temporary and purpose-driven.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3. Leadership Is Plural, Not Centralized</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New Testament avoids single-point control.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Acts 14:23</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“They appointed elders for them in the various churches.”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Plural elders prevent domination.</a:t>
            </a:r>
          </a:p>
          <a:p>
            <a:r>
              <a:rPr lang="en-US" sz="1400" kern="1200" dirty="0">
                <a:solidFill>
                  <a:schemeClr val="tx1"/>
                </a:solidFill>
                <a:effectLst/>
                <a:latin typeface="+mn-lt"/>
                <a:ea typeface="ＭＳ Ｐゴシック" pitchFamily="-106" charset="-128"/>
                <a:cs typeface="ＭＳ Ｐゴシック" pitchFamily="-106" charset="-128"/>
              </a:rPr>
              <a:t>Shared leadership limits abuse.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keeps authority relational and accountable.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4. Submission Is Mutual, Not Coerced</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Submission is voluntary and reciprocal.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Ephesians 5:21</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“Submitting to one another out of reverence for Christ.”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removes hierarchy as a control tool.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Submission flows from shared reverence, not fear.</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5. Teaching Guides Conscience, Not Compliance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Teaching shapes understanding.</a:t>
            </a:r>
          </a:p>
          <a:p>
            <a:r>
              <a:rPr lang="en-US" sz="1400" kern="1200" dirty="0">
                <a:solidFill>
                  <a:schemeClr val="tx1"/>
                </a:solidFill>
                <a:effectLst/>
                <a:latin typeface="+mn-lt"/>
                <a:ea typeface="ＭＳ Ｐゴシック" pitchFamily="-106" charset="-128"/>
                <a:cs typeface="ＭＳ Ｐゴシック" pitchFamily="-106" charset="-128"/>
              </a:rPr>
              <a:t>It does not replace conscience.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Romans 14:5</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“Each person must be fully convinced in his own mind.”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apostles respected personal conviction in non-essential matters.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Systems demand uniformity.</a:t>
            </a:r>
          </a:p>
          <a:p>
            <a:r>
              <a:rPr lang="en-US" sz="1400" kern="1200" dirty="0">
                <a:solidFill>
                  <a:schemeClr val="tx1"/>
                </a:solidFill>
                <a:effectLst/>
                <a:latin typeface="+mn-lt"/>
                <a:ea typeface="ＭＳ Ｐゴシック" pitchFamily="-106" charset="-128"/>
                <a:cs typeface="ＭＳ Ｐゴシック" pitchFamily="-106" charset="-128"/>
              </a:rPr>
              <a:t>The New Testament allows space for growth.</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6. Correction Restores, Not Punishes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Discipline exists, but its goal is restoration.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Galatians 6:1</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“Restore such a person in a spirit of gentleness.”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Gentleness protects dignity.</a:t>
            </a:r>
          </a:p>
          <a:p>
            <a:r>
              <a:rPr lang="en-US" sz="1400" kern="1200" dirty="0">
                <a:solidFill>
                  <a:schemeClr val="tx1"/>
                </a:solidFill>
                <a:effectLst/>
                <a:latin typeface="+mn-lt"/>
                <a:ea typeface="ＭＳ Ｐゴシック" pitchFamily="-106" charset="-128"/>
                <a:cs typeface="ＭＳ Ｐゴシック" pitchFamily="-106" charset="-128"/>
              </a:rPr>
              <a:t>Fear-based systems use discipline to maintain power.</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Grace-based order uses it to heal.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7. Freedom Is Protected, Not Feared</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Freedom is not chaos.</a:t>
            </a:r>
          </a:p>
          <a:p>
            <a:r>
              <a:rPr lang="en-US" sz="1400" kern="1200" dirty="0">
                <a:solidFill>
                  <a:schemeClr val="tx1"/>
                </a:solidFill>
                <a:effectLst/>
                <a:latin typeface="+mn-lt"/>
                <a:ea typeface="ＭＳ Ｐゴシック" pitchFamily="-106" charset="-128"/>
                <a:cs typeface="ＭＳ Ｐゴシック" pitchFamily="-106" charset="-128"/>
              </a:rPr>
              <a:t>It is responsibility before God.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Galatians 5:13</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“You were called to freedom… only do not use your freedom as an opportunity for the flesh.”</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solution to misuse is love, not control.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8. Unity Is Rooted in Christ, Not Rules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Unity comes from shared life in Christ.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Philippians 2:1–2</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“If there is any encouragement in Christ… be of the same mind.”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Unity is cultivated, not enforced.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Rules can create compliance.</a:t>
            </a:r>
          </a:p>
          <a:p>
            <a:r>
              <a:rPr lang="en-US" sz="1400" kern="1200" dirty="0">
                <a:solidFill>
                  <a:schemeClr val="tx1"/>
                </a:solidFill>
                <a:effectLst/>
                <a:latin typeface="+mn-lt"/>
                <a:ea typeface="ＭＳ Ｐゴシック" pitchFamily="-106" charset="-128"/>
                <a:cs typeface="ＭＳ Ｐゴシック" pitchFamily="-106" charset="-128"/>
              </a:rPr>
              <a:t>They cannot create love.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9. Decisions Are Discerned, Not Dictated</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Major decisions were made together.</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Acts 15:28</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“For it seemed best to the Holy Spirit and to us…”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shows: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prayer</a:t>
            </a:r>
          </a:p>
          <a:p>
            <a:pPr rtl="0" fontAlgn="ctr"/>
            <a:r>
              <a:rPr lang="en-US" sz="1400" kern="1200" dirty="0">
                <a:solidFill>
                  <a:schemeClr val="tx1"/>
                </a:solidFill>
                <a:effectLst/>
                <a:latin typeface="+mn-lt"/>
                <a:ea typeface="ＭＳ Ｐゴシック" pitchFamily="-106" charset="-128"/>
                <a:cs typeface="ＭＳ Ｐゴシック" pitchFamily="-106" charset="-128"/>
              </a:rPr>
              <a:t>listening</a:t>
            </a:r>
          </a:p>
          <a:p>
            <a:pPr rtl="0" fontAlgn="ctr"/>
            <a:r>
              <a:rPr lang="en-US" sz="1400" kern="1200" dirty="0">
                <a:solidFill>
                  <a:schemeClr val="tx1"/>
                </a:solidFill>
                <a:effectLst/>
                <a:latin typeface="+mn-lt"/>
                <a:ea typeface="ＭＳ Ｐゴシック" pitchFamily="-106" charset="-128"/>
                <a:cs typeface="ＭＳ Ｐゴシック" pitchFamily="-106" charset="-128"/>
              </a:rPr>
              <a:t>consensus</a:t>
            </a:r>
          </a:p>
          <a:p>
            <a:pPr rtl="0" fontAlgn="ctr"/>
            <a:r>
              <a:rPr lang="en-US" sz="1400" kern="1200" dirty="0">
                <a:solidFill>
                  <a:schemeClr val="tx1"/>
                </a:solidFill>
                <a:effectLst/>
                <a:latin typeface="+mn-lt"/>
                <a:ea typeface="ＭＳ Ｐゴシック" pitchFamily="-106" charset="-128"/>
                <a:cs typeface="ＭＳ Ｐゴシック" pitchFamily="-106" charset="-128"/>
              </a:rPr>
              <a:t>humility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No single authority claimed control.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10. Boundaries Are Clear but Few</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apostles focused on essentials.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Acts 15:19–20</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“We should not cause extra difficulty for those Gentiles who are turning to God.”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They resisted over-regulation.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Clarity without excess preserves freedom.</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11. Christ Remains the Only Head</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No structure replaces Christ’s authority.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Colossians 1:18</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“He himself is the head of the body, the church.”</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Every human structure is temporary.</a:t>
            </a:r>
          </a:p>
          <a:p>
            <a:r>
              <a:rPr lang="en-US" sz="1400" kern="1200" dirty="0">
                <a:solidFill>
                  <a:schemeClr val="tx1"/>
                </a:solidFill>
                <a:effectLst/>
                <a:latin typeface="+mn-lt"/>
                <a:ea typeface="ＭＳ Ｐゴシック" pitchFamily="-106" charset="-128"/>
                <a:cs typeface="ＭＳ Ｐゴシック" pitchFamily="-106" charset="-128"/>
              </a:rPr>
              <a:t>Christ alone governs the body.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Summary</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New Testament balance looks like this: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Order without coercion</a:t>
            </a:r>
          </a:p>
          <a:p>
            <a:pPr rtl="0" fontAlgn="ctr"/>
            <a:r>
              <a:rPr lang="en-US" sz="1400" kern="1200" dirty="0">
                <a:solidFill>
                  <a:schemeClr val="tx1"/>
                </a:solidFill>
                <a:effectLst/>
                <a:latin typeface="+mn-lt"/>
                <a:ea typeface="ＭＳ Ｐゴシック" pitchFamily="-106" charset="-128"/>
                <a:cs typeface="ＭＳ Ｐゴシック" pitchFamily="-106" charset="-128"/>
              </a:rPr>
              <a:t>Leadership without domination</a:t>
            </a:r>
          </a:p>
          <a:p>
            <a:pPr rtl="0" fontAlgn="ctr"/>
            <a:r>
              <a:rPr lang="en-US" sz="1400" kern="1200" dirty="0">
                <a:solidFill>
                  <a:schemeClr val="tx1"/>
                </a:solidFill>
                <a:effectLst/>
                <a:latin typeface="+mn-lt"/>
                <a:ea typeface="ＭＳ Ｐゴシック" pitchFamily="-106" charset="-128"/>
                <a:cs typeface="ＭＳ Ｐゴシック" pitchFamily="-106" charset="-128"/>
              </a:rPr>
              <a:t>Discipline without shame</a:t>
            </a:r>
          </a:p>
          <a:p>
            <a:pPr rtl="0" fontAlgn="ctr"/>
            <a:r>
              <a:rPr lang="en-US" sz="1400" kern="1200" dirty="0">
                <a:solidFill>
                  <a:schemeClr val="tx1"/>
                </a:solidFill>
                <a:effectLst/>
                <a:latin typeface="+mn-lt"/>
                <a:ea typeface="ＭＳ Ｐゴシック" pitchFamily="-106" charset="-128"/>
                <a:cs typeface="ＭＳ Ｐゴシック" pitchFamily="-106" charset="-128"/>
              </a:rPr>
              <a:t>Unity without uniformity</a:t>
            </a:r>
          </a:p>
          <a:p>
            <a:pPr rtl="0" fontAlgn="ctr"/>
            <a:r>
              <a:rPr lang="en-US" sz="1400" kern="1200" dirty="0">
                <a:solidFill>
                  <a:schemeClr val="tx1"/>
                </a:solidFill>
                <a:effectLst/>
                <a:latin typeface="+mn-lt"/>
                <a:ea typeface="ＭＳ Ｐゴシック" pitchFamily="-106" charset="-128"/>
                <a:cs typeface="ＭＳ Ｐゴシック" pitchFamily="-106" charset="-128"/>
              </a:rPr>
              <a:t>Authority without control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balance works only when trust in God’s righteousness remains central.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Once fear replaces trust,</a:t>
            </a:r>
          </a:p>
          <a:p>
            <a:r>
              <a:rPr lang="en-US" sz="1400" kern="1200" dirty="0">
                <a:solidFill>
                  <a:schemeClr val="tx1"/>
                </a:solidFill>
                <a:effectLst/>
                <a:latin typeface="+mn-lt"/>
                <a:ea typeface="ＭＳ Ｐゴシック" pitchFamily="-106" charset="-128"/>
                <a:cs typeface="ＭＳ Ｐゴシック" pitchFamily="-106" charset="-128"/>
              </a:rPr>
              <a:t>control replaces order.</a:t>
            </a:r>
          </a:p>
          <a:p>
            <a:r>
              <a:rPr lang="en-US" sz="1400" kern="1200" dirty="0">
                <a:solidFill>
                  <a:schemeClr val="tx1"/>
                </a:solidFill>
                <a:effectLst/>
                <a:latin typeface="+mn-lt"/>
                <a:ea typeface="ＭＳ Ｐゴシック" pitchFamily="-106" charset="-128"/>
                <a:cs typeface="ＭＳ Ｐゴシック" pitchFamily="-106" charset="-128"/>
              </a:rPr>
              <a:t> </a:t>
            </a:r>
          </a:p>
        </p:txBody>
      </p:sp>
      <p:sp>
        <p:nvSpPr>
          <p:cNvPr id="4" name="Slide Number Placeholder 3">
            <a:extLst>
              <a:ext uri="{FF2B5EF4-FFF2-40B4-BE49-F238E27FC236}">
                <a16:creationId xmlns:a16="http://schemas.microsoft.com/office/drawing/2014/main" id="{633A805D-6798-6A50-3FDE-78961A60A5F8}"/>
              </a:ext>
            </a:extLst>
          </p:cNvPr>
          <p:cNvSpPr>
            <a:spLocks noGrp="1"/>
          </p:cNvSpPr>
          <p:nvPr>
            <p:ph type="sldNum" sz="quarter" idx="10"/>
          </p:nvPr>
        </p:nvSpPr>
        <p:spPr/>
        <p:txBody>
          <a:bodyPr/>
          <a:lstStyle/>
          <a:p>
            <a:pPr>
              <a:defRPr/>
            </a:pPr>
            <a:fld id="{07776858-791E-4C8D-8FA3-473B3AFECFAC}" type="slidenum">
              <a:rPr lang="en-US" smtClean="0"/>
              <a:pPr>
                <a:defRPr/>
              </a:pPr>
              <a:t>12</a:t>
            </a:fld>
            <a:endParaRPr lang="en-US" dirty="0"/>
          </a:p>
        </p:txBody>
      </p:sp>
    </p:spTree>
    <p:extLst>
      <p:ext uri="{BB962C8B-B14F-4D97-AF65-F5344CB8AC3E}">
        <p14:creationId xmlns:p14="http://schemas.microsoft.com/office/powerpoint/2010/main" val="4329284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FB425-8DD6-9600-C86A-A024524DAC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17CA96-E504-0E97-07CE-DF81DB934C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3B634FB-B066-FD92-0440-3E7BB00F5ABD}"/>
              </a:ext>
            </a:extLst>
          </p:cNvPr>
          <p:cNvSpPr>
            <a:spLocks noGrp="1"/>
          </p:cNvSpPr>
          <p:nvPr>
            <p:ph type="body" idx="1"/>
          </p:nvPr>
        </p:nvSpPr>
        <p:spPr/>
        <p:txBody>
          <a:bodyPr>
            <a:normAutofit/>
          </a:bodyPr>
          <a:lstStyle/>
          <a:p>
            <a:endParaRPr lang="en-US" sz="1600" dirty="0"/>
          </a:p>
          <a:p>
            <a:endParaRPr lang="en-US" dirty="0"/>
          </a:p>
        </p:txBody>
      </p:sp>
      <p:sp>
        <p:nvSpPr>
          <p:cNvPr id="4" name="Slide Number Placeholder 3">
            <a:extLst>
              <a:ext uri="{FF2B5EF4-FFF2-40B4-BE49-F238E27FC236}">
                <a16:creationId xmlns:a16="http://schemas.microsoft.com/office/drawing/2014/main" id="{6843A429-AA30-0856-8F49-6A020AF1B932}"/>
              </a:ext>
            </a:extLst>
          </p:cNvPr>
          <p:cNvSpPr>
            <a:spLocks noGrp="1"/>
          </p:cNvSpPr>
          <p:nvPr>
            <p:ph type="sldNum" sz="quarter" idx="10"/>
          </p:nvPr>
        </p:nvSpPr>
        <p:spPr/>
        <p:txBody>
          <a:bodyPr/>
          <a:lstStyle/>
          <a:p>
            <a:pPr>
              <a:defRPr/>
            </a:pPr>
            <a:fld id="{07776858-791E-4C8D-8FA3-473B3AFECFAC}" type="slidenum">
              <a:rPr lang="en-US" smtClean="0"/>
              <a:pPr>
                <a:defRPr/>
              </a:pPr>
              <a:t>13</a:t>
            </a:fld>
            <a:endParaRPr lang="en-US" dirty="0"/>
          </a:p>
        </p:txBody>
      </p:sp>
    </p:spTree>
    <p:extLst>
      <p:ext uri="{BB962C8B-B14F-4D97-AF65-F5344CB8AC3E}">
        <p14:creationId xmlns:p14="http://schemas.microsoft.com/office/powerpoint/2010/main" val="36472957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RightWithGo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243EB-A19E-5ED1-CFA5-860A2DA6EE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223CA-BF56-C414-56BF-D76E4E24E13E}"/>
              </a:ext>
            </a:extLst>
          </p:cNvPr>
          <p:cNvSpPr txBox="1">
            <a:spLocks/>
          </p:cNvSpPr>
          <p:nvPr/>
        </p:nvSpPr>
        <p:spPr bwMode="auto">
          <a:xfrm>
            <a:off x="457200" y="4191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Righteousness</a:t>
            </a:r>
            <a:br>
              <a:rPr lang="en-US" dirty="0"/>
            </a:br>
            <a:endParaRPr lang="en-US" dirty="0"/>
          </a:p>
          <a:p>
            <a:r>
              <a:rPr lang="en-US" dirty="0"/>
              <a:t>What Is “Righteousness” in the Bible?</a:t>
            </a:r>
          </a:p>
          <a:p>
            <a:endParaRPr lang="en-US" sz="2400" dirty="0">
              <a:solidFill>
                <a:schemeClr val="tx2">
                  <a:lumMod val="60000"/>
                  <a:lumOff val="40000"/>
                </a:schemeClr>
              </a:solidFill>
            </a:endParaRPr>
          </a:p>
          <a:p>
            <a:r>
              <a:rPr lang="en-US" b="0" dirty="0"/>
              <a:t>For I am not ashamed of the gospel of Christ, for it is the power of God to salvation for everyone who believes, for the Jew first and also for the Greek. For in it the righteousness of God is revealed from faith to faith; as it is written, "THE JUST SHALL LIVE BY FAITH."</a:t>
            </a:r>
          </a:p>
          <a:p>
            <a:r>
              <a:rPr lang="en-US" b="0" dirty="0"/>
              <a:t>(Romans 1:16-17)</a:t>
            </a:r>
          </a:p>
          <a:p>
            <a:endParaRPr lang="en-US" dirty="0">
              <a:solidFill>
                <a:schemeClr val="tx2">
                  <a:lumMod val="60000"/>
                  <a:lumOff val="40000"/>
                </a:schemeClr>
              </a:solidFill>
            </a:endParaRPr>
          </a:p>
          <a:p>
            <a:r>
              <a:rPr lang="en-US" dirty="0">
                <a:solidFill>
                  <a:schemeClr val="tx2">
                    <a:lumMod val="60000"/>
                    <a:lumOff val="40000"/>
                  </a:schemeClr>
                </a:solidFill>
                <a:hlinkClick r:id="rId3"/>
              </a:rPr>
              <a:t>https://tinyurl.com/RightWithGod</a:t>
            </a:r>
            <a:endParaRPr lang="en-US" dirty="0">
              <a:solidFill>
                <a:schemeClr val="tx2">
                  <a:lumMod val="60000"/>
                  <a:lumOff val="40000"/>
                </a:schemeClr>
              </a:solidFill>
            </a:endParaRPr>
          </a:p>
          <a:p>
            <a:endParaRPr lang="en-US" dirty="0">
              <a:solidFill>
                <a:schemeClr val="tx2">
                  <a:lumMod val="60000"/>
                  <a:lumOff val="40000"/>
                </a:schemeClr>
              </a:solidFill>
            </a:endParaRPr>
          </a:p>
        </p:txBody>
      </p:sp>
    </p:spTree>
    <p:extLst>
      <p:ext uri="{BB962C8B-B14F-4D97-AF65-F5344CB8AC3E}">
        <p14:creationId xmlns:p14="http://schemas.microsoft.com/office/powerpoint/2010/main" val="9313074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FD3A6-5B52-0639-3B7B-AC3039548C0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ACADC6C-FD53-B457-C325-0F72420E1A8E}"/>
              </a:ext>
            </a:extLst>
          </p:cNvPr>
          <p:cNvSpPr txBox="1">
            <a:spLocks/>
          </p:cNvSpPr>
          <p:nvPr/>
        </p:nvSpPr>
        <p:spPr bwMode="auto">
          <a:xfrm>
            <a:off x="233362" y="32657"/>
            <a:ext cx="8682038" cy="7293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2600" dirty="0">
                <a:solidFill>
                  <a:schemeClr val="tx2">
                    <a:lumMod val="60000"/>
                    <a:lumOff val="40000"/>
                  </a:schemeClr>
                </a:solidFill>
              </a:rPr>
              <a:t>Behold the Man!</a:t>
            </a:r>
          </a:p>
          <a:p>
            <a:r>
              <a:rPr lang="en-US" sz="1600" dirty="0">
                <a:solidFill>
                  <a:schemeClr val="tx2">
                    <a:lumMod val="60000"/>
                    <a:lumOff val="40000"/>
                  </a:schemeClr>
                </a:solidFill>
              </a:rPr>
              <a:t>John 19:5</a:t>
            </a:r>
          </a:p>
        </p:txBody>
      </p:sp>
      <p:pic>
        <p:nvPicPr>
          <p:cNvPr id="6" name="Picture 5" descr="John 19:5 - Behold the Man&#10;">
            <a:extLst>
              <a:ext uri="{FF2B5EF4-FFF2-40B4-BE49-F238E27FC236}">
                <a16:creationId xmlns:a16="http://schemas.microsoft.com/office/drawing/2014/main" id="{8C93F442-DFA4-5CDC-EF89-7FEA1D498D0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857250"/>
            <a:ext cx="9144000" cy="5143500"/>
          </a:xfrm>
          <a:prstGeom prst="rect">
            <a:avLst/>
          </a:prstGeom>
        </p:spPr>
      </p:pic>
    </p:spTree>
    <p:extLst>
      <p:ext uri="{BB962C8B-B14F-4D97-AF65-F5344CB8AC3E}">
        <p14:creationId xmlns:p14="http://schemas.microsoft.com/office/powerpoint/2010/main" val="2941145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B9460-87B7-7FE0-AE14-A958B063266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5D673E4-7834-2669-FE6C-025CB6613FAB}"/>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Lesson One Summary</a:t>
            </a:r>
            <a:br>
              <a:rPr lang="en-US" dirty="0"/>
            </a:br>
            <a:r>
              <a:rPr lang="en-US" sz="2800" dirty="0">
                <a:solidFill>
                  <a:schemeClr val="tx2">
                    <a:lumMod val="60000"/>
                    <a:lumOff val="40000"/>
                  </a:schemeClr>
                </a:solidFill>
              </a:rPr>
              <a:t>Foundations of Man’s Righteousness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4BD9B8B0-28A7-0B01-BAAC-1CDCADBB5CBE}"/>
              </a:ext>
            </a:extLst>
          </p:cNvPr>
          <p:cNvSpPr txBox="1"/>
          <p:nvPr/>
        </p:nvSpPr>
        <p:spPr>
          <a:xfrm>
            <a:off x="214311" y="838200"/>
            <a:ext cx="8677275" cy="3170099"/>
          </a:xfrm>
          <a:prstGeom prst="rect">
            <a:avLst/>
          </a:prstGeom>
          <a:noFill/>
        </p:spPr>
        <p:txBody>
          <a:bodyPr wrap="square" rtlCol="0">
            <a:spAutoFit/>
          </a:bodyPr>
          <a:lstStyle/>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Uncertainty drives fear.</a:t>
            </a:r>
          </a:p>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Fear demands control.</a:t>
            </a:r>
          </a:p>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Control creates systems.</a:t>
            </a:r>
          </a:p>
          <a:p>
            <a:pPr marL="342900" indent="-342900" fontAlgn="ctr">
              <a:buFont typeface="Wingdings" panose="05000000000000000000" pitchFamily="2" charset="2"/>
              <a:buChar char="Ø"/>
            </a:pPr>
            <a:r>
              <a:rPr lang="en-US" sz="2000" u="sng" dirty="0">
                <a:ea typeface="ＭＳ Ｐゴシック" pitchFamily="-106" charset="-128"/>
                <a:cs typeface="ＭＳ Ｐゴシック" pitchFamily="-106" charset="-128"/>
              </a:rPr>
              <a:t>Systems produce human righteousness</a:t>
            </a:r>
            <a:r>
              <a:rPr lang="en-US" sz="2000" dirty="0">
                <a:ea typeface="ＭＳ Ｐゴシック" pitchFamily="-106" charset="-128"/>
                <a:cs typeface="ＭＳ Ｐゴシック" pitchFamily="-106" charset="-128"/>
              </a:rPr>
              <a:t>.</a:t>
            </a:r>
          </a:p>
          <a:p>
            <a:r>
              <a:rPr lang="en-US" sz="2000" dirty="0">
                <a:ea typeface="ＭＳ Ｐゴシック" pitchFamily="-106" charset="-128"/>
                <a:cs typeface="ＭＳ Ｐゴシック" pitchFamily="-106" charset="-128"/>
              </a:rPr>
              <a:t> </a:t>
            </a:r>
          </a:p>
          <a:p>
            <a:pPr marL="342900" indent="-342900">
              <a:buFont typeface="Wingdings" panose="05000000000000000000" pitchFamily="2" charset="2"/>
              <a:buChar char="Ø"/>
            </a:pPr>
            <a:r>
              <a:rPr lang="en-US" sz="2000" u="sng" dirty="0">
                <a:ea typeface="ＭＳ Ｐゴシック" pitchFamily="-106" charset="-128"/>
                <a:cs typeface="ＭＳ Ｐゴシック" pitchFamily="-106" charset="-128"/>
              </a:rPr>
              <a:t>Social contracts, theology, and ideology all become substitutes when they replace </a:t>
            </a:r>
            <a:r>
              <a:rPr lang="en-US" sz="2000" b="1" u="sng" dirty="0">
                <a:ea typeface="ＭＳ Ｐゴシック" pitchFamily="-106" charset="-128"/>
                <a:cs typeface="ＭＳ Ｐゴシック" pitchFamily="-106" charset="-128"/>
              </a:rPr>
              <a:t>trust</a:t>
            </a:r>
            <a:r>
              <a:rPr lang="en-US" sz="2000" u="sng" dirty="0">
                <a:ea typeface="ＭＳ Ｐゴシック" pitchFamily="-106" charset="-128"/>
                <a:cs typeface="ＭＳ Ｐゴシック" pitchFamily="-106" charset="-128"/>
              </a:rPr>
              <a:t> in God’s righteousness.</a:t>
            </a:r>
            <a:r>
              <a:rPr lang="en-US" sz="2000" dirty="0">
                <a:ea typeface="ＭＳ Ｐゴシック" pitchFamily="-106" charset="-128"/>
                <a:cs typeface="ＭＳ Ｐゴシック" pitchFamily="-106" charset="-128"/>
              </a:rPr>
              <a:t> </a:t>
            </a:r>
            <a:r>
              <a:rPr lang="en-US" sz="2000" u="sng" dirty="0">
                <a:ea typeface="ＭＳ Ｐゴシック" pitchFamily="-106" charset="-128"/>
                <a:cs typeface="ＭＳ Ｐゴシック" pitchFamily="-106" charset="-128"/>
              </a:rPr>
              <a:t>Social contracts replace trust in God with trust in consensus.</a:t>
            </a:r>
          </a:p>
          <a:p>
            <a:r>
              <a:rPr lang="en-US" sz="2000" dirty="0">
                <a:ea typeface="ＭＳ Ｐゴシック" pitchFamily="-106" charset="-128"/>
                <a:cs typeface="ＭＳ Ｐゴシック" pitchFamily="-106" charset="-128"/>
              </a:rPr>
              <a:t> </a:t>
            </a:r>
          </a:p>
          <a:p>
            <a:pPr marL="342900" indent="-342900">
              <a:buFont typeface="Wingdings" panose="05000000000000000000" pitchFamily="2" charset="2"/>
              <a:buChar char="Ø"/>
            </a:pPr>
            <a:r>
              <a:rPr lang="en-US" sz="2000" u="sng" dirty="0">
                <a:ea typeface="ＭＳ Ｐゴシック" pitchFamily="-106" charset="-128"/>
                <a:cs typeface="ＭＳ Ｐゴシック" pitchFamily="-106" charset="-128"/>
              </a:rPr>
              <a:t>The gospel does not remove uncertainty</a:t>
            </a:r>
            <a:r>
              <a:rPr lang="en-US" sz="2000" dirty="0">
                <a:ea typeface="ＭＳ Ｐゴシック" pitchFamily="-106" charset="-128"/>
                <a:cs typeface="ＭＳ Ｐゴシック" pitchFamily="-106" charset="-128"/>
              </a:rPr>
              <a:t>.  It relocates </a:t>
            </a:r>
            <a:r>
              <a:rPr lang="en-US" sz="2000" b="1" u="sng" dirty="0">
                <a:ea typeface="ＭＳ Ｐゴシック" pitchFamily="-106" charset="-128"/>
                <a:cs typeface="ＭＳ Ｐゴシック" pitchFamily="-106" charset="-128"/>
              </a:rPr>
              <a:t>trust</a:t>
            </a:r>
            <a:r>
              <a:rPr lang="en-US" sz="2000"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0EB52722-7682-8644-A7EA-11630D173DA7}"/>
              </a:ext>
            </a:extLst>
          </p:cNvPr>
          <p:cNvSpPr txBox="1"/>
          <p:nvPr/>
        </p:nvSpPr>
        <p:spPr>
          <a:xfrm>
            <a:off x="187538" y="5006693"/>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Proverbs 3:5  </a:t>
            </a:r>
            <a:r>
              <a:rPr lang="en-US" sz="2000" i="1" dirty="0">
                <a:ea typeface="ＭＳ Ｐゴシック" pitchFamily="-106" charset="-128"/>
                <a:cs typeface="ＭＳ Ｐゴシック" pitchFamily="-106" charset="-128"/>
              </a:rPr>
              <a:t>“</a:t>
            </a:r>
            <a:r>
              <a:rPr lang="en-US" sz="2000" b="1" i="1" dirty="0">
                <a:ea typeface="ＭＳ Ｐゴシック" pitchFamily="-106" charset="-128"/>
                <a:cs typeface="ＭＳ Ｐゴシック" pitchFamily="-106" charset="-128"/>
              </a:rPr>
              <a:t>Trust</a:t>
            </a:r>
            <a:r>
              <a:rPr lang="en-US" sz="2000" i="1" dirty="0">
                <a:ea typeface="ＭＳ Ｐゴシック" pitchFamily="-106" charset="-128"/>
                <a:cs typeface="ＭＳ Ｐゴシック" pitchFamily="-106" charset="-128"/>
              </a:rPr>
              <a:t> in the LORD with all your heart, and do not rely on your own understanding.”</a:t>
            </a:r>
          </a:p>
        </p:txBody>
      </p:sp>
      <p:sp>
        <p:nvSpPr>
          <p:cNvPr id="4" name="TextBox 3">
            <a:extLst>
              <a:ext uri="{FF2B5EF4-FFF2-40B4-BE49-F238E27FC236}">
                <a16:creationId xmlns:a16="http://schemas.microsoft.com/office/drawing/2014/main" id="{4C34A012-65AF-944C-D483-2050176E09C6}"/>
              </a:ext>
            </a:extLst>
          </p:cNvPr>
          <p:cNvSpPr txBox="1"/>
          <p:nvPr/>
        </p:nvSpPr>
        <p:spPr>
          <a:xfrm>
            <a:off x="187538" y="4128808"/>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Jeremiah 17:5  </a:t>
            </a:r>
            <a:r>
              <a:rPr lang="en-US" sz="2000" i="1" dirty="0">
                <a:ea typeface="ＭＳ Ｐゴシック" pitchFamily="-106" charset="-128"/>
                <a:cs typeface="ＭＳ Ｐゴシック" pitchFamily="-106" charset="-128"/>
              </a:rPr>
              <a:t>“Cursed is the one who </a:t>
            </a:r>
            <a:r>
              <a:rPr lang="en-US" sz="2000" b="1" i="1" dirty="0">
                <a:ea typeface="ＭＳ Ｐゴシック" pitchFamily="-106" charset="-128"/>
                <a:cs typeface="ＭＳ Ｐゴシック" pitchFamily="-106" charset="-128"/>
              </a:rPr>
              <a:t>trusts</a:t>
            </a:r>
            <a:r>
              <a:rPr lang="en-US" sz="2000" i="1" dirty="0">
                <a:ea typeface="ＭＳ Ｐゴシック" pitchFamily="-106" charset="-128"/>
                <a:cs typeface="ＭＳ Ｐゴシック" pitchFamily="-106" charset="-128"/>
              </a:rPr>
              <a:t> in human beings… and whose heart turns away from the LORD.”</a:t>
            </a:r>
          </a:p>
        </p:txBody>
      </p:sp>
      <p:sp>
        <p:nvSpPr>
          <p:cNvPr id="6" name="TextBox 5">
            <a:extLst>
              <a:ext uri="{FF2B5EF4-FFF2-40B4-BE49-F238E27FC236}">
                <a16:creationId xmlns:a16="http://schemas.microsoft.com/office/drawing/2014/main" id="{FB163739-29B1-B2FE-FDEB-7105D17B1205}"/>
              </a:ext>
            </a:extLst>
          </p:cNvPr>
          <p:cNvSpPr txBox="1"/>
          <p:nvPr/>
        </p:nvSpPr>
        <p:spPr>
          <a:xfrm>
            <a:off x="187538" y="5884578"/>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Hebrews 8:10  </a:t>
            </a:r>
            <a:r>
              <a:rPr lang="en-US" sz="2000" i="1" dirty="0">
                <a:ea typeface="ＭＳ Ｐゴシック" pitchFamily="-106" charset="-128"/>
                <a:cs typeface="ＭＳ Ｐゴシック" pitchFamily="-106" charset="-128"/>
              </a:rPr>
              <a:t>“I will put my laws in their minds, and I will inscribe them on their hearts.”</a:t>
            </a:r>
          </a:p>
        </p:txBody>
      </p:sp>
    </p:spTree>
    <p:extLst>
      <p:ext uri="{BB962C8B-B14F-4D97-AF65-F5344CB8AC3E}">
        <p14:creationId xmlns:p14="http://schemas.microsoft.com/office/powerpoint/2010/main" val="1199484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1000"/>
                                        <p:tgtEl>
                                          <p:spTgt spid="6"/>
                                        </p:tgtEl>
                                      </p:cBhvr>
                                    </p:animEffect>
                                    <p:anim calcmode="lin" valueType="num">
                                      <p:cBhvr>
                                        <p:cTn id="29" dur="1000" fill="hold"/>
                                        <p:tgtEl>
                                          <p:spTgt spid="6"/>
                                        </p:tgtEl>
                                        <p:attrNameLst>
                                          <p:attrName>ppt_x</p:attrName>
                                        </p:attrNameLst>
                                      </p:cBhvr>
                                      <p:tavLst>
                                        <p:tav tm="0">
                                          <p:val>
                                            <p:strVal val="#ppt_x"/>
                                          </p:val>
                                        </p:tav>
                                        <p:tav tm="100000">
                                          <p:val>
                                            <p:strVal val="#ppt_x"/>
                                          </p:val>
                                        </p:tav>
                                      </p:tavLst>
                                    </p:anim>
                                    <p:anim calcmode="lin" valueType="num">
                                      <p:cBhvr>
                                        <p:cTn id="3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C0DD8-CEC7-E654-A5B9-F3D213FBAFA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5AB05F0-884A-2F36-6E9F-3575067070C1}"/>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Pharisaic Righteousness</a:t>
            </a:r>
            <a:br>
              <a:rPr lang="en-US" dirty="0"/>
            </a:br>
            <a:r>
              <a:rPr lang="en-US" sz="2800" dirty="0">
                <a:solidFill>
                  <a:schemeClr val="tx2">
                    <a:lumMod val="60000"/>
                    <a:lumOff val="40000"/>
                  </a:schemeClr>
                </a:solidFill>
              </a:rPr>
              <a:t>Managing Uncertainty with Religious Systems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DD03969E-8788-644E-470C-777569F1A33E}"/>
              </a:ext>
            </a:extLst>
          </p:cNvPr>
          <p:cNvSpPr txBox="1"/>
          <p:nvPr/>
        </p:nvSpPr>
        <p:spPr>
          <a:xfrm>
            <a:off x="185477" y="794657"/>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Matthew 23:23  </a:t>
            </a:r>
            <a:r>
              <a:rPr lang="en-US" sz="2000" i="1" dirty="0">
                <a:ea typeface="ＭＳ Ｐゴシック" pitchFamily="-106" charset="-128"/>
                <a:cs typeface="ＭＳ Ｐゴシック" pitchFamily="-106" charset="-128"/>
              </a:rPr>
              <a:t>“You give a tenth of mint, dill, and cumin, yet you neglect what is more important in the law - justice, mercy, and faithfulness.”</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Pharisaic righteousness did not start with rebellion. It started with fear. Israel feared losing identity, purity, and God’s favor. So they built layers of rules to protect themselves. Jesus exposes this. </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 Pharisees were not rejecting righteousness. They were trying to control it.</a:t>
            </a:r>
          </a:p>
        </p:txBody>
      </p:sp>
      <p:sp>
        <p:nvSpPr>
          <p:cNvPr id="2" name="TextBox 1">
            <a:extLst>
              <a:ext uri="{FF2B5EF4-FFF2-40B4-BE49-F238E27FC236}">
                <a16:creationId xmlns:a16="http://schemas.microsoft.com/office/drawing/2014/main" id="{20FD5FE9-929A-4DA7-17EC-A4AD5E449D85}"/>
              </a:ext>
            </a:extLst>
          </p:cNvPr>
          <p:cNvSpPr txBox="1"/>
          <p:nvPr/>
        </p:nvSpPr>
        <p:spPr>
          <a:xfrm>
            <a:off x="185477" y="2978381"/>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How uncertainty shaped their system…</a:t>
            </a:r>
            <a:endParaRPr lang="en-US" sz="2000"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disobedience led to rule expansion</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impurity led to separation</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judgment led to performance-based assurance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Their system promised certainty:</a:t>
            </a:r>
          </a:p>
          <a:p>
            <a:pPr marL="742950" lvl="1" indent="-285750">
              <a:buFont typeface="Arial" panose="020B0604020202020204" pitchFamily="34" charset="0"/>
              <a:buChar char="•"/>
            </a:pPr>
            <a:r>
              <a:rPr lang="en-US" sz="2000" i="1" dirty="0">
                <a:ea typeface="ＭＳ Ｐゴシック" pitchFamily="-106" charset="-128"/>
                <a:cs typeface="ＭＳ Ｐゴシック" pitchFamily="-106" charset="-128"/>
              </a:rPr>
              <a:t>If I do this, I am righteous.</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If I avoid that, I am safe.</a:t>
            </a:r>
            <a:endParaRPr lang="en-US" sz="2000" dirty="0">
              <a:ea typeface="ＭＳ Ｐゴシック" pitchFamily="-106" charset="-128"/>
              <a:cs typeface="ＭＳ Ｐゴシック" pitchFamily="-106" charset="-128"/>
            </a:endParaRP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Jesus shows the flaw.</a:t>
            </a:r>
            <a:endParaRPr lang="en-US" sz="1600"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D224D50D-20C2-15AA-5EA2-F71081ECCBD6}"/>
              </a:ext>
            </a:extLst>
          </p:cNvPr>
          <p:cNvSpPr txBox="1"/>
          <p:nvPr/>
        </p:nvSpPr>
        <p:spPr>
          <a:xfrm>
            <a:off x="185477" y="5162104"/>
            <a:ext cx="8677275" cy="163121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Luke 18:9</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“Jesus also told this parable to some who were confident that they were righteous and looked down on everyone else.”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Confidence replaced trust.</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Comparison replaced repentance.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This is the righteousness of man wearing religious clothing. </a:t>
            </a:r>
          </a:p>
        </p:txBody>
      </p:sp>
    </p:spTree>
    <p:extLst>
      <p:ext uri="{BB962C8B-B14F-4D97-AF65-F5344CB8AC3E}">
        <p14:creationId xmlns:p14="http://schemas.microsoft.com/office/powerpoint/2010/main" val="1205745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15007-E470-8812-3870-8FA4A5F7C9D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28323DD-B10E-D46B-3C6D-AC06C189E63D}"/>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Modern Church Culture</a:t>
            </a:r>
            <a:br>
              <a:rPr lang="en-US" dirty="0"/>
            </a:br>
            <a:r>
              <a:rPr lang="en-US" sz="2800" dirty="0">
                <a:solidFill>
                  <a:schemeClr val="tx2">
                    <a:lumMod val="60000"/>
                    <a:lumOff val="40000"/>
                  </a:schemeClr>
                </a:solidFill>
              </a:rPr>
              <a:t>New Systems, Same Instinct</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F72180F6-910D-FA74-3ACD-FE1D95F303C9}"/>
              </a:ext>
            </a:extLst>
          </p:cNvPr>
          <p:cNvSpPr txBox="1"/>
          <p:nvPr/>
        </p:nvSpPr>
        <p:spPr>
          <a:xfrm>
            <a:off x="193714" y="823489"/>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Galatians 3:3</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“After beginning with the Spirit, are you now trying to finish by human effort?”</a:t>
            </a:r>
            <a:endParaRPr lang="en-US" sz="2000" dirty="0">
              <a:ea typeface="ＭＳ Ｐゴシック" pitchFamily="-106" charset="-128"/>
              <a:cs typeface="ＭＳ Ｐゴシック" pitchFamily="-106" charset="-128"/>
            </a:endParaRPr>
          </a:p>
        </p:txBody>
      </p:sp>
      <p:sp>
        <p:nvSpPr>
          <p:cNvPr id="2" name="TextBox 1">
            <a:extLst>
              <a:ext uri="{FF2B5EF4-FFF2-40B4-BE49-F238E27FC236}">
                <a16:creationId xmlns:a16="http://schemas.microsoft.com/office/drawing/2014/main" id="{CFB2DD67-94AD-6CD9-1B74-8A34A1FDC563}"/>
              </a:ext>
            </a:extLst>
          </p:cNvPr>
          <p:cNvSpPr txBox="1"/>
          <p:nvPr/>
        </p:nvSpPr>
        <p:spPr>
          <a:xfrm>
            <a:off x="233362" y="1574623"/>
            <a:ext cx="8677275" cy="2862322"/>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Uncertainty drives this…</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being wrong. Fear of being excluded. Fear of losing control.</a:t>
            </a:r>
          </a:p>
          <a:p>
            <a:r>
              <a:rPr lang="en-US" sz="2000" b="1" dirty="0">
                <a:ea typeface="ＭＳ Ｐゴシック" pitchFamily="-106" charset="-128"/>
                <a:cs typeface="ＭＳ Ｐゴシック" pitchFamily="-106" charset="-128"/>
              </a:rPr>
              <a:t>Common modern versions include…</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Moral performance as spiritual proof.</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Doctrinal precision as righteousness.</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Political alignment as holiness.</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Ministry output as faithfulness.</a:t>
            </a:r>
          </a:p>
          <a:p>
            <a:r>
              <a:rPr lang="en-US" sz="2000" b="1" dirty="0">
                <a:ea typeface="ＭＳ Ｐゴシック" pitchFamily="-106" charset="-128"/>
                <a:cs typeface="ＭＳ Ｐゴシック" pitchFamily="-106" charset="-128"/>
              </a:rPr>
              <a:t>None of these are evil on their own…</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They become dangerous when they provide </a:t>
            </a:r>
            <a:r>
              <a:rPr lang="en-US" sz="2000" u="sng" dirty="0">
                <a:ea typeface="ＭＳ Ｐゴシック" pitchFamily="-106" charset="-128"/>
                <a:cs typeface="ＭＳ Ｐゴシック" pitchFamily="-106" charset="-128"/>
              </a:rPr>
              <a:t>identity</a:t>
            </a:r>
            <a:r>
              <a:rPr lang="en-US" sz="2000" dirty="0">
                <a:ea typeface="ＭＳ Ｐゴシック" pitchFamily="-106" charset="-128"/>
                <a:cs typeface="ＭＳ Ｐゴシック" pitchFamily="-106" charset="-128"/>
              </a:rPr>
              <a:t> and </a:t>
            </a:r>
            <a:r>
              <a:rPr lang="en-US" sz="2000" u="sng" dirty="0">
                <a:ea typeface="ＭＳ Ｐゴシック" pitchFamily="-106" charset="-128"/>
                <a:cs typeface="ＭＳ Ｐゴシック" pitchFamily="-106" charset="-128"/>
              </a:rPr>
              <a:t>assurance</a:t>
            </a:r>
            <a:r>
              <a:rPr lang="en-US" sz="2000"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648BE979-612F-858D-48C3-2C67C90E8550}"/>
              </a:ext>
            </a:extLst>
          </p:cNvPr>
          <p:cNvSpPr txBox="1"/>
          <p:nvPr/>
        </p:nvSpPr>
        <p:spPr>
          <a:xfrm>
            <a:off x="193712" y="4419600"/>
            <a:ext cx="8677275" cy="1938992"/>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So, systems form…</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Behavioral codes.  Examples?</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Cultural expectations.  Examples?</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Unspoken social contracts.  Examples?</a:t>
            </a:r>
          </a:p>
          <a:p>
            <a:r>
              <a:rPr lang="en-US" sz="2000" b="1" dirty="0">
                <a:ea typeface="ＭＳ Ｐゴシック" pitchFamily="-106" charset="-128"/>
                <a:cs typeface="ＭＳ Ｐゴシック" pitchFamily="-106" charset="-128"/>
              </a:rPr>
              <a:t>You belong if you comply.  You are “righteous” if you align.</a:t>
            </a:r>
          </a:p>
          <a:p>
            <a:r>
              <a:rPr lang="en-US" sz="2000" b="1" dirty="0">
                <a:ea typeface="ＭＳ Ｐゴシック" pitchFamily="-106" charset="-128"/>
                <a:cs typeface="ＭＳ Ｐゴシック" pitchFamily="-106" charset="-128"/>
              </a:rPr>
              <a:t>This is not covenant.  It is </a:t>
            </a:r>
            <a:r>
              <a:rPr lang="en-US" sz="2000" b="1" u="sng" dirty="0">
                <a:ea typeface="ＭＳ Ｐゴシック" pitchFamily="-106" charset="-128"/>
                <a:cs typeface="ＭＳ Ｐゴシック" pitchFamily="-106" charset="-128"/>
              </a:rPr>
              <a:t>managed morality</a:t>
            </a:r>
            <a:r>
              <a:rPr lang="en-US" sz="2000" b="1" dirty="0">
                <a:ea typeface="ＭＳ Ｐゴシック" pitchFamily="-106" charset="-128"/>
                <a:cs typeface="ＭＳ Ｐゴシック" pitchFamily="-106" charset="-128"/>
              </a:rPr>
              <a:t>.</a:t>
            </a:r>
            <a:endParaRPr lang="en-US" sz="1600" b="1"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4053318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7E19A-571A-8351-7805-16BFED85ACC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59F99D3-DFB4-4440-16CD-FBCFAB36D119}"/>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u="sng" dirty="0"/>
              <a:t>Faith-Based Obedience</a:t>
            </a:r>
            <a:r>
              <a:rPr lang="en-US" sz="3300" dirty="0"/>
              <a:t> vs System-Based Morality</a:t>
            </a:r>
            <a:br>
              <a:rPr lang="en-US" dirty="0"/>
            </a:br>
            <a:r>
              <a:rPr lang="en-US" sz="2800" dirty="0">
                <a:solidFill>
                  <a:schemeClr val="tx2">
                    <a:lumMod val="60000"/>
                    <a:lumOff val="40000"/>
                  </a:schemeClr>
                </a:solidFill>
              </a:rPr>
              <a:t>Scriptural Contrast</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AF655763-0161-E2C9-B4F4-FF9726F1A84F}"/>
              </a:ext>
            </a:extLst>
          </p:cNvPr>
          <p:cNvSpPr txBox="1"/>
          <p:nvPr/>
        </p:nvSpPr>
        <p:spPr>
          <a:xfrm>
            <a:off x="214311" y="838200"/>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Romans 4:5  </a:t>
            </a:r>
            <a:r>
              <a:rPr lang="en-US" sz="2000" i="1" dirty="0">
                <a:ea typeface="ＭＳ Ｐゴシック" pitchFamily="-106" charset="-128"/>
                <a:cs typeface="ＭＳ Ｐゴシック" pitchFamily="-106" charset="-128"/>
              </a:rPr>
              <a:t>“But to the one who does not work but believes in the one who declares the ungodly righteous, </a:t>
            </a:r>
            <a:r>
              <a:rPr lang="en-US" sz="2000" i="1" u="sng" dirty="0">
                <a:ea typeface="ＭＳ Ｐゴシック" pitchFamily="-106" charset="-128"/>
                <a:cs typeface="ＭＳ Ｐゴシック" pitchFamily="-106" charset="-128"/>
              </a:rPr>
              <a:t>his faith is credited as righteousness</a:t>
            </a:r>
            <a:r>
              <a:rPr lang="en-US" sz="2000" i="1"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C6EB6A3B-5189-0F53-9697-83C42E6DBF6D}"/>
              </a:ext>
            </a:extLst>
          </p:cNvPr>
          <p:cNvSpPr txBox="1"/>
          <p:nvPr/>
        </p:nvSpPr>
        <p:spPr>
          <a:xfrm>
            <a:off x="230786" y="1828800"/>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Key traits:</a:t>
            </a:r>
          </a:p>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Faith-based obedience flows from </a:t>
            </a:r>
            <a:r>
              <a:rPr lang="en-US" sz="2000" b="1" u="sng" dirty="0">
                <a:ea typeface="ＭＳ Ｐゴシック" pitchFamily="-106" charset="-128"/>
                <a:cs typeface="ＭＳ Ｐゴシック" pitchFamily="-106" charset="-128"/>
              </a:rPr>
              <a:t>trust</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It begins with God’s action, not ours.</a:t>
            </a:r>
          </a:p>
          <a:p>
            <a:pPr marL="342900" indent="-342900" fontAlgn="ctr">
              <a:buFont typeface="Arial" panose="020B0604020202020204" pitchFamily="34" charset="0"/>
              <a:buChar char="•"/>
            </a:pPr>
            <a:r>
              <a:rPr lang="en-US" sz="2000" u="sng" dirty="0">
                <a:ea typeface="ＭＳ Ｐゴシック" pitchFamily="-106" charset="-128"/>
                <a:cs typeface="ＭＳ Ｐゴシック" pitchFamily="-106" charset="-128"/>
              </a:rPr>
              <a:t>Obedience</a:t>
            </a:r>
            <a:r>
              <a:rPr lang="en-US" sz="2000" dirty="0">
                <a:ea typeface="ＭＳ Ｐゴシック" pitchFamily="-106" charset="-128"/>
                <a:cs typeface="ＭＳ Ｐゴシック" pitchFamily="-106" charset="-128"/>
              </a:rPr>
              <a:t> grows from </a:t>
            </a:r>
            <a:r>
              <a:rPr lang="en-US" sz="2000" u="sng" dirty="0">
                <a:ea typeface="ＭＳ Ｐゴシック" pitchFamily="-106" charset="-128"/>
                <a:cs typeface="ＭＳ Ｐゴシック" pitchFamily="-106" charset="-128"/>
              </a:rPr>
              <a:t>covenant relationship</a:t>
            </a:r>
            <a:r>
              <a:rPr lang="en-US" sz="2000" dirty="0">
                <a:ea typeface="ＭＳ Ｐゴシック" pitchFamily="-106" charset="-128"/>
                <a:cs typeface="ＭＳ Ｐゴシック" pitchFamily="-106" charset="-128"/>
              </a:rPr>
              <a:t>.</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Repentance stays central.</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Humility remains possible.</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Love fulfills the law.</a:t>
            </a:r>
          </a:p>
        </p:txBody>
      </p:sp>
      <p:sp>
        <p:nvSpPr>
          <p:cNvPr id="4" name="TextBox 3">
            <a:extLst>
              <a:ext uri="{FF2B5EF4-FFF2-40B4-BE49-F238E27FC236}">
                <a16:creationId xmlns:a16="http://schemas.microsoft.com/office/drawing/2014/main" id="{CE74CE38-AC50-2314-E87D-EDDDA9B80575}"/>
              </a:ext>
            </a:extLst>
          </p:cNvPr>
          <p:cNvSpPr txBox="1"/>
          <p:nvPr/>
        </p:nvSpPr>
        <p:spPr>
          <a:xfrm>
            <a:off x="214311" y="4358283"/>
            <a:ext cx="8677275" cy="1015663"/>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Galatians 5:6  </a:t>
            </a:r>
            <a:r>
              <a:rPr lang="en-US" sz="2000" i="1" dirty="0">
                <a:ea typeface="ＭＳ Ｐゴシック" pitchFamily="-106" charset="-128"/>
                <a:cs typeface="ＭＳ Ｐゴシック" pitchFamily="-106" charset="-128"/>
              </a:rPr>
              <a:t>“The only thing that matters is </a:t>
            </a:r>
            <a:r>
              <a:rPr lang="en-US" sz="2000" i="1" u="sng" dirty="0">
                <a:ea typeface="ＭＳ Ｐゴシック" pitchFamily="-106" charset="-128"/>
                <a:cs typeface="ＭＳ Ｐゴシック" pitchFamily="-106" charset="-128"/>
              </a:rPr>
              <a:t>faith working through love</a:t>
            </a:r>
            <a:r>
              <a:rPr lang="en-US" sz="2000" i="1" dirty="0">
                <a:ea typeface="ＭＳ Ｐゴシック" pitchFamily="-106" charset="-128"/>
                <a:cs typeface="ＭＳ Ｐゴシック" pitchFamily="-106" charset="-128"/>
              </a:rPr>
              <a:t>.”</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Faith does not remove obedience.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It roots obedience in trust.</a:t>
            </a:r>
          </a:p>
        </p:txBody>
      </p:sp>
    </p:spTree>
    <p:extLst>
      <p:ext uri="{BB962C8B-B14F-4D97-AF65-F5344CB8AC3E}">
        <p14:creationId xmlns:p14="http://schemas.microsoft.com/office/powerpoint/2010/main" val="116258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294CE-73B9-0662-5EA6-F2C64198668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40E34B6-71CF-5FBD-1D9B-731ED34C64EF}"/>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Faith-Based Obedience vs </a:t>
            </a:r>
            <a:r>
              <a:rPr lang="en-US" sz="3300" u="sng" dirty="0"/>
              <a:t>System-Based Morality</a:t>
            </a:r>
            <a:br>
              <a:rPr lang="en-US" dirty="0"/>
            </a:br>
            <a:r>
              <a:rPr lang="en-US" sz="2800" dirty="0">
                <a:solidFill>
                  <a:schemeClr val="tx2">
                    <a:lumMod val="60000"/>
                    <a:lumOff val="40000"/>
                  </a:schemeClr>
                </a:solidFill>
              </a:rPr>
              <a:t>Scriptural Contrast</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02E1460D-A52F-CDBA-E6B6-210E54C37205}"/>
              </a:ext>
            </a:extLst>
          </p:cNvPr>
          <p:cNvSpPr txBox="1"/>
          <p:nvPr/>
        </p:nvSpPr>
        <p:spPr>
          <a:xfrm>
            <a:off x="214311" y="838200"/>
            <a:ext cx="8677275" cy="1015663"/>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Colossians 2:20–23  </a:t>
            </a:r>
            <a:r>
              <a:rPr lang="en-US" sz="2000" i="1" dirty="0">
                <a:ea typeface="ＭＳ Ｐゴシック" pitchFamily="-106" charset="-128"/>
                <a:cs typeface="ＭＳ Ｐゴシック" pitchFamily="-106" charset="-128"/>
              </a:rPr>
              <a:t>“</a:t>
            </a:r>
            <a:r>
              <a:rPr lang="en-US" sz="2000" i="1" u="sng" dirty="0">
                <a:ea typeface="ＭＳ Ｐゴシック" pitchFamily="-106" charset="-128"/>
                <a:cs typeface="ＭＳ Ｐゴシック" pitchFamily="-106" charset="-128"/>
              </a:rPr>
              <a:t>Why do you submit to them as if you lived in the world</a:t>
            </a:r>
            <a:r>
              <a:rPr lang="en-US" sz="2000" i="1" dirty="0">
                <a:ea typeface="ＭＳ Ｐゴシック" pitchFamily="-106" charset="-128"/>
                <a:cs typeface="ＭＳ Ｐゴシック" pitchFamily="-106" charset="-128"/>
              </a:rPr>
              <a:t>? … They have the appearance of wisdom… but they are of no value against fleshly indulgence.”</a:t>
            </a:r>
          </a:p>
        </p:txBody>
      </p:sp>
      <p:sp>
        <p:nvSpPr>
          <p:cNvPr id="2" name="TextBox 1">
            <a:extLst>
              <a:ext uri="{FF2B5EF4-FFF2-40B4-BE49-F238E27FC236}">
                <a16:creationId xmlns:a16="http://schemas.microsoft.com/office/drawing/2014/main" id="{8DFAE8CA-75C2-7FEF-EEFB-255B1E0C072D}"/>
              </a:ext>
            </a:extLst>
          </p:cNvPr>
          <p:cNvSpPr txBox="1"/>
          <p:nvPr/>
        </p:nvSpPr>
        <p:spPr>
          <a:xfrm>
            <a:off x="233362" y="2075935"/>
            <a:ext cx="8677275" cy="1938992"/>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Key traits:</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System-based morality flows from fear.  It begins with control.</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Obedience replaces trust.</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Rules replace conscience.</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Conformity replaces transformation.</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Pride or despair results.</a:t>
            </a:r>
          </a:p>
        </p:txBody>
      </p:sp>
      <p:sp>
        <p:nvSpPr>
          <p:cNvPr id="4" name="TextBox 3">
            <a:extLst>
              <a:ext uri="{FF2B5EF4-FFF2-40B4-BE49-F238E27FC236}">
                <a16:creationId xmlns:a16="http://schemas.microsoft.com/office/drawing/2014/main" id="{BF8B996F-1743-342A-C251-826A1294FCB1}"/>
              </a:ext>
            </a:extLst>
          </p:cNvPr>
          <p:cNvSpPr txBox="1"/>
          <p:nvPr/>
        </p:nvSpPr>
        <p:spPr>
          <a:xfrm>
            <a:off x="233362" y="4230821"/>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Systems </a:t>
            </a:r>
            <a:r>
              <a:rPr lang="en-US" sz="2000" b="1" u="sng" dirty="0">
                <a:ea typeface="ＭＳ Ｐゴシック" pitchFamily="-106" charset="-128"/>
                <a:cs typeface="ＭＳ Ｐゴシック" pitchFamily="-106" charset="-128"/>
              </a:rPr>
              <a:t>can</a:t>
            </a:r>
            <a:r>
              <a:rPr lang="en-US" sz="2000" b="1" dirty="0">
                <a:ea typeface="ＭＳ Ｐゴシック" pitchFamily="-106" charset="-128"/>
                <a:cs typeface="ＭＳ Ｐゴシック" pitchFamily="-106" charset="-128"/>
              </a:rPr>
              <a:t> shape behavior.</a:t>
            </a:r>
          </a:p>
          <a:p>
            <a:r>
              <a:rPr lang="en-US" sz="2000" b="1" dirty="0">
                <a:ea typeface="ＭＳ Ｐゴシック" pitchFamily="-106" charset="-128"/>
                <a:cs typeface="ＭＳ Ｐゴシック" pitchFamily="-106" charset="-128"/>
              </a:rPr>
              <a:t>They </a:t>
            </a:r>
            <a:r>
              <a:rPr lang="en-US" sz="2000" b="1" u="sng" dirty="0">
                <a:ea typeface="ＭＳ Ｐゴシック" pitchFamily="-106" charset="-128"/>
                <a:cs typeface="ＭＳ Ｐゴシック" pitchFamily="-106" charset="-128"/>
              </a:rPr>
              <a:t>cannot</a:t>
            </a:r>
            <a:r>
              <a:rPr lang="en-US" sz="2000" b="1" dirty="0">
                <a:ea typeface="ＭＳ Ｐゴシック" pitchFamily="-106" charset="-128"/>
                <a:cs typeface="ＭＳ Ｐゴシック" pitchFamily="-106" charset="-128"/>
              </a:rPr>
              <a:t> produce righteousness.</a:t>
            </a:r>
          </a:p>
        </p:txBody>
      </p:sp>
    </p:spTree>
    <p:extLst>
      <p:ext uri="{BB962C8B-B14F-4D97-AF65-F5344CB8AC3E}">
        <p14:creationId xmlns:p14="http://schemas.microsoft.com/office/powerpoint/2010/main" val="348073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3F20F-30C6-1989-B9CB-50877A63298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641B54F-A6FA-F75E-8F51-411F6A681212}"/>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Faith-Based Obedience vs System-Based Morality</a:t>
            </a:r>
            <a:br>
              <a:rPr lang="en-US" dirty="0"/>
            </a:br>
            <a:r>
              <a:rPr lang="en-US" sz="2800" dirty="0">
                <a:solidFill>
                  <a:schemeClr val="tx2">
                    <a:lumMod val="60000"/>
                    <a:lumOff val="40000"/>
                  </a:schemeClr>
                </a:solidFill>
              </a:rPr>
              <a:t>Scriptural Contrast</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C4C1CC73-2021-CBD6-C54A-C583ACB935DD}"/>
              </a:ext>
            </a:extLst>
          </p:cNvPr>
          <p:cNvSpPr txBox="1"/>
          <p:nvPr/>
        </p:nvSpPr>
        <p:spPr>
          <a:xfrm>
            <a:off x="227183" y="693047"/>
            <a:ext cx="8677275" cy="1323439"/>
          </a:xfrm>
          <a:prstGeom prst="rect">
            <a:avLst/>
          </a:prstGeom>
          <a:noFill/>
        </p:spPr>
        <p:txBody>
          <a:bodyPr wrap="square" rtlCol="0">
            <a:spAutoFit/>
          </a:bodyPr>
          <a:lstStyle/>
          <a:p>
            <a:r>
              <a:rPr lang="en-US" sz="2000" b="1" u="sng" dirty="0">
                <a:ea typeface="ＭＳ Ｐゴシック" pitchFamily="-106" charset="-128"/>
                <a:cs typeface="ＭＳ Ｐゴシック" pitchFamily="-106" charset="-128"/>
              </a:rPr>
              <a:t>Jesus’ Summary of the Difference</a:t>
            </a:r>
            <a:endParaRPr lang="en-US" sz="2000" u="sng" dirty="0">
              <a:ea typeface="ＭＳ Ｐゴシック" pitchFamily="-106" charset="-128"/>
              <a:cs typeface="ＭＳ Ｐゴシック" pitchFamily="-106" charset="-128"/>
            </a:endParaRPr>
          </a:p>
          <a:p>
            <a:pPr lvl="1"/>
            <a:r>
              <a:rPr lang="en-US" sz="2000" b="1" dirty="0">
                <a:ea typeface="ＭＳ Ｐゴシック" pitchFamily="-106" charset="-128"/>
                <a:cs typeface="ＭＳ Ｐゴシック" pitchFamily="-106" charset="-128"/>
              </a:rPr>
              <a:t>Matthew 5:20  </a:t>
            </a:r>
            <a:r>
              <a:rPr lang="en-US" sz="2000" i="1" dirty="0">
                <a:ea typeface="ＭＳ Ｐゴシック" pitchFamily="-106" charset="-128"/>
                <a:cs typeface="ＭＳ Ｐゴシック" pitchFamily="-106" charset="-128"/>
              </a:rPr>
              <a:t>“Unless your righteousness goes beyond that of the experts in the law and the Pharisees, you will never enter the kingdom of heaven.”</a:t>
            </a:r>
          </a:p>
        </p:txBody>
      </p:sp>
      <p:sp>
        <p:nvSpPr>
          <p:cNvPr id="2" name="TextBox 1">
            <a:extLst>
              <a:ext uri="{FF2B5EF4-FFF2-40B4-BE49-F238E27FC236}">
                <a16:creationId xmlns:a16="http://schemas.microsoft.com/office/drawing/2014/main" id="{C5CCFF1D-CC77-E496-F8C1-CEADFFA2AFF1}"/>
              </a:ext>
            </a:extLst>
          </p:cNvPr>
          <p:cNvSpPr txBox="1"/>
          <p:nvPr/>
        </p:nvSpPr>
        <p:spPr>
          <a:xfrm>
            <a:off x="227182" y="1991772"/>
            <a:ext cx="8677275" cy="163121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Key points:</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“Beyond” does not mean </a:t>
            </a:r>
            <a:r>
              <a:rPr lang="en-US" sz="2000" i="1" dirty="0">
                <a:ea typeface="ＭＳ Ｐゴシック" pitchFamily="-106" charset="-128"/>
                <a:cs typeface="ＭＳ Ｐゴシック" pitchFamily="-106" charset="-128"/>
              </a:rPr>
              <a:t>more rules</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It means a </a:t>
            </a:r>
            <a:r>
              <a:rPr lang="en-US" sz="2000" i="1" dirty="0">
                <a:ea typeface="ＭＳ Ｐゴシック" pitchFamily="-106" charset="-128"/>
                <a:cs typeface="ＭＳ Ｐゴシック" pitchFamily="-106" charset="-128"/>
              </a:rPr>
              <a:t>different source</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One comes from </a:t>
            </a:r>
            <a:r>
              <a:rPr lang="en-US" sz="2000" u="sng" dirty="0">
                <a:ea typeface="ＭＳ Ｐゴシック" pitchFamily="-106" charset="-128"/>
                <a:cs typeface="ＭＳ Ｐゴシック" pitchFamily="-106" charset="-128"/>
              </a:rPr>
              <a:t>man upward</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 other comes from </a:t>
            </a:r>
            <a:r>
              <a:rPr lang="en-US" sz="2000" u="sng" dirty="0">
                <a:ea typeface="ＭＳ Ｐゴシック" pitchFamily="-106" charset="-128"/>
                <a:cs typeface="ＭＳ Ｐゴシック" pitchFamily="-106" charset="-128"/>
              </a:rPr>
              <a:t>God downward</a:t>
            </a:r>
            <a:r>
              <a:rPr lang="en-US" sz="2000"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961A97B8-C0CA-3670-D1EA-1AF4A7259D40}"/>
              </a:ext>
            </a:extLst>
          </p:cNvPr>
          <p:cNvSpPr txBox="1"/>
          <p:nvPr/>
        </p:nvSpPr>
        <p:spPr>
          <a:xfrm>
            <a:off x="227183" y="3647702"/>
            <a:ext cx="8677275" cy="2862322"/>
          </a:xfrm>
          <a:prstGeom prst="rect">
            <a:avLst/>
          </a:prstGeom>
          <a:noFill/>
        </p:spPr>
        <p:txBody>
          <a:bodyPr wrap="square" rtlCol="0">
            <a:spAutoFit/>
          </a:bodyPr>
          <a:lstStyle/>
          <a:p>
            <a:r>
              <a:rPr lang="en-US" sz="2000" b="1" dirty="0"/>
              <a:t>Pharisaic righteousness, modern church systems, and moral ideologies </a:t>
            </a:r>
            <a:r>
              <a:rPr lang="en-US" sz="2000" b="1" i="1" dirty="0"/>
              <a:t>all share the same root…</a:t>
            </a:r>
          </a:p>
          <a:p>
            <a:pPr marL="285750" indent="-285750">
              <a:buFont typeface="Arial" panose="020B0604020202020204" pitchFamily="34" charset="0"/>
              <a:buChar char="•"/>
            </a:pPr>
            <a:r>
              <a:rPr lang="en-US" sz="2000" u="sng" dirty="0"/>
              <a:t>Uncertainty without trust</a:t>
            </a:r>
            <a:r>
              <a:rPr lang="en-US" sz="2000" dirty="0"/>
              <a:t>.</a:t>
            </a:r>
          </a:p>
          <a:p>
            <a:r>
              <a:rPr lang="en-US" sz="2000" b="1" dirty="0"/>
              <a:t>So, humans…</a:t>
            </a:r>
          </a:p>
          <a:p>
            <a:pPr marL="285750" indent="-285750">
              <a:buFont typeface="Arial" panose="020B0604020202020204" pitchFamily="34" charset="0"/>
              <a:buChar char="•"/>
            </a:pPr>
            <a:r>
              <a:rPr lang="en-US" sz="2000" dirty="0"/>
              <a:t>Build systems, form contracts, enforce conformity, </a:t>
            </a:r>
            <a:r>
              <a:rPr lang="en-US" sz="2000" i="1" dirty="0"/>
              <a:t>call it righteousness</a:t>
            </a:r>
            <a:r>
              <a:rPr lang="en-US" sz="2000" dirty="0"/>
              <a:t>.</a:t>
            </a:r>
          </a:p>
          <a:p>
            <a:r>
              <a:rPr lang="en-US" sz="2000" b="1" dirty="0"/>
              <a:t>But God offers something else…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God’s righteousness is not negotiated.</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It is </a:t>
            </a:r>
            <a:r>
              <a:rPr lang="en-US" sz="2000" u="sng" dirty="0">
                <a:ea typeface="ＭＳ Ｐゴシック" pitchFamily="-106" charset="-128"/>
                <a:cs typeface="ＭＳ Ｐゴシック" pitchFamily="-106" charset="-128"/>
              </a:rPr>
              <a:t>revealed</a:t>
            </a:r>
            <a:r>
              <a:rPr lang="en-US" sz="2000" dirty="0">
                <a:ea typeface="ＭＳ Ｐゴシック" pitchFamily="-106" charset="-128"/>
                <a:cs typeface="ＭＳ Ｐゴシック" pitchFamily="-106" charset="-128"/>
              </a:rPr>
              <a:t> (Romans 1:17).</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And it is </a:t>
            </a:r>
            <a:r>
              <a:rPr lang="en-US" sz="2000" i="1" dirty="0">
                <a:ea typeface="ＭＳ Ｐゴシック" pitchFamily="-106" charset="-128"/>
                <a:cs typeface="ＭＳ Ｐゴシック" pitchFamily="-106" charset="-128"/>
              </a:rPr>
              <a:t>received by trust</a:t>
            </a:r>
            <a:r>
              <a:rPr lang="en-US" sz="2000" dirty="0">
                <a:ea typeface="ＭＳ Ｐゴシック" pitchFamily="-106" charset="-128"/>
                <a:cs typeface="ＭＳ Ｐゴシック" pitchFamily="-106" charset="-128"/>
              </a:rPr>
              <a:t>, not managed by systems.</a:t>
            </a:r>
          </a:p>
        </p:txBody>
      </p:sp>
    </p:spTree>
    <p:extLst>
      <p:ext uri="{BB962C8B-B14F-4D97-AF65-F5344CB8AC3E}">
        <p14:creationId xmlns:p14="http://schemas.microsoft.com/office/powerpoint/2010/main" val="107298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28DDE-CD4E-7C8C-8440-858EF19C00F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AAC67E6-9601-AEE3-1489-23082B10AFF9}"/>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solidFill>
                  <a:schemeClr val="tx1"/>
                </a:solidFill>
                <a:ea typeface="ＭＳ Ｐゴシック" pitchFamily="-106" charset="-128"/>
                <a:cs typeface="ＭＳ Ｐゴシック" pitchFamily="-106" charset="-128"/>
              </a:rPr>
              <a:t>Righteousness Starts With God, Not Man</a:t>
            </a:r>
            <a:br>
              <a:rPr lang="en-US" dirty="0"/>
            </a:br>
            <a:r>
              <a:rPr lang="en-US" sz="3100" dirty="0">
                <a:solidFill>
                  <a:schemeClr val="tx2">
                    <a:lumMod val="60000"/>
                    <a:lumOff val="40000"/>
                  </a:schemeClr>
                </a:solidFill>
              </a:rPr>
              <a:t>Who is the standard?</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D6D12C54-7D34-01D6-341D-7B239249B2B3}"/>
              </a:ext>
            </a:extLst>
          </p:cNvPr>
          <p:cNvSpPr txBox="1"/>
          <p:nvPr/>
        </p:nvSpPr>
        <p:spPr>
          <a:xfrm>
            <a:off x="214311" y="838200"/>
            <a:ext cx="8677275" cy="3139321"/>
          </a:xfrm>
          <a:prstGeom prst="rect">
            <a:avLst/>
          </a:prstGeom>
          <a:noFill/>
        </p:spPr>
        <p:txBody>
          <a:bodyPr wrap="square" rtlCol="0">
            <a:spAutoFit/>
          </a:bodyPr>
          <a:lstStyle/>
          <a:p>
            <a:r>
              <a:rPr lang="en-US" sz="2200" b="1" dirty="0">
                <a:ea typeface="ＭＳ Ｐゴシック" pitchFamily="-106" charset="-128"/>
                <a:cs typeface="ＭＳ Ｐゴシック" pitchFamily="-106" charset="-128"/>
              </a:rPr>
              <a:t>Psalm 11:7</a:t>
            </a:r>
            <a:r>
              <a:rPr lang="en-US" sz="2200" dirty="0">
                <a:ea typeface="ＭＳ Ｐゴシック" pitchFamily="-106" charset="-128"/>
                <a:cs typeface="ＭＳ Ｐゴシック" pitchFamily="-106" charset="-128"/>
              </a:rPr>
              <a:t>  </a:t>
            </a:r>
            <a:r>
              <a:rPr lang="en-US" sz="2200" i="1" dirty="0">
                <a:ea typeface="ＭＳ Ｐゴシック" pitchFamily="-106" charset="-128"/>
                <a:cs typeface="ＭＳ Ｐゴシック" pitchFamily="-106" charset="-128"/>
              </a:rPr>
              <a:t>Certainly, the LORD is just; he rewards godly deeds; the upright will experience his favor.</a:t>
            </a:r>
          </a:p>
          <a:p>
            <a:endParaRPr lang="en-US" sz="2200" i="1" dirty="0">
              <a:ea typeface="ＭＳ Ｐゴシック" pitchFamily="-106" charset="-128"/>
              <a:cs typeface="ＭＳ Ｐゴシック" pitchFamily="-106" charset="-128"/>
            </a:endParaRPr>
          </a:p>
          <a:p>
            <a:r>
              <a:rPr lang="en-US" sz="2200" b="1" dirty="0">
                <a:ea typeface="ＭＳ Ｐゴシック" pitchFamily="-106" charset="-128"/>
                <a:cs typeface="ＭＳ Ｐゴシック" pitchFamily="-106" charset="-128"/>
              </a:rPr>
              <a:t>Psalm 119:142  </a:t>
            </a:r>
            <a:r>
              <a:rPr lang="en-US" sz="2200" i="1" dirty="0">
                <a:ea typeface="ＭＳ Ｐゴシック" pitchFamily="-106" charset="-128"/>
                <a:cs typeface="ＭＳ Ｐゴシック" pitchFamily="-106" charset="-128"/>
              </a:rPr>
              <a:t>Your righteousness is an everlasting righteousness, And Your law is truth.</a:t>
            </a:r>
          </a:p>
          <a:p>
            <a:endParaRPr lang="en-US" sz="2200" i="1" dirty="0">
              <a:ea typeface="ＭＳ Ｐゴシック" pitchFamily="-106" charset="-128"/>
              <a:cs typeface="ＭＳ Ｐゴシック" pitchFamily="-106" charset="-128"/>
            </a:endParaRPr>
          </a:p>
          <a:p>
            <a:r>
              <a:rPr lang="en-US" sz="2200" b="1" dirty="0">
                <a:ea typeface="ＭＳ Ｐゴシック" pitchFamily="-106" charset="-128"/>
                <a:cs typeface="ＭＳ Ｐゴシック" pitchFamily="-106" charset="-128"/>
              </a:rPr>
              <a:t>Deuteronomy 32:4  </a:t>
            </a:r>
            <a:r>
              <a:rPr lang="en-US" sz="2200" i="1" dirty="0">
                <a:ea typeface="ＭＳ Ｐゴシック" pitchFamily="-106" charset="-128"/>
                <a:cs typeface="ＭＳ Ｐゴシック" pitchFamily="-106" charset="-128"/>
              </a:rPr>
              <a:t>He is the Rock, His work is perfect; For all His ways are justice, A God of truth and without injustice; Righteous and upright is He.</a:t>
            </a:r>
          </a:p>
        </p:txBody>
      </p:sp>
      <p:sp>
        <p:nvSpPr>
          <p:cNvPr id="2" name="TextBox 1">
            <a:extLst>
              <a:ext uri="{FF2B5EF4-FFF2-40B4-BE49-F238E27FC236}">
                <a16:creationId xmlns:a16="http://schemas.microsoft.com/office/drawing/2014/main" id="{D929C956-86B9-5893-5AA6-2026F654E6CD}"/>
              </a:ext>
            </a:extLst>
          </p:cNvPr>
          <p:cNvSpPr txBox="1"/>
          <p:nvPr/>
        </p:nvSpPr>
        <p:spPr>
          <a:xfrm>
            <a:off x="214311" y="3954075"/>
            <a:ext cx="8677275" cy="2800767"/>
          </a:xfrm>
          <a:prstGeom prst="rect">
            <a:avLst/>
          </a:prstGeom>
          <a:noFill/>
        </p:spPr>
        <p:txBody>
          <a:bodyPr wrap="square" rtlCol="0">
            <a:spAutoFit/>
          </a:bodyPr>
          <a:lstStyle/>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In the Bible, righteousness does not begin with human behavior.</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It begins with who God is.</a:t>
            </a:r>
          </a:p>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God does not measure Himself by a standard outside of Himself.</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He </a:t>
            </a:r>
            <a:r>
              <a:rPr lang="en-US" sz="2200" i="1" dirty="0">
                <a:ea typeface="ＭＳ Ｐゴシック" pitchFamily="-106" charset="-128"/>
                <a:cs typeface="ＭＳ Ｐゴシック" pitchFamily="-106" charset="-128"/>
              </a:rPr>
              <a:t>is</a:t>
            </a:r>
            <a:r>
              <a:rPr lang="en-US" sz="2200" dirty="0">
                <a:ea typeface="ＭＳ Ｐゴシック" pitchFamily="-106" charset="-128"/>
                <a:cs typeface="ＭＳ Ｐゴシック" pitchFamily="-106" charset="-128"/>
              </a:rPr>
              <a:t> the standard.</a:t>
            </a:r>
          </a:p>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God is righteous because His nature is righteous.</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He does what is right because He is right.</a:t>
            </a:r>
          </a:p>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Human ideas of goodness change.</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God does not change.</a:t>
            </a:r>
          </a:p>
        </p:txBody>
      </p:sp>
    </p:spTree>
    <p:extLst>
      <p:ext uri="{BB962C8B-B14F-4D97-AF65-F5344CB8AC3E}">
        <p14:creationId xmlns:p14="http://schemas.microsoft.com/office/powerpoint/2010/main" val="3130699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1000"/>
                                        <p:tgtEl>
                                          <p:spTgt spid="3">
                                            <p:txEl>
                                              <p:pRg st="4" end="4"/>
                                            </p:txEl>
                                          </p:spTgt>
                                        </p:tgtEl>
                                      </p:cBhvr>
                                    </p:animEffect>
                                    <p:anim calcmode="lin" valueType="num">
                                      <p:cBhvr>
                                        <p:cTn id="1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2"/>
                                        </p:tgtEl>
                                        <p:attrNameLst>
                                          <p:attrName>style.visibility</p:attrName>
                                        </p:attrNameLst>
                                      </p:cBhvr>
                                      <p:to>
                                        <p:strVal val="visible"/>
                                      </p:to>
                                    </p:set>
                                    <p:animEffect transition="in" filter="fade">
                                      <p:cBhvr>
                                        <p:cTn id="24" dur="1000"/>
                                        <p:tgtEl>
                                          <p:spTgt spid="2"/>
                                        </p:tgtEl>
                                      </p:cBhvr>
                                    </p:animEffect>
                                    <p:anim calcmode="lin" valueType="num">
                                      <p:cBhvr>
                                        <p:cTn id="25" dur="1000" fill="hold"/>
                                        <p:tgtEl>
                                          <p:spTgt spid="2"/>
                                        </p:tgtEl>
                                        <p:attrNameLst>
                                          <p:attrName>ppt_x</p:attrName>
                                        </p:attrNameLst>
                                      </p:cBhvr>
                                      <p:tavLst>
                                        <p:tav tm="0">
                                          <p:val>
                                            <p:strVal val="#ppt_x"/>
                                          </p:val>
                                        </p:tav>
                                        <p:tav tm="100000">
                                          <p:val>
                                            <p:strVal val="#ppt_x"/>
                                          </p:val>
                                        </p:tav>
                                      </p:tavLst>
                                    </p:anim>
                                    <p:anim calcmode="lin" valueType="num">
                                      <p:cBhvr>
                                        <p:cTn id="2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330A9-313B-782A-36D2-256F80508E1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6B492C0-8401-1BFA-E78F-DCFCCC0030DC}"/>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Coming Soon…  Lesson 5</a:t>
            </a:r>
            <a:br>
              <a:rPr lang="en-US" sz="5100" dirty="0"/>
            </a:br>
            <a:r>
              <a:rPr lang="en-US" sz="2800" dirty="0">
                <a:solidFill>
                  <a:schemeClr val="tx1"/>
                </a:solidFill>
                <a:ea typeface="ＭＳ Ｐゴシック" pitchFamily="-106" charset="-128"/>
                <a:cs typeface="ＭＳ Ｐゴシック" pitchFamily="-106" charset="-128"/>
              </a:rPr>
              <a:t>How Grace Dismantles Fear-Based Systems in the New Testament</a:t>
            </a:r>
          </a:p>
        </p:txBody>
      </p:sp>
    </p:spTree>
    <p:extLst>
      <p:ext uri="{BB962C8B-B14F-4D97-AF65-F5344CB8AC3E}">
        <p14:creationId xmlns:p14="http://schemas.microsoft.com/office/powerpoint/2010/main" val="1230734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74A7A-01FE-4AA7-DD88-CFBD61012A8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6A1A97E-4E2D-BD5A-BC10-DF4D45ECBA36}"/>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Coming Soon…  Lesson 7</a:t>
            </a:r>
            <a:br>
              <a:rPr lang="en-US" dirty="0"/>
            </a:br>
            <a:r>
              <a:rPr lang="en-US" sz="3600" dirty="0">
                <a:solidFill>
                  <a:schemeClr val="tx1"/>
                </a:solidFill>
                <a:ea typeface="ＭＳ Ｐゴシック" pitchFamily="-106" charset="-128"/>
              </a:rPr>
              <a:t>How the Early Church Resisted System-Driven Religion</a:t>
            </a:r>
          </a:p>
        </p:txBody>
      </p:sp>
    </p:spTree>
    <p:extLst>
      <p:ext uri="{BB962C8B-B14F-4D97-AF65-F5344CB8AC3E}">
        <p14:creationId xmlns:p14="http://schemas.microsoft.com/office/powerpoint/2010/main" val="7220002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5CD33-CCDE-7010-C34C-CED0C17D83D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051A9F5-21B3-7530-7685-7E6D27AB65D1}"/>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Coming Soon…  Lesson 9</a:t>
            </a:r>
            <a:br>
              <a:rPr lang="en-US" dirty="0"/>
            </a:br>
            <a:r>
              <a:rPr lang="en-US" sz="3600" dirty="0">
                <a:solidFill>
                  <a:schemeClr val="tx1"/>
                </a:solidFill>
                <a:ea typeface="ＭＳ Ｐゴシック" pitchFamily="-106" charset="-128"/>
              </a:rPr>
              <a:t>How the Early Church Resisted System-Driven Religion</a:t>
            </a:r>
          </a:p>
        </p:txBody>
      </p:sp>
    </p:spTree>
    <p:extLst>
      <p:ext uri="{BB962C8B-B14F-4D97-AF65-F5344CB8AC3E}">
        <p14:creationId xmlns:p14="http://schemas.microsoft.com/office/powerpoint/2010/main" val="5774901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16BB4-6652-9E83-7120-8C8F7C46BC9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2BA949A-865C-7FCC-7063-52A64BE0C96F}"/>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Intro</a:t>
            </a:r>
            <a:br>
              <a:rPr lang="en-US" dirty="0"/>
            </a:br>
            <a:r>
              <a:rPr lang="en-US" sz="2600" dirty="0">
                <a:solidFill>
                  <a:schemeClr val="tx2">
                    <a:lumMod val="60000"/>
                    <a:lumOff val="40000"/>
                  </a:schemeClr>
                </a:solidFill>
              </a:rPr>
              <a:t>The</a:t>
            </a:r>
          </a:p>
        </p:txBody>
      </p:sp>
      <p:sp>
        <p:nvSpPr>
          <p:cNvPr id="3" name="TextBox 2">
            <a:extLst>
              <a:ext uri="{FF2B5EF4-FFF2-40B4-BE49-F238E27FC236}">
                <a16:creationId xmlns:a16="http://schemas.microsoft.com/office/drawing/2014/main" id="{F5B35FED-1E26-5794-2F3A-F4ADBF984541}"/>
              </a:ext>
            </a:extLst>
          </p:cNvPr>
          <p:cNvSpPr txBox="1"/>
          <p:nvPr/>
        </p:nvSpPr>
        <p:spPr>
          <a:xfrm>
            <a:off x="214311" y="838200"/>
            <a:ext cx="8677275" cy="461665"/>
          </a:xfrm>
          <a:prstGeom prst="rect">
            <a:avLst/>
          </a:prstGeom>
          <a:noFill/>
        </p:spPr>
        <p:txBody>
          <a:bodyPr wrap="square" rtlCol="0">
            <a:spAutoFit/>
          </a:bodyPr>
          <a:lstStyle/>
          <a:p>
            <a:r>
              <a:rPr lang="en-US" sz="2400" dirty="0"/>
              <a:t>He</a:t>
            </a:r>
          </a:p>
        </p:txBody>
      </p:sp>
      <p:sp>
        <p:nvSpPr>
          <p:cNvPr id="2" name="TextBox 1">
            <a:extLst>
              <a:ext uri="{FF2B5EF4-FFF2-40B4-BE49-F238E27FC236}">
                <a16:creationId xmlns:a16="http://schemas.microsoft.com/office/drawing/2014/main" id="{7D9392B6-DD23-762A-A439-49D72FBE9942}"/>
              </a:ext>
            </a:extLst>
          </p:cNvPr>
          <p:cNvSpPr txBox="1"/>
          <p:nvPr/>
        </p:nvSpPr>
        <p:spPr>
          <a:xfrm>
            <a:off x="214310" y="5181600"/>
            <a:ext cx="8677275" cy="461665"/>
          </a:xfrm>
          <a:prstGeom prst="rect">
            <a:avLst/>
          </a:prstGeom>
          <a:noFill/>
        </p:spPr>
        <p:txBody>
          <a:bodyPr wrap="square" rtlCol="0">
            <a:spAutoFit/>
          </a:bodyPr>
          <a:lstStyle/>
          <a:p>
            <a:r>
              <a:rPr lang="en-US" sz="2400" dirty="0">
                <a:ea typeface="ＭＳ Ｐゴシック" pitchFamily="-106" charset="-128"/>
                <a:cs typeface="ＭＳ Ｐゴシック" pitchFamily="-106" charset="-128"/>
              </a:rPr>
              <a:t>This</a:t>
            </a:r>
            <a:endParaRPr lang="en-US"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3615575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P spid="2" grpId="0"/>
    </p:bld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42761</TotalTime>
  <Words>4296</Words>
  <Application>Microsoft Office PowerPoint</Application>
  <PresentationFormat>On-screen Show (4:3)</PresentationFormat>
  <Paragraphs>833</Paragraphs>
  <Slides>13</Slides>
  <Notes>13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13</vt:i4>
      </vt:variant>
    </vt:vector>
  </HeadingPairs>
  <TitlesOfParts>
    <vt:vector size="20" baseType="lpstr">
      <vt:lpstr>ＭＳ Ｐゴシック</vt:lpstr>
      <vt:lpstr>Arial</vt:lpstr>
      <vt:lpstr>Arial Narrow</vt:lpstr>
      <vt:lpstr>Calibri</vt:lpstr>
      <vt:lpstr>Wingdings</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1452</cp:revision>
  <cp:lastPrinted>2025-12-28T01:41:35Z</cp:lastPrinted>
  <dcterms:created xsi:type="dcterms:W3CDTF">2010-06-16T02:58:04Z</dcterms:created>
  <dcterms:modified xsi:type="dcterms:W3CDTF">2026-01-16T20:46:31Z</dcterms:modified>
</cp:coreProperties>
</file>