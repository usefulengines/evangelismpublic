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5"/>
  </p:notesMasterIdLst>
  <p:sldIdLst>
    <p:sldId id="615" r:id="rId3"/>
    <p:sldId id="614" r:id="rId4"/>
    <p:sldId id="616" r:id="rId5"/>
    <p:sldId id="609" r:id="rId6"/>
    <p:sldId id="612" r:id="rId7"/>
    <p:sldId id="613" r:id="rId8"/>
    <p:sldId id="617" r:id="rId9"/>
    <p:sldId id="618" r:id="rId10"/>
    <p:sldId id="591" r:id="rId11"/>
    <p:sldId id="611" r:id="rId12"/>
    <p:sldId id="619" r:id="rId13"/>
    <p:sldId id="620" r:id="rId14"/>
  </p:sldIdLst>
  <p:sldSz cx="9144000" cy="6858000" type="screen4x3"/>
  <p:notesSz cx="7099300" cy="93853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2" autoAdjust="0"/>
    <p:restoredTop sz="56533" autoAdjust="0"/>
  </p:normalViewPr>
  <p:slideViewPr>
    <p:cSldViewPr>
      <p:cViewPr varScale="1">
        <p:scale>
          <a:sx n="87" d="100"/>
          <a:sy n="87" d="100"/>
        </p:scale>
        <p:origin x="2322" y="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4"/>
            <a:ext cx="3076364" cy="469265"/>
          </a:xfrm>
          <a:prstGeom prst="rect">
            <a:avLst/>
          </a:prstGeom>
        </p:spPr>
        <p:txBody>
          <a:bodyPr vert="horz" wrap="square" lIns="94107" tIns="47054" rIns="94107" bIns="47054"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6" y="4"/>
            <a:ext cx="3076364" cy="469265"/>
          </a:xfrm>
          <a:prstGeom prst="rect">
            <a:avLst/>
          </a:prstGeom>
        </p:spPr>
        <p:txBody>
          <a:bodyPr vert="horz" wrap="square" lIns="94107" tIns="47054" rIns="94107" bIns="47054"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1/17/2026</a:t>
            </a:fld>
            <a:endParaRPr lang="en-US"/>
          </a:p>
        </p:txBody>
      </p:sp>
      <p:sp>
        <p:nvSpPr>
          <p:cNvPr id="4" name="Slide Image Placeholder 3"/>
          <p:cNvSpPr>
            <a:spLocks noGrp="1" noRot="1" noChangeAspect="1"/>
          </p:cNvSpPr>
          <p:nvPr>
            <p:ph type="sldImg" idx="2"/>
          </p:nvPr>
        </p:nvSpPr>
        <p:spPr>
          <a:xfrm>
            <a:off x="1203325" y="704850"/>
            <a:ext cx="4692650" cy="3519488"/>
          </a:xfrm>
          <a:prstGeom prst="rect">
            <a:avLst/>
          </a:prstGeom>
          <a:noFill/>
          <a:ln w="12700">
            <a:solidFill>
              <a:prstClr val="black"/>
            </a:solidFill>
          </a:ln>
        </p:spPr>
        <p:txBody>
          <a:bodyPr vert="horz" wrap="square" lIns="94107" tIns="47054" rIns="94107" bIns="47054"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4458018"/>
            <a:ext cx="5679440" cy="4223385"/>
          </a:xfrm>
          <a:prstGeom prst="rect">
            <a:avLst/>
          </a:prstGeom>
        </p:spPr>
        <p:txBody>
          <a:bodyPr vert="horz" wrap="square" lIns="94107" tIns="47054" rIns="94107" bIns="47054"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5" y="8914406"/>
            <a:ext cx="3076364" cy="469265"/>
          </a:xfrm>
          <a:prstGeom prst="rect">
            <a:avLst/>
          </a:prstGeom>
        </p:spPr>
        <p:txBody>
          <a:bodyPr vert="horz" wrap="square" lIns="94107" tIns="47054" rIns="94107" bIns="47054"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6" y="8914406"/>
            <a:ext cx="3076364" cy="469265"/>
          </a:xfrm>
          <a:prstGeom prst="rect">
            <a:avLst/>
          </a:prstGeom>
        </p:spPr>
        <p:txBody>
          <a:bodyPr vert="horz" wrap="square" lIns="94107" tIns="47054" rIns="94107" bIns="47054"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8CBE0-8759-6627-93F4-AA84641D1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EF4D04-E101-2EEF-C76A-8EB4C9331EE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1D401B5-AFBE-D1A7-D71C-3C31F203A1DD}"/>
              </a:ext>
            </a:extLst>
          </p:cNvPr>
          <p:cNvSpPr>
            <a:spLocks noGrp="1"/>
          </p:cNvSpPr>
          <p:nvPr>
            <p:ph type="body" idx="1"/>
          </p:nvPr>
        </p:nvSpPr>
        <p:spPr/>
        <p:txBody>
          <a:bodyPr>
            <a:normAutofit fontScale="62500" lnSpcReduction="20000"/>
          </a:bodyPr>
          <a:lstStyle/>
          <a:p>
            <a:r>
              <a:rPr lang="en-US" sz="1400" b="1" dirty="0"/>
              <a:t>Expanded Discussion Questions</a:t>
            </a:r>
            <a:endParaRPr lang="en-US" sz="1400" dirty="0"/>
          </a:p>
          <a:p>
            <a:pPr lvl="1" rtl="0" fontAlgn="ctr"/>
            <a:r>
              <a:rPr lang="en-US" sz="1400" b="1" dirty="0">
                <a:cs typeface="ＭＳ Ｐゴシック" pitchFamily="-106" charset="-128"/>
              </a:rPr>
              <a:t>Why is it dangerous to define righteousness by culture or personal experience?   (“Man” becomes the measure of all things.)</a:t>
            </a:r>
          </a:p>
          <a:p>
            <a:pPr lvl="1" rtl="0" fontAlgn="ctr"/>
            <a:r>
              <a:rPr lang="en-US" sz="1400" b="1" dirty="0">
                <a:cs typeface="ＭＳ Ｐゴシック" pitchFamily="-106" charset="-128"/>
              </a:rPr>
              <a:t>Why does God’s righteousness expose both our sin and our hope?  (God is thus recognized as the measure of all things.)</a:t>
            </a:r>
            <a:endParaRPr lang="en-US" sz="1400" dirty="0">
              <a:cs typeface="ＭＳ Ｐゴシック" pitchFamily="-106" charset="-128"/>
            </a:endParaRPr>
          </a:p>
          <a:p>
            <a:r>
              <a:rPr lang="en-US" sz="1400" dirty="0"/>
              <a:t>  </a:t>
            </a:r>
          </a:p>
          <a:p>
            <a:r>
              <a:rPr lang="en-US" sz="1400" b="1" dirty="0"/>
              <a:t>Why This Matters for the Whole Study</a:t>
            </a:r>
            <a:endParaRPr lang="en-US" sz="1400" dirty="0"/>
          </a:p>
          <a:p>
            <a:pPr marL="167061" indent="-167061">
              <a:buFont typeface="Arial" panose="020B0604020202020204" pitchFamily="34" charset="0"/>
              <a:buChar char="•"/>
            </a:pPr>
            <a:r>
              <a:rPr lang="en-US" sz="1400" dirty="0"/>
              <a:t>If we misunderstand righteousness at the start, everything else breaks.</a:t>
            </a:r>
          </a:p>
          <a:p>
            <a:pPr marL="167061" indent="-167061" fontAlgn="ctr">
              <a:buFont typeface="Arial" panose="020B0604020202020204" pitchFamily="34" charset="0"/>
              <a:buChar char="•"/>
            </a:pPr>
            <a:r>
              <a:rPr lang="en-US" sz="1400" u="sng" dirty="0"/>
              <a:t>If righteousness starts with man, we end in pride or despair.</a:t>
            </a:r>
          </a:p>
          <a:p>
            <a:pPr marL="167061" indent="-167061" fontAlgn="ctr">
              <a:buFont typeface="Arial" panose="020B0604020202020204" pitchFamily="34" charset="0"/>
              <a:buChar char="•"/>
            </a:pPr>
            <a:r>
              <a:rPr lang="en-US" sz="1400" u="sng" dirty="0"/>
              <a:t>If righteousness starts with God, we end in humility and trust.</a:t>
            </a:r>
          </a:p>
          <a:p>
            <a:r>
              <a:rPr lang="en-US" sz="1400" dirty="0"/>
              <a:t>This sets up the entire contrast of the study:</a:t>
            </a:r>
          </a:p>
          <a:p>
            <a:pPr marL="167061" indent="-167061" fontAlgn="ctr">
              <a:buFont typeface="Arial" panose="020B0604020202020204" pitchFamily="34" charset="0"/>
              <a:buChar char="•"/>
            </a:pPr>
            <a:r>
              <a:rPr lang="en-US" sz="1400" b="1" dirty="0"/>
              <a:t>The righteousness of man</a:t>
            </a:r>
            <a:r>
              <a:rPr lang="en-US" sz="1400" dirty="0"/>
              <a:t> is self-made and unstable.</a:t>
            </a:r>
          </a:p>
          <a:p>
            <a:pPr marL="167061" indent="-167061" fontAlgn="ctr">
              <a:buFont typeface="Arial" panose="020B0604020202020204" pitchFamily="34" charset="0"/>
              <a:buChar char="•"/>
            </a:pPr>
            <a:r>
              <a:rPr lang="en-US" sz="1400" b="1" dirty="0"/>
              <a:t>The righteousness of God</a:t>
            </a:r>
            <a:r>
              <a:rPr lang="en-US" sz="1400" dirty="0"/>
              <a:t> is </a:t>
            </a:r>
            <a:r>
              <a:rPr lang="en-US" sz="1400" u="sng" dirty="0"/>
              <a:t>revealed</a:t>
            </a:r>
            <a:r>
              <a:rPr lang="en-US" sz="1400" dirty="0"/>
              <a:t>, </a:t>
            </a:r>
            <a:r>
              <a:rPr lang="en-US" sz="1400" u="sng" dirty="0"/>
              <a:t>given</a:t>
            </a:r>
            <a:r>
              <a:rPr lang="en-US" sz="1400" dirty="0"/>
              <a:t>, and </a:t>
            </a:r>
            <a:r>
              <a:rPr lang="en-US" sz="1400" u="sng" dirty="0"/>
              <a:t>life-giving</a:t>
            </a:r>
            <a:r>
              <a:rPr lang="en-US" sz="1400" dirty="0"/>
              <a:t>.</a:t>
            </a:r>
          </a:p>
          <a:p>
            <a:endParaRPr lang="en-US" sz="1400" dirty="0"/>
          </a:p>
          <a:p>
            <a:pPr defTabSz="890991"/>
            <a:r>
              <a:rPr lang="en-US" sz="1400" b="1" dirty="0"/>
              <a:t>Rom 3:9-26  </a:t>
            </a:r>
            <a:r>
              <a:rPr lang="en-US" sz="1400" dirty="0"/>
              <a:t>What then? Are we better </a:t>
            </a:r>
            <a:r>
              <a:rPr lang="en-US" sz="1400" i="1" dirty="0"/>
              <a:t>than they?</a:t>
            </a:r>
            <a:r>
              <a:rPr lang="en-US" sz="1400" dirty="0"/>
              <a:t> Not at all. For we have previously charged both Jews and Greeks that they are all under sin.  (10)  </a:t>
            </a:r>
            <a:r>
              <a:rPr lang="en-US" sz="1400" u="sng" dirty="0"/>
              <a:t>As it is written: "THERE IS NONE RIGHTEOUS, NO, NOT ONE;  </a:t>
            </a:r>
            <a:r>
              <a:rPr lang="en-US" sz="1400" dirty="0"/>
              <a:t>(11)  THERE IS NONE WHO UNDERSTANDS; THERE IS NONE WHO SEEKS AFTER GOD.  (12)  THEY HAVE ALL TURNED ASIDE; THEY HAVE TOGETHER BECOME UNPROFITABLE; THERE IS NONE WHO DOES GOOD, NO, NOT ONE."  (13)  "THEIR THROAT IS AN OPEN TOMB; WITH THEIR TONGUES THEY HAVE PRACTICED DECEIT"; "THE POISON OF ASPS IS UNDER THEIR LIPS";  (14)  "WHOSE MOUTH IS FULL OF CURSING AND BITTERNESS."  (15)  "THEIR FEET ARE SWIFT TO SHED BLOOD;  (16)  DESTRUCTION AND MISERY ARE IN THEIR WAYS;  (17)  AND THE WAY OF PEACE THEY HAVE NOT KNOWN."  (18</a:t>
            </a:r>
            <a:r>
              <a:rPr lang="en-US" sz="1400" u="sng" dirty="0"/>
              <a:t>)  "THERE IS NO FEAR OF GOD BEFORE THEIR EYES."</a:t>
            </a:r>
            <a:r>
              <a:rPr lang="en-US" sz="1400" dirty="0"/>
              <a:t>  (19)  Now we know that whatever the law says, it says to those who are under the law, that every mouth may be stopped, and all the world may become guilty before God.  (20)  Therefore by the deeds of the law no flesh will be justified in His sight, for by the law </a:t>
            </a:r>
            <a:r>
              <a:rPr lang="en-US" sz="1400" i="1" dirty="0"/>
              <a:t>is</a:t>
            </a:r>
            <a:r>
              <a:rPr lang="en-US" sz="1400" dirty="0"/>
              <a:t> the knowledge of sin.  (21)  </a:t>
            </a:r>
            <a:r>
              <a:rPr lang="en-US" sz="1400" u="sng" dirty="0"/>
              <a:t>But now the righteousness of God apart from the law is revealed,</a:t>
            </a:r>
            <a:r>
              <a:rPr lang="en-US" sz="1400" dirty="0"/>
              <a:t> being witnessed by the Law and the Prophets,  (22)  even the righteousness of God, through faith in Jesus Christ, to all and on all who believe. For there is no difference;  (23</a:t>
            </a:r>
            <a:r>
              <a:rPr lang="en-US" sz="1400" u="sng" dirty="0"/>
              <a:t>)  for all have sinned and fall short of the glory of God,  </a:t>
            </a:r>
            <a:r>
              <a:rPr lang="en-US" sz="1400" dirty="0"/>
              <a:t>(24)  being justified freely by His grace through the redemption that is in Christ Jesus,  (25)  whom God set forth </a:t>
            </a:r>
            <a:r>
              <a:rPr lang="en-US" sz="1400" i="1" dirty="0"/>
              <a:t>as</a:t>
            </a:r>
            <a:r>
              <a:rPr lang="en-US" sz="1400" dirty="0"/>
              <a:t> a propitiation by His blood, through faith, to demonstrate His righteousness, because in His forbearance God had passed over the sins that were previously committed,  (26)  to demonstrate at the present time His righteousness, that He might be just and the justifier of the one who has faith in Jesus.</a:t>
            </a:r>
          </a:p>
          <a:p>
            <a:endParaRPr lang="en-US" dirty="0"/>
          </a:p>
        </p:txBody>
      </p:sp>
      <p:sp>
        <p:nvSpPr>
          <p:cNvPr id="4" name="Slide Number Placeholder 3">
            <a:extLst>
              <a:ext uri="{FF2B5EF4-FFF2-40B4-BE49-F238E27FC236}">
                <a16:creationId xmlns:a16="http://schemas.microsoft.com/office/drawing/2014/main" id="{5590D934-881A-33E6-E051-ECDEEA6B301F}"/>
              </a:ext>
            </a:extLst>
          </p:cNvPr>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3016189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57A05-370D-EC95-DD33-A248F87A02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B87578-A03E-57BD-2F68-2AC24A54471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53E21E9-3B03-9C3A-A23A-8A71293D0A3D}"/>
              </a:ext>
            </a:extLst>
          </p:cNvPr>
          <p:cNvSpPr>
            <a:spLocks noGrp="1"/>
          </p:cNvSpPr>
          <p:nvPr>
            <p:ph type="body" idx="1"/>
          </p:nvPr>
        </p:nvSpPr>
        <p:spPr/>
        <p:txBody>
          <a:bodyPr>
            <a:normAutofit fontScale="62500" lnSpcReduction="20000"/>
          </a:bodyPr>
          <a:lstStyle/>
          <a:p>
            <a:r>
              <a:rPr lang="en-US" sz="1600" b="1" dirty="0"/>
              <a:t>Ecce Homo  </a:t>
            </a:r>
            <a:r>
              <a:rPr lang="en-US" sz="1600" dirty="0"/>
              <a:t>(“Behold the Man”) by </a:t>
            </a:r>
            <a:r>
              <a:rPr lang="en-US" sz="1600" b="1" dirty="0"/>
              <a:t>Antonio </a:t>
            </a:r>
            <a:r>
              <a:rPr lang="en-US" sz="1600" b="1" dirty="0" err="1"/>
              <a:t>Ciseri</a:t>
            </a:r>
            <a:r>
              <a:rPr lang="en-US" sz="1600" b="1" dirty="0"/>
              <a:t>, 1871</a:t>
            </a:r>
            <a:r>
              <a:rPr lang="en-US" sz="1600" dirty="0"/>
              <a:t> </a:t>
            </a:r>
          </a:p>
          <a:p>
            <a:pPr lvl="1"/>
            <a:r>
              <a:rPr lang="en-US" sz="1600" dirty="0">
                <a:cs typeface="ＭＳ Ｐゴシック" pitchFamily="-106" charset="-128"/>
              </a:rPr>
              <a:t>The title comes from </a:t>
            </a:r>
            <a:r>
              <a:rPr lang="en-US" sz="1600" b="1" dirty="0">
                <a:cs typeface="ＭＳ Ｐゴシック" pitchFamily="-106" charset="-128"/>
              </a:rPr>
              <a:t>John 19:5</a:t>
            </a:r>
            <a:r>
              <a:rPr lang="en-US" sz="1600" dirty="0">
                <a:cs typeface="ＭＳ Ｐゴシック" pitchFamily="-106" charset="-128"/>
              </a:rPr>
              <a:t>:  </a:t>
            </a:r>
            <a:r>
              <a:rPr lang="en-US" sz="1600" i="1" dirty="0">
                <a:cs typeface="ＭＳ Ｐゴシック" pitchFamily="-106" charset="-128"/>
              </a:rPr>
              <a:t>“So Jesus came out, wearing the crown of thorns and the purple robe. Pilate said to them,</a:t>
            </a:r>
            <a:r>
              <a:rPr lang="en-US" sz="1600" b="1" i="1" dirty="0">
                <a:cs typeface="ＭＳ Ｐゴシック" pitchFamily="-106" charset="-128"/>
              </a:rPr>
              <a:t> ‘Look, here is the man!’</a:t>
            </a:r>
            <a:r>
              <a:rPr lang="en-US" sz="1600" i="1" dirty="0">
                <a:cs typeface="ＭＳ Ｐゴシック" pitchFamily="-106" charset="-128"/>
              </a:rPr>
              <a:t>”</a:t>
            </a:r>
          </a:p>
          <a:p>
            <a:pPr marL="445496" lvl="1" defTabSz="890991"/>
            <a:endParaRPr lang="en-US" sz="1600" b="1" dirty="0">
              <a:cs typeface="ＭＳ Ｐゴシック" pitchFamily="-106" charset="-128"/>
            </a:endParaRPr>
          </a:p>
          <a:p>
            <a:pPr marL="445496" lvl="1" defTabSz="890991"/>
            <a:r>
              <a:rPr lang="en-US" sz="1600" b="1" dirty="0">
                <a:cs typeface="ＭＳ Ｐゴシック" pitchFamily="-106" charset="-128"/>
              </a:rPr>
              <a:t>John 19:4–6 : </a:t>
            </a:r>
            <a:r>
              <a:rPr lang="en-US" sz="1600" i="1" dirty="0">
                <a:cs typeface="ＭＳ Ｐゴシック" pitchFamily="-106" charset="-128"/>
              </a:rPr>
              <a:t>“Then Pilate went outside again and said to them, ‘Look, I am bringing him out to you, so that you may know that I find no reason for an accusation against him.’  So Jesus came out… When the chief priests and their officers saw him, they shouted out, ‘Crucify! Crucify!’”</a:t>
            </a:r>
          </a:p>
          <a:p>
            <a:pPr marL="445496" lvl="1" defTabSz="890991"/>
            <a:endParaRPr lang="en-US" sz="1600" i="1" dirty="0">
              <a:cs typeface="ＭＳ Ｐゴシック" pitchFamily="-106" charset="-128"/>
            </a:endParaRPr>
          </a:p>
          <a:p>
            <a:pPr marL="445496" lvl="1" defTabSz="890991"/>
            <a:r>
              <a:rPr lang="en-US" sz="1600" dirty="0">
                <a:cs typeface="ＭＳ Ｐゴシック" pitchFamily="-106" charset="-128"/>
              </a:rPr>
              <a:t>This reflects </a:t>
            </a:r>
            <a:r>
              <a:rPr lang="en-US" sz="1600" b="1" dirty="0">
                <a:cs typeface="ＭＳ Ｐゴシック" pitchFamily="-106" charset="-128"/>
              </a:rPr>
              <a:t>Isaiah 53:7</a:t>
            </a:r>
            <a:r>
              <a:rPr lang="en-US" sz="1600" dirty="0">
                <a:cs typeface="ＭＳ Ｐゴシック" pitchFamily="-106" charset="-128"/>
              </a:rPr>
              <a:t>:  </a:t>
            </a:r>
            <a:r>
              <a:rPr lang="en-US" sz="1600" b="1" i="1" dirty="0">
                <a:cs typeface="ＭＳ Ｐゴシック" pitchFamily="-106" charset="-128"/>
              </a:rPr>
              <a:t>“He was oppressed and afflicted, yet he did not open his mouth.”</a:t>
            </a:r>
            <a:r>
              <a:rPr lang="en-US" sz="1600" dirty="0">
                <a:cs typeface="ＭＳ Ｐゴシック" pitchFamily="-106" charset="-128"/>
              </a:rPr>
              <a:t> </a:t>
            </a:r>
            <a:endParaRPr lang="en-US" sz="1600" i="1" dirty="0">
              <a:cs typeface="ＭＳ Ｐゴシック" pitchFamily="-106" charset="-128"/>
            </a:endParaRPr>
          </a:p>
          <a:p>
            <a:pPr lvl="1"/>
            <a:endParaRPr lang="en-US" sz="1600" b="1" dirty="0">
              <a:cs typeface="ＭＳ Ｐゴシック" pitchFamily="-106" charset="-128"/>
            </a:endParaRPr>
          </a:p>
          <a:p>
            <a:r>
              <a:rPr lang="en-US" sz="1600" b="1" dirty="0"/>
              <a:t>Connection to this Study Theme</a:t>
            </a:r>
            <a:endParaRPr lang="en-US" sz="1600" dirty="0"/>
          </a:p>
          <a:p>
            <a:pPr lvl="1"/>
            <a:r>
              <a:rPr lang="en-US" sz="1600" dirty="0">
                <a:cs typeface="ＭＳ Ｐゴシック" pitchFamily="-106" charset="-128"/>
              </a:rPr>
              <a:t>This image visually captures:</a:t>
            </a:r>
          </a:p>
          <a:p>
            <a:pPr lvl="2" rtl="0" fontAlgn="ctr"/>
            <a:r>
              <a:rPr lang="en-US" sz="1600" b="1" dirty="0">
                <a:cs typeface="ＭＳ Ｐゴシック" pitchFamily="-106" charset="-128"/>
              </a:rPr>
              <a:t>the righteousness of God</a:t>
            </a:r>
            <a:r>
              <a:rPr lang="en-US" sz="1600" dirty="0">
                <a:cs typeface="ＭＳ Ｐゴシック" pitchFamily="-106" charset="-128"/>
              </a:rPr>
              <a:t> standing silent</a:t>
            </a:r>
          </a:p>
          <a:p>
            <a:pPr lvl="2" rtl="0" fontAlgn="ctr"/>
            <a:r>
              <a:rPr lang="en-US" sz="1600" b="1" dirty="0">
                <a:cs typeface="ＭＳ Ｐゴシック" pitchFamily="-106" charset="-128"/>
              </a:rPr>
              <a:t>the righteousness of man</a:t>
            </a:r>
            <a:r>
              <a:rPr lang="en-US" sz="1600" dirty="0">
                <a:cs typeface="ＭＳ Ｐゴシック" pitchFamily="-106" charset="-128"/>
              </a:rPr>
              <a:t> expressed through law, crowd pressure, and political calculation</a:t>
            </a:r>
          </a:p>
          <a:p>
            <a:pPr lvl="1"/>
            <a:r>
              <a:rPr lang="en-US" sz="1600" dirty="0">
                <a:cs typeface="ＭＳ Ｐゴシック" pitchFamily="-106" charset="-128"/>
              </a:rPr>
              <a:t> </a:t>
            </a:r>
          </a:p>
          <a:p>
            <a:pPr lvl="1"/>
            <a:r>
              <a:rPr lang="en-US" sz="1600" b="1" dirty="0">
                <a:cs typeface="ＭＳ Ｐゴシック" pitchFamily="-106" charset="-128"/>
              </a:rPr>
              <a:t>Pilate represents </a:t>
            </a:r>
            <a:r>
              <a:rPr lang="en-US" sz="1600" b="1" u="sng" dirty="0">
                <a:cs typeface="ＭＳ Ｐゴシック" pitchFamily="-106" charset="-128"/>
              </a:rPr>
              <a:t>system-driven order</a:t>
            </a:r>
            <a:r>
              <a:rPr lang="en-US" sz="1600" b="1" dirty="0">
                <a:cs typeface="ＭＳ Ｐゴシック" pitchFamily="-106" charset="-128"/>
              </a:rPr>
              <a:t>.</a:t>
            </a:r>
          </a:p>
          <a:p>
            <a:pPr lvl="1"/>
            <a:r>
              <a:rPr lang="en-US" sz="1600" b="1" dirty="0">
                <a:cs typeface="ＭＳ Ｐゴシック" pitchFamily="-106" charset="-128"/>
              </a:rPr>
              <a:t>The crowd represents </a:t>
            </a:r>
            <a:r>
              <a:rPr lang="en-US" sz="1600" b="1" u="sng" dirty="0">
                <a:cs typeface="ＭＳ Ｐゴシック" pitchFamily="-106" charset="-128"/>
              </a:rPr>
              <a:t>fear-driven morality</a:t>
            </a:r>
            <a:r>
              <a:rPr lang="en-US" sz="1600" b="1" dirty="0">
                <a:cs typeface="ＭＳ Ｐゴシック" pitchFamily="-106" charset="-128"/>
              </a:rPr>
              <a:t>.</a:t>
            </a:r>
          </a:p>
          <a:p>
            <a:pPr lvl="1"/>
            <a:r>
              <a:rPr lang="en-US" sz="1600" b="1" dirty="0">
                <a:cs typeface="ＭＳ Ｐゴシック" pitchFamily="-106" charset="-128"/>
              </a:rPr>
              <a:t>Jesus represents </a:t>
            </a:r>
            <a:r>
              <a:rPr lang="en-US" sz="1600" b="1" u="sng" dirty="0">
                <a:cs typeface="ＭＳ Ｐゴシック" pitchFamily="-106" charset="-128"/>
              </a:rPr>
              <a:t>God’s righteousness without control</a:t>
            </a:r>
            <a:r>
              <a:rPr lang="en-US" sz="1600" b="1" dirty="0">
                <a:cs typeface="ＭＳ Ｐゴシック" pitchFamily="-106" charset="-128"/>
              </a:rPr>
              <a:t>.</a:t>
            </a:r>
          </a:p>
          <a:p>
            <a:pPr lvl="1"/>
            <a:r>
              <a:rPr lang="en-US" sz="1600" dirty="0">
                <a:cs typeface="ＭＳ Ｐゴシック" pitchFamily="-106" charset="-128"/>
              </a:rPr>
              <a:t> </a:t>
            </a:r>
          </a:p>
          <a:p>
            <a:pPr lvl="1"/>
            <a:r>
              <a:rPr lang="en-US" sz="1600" b="1" dirty="0">
                <a:cs typeface="ＭＳ Ｐゴシック" pitchFamily="-106" charset="-128"/>
              </a:rPr>
              <a:t>John 18:36</a:t>
            </a:r>
            <a:r>
              <a:rPr lang="en-US" sz="1600" dirty="0">
                <a:cs typeface="ＭＳ Ｐゴシック" pitchFamily="-106" charset="-128"/>
              </a:rPr>
              <a:t> : </a:t>
            </a:r>
            <a:r>
              <a:rPr lang="en-US" sz="1600" b="1" i="1" dirty="0">
                <a:cs typeface="ＭＳ Ｐゴシック" pitchFamily="-106" charset="-128"/>
              </a:rPr>
              <a:t>“My kingdom is not from this world.”</a:t>
            </a:r>
          </a:p>
          <a:p>
            <a:pPr lvl="1"/>
            <a:r>
              <a:rPr lang="en-US" sz="1600" dirty="0">
                <a:cs typeface="ＭＳ Ｐゴシック" pitchFamily="-106" charset="-128"/>
              </a:rPr>
              <a:t> </a:t>
            </a:r>
          </a:p>
          <a:p>
            <a:pPr lvl="1"/>
            <a:r>
              <a:rPr lang="en-US" sz="1600" dirty="0">
                <a:cs typeface="ＭＳ Ｐゴシック" pitchFamily="-106" charset="-128"/>
              </a:rPr>
              <a:t>That contrast is the heart of the painting.</a:t>
            </a:r>
            <a:endParaRPr lang="en-US" sz="1600" b="1" dirty="0">
              <a:cs typeface="ＭＳ Ｐゴシック" pitchFamily="-106" charset="-128"/>
            </a:endParaRPr>
          </a:p>
          <a:p>
            <a:pPr lvl="1"/>
            <a:r>
              <a:rPr lang="en-US" sz="1400" dirty="0">
                <a:cs typeface="ＭＳ Ｐゴシック" pitchFamily="-106" charset="-128"/>
              </a:rPr>
              <a:t>  </a:t>
            </a:r>
          </a:p>
          <a:p>
            <a:pPr lvl="1"/>
            <a:endParaRPr lang="en-US" dirty="0"/>
          </a:p>
          <a:p>
            <a:endParaRPr lang="en-US" dirty="0"/>
          </a:p>
        </p:txBody>
      </p:sp>
      <p:sp>
        <p:nvSpPr>
          <p:cNvPr id="4" name="Slide Number Placeholder 3">
            <a:extLst>
              <a:ext uri="{FF2B5EF4-FFF2-40B4-BE49-F238E27FC236}">
                <a16:creationId xmlns:a16="http://schemas.microsoft.com/office/drawing/2014/main" id="{1BFF7C20-D80F-C94F-31CD-FEC00B74240A}"/>
              </a:ext>
            </a:extLst>
          </p:cNvPr>
          <p:cNvSpPr>
            <a:spLocks noGrp="1"/>
          </p:cNvSpPr>
          <p:nvPr>
            <p:ph type="sldNum" sz="quarter" idx="10"/>
          </p:nvPr>
        </p:nvSpPr>
        <p:spPr/>
        <p:txBody>
          <a:bodyPr/>
          <a:lstStyle/>
          <a:p>
            <a:pPr>
              <a:defRPr/>
            </a:pPr>
            <a:fld id="{07776858-791E-4C8D-8FA3-473B3AFECFAC}" type="slidenum">
              <a:rPr lang="en-US" smtClean="0"/>
              <a:pPr>
                <a:defRPr/>
              </a:pPr>
              <a:t>2</a:t>
            </a:fld>
            <a:endParaRPr lang="en-US" dirty="0"/>
          </a:p>
        </p:txBody>
      </p:sp>
    </p:spTree>
    <p:extLst>
      <p:ext uri="{BB962C8B-B14F-4D97-AF65-F5344CB8AC3E}">
        <p14:creationId xmlns:p14="http://schemas.microsoft.com/office/powerpoint/2010/main" val="3628616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D5D05-C3E6-CF8D-D198-87518BB5A3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796C6A-7163-9AF7-7BED-84AD3E0707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EADB0B6-6B93-4C01-DCA8-AC2F4611B314}"/>
              </a:ext>
            </a:extLst>
          </p:cNvPr>
          <p:cNvSpPr>
            <a:spLocks noGrp="1"/>
          </p:cNvSpPr>
          <p:nvPr>
            <p:ph type="body" idx="1"/>
          </p:nvPr>
        </p:nvSpPr>
        <p:spPr/>
        <p:txBody>
          <a:bodyPr>
            <a:normAutofit/>
          </a:bodyPr>
          <a:lstStyle/>
          <a:p>
            <a:r>
              <a:rPr lang="en-US" sz="1400" b="1" dirty="0"/>
              <a:t>The Root Issue Is Trust, Not Knowledge</a:t>
            </a:r>
            <a:endParaRPr lang="en-US" sz="1400" dirty="0"/>
          </a:p>
          <a:p>
            <a:pPr lvl="1"/>
            <a:r>
              <a:rPr lang="en-US" sz="1400" u="sng" dirty="0">
                <a:cs typeface="ＭＳ Ｐゴシック" pitchFamily="-106" charset="-128"/>
              </a:rPr>
              <a:t>Human righteousness is not created because people lack information.</a:t>
            </a:r>
          </a:p>
          <a:p>
            <a:pPr lvl="1"/>
            <a:r>
              <a:rPr lang="en-US" sz="1400" u="sng" dirty="0">
                <a:cs typeface="ＭＳ Ｐゴシック" pitchFamily="-106" charset="-128"/>
              </a:rPr>
              <a:t>It is created because people fear dependence.</a:t>
            </a:r>
          </a:p>
          <a:p>
            <a:pPr lvl="1"/>
            <a:r>
              <a:rPr lang="en-US" sz="1400" dirty="0">
                <a:cs typeface="ＭＳ Ｐゴシック" pitchFamily="-106" charset="-128"/>
              </a:rPr>
              <a:t> </a:t>
            </a:r>
          </a:p>
          <a:p>
            <a:pPr lvl="1"/>
            <a:r>
              <a:rPr lang="en-US" sz="1400" u="sng" dirty="0">
                <a:cs typeface="ＭＳ Ｐゴシック" pitchFamily="-106" charset="-128"/>
              </a:rPr>
              <a:t>Trust feels risky.</a:t>
            </a:r>
          </a:p>
          <a:p>
            <a:pPr lvl="1"/>
            <a:r>
              <a:rPr lang="en-US" sz="1400" u="sng" dirty="0">
                <a:cs typeface="ＭＳ Ｐゴシック" pitchFamily="-106" charset="-128"/>
              </a:rPr>
              <a:t>Systems feel secure</a:t>
            </a:r>
            <a:r>
              <a:rPr lang="en-US" sz="1400" dirty="0">
                <a:cs typeface="ＭＳ Ｐゴシック" pitchFamily="-106" charset="-128"/>
              </a:rPr>
              <a:t>.</a:t>
            </a:r>
          </a:p>
          <a:p>
            <a:pPr lvl="1"/>
            <a:r>
              <a:rPr lang="en-US" sz="1400" dirty="0">
                <a:cs typeface="ＭＳ Ｐゴシック" pitchFamily="-106" charset="-128"/>
              </a:rPr>
              <a:t> </a:t>
            </a:r>
          </a:p>
          <a:p>
            <a:pPr lvl="1"/>
            <a:r>
              <a:rPr lang="en-US" sz="1400" u="sng" dirty="0">
                <a:cs typeface="ＭＳ Ｐゴシック" pitchFamily="-106" charset="-128"/>
              </a:rPr>
              <a:t>But only trust leads to life.</a:t>
            </a:r>
          </a:p>
          <a:p>
            <a:endParaRPr lang="en-US" sz="1400" dirty="0"/>
          </a:p>
          <a:p>
            <a:r>
              <a:rPr lang="en-US" sz="1400" b="1" u="sng" dirty="0"/>
              <a:t>When certainty replaces trust, Christ becomes unnecessary.</a:t>
            </a:r>
          </a:p>
          <a:p>
            <a:endParaRPr lang="en-US" sz="1400" dirty="0"/>
          </a:p>
          <a:p>
            <a:endParaRPr lang="en-US" dirty="0"/>
          </a:p>
        </p:txBody>
      </p:sp>
      <p:sp>
        <p:nvSpPr>
          <p:cNvPr id="4" name="Slide Number Placeholder 3">
            <a:extLst>
              <a:ext uri="{FF2B5EF4-FFF2-40B4-BE49-F238E27FC236}">
                <a16:creationId xmlns:a16="http://schemas.microsoft.com/office/drawing/2014/main" id="{5AE6D3BB-D550-878D-CAAF-A4C443728468}"/>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dirty="0"/>
          </a:p>
        </p:txBody>
      </p:sp>
    </p:spTree>
    <p:extLst>
      <p:ext uri="{BB962C8B-B14F-4D97-AF65-F5344CB8AC3E}">
        <p14:creationId xmlns:p14="http://schemas.microsoft.com/office/powerpoint/2010/main" val="165423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36359-B1CE-CCED-AEFD-E625506BE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C9985-C34E-B2B2-72D6-C7F15C987C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67EB9EE-015F-B3B2-B054-9F315281B6D4}"/>
              </a:ext>
            </a:extLst>
          </p:cNvPr>
          <p:cNvSpPr>
            <a:spLocks noGrp="1"/>
          </p:cNvSpPr>
          <p:nvPr>
            <p:ph type="body" idx="1"/>
          </p:nvPr>
        </p:nvSpPr>
        <p:spPr/>
        <p:txBody>
          <a:bodyPr>
            <a:normAutofit/>
          </a:bodyPr>
          <a:lstStyle/>
          <a:p>
            <a:r>
              <a:rPr lang="en-US" sz="1400" b="1" dirty="0"/>
              <a:t>Pharisaic Righteousness: Managing Uncertainty With Religious Systems</a:t>
            </a:r>
            <a:endParaRPr lang="en-US" sz="1400" dirty="0"/>
          </a:p>
          <a:p>
            <a:r>
              <a:rPr lang="en-US" sz="1400" dirty="0"/>
              <a:t>  </a:t>
            </a:r>
          </a:p>
          <a:p>
            <a:r>
              <a:rPr lang="en-US" sz="1400" b="1" dirty="0"/>
              <a:t>In Contrast, </a:t>
            </a:r>
            <a:r>
              <a:rPr lang="en-US" sz="1400" b="1" u="sng" dirty="0"/>
              <a:t>God’s Righteousness is His Character</a:t>
            </a:r>
            <a:endParaRPr lang="en-US" sz="1400" u="sng" dirty="0"/>
          </a:p>
          <a:p>
            <a:r>
              <a:rPr lang="en-US" sz="1400" dirty="0"/>
              <a:t> </a:t>
            </a:r>
          </a:p>
          <a:p>
            <a:r>
              <a:rPr lang="en-US" sz="1400" dirty="0"/>
              <a:t>God is righteous because that is who He is. </a:t>
            </a:r>
            <a:r>
              <a:rPr lang="en-US" sz="1400" u="sng" dirty="0"/>
              <a:t>He defines righteousness</a:t>
            </a:r>
            <a:r>
              <a:rPr lang="en-US" sz="1400" dirty="0"/>
              <a:t>.</a:t>
            </a:r>
          </a:p>
          <a:p>
            <a:r>
              <a:rPr lang="en-US" sz="1400" dirty="0"/>
              <a:t> </a:t>
            </a:r>
          </a:p>
          <a:p>
            <a:pPr lvl="1" rtl="0" fontAlgn="ctr"/>
            <a:r>
              <a:rPr lang="en-US" sz="1400" b="1" i="1" dirty="0">
                <a:cs typeface="ＭＳ Ｐゴシック" pitchFamily="-106" charset="-128"/>
              </a:rPr>
              <a:t>“The Lord is upright; he is my rock, and there is no dishonesty in him.”</a:t>
            </a:r>
            <a:r>
              <a:rPr lang="en-US" sz="1400" b="1" dirty="0">
                <a:cs typeface="ＭＳ Ｐゴシック" pitchFamily="-106" charset="-128"/>
              </a:rPr>
              <a:t> (Ps 92:15 NET)</a:t>
            </a:r>
          </a:p>
          <a:p>
            <a:pPr lvl="1" rtl="0" fontAlgn="ctr"/>
            <a:r>
              <a:rPr lang="en-US" sz="1400" b="1" i="1" dirty="0">
                <a:cs typeface="ＭＳ Ｐゴシック" pitchFamily="-106" charset="-128"/>
              </a:rPr>
              <a:t>“Your righteousness is like the highest mountains.”</a:t>
            </a:r>
            <a:r>
              <a:rPr lang="en-US" sz="1400" b="1" dirty="0">
                <a:cs typeface="ＭＳ Ｐゴシック" pitchFamily="-106" charset="-128"/>
              </a:rPr>
              <a:t> (Ps 36:6 NET)</a:t>
            </a:r>
          </a:p>
          <a:p>
            <a:r>
              <a:rPr lang="en-US" sz="1400" dirty="0"/>
              <a:t> </a:t>
            </a:r>
          </a:p>
          <a:p>
            <a:r>
              <a:rPr lang="en-US" sz="1400" dirty="0"/>
              <a:t>God is always consistent with His holiness, justice, and goodness.</a:t>
            </a:r>
          </a:p>
          <a:p>
            <a:r>
              <a:rPr lang="en-US" sz="1400" dirty="0"/>
              <a:t>He never acts unfairly. He never lies. He never bends the standard.</a:t>
            </a:r>
          </a:p>
          <a:p>
            <a:r>
              <a:rPr lang="en-US" sz="1400" dirty="0"/>
              <a:t> </a:t>
            </a:r>
          </a:p>
          <a:p>
            <a:endParaRPr lang="en-US" dirty="0"/>
          </a:p>
        </p:txBody>
      </p:sp>
      <p:sp>
        <p:nvSpPr>
          <p:cNvPr id="4" name="Slide Number Placeholder 3">
            <a:extLst>
              <a:ext uri="{FF2B5EF4-FFF2-40B4-BE49-F238E27FC236}">
                <a16:creationId xmlns:a16="http://schemas.microsoft.com/office/drawing/2014/main" id="{6DF6C88C-9B76-A323-2D9C-A6A011DF0D93}"/>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dirty="0"/>
          </a:p>
        </p:txBody>
      </p:sp>
    </p:spTree>
    <p:extLst>
      <p:ext uri="{BB962C8B-B14F-4D97-AF65-F5344CB8AC3E}">
        <p14:creationId xmlns:p14="http://schemas.microsoft.com/office/powerpoint/2010/main" val="1241311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91910-DD26-DF05-1B89-DFFF40C76B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A4A91-6998-2296-6D9B-0C9B68D083D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055DC8A-8624-731E-FFA7-842EA7840F7E}"/>
              </a:ext>
            </a:extLst>
          </p:cNvPr>
          <p:cNvSpPr>
            <a:spLocks noGrp="1"/>
          </p:cNvSpPr>
          <p:nvPr>
            <p:ph type="body" idx="1"/>
          </p:nvPr>
        </p:nvSpPr>
        <p:spPr/>
        <p:txBody>
          <a:bodyPr>
            <a:normAutofit fontScale="92500" lnSpcReduction="10000"/>
          </a:bodyPr>
          <a:lstStyle/>
          <a:p>
            <a:r>
              <a:rPr lang="en-US" sz="1400" b="1" dirty="0"/>
              <a:t>Modern Church Culture: New Systems, Same Instinct</a:t>
            </a:r>
            <a:endParaRPr lang="en-US" sz="1400" dirty="0"/>
          </a:p>
          <a:p>
            <a:r>
              <a:rPr lang="en-US" sz="1400" dirty="0"/>
              <a:t> </a:t>
            </a:r>
          </a:p>
          <a:p>
            <a:pPr lvl="1"/>
            <a:r>
              <a:rPr lang="en-US" sz="1400" dirty="0">
                <a:cs typeface="ＭＳ Ｐゴシック" pitchFamily="-106" charset="-128"/>
              </a:rPr>
              <a:t>The forms change.</a:t>
            </a:r>
          </a:p>
          <a:p>
            <a:pPr lvl="1"/>
            <a:r>
              <a:rPr lang="en-US" sz="1400" dirty="0">
                <a:cs typeface="ＭＳ Ｐゴシック" pitchFamily="-106" charset="-128"/>
              </a:rPr>
              <a:t>The instinct stays the same.</a:t>
            </a:r>
          </a:p>
          <a:p>
            <a:pPr lvl="1"/>
            <a:r>
              <a:rPr lang="en-US" sz="1400" dirty="0">
                <a:cs typeface="ＭＳ Ｐゴシック" pitchFamily="-106" charset="-128"/>
              </a:rPr>
              <a:t> </a:t>
            </a:r>
          </a:p>
          <a:p>
            <a:pPr lvl="1"/>
            <a:r>
              <a:rPr lang="en-US" sz="1400" u="sng" dirty="0">
                <a:cs typeface="ＭＳ Ｐゴシック" pitchFamily="-106" charset="-128"/>
              </a:rPr>
              <a:t>Modern churches often rebuild Pharisaic righteousness without realizing it.</a:t>
            </a:r>
          </a:p>
          <a:p>
            <a:r>
              <a:rPr lang="en-US" sz="1400" dirty="0"/>
              <a:t> </a:t>
            </a:r>
          </a:p>
          <a:p>
            <a:r>
              <a:rPr lang="en-US" sz="1400" b="1" dirty="0"/>
              <a:t>In Contrast, God’s Righteousness Is His Faithful Action</a:t>
            </a:r>
            <a:endParaRPr lang="en-US" sz="1400" dirty="0"/>
          </a:p>
          <a:p>
            <a:r>
              <a:rPr lang="en-US" sz="1400" dirty="0"/>
              <a:t> </a:t>
            </a:r>
          </a:p>
          <a:p>
            <a:pPr lvl="1"/>
            <a:r>
              <a:rPr lang="en-US" sz="1400" dirty="0">
                <a:cs typeface="ＭＳ Ｐゴシック" pitchFamily="-106" charset="-128"/>
              </a:rPr>
              <a:t>God’s righteousness is not only a moral quality. It is also His </a:t>
            </a:r>
            <a:r>
              <a:rPr lang="en-US" sz="1400" b="1" dirty="0">
                <a:cs typeface="ＭＳ Ｐゴシック" pitchFamily="-106" charset="-128"/>
              </a:rPr>
              <a:t>actions</a:t>
            </a:r>
            <a:r>
              <a:rPr lang="en-US" sz="1400" dirty="0">
                <a:cs typeface="ＭＳ Ｐゴシック" pitchFamily="-106" charset="-128"/>
              </a:rPr>
              <a:t> that uphold His covenant promises.</a:t>
            </a:r>
          </a:p>
          <a:p>
            <a:pPr lvl="1"/>
            <a:r>
              <a:rPr lang="en-US" sz="1400" dirty="0">
                <a:cs typeface="ＭＳ Ｐゴシック" pitchFamily="-106" charset="-128"/>
              </a:rPr>
              <a:t> </a:t>
            </a:r>
          </a:p>
          <a:p>
            <a:pPr lvl="1" rtl="0" fontAlgn="ctr"/>
            <a:r>
              <a:rPr lang="en-US" sz="1400" b="1" i="1" dirty="0">
                <a:cs typeface="ＭＳ Ｐゴシック" pitchFamily="-106" charset="-128"/>
              </a:rPr>
              <a:t>“I am the Lord who demonstrates loyal love and justice and righteousness on the earth.”</a:t>
            </a:r>
            <a:r>
              <a:rPr lang="en-US" sz="1400" b="1" dirty="0">
                <a:cs typeface="ＭＳ Ｐゴシック" pitchFamily="-106" charset="-128"/>
              </a:rPr>
              <a:t> (Jer 9:24 NET)</a:t>
            </a:r>
          </a:p>
          <a:p>
            <a:pPr lvl="1"/>
            <a:r>
              <a:rPr lang="en-US" sz="1400" dirty="0">
                <a:cs typeface="ＭＳ Ｐゴシック" pitchFamily="-106" charset="-128"/>
              </a:rPr>
              <a:t> </a:t>
            </a:r>
          </a:p>
          <a:p>
            <a:pPr lvl="1"/>
            <a:r>
              <a:rPr lang="en-US" sz="1400" dirty="0">
                <a:cs typeface="ＭＳ Ｐゴシック" pitchFamily="-106" charset="-128"/>
              </a:rPr>
              <a:t>Early Christians saw this as God keeping His promises to Israel and to the world through Christ.</a:t>
            </a:r>
          </a:p>
          <a:p>
            <a:endParaRPr lang="en-US" dirty="0"/>
          </a:p>
        </p:txBody>
      </p:sp>
      <p:sp>
        <p:nvSpPr>
          <p:cNvPr id="4" name="Slide Number Placeholder 3">
            <a:extLst>
              <a:ext uri="{FF2B5EF4-FFF2-40B4-BE49-F238E27FC236}">
                <a16:creationId xmlns:a16="http://schemas.microsoft.com/office/drawing/2014/main" id="{2D091517-C2E3-748B-436F-1AAFD8EEDED5}"/>
              </a:ext>
            </a:extLst>
          </p:cNvPr>
          <p:cNvSpPr>
            <a:spLocks noGrp="1"/>
          </p:cNvSpPr>
          <p:nvPr>
            <p:ph type="sldNum" sz="quarter" idx="10"/>
          </p:nvPr>
        </p:nvSpPr>
        <p:spPr/>
        <p:txBody>
          <a:bodyPr/>
          <a:lstStyle/>
          <a:p>
            <a:pPr>
              <a:defRPr/>
            </a:pPr>
            <a:fld id="{07776858-791E-4C8D-8FA3-473B3AFECFAC}" type="slidenum">
              <a:rPr lang="en-US" smtClean="0"/>
              <a:pPr>
                <a:defRPr/>
              </a:pPr>
              <a:t>5</a:t>
            </a:fld>
            <a:endParaRPr lang="en-US" dirty="0"/>
          </a:p>
        </p:txBody>
      </p:sp>
    </p:spTree>
    <p:extLst>
      <p:ext uri="{BB962C8B-B14F-4D97-AF65-F5344CB8AC3E}">
        <p14:creationId xmlns:p14="http://schemas.microsoft.com/office/powerpoint/2010/main" val="2212877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590BF-8A11-AEC6-4F7A-96CD367F23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FB780F-703E-3A9D-79ED-FA6EE7CCAED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48646D0-C27D-D020-1FB9-294C6FAF2D8D}"/>
              </a:ext>
            </a:extLst>
          </p:cNvPr>
          <p:cNvSpPr>
            <a:spLocks noGrp="1"/>
          </p:cNvSpPr>
          <p:nvPr>
            <p:ph type="body" idx="1"/>
          </p:nvPr>
        </p:nvSpPr>
        <p:spPr/>
        <p:txBody>
          <a:bodyPr>
            <a:normAutofit lnSpcReduction="10000"/>
          </a:bodyPr>
          <a:lstStyle/>
          <a:p>
            <a:r>
              <a:rPr lang="en-US" sz="1400" b="1" u="sng" dirty="0"/>
              <a:t>Faith-Based Obedience </a:t>
            </a:r>
            <a:r>
              <a:rPr lang="en-US" sz="1400" b="1" dirty="0"/>
              <a:t>vs System-Based Morality (Scriptural Contrast)</a:t>
            </a:r>
            <a:endParaRPr lang="en-US" sz="1400" dirty="0"/>
          </a:p>
          <a:p>
            <a:r>
              <a:rPr lang="en-US" sz="1400" dirty="0"/>
              <a:t> </a:t>
            </a:r>
          </a:p>
          <a:p>
            <a:r>
              <a:rPr lang="en-US" sz="1400" dirty="0"/>
              <a:t> </a:t>
            </a:r>
            <a:r>
              <a:rPr lang="en-US" sz="1400" b="1" dirty="0"/>
              <a:t>God’s Righteousness Revealed Through Jesus</a:t>
            </a:r>
            <a:endParaRPr lang="en-US" sz="1400" dirty="0"/>
          </a:p>
          <a:p>
            <a:r>
              <a:rPr lang="en-US" sz="1400" dirty="0"/>
              <a:t> </a:t>
            </a:r>
          </a:p>
          <a:p>
            <a:pPr lvl="1"/>
            <a:r>
              <a:rPr lang="en-US" sz="1400" dirty="0">
                <a:cs typeface="ＭＳ Ｐゴシック" pitchFamily="-106" charset="-128"/>
              </a:rPr>
              <a:t>Paul teaches that God’s righteousness is revealed in the gospel.</a:t>
            </a:r>
          </a:p>
          <a:p>
            <a:pPr lvl="1"/>
            <a:r>
              <a:rPr lang="en-US" sz="1400" dirty="0">
                <a:cs typeface="ＭＳ Ｐゴシック" pitchFamily="-106" charset="-128"/>
              </a:rPr>
              <a:t> </a:t>
            </a:r>
          </a:p>
          <a:p>
            <a:pPr lvl="1" rtl="0" fontAlgn="ctr"/>
            <a:r>
              <a:rPr lang="en-US" sz="1400" b="1" i="1" dirty="0">
                <a:cs typeface="ＭＳ Ｐゴシック" pitchFamily="-106" charset="-128"/>
              </a:rPr>
              <a:t>“For the righteousness of God is revealed in the gospel from faith to faith.”</a:t>
            </a:r>
            <a:r>
              <a:rPr lang="en-US" sz="1400" b="1" dirty="0">
                <a:cs typeface="ＭＳ Ｐゴシック" pitchFamily="-106" charset="-128"/>
              </a:rPr>
              <a:t> (Rom 1:17 NET)</a:t>
            </a:r>
          </a:p>
          <a:p>
            <a:r>
              <a:rPr lang="en-US" sz="1400" dirty="0"/>
              <a:t> </a:t>
            </a:r>
          </a:p>
          <a:p>
            <a:r>
              <a:rPr lang="en-US" sz="1400" dirty="0"/>
              <a:t>And it is given through Christ.</a:t>
            </a:r>
          </a:p>
          <a:p>
            <a:r>
              <a:rPr lang="en-US" sz="1400" dirty="0"/>
              <a:t> </a:t>
            </a:r>
          </a:p>
          <a:p>
            <a:pPr lvl="1" rtl="0" fontAlgn="ctr"/>
            <a:r>
              <a:rPr lang="en-US" sz="1400" b="1" i="1" u="sng" dirty="0">
                <a:cs typeface="ＭＳ Ｐゴシック" pitchFamily="-106" charset="-128"/>
              </a:rPr>
              <a:t>“Christ is the end of the law, with the result that there is righteousness for everyone who believes.”</a:t>
            </a:r>
            <a:r>
              <a:rPr lang="en-US" sz="1400" b="1" u="sng" dirty="0">
                <a:cs typeface="ＭＳ Ｐゴシック" pitchFamily="-106" charset="-128"/>
              </a:rPr>
              <a:t> </a:t>
            </a:r>
            <a:r>
              <a:rPr lang="en-US" sz="1400" b="1" dirty="0">
                <a:cs typeface="ＭＳ Ｐゴシック" pitchFamily="-106" charset="-128"/>
              </a:rPr>
              <a:t>(Rom 10:4 NET)</a:t>
            </a:r>
          </a:p>
          <a:p>
            <a:pPr lvl="1"/>
            <a:r>
              <a:rPr lang="en-US" sz="1400" dirty="0">
                <a:cs typeface="ＭＳ Ｐゴシック" pitchFamily="-106" charset="-128"/>
              </a:rPr>
              <a:t> </a:t>
            </a:r>
          </a:p>
          <a:p>
            <a:pPr lvl="1"/>
            <a:r>
              <a:rPr lang="en-US" sz="1400" dirty="0">
                <a:cs typeface="ＭＳ Ｐゴシック" pitchFamily="-106" charset="-128"/>
              </a:rPr>
              <a:t>So, the righteousness of God is not only </a:t>
            </a:r>
            <a:r>
              <a:rPr lang="en-US" sz="1400" b="1" dirty="0">
                <a:cs typeface="ＭＳ Ｐゴシック" pitchFamily="-106" charset="-128"/>
              </a:rPr>
              <a:t>what God is</a:t>
            </a:r>
            <a:r>
              <a:rPr lang="en-US" sz="1400" dirty="0">
                <a:cs typeface="ＭＳ Ｐゴシック" pitchFamily="-106" charset="-128"/>
              </a:rPr>
              <a:t> but also </a:t>
            </a:r>
            <a:r>
              <a:rPr lang="en-US" sz="1400" b="1" dirty="0">
                <a:cs typeface="ＭＳ Ｐゴシック" pitchFamily="-106" charset="-128"/>
              </a:rPr>
              <a:t>what God gives</a:t>
            </a:r>
            <a:r>
              <a:rPr lang="en-US" sz="1400" dirty="0">
                <a:cs typeface="ＭＳ Ｐゴシック" pitchFamily="-106" charset="-128"/>
              </a:rPr>
              <a:t>.</a:t>
            </a:r>
          </a:p>
          <a:p>
            <a:pPr lvl="1"/>
            <a:r>
              <a:rPr lang="en-US" sz="1400" dirty="0">
                <a:cs typeface="ＭＳ Ｐゴシック" pitchFamily="-106" charset="-128"/>
              </a:rPr>
              <a:t> </a:t>
            </a:r>
          </a:p>
          <a:p>
            <a:endParaRPr lang="en-US" dirty="0"/>
          </a:p>
        </p:txBody>
      </p:sp>
      <p:sp>
        <p:nvSpPr>
          <p:cNvPr id="4" name="Slide Number Placeholder 3">
            <a:extLst>
              <a:ext uri="{FF2B5EF4-FFF2-40B4-BE49-F238E27FC236}">
                <a16:creationId xmlns:a16="http://schemas.microsoft.com/office/drawing/2014/main" id="{7249A549-4D2B-BFB5-0106-89732A989F72}"/>
              </a:ext>
            </a:extLst>
          </p:cNvPr>
          <p:cNvSpPr>
            <a:spLocks noGrp="1"/>
          </p:cNvSpPr>
          <p:nvPr>
            <p:ph type="sldNum" sz="quarter" idx="10"/>
          </p:nvPr>
        </p:nvSpPr>
        <p:spPr/>
        <p:txBody>
          <a:bodyPr/>
          <a:lstStyle/>
          <a:p>
            <a:pPr>
              <a:defRPr/>
            </a:pPr>
            <a:fld id="{07776858-791E-4C8D-8FA3-473B3AFECFAC}" type="slidenum">
              <a:rPr lang="en-US" smtClean="0"/>
              <a:pPr>
                <a:defRPr/>
              </a:pPr>
              <a:t>6</a:t>
            </a:fld>
            <a:endParaRPr lang="en-US" dirty="0"/>
          </a:p>
        </p:txBody>
      </p:sp>
    </p:spTree>
    <p:extLst>
      <p:ext uri="{BB962C8B-B14F-4D97-AF65-F5344CB8AC3E}">
        <p14:creationId xmlns:p14="http://schemas.microsoft.com/office/powerpoint/2010/main" val="755006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166DF-9B56-63C5-272F-ADB38E72B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D2D46-991B-6F2C-B302-21DC19AC23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C3A15C6-CA27-B450-4485-4E989D24871D}"/>
              </a:ext>
            </a:extLst>
          </p:cNvPr>
          <p:cNvSpPr>
            <a:spLocks noGrp="1"/>
          </p:cNvSpPr>
          <p:nvPr>
            <p:ph type="body" idx="1"/>
          </p:nvPr>
        </p:nvSpPr>
        <p:spPr/>
        <p:txBody>
          <a:bodyPr>
            <a:normAutofit fontScale="85000" lnSpcReduction="10000"/>
          </a:bodyPr>
          <a:lstStyle/>
          <a:p>
            <a:r>
              <a:rPr lang="en-US" sz="1400" b="1" dirty="0"/>
              <a:t>Faith-Based Obedience vs </a:t>
            </a:r>
            <a:r>
              <a:rPr lang="en-US" sz="1400" b="1" u="sng" dirty="0"/>
              <a:t>System-Based Morality </a:t>
            </a:r>
            <a:r>
              <a:rPr lang="en-US" sz="1400" b="1" dirty="0"/>
              <a:t>(Scriptural Contrast)</a:t>
            </a:r>
          </a:p>
          <a:p>
            <a:endParaRPr lang="en-US" sz="1400" b="1" dirty="0"/>
          </a:p>
          <a:p>
            <a:pPr defTabSz="890991"/>
            <a:r>
              <a:rPr lang="en-US" b="1" dirty="0"/>
              <a:t>Col 2:20-23  </a:t>
            </a:r>
            <a:r>
              <a:rPr lang="en-US" dirty="0"/>
              <a:t>Therefore, if you died with Christ from the basic principles of the world, why, as </a:t>
            </a:r>
            <a:r>
              <a:rPr lang="en-US" i="1" dirty="0"/>
              <a:t>though</a:t>
            </a:r>
            <a:r>
              <a:rPr lang="en-US" dirty="0"/>
              <a:t> living in the world, do you subject yourselves to regulations—  (21)  "Do not touch, do not taste, do not handle,"  (22)  which all concern things which perish with the using—according to the commandments and doctrines of men?  (23)  These things indeed have an appearance of wisdom in self-imposed religion, </a:t>
            </a:r>
            <a:r>
              <a:rPr lang="en-US" i="1" dirty="0"/>
              <a:t>false</a:t>
            </a:r>
            <a:r>
              <a:rPr lang="en-US" dirty="0"/>
              <a:t> humility, and neglect of the body, </a:t>
            </a:r>
            <a:r>
              <a:rPr lang="en-US" i="1" dirty="0"/>
              <a:t>but are</a:t>
            </a:r>
            <a:r>
              <a:rPr lang="en-US" dirty="0"/>
              <a:t> of no value against the indulgence of the flesh.</a:t>
            </a:r>
          </a:p>
          <a:p>
            <a:endParaRPr lang="en-US" sz="1400" dirty="0"/>
          </a:p>
          <a:p>
            <a:r>
              <a:rPr lang="en-US" sz="1400" b="1" dirty="0"/>
              <a:t>God’s Righteousness Is a Gift, Not a Wage</a:t>
            </a:r>
            <a:endParaRPr lang="en-US" sz="1400" dirty="0"/>
          </a:p>
          <a:p>
            <a:r>
              <a:rPr lang="en-US" sz="1400" dirty="0"/>
              <a:t> </a:t>
            </a:r>
          </a:p>
          <a:p>
            <a:pPr lvl="1"/>
            <a:r>
              <a:rPr lang="en-US" sz="1400" dirty="0">
                <a:cs typeface="ＭＳ Ｐゴシック" pitchFamily="-106" charset="-128"/>
              </a:rPr>
              <a:t>Paul stresses this repeatedly.</a:t>
            </a:r>
          </a:p>
          <a:p>
            <a:pPr lvl="1"/>
            <a:r>
              <a:rPr lang="en-US" sz="1400" dirty="0">
                <a:cs typeface="ＭＳ Ｐゴシック" pitchFamily="-106" charset="-128"/>
              </a:rPr>
              <a:t> </a:t>
            </a:r>
          </a:p>
          <a:p>
            <a:pPr lvl="1" rtl="0" fontAlgn="ctr"/>
            <a:r>
              <a:rPr lang="en-US" sz="1400" b="1" i="1" dirty="0">
                <a:cs typeface="ＭＳ Ｐゴシック" pitchFamily="-106" charset="-128"/>
              </a:rPr>
              <a:t>“A righteousness from God has been revealed… the righteousness of God through the faithfulness of Jesus Christ.”</a:t>
            </a:r>
            <a:r>
              <a:rPr lang="en-US" sz="1400" b="1" dirty="0">
                <a:cs typeface="ＭＳ Ｐゴシック" pitchFamily="-106" charset="-128"/>
              </a:rPr>
              <a:t> (Rom 3:21-22 NET)</a:t>
            </a:r>
          </a:p>
          <a:p>
            <a:pPr lvl="1" rtl="0" fontAlgn="ctr"/>
            <a:endParaRPr lang="en-US" sz="1400" b="1" i="1" dirty="0">
              <a:cs typeface="ＭＳ Ｐゴシック" pitchFamily="-106" charset="-128"/>
            </a:endParaRPr>
          </a:p>
          <a:p>
            <a:pPr lvl="1" rtl="0" fontAlgn="ctr"/>
            <a:r>
              <a:rPr lang="en-US" sz="1400" b="1" i="1" dirty="0">
                <a:cs typeface="ＭＳ Ｐゴシック" pitchFamily="-106" charset="-128"/>
              </a:rPr>
              <a:t>“This righteousness is not from the law.”</a:t>
            </a:r>
            <a:r>
              <a:rPr lang="en-US" sz="1400" b="1" dirty="0">
                <a:cs typeface="ＭＳ Ｐゴシック" pitchFamily="-106" charset="-128"/>
              </a:rPr>
              <a:t> (Phil 3:9 NET)</a:t>
            </a:r>
          </a:p>
          <a:p>
            <a:r>
              <a:rPr lang="en-US" sz="1400" dirty="0"/>
              <a:t> </a:t>
            </a:r>
          </a:p>
          <a:p>
            <a:r>
              <a:rPr lang="en-US" sz="1400" dirty="0"/>
              <a:t>Early Christians saw salvation as God making sinners righteous through Christ’s sacrifice, not through human effort.</a:t>
            </a:r>
          </a:p>
          <a:p>
            <a:r>
              <a:rPr lang="en-US" sz="1400" dirty="0"/>
              <a:t>  </a:t>
            </a:r>
          </a:p>
          <a:p>
            <a:r>
              <a:rPr lang="en-US" sz="1400" dirty="0"/>
              <a:t> </a:t>
            </a:r>
          </a:p>
        </p:txBody>
      </p:sp>
      <p:sp>
        <p:nvSpPr>
          <p:cNvPr id="4" name="Slide Number Placeholder 3">
            <a:extLst>
              <a:ext uri="{FF2B5EF4-FFF2-40B4-BE49-F238E27FC236}">
                <a16:creationId xmlns:a16="http://schemas.microsoft.com/office/drawing/2014/main" id="{A24EFEF3-F5E8-C746-929F-F7C5B8B2A9CF}"/>
              </a:ext>
            </a:extLst>
          </p:cNvPr>
          <p:cNvSpPr>
            <a:spLocks noGrp="1"/>
          </p:cNvSpPr>
          <p:nvPr>
            <p:ph type="sldNum" sz="quarter" idx="10"/>
          </p:nvPr>
        </p:nvSpPr>
        <p:spPr/>
        <p:txBody>
          <a:bodyPr/>
          <a:lstStyle/>
          <a:p>
            <a:pPr>
              <a:defRPr/>
            </a:pPr>
            <a:fld id="{07776858-791E-4C8D-8FA3-473B3AFECFAC}" type="slidenum">
              <a:rPr lang="en-US" smtClean="0"/>
              <a:pPr>
                <a:defRPr/>
              </a:pPr>
              <a:t>7</a:t>
            </a:fld>
            <a:endParaRPr lang="en-US" dirty="0"/>
          </a:p>
        </p:txBody>
      </p:sp>
    </p:spTree>
    <p:extLst>
      <p:ext uri="{BB962C8B-B14F-4D97-AF65-F5344CB8AC3E}">
        <p14:creationId xmlns:p14="http://schemas.microsoft.com/office/powerpoint/2010/main" val="33269284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1E9A3-6DAA-FEB9-1931-91AEE09A38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E77A25-71D5-C06C-C6B7-EB4413A853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CF596E9-DFE4-BB1F-58C2-A72D2DE019FD}"/>
              </a:ext>
            </a:extLst>
          </p:cNvPr>
          <p:cNvSpPr>
            <a:spLocks noGrp="1"/>
          </p:cNvSpPr>
          <p:nvPr>
            <p:ph type="body" idx="1"/>
          </p:nvPr>
        </p:nvSpPr>
        <p:spPr/>
        <p:txBody>
          <a:bodyPr>
            <a:normAutofit fontScale="40000" lnSpcReduction="20000"/>
          </a:bodyPr>
          <a:lstStyle/>
          <a:p>
            <a:r>
              <a:rPr lang="en-US" sz="1600" b="1" dirty="0"/>
              <a:t>Faith-Based Obedience vs System-Based Morality (Scriptural Contrast)</a:t>
            </a:r>
            <a:endParaRPr lang="en-US" sz="1600" dirty="0"/>
          </a:p>
          <a:p>
            <a:r>
              <a:rPr lang="en-US" sz="1600" dirty="0"/>
              <a:t> </a:t>
            </a:r>
          </a:p>
          <a:p>
            <a:pPr lvl="1"/>
            <a:r>
              <a:rPr lang="en-US" sz="1600" b="1" dirty="0">
                <a:cs typeface="ＭＳ Ｐゴシック" pitchFamily="-106" charset="-128"/>
              </a:rPr>
              <a:t>Jesus’ Summary of the Difference</a:t>
            </a:r>
          </a:p>
          <a:p>
            <a:pPr lvl="1"/>
            <a:r>
              <a:rPr lang="en-US" sz="1600" b="1" dirty="0">
                <a:cs typeface="ＭＳ Ｐゴシック" pitchFamily="-106" charset="-128"/>
              </a:rPr>
              <a:t>Romans 1:17  </a:t>
            </a:r>
            <a:r>
              <a:rPr lang="en-US" sz="1600" b="1" i="1" dirty="0">
                <a:cs typeface="ＭＳ Ｐゴシック" pitchFamily="-106" charset="-128"/>
              </a:rPr>
              <a:t>“</a:t>
            </a:r>
            <a:r>
              <a:rPr lang="en-US" sz="1600" b="1" i="1" u="sng" dirty="0">
                <a:cs typeface="ＭＳ Ｐゴシック" pitchFamily="-106" charset="-128"/>
              </a:rPr>
              <a:t>The righteousness of God is revealed in the gospel from faith to faith</a:t>
            </a:r>
            <a:r>
              <a:rPr lang="en-US" sz="1600" b="1" i="1" dirty="0">
                <a:cs typeface="ＭＳ Ｐゴシック" pitchFamily="-106" charset="-128"/>
              </a:rPr>
              <a:t>.”</a:t>
            </a:r>
          </a:p>
          <a:p>
            <a:pPr lvl="1"/>
            <a:endParaRPr lang="en-US" sz="1600" b="1" i="1" dirty="0">
              <a:cs typeface="ＭＳ Ｐゴシック" pitchFamily="-106" charset="-128"/>
            </a:endParaRPr>
          </a:p>
          <a:p>
            <a:r>
              <a:rPr lang="en-US" sz="1600" b="1" dirty="0"/>
              <a:t>Human Righteousness Is Limited and Flawed</a:t>
            </a:r>
            <a:endParaRPr lang="en-US" sz="1600" dirty="0"/>
          </a:p>
          <a:p>
            <a:r>
              <a:rPr lang="en-US" sz="1600" dirty="0"/>
              <a:t> </a:t>
            </a:r>
          </a:p>
          <a:p>
            <a:pPr lvl="1"/>
            <a:r>
              <a:rPr lang="en-US" sz="1600" dirty="0">
                <a:cs typeface="ＭＳ Ｐゴシック" pitchFamily="-106" charset="-128"/>
              </a:rPr>
              <a:t>The Bible says human righteousness is inconsistent and corrupt.</a:t>
            </a:r>
          </a:p>
          <a:p>
            <a:pPr lvl="1"/>
            <a:r>
              <a:rPr lang="en-US" sz="1600" dirty="0">
                <a:cs typeface="ＭＳ Ｐゴシック" pitchFamily="-106" charset="-128"/>
              </a:rPr>
              <a:t> </a:t>
            </a:r>
          </a:p>
          <a:p>
            <a:pPr lvl="1" rtl="0" fontAlgn="ctr"/>
            <a:r>
              <a:rPr lang="en-US" sz="1600" b="1" i="1" u="sng" dirty="0">
                <a:cs typeface="ＭＳ Ｐゴシック" pitchFamily="-106" charset="-128"/>
              </a:rPr>
              <a:t>“There is no one righteous, not even one.”</a:t>
            </a:r>
            <a:r>
              <a:rPr lang="en-US" sz="1600" b="1" u="sng" dirty="0">
                <a:cs typeface="ＭＳ Ｐゴシック" pitchFamily="-106" charset="-128"/>
              </a:rPr>
              <a:t> </a:t>
            </a:r>
            <a:r>
              <a:rPr lang="en-US" sz="1600" b="1" dirty="0">
                <a:cs typeface="ＭＳ Ｐゴシック" pitchFamily="-106" charset="-128"/>
              </a:rPr>
              <a:t>(Rom 3:10 NET)</a:t>
            </a:r>
          </a:p>
          <a:p>
            <a:pPr lvl="1" rtl="0" fontAlgn="ctr"/>
            <a:r>
              <a:rPr lang="en-US" sz="1600" b="1" i="1" dirty="0">
                <a:cs typeface="ＭＳ Ｐゴシック" pitchFamily="-106" charset="-128"/>
              </a:rPr>
              <a:t>“All our so-called righteous acts are like a menstrual rag in your sight.”</a:t>
            </a:r>
            <a:r>
              <a:rPr lang="en-US" sz="1600" b="1" dirty="0">
                <a:cs typeface="ＭＳ Ｐゴシック" pitchFamily="-106" charset="-128"/>
              </a:rPr>
              <a:t> (Isa 64:6 NET)</a:t>
            </a:r>
          </a:p>
          <a:p>
            <a:pPr lvl="1"/>
            <a:r>
              <a:rPr lang="en-US" sz="1600" dirty="0">
                <a:cs typeface="ＭＳ Ｐゴシック" pitchFamily="-106" charset="-128"/>
              </a:rPr>
              <a:t> </a:t>
            </a:r>
          </a:p>
          <a:p>
            <a:pPr lvl="1"/>
            <a:r>
              <a:rPr lang="en-US" sz="1600" dirty="0">
                <a:cs typeface="ＭＳ Ｐゴシック" pitchFamily="-106" charset="-128"/>
              </a:rPr>
              <a:t>Human righteousness fails because it comes from:</a:t>
            </a:r>
          </a:p>
          <a:p>
            <a:pPr marL="723930" lvl="1" indent="-278435" fontAlgn="ctr">
              <a:buFont typeface="Arial" panose="020B0604020202020204" pitchFamily="34" charset="0"/>
              <a:buChar char="•"/>
            </a:pPr>
            <a:r>
              <a:rPr lang="en-US" sz="1600" dirty="0">
                <a:cs typeface="ＭＳ Ｐゴシック" pitchFamily="-106" charset="-128"/>
              </a:rPr>
              <a:t>pride</a:t>
            </a:r>
          </a:p>
          <a:p>
            <a:pPr marL="723930" lvl="1" indent="-278435" fontAlgn="ctr">
              <a:buFont typeface="Arial" panose="020B0604020202020204" pitchFamily="34" charset="0"/>
              <a:buChar char="•"/>
            </a:pPr>
            <a:r>
              <a:rPr lang="en-US" sz="1600" dirty="0">
                <a:cs typeface="ＭＳ Ｐゴシック" pitchFamily="-106" charset="-128"/>
              </a:rPr>
              <a:t>self-reliance</a:t>
            </a:r>
          </a:p>
          <a:p>
            <a:pPr marL="723930" lvl="1" indent="-278435" fontAlgn="ctr">
              <a:buFont typeface="Arial" panose="020B0604020202020204" pitchFamily="34" charset="0"/>
              <a:buChar char="•"/>
            </a:pPr>
            <a:r>
              <a:rPr lang="en-US" sz="1600" dirty="0">
                <a:cs typeface="ＭＳ Ｐゴシック" pitchFamily="-106" charset="-128"/>
              </a:rPr>
              <a:t>selective obedience</a:t>
            </a:r>
          </a:p>
          <a:p>
            <a:pPr marL="723930" lvl="1" indent="-278435" fontAlgn="ctr">
              <a:buFont typeface="Arial" panose="020B0604020202020204" pitchFamily="34" charset="0"/>
              <a:buChar char="•"/>
            </a:pPr>
            <a:r>
              <a:rPr lang="en-US" sz="1600" dirty="0">
                <a:cs typeface="ＭＳ Ｐゴシック" pitchFamily="-106" charset="-128"/>
              </a:rPr>
              <a:t>ignoring God’s standards</a:t>
            </a:r>
          </a:p>
          <a:p>
            <a:pPr lvl="1"/>
            <a:endParaRPr lang="en-US" sz="1600" dirty="0">
              <a:cs typeface="ＭＳ Ｐゴシック" pitchFamily="-106" charset="-128"/>
            </a:endParaRPr>
          </a:p>
          <a:p>
            <a:r>
              <a:rPr lang="en-US" sz="1600" b="1" dirty="0"/>
              <a:t>Human Righteousness Often Turns into Self-Righteousness</a:t>
            </a:r>
            <a:endParaRPr lang="en-US" sz="1600" dirty="0"/>
          </a:p>
          <a:p>
            <a:r>
              <a:rPr lang="en-US" sz="1600" dirty="0"/>
              <a:t> </a:t>
            </a:r>
          </a:p>
          <a:p>
            <a:pPr lvl="1"/>
            <a:r>
              <a:rPr lang="en-US" sz="1600" dirty="0">
                <a:cs typeface="ＭＳ Ｐゴシック" pitchFamily="-106" charset="-128"/>
              </a:rPr>
              <a:t>Jesus confronted this with the Pharisees.</a:t>
            </a:r>
          </a:p>
          <a:p>
            <a:pPr lvl="1"/>
            <a:r>
              <a:rPr lang="en-US" sz="1600" dirty="0">
                <a:cs typeface="ＭＳ Ｐゴシック" pitchFamily="-106" charset="-128"/>
              </a:rPr>
              <a:t> </a:t>
            </a:r>
          </a:p>
          <a:p>
            <a:pPr lvl="1" rtl="0" fontAlgn="ctr"/>
            <a:r>
              <a:rPr lang="en-US" sz="1600" b="1" i="1" dirty="0">
                <a:cs typeface="ＭＳ Ｐゴシック" pitchFamily="-106" charset="-128"/>
              </a:rPr>
              <a:t>“They were confident in their own righteousness and looked down on others.”</a:t>
            </a:r>
            <a:r>
              <a:rPr lang="en-US" sz="1600" b="1" dirty="0">
                <a:cs typeface="ＭＳ Ｐゴシック" pitchFamily="-106" charset="-128"/>
              </a:rPr>
              <a:t> (Luke 18:9 NET)</a:t>
            </a:r>
          </a:p>
          <a:p>
            <a:pPr lvl="1"/>
            <a:r>
              <a:rPr lang="en-US" sz="1600" dirty="0">
                <a:cs typeface="ＭＳ Ｐゴシック" pitchFamily="-106" charset="-128"/>
              </a:rPr>
              <a:t> </a:t>
            </a:r>
          </a:p>
          <a:p>
            <a:pPr lvl="1"/>
            <a:r>
              <a:rPr lang="en-US" sz="1600" dirty="0">
                <a:cs typeface="ＭＳ Ｐゴシック" pitchFamily="-106" charset="-128"/>
              </a:rPr>
              <a:t>In the parable of the Pharisee and the tax collector, Jesus shows the problem clearly.</a:t>
            </a:r>
          </a:p>
          <a:p>
            <a:pPr lvl="1"/>
            <a:r>
              <a:rPr lang="en-US" sz="1600" dirty="0">
                <a:cs typeface="ＭＳ Ｐゴシック" pitchFamily="-106" charset="-128"/>
              </a:rPr>
              <a:t> </a:t>
            </a:r>
          </a:p>
          <a:p>
            <a:pPr lvl="2"/>
            <a:r>
              <a:rPr lang="en-US" sz="1600" dirty="0">
                <a:cs typeface="ＭＳ Ｐゴシック" pitchFamily="-106" charset="-128"/>
              </a:rPr>
              <a:t>The Pharisee says:</a:t>
            </a:r>
          </a:p>
          <a:p>
            <a:pPr lvl="2"/>
            <a:r>
              <a:rPr lang="en-US" sz="1600" dirty="0">
                <a:cs typeface="ＭＳ Ｐゴシック" pitchFamily="-106" charset="-128"/>
              </a:rPr>
              <a:t> </a:t>
            </a:r>
          </a:p>
          <a:p>
            <a:pPr lvl="2" rtl="0" fontAlgn="ctr"/>
            <a:r>
              <a:rPr lang="en-US" sz="1600" b="1" i="1" dirty="0">
                <a:cs typeface="ＭＳ Ｐゴシック" pitchFamily="-106" charset="-128"/>
              </a:rPr>
              <a:t>“God, I thank you that I am not like other people.”</a:t>
            </a:r>
            <a:r>
              <a:rPr lang="en-US" sz="1600" b="1" dirty="0">
                <a:cs typeface="ＭＳ Ｐゴシック" pitchFamily="-106" charset="-128"/>
              </a:rPr>
              <a:t> (Luke 18:11 NET)</a:t>
            </a:r>
          </a:p>
          <a:p>
            <a:pPr lvl="2"/>
            <a:r>
              <a:rPr lang="en-US" sz="1600" dirty="0">
                <a:cs typeface="ＭＳ Ｐゴシック" pitchFamily="-106" charset="-128"/>
              </a:rPr>
              <a:t> </a:t>
            </a:r>
          </a:p>
          <a:p>
            <a:pPr lvl="2"/>
            <a:r>
              <a:rPr lang="en-US" sz="1600" dirty="0">
                <a:cs typeface="ＭＳ Ｐゴシック" pitchFamily="-106" charset="-128"/>
              </a:rPr>
              <a:t>The tax collector simply cries for mercy:</a:t>
            </a:r>
          </a:p>
          <a:p>
            <a:pPr lvl="2"/>
            <a:r>
              <a:rPr lang="en-US" sz="1600" dirty="0">
                <a:cs typeface="ＭＳ Ｐゴシック" pitchFamily="-106" charset="-128"/>
              </a:rPr>
              <a:t> </a:t>
            </a:r>
          </a:p>
          <a:p>
            <a:pPr lvl="2" rtl="0" fontAlgn="ctr"/>
            <a:r>
              <a:rPr lang="en-US" sz="1600" b="1" i="1" dirty="0">
                <a:cs typeface="ＭＳ Ｐゴシック" pitchFamily="-106" charset="-128"/>
              </a:rPr>
              <a:t>“God, be merciful to me, sinner that I am!”</a:t>
            </a:r>
            <a:r>
              <a:rPr lang="en-US" sz="1600" b="1" dirty="0">
                <a:cs typeface="ＭＳ Ｐゴシック" pitchFamily="-106" charset="-128"/>
              </a:rPr>
              <a:t> (Luke 18:13 NET)</a:t>
            </a:r>
          </a:p>
          <a:p>
            <a:pPr lvl="2"/>
            <a:r>
              <a:rPr lang="en-US" sz="1600" dirty="0">
                <a:cs typeface="ＭＳ Ｐゴシック" pitchFamily="-106" charset="-128"/>
              </a:rPr>
              <a:t> </a:t>
            </a:r>
          </a:p>
          <a:p>
            <a:pPr lvl="2"/>
            <a:r>
              <a:rPr lang="en-US" sz="1600" dirty="0">
                <a:cs typeface="ＭＳ Ｐゴシック" pitchFamily="-106" charset="-128"/>
              </a:rPr>
              <a:t>Jesus concludes:</a:t>
            </a:r>
          </a:p>
          <a:p>
            <a:pPr lvl="2"/>
            <a:r>
              <a:rPr lang="en-US" sz="1600" dirty="0">
                <a:cs typeface="ＭＳ Ｐゴシック" pitchFamily="-106" charset="-128"/>
              </a:rPr>
              <a:t> </a:t>
            </a:r>
          </a:p>
          <a:p>
            <a:pPr lvl="2" rtl="0" fontAlgn="ctr"/>
            <a:r>
              <a:rPr lang="en-US" sz="1600" b="1" i="1" dirty="0">
                <a:cs typeface="ＭＳ Ｐゴシック" pitchFamily="-106" charset="-128"/>
              </a:rPr>
              <a:t>“This man went down to his home justified rather than the other.”</a:t>
            </a:r>
            <a:r>
              <a:rPr lang="en-US" sz="1600" b="1" dirty="0">
                <a:cs typeface="ＭＳ Ｐゴシック" pitchFamily="-106" charset="-128"/>
              </a:rPr>
              <a:t> (Luke 18:14 NET)</a:t>
            </a:r>
          </a:p>
          <a:p>
            <a:pPr lvl="1"/>
            <a:r>
              <a:rPr lang="en-US" sz="1600" dirty="0">
                <a:cs typeface="ＭＳ Ｐゴシック" pitchFamily="-106" charset="-128"/>
              </a:rPr>
              <a:t> </a:t>
            </a:r>
          </a:p>
          <a:p>
            <a:pPr lvl="1"/>
            <a:r>
              <a:rPr lang="en-US" sz="1600" dirty="0">
                <a:cs typeface="ＭＳ Ｐゴシック" pitchFamily="-106" charset="-128"/>
              </a:rPr>
              <a:t>So, the “righteousness of man” often means </a:t>
            </a:r>
            <a:r>
              <a:rPr lang="en-US" sz="1600" b="1" dirty="0">
                <a:cs typeface="ＭＳ Ｐゴシック" pitchFamily="-106" charset="-128"/>
              </a:rPr>
              <a:t>trying to justify oneself</a:t>
            </a:r>
            <a:r>
              <a:rPr lang="en-US" sz="1600" dirty="0">
                <a:cs typeface="ＭＳ Ｐゴシック" pitchFamily="-106" charset="-128"/>
              </a:rPr>
              <a:t>.  This never stands before God.</a:t>
            </a:r>
          </a:p>
        </p:txBody>
      </p:sp>
      <p:sp>
        <p:nvSpPr>
          <p:cNvPr id="4" name="Slide Number Placeholder 3">
            <a:extLst>
              <a:ext uri="{FF2B5EF4-FFF2-40B4-BE49-F238E27FC236}">
                <a16:creationId xmlns:a16="http://schemas.microsoft.com/office/drawing/2014/main" id="{18AAF1C4-4FDD-D77F-58FE-9E7BCD6CF44E}"/>
              </a:ext>
            </a:extLst>
          </p:cNvPr>
          <p:cNvSpPr>
            <a:spLocks noGrp="1"/>
          </p:cNvSpPr>
          <p:nvPr>
            <p:ph type="sldNum" sz="quarter" idx="10"/>
          </p:nvPr>
        </p:nvSpPr>
        <p:spPr/>
        <p:txBody>
          <a:bodyPr/>
          <a:lstStyle/>
          <a:p>
            <a:pPr>
              <a:defRPr/>
            </a:pPr>
            <a:fld id="{07776858-791E-4C8D-8FA3-473B3AFECFAC}" type="slidenum">
              <a:rPr lang="en-US" smtClean="0"/>
              <a:pPr>
                <a:defRPr/>
              </a:pPr>
              <a:t>8</a:t>
            </a:fld>
            <a:endParaRPr lang="en-US" dirty="0"/>
          </a:p>
        </p:txBody>
      </p:sp>
    </p:spTree>
    <p:extLst>
      <p:ext uri="{BB962C8B-B14F-4D97-AF65-F5344CB8AC3E}">
        <p14:creationId xmlns:p14="http://schemas.microsoft.com/office/powerpoint/2010/main" val="3613192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3AD57-92B0-A89D-53F5-C87238A50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A26A3-CFE9-3C50-8174-3CAA1F6EBA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CCA9811-FB75-C4A8-E4DB-6C7ACDA838CE}"/>
              </a:ext>
            </a:extLst>
          </p:cNvPr>
          <p:cNvSpPr>
            <a:spLocks noGrp="1"/>
          </p:cNvSpPr>
          <p:nvPr>
            <p:ph type="body" idx="1"/>
          </p:nvPr>
        </p:nvSpPr>
        <p:spPr/>
        <p:txBody>
          <a:bodyPr>
            <a:normAutofit fontScale="92500" lnSpcReduction="20000"/>
          </a:bodyPr>
          <a:lstStyle/>
          <a:p>
            <a:r>
              <a:rPr lang="en-US" sz="1400" b="1" dirty="0"/>
              <a:t>Righteousness Starts With God, Not Man</a:t>
            </a:r>
            <a:endParaRPr lang="en-US" sz="1400" dirty="0"/>
          </a:p>
          <a:p>
            <a:endParaRPr lang="en-US" sz="1400" dirty="0"/>
          </a:p>
          <a:p>
            <a:r>
              <a:rPr lang="en-US" sz="1400" dirty="0"/>
              <a:t>Regardless of God’s display of righteousness, mankind, throughout history has sought to establish himself as the measure of all things.  Why?</a:t>
            </a:r>
          </a:p>
          <a:p>
            <a:endParaRPr lang="en-US" dirty="0"/>
          </a:p>
          <a:p>
            <a:r>
              <a:rPr lang="en-US" b="1" dirty="0"/>
              <a:t>Human Righteousness Tries to Earn God’s Favor</a:t>
            </a:r>
            <a:endParaRPr lang="en-US" dirty="0"/>
          </a:p>
          <a:p>
            <a:r>
              <a:rPr lang="en-US" dirty="0"/>
              <a:t> </a:t>
            </a:r>
          </a:p>
          <a:p>
            <a:r>
              <a:rPr lang="en-US" dirty="0"/>
              <a:t>Paul warns against trying to create one’s own righteousness.</a:t>
            </a:r>
          </a:p>
          <a:p>
            <a:r>
              <a:rPr lang="en-US" dirty="0"/>
              <a:t> </a:t>
            </a:r>
          </a:p>
          <a:p>
            <a:pPr rtl="0" fontAlgn="ctr"/>
            <a:r>
              <a:rPr lang="en-US" b="1" i="1" dirty="0"/>
              <a:t>	“They sought to establish their own righteousness, and did not submit to God’s righteousness.”</a:t>
            </a:r>
            <a:r>
              <a:rPr lang="en-US" b="1" dirty="0"/>
              <a:t> (Rom 10:3 NET)</a:t>
            </a:r>
          </a:p>
          <a:p>
            <a:r>
              <a:rPr lang="en-US" dirty="0"/>
              <a:t> </a:t>
            </a:r>
          </a:p>
          <a:p>
            <a:r>
              <a:rPr lang="en-US" dirty="0"/>
              <a:t>This is the heart of the difference.</a:t>
            </a:r>
          </a:p>
          <a:p>
            <a:r>
              <a:rPr lang="en-US" dirty="0"/>
              <a:t> </a:t>
            </a:r>
          </a:p>
          <a:p>
            <a:pPr lvl="1"/>
            <a:r>
              <a:rPr lang="en-US" dirty="0">
                <a:cs typeface="ＭＳ Ｐゴシック" pitchFamily="-106" charset="-128"/>
              </a:rPr>
              <a:t>Human righteousness says:</a:t>
            </a:r>
          </a:p>
          <a:p>
            <a:pPr lvl="1"/>
            <a:r>
              <a:rPr lang="en-US" dirty="0">
                <a:cs typeface="ＭＳ Ｐゴシック" pitchFamily="-106" charset="-128"/>
              </a:rPr>
              <a:t> </a:t>
            </a:r>
          </a:p>
          <a:p>
            <a:pPr lvl="1"/>
            <a:r>
              <a:rPr lang="en-US" dirty="0">
                <a:cs typeface="ＭＳ Ｐゴシック" pitchFamily="-106" charset="-128"/>
              </a:rPr>
              <a:t>“I can make myself right.”</a:t>
            </a:r>
          </a:p>
          <a:p>
            <a:pPr lvl="1"/>
            <a:r>
              <a:rPr lang="en-US" dirty="0">
                <a:cs typeface="ＭＳ Ｐゴシック" pitchFamily="-106" charset="-128"/>
              </a:rPr>
              <a:t> </a:t>
            </a:r>
          </a:p>
          <a:p>
            <a:pPr lvl="1"/>
            <a:r>
              <a:rPr lang="en-US" dirty="0">
                <a:cs typeface="ＭＳ Ｐゴシック" pitchFamily="-106" charset="-128"/>
              </a:rPr>
              <a:t>God’s righteousness says:</a:t>
            </a:r>
          </a:p>
          <a:p>
            <a:pPr lvl="1"/>
            <a:r>
              <a:rPr lang="en-US" dirty="0">
                <a:cs typeface="ＭＳ Ｐゴシック" pitchFamily="-106" charset="-128"/>
              </a:rPr>
              <a:t> </a:t>
            </a:r>
          </a:p>
          <a:p>
            <a:pPr lvl="1"/>
            <a:r>
              <a:rPr lang="en-US" dirty="0">
                <a:cs typeface="ＭＳ Ｐゴシック" pitchFamily="-106" charset="-128"/>
              </a:rPr>
              <a:t>“You cannot make yourself right, but I will make you right through Christ.”</a:t>
            </a:r>
          </a:p>
          <a:p>
            <a:endParaRPr lang="en-US" dirty="0"/>
          </a:p>
        </p:txBody>
      </p:sp>
      <p:sp>
        <p:nvSpPr>
          <p:cNvPr id="4" name="Slide Number Placeholder 3">
            <a:extLst>
              <a:ext uri="{FF2B5EF4-FFF2-40B4-BE49-F238E27FC236}">
                <a16:creationId xmlns:a16="http://schemas.microsoft.com/office/drawing/2014/main" id="{F83ACFA3-2C2F-4CC0-AB9A-C399752124C1}"/>
              </a:ext>
            </a:extLst>
          </p:cNvPr>
          <p:cNvSpPr>
            <a:spLocks noGrp="1"/>
          </p:cNvSpPr>
          <p:nvPr>
            <p:ph type="sldNum" sz="quarter" idx="10"/>
          </p:nvPr>
        </p:nvSpPr>
        <p:spPr/>
        <p:txBody>
          <a:bodyPr/>
          <a:lstStyle/>
          <a:p>
            <a:pPr>
              <a:defRPr/>
            </a:pPr>
            <a:fld id="{07776858-791E-4C8D-8FA3-473B3AFECFAC}" type="slidenum">
              <a:rPr lang="en-US" smtClean="0"/>
              <a:pPr>
                <a:defRPr/>
              </a:pPr>
              <a:t>9</a:t>
            </a:fld>
            <a:endParaRPr lang="en-US" dirty="0"/>
          </a:p>
        </p:txBody>
      </p:sp>
    </p:spTree>
    <p:extLst>
      <p:ext uri="{BB962C8B-B14F-4D97-AF65-F5344CB8AC3E}">
        <p14:creationId xmlns:p14="http://schemas.microsoft.com/office/powerpoint/2010/main" val="3598520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FC657-D0C8-8DB2-9121-2543583892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7D9B6-24B4-7187-6D67-1FA349C98A9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A04247-44DF-51BF-FA83-990E4C6B6989}"/>
              </a:ext>
            </a:extLst>
          </p:cNvPr>
          <p:cNvSpPr>
            <a:spLocks noGrp="1"/>
          </p:cNvSpPr>
          <p:nvPr>
            <p:ph type="body" idx="1"/>
          </p:nvPr>
        </p:nvSpPr>
        <p:spPr/>
        <p:txBody>
          <a:bodyPr>
            <a:normAutofit fontScale="25000" lnSpcReduction="20000"/>
          </a:bodyPr>
          <a:lstStyle/>
          <a:p>
            <a:r>
              <a:rPr lang="en-US" sz="1400" b="1" dirty="0"/>
              <a:t>How Grace Dismantles Fear-Based Systems in the New Testament</a:t>
            </a:r>
            <a:endParaRPr lang="en-US" sz="1400" dirty="0"/>
          </a:p>
          <a:p>
            <a:r>
              <a:rPr lang="en-US" sz="1400" dirty="0"/>
              <a:t> </a:t>
            </a:r>
          </a:p>
          <a:p>
            <a:r>
              <a:rPr lang="en-US" sz="1400" b="1" dirty="0"/>
              <a:t>1. Fear Builds Systems. Grace Exposes Them.</a:t>
            </a:r>
            <a:endParaRPr lang="en-US" sz="1400" dirty="0"/>
          </a:p>
          <a:p>
            <a:r>
              <a:rPr lang="en-US" sz="1400" dirty="0"/>
              <a:t> </a:t>
            </a:r>
          </a:p>
          <a:p>
            <a:r>
              <a:rPr lang="en-US" sz="1400" dirty="0"/>
              <a:t>Fear always asks:</a:t>
            </a:r>
          </a:p>
          <a:p>
            <a:r>
              <a:rPr lang="en-US" sz="1400" i="1" dirty="0"/>
              <a:t>How do I protect myself?</a:t>
            </a:r>
            <a:endParaRPr lang="en-US" sz="1400" dirty="0"/>
          </a:p>
          <a:p>
            <a:r>
              <a:rPr lang="en-US" sz="1400" i="1" dirty="0"/>
              <a:t>How do I stay accepted?</a:t>
            </a:r>
            <a:endParaRPr lang="en-US" sz="1400" dirty="0"/>
          </a:p>
          <a:p>
            <a:r>
              <a:rPr lang="en-US" sz="1400" dirty="0"/>
              <a:t> </a:t>
            </a:r>
          </a:p>
          <a:p>
            <a:r>
              <a:rPr lang="en-US" sz="1400" dirty="0"/>
              <a:t>Grace asks something else:</a:t>
            </a:r>
          </a:p>
          <a:p>
            <a:r>
              <a:rPr lang="en-US" sz="1400" i="1" dirty="0"/>
              <a:t>Who is God, and can He be trusted?</a:t>
            </a:r>
            <a:endParaRPr lang="en-US" sz="1400" dirty="0"/>
          </a:p>
          <a:p>
            <a:r>
              <a:rPr lang="en-US" sz="1400" dirty="0"/>
              <a:t> </a:t>
            </a:r>
          </a:p>
          <a:p>
            <a:r>
              <a:rPr lang="en-US" sz="1400" b="1" dirty="0"/>
              <a:t>Romans 8:15</a:t>
            </a:r>
            <a:endParaRPr lang="en-US" sz="1400" dirty="0"/>
          </a:p>
          <a:p>
            <a:r>
              <a:rPr lang="en-US" sz="1400" dirty="0"/>
              <a:t> </a:t>
            </a:r>
          </a:p>
          <a:p>
            <a:r>
              <a:rPr lang="en-US" sz="1400" dirty="0"/>
              <a:t>“For you did not receive the spirit of slavery leading again to fear, but you received the Spirit of adoption.”</a:t>
            </a:r>
          </a:p>
          <a:p>
            <a:r>
              <a:rPr lang="en-US" sz="1400" dirty="0"/>
              <a:t> </a:t>
            </a:r>
          </a:p>
          <a:p>
            <a:r>
              <a:rPr lang="en-US" sz="1400" dirty="0"/>
              <a:t>Fear produces slavery.</a:t>
            </a:r>
          </a:p>
          <a:p>
            <a:r>
              <a:rPr lang="en-US" sz="1400" dirty="0"/>
              <a:t>Grace produces sonship.</a:t>
            </a:r>
          </a:p>
          <a:p>
            <a:r>
              <a:rPr lang="en-US" sz="1400" dirty="0"/>
              <a:t> </a:t>
            </a:r>
          </a:p>
          <a:p>
            <a:r>
              <a:rPr lang="en-US" sz="1400" dirty="0"/>
              <a:t>Systems need fear to survive.</a:t>
            </a:r>
          </a:p>
          <a:p>
            <a:r>
              <a:rPr lang="en-US" sz="1400" dirty="0"/>
              <a:t>Grace removes the fear that systems depend on.</a:t>
            </a:r>
          </a:p>
          <a:p>
            <a:r>
              <a:rPr lang="en-US" sz="1400" dirty="0"/>
              <a:t> </a:t>
            </a:r>
          </a:p>
          <a:p>
            <a:r>
              <a:rPr lang="en-US" sz="1400" b="1" dirty="0"/>
              <a:t>2. Grace Removes the Need for Control</a:t>
            </a:r>
            <a:endParaRPr lang="en-US" sz="1400" dirty="0"/>
          </a:p>
          <a:p>
            <a:r>
              <a:rPr lang="en-US" sz="1400" dirty="0"/>
              <a:t> </a:t>
            </a:r>
          </a:p>
          <a:p>
            <a:r>
              <a:rPr lang="en-US" sz="1400" dirty="0"/>
              <a:t>Fear-based systems work by control:</a:t>
            </a:r>
          </a:p>
          <a:p>
            <a:r>
              <a:rPr lang="en-US" sz="1400" dirty="0"/>
              <a:t> </a:t>
            </a:r>
          </a:p>
          <a:p>
            <a:pPr rtl="0" fontAlgn="ctr"/>
            <a:r>
              <a:rPr lang="en-US" sz="1400" dirty="0"/>
              <a:t>rules</a:t>
            </a:r>
          </a:p>
          <a:p>
            <a:pPr rtl="0" fontAlgn="ctr"/>
            <a:r>
              <a:rPr lang="en-US" sz="1400" dirty="0"/>
              <a:t>penalties</a:t>
            </a:r>
          </a:p>
          <a:p>
            <a:pPr rtl="0" fontAlgn="ctr"/>
            <a:r>
              <a:rPr lang="en-US" sz="1400" dirty="0"/>
              <a:t>social pressure</a:t>
            </a:r>
          </a:p>
          <a:p>
            <a:r>
              <a:rPr lang="en-US" sz="1400" dirty="0"/>
              <a:t> </a:t>
            </a:r>
          </a:p>
          <a:p>
            <a:r>
              <a:rPr lang="en-US" sz="1400" dirty="0"/>
              <a:t>Grace replaces control with relationship.</a:t>
            </a:r>
          </a:p>
          <a:p>
            <a:r>
              <a:rPr lang="en-US" sz="1400" dirty="0"/>
              <a:t> </a:t>
            </a:r>
          </a:p>
          <a:p>
            <a:r>
              <a:rPr lang="en-US" sz="1400" b="1" dirty="0"/>
              <a:t>Galatians 4:4–7</a:t>
            </a:r>
            <a:endParaRPr lang="en-US" sz="1400" dirty="0"/>
          </a:p>
          <a:p>
            <a:r>
              <a:rPr lang="en-US" sz="1400" dirty="0"/>
              <a:t> </a:t>
            </a:r>
          </a:p>
          <a:p>
            <a:r>
              <a:rPr lang="en-US" sz="1400" dirty="0"/>
              <a:t>“So you are no longer a slave but a son, and if you are a son, then you are also an heir through God.”</a:t>
            </a:r>
          </a:p>
          <a:p>
            <a:r>
              <a:rPr lang="en-US" sz="1400" dirty="0"/>
              <a:t> </a:t>
            </a:r>
          </a:p>
          <a:p>
            <a:r>
              <a:rPr lang="en-US" sz="1400" dirty="0"/>
              <a:t>A slave needs rules to survive.</a:t>
            </a:r>
          </a:p>
          <a:p>
            <a:r>
              <a:rPr lang="en-US" sz="1400" dirty="0"/>
              <a:t>A son lives from belonging.</a:t>
            </a:r>
          </a:p>
          <a:p>
            <a:r>
              <a:rPr lang="en-US" sz="1400" dirty="0"/>
              <a:t> </a:t>
            </a:r>
          </a:p>
          <a:p>
            <a:r>
              <a:rPr lang="en-US" sz="1400" dirty="0"/>
              <a:t>Once belonging is secure, control loses its power.</a:t>
            </a:r>
          </a:p>
          <a:p>
            <a:endParaRPr lang="en-US" sz="1400" dirty="0"/>
          </a:p>
          <a:p>
            <a:r>
              <a:rPr lang="en-US" sz="1400" dirty="0"/>
              <a:t> </a:t>
            </a:r>
          </a:p>
          <a:p>
            <a:r>
              <a:rPr lang="en-US" sz="1400" b="1" dirty="0"/>
              <a:t>3. Grace Shifts Obedience From Fear to Love</a:t>
            </a:r>
            <a:endParaRPr lang="en-US" sz="1400" dirty="0"/>
          </a:p>
          <a:p>
            <a:r>
              <a:rPr lang="en-US" sz="1400" dirty="0"/>
              <a:t> </a:t>
            </a:r>
          </a:p>
          <a:p>
            <a:r>
              <a:rPr lang="en-US" sz="1400" dirty="0"/>
              <a:t>Fear-based obedience asks:</a:t>
            </a:r>
          </a:p>
          <a:p>
            <a:r>
              <a:rPr lang="en-US" sz="1400" i="1" dirty="0"/>
              <a:t>What happens if I fail?</a:t>
            </a:r>
            <a:endParaRPr lang="en-US" sz="1400" dirty="0"/>
          </a:p>
          <a:p>
            <a:r>
              <a:rPr lang="en-US" sz="1400" dirty="0"/>
              <a:t> </a:t>
            </a:r>
          </a:p>
          <a:p>
            <a:r>
              <a:rPr lang="en-US" sz="1400" dirty="0"/>
              <a:t>Grace-based obedience asks:</a:t>
            </a:r>
          </a:p>
          <a:p>
            <a:r>
              <a:rPr lang="en-US" sz="1400" i="1" dirty="0"/>
              <a:t>How do I honor the one who loves me?</a:t>
            </a:r>
            <a:endParaRPr lang="en-US" sz="1400" dirty="0"/>
          </a:p>
          <a:p>
            <a:r>
              <a:rPr lang="en-US" sz="1400" dirty="0"/>
              <a:t> </a:t>
            </a:r>
          </a:p>
          <a:p>
            <a:r>
              <a:rPr lang="en-US" sz="1400" b="1" dirty="0"/>
              <a:t>1 John 4:18</a:t>
            </a:r>
            <a:endParaRPr lang="en-US" sz="1400" dirty="0"/>
          </a:p>
          <a:p>
            <a:r>
              <a:rPr lang="en-US" sz="1400" dirty="0"/>
              <a:t> </a:t>
            </a:r>
          </a:p>
          <a:p>
            <a:r>
              <a:rPr lang="en-US" sz="1400" dirty="0"/>
              <a:t>“There is no fear in love, but perfect love drives out fear.”</a:t>
            </a:r>
          </a:p>
          <a:p>
            <a:r>
              <a:rPr lang="en-US" sz="1400" dirty="0"/>
              <a:t> </a:t>
            </a:r>
          </a:p>
          <a:p>
            <a:r>
              <a:rPr lang="en-US" sz="1400" dirty="0"/>
              <a:t>Fear cannot coexist with love.</a:t>
            </a:r>
          </a:p>
          <a:p>
            <a:r>
              <a:rPr lang="en-US" sz="1400" dirty="0"/>
              <a:t>When love rules, systems collapse.</a:t>
            </a:r>
          </a:p>
          <a:p>
            <a:r>
              <a:rPr lang="en-US" sz="1400" dirty="0"/>
              <a:t> </a:t>
            </a:r>
          </a:p>
          <a:p>
            <a:r>
              <a:rPr lang="en-US" sz="1400" dirty="0"/>
              <a:t> </a:t>
            </a:r>
          </a:p>
          <a:p>
            <a:r>
              <a:rPr lang="en-US" sz="1400" b="1" dirty="0"/>
              <a:t>4. Grace Dismantles Religious Hierarchies</a:t>
            </a:r>
            <a:endParaRPr lang="en-US" sz="1400" dirty="0"/>
          </a:p>
          <a:p>
            <a:r>
              <a:rPr lang="en-US" sz="1400" dirty="0"/>
              <a:t> </a:t>
            </a:r>
          </a:p>
          <a:p>
            <a:r>
              <a:rPr lang="en-US" sz="1400" dirty="0"/>
              <a:t>Fear-based systems require mediators:</a:t>
            </a:r>
          </a:p>
          <a:p>
            <a:r>
              <a:rPr lang="en-US" sz="1400" dirty="0"/>
              <a:t> </a:t>
            </a:r>
          </a:p>
          <a:p>
            <a:pPr rtl="0" fontAlgn="ctr"/>
            <a:r>
              <a:rPr lang="en-US" sz="1400" dirty="0"/>
              <a:t>experts</a:t>
            </a:r>
          </a:p>
          <a:p>
            <a:pPr rtl="0" fontAlgn="ctr"/>
            <a:r>
              <a:rPr lang="en-US" sz="1400" dirty="0"/>
              <a:t>gatekeepers</a:t>
            </a:r>
          </a:p>
          <a:p>
            <a:pPr rtl="0" fontAlgn="ctr"/>
            <a:r>
              <a:rPr lang="en-US" sz="1400" dirty="0"/>
              <a:t>elites</a:t>
            </a:r>
          </a:p>
          <a:p>
            <a:r>
              <a:rPr lang="en-US" sz="1400" dirty="0"/>
              <a:t> </a:t>
            </a:r>
          </a:p>
          <a:p>
            <a:r>
              <a:rPr lang="en-US" sz="1400" dirty="0"/>
              <a:t>Grace gives direct access to God.</a:t>
            </a:r>
          </a:p>
          <a:p>
            <a:r>
              <a:rPr lang="en-US" sz="1400" dirty="0"/>
              <a:t> </a:t>
            </a:r>
          </a:p>
          <a:p>
            <a:r>
              <a:rPr lang="en-US" sz="1400" b="1" dirty="0"/>
              <a:t>Hebrews 4:16</a:t>
            </a:r>
            <a:endParaRPr lang="en-US" sz="1400" dirty="0"/>
          </a:p>
          <a:p>
            <a:r>
              <a:rPr lang="en-US" sz="1400" dirty="0"/>
              <a:t> </a:t>
            </a:r>
          </a:p>
          <a:p>
            <a:r>
              <a:rPr lang="en-US" sz="1400" dirty="0"/>
              <a:t>“Therefore let us confidently approach the throne of grace to receive mercy and find grace whenever we need help.”</a:t>
            </a:r>
          </a:p>
          <a:p>
            <a:r>
              <a:rPr lang="en-US" sz="1400" dirty="0"/>
              <a:t> </a:t>
            </a:r>
          </a:p>
          <a:p>
            <a:r>
              <a:rPr lang="en-US" sz="1400" dirty="0"/>
              <a:t>Confidence replaces dependence on religious authority structures.</a:t>
            </a:r>
          </a:p>
          <a:p>
            <a:r>
              <a:rPr lang="en-US" sz="1400" dirty="0"/>
              <a:t> </a:t>
            </a:r>
          </a:p>
          <a:p>
            <a:r>
              <a:rPr lang="en-US" sz="1400" dirty="0"/>
              <a:t>This is why grace always threatens institutional control.</a:t>
            </a:r>
          </a:p>
          <a:p>
            <a:r>
              <a:rPr lang="en-US" sz="1400" dirty="0"/>
              <a:t> </a:t>
            </a:r>
          </a:p>
          <a:p>
            <a:r>
              <a:rPr lang="en-US" sz="1400" dirty="0"/>
              <a:t> </a:t>
            </a:r>
          </a:p>
          <a:p>
            <a:r>
              <a:rPr lang="en-US" sz="1400" b="1" dirty="0"/>
              <a:t>5. Grace Ends the Need for Performance Identity</a:t>
            </a:r>
            <a:endParaRPr lang="en-US" sz="1400" dirty="0"/>
          </a:p>
          <a:p>
            <a:r>
              <a:rPr lang="en-US" sz="1400" dirty="0"/>
              <a:t> </a:t>
            </a:r>
          </a:p>
          <a:p>
            <a:r>
              <a:rPr lang="en-US" sz="1400" dirty="0"/>
              <a:t>Fear-based systems define worth by performance.</a:t>
            </a:r>
          </a:p>
          <a:p>
            <a:r>
              <a:rPr lang="en-US" sz="1400" dirty="0"/>
              <a:t> </a:t>
            </a:r>
          </a:p>
          <a:p>
            <a:r>
              <a:rPr lang="en-US" sz="1400" dirty="0"/>
              <a:t>Grace defines identity by Christ.</a:t>
            </a:r>
          </a:p>
          <a:p>
            <a:r>
              <a:rPr lang="en-US" sz="1400" dirty="0"/>
              <a:t> </a:t>
            </a:r>
          </a:p>
          <a:p>
            <a:r>
              <a:rPr lang="en-US" sz="1400" b="1" dirty="0"/>
              <a:t>Ephesians 2:8–9</a:t>
            </a:r>
            <a:endParaRPr lang="en-US" sz="1400" dirty="0"/>
          </a:p>
          <a:p>
            <a:r>
              <a:rPr lang="en-US" sz="1400" dirty="0"/>
              <a:t> </a:t>
            </a:r>
          </a:p>
          <a:p>
            <a:r>
              <a:rPr lang="en-US" sz="1400" dirty="0"/>
              <a:t>“For by grace you are saved through faith… it is the gift of God; it is not from works.”</a:t>
            </a:r>
          </a:p>
          <a:p>
            <a:r>
              <a:rPr lang="en-US" sz="1400" dirty="0"/>
              <a:t> </a:t>
            </a:r>
          </a:p>
          <a:p>
            <a:r>
              <a:rPr lang="en-US" sz="1400" dirty="0"/>
              <a:t>If righteousness is a gift,</a:t>
            </a:r>
          </a:p>
          <a:p>
            <a:r>
              <a:rPr lang="en-US" sz="1400" dirty="0"/>
              <a:t>there is nothing left to earn.</a:t>
            </a:r>
          </a:p>
          <a:p>
            <a:r>
              <a:rPr lang="en-US" sz="1400" dirty="0"/>
              <a:t> </a:t>
            </a:r>
          </a:p>
          <a:p>
            <a:r>
              <a:rPr lang="en-US" sz="1400" dirty="0"/>
              <a:t>Systems collapse when comparison loses meaning.</a:t>
            </a:r>
          </a:p>
          <a:p>
            <a:r>
              <a:rPr lang="en-US" sz="1400" dirty="0"/>
              <a:t> </a:t>
            </a:r>
          </a:p>
          <a:p>
            <a:r>
              <a:rPr lang="en-US" sz="1400" dirty="0"/>
              <a:t> </a:t>
            </a:r>
          </a:p>
          <a:p>
            <a:r>
              <a:rPr lang="en-US" sz="1400" b="1" dirty="0"/>
              <a:t>6. Grace Replaces External Rules With Internal Transformation</a:t>
            </a:r>
            <a:endParaRPr lang="en-US" sz="1400" dirty="0"/>
          </a:p>
          <a:p>
            <a:r>
              <a:rPr lang="en-US" sz="1400" dirty="0"/>
              <a:t> </a:t>
            </a:r>
          </a:p>
          <a:p>
            <a:r>
              <a:rPr lang="en-US" sz="1400" dirty="0"/>
              <a:t>Fear systems manage behavior.</a:t>
            </a:r>
          </a:p>
          <a:p>
            <a:r>
              <a:rPr lang="en-US" sz="1400" dirty="0"/>
              <a:t>Grace changes the heart.</a:t>
            </a:r>
          </a:p>
          <a:p>
            <a:r>
              <a:rPr lang="en-US" sz="1400" dirty="0"/>
              <a:t> </a:t>
            </a:r>
          </a:p>
          <a:p>
            <a:r>
              <a:rPr lang="en-US" sz="1400" b="1" dirty="0"/>
              <a:t>Titus 2:11–12</a:t>
            </a:r>
            <a:endParaRPr lang="en-US" sz="1400" dirty="0"/>
          </a:p>
          <a:p>
            <a:r>
              <a:rPr lang="en-US" sz="1400" dirty="0"/>
              <a:t> </a:t>
            </a:r>
          </a:p>
          <a:p>
            <a:r>
              <a:rPr lang="en-US" sz="1400" dirty="0"/>
              <a:t>“For the grace of God has appeared… training us to reject godless ways.”</a:t>
            </a:r>
          </a:p>
          <a:p>
            <a:r>
              <a:rPr lang="en-US" sz="1400" dirty="0"/>
              <a:t> </a:t>
            </a:r>
          </a:p>
          <a:p>
            <a:r>
              <a:rPr lang="en-US" sz="1400" dirty="0"/>
              <a:t>Grace teaches.</a:t>
            </a:r>
          </a:p>
          <a:p>
            <a:r>
              <a:rPr lang="en-US" sz="1400" dirty="0"/>
              <a:t>Law demands.</a:t>
            </a:r>
          </a:p>
          <a:p>
            <a:r>
              <a:rPr lang="en-US" sz="1400" dirty="0"/>
              <a:t> </a:t>
            </a:r>
          </a:p>
          <a:p>
            <a:r>
              <a:rPr lang="en-US" sz="1400" dirty="0"/>
              <a:t>Fear controls from the outside.</a:t>
            </a:r>
          </a:p>
          <a:p>
            <a:r>
              <a:rPr lang="en-US" sz="1400" dirty="0"/>
              <a:t>Grace forms from the inside.</a:t>
            </a:r>
          </a:p>
          <a:p>
            <a:r>
              <a:rPr lang="en-US" sz="1400" dirty="0"/>
              <a:t> </a:t>
            </a:r>
          </a:p>
          <a:p>
            <a:r>
              <a:rPr lang="en-US" sz="1400" dirty="0"/>
              <a:t> </a:t>
            </a:r>
          </a:p>
          <a:p>
            <a:r>
              <a:rPr lang="en-US" sz="1400" b="1" dirty="0"/>
              <a:t>7. Grace Breaks Social Contracts Inside the Church</a:t>
            </a:r>
            <a:endParaRPr lang="en-US" sz="1400" dirty="0"/>
          </a:p>
          <a:p>
            <a:r>
              <a:rPr lang="en-US" sz="1400" dirty="0"/>
              <a:t> </a:t>
            </a:r>
          </a:p>
          <a:p>
            <a:r>
              <a:rPr lang="en-US" sz="1400" dirty="0"/>
              <a:t>Social contracts say:</a:t>
            </a:r>
          </a:p>
          <a:p>
            <a:r>
              <a:rPr lang="en-US" sz="1400" dirty="0"/>
              <a:t> </a:t>
            </a:r>
          </a:p>
          <a:p>
            <a:pPr rtl="0" fontAlgn="ctr"/>
            <a:r>
              <a:rPr lang="en-US" sz="1400" dirty="0"/>
              <a:t>behave and belong</a:t>
            </a:r>
          </a:p>
          <a:p>
            <a:pPr rtl="0" fontAlgn="ctr"/>
            <a:r>
              <a:rPr lang="en-US" sz="1400" dirty="0"/>
              <a:t>conform and be accepted</a:t>
            </a:r>
          </a:p>
          <a:p>
            <a:r>
              <a:rPr lang="en-US" sz="1400" dirty="0"/>
              <a:t> </a:t>
            </a:r>
          </a:p>
          <a:p>
            <a:r>
              <a:rPr lang="en-US" sz="1400" dirty="0"/>
              <a:t>Grace says:</a:t>
            </a:r>
          </a:p>
          <a:p>
            <a:r>
              <a:rPr lang="en-US" sz="1400" dirty="0"/>
              <a:t> </a:t>
            </a:r>
          </a:p>
          <a:p>
            <a:pPr rtl="0" fontAlgn="ctr"/>
            <a:r>
              <a:rPr lang="en-US" sz="1400" dirty="0"/>
              <a:t>belong, therefore grow</a:t>
            </a:r>
          </a:p>
          <a:p>
            <a:r>
              <a:rPr lang="en-US" sz="1400" dirty="0"/>
              <a:t> </a:t>
            </a:r>
          </a:p>
          <a:p>
            <a:r>
              <a:rPr lang="en-US" sz="1400" b="1" dirty="0"/>
              <a:t>Romans 15:7</a:t>
            </a:r>
            <a:endParaRPr lang="en-US" sz="1400" dirty="0"/>
          </a:p>
          <a:p>
            <a:r>
              <a:rPr lang="en-US" sz="1400" dirty="0"/>
              <a:t> </a:t>
            </a:r>
          </a:p>
          <a:p>
            <a:r>
              <a:rPr lang="en-US" sz="1400" dirty="0"/>
              <a:t>“Receive one another, just as Christ also received you.”</a:t>
            </a:r>
          </a:p>
          <a:p>
            <a:r>
              <a:rPr lang="en-US" sz="1400" dirty="0"/>
              <a:t> </a:t>
            </a:r>
          </a:p>
          <a:p>
            <a:r>
              <a:rPr lang="en-US" sz="1400" dirty="0"/>
              <a:t>Christ did not receive us after improvement.</a:t>
            </a:r>
          </a:p>
          <a:p>
            <a:r>
              <a:rPr lang="en-US" sz="1400" dirty="0"/>
              <a:t>He received us before it.</a:t>
            </a:r>
          </a:p>
          <a:p>
            <a:r>
              <a:rPr lang="en-US" sz="1400" dirty="0"/>
              <a:t> </a:t>
            </a:r>
          </a:p>
          <a:p>
            <a:r>
              <a:rPr lang="en-US" sz="1400" dirty="0"/>
              <a:t>This destroys transactional righteousness.</a:t>
            </a:r>
          </a:p>
          <a:p>
            <a:r>
              <a:rPr lang="en-US" sz="1400" dirty="0"/>
              <a:t> </a:t>
            </a:r>
          </a:p>
          <a:p>
            <a:r>
              <a:rPr lang="en-US" sz="1400" dirty="0"/>
              <a:t> </a:t>
            </a:r>
          </a:p>
          <a:p>
            <a:r>
              <a:rPr lang="en-US" sz="1400" b="1" dirty="0"/>
              <a:t>8. Grace Destroys the Economy of Shame</a:t>
            </a:r>
            <a:endParaRPr lang="en-US" sz="1400" dirty="0"/>
          </a:p>
          <a:p>
            <a:r>
              <a:rPr lang="en-US" sz="1400" dirty="0"/>
              <a:t> </a:t>
            </a:r>
          </a:p>
          <a:p>
            <a:r>
              <a:rPr lang="en-US" sz="1400" dirty="0"/>
              <a:t>Fear-based systems need shame to function.</a:t>
            </a:r>
          </a:p>
          <a:p>
            <a:r>
              <a:rPr lang="en-US" sz="1400" dirty="0"/>
              <a:t> </a:t>
            </a:r>
          </a:p>
          <a:p>
            <a:r>
              <a:rPr lang="en-US" sz="1400" dirty="0"/>
              <a:t>Grace absorbs shame.</a:t>
            </a:r>
          </a:p>
          <a:p>
            <a:r>
              <a:rPr lang="en-US" sz="1400" dirty="0"/>
              <a:t> </a:t>
            </a:r>
          </a:p>
          <a:p>
            <a:r>
              <a:rPr lang="en-US" sz="1400" b="1" dirty="0"/>
              <a:t>Hebrews 12:2</a:t>
            </a:r>
            <a:endParaRPr lang="en-US" sz="1400" dirty="0"/>
          </a:p>
          <a:p>
            <a:r>
              <a:rPr lang="en-US" sz="1400" dirty="0"/>
              <a:t> </a:t>
            </a:r>
          </a:p>
          <a:p>
            <a:r>
              <a:rPr lang="en-US" sz="1400" dirty="0"/>
              <a:t>“He endured the cross, disregarding its shame.”</a:t>
            </a:r>
          </a:p>
          <a:p>
            <a:r>
              <a:rPr lang="en-US" sz="1400" dirty="0"/>
              <a:t> </a:t>
            </a:r>
          </a:p>
          <a:p>
            <a:r>
              <a:rPr lang="en-US" sz="1400" dirty="0"/>
              <a:t>When shame is removed,</a:t>
            </a:r>
          </a:p>
          <a:p>
            <a:r>
              <a:rPr lang="en-US" sz="1400" dirty="0"/>
              <a:t>fear loses its leverage.</a:t>
            </a:r>
          </a:p>
          <a:p>
            <a:r>
              <a:rPr lang="en-US" sz="1400" dirty="0"/>
              <a:t> </a:t>
            </a:r>
          </a:p>
          <a:p>
            <a:r>
              <a:rPr lang="en-US" sz="1400" dirty="0"/>
              <a:t> </a:t>
            </a:r>
          </a:p>
          <a:p>
            <a:r>
              <a:rPr lang="en-US" sz="1400" b="1" dirty="0"/>
              <a:t>9. Grace Makes the Law Obsolete as a Control System</a:t>
            </a:r>
            <a:endParaRPr lang="en-US" sz="1400" dirty="0"/>
          </a:p>
          <a:p>
            <a:r>
              <a:rPr lang="en-US" sz="1400" dirty="0"/>
              <a:t> </a:t>
            </a:r>
          </a:p>
          <a:p>
            <a:r>
              <a:rPr lang="en-US" sz="1400" dirty="0"/>
              <a:t>The Law exposed sin.</a:t>
            </a:r>
          </a:p>
          <a:p>
            <a:r>
              <a:rPr lang="en-US" sz="1400" dirty="0"/>
              <a:t>Grace removes condemnation.</a:t>
            </a:r>
          </a:p>
          <a:p>
            <a:r>
              <a:rPr lang="en-US" sz="1400" dirty="0"/>
              <a:t> </a:t>
            </a:r>
          </a:p>
          <a:p>
            <a:r>
              <a:rPr lang="en-US" sz="1400" b="1" dirty="0"/>
              <a:t>Romans 8:1</a:t>
            </a:r>
            <a:endParaRPr lang="en-US" sz="1400" dirty="0"/>
          </a:p>
          <a:p>
            <a:r>
              <a:rPr lang="en-US" sz="1400" dirty="0"/>
              <a:t> </a:t>
            </a:r>
          </a:p>
          <a:p>
            <a:r>
              <a:rPr lang="en-US" sz="1400" dirty="0"/>
              <a:t>“There is therefore now no condemnation for those who are in Christ Jesus.”</a:t>
            </a:r>
          </a:p>
          <a:p>
            <a:r>
              <a:rPr lang="en-US" sz="1400" dirty="0"/>
              <a:t> </a:t>
            </a:r>
          </a:p>
          <a:p>
            <a:r>
              <a:rPr lang="en-US" sz="1400" dirty="0"/>
              <a:t>Without condemnation:</a:t>
            </a:r>
          </a:p>
          <a:p>
            <a:r>
              <a:rPr lang="en-US" sz="1400" dirty="0"/>
              <a:t> </a:t>
            </a:r>
          </a:p>
          <a:p>
            <a:pPr rtl="0" fontAlgn="ctr"/>
            <a:r>
              <a:rPr lang="en-US" sz="1400" dirty="0"/>
              <a:t>fear loses urgency</a:t>
            </a:r>
          </a:p>
          <a:p>
            <a:pPr rtl="0" fontAlgn="ctr"/>
            <a:r>
              <a:rPr lang="en-US" sz="1400" dirty="0"/>
              <a:t>systems lose authority</a:t>
            </a:r>
          </a:p>
          <a:p>
            <a:pPr rtl="0" fontAlgn="ctr"/>
            <a:r>
              <a:rPr lang="en-US" sz="1400" dirty="0"/>
              <a:t>trust becomes possible</a:t>
            </a:r>
          </a:p>
          <a:p>
            <a:r>
              <a:rPr lang="en-US" sz="1400" dirty="0"/>
              <a:t> </a:t>
            </a:r>
          </a:p>
          <a:p>
            <a:r>
              <a:rPr lang="en-US" sz="1400" dirty="0"/>
              <a:t> </a:t>
            </a:r>
          </a:p>
          <a:p>
            <a:r>
              <a:rPr lang="en-US" sz="1400" b="1" dirty="0"/>
              <a:t>10. Why Grace Is So Threatening</a:t>
            </a:r>
            <a:endParaRPr lang="en-US" sz="1400" dirty="0"/>
          </a:p>
          <a:p>
            <a:r>
              <a:rPr lang="en-US" sz="1400" dirty="0"/>
              <a:t> </a:t>
            </a:r>
          </a:p>
          <a:p>
            <a:r>
              <a:rPr lang="en-US" sz="1400" dirty="0"/>
              <a:t>Grace cannot be controlled.</a:t>
            </a:r>
          </a:p>
          <a:p>
            <a:r>
              <a:rPr lang="en-US" sz="1400" dirty="0"/>
              <a:t>It cannot be measured.</a:t>
            </a:r>
          </a:p>
          <a:p>
            <a:r>
              <a:rPr lang="en-US" sz="1400" dirty="0"/>
              <a:t>It cannot be monopolized.</a:t>
            </a:r>
          </a:p>
          <a:p>
            <a:r>
              <a:rPr lang="en-US" sz="1400" dirty="0"/>
              <a:t> </a:t>
            </a:r>
          </a:p>
          <a:p>
            <a:r>
              <a:rPr lang="en-US" sz="1400" b="1" dirty="0"/>
              <a:t>Galatians 5:1</a:t>
            </a:r>
            <a:endParaRPr lang="en-US" sz="1400" dirty="0"/>
          </a:p>
          <a:p>
            <a:r>
              <a:rPr lang="en-US" sz="1400" dirty="0"/>
              <a:t> </a:t>
            </a:r>
          </a:p>
          <a:p>
            <a:r>
              <a:rPr lang="en-US" sz="1400" dirty="0"/>
              <a:t>“For freedom Christ has set us free.”</a:t>
            </a:r>
          </a:p>
          <a:p>
            <a:r>
              <a:rPr lang="en-US" sz="1400" dirty="0"/>
              <a:t> </a:t>
            </a:r>
          </a:p>
          <a:p>
            <a:r>
              <a:rPr lang="en-US" sz="1400" dirty="0"/>
              <a:t>Freedom is dangerous to systems.</a:t>
            </a:r>
          </a:p>
          <a:p>
            <a:r>
              <a:rPr lang="en-US" sz="1400" dirty="0"/>
              <a:t>But it is essential for life.</a:t>
            </a:r>
          </a:p>
          <a:p>
            <a:r>
              <a:rPr lang="en-US" sz="1400" dirty="0"/>
              <a:t> </a:t>
            </a:r>
          </a:p>
          <a:p>
            <a:r>
              <a:rPr lang="en-US" sz="1400" dirty="0"/>
              <a:t>  </a:t>
            </a:r>
          </a:p>
          <a:p>
            <a:r>
              <a:rPr lang="en-US" sz="1400" b="1" dirty="0"/>
              <a:t>11. Apostolic Pattern: From System to Life</a:t>
            </a:r>
            <a:endParaRPr lang="en-US" sz="1400" dirty="0"/>
          </a:p>
          <a:p>
            <a:r>
              <a:rPr lang="en-US" sz="1400" dirty="0"/>
              <a:t> </a:t>
            </a:r>
          </a:p>
          <a:p>
            <a:r>
              <a:rPr lang="en-US" sz="1400" dirty="0"/>
              <a:t>Every New Testament shift follows this pattern:</a:t>
            </a:r>
          </a:p>
          <a:p>
            <a:pPr lvl="1" rtl="0" fontAlgn="ctr"/>
            <a:r>
              <a:rPr lang="en-US" sz="1400" dirty="0"/>
              <a:t>from law to life</a:t>
            </a:r>
          </a:p>
          <a:p>
            <a:pPr lvl="1" rtl="0" fontAlgn="ctr"/>
            <a:r>
              <a:rPr lang="en-US" sz="1400" dirty="0"/>
              <a:t>from fear to faith</a:t>
            </a:r>
          </a:p>
          <a:p>
            <a:pPr lvl="1" rtl="0" fontAlgn="ctr"/>
            <a:r>
              <a:rPr lang="en-US" sz="1400" dirty="0"/>
              <a:t>from performance to promise</a:t>
            </a:r>
          </a:p>
          <a:p>
            <a:pPr lvl="1" rtl="0" fontAlgn="ctr"/>
            <a:r>
              <a:rPr lang="en-US" sz="1400" dirty="0"/>
              <a:t>from system to Spirit</a:t>
            </a:r>
          </a:p>
          <a:p>
            <a:r>
              <a:rPr lang="en-US" sz="1400" dirty="0"/>
              <a:t> </a:t>
            </a:r>
          </a:p>
          <a:p>
            <a:r>
              <a:rPr lang="en-US" sz="1400" b="1" dirty="0"/>
              <a:t>2 Corinthians 3:17  </a:t>
            </a:r>
            <a:r>
              <a:rPr lang="en-US" sz="1400" i="1" dirty="0"/>
              <a:t>“Now the Lord is the Spirit, and where the Spirit of the Lord is present, there is freedom.”</a:t>
            </a:r>
          </a:p>
          <a:p>
            <a:r>
              <a:rPr lang="en-US" sz="1400" dirty="0"/>
              <a:t> </a:t>
            </a:r>
          </a:p>
          <a:p>
            <a:r>
              <a:rPr lang="en-US" sz="1400" dirty="0"/>
              <a:t> </a:t>
            </a:r>
          </a:p>
          <a:p>
            <a:r>
              <a:rPr lang="en-US" sz="1400" b="1" dirty="0"/>
              <a:t>Final Summary</a:t>
            </a:r>
            <a:endParaRPr lang="en-US" sz="1400" dirty="0"/>
          </a:p>
          <a:p>
            <a:r>
              <a:rPr lang="en-US" sz="1400" dirty="0"/>
              <a:t> </a:t>
            </a:r>
          </a:p>
          <a:p>
            <a:r>
              <a:rPr lang="en-US" sz="1400" dirty="0"/>
              <a:t>Fear builds systems to protect identity.</a:t>
            </a:r>
          </a:p>
          <a:p>
            <a:r>
              <a:rPr lang="en-US" sz="1400" dirty="0"/>
              <a:t>Grace reveals identity so systems are no longer needed.</a:t>
            </a:r>
          </a:p>
          <a:p>
            <a:r>
              <a:rPr lang="en-US" sz="1400" dirty="0"/>
              <a:t> </a:t>
            </a:r>
          </a:p>
          <a:p>
            <a:r>
              <a:rPr lang="en-US" sz="1400" dirty="0"/>
              <a:t>Fear asks: </a:t>
            </a:r>
            <a:r>
              <a:rPr lang="en-US" sz="1400" i="1" dirty="0"/>
              <a:t>Am I safe?</a:t>
            </a:r>
            <a:endParaRPr lang="en-US" sz="1400" dirty="0"/>
          </a:p>
          <a:p>
            <a:r>
              <a:rPr lang="en-US" sz="1400" dirty="0"/>
              <a:t>Grace answers: </a:t>
            </a:r>
            <a:r>
              <a:rPr lang="en-US" sz="1400" i="1" dirty="0"/>
              <a:t>You are mine.</a:t>
            </a:r>
            <a:endParaRPr lang="en-US" sz="1400" dirty="0"/>
          </a:p>
          <a:p>
            <a:r>
              <a:rPr lang="en-US" sz="1400" dirty="0"/>
              <a:t> </a:t>
            </a:r>
          </a:p>
          <a:p>
            <a:r>
              <a:rPr lang="en-US" sz="1400" dirty="0"/>
              <a:t>And once that is settled,</a:t>
            </a:r>
          </a:p>
          <a:p>
            <a:r>
              <a:rPr lang="en-US" sz="1400" dirty="0"/>
              <a:t>righteousness no longer needs to be managed.</a:t>
            </a:r>
          </a:p>
          <a:p>
            <a:r>
              <a:rPr lang="en-US" sz="1400" dirty="0"/>
              <a:t> </a:t>
            </a:r>
          </a:p>
          <a:p>
            <a:endParaRPr lang="en-US" dirty="0"/>
          </a:p>
        </p:txBody>
      </p:sp>
      <p:sp>
        <p:nvSpPr>
          <p:cNvPr id="4" name="Slide Number Placeholder 3">
            <a:extLst>
              <a:ext uri="{FF2B5EF4-FFF2-40B4-BE49-F238E27FC236}">
                <a16:creationId xmlns:a16="http://schemas.microsoft.com/office/drawing/2014/main" id="{B94CA793-3D0D-0E37-16B5-C97ADBA9A2B0}"/>
              </a:ext>
            </a:extLst>
          </p:cNvPr>
          <p:cNvSpPr>
            <a:spLocks noGrp="1"/>
          </p:cNvSpPr>
          <p:nvPr>
            <p:ph type="sldNum" sz="quarter" idx="10"/>
          </p:nvPr>
        </p:nvSpPr>
        <p:spPr/>
        <p:txBody>
          <a:bodyPr/>
          <a:lstStyle/>
          <a:p>
            <a:pPr>
              <a:defRPr/>
            </a:pPr>
            <a:fld id="{07776858-791E-4C8D-8FA3-473B3AFECFAC}" type="slidenum">
              <a:rPr lang="en-US" smtClean="0"/>
              <a:pPr>
                <a:defRPr/>
              </a:pPr>
              <a:t>10</a:t>
            </a:fld>
            <a:endParaRPr lang="en-US" dirty="0"/>
          </a:p>
        </p:txBody>
      </p:sp>
    </p:spTree>
    <p:extLst>
      <p:ext uri="{BB962C8B-B14F-4D97-AF65-F5344CB8AC3E}">
        <p14:creationId xmlns:p14="http://schemas.microsoft.com/office/powerpoint/2010/main" val="21633139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37467-3602-9284-FA3F-053ECC5201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331A3-E536-CEC3-E50D-13528F617D3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76DF4C3-B299-0A38-7D7B-A8D639FCEC05}"/>
              </a:ext>
            </a:extLst>
          </p:cNvPr>
          <p:cNvSpPr>
            <a:spLocks noGrp="1"/>
          </p:cNvSpPr>
          <p:nvPr>
            <p:ph type="body" idx="1"/>
          </p:nvPr>
        </p:nvSpPr>
        <p:spPr/>
        <p:txBody>
          <a:bodyPr>
            <a:normAutofit fontScale="25000" lnSpcReduction="20000"/>
          </a:bodyPr>
          <a:lstStyle/>
          <a:p>
            <a:r>
              <a:rPr lang="en-US" sz="1400" b="1" dirty="0"/>
              <a:t>How the Early Church Resisted System-Driven Religion</a:t>
            </a:r>
            <a:endParaRPr lang="en-US" sz="1400" dirty="0"/>
          </a:p>
          <a:p>
            <a:r>
              <a:rPr lang="en-US" sz="1400" dirty="0"/>
              <a:t> </a:t>
            </a:r>
          </a:p>
          <a:p>
            <a:r>
              <a:rPr lang="en-US" sz="1400" b="1" dirty="0"/>
              <a:t>1. They Resisted Replacing Christ With a System</a:t>
            </a:r>
            <a:endParaRPr lang="en-US" sz="1400" dirty="0"/>
          </a:p>
          <a:p>
            <a:r>
              <a:rPr lang="en-US" sz="1400" dirty="0"/>
              <a:t> </a:t>
            </a:r>
          </a:p>
          <a:p>
            <a:r>
              <a:rPr lang="en-US" sz="1400" dirty="0"/>
              <a:t>The apostles did not offer a new religious structure.</a:t>
            </a:r>
          </a:p>
          <a:p>
            <a:r>
              <a:rPr lang="en-US" sz="1400" dirty="0"/>
              <a:t>They proclaimed a risen Lord.</a:t>
            </a:r>
          </a:p>
          <a:p>
            <a:r>
              <a:rPr lang="en-US" sz="1400" dirty="0"/>
              <a:t> </a:t>
            </a:r>
          </a:p>
          <a:p>
            <a:r>
              <a:rPr lang="en-US" sz="1400" b="1" dirty="0"/>
              <a:t>Acts 2:36</a:t>
            </a:r>
            <a:endParaRPr lang="en-US" sz="1400" dirty="0"/>
          </a:p>
          <a:p>
            <a:r>
              <a:rPr lang="en-US" sz="1400" dirty="0"/>
              <a:t> </a:t>
            </a:r>
          </a:p>
          <a:p>
            <a:r>
              <a:rPr lang="en-US" sz="1400" dirty="0"/>
              <a:t>“God has made this Jesus whom you crucified both Lord and Christ.”</a:t>
            </a:r>
          </a:p>
          <a:p>
            <a:r>
              <a:rPr lang="en-US" sz="1400" dirty="0"/>
              <a:t> </a:t>
            </a:r>
          </a:p>
          <a:p>
            <a:r>
              <a:rPr lang="en-US" sz="1400" dirty="0"/>
              <a:t>Their allegiance was personal, not institutional.</a:t>
            </a:r>
          </a:p>
          <a:p>
            <a:r>
              <a:rPr lang="en-US" sz="1400" dirty="0"/>
              <a:t>Christ was not the foundation of a system.</a:t>
            </a:r>
          </a:p>
          <a:p>
            <a:r>
              <a:rPr lang="en-US" sz="1400" dirty="0"/>
              <a:t>He was the center of life.</a:t>
            </a:r>
          </a:p>
          <a:p>
            <a:r>
              <a:rPr lang="en-US" sz="1400" dirty="0"/>
              <a:t> </a:t>
            </a:r>
          </a:p>
          <a:p>
            <a:r>
              <a:rPr lang="en-US" sz="1400" dirty="0"/>
              <a:t>This is why the church spread before it had buildings, creeds, or hierarchies.</a:t>
            </a:r>
          </a:p>
          <a:p>
            <a:r>
              <a:rPr lang="en-US" sz="1400" dirty="0"/>
              <a:t> </a:t>
            </a:r>
          </a:p>
          <a:p>
            <a:r>
              <a:rPr lang="en-US" sz="1400" dirty="0"/>
              <a:t> </a:t>
            </a:r>
          </a:p>
          <a:p>
            <a:r>
              <a:rPr lang="en-US" sz="1400" b="1" dirty="0"/>
              <a:t>2. They Rejected Law as a Control Mechanism</a:t>
            </a:r>
            <a:endParaRPr lang="en-US" sz="1400" dirty="0"/>
          </a:p>
          <a:p>
            <a:r>
              <a:rPr lang="en-US" sz="1400" dirty="0"/>
              <a:t> </a:t>
            </a:r>
          </a:p>
          <a:p>
            <a:r>
              <a:rPr lang="en-US" sz="1400" dirty="0"/>
              <a:t>The first major crisis tested this directly.</a:t>
            </a:r>
          </a:p>
          <a:p>
            <a:r>
              <a:rPr lang="en-US" sz="1400" dirty="0"/>
              <a:t> </a:t>
            </a:r>
          </a:p>
          <a:p>
            <a:r>
              <a:rPr lang="en-US" sz="1400" dirty="0"/>
              <a:t>Should Gentile believers submit to the Jewish Law?</a:t>
            </a:r>
          </a:p>
          <a:p>
            <a:r>
              <a:rPr lang="en-US" sz="1400" dirty="0"/>
              <a:t> </a:t>
            </a:r>
          </a:p>
          <a:p>
            <a:r>
              <a:rPr lang="en-US" sz="1400" dirty="0"/>
              <a:t>The apostles answered clearly.</a:t>
            </a:r>
          </a:p>
          <a:p>
            <a:r>
              <a:rPr lang="en-US" sz="1400" dirty="0"/>
              <a:t> </a:t>
            </a:r>
          </a:p>
          <a:p>
            <a:r>
              <a:rPr lang="en-US" sz="1400" b="1" dirty="0"/>
              <a:t>Acts 15:10–11</a:t>
            </a:r>
            <a:endParaRPr lang="en-US" sz="1400" dirty="0"/>
          </a:p>
          <a:p>
            <a:r>
              <a:rPr lang="en-US" sz="1400" dirty="0"/>
              <a:t> </a:t>
            </a:r>
          </a:p>
          <a:p>
            <a:r>
              <a:rPr lang="en-US" sz="1400" dirty="0"/>
              <a:t>“Why are you putting God to the test by placing on the neck of the disciples a yoke that neither our ancestors nor we have been able to bear?”</a:t>
            </a:r>
          </a:p>
          <a:p>
            <a:r>
              <a:rPr lang="en-US" sz="1400" dirty="0"/>
              <a:t> </a:t>
            </a:r>
          </a:p>
          <a:p>
            <a:r>
              <a:rPr lang="en-US" sz="1400" dirty="0"/>
              <a:t>They refused to rebuild the Law as a righteousness system.</a:t>
            </a:r>
          </a:p>
          <a:p>
            <a:r>
              <a:rPr lang="en-US" sz="1400" dirty="0"/>
              <a:t> </a:t>
            </a:r>
          </a:p>
          <a:p>
            <a:r>
              <a:rPr lang="en-US" sz="1400" dirty="0"/>
              <a:t>This moment defined the church:</a:t>
            </a:r>
          </a:p>
          <a:p>
            <a:r>
              <a:rPr lang="en-US" sz="1400" dirty="0"/>
              <a:t> </a:t>
            </a:r>
          </a:p>
          <a:p>
            <a:pPr rtl="0" fontAlgn="ctr"/>
            <a:r>
              <a:rPr lang="en-US" sz="1400" dirty="0"/>
              <a:t>no ethnic righteousness</a:t>
            </a:r>
          </a:p>
          <a:p>
            <a:pPr rtl="0" fontAlgn="ctr"/>
            <a:r>
              <a:rPr lang="en-US" sz="1400" dirty="0"/>
              <a:t>no performance entry</a:t>
            </a:r>
          </a:p>
          <a:p>
            <a:pPr rtl="0" fontAlgn="ctr"/>
            <a:r>
              <a:rPr lang="en-US" sz="1400" dirty="0"/>
              <a:t>no system replacing grace</a:t>
            </a:r>
          </a:p>
          <a:p>
            <a:r>
              <a:rPr lang="en-US" sz="1400" dirty="0"/>
              <a:t> </a:t>
            </a:r>
          </a:p>
          <a:p>
            <a:r>
              <a:rPr lang="en-US" sz="1400" dirty="0"/>
              <a:t> </a:t>
            </a:r>
          </a:p>
          <a:p>
            <a:r>
              <a:rPr lang="en-US" sz="1400" b="1" dirty="0"/>
              <a:t>3. They Centered Fellowship, Not Regulation</a:t>
            </a:r>
            <a:endParaRPr lang="en-US" sz="1400" dirty="0"/>
          </a:p>
          <a:p>
            <a:r>
              <a:rPr lang="en-US" sz="1400" dirty="0"/>
              <a:t> </a:t>
            </a:r>
          </a:p>
          <a:p>
            <a:r>
              <a:rPr lang="en-US" sz="1400" dirty="0"/>
              <a:t>Early Christian life was relational, not procedural.</a:t>
            </a:r>
          </a:p>
          <a:p>
            <a:r>
              <a:rPr lang="en-US" sz="1400" dirty="0"/>
              <a:t> </a:t>
            </a:r>
          </a:p>
          <a:p>
            <a:r>
              <a:rPr lang="en-US" sz="1400" b="1" dirty="0"/>
              <a:t>Acts 2:42</a:t>
            </a:r>
            <a:endParaRPr lang="en-US" sz="1400" dirty="0"/>
          </a:p>
          <a:p>
            <a:r>
              <a:rPr lang="en-US" sz="1400" dirty="0"/>
              <a:t> </a:t>
            </a:r>
          </a:p>
          <a:p>
            <a:r>
              <a:rPr lang="en-US" sz="1400" dirty="0"/>
              <a:t>“They were devoting themselves to the apostles’ teaching and to fellowship, to the breaking of bread and to prayer.”</a:t>
            </a:r>
          </a:p>
          <a:p>
            <a:r>
              <a:rPr lang="en-US" sz="1400" dirty="0"/>
              <a:t> </a:t>
            </a:r>
          </a:p>
          <a:p>
            <a:r>
              <a:rPr lang="en-US" sz="1400" dirty="0"/>
              <a:t>Notice what is missing:</a:t>
            </a:r>
          </a:p>
          <a:p>
            <a:r>
              <a:rPr lang="en-US" sz="1400" dirty="0"/>
              <a:t> </a:t>
            </a:r>
          </a:p>
          <a:p>
            <a:pPr rtl="0" fontAlgn="ctr"/>
            <a:r>
              <a:rPr lang="en-US" sz="1400" dirty="0"/>
              <a:t>no rulebook</a:t>
            </a:r>
          </a:p>
          <a:p>
            <a:pPr rtl="0" fontAlgn="ctr"/>
            <a:r>
              <a:rPr lang="en-US" sz="1400" dirty="0"/>
              <a:t>no enforcement structure</a:t>
            </a:r>
          </a:p>
          <a:p>
            <a:pPr rtl="0" fontAlgn="ctr"/>
            <a:r>
              <a:rPr lang="en-US" sz="1400" dirty="0"/>
              <a:t>no membership system</a:t>
            </a:r>
          </a:p>
          <a:p>
            <a:r>
              <a:rPr lang="en-US" sz="1400" dirty="0"/>
              <a:t> </a:t>
            </a:r>
          </a:p>
          <a:p>
            <a:r>
              <a:rPr lang="en-US" sz="1400" dirty="0"/>
              <a:t>Order existed.</a:t>
            </a:r>
          </a:p>
          <a:p>
            <a:r>
              <a:rPr lang="en-US" sz="1400" dirty="0"/>
              <a:t>Control did not.</a:t>
            </a:r>
          </a:p>
          <a:p>
            <a:r>
              <a:rPr lang="en-US" sz="1400" dirty="0"/>
              <a:t> </a:t>
            </a:r>
          </a:p>
          <a:p>
            <a:r>
              <a:rPr lang="en-US" sz="1400" dirty="0"/>
              <a:t> </a:t>
            </a:r>
          </a:p>
          <a:p>
            <a:r>
              <a:rPr lang="en-US" sz="1400" b="1" dirty="0"/>
              <a:t>4. They Lived Without Temple Dependence</a:t>
            </a:r>
            <a:endParaRPr lang="en-US" sz="1400" dirty="0"/>
          </a:p>
          <a:p>
            <a:r>
              <a:rPr lang="en-US" sz="1400" dirty="0"/>
              <a:t> </a:t>
            </a:r>
          </a:p>
          <a:p>
            <a:r>
              <a:rPr lang="en-US" sz="1400" dirty="0"/>
              <a:t>The early church did not build a replacement temple.</a:t>
            </a:r>
          </a:p>
          <a:p>
            <a:r>
              <a:rPr lang="en-US" sz="1400" dirty="0"/>
              <a:t> </a:t>
            </a:r>
          </a:p>
          <a:p>
            <a:r>
              <a:rPr lang="en-US" sz="1400" dirty="0"/>
              <a:t>They believed something radical.</a:t>
            </a:r>
          </a:p>
          <a:p>
            <a:r>
              <a:rPr lang="en-US" sz="1400" dirty="0"/>
              <a:t> </a:t>
            </a:r>
          </a:p>
          <a:p>
            <a:r>
              <a:rPr lang="en-US" sz="1400" b="1" dirty="0"/>
              <a:t>1 Corinthians 3:16</a:t>
            </a:r>
            <a:endParaRPr lang="en-US" sz="1400" dirty="0"/>
          </a:p>
          <a:p>
            <a:r>
              <a:rPr lang="en-US" sz="1400" dirty="0"/>
              <a:t> </a:t>
            </a:r>
          </a:p>
          <a:p>
            <a:r>
              <a:rPr lang="en-US" sz="1400" dirty="0"/>
              <a:t>“Do you not know that you are God’s temple and that God’s Spirit lives in you?”</a:t>
            </a:r>
          </a:p>
          <a:p>
            <a:r>
              <a:rPr lang="en-US" sz="1400" dirty="0"/>
              <a:t> </a:t>
            </a:r>
          </a:p>
          <a:p>
            <a:r>
              <a:rPr lang="en-US" sz="1400" dirty="0"/>
              <a:t>This removed sacred space as a control tool.</a:t>
            </a:r>
          </a:p>
          <a:p>
            <a:r>
              <a:rPr lang="en-US" sz="1400" dirty="0"/>
              <a:t> </a:t>
            </a:r>
          </a:p>
          <a:p>
            <a:r>
              <a:rPr lang="en-US" sz="1400" dirty="0"/>
              <a:t>No priesthood monopoly.</a:t>
            </a:r>
          </a:p>
          <a:p>
            <a:r>
              <a:rPr lang="en-US" sz="1400" dirty="0"/>
              <a:t>No sacred geography.</a:t>
            </a:r>
          </a:p>
          <a:p>
            <a:r>
              <a:rPr lang="en-US" sz="1400" dirty="0"/>
              <a:t>No system of access.</a:t>
            </a:r>
          </a:p>
          <a:p>
            <a:r>
              <a:rPr lang="en-US" sz="1400" dirty="0"/>
              <a:t> </a:t>
            </a:r>
          </a:p>
          <a:p>
            <a:r>
              <a:rPr lang="en-US" sz="1400" dirty="0"/>
              <a:t> </a:t>
            </a:r>
          </a:p>
          <a:p>
            <a:r>
              <a:rPr lang="en-US" sz="1400" b="1" dirty="0"/>
              <a:t>5. They Resisted Religious Elites</a:t>
            </a:r>
            <a:endParaRPr lang="en-US" sz="1400" dirty="0"/>
          </a:p>
          <a:p>
            <a:r>
              <a:rPr lang="en-US" sz="1400" dirty="0"/>
              <a:t> </a:t>
            </a:r>
          </a:p>
          <a:p>
            <a:r>
              <a:rPr lang="en-US" sz="1400" dirty="0"/>
              <a:t>Authority existed, but it was relational and accountable.</a:t>
            </a:r>
          </a:p>
          <a:p>
            <a:r>
              <a:rPr lang="en-US" sz="1400" dirty="0"/>
              <a:t> </a:t>
            </a:r>
          </a:p>
          <a:p>
            <a:r>
              <a:rPr lang="en-US" sz="1400" b="1" dirty="0"/>
              <a:t>Matthew 23:8</a:t>
            </a:r>
            <a:endParaRPr lang="en-US" sz="1400" dirty="0"/>
          </a:p>
          <a:p>
            <a:r>
              <a:rPr lang="en-US" sz="1400" dirty="0"/>
              <a:t> </a:t>
            </a:r>
          </a:p>
          <a:p>
            <a:r>
              <a:rPr lang="en-US" sz="1400" dirty="0"/>
              <a:t>“But you are not to be called ‘Rabbi,’ for you have one Teacher and you are all brothers.”</a:t>
            </a:r>
          </a:p>
          <a:p>
            <a:r>
              <a:rPr lang="en-US" sz="1400" dirty="0"/>
              <a:t> </a:t>
            </a:r>
          </a:p>
          <a:p>
            <a:r>
              <a:rPr lang="en-US" sz="1400" dirty="0"/>
              <a:t>Early leaders served.</a:t>
            </a:r>
          </a:p>
          <a:p>
            <a:r>
              <a:rPr lang="en-US" sz="1400" dirty="0"/>
              <a:t>They did not dominate.</a:t>
            </a:r>
          </a:p>
          <a:p>
            <a:r>
              <a:rPr lang="en-US" sz="1400" dirty="0"/>
              <a:t> </a:t>
            </a:r>
          </a:p>
          <a:p>
            <a:r>
              <a:rPr lang="en-US" sz="1400" b="1" dirty="0"/>
              <a:t>1 Peter 5:2–3</a:t>
            </a:r>
            <a:endParaRPr lang="en-US" sz="1400" dirty="0"/>
          </a:p>
          <a:p>
            <a:r>
              <a:rPr lang="en-US" sz="1400" dirty="0"/>
              <a:t> </a:t>
            </a:r>
          </a:p>
          <a:p>
            <a:r>
              <a:rPr lang="en-US" sz="1400" dirty="0"/>
              <a:t>“Shepherd the flock of God among you… not as lording it over those entrusted to you.”</a:t>
            </a:r>
          </a:p>
          <a:p>
            <a:r>
              <a:rPr lang="en-US" sz="1400" dirty="0"/>
              <a:t> </a:t>
            </a:r>
          </a:p>
          <a:p>
            <a:r>
              <a:rPr lang="en-US" sz="1400" dirty="0"/>
              <a:t>System-driven religion needs rank.</a:t>
            </a:r>
          </a:p>
          <a:p>
            <a:r>
              <a:rPr lang="en-US" sz="1400" dirty="0"/>
              <a:t>The early church emphasized brotherhood.</a:t>
            </a:r>
          </a:p>
          <a:p>
            <a:r>
              <a:rPr lang="en-US" sz="1400" dirty="0"/>
              <a:t> </a:t>
            </a:r>
          </a:p>
          <a:p>
            <a:r>
              <a:rPr lang="en-US" sz="1400" dirty="0"/>
              <a:t> </a:t>
            </a:r>
          </a:p>
          <a:p>
            <a:r>
              <a:rPr lang="en-US" sz="1400" b="1" dirty="0"/>
              <a:t>6. They Refused Social Contract Morality</a:t>
            </a:r>
            <a:endParaRPr lang="en-US" sz="1400" dirty="0"/>
          </a:p>
          <a:p>
            <a:r>
              <a:rPr lang="en-US" sz="1400" dirty="0"/>
              <a:t> </a:t>
            </a:r>
          </a:p>
          <a:p>
            <a:r>
              <a:rPr lang="en-US" sz="1400" dirty="0"/>
              <a:t>The church did not blend into Roman civic religion.</a:t>
            </a:r>
          </a:p>
          <a:p>
            <a:r>
              <a:rPr lang="en-US" sz="1400" dirty="0"/>
              <a:t> </a:t>
            </a:r>
          </a:p>
          <a:p>
            <a:r>
              <a:rPr lang="en-US" sz="1400" dirty="0"/>
              <a:t>Their righteousness did not come from social approval.</a:t>
            </a:r>
          </a:p>
          <a:p>
            <a:r>
              <a:rPr lang="en-US" sz="1400" dirty="0"/>
              <a:t> </a:t>
            </a:r>
          </a:p>
          <a:p>
            <a:r>
              <a:rPr lang="en-US" sz="1400" b="1" dirty="0"/>
              <a:t>Acts 5:29</a:t>
            </a:r>
            <a:endParaRPr lang="en-US" sz="1400" dirty="0"/>
          </a:p>
          <a:p>
            <a:r>
              <a:rPr lang="en-US" sz="1400" dirty="0"/>
              <a:t> </a:t>
            </a:r>
          </a:p>
          <a:p>
            <a:r>
              <a:rPr lang="en-US" sz="1400" dirty="0"/>
              <a:t>“We must obey God rather than people.”</a:t>
            </a:r>
          </a:p>
          <a:p>
            <a:r>
              <a:rPr lang="en-US" sz="1400" dirty="0"/>
              <a:t> </a:t>
            </a:r>
          </a:p>
          <a:p>
            <a:r>
              <a:rPr lang="en-US" sz="1400" dirty="0"/>
              <a:t>They were willing to suffer exclusion rather than compromise allegiance.</a:t>
            </a:r>
          </a:p>
          <a:p>
            <a:r>
              <a:rPr lang="en-US" sz="1400" dirty="0"/>
              <a:t> </a:t>
            </a:r>
          </a:p>
          <a:p>
            <a:r>
              <a:rPr lang="en-US" sz="1400" dirty="0"/>
              <a:t>This is why persecution followed.</a:t>
            </a:r>
          </a:p>
          <a:p>
            <a:r>
              <a:rPr lang="en-US" sz="1400" dirty="0"/>
              <a:t>Grace-made people do not submit easily to moral systems.</a:t>
            </a:r>
          </a:p>
          <a:p>
            <a:r>
              <a:rPr lang="en-US" sz="1400" dirty="0"/>
              <a:t> </a:t>
            </a:r>
          </a:p>
          <a:p>
            <a:r>
              <a:rPr lang="en-US" sz="1400" dirty="0"/>
              <a:t> </a:t>
            </a:r>
          </a:p>
          <a:p>
            <a:r>
              <a:rPr lang="en-US" sz="1400" b="1" dirty="0"/>
              <a:t>7. They Practiced Voluntary, Not Enforced, Obedience</a:t>
            </a:r>
            <a:endParaRPr lang="en-US" sz="1400" dirty="0"/>
          </a:p>
          <a:p>
            <a:r>
              <a:rPr lang="en-US" sz="1400" dirty="0"/>
              <a:t> </a:t>
            </a:r>
          </a:p>
          <a:p>
            <a:r>
              <a:rPr lang="en-US" sz="1400" dirty="0"/>
              <a:t>Giving, service, and sacrifice were not compelled.</a:t>
            </a:r>
          </a:p>
          <a:p>
            <a:r>
              <a:rPr lang="en-US" sz="1400" dirty="0"/>
              <a:t> </a:t>
            </a:r>
          </a:p>
          <a:p>
            <a:r>
              <a:rPr lang="en-US" sz="1400" b="1" dirty="0"/>
              <a:t>2 Corinthians 9:7</a:t>
            </a:r>
            <a:endParaRPr lang="en-US" sz="1400" dirty="0"/>
          </a:p>
          <a:p>
            <a:r>
              <a:rPr lang="en-US" sz="1400" dirty="0"/>
              <a:t> </a:t>
            </a:r>
          </a:p>
          <a:p>
            <a:r>
              <a:rPr lang="en-US" sz="1400" dirty="0"/>
              <a:t>“Each one of you should give just as he has decided in his heart… for God loves a cheerful giver.”</a:t>
            </a:r>
          </a:p>
          <a:p>
            <a:r>
              <a:rPr lang="en-US" sz="1400" dirty="0"/>
              <a:t> </a:t>
            </a:r>
          </a:p>
          <a:p>
            <a:r>
              <a:rPr lang="en-US" sz="1400" dirty="0"/>
              <a:t>Fear systems demand compliance.</a:t>
            </a:r>
          </a:p>
          <a:p>
            <a:r>
              <a:rPr lang="en-US" sz="1400" dirty="0"/>
              <a:t>Grace invites response.</a:t>
            </a:r>
          </a:p>
          <a:p>
            <a:r>
              <a:rPr lang="en-US" sz="1400" dirty="0"/>
              <a:t> </a:t>
            </a:r>
          </a:p>
          <a:p>
            <a:r>
              <a:rPr lang="en-US" sz="1400" dirty="0"/>
              <a:t>This preserved sincerity and humility.</a:t>
            </a:r>
          </a:p>
          <a:p>
            <a:r>
              <a:rPr lang="en-US" sz="1400" dirty="0"/>
              <a:t> </a:t>
            </a:r>
          </a:p>
          <a:p>
            <a:r>
              <a:rPr lang="en-US" sz="1400" dirty="0"/>
              <a:t> </a:t>
            </a:r>
          </a:p>
          <a:p>
            <a:r>
              <a:rPr lang="en-US" sz="1400" b="1" dirty="0"/>
              <a:t>8. They Kept Repentance Central</a:t>
            </a:r>
            <a:endParaRPr lang="en-US" sz="1400" dirty="0"/>
          </a:p>
          <a:p>
            <a:r>
              <a:rPr lang="en-US" sz="1400" dirty="0"/>
              <a:t> </a:t>
            </a:r>
          </a:p>
          <a:p>
            <a:r>
              <a:rPr lang="en-US" sz="1400" dirty="0"/>
              <a:t>System religion minimizes repentance.</a:t>
            </a:r>
          </a:p>
          <a:p>
            <a:r>
              <a:rPr lang="en-US" sz="1400" dirty="0"/>
              <a:t>It prefers rule-keeping.</a:t>
            </a:r>
          </a:p>
          <a:p>
            <a:r>
              <a:rPr lang="en-US" sz="1400" dirty="0"/>
              <a:t> </a:t>
            </a:r>
          </a:p>
          <a:p>
            <a:r>
              <a:rPr lang="en-US" sz="1400" dirty="0"/>
              <a:t>The early church preached repentance constantly.</a:t>
            </a:r>
          </a:p>
          <a:p>
            <a:r>
              <a:rPr lang="en-US" sz="1400" dirty="0"/>
              <a:t> </a:t>
            </a:r>
          </a:p>
          <a:p>
            <a:r>
              <a:rPr lang="en-US" sz="1400" b="1" dirty="0"/>
              <a:t>Acts 3:19</a:t>
            </a:r>
            <a:endParaRPr lang="en-US" sz="1400" dirty="0"/>
          </a:p>
          <a:p>
            <a:r>
              <a:rPr lang="en-US" sz="1400" dirty="0"/>
              <a:t> </a:t>
            </a:r>
          </a:p>
          <a:p>
            <a:r>
              <a:rPr lang="en-US" sz="1400" dirty="0"/>
              <a:t>“Therefore repent and turn back so that your sins may be wiped out.”</a:t>
            </a:r>
          </a:p>
          <a:p>
            <a:r>
              <a:rPr lang="en-US" sz="1400" dirty="0"/>
              <a:t> </a:t>
            </a:r>
          </a:p>
          <a:p>
            <a:r>
              <a:rPr lang="en-US" sz="1400" dirty="0"/>
              <a:t>Repentance keeps power from settling into systems.</a:t>
            </a:r>
          </a:p>
          <a:p>
            <a:r>
              <a:rPr lang="en-US" sz="1400" dirty="0"/>
              <a:t> </a:t>
            </a:r>
          </a:p>
          <a:p>
            <a:r>
              <a:rPr lang="en-US" sz="1400" dirty="0"/>
              <a:t>It keeps everyone equal at the foot of the cross.</a:t>
            </a:r>
          </a:p>
          <a:p>
            <a:r>
              <a:rPr lang="en-US" sz="1400" dirty="0"/>
              <a:t> </a:t>
            </a:r>
          </a:p>
          <a:p>
            <a:r>
              <a:rPr lang="en-US" sz="1400" dirty="0"/>
              <a:t> </a:t>
            </a:r>
          </a:p>
          <a:p>
            <a:r>
              <a:rPr lang="en-US" sz="1400" b="1" dirty="0"/>
              <a:t>9. They Expected the Spirit to Lead</a:t>
            </a:r>
            <a:endParaRPr lang="en-US" sz="1400" dirty="0"/>
          </a:p>
          <a:p>
            <a:r>
              <a:rPr lang="en-US" sz="1400" dirty="0"/>
              <a:t> </a:t>
            </a:r>
          </a:p>
          <a:p>
            <a:r>
              <a:rPr lang="en-US" sz="1400" dirty="0"/>
              <a:t>The early church trusted the Spirit more than structure.</a:t>
            </a:r>
          </a:p>
          <a:p>
            <a:r>
              <a:rPr lang="en-US" sz="1400" dirty="0"/>
              <a:t> </a:t>
            </a:r>
          </a:p>
          <a:p>
            <a:r>
              <a:rPr lang="en-US" sz="1400" b="1" dirty="0"/>
              <a:t>Romans 8:14</a:t>
            </a:r>
            <a:endParaRPr lang="en-US" sz="1400" dirty="0"/>
          </a:p>
          <a:p>
            <a:r>
              <a:rPr lang="en-US" sz="1400" dirty="0"/>
              <a:t> </a:t>
            </a:r>
          </a:p>
          <a:p>
            <a:r>
              <a:rPr lang="en-US" sz="1400" dirty="0"/>
              <a:t>“For all who are led by the Spirit of God are the sons of God.”</a:t>
            </a:r>
          </a:p>
          <a:p>
            <a:r>
              <a:rPr lang="en-US" sz="1400" dirty="0"/>
              <a:t> </a:t>
            </a:r>
          </a:p>
          <a:p>
            <a:r>
              <a:rPr lang="en-US" sz="1400" dirty="0"/>
              <a:t>This did not mean chaos.</a:t>
            </a:r>
          </a:p>
          <a:p>
            <a:r>
              <a:rPr lang="en-US" sz="1400" dirty="0"/>
              <a:t>It meant dependence.</a:t>
            </a:r>
          </a:p>
          <a:p>
            <a:r>
              <a:rPr lang="en-US" sz="1400" dirty="0"/>
              <a:t> </a:t>
            </a:r>
          </a:p>
          <a:p>
            <a:r>
              <a:rPr lang="en-US" sz="1400" dirty="0"/>
              <a:t>Systems promise predictability.</a:t>
            </a:r>
          </a:p>
          <a:p>
            <a:r>
              <a:rPr lang="en-US" sz="1400" dirty="0"/>
              <a:t>The Spirit requires trust.</a:t>
            </a:r>
          </a:p>
          <a:p>
            <a:r>
              <a:rPr lang="en-US" sz="1400" dirty="0"/>
              <a:t> </a:t>
            </a:r>
          </a:p>
          <a:p>
            <a:r>
              <a:rPr lang="en-US" sz="1400" dirty="0"/>
              <a:t> </a:t>
            </a:r>
          </a:p>
          <a:p>
            <a:r>
              <a:rPr lang="en-US" sz="1400" b="1" dirty="0"/>
              <a:t>10. They Warned Against Returning to Systems</a:t>
            </a:r>
            <a:endParaRPr lang="en-US" sz="1400" dirty="0"/>
          </a:p>
          <a:p>
            <a:r>
              <a:rPr lang="en-US" sz="1400" dirty="0"/>
              <a:t> </a:t>
            </a:r>
          </a:p>
          <a:p>
            <a:r>
              <a:rPr lang="en-US" sz="1400" dirty="0"/>
              <a:t>The apostles repeatedly warned believers not to go backward.</a:t>
            </a:r>
          </a:p>
          <a:p>
            <a:r>
              <a:rPr lang="en-US" sz="1400" dirty="0"/>
              <a:t> </a:t>
            </a:r>
          </a:p>
          <a:p>
            <a:r>
              <a:rPr lang="en-US" sz="1400" b="1" dirty="0"/>
              <a:t>Galatians 5:4</a:t>
            </a:r>
            <a:endParaRPr lang="en-US" sz="1400" dirty="0"/>
          </a:p>
          <a:p>
            <a:r>
              <a:rPr lang="en-US" sz="1400" dirty="0"/>
              <a:t> </a:t>
            </a:r>
          </a:p>
          <a:p>
            <a:r>
              <a:rPr lang="en-US" sz="1400" dirty="0"/>
              <a:t>“You have been severed from Christ, you who are trying to be justified by the law.”</a:t>
            </a:r>
          </a:p>
          <a:p>
            <a:r>
              <a:rPr lang="en-US" sz="1400" dirty="0"/>
              <a:t> </a:t>
            </a:r>
          </a:p>
          <a:p>
            <a:r>
              <a:rPr lang="en-US" sz="1400" dirty="0"/>
              <a:t>Returning to system-based righteousness was seen as spiritual danger.</a:t>
            </a:r>
          </a:p>
          <a:p>
            <a:r>
              <a:rPr lang="en-US" sz="1400" dirty="0"/>
              <a:t> </a:t>
            </a:r>
          </a:p>
          <a:p>
            <a:r>
              <a:rPr lang="en-US" sz="1400" dirty="0"/>
              <a:t>Not maturity.</a:t>
            </a:r>
          </a:p>
          <a:p>
            <a:r>
              <a:rPr lang="en-US" sz="1400" dirty="0"/>
              <a:t>Not stability.</a:t>
            </a:r>
          </a:p>
          <a:p>
            <a:r>
              <a:rPr lang="en-US" sz="1400" dirty="0"/>
              <a:t> </a:t>
            </a:r>
          </a:p>
          <a:p>
            <a:r>
              <a:rPr lang="en-US" sz="1400" dirty="0"/>
              <a:t> </a:t>
            </a:r>
          </a:p>
          <a:p>
            <a:r>
              <a:rPr lang="en-US" sz="1400" b="1" dirty="0"/>
              <a:t>11. Why This Resistance Could Not Last Forever</a:t>
            </a:r>
            <a:endParaRPr lang="en-US" sz="1400" dirty="0"/>
          </a:p>
          <a:p>
            <a:r>
              <a:rPr lang="en-US" sz="1400" dirty="0"/>
              <a:t> </a:t>
            </a:r>
          </a:p>
          <a:p>
            <a:r>
              <a:rPr lang="en-US" sz="1400" dirty="0"/>
              <a:t>By the late second and third centuries:</a:t>
            </a:r>
          </a:p>
          <a:p>
            <a:r>
              <a:rPr lang="en-US" sz="1400" dirty="0"/>
              <a:t> </a:t>
            </a:r>
          </a:p>
          <a:p>
            <a:pPr rtl="0" fontAlgn="ctr"/>
            <a:r>
              <a:rPr lang="en-US" sz="1400" dirty="0"/>
              <a:t>persecution increased</a:t>
            </a:r>
          </a:p>
          <a:p>
            <a:pPr rtl="0" fontAlgn="ctr"/>
            <a:r>
              <a:rPr lang="en-US" sz="1400" dirty="0"/>
              <a:t>growth demanded organization</a:t>
            </a:r>
          </a:p>
          <a:p>
            <a:pPr rtl="0" fontAlgn="ctr"/>
            <a:r>
              <a:rPr lang="en-US" sz="1400" dirty="0"/>
              <a:t>fear re-entered</a:t>
            </a:r>
          </a:p>
          <a:p>
            <a:r>
              <a:rPr lang="en-US" sz="1400" dirty="0"/>
              <a:t> </a:t>
            </a:r>
          </a:p>
          <a:p>
            <a:r>
              <a:rPr lang="en-US" sz="1400" dirty="0"/>
              <a:t>Systems slowly replaced trust.</a:t>
            </a:r>
          </a:p>
          <a:p>
            <a:r>
              <a:rPr lang="en-US" sz="1400" dirty="0"/>
              <a:t> </a:t>
            </a:r>
          </a:p>
          <a:p>
            <a:r>
              <a:rPr lang="en-US" sz="1400" dirty="0"/>
              <a:t>But the New Testament witness remains clear:</a:t>
            </a:r>
          </a:p>
          <a:p>
            <a:r>
              <a:rPr lang="en-US" sz="1400" dirty="0"/>
              <a:t> </a:t>
            </a:r>
          </a:p>
          <a:p>
            <a:pPr rtl="0" fontAlgn="ctr"/>
            <a:r>
              <a:rPr lang="en-US" sz="1400" dirty="0"/>
              <a:t>life before institution</a:t>
            </a:r>
          </a:p>
          <a:p>
            <a:pPr rtl="0" fontAlgn="ctr"/>
            <a:r>
              <a:rPr lang="en-US" sz="1400" dirty="0"/>
              <a:t>grace before structure</a:t>
            </a:r>
          </a:p>
          <a:p>
            <a:pPr rtl="0" fontAlgn="ctr"/>
            <a:r>
              <a:rPr lang="en-US" sz="1400" dirty="0"/>
              <a:t>covenant before contract</a:t>
            </a:r>
          </a:p>
          <a:p>
            <a:r>
              <a:rPr lang="en-US" sz="1400" dirty="0"/>
              <a:t> </a:t>
            </a:r>
          </a:p>
          <a:p>
            <a:r>
              <a:rPr lang="en-US" sz="1400" dirty="0"/>
              <a:t> </a:t>
            </a:r>
          </a:p>
          <a:p>
            <a:r>
              <a:rPr lang="en-US" sz="1400" b="1" dirty="0"/>
              <a:t>Summary</a:t>
            </a:r>
            <a:endParaRPr lang="en-US" sz="1400" dirty="0"/>
          </a:p>
          <a:p>
            <a:r>
              <a:rPr lang="en-US" sz="1400" dirty="0"/>
              <a:t> </a:t>
            </a:r>
          </a:p>
          <a:p>
            <a:r>
              <a:rPr lang="en-US" sz="1400" dirty="0"/>
              <a:t>The early church resisted system-driven religion by:</a:t>
            </a:r>
          </a:p>
          <a:p>
            <a:r>
              <a:rPr lang="en-US" sz="1400" dirty="0"/>
              <a:t> </a:t>
            </a:r>
          </a:p>
          <a:p>
            <a:pPr rtl="0" fontAlgn="ctr"/>
            <a:r>
              <a:rPr lang="en-US" sz="1400" dirty="0"/>
              <a:t>centering on Christ, not control</a:t>
            </a:r>
          </a:p>
          <a:p>
            <a:pPr rtl="0" fontAlgn="ctr"/>
            <a:r>
              <a:rPr lang="en-US" sz="1400" dirty="0"/>
              <a:t>trusting grace over law</a:t>
            </a:r>
          </a:p>
          <a:p>
            <a:pPr rtl="0" fontAlgn="ctr"/>
            <a:r>
              <a:rPr lang="en-US" sz="1400" dirty="0"/>
              <a:t>valuing relationship over regulation</a:t>
            </a:r>
          </a:p>
          <a:p>
            <a:pPr rtl="0" fontAlgn="ctr"/>
            <a:r>
              <a:rPr lang="en-US" sz="1400" dirty="0"/>
              <a:t>obeying from love, not fear</a:t>
            </a:r>
          </a:p>
          <a:p>
            <a:pPr rtl="0" fontAlgn="ctr"/>
            <a:r>
              <a:rPr lang="en-US" sz="1400" dirty="0"/>
              <a:t>living by covenant, not contract</a:t>
            </a:r>
          </a:p>
          <a:p>
            <a:r>
              <a:rPr lang="en-US" sz="1400" dirty="0"/>
              <a:t> </a:t>
            </a:r>
          </a:p>
          <a:p>
            <a:r>
              <a:rPr lang="en-US" sz="1400" dirty="0"/>
              <a:t>They were not anti-order.</a:t>
            </a:r>
          </a:p>
          <a:p>
            <a:r>
              <a:rPr lang="en-US" sz="1400" dirty="0"/>
              <a:t>They were anti-replacement.</a:t>
            </a:r>
          </a:p>
          <a:p>
            <a:r>
              <a:rPr lang="en-US" sz="1400" dirty="0"/>
              <a:t> </a:t>
            </a:r>
          </a:p>
          <a:p>
            <a:r>
              <a:rPr lang="en-US" sz="1400" dirty="0"/>
              <a:t>Anything that replaces trust in God’s righteousness becomes the righteousness of man.</a:t>
            </a:r>
          </a:p>
          <a:p>
            <a:r>
              <a:rPr lang="en-US" sz="1400" dirty="0"/>
              <a:t> </a:t>
            </a:r>
          </a:p>
          <a:p>
            <a:endParaRPr lang="en-US" dirty="0"/>
          </a:p>
        </p:txBody>
      </p:sp>
      <p:sp>
        <p:nvSpPr>
          <p:cNvPr id="4" name="Slide Number Placeholder 3">
            <a:extLst>
              <a:ext uri="{FF2B5EF4-FFF2-40B4-BE49-F238E27FC236}">
                <a16:creationId xmlns:a16="http://schemas.microsoft.com/office/drawing/2014/main" id="{189E3DFD-4AB2-A300-7627-42251A9BACBA}"/>
              </a:ext>
            </a:extLst>
          </p:cNvPr>
          <p:cNvSpPr>
            <a:spLocks noGrp="1"/>
          </p:cNvSpPr>
          <p:nvPr>
            <p:ph type="sldNum" sz="quarter" idx="10"/>
          </p:nvPr>
        </p:nvSpPr>
        <p:spPr/>
        <p:txBody>
          <a:bodyPr/>
          <a:lstStyle/>
          <a:p>
            <a:pPr>
              <a:defRPr/>
            </a:pPr>
            <a:fld id="{07776858-791E-4C8D-8FA3-473B3AFECFAC}" type="slidenum">
              <a:rPr lang="en-US" smtClean="0"/>
              <a:pPr>
                <a:defRPr/>
              </a:pPr>
              <a:t>11</a:t>
            </a:fld>
            <a:endParaRPr lang="en-US" dirty="0"/>
          </a:p>
        </p:txBody>
      </p:sp>
    </p:spTree>
    <p:extLst>
      <p:ext uri="{BB962C8B-B14F-4D97-AF65-F5344CB8AC3E}">
        <p14:creationId xmlns:p14="http://schemas.microsoft.com/office/powerpoint/2010/main" val="42164092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7F4AE-98D3-76B4-5D87-425119BA7D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62F04-D03E-B57F-3002-8B337838BB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0EF52D3-02CC-57C2-4B24-56CC5EF36889}"/>
              </a:ext>
            </a:extLst>
          </p:cNvPr>
          <p:cNvSpPr>
            <a:spLocks noGrp="1"/>
          </p:cNvSpPr>
          <p:nvPr>
            <p:ph type="body" idx="1"/>
          </p:nvPr>
        </p:nvSpPr>
        <p:spPr/>
        <p:txBody>
          <a:bodyPr>
            <a:normAutofit fontScale="25000" lnSpcReduction="20000"/>
          </a:bodyPr>
          <a:lstStyle/>
          <a:p>
            <a:r>
              <a:rPr lang="en-US" sz="1400" b="1" dirty="0"/>
              <a:t>How the New Testament Balances Order Without Control</a:t>
            </a:r>
            <a:endParaRPr lang="en-US" sz="1400" dirty="0"/>
          </a:p>
          <a:p>
            <a:r>
              <a:rPr lang="en-US" sz="1400" dirty="0"/>
              <a:t> </a:t>
            </a:r>
          </a:p>
          <a:p>
            <a:r>
              <a:rPr lang="en-US" sz="1400" b="1" dirty="0"/>
              <a:t>1. Order Comes From Life, Not Enforcement</a:t>
            </a:r>
            <a:endParaRPr lang="en-US" sz="1400" dirty="0"/>
          </a:p>
          <a:p>
            <a:r>
              <a:rPr lang="en-US" sz="1400" dirty="0"/>
              <a:t> </a:t>
            </a:r>
          </a:p>
          <a:p>
            <a:r>
              <a:rPr lang="en-US" sz="1400" dirty="0"/>
              <a:t>In the New Testament, order grows out of shared life in Christ.</a:t>
            </a:r>
          </a:p>
          <a:p>
            <a:r>
              <a:rPr lang="en-US" sz="1400" dirty="0"/>
              <a:t>It is not imposed from above.</a:t>
            </a:r>
          </a:p>
          <a:p>
            <a:r>
              <a:rPr lang="en-US" sz="1400" dirty="0"/>
              <a:t> </a:t>
            </a:r>
          </a:p>
          <a:p>
            <a:r>
              <a:rPr lang="en-US" sz="1400" b="1" dirty="0"/>
              <a:t>1 Corinthians 14:33</a:t>
            </a:r>
            <a:endParaRPr lang="en-US" sz="1400" dirty="0"/>
          </a:p>
          <a:p>
            <a:r>
              <a:rPr lang="en-US" sz="1400" dirty="0"/>
              <a:t> </a:t>
            </a:r>
          </a:p>
          <a:p>
            <a:r>
              <a:rPr lang="en-US" sz="1400" dirty="0"/>
              <a:t>“For God is not a God of disorder but of peace.”</a:t>
            </a:r>
          </a:p>
          <a:p>
            <a:r>
              <a:rPr lang="en-US" sz="1400" dirty="0"/>
              <a:t> </a:t>
            </a:r>
          </a:p>
          <a:p>
            <a:r>
              <a:rPr lang="en-US" sz="1400" dirty="0"/>
              <a:t>Peace flows from God’s presence, not from strict regulation.</a:t>
            </a:r>
          </a:p>
          <a:p>
            <a:r>
              <a:rPr lang="en-US" sz="1400" dirty="0"/>
              <a:t> </a:t>
            </a:r>
          </a:p>
          <a:p>
            <a:r>
              <a:rPr lang="en-US" sz="1400" dirty="0"/>
              <a:t>Order is the fruit of the Spirit working in people, not the result of tight systems.</a:t>
            </a:r>
          </a:p>
          <a:p>
            <a:r>
              <a:rPr lang="en-US" sz="1400" dirty="0"/>
              <a:t> </a:t>
            </a:r>
          </a:p>
          <a:p>
            <a:r>
              <a:rPr lang="en-US" sz="1400" dirty="0"/>
              <a:t>  </a:t>
            </a:r>
          </a:p>
          <a:p>
            <a:r>
              <a:rPr lang="en-US" sz="1400" b="1" dirty="0"/>
              <a:t>2. Authority Is Functional, Not Positional</a:t>
            </a:r>
            <a:endParaRPr lang="en-US" sz="1400" dirty="0"/>
          </a:p>
          <a:p>
            <a:r>
              <a:rPr lang="en-US" sz="1400" dirty="0"/>
              <a:t> </a:t>
            </a:r>
          </a:p>
          <a:p>
            <a:r>
              <a:rPr lang="en-US" sz="1400" dirty="0"/>
              <a:t>Authority exists, but it serves the body.</a:t>
            </a:r>
          </a:p>
          <a:p>
            <a:r>
              <a:rPr lang="en-US" sz="1400" dirty="0"/>
              <a:t>It is not a chain of command.</a:t>
            </a:r>
          </a:p>
          <a:p>
            <a:r>
              <a:rPr lang="en-US" sz="1400" dirty="0"/>
              <a:t> </a:t>
            </a:r>
          </a:p>
          <a:p>
            <a:r>
              <a:rPr lang="en-US" sz="1400" b="1" dirty="0"/>
              <a:t>Ephesians 4:11–12</a:t>
            </a:r>
            <a:endParaRPr lang="en-US" sz="1400" dirty="0"/>
          </a:p>
          <a:p>
            <a:r>
              <a:rPr lang="en-US" sz="1400" dirty="0"/>
              <a:t> </a:t>
            </a:r>
          </a:p>
          <a:p>
            <a:r>
              <a:rPr lang="en-US" sz="1400" dirty="0"/>
              <a:t>“It was he who gave some as apostles, some as prophets, some as evangelists, and some as pastors and teachers, to equip the saints.”</a:t>
            </a:r>
          </a:p>
          <a:p>
            <a:r>
              <a:rPr lang="en-US" sz="1400" dirty="0"/>
              <a:t> </a:t>
            </a:r>
          </a:p>
          <a:p>
            <a:r>
              <a:rPr lang="en-US" sz="1400" dirty="0"/>
              <a:t>Leaders equip.</a:t>
            </a:r>
          </a:p>
          <a:p>
            <a:r>
              <a:rPr lang="en-US" sz="1400" dirty="0"/>
              <a:t>They do not control.</a:t>
            </a:r>
          </a:p>
          <a:p>
            <a:r>
              <a:rPr lang="en-US" sz="1400" dirty="0"/>
              <a:t> </a:t>
            </a:r>
          </a:p>
          <a:p>
            <a:r>
              <a:rPr lang="en-US" sz="1400" dirty="0"/>
              <a:t>Their role is temporary and purpose-driven.</a:t>
            </a:r>
          </a:p>
          <a:p>
            <a:r>
              <a:rPr lang="en-US" sz="1400" dirty="0"/>
              <a:t>  </a:t>
            </a:r>
          </a:p>
          <a:p>
            <a:r>
              <a:rPr lang="en-US" sz="1400" dirty="0"/>
              <a:t> </a:t>
            </a:r>
          </a:p>
          <a:p>
            <a:r>
              <a:rPr lang="en-US" sz="1400" b="1" dirty="0"/>
              <a:t>3. Leadership Is Plural, Not Centralized</a:t>
            </a:r>
            <a:endParaRPr lang="en-US" sz="1400" dirty="0"/>
          </a:p>
          <a:p>
            <a:r>
              <a:rPr lang="en-US" sz="1400" dirty="0"/>
              <a:t> </a:t>
            </a:r>
          </a:p>
          <a:p>
            <a:r>
              <a:rPr lang="en-US" sz="1400" dirty="0"/>
              <a:t>The New Testament avoids single-point control.</a:t>
            </a:r>
          </a:p>
          <a:p>
            <a:r>
              <a:rPr lang="en-US" sz="1400" dirty="0"/>
              <a:t> </a:t>
            </a:r>
          </a:p>
          <a:p>
            <a:r>
              <a:rPr lang="en-US" sz="1400" b="1" dirty="0"/>
              <a:t>Acts 14:23</a:t>
            </a:r>
            <a:endParaRPr lang="en-US" sz="1400" dirty="0"/>
          </a:p>
          <a:p>
            <a:r>
              <a:rPr lang="en-US" sz="1400" dirty="0"/>
              <a:t> </a:t>
            </a:r>
          </a:p>
          <a:p>
            <a:r>
              <a:rPr lang="en-US" sz="1400" dirty="0"/>
              <a:t>“They appointed elders for them in the various churches.”</a:t>
            </a:r>
          </a:p>
          <a:p>
            <a:r>
              <a:rPr lang="en-US" sz="1400" dirty="0"/>
              <a:t> </a:t>
            </a:r>
          </a:p>
          <a:p>
            <a:r>
              <a:rPr lang="en-US" sz="1400" dirty="0"/>
              <a:t>Plural elders prevent domination.</a:t>
            </a:r>
          </a:p>
          <a:p>
            <a:r>
              <a:rPr lang="en-US" sz="1400" dirty="0"/>
              <a:t>Shared leadership limits abuse.</a:t>
            </a:r>
          </a:p>
          <a:p>
            <a:r>
              <a:rPr lang="en-US" sz="1400" dirty="0"/>
              <a:t> </a:t>
            </a:r>
          </a:p>
          <a:p>
            <a:r>
              <a:rPr lang="en-US" sz="1400" dirty="0"/>
              <a:t>This keeps authority relational and accountable.</a:t>
            </a:r>
          </a:p>
          <a:p>
            <a:r>
              <a:rPr lang="en-US" sz="1400" dirty="0"/>
              <a:t> </a:t>
            </a:r>
          </a:p>
          <a:p>
            <a:r>
              <a:rPr lang="en-US" sz="1400" dirty="0"/>
              <a:t> </a:t>
            </a:r>
          </a:p>
          <a:p>
            <a:r>
              <a:rPr lang="en-US" sz="1400" b="1" dirty="0"/>
              <a:t>4. Submission Is Mutual, Not Coerced</a:t>
            </a:r>
            <a:endParaRPr lang="en-US" sz="1400" dirty="0"/>
          </a:p>
          <a:p>
            <a:r>
              <a:rPr lang="en-US" sz="1400" dirty="0"/>
              <a:t> </a:t>
            </a:r>
          </a:p>
          <a:p>
            <a:r>
              <a:rPr lang="en-US" sz="1400" dirty="0"/>
              <a:t>Submission is voluntary and reciprocal.</a:t>
            </a:r>
          </a:p>
          <a:p>
            <a:r>
              <a:rPr lang="en-US" sz="1400" dirty="0"/>
              <a:t> </a:t>
            </a:r>
          </a:p>
          <a:p>
            <a:r>
              <a:rPr lang="en-US" sz="1400" b="1" dirty="0"/>
              <a:t>Ephesians 5:21</a:t>
            </a:r>
            <a:endParaRPr lang="en-US" sz="1400" dirty="0"/>
          </a:p>
          <a:p>
            <a:r>
              <a:rPr lang="en-US" sz="1400" dirty="0"/>
              <a:t> </a:t>
            </a:r>
          </a:p>
          <a:p>
            <a:r>
              <a:rPr lang="en-US" sz="1400" dirty="0"/>
              <a:t>“Submitting to one another out of reverence for Christ.”</a:t>
            </a:r>
          </a:p>
          <a:p>
            <a:r>
              <a:rPr lang="en-US" sz="1400" dirty="0"/>
              <a:t> </a:t>
            </a:r>
          </a:p>
          <a:p>
            <a:r>
              <a:rPr lang="en-US" sz="1400" dirty="0"/>
              <a:t>This removes hierarchy as a control tool.</a:t>
            </a:r>
          </a:p>
          <a:p>
            <a:r>
              <a:rPr lang="en-US" sz="1400" dirty="0"/>
              <a:t> </a:t>
            </a:r>
          </a:p>
          <a:p>
            <a:r>
              <a:rPr lang="en-US" sz="1400" dirty="0"/>
              <a:t>Submission flows from shared reverence, not fear.</a:t>
            </a:r>
          </a:p>
          <a:p>
            <a:r>
              <a:rPr lang="en-US" sz="1400" dirty="0"/>
              <a:t> </a:t>
            </a:r>
          </a:p>
          <a:p>
            <a:r>
              <a:rPr lang="en-US" sz="1400" dirty="0"/>
              <a:t> </a:t>
            </a:r>
          </a:p>
          <a:p>
            <a:r>
              <a:rPr lang="en-US" sz="1400" b="1" dirty="0"/>
              <a:t>5. Teaching Guides Conscience, Not Compliance</a:t>
            </a:r>
            <a:endParaRPr lang="en-US" sz="1400" dirty="0"/>
          </a:p>
          <a:p>
            <a:r>
              <a:rPr lang="en-US" sz="1400" dirty="0"/>
              <a:t> </a:t>
            </a:r>
          </a:p>
          <a:p>
            <a:r>
              <a:rPr lang="en-US" sz="1400" dirty="0"/>
              <a:t>Teaching shapes understanding.</a:t>
            </a:r>
          </a:p>
          <a:p>
            <a:r>
              <a:rPr lang="en-US" sz="1400" dirty="0"/>
              <a:t>It does not replace conscience.</a:t>
            </a:r>
          </a:p>
          <a:p>
            <a:r>
              <a:rPr lang="en-US" sz="1400" dirty="0"/>
              <a:t> </a:t>
            </a:r>
          </a:p>
          <a:p>
            <a:r>
              <a:rPr lang="en-US" sz="1400" b="1" dirty="0"/>
              <a:t>Romans 14:5</a:t>
            </a:r>
            <a:endParaRPr lang="en-US" sz="1400" dirty="0"/>
          </a:p>
          <a:p>
            <a:r>
              <a:rPr lang="en-US" sz="1400" dirty="0"/>
              <a:t> </a:t>
            </a:r>
          </a:p>
          <a:p>
            <a:r>
              <a:rPr lang="en-US" sz="1400" dirty="0"/>
              <a:t>“Each person must be fully convinced in his own mind.”</a:t>
            </a:r>
          </a:p>
          <a:p>
            <a:r>
              <a:rPr lang="en-US" sz="1400" dirty="0"/>
              <a:t> </a:t>
            </a:r>
          </a:p>
          <a:p>
            <a:r>
              <a:rPr lang="en-US" sz="1400" dirty="0"/>
              <a:t>The apostles respected personal conviction in non-essential matters.</a:t>
            </a:r>
          </a:p>
          <a:p>
            <a:r>
              <a:rPr lang="en-US" sz="1400" dirty="0"/>
              <a:t> </a:t>
            </a:r>
          </a:p>
          <a:p>
            <a:r>
              <a:rPr lang="en-US" sz="1400" dirty="0"/>
              <a:t>Systems demand uniformity.</a:t>
            </a:r>
          </a:p>
          <a:p>
            <a:r>
              <a:rPr lang="en-US" sz="1400" dirty="0"/>
              <a:t>The New Testament allows space for growth.</a:t>
            </a:r>
          </a:p>
          <a:p>
            <a:r>
              <a:rPr lang="en-US" sz="1400" dirty="0"/>
              <a:t> </a:t>
            </a:r>
          </a:p>
          <a:p>
            <a:r>
              <a:rPr lang="en-US" sz="1400" dirty="0"/>
              <a:t> </a:t>
            </a:r>
          </a:p>
          <a:p>
            <a:r>
              <a:rPr lang="en-US" sz="1400" b="1" dirty="0"/>
              <a:t>6. Correction Restores, Not Punishes</a:t>
            </a:r>
            <a:endParaRPr lang="en-US" sz="1400" dirty="0"/>
          </a:p>
          <a:p>
            <a:r>
              <a:rPr lang="en-US" sz="1400" dirty="0"/>
              <a:t> </a:t>
            </a:r>
          </a:p>
          <a:p>
            <a:r>
              <a:rPr lang="en-US" sz="1400" dirty="0"/>
              <a:t>Discipline exists, but its goal is restoration.</a:t>
            </a:r>
          </a:p>
          <a:p>
            <a:r>
              <a:rPr lang="en-US" sz="1400" dirty="0"/>
              <a:t> </a:t>
            </a:r>
          </a:p>
          <a:p>
            <a:r>
              <a:rPr lang="en-US" sz="1400" b="1" dirty="0"/>
              <a:t>Galatians 6:1</a:t>
            </a:r>
            <a:endParaRPr lang="en-US" sz="1400" dirty="0"/>
          </a:p>
          <a:p>
            <a:r>
              <a:rPr lang="en-US" sz="1400" dirty="0"/>
              <a:t> </a:t>
            </a:r>
          </a:p>
          <a:p>
            <a:r>
              <a:rPr lang="en-US" sz="1400" dirty="0"/>
              <a:t>“Restore such a person in a spirit of gentleness.”</a:t>
            </a:r>
          </a:p>
          <a:p>
            <a:r>
              <a:rPr lang="en-US" sz="1400" dirty="0"/>
              <a:t> </a:t>
            </a:r>
          </a:p>
          <a:p>
            <a:r>
              <a:rPr lang="en-US" sz="1400" dirty="0"/>
              <a:t>Gentleness protects dignity.</a:t>
            </a:r>
          </a:p>
          <a:p>
            <a:r>
              <a:rPr lang="en-US" sz="1400" dirty="0"/>
              <a:t>Fear-based systems use discipline to maintain power.</a:t>
            </a:r>
          </a:p>
          <a:p>
            <a:r>
              <a:rPr lang="en-US" sz="1400" dirty="0"/>
              <a:t> </a:t>
            </a:r>
          </a:p>
          <a:p>
            <a:r>
              <a:rPr lang="en-US" sz="1400" dirty="0"/>
              <a:t>Grace-based order uses it to heal.</a:t>
            </a:r>
          </a:p>
          <a:p>
            <a:r>
              <a:rPr lang="en-US" sz="1400" dirty="0"/>
              <a:t> </a:t>
            </a:r>
          </a:p>
          <a:p>
            <a:r>
              <a:rPr lang="en-US" sz="1400" dirty="0"/>
              <a:t> </a:t>
            </a:r>
          </a:p>
          <a:p>
            <a:r>
              <a:rPr lang="en-US" sz="1400" b="1" dirty="0"/>
              <a:t>7. Freedom Is Protected, Not Feared</a:t>
            </a:r>
            <a:endParaRPr lang="en-US" sz="1400" dirty="0"/>
          </a:p>
          <a:p>
            <a:r>
              <a:rPr lang="en-US" sz="1400" dirty="0"/>
              <a:t> </a:t>
            </a:r>
          </a:p>
          <a:p>
            <a:r>
              <a:rPr lang="en-US" sz="1400" dirty="0"/>
              <a:t>Freedom is not chaos.</a:t>
            </a:r>
          </a:p>
          <a:p>
            <a:r>
              <a:rPr lang="en-US" sz="1400" dirty="0"/>
              <a:t>It is responsibility before God.</a:t>
            </a:r>
          </a:p>
          <a:p>
            <a:r>
              <a:rPr lang="en-US" sz="1400" dirty="0"/>
              <a:t> </a:t>
            </a:r>
          </a:p>
          <a:p>
            <a:r>
              <a:rPr lang="en-US" sz="1400" b="1" dirty="0"/>
              <a:t>Galatians 5:13</a:t>
            </a:r>
            <a:endParaRPr lang="en-US" sz="1400" dirty="0"/>
          </a:p>
          <a:p>
            <a:r>
              <a:rPr lang="en-US" sz="1400" dirty="0"/>
              <a:t> </a:t>
            </a:r>
          </a:p>
          <a:p>
            <a:r>
              <a:rPr lang="en-US" sz="1400" dirty="0"/>
              <a:t>“You were called to freedom… only do not use your freedom as an opportunity for the flesh.”</a:t>
            </a:r>
          </a:p>
          <a:p>
            <a:r>
              <a:rPr lang="en-US" sz="1400" dirty="0"/>
              <a:t> </a:t>
            </a:r>
          </a:p>
          <a:p>
            <a:r>
              <a:rPr lang="en-US" sz="1400" dirty="0"/>
              <a:t>The solution to misuse is love, not control.</a:t>
            </a:r>
          </a:p>
          <a:p>
            <a:r>
              <a:rPr lang="en-US" sz="1400" dirty="0"/>
              <a:t> </a:t>
            </a:r>
          </a:p>
          <a:p>
            <a:r>
              <a:rPr lang="en-US" sz="1400" dirty="0"/>
              <a:t> </a:t>
            </a:r>
          </a:p>
          <a:p>
            <a:r>
              <a:rPr lang="en-US" sz="1400" b="1" dirty="0"/>
              <a:t>8. Unity Is Rooted in Christ, Not Rules</a:t>
            </a:r>
            <a:endParaRPr lang="en-US" sz="1400" dirty="0"/>
          </a:p>
          <a:p>
            <a:r>
              <a:rPr lang="en-US" sz="1400" dirty="0"/>
              <a:t> </a:t>
            </a:r>
          </a:p>
          <a:p>
            <a:r>
              <a:rPr lang="en-US" sz="1400" dirty="0"/>
              <a:t>Unity comes from shared life in Christ.</a:t>
            </a:r>
          </a:p>
          <a:p>
            <a:r>
              <a:rPr lang="en-US" sz="1400" dirty="0"/>
              <a:t> </a:t>
            </a:r>
          </a:p>
          <a:p>
            <a:r>
              <a:rPr lang="en-US" sz="1400" b="1" dirty="0"/>
              <a:t>Philippians 2:1–2</a:t>
            </a:r>
            <a:endParaRPr lang="en-US" sz="1400" dirty="0"/>
          </a:p>
          <a:p>
            <a:r>
              <a:rPr lang="en-US" sz="1400" dirty="0"/>
              <a:t> </a:t>
            </a:r>
          </a:p>
          <a:p>
            <a:r>
              <a:rPr lang="en-US" sz="1400" dirty="0"/>
              <a:t>“If there is any encouragement in Christ… be of the same mind.”</a:t>
            </a:r>
          </a:p>
          <a:p>
            <a:r>
              <a:rPr lang="en-US" sz="1400" dirty="0"/>
              <a:t> </a:t>
            </a:r>
          </a:p>
          <a:p>
            <a:r>
              <a:rPr lang="en-US" sz="1400" dirty="0"/>
              <a:t>Unity is cultivated, not enforced.</a:t>
            </a:r>
          </a:p>
          <a:p>
            <a:r>
              <a:rPr lang="en-US" sz="1400" dirty="0"/>
              <a:t> </a:t>
            </a:r>
          </a:p>
          <a:p>
            <a:r>
              <a:rPr lang="en-US" sz="1400" dirty="0"/>
              <a:t>Rules can create compliance.</a:t>
            </a:r>
          </a:p>
          <a:p>
            <a:r>
              <a:rPr lang="en-US" sz="1400" dirty="0"/>
              <a:t>They cannot create love.</a:t>
            </a:r>
          </a:p>
          <a:p>
            <a:r>
              <a:rPr lang="en-US" sz="1400" dirty="0"/>
              <a:t> </a:t>
            </a:r>
          </a:p>
          <a:p>
            <a:r>
              <a:rPr lang="en-US" sz="1400" dirty="0"/>
              <a:t> </a:t>
            </a:r>
          </a:p>
          <a:p>
            <a:r>
              <a:rPr lang="en-US" sz="1400" b="1" dirty="0"/>
              <a:t>9. Decisions Are Discerned, Not Dictated</a:t>
            </a:r>
            <a:endParaRPr lang="en-US" sz="1400" dirty="0"/>
          </a:p>
          <a:p>
            <a:r>
              <a:rPr lang="en-US" sz="1400" dirty="0"/>
              <a:t> </a:t>
            </a:r>
          </a:p>
          <a:p>
            <a:r>
              <a:rPr lang="en-US" sz="1400" dirty="0"/>
              <a:t>Major decisions were made together.</a:t>
            </a:r>
          </a:p>
          <a:p>
            <a:r>
              <a:rPr lang="en-US" sz="1400" dirty="0"/>
              <a:t> </a:t>
            </a:r>
          </a:p>
          <a:p>
            <a:r>
              <a:rPr lang="en-US" sz="1400" b="1" dirty="0"/>
              <a:t>Acts 15:28</a:t>
            </a:r>
            <a:endParaRPr lang="en-US" sz="1400" dirty="0"/>
          </a:p>
          <a:p>
            <a:r>
              <a:rPr lang="en-US" sz="1400" dirty="0"/>
              <a:t> </a:t>
            </a:r>
          </a:p>
          <a:p>
            <a:r>
              <a:rPr lang="en-US" sz="1400" dirty="0"/>
              <a:t>“For it seemed best to the Holy Spirit and to us…”</a:t>
            </a:r>
          </a:p>
          <a:p>
            <a:r>
              <a:rPr lang="en-US" sz="1400" dirty="0"/>
              <a:t> </a:t>
            </a:r>
          </a:p>
          <a:p>
            <a:r>
              <a:rPr lang="en-US" sz="1400" dirty="0"/>
              <a:t>This shows:</a:t>
            </a:r>
          </a:p>
          <a:p>
            <a:r>
              <a:rPr lang="en-US" sz="1400" dirty="0"/>
              <a:t> </a:t>
            </a:r>
          </a:p>
          <a:p>
            <a:pPr rtl="0" fontAlgn="ctr"/>
            <a:r>
              <a:rPr lang="en-US" sz="1400" dirty="0"/>
              <a:t>prayer</a:t>
            </a:r>
          </a:p>
          <a:p>
            <a:pPr rtl="0" fontAlgn="ctr"/>
            <a:r>
              <a:rPr lang="en-US" sz="1400" dirty="0"/>
              <a:t>listening</a:t>
            </a:r>
          </a:p>
          <a:p>
            <a:pPr rtl="0" fontAlgn="ctr"/>
            <a:r>
              <a:rPr lang="en-US" sz="1400" dirty="0"/>
              <a:t>consensus</a:t>
            </a:r>
          </a:p>
          <a:p>
            <a:pPr rtl="0" fontAlgn="ctr"/>
            <a:r>
              <a:rPr lang="en-US" sz="1400" dirty="0"/>
              <a:t>humility</a:t>
            </a:r>
          </a:p>
          <a:p>
            <a:r>
              <a:rPr lang="en-US" sz="1400" dirty="0"/>
              <a:t> </a:t>
            </a:r>
          </a:p>
          <a:p>
            <a:r>
              <a:rPr lang="en-US" sz="1400" dirty="0"/>
              <a:t>No single authority claimed control.</a:t>
            </a:r>
          </a:p>
          <a:p>
            <a:r>
              <a:rPr lang="en-US" sz="1400" dirty="0"/>
              <a:t> </a:t>
            </a:r>
          </a:p>
          <a:p>
            <a:r>
              <a:rPr lang="en-US" sz="1400" dirty="0"/>
              <a:t> </a:t>
            </a:r>
          </a:p>
          <a:p>
            <a:r>
              <a:rPr lang="en-US" sz="1400" b="1" dirty="0"/>
              <a:t>10. Boundaries Are Clear but Few</a:t>
            </a:r>
            <a:endParaRPr lang="en-US" sz="1400" dirty="0"/>
          </a:p>
          <a:p>
            <a:r>
              <a:rPr lang="en-US" sz="1400" dirty="0"/>
              <a:t> </a:t>
            </a:r>
          </a:p>
          <a:p>
            <a:r>
              <a:rPr lang="en-US" sz="1400" dirty="0"/>
              <a:t>The apostles focused on essentials.</a:t>
            </a:r>
          </a:p>
          <a:p>
            <a:r>
              <a:rPr lang="en-US" sz="1400" dirty="0"/>
              <a:t> </a:t>
            </a:r>
          </a:p>
          <a:p>
            <a:r>
              <a:rPr lang="en-US" sz="1400" b="1" dirty="0"/>
              <a:t>Acts 15:19–20</a:t>
            </a:r>
            <a:endParaRPr lang="en-US" sz="1400" dirty="0"/>
          </a:p>
          <a:p>
            <a:r>
              <a:rPr lang="en-US" sz="1400" dirty="0"/>
              <a:t> </a:t>
            </a:r>
          </a:p>
          <a:p>
            <a:r>
              <a:rPr lang="en-US" sz="1400" dirty="0"/>
              <a:t>“We should not cause extra difficulty for those Gentiles who are turning to God.”</a:t>
            </a:r>
          </a:p>
          <a:p>
            <a:r>
              <a:rPr lang="en-US" sz="1400" dirty="0"/>
              <a:t> </a:t>
            </a:r>
          </a:p>
          <a:p>
            <a:r>
              <a:rPr lang="en-US" sz="1400" dirty="0"/>
              <a:t>They resisted over-regulation.</a:t>
            </a:r>
          </a:p>
          <a:p>
            <a:r>
              <a:rPr lang="en-US" sz="1400" dirty="0"/>
              <a:t> </a:t>
            </a:r>
          </a:p>
          <a:p>
            <a:r>
              <a:rPr lang="en-US" sz="1400" dirty="0"/>
              <a:t>Clarity without excess preserves freedom.</a:t>
            </a:r>
          </a:p>
          <a:p>
            <a:r>
              <a:rPr lang="en-US" sz="1400" dirty="0"/>
              <a:t> </a:t>
            </a:r>
          </a:p>
          <a:p>
            <a:r>
              <a:rPr lang="en-US" sz="1400" dirty="0"/>
              <a:t> </a:t>
            </a:r>
          </a:p>
          <a:p>
            <a:r>
              <a:rPr lang="en-US" sz="1400" b="1" dirty="0"/>
              <a:t>11. Christ Remains the Only Head</a:t>
            </a:r>
            <a:endParaRPr lang="en-US" sz="1400" dirty="0"/>
          </a:p>
          <a:p>
            <a:r>
              <a:rPr lang="en-US" sz="1400" dirty="0"/>
              <a:t> </a:t>
            </a:r>
          </a:p>
          <a:p>
            <a:r>
              <a:rPr lang="en-US" sz="1400" dirty="0"/>
              <a:t>No structure replaces Christ’s authority.</a:t>
            </a:r>
          </a:p>
          <a:p>
            <a:r>
              <a:rPr lang="en-US" sz="1400" dirty="0"/>
              <a:t> </a:t>
            </a:r>
          </a:p>
          <a:p>
            <a:r>
              <a:rPr lang="en-US" sz="1400" b="1" dirty="0"/>
              <a:t>Colossians 1:18</a:t>
            </a:r>
            <a:endParaRPr lang="en-US" sz="1400" dirty="0"/>
          </a:p>
          <a:p>
            <a:r>
              <a:rPr lang="en-US" sz="1400" dirty="0"/>
              <a:t> </a:t>
            </a:r>
          </a:p>
          <a:p>
            <a:r>
              <a:rPr lang="en-US" sz="1400" dirty="0"/>
              <a:t>“He himself is the head of the body, the church.”</a:t>
            </a:r>
          </a:p>
          <a:p>
            <a:r>
              <a:rPr lang="en-US" sz="1400" dirty="0"/>
              <a:t> </a:t>
            </a:r>
          </a:p>
          <a:p>
            <a:r>
              <a:rPr lang="en-US" sz="1400" dirty="0"/>
              <a:t>Every human structure is temporary.</a:t>
            </a:r>
          </a:p>
          <a:p>
            <a:r>
              <a:rPr lang="en-US" sz="1400" dirty="0"/>
              <a:t>Christ alone governs the body.</a:t>
            </a:r>
          </a:p>
          <a:p>
            <a:r>
              <a:rPr lang="en-US" sz="1400" dirty="0"/>
              <a:t> </a:t>
            </a:r>
          </a:p>
          <a:p>
            <a:r>
              <a:rPr lang="en-US" sz="1400" dirty="0"/>
              <a:t> </a:t>
            </a:r>
          </a:p>
          <a:p>
            <a:r>
              <a:rPr lang="en-US" sz="1400" b="1" dirty="0"/>
              <a:t>Summary</a:t>
            </a:r>
            <a:endParaRPr lang="en-US" sz="1400" dirty="0"/>
          </a:p>
          <a:p>
            <a:r>
              <a:rPr lang="en-US" sz="1400" dirty="0"/>
              <a:t> </a:t>
            </a:r>
          </a:p>
          <a:p>
            <a:r>
              <a:rPr lang="en-US" sz="1400" dirty="0"/>
              <a:t>The New Testament balance looks like this:</a:t>
            </a:r>
          </a:p>
          <a:p>
            <a:r>
              <a:rPr lang="en-US" sz="1400" dirty="0"/>
              <a:t> </a:t>
            </a:r>
          </a:p>
          <a:p>
            <a:pPr rtl="0" fontAlgn="ctr"/>
            <a:r>
              <a:rPr lang="en-US" sz="1400" dirty="0"/>
              <a:t>Order without coercion</a:t>
            </a:r>
          </a:p>
          <a:p>
            <a:pPr rtl="0" fontAlgn="ctr"/>
            <a:r>
              <a:rPr lang="en-US" sz="1400" dirty="0"/>
              <a:t>Leadership without domination</a:t>
            </a:r>
          </a:p>
          <a:p>
            <a:pPr rtl="0" fontAlgn="ctr"/>
            <a:r>
              <a:rPr lang="en-US" sz="1400" dirty="0"/>
              <a:t>Discipline without shame</a:t>
            </a:r>
          </a:p>
          <a:p>
            <a:pPr rtl="0" fontAlgn="ctr"/>
            <a:r>
              <a:rPr lang="en-US" sz="1400" dirty="0"/>
              <a:t>Unity without uniformity</a:t>
            </a:r>
          </a:p>
          <a:p>
            <a:pPr rtl="0" fontAlgn="ctr"/>
            <a:r>
              <a:rPr lang="en-US" sz="1400" dirty="0"/>
              <a:t>Authority without control</a:t>
            </a:r>
          </a:p>
          <a:p>
            <a:r>
              <a:rPr lang="en-US" sz="1400" dirty="0"/>
              <a:t> </a:t>
            </a:r>
          </a:p>
          <a:p>
            <a:r>
              <a:rPr lang="en-US" sz="1400" dirty="0"/>
              <a:t>This balance works only when trust in God’s righteousness remains central.</a:t>
            </a:r>
          </a:p>
          <a:p>
            <a:r>
              <a:rPr lang="en-US" sz="1400" dirty="0"/>
              <a:t> </a:t>
            </a:r>
          </a:p>
          <a:p>
            <a:r>
              <a:rPr lang="en-US" sz="1400" dirty="0"/>
              <a:t>Once fear replaces trust,</a:t>
            </a:r>
          </a:p>
          <a:p>
            <a:r>
              <a:rPr lang="en-US" sz="1400" dirty="0"/>
              <a:t>control replaces order.</a:t>
            </a:r>
          </a:p>
          <a:p>
            <a:r>
              <a:rPr lang="en-US" sz="1400" dirty="0"/>
              <a:t> </a:t>
            </a:r>
          </a:p>
        </p:txBody>
      </p:sp>
      <p:sp>
        <p:nvSpPr>
          <p:cNvPr id="4" name="Slide Number Placeholder 3">
            <a:extLst>
              <a:ext uri="{FF2B5EF4-FFF2-40B4-BE49-F238E27FC236}">
                <a16:creationId xmlns:a16="http://schemas.microsoft.com/office/drawing/2014/main" id="{633A805D-6798-6A50-3FDE-78961A60A5F8}"/>
              </a:ext>
            </a:extLst>
          </p:cNvPr>
          <p:cNvSpPr>
            <a:spLocks noGrp="1"/>
          </p:cNvSpPr>
          <p:nvPr>
            <p:ph type="sldNum" sz="quarter" idx="10"/>
          </p:nvPr>
        </p:nvSpPr>
        <p:spPr/>
        <p:txBody>
          <a:bodyPr/>
          <a:lstStyle/>
          <a:p>
            <a:pPr>
              <a:defRPr/>
            </a:pPr>
            <a:fld id="{07776858-791E-4C8D-8FA3-473B3AFECFAC}" type="slidenum">
              <a:rPr lang="en-US" smtClean="0"/>
              <a:pPr>
                <a:defRPr/>
              </a:pPr>
              <a:t>12</a:t>
            </a:fld>
            <a:endParaRPr lang="en-US" dirty="0"/>
          </a:p>
        </p:txBody>
      </p:sp>
    </p:spTree>
    <p:extLst>
      <p:ext uri="{BB962C8B-B14F-4D97-AF65-F5344CB8AC3E}">
        <p14:creationId xmlns:p14="http://schemas.microsoft.com/office/powerpoint/2010/main" val="432928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RightWithGo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243EB-A19E-5ED1-CFA5-860A2DA6EE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223CA-BF56-C414-56BF-D76E4E24E13E}"/>
              </a:ext>
            </a:extLst>
          </p:cNvPr>
          <p:cNvSpPr txBox="1">
            <a:spLocks/>
          </p:cNvSpPr>
          <p:nvPr/>
        </p:nvSpPr>
        <p:spPr bwMode="auto">
          <a:xfrm>
            <a:off x="457200" y="419100"/>
            <a:ext cx="8229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6700" dirty="0"/>
              <a:t>Righteousness</a:t>
            </a:r>
            <a:br>
              <a:rPr lang="en-US" dirty="0"/>
            </a:br>
            <a:endParaRPr lang="en-US" dirty="0"/>
          </a:p>
          <a:p>
            <a:r>
              <a:rPr lang="en-US" dirty="0"/>
              <a:t>What Is “Righteousness” in the Bible?</a:t>
            </a:r>
          </a:p>
          <a:p>
            <a:endParaRPr lang="en-US" sz="2400" dirty="0">
              <a:solidFill>
                <a:schemeClr val="tx2">
                  <a:lumMod val="60000"/>
                  <a:lumOff val="40000"/>
                </a:schemeClr>
              </a:solidFill>
            </a:endParaRPr>
          </a:p>
          <a:p>
            <a:r>
              <a:rPr lang="en-US" b="0" dirty="0"/>
              <a:t>For </a:t>
            </a:r>
            <a:r>
              <a:rPr lang="en-US" b="0" u="sng" dirty="0"/>
              <a:t>I am not ashamed of the gospel of Christ</a:t>
            </a:r>
            <a:r>
              <a:rPr lang="en-US" b="0" dirty="0"/>
              <a:t>, for it is the power of God to salvation for everyone who believes, for the Jew first and also for the Greek. For in it </a:t>
            </a:r>
            <a:r>
              <a:rPr lang="en-US" dirty="0"/>
              <a:t>the righteousness of God is </a:t>
            </a:r>
            <a:r>
              <a:rPr lang="en-US" u="sng" dirty="0"/>
              <a:t>revealed</a:t>
            </a:r>
            <a:r>
              <a:rPr lang="en-US" b="0" dirty="0"/>
              <a:t> from faith to faith; as it is written, "THE JUST SHALL LIVE BY FAITH."</a:t>
            </a:r>
          </a:p>
          <a:p>
            <a:r>
              <a:rPr lang="en-US" b="0" dirty="0"/>
              <a:t>(Romans 1:16-17)</a:t>
            </a:r>
          </a:p>
          <a:p>
            <a:endParaRPr lang="en-US" dirty="0">
              <a:solidFill>
                <a:schemeClr val="tx2">
                  <a:lumMod val="60000"/>
                  <a:lumOff val="40000"/>
                </a:schemeClr>
              </a:solidFill>
            </a:endParaRPr>
          </a:p>
          <a:p>
            <a:r>
              <a:rPr lang="en-US" dirty="0">
                <a:solidFill>
                  <a:schemeClr val="tx2">
                    <a:lumMod val="60000"/>
                    <a:lumOff val="40000"/>
                  </a:schemeClr>
                </a:solidFill>
                <a:hlinkClick r:id="rId3"/>
              </a:rPr>
              <a:t>https://tinyurl.com/RightWithGod</a:t>
            </a:r>
            <a:endParaRPr lang="en-US" dirty="0">
              <a:solidFill>
                <a:schemeClr val="tx2">
                  <a:lumMod val="60000"/>
                  <a:lumOff val="40000"/>
                </a:schemeClr>
              </a:solidFill>
            </a:endParaRPr>
          </a:p>
          <a:p>
            <a:endParaRPr lang="en-US" dirty="0">
              <a:solidFill>
                <a:schemeClr val="tx2">
                  <a:lumMod val="60000"/>
                  <a:lumOff val="40000"/>
                </a:schemeClr>
              </a:solidFill>
            </a:endParaRPr>
          </a:p>
        </p:txBody>
      </p:sp>
    </p:spTree>
    <p:extLst>
      <p:ext uri="{BB962C8B-B14F-4D97-AF65-F5344CB8AC3E}">
        <p14:creationId xmlns:p14="http://schemas.microsoft.com/office/powerpoint/2010/main" val="931307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FD3A6-5B52-0639-3B7B-AC3039548C0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ACADC6C-FD53-B457-C325-0F72420E1A8E}"/>
              </a:ext>
            </a:extLst>
          </p:cNvPr>
          <p:cNvSpPr txBox="1">
            <a:spLocks/>
          </p:cNvSpPr>
          <p:nvPr/>
        </p:nvSpPr>
        <p:spPr bwMode="auto">
          <a:xfrm>
            <a:off x="233362" y="32657"/>
            <a:ext cx="8682038" cy="72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2600" dirty="0">
                <a:solidFill>
                  <a:schemeClr val="tx2">
                    <a:lumMod val="60000"/>
                    <a:lumOff val="40000"/>
                  </a:schemeClr>
                </a:solidFill>
              </a:rPr>
              <a:t>Behold the Man!</a:t>
            </a:r>
          </a:p>
          <a:p>
            <a:r>
              <a:rPr lang="en-US" sz="1600" dirty="0">
                <a:solidFill>
                  <a:schemeClr val="tx2">
                    <a:lumMod val="60000"/>
                    <a:lumOff val="40000"/>
                  </a:schemeClr>
                </a:solidFill>
              </a:rPr>
              <a:t>John 19:5</a:t>
            </a:r>
          </a:p>
        </p:txBody>
      </p:sp>
      <p:pic>
        <p:nvPicPr>
          <p:cNvPr id="6" name="Picture 5" descr="John 19:5 - Behold the Man&#10;">
            <a:extLst>
              <a:ext uri="{FF2B5EF4-FFF2-40B4-BE49-F238E27FC236}">
                <a16:creationId xmlns:a16="http://schemas.microsoft.com/office/drawing/2014/main" id="{8C93F442-DFA4-5CDC-EF89-7FEA1D498D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2" name="TextBox 1">
            <a:extLst>
              <a:ext uri="{FF2B5EF4-FFF2-40B4-BE49-F238E27FC236}">
                <a16:creationId xmlns:a16="http://schemas.microsoft.com/office/drawing/2014/main" id="{7122D55F-6006-9340-8211-1B48B48DF51B}"/>
              </a:ext>
            </a:extLst>
          </p:cNvPr>
          <p:cNvSpPr txBox="1"/>
          <p:nvPr/>
        </p:nvSpPr>
        <p:spPr>
          <a:xfrm>
            <a:off x="126657" y="6096000"/>
            <a:ext cx="8890686" cy="646331"/>
          </a:xfrm>
          <a:prstGeom prst="rect">
            <a:avLst/>
          </a:prstGeom>
          <a:noFill/>
        </p:spPr>
        <p:txBody>
          <a:bodyPr wrap="square" rtlCol="0">
            <a:spAutoFit/>
          </a:bodyPr>
          <a:lstStyle/>
          <a:p>
            <a:r>
              <a:rPr lang="en-US" i="1" dirty="0">
                <a:ea typeface="ＭＳ Ｐゴシック" pitchFamily="-106" charset="-128"/>
                <a:cs typeface="ＭＳ Ｐゴシック" pitchFamily="-106" charset="-128"/>
              </a:rPr>
              <a:t>“I do not set aside God’s grace, because if righteousness could come through the law, then Christ died for nothing.”  </a:t>
            </a:r>
            <a:r>
              <a:rPr lang="en-US" dirty="0">
                <a:ea typeface="ＭＳ Ｐゴシック" pitchFamily="-106" charset="-128"/>
                <a:cs typeface="ＭＳ Ｐゴシック" pitchFamily="-106" charset="-128"/>
              </a:rPr>
              <a:t>Paul the Apostle, Galatians </a:t>
            </a:r>
            <a:r>
              <a:rPr lang="en-US" i="1" dirty="0">
                <a:ea typeface="ＭＳ Ｐゴシック" pitchFamily="-106" charset="-128"/>
                <a:cs typeface="ＭＳ Ｐゴシック" pitchFamily="-106" charset="-128"/>
              </a:rPr>
              <a:t>2:21 </a:t>
            </a:r>
            <a:endParaRPr lang="en-US" dirty="0"/>
          </a:p>
        </p:txBody>
      </p:sp>
    </p:spTree>
    <p:extLst>
      <p:ext uri="{BB962C8B-B14F-4D97-AF65-F5344CB8AC3E}">
        <p14:creationId xmlns:p14="http://schemas.microsoft.com/office/powerpoint/2010/main" val="2941145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B9460-87B7-7FE0-AE14-A958B063266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5D673E4-7834-2669-FE6C-025CB6613FAB}"/>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Lesson One Summary</a:t>
            </a:r>
            <a:br>
              <a:rPr lang="en-US" dirty="0"/>
            </a:br>
            <a:r>
              <a:rPr lang="en-US" sz="2800" dirty="0">
                <a:solidFill>
                  <a:schemeClr val="tx2">
                    <a:lumMod val="60000"/>
                    <a:lumOff val="40000"/>
                  </a:schemeClr>
                </a:solidFill>
              </a:rPr>
              <a:t>Foundations of Man’s Righteousness</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4BD9B8B0-28A7-0B01-BAAC-1CDCADBB5CBE}"/>
              </a:ext>
            </a:extLst>
          </p:cNvPr>
          <p:cNvSpPr txBox="1"/>
          <p:nvPr/>
        </p:nvSpPr>
        <p:spPr>
          <a:xfrm>
            <a:off x="214311" y="838200"/>
            <a:ext cx="8677275" cy="3170099"/>
          </a:xfrm>
          <a:prstGeom prst="rect">
            <a:avLst/>
          </a:prstGeom>
          <a:noFill/>
        </p:spPr>
        <p:txBody>
          <a:bodyPr wrap="square" rtlCol="0">
            <a:spAutoFit/>
          </a:bodyPr>
          <a:lstStyle/>
          <a:p>
            <a:pPr marL="342900" indent="-342900" fontAlgn="ctr">
              <a:buFont typeface="Wingdings" panose="05000000000000000000" pitchFamily="2" charset="2"/>
              <a:buChar char="Ø"/>
            </a:pPr>
            <a:r>
              <a:rPr lang="en-US" sz="2000" u="sng" dirty="0">
                <a:ea typeface="ＭＳ Ｐゴシック" pitchFamily="-106" charset="-128"/>
                <a:cs typeface="ＭＳ Ｐゴシック" pitchFamily="-106" charset="-128"/>
              </a:rPr>
              <a:t>Uncertainty</a:t>
            </a:r>
            <a:r>
              <a:rPr lang="en-US" sz="2000" dirty="0">
                <a:ea typeface="ＭＳ Ｐゴシック" pitchFamily="-106" charset="-128"/>
                <a:cs typeface="ＭＳ Ｐゴシック" pitchFamily="-106" charset="-128"/>
              </a:rPr>
              <a:t> drives fear.</a:t>
            </a:r>
          </a:p>
          <a:p>
            <a:pPr marL="342900" indent="-342900" fontAlgn="ctr">
              <a:buFont typeface="Wingdings" panose="05000000000000000000" pitchFamily="2" charset="2"/>
              <a:buChar char="Ø"/>
            </a:pPr>
            <a:r>
              <a:rPr lang="en-US" sz="2000" dirty="0">
                <a:ea typeface="ＭＳ Ｐゴシック" pitchFamily="-106" charset="-128"/>
                <a:cs typeface="ＭＳ Ｐゴシック" pitchFamily="-106" charset="-128"/>
              </a:rPr>
              <a:t>Fear demands control.</a:t>
            </a:r>
          </a:p>
          <a:p>
            <a:pPr marL="342900" indent="-342900" fontAlgn="ctr">
              <a:buFont typeface="Wingdings" panose="05000000000000000000" pitchFamily="2" charset="2"/>
              <a:buChar char="Ø"/>
            </a:pPr>
            <a:r>
              <a:rPr lang="en-US" sz="2000" dirty="0">
                <a:ea typeface="ＭＳ Ｐゴシック" pitchFamily="-106" charset="-128"/>
                <a:cs typeface="ＭＳ Ｐゴシック" pitchFamily="-106" charset="-128"/>
              </a:rPr>
              <a:t>Control creates systems.</a:t>
            </a:r>
          </a:p>
          <a:p>
            <a:pPr marL="342900" indent="-342900" fontAlgn="ctr">
              <a:buFont typeface="Wingdings" panose="05000000000000000000" pitchFamily="2" charset="2"/>
              <a:buChar char="Ø"/>
            </a:pPr>
            <a:r>
              <a:rPr lang="en-US" sz="2000" u="sng" dirty="0">
                <a:ea typeface="ＭＳ Ｐゴシック" pitchFamily="-106" charset="-128"/>
                <a:cs typeface="ＭＳ Ｐゴシック" pitchFamily="-106" charset="-128"/>
              </a:rPr>
              <a:t>Systems produce human righteousness</a:t>
            </a:r>
            <a:r>
              <a:rPr lang="en-US" sz="2000" dirty="0">
                <a:ea typeface="ＭＳ Ｐゴシック" pitchFamily="-106" charset="-128"/>
                <a:cs typeface="ＭＳ Ｐゴシック" pitchFamily="-106" charset="-128"/>
              </a:rPr>
              <a:t>.</a:t>
            </a:r>
          </a:p>
          <a:p>
            <a:r>
              <a:rPr lang="en-US" sz="2000" dirty="0">
                <a:ea typeface="ＭＳ Ｐゴシック" pitchFamily="-106" charset="-128"/>
                <a:cs typeface="ＭＳ Ｐゴシック" pitchFamily="-106" charset="-128"/>
              </a:rPr>
              <a:t> </a:t>
            </a:r>
          </a:p>
          <a:p>
            <a:pPr marL="342900" indent="-342900">
              <a:buFont typeface="Wingdings" panose="05000000000000000000" pitchFamily="2" charset="2"/>
              <a:buChar char="Ø"/>
            </a:pPr>
            <a:r>
              <a:rPr lang="en-US" sz="2000" u="sng" dirty="0">
                <a:ea typeface="ＭＳ Ｐゴシック" pitchFamily="-106" charset="-128"/>
                <a:cs typeface="ＭＳ Ｐゴシック" pitchFamily="-106" charset="-128"/>
              </a:rPr>
              <a:t>Social contracts, theology, and ideology all become substitutes when they replace </a:t>
            </a:r>
            <a:r>
              <a:rPr lang="en-US" sz="2000" b="1" u="sng" dirty="0">
                <a:ea typeface="ＭＳ Ｐゴシック" pitchFamily="-106" charset="-128"/>
                <a:cs typeface="ＭＳ Ｐゴシック" pitchFamily="-106" charset="-128"/>
              </a:rPr>
              <a:t>trust</a:t>
            </a:r>
            <a:r>
              <a:rPr lang="en-US" sz="2000" u="sng" dirty="0">
                <a:ea typeface="ＭＳ Ｐゴシック" pitchFamily="-106" charset="-128"/>
                <a:cs typeface="ＭＳ Ｐゴシック" pitchFamily="-106" charset="-128"/>
              </a:rPr>
              <a:t> in God’s righteousness.</a:t>
            </a:r>
            <a:r>
              <a:rPr lang="en-US" sz="2000" dirty="0">
                <a:ea typeface="ＭＳ Ｐゴシック" pitchFamily="-106" charset="-128"/>
                <a:cs typeface="ＭＳ Ｐゴシック" pitchFamily="-106" charset="-128"/>
              </a:rPr>
              <a:t> </a:t>
            </a:r>
            <a:r>
              <a:rPr lang="en-US" sz="2000" u="sng" dirty="0">
                <a:ea typeface="ＭＳ Ｐゴシック" pitchFamily="-106" charset="-128"/>
                <a:cs typeface="ＭＳ Ｐゴシック" pitchFamily="-106" charset="-128"/>
              </a:rPr>
              <a:t>Social contracts replace trust in God with trust in consensus.</a:t>
            </a:r>
          </a:p>
          <a:p>
            <a:r>
              <a:rPr lang="en-US" sz="2000" dirty="0">
                <a:ea typeface="ＭＳ Ｐゴシック" pitchFamily="-106" charset="-128"/>
                <a:cs typeface="ＭＳ Ｐゴシック" pitchFamily="-106" charset="-128"/>
              </a:rPr>
              <a:t> </a:t>
            </a:r>
          </a:p>
          <a:p>
            <a:pPr marL="342900" indent="-342900">
              <a:buFont typeface="Wingdings" panose="05000000000000000000" pitchFamily="2" charset="2"/>
              <a:buChar char="Ø"/>
            </a:pPr>
            <a:r>
              <a:rPr lang="en-US" sz="2000" u="sng" dirty="0">
                <a:ea typeface="ＭＳ Ｐゴシック" pitchFamily="-106" charset="-128"/>
                <a:cs typeface="ＭＳ Ｐゴシック" pitchFamily="-106" charset="-128"/>
              </a:rPr>
              <a:t>The gospel does not remove uncertainty</a:t>
            </a:r>
            <a:r>
              <a:rPr lang="en-US" sz="2000" dirty="0">
                <a:ea typeface="ＭＳ Ｐゴシック" pitchFamily="-106" charset="-128"/>
                <a:cs typeface="ＭＳ Ｐゴシック" pitchFamily="-106" charset="-128"/>
              </a:rPr>
              <a:t>.  It relocates </a:t>
            </a:r>
            <a:r>
              <a:rPr lang="en-US" sz="2000" b="1" u="sng" dirty="0">
                <a:ea typeface="ＭＳ Ｐゴシック" pitchFamily="-106" charset="-128"/>
                <a:cs typeface="ＭＳ Ｐゴシック" pitchFamily="-106" charset="-128"/>
              </a:rPr>
              <a:t>trust</a:t>
            </a:r>
            <a:r>
              <a:rPr lang="en-US" sz="2000" dirty="0">
                <a:ea typeface="ＭＳ Ｐゴシック" pitchFamily="-106" charset="-128"/>
                <a:cs typeface="ＭＳ Ｐゴシック" pitchFamily="-106" charset="-128"/>
              </a:rPr>
              <a:t>.</a:t>
            </a:r>
          </a:p>
        </p:txBody>
      </p:sp>
      <p:sp>
        <p:nvSpPr>
          <p:cNvPr id="2" name="TextBox 1">
            <a:extLst>
              <a:ext uri="{FF2B5EF4-FFF2-40B4-BE49-F238E27FC236}">
                <a16:creationId xmlns:a16="http://schemas.microsoft.com/office/drawing/2014/main" id="{0EB52722-7682-8644-A7EA-11630D173DA7}"/>
              </a:ext>
            </a:extLst>
          </p:cNvPr>
          <p:cNvSpPr txBox="1"/>
          <p:nvPr/>
        </p:nvSpPr>
        <p:spPr>
          <a:xfrm>
            <a:off x="187538" y="5006693"/>
            <a:ext cx="8677275" cy="70788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Proverbs 3:5  </a:t>
            </a:r>
            <a:r>
              <a:rPr lang="en-US" sz="2000" i="1" dirty="0">
                <a:ea typeface="ＭＳ Ｐゴシック" pitchFamily="-106" charset="-128"/>
                <a:cs typeface="ＭＳ Ｐゴシック" pitchFamily="-106" charset="-128"/>
              </a:rPr>
              <a:t>“</a:t>
            </a:r>
            <a:r>
              <a:rPr lang="en-US" sz="2000" b="1" i="1" dirty="0">
                <a:ea typeface="ＭＳ Ｐゴシック" pitchFamily="-106" charset="-128"/>
                <a:cs typeface="ＭＳ Ｐゴシック" pitchFamily="-106" charset="-128"/>
              </a:rPr>
              <a:t>Trust</a:t>
            </a:r>
            <a:r>
              <a:rPr lang="en-US" sz="2000" i="1" dirty="0">
                <a:ea typeface="ＭＳ Ｐゴシック" pitchFamily="-106" charset="-128"/>
                <a:cs typeface="ＭＳ Ｐゴシック" pitchFamily="-106" charset="-128"/>
              </a:rPr>
              <a:t> in the LORD with all your heart, and </a:t>
            </a:r>
            <a:r>
              <a:rPr lang="en-US" sz="2000" i="1" u="sng" dirty="0">
                <a:ea typeface="ＭＳ Ｐゴシック" pitchFamily="-106" charset="-128"/>
                <a:cs typeface="ＭＳ Ｐゴシック" pitchFamily="-106" charset="-128"/>
              </a:rPr>
              <a:t>do not rely on your own understanding</a:t>
            </a:r>
            <a:r>
              <a:rPr lang="en-US" sz="2000" i="1" dirty="0">
                <a:ea typeface="ＭＳ Ｐゴシック" pitchFamily="-106" charset="-128"/>
                <a:cs typeface="ＭＳ Ｐゴシック" pitchFamily="-106" charset="-128"/>
              </a:rPr>
              <a:t>.”</a:t>
            </a:r>
          </a:p>
        </p:txBody>
      </p:sp>
      <p:sp>
        <p:nvSpPr>
          <p:cNvPr id="4" name="TextBox 3">
            <a:extLst>
              <a:ext uri="{FF2B5EF4-FFF2-40B4-BE49-F238E27FC236}">
                <a16:creationId xmlns:a16="http://schemas.microsoft.com/office/drawing/2014/main" id="{4C34A012-65AF-944C-D483-2050176E09C6}"/>
              </a:ext>
            </a:extLst>
          </p:cNvPr>
          <p:cNvSpPr txBox="1"/>
          <p:nvPr/>
        </p:nvSpPr>
        <p:spPr>
          <a:xfrm>
            <a:off x="187538" y="4128808"/>
            <a:ext cx="8677275" cy="70788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Jeremiah 17:5  </a:t>
            </a:r>
            <a:r>
              <a:rPr lang="en-US" sz="2000" i="1" dirty="0">
                <a:ea typeface="ＭＳ Ｐゴシック" pitchFamily="-106" charset="-128"/>
                <a:cs typeface="ＭＳ Ｐゴシック" pitchFamily="-106" charset="-128"/>
              </a:rPr>
              <a:t>“Cursed is the one who </a:t>
            </a:r>
            <a:r>
              <a:rPr lang="en-US" sz="2000" b="1" i="1" dirty="0">
                <a:ea typeface="ＭＳ Ｐゴシック" pitchFamily="-106" charset="-128"/>
                <a:cs typeface="ＭＳ Ｐゴシック" pitchFamily="-106" charset="-128"/>
              </a:rPr>
              <a:t>trusts</a:t>
            </a:r>
            <a:r>
              <a:rPr lang="en-US" sz="2000" i="1" dirty="0">
                <a:ea typeface="ＭＳ Ｐゴシック" pitchFamily="-106" charset="-128"/>
                <a:cs typeface="ＭＳ Ｐゴシック" pitchFamily="-106" charset="-128"/>
              </a:rPr>
              <a:t> in human beings… and whose heart turns away from the LORD.”</a:t>
            </a:r>
          </a:p>
        </p:txBody>
      </p:sp>
      <p:sp>
        <p:nvSpPr>
          <p:cNvPr id="6" name="TextBox 5">
            <a:extLst>
              <a:ext uri="{FF2B5EF4-FFF2-40B4-BE49-F238E27FC236}">
                <a16:creationId xmlns:a16="http://schemas.microsoft.com/office/drawing/2014/main" id="{FB163739-29B1-B2FE-FDEB-7105D17B1205}"/>
              </a:ext>
            </a:extLst>
          </p:cNvPr>
          <p:cNvSpPr txBox="1"/>
          <p:nvPr/>
        </p:nvSpPr>
        <p:spPr>
          <a:xfrm>
            <a:off x="187538" y="5884578"/>
            <a:ext cx="8677275" cy="70788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Hebrews 8:10  </a:t>
            </a:r>
            <a:r>
              <a:rPr lang="en-US" sz="2000" i="1" dirty="0">
                <a:ea typeface="ＭＳ Ｐゴシック" pitchFamily="-106" charset="-128"/>
                <a:cs typeface="ＭＳ Ｐゴシック" pitchFamily="-106" charset="-128"/>
              </a:rPr>
              <a:t>“I will put my laws in their </a:t>
            </a:r>
            <a:r>
              <a:rPr lang="en-US" sz="2000" i="1" u="sng" dirty="0">
                <a:ea typeface="ＭＳ Ｐゴシック" pitchFamily="-106" charset="-128"/>
                <a:cs typeface="ＭＳ Ｐゴシック" pitchFamily="-106" charset="-128"/>
              </a:rPr>
              <a:t>minds</a:t>
            </a:r>
            <a:r>
              <a:rPr lang="en-US" sz="2000" i="1" dirty="0">
                <a:ea typeface="ＭＳ Ｐゴシック" pitchFamily="-106" charset="-128"/>
                <a:cs typeface="ＭＳ Ｐゴシック" pitchFamily="-106" charset="-128"/>
              </a:rPr>
              <a:t>, and I will inscribe them on their </a:t>
            </a:r>
            <a:r>
              <a:rPr lang="en-US" sz="2000" i="1" u="sng" dirty="0">
                <a:ea typeface="ＭＳ Ｐゴシック" pitchFamily="-106" charset="-128"/>
                <a:cs typeface="ＭＳ Ｐゴシック" pitchFamily="-106" charset="-128"/>
              </a:rPr>
              <a:t>hearts</a:t>
            </a:r>
            <a:r>
              <a:rPr lang="en-US" sz="2000" i="1" dirty="0">
                <a:ea typeface="ＭＳ Ｐゴシック" pitchFamily="-106" charset="-128"/>
                <a:cs typeface="ＭＳ Ｐゴシック" pitchFamily="-106" charset="-128"/>
              </a:rPr>
              <a:t>.”</a:t>
            </a:r>
          </a:p>
        </p:txBody>
      </p:sp>
    </p:spTree>
    <p:extLst>
      <p:ext uri="{BB962C8B-B14F-4D97-AF65-F5344CB8AC3E}">
        <p14:creationId xmlns:p14="http://schemas.microsoft.com/office/powerpoint/2010/main" val="1199484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C0DD8-CEC7-E654-A5B9-F3D213FBAFA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5AB05F0-884A-2F36-6E9F-3575067070C1}"/>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300" dirty="0"/>
              <a:t>Pharisaic Righteousness</a:t>
            </a:r>
            <a:br>
              <a:rPr lang="en-US" dirty="0"/>
            </a:br>
            <a:r>
              <a:rPr lang="en-US" sz="2800" dirty="0">
                <a:solidFill>
                  <a:schemeClr val="tx2">
                    <a:lumMod val="60000"/>
                    <a:lumOff val="40000"/>
                  </a:schemeClr>
                </a:solidFill>
              </a:rPr>
              <a:t>Managing Uncertainty with Religious Systems</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DD03969E-8788-644E-470C-777569F1A33E}"/>
              </a:ext>
            </a:extLst>
          </p:cNvPr>
          <p:cNvSpPr txBox="1"/>
          <p:nvPr/>
        </p:nvSpPr>
        <p:spPr>
          <a:xfrm>
            <a:off x="185477" y="794657"/>
            <a:ext cx="8677275" cy="2246769"/>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Matthew 23:23  </a:t>
            </a:r>
            <a:r>
              <a:rPr lang="en-US" sz="2000" i="1" dirty="0">
                <a:ea typeface="ＭＳ Ｐゴシック" pitchFamily="-106" charset="-128"/>
                <a:cs typeface="ＭＳ Ｐゴシック" pitchFamily="-106" charset="-128"/>
              </a:rPr>
              <a:t>“You give a tenth of mint, dill, and cumin, yet you neglect what is more important in the law - justice, mercy, and faithfulness.”</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Pharisaic righteousness did not start with rebellion. It started with fear. Israel feared losing identity, purity, and God’s favor. So, they built layers of rules to protect themselves. Jesus exposes this. </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The Pharisees were not rejecting righteousness. They were trying to control it.</a:t>
            </a:r>
          </a:p>
        </p:txBody>
      </p:sp>
      <p:sp>
        <p:nvSpPr>
          <p:cNvPr id="2" name="TextBox 1">
            <a:extLst>
              <a:ext uri="{FF2B5EF4-FFF2-40B4-BE49-F238E27FC236}">
                <a16:creationId xmlns:a16="http://schemas.microsoft.com/office/drawing/2014/main" id="{20FD5FE9-929A-4DA7-17EC-A4AD5E449D85}"/>
              </a:ext>
            </a:extLst>
          </p:cNvPr>
          <p:cNvSpPr txBox="1"/>
          <p:nvPr/>
        </p:nvSpPr>
        <p:spPr>
          <a:xfrm>
            <a:off x="185477" y="2978381"/>
            <a:ext cx="8677275" cy="2246769"/>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How uncertainty shaped their system…</a:t>
            </a:r>
            <a:endParaRPr lang="en-US" sz="2000"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sz="2000" dirty="0">
                <a:ea typeface="ＭＳ Ｐゴシック" pitchFamily="-106" charset="-128"/>
                <a:cs typeface="ＭＳ Ｐゴシック" pitchFamily="-106" charset="-128"/>
              </a:rPr>
              <a:t>Fear of disobedience led to rule expansion</a:t>
            </a:r>
          </a:p>
          <a:p>
            <a:pPr marL="285750" indent="-285750" fontAlgn="ctr">
              <a:buFont typeface="Arial" panose="020B0604020202020204" pitchFamily="34" charset="0"/>
              <a:buChar char="•"/>
            </a:pPr>
            <a:r>
              <a:rPr lang="en-US" sz="2000" dirty="0">
                <a:ea typeface="ＭＳ Ｐゴシック" pitchFamily="-106" charset="-128"/>
                <a:cs typeface="ＭＳ Ｐゴシック" pitchFamily="-106" charset="-128"/>
              </a:rPr>
              <a:t>Fear of impurity led to separation</a:t>
            </a:r>
          </a:p>
          <a:p>
            <a:pPr marL="285750" indent="-285750" fontAlgn="ctr">
              <a:buFont typeface="Arial" panose="020B0604020202020204" pitchFamily="34" charset="0"/>
              <a:buChar char="•"/>
            </a:pPr>
            <a:r>
              <a:rPr lang="en-US" sz="2000" dirty="0">
                <a:ea typeface="ＭＳ Ｐゴシック" pitchFamily="-106" charset="-128"/>
                <a:cs typeface="ＭＳ Ｐゴシック" pitchFamily="-106" charset="-128"/>
              </a:rPr>
              <a:t>Fear of judgment led to performance-based assurance</a:t>
            </a:r>
          </a:p>
          <a:p>
            <a:pPr marL="285750" indent="-285750">
              <a:buFont typeface="Arial" panose="020B0604020202020204" pitchFamily="34" charset="0"/>
              <a:buChar char="•"/>
            </a:pPr>
            <a:r>
              <a:rPr lang="en-US" sz="2000" dirty="0">
                <a:ea typeface="ＭＳ Ｐゴシック" pitchFamily="-106" charset="-128"/>
                <a:cs typeface="ＭＳ Ｐゴシック" pitchFamily="-106" charset="-128"/>
              </a:rPr>
              <a:t>Their system promised certainty:</a:t>
            </a:r>
          </a:p>
          <a:p>
            <a:pPr marL="742950" lvl="1" indent="-285750">
              <a:buFont typeface="Arial" panose="020B0604020202020204" pitchFamily="34" charset="0"/>
              <a:buChar char="•"/>
            </a:pPr>
            <a:r>
              <a:rPr lang="en-US" sz="2000" i="1" dirty="0">
                <a:ea typeface="ＭＳ Ｐゴシック" pitchFamily="-106" charset="-128"/>
                <a:cs typeface="ＭＳ Ｐゴシック" pitchFamily="-106" charset="-128"/>
              </a:rPr>
              <a:t>If I do this, I am righteous.</a:t>
            </a:r>
            <a:r>
              <a:rPr lang="en-US" sz="2000" dirty="0">
                <a:ea typeface="ＭＳ Ｐゴシック" pitchFamily="-106" charset="-128"/>
                <a:cs typeface="ＭＳ Ｐゴシック" pitchFamily="-106" charset="-128"/>
              </a:rPr>
              <a:t> </a:t>
            </a:r>
            <a:r>
              <a:rPr lang="en-US" sz="2000" i="1" dirty="0">
                <a:ea typeface="ＭＳ Ｐゴシック" pitchFamily="-106" charset="-128"/>
                <a:cs typeface="ＭＳ Ｐゴシック" pitchFamily="-106" charset="-128"/>
              </a:rPr>
              <a:t>If I avoid that, I am safe.</a:t>
            </a:r>
            <a:endParaRPr lang="en-US" sz="2000"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sz="2000" dirty="0">
                <a:ea typeface="ＭＳ Ｐゴシック" pitchFamily="-106" charset="-128"/>
                <a:cs typeface="ＭＳ Ｐゴシック" pitchFamily="-106" charset="-128"/>
              </a:rPr>
              <a:t>Jesus shows the flaw.</a:t>
            </a:r>
            <a:endParaRPr lang="en-US" sz="1600" dirty="0">
              <a:ea typeface="ＭＳ Ｐゴシック" pitchFamily="-106" charset="-128"/>
              <a:cs typeface="ＭＳ Ｐゴシック" pitchFamily="-106" charset="-128"/>
            </a:endParaRPr>
          </a:p>
        </p:txBody>
      </p:sp>
      <p:sp>
        <p:nvSpPr>
          <p:cNvPr id="4" name="TextBox 3">
            <a:extLst>
              <a:ext uri="{FF2B5EF4-FFF2-40B4-BE49-F238E27FC236}">
                <a16:creationId xmlns:a16="http://schemas.microsoft.com/office/drawing/2014/main" id="{D224D50D-20C2-15AA-5EA2-F71081ECCBD6}"/>
              </a:ext>
            </a:extLst>
          </p:cNvPr>
          <p:cNvSpPr txBox="1"/>
          <p:nvPr/>
        </p:nvSpPr>
        <p:spPr>
          <a:xfrm>
            <a:off x="185477" y="5162104"/>
            <a:ext cx="8677275" cy="163121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Luke 18:9</a:t>
            </a:r>
            <a:r>
              <a:rPr lang="en-US" sz="2000" dirty="0">
                <a:ea typeface="ＭＳ Ｐゴシック" pitchFamily="-106" charset="-128"/>
                <a:cs typeface="ＭＳ Ｐゴシック" pitchFamily="-106" charset="-128"/>
              </a:rPr>
              <a:t>  </a:t>
            </a:r>
            <a:r>
              <a:rPr lang="en-US" sz="2000" i="1" dirty="0">
                <a:ea typeface="ＭＳ Ｐゴシック" pitchFamily="-106" charset="-128"/>
                <a:cs typeface="ＭＳ Ｐゴシック" pitchFamily="-106" charset="-128"/>
              </a:rPr>
              <a:t>“Jesus also told this parable to some who were confident that they were righteous and looked down on everyone else.”</a:t>
            </a:r>
          </a:p>
          <a:p>
            <a:pPr marL="285750" indent="-285750">
              <a:buFont typeface="Arial" panose="020B0604020202020204" pitchFamily="34" charset="0"/>
              <a:buChar char="•"/>
            </a:pPr>
            <a:r>
              <a:rPr lang="en-US" sz="2000" dirty="0">
                <a:ea typeface="ＭＳ Ｐゴシック" pitchFamily="-106" charset="-128"/>
                <a:cs typeface="ＭＳ Ｐゴシック" pitchFamily="-106" charset="-128"/>
              </a:rPr>
              <a:t>Confidence replaced trust.</a:t>
            </a:r>
          </a:p>
          <a:p>
            <a:pPr marL="285750" indent="-285750">
              <a:buFont typeface="Arial" panose="020B0604020202020204" pitchFamily="34" charset="0"/>
              <a:buChar char="•"/>
            </a:pPr>
            <a:r>
              <a:rPr lang="en-US" sz="2000" dirty="0">
                <a:ea typeface="ＭＳ Ｐゴシック" pitchFamily="-106" charset="-128"/>
                <a:cs typeface="ＭＳ Ｐゴシック" pitchFamily="-106" charset="-128"/>
              </a:rPr>
              <a:t>Comparison replaced repentance.</a:t>
            </a:r>
          </a:p>
          <a:p>
            <a:pPr marL="285750" indent="-285750">
              <a:buFont typeface="Arial" panose="020B0604020202020204" pitchFamily="34" charset="0"/>
              <a:buChar char="•"/>
            </a:pPr>
            <a:r>
              <a:rPr lang="en-US" sz="2000" dirty="0">
                <a:ea typeface="ＭＳ Ｐゴシック" pitchFamily="-106" charset="-128"/>
                <a:cs typeface="ＭＳ Ｐゴシック" pitchFamily="-106" charset="-128"/>
              </a:rPr>
              <a:t>This is the righteousness of man wearing religious clothing. </a:t>
            </a:r>
          </a:p>
        </p:txBody>
      </p:sp>
    </p:spTree>
    <p:extLst>
      <p:ext uri="{BB962C8B-B14F-4D97-AF65-F5344CB8AC3E}">
        <p14:creationId xmlns:p14="http://schemas.microsoft.com/office/powerpoint/2010/main" val="1205745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15007-E470-8812-3870-8FA4A5F7C9D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28323DD-B10E-D46B-3C6D-AC06C189E63D}"/>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Modern Church Culture</a:t>
            </a:r>
            <a:br>
              <a:rPr lang="en-US" dirty="0"/>
            </a:br>
            <a:r>
              <a:rPr lang="en-US" sz="2800" dirty="0">
                <a:solidFill>
                  <a:schemeClr val="tx2">
                    <a:lumMod val="60000"/>
                    <a:lumOff val="40000"/>
                  </a:schemeClr>
                </a:solidFill>
              </a:rPr>
              <a:t>New Systems, Same Instincts</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F72180F6-910D-FA74-3ACD-FE1D95F303C9}"/>
              </a:ext>
            </a:extLst>
          </p:cNvPr>
          <p:cNvSpPr txBox="1"/>
          <p:nvPr/>
        </p:nvSpPr>
        <p:spPr>
          <a:xfrm>
            <a:off x="193712" y="823489"/>
            <a:ext cx="8677275" cy="70788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Galatians 3:3</a:t>
            </a:r>
            <a:r>
              <a:rPr lang="en-US" sz="2000" dirty="0">
                <a:ea typeface="ＭＳ Ｐゴシック" pitchFamily="-106" charset="-128"/>
                <a:cs typeface="ＭＳ Ｐゴシック" pitchFamily="-106" charset="-128"/>
              </a:rPr>
              <a:t>  </a:t>
            </a:r>
            <a:r>
              <a:rPr lang="en-US" sz="2000" i="1" dirty="0">
                <a:ea typeface="ＭＳ Ｐゴシック" pitchFamily="-106" charset="-128"/>
                <a:cs typeface="ＭＳ Ｐゴシック" pitchFamily="-106" charset="-128"/>
              </a:rPr>
              <a:t>“After beginning with the Spirit, are you now trying to finish by human effort?”</a:t>
            </a:r>
            <a:endParaRPr lang="en-US" sz="2000" dirty="0">
              <a:ea typeface="ＭＳ Ｐゴシック" pitchFamily="-106" charset="-128"/>
              <a:cs typeface="ＭＳ Ｐゴシック" pitchFamily="-106" charset="-128"/>
            </a:endParaRPr>
          </a:p>
        </p:txBody>
      </p:sp>
      <p:sp>
        <p:nvSpPr>
          <p:cNvPr id="2" name="TextBox 1">
            <a:extLst>
              <a:ext uri="{FF2B5EF4-FFF2-40B4-BE49-F238E27FC236}">
                <a16:creationId xmlns:a16="http://schemas.microsoft.com/office/drawing/2014/main" id="{CFB2DD67-94AD-6CD9-1B74-8A34A1FDC563}"/>
              </a:ext>
            </a:extLst>
          </p:cNvPr>
          <p:cNvSpPr txBox="1"/>
          <p:nvPr/>
        </p:nvSpPr>
        <p:spPr>
          <a:xfrm>
            <a:off x="193712" y="1544326"/>
            <a:ext cx="8677275" cy="2862322"/>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Uncertainty drives this…</a:t>
            </a:r>
          </a:p>
          <a:p>
            <a:pPr marL="285750" indent="-285750" fontAlgn="ctr">
              <a:buFont typeface="Arial" panose="020B0604020202020204" pitchFamily="34" charset="0"/>
              <a:buChar char="•"/>
            </a:pPr>
            <a:r>
              <a:rPr lang="en-US" sz="2000" dirty="0">
                <a:ea typeface="ＭＳ Ｐゴシック" pitchFamily="-106" charset="-128"/>
                <a:cs typeface="ＭＳ Ｐゴシック" pitchFamily="-106" charset="-128"/>
              </a:rPr>
              <a:t>Fear of being wrong. Fear of being excluded. Fear of losing control.</a:t>
            </a:r>
          </a:p>
          <a:p>
            <a:r>
              <a:rPr lang="en-US" sz="2000" b="1" dirty="0">
                <a:ea typeface="ＭＳ Ｐゴシック" pitchFamily="-106" charset="-128"/>
                <a:cs typeface="ＭＳ Ｐゴシック" pitchFamily="-106" charset="-128"/>
              </a:rPr>
              <a:t>Common modern versions include…</a:t>
            </a:r>
          </a:p>
          <a:p>
            <a:pPr marL="342900" indent="-342900" fontAlgn="ctr">
              <a:buFont typeface="Arial" panose="020B0604020202020204" pitchFamily="34" charset="0"/>
              <a:buChar char="•"/>
            </a:pPr>
            <a:r>
              <a:rPr lang="en-US" sz="2000" dirty="0">
                <a:ea typeface="ＭＳ Ｐゴシック" pitchFamily="-106" charset="-128"/>
                <a:cs typeface="ＭＳ Ｐゴシック" pitchFamily="-106" charset="-128"/>
              </a:rPr>
              <a:t>Moral performance as spiritual proof.</a:t>
            </a:r>
          </a:p>
          <a:p>
            <a:pPr marL="342900" indent="-342900" fontAlgn="ctr">
              <a:buFont typeface="Arial" panose="020B0604020202020204" pitchFamily="34" charset="0"/>
              <a:buChar char="•"/>
            </a:pPr>
            <a:r>
              <a:rPr lang="en-US" sz="2000" dirty="0">
                <a:ea typeface="ＭＳ Ｐゴシック" pitchFamily="-106" charset="-128"/>
                <a:cs typeface="ＭＳ Ｐゴシック" pitchFamily="-106" charset="-128"/>
              </a:rPr>
              <a:t>Doctrinal precision as righteousness.</a:t>
            </a:r>
          </a:p>
          <a:p>
            <a:pPr marL="342900" indent="-342900" fontAlgn="ctr">
              <a:buFont typeface="Arial" panose="020B0604020202020204" pitchFamily="34" charset="0"/>
              <a:buChar char="•"/>
            </a:pPr>
            <a:r>
              <a:rPr lang="en-US" sz="2000" dirty="0">
                <a:ea typeface="ＭＳ Ｐゴシック" pitchFamily="-106" charset="-128"/>
                <a:cs typeface="ＭＳ Ｐゴシック" pitchFamily="-106" charset="-128"/>
              </a:rPr>
              <a:t>Political alignment as holiness.</a:t>
            </a:r>
          </a:p>
          <a:p>
            <a:pPr marL="342900" indent="-342900" fontAlgn="ctr">
              <a:buFont typeface="Arial" panose="020B0604020202020204" pitchFamily="34" charset="0"/>
              <a:buChar char="•"/>
            </a:pPr>
            <a:r>
              <a:rPr lang="en-US" sz="2000" dirty="0">
                <a:ea typeface="ＭＳ Ｐゴシック" pitchFamily="-106" charset="-128"/>
                <a:cs typeface="ＭＳ Ｐゴシック" pitchFamily="-106" charset="-128"/>
              </a:rPr>
              <a:t>Ministry output as faithfulness.</a:t>
            </a:r>
          </a:p>
          <a:p>
            <a:r>
              <a:rPr lang="en-US" sz="2000" b="1" dirty="0">
                <a:ea typeface="ＭＳ Ｐゴシック" pitchFamily="-106" charset="-128"/>
                <a:cs typeface="ＭＳ Ｐゴシック" pitchFamily="-106" charset="-128"/>
              </a:rPr>
              <a:t>None of these are evil on their own…</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They become dangerous when they provide </a:t>
            </a:r>
            <a:r>
              <a:rPr lang="en-US" sz="2000" u="sng" dirty="0">
                <a:ea typeface="ＭＳ Ｐゴシック" pitchFamily="-106" charset="-128"/>
                <a:cs typeface="ＭＳ Ｐゴシック" pitchFamily="-106" charset="-128"/>
              </a:rPr>
              <a:t>identity</a:t>
            </a:r>
            <a:r>
              <a:rPr lang="en-US" sz="2000" dirty="0">
                <a:ea typeface="ＭＳ Ｐゴシック" pitchFamily="-106" charset="-128"/>
                <a:cs typeface="ＭＳ Ｐゴシック" pitchFamily="-106" charset="-128"/>
              </a:rPr>
              <a:t> and </a:t>
            </a:r>
            <a:r>
              <a:rPr lang="en-US" sz="2000" u="sng" dirty="0">
                <a:ea typeface="ＭＳ Ｐゴシック" pitchFamily="-106" charset="-128"/>
                <a:cs typeface="ＭＳ Ｐゴシック" pitchFamily="-106" charset="-128"/>
              </a:rPr>
              <a:t>assurance</a:t>
            </a:r>
            <a:r>
              <a:rPr lang="en-US" sz="2000" dirty="0">
                <a:ea typeface="ＭＳ Ｐゴシック" pitchFamily="-106" charset="-128"/>
                <a:cs typeface="ＭＳ Ｐゴシック" pitchFamily="-106" charset="-128"/>
              </a:rPr>
              <a:t>.</a:t>
            </a:r>
          </a:p>
        </p:txBody>
      </p:sp>
      <p:sp>
        <p:nvSpPr>
          <p:cNvPr id="4" name="TextBox 3">
            <a:extLst>
              <a:ext uri="{FF2B5EF4-FFF2-40B4-BE49-F238E27FC236}">
                <a16:creationId xmlns:a16="http://schemas.microsoft.com/office/drawing/2014/main" id="{648BE979-612F-858D-48C3-2C67C90E8550}"/>
              </a:ext>
            </a:extLst>
          </p:cNvPr>
          <p:cNvSpPr txBox="1"/>
          <p:nvPr/>
        </p:nvSpPr>
        <p:spPr>
          <a:xfrm>
            <a:off x="193712" y="4419600"/>
            <a:ext cx="8677275" cy="1938992"/>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So, systems form…</a:t>
            </a:r>
          </a:p>
          <a:p>
            <a:pPr marL="285750" indent="-285750">
              <a:buFont typeface="Arial" panose="020B0604020202020204" pitchFamily="34" charset="0"/>
              <a:buChar char="•"/>
            </a:pPr>
            <a:r>
              <a:rPr lang="en-US" sz="2000" dirty="0">
                <a:ea typeface="ＭＳ Ｐゴシック" pitchFamily="-106" charset="-128"/>
                <a:cs typeface="ＭＳ Ｐゴシック" pitchFamily="-106" charset="-128"/>
              </a:rPr>
              <a:t>Behavioral codes.  Examples?</a:t>
            </a:r>
          </a:p>
          <a:p>
            <a:pPr marL="285750" indent="-285750" fontAlgn="ctr">
              <a:buFont typeface="Arial" panose="020B0604020202020204" pitchFamily="34" charset="0"/>
              <a:buChar char="•"/>
            </a:pPr>
            <a:r>
              <a:rPr lang="en-US" sz="2000" dirty="0">
                <a:ea typeface="ＭＳ Ｐゴシック" pitchFamily="-106" charset="-128"/>
                <a:cs typeface="ＭＳ Ｐゴシック" pitchFamily="-106" charset="-128"/>
              </a:rPr>
              <a:t>Cultural expectations.  Examples?</a:t>
            </a:r>
          </a:p>
          <a:p>
            <a:pPr marL="285750" indent="-285750" fontAlgn="ctr">
              <a:buFont typeface="Arial" panose="020B0604020202020204" pitchFamily="34" charset="0"/>
              <a:buChar char="•"/>
            </a:pPr>
            <a:r>
              <a:rPr lang="en-US" sz="2000" dirty="0">
                <a:ea typeface="ＭＳ Ｐゴシック" pitchFamily="-106" charset="-128"/>
                <a:cs typeface="ＭＳ Ｐゴシック" pitchFamily="-106" charset="-128"/>
              </a:rPr>
              <a:t>Unspoken social contracts.  Examples?</a:t>
            </a:r>
          </a:p>
          <a:p>
            <a:r>
              <a:rPr lang="en-US" sz="2000" b="1" dirty="0">
                <a:ea typeface="ＭＳ Ｐゴシック" pitchFamily="-106" charset="-128"/>
                <a:cs typeface="ＭＳ Ｐゴシック" pitchFamily="-106" charset="-128"/>
              </a:rPr>
              <a:t>You belong if you comply.  You are “righteous” if you align.</a:t>
            </a:r>
          </a:p>
          <a:p>
            <a:r>
              <a:rPr lang="en-US" sz="2000" b="1" dirty="0">
                <a:ea typeface="ＭＳ Ｐゴシック" pitchFamily="-106" charset="-128"/>
                <a:cs typeface="ＭＳ Ｐゴシック" pitchFamily="-106" charset="-128"/>
              </a:rPr>
              <a:t>This is not covenant.  It is </a:t>
            </a:r>
            <a:r>
              <a:rPr lang="en-US" sz="2000" b="1" u="sng" dirty="0">
                <a:ea typeface="ＭＳ Ｐゴシック" pitchFamily="-106" charset="-128"/>
                <a:cs typeface="ＭＳ Ｐゴシック" pitchFamily="-106" charset="-128"/>
              </a:rPr>
              <a:t>managed morality</a:t>
            </a:r>
            <a:r>
              <a:rPr lang="en-US" sz="2000" b="1" dirty="0">
                <a:ea typeface="ＭＳ Ｐゴシック" pitchFamily="-106" charset="-128"/>
                <a:cs typeface="ＭＳ Ｐゴシック" pitchFamily="-106" charset="-128"/>
              </a:rPr>
              <a:t>.</a:t>
            </a:r>
            <a:endParaRPr lang="en-US" sz="1600" b="1"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405331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7E19A-571A-8351-7805-16BFED85ACC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59F99D3-DFB4-4440-16CD-FBCFAB36D119}"/>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300" u="sng" dirty="0"/>
              <a:t>Faith-Based Obedience</a:t>
            </a:r>
            <a:r>
              <a:rPr lang="en-US" sz="3300" dirty="0"/>
              <a:t> vs System-Based Morality</a:t>
            </a:r>
            <a:br>
              <a:rPr lang="en-US" dirty="0"/>
            </a:br>
            <a:r>
              <a:rPr lang="en-US" sz="2800" dirty="0">
                <a:solidFill>
                  <a:schemeClr val="tx2">
                    <a:lumMod val="60000"/>
                    <a:lumOff val="40000"/>
                  </a:schemeClr>
                </a:solidFill>
              </a:rPr>
              <a:t>Scriptural Contrast</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AF655763-0161-E2C9-B4F4-FF9726F1A84F}"/>
              </a:ext>
            </a:extLst>
          </p:cNvPr>
          <p:cNvSpPr txBox="1"/>
          <p:nvPr/>
        </p:nvSpPr>
        <p:spPr>
          <a:xfrm>
            <a:off x="214311" y="838200"/>
            <a:ext cx="8677275" cy="70788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Romans 4:5  </a:t>
            </a:r>
            <a:r>
              <a:rPr lang="en-US" sz="2000" i="1" dirty="0">
                <a:ea typeface="ＭＳ Ｐゴシック" pitchFamily="-106" charset="-128"/>
                <a:cs typeface="ＭＳ Ｐゴシック" pitchFamily="-106" charset="-128"/>
              </a:rPr>
              <a:t>“But to the one who does not work but believes in the one who declares the ungodly righteous, </a:t>
            </a:r>
            <a:r>
              <a:rPr lang="en-US" sz="2000" i="1" u="sng" dirty="0">
                <a:ea typeface="ＭＳ Ｐゴシック" pitchFamily="-106" charset="-128"/>
                <a:cs typeface="ＭＳ Ｐゴシック" pitchFamily="-106" charset="-128"/>
              </a:rPr>
              <a:t>his faith is credited as righteousness</a:t>
            </a:r>
            <a:r>
              <a:rPr lang="en-US" sz="2000" i="1" dirty="0">
                <a:ea typeface="ＭＳ Ｐゴシック" pitchFamily="-106" charset="-128"/>
                <a:cs typeface="ＭＳ Ｐゴシック" pitchFamily="-106" charset="-128"/>
              </a:rPr>
              <a:t>.”</a:t>
            </a:r>
          </a:p>
        </p:txBody>
      </p:sp>
      <p:sp>
        <p:nvSpPr>
          <p:cNvPr id="2" name="TextBox 1">
            <a:extLst>
              <a:ext uri="{FF2B5EF4-FFF2-40B4-BE49-F238E27FC236}">
                <a16:creationId xmlns:a16="http://schemas.microsoft.com/office/drawing/2014/main" id="{C6EB6A3B-5189-0F53-9697-83C42E6DBF6D}"/>
              </a:ext>
            </a:extLst>
          </p:cNvPr>
          <p:cNvSpPr txBox="1"/>
          <p:nvPr/>
        </p:nvSpPr>
        <p:spPr>
          <a:xfrm>
            <a:off x="230786" y="1828800"/>
            <a:ext cx="8677275" cy="2246769"/>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Key traits:</a:t>
            </a:r>
          </a:p>
          <a:p>
            <a:pPr marL="342900" indent="-342900">
              <a:buFont typeface="Arial" panose="020B0604020202020204" pitchFamily="34" charset="0"/>
              <a:buChar char="•"/>
            </a:pPr>
            <a:r>
              <a:rPr lang="en-US" sz="2000" u="sng" dirty="0">
                <a:ea typeface="ＭＳ Ｐゴシック" pitchFamily="-106" charset="-128"/>
                <a:cs typeface="ＭＳ Ｐゴシック" pitchFamily="-106" charset="-128"/>
              </a:rPr>
              <a:t>Faith-based obedience flows from </a:t>
            </a:r>
            <a:r>
              <a:rPr lang="en-US" sz="2000" b="1" u="sng" dirty="0">
                <a:ea typeface="ＭＳ Ｐゴシック" pitchFamily="-106" charset="-128"/>
                <a:cs typeface="ＭＳ Ｐゴシック" pitchFamily="-106" charset="-128"/>
              </a:rPr>
              <a:t>trust</a:t>
            </a:r>
            <a:r>
              <a:rPr lang="en-US" sz="2000" dirty="0">
                <a:ea typeface="ＭＳ Ｐゴシック" pitchFamily="-106" charset="-128"/>
                <a:cs typeface="ＭＳ Ｐゴシック" pitchFamily="-106" charset="-128"/>
              </a:rPr>
              <a:t>.</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It begins with God’s action, not ours.</a:t>
            </a:r>
          </a:p>
          <a:p>
            <a:pPr marL="342900" indent="-342900" fontAlgn="ctr">
              <a:buFont typeface="Arial" panose="020B0604020202020204" pitchFamily="34" charset="0"/>
              <a:buChar char="•"/>
            </a:pPr>
            <a:r>
              <a:rPr lang="en-US" sz="2000" u="sng" dirty="0">
                <a:ea typeface="ＭＳ Ｐゴシック" pitchFamily="-106" charset="-128"/>
                <a:cs typeface="ＭＳ Ｐゴシック" pitchFamily="-106" charset="-128"/>
              </a:rPr>
              <a:t>Obedience</a:t>
            </a:r>
            <a:r>
              <a:rPr lang="en-US" sz="2000" dirty="0">
                <a:ea typeface="ＭＳ Ｐゴシック" pitchFamily="-106" charset="-128"/>
                <a:cs typeface="ＭＳ Ｐゴシック" pitchFamily="-106" charset="-128"/>
              </a:rPr>
              <a:t> grows from </a:t>
            </a:r>
            <a:r>
              <a:rPr lang="en-US" sz="2000" u="sng" dirty="0">
                <a:ea typeface="ＭＳ Ｐゴシック" pitchFamily="-106" charset="-128"/>
                <a:cs typeface="ＭＳ Ｐゴシック" pitchFamily="-106" charset="-128"/>
              </a:rPr>
              <a:t>covenant relationship</a:t>
            </a:r>
            <a:r>
              <a:rPr lang="en-US" sz="2000" dirty="0">
                <a:ea typeface="ＭＳ Ｐゴシック" pitchFamily="-106" charset="-128"/>
                <a:cs typeface="ＭＳ Ｐゴシック" pitchFamily="-106" charset="-128"/>
              </a:rPr>
              <a:t>.</a:t>
            </a:r>
          </a:p>
          <a:p>
            <a:pPr marL="342900" indent="-342900" fontAlgn="ctr">
              <a:buFont typeface="Arial" panose="020B0604020202020204" pitchFamily="34" charset="0"/>
              <a:buChar char="•"/>
            </a:pPr>
            <a:r>
              <a:rPr lang="en-US" sz="2000" dirty="0">
                <a:ea typeface="ＭＳ Ｐゴシック" pitchFamily="-106" charset="-128"/>
                <a:cs typeface="ＭＳ Ｐゴシック" pitchFamily="-106" charset="-128"/>
              </a:rPr>
              <a:t>Repentance stays central.</a:t>
            </a:r>
          </a:p>
          <a:p>
            <a:pPr marL="342900" indent="-342900" fontAlgn="ctr">
              <a:buFont typeface="Arial" panose="020B0604020202020204" pitchFamily="34" charset="0"/>
              <a:buChar char="•"/>
            </a:pPr>
            <a:r>
              <a:rPr lang="en-US" sz="2000" dirty="0">
                <a:ea typeface="ＭＳ Ｐゴシック" pitchFamily="-106" charset="-128"/>
                <a:cs typeface="ＭＳ Ｐゴシック" pitchFamily="-106" charset="-128"/>
              </a:rPr>
              <a:t>Humility remains possible.</a:t>
            </a:r>
          </a:p>
          <a:p>
            <a:pPr marL="342900" indent="-342900" fontAlgn="ctr">
              <a:buFont typeface="Arial" panose="020B0604020202020204" pitchFamily="34" charset="0"/>
              <a:buChar char="•"/>
            </a:pPr>
            <a:r>
              <a:rPr lang="en-US" sz="2000" dirty="0">
                <a:ea typeface="ＭＳ Ｐゴシック" pitchFamily="-106" charset="-128"/>
                <a:cs typeface="ＭＳ Ｐゴシック" pitchFamily="-106" charset="-128"/>
              </a:rPr>
              <a:t>Love fulfills the law.</a:t>
            </a:r>
          </a:p>
        </p:txBody>
      </p:sp>
      <p:sp>
        <p:nvSpPr>
          <p:cNvPr id="4" name="TextBox 3">
            <a:extLst>
              <a:ext uri="{FF2B5EF4-FFF2-40B4-BE49-F238E27FC236}">
                <a16:creationId xmlns:a16="http://schemas.microsoft.com/office/drawing/2014/main" id="{CE74CE38-AC50-2314-E87D-EDDDA9B80575}"/>
              </a:ext>
            </a:extLst>
          </p:cNvPr>
          <p:cNvSpPr txBox="1"/>
          <p:nvPr/>
        </p:nvSpPr>
        <p:spPr>
          <a:xfrm>
            <a:off x="214311" y="4358283"/>
            <a:ext cx="8677275" cy="215443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Galatians 5:6  </a:t>
            </a:r>
            <a:r>
              <a:rPr lang="en-US" sz="2000" i="1" dirty="0">
                <a:ea typeface="ＭＳ Ｐゴシック" pitchFamily="-106" charset="-128"/>
                <a:cs typeface="ＭＳ Ｐゴシック" pitchFamily="-106" charset="-128"/>
              </a:rPr>
              <a:t>“The only thing that matters is </a:t>
            </a:r>
            <a:r>
              <a:rPr lang="en-US" sz="2000" i="1" u="sng" dirty="0">
                <a:ea typeface="ＭＳ Ｐゴシック" pitchFamily="-106" charset="-128"/>
                <a:cs typeface="ＭＳ Ｐゴシック" pitchFamily="-106" charset="-128"/>
              </a:rPr>
              <a:t>faith working through love</a:t>
            </a:r>
            <a:r>
              <a:rPr lang="en-US" sz="2000" i="1" dirty="0">
                <a:ea typeface="ＭＳ Ｐゴシック" pitchFamily="-106" charset="-128"/>
                <a:cs typeface="ＭＳ Ｐゴシック" pitchFamily="-106" charset="-128"/>
              </a:rPr>
              <a:t>.”</a:t>
            </a:r>
          </a:p>
          <a:p>
            <a:pPr marL="285750" indent="-285750">
              <a:buFont typeface="Arial" panose="020B0604020202020204" pitchFamily="34" charset="0"/>
              <a:buChar char="•"/>
            </a:pPr>
            <a:r>
              <a:rPr lang="en-US" sz="2000" dirty="0">
                <a:ea typeface="ＭＳ Ｐゴシック" pitchFamily="-106" charset="-128"/>
                <a:cs typeface="ＭＳ Ｐゴシック" pitchFamily="-106" charset="-128"/>
              </a:rPr>
              <a:t>Faith does not remove obedience.</a:t>
            </a:r>
          </a:p>
          <a:p>
            <a:pPr marL="285750" indent="-285750">
              <a:buFont typeface="Arial" panose="020B0604020202020204" pitchFamily="34" charset="0"/>
              <a:buChar char="•"/>
            </a:pPr>
            <a:r>
              <a:rPr lang="en-US" sz="2000" dirty="0">
                <a:ea typeface="ＭＳ Ｐゴシック" pitchFamily="-106" charset="-128"/>
                <a:cs typeface="ＭＳ Ｐゴシック" pitchFamily="-106" charset="-128"/>
              </a:rPr>
              <a:t>It roots obedience in trust.</a:t>
            </a:r>
          </a:p>
          <a:p>
            <a:pPr marL="285750" indent="-285750">
              <a:buFont typeface="Arial" panose="020B0604020202020204" pitchFamily="34" charset="0"/>
              <a:buChar char="•"/>
            </a:pPr>
            <a:endParaRPr lang="en-US" sz="2000" dirty="0">
              <a:ea typeface="ＭＳ Ｐゴシック" pitchFamily="-106" charset="-128"/>
              <a:cs typeface="ＭＳ Ｐゴシック" pitchFamily="-106" charset="-128"/>
            </a:endParaRPr>
          </a:p>
          <a:p>
            <a:r>
              <a:rPr lang="en-US" b="1" dirty="0"/>
              <a:t>Romans 10:3-4</a:t>
            </a:r>
            <a:r>
              <a:rPr lang="en-US" dirty="0"/>
              <a:t>  “</a:t>
            </a:r>
            <a:r>
              <a:rPr lang="en-US" i="1" dirty="0"/>
              <a:t>For they </a:t>
            </a:r>
            <a:r>
              <a:rPr lang="en-US" i="1" u="sng" dirty="0"/>
              <a:t>being ignorant of God's righteousness</a:t>
            </a:r>
            <a:r>
              <a:rPr lang="en-US" i="1" dirty="0"/>
              <a:t>, and </a:t>
            </a:r>
            <a:r>
              <a:rPr lang="en-US" i="1" u="sng" dirty="0"/>
              <a:t>seeking to establish their own righteousness</a:t>
            </a:r>
            <a:r>
              <a:rPr lang="en-US" i="1" dirty="0"/>
              <a:t>, have not submitted to the righteousness of God.  For Christ is the end of the law </a:t>
            </a:r>
            <a:r>
              <a:rPr lang="en-US" i="1" u="sng" dirty="0"/>
              <a:t>for righteousness to everyone who believes</a:t>
            </a:r>
            <a:r>
              <a:rPr lang="en-US" i="1" dirty="0"/>
              <a:t>.”</a:t>
            </a:r>
          </a:p>
        </p:txBody>
      </p:sp>
    </p:spTree>
    <p:extLst>
      <p:ext uri="{BB962C8B-B14F-4D97-AF65-F5344CB8AC3E}">
        <p14:creationId xmlns:p14="http://schemas.microsoft.com/office/powerpoint/2010/main" val="1162581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294CE-73B9-0662-5EA6-F2C64198668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40E34B6-71CF-5FBD-1D9B-731ED34C64EF}"/>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300" dirty="0"/>
              <a:t>Faith-Based Obedience vs </a:t>
            </a:r>
            <a:r>
              <a:rPr lang="en-US" sz="3300" u="sng" dirty="0"/>
              <a:t>System-Based Morality</a:t>
            </a:r>
            <a:br>
              <a:rPr lang="en-US" dirty="0"/>
            </a:br>
            <a:r>
              <a:rPr lang="en-US" sz="2800" dirty="0">
                <a:solidFill>
                  <a:schemeClr val="tx2">
                    <a:lumMod val="60000"/>
                    <a:lumOff val="40000"/>
                  </a:schemeClr>
                </a:solidFill>
              </a:rPr>
              <a:t>Scriptural Contrast</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02E1460D-A52F-CDBA-E6B6-210E54C37205}"/>
              </a:ext>
            </a:extLst>
          </p:cNvPr>
          <p:cNvSpPr txBox="1"/>
          <p:nvPr/>
        </p:nvSpPr>
        <p:spPr>
          <a:xfrm>
            <a:off x="214311" y="838200"/>
            <a:ext cx="8677275" cy="1323439"/>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Colossians 2:20–23  </a:t>
            </a:r>
            <a:r>
              <a:rPr lang="en-US" sz="2000" i="1" dirty="0">
                <a:ea typeface="ＭＳ Ｐゴシック" pitchFamily="-106" charset="-128"/>
                <a:cs typeface="ＭＳ Ｐゴシック" pitchFamily="-106" charset="-128"/>
              </a:rPr>
              <a:t>“Therefore, if you died with Christ from the basic principles of the world…</a:t>
            </a:r>
            <a:r>
              <a:rPr lang="en-US" sz="2000" dirty="0">
                <a:ea typeface="ＭＳ Ｐゴシック" pitchFamily="-106" charset="-128"/>
                <a:cs typeface="ＭＳ Ｐゴシック" pitchFamily="-106" charset="-128"/>
              </a:rPr>
              <a:t> </a:t>
            </a:r>
            <a:r>
              <a:rPr lang="en-US" sz="2000" i="1" u="sng" dirty="0">
                <a:ea typeface="ＭＳ Ｐゴシック" pitchFamily="-106" charset="-128"/>
                <a:cs typeface="ＭＳ Ｐゴシック" pitchFamily="-106" charset="-128"/>
              </a:rPr>
              <a:t>Why do you submit to them as if you lived in the world</a:t>
            </a:r>
            <a:r>
              <a:rPr lang="en-US" sz="2000" i="1" dirty="0">
                <a:ea typeface="ＭＳ Ｐゴシック" pitchFamily="-106" charset="-128"/>
                <a:cs typeface="ＭＳ Ｐゴシック" pitchFamily="-106" charset="-128"/>
              </a:rPr>
              <a:t>? … They have the appearance of wisdom… but they are of no value against fleshly indulgence.”</a:t>
            </a:r>
          </a:p>
        </p:txBody>
      </p:sp>
      <p:sp>
        <p:nvSpPr>
          <p:cNvPr id="2" name="TextBox 1">
            <a:extLst>
              <a:ext uri="{FF2B5EF4-FFF2-40B4-BE49-F238E27FC236}">
                <a16:creationId xmlns:a16="http://schemas.microsoft.com/office/drawing/2014/main" id="{8DFAE8CA-75C2-7FEF-EEFB-255B1E0C072D}"/>
              </a:ext>
            </a:extLst>
          </p:cNvPr>
          <p:cNvSpPr txBox="1"/>
          <p:nvPr/>
        </p:nvSpPr>
        <p:spPr>
          <a:xfrm>
            <a:off x="241084" y="2205182"/>
            <a:ext cx="8677275" cy="2246769"/>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Key traits:</a:t>
            </a:r>
          </a:p>
          <a:p>
            <a:pPr marL="342900" indent="-342900">
              <a:buFont typeface="Arial" panose="020B0604020202020204" pitchFamily="34" charset="0"/>
              <a:buChar char="•"/>
            </a:pPr>
            <a:r>
              <a:rPr lang="en-US" sz="2000" u="sng" dirty="0">
                <a:ea typeface="ＭＳ Ｐゴシック" pitchFamily="-106" charset="-128"/>
                <a:cs typeface="ＭＳ Ｐゴシック" pitchFamily="-106" charset="-128"/>
              </a:rPr>
              <a:t>System-based morality flows from fear</a:t>
            </a:r>
            <a:r>
              <a:rPr lang="en-US" sz="2000" dirty="0">
                <a:ea typeface="ＭＳ Ｐゴシック" pitchFamily="-106" charset="-128"/>
                <a:cs typeface="ＭＳ Ｐゴシック" pitchFamily="-106" charset="-128"/>
              </a:rPr>
              <a:t>.  </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It begins with control.</a:t>
            </a:r>
          </a:p>
          <a:p>
            <a:pPr marL="342900" indent="-342900" fontAlgn="ctr">
              <a:buFont typeface="Arial" panose="020B0604020202020204" pitchFamily="34" charset="0"/>
              <a:buChar char="•"/>
            </a:pPr>
            <a:r>
              <a:rPr lang="en-US" sz="2000" dirty="0">
                <a:ea typeface="ＭＳ Ｐゴシック" pitchFamily="-106" charset="-128"/>
                <a:cs typeface="ＭＳ Ｐゴシック" pitchFamily="-106" charset="-128"/>
              </a:rPr>
              <a:t>Obedience replaces trust.</a:t>
            </a:r>
          </a:p>
          <a:p>
            <a:pPr marL="342900" indent="-342900" fontAlgn="ctr">
              <a:buFont typeface="Arial" panose="020B0604020202020204" pitchFamily="34" charset="0"/>
              <a:buChar char="•"/>
            </a:pPr>
            <a:r>
              <a:rPr lang="en-US" sz="2000" dirty="0">
                <a:ea typeface="ＭＳ Ｐゴシック" pitchFamily="-106" charset="-128"/>
                <a:cs typeface="ＭＳ Ｐゴシック" pitchFamily="-106" charset="-128"/>
              </a:rPr>
              <a:t>Rules replace conscience.</a:t>
            </a:r>
          </a:p>
          <a:p>
            <a:pPr marL="342900" indent="-342900" fontAlgn="ctr">
              <a:buFont typeface="Arial" panose="020B0604020202020204" pitchFamily="34" charset="0"/>
              <a:buChar char="•"/>
            </a:pPr>
            <a:r>
              <a:rPr lang="en-US" sz="2000" u="sng" dirty="0">
                <a:ea typeface="ＭＳ Ｐゴシック" pitchFamily="-106" charset="-128"/>
                <a:cs typeface="ＭＳ Ｐゴシック" pitchFamily="-106" charset="-128"/>
              </a:rPr>
              <a:t>Conformity replaces transformation</a:t>
            </a:r>
            <a:r>
              <a:rPr lang="en-US" sz="2000" dirty="0">
                <a:ea typeface="ＭＳ Ｐゴシック" pitchFamily="-106" charset="-128"/>
                <a:cs typeface="ＭＳ Ｐゴシック" pitchFamily="-106" charset="-128"/>
              </a:rPr>
              <a:t>.</a:t>
            </a:r>
          </a:p>
          <a:p>
            <a:pPr marL="342900" indent="-342900" fontAlgn="ctr">
              <a:buFont typeface="Arial" panose="020B0604020202020204" pitchFamily="34" charset="0"/>
              <a:buChar char="•"/>
            </a:pPr>
            <a:r>
              <a:rPr lang="en-US" sz="2000" dirty="0">
                <a:ea typeface="ＭＳ Ｐゴシック" pitchFamily="-106" charset="-128"/>
                <a:cs typeface="ＭＳ Ｐゴシック" pitchFamily="-106" charset="-128"/>
              </a:rPr>
              <a:t>Pride or despair results.</a:t>
            </a:r>
          </a:p>
        </p:txBody>
      </p:sp>
      <p:sp>
        <p:nvSpPr>
          <p:cNvPr id="4" name="TextBox 3">
            <a:extLst>
              <a:ext uri="{FF2B5EF4-FFF2-40B4-BE49-F238E27FC236}">
                <a16:creationId xmlns:a16="http://schemas.microsoft.com/office/drawing/2014/main" id="{BF8B996F-1743-342A-C251-826A1294FCB1}"/>
              </a:ext>
            </a:extLst>
          </p:cNvPr>
          <p:cNvSpPr txBox="1"/>
          <p:nvPr/>
        </p:nvSpPr>
        <p:spPr>
          <a:xfrm>
            <a:off x="233362" y="4438808"/>
            <a:ext cx="8677275" cy="2400657"/>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Systems </a:t>
            </a:r>
            <a:r>
              <a:rPr lang="en-US" sz="2000" b="1" u="sng" dirty="0">
                <a:ea typeface="ＭＳ Ｐゴシック" pitchFamily="-106" charset="-128"/>
                <a:cs typeface="ＭＳ Ｐゴシック" pitchFamily="-106" charset="-128"/>
              </a:rPr>
              <a:t>can</a:t>
            </a:r>
            <a:r>
              <a:rPr lang="en-US" sz="2000" b="1" dirty="0">
                <a:ea typeface="ＭＳ Ｐゴシック" pitchFamily="-106" charset="-128"/>
                <a:cs typeface="ＭＳ Ｐゴシック" pitchFamily="-106" charset="-128"/>
              </a:rPr>
              <a:t> shape behavior.</a:t>
            </a:r>
          </a:p>
          <a:p>
            <a:r>
              <a:rPr lang="en-US" sz="2000" b="1" dirty="0">
                <a:ea typeface="ＭＳ Ｐゴシック" pitchFamily="-106" charset="-128"/>
                <a:cs typeface="ＭＳ Ｐゴシック" pitchFamily="-106" charset="-128"/>
              </a:rPr>
              <a:t>They </a:t>
            </a:r>
            <a:r>
              <a:rPr lang="en-US" sz="2000" b="1" u="sng" dirty="0">
                <a:ea typeface="ＭＳ Ｐゴシック" pitchFamily="-106" charset="-128"/>
                <a:cs typeface="ＭＳ Ｐゴシック" pitchFamily="-106" charset="-128"/>
              </a:rPr>
              <a:t>cannot</a:t>
            </a:r>
            <a:r>
              <a:rPr lang="en-US" sz="2000" b="1" dirty="0">
                <a:ea typeface="ＭＳ Ｐゴシック" pitchFamily="-106" charset="-128"/>
                <a:cs typeface="ＭＳ Ｐゴシック" pitchFamily="-106" charset="-128"/>
              </a:rPr>
              <a:t> produce righteousness.</a:t>
            </a:r>
          </a:p>
          <a:p>
            <a:endParaRPr lang="en-US" sz="2000" b="1" dirty="0">
              <a:ea typeface="ＭＳ Ｐゴシック" pitchFamily="-106" charset="-128"/>
              <a:cs typeface="ＭＳ Ｐゴシック" pitchFamily="-106" charset="-128"/>
            </a:endParaRPr>
          </a:p>
          <a:p>
            <a:r>
              <a:rPr lang="en-US" b="1" dirty="0"/>
              <a:t>Phil 3:8-9  </a:t>
            </a:r>
            <a:r>
              <a:rPr lang="en-US" b="1" i="1" dirty="0"/>
              <a:t>“</a:t>
            </a:r>
            <a:r>
              <a:rPr lang="en-US" i="1" dirty="0"/>
              <a:t>Yet indeed I also count all things loss for the excellence of the knowledge of Christ Jesus my Lord, for whom I have suffered the loss of all things, and count them as rubbish, that I may gain Christ  and be found in Him, </a:t>
            </a:r>
            <a:r>
              <a:rPr lang="en-US" b="1" i="1" dirty="0"/>
              <a:t>not having my own righteousness, which is from the law, but that which is through faith in Christ, the righteousness which is from God by faith</a:t>
            </a:r>
            <a:r>
              <a:rPr lang="en-US" i="1" dirty="0"/>
              <a:t>…”</a:t>
            </a:r>
          </a:p>
        </p:txBody>
      </p:sp>
    </p:spTree>
    <p:extLst>
      <p:ext uri="{BB962C8B-B14F-4D97-AF65-F5344CB8AC3E}">
        <p14:creationId xmlns:p14="http://schemas.microsoft.com/office/powerpoint/2010/main" val="348073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3F20F-30C6-1989-B9CB-50877A63298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641B54F-A6FA-F75E-8F51-411F6A681212}"/>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300" dirty="0"/>
              <a:t>Faith-Based Obedience vs System-Based Morality</a:t>
            </a:r>
            <a:br>
              <a:rPr lang="en-US" dirty="0"/>
            </a:br>
            <a:r>
              <a:rPr lang="en-US" sz="2800" dirty="0">
                <a:solidFill>
                  <a:schemeClr val="tx2">
                    <a:lumMod val="60000"/>
                    <a:lumOff val="40000"/>
                  </a:schemeClr>
                </a:solidFill>
              </a:rPr>
              <a:t>Scriptural Contrast</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C4C1CC73-2021-CBD6-C54A-C583ACB935DD}"/>
              </a:ext>
            </a:extLst>
          </p:cNvPr>
          <p:cNvSpPr txBox="1"/>
          <p:nvPr/>
        </p:nvSpPr>
        <p:spPr>
          <a:xfrm>
            <a:off x="227183" y="693047"/>
            <a:ext cx="8677275" cy="1323439"/>
          </a:xfrm>
          <a:prstGeom prst="rect">
            <a:avLst/>
          </a:prstGeom>
          <a:noFill/>
        </p:spPr>
        <p:txBody>
          <a:bodyPr wrap="square" rtlCol="0">
            <a:spAutoFit/>
          </a:bodyPr>
          <a:lstStyle/>
          <a:p>
            <a:r>
              <a:rPr lang="en-US" sz="2000" b="1" u="sng" dirty="0">
                <a:ea typeface="ＭＳ Ｐゴシック" pitchFamily="-106" charset="-128"/>
                <a:cs typeface="ＭＳ Ｐゴシック" pitchFamily="-106" charset="-128"/>
              </a:rPr>
              <a:t>Jesus’ Summary of the Difference</a:t>
            </a:r>
            <a:endParaRPr lang="en-US" sz="2000" u="sng" dirty="0">
              <a:ea typeface="ＭＳ Ｐゴシック" pitchFamily="-106" charset="-128"/>
              <a:cs typeface="ＭＳ Ｐゴシック" pitchFamily="-106" charset="-128"/>
            </a:endParaRPr>
          </a:p>
          <a:p>
            <a:pPr lvl="1"/>
            <a:r>
              <a:rPr lang="en-US" sz="2000" b="1" dirty="0">
                <a:ea typeface="ＭＳ Ｐゴシック" pitchFamily="-106" charset="-128"/>
                <a:cs typeface="ＭＳ Ｐゴシック" pitchFamily="-106" charset="-128"/>
              </a:rPr>
              <a:t>Matthew 5:20  </a:t>
            </a:r>
            <a:r>
              <a:rPr lang="en-US" sz="2000" i="1" dirty="0">
                <a:ea typeface="ＭＳ Ｐゴシック" pitchFamily="-106" charset="-128"/>
                <a:cs typeface="ＭＳ Ｐゴシック" pitchFamily="-106" charset="-128"/>
              </a:rPr>
              <a:t>“Unless your righteousness goes beyond that of the experts in the law and the Pharisees, you will never enter the kingdom of heaven.”</a:t>
            </a:r>
          </a:p>
        </p:txBody>
      </p:sp>
      <p:sp>
        <p:nvSpPr>
          <p:cNvPr id="2" name="TextBox 1">
            <a:extLst>
              <a:ext uri="{FF2B5EF4-FFF2-40B4-BE49-F238E27FC236}">
                <a16:creationId xmlns:a16="http://schemas.microsoft.com/office/drawing/2014/main" id="{C5CCFF1D-CC77-E496-F8C1-CEADFFA2AFF1}"/>
              </a:ext>
            </a:extLst>
          </p:cNvPr>
          <p:cNvSpPr txBox="1"/>
          <p:nvPr/>
        </p:nvSpPr>
        <p:spPr>
          <a:xfrm>
            <a:off x="227182" y="1991772"/>
            <a:ext cx="8677275" cy="1631216"/>
          </a:xfrm>
          <a:prstGeom prst="rect">
            <a:avLst/>
          </a:prstGeom>
          <a:noFill/>
        </p:spPr>
        <p:txBody>
          <a:bodyPr wrap="square" rtlCol="0">
            <a:spAutoFit/>
          </a:bodyPr>
          <a:lstStyle/>
          <a:p>
            <a:r>
              <a:rPr lang="en-US" sz="2000" b="1" dirty="0">
                <a:ea typeface="ＭＳ Ｐゴシック" pitchFamily="-106" charset="-128"/>
                <a:cs typeface="ＭＳ Ｐゴシック" pitchFamily="-106" charset="-128"/>
              </a:rPr>
              <a:t>Key points:</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“Beyond” does not mean </a:t>
            </a:r>
            <a:r>
              <a:rPr lang="en-US" sz="2000" i="1" dirty="0">
                <a:ea typeface="ＭＳ Ｐゴシック" pitchFamily="-106" charset="-128"/>
                <a:cs typeface="ＭＳ Ｐゴシック" pitchFamily="-106" charset="-128"/>
              </a:rPr>
              <a:t>more rules</a:t>
            </a:r>
            <a:r>
              <a:rPr lang="en-US" sz="2000" dirty="0">
                <a:ea typeface="ＭＳ Ｐゴシック" pitchFamily="-106" charset="-128"/>
                <a:cs typeface="ＭＳ Ｐゴシック" pitchFamily="-106" charset="-128"/>
              </a:rPr>
              <a:t>.</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It means a </a:t>
            </a:r>
            <a:r>
              <a:rPr lang="en-US" sz="2000" i="1" dirty="0">
                <a:ea typeface="ＭＳ Ｐゴシック" pitchFamily="-106" charset="-128"/>
                <a:cs typeface="ＭＳ Ｐゴシック" pitchFamily="-106" charset="-128"/>
              </a:rPr>
              <a:t>different source</a:t>
            </a:r>
            <a:r>
              <a:rPr lang="en-US" sz="2000" dirty="0">
                <a:ea typeface="ＭＳ Ｐゴシック" pitchFamily="-106" charset="-128"/>
                <a:cs typeface="ＭＳ Ｐゴシック" pitchFamily="-106" charset="-128"/>
              </a:rPr>
              <a:t>.</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One comes from </a:t>
            </a:r>
            <a:r>
              <a:rPr lang="en-US" sz="2000" u="sng" dirty="0">
                <a:ea typeface="ＭＳ Ｐゴシック" pitchFamily="-106" charset="-128"/>
                <a:cs typeface="ＭＳ Ｐゴシック" pitchFamily="-106" charset="-128"/>
              </a:rPr>
              <a:t>man upward</a:t>
            </a:r>
            <a:r>
              <a:rPr lang="en-US" sz="2000" dirty="0">
                <a:ea typeface="ＭＳ Ｐゴシック" pitchFamily="-106" charset="-128"/>
                <a:cs typeface="ＭＳ Ｐゴシック" pitchFamily="-106" charset="-128"/>
              </a:rPr>
              <a:t>.</a:t>
            </a:r>
          </a:p>
          <a:p>
            <a:pPr marL="342900" indent="-342900">
              <a:buFont typeface="Arial" panose="020B0604020202020204" pitchFamily="34" charset="0"/>
              <a:buChar char="•"/>
            </a:pPr>
            <a:r>
              <a:rPr lang="en-US" sz="2000" dirty="0">
                <a:ea typeface="ＭＳ Ｐゴシック" pitchFamily="-106" charset="-128"/>
                <a:cs typeface="ＭＳ Ｐゴシック" pitchFamily="-106" charset="-128"/>
              </a:rPr>
              <a:t>The other comes from </a:t>
            </a:r>
            <a:r>
              <a:rPr lang="en-US" sz="2000" u="sng" dirty="0">
                <a:ea typeface="ＭＳ Ｐゴシック" pitchFamily="-106" charset="-128"/>
                <a:cs typeface="ＭＳ Ｐゴシック" pitchFamily="-106" charset="-128"/>
              </a:rPr>
              <a:t>God downward</a:t>
            </a:r>
            <a:r>
              <a:rPr lang="en-US" sz="2000" dirty="0">
                <a:ea typeface="ＭＳ Ｐゴシック" pitchFamily="-106" charset="-128"/>
                <a:cs typeface="ＭＳ Ｐゴシック" pitchFamily="-106" charset="-128"/>
              </a:rPr>
              <a:t>.</a:t>
            </a:r>
          </a:p>
        </p:txBody>
      </p:sp>
      <p:sp>
        <p:nvSpPr>
          <p:cNvPr id="4" name="TextBox 3">
            <a:extLst>
              <a:ext uri="{FF2B5EF4-FFF2-40B4-BE49-F238E27FC236}">
                <a16:creationId xmlns:a16="http://schemas.microsoft.com/office/drawing/2014/main" id="{961A97B8-C0CA-3670-D1EA-1AF4A7259D40}"/>
              </a:ext>
            </a:extLst>
          </p:cNvPr>
          <p:cNvSpPr txBox="1"/>
          <p:nvPr/>
        </p:nvSpPr>
        <p:spPr>
          <a:xfrm>
            <a:off x="227183" y="3647702"/>
            <a:ext cx="8677275" cy="2862322"/>
          </a:xfrm>
          <a:prstGeom prst="rect">
            <a:avLst/>
          </a:prstGeom>
          <a:noFill/>
        </p:spPr>
        <p:txBody>
          <a:bodyPr wrap="square" rtlCol="0">
            <a:spAutoFit/>
          </a:bodyPr>
          <a:lstStyle/>
          <a:p>
            <a:r>
              <a:rPr lang="en-US" sz="2000" b="1" dirty="0"/>
              <a:t>Pharisaic righteousness, modern church systems, and moral ideologies </a:t>
            </a:r>
            <a:r>
              <a:rPr lang="en-US" sz="2000" b="1" i="1" dirty="0"/>
              <a:t>all share the same root…</a:t>
            </a:r>
          </a:p>
          <a:p>
            <a:pPr marL="285750" indent="-285750">
              <a:buFont typeface="Arial" panose="020B0604020202020204" pitchFamily="34" charset="0"/>
              <a:buChar char="•"/>
            </a:pPr>
            <a:r>
              <a:rPr lang="en-US" sz="2000" u="sng" dirty="0"/>
              <a:t>Uncertainty without trust</a:t>
            </a:r>
            <a:r>
              <a:rPr lang="en-US" sz="2000" dirty="0"/>
              <a:t>.</a:t>
            </a:r>
          </a:p>
          <a:p>
            <a:r>
              <a:rPr lang="en-US" sz="2000" b="1" dirty="0"/>
              <a:t>So, humans…</a:t>
            </a:r>
          </a:p>
          <a:p>
            <a:pPr marL="285750" indent="-285750">
              <a:buFont typeface="Arial" panose="020B0604020202020204" pitchFamily="34" charset="0"/>
              <a:buChar char="•"/>
            </a:pPr>
            <a:r>
              <a:rPr lang="en-US" sz="2000" dirty="0"/>
              <a:t>Build systems, form contracts, enforce conformity, </a:t>
            </a:r>
            <a:r>
              <a:rPr lang="en-US" sz="2000" i="1" dirty="0"/>
              <a:t>call it righteousness</a:t>
            </a:r>
            <a:r>
              <a:rPr lang="en-US" sz="2000" dirty="0"/>
              <a:t>.</a:t>
            </a:r>
          </a:p>
          <a:p>
            <a:r>
              <a:rPr lang="en-US" sz="2000" b="1" dirty="0"/>
              <a:t>But God offers something else…</a:t>
            </a:r>
          </a:p>
          <a:p>
            <a:pPr marL="285750" indent="-285750">
              <a:buFont typeface="Arial" panose="020B0604020202020204" pitchFamily="34" charset="0"/>
              <a:buChar char="•"/>
            </a:pPr>
            <a:r>
              <a:rPr lang="en-US" sz="2000" dirty="0">
                <a:ea typeface="ＭＳ Ｐゴシック" pitchFamily="-106" charset="-128"/>
                <a:cs typeface="ＭＳ Ｐゴシック" pitchFamily="-106" charset="-128"/>
              </a:rPr>
              <a:t>God’s righteousness is not negotiated.</a:t>
            </a:r>
          </a:p>
          <a:p>
            <a:pPr marL="285750" indent="-285750">
              <a:buFont typeface="Arial" panose="020B0604020202020204" pitchFamily="34" charset="0"/>
              <a:buChar char="•"/>
            </a:pPr>
            <a:r>
              <a:rPr lang="en-US" sz="2000" dirty="0">
                <a:ea typeface="ＭＳ Ｐゴシック" pitchFamily="-106" charset="-128"/>
                <a:cs typeface="ＭＳ Ｐゴシック" pitchFamily="-106" charset="-128"/>
              </a:rPr>
              <a:t>It is </a:t>
            </a:r>
            <a:r>
              <a:rPr lang="en-US" sz="2000" u="sng" dirty="0">
                <a:ea typeface="ＭＳ Ｐゴシック" pitchFamily="-106" charset="-128"/>
                <a:cs typeface="ＭＳ Ｐゴシック" pitchFamily="-106" charset="-128"/>
              </a:rPr>
              <a:t>revealed</a:t>
            </a:r>
            <a:r>
              <a:rPr lang="en-US" sz="2000" dirty="0">
                <a:ea typeface="ＭＳ Ｐゴシック" pitchFamily="-106" charset="-128"/>
                <a:cs typeface="ＭＳ Ｐゴシック" pitchFamily="-106" charset="-128"/>
              </a:rPr>
              <a:t> (Romans 1:17).</a:t>
            </a:r>
          </a:p>
          <a:p>
            <a:pPr marL="285750" indent="-285750">
              <a:buFont typeface="Arial" panose="020B0604020202020204" pitchFamily="34" charset="0"/>
              <a:buChar char="•"/>
            </a:pPr>
            <a:r>
              <a:rPr lang="en-US" sz="2000" dirty="0">
                <a:ea typeface="ＭＳ Ｐゴシック" pitchFamily="-106" charset="-128"/>
                <a:cs typeface="ＭＳ Ｐゴシック" pitchFamily="-106" charset="-128"/>
              </a:rPr>
              <a:t>And it is </a:t>
            </a:r>
            <a:r>
              <a:rPr lang="en-US" sz="2000" i="1" dirty="0">
                <a:ea typeface="ＭＳ Ｐゴシック" pitchFamily="-106" charset="-128"/>
                <a:cs typeface="ＭＳ Ｐゴシック" pitchFamily="-106" charset="-128"/>
              </a:rPr>
              <a:t>received by trust</a:t>
            </a:r>
            <a:r>
              <a:rPr lang="en-US" sz="2000" dirty="0">
                <a:ea typeface="ＭＳ Ｐゴシック" pitchFamily="-106" charset="-128"/>
                <a:cs typeface="ＭＳ Ｐゴシック" pitchFamily="-106" charset="-128"/>
              </a:rPr>
              <a:t>, not managed by systems.</a:t>
            </a:r>
          </a:p>
        </p:txBody>
      </p:sp>
    </p:spTree>
    <p:extLst>
      <p:ext uri="{BB962C8B-B14F-4D97-AF65-F5344CB8AC3E}">
        <p14:creationId xmlns:p14="http://schemas.microsoft.com/office/powerpoint/2010/main" val="107298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28DDE-CD4E-7C8C-8440-858EF19C00F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AAC67E6-9601-AEE3-1489-23082B10AFF9}"/>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400" dirty="0"/>
              <a:t>Righteousness Starts With God, Not Man</a:t>
            </a:r>
            <a:br>
              <a:rPr lang="en-US" dirty="0"/>
            </a:br>
            <a:r>
              <a:rPr lang="en-US" sz="3100" dirty="0">
                <a:solidFill>
                  <a:schemeClr val="tx2">
                    <a:lumMod val="60000"/>
                    <a:lumOff val="40000"/>
                  </a:schemeClr>
                </a:solidFill>
              </a:rPr>
              <a:t>Who is the standard?</a:t>
            </a:r>
            <a:endParaRPr lang="en-US" sz="2600" dirty="0">
              <a:solidFill>
                <a:schemeClr val="tx2">
                  <a:lumMod val="60000"/>
                  <a:lumOff val="40000"/>
                </a:schemeClr>
              </a:solidFill>
            </a:endParaRPr>
          </a:p>
        </p:txBody>
      </p:sp>
      <p:sp>
        <p:nvSpPr>
          <p:cNvPr id="3" name="TextBox 2">
            <a:extLst>
              <a:ext uri="{FF2B5EF4-FFF2-40B4-BE49-F238E27FC236}">
                <a16:creationId xmlns:a16="http://schemas.microsoft.com/office/drawing/2014/main" id="{D6D12C54-7D34-01D6-341D-7B239249B2B3}"/>
              </a:ext>
            </a:extLst>
          </p:cNvPr>
          <p:cNvSpPr txBox="1"/>
          <p:nvPr/>
        </p:nvSpPr>
        <p:spPr>
          <a:xfrm>
            <a:off x="214311" y="838200"/>
            <a:ext cx="8677275" cy="2800767"/>
          </a:xfrm>
          <a:prstGeom prst="rect">
            <a:avLst/>
          </a:prstGeom>
          <a:noFill/>
        </p:spPr>
        <p:txBody>
          <a:bodyPr wrap="square" rtlCol="0">
            <a:spAutoFit/>
          </a:bodyPr>
          <a:lstStyle/>
          <a:p>
            <a:r>
              <a:rPr lang="en-US" sz="2200" b="1" dirty="0">
                <a:ea typeface="ＭＳ Ｐゴシック" pitchFamily="-106" charset="-128"/>
                <a:cs typeface="ＭＳ Ｐゴシック" pitchFamily="-106" charset="-128"/>
              </a:rPr>
              <a:t>Romans 10:3</a:t>
            </a:r>
            <a:r>
              <a:rPr lang="en-US" sz="2200" dirty="0">
                <a:ea typeface="ＭＳ Ｐゴシック" pitchFamily="-106" charset="-128"/>
                <a:cs typeface="ＭＳ Ｐゴシック" pitchFamily="-106" charset="-128"/>
              </a:rPr>
              <a:t>  </a:t>
            </a:r>
            <a:r>
              <a:rPr lang="en-US" sz="2200" i="1" dirty="0">
                <a:ea typeface="ＭＳ Ｐゴシック" pitchFamily="-106" charset="-128"/>
                <a:cs typeface="ＭＳ Ｐゴシック" pitchFamily="-106" charset="-128"/>
              </a:rPr>
              <a:t>They sought to establish their own righteousness and did not submit to God’s righteousness.</a:t>
            </a:r>
          </a:p>
          <a:p>
            <a:endParaRPr lang="en-US" sz="2200" i="1" dirty="0">
              <a:ea typeface="ＭＳ Ｐゴシック" pitchFamily="-106" charset="-128"/>
              <a:cs typeface="ＭＳ Ｐゴシック" pitchFamily="-106" charset="-128"/>
            </a:endParaRPr>
          </a:p>
          <a:p>
            <a:r>
              <a:rPr lang="en-US" sz="2200" b="1" dirty="0">
                <a:ea typeface="ＭＳ Ｐゴシック" pitchFamily="-106" charset="-128"/>
                <a:cs typeface="ＭＳ Ｐゴシック" pitchFamily="-106" charset="-128"/>
              </a:rPr>
              <a:t>Psalm 119:142  </a:t>
            </a:r>
            <a:r>
              <a:rPr lang="en-US" sz="2200" i="1" dirty="0">
                <a:ea typeface="ＭＳ Ｐゴシック" pitchFamily="-106" charset="-128"/>
                <a:cs typeface="ＭＳ Ｐゴシック" pitchFamily="-106" charset="-128"/>
              </a:rPr>
              <a:t>Your righteousness is an everlasting righteousness</a:t>
            </a:r>
          </a:p>
          <a:p>
            <a:endParaRPr lang="en-US" sz="2200" i="1" dirty="0">
              <a:ea typeface="ＭＳ Ｐゴシック" pitchFamily="-106" charset="-128"/>
              <a:cs typeface="ＭＳ Ｐゴシック" pitchFamily="-106" charset="-128"/>
            </a:endParaRPr>
          </a:p>
          <a:p>
            <a:r>
              <a:rPr lang="en-US" sz="2200" b="1" dirty="0">
                <a:ea typeface="ＭＳ Ｐゴシック" pitchFamily="-106" charset="-128"/>
                <a:cs typeface="ＭＳ Ｐゴシック" pitchFamily="-106" charset="-128"/>
              </a:rPr>
              <a:t>Deuteronomy 32:4  </a:t>
            </a:r>
            <a:r>
              <a:rPr lang="en-US" sz="2200" i="1" dirty="0">
                <a:ea typeface="ＭＳ Ｐゴシック" pitchFamily="-106" charset="-128"/>
                <a:cs typeface="ＭＳ Ｐゴシック" pitchFamily="-106" charset="-128"/>
              </a:rPr>
              <a:t>He is the Rock, His work is perfect; For all His ways are justice, A God of truth and without injustice; Righteous and upright is He.</a:t>
            </a:r>
          </a:p>
        </p:txBody>
      </p:sp>
      <p:sp>
        <p:nvSpPr>
          <p:cNvPr id="2" name="TextBox 1">
            <a:extLst>
              <a:ext uri="{FF2B5EF4-FFF2-40B4-BE49-F238E27FC236}">
                <a16:creationId xmlns:a16="http://schemas.microsoft.com/office/drawing/2014/main" id="{D929C956-86B9-5893-5AA6-2026F654E6CD}"/>
              </a:ext>
            </a:extLst>
          </p:cNvPr>
          <p:cNvSpPr txBox="1"/>
          <p:nvPr/>
        </p:nvSpPr>
        <p:spPr>
          <a:xfrm>
            <a:off x="212252" y="3703105"/>
            <a:ext cx="8677275" cy="2800767"/>
          </a:xfrm>
          <a:prstGeom prst="rect">
            <a:avLst/>
          </a:prstGeom>
          <a:noFill/>
        </p:spPr>
        <p:txBody>
          <a:bodyPr wrap="square" rtlCol="0">
            <a:spAutoFit/>
          </a:bodyPr>
          <a:lstStyle/>
          <a:p>
            <a:pPr marL="342900" indent="-342900">
              <a:buFont typeface="Arial" panose="020B0604020202020204" pitchFamily="34" charset="0"/>
              <a:buChar char="•"/>
            </a:pPr>
            <a:r>
              <a:rPr lang="en-US" sz="2200" dirty="0">
                <a:ea typeface="ＭＳ Ｐゴシック" pitchFamily="-106" charset="-128"/>
                <a:cs typeface="ＭＳ Ｐゴシック" pitchFamily="-106" charset="-128"/>
              </a:rPr>
              <a:t>In the Bible, righteousness does not begin with human behavior.</a:t>
            </a:r>
          </a:p>
          <a:p>
            <a:pPr marL="800100" lvl="1" indent="-342900">
              <a:buFont typeface="Arial" panose="020B0604020202020204" pitchFamily="34" charset="0"/>
              <a:buChar char="•"/>
            </a:pPr>
            <a:r>
              <a:rPr lang="en-US" sz="2200" dirty="0">
                <a:ea typeface="ＭＳ Ｐゴシック" pitchFamily="-106" charset="-128"/>
                <a:cs typeface="ＭＳ Ｐゴシック" pitchFamily="-106" charset="-128"/>
              </a:rPr>
              <a:t>It begins with who God is.</a:t>
            </a:r>
          </a:p>
          <a:p>
            <a:pPr marL="342900" indent="-342900">
              <a:buFont typeface="Arial" panose="020B0604020202020204" pitchFamily="34" charset="0"/>
              <a:buChar char="•"/>
            </a:pPr>
            <a:r>
              <a:rPr lang="en-US" sz="2200" dirty="0">
                <a:ea typeface="ＭＳ Ｐゴシック" pitchFamily="-106" charset="-128"/>
                <a:cs typeface="ＭＳ Ｐゴシック" pitchFamily="-106" charset="-128"/>
              </a:rPr>
              <a:t>God does not measure Himself by a standard outside of Himself.</a:t>
            </a:r>
          </a:p>
          <a:p>
            <a:pPr marL="800100" lvl="1" indent="-342900">
              <a:buFont typeface="Arial" panose="020B0604020202020204" pitchFamily="34" charset="0"/>
              <a:buChar char="•"/>
            </a:pPr>
            <a:r>
              <a:rPr lang="en-US" sz="2200" dirty="0">
                <a:ea typeface="ＭＳ Ｐゴシック" pitchFamily="-106" charset="-128"/>
                <a:cs typeface="ＭＳ Ｐゴシック" pitchFamily="-106" charset="-128"/>
              </a:rPr>
              <a:t>He </a:t>
            </a:r>
            <a:r>
              <a:rPr lang="en-US" sz="2200" i="1" dirty="0">
                <a:ea typeface="ＭＳ Ｐゴシック" pitchFamily="-106" charset="-128"/>
                <a:cs typeface="ＭＳ Ｐゴシック" pitchFamily="-106" charset="-128"/>
              </a:rPr>
              <a:t>is</a:t>
            </a:r>
            <a:r>
              <a:rPr lang="en-US" sz="2200" dirty="0">
                <a:ea typeface="ＭＳ Ｐゴシック" pitchFamily="-106" charset="-128"/>
                <a:cs typeface="ＭＳ Ｐゴシック" pitchFamily="-106" charset="-128"/>
              </a:rPr>
              <a:t> the standard.</a:t>
            </a:r>
          </a:p>
          <a:p>
            <a:pPr marL="342900" indent="-342900">
              <a:buFont typeface="Arial" panose="020B0604020202020204" pitchFamily="34" charset="0"/>
              <a:buChar char="•"/>
            </a:pPr>
            <a:r>
              <a:rPr lang="en-US" sz="2200" dirty="0">
                <a:ea typeface="ＭＳ Ｐゴシック" pitchFamily="-106" charset="-128"/>
                <a:cs typeface="ＭＳ Ｐゴシック" pitchFamily="-106" charset="-128"/>
              </a:rPr>
              <a:t>God is righteous because His nature is righteous.</a:t>
            </a:r>
          </a:p>
          <a:p>
            <a:pPr marL="800100" lvl="1" indent="-342900">
              <a:buFont typeface="Arial" panose="020B0604020202020204" pitchFamily="34" charset="0"/>
              <a:buChar char="•"/>
            </a:pPr>
            <a:r>
              <a:rPr lang="en-US" sz="2200" dirty="0">
                <a:ea typeface="ＭＳ Ｐゴシック" pitchFamily="-106" charset="-128"/>
                <a:cs typeface="ＭＳ Ｐゴシック" pitchFamily="-106" charset="-128"/>
              </a:rPr>
              <a:t>He does what is right because He is right.</a:t>
            </a:r>
          </a:p>
          <a:p>
            <a:pPr marL="342900" indent="-342900">
              <a:buFont typeface="Arial" panose="020B0604020202020204" pitchFamily="34" charset="0"/>
              <a:buChar char="•"/>
            </a:pPr>
            <a:r>
              <a:rPr lang="en-US" sz="2200" dirty="0">
                <a:ea typeface="ＭＳ Ｐゴシック" pitchFamily="-106" charset="-128"/>
                <a:cs typeface="ＭＳ Ｐゴシック" pitchFamily="-106" charset="-128"/>
              </a:rPr>
              <a:t>Human ideas of goodness change.</a:t>
            </a:r>
          </a:p>
          <a:p>
            <a:pPr marL="800100" lvl="1" indent="-342900">
              <a:buFont typeface="Arial" panose="020B0604020202020204" pitchFamily="34" charset="0"/>
              <a:buChar char="•"/>
            </a:pPr>
            <a:r>
              <a:rPr lang="en-US" sz="2200" dirty="0">
                <a:ea typeface="ＭＳ Ｐゴシック" pitchFamily="-106" charset="-128"/>
                <a:cs typeface="ＭＳ Ｐゴシック" pitchFamily="-106" charset="-128"/>
              </a:rPr>
              <a:t>God does not change.</a:t>
            </a:r>
          </a:p>
        </p:txBody>
      </p:sp>
    </p:spTree>
    <p:extLst>
      <p:ext uri="{BB962C8B-B14F-4D97-AF65-F5344CB8AC3E}">
        <p14:creationId xmlns:p14="http://schemas.microsoft.com/office/powerpoint/2010/main" val="3130699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1000"/>
                                        <p:tgtEl>
                                          <p:spTgt spid="2"/>
                                        </p:tgtEl>
                                      </p:cBhvr>
                                    </p:animEffect>
                                    <p:anim calcmode="lin" valueType="num">
                                      <p:cBhvr>
                                        <p:cTn id="25" dur="1000" fill="hold"/>
                                        <p:tgtEl>
                                          <p:spTgt spid="2"/>
                                        </p:tgtEl>
                                        <p:attrNameLst>
                                          <p:attrName>ppt_x</p:attrName>
                                        </p:attrNameLst>
                                      </p:cBhvr>
                                      <p:tavLst>
                                        <p:tav tm="0">
                                          <p:val>
                                            <p:strVal val="#ppt_x"/>
                                          </p:val>
                                        </p:tav>
                                        <p:tav tm="100000">
                                          <p:val>
                                            <p:strVal val="#ppt_x"/>
                                          </p:val>
                                        </p:tav>
                                      </p:tavLst>
                                    </p:anim>
                                    <p:anim calcmode="lin" valueType="num">
                                      <p:cBhvr>
                                        <p:cTn id="2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330A9-313B-782A-36D2-256F80508E1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6B492C0-8401-1BFA-E78F-DCFCCC0030DC}"/>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Coming Soon…  Lesson 5</a:t>
            </a:r>
            <a:br>
              <a:rPr lang="en-US" sz="5100" dirty="0"/>
            </a:br>
            <a:r>
              <a:rPr lang="en-US" sz="2800" dirty="0">
                <a:solidFill>
                  <a:schemeClr val="tx1"/>
                </a:solidFill>
                <a:ea typeface="ＭＳ Ｐゴシック" pitchFamily="-106" charset="-128"/>
                <a:cs typeface="ＭＳ Ｐゴシック" pitchFamily="-106" charset="-128"/>
              </a:rPr>
              <a:t>How Grace Dismantles Fear-Based Systems in the New Testament</a:t>
            </a:r>
          </a:p>
        </p:txBody>
      </p:sp>
      <p:sp>
        <p:nvSpPr>
          <p:cNvPr id="3" name="TextBox 2">
            <a:extLst>
              <a:ext uri="{FF2B5EF4-FFF2-40B4-BE49-F238E27FC236}">
                <a16:creationId xmlns:a16="http://schemas.microsoft.com/office/drawing/2014/main" id="{98896F1E-1580-B7E3-8586-1B1C1AFBFB17}"/>
              </a:ext>
            </a:extLst>
          </p:cNvPr>
          <p:cNvSpPr txBox="1"/>
          <p:nvPr/>
        </p:nvSpPr>
        <p:spPr>
          <a:xfrm>
            <a:off x="233362" y="990600"/>
            <a:ext cx="8682038" cy="5355312"/>
          </a:xfrm>
          <a:prstGeom prst="rect">
            <a:avLst/>
          </a:prstGeom>
          <a:noFill/>
        </p:spPr>
        <p:txBody>
          <a:bodyPr wrap="square">
            <a:spAutoFit/>
          </a:bodyPr>
          <a:lstStyle/>
          <a:p>
            <a:r>
              <a:rPr lang="en-US" sz="1800" b="1" dirty="0"/>
              <a:t>Apostolic Pattern: From System to Life</a:t>
            </a:r>
            <a:endParaRPr lang="en-US" sz="1800" dirty="0"/>
          </a:p>
          <a:p>
            <a:pPr lvl="1"/>
            <a:r>
              <a:rPr lang="en-US" dirty="0"/>
              <a:t>Every New Testament shift follows this pattern:</a:t>
            </a:r>
          </a:p>
          <a:p>
            <a:pPr marL="742950" lvl="1" indent="-285750" fontAlgn="ctr">
              <a:buFont typeface="Wingdings" panose="05000000000000000000" pitchFamily="2" charset="2"/>
              <a:buChar char="Ø"/>
            </a:pPr>
            <a:r>
              <a:rPr lang="en-US" dirty="0"/>
              <a:t>from law to life</a:t>
            </a:r>
          </a:p>
          <a:p>
            <a:pPr marL="742950" lvl="1" indent="-285750" fontAlgn="ctr">
              <a:buFont typeface="Wingdings" panose="05000000000000000000" pitchFamily="2" charset="2"/>
              <a:buChar char="Ø"/>
            </a:pPr>
            <a:r>
              <a:rPr lang="en-US" dirty="0"/>
              <a:t>from fear to faith</a:t>
            </a:r>
          </a:p>
          <a:p>
            <a:pPr marL="742950" lvl="1" indent="-285750" fontAlgn="ctr">
              <a:buFont typeface="Wingdings" panose="05000000000000000000" pitchFamily="2" charset="2"/>
              <a:buChar char="Ø"/>
            </a:pPr>
            <a:r>
              <a:rPr lang="en-US" dirty="0"/>
              <a:t>from performance to promise</a:t>
            </a:r>
          </a:p>
          <a:p>
            <a:pPr marL="742950" lvl="1" indent="-285750" fontAlgn="ctr">
              <a:buFont typeface="Wingdings" panose="05000000000000000000" pitchFamily="2" charset="2"/>
              <a:buChar char="Ø"/>
            </a:pPr>
            <a:r>
              <a:rPr lang="en-US" dirty="0"/>
              <a:t>from system to Spirit</a:t>
            </a:r>
          </a:p>
          <a:p>
            <a:r>
              <a:rPr lang="en-US" sz="1800" dirty="0"/>
              <a:t> </a:t>
            </a:r>
            <a:endParaRPr lang="en-US" dirty="0"/>
          </a:p>
          <a:p>
            <a:r>
              <a:rPr lang="en-US" b="1" dirty="0"/>
              <a:t>2 Corinthians 3:17  </a:t>
            </a:r>
            <a:r>
              <a:rPr lang="en-US" i="1" dirty="0"/>
              <a:t>“Now the Lord is the Spirit, and </a:t>
            </a:r>
            <a:r>
              <a:rPr lang="en-US" i="1" u="sng" dirty="0"/>
              <a:t>where the Spirit of the Lord is present, there is freedom</a:t>
            </a:r>
            <a:r>
              <a:rPr lang="en-US" i="1" dirty="0"/>
              <a:t>.”</a:t>
            </a:r>
          </a:p>
          <a:p>
            <a:endParaRPr lang="en-US" sz="1800" dirty="0"/>
          </a:p>
          <a:p>
            <a:r>
              <a:rPr lang="en-US" b="1" dirty="0"/>
              <a:t>Lesson Abstract</a:t>
            </a:r>
            <a:endParaRPr lang="en-US" dirty="0"/>
          </a:p>
          <a:p>
            <a:pPr marL="742950" lvl="1" indent="-285750">
              <a:buFont typeface="Wingdings" panose="05000000000000000000" pitchFamily="2" charset="2"/>
              <a:buChar char="Ø"/>
            </a:pPr>
            <a:r>
              <a:rPr lang="en-US" dirty="0"/>
              <a:t>Fear builds systems to protect identity.</a:t>
            </a:r>
          </a:p>
          <a:p>
            <a:pPr marL="742950" lvl="1" indent="-285750">
              <a:buFont typeface="Wingdings" panose="05000000000000000000" pitchFamily="2" charset="2"/>
              <a:buChar char="Ø"/>
            </a:pPr>
            <a:r>
              <a:rPr lang="en-US" dirty="0"/>
              <a:t>Grace reveals identity so systems are no longer needed.</a:t>
            </a:r>
          </a:p>
          <a:p>
            <a:pPr lvl="1"/>
            <a:r>
              <a:rPr lang="en-US" dirty="0"/>
              <a:t> </a:t>
            </a:r>
          </a:p>
          <a:p>
            <a:pPr lvl="2"/>
            <a:r>
              <a:rPr lang="en-US" dirty="0"/>
              <a:t>Fear asks: </a:t>
            </a:r>
            <a:r>
              <a:rPr lang="en-US" i="1" dirty="0"/>
              <a:t>Am I safe?</a:t>
            </a:r>
            <a:endParaRPr lang="en-US" dirty="0"/>
          </a:p>
          <a:p>
            <a:pPr lvl="2"/>
            <a:r>
              <a:rPr lang="en-US" dirty="0"/>
              <a:t>Grace answers: </a:t>
            </a:r>
            <a:r>
              <a:rPr lang="en-US" i="1" dirty="0"/>
              <a:t>You are mine.</a:t>
            </a:r>
            <a:endParaRPr lang="en-US" dirty="0"/>
          </a:p>
          <a:p>
            <a:pPr lvl="1"/>
            <a:r>
              <a:rPr lang="en-US" dirty="0"/>
              <a:t> </a:t>
            </a:r>
          </a:p>
          <a:p>
            <a:pPr marL="742950" lvl="1" indent="-285750">
              <a:buFont typeface="Wingdings" panose="05000000000000000000" pitchFamily="2" charset="2"/>
              <a:buChar char="Ø"/>
            </a:pPr>
            <a:r>
              <a:rPr lang="en-US" dirty="0"/>
              <a:t>And once that is settled,</a:t>
            </a:r>
          </a:p>
          <a:p>
            <a:pPr marL="742950" lvl="1" indent="-285750">
              <a:buFont typeface="Wingdings" panose="05000000000000000000" pitchFamily="2" charset="2"/>
              <a:buChar char="Ø"/>
            </a:pPr>
            <a:r>
              <a:rPr lang="en-US" dirty="0"/>
              <a:t>righteousness no longer needs to be managed.</a:t>
            </a:r>
          </a:p>
        </p:txBody>
      </p:sp>
    </p:spTree>
    <p:extLst>
      <p:ext uri="{BB962C8B-B14F-4D97-AF65-F5344CB8AC3E}">
        <p14:creationId xmlns:p14="http://schemas.microsoft.com/office/powerpoint/2010/main" val="1230734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74A7A-01FE-4AA7-DD88-CFBD61012A8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6A1A97E-4E2D-BD5A-BC10-DF4D45ECBA36}"/>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62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4500" dirty="0"/>
              <a:t>Coming Soon…  Lesson 7</a:t>
            </a:r>
            <a:br>
              <a:rPr lang="en-US" dirty="0"/>
            </a:br>
            <a:r>
              <a:rPr lang="en-US" sz="3600" dirty="0">
                <a:solidFill>
                  <a:schemeClr val="tx1"/>
                </a:solidFill>
                <a:ea typeface="ＭＳ Ｐゴシック" pitchFamily="-106" charset="-128"/>
              </a:rPr>
              <a:t>How the Early Church Resisted System-Driven Religion</a:t>
            </a:r>
          </a:p>
        </p:txBody>
      </p:sp>
    </p:spTree>
    <p:extLst>
      <p:ext uri="{BB962C8B-B14F-4D97-AF65-F5344CB8AC3E}">
        <p14:creationId xmlns:p14="http://schemas.microsoft.com/office/powerpoint/2010/main" val="722000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5CD33-CCDE-7010-C34C-CED0C17D83D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051A9F5-21B3-7530-7685-7E6D27AB65D1}"/>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62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4500" dirty="0"/>
              <a:t>Coming Soon…  Lesson 9</a:t>
            </a:r>
            <a:br>
              <a:rPr lang="en-US" dirty="0"/>
            </a:br>
            <a:r>
              <a:rPr lang="en-US" sz="3600" dirty="0">
                <a:solidFill>
                  <a:schemeClr val="tx1"/>
                </a:solidFill>
                <a:ea typeface="ＭＳ Ｐゴシック" pitchFamily="-106" charset="-128"/>
              </a:rPr>
              <a:t>How the New Testament Balances Order Without Control</a:t>
            </a:r>
          </a:p>
        </p:txBody>
      </p:sp>
    </p:spTree>
    <p:extLst>
      <p:ext uri="{BB962C8B-B14F-4D97-AF65-F5344CB8AC3E}">
        <p14:creationId xmlns:p14="http://schemas.microsoft.com/office/powerpoint/2010/main" val="577490134"/>
      </p:ext>
    </p:extLst>
  </p:cSld>
  <p:clrMapOvr>
    <a:masterClrMapping/>
  </p:clrMapOvr>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42914</TotalTime>
  <Words>5390</Words>
  <Application>Microsoft Office PowerPoint</Application>
  <PresentationFormat>On-screen Show (4:3)</PresentationFormat>
  <Paragraphs>866</Paragraphs>
  <Slides>12</Slides>
  <Notes>12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ＭＳ Ｐゴシック</vt:lpstr>
      <vt:lpstr>Arial</vt:lpstr>
      <vt:lpstr>Arial Narrow</vt:lpstr>
      <vt:lpstr>Calibri</vt:lpstr>
      <vt:lpstr>Wingdings</vt:lpstr>
      <vt:lpstr>PPT_Template_2010SummerSchool</vt:lpstr>
      <vt:lpstr>1_UPCRC_Powerpoint_Template_with I-Mark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1477</cp:revision>
  <cp:lastPrinted>2026-01-17T12:40:37Z</cp:lastPrinted>
  <dcterms:created xsi:type="dcterms:W3CDTF">2010-06-16T02:58:04Z</dcterms:created>
  <dcterms:modified xsi:type="dcterms:W3CDTF">2026-01-17T21:45:32Z</dcterms:modified>
</cp:coreProperties>
</file>