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3"/>
  </p:notesMasterIdLst>
  <p:sldIdLst>
    <p:sldId id="395" r:id="rId3"/>
    <p:sldId id="336" r:id="rId4"/>
    <p:sldId id="578" r:id="rId5"/>
    <p:sldId id="579" r:id="rId6"/>
    <p:sldId id="580" r:id="rId7"/>
    <p:sldId id="576" r:id="rId8"/>
    <p:sldId id="581" r:id="rId9"/>
    <p:sldId id="582" r:id="rId10"/>
    <p:sldId id="583" r:id="rId11"/>
    <p:sldId id="584" r:id="rId12"/>
  </p:sldIdLst>
  <p:sldSz cx="9144000" cy="6858000" type="screen4x3"/>
  <p:notesSz cx="7099300" cy="93853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lip Pennington" initials="PP" lastIdx="2" clrIdx="0">
    <p:extLst>
      <p:ext uri="{19B8F6BF-5375-455C-9EA6-DF929625EA0E}">
        <p15:presenceInfo xmlns:p15="http://schemas.microsoft.com/office/powerpoint/2012/main" userId="7a30b84b863a4f9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62" autoAdjust="0"/>
    <p:restoredTop sz="63512" autoAdjust="0"/>
  </p:normalViewPr>
  <p:slideViewPr>
    <p:cSldViewPr>
      <p:cViewPr varScale="1">
        <p:scale>
          <a:sx n="100" d="100"/>
          <a:sy n="100" d="100"/>
        </p:scale>
        <p:origin x="1470" y="7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1"/>
            <a:ext cx="3076364" cy="469265"/>
          </a:xfrm>
          <a:prstGeom prst="rect">
            <a:avLst/>
          </a:prstGeom>
        </p:spPr>
        <p:txBody>
          <a:bodyPr vert="horz" wrap="square" lIns="94154" tIns="47077" rIns="94154" bIns="47077"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21296" y="1"/>
            <a:ext cx="3076364" cy="469265"/>
          </a:xfrm>
          <a:prstGeom prst="rect">
            <a:avLst/>
          </a:prstGeom>
        </p:spPr>
        <p:txBody>
          <a:bodyPr vert="horz" wrap="square" lIns="94154" tIns="47077" rIns="94154" bIns="47077"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11/2/2025</a:t>
            </a:fld>
            <a:endParaRPr lang="en-US"/>
          </a:p>
        </p:txBody>
      </p:sp>
      <p:sp>
        <p:nvSpPr>
          <p:cNvPr id="4" name="Slide Image Placeholder 3"/>
          <p:cNvSpPr>
            <a:spLocks noGrp="1" noRot="1" noChangeAspect="1"/>
          </p:cNvSpPr>
          <p:nvPr>
            <p:ph type="sldImg" idx="2"/>
          </p:nvPr>
        </p:nvSpPr>
        <p:spPr>
          <a:xfrm>
            <a:off x="1203325" y="704850"/>
            <a:ext cx="4692650" cy="3519488"/>
          </a:xfrm>
          <a:prstGeom prst="rect">
            <a:avLst/>
          </a:prstGeom>
          <a:noFill/>
          <a:ln w="12700">
            <a:solidFill>
              <a:prstClr val="black"/>
            </a:solidFill>
          </a:ln>
        </p:spPr>
        <p:txBody>
          <a:bodyPr vert="horz" wrap="square" lIns="94154" tIns="47077" rIns="94154" bIns="47077"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9931" y="4458018"/>
            <a:ext cx="5679440" cy="4223385"/>
          </a:xfrm>
          <a:prstGeom prst="rect">
            <a:avLst/>
          </a:prstGeom>
        </p:spPr>
        <p:txBody>
          <a:bodyPr vert="horz" wrap="square" lIns="94154" tIns="47077" rIns="94154" bIns="47077"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3" y="8914406"/>
            <a:ext cx="3076364" cy="469265"/>
          </a:xfrm>
          <a:prstGeom prst="rect">
            <a:avLst/>
          </a:prstGeom>
        </p:spPr>
        <p:txBody>
          <a:bodyPr vert="horz" wrap="square" lIns="94154" tIns="47077" rIns="94154" bIns="47077"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21296" y="8914406"/>
            <a:ext cx="3076364" cy="469265"/>
          </a:xfrm>
          <a:prstGeom prst="rect">
            <a:avLst/>
          </a:prstGeom>
        </p:spPr>
        <p:txBody>
          <a:bodyPr vert="horz" wrap="square" lIns="94154" tIns="47077" rIns="94154" bIns="47077"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b="1" kern="1200" dirty="0">
                <a:solidFill>
                  <a:schemeClr val="tx1"/>
                </a:solidFill>
                <a:effectLst/>
                <a:latin typeface="+mn-lt"/>
                <a:ea typeface="ＭＳ Ｐゴシック" pitchFamily="-106" charset="-128"/>
                <a:cs typeface="ＭＳ Ｐゴシック" pitchFamily="-106" charset="-128"/>
              </a:rPr>
              <a:t>Promise of the New Covenant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i="1" kern="1200" dirty="0">
                <a:solidFill>
                  <a:schemeClr val="tx1"/>
                </a:solidFill>
                <a:effectLst/>
                <a:latin typeface="+mn-lt"/>
                <a:ea typeface="ＭＳ Ｐゴシック" pitchFamily="-106" charset="-128"/>
                <a:cs typeface="ＭＳ Ｐゴシック" pitchFamily="-106" charset="-128"/>
              </a:rPr>
              <a:t>Key Verses:</a:t>
            </a:r>
            <a:r>
              <a:rPr lang="en-US" sz="1200" kern="1200" dirty="0">
                <a:solidFill>
                  <a:schemeClr val="tx1"/>
                </a:solidFill>
                <a:effectLst/>
                <a:latin typeface="+mn-lt"/>
                <a:ea typeface="ＭＳ Ｐゴシック" pitchFamily="-106" charset="-128"/>
                <a:cs typeface="ＭＳ Ｐゴシック" pitchFamily="-106" charset="-128"/>
              </a:rPr>
              <a:t> Jeremiah 31:31–34; Luke 22:20 God promises forgiveness of sins and new hearts</a:t>
            </a:r>
            <a:endParaRPr lang="en-US" sz="1200" b="1" kern="1200" dirty="0">
              <a:solidFill>
                <a:schemeClr val="tx1"/>
              </a:solidFill>
              <a:effectLst/>
              <a:latin typeface="+mn-lt"/>
              <a:ea typeface="ＭＳ Ｐゴシック" pitchFamily="-106" charset="-128"/>
              <a:cs typeface="ＭＳ Ｐゴシック" pitchFamily="-106" charset="-128"/>
            </a:endParaRPr>
          </a:p>
          <a:p>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b="1" i="1" kern="1200" dirty="0">
                <a:solidFill>
                  <a:schemeClr val="tx1"/>
                </a:solidFill>
                <a:effectLst/>
                <a:latin typeface="+mn-lt"/>
                <a:ea typeface="ＭＳ Ｐゴシック" pitchFamily="-106" charset="-128"/>
                <a:cs typeface="ＭＳ Ｐゴシック" pitchFamily="-106" charset="-128"/>
              </a:rPr>
              <a:t>Core Theme</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God promises forgiveness of sins and new hearts by His Spirit.</a:t>
            </a:r>
          </a:p>
          <a:p>
            <a:endParaRPr lang="en-US" sz="1200" b="1" i="1" kern="1200" dirty="0">
              <a:solidFill>
                <a:schemeClr val="tx1"/>
              </a:solidFill>
              <a:effectLst/>
              <a:latin typeface="+mn-lt"/>
              <a:ea typeface="ＭＳ Ｐゴシック" pitchFamily="-106" charset="-128"/>
              <a:cs typeface="ＭＳ Ｐゴシック" pitchFamily="-106" charset="-128"/>
            </a:endParaRPr>
          </a:p>
          <a:p>
            <a:r>
              <a:rPr lang="en-US" sz="1200" b="1" i="1" kern="1200" dirty="0">
                <a:solidFill>
                  <a:schemeClr val="tx1"/>
                </a:solidFill>
                <a:effectLst/>
                <a:latin typeface="+mn-lt"/>
                <a:ea typeface="ＭＳ Ｐゴシック" pitchFamily="-106" charset="-128"/>
                <a:cs typeface="ＭＳ Ｐゴシック" pitchFamily="-106" charset="-128"/>
              </a:rPr>
              <a:t>God’s Character in Scripture</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Jeremiah 31:31–34; Ezekiel 36:24–28. God reveals His grace and power to transform hearts.</a:t>
            </a:r>
          </a:p>
          <a:p>
            <a:endParaRPr lang="en-US" sz="1200" b="1" i="1" kern="1200" dirty="0">
              <a:solidFill>
                <a:schemeClr val="tx1"/>
              </a:solidFill>
              <a:effectLst/>
              <a:latin typeface="+mn-lt"/>
              <a:ea typeface="ＭＳ Ｐゴシック" pitchFamily="-106" charset="-128"/>
              <a:cs typeface="ＭＳ Ｐゴシック" pitchFamily="-106" charset="-128"/>
            </a:endParaRPr>
          </a:p>
          <a:p>
            <a:r>
              <a:rPr lang="en-US" sz="1200" b="1" i="1" kern="1200" dirty="0">
                <a:solidFill>
                  <a:schemeClr val="tx1"/>
                </a:solidFill>
                <a:effectLst/>
                <a:latin typeface="+mn-lt"/>
                <a:ea typeface="ＭＳ Ｐゴシック" pitchFamily="-106" charset="-128"/>
                <a:cs typeface="ＭＳ Ｐゴシック" pitchFamily="-106" charset="-128"/>
              </a:rPr>
              <a:t>God’s Character in History</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Israel’s failure under the old covenant highlighted the need for a new one (Hebrews 8:7–13).</a:t>
            </a:r>
          </a:p>
          <a:p>
            <a:endParaRPr lang="en-US" sz="1200" b="1" i="1" kern="1200" dirty="0">
              <a:solidFill>
                <a:schemeClr val="tx1"/>
              </a:solidFill>
              <a:effectLst/>
              <a:latin typeface="+mn-lt"/>
              <a:ea typeface="ＭＳ Ｐゴシック" pitchFamily="-106" charset="-128"/>
              <a:cs typeface="ＭＳ Ｐゴシック" pitchFamily="-106" charset="-128"/>
            </a:endParaRPr>
          </a:p>
          <a:p>
            <a:r>
              <a:rPr lang="en-US" sz="1200" b="1" i="1" kern="1200" dirty="0">
                <a:solidFill>
                  <a:schemeClr val="tx1"/>
                </a:solidFill>
                <a:effectLst/>
                <a:latin typeface="+mn-lt"/>
                <a:ea typeface="ＭＳ Ｐゴシック" pitchFamily="-106" charset="-128"/>
                <a:cs typeface="ＭＳ Ｐゴシック" pitchFamily="-106" charset="-128"/>
              </a:rPr>
              <a:t>God’s Character Revealed in Jesus</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Luke 22:20; Matthew 26:28. Jesus inaugurates the New Covenant in His blood.</a:t>
            </a:r>
          </a:p>
          <a:p>
            <a:endParaRPr lang="en-US" sz="1200" b="1" i="1" kern="1200" dirty="0">
              <a:solidFill>
                <a:schemeClr val="tx1"/>
              </a:solidFill>
              <a:effectLst/>
              <a:latin typeface="+mn-lt"/>
              <a:ea typeface="ＭＳ Ｐゴシック" pitchFamily="-106" charset="-128"/>
              <a:cs typeface="ＭＳ Ｐゴシック" pitchFamily="-106" charset="-128"/>
            </a:endParaRPr>
          </a:p>
          <a:p>
            <a:r>
              <a:rPr lang="en-US" sz="1200" b="1" i="1" kern="1200" dirty="0">
                <a:solidFill>
                  <a:schemeClr val="tx1"/>
                </a:solidFill>
                <a:effectLst/>
                <a:latin typeface="+mn-lt"/>
                <a:ea typeface="ＭＳ Ｐゴシック" pitchFamily="-106" charset="-128"/>
                <a:cs typeface="ＭＳ Ｐゴシック" pitchFamily="-106" charset="-128"/>
              </a:rPr>
              <a:t>God’s Invitation to Know Him</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John 3:5–8; 2 Corinthians 3:6. God invites us to walk in the Spirit and know Him personally.</a:t>
            </a:r>
          </a:p>
          <a:p>
            <a:r>
              <a:rPr lang="en-US" sz="1200" kern="1200" dirty="0">
                <a:solidFill>
                  <a:schemeClr val="tx1"/>
                </a:solidFill>
                <a:effectLst/>
                <a:latin typeface="+mn-lt"/>
                <a:ea typeface="ＭＳ Ｐゴシック" pitchFamily="-106" charset="-128"/>
                <a:cs typeface="ＭＳ Ｐゴシック" pitchFamily="-106" charset="-128"/>
              </a:rPr>
              <a:t>Discussion Questions</a:t>
            </a:r>
          </a:p>
          <a:p>
            <a:r>
              <a:rPr lang="en-US" sz="1200" kern="1200" dirty="0">
                <a:solidFill>
                  <a:schemeClr val="tx1"/>
                </a:solidFill>
                <a:effectLst/>
                <a:latin typeface="+mn-lt"/>
                <a:ea typeface="ＭＳ Ｐゴシック" pitchFamily="-106" charset="-128"/>
                <a:cs typeface="ＭＳ Ｐゴシック" pitchFamily="-106" charset="-128"/>
              </a:rPr>
              <a:t>How does the New Covenant differ from the old?</a:t>
            </a:r>
          </a:p>
          <a:p>
            <a:r>
              <a:rPr lang="en-US" sz="1200" kern="1200" dirty="0">
                <a:solidFill>
                  <a:schemeClr val="tx1"/>
                </a:solidFill>
                <a:effectLst/>
                <a:latin typeface="+mn-lt"/>
                <a:ea typeface="ＭＳ Ｐゴシック" pitchFamily="-106" charset="-128"/>
                <a:cs typeface="ＭＳ Ｐゴシック" pitchFamily="-106" charset="-128"/>
              </a:rPr>
              <a:t>What does it mean to have God’s law on our hearts? How does the Spirit help us live in this covenant?</a:t>
            </a:r>
          </a:p>
          <a:p>
            <a:endParaRPr lang="en-US" sz="1200" kern="1200" dirty="0">
              <a:solidFill>
                <a:schemeClr val="tx1"/>
              </a:solidFill>
              <a:effectLst/>
              <a:latin typeface="+mn-lt"/>
              <a:ea typeface="ＭＳ Ｐゴシック" pitchFamily="-106" charset="-128"/>
              <a:cs typeface="ＭＳ Ｐゴシック" pitchFamily="-106"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1" i="0" u="none" strike="noStrike" kern="1200" baseline="0" dirty="0">
                <a:solidFill>
                  <a:schemeClr val="tx1"/>
                </a:solidFill>
                <a:latin typeface="+mn-lt"/>
                <a:ea typeface="ＭＳ Ｐゴシック" pitchFamily="-106" charset="-128"/>
                <a:cs typeface="ＭＳ Ｐゴシック" pitchFamily="-106" charset="-128"/>
              </a:rPr>
              <a:t>Luk 22:14-23  </a:t>
            </a:r>
            <a:r>
              <a:rPr lang="en-US" sz="1200" b="0" i="0" u="none" strike="noStrike" kern="1200" baseline="0" dirty="0">
                <a:solidFill>
                  <a:schemeClr val="tx1"/>
                </a:solidFill>
                <a:latin typeface="+mn-lt"/>
                <a:ea typeface="ＭＳ Ｐゴシック" pitchFamily="-106" charset="-128"/>
                <a:cs typeface="ＭＳ Ｐゴシック" pitchFamily="-106" charset="-128"/>
              </a:rPr>
              <a:t>Now when the hour came, Jesus took his place at the table and the apostles joined him.  (15)  And he said to them, “I have earnestly desired to eat this Passover with you before I suffer.  (16)  For I tell you, I will not eat it again until it is fulfilled in the kingdom of God.”  (17)  Then he took a cup, and after giving thanks he said, “Take this and divide it among yourselves.  (18)  For I tell you that from now on I will not drink of the fruit of the vine until the kingdom of God comes.”  (19)  Then he took bread, and after giving thanks he broke it and gave it to them, saying, “This is my body which is given for you. Do this in remembrance of me.”  (20</a:t>
            </a:r>
            <a:r>
              <a:rPr lang="en-US" sz="1200" b="1" i="0" u="none" strike="noStrike" kern="1200" baseline="0" dirty="0">
                <a:solidFill>
                  <a:schemeClr val="tx1"/>
                </a:solidFill>
                <a:latin typeface="+mn-lt"/>
                <a:ea typeface="ＭＳ Ｐゴシック" pitchFamily="-106" charset="-128"/>
                <a:cs typeface="ＭＳ Ｐゴシック" pitchFamily="-106" charset="-128"/>
              </a:rPr>
              <a:t>)  And in the same way he took the cup after they had eaten, saying, “This cup that is poured out for you is the new covenant in my blood.  </a:t>
            </a:r>
            <a:r>
              <a:rPr lang="en-US" sz="1200" b="0" i="0" u="none" strike="noStrike" kern="1200" baseline="0" dirty="0">
                <a:solidFill>
                  <a:schemeClr val="tx1"/>
                </a:solidFill>
                <a:latin typeface="+mn-lt"/>
                <a:ea typeface="ＭＳ Ｐゴシック" pitchFamily="-106" charset="-128"/>
                <a:cs typeface="ＭＳ Ｐゴシック" pitchFamily="-106" charset="-128"/>
              </a:rPr>
              <a:t>(21)  “But look, the hand of the one who betrays me is with me on the table.  (22)  For the Son of Man is to go just as it has been determined, but woe to that man by whom he is betrayed!”  (23)  So they began to question one another as to which of them it could possibly be who would do this.</a:t>
            </a:r>
          </a:p>
          <a:p>
            <a:endParaRPr lang="en-US" sz="1200" kern="1200" dirty="0">
              <a:solidFill>
                <a:schemeClr val="tx1"/>
              </a:solidFill>
              <a:effectLst/>
              <a:latin typeface="+mn-lt"/>
              <a:ea typeface="ＭＳ Ｐゴシック" pitchFamily="-106" charset="-128"/>
              <a:cs typeface="ＭＳ Ｐゴシック" pitchFamily="-106" charset="-128"/>
            </a:endParaRPr>
          </a:p>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3562420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400" b="1" kern="1200" dirty="0">
                <a:solidFill>
                  <a:schemeClr val="tx1"/>
                </a:solidFill>
                <a:effectLst/>
                <a:latin typeface="+mn-lt"/>
                <a:ea typeface="ＭＳ Ｐゴシック" pitchFamily="-106" charset="-128"/>
                <a:cs typeface="ＭＳ Ｐゴシック" pitchFamily="-106" charset="-128"/>
              </a:rPr>
              <a:t>Old Covenant</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b="1" kern="1200" dirty="0">
                <a:solidFill>
                  <a:schemeClr val="tx1"/>
                </a:solidFill>
                <a:effectLst/>
                <a:latin typeface="+mn-lt"/>
                <a:ea typeface="ＭＳ Ｐゴシック" pitchFamily="-106" charset="-128"/>
                <a:cs typeface="ＭＳ Ｐゴシック" pitchFamily="-106" charset="-128"/>
              </a:rPr>
              <a:t>Given through Moses:</a:t>
            </a:r>
            <a:r>
              <a:rPr lang="en-US" sz="1400" kern="1200" dirty="0">
                <a:solidFill>
                  <a:schemeClr val="tx1"/>
                </a:solidFill>
                <a:effectLst/>
                <a:latin typeface="+mn-lt"/>
                <a:ea typeface="ＭＳ Ｐゴシック" pitchFamily="-106" charset="-128"/>
                <a:cs typeface="ＭＳ Ｐゴシック" pitchFamily="-106" charset="-128"/>
              </a:rPr>
              <a:t> The Law was established at Sinai (Exodus 19–24). It defined Israel’s relationship with God through commandments, sacrifices, and rituals.</a:t>
            </a:r>
          </a:p>
          <a:p>
            <a:pPr rtl="0" fontAlgn="ctr"/>
            <a:r>
              <a:rPr lang="en-US" sz="1400" b="1" kern="1200" dirty="0">
                <a:solidFill>
                  <a:schemeClr val="tx1"/>
                </a:solidFill>
                <a:effectLst/>
                <a:latin typeface="+mn-lt"/>
                <a:ea typeface="ＭＳ Ｐゴシック" pitchFamily="-106" charset="-128"/>
                <a:cs typeface="ＭＳ Ｐゴシック" pitchFamily="-106" charset="-128"/>
              </a:rPr>
              <a:t>Written on stone:</a:t>
            </a:r>
            <a:r>
              <a:rPr lang="en-US" sz="1400" kern="1200" dirty="0">
                <a:solidFill>
                  <a:schemeClr val="tx1"/>
                </a:solidFill>
                <a:effectLst/>
                <a:latin typeface="+mn-lt"/>
                <a:ea typeface="ＭＳ Ｐゴシック" pitchFamily="-106" charset="-128"/>
                <a:cs typeface="ＭＳ Ｐゴシック" pitchFamily="-106" charset="-128"/>
              </a:rPr>
              <a:t> It was external, requiring obedience to written laws (2 Corinthians 3:7).</a:t>
            </a:r>
          </a:p>
          <a:p>
            <a:pPr rtl="0" fontAlgn="ctr"/>
            <a:r>
              <a:rPr lang="en-US" sz="1400" b="1" kern="1200" dirty="0">
                <a:solidFill>
                  <a:schemeClr val="tx1"/>
                </a:solidFill>
                <a:effectLst/>
                <a:latin typeface="+mn-lt"/>
                <a:ea typeface="ＭＳ Ｐゴシック" pitchFamily="-106" charset="-128"/>
                <a:cs typeface="ＭＳ Ｐゴシック" pitchFamily="-106" charset="-128"/>
              </a:rPr>
              <a:t>Conditional:</a:t>
            </a:r>
            <a:r>
              <a:rPr lang="en-US" sz="1400" kern="1200" dirty="0">
                <a:solidFill>
                  <a:schemeClr val="tx1"/>
                </a:solidFill>
                <a:effectLst/>
                <a:latin typeface="+mn-lt"/>
                <a:ea typeface="ＭＳ Ｐゴシック" pitchFamily="-106" charset="-128"/>
                <a:cs typeface="ＭＳ Ｐゴシック" pitchFamily="-106" charset="-128"/>
              </a:rPr>
              <a:t> Blessings depended on Israel’s faithfulness and obedience; curses came for disobedience (Deuteronomy 28).</a:t>
            </a:r>
          </a:p>
          <a:p>
            <a:pPr rtl="0" fontAlgn="ctr"/>
            <a:r>
              <a:rPr lang="en-US" sz="1400" b="1" kern="1200" dirty="0">
                <a:solidFill>
                  <a:schemeClr val="tx1"/>
                </a:solidFill>
                <a:effectLst/>
                <a:latin typeface="+mn-lt"/>
                <a:ea typeface="ＭＳ Ｐゴシック" pitchFamily="-106" charset="-128"/>
                <a:cs typeface="ＭＳ Ｐゴシック" pitchFamily="-106" charset="-128"/>
              </a:rPr>
              <a:t>Temporary:</a:t>
            </a:r>
            <a:r>
              <a:rPr lang="en-US" sz="1400" kern="1200" dirty="0">
                <a:solidFill>
                  <a:schemeClr val="tx1"/>
                </a:solidFill>
                <a:effectLst/>
                <a:latin typeface="+mn-lt"/>
                <a:ea typeface="ＭＳ Ｐゴシック" pitchFamily="-106" charset="-128"/>
                <a:cs typeface="ＭＳ Ｐゴシック" pitchFamily="-106" charset="-128"/>
              </a:rPr>
              <a:t> The Law served as a guardian or tutor until Christ came (Galatians 3:24–25).</a:t>
            </a:r>
          </a:p>
          <a:p>
            <a:pPr rtl="0" fontAlgn="ctr"/>
            <a:r>
              <a:rPr lang="en-US" sz="1400" b="1" kern="1200" dirty="0">
                <a:solidFill>
                  <a:schemeClr val="tx1"/>
                </a:solidFill>
                <a:effectLst/>
                <a:latin typeface="+mn-lt"/>
                <a:ea typeface="ＭＳ Ｐゴシック" pitchFamily="-106" charset="-128"/>
                <a:cs typeface="ＭＳ Ｐゴシック" pitchFamily="-106" charset="-128"/>
              </a:rPr>
              <a:t>Revealed sin:</a:t>
            </a:r>
            <a:r>
              <a:rPr lang="en-US" sz="1400" kern="1200" dirty="0">
                <a:solidFill>
                  <a:schemeClr val="tx1"/>
                </a:solidFill>
                <a:effectLst/>
                <a:latin typeface="+mn-lt"/>
                <a:ea typeface="ＭＳ Ｐゴシック" pitchFamily="-106" charset="-128"/>
                <a:cs typeface="ＭＳ Ｐゴシック" pitchFamily="-106" charset="-128"/>
              </a:rPr>
              <a:t> The Law exposed the sinfulness of humanity but could not remove sin (Romans 3:20; Hebrews 10:1–4).</a:t>
            </a:r>
          </a:p>
          <a:p>
            <a:pPr rtl="0" fontAlgn="ctr"/>
            <a:r>
              <a:rPr lang="en-US" sz="1400" b="1" kern="1200" dirty="0">
                <a:solidFill>
                  <a:schemeClr val="tx1"/>
                </a:solidFill>
                <a:effectLst/>
                <a:latin typeface="+mn-lt"/>
                <a:ea typeface="ＭＳ Ｐゴシック" pitchFamily="-106" charset="-128"/>
                <a:cs typeface="ＭＳ Ｐゴシック" pitchFamily="-106" charset="-128"/>
              </a:rPr>
              <a:t>Priestly mediation:</a:t>
            </a:r>
            <a:r>
              <a:rPr lang="en-US" sz="1400" kern="1200" dirty="0">
                <a:solidFill>
                  <a:schemeClr val="tx1"/>
                </a:solidFill>
                <a:effectLst/>
                <a:latin typeface="+mn-lt"/>
                <a:ea typeface="ＭＳ Ｐゴシック" pitchFamily="-106" charset="-128"/>
                <a:cs typeface="ＭＳ Ｐゴシック" pitchFamily="-106" charset="-128"/>
              </a:rPr>
              <a:t> Access to God came through priests and animal sacrifices, repeated continually.</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New Covenant</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b="1" kern="1200" dirty="0">
                <a:solidFill>
                  <a:schemeClr val="tx1"/>
                </a:solidFill>
                <a:effectLst/>
                <a:latin typeface="+mn-lt"/>
                <a:ea typeface="ＭＳ Ｐゴシック" pitchFamily="-106" charset="-128"/>
                <a:cs typeface="ＭＳ Ｐゴシック" pitchFamily="-106" charset="-128"/>
              </a:rPr>
              <a:t>Established by Christ:</a:t>
            </a:r>
            <a:r>
              <a:rPr lang="en-US" sz="1400" kern="1200" dirty="0">
                <a:solidFill>
                  <a:schemeClr val="tx1"/>
                </a:solidFill>
                <a:effectLst/>
                <a:latin typeface="+mn-lt"/>
                <a:ea typeface="ＭＳ Ｐゴシック" pitchFamily="-106" charset="-128"/>
                <a:cs typeface="ＭＳ Ｐゴシック" pitchFamily="-106" charset="-128"/>
              </a:rPr>
              <a:t> Instituted through His death and resurrection (Luke 22:20; Hebrews 9:15).</a:t>
            </a:r>
          </a:p>
          <a:p>
            <a:pPr rtl="0" fontAlgn="ctr"/>
            <a:r>
              <a:rPr lang="en-US" sz="1400" b="1" kern="1200" dirty="0">
                <a:solidFill>
                  <a:schemeClr val="tx1"/>
                </a:solidFill>
                <a:effectLst/>
                <a:latin typeface="+mn-lt"/>
                <a:ea typeface="ＭＳ Ｐゴシック" pitchFamily="-106" charset="-128"/>
                <a:cs typeface="ＭＳ Ｐゴシック" pitchFamily="-106" charset="-128"/>
              </a:rPr>
              <a:t>Written on hearts:</a:t>
            </a:r>
            <a:r>
              <a:rPr lang="en-US" sz="1400" kern="1200" dirty="0">
                <a:solidFill>
                  <a:schemeClr val="tx1"/>
                </a:solidFill>
                <a:effectLst/>
                <a:latin typeface="+mn-lt"/>
                <a:ea typeface="ＭＳ Ｐゴシック" pitchFamily="-106" charset="-128"/>
                <a:cs typeface="ＭＳ Ｐゴシック" pitchFamily="-106" charset="-128"/>
              </a:rPr>
              <a:t> God’s Spirit writes His law within believers, bringing inner transformation (Jeremiah 31:33; 2 Corinthians 3:3).</a:t>
            </a:r>
          </a:p>
          <a:p>
            <a:pPr rtl="0" fontAlgn="ctr"/>
            <a:r>
              <a:rPr lang="en-US" sz="1400" b="1" kern="1200" dirty="0">
                <a:solidFill>
                  <a:schemeClr val="tx1"/>
                </a:solidFill>
                <a:effectLst/>
                <a:latin typeface="+mn-lt"/>
                <a:ea typeface="ＭＳ Ｐゴシック" pitchFamily="-106" charset="-128"/>
                <a:cs typeface="ＭＳ Ｐゴシック" pitchFamily="-106" charset="-128"/>
              </a:rPr>
              <a:t>Unconditional grace:</a:t>
            </a:r>
            <a:r>
              <a:rPr lang="en-US" sz="1400" kern="1200" dirty="0">
                <a:solidFill>
                  <a:schemeClr val="tx1"/>
                </a:solidFill>
                <a:effectLst/>
                <a:latin typeface="+mn-lt"/>
                <a:ea typeface="ＭＳ Ｐゴシック" pitchFamily="-106" charset="-128"/>
                <a:cs typeface="ＭＳ Ｐゴシック" pitchFamily="-106" charset="-128"/>
              </a:rPr>
              <a:t> Salvation and righteousness come by faith, not by works of the Law (Romans 3:21–22; Ephesians 2:8–9).</a:t>
            </a:r>
          </a:p>
          <a:p>
            <a:pPr rtl="0" fontAlgn="ctr"/>
            <a:r>
              <a:rPr lang="en-US" sz="1400" b="1" kern="1200" dirty="0">
                <a:solidFill>
                  <a:schemeClr val="tx1"/>
                </a:solidFill>
                <a:effectLst/>
                <a:latin typeface="+mn-lt"/>
                <a:ea typeface="ＭＳ Ｐゴシック" pitchFamily="-106" charset="-128"/>
                <a:cs typeface="ＭＳ Ｐゴシック" pitchFamily="-106" charset="-128"/>
              </a:rPr>
              <a:t>Eternal and complete:</a:t>
            </a:r>
            <a:r>
              <a:rPr lang="en-US" sz="1400" kern="1200" dirty="0">
                <a:solidFill>
                  <a:schemeClr val="tx1"/>
                </a:solidFill>
                <a:effectLst/>
                <a:latin typeface="+mn-lt"/>
                <a:ea typeface="ＭＳ Ｐゴシック" pitchFamily="-106" charset="-128"/>
                <a:cs typeface="ＭＳ Ｐゴシック" pitchFamily="-106" charset="-128"/>
              </a:rPr>
              <a:t> Christ’s sacrifice is once for all, providing full forgiveness and direct access to God (Hebrews 10:10–14).</a:t>
            </a:r>
          </a:p>
          <a:p>
            <a:pPr rtl="0" fontAlgn="ctr"/>
            <a:r>
              <a:rPr lang="en-US" sz="1400" b="1" kern="1200" dirty="0">
                <a:solidFill>
                  <a:schemeClr val="tx1"/>
                </a:solidFill>
                <a:effectLst/>
                <a:latin typeface="+mn-lt"/>
                <a:ea typeface="ＭＳ Ｐゴシック" pitchFamily="-106" charset="-128"/>
                <a:cs typeface="ＭＳ Ｐゴシック" pitchFamily="-106" charset="-128"/>
              </a:rPr>
              <a:t>Priesthood of all believers:</a:t>
            </a:r>
            <a:r>
              <a:rPr lang="en-US" sz="1400" kern="1200" dirty="0">
                <a:solidFill>
                  <a:schemeClr val="tx1"/>
                </a:solidFill>
                <a:effectLst/>
                <a:latin typeface="+mn-lt"/>
                <a:ea typeface="ＭＳ Ｐゴシック" pitchFamily="-106" charset="-128"/>
                <a:cs typeface="ＭＳ Ｐゴシック" pitchFamily="-106" charset="-128"/>
              </a:rPr>
              <a:t> No longer through Levitical priests, but through Christ our High Priest (Hebrews 4:14–16; 1 Peter 2:9).</a:t>
            </a:r>
          </a:p>
          <a:p>
            <a:pPr rtl="0" fontAlgn="ctr"/>
            <a:r>
              <a:rPr lang="en-US" sz="1400" b="1" kern="1200" dirty="0">
                <a:solidFill>
                  <a:schemeClr val="tx1"/>
                </a:solidFill>
                <a:effectLst/>
                <a:latin typeface="+mn-lt"/>
                <a:ea typeface="ＭＳ Ｐゴシック" pitchFamily="-106" charset="-128"/>
                <a:cs typeface="ＭＳ Ｐゴシック" pitchFamily="-106" charset="-128"/>
              </a:rPr>
              <a:t>Union with Christ:</a:t>
            </a:r>
            <a:r>
              <a:rPr lang="en-US" sz="1400" kern="1200" dirty="0">
                <a:solidFill>
                  <a:schemeClr val="tx1"/>
                </a:solidFill>
                <a:effectLst/>
                <a:latin typeface="+mn-lt"/>
                <a:ea typeface="ＭＳ Ｐゴシック" pitchFamily="-106" charset="-128"/>
                <a:cs typeface="ＭＳ Ｐゴシック" pitchFamily="-106" charset="-128"/>
              </a:rPr>
              <a:t> The Spirit indwells believers, producing obedience and holiness from within (Romans 8:1–4).</a:t>
            </a:r>
          </a:p>
          <a:p>
            <a:endParaRPr lang="en-US" sz="1400" b="1" dirty="0"/>
          </a:p>
          <a:p>
            <a:r>
              <a:rPr lang="en-US" sz="1400" kern="1200" dirty="0">
                <a:solidFill>
                  <a:schemeClr val="tx1"/>
                </a:solidFill>
                <a:effectLst/>
                <a:latin typeface="+mn-lt"/>
                <a:ea typeface="ＭＳ Ｐゴシック" pitchFamily="-106" charset="-128"/>
                <a:cs typeface="ＭＳ Ｐゴシック" pitchFamily="-106" charset="-128"/>
              </a:rPr>
              <a:t>The New Covenant fulfills the deep longings planted in the Old:</a:t>
            </a:r>
          </a:p>
          <a:p>
            <a:pPr rtl="0" fontAlgn="ctr"/>
            <a:r>
              <a:rPr lang="en-US" sz="1400" b="1" kern="1200" dirty="0">
                <a:solidFill>
                  <a:schemeClr val="tx1"/>
                </a:solidFill>
                <a:effectLst/>
                <a:latin typeface="+mn-lt"/>
                <a:ea typeface="ＭＳ Ｐゴシック" pitchFamily="-106" charset="-128"/>
                <a:cs typeface="ＭＳ Ｐゴシック" pitchFamily="-106" charset="-128"/>
              </a:rPr>
              <a:t>Forgiveness replaces guilt.</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b="1" kern="1200" dirty="0">
                <a:solidFill>
                  <a:schemeClr val="tx1"/>
                </a:solidFill>
                <a:effectLst/>
                <a:latin typeface="+mn-lt"/>
                <a:ea typeface="ＭＳ Ｐゴシック" pitchFamily="-106" charset="-128"/>
                <a:cs typeface="ＭＳ Ｐゴシック" pitchFamily="-106" charset="-128"/>
              </a:rPr>
              <a:t>Spirit replaces stone.</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b="1" kern="1200" dirty="0">
                <a:solidFill>
                  <a:schemeClr val="tx1"/>
                </a:solidFill>
                <a:effectLst/>
                <a:latin typeface="+mn-lt"/>
                <a:ea typeface="ＭＳ Ｐゴシック" pitchFamily="-106" charset="-128"/>
                <a:cs typeface="ＭＳ Ｐゴシック" pitchFamily="-106" charset="-128"/>
              </a:rPr>
              <a:t>Relationship replaces ritual.</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b="1" kern="1200" dirty="0">
                <a:solidFill>
                  <a:schemeClr val="tx1"/>
                </a:solidFill>
                <a:effectLst/>
                <a:latin typeface="+mn-lt"/>
                <a:ea typeface="ＭＳ Ｐゴシック" pitchFamily="-106" charset="-128"/>
                <a:cs typeface="ＭＳ Ｐゴシック" pitchFamily="-106" charset="-128"/>
              </a:rPr>
              <a:t>Peace replaces striving.</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b="1" kern="1200" dirty="0">
                <a:solidFill>
                  <a:schemeClr val="tx1"/>
                </a:solidFill>
                <a:effectLst/>
                <a:latin typeface="+mn-lt"/>
                <a:ea typeface="ＭＳ Ｐゴシック" pitchFamily="-106" charset="-128"/>
                <a:cs typeface="ＭＳ Ｐゴシック" pitchFamily="-106" charset="-128"/>
              </a:rPr>
              <a:t>The eternal kingdom replaces all passing systems.</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Jesus didn’t abolish the Law or the Prophets; He completed their meaning (Matthew 5:17).</a:t>
            </a:r>
          </a:p>
          <a:p>
            <a:r>
              <a:rPr lang="en-US" sz="1400" kern="1200" dirty="0">
                <a:solidFill>
                  <a:schemeClr val="tx1"/>
                </a:solidFill>
                <a:effectLst/>
                <a:latin typeface="+mn-lt"/>
                <a:ea typeface="ＭＳ Ｐゴシック" pitchFamily="-106" charset="-128"/>
                <a:cs typeface="ＭＳ Ｐゴシック" pitchFamily="-106" charset="-128"/>
              </a:rPr>
              <a:t>Everything the Law anticipated; forgiveness, renewal, communion with God; finds its reality in Him.</a:t>
            </a:r>
          </a:p>
          <a:p>
            <a:pPr lvl="0"/>
            <a:endParaRPr lang="en-US" sz="140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DCED3-047F-116C-59B1-110E2B9F6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D1A6E4-5D26-9A79-DB99-63F160216E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40979C-6CA6-9A83-E883-476F59B5A92B}"/>
              </a:ext>
            </a:extLst>
          </p:cNvPr>
          <p:cNvSpPr>
            <a:spLocks noGrp="1"/>
          </p:cNvSpPr>
          <p:nvPr>
            <p:ph type="body" idx="1"/>
          </p:nvPr>
        </p:nvSpPr>
        <p:spPr/>
        <p:txBody>
          <a:bodyPr>
            <a:normAutofit fontScale="25000" lnSpcReduction="20000"/>
          </a:bodyPr>
          <a:lstStyle/>
          <a:p>
            <a:r>
              <a:rPr lang="en-US" sz="1400" b="1" kern="1200" dirty="0">
                <a:solidFill>
                  <a:schemeClr val="tx1"/>
                </a:solidFill>
                <a:effectLst/>
                <a:latin typeface="+mn-lt"/>
                <a:ea typeface="ＭＳ Ｐゴシック" pitchFamily="-106" charset="-128"/>
                <a:cs typeface="ＭＳ Ｐゴシック" pitchFamily="-106" charset="-128"/>
              </a:rPr>
              <a:t>The Old Covenant as a Shadow of Christ</a:t>
            </a:r>
            <a:endParaRPr lang="en-US" sz="1400" kern="1200" dirty="0">
              <a:solidFill>
                <a:schemeClr val="tx1"/>
              </a:solidFill>
              <a:effectLst/>
              <a:latin typeface="+mn-lt"/>
              <a:ea typeface="ＭＳ Ｐゴシック" pitchFamily="-106" charset="-128"/>
              <a:cs typeface="ＭＳ Ｐゴシック" pitchFamily="-106" charset="-128"/>
            </a:endParaRP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The apostles taught that everything in the Old Covenant; the Law, the priesthood, the temple, the sacrifices, even the people themselves; pointed forward to Christ.</a:t>
            </a:r>
          </a:p>
          <a:p>
            <a:r>
              <a:rPr lang="en-US" sz="1400" kern="1200" dirty="0">
                <a:solidFill>
                  <a:schemeClr val="tx1"/>
                </a:solidFill>
                <a:effectLst/>
                <a:latin typeface="+mn-lt"/>
                <a:ea typeface="ＭＳ Ｐゴシック" pitchFamily="-106" charset="-128"/>
                <a:cs typeface="ＭＳ Ｐゴシック" pitchFamily="-106" charset="-128"/>
              </a:rPr>
              <a:t>It was </a:t>
            </a:r>
            <a:r>
              <a:rPr lang="en-US" sz="1400" b="1" kern="1200" dirty="0">
                <a:solidFill>
                  <a:schemeClr val="tx1"/>
                </a:solidFill>
                <a:effectLst/>
                <a:latin typeface="+mn-lt"/>
                <a:ea typeface="ＭＳ Ｐゴシック" pitchFamily="-106" charset="-128"/>
                <a:cs typeface="ＭＳ Ｐゴシック" pitchFamily="-106" charset="-128"/>
              </a:rPr>
              <a:t>a shadow of the good things to come</a:t>
            </a:r>
            <a:r>
              <a:rPr lang="en-US" sz="1400" kern="1200" dirty="0">
                <a:solidFill>
                  <a:schemeClr val="tx1"/>
                </a:solidFill>
                <a:effectLst/>
                <a:latin typeface="+mn-lt"/>
                <a:ea typeface="ＭＳ Ｐゴシック" pitchFamily="-106" charset="-128"/>
                <a:cs typeface="ＭＳ Ｐゴシック" pitchFamily="-106" charset="-128"/>
              </a:rPr>
              <a:t>, not the reality itself (Hebrews 10:1).</a:t>
            </a:r>
          </a:p>
          <a:p>
            <a:r>
              <a:rPr lang="en-US" sz="1400" kern="1200" dirty="0">
                <a:solidFill>
                  <a:schemeClr val="tx1"/>
                </a:solidFill>
                <a:effectLst/>
                <a:latin typeface="+mn-lt"/>
                <a:ea typeface="ＭＳ Ｐゴシック" pitchFamily="-106" charset="-128"/>
                <a:cs typeface="ＭＳ Ｐゴシック" pitchFamily="-106" charset="-128"/>
              </a:rPr>
              <a:t>The shadow revealed God’s plan, while Christ fulfilled it.</a:t>
            </a:r>
          </a:p>
          <a:p>
            <a:r>
              <a:rPr lang="en-US" sz="1400" kern="1200" dirty="0">
                <a:solidFill>
                  <a:schemeClr val="tx1"/>
                </a:solidFill>
                <a:effectLst/>
                <a:latin typeface="+mn-lt"/>
                <a:ea typeface="ＭＳ Ｐゴシック" pitchFamily="-106" charset="-128"/>
                <a:cs typeface="ＭＳ Ｐゴシック" pitchFamily="-106" charset="-128"/>
              </a:rPr>
              <a:t>“These are a shadow of the things to come, but the reality belongs to Christ.”</a:t>
            </a:r>
          </a:p>
          <a:p>
            <a:r>
              <a:rPr lang="en-US" sz="1400" kern="1200" dirty="0">
                <a:solidFill>
                  <a:schemeClr val="tx1"/>
                </a:solidFill>
                <a:effectLst/>
                <a:latin typeface="+mn-lt"/>
                <a:ea typeface="ＭＳ Ｐゴシック" pitchFamily="-106" charset="-128"/>
                <a:cs typeface="ＭＳ Ｐゴシック" pitchFamily="-106" charset="-128"/>
              </a:rPr>
              <a:t>— Colossians 2:17 (NET)</a:t>
            </a:r>
          </a:p>
          <a:p>
            <a:r>
              <a:rPr lang="en-US" sz="1400" kern="1200" dirty="0">
                <a:solidFill>
                  <a:schemeClr val="tx1"/>
                </a:solidFill>
                <a:effectLst/>
                <a:latin typeface="+mn-lt"/>
                <a:ea typeface="ＭＳ Ｐゴシック" pitchFamily="-106" charset="-128"/>
                <a:cs typeface="ＭＳ Ｐゴシック" pitchFamily="-106" charset="-128"/>
              </a:rPr>
              <a:t>The Old Covenant was like a sketch that anticipated the finished picture.</a:t>
            </a:r>
          </a:p>
          <a:p>
            <a:r>
              <a:rPr lang="en-US" sz="1400" kern="1200" dirty="0">
                <a:solidFill>
                  <a:schemeClr val="tx1"/>
                </a:solidFill>
                <a:effectLst/>
                <a:latin typeface="+mn-lt"/>
                <a:ea typeface="ＭＳ Ｐゴシック" pitchFamily="-106" charset="-128"/>
                <a:cs typeface="ＭＳ Ｐゴシック" pitchFamily="-106" charset="-128"/>
              </a:rPr>
              <a:t>It prepared the world to understand who Jesus is and what He would do.</a:t>
            </a:r>
          </a:p>
          <a:p>
            <a:pPr marL="324"/>
            <a:endParaRPr lang="en-US" sz="1400" dirty="0"/>
          </a:p>
          <a:p>
            <a:r>
              <a:rPr lang="en-US" sz="1400" b="1" kern="1200" dirty="0">
                <a:solidFill>
                  <a:schemeClr val="tx1"/>
                </a:solidFill>
                <a:effectLst/>
                <a:latin typeface="+mn-lt"/>
                <a:ea typeface="ＭＳ Ｐゴシック" pitchFamily="-106" charset="-128"/>
                <a:cs typeface="ＭＳ Ｐゴシック" pitchFamily="-106" charset="-128"/>
              </a:rPr>
              <a:t>Types of Christ in the Patriarchs</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Below are some key patriarchs and how their lives served as </a:t>
            </a:r>
            <a:r>
              <a:rPr lang="en-US" sz="1400" b="1" kern="1200" dirty="0">
                <a:solidFill>
                  <a:schemeClr val="tx1"/>
                </a:solidFill>
                <a:effectLst/>
                <a:latin typeface="+mn-lt"/>
                <a:ea typeface="ＭＳ Ｐゴシック" pitchFamily="-106" charset="-128"/>
                <a:cs typeface="ＭＳ Ｐゴシック" pitchFamily="-106" charset="-128"/>
              </a:rPr>
              <a:t>types (shadows)</a:t>
            </a:r>
            <a:r>
              <a:rPr lang="en-US" sz="1400" kern="1200" dirty="0">
                <a:solidFill>
                  <a:schemeClr val="tx1"/>
                </a:solidFill>
                <a:effectLst/>
                <a:latin typeface="+mn-lt"/>
                <a:ea typeface="ＭＳ Ｐゴシック" pitchFamily="-106" charset="-128"/>
                <a:cs typeface="ＭＳ Ｐゴシック" pitchFamily="-106" charset="-128"/>
              </a:rPr>
              <a:t> of the coming Messiah.</a:t>
            </a:r>
          </a:p>
          <a:p>
            <a:r>
              <a:rPr lang="en-US" sz="1400" kern="1200" dirty="0">
                <a:solidFill>
                  <a:schemeClr val="tx1"/>
                </a:solidFill>
                <a:effectLst/>
                <a:latin typeface="+mn-lt"/>
                <a:ea typeface="ＭＳ Ｐゴシック" pitchFamily="-106" charset="-128"/>
                <a:cs typeface="ＭＳ Ｐゴシック" pitchFamily="-106" charset="-128"/>
              </a:rPr>
              <a:t>These patterns helped the early believers recognize Jesus as the fulfillment of God’s promises.</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Adam – The First Man</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b="1" kern="1200" dirty="0">
                <a:solidFill>
                  <a:schemeClr val="tx1"/>
                </a:solidFill>
                <a:effectLst/>
                <a:latin typeface="+mn-lt"/>
                <a:ea typeface="ＭＳ Ｐゴシック" pitchFamily="-106" charset="-128"/>
                <a:cs typeface="ＭＳ Ｐゴシック" pitchFamily="-106" charset="-128"/>
              </a:rPr>
              <a:t>Type:</a:t>
            </a:r>
            <a:r>
              <a:rPr lang="en-US" sz="1400" kern="1200" dirty="0">
                <a:solidFill>
                  <a:schemeClr val="tx1"/>
                </a:solidFill>
                <a:effectLst/>
                <a:latin typeface="+mn-lt"/>
                <a:ea typeface="ＭＳ Ｐゴシック" pitchFamily="-106" charset="-128"/>
                <a:cs typeface="ＭＳ Ｐゴシック" pitchFamily="-106" charset="-128"/>
              </a:rPr>
              <a:t> The representative head of humanity.</a:t>
            </a:r>
          </a:p>
          <a:p>
            <a:pPr rtl="0" fontAlgn="ctr"/>
            <a:r>
              <a:rPr lang="en-US" sz="1400" b="1" kern="1200" dirty="0">
                <a:solidFill>
                  <a:schemeClr val="tx1"/>
                </a:solidFill>
                <a:effectLst/>
                <a:latin typeface="+mn-lt"/>
                <a:ea typeface="ＭＳ Ｐゴシック" pitchFamily="-106" charset="-128"/>
                <a:cs typeface="ＭＳ Ｐゴシック" pitchFamily="-106" charset="-128"/>
              </a:rPr>
              <a:t>Shadow:</a:t>
            </a:r>
            <a:r>
              <a:rPr lang="en-US" sz="1400" kern="1200" dirty="0">
                <a:solidFill>
                  <a:schemeClr val="tx1"/>
                </a:solidFill>
                <a:effectLst/>
                <a:latin typeface="+mn-lt"/>
                <a:ea typeface="ＭＳ Ｐゴシック" pitchFamily="-106" charset="-128"/>
                <a:cs typeface="ＭＳ Ｐゴシック" pitchFamily="-106" charset="-128"/>
              </a:rPr>
              <a:t> Through Adam came sin and death. Through Christ (the “last Adam”) comes righteousness and life.</a:t>
            </a:r>
          </a:p>
          <a:p>
            <a:pPr rtl="0" fontAlgn="ctr"/>
            <a:r>
              <a:rPr lang="en-US" sz="1400" b="1" kern="1200" dirty="0">
                <a:solidFill>
                  <a:schemeClr val="tx1"/>
                </a:solidFill>
                <a:effectLst/>
                <a:latin typeface="+mn-lt"/>
                <a:ea typeface="ＭＳ Ｐゴシック" pitchFamily="-106" charset="-128"/>
                <a:cs typeface="ＭＳ Ｐゴシック" pitchFamily="-106" charset="-128"/>
              </a:rPr>
              <a:t>Fulfillment:</a:t>
            </a:r>
            <a:r>
              <a:rPr lang="en-US" sz="1400" kern="1200" dirty="0">
                <a:solidFill>
                  <a:schemeClr val="tx1"/>
                </a:solidFill>
                <a:effectLst/>
                <a:latin typeface="+mn-lt"/>
                <a:ea typeface="ＭＳ Ｐゴシック" pitchFamily="-106" charset="-128"/>
                <a:cs typeface="ＭＳ Ｐゴシック" pitchFamily="-106" charset="-128"/>
              </a:rPr>
              <a:t> Jesus restores what Adam lost; fellowship with God.</a:t>
            </a:r>
          </a:p>
          <a:p>
            <a:r>
              <a:rPr lang="en-US" sz="1400" kern="1200" dirty="0">
                <a:solidFill>
                  <a:schemeClr val="tx1"/>
                </a:solidFill>
                <a:effectLst/>
                <a:latin typeface="+mn-lt"/>
                <a:ea typeface="ＭＳ Ｐゴシック" pitchFamily="-106" charset="-128"/>
                <a:cs typeface="ＭＳ Ｐゴシック" pitchFamily="-106" charset="-128"/>
              </a:rPr>
              <a:t>Romans 5:14, 19; 1 Corinthians 15:45</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Noah – The Righteous Deliverer</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b="1" kern="1200" dirty="0">
                <a:solidFill>
                  <a:schemeClr val="tx1"/>
                </a:solidFill>
                <a:effectLst/>
                <a:latin typeface="+mn-lt"/>
                <a:ea typeface="ＭＳ Ｐゴシック" pitchFamily="-106" charset="-128"/>
                <a:cs typeface="ＭＳ Ｐゴシック" pitchFamily="-106" charset="-128"/>
              </a:rPr>
              <a:t>Type:</a:t>
            </a:r>
            <a:r>
              <a:rPr lang="en-US" sz="1400" kern="1200" dirty="0">
                <a:solidFill>
                  <a:schemeClr val="tx1"/>
                </a:solidFill>
                <a:effectLst/>
                <a:latin typeface="+mn-lt"/>
                <a:ea typeface="ＭＳ Ｐゴシック" pitchFamily="-106" charset="-128"/>
                <a:cs typeface="ＭＳ Ｐゴシック" pitchFamily="-106" charset="-128"/>
              </a:rPr>
              <a:t> A preacher of righteousness who built the ark for salvation.</a:t>
            </a:r>
          </a:p>
          <a:p>
            <a:pPr rtl="0" fontAlgn="ctr"/>
            <a:r>
              <a:rPr lang="en-US" sz="1400" b="1" kern="1200" dirty="0">
                <a:solidFill>
                  <a:schemeClr val="tx1"/>
                </a:solidFill>
                <a:effectLst/>
                <a:latin typeface="+mn-lt"/>
                <a:ea typeface="ＭＳ Ｐゴシック" pitchFamily="-106" charset="-128"/>
                <a:cs typeface="ＭＳ Ｐゴシック" pitchFamily="-106" charset="-128"/>
              </a:rPr>
              <a:t>Shadow:</a:t>
            </a:r>
            <a:r>
              <a:rPr lang="en-US" sz="1400" kern="1200" dirty="0">
                <a:solidFill>
                  <a:schemeClr val="tx1"/>
                </a:solidFill>
                <a:effectLst/>
                <a:latin typeface="+mn-lt"/>
                <a:ea typeface="ＭＳ Ｐゴシック" pitchFamily="-106" charset="-128"/>
                <a:cs typeface="ＭＳ Ｐゴシック" pitchFamily="-106" charset="-128"/>
              </a:rPr>
              <a:t> The ark saved a few through water; in Christ, baptism now saves (1 Peter 3:20–21).</a:t>
            </a:r>
          </a:p>
          <a:p>
            <a:pPr rtl="0" fontAlgn="ctr"/>
            <a:r>
              <a:rPr lang="en-US" sz="1400" b="1" kern="1200" dirty="0">
                <a:solidFill>
                  <a:schemeClr val="tx1"/>
                </a:solidFill>
                <a:effectLst/>
                <a:latin typeface="+mn-lt"/>
                <a:ea typeface="ＭＳ Ｐゴシック" pitchFamily="-106" charset="-128"/>
                <a:cs typeface="ＭＳ Ｐゴシック" pitchFamily="-106" charset="-128"/>
              </a:rPr>
              <a:t>Fulfillment:</a:t>
            </a:r>
            <a:r>
              <a:rPr lang="en-US" sz="1400" kern="1200" dirty="0">
                <a:solidFill>
                  <a:schemeClr val="tx1"/>
                </a:solidFill>
                <a:effectLst/>
                <a:latin typeface="+mn-lt"/>
                <a:ea typeface="ＭＳ Ｐゴシック" pitchFamily="-106" charset="-128"/>
                <a:cs typeface="ＭＳ Ｐゴシック" pitchFamily="-106" charset="-128"/>
              </a:rPr>
              <a:t> Jesus is the true ark; safety from judgment is found in Him.</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Abraham – The Father of Faith</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b="1" kern="1200" dirty="0">
                <a:solidFill>
                  <a:schemeClr val="tx1"/>
                </a:solidFill>
                <a:effectLst/>
                <a:latin typeface="+mn-lt"/>
                <a:ea typeface="ＭＳ Ｐゴシック" pitchFamily="-106" charset="-128"/>
                <a:cs typeface="ＭＳ Ｐゴシック" pitchFamily="-106" charset="-128"/>
              </a:rPr>
              <a:t>Type:</a:t>
            </a:r>
            <a:r>
              <a:rPr lang="en-US" sz="1400" kern="1200" dirty="0">
                <a:solidFill>
                  <a:schemeClr val="tx1"/>
                </a:solidFill>
                <a:effectLst/>
                <a:latin typeface="+mn-lt"/>
                <a:ea typeface="ＭＳ Ｐゴシック" pitchFamily="-106" charset="-128"/>
                <a:cs typeface="ＭＳ Ｐゴシック" pitchFamily="-106" charset="-128"/>
              </a:rPr>
              <a:t> The man who believed God and was counted righteous.</a:t>
            </a:r>
          </a:p>
          <a:p>
            <a:pPr rtl="0" fontAlgn="ctr"/>
            <a:r>
              <a:rPr lang="en-US" sz="1400" b="1" kern="1200" dirty="0">
                <a:solidFill>
                  <a:schemeClr val="tx1"/>
                </a:solidFill>
                <a:effectLst/>
                <a:latin typeface="+mn-lt"/>
                <a:ea typeface="ＭＳ Ｐゴシック" pitchFamily="-106" charset="-128"/>
                <a:cs typeface="ＭＳ Ｐゴシック" pitchFamily="-106" charset="-128"/>
              </a:rPr>
              <a:t>Shadow:</a:t>
            </a:r>
            <a:r>
              <a:rPr lang="en-US" sz="1400" kern="1200" dirty="0">
                <a:solidFill>
                  <a:schemeClr val="tx1"/>
                </a:solidFill>
                <a:effectLst/>
                <a:latin typeface="+mn-lt"/>
                <a:ea typeface="ＭＳ Ｐゴシック" pitchFamily="-106" charset="-128"/>
                <a:cs typeface="ＭＳ Ｐゴシック" pitchFamily="-106" charset="-128"/>
              </a:rPr>
              <a:t> His willingness to offer Isaac pictured the Father offering His Son.</a:t>
            </a:r>
          </a:p>
          <a:p>
            <a:pPr rtl="0" fontAlgn="ctr"/>
            <a:r>
              <a:rPr lang="en-US" sz="1400" b="1" kern="1200" dirty="0">
                <a:solidFill>
                  <a:schemeClr val="tx1"/>
                </a:solidFill>
                <a:effectLst/>
                <a:latin typeface="+mn-lt"/>
                <a:ea typeface="ＭＳ Ｐゴシック" pitchFamily="-106" charset="-128"/>
                <a:cs typeface="ＭＳ Ｐゴシック" pitchFamily="-106" charset="-128"/>
              </a:rPr>
              <a:t>Fulfillment:</a:t>
            </a:r>
            <a:r>
              <a:rPr lang="en-US" sz="1400" kern="1200" dirty="0">
                <a:solidFill>
                  <a:schemeClr val="tx1"/>
                </a:solidFill>
                <a:effectLst/>
                <a:latin typeface="+mn-lt"/>
                <a:ea typeface="ＭＳ Ｐゴシック" pitchFamily="-106" charset="-128"/>
                <a:cs typeface="ＭＳ Ｐゴシック" pitchFamily="-106" charset="-128"/>
              </a:rPr>
              <a:t> Through Abraham’s seed (Christ), all nations are blessed (Galatians 3:16).</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Isaac – The Promised Son</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b="1" kern="1200" dirty="0">
                <a:solidFill>
                  <a:schemeClr val="tx1"/>
                </a:solidFill>
                <a:effectLst/>
                <a:latin typeface="+mn-lt"/>
                <a:ea typeface="ＭＳ Ｐゴシック" pitchFamily="-106" charset="-128"/>
                <a:cs typeface="ＭＳ Ｐゴシック" pitchFamily="-106" charset="-128"/>
              </a:rPr>
              <a:t>Type:</a:t>
            </a:r>
            <a:r>
              <a:rPr lang="en-US" sz="1400" kern="1200" dirty="0">
                <a:solidFill>
                  <a:schemeClr val="tx1"/>
                </a:solidFill>
                <a:effectLst/>
                <a:latin typeface="+mn-lt"/>
                <a:ea typeface="ＭＳ Ｐゴシック" pitchFamily="-106" charset="-128"/>
                <a:cs typeface="ＭＳ Ｐゴシック" pitchFamily="-106" charset="-128"/>
              </a:rPr>
              <a:t> The beloved son offered on the altar.</a:t>
            </a:r>
          </a:p>
          <a:p>
            <a:pPr rtl="0" fontAlgn="ctr"/>
            <a:r>
              <a:rPr lang="en-US" sz="1400" b="1" kern="1200" dirty="0">
                <a:solidFill>
                  <a:schemeClr val="tx1"/>
                </a:solidFill>
                <a:effectLst/>
                <a:latin typeface="+mn-lt"/>
                <a:ea typeface="ＭＳ Ｐゴシック" pitchFamily="-106" charset="-128"/>
                <a:cs typeface="ＭＳ Ｐゴシック" pitchFamily="-106" charset="-128"/>
              </a:rPr>
              <a:t>Shadow:</a:t>
            </a:r>
            <a:r>
              <a:rPr lang="en-US" sz="1400" kern="1200" dirty="0">
                <a:solidFill>
                  <a:schemeClr val="tx1"/>
                </a:solidFill>
                <a:effectLst/>
                <a:latin typeface="+mn-lt"/>
                <a:ea typeface="ＭＳ Ｐゴシック" pitchFamily="-106" charset="-128"/>
                <a:cs typeface="ＭＳ Ｐゴシック" pitchFamily="-106" charset="-128"/>
              </a:rPr>
              <a:t> Carried the wood for his own sacrifice; willingly submitted to his father.</a:t>
            </a:r>
          </a:p>
          <a:p>
            <a:pPr rtl="0" fontAlgn="ctr"/>
            <a:r>
              <a:rPr lang="en-US" sz="1400" b="1" kern="1200" dirty="0">
                <a:solidFill>
                  <a:schemeClr val="tx1"/>
                </a:solidFill>
                <a:effectLst/>
                <a:latin typeface="+mn-lt"/>
                <a:ea typeface="ＭＳ Ｐゴシック" pitchFamily="-106" charset="-128"/>
                <a:cs typeface="ＭＳ Ｐゴシック" pitchFamily="-106" charset="-128"/>
              </a:rPr>
              <a:t>Fulfillment:</a:t>
            </a:r>
            <a:r>
              <a:rPr lang="en-US" sz="1400" kern="1200" dirty="0">
                <a:solidFill>
                  <a:schemeClr val="tx1"/>
                </a:solidFill>
                <a:effectLst/>
                <a:latin typeface="+mn-lt"/>
                <a:ea typeface="ＭＳ Ｐゴシック" pitchFamily="-106" charset="-128"/>
                <a:cs typeface="ＭＳ Ｐゴシック" pitchFamily="-106" charset="-128"/>
              </a:rPr>
              <a:t> Jesus, the true Son, carried the cross and gave His life by the Father’s will.</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Jacob – The Chosen but Broken Vessel</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b="1" kern="1200" dirty="0">
                <a:solidFill>
                  <a:schemeClr val="tx1"/>
                </a:solidFill>
                <a:effectLst/>
                <a:latin typeface="+mn-lt"/>
                <a:ea typeface="ＭＳ Ｐゴシック" pitchFamily="-106" charset="-128"/>
                <a:cs typeface="ＭＳ Ｐゴシック" pitchFamily="-106" charset="-128"/>
              </a:rPr>
              <a:t>Type:</a:t>
            </a:r>
            <a:r>
              <a:rPr lang="en-US" sz="1400" kern="1200" dirty="0">
                <a:solidFill>
                  <a:schemeClr val="tx1"/>
                </a:solidFill>
                <a:effectLst/>
                <a:latin typeface="+mn-lt"/>
                <a:ea typeface="ＭＳ Ｐゴシック" pitchFamily="-106" charset="-128"/>
                <a:cs typeface="ＭＳ Ｐゴシック" pitchFamily="-106" charset="-128"/>
              </a:rPr>
              <a:t> The one who wrestled with God and received a new name (Israel).</a:t>
            </a:r>
          </a:p>
          <a:p>
            <a:pPr rtl="0" fontAlgn="ctr"/>
            <a:r>
              <a:rPr lang="en-US" sz="1400" b="1" kern="1200" dirty="0">
                <a:solidFill>
                  <a:schemeClr val="tx1"/>
                </a:solidFill>
                <a:effectLst/>
                <a:latin typeface="+mn-lt"/>
                <a:ea typeface="ＭＳ Ｐゴシック" pitchFamily="-106" charset="-128"/>
                <a:cs typeface="ＭＳ Ｐゴシック" pitchFamily="-106" charset="-128"/>
              </a:rPr>
              <a:t>Shadow:</a:t>
            </a:r>
            <a:r>
              <a:rPr lang="en-US" sz="1400" kern="1200" dirty="0">
                <a:solidFill>
                  <a:schemeClr val="tx1"/>
                </a:solidFill>
                <a:effectLst/>
                <a:latin typeface="+mn-lt"/>
                <a:ea typeface="ＭＳ Ｐゴシック" pitchFamily="-106" charset="-128"/>
                <a:cs typeface="ＭＳ Ｐゴシック" pitchFamily="-106" charset="-128"/>
              </a:rPr>
              <a:t> His struggle and transformation symbolize redemption through divine grace.</a:t>
            </a:r>
          </a:p>
          <a:p>
            <a:pPr rtl="0" fontAlgn="ctr"/>
            <a:r>
              <a:rPr lang="en-US" sz="1400" b="1" kern="1200" dirty="0">
                <a:solidFill>
                  <a:schemeClr val="tx1"/>
                </a:solidFill>
                <a:effectLst/>
                <a:latin typeface="+mn-lt"/>
                <a:ea typeface="ＭＳ Ｐゴシック" pitchFamily="-106" charset="-128"/>
                <a:cs typeface="ＭＳ Ｐゴシック" pitchFamily="-106" charset="-128"/>
              </a:rPr>
              <a:t>Fulfillment:</a:t>
            </a:r>
            <a:r>
              <a:rPr lang="en-US" sz="1400" kern="1200" dirty="0">
                <a:solidFill>
                  <a:schemeClr val="tx1"/>
                </a:solidFill>
                <a:effectLst/>
                <a:latin typeface="+mn-lt"/>
                <a:ea typeface="ＭＳ Ｐゴシック" pitchFamily="-106" charset="-128"/>
                <a:cs typeface="ＭＳ Ｐゴシック" pitchFamily="-106" charset="-128"/>
              </a:rPr>
              <a:t> Jesus embodies the true “Israel”; the one who prevails with God on behalf of His people.</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Joseph – The Suffering and Exalted Savior</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b="1" kern="1200" dirty="0">
                <a:solidFill>
                  <a:schemeClr val="tx1"/>
                </a:solidFill>
                <a:effectLst/>
                <a:latin typeface="+mn-lt"/>
                <a:ea typeface="ＭＳ Ｐゴシック" pitchFamily="-106" charset="-128"/>
                <a:cs typeface="ＭＳ Ｐゴシック" pitchFamily="-106" charset="-128"/>
              </a:rPr>
              <a:t>Type:</a:t>
            </a:r>
            <a:r>
              <a:rPr lang="en-US" sz="1400" kern="1200" dirty="0">
                <a:solidFill>
                  <a:schemeClr val="tx1"/>
                </a:solidFill>
                <a:effectLst/>
                <a:latin typeface="+mn-lt"/>
                <a:ea typeface="ＭＳ Ｐゴシック" pitchFamily="-106" charset="-128"/>
                <a:cs typeface="ＭＳ Ｐゴシック" pitchFamily="-106" charset="-128"/>
              </a:rPr>
              <a:t> Rejected by his brothers, sold for silver, yet later became their savior.</a:t>
            </a:r>
          </a:p>
          <a:p>
            <a:pPr rtl="0" fontAlgn="ctr"/>
            <a:r>
              <a:rPr lang="en-US" sz="1400" b="1" kern="1200" dirty="0">
                <a:solidFill>
                  <a:schemeClr val="tx1"/>
                </a:solidFill>
                <a:effectLst/>
                <a:latin typeface="+mn-lt"/>
                <a:ea typeface="ＭＳ Ｐゴシック" pitchFamily="-106" charset="-128"/>
                <a:cs typeface="ＭＳ Ｐゴシック" pitchFamily="-106" charset="-128"/>
              </a:rPr>
              <a:t>Shadow:</a:t>
            </a:r>
            <a:r>
              <a:rPr lang="en-US" sz="1400" kern="1200" dirty="0">
                <a:solidFill>
                  <a:schemeClr val="tx1"/>
                </a:solidFill>
                <a:effectLst/>
                <a:latin typeface="+mn-lt"/>
                <a:ea typeface="ＭＳ Ｐゴシック" pitchFamily="-106" charset="-128"/>
                <a:cs typeface="ＭＳ Ｐゴシック" pitchFamily="-106" charset="-128"/>
              </a:rPr>
              <a:t> What men meant for evil, God meant for good (Genesis 50:20).</a:t>
            </a:r>
          </a:p>
          <a:p>
            <a:pPr rtl="0" fontAlgn="ctr"/>
            <a:r>
              <a:rPr lang="en-US" sz="1400" b="1" kern="1200" dirty="0">
                <a:solidFill>
                  <a:schemeClr val="tx1"/>
                </a:solidFill>
                <a:effectLst/>
                <a:latin typeface="+mn-lt"/>
                <a:ea typeface="ＭＳ Ｐゴシック" pitchFamily="-106" charset="-128"/>
                <a:cs typeface="ＭＳ Ｐゴシック" pitchFamily="-106" charset="-128"/>
              </a:rPr>
              <a:t>Fulfillment:</a:t>
            </a:r>
            <a:r>
              <a:rPr lang="en-US" sz="1400" kern="1200" dirty="0">
                <a:solidFill>
                  <a:schemeClr val="tx1"/>
                </a:solidFill>
                <a:effectLst/>
                <a:latin typeface="+mn-lt"/>
                <a:ea typeface="ＭＳ Ｐゴシック" pitchFamily="-106" charset="-128"/>
                <a:cs typeface="ＭＳ Ｐゴシック" pitchFamily="-106" charset="-128"/>
              </a:rPr>
              <a:t> Jesus was betrayed, suffered unjustly, and was exalted to save the world.</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Moses – The Mediator of the Covenant</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b="1" kern="1200" dirty="0">
                <a:solidFill>
                  <a:schemeClr val="tx1"/>
                </a:solidFill>
                <a:effectLst/>
                <a:latin typeface="+mn-lt"/>
                <a:ea typeface="ＭＳ Ｐゴシック" pitchFamily="-106" charset="-128"/>
                <a:cs typeface="ＭＳ Ｐゴシック" pitchFamily="-106" charset="-128"/>
              </a:rPr>
              <a:t>Type:</a:t>
            </a:r>
            <a:r>
              <a:rPr lang="en-US" sz="1400" kern="1200" dirty="0">
                <a:solidFill>
                  <a:schemeClr val="tx1"/>
                </a:solidFill>
                <a:effectLst/>
                <a:latin typeface="+mn-lt"/>
                <a:ea typeface="ＭＳ Ｐゴシック" pitchFamily="-106" charset="-128"/>
                <a:cs typeface="ＭＳ Ｐゴシック" pitchFamily="-106" charset="-128"/>
              </a:rPr>
              <a:t> Delivered Israel from bondage, gave the Law, and interceded for the people.</a:t>
            </a:r>
          </a:p>
          <a:p>
            <a:pPr rtl="0" fontAlgn="ctr"/>
            <a:r>
              <a:rPr lang="en-US" sz="1400" b="1" kern="1200" dirty="0">
                <a:solidFill>
                  <a:schemeClr val="tx1"/>
                </a:solidFill>
                <a:effectLst/>
                <a:latin typeface="+mn-lt"/>
                <a:ea typeface="ＭＳ Ｐゴシック" pitchFamily="-106" charset="-128"/>
                <a:cs typeface="ＭＳ Ｐゴシック" pitchFamily="-106" charset="-128"/>
              </a:rPr>
              <a:t>Shadow:</a:t>
            </a:r>
            <a:r>
              <a:rPr lang="en-US" sz="1400" kern="1200" dirty="0">
                <a:solidFill>
                  <a:schemeClr val="tx1"/>
                </a:solidFill>
                <a:effectLst/>
                <a:latin typeface="+mn-lt"/>
                <a:ea typeface="ＭＳ Ｐゴシック" pitchFamily="-106" charset="-128"/>
                <a:cs typeface="ＭＳ Ｐゴシック" pitchFamily="-106" charset="-128"/>
              </a:rPr>
              <a:t> A prophet like Moses was promised (Deuteronomy 18:15).</a:t>
            </a:r>
          </a:p>
          <a:p>
            <a:pPr rtl="0" fontAlgn="ctr"/>
            <a:r>
              <a:rPr lang="en-US" sz="1400" b="1" kern="1200" dirty="0">
                <a:solidFill>
                  <a:schemeClr val="tx1"/>
                </a:solidFill>
                <a:effectLst/>
                <a:latin typeface="+mn-lt"/>
                <a:ea typeface="ＭＳ Ｐゴシック" pitchFamily="-106" charset="-128"/>
                <a:cs typeface="ＭＳ Ｐゴシック" pitchFamily="-106" charset="-128"/>
              </a:rPr>
              <a:t>Fulfillment:</a:t>
            </a:r>
            <a:r>
              <a:rPr lang="en-US" sz="1400" kern="1200" dirty="0">
                <a:solidFill>
                  <a:schemeClr val="tx1"/>
                </a:solidFill>
                <a:effectLst/>
                <a:latin typeface="+mn-lt"/>
                <a:ea typeface="ＭＳ Ｐゴシック" pitchFamily="-106" charset="-128"/>
                <a:cs typeface="ＭＳ Ｐゴシック" pitchFamily="-106" charset="-128"/>
              </a:rPr>
              <a:t> Jesus is the greater Mediator who brings not tablets of stone, but the Spirit of life (Hebrews 3:1–6; 2 Corinthians 3:6).</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Joshua – The Captain Who Brings Rest</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b="1" kern="1200" dirty="0">
                <a:solidFill>
                  <a:schemeClr val="tx1"/>
                </a:solidFill>
                <a:effectLst/>
                <a:latin typeface="+mn-lt"/>
                <a:ea typeface="ＭＳ Ｐゴシック" pitchFamily="-106" charset="-128"/>
                <a:cs typeface="ＭＳ Ｐゴシック" pitchFamily="-106" charset="-128"/>
              </a:rPr>
              <a:t>Type:</a:t>
            </a:r>
            <a:r>
              <a:rPr lang="en-US" sz="1400" kern="1200" dirty="0">
                <a:solidFill>
                  <a:schemeClr val="tx1"/>
                </a:solidFill>
                <a:effectLst/>
                <a:latin typeface="+mn-lt"/>
                <a:ea typeface="ＭＳ Ｐゴシック" pitchFamily="-106" charset="-128"/>
                <a:cs typeface="ＭＳ Ｐゴシック" pitchFamily="-106" charset="-128"/>
              </a:rPr>
              <a:t> Led God’s people into the promised land.</a:t>
            </a:r>
          </a:p>
          <a:p>
            <a:pPr rtl="0" fontAlgn="ctr"/>
            <a:r>
              <a:rPr lang="en-US" sz="1400" b="1" kern="1200" dirty="0">
                <a:solidFill>
                  <a:schemeClr val="tx1"/>
                </a:solidFill>
                <a:effectLst/>
                <a:latin typeface="+mn-lt"/>
                <a:ea typeface="ＭＳ Ｐゴシック" pitchFamily="-106" charset="-128"/>
                <a:cs typeface="ＭＳ Ｐゴシック" pitchFamily="-106" charset="-128"/>
              </a:rPr>
              <a:t>Shadow:</a:t>
            </a:r>
            <a:r>
              <a:rPr lang="en-US" sz="1400" kern="1200" dirty="0">
                <a:solidFill>
                  <a:schemeClr val="tx1"/>
                </a:solidFill>
                <a:effectLst/>
                <a:latin typeface="+mn-lt"/>
                <a:ea typeface="ＭＳ Ｐゴシック" pitchFamily="-106" charset="-128"/>
                <a:cs typeface="ＭＳ Ｐゴシック" pitchFamily="-106" charset="-128"/>
              </a:rPr>
              <a:t> His name (Yehoshua) is the same as Jesus in Hebrew.</a:t>
            </a:r>
          </a:p>
          <a:p>
            <a:pPr rtl="0" fontAlgn="ctr"/>
            <a:r>
              <a:rPr lang="en-US" sz="1400" b="1" kern="1200" dirty="0">
                <a:solidFill>
                  <a:schemeClr val="tx1"/>
                </a:solidFill>
                <a:effectLst/>
                <a:latin typeface="+mn-lt"/>
                <a:ea typeface="ＭＳ Ｐゴシック" pitchFamily="-106" charset="-128"/>
                <a:cs typeface="ＭＳ Ｐゴシック" pitchFamily="-106" charset="-128"/>
              </a:rPr>
              <a:t>Fulfillment:</a:t>
            </a:r>
            <a:r>
              <a:rPr lang="en-US" sz="1400" kern="1200" dirty="0">
                <a:solidFill>
                  <a:schemeClr val="tx1"/>
                </a:solidFill>
                <a:effectLst/>
                <a:latin typeface="+mn-lt"/>
                <a:ea typeface="ＭＳ Ｐゴシック" pitchFamily="-106" charset="-128"/>
                <a:cs typeface="ＭＳ Ｐゴシック" pitchFamily="-106" charset="-128"/>
              </a:rPr>
              <a:t> Jesus brings His people into the true rest; salvation and eternal life (Hebrews 4:8–10).</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David – The Anointed King</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b="1" kern="1200" dirty="0">
                <a:solidFill>
                  <a:schemeClr val="tx1"/>
                </a:solidFill>
                <a:effectLst/>
                <a:latin typeface="+mn-lt"/>
                <a:ea typeface="ＭＳ Ｐゴシック" pitchFamily="-106" charset="-128"/>
                <a:cs typeface="ＭＳ Ｐゴシック" pitchFamily="-106" charset="-128"/>
              </a:rPr>
              <a:t>Type:</a:t>
            </a:r>
            <a:r>
              <a:rPr lang="en-US" sz="1400" kern="1200" dirty="0">
                <a:solidFill>
                  <a:schemeClr val="tx1"/>
                </a:solidFill>
                <a:effectLst/>
                <a:latin typeface="+mn-lt"/>
                <a:ea typeface="ＭＳ Ｐゴシック" pitchFamily="-106" charset="-128"/>
                <a:cs typeface="ＭＳ Ｐゴシック" pitchFamily="-106" charset="-128"/>
              </a:rPr>
              <a:t> The shepherd-king chosen by God, a man after His own heart.</a:t>
            </a:r>
          </a:p>
          <a:p>
            <a:pPr rtl="0" fontAlgn="ctr"/>
            <a:r>
              <a:rPr lang="en-US" sz="1400" b="1" kern="1200" dirty="0">
                <a:solidFill>
                  <a:schemeClr val="tx1"/>
                </a:solidFill>
                <a:effectLst/>
                <a:latin typeface="+mn-lt"/>
                <a:ea typeface="ＭＳ Ｐゴシック" pitchFamily="-106" charset="-128"/>
                <a:cs typeface="ＭＳ Ｐゴシック" pitchFamily="-106" charset="-128"/>
              </a:rPr>
              <a:t>Shadow:</a:t>
            </a:r>
            <a:r>
              <a:rPr lang="en-US" sz="1400" kern="1200" dirty="0">
                <a:solidFill>
                  <a:schemeClr val="tx1"/>
                </a:solidFill>
                <a:effectLst/>
                <a:latin typeface="+mn-lt"/>
                <a:ea typeface="ＭＳ Ｐゴシック" pitchFamily="-106" charset="-128"/>
                <a:cs typeface="ＭＳ Ｐゴシック" pitchFamily="-106" charset="-128"/>
              </a:rPr>
              <a:t> His rule, his suffering, and his songs foreshadowed the reign of the Messiah.</a:t>
            </a:r>
          </a:p>
          <a:p>
            <a:pPr rtl="0" fontAlgn="ctr"/>
            <a:r>
              <a:rPr lang="en-US" sz="1400" b="1" kern="1200" dirty="0">
                <a:solidFill>
                  <a:schemeClr val="tx1"/>
                </a:solidFill>
                <a:effectLst/>
                <a:latin typeface="+mn-lt"/>
                <a:ea typeface="ＭＳ Ｐゴシック" pitchFamily="-106" charset="-128"/>
                <a:cs typeface="ＭＳ Ｐゴシック" pitchFamily="-106" charset="-128"/>
              </a:rPr>
              <a:t>Fulfillment:</a:t>
            </a:r>
            <a:r>
              <a:rPr lang="en-US" sz="1400" kern="1200" dirty="0">
                <a:solidFill>
                  <a:schemeClr val="tx1"/>
                </a:solidFill>
                <a:effectLst/>
                <a:latin typeface="+mn-lt"/>
                <a:ea typeface="ＭＳ Ｐゴシック" pitchFamily="-106" charset="-128"/>
                <a:cs typeface="ＭＳ Ｐゴシック" pitchFamily="-106" charset="-128"/>
              </a:rPr>
              <a:t> Jesus is the Son of David whose kingdom has no end (Luke 1:32–33).</a:t>
            </a:r>
          </a:p>
          <a:p>
            <a:pPr marL="324"/>
            <a:endParaRPr lang="en-US" sz="1400" dirty="0"/>
          </a:p>
        </p:txBody>
      </p:sp>
      <p:sp>
        <p:nvSpPr>
          <p:cNvPr id="4" name="Slide Number Placeholder 3">
            <a:extLst>
              <a:ext uri="{FF2B5EF4-FFF2-40B4-BE49-F238E27FC236}">
                <a16:creationId xmlns:a16="http://schemas.microsoft.com/office/drawing/2014/main" id="{335C10D4-065F-39BF-A1B4-230D33F18014}"/>
              </a:ext>
            </a:extLst>
          </p:cNvPr>
          <p:cNvSpPr>
            <a:spLocks noGrp="1"/>
          </p:cNvSpPr>
          <p:nvPr>
            <p:ph type="sldNum" sz="quarter" idx="10"/>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822421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27B94-D509-0FB4-5ACE-3F09ACB24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266B3A-6872-1611-B6FD-FE267B21A1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1BF1ED-BE9D-1F2E-B348-08CA8B59100B}"/>
              </a:ext>
            </a:extLst>
          </p:cNvPr>
          <p:cNvSpPr>
            <a:spLocks noGrp="1"/>
          </p:cNvSpPr>
          <p:nvPr>
            <p:ph type="body" idx="1"/>
          </p:nvPr>
        </p:nvSpPr>
        <p:spPr/>
        <p:txBody>
          <a:bodyPr>
            <a:normAutofit fontScale="32500" lnSpcReduction="20000"/>
          </a:bodyPr>
          <a:lstStyle/>
          <a:p>
            <a:r>
              <a:rPr lang="en-US" sz="1400" b="1" kern="1200" dirty="0">
                <a:solidFill>
                  <a:schemeClr val="tx1"/>
                </a:solidFill>
                <a:effectLst/>
                <a:latin typeface="+mn-lt"/>
                <a:ea typeface="ＭＳ Ｐゴシック" pitchFamily="-106" charset="-128"/>
                <a:cs typeface="ＭＳ Ｐゴシック" pitchFamily="-106" charset="-128"/>
              </a:rPr>
              <a:t>1. The Law Was a Shadow, Not the Substance</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b="1" kern="1200" dirty="0">
                <a:solidFill>
                  <a:schemeClr val="tx1"/>
                </a:solidFill>
                <a:effectLst/>
                <a:latin typeface="+mn-lt"/>
                <a:ea typeface="ＭＳ Ｐゴシック" pitchFamily="-106" charset="-128"/>
                <a:cs typeface="ＭＳ Ｐゴシック" pitchFamily="-106" charset="-128"/>
              </a:rPr>
              <a:t>Key idea:</a:t>
            </a:r>
            <a:r>
              <a:rPr lang="en-US" sz="1400" kern="1200" dirty="0">
                <a:solidFill>
                  <a:schemeClr val="tx1"/>
                </a:solidFill>
                <a:effectLst/>
                <a:latin typeface="+mn-lt"/>
                <a:ea typeface="ＭＳ Ｐゴシック" pitchFamily="-106" charset="-128"/>
                <a:cs typeface="ＭＳ Ｐゴシック" pitchFamily="-106" charset="-128"/>
              </a:rPr>
              <a:t> The Law was never the final reality; it pointed forward to Christ.</a:t>
            </a:r>
          </a:p>
          <a:p>
            <a:pPr rtl="0" fontAlgn="ctr"/>
            <a:r>
              <a:rPr lang="en-US" sz="1400" b="1" kern="1200" dirty="0">
                <a:solidFill>
                  <a:schemeClr val="tx1"/>
                </a:solidFill>
                <a:effectLst/>
                <a:latin typeface="+mn-lt"/>
                <a:ea typeface="ＭＳ Ｐゴシック" pitchFamily="-106" charset="-128"/>
                <a:cs typeface="ＭＳ Ｐゴシック" pitchFamily="-106" charset="-128"/>
              </a:rPr>
              <a:t>Text: </a:t>
            </a:r>
            <a:r>
              <a:rPr lang="en-US" sz="1400" i="1" kern="1200" dirty="0">
                <a:solidFill>
                  <a:schemeClr val="tx1"/>
                </a:solidFill>
                <a:effectLst/>
                <a:latin typeface="+mn-lt"/>
                <a:ea typeface="ＭＳ Ｐゴシック" pitchFamily="-106" charset="-128"/>
                <a:cs typeface="ＭＳ Ｐゴシック" pitchFamily="-106" charset="-128"/>
              </a:rPr>
              <a:t>“The law is only a shadow of the good things to come, not the reality itself.”</a:t>
            </a:r>
            <a:r>
              <a:rPr lang="en-US" sz="1400" kern="1200" dirty="0">
                <a:solidFill>
                  <a:schemeClr val="tx1"/>
                </a:solidFill>
                <a:effectLst/>
                <a:latin typeface="+mn-lt"/>
                <a:ea typeface="ＭＳ Ｐゴシック" pitchFamily="-106" charset="-128"/>
                <a:cs typeface="ＭＳ Ｐゴシック" pitchFamily="-106" charset="-128"/>
              </a:rPr>
              <a:t> (Hebrews 10:1 NET)</a:t>
            </a:r>
          </a:p>
          <a:p>
            <a:pPr rtl="0" fontAlgn="ctr"/>
            <a:r>
              <a:rPr lang="en-US" sz="1400" kern="1200" dirty="0">
                <a:solidFill>
                  <a:schemeClr val="tx1"/>
                </a:solidFill>
                <a:effectLst/>
                <a:latin typeface="+mn-lt"/>
                <a:ea typeface="ＭＳ Ｐゴシック" pitchFamily="-106" charset="-128"/>
                <a:cs typeface="ＭＳ Ｐゴシック" pitchFamily="-106" charset="-128"/>
              </a:rPr>
              <a:t>The rituals, sacrifices, and priesthood were symbols; earthly representations of heavenly truths.</a:t>
            </a:r>
          </a:p>
          <a:p>
            <a:pPr rtl="0" fontAlgn="ctr"/>
            <a:r>
              <a:rPr lang="en-US" sz="1400" kern="1200" dirty="0">
                <a:solidFill>
                  <a:schemeClr val="tx1"/>
                </a:solidFill>
                <a:effectLst/>
                <a:latin typeface="+mn-lt"/>
                <a:ea typeface="ＭＳ Ｐゴシック" pitchFamily="-106" charset="-128"/>
                <a:cs typeface="ＭＳ Ｐゴシック" pitchFamily="-106" charset="-128"/>
              </a:rPr>
              <a:t>These shadows helped Israel understand sin, holiness, and the need for atonement, but they could not make anyone perfect.</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2. The Law Revealed the Need for a Better Priesthood</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The Levitical priesthood was central under the Law, but it was weak and temporary.</a:t>
            </a:r>
          </a:p>
          <a:p>
            <a:pPr rtl="0" fontAlgn="ctr"/>
            <a:r>
              <a:rPr lang="en-US" sz="1400" b="1" kern="1200" dirty="0">
                <a:solidFill>
                  <a:schemeClr val="tx1"/>
                </a:solidFill>
                <a:effectLst/>
                <a:latin typeface="+mn-lt"/>
                <a:ea typeface="ＭＳ Ｐゴシック" pitchFamily="-106" charset="-128"/>
                <a:cs typeface="ＭＳ Ｐゴシック" pitchFamily="-106" charset="-128"/>
              </a:rPr>
              <a:t>Proof-point:</a:t>
            </a:r>
            <a:endParaRPr lang="en-US" sz="1400" kern="1200" dirty="0">
              <a:solidFill>
                <a:schemeClr val="tx1"/>
              </a:solidFill>
              <a:effectLst/>
              <a:latin typeface="+mn-lt"/>
              <a:ea typeface="ＭＳ Ｐゴシック" pitchFamily="-106" charset="-128"/>
              <a:cs typeface="ＭＳ Ｐゴシック" pitchFamily="-106" charset="-128"/>
            </a:endParaRPr>
          </a:p>
          <a:p>
            <a:pPr lvl="1" rtl="0" fontAlgn="ctr"/>
            <a:r>
              <a:rPr lang="en-US" sz="1400" i="1" kern="1200" dirty="0">
                <a:solidFill>
                  <a:schemeClr val="tx1"/>
                </a:solidFill>
                <a:effectLst/>
                <a:latin typeface="+mn-lt"/>
                <a:ea typeface="ＭＳ Ｐゴシック" pitchFamily="-106" charset="-128"/>
                <a:cs typeface="+mn-cs"/>
              </a:rPr>
              <a:t>“If perfection could have been attained through the Levitical priesthood… why was there still need for another priest to come?”</a:t>
            </a:r>
            <a:r>
              <a:rPr lang="en-US" sz="1400" kern="1200" dirty="0">
                <a:solidFill>
                  <a:schemeClr val="tx1"/>
                </a:solidFill>
                <a:effectLst/>
                <a:latin typeface="+mn-lt"/>
                <a:ea typeface="ＭＳ Ｐゴシック" pitchFamily="-106" charset="-128"/>
                <a:cs typeface="+mn-cs"/>
              </a:rPr>
              <a:t> (Hebrews 7:11)</a:t>
            </a:r>
          </a:p>
          <a:p>
            <a:pPr rtl="0" fontAlgn="ctr"/>
            <a:r>
              <a:rPr lang="en-US" sz="1400" kern="1200" dirty="0">
                <a:solidFill>
                  <a:schemeClr val="tx1"/>
                </a:solidFill>
                <a:effectLst/>
                <a:latin typeface="+mn-lt"/>
                <a:ea typeface="ＭＳ Ｐゴシック" pitchFamily="-106" charset="-128"/>
                <a:cs typeface="ＭＳ Ｐゴシック" pitchFamily="-106" charset="-128"/>
              </a:rPr>
              <a:t>The Law appointed mortal priests who had to offer sacrifices repeatedly for their own sins and for others.</a:t>
            </a:r>
          </a:p>
          <a:p>
            <a:pPr rtl="0" fontAlgn="ctr"/>
            <a:r>
              <a:rPr lang="en-US" sz="1400" kern="1200" dirty="0">
                <a:solidFill>
                  <a:schemeClr val="tx1"/>
                </a:solidFill>
                <a:effectLst/>
                <a:latin typeface="+mn-lt"/>
                <a:ea typeface="ＭＳ Ｐゴシック" pitchFamily="-106" charset="-128"/>
                <a:cs typeface="ＭＳ Ｐゴシック" pitchFamily="-106" charset="-128"/>
              </a:rPr>
              <a:t>Jesus, from the order of </a:t>
            </a:r>
            <a:r>
              <a:rPr lang="en-US" sz="1400" b="1" kern="1200" dirty="0">
                <a:solidFill>
                  <a:schemeClr val="tx1"/>
                </a:solidFill>
                <a:effectLst/>
                <a:latin typeface="+mn-lt"/>
                <a:ea typeface="ＭＳ Ｐゴシック" pitchFamily="-106" charset="-128"/>
                <a:cs typeface="ＭＳ Ｐゴシック" pitchFamily="-106" charset="-128"/>
              </a:rPr>
              <a:t>Melchizedek</a:t>
            </a:r>
            <a:r>
              <a:rPr lang="en-US" sz="1400" kern="1200" dirty="0">
                <a:solidFill>
                  <a:schemeClr val="tx1"/>
                </a:solidFill>
                <a:effectLst/>
                <a:latin typeface="+mn-lt"/>
                <a:ea typeface="ＭＳ Ｐゴシック" pitchFamily="-106" charset="-128"/>
                <a:cs typeface="ＭＳ Ｐゴシック" pitchFamily="-106" charset="-128"/>
              </a:rPr>
              <a:t>, is the eternal High Priest; holy, sinless, and permanent (Hebrews 7:23–28).</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3. The Law’s Covenant Was Temporary and Fading</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The first covenant was good for its purpose but not permanent.</a:t>
            </a:r>
          </a:p>
          <a:p>
            <a:pPr rtl="0" fontAlgn="ctr"/>
            <a:r>
              <a:rPr lang="en-US" sz="1400" b="1" kern="1200" dirty="0">
                <a:solidFill>
                  <a:schemeClr val="tx1"/>
                </a:solidFill>
                <a:effectLst/>
                <a:latin typeface="+mn-lt"/>
                <a:ea typeface="ＭＳ Ｐゴシック" pitchFamily="-106" charset="-128"/>
                <a:cs typeface="ＭＳ Ｐゴシック" pitchFamily="-106" charset="-128"/>
              </a:rPr>
              <a:t>Proof-point:</a:t>
            </a:r>
            <a:endParaRPr lang="en-US" sz="1400" kern="1200" dirty="0">
              <a:solidFill>
                <a:schemeClr val="tx1"/>
              </a:solidFill>
              <a:effectLst/>
              <a:latin typeface="+mn-lt"/>
              <a:ea typeface="ＭＳ Ｐゴシック" pitchFamily="-106" charset="-128"/>
              <a:cs typeface="ＭＳ Ｐゴシック" pitchFamily="-106" charset="-128"/>
            </a:endParaRPr>
          </a:p>
          <a:p>
            <a:pPr lvl="1" rtl="0" fontAlgn="ctr"/>
            <a:r>
              <a:rPr lang="en-US" sz="1400" i="1" kern="1200" dirty="0">
                <a:solidFill>
                  <a:schemeClr val="tx1"/>
                </a:solidFill>
                <a:effectLst/>
                <a:latin typeface="+mn-lt"/>
                <a:ea typeface="ＭＳ Ｐゴシック" pitchFamily="-106" charset="-128"/>
                <a:cs typeface="+mn-cs"/>
              </a:rPr>
              <a:t>“If that first covenant had been faultless, no place would have been sought for a second.”</a:t>
            </a:r>
            <a:r>
              <a:rPr lang="en-US" sz="1400" kern="1200" dirty="0">
                <a:solidFill>
                  <a:schemeClr val="tx1"/>
                </a:solidFill>
                <a:effectLst/>
                <a:latin typeface="+mn-lt"/>
                <a:ea typeface="ＭＳ Ｐゴシック" pitchFamily="-106" charset="-128"/>
                <a:cs typeface="+mn-cs"/>
              </a:rPr>
              <a:t> (Hebrews 8:7)</a:t>
            </a:r>
          </a:p>
          <a:p>
            <a:pPr rtl="0" fontAlgn="ctr"/>
            <a:r>
              <a:rPr lang="en-US" sz="1400" kern="1200" dirty="0">
                <a:solidFill>
                  <a:schemeClr val="tx1"/>
                </a:solidFill>
                <a:effectLst/>
                <a:latin typeface="+mn-lt"/>
                <a:ea typeface="ＭＳ Ｐゴシック" pitchFamily="-106" charset="-128"/>
                <a:cs typeface="ＭＳ Ｐゴシック" pitchFamily="-106" charset="-128"/>
              </a:rPr>
              <a:t>The Law could not change hearts.</a:t>
            </a:r>
          </a:p>
          <a:p>
            <a:pPr rtl="0" fontAlgn="ctr"/>
            <a:r>
              <a:rPr lang="en-US" sz="1400" kern="1200" dirty="0">
                <a:solidFill>
                  <a:schemeClr val="tx1"/>
                </a:solidFill>
                <a:effectLst/>
                <a:latin typeface="+mn-lt"/>
                <a:ea typeface="ＭＳ Ｐゴシック" pitchFamily="-106" charset="-128"/>
                <a:cs typeface="ＭＳ Ｐゴシック" pitchFamily="-106" charset="-128"/>
              </a:rPr>
              <a:t>The New Covenant replaces it with an internal work of the Spirit; laws written on the heart (Hebrews 8:10, quoting Jeremiah 31:33).</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4. The Law’s Sacrifices Could Not Remove Sin</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Animal sacrifices were continual reminders of guilt, not real cleansing.</a:t>
            </a:r>
          </a:p>
          <a:p>
            <a:pPr rtl="0" fontAlgn="ctr"/>
            <a:r>
              <a:rPr lang="en-US" sz="1400" b="1" kern="1200" dirty="0">
                <a:solidFill>
                  <a:schemeClr val="tx1"/>
                </a:solidFill>
                <a:effectLst/>
                <a:latin typeface="+mn-lt"/>
                <a:ea typeface="ＭＳ Ｐゴシック" pitchFamily="-106" charset="-128"/>
                <a:cs typeface="ＭＳ Ｐゴシック" pitchFamily="-106" charset="-128"/>
              </a:rPr>
              <a:t>Proof-points:</a:t>
            </a:r>
            <a:endParaRPr lang="en-US" sz="1400" kern="1200" dirty="0">
              <a:solidFill>
                <a:schemeClr val="tx1"/>
              </a:solidFill>
              <a:effectLst/>
              <a:latin typeface="+mn-lt"/>
              <a:ea typeface="ＭＳ Ｐゴシック" pitchFamily="-106" charset="-128"/>
              <a:cs typeface="ＭＳ Ｐゴシック" pitchFamily="-106" charset="-128"/>
            </a:endParaRPr>
          </a:p>
          <a:p>
            <a:pPr lvl="1" rtl="0" fontAlgn="ctr"/>
            <a:r>
              <a:rPr lang="en-US" sz="1400" i="1" kern="1200" dirty="0">
                <a:solidFill>
                  <a:schemeClr val="tx1"/>
                </a:solidFill>
                <a:effectLst/>
                <a:latin typeface="+mn-lt"/>
                <a:ea typeface="ＭＳ Ｐゴシック" pitchFamily="-106" charset="-128"/>
                <a:cs typeface="+mn-cs"/>
              </a:rPr>
              <a:t>“It is impossible for the blood of bulls and goats to take away sins.”</a:t>
            </a:r>
            <a:r>
              <a:rPr lang="en-US" sz="1400" kern="1200" dirty="0">
                <a:solidFill>
                  <a:schemeClr val="tx1"/>
                </a:solidFill>
                <a:effectLst/>
                <a:latin typeface="+mn-lt"/>
                <a:ea typeface="ＭＳ Ｐゴシック" pitchFamily="-106" charset="-128"/>
                <a:cs typeface="+mn-cs"/>
              </a:rPr>
              <a:t> (Hebrews 10:4)</a:t>
            </a:r>
          </a:p>
          <a:p>
            <a:pPr lvl="1" rtl="0" fontAlgn="ctr"/>
            <a:r>
              <a:rPr lang="en-US" sz="1400" i="1" kern="1200" dirty="0">
                <a:solidFill>
                  <a:schemeClr val="tx1"/>
                </a:solidFill>
                <a:effectLst/>
                <a:latin typeface="+mn-lt"/>
                <a:ea typeface="ＭＳ Ｐゴシック" pitchFamily="-106" charset="-128"/>
                <a:cs typeface="+mn-cs"/>
              </a:rPr>
              <a:t>“Every priest stands daily… offering the same sacrifices again and again; which can never take away sins.”</a:t>
            </a:r>
            <a:r>
              <a:rPr lang="en-US" sz="1400" kern="1200" dirty="0">
                <a:solidFill>
                  <a:schemeClr val="tx1"/>
                </a:solidFill>
                <a:effectLst/>
                <a:latin typeface="+mn-lt"/>
                <a:ea typeface="ＭＳ Ｐゴシック" pitchFamily="-106" charset="-128"/>
                <a:cs typeface="+mn-cs"/>
              </a:rPr>
              <a:t> (Hebrews 10:11)</a:t>
            </a:r>
          </a:p>
          <a:p>
            <a:pPr rtl="0" fontAlgn="ctr"/>
            <a:r>
              <a:rPr lang="en-US" sz="1400" kern="1200" dirty="0">
                <a:solidFill>
                  <a:schemeClr val="tx1"/>
                </a:solidFill>
                <a:effectLst/>
                <a:latin typeface="+mn-lt"/>
                <a:ea typeface="ＭＳ Ｐゴシック" pitchFamily="-106" charset="-128"/>
                <a:cs typeface="ＭＳ Ｐゴシック" pitchFamily="-106" charset="-128"/>
              </a:rPr>
              <a:t>These repeated rituals prepared the way for the one perfect sacrifice of Christ.</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5. The Law’s Tabernacle Foreshadowed the True Sanctuary</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The earthly tabernacle was patterned after the heavenly one.</a:t>
            </a:r>
          </a:p>
          <a:p>
            <a:pPr rtl="0" fontAlgn="ctr"/>
            <a:r>
              <a:rPr lang="en-US" sz="1400" b="1" kern="1200" dirty="0">
                <a:solidFill>
                  <a:schemeClr val="tx1"/>
                </a:solidFill>
                <a:effectLst/>
                <a:latin typeface="+mn-lt"/>
                <a:ea typeface="ＭＳ Ｐゴシック" pitchFamily="-106" charset="-128"/>
                <a:cs typeface="ＭＳ Ｐゴシック" pitchFamily="-106" charset="-128"/>
              </a:rPr>
              <a:t>Proof-point:</a:t>
            </a:r>
            <a:endParaRPr lang="en-US" sz="1400" kern="1200" dirty="0">
              <a:solidFill>
                <a:schemeClr val="tx1"/>
              </a:solidFill>
              <a:effectLst/>
              <a:latin typeface="+mn-lt"/>
              <a:ea typeface="ＭＳ Ｐゴシック" pitchFamily="-106" charset="-128"/>
              <a:cs typeface="ＭＳ Ｐゴシック" pitchFamily="-106" charset="-128"/>
            </a:endParaRPr>
          </a:p>
          <a:p>
            <a:pPr lvl="1" rtl="0" fontAlgn="ctr"/>
            <a:r>
              <a:rPr lang="en-US" sz="1400" i="1" kern="1200" dirty="0">
                <a:solidFill>
                  <a:schemeClr val="tx1"/>
                </a:solidFill>
                <a:effectLst/>
                <a:latin typeface="+mn-lt"/>
                <a:ea typeface="ＭＳ Ｐゴシック" pitchFamily="-106" charset="-128"/>
                <a:cs typeface="+mn-cs"/>
              </a:rPr>
              <a:t>“They serve a copy and shadow of the heavenly sanctuary.”</a:t>
            </a:r>
            <a:r>
              <a:rPr lang="en-US" sz="1400" kern="1200" dirty="0">
                <a:solidFill>
                  <a:schemeClr val="tx1"/>
                </a:solidFill>
                <a:effectLst/>
                <a:latin typeface="+mn-lt"/>
                <a:ea typeface="ＭＳ Ｐゴシック" pitchFamily="-106" charset="-128"/>
                <a:cs typeface="+mn-cs"/>
              </a:rPr>
              <a:t> (Hebrews 8:5)</a:t>
            </a:r>
          </a:p>
          <a:p>
            <a:pPr rtl="0" fontAlgn="ctr"/>
            <a:r>
              <a:rPr lang="en-US" sz="1400" kern="1200" dirty="0">
                <a:solidFill>
                  <a:schemeClr val="tx1"/>
                </a:solidFill>
                <a:effectLst/>
                <a:latin typeface="+mn-lt"/>
                <a:ea typeface="ＭＳ Ｐゴシック" pitchFamily="-106" charset="-128"/>
                <a:cs typeface="ＭＳ Ｐゴシック" pitchFamily="-106" charset="-128"/>
              </a:rPr>
              <a:t>The high priest entered the Most Holy Place once a year with animal blood; Christ entered the heavenly Holy Place once for all with His own blood (Hebrews 9:11–12, 24).</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6. The Law Prepared the Way for the Perfect Sacrifice</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Christ fulfills what the Law only symbolized: a perfect, willing, once-for-all offering.</a:t>
            </a:r>
          </a:p>
          <a:p>
            <a:pPr rtl="0" fontAlgn="ctr"/>
            <a:r>
              <a:rPr lang="en-US" sz="1400" b="1" kern="1200" dirty="0">
                <a:solidFill>
                  <a:schemeClr val="tx1"/>
                </a:solidFill>
                <a:effectLst/>
                <a:latin typeface="+mn-lt"/>
                <a:ea typeface="ＭＳ Ｐゴシック" pitchFamily="-106" charset="-128"/>
                <a:cs typeface="ＭＳ Ｐゴシック" pitchFamily="-106" charset="-128"/>
              </a:rPr>
              <a:t>Proof-points:</a:t>
            </a:r>
            <a:endParaRPr lang="en-US" sz="1400" kern="1200" dirty="0">
              <a:solidFill>
                <a:schemeClr val="tx1"/>
              </a:solidFill>
              <a:effectLst/>
              <a:latin typeface="+mn-lt"/>
              <a:ea typeface="ＭＳ Ｐゴシック" pitchFamily="-106" charset="-128"/>
              <a:cs typeface="ＭＳ Ｐゴシック" pitchFamily="-106" charset="-128"/>
            </a:endParaRPr>
          </a:p>
          <a:p>
            <a:pPr lvl="1" rtl="0" fontAlgn="ctr"/>
            <a:r>
              <a:rPr lang="en-US" sz="1400" i="1" kern="1200" dirty="0">
                <a:solidFill>
                  <a:schemeClr val="tx1"/>
                </a:solidFill>
                <a:effectLst/>
                <a:latin typeface="+mn-lt"/>
                <a:ea typeface="ＭＳ Ｐゴシック" pitchFamily="-106" charset="-128"/>
                <a:cs typeface="+mn-cs"/>
              </a:rPr>
              <a:t>“He has appeared once for all at the end of the ages to put away sin by the sacrifice of Himself.”</a:t>
            </a:r>
            <a:r>
              <a:rPr lang="en-US" sz="1400" kern="1200" dirty="0">
                <a:solidFill>
                  <a:schemeClr val="tx1"/>
                </a:solidFill>
                <a:effectLst/>
                <a:latin typeface="+mn-lt"/>
                <a:ea typeface="ＭＳ Ｐゴシック" pitchFamily="-106" charset="-128"/>
                <a:cs typeface="+mn-cs"/>
              </a:rPr>
              <a:t> (Hebrews 9:26)</a:t>
            </a:r>
          </a:p>
          <a:p>
            <a:pPr lvl="1" rtl="0" fontAlgn="ctr"/>
            <a:r>
              <a:rPr lang="en-US" sz="1400" i="1" kern="1200" dirty="0">
                <a:solidFill>
                  <a:schemeClr val="tx1"/>
                </a:solidFill>
                <a:effectLst/>
                <a:latin typeface="+mn-lt"/>
                <a:ea typeface="ＭＳ Ｐゴシック" pitchFamily="-106" charset="-128"/>
                <a:cs typeface="+mn-cs"/>
              </a:rPr>
              <a:t>“By one offering He has perfected for all time those who are made holy.”</a:t>
            </a:r>
            <a:r>
              <a:rPr lang="en-US" sz="1400" kern="1200" dirty="0">
                <a:solidFill>
                  <a:schemeClr val="tx1"/>
                </a:solidFill>
                <a:effectLst/>
                <a:latin typeface="+mn-lt"/>
                <a:ea typeface="ＭＳ Ｐゴシック" pitchFamily="-106" charset="-128"/>
                <a:cs typeface="+mn-cs"/>
              </a:rPr>
              <a:t> (Hebrews 10:14)</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7. The Law Pointed to a Better Covenant; Based on Better Promises</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The New Covenant rests not on human effort but on God’s mercy and grace.</a:t>
            </a:r>
          </a:p>
          <a:p>
            <a:pPr rtl="0" fontAlgn="ctr"/>
            <a:r>
              <a:rPr lang="en-US" sz="1400" b="1" kern="1200" dirty="0">
                <a:solidFill>
                  <a:schemeClr val="tx1"/>
                </a:solidFill>
                <a:effectLst/>
                <a:latin typeface="+mn-lt"/>
                <a:ea typeface="ＭＳ Ｐゴシック" pitchFamily="-106" charset="-128"/>
                <a:cs typeface="ＭＳ Ｐゴシック" pitchFamily="-106" charset="-128"/>
              </a:rPr>
              <a:t>Proof-point:</a:t>
            </a:r>
            <a:endParaRPr lang="en-US" sz="1400" kern="1200" dirty="0">
              <a:solidFill>
                <a:schemeClr val="tx1"/>
              </a:solidFill>
              <a:effectLst/>
              <a:latin typeface="+mn-lt"/>
              <a:ea typeface="ＭＳ Ｐゴシック" pitchFamily="-106" charset="-128"/>
              <a:cs typeface="ＭＳ Ｐゴシック" pitchFamily="-106" charset="-128"/>
            </a:endParaRPr>
          </a:p>
          <a:p>
            <a:pPr lvl="1" rtl="0" fontAlgn="ctr"/>
            <a:r>
              <a:rPr lang="en-US" sz="1400" i="1" kern="1200" dirty="0">
                <a:solidFill>
                  <a:schemeClr val="tx1"/>
                </a:solidFill>
                <a:effectLst/>
                <a:latin typeface="+mn-lt"/>
                <a:ea typeface="ＭＳ Ｐゴシック" pitchFamily="-106" charset="-128"/>
                <a:cs typeface="+mn-cs"/>
              </a:rPr>
              <a:t>“Jesus has obtained a superior ministry… since the covenant He mediates is also better and is enacted on better promises.”</a:t>
            </a:r>
            <a:r>
              <a:rPr lang="en-US" sz="1400" kern="1200" dirty="0">
                <a:solidFill>
                  <a:schemeClr val="tx1"/>
                </a:solidFill>
                <a:effectLst/>
                <a:latin typeface="+mn-lt"/>
                <a:ea typeface="ＭＳ Ｐゴシック" pitchFamily="-106" charset="-128"/>
                <a:cs typeface="+mn-cs"/>
              </a:rPr>
              <a:t> (Hebrews 8:6)</a:t>
            </a:r>
          </a:p>
          <a:p>
            <a:pPr rtl="0" fontAlgn="ctr"/>
            <a:r>
              <a:rPr lang="en-US" sz="1400" kern="1200" dirty="0">
                <a:solidFill>
                  <a:schemeClr val="tx1"/>
                </a:solidFill>
                <a:effectLst/>
                <a:latin typeface="+mn-lt"/>
                <a:ea typeface="ＭＳ Ｐゴシック" pitchFamily="-106" charset="-128"/>
                <a:cs typeface="ＭＳ Ｐゴシック" pitchFamily="-106" charset="-128"/>
              </a:rPr>
              <a:t>These promises include full forgiveness, new hearts, and direct access to God.</a:t>
            </a:r>
          </a:p>
          <a:p>
            <a:pPr marL="324"/>
            <a:endParaRPr lang="en-US" sz="1400" dirty="0"/>
          </a:p>
        </p:txBody>
      </p:sp>
      <p:sp>
        <p:nvSpPr>
          <p:cNvPr id="4" name="Slide Number Placeholder 3">
            <a:extLst>
              <a:ext uri="{FF2B5EF4-FFF2-40B4-BE49-F238E27FC236}">
                <a16:creationId xmlns:a16="http://schemas.microsoft.com/office/drawing/2014/main" id="{131C6BDE-2F05-65FC-6B53-78547B8E6E1D}"/>
              </a:ext>
            </a:extLst>
          </p:cNvPr>
          <p:cNvSpPr>
            <a:spLocks noGrp="1"/>
          </p:cNvSpPr>
          <p:nvPr>
            <p:ph type="sldNum" sz="quarter" idx="10"/>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18305385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4ED70-70E4-5A07-ACB6-2B156048D8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B773E6-ACCF-21CC-8DB3-68D0DF299D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549395-92B1-FF83-D95E-1D551AA5A202}"/>
              </a:ext>
            </a:extLst>
          </p:cNvPr>
          <p:cNvSpPr>
            <a:spLocks noGrp="1"/>
          </p:cNvSpPr>
          <p:nvPr>
            <p:ph type="body" idx="1"/>
          </p:nvPr>
        </p:nvSpPr>
        <p:spPr/>
        <p:txBody>
          <a:bodyPr>
            <a:normAutofit/>
          </a:bodyPr>
          <a:lstStyle/>
          <a:p>
            <a:pPr rtl="0"/>
            <a:r>
              <a:rPr lang="en-US" sz="1200" b="1" i="1" u="none" strike="noStrike" kern="1200" baseline="0" dirty="0">
                <a:solidFill>
                  <a:schemeClr val="tx1"/>
                </a:solidFill>
                <a:latin typeface="+mn-lt"/>
                <a:ea typeface="ＭＳ Ｐゴシック" pitchFamily="-106" charset="-128"/>
                <a:cs typeface="ＭＳ Ｐゴシック" pitchFamily="-106" charset="-128"/>
              </a:rPr>
              <a:t>“Do not think that I have come to abolish the law or the prophets. I have not come to abolish these things but to fulfill them.</a:t>
            </a:r>
          </a:p>
          <a:p>
            <a:pPr rtl="0"/>
            <a:r>
              <a:rPr lang="en-US" sz="1200" b="0" i="0" u="none" strike="noStrike" kern="1200" baseline="0" dirty="0">
                <a:solidFill>
                  <a:schemeClr val="tx1"/>
                </a:solidFill>
                <a:latin typeface="+mn-lt"/>
                <a:ea typeface="ＭＳ Ｐゴシック" pitchFamily="-106" charset="-128"/>
                <a:cs typeface="ＭＳ Ｐゴシック" pitchFamily="-106" charset="-128"/>
              </a:rPr>
              <a:t>(</a:t>
            </a:r>
            <a:r>
              <a:rPr lang="en-US" sz="1200" b="1" i="0" u="none" strike="noStrike" kern="1200" baseline="0" dirty="0">
                <a:solidFill>
                  <a:schemeClr val="tx1"/>
                </a:solidFill>
                <a:latin typeface="+mn-lt"/>
                <a:ea typeface="ＭＳ Ｐゴシック" pitchFamily="-106" charset="-128"/>
                <a:cs typeface="ＭＳ Ｐゴシック" pitchFamily="-106" charset="-128"/>
              </a:rPr>
              <a:t>Mat 5:17</a:t>
            </a:r>
            <a:r>
              <a:rPr lang="en-US" sz="1200" b="0" i="0" u="none" strike="noStrike" kern="1200" baseline="0" dirty="0">
                <a:solidFill>
                  <a:schemeClr val="tx1"/>
                </a:solidFill>
                <a:latin typeface="+mn-lt"/>
                <a:ea typeface="ＭＳ Ｐゴシック" pitchFamily="-106" charset="-128"/>
                <a:cs typeface="ＭＳ Ｐゴシック" pitchFamily="-106" charset="-128"/>
              </a:rPr>
              <a:t>)</a:t>
            </a:r>
          </a:p>
          <a:p>
            <a:pPr marL="324"/>
            <a:endParaRPr lang="en-US" sz="1400" dirty="0"/>
          </a:p>
        </p:txBody>
      </p:sp>
      <p:sp>
        <p:nvSpPr>
          <p:cNvPr id="4" name="Slide Number Placeholder 3">
            <a:extLst>
              <a:ext uri="{FF2B5EF4-FFF2-40B4-BE49-F238E27FC236}">
                <a16:creationId xmlns:a16="http://schemas.microsoft.com/office/drawing/2014/main" id="{DA95108B-A29F-E846-86E4-6E880633E6E1}"/>
              </a:ext>
            </a:extLst>
          </p:cNvPr>
          <p:cNvSpPr>
            <a:spLocks noGrp="1"/>
          </p:cNvSpPr>
          <p:nvPr>
            <p:ph type="sldNum" sz="quarter" idx="10"/>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19773869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924DC-7E79-F956-7E7A-9A91CF8102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290594-776B-4B1C-CB5D-578AEE388C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81AF37-CC7E-26F1-1A98-CB676DE120E2}"/>
              </a:ext>
            </a:extLst>
          </p:cNvPr>
          <p:cNvSpPr>
            <a:spLocks noGrp="1"/>
          </p:cNvSpPr>
          <p:nvPr>
            <p:ph type="body" idx="1"/>
          </p:nvPr>
        </p:nvSpPr>
        <p:spPr/>
        <p:txBody>
          <a:bodyPr>
            <a:normAutofit fontScale="85000" lnSpcReduction="20000"/>
          </a:bodyPr>
          <a:lstStyle/>
          <a:p>
            <a:r>
              <a:rPr lang="en-US" sz="1400" b="1" kern="1200" dirty="0">
                <a:solidFill>
                  <a:schemeClr val="tx1"/>
                </a:solidFill>
                <a:effectLst/>
                <a:latin typeface="+mn-lt"/>
                <a:ea typeface="ＭＳ Ｐゴシック" pitchFamily="-106" charset="-128"/>
                <a:cs typeface="ＭＳ Ｐゴシック" pitchFamily="-106" charset="-128"/>
              </a:rPr>
              <a:t>Forgiveness of Sins</a:t>
            </a:r>
          </a:p>
          <a:p>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Old Covenant Anticipation</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Israel’s sacrifices brought ritual cleansing but not true forgiveness.</a:t>
            </a:r>
          </a:p>
          <a:p>
            <a:pPr rtl="0" fontAlgn="ctr"/>
            <a:r>
              <a:rPr lang="en-US" sz="1400" kern="1200" dirty="0">
                <a:solidFill>
                  <a:schemeClr val="tx1"/>
                </a:solidFill>
                <a:effectLst/>
                <a:latin typeface="+mn-lt"/>
                <a:ea typeface="ＭＳ Ｐゴシック" pitchFamily="-106" charset="-128"/>
                <a:cs typeface="ＭＳ Ｐゴシック" pitchFamily="-106" charset="-128"/>
              </a:rPr>
              <a:t>God promised a future time when sins would be completely forgiven and remembered no more.</a:t>
            </a:r>
          </a:p>
          <a:p>
            <a:r>
              <a:rPr lang="en-US" sz="1400" i="1" kern="1200" dirty="0">
                <a:solidFill>
                  <a:schemeClr val="tx1"/>
                </a:solidFill>
                <a:effectLst/>
                <a:latin typeface="+mn-lt"/>
                <a:ea typeface="ＭＳ Ｐゴシック" pitchFamily="-106" charset="-128"/>
                <a:cs typeface="ＭＳ Ｐゴシック" pitchFamily="-106" charset="-128"/>
              </a:rPr>
              <a:t>“I will forgive their iniquity and their sin I will no longer call to mind.”</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kern="1200" dirty="0">
                <a:solidFill>
                  <a:schemeClr val="tx1"/>
                </a:solidFill>
                <a:effectLst/>
                <a:latin typeface="+mn-lt"/>
                <a:ea typeface="ＭＳ Ｐゴシック" pitchFamily="-106" charset="-128"/>
                <a:cs typeface="ＭＳ Ｐゴシック" pitchFamily="-106" charset="-128"/>
              </a:rPr>
              <a:t>Jeremiah 31:34 (NET)</a:t>
            </a:r>
            <a:endParaRPr lang="en-US" sz="1400" kern="1200" dirty="0">
              <a:solidFill>
                <a:schemeClr val="tx1"/>
              </a:solidFill>
              <a:effectLst/>
              <a:latin typeface="+mn-lt"/>
              <a:ea typeface="ＭＳ Ｐゴシック" pitchFamily="-106" charset="-128"/>
              <a:cs typeface="ＭＳ Ｐゴシック" pitchFamily="-106" charset="-128"/>
            </a:endParaRPr>
          </a:p>
          <a:p>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New Covenant Fulfillment</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Jesus declared that His blood was the means of this forgiveness.</a:t>
            </a:r>
          </a:p>
          <a:p>
            <a:r>
              <a:rPr lang="en-US" sz="1400" i="1" kern="1200" dirty="0">
                <a:solidFill>
                  <a:schemeClr val="tx1"/>
                </a:solidFill>
                <a:effectLst/>
                <a:latin typeface="+mn-lt"/>
                <a:ea typeface="ＭＳ Ｐゴシック" pitchFamily="-106" charset="-128"/>
                <a:cs typeface="ＭＳ Ｐゴシック" pitchFamily="-106" charset="-128"/>
              </a:rPr>
              <a:t>“This cup that is poured out for you is the new covenant in my blood.”</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kern="1200" dirty="0">
                <a:solidFill>
                  <a:schemeClr val="tx1"/>
                </a:solidFill>
                <a:effectLst/>
                <a:latin typeface="+mn-lt"/>
                <a:ea typeface="ＭＳ Ｐゴシック" pitchFamily="-106" charset="-128"/>
                <a:cs typeface="ＭＳ Ｐゴシック" pitchFamily="-106" charset="-128"/>
              </a:rPr>
              <a:t>Luke 22:20</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His sacrifice once for all fulfilled what the old offerings only pictured.</a:t>
            </a:r>
          </a:p>
          <a:p>
            <a:r>
              <a:rPr lang="en-US" sz="1400" i="1" kern="1200" dirty="0">
                <a:solidFill>
                  <a:schemeClr val="tx1"/>
                </a:solidFill>
                <a:effectLst/>
                <a:latin typeface="+mn-lt"/>
                <a:ea typeface="ＭＳ Ｐゴシック" pitchFamily="-106" charset="-128"/>
                <a:cs typeface="ＭＳ Ｐゴシック" pitchFamily="-106" charset="-128"/>
              </a:rPr>
              <a:t>“Without the shedding of blood there is no forgiveness.”</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kern="1200" dirty="0">
                <a:solidFill>
                  <a:schemeClr val="tx1"/>
                </a:solidFill>
                <a:effectLst/>
                <a:latin typeface="+mn-lt"/>
                <a:ea typeface="ＭＳ Ｐゴシック" pitchFamily="-106" charset="-128"/>
                <a:cs typeface="ＭＳ Ｐゴシック" pitchFamily="-106" charset="-128"/>
              </a:rPr>
              <a:t>Hebrews 9:22</a:t>
            </a:r>
            <a:endParaRPr lang="en-US" sz="1400" kern="1200" dirty="0">
              <a:solidFill>
                <a:schemeClr val="tx1"/>
              </a:solidFill>
              <a:effectLst/>
              <a:latin typeface="+mn-lt"/>
              <a:ea typeface="ＭＳ Ｐゴシック" pitchFamily="-106" charset="-128"/>
              <a:cs typeface="ＭＳ Ｐゴシック" pitchFamily="-106" charset="-128"/>
            </a:endParaRPr>
          </a:p>
          <a:p>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Jesus’ Teaching</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He linked forgiveness directly to His person and mission:</a:t>
            </a:r>
          </a:p>
          <a:p>
            <a:r>
              <a:rPr lang="en-US" sz="1400" i="1" kern="1200" dirty="0">
                <a:solidFill>
                  <a:schemeClr val="tx1"/>
                </a:solidFill>
                <a:effectLst/>
                <a:latin typeface="+mn-lt"/>
                <a:ea typeface="ＭＳ Ｐゴシック" pitchFamily="-106" charset="-128"/>
                <a:cs typeface="ＭＳ Ｐゴシック" pitchFamily="-106" charset="-128"/>
              </a:rPr>
              <a:t>“The Son of Man has authority on earth to forgive sins.”</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kern="1200" dirty="0">
                <a:solidFill>
                  <a:schemeClr val="tx1"/>
                </a:solidFill>
                <a:effectLst/>
                <a:latin typeface="+mn-lt"/>
                <a:ea typeface="ＭＳ Ｐゴシック" pitchFamily="-106" charset="-128"/>
                <a:cs typeface="ＭＳ Ｐゴシック" pitchFamily="-106" charset="-128"/>
              </a:rPr>
              <a:t>Mark 2:10</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He taught His followers to extend that forgiveness to others as a mark of belonging to the kingdom (Matthew 6:14–15).</a:t>
            </a:r>
          </a:p>
          <a:p>
            <a:endParaRPr lang="en-US" dirty="0"/>
          </a:p>
        </p:txBody>
      </p:sp>
      <p:sp>
        <p:nvSpPr>
          <p:cNvPr id="4" name="Slide Number Placeholder 3">
            <a:extLst>
              <a:ext uri="{FF2B5EF4-FFF2-40B4-BE49-F238E27FC236}">
                <a16:creationId xmlns:a16="http://schemas.microsoft.com/office/drawing/2014/main" id="{2A2EFACF-5AF4-FBCF-C716-A7E106575171}"/>
              </a:ext>
            </a:extLst>
          </p:cNvPr>
          <p:cNvSpPr>
            <a:spLocks noGrp="1"/>
          </p:cNvSpPr>
          <p:nvPr>
            <p:ph type="sldNum" sz="quarter" idx="10"/>
          </p:nvPr>
        </p:nvSpPr>
        <p:spPr/>
        <p:txBody>
          <a:bodyPr/>
          <a:lstStyle/>
          <a:p>
            <a:pPr>
              <a:defRPr/>
            </a:pPr>
            <a:fld id="{07776858-791E-4C8D-8FA3-473B3AFECFAC}" type="slidenum">
              <a:rPr lang="en-US" smtClean="0"/>
              <a:pPr>
                <a:defRPr/>
              </a:pPr>
              <a:t>6</a:t>
            </a:fld>
            <a:endParaRPr lang="en-US" dirty="0"/>
          </a:p>
        </p:txBody>
      </p:sp>
    </p:spTree>
    <p:extLst>
      <p:ext uri="{BB962C8B-B14F-4D97-AF65-F5344CB8AC3E}">
        <p14:creationId xmlns:p14="http://schemas.microsoft.com/office/powerpoint/2010/main" val="28943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35426-8658-F5AD-1223-05D9303CC7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32220F-41F5-567D-2897-810118189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03664F-337E-8126-BBE8-27F720C460E2}"/>
              </a:ext>
            </a:extLst>
          </p:cNvPr>
          <p:cNvSpPr>
            <a:spLocks noGrp="1"/>
          </p:cNvSpPr>
          <p:nvPr>
            <p:ph type="body" idx="1"/>
          </p:nvPr>
        </p:nvSpPr>
        <p:spPr/>
        <p:txBody>
          <a:bodyPr>
            <a:normAutofit fontScale="85000" lnSpcReduction="10000"/>
          </a:bodyPr>
          <a:lstStyle/>
          <a:p>
            <a:r>
              <a:rPr lang="en-US" sz="1400" b="1" kern="1200" dirty="0">
                <a:solidFill>
                  <a:schemeClr val="tx1"/>
                </a:solidFill>
                <a:effectLst/>
                <a:latin typeface="+mn-lt"/>
                <a:ea typeface="ＭＳ Ｐゴシック" pitchFamily="-106" charset="-128"/>
                <a:cs typeface="ＭＳ Ｐゴシック" pitchFamily="-106" charset="-128"/>
              </a:rPr>
              <a:t>A New Heart and Spirit</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Old Covenant Anticipation</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The Law was written on stone, but hearts remained hard.</a:t>
            </a:r>
          </a:p>
          <a:p>
            <a:pPr rtl="0" fontAlgn="ctr"/>
            <a:r>
              <a:rPr lang="en-US" sz="1400" kern="1200" dirty="0">
                <a:solidFill>
                  <a:schemeClr val="tx1"/>
                </a:solidFill>
                <a:effectLst/>
                <a:latin typeface="+mn-lt"/>
                <a:ea typeface="ＭＳ Ｐゴシック" pitchFamily="-106" charset="-128"/>
                <a:cs typeface="ＭＳ Ｐゴシック" pitchFamily="-106" charset="-128"/>
              </a:rPr>
              <a:t>God promised to change that; to give His people new hearts and His Spirit.</a:t>
            </a:r>
          </a:p>
          <a:p>
            <a:r>
              <a:rPr lang="en-US" sz="1400" i="1" kern="1200" dirty="0">
                <a:solidFill>
                  <a:schemeClr val="tx1"/>
                </a:solidFill>
                <a:effectLst/>
                <a:latin typeface="+mn-lt"/>
                <a:ea typeface="ＭＳ Ｐゴシック" pitchFamily="-106" charset="-128"/>
                <a:cs typeface="ＭＳ Ｐゴシック" pitchFamily="-106" charset="-128"/>
              </a:rPr>
              <a:t>“I will give you a new heart, and I will put a new spirit within you.”</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kern="1200" dirty="0">
                <a:solidFill>
                  <a:schemeClr val="tx1"/>
                </a:solidFill>
                <a:effectLst/>
                <a:latin typeface="+mn-lt"/>
                <a:ea typeface="ＭＳ Ｐゴシック" pitchFamily="-106" charset="-128"/>
                <a:cs typeface="ＭＳ Ｐゴシック" pitchFamily="-106" charset="-128"/>
              </a:rPr>
              <a:t>Ezekiel 36:26–27</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i="1" kern="1200" dirty="0">
                <a:solidFill>
                  <a:schemeClr val="tx1"/>
                </a:solidFill>
                <a:effectLst/>
                <a:latin typeface="+mn-lt"/>
                <a:ea typeface="ＭＳ Ｐゴシック" pitchFamily="-106" charset="-128"/>
                <a:cs typeface="ＭＳ Ｐゴシック" pitchFamily="-106" charset="-128"/>
              </a:rPr>
              <a:t>“I will put my law within them and write it on their hearts.”</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kern="1200" dirty="0">
                <a:solidFill>
                  <a:schemeClr val="tx1"/>
                </a:solidFill>
                <a:effectLst/>
                <a:latin typeface="+mn-lt"/>
                <a:ea typeface="ＭＳ Ｐゴシック" pitchFamily="-106" charset="-128"/>
                <a:cs typeface="ＭＳ Ｐゴシック" pitchFamily="-106" charset="-128"/>
              </a:rPr>
              <a:t>Jeremiah 31:33</a:t>
            </a:r>
            <a:endParaRPr lang="en-US" sz="1400" kern="1200" dirty="0">
              <a:solidFill>
                <a:schemeClr val="tx1"/>
              </a:solidFill>
              <a:effectLst/>
              <a:latin typeface="+mn-lt"/>
              <a:ea typeface="ＭＳ Ｐゴシック" pitchFamily="-106" charset="-128"/>
              <a:cs typeface="ＭＳ Ｐゴシック" pitchFamily="-106" charset="-128"/>
            </a:endParaRPr>
          </a:p>
          <a:p>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New Covenant Fulfillment</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Jesus promised the coming of the Holy Spirit; the inner power to obey and love God.</a:t>
            </a:r>
          </a:p>
          <a:p>
            <a:r>
              <a:rPr lang="en-US" sz="1400" i="1" kern="1200" dirty="0">
                <a:solidFill>
                  <a:schemeClr val="tx1"/>
                </a:solidFill>
                <a:effectLst/>
                <a:latin typeface="+mn-lt"/>
                <a:ea typeface="ＭＳ Ｐゴシック" pitchFamily="-106" charset="-128"/>
                <a:cs typeface="ＭＳ Ｐゴシック" pitchFamily="-106" charset="-128"/>
              </a:rPr>
              <a:t>“The Advocate, the Holy Spirit… will be with you forever.”</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kern="1200" dirty="0">
                <a:solidFill>
                  <a:schemeClr val="tx1"/>
                </a:solidFill>
                <a:effectLst/>
                <a:latin typeface="+mn-lt"/>
                <a:ea typeface="ＭＳ Ｐゴシック" pitchFamily="-106" charset="-128"/>
                <a:cs typeface="ＭＳ Ｐゴシック" pitchFamily="-106" charset="-128"/>
              </a:rPr>
              <a:t>John 14:16–17</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At Pentecost, this was fulfilled (Acts 2). The Spirit now dwells within every believer.</a:t>
            </a:r>
          </a:p>
          <a:p>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Jesus’ Teaching</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He described this inner transformation as being “born again.”</a:t>
            </a:r>
          </a:p>
          <a:p>
            <a:r>
              <a:rPr lang="en-US" sz="1400" i="1" kern="1200" dirty="0">
                <a:solidFill>
                  <a:schemeClr val="tx1"/>
                </a:solidFill>
                <a:effectLst/>
                <a:latin typeface="+mn-lt"/>
                <a:ea typeface="ＭＳ Ｐゴシック" pitchFamily="-106" charset="-128"/>
                <a:cs typeface="ＭＳ Ｐゴシック" pitchFamily="-106" charset="-128"/>
              </a:rPr>
              <a:t>“Unless someone is born of water and the Spirit, he cannot enter the kingdom of God.”</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kern="1200" dirty="0">
                <a:solidFill>
                  <a:schemeClr val="tx1"/>
                </a:solidFill>
                <a:effectLst/>
                <a:latin typeface="+mn-lt"/>
                <a:ea typeface="ＭＳ Ｐゴシック" pitchFamily="-106" charset="-128"/>
                <a:cs typeface="ＭＳ Ｐゴシック" pitchFamily="-106" charset="-128"/>
              </a:rPr>
              <a:t>John 3:5</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The Spirit gives life from within; not external law, but inward renewal.</a:t>
            </a:r>
          </a:p>
          <a:p>
            <a:endParaRPr lang="en-US" dirty="0"/>
          </a:p>
        </p:txBody>
      </p:sp>
      <p:sp>
        <p:nvSpPr>
          <p:cNvPr id="4" name="Slide Number Placeholder 3">
            <a:extLst>
              <a:ext uri="{FF2B5EF4-FFF2-40B4-BE49-F238E27FC236}">
                <a16:creationId xmlns:a16="http://schemas.microsoft.com/office/drawing/2014/main" id="{8E2D9793-9514-60CB-1D0E-5DF3FEA00E8E}"/>
              </a:ext>
            </a:extLst>
          </p:cNvPr>
          <p:cNvSpPr>
            <a:spLocks noGrp="1"/>
          </p:cNvSpPr>
          <p:nvPr>
            <p:ph type="sldNum" sz="quarter" idx="10"/>
          </p:nvPr>
        </p:nvSpPr>
        <p:spPr/>
        <p:txBody>
          <a:bodyPr/>
          <a:lstStyle/>
          <a:p>
            <a:pPr>
              <a:defRPr/>
            </a:pPr>
            <a:fld id="{07776858-791E-4C8D-8FA3-473B3AFECFAC}" type="slidenum">
              <a:rPr lang="en-US" smtClean="0"/>
              <a:pPr>
                <a:defRPr/>
              </a:pPr>
              <a:t>7</a:t>
            </a:fld>
            <a:endParaRPr lang="en-US" dirty="0"/>
          </a:p>
        </p:txBody>
      </p:sp>
    </p:spTree>
    <p:extLst>
      <p:ext uri="{BB962C8B-B14F-4D97-AF65-F5344CB8AC3E}">
        <p14:creationId xmlns:p14="http://schemas.microsoft.com/office/powerpoint/2010/main" val="14813127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BCDFB-92D5-14C6-A1C3-610500E5C2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317862-E964-3B6A-496D-289C5689D3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3A8F5C-F7B6-46D4-41CF-A83D89F15D40}"/>
              </a:ext>
            </a:extLst>
          </p:cNvPr>
          <p:cNvSpPr>
            <a:spLocks noGrp="1"/>
          </p:cNvSpPr>
          <p:nvPr>
            <p:ph type="body" idx="1"/>
          </p:nvPr>
        </p:nvSpPr>
        <p:spPr/>
        <p:txBody>
          <a:bodyPr>
            <a:normAutofit fontScale="92500" lnSpcReduction="20000"/>
          </a:bodyPr>
          <a:lstStyle/>
          <a:p>
            <a:r>
              <a:rPr lang="en-US" sz="1400" b="1" kern="1200" dirty="0">
                <a:solidFill>
                  <a:schemeClr val="tx1"/>
                </a:solidFill>
                <a:effectLst/>
                <a:latin typeface="+mn-lt"/>
                <a:ea typeface="ＭＳ Ｐゴシック" pitchFamily="-106" charset="-128"/>
                <a:cs typeface="ＭＳ Ｐゴシック" pitchFamily="-106" charset="-128"/>
              </a:rPr>
              <a:t>Direct and Personal Relationship with God</a:t>
            </a:r>
            <a:endParaRPr lang="en-US" sz="1400" kern="1200" dirty="0">
              <a:solidFill>
                <a:schemeClr val="tx1"/>
              </a:solidFill>
              <a:effectLst/>
              <a:latin typeface="+mn-lt"/>
              <a:ea typeface="ＭＳ Ｐゴシック" pitchFamily="-106" charset="-128"/>
              <a:cs typeface="ＭＳ Ｐゴシック" pitchFamily="-106" charset="-128"/>
            </a:endParaRPr>
          </a:p>
          <a:p>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Old Covenant Anticipation</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Access to God was limited to priests and prophets. The people stood at a distance.</a:t>
            </a:r>
          </a:p>
          <a:p>
            <a:pPr rtl="0" fontAlgn="ctr"/>
            <a:r>
              <a:rPr lang="en-US" sz="1400" kern="1200" dirty="0">
                <a:solidFill>
                  <a:schemeClr val="tx1"/>
                </a:solidFill>
                <a:effectLst/>
                <a:latin typeface="+mn-lt"/>
                <a:ea typeface="ＭＳ Ｐゴシック" pitchFamily="-106" charset="-128"/>
                <a:cs typeface="ＭＳ Ｐゴシック" pitchFamily="-106" charset="-128"/>
              </a:rPr>
              <a:t>God promised a time when all His people would know Him personally.</a:t>
            </a:r>
          </a:p>
          <a:p>
            <a:r>
              <a:rPr lang="en-US" sz="1400" i="1" kern="1200" dirty="0">
                <a:solidFill>
                  <a:schemeClr val="tx1"/>
                </a:solidFill>
                <a:effectLst/>
                <a:latin typeface="+mn-lt"/>
                <a:ea typeface="ＭＳ Ｐゴシック" pitchFamily="-106" charset="-128"/>
                <a:cs typeface="ＭＳ Ｐゴシック" pitchFamily="-106" charset="-128"/>
              </a:rPr>
              <a:t>“They will all know me, from the least of them to the greatest.”</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kern="1200" dirty="0">
                <a:solidFill>
                  <a:schemeClr val="tx1"/>
                </a:solidFill>
                <a:effectLst/>
                <a:latin typeface="+mn-lt"/>
                <a:ea typeface="ＭＳ Ｐゴシック" pitchFamily="-106" charset="-128"/>
                <a:cs typeface="ＭＳ Ｐゴシック" pitchFamily="-106" charset="-128"/>
              </a:rPr>
              <a:t>Jeremiah 31:34</a:t>
            </a:r>
            <a:endParaRPr lang="en-US" sz="1400" kern="1200" dirty="0">
              <a:solidFill>
                <a:schemeClr val="tx1"/>
              </a:solidFill>
              <a:effectLst/>
              <a:latin typeface="+mn-lt"/>
              <a:ea typeface="ＭＳ Ｐゴシック" pitchFamily="-106" charset="-128"/>
              <a:cs typeface="ＭＳ Ｐゴシック" pitchFamily="-106" charset="-128"/>
            </a:endParaRPr>
          </a:p>
          <a:p>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New Covenant Fulfillment</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Through Christ, the veil is torn, and direct access is opened.</a:t>
            </a:r>
          </a:p>
          <a:p>
            <a:r>
              <a:rPr lang="en-US" sz="1400" i="1" kern="1200" dirty="0">
                <a:solidFill>
                  <a:schemeClr val="tx1"/>
                </a:solidFill>
                <a:effectLst/>
                <a:latin typeface="+mn-lt"/>
                <a:ea typeface="ＭＳ Ｐゴシック" pitchFamily="-106" charset="-128"/>
                <a:cs typeface="ＭＳ Ｐゴシック" pitchFamily="-106" charset="-128"/>
              </a:rPr>
              <a:t>“We have confidence to enter the sanctuary by the blood of Jesus.”</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kern="1200" dirty="0">
                <a:solidFill>
                  <a:schemeClr val="tx1"/>
                </a:solidFill>
                <a:effectLst/>
                <a:latin typeface="+mn-lt"/>
                <a:ea typeface="ＭＳ Ｐゴシック" pitchFamily="-106" charset="-128"/>
                <a:cs typeface="ＭＳ Ｐゴシック" pitchFamily="-106" charset="-128"/>
              </a:rPr>
              <a:t>Hebrews 10:19–20</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Every believer is now part of a royal priesthood (1 Peter 2:9).</a:t>
            </a:r>
          </a:p>
          <a:p>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Jesus’ Teaching</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He invited personal fellowship with the Father through Himself.</a:t>
            </a:r>
          </a:p>
          <a:p>
            <a:r>
              <a:rPr lang="en-US" sz="1400" i="1" kern="1200" dirty="0">
                <a:solidFill>
                  <a:schemeClr val="tx1"/>
                </a:solidFill>
                <a:effectLst/>
                <a:latin typeface="+mn-lt"/>
                <a:ea typeface="ＭＳ Ｐゴシック" pitchFamily="-106" charset="-128"/>
                <a:cs typeface="ＭＳ Ｐゴシック" pitchFamily="-106" charset="-128"/>
              </a:rPr>
              <a:t>“No one comes to the Father except through Me.”</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kern="1200" dirty="0">
                <a:solidFill>
                  <a:schemeClr val="tx1"/>
                </a:solidFill>
                <a:effectLst/>
                <a:latin typeface="+mn-lt"/>
                <a:ea typeface="ＭＳ Ｐゴシック" pitchFamily="-106" charset="-128"/>
                <a:cs typeface="ＭＳ Ｐゴシック" pitchFamily="-106" charset="-128"/>
              </a:rPr>
              <a:t>John 14:6</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He prayed that His followers would share His own relationship with the Father:</a:t>
            </a:r>
          </a:p>
          <a:p>
            <a:r>
              <a:rPr lang="en-US" sz="1400" i="1" kern="1200" dirty="0">
                <a:solidFill>
                  <a:schemeClr val="tx1"/>
                </a:solidFill>
                <a:effectLst/>
                <a:latin typeface="+mn-lt"/>
                <a:ea typeface="ＭＳ Ｐゴシック" pitchFamily="-106" charset="-128"/>
                <a:cs typeface="ＭＳ Ｐゴシック" pitchFamily="-106" charset="-128"/>
              </a:rPr>
              <a:t>“That they may be one, just as You, Father, are in Me and I in You.”</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kern="1200" dirty="0">
                <a:solidFill>
                  <a:schemeClr val="tx1"/>
                </a:solidFill>
                <a:effectLst/>
                <a:latin typeface="+mn-lt"/>
                <a:ea typeface="ＭＳ Ｐゴシック" pitchFamily="-106" charset="-128"/>
                <a:cs typeface="ＭＳ Ｐゴシック" pitchFamily="-106" charset="-128"/>
              </a:rPr>
              <a:t>John 17:21</a:t>
            </a:r>
            <a:endParaRPr lang="en-US" sz="1400" kern="1200" dirty="0">
              <a:solidFill>
                <a:schemeClr val="tx1"/>
              </a:solidFill>
              <a:effectLst/>
              <a:latin typeface="+mn-lt"/>
              <a:ea typeface="ＭＳ Ｐゴシック" pitchFamily="-106" charset="-128"/>
              <a:cs typeface="ＭＳ Ｐゴシック" pitchFamily="-106" charset="-128"/>
            </a:endParaRPr>
          </a:p>
          <a:p>
            <a:endParaRPr lang="en-US" dirty="0"/>
          </a:p>
        </p:txBody>
      </p:sp>
      <p:sp>
        <p:nvSpPr>
          <p:cNvPr id="4" name="Slide Number Placeholder 3">
            <a:extLst>
              <a:ext uri="{FF2B5EF4-FFF2-40B4-BE49-F238E27FC236}">
                <a16:creationId xmlns:a16="http://schemas.microsoft.com/office/drawing/2014/main" id="{78AE325C-1A7E-A0FB-D159-8FCB13532948}"/>
              </a:ext>
            </a:extLst>
          </p:cNvPr>
          <p:cNvSpPr>
            <a:spLocks noGrp="1"/>
          </p:cNvSpPr>
          <p:nvPr>
            <p:ph type="sldNum" sz="quarter" idx="10"/>
          </p:nvPr>
        </p:nvSpPr>
        <p:spPr/>
        <p:txBody>
          <a:bodyPr/>
          <a:lstStyle/>
          <a:p>
            <a:pPr>
              <a:defRPr/>
            </a:pPr>
            <a:fld id="{07776858-791E-4C8D-8FA3-473B3AFECFAC}" type="slidenum">
              <a:rPr lang="en-US" smtClean="0"/>
              <a:pPr>
                <a:defRPr/>
              </a:pPr>
              <a:t>8</a:t>
            </a:fld>
            <a:endParaRPr lang="en-US" dirty="0"/>
          </a:p>
        </p:txBody>
      </p:sp>
    </p:spTree>
    <p:extLst>
      <p:ext uri="{BB962C8B-B14F-4D97-AF65-F5344CB8AC3E}">
        <p14:creationId xmlns:p14="http://schemas.microsoft.com/office/powerpoint/2010/main" val="13732379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67B00-6D71-8261-A90F-2E3F9D16AE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43540C-6EA3-7CB9-8C90-0D8FA76572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9EBE79-FDFF-ECC0-459A-C6D7AA60C5EC}"/>
              </a:ext>
            </a:extLst>
          </p:cNvPr>
          <p:cNvSpPr>
            <a:spLocks noGrp="1"/>
          </p:cNvSpPr>
          <p:nvPr>
            <p:ph type="body" idx="1"/>
          </p:nvPr>
        </p:nvSpPr>
        <p:spPr/>
        <p:txBody>
          <a:bodyPr>
            <a:normAutofit fontScale="85000" lnSpcReduction="10000"/>
          </a:bodyPr>
          <a:lstStyle/>
          <a:p>
            <a:r>
              <a:rPr lang="en-US" sz="1400" b="1" kern="1200" dirty="0">
                <a:solidFill>
                  <a:schemeClr val="tx1"/>
                </a:solidFill>
                <a:effectLst/>
                <a:latin typeface="+mn-lt"/>
                <a:ea typeface="ＭＳ Ｐゴシック" pitchFamily="-106" charset="-128"/>
                <a:cs typeface="ＭＳ Ｐゴシック" pitchFamily="-106" charset="-128"/>
              </a:rPr>
              <a:t>An Everlasting Covenant of Peace</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Old Covenant Anticipation</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God promised a lasting covenant of peace; not dependent on Israel’s faithfulness but on His own mercy.</a:t>
            </a:r>
          </a:p>
          <a:p>
            <a:r>
              <a:rPr lang="en-US" sz="1400" i="1" kern="1200" dirty="0">
                <a:solidFill>
                  <a:schemeClr val="tx1"/>
                </a:solidFill>
                <a:effectLst/>
                <a:latin typeface="+mn-lt"/>
                <a:ea typeface="ＭＳ Ｐゴシック" pitchFamily="-106" charset="-128"/>
                <a:cs typeface="ＭＳ Ｐゴシック" pitchFamily="-106" charset="-128"/>
              </a:rPr>
              <a:t>“I will make a covenant of peace with them; it will be an everlasting covenant.”</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kern="1200" dirty="0">
                <a:solidFill>
                  <a:schemeClr val="tx1"/>
                </a:solidFill>
                <a:effectLst/>
                <a:latin typeface="+mn-lt"/>
                <a:ea typeface="ＭＳ Ｐゴシック" pitchFamily="-106" charset="-128"/>
                <a:cs typeface="ＭＳ Ｐゴシック" pitchFamily="-106" charset="-128"/>
              </a:rPr>
              <a:t>Ezekiel 37:26</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The prophets foresaw a restored kingdom where righteousness and peace reign.</a:t>
            </a:r>
          </a:p>
          <a:p>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New Covenant Fulfillment</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Jesus is called the “Prince of Peace” (Isaiah 9:6). Through Him, God reconciles the world to Himself.</a:t>
            </a:r>
          </a:p>
          <a:p>
            <a:r>
              <a:rPr lang="en-US" sz="1400" i="1" kern="1200" dirty="0">
                <a:solidFill>
                  <a:schemeClr val="tx1"/>
                </a:solidFill>
                <a:effectLst/>
                <a:latin typeface="+mn-lt"/>
                <a:ea typeface="ＭＳ Ｐゴシック" pitchFamily="-106" charset="-128"/>
                <a:cs typeface="ＭＳ Ｐゴシック" pitchFamily="-106" charset="-128"/>
              </a:rPr>
              <a:t>“He Himself is our peace.”</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kern="1200" dirty="0">
                <a:solidFill>
                  <a:schemeClr val="tx1"/>
                </a:solidFill>
                <a:effectLst/>
                <a:latin typeface="+mn-lt"/>
                <a:ea typeface="ＭＳ Ｐゴシック" pitchFamily="-106" charset="-128"/>
                <a:cs typeface="ＭＳ Ｐゴシック" pitchFamily="-106" charset="-128"/>
              </a:rPr>
              <a:t>Ephesians 2:14</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His death removes enmity between God and man, creating one new people united in peace.</a:t>
            </a:r>
          </a:p>
          <a:p>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Jesus’ Teaching</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He offered His peace as a gift to His disciples:</a:t>
            </a:r>
          </a:p>
          <a:p>
            <a:r>
              <a:rPr lang="en-US" sz="1400" i="1" kern="1200" dirty="0">
                <a:solidFill>
                  <a:schemeClr val="tx1"/>
                </a:solidFill>
                <a:effectLst/>
                <a:latin typeface="+mn-lt"/>
                <a:ea typeface="ＭＳ Ｐゴシック" pitchFamily="-106" charset="-128"/>
                <a:cs typeface="ＭＳ Ｐゴシック" pitchFamily="-106" charset="-128"/>
              </a:rPr>
              <a:t>“Peace I leave with you; My peace I give to you.”</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kern="1200" dirty="0">
                <a:solidFill>
                  <a:schemeClr val="tx1"/>
                </a:solidFill>
                <a:effectLst/>
                <a:latin typeface="+mn-lt"/>
                <a:ea typeface="ＭＳ Ｐゴシック" pitchFamily="-106" charset="-128"/>
                <a:cs typeface="ＭＳ Ｐゴシック" pitchFamily="-106" charset="-128"/>
              </a:rPr>
              <a:t>John 14:27</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This peace is not the absence of trouble but the presence of reconciliation with God.</a:t>
            </a:r>
          </a:p>
          <a:p>
            <a:endParaRPr lang="en-US" dirty="0"/>
          </a:p>
        </p:txBody>
      </p:sp>
      <p:sp>
        <p:nvSpPr>
          <p:cNvPr id="4" name="Slide Number Placeholder 3">
            <a:extLst>
              <a:ext uri="{FF2B5EF4-FFF2-40B4-BE49-F238E27FC236}">
                <a16:creationId xmlns:a16="http://schemas.microsoft.com/office/drawing/2014/main" id="{7CF6C907-CF8E-56DB-34E5-E43F61CDCEAF}"/>
              </a:ext>
            </a:extLst>
          </p:cNvPr>
          <p:cNvSpPr>
            <a:spLocks noGrp="1"/>
          </p:cNvSpPr>
          <p:nvPr>
            <p:ph type="sldNum" sz="quarter" idx="10"/>
          </p:nvPr>
        </p:nvSpPr>
        <p:spPr/>
        <p:txBody>
          <a:bodyPr/>
          <a:lstStyle/>
          <a:p>
            <a:pPr>
              <a:defRPr/>
            </a:pPr>
            <a:fld id="{07776858-791E-4C8D-8FA3-473B3AFECFAC}" type="slidenum">
              <a:rPr lang="en-US" smtClean="0"/>
              <a:pPr>
                <a:defRPr/>
              </a:pPr>
              <a:t>9</a:t>
            </a:fld>
            <a:endParaRPr lang="en-US" dirty="0"/>
          </a:p>
        </p:txBody>
      </p:sp>
    </p:spTree>
    <p:extLst>
      <p:ext uri="{BB962C8B-B14F-4D97-AF65-F5344CB8AC3E}">
        <p14:creationId xmlns:p14="http://schemas.microsoft.com/office/powerpoint/2010/main" val="36712392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B9AA2-B162-3C18-10B7-F8B5654A3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2A9BB-0471-513E-231F-9855432910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AE12A8-10BF-373E-DB31-84289228D902}"/>
              </a:ext>
            </a:extLst>
          </p:cNvPr>
          <p:cNvSpPr>
            <a:spLocks noGrp="1"/>
          </p:cNvSpPr>
          <p:nvPr>
            <p:ph type="body" idx="1"/>
          </p:nvPr>
        </p:nvSpPr>
        <p:spPr/>
        <p:txBody>
          <a:bodyPr>
            <a:normAutofit/>
          </a:bodyPr>
          <a:lstStyle/>
          <a:p>
            <a:r>
              <a:rPr lang="en-US" sz="1400" b="1" kern="1200" dirty="0">
                <a:solidFill>
                  <a:schemeClr val="tx1"/>
                </a:solidFill>
                <a:effectLst/>
                <a:latin typeface="+mn-lt"/>
                <a:ea typeface="ＭＳ Ｐゴシック" pitchFamily="-106" charset="-128"/>
                <a:cs typeface="ＭＳ Ｐゴシック" pitchFamily="-106" charset="-128"/>
              </a:rPr>
              <a:t>A Kingdom That Cannot Be Shaken</a:t>
            </a:r>
            <a:endParaRPr lang="en-US" sz="1400" kern="1200" dirty="0">
              <a:solidFill>
                <a:schemeClr val="tx1"/>
              </a:solidFill>
              <a:effectLst/>
              <a:latin typeface="+mn-lt"/>
              <a:ea typeface="ＭＳ Ｐゴシック" pitchFamily="-106" charset="-128"/>
              <a:cs typeface="ＭＳ Ｐゴシック" pitchFamily="-106" charset="-128"/>
            </a:endParaRPr>
          </a:p>
          <a:p>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Old Covenant Anticipation</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The prophets foresaw a future kingdom established by God Himself; one that would never end.</a:t>
            </a:r>
          </a:p>
          <a:p>
            <a:r>
              <a:rPr lang="en-US" sz="1400" i="1" kern="1200" dirty="0">
                <a:solidFill>
                  <a:schemeClr val="tx1"/>
                </a:solidFill>
                <a:effectLst/>
                <a:latin typeface="+mn-lt"/>
                <a:ea typeface="ＭＳ Ｐゴシック" pitchFamily="-106" charset="-128"/>
                <a:cs typeface="ＭＳ Ｐゴシック" pitchFamily="-106" charset="-128"/>
              </a:rPr>
              <a:t>“In the days of those kings the God of heaven will set up a kingdom that will never be destroyed.”</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kern="1200" dirty="0">
                <a:solidFill>
                  <a:schemeClr val="tx1"/>
                </a:solidFill>
                <a:effectLst/>
                <a:latin typeface="+mn-lt"/>
                <a:ea typeface="ＭＳ Ｐゴシック" pitchFamily="-106" charset="-128"/>
                <a:cs typeface="ＭＳ Ｐゴシック" pitchFamily="-106" charset="-128"/>
              </a:rPr>
              <a:t>Daniel 2:44</a:t>
            </a:r>
            <a:endParaRPr lang="en-US" sz="1400" kern="1200" dirty="0">
              <a:solidFill>
                <a:schemeClr val="tx1"/>
              </a:solidFill>
              <a:effectLst/>
              <a:latin typeface="+mn-lt"/>
              <a:ea typeface="ＭＳ Ｐゴシック" pitchFamily="-106" charset="-128"/>
              <a:cs typeface="ＭＳ Ｐゴシック" pitchFamily="-106" charset="-128"/>
            </a:endParaRPr>
          </a:p>
          <a:p>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New Covenant Fulfillment</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Jesus announced that kingdom had arrived:</a:t>
            </a:r>
          </a:p>
          <a:p>
            <a:r>
              <a:rPr lang="en-US" sz="1400" i="1" kern="1200" dirty="0">
                <a:solidFill>
                  <a:schemeClr val="tx1"/>
                </a:solidFill>
                <a:effectLst/>
                <a:latin typeface="+mn-lt"/>
                <a:ea typeface="ＭＳ Ｐゴシック" pitchFamily="-106" charset="-128"/>
                <a:cs typeface="ＭＳ Ｐゴシック" pitchFamily="-106" charset="-128"/>
              </a:rPr>
              <a:t>“The kingdom of God is at hand.”</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kern="1200" dirty="0">
                <a:solidFill>
                  <a:schemeClr val="tx1"/>
                </a:solidFill>
                <a:effectLst/>
                <a:latin typeface="+mn-lt"/>
                <a:ea typeface="ＭＳ Ｐゴシック" pitchFamily="-106" charset="-128"/>
                <a:cs typeface="ＭＳ Ｐゴシック" pitchFamily="-106" charset="-128"/>
              </a:rPr>
              <a:t>Mark 1:15</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His resurrection confirmed that this kingdom is eternal.</a:t>
            </a:r>
          </a:p>
          <a:p>
            <a:r>
              <a:rPr lang="en-US" sz="1400" i="1" kern="1200" dirty="0">
                <a:solidFill>
                  <a:schemeClr val="tx1"/>
                </a:solidFill>
                <a:effectLst/>
                <a:latin typeface="+mn-lt"/>
                <a:ea typeface="ＭＳ Ｐゴシック" pitchFamily="-106" charset="-128"/>
                <a:cs typeface="ＭＳ Ｐゴシック" pitchFamily="-106" charset="-128"/>
              </a:rPr>
              <a:t>“We are receiving a kingdom that cannot be shaken.”</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kern="1200" dirty="0">
                <a:solidFill>
                  <a:schemeClr val="tx1"/>
                </a:solidFill>
                <a:effectLst/>
                <a:latin typeface="+mn-lt"/>
                <a:ea typeface="ＭＳ Ｐゴシック" pitchFamily="-106" charset="-128"/>
                <a:cs typeface="ＭＳ Ｐゴシック" pitchFamily="-106" charset="-128"/>
              </a:rPr>
              <a:t>Hebrews 12:28</a:t>
            </a:r>
            <a:endParaRPr lang="en-US" sz="1400" kern="1200" dirty="0">
              <a:solidFill>
                <a:schemeClr val="tx1"/>
              </a:solidFill>
              <a:effectLst/>
              <a:latin typeface="+mn-lt"/>
              <a:ea typeface="ＭＳ Ｐゴシック" pitchFamily="-106" charset="-128"/>
              <a:cs typeface="ＭＳ Ｐゴシック" pitchFamily="-106" charset="-128"/>
            </a:endParaRPr>
          </a:p>
          <a:p>
            <a:endParaRPr lang="en-US" dirty="0"/>
          </a:p>
        </p:txBody>
      </p:sp>
      <p:sp>
        <p:nvSpPr>
          <p:cNvPr id="4" name="Slide Number Placeholder 3">
            <a:extLst>
              <a:ext uri="{FF2B5EF4-FFF2-40B4-BE49-F238E27FC236}">
                <a16:creationId xmlns:a16="http://schemas.microsoft.com/office/drawing/2014/main" id="{0EAFF6F1-3C41-376F-34DB-C7F8AA19CA58}"/>
              </a:ext>
            </a:extLst>
          </p:cNvPr>
          <p:cNvSpPr>
            <a:spLocks noGrp="1"/>
          </p:cNvSpPr>
          <p:nvPr>
            <p:ph type="sldNum" sz="quarter" idx="10"/>
          </p:nvPr>
        </p:nvSpPr>
        <p:spPr/>
        <p:txBody>
          <a:bodyPr/>
          <a:lstStyle/>
          <a:p>
            <a:pPr>
              <a:defRPr/>
            </a:pPr>
            <a:fld id="{07776858-791E-4C8D-8FA3-473B3AFECFAC}" type="slidenum">
              <a:rPr lang="en-US" smtClean="0"/>
              <a:pPr>
                <a:defRPr/>
              </a:pPr>
              <a:t>10</a:t>
            </a:fld>
            <a:endParaRPr lang="en-US" dirty="0"/>
          </a:p>
        </p:txBody>
      </p:sp>
    </p:spTree>
    <p:extLst>
      <p:ext uri="{BB962C8B-B14F-4D97-AF65-F5344CB8AC3E}">
        <p14:creationId xmlns:p14="http://schemas.microsoft.com/office/powerpoint/2010/main" val="27956233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A53F3-F5FA-47DF-8211-8B502AD79E23}"/>
              </a:ext>
            </a:extLst>
          </p:cNvPr>
          <p:cNvSpPr txBox="1">
            <a:spLocks/>
          </p:cNvSpPr>
          <p:nvPr/>
        </p:nvSpPr>
        <p:spPr bwMode="auto">
          <a:xfrm>
            <a:off x="457200" y="457200"/>
            <a:ext cx="82296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47500" lnSpcReduction="20000"/>
          </a:bodyPr>
          <a:lst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6700" dirty="0"/>
              <a:t>The Promises of God</a:t>
            </a:r>
            <a:br>
              <a:rPr lang="en-US" dirty="0"/>
            </a:br>
            <a:endParaRPr lang="en-US" dirty="0"/>
          </a:p>
          <a:p>
            <a:r>
              <a:rPr lang="en-US" i="1" dirty="0"/>
              <a:t>Promise of the New Covenant</a:t>
            </a:r>
          </a:p>
          <a:p>
            <a:endParaRPr lang="en-US" sz="2400" dirty="0">
              <a:solidFill>
                <a:schemeClr val="tx2">
                  <a:lumMod val="60000"/>
                  <a:lumOff val="40000"/>
                </a:schemeClr>
              </a:solidFill>
            </a:endParaRPr>
          </a:p>
          <a:p>
            <a:r>
              <a:rPr lang="en-US" b="0" dirty="0"/>
              <a:t>“Indeed, a time is coming,” says the LORD, “when I will make a new covenant with the people of Israel and Judah. It will not be like the old covenant that I made with their ancestors when I delivered them from Egypt. For they violated that covenant, even though I was like a faithful husband to them,” says the LORD. “But I will make a new covenant with the whole nation of Israel after I plant them back in the land,” says the LORD. “I will put my law within them and write it on their hearts and minds. I will be their God and they will be my people. “People will no longer need to teach their neighbors and relatives to know me. For all of them, from the least important to the most important, will know me,” says the LORD. “For I will forgive their sin and will no longer call to mind the wrong they have done.”</a:t>
            </a:r>
          </a:p>
          <a:p>
            <a:r>
              <a:rPr lang="en-US" b="0" dirty="0"/>
              <a:t>(</a:t>
            </a:r>
            <a:r>
              <a:rPr lang="en-US" dirty="0"/>
              <a:t>Jeremiah 31:31-34</a:t>
            </a:r>
            <a:r>
              <a:rPr lang="en-US" b="0" dirty="0"/>
              <a:t>)</a:t>
            </a:r>
          </a:p>
          <a:p>
            <a:endParaRPr lang="en-US" dirty="0">
              <a:solidFill>
                <a:schemeClr val="tx2">
                  <a:lumMod val="60000"/>
                  <a:lumOff val="40000"/>
                </a:schemeClr>
              </a:solidFill>
            </a:endParaRPr>
          </a:p>
          <a:p>
            <a:r>
              <a:rPr lang="en-US" dirty="0">
                <a:solidFill>
                  <a:schemeClr val="tx2">
                    <a:lumMod val="60000"/>
                    <a:lumOff val="40000"/>
                  </a:schemeClr>
                </a:solidFill>
              </a:rPr>
              <a:t>http://tinyurl.com/GodOfPromises</a:t>
            </a:r>
          </a:p>
          <a:p>
            <a:endParaRPr lang="en-US" sz="2400" dirty="0">
              <a:solidFill>
                <a:schemeClr val="tx2">
                  <a:lumMod val="60000"/>
                  <a:lumOff val="40000"/>
                </a:schemeClr>
              </a:solidFill>
            </a:endParaRPr>
          </a:p>
        </p:txBody>
      </p:sp>
    </p:spTree>
    <p:extLst>
      <p:ext uri="{BB962C8B-B14F-4D97-AF65-F5344CB8AC3E}">
        <p14:creationId xmlns:p14="http://schemas.microsoft.com/office/powerpoint/2010/main" val="458658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381000" y="0"/>
            <a:ext cx="8382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200" dirty="0"/>
              <a:t>Apostolic Theology</a:t>
            </a:r>
            <a:br>
              <a:rPr lang="en-US" sz="3600" dirty="0"/>
            </a:br>
            <a:r>
              <a:rPr lang="en-US" sz="2400" dirty="0">
                <a:solidFill>
                  <a:schemeClr val="tx2">
                    <a:lumMod val="60000"/>
                    <a:lumOff val="40000"/>
                  </a:schemeClr>
                </a:solidFill>
              </a:rPr>
              <a:t>As taught about the Old Covenant </a:t>
            </a:r>
            <a:endParaRPr lang="en-US" sz="2000" dirty="0">
              <a:solidFill>
                <a:schemeClr val="tx2">
                  <a:lumMod val="60000"/>
                  <a:lumOff val="40000"/>
                </a:schemeClr>
              </a:solidFill>
            </a:endParaRPr>
          </a:p>
        </p:txBody>
      </p:sp>
      <p:sp>
        <p:nvSpPr>
          <p:cNvPr id="8" name="TextBox 7"/>
          <p:cNvSpPr txBox="1"/>
          <p:nvPr/>
        </p:nvSpPr>
        <p:spPr>
          <a:xfrm>
            <a:off x="381000" y="3995678"/>
            <a:ext cx="8254364" cy="2585323"/>
          </a:xfrm>
          <a:prstGeom prst="rect">
            <a:avLst/>
          </a:prstGeom>
          <a:noFill/>
        </p:spPr>
        <p:txBody>
          <a:bodyPr wrap="square" rtlCol="0">
            <a:spAutoFit/>
          </a:bodyPr>
          <a:lstStyle/>
          <a:p>
            <a:r>
              <a:rPr lang="en-US" b="1" dirty="0"/>
              <a:t>Key Apostolic passages:</a:t>
            </a:r>
            <a:endParaRPr lang="en-US" dirty="0"/>
          </a:p>
          <a:p>
            <a:pPr marL="285750" indent="-285750" fontAlgn="ctr">
              <a:buFont typeface="Arial" panose="020B0604020202020204" pitchFamily="34" charset="0"/>
              <a:buChar char="•"/>
            </a:pPr>
            <a:r>
              <a:rPr lang="en-US" dirty="0"/>
              <a:t>Romans 3–8</a:t>
            </a:r>
          </a:p>
          <a:p>
            <a:pPr marL="285750" indent="-285750" fontAlgn="ctr">
              <a:buFont typeface="Arial" panose="020B0604020202020204" pitchFamily="34" charset="0"/>
              <a:buChar char="•"/>
            </a:pPr>
            <a:r>
              <a:rPr lang="en-US" dirty="0"/>
              <a:t>Galatians 3–4</a:t>
            </a:r>
          </a:p>
          <a:p>
            <a:pPr marL="285750" indent="-285750" fontAlgn="ctr">
              <a:buFont typeface="Arial" panose="020B0604020202020204" pitchFamily="34" charset="0"/>
              <a:buChar char="•"/>
            </a:pPr>
            <a:r>
              <a:rPr lang="en-US" dirty="0"/>
              <a:t>2 Corinthians 3</a:t>
            </a:r>
          </a:p>
          <a:p>
            <a:pPr marL="285750" indent="-285750" fontAlgn="ctr">
              <a:buFont typeface="Arial" panose="020B0604020202020204" pitchFamily="34" charset="0"/>
              <a:buChar char="•"/>
            </a:pPr>
            <a:r>
              <a:rPr lang="en-US" dirty="0"/>
              <a:t>Hebrews 8–10</a:t>
            </a:r>
          </a:p>
          <a:p>
            <a:pPr fontAlgn="ctr"/>
            <a:endParaRPr lang="en-US" dirty="0"/>
          </a:p>
          <a:p>
            <a:r>
              <a:rPr lang="en-US" dirty="0"/>
              <a:t>These writings show the apostles understood the Old Covenant as a shadow pointing to Christ, and the New Covenant as its fulfillment; </a:t>
            </a:r>
            <a:r>
              <a:rPr lang="en-US" i="1" dirty="0"/>
              <a:t>where God’s promise of forgiveness and renewal is fully realized in Jesus.</a:t>
            </a:r>
          </a:p>
        </p:txBody>
      </p:sp>
      <p:graphicFrame>
        <p:nvGraphicFramePr>
          <p:cNvPr id="2" name="Table 1">
            <a:extLst>
              <a:ext uri="{FF2B5EF4-FFF2-40B4-BE49-F238E27FC236}">
                <a16:creationId xmlns:a16="http://schemas.microsoft.com/office/drawing/2014/main" id="{F27E62CA-71FD-D0E6-54C3-5D129476FFBC}"/>
              </a:ext>
            </a:extLst>
          </p:cNvPr>
          <p:cNvGraphicFramePr>
            <a:graphicFrameLocks noGrp="1"/>
          </p:cNvGraphicFramePr>
          <p:nvPr>
            <p:extLst>
              <p:ext uri="{D42A27DB-BD31-4B8C-83A1-F6EECF244321}">
                <p14:modId xmlns:p14="http://schemas.microsoft.com/office/powerpoint/2010/main" val="1928866238"/>
              </p:ext>
            </p:extLst>
          </p:nvPr>
        </p:nvGraphicFramePr>
        <p:xfrm>
          <a:off x="444817" y="990600"/>
          <a:ext cx="8254365" cy="2770464"/>
        </p:xfrm>
        <a:graphic>
          <a:graphicData uri="http://schemas.openxmlformats.org/drawingml/2006/table">
            <a:tbl>
              <a:tblPr>
                <a:tableStyleId>{D113A9D2-9D6B-4929-AA2D-F23B5EE8CBE7}</a:tableStyleId>
              </a:tblPr>
              <a:tblGrid>
                <a:gridCol w="2419630">
                  <a:extLst>
                    <a:ext uri="{9D8B030D-6E8A-4147-A177-3AD203B41FA5}">
                      <a16:colId xmlns:a16="http://schemas.microsoft.com/office/drawing/2014/main" val="1375761793"/>
                    </a:ext>
                  </a:extLst>
                </a:gridCol>
                <a:gridCol w="2391051">
                  <a:extLst>
                    <a:ext uri="{9D8B030D-6E8A-4147-A177-3AD203B41FA5}">
                      <a16:colId xmlns:a16="http://schemas.microsoft.com/office/drawing/2014/main" val="2920125795"/>
                    </a:ext>
                  </a:extLst>
                </a:gridCol>
                <a:gridCol w="3443684">
                  <a:extLst>
                    <a:ext uri="{9D8B030D-6E8A-4147-A177-3AD203B41FA5}">
                      <a16:colId xmlns:a16="http://schemas.microsoft.com/office/drawing/2014/main" val="955386333"/>
                    </a:ext>
                  </a:extLst>
                </a:gridCol>
              </a:tblGrid>
              <a:tr h="348656">
                <a:tc>
                  <a:txBody>
                    <a:bodyPr/>
                    <a:lstStyle/>
                    <a:p>
                      <a:pPr marL="0" marR="0" fontAlgn="t">
                        <a:buNone/>
                      </a:pPr>
                      <a:r>
                        <a:rPr lang="en-US" sz="1800" b="1" u="sng" dirty="0">
                          <a:effectLst/>
                        </a:rPr>
                        <a:t>Aspect</a:t>
                      </a:r>
                      <a:endParaRPr lang="en-US" sz="1800" u="sng" dirty="0">
                        <a:effectLst/>
                        <a:latin typeface="Calibri" panose="020F0502020204030204" pitchFamily="34" charset="0"/>
                      </a:endParaRPr>
                    </a:p>
                  </a:txBody>
                  <a:tcPr marL="50800" marR="50800" marT="50800" marB="50800"/>
                </a:tc>
                <a:tc>
                  <a:txBody>
                    <a:bodyPr/>
                    <a:lstStyle/>
                    <a:p>
                      <a:pPr marL="0" marR="0" fontAlgn="t">
                        <a:buNone/>
                      </a:pPr>
                      <a:r>
                        <a:rPr lang="en-US" sz="1800" b="1" u="sng" dirty="0">
                          <a:effectLst/>
                        </a:rPr>
                        <a:t>Old Covenant</a:t>
                      </a:r>
                      <a:endParaRPr lang="en-US" sz="1800" u="sng" dirty="0">
                        <a:effectLst/>
                        <a:latin typeface="Calibri" panose="020F0502020204030204" pitchFamily="34" charset="0"/>
                      </a:endParaRPr>
                    </a:p>
                  </a:txBody>
                  <a:tcPr marL="50800" marR="50800" marT="50800" marB="50800"/>
                </a:tc>
                <a:tc>
                  <a:txBody>
                    <a:bodyPr/>
                    <a:lstStyle/>
                    <a:p>
                      <a:pPr marL="0" marR="0" fontAlgn="t">
                        <a:buNone/>
                      </a:pPr>
                      <a:r>
                        <a:rPr lang="en-US" sz="1800" b="1" u="sng" dirty="0">
                          <a:effectLst/>
                        </a:rPr>
                        <a:t>New Covenant</a:t>
                      </a:r>
                      <a:endParaRPr lang="en-US" sz="1800" u="sng" dirty="0">
                        <a:effectLst/>
                        <a:latin typeface="Calibri" panose="020F0502020204030204" pitchFamily="34" charset="0"/>
                      </a:endParaRPr>
                    </a:p>
                  </a:txBody>
                  <a:tcPr marL="50800" marR="50800" marT="50800" marB="50800"/>
                </a:tc>
                <a:extLst>
                  <a:ext uri="{0D108BD9-81ED-4DB2-BD59-A6C34878D82A}">
                    <a16:rowId xmlns:a16="http://schemas.microsoft.com/office/drawing/2014/main" val="4038209571"/>
                  </a:ext>
                </a:extLst>
              </a:tr>
              <a:tr h="565744">
                <a:tc>
                  <a:txBody>
                    <a:bodyPr/>
                    <a:lstStyle/>
                    <a:p>
                      <a:pPr marL="0" marR="0" fontAlgn="t">
                        <a:buNone/>
                      </a:pPr>
                      <a:r>
                        <a:rPr lang="en-US" sz="1600" b="1" dirty="0">
                          <a:effectLst/>
                        </a:rPr>
                        <a:t>Mediator</a:t>
                      </a:r>
                      <a:endParaRPr lang="en-US" sz="1600" b="1" dirty="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Moses</a:t>
                      </a:r>
                      <a:endParaRPr lang="en-US" sz="1600" dirty="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Jesus Christ</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3412552054"/>
                  </a:ext>
                </a:extLst>
              </a:tr>
              <a:tr h="565744">
                <a:tc>
                  <a:txBody>
                    <a:bodyPr/>
                    <a:lstStyle/>
                    <a:p>
                      <a:pPr marL="0" marR="0" fontAlgn="t">
                        <a:buNone/>
                      </a:pPr>
                      <a:r>
                        <a:rPr lang="en-US" sz="1600" b="1" dirty="0">
                          <a:effectLst/>
                        </a:rPr>
                        <a:t>Basis</a:t>
                      </a:r>
                      <a:endParaRPr lang="en-US" sz="1600" b="1" dirty="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Law (works)</a:t>
                      </a:r>
                      <a:endParaRPr lang="en-US" sz="1600" dirty="0">
                        <a:effectLst/>
                        <a:latin typeface="Calibri" panose="020F0502020204030204" pitchFamily="34" charset="0"/>
                      </a:endParaRPr>
                    </a:p>
                  </a:txBody>
                  <a:tcPr marL="50800" marR="50800" marT="50800" marB="50800"/>
                </a:tc>
                <a:tc>
                  <a:txBody>
                    <a:bodyPr/>
                    <a:lstStyle/>
                    <a:p>
                      <a:pPr marL="0" marR="0" fontAlgn="t">
                        <a:buNone/>
                      </a:pPr>
                      <a:r>
                        <a:rPr lang="en-US" sz="1600">
                          <a:effectLst/>
                        </a:rPr>
                        <a:t>Grace (faith)</a:t>
                      </a:r>
                      <a:endParaRPr lang="en-US" sz="1600">
                        <a:effectLst/>
                        <a:latin typeface="Calibri" panose="020F0502020204030204" pitchFamily="34" charset="0"/>
                      </a:endParaRPr>
                    </a:p>
                  </a:txBody>
                  <a:tcPr marL="50800" marR="50800" marT="50800" marB="50800"/>
                </a:tc>
                <a:extLst>
                  <a:ext uri="{0D108BD9-81ED-4DB2-BD59-A6C34878D82A}">
                    <a16:rowId xmlns:a16="http://schemas.microsoft.com/office/drawing/2014/main" val="2552403583"/>
                  </a:ext>
                </a:extLst>
              </a:tr>
              <a:tr h="348656">
                <a:tc>
                  <a:txBody>
                    <a:bodyPr/>
                    <a:lstStyle/>
                    <a:p>
                      <a:pPr marL="0" marR="0" fontAlgn="t">
                        <a:buNone/>
                      </a:pPr>
                      <a:r>
                        <a:rPr lang="en-US" sz="1600" b="1">
                          <a:effectLst/>
                        </a:rPr>
                        <a:t>Location of Law</a:t>
                      </a:r>
                      <a:endParaRPr lang="en-US" sz="1600" b="1">
                        <a:effectLst/>
                        <a:latin typeface="Calibri" panose="020F0502020204030204" pitchFamily="34" charset="0"/>
                      </a:endParaRPr>
                    </a:p>
                  </a:txBody>
                  <a:tcPr marL="50800" marR="50800" marT="50800" marB="50800"/>
                </a:tc>
                <a:tc>
                  <a:txBody>
                    <a:bodyPr/>
                    <a:lstStyle/>
                    <a:p>
                      <a:pPr marL="0" marR="0" fontAlgn="t">
                        <a:buNone/>
                      </a:pPr>
                      <a:r>
                        <a:rPr lang="en-US" sz="1600">
                          <a:effectLst/>
                        </a:rPr>
                        <a:t>Written on stone</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Written on hearts</a:t>
                      </a:r>
                      <a:endParaRPr lang="en-US" sz="1600">
                        <a:effectLst/>
                        <a:latin typeface="Calibri" panose="020F0502020204030204" pitchFamily="34" charset="0"/>
                      </a:endParaRPr>
                    </a:p>
                  </a:txBody>
                  <a:tcPr marL="50800" marR="50800" marT="50800" marB="50800"/>
                </a:tc>
                <a:extLst>
                  <a:ext uri="{0D108BD9-81ED-4DB2-BD59-A6C34878D82A}">
                    <a16:rowId xmlns:a16="http://schemas.microsoft.com/office/drawing/2014/main" val="3543791270"/>
                  </a:ext>
                </a:extLst>
              </a:tr>
              <a:tr h="565744">
                <a:tc>
                  <a:txBody>
                    <a:bodyPr/>
                    <a:lstStyle/>
                    <a:p>
                      <a:pPr marL="0" marR="0" fontAlgn="t">
                        <a:buNone/>
                      </a:pPr>
                      <a:r>
                        <a:rPr lang="en-US" sz="1600" b="1">
                          <a:effectLst/>
                        </a:rPr>
                        <a:t>Sacrifice</a:t>
                      </a:r>
                      <a:endParaRPr lang="en-US" sz="1600" b="1">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Repeated animals</a:t>
                      </a:r>
                      <a:endParaRPr lang="en-US" sz="1600" dirty="0">
                        <a:effectLst/>
                        <a:latin typeface="Calibri" panose="020F0502020204030204" pitchFamily="34" charset="0"/>
                      </a:endParaRPr>
                    </a:p>
                  </a:txBody>
                  <a:tcPr marL="50800" marR="50800" marT="50800" marB="50800"/>
                </a:tc>
                <a:tc>
                  <a:txBody>
                    <a:bodyPr/>
                    <a:lstStyle/>
                    <a:p>
                      <a:pPr marL="0" marR="0" fontAlgn="t">
                        <a:buNone/>
                      </a:pPr>
                      <a:r>
                        <a:rPr lang="en-US" sz="1600">
                          <a:effectLst/>
                        </a:rPr>
                        <a:t>Once-for-all by Christ</a:t>
                      </a:r>
                      <a:endParaRPr lang="en-US" sz="1600">
                        <a:effectLst/>
                        <a:latin typeface="Calibri" panose="020F0502020204030204" pitchFamily="34" charset="0"/>
                      </a:endParaRPr>
                    </a:p>
                  </a:txBody>
                  <a:tcPr marL="50800" marR="50800" marT="50800" marB="50800"/>
                </a:tc>
                <a:extLst>
                  <a:ext uri="{0D108BD9-81ED-4DB2-BD59-A6C34878D82A}">
                    <a16:rowId xmlns:a16="http://schemas.microsoft.com/office/drawing/2014/main" val="458581223"/>
                  </a:ext>
                </a:extLst>
              </a:tr>
              <a:tr h="348656">
                <a:tc>
                  <a:txBody>
                    <a:bodyPr/>
                    <a:lstStyle/>
                    <a:p>
                      <a:pPr marL="0" marR="0" fontAlgn="t">
                        <a:buNone/>
                      </a:pPr>
                      <a:r>
                        <a:rPr lang="en-US" sz="1600" b="1" dirty="0">
                          <a:effectLst/>
                        </a:rPr>
                        <a:t>Access to God</a:t>
                      </a:r>
                      <a:endParaRPr lang="en-US" sz="1600" b="1" dirty="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Through priests</a:t>
                      </a:r>
                      <a:endParaRPr lang="en-US" sz="1600" dirty="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Direct through Christ</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361950584"/>
                  </a:ext>
                </a:extLst>
              </a:tr>
            </a:tbl>
          </a:graphicData>
        </a:graphic>
      </p:graphicFrame>
    </p:spTree>
    <p:extLst>
      <p:ext uri="{BB962C8B-B14F-4D97-AF65-F5344CB8AC3E}">
        <p14:creationId xmlns:p14="http://schemas.microsoft.com/office/powerpoint/2010/main" val="80550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BF6DF-4711-D932-21CB-F687D4A60D5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9975D2E-F296-EB93-2DD5-16981124A4B6}"/>
              </a:ext>
            </a:extLst>
          </p:cNvPr>
          <p:cNvSpPr txBox="1">
            <a:spLocks/>
          </p:cNvSpPr>
          <p:nvPr/>
        </p:nvSpPr>
        <p:spPr bwMode="auto">
          <a:xfrm>
            <a:off x="85725" y="90488"/>
            <a:ext cx="9067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62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5300" dirty="0">
                <a:solidFill>
                  <a:schemeClr val="tx2">
                    <a:lumMod val="60000"/>
                    <a:lumOff val="40000"/>
                  </a:schemeClr>
                </a:solidFill>
              </a:rPr>
              <a:t>The </a:t>
            </a:r>
            <a:r>
              <a:rPr lang="en-US" sz="5300" u="sng" dirty="0">
                <a:solidFill>
                  <a:schemeClr val="tx2">
                    <a:lumMod val="60000"/>
                    <a:lumOff val="40000"/>
                  </a:schemeClr>
                </a:solidFill>
              </a:rPr>
              <a:t>Old Covenant</a:t>
            </a:r>
            <a:r>
              <a:rPr lang="en-US" sz="5300" dirty="0">
                <a:solidFill>
                  <a:schemeClr val="tx2">
                    <a:lumMod val="60000"/>
                    <a:lumOff val="40000"/>
                  </a:schemeClr>
                </a:solidFill>
              </a:rPr>
              <a:t> as a Shadow of Christ</a:t>
            </a:r>
          </a:p>
        </p:txBody>
      </p:sp>
      <p:graphicFrame>
        <p:nvGraphicFramePr>
          <p:cNvPr id="2" name="Table 1">
            <a:extLst>
              <a:ext uri="{FF2B5EF4-FFF2-40B4-BE49-F238E27FC236}">
                <a16:creationId xmlns:a16="http://schemas.microsoft.com/office/drawing/2014/main" id="{DFDFA39A-0D6F-2F5A-F801-59FC2D16D105}"/>
              </a:ext>
            </a:extLst>
          </p:cNvPr>
          <p:cNvGraphicFramePr>
            <a:graphicFrameLocks noGrp="1"/>
          </p:cNvGraphicFramePr>
          <p:nvPr>
            <p:extLst>
              <p:ext uri="{D42A27DB-BD31-4B8C-83A1-F6EECF244321}">
                <p14:modId xmlns:p14="http://schemas.microsoft.com/office/powerpoint/2010/main" val="2480042231"/>
              </p:ext>
            </p:extLst>
          </p:nvPr>
        </p:nvGraphicFramePr>
        <p:xfrm>
          <a:off x="266699" y="695325"/>
          <a:ext cx="8610602" cy="2743200"/>
        </p:xfrm>
        <a:graphic>
          <a:graphicData uri="http://schemas.openxmlformats.org/drawingml/2006/table">
            <a:tbl>
              <a:tblPr>
                <a:tableStyleId>{D113A9D2-9D6B-4929-AA2D-F23B5EE8CBE7}</a:tableStyleId>
              </a:tblPr>
              <a:tblGrid>
                <a:gridCol w="1524001">
                  <a:extLst>
                    <a:ext uri="{9D8B030D-6E8A-4147-A177-3AD203B41FA5}">
                      <a16:colId xmlns:a16="http://schemas.microsoft.com/office/drawing/2014/main" val="1375761793"/>
                    </a:ext>
                  </a:extLst>
                </a:gridCol>
                <a:gridCol w="3494296">
                  <a:extLst>
                    <a:ext uri="{9D8B030D-6E8A-4147-A177-3AD203B41FA5}">
                      <a16:colId xmlns:a16="http://schemas.microsoft.com/office/drawing/2014/main" val="2920125795"/>
                    </a:ext>
                  </a:extLst>
                </a:gridCol>
                <a:gridCol w="3592305">
                  <a:extLst>
                    <a:ext uri="{9D8B030D-6E8A-4147-A177-3AD203B41FA5}">
                      <a16:colId xmlns:a16="http://schemas.microsoft.com/office/drawing/2014/main" val="955386333"/>
                    </a:ext>
                  </a:extLst>
                </a:gridCol>
              </a:tblGrid>
              <a:tr h="348656">
                <a:tc>
                  <a:txBody>
                    <a:bodyPr/>
                    <a:lstStyle/>
                    <a:p>
                      <a:pPr marL="0" marR="0" fontAlgn="t">
                        <a:buNone/>
                      </a:pPr>
                      <a:r>
                        <a:rPr lang="en-US" sz="1600" b="1" u="sng" dirty="0">
                          <a:effectLst/>
                        </a:rPr>
                        <a:t>Patriarch</a:t>
                      </a:r>
                      <a:endParaRPr lang="en-US" sz="1600" b="1" u="sng" dirty="0">
                        <a:effectLst/>
                        <a:latin typeface="Calibri" panose="020F0502020204030204" pitchFamily="34" charset="0"/>
                      </a:endParaRPr>
                    </a:p>
                  </a:txBody>
                  <a:tcPr marL="50800" marR="50800" marT="50800" marB="50800"/>
                </a:tc>
                <a:tc>
                  <a:txBody>
                    <a:bodyPr/>
                    <a:lstStyle/>
                    <a:p>
                      <a:pPr marL="0" marR="0" fontAlgn="t">
                        <a:buNone/>
                      </a:pPr>
                      <a:r>
                        <a:rPr lang="en-US" sz="1600" b="1" u="sng" dirty="0">
                          <a:effectLst/>
                        </a:rPr>
                        <a:t>Shadow</a:t>
                      </a:r>
                      <a:endParaRPr lang="en-US" sz="1600" u="sng" dirty="0">
                        <a:effectLst/>
                        <a:latin typeface="Calibri" panose="020F0502020204030204" pitchFamily="34" charset="0"/>
                      </a:endParaRPr>
                    </a:p>
                  </a:txBody>
                  <a:tcPr marL="50800" marR="50800" marT="50800" marB="50800"/>
                </a:tc>
                <a:tc>
                  <a:txBody>
                    <a:bodyPr/>
                    <a:lstStyle/>
                    <a:p>
                      <a:pPr marL="0" marR="0" fontAlgn="t">
                        <a:buNone/>
                      </a:pPr>
                      <a:r>
                        <a:rPr lang="en-US" sz="1600" b="1" u="sng" dirty="0">
                          <a:effectLst/>
                        </a:rPr>
                        <a:t>Fulfillment in Christ</a:t>
                      </a:r>
                      <a:endParaRPr lang="en-US" sz="1600" u="sng" dirty="0">
                        <a:effectLst/>
                        <a:latin typeface="Calibri" panose="020F0502020204030204" pitchFamily="34" charset="0"/>
                      </a:endParaRPr>
                    </a:p>
                  </a:txBody>
                  <a:tcPr marL="50800" marR="50800" marT="50800" marB="50800"/>
                </a:tc>
                <a:extLst>
                  <a:ext uri="{0D108BD9-81ED-4DB2-BD59-A6C34878D82A}">
                    <a16:rowId xmlns:a16="http://schemas.microsoft.com/office/drawing/2014/main" val="4038209571"/>
                  </a:ext>
                </a:extLst>
              </a:tr>
              <a:tr h="565744">
                <a:tc>
                  <a:txBody>
                    <a:bodyPr/>
                    <a:lstStyle/>
                    <a:p>
                      <a:pPr marL="0" marR="0" fontAlgn="t">
                        <a:buNone/>
                      </a:pPr>
                      <a:r>
                        <a:rPr lang="en-US" sz="1600" b="1" dirty="0">
                          <a:effectLst/>
                        </a:rPr>
                        <a:t>Adam</a:t>
                      </a:r>
                      <a:endParaRPr lang="en-US" sz="1600" b="1" dirty="0">
                        <a:effectLst/>
                        <a:latin typeface="Calibri" panose="020F0502020204030204" pitchFamily="34" charset="0"/>
                      </a:endParaRPr>
                    </a:p>
                  </a:txBody>
                  <a:tcPr marL="50800" marR="50800" marT="50800" marB="50800"/>
                </a:tc>
                <a:tc>
                  <a:txBody>
                    <a:bodyPr/>
                    <a:lstStyle/>
                    <a:p>
                      <a:pPr marL="0" marR="0" fontAlgn="t">
                        <a:buNone/>
                      </a:pPr>
                      <a:r>
                        <a:rPr lang="en-US" sz="1600">
                          <a:effectLst/>
                        </a:rPr>
                        <a:t>Humanity’s head who brought death</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The new head who brings life</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3412552054"/>
                  </a:ext>
                </a:extLst>
              </a:tr>
              <a:tr h="565744">
                <a:tc>
                  <a:txBody>
                    <a:bodyPr/>
                    <a:lstStyle/>
                    <a:p>
                      <a:pPr marL="0" marR="0" fontAlgn="t">
                        <a:buNone/>
                      </a:pPr>
                      <a:r>
                        <a:rPr lang="en-US" sz="1600" b="1" dirty="0">
                          <a:effectLst/>
                        </a:rPr>
                        <a:t>Noah</a:t>
                      </a:r>
                      <a:endParaRPr lang="en-US" sz="1600" b="1" dirty="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Salvation through the ark</a:t>
                      </a:r>
                      <a:endParaRPr lang="en-US" sz="1600" dirty="0">
                        <a:effectLst/>
                        <a:latin typeface="Calibri" panose="020F0502020204030204" pitchFamily="34" charset="0"/>
                      </a:endParaRPr>
                    </a:p>
                  </a:txBody>
                  <a:tcPr marL="50800" marR="50800" marT="50800" marB="50800"/>
                </a:tc>
                <a:tc>
                  <a:txBody>
                    <a:bodyPr/>
                    <a:lstStyle/>
                    <a:p>
                      <a:pPr marL="0" marR="0" fontAlgn="t">
                        <a:buNone/>
                      </a:pPr>
                      <a:r>
                        <a:rPr lang="en-US" sz="1600">
                          <a:effectLst/>
                        </a:rPr>
                        <a:t>Salvation through Christ</a:t>
                      </a:r>
                      <a:endParaRPr lang="en-US" sz="1600">
                        <a:effectLst/>
                        <a:latin typeface="Calibri" panose="020F0502020204030204" pitchFamily="34" charset="0"/>
                      </a:endParaRPr>
                    </a:p>
                  </a:txBody>
                  <a:tcPr marL="50800" marR="50800" marT="50800" marB="50800"/>
                </a:tc>
                <a:extLst>
                  <a:ext uri="{0D108BD9-81ED-4DB2-BD59-A6C34878D82A}">
                    <a16:rowId xmlns:a16="http://schemas.microsoft.com/office/drawing/2014/main" val="2552403583"/>
                  </a:ext>
                </a:extLst>
              </a:tr>
              <a:tr h="348656">
                <a:tc>
                  <a:txBody>
                    <a:bodyPr/>
                    <a:lstStyle/>
                    <a:p>
                      <a:pPr marL="0" marR="0" fontAlgn="t">
                        <a:buNone/>
                      </a:pPr>
                      <a:r>
                        <a:rPr lang="en-US" sz="1600" b="1">
                          <a:effectLst/>
                        </a:rPr>
                        <a:t>Abraham</a:t>
                      </a:r>
                      <a:endParaRPr lang="en-US" sz="1600" b="1">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Faith and covenant promise</a:t>
                      </a:r>
                      <a:endParaRPr lang="en-US" sz="1600" dirty="0">
                        <a:effectLst/>
                        <a:latin typeface="Calibri" panose="020F0502020204030204" pitchFamily="34" charset="0"/>
                      </a:endParaRPr>
                    </a:p>
                  </a:txBody>
                  <a:tcPr marL="50800" marR="50800" marT="50800" marB="50800"/>
                </a:tc>
                <a:tc>
                  <a:txBody>
                    <a:bodyPr/>
                    <a:lstStyle/>
                    <a:p>
                      <a:pPr marL="0" marR="0" fontAlgn="t">
                        <a:buNone/>
                      </a:pPr>
                      <a:r>
                        <a:rPr lang="en-US" sz="1600">
                          <a:effectLst/>
                        </a:rPr>
                        <a:t>Faith and righteousness fulfilled</a:t>
                      </a:r>
                      <a:endParaRPr lang="en-US" sz="1600">
                        <a:effectLst/>
                        <a:latin typeface="Calibri" panose="020F0502020204030204" pitchFamily="34" charset="0"/>
                      </a:endParaRPr>
                    </a:p>
                  </a:txBody>
                  <a:tcPr marL="50800" marR="50800" marT="50800" marB="50800"/>
                </a:tc>
                <a:extLst>
                  <a:ext uri="{0D108BD9-81ED-4DB2-BD59-A6C34878D82A}">
                    <a16:rowId xmlns:a16="http://schemas.microsoft.com/office/drawing/2014/main" val="3543791270"/>
                  </a:ext>
                </a:extLst>
              </a:tr>
              <a:tr h="565744">
                <a:tc>
                  <a:txBody>
                    <a:bodyPr/>
                    <a:lstStyle/>
                    <a:p>
                      <a:pPr marL="0" marR="0" fontAlgn="t">
                        <a:buNone/>
                      </a:pPr>
                      <a:r>
                        <a:rPr lang="en-US" sz="1600" b="1">
                          <a:effectLst/>
                        </a:rPr>
                        <a:t>Isaac</a:t>
                      </a:r>
                      <a:endParaRPr lang="en-US" sz="1600" b="1">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The beloved son offered</a:t>
                      </a:r>
                      <a:endParaRPr lang="en-US" sz="1600" dirty="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The Son of God sacrificed</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458581223"/>
                  </a:ext>
                </a:extLst>
              </a:tr>
              <a:tr h="348656">
                <a:tc>
                  <a:txBody>
                    <a:bodyPr/>
                    <a:lstStyle/>
                    <a:p>
                      <a:pPr marL="0" marR="0" fontAlgn="t">
                        <a:buNone/>
                      </a:pPr>
                      <a:r>
                        <a:rPr lang="en-US" sz="1600" b="1" dirty="0">
                          <a:effectLst/>
                        </a:rPr>
                        <a:t>Jacob</a:t>
                      </a:r>
                      <a:endParaRPr lang="en-US" sz="1600" b="1" dirty="0">
                        <a:effectLst/>
                        <a:latin typeface="Calibri" panose="020F0502020204030204" pitchFamily="34" charset="0"/>
                      </a:endParaRPr>
                    </a:p>
                  </a:txBody>
                  <a:tcPr marL="50800" marR="50800" marT="50800" marB="50800"/>
                </a:tc>
                <a:tc>
                  <a:txBody>
                    <a:bodyPr/>
                    <a:lstStyle/>
                    <a:p>
                      <a:pPr marL="0" marR="0" fontAlgn="t">
                        <a:buNone/>
                      </a:pPr>
                      <a:r>
                        <a:rPr lang="en-US" sz="1600">
                          <a:effectLst/>
                        </a:rPr>
                        <a:t>The struggler made new</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The true Israel who overcomes</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361950584"/>
                  </a:ext>
                </a:extLst>
              </a:tr>
            </a:tbl>
          </a:graphicData>
        </a:graphic>
      </p:graphicFrame>
      <p:sp>
        <p:nvSpPr>
          <p:cNvPr id="4" name="TextBox 3">
            <a:extLst>
              <a:ext uri="{FF2B5EF4-FFF2-40B4-BE49-F238E27FC236}">
                <a16:creationId xmlns:a16="http://schemas.microsoft.com/office/drawing/2014/main" id="{A2FF47A5-47FE-45C9-E580-8DF38579E972}"/>
              </a:ext>
            </a:extLst>
          </p:cNvPr>
          <p:cNvSpPr txBox="1"/>
          <p:nvPr/>
        </p:nvSpPr>
        <p:spPr>
          <a:xfrm>
            <a:off x="142875" y="3581400"/>
            <a:ext cx="8858250" cy="2862322"/>
          </a:xfrm>
          <a:prstGeom prst="rect">
            <a:avLst/>
          </a:prstGeom>
          <a:noFill/>
        </p:spPr>
        <p:txBody>
          <a:bodyPr wrap="square" rtlCol="0">
            <a:spAutoFit/>
          </a:bodyPr>
          <a:lstStyle/>
          <a:p>
            <a:r>
              <a:rPr lang="en-US" b="1" dirty="0"/>
              <a:t>Apostolic Understanding</a:t>
            </a:r>
            <a:endParaRPr lang="en-US" dirty="0"/>
          </a:p>
          <a:p>
            <a:r>
              <a:rPr lang="en-US" dirty="0"/>
              <a:t>The apostles saw Christ in every page of the Old Testament. Jesus Himself taught this on the road to Emmaus</a:t>
            </a:r>
            <a:r>
              <a:rPr lang="en-US" i="1" dirty="0"/>
              <a:t>: “Beginning with Moses and all the prophets, He interpreted to them the things written about Himself in all the Scriptures.”</a:t>
            </a:r>
            <a:r>
              <a:rPr lang="en-US" dirty="0"/>
              <a:t>  </a:t>
            </a:r>
            <a:r>
              <a:rPr lang="en-US" b="1" dirty="0"/>
              <a:t>Luke 24:27 </a:t>
            </a:r>
          </a:p>
          <a:p>
            <a:endParaRPr lang="en-US" dirty="0"/>
          </a:p>
          <a:p>
            <a:r>
              <a:rPr lang="en-US" b="1" dirty="0"/>
              <a:t>In apostolic theology:</a:t>
            </a:r>
          </a:p>
          <a:p>
            <a:pPr marL="285750" indent="-285750" fontAlgn="ctr">
              <a:buFont typeface="Arial" panose="020B0604020202020204" pitchFamily="34" charset="0"/>
              <a:buChar char="•"/>
            </a:pPr>
            <a:r>
              <a:rPr lang="en-US" dirty="0"/>
              <a:t>The </a:t>
            </a:r>
            <a:r>
              <a:rPr lang="en-US" b="1" dirty="0"/>
              <a:t>Old Covenant was preparatory</a:t>
            </a:r>
            <a:r>
              <a:rPr lang="en-US" dirty="0"/>
              <a:t>, showing the need for redemption.</a:t>
            </a:r>
          </a:p>
          <a:p>
            <a:pPr marL="285750" indent="-285750" fontAlgn="ctr">
              <a:buFont typeface="Arial" panose="020B0604020202020204" pitchFamily="34" charset="0"/>
              <a:buChar char="•"/>
            </a:pPr>
            <a:r>
              <a:rPr lang="en-US" dirty="0"/>
              <a:t>The </a:t>
            </a:r>
            <a:r>
              <a:rPr lang="en-US" b="1" dirty="0"/>
              <a:t>patriarchs, sacrifices, and covenants were prophetic signs</a:t>
            </a:r>
            <a:r>
              <a:rPr lang="en-US" dirty="0"/>
              <a:t>.</a:t>
            </a:r>
          </a:p>
          <a:p>
            <a:pPr marL="285750" indent="-285750" fontAlgn="ctr">
              <a:buFont typeface="Arial" panose="020B0604020202020204" pitchFamily="34" charset="0"/>
              <a:buChar char="•"/>
            </a:pPr>
            <a:r>
              <a:rPr lang="en-US" dirty="0"/>
              <a:t>The </a:t>
            </a:r>
            <a:r>
              <a:rPr lang="en-US" b="1" dirty="0"/>
              <a:t>New Covenant is the realization</a:t>
            </a:r>
            <a:r>
              <a:rPr lang="en-US" dirty="0"/>
              <a:t> of all those shadows; Christ Himself is the substance.</a:t>
            </a:r>
          </a:p>
        </p:txBody>
      </p:sp>
    </p:spTree>
    <p:extLst>
      <p:ext uri="{BB962C8B-B14F-4D97-AF65-F5344CB8AC3E}">
        <p14:creationId xmlns:p14="http://schemas.microsoft.com/office/powerpoint/2010/main" val="4157141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0513D-8DBA-4BE0-A722-51246BBD01B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336E285-998A-0563-05A8-92266AD85AE7}"/>
              </a:ext>
            </a:extLst>
          </p:cNvPr>
          <p:cNvSpPr txBox="1">
            <a:spLocks/>
          </p:cNvSpPr>
          <p:nvPr/>
        </p:nvSpPr>
        <p:spPr bwMode="auto">
          <a:xfrm>
            <a:off x="152400" y="152400"/>
            <a:ext cx="8839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62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5300" dirty="0">
                <a:solidFill>
                  <a:schemeClr val="tx2">
                    <a:lumMod val="60000"/>
                    <a:lumOff val="40000"/>
                  </a:schemeClr>
                </a:solidFill>
              </a:rPr>
              <a:t>The </a:t>
            </a:r>
            <a:r>
              <a:rPr lang="en-US" sz="5300" u="sng" dirty="0">
                <a:solidFill>
                  <a:schemeClr val="tx2">
                    <a:lumMod val="60000"/>
                    <a:lumOff val="40000"/>
                  </a:schemeClr>
                </a:solidFill>
              </a:rPr>
              <a:t>Law</a:t>
            </a:r>
            <a:r>
              <a:rPr lang="en-US" sz="5300" dirty="0">
                <a:solidFill>
                  <a:schemeClr val="tx2">
                    <a:lumMod val="60000"/>
                    <a:lumOff val="40000"/>
                  </a:schemeClr>
                </a:solidFill>
              </a:rPr>
              <a:t> as a Shadow of Christ</a:t>
            </a:r>
          </a:p>
        </p:txBody>
      </p:sp>
      <p:graphicFrame>
        <p:nvGraphicFramePr>
          <p:cNvPr id="2" name="Table 1">
            <a:extLst>
              <a:ext uri="{FF2B5EF4-FFF2-40B4-BE49-F238E27FC236}">
                <a16:creationId xmlns:a16="http://schemas.microsoft.com/office/drawing/2014/main" id="{DB9721CF-86E5-3D93-0716-28091080951F}"/>
              </a:ext>
            </a:extLst>
          </p:cNvPr>
          <p:cNvGraphicFramePr>
            <a:graphicFrameLocks noGrp="1"/>
          </p:cNvGraphicFramePr>
          <p:nvPr>
            <p:extLst>
              <p:ext uri="{D42A27DB-BD31-4B8C-83A1-F6EECF244321}">
                <p14:modId xmlns:p14="http://schemas.microsoft.com/office/powerpoint/2010/main" val="3403653393"/>
              </p:ext>
            </p:extLst>
          </p:nvPr>
        </p:nvGraphicFramePr>
        <p:xfrm>
          <a:off x="304801" y="838200"/>
          <a:ext cx="8458199" cy="2743200"/>
        </p:xfrm>
        <a:graphic>
          <a:graphicData uri="http://schemas.openxmlformats.org/drawingml/2006/table">
            <a:tbl>
              <a:tblPr>
                <a:tableStyleId>{D113A9D2-9D6B-4929-AA2D-F23B5EE8CBE7}</a:tableStyleId>
              </a:tblPr>
              <a:tblGrid>
                <a:gridCol w="1676399">
                  <a:extLst>
                    <a:ext uri="{9D8B030D-6E8A-4147-A177-3AD203B41FA5}">
                      <a16:colId xmlns:a16="http://schemas.microsoft.com/office/drawing/2014/main" val="1375761793"/>
                    </a:ext>
                  </a:extLst>
                </a:gridCol>
                <a:gridCol w="3253077">
                  <a:extLst>
                    <a:ext uri="{9D8B030D-6E8A-4147-A177-3AD203B41FA5}">
                      <a16:colId xmlns:a16="http://schemas.microsoft.com/office/drawing/2014/main" val="2920125795"/>
                    </a:ext>
                  </a:extLst>
                </a:gridCol>
                <a:gridCol w="3528723">
                  <a:extLst>
                    <a:ext uri="{9D8B030D-6E8A-4147-A177-3AD203B41FA5}">
                      <a16:colId xmlns:a16="http://schemas.microsoft.com/office/drawing/2014/main" val="955386333"/>
                    </a:ext>
                  </a:extLst>
                </a:gridCol>
              </a:tblGrid>
              <a:tr h="348656">
                <a:tc>
                  <a:txBody>
                    <a:bodyPr/>
                    <a:lstStyle/>
                    <a:p>
                      <a:pPr marL="0" marR="0" fontAlgn="t">
                        <a:buNone/>
                      </a:pPr>
                      <a:r>
                        <a:rPr lang="en-US" sz="1600" b="1" u="sng" dirty="0">
                          <a:effectLst/>
                        </a:rPr>
                        <a:t>Theme</a:t>
                      </a:r>
                      <a:endParaRPr lang="en-US" sz="1600" u="sng" dirty="0">
                        <a:effectLst/>
                        <a:latin typeface="Calibri" panose="020F0502020204030204" pitchFamily="34" charset="0"/>
                      </a:endParaRPr>
                    </a:p>
                  </a:txBody>
                  <a:tcPr marL="50800" marR="50800" marT="50800" marB="50800"/>
                </a:tc>
                <a:tc>
                  <a:txBody>
                    <a:bodyPr/>
                    <a:lstStyle/>
                    <a:p>
                      <a:pPr marL="0" marR="0" fontAlgn="t">
                        <a:buNone/>
                      </a:pPr>
                      <a:r>
                        <a:rPr lang="en-US" sz="1600" b="1" u="sng" dirty="0">
                          <a:effectLst/>
                        </a:rPr>
                        <a:t>Old Covenant (Law)</a:t>
                      </a:r>
                      <a:endParaRPr lang="en-US" sz="1600" u="sng" dirty="0">
                        <a:effectLst/>
                        <a:latin typeface="Calibri" panose="020F0502020204030204" pitchFamily="34" charset="0"/>
                      </a:endParaRPr>
                    </a:p>
                  </a:txBody>
                  <a:tcPr marL="50800" marR="50800" marT="50800" marB="50800"/>
                </a:tc>
                <a:tc>
                  <a:txBody>
                    <a:bodyPr/>
                    <a:lstStyle/>
                    <a:p>
                      <a:pPr marL="0" marR="0" fontAlgn="t">
                        <a:buNone/>
                      </a:pPr>
                      <a:r>
                        <a:rPr lang="en-US" sz="1600" b="1" u="sng" dirty="0">
                          <a:effectLst/>
                        </a:rPr>
                        <a:t>New Covenant (Christ)</a:t>
                      </a:r>
                      <a:endParaRPr lang="en-US" sz="1600" u="sng" dirty="0">
                        <a:effectLst/>
                        <a:latin typeface="Calibri" panose="020F0502020204030204" pitchFamily="34" charset="0"/>
                      </a:endParaRPr>
                    </a:p>
                  </a:txBody>
                  <a:tcPr marL="50800" marR="50800" marT="50800" marB="50800"/>
                </a:tc>
                <a:extLst>
                  <a:ext uri="{0D108BD9-81ED-4DB2-BD59-A6C34878D82A}">
                    <a16:rowId xmlns:a16="http://schemas.microsoft.com/office/drawing/2014/main" val="4038209571"/>
                  </a:ext>
                </a:extLst>
              </a:tr>
              <a:tr h="565744">
                <a:tc>
                  <a:txBody>
                    <a:bodyPr/>
                    <a:lstStyle/>
                    <a:p>
                      <a:pPr marL="0" marR="0" fontAlgn="t">
                        <a:buNone/>
                      </a:pPr>
                      <a:r>
                        <a:rPr lang="en-US" sz="1600" b="1">
                          <a:effectLst/>
                        </a:rPr>
                        <a:t>Nature</a:t>
                      </a:r>
                      <a:endParaRPr lang="en-US" sz="1600" b="1">
                        <a:effectLst/>
                        <a:latin typeface="Calibri" panose="020F0502020204030204" pitchFamily="34" charset="0"/>
                      </a:endParaRPr>
                    </a:p>
                  </a:txBody>
                  <a:tcPr marL="50800" marR="50800" marT="50800" marB="50800"/>
                </a:tc>
                <a:tc>
                  <a:txBody>
                    <a:bodyPr/>
                    <a:lstStyle/>
                    <a:p>
                      <a:pPr marL="0" marR="0" fontAlgn="t">
                        <a:buNone/>
                      </a:pPr>
                      <a:r>
                        <a:rPr lang="en-US" sz="1600">
                          <a:effectLst/>
                        </a:rPr>
                        <a:t>Shadow and copy</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Reality and fulfillment</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3412552054"/>
                  </a:ext>
                </a:extLst>
              </a:tr>
              <a:tr h="565744">
                <a:tc>
                  <a:txBody>
                    <a:bodyPr/>
                    <a:lstStyle/>
                    <a:p>
                      <a:pPr marL="0" marR="0" fontAlgn="t">
                        <a:buNone/>
                      </a:pPr>
                      <a:r>
                        <a:rPr lang="en-US" sz="1600" b="1">
                          <a:effectLst/>
                        </a:rPr>
                        <a:t>Priesthood</a:t>
                      </a:r>
                      <a:endParaRPr lang="en-US" sz="1600" b="1">
                        <a:effectLst/>
                        <a:latin typeface="Calibri" panose="020F0502020204030204" pitchFamily="34" charset="0"/>
                      </a:endParaRPr>
                    </a:p>
                  </a:txBody>
                  <a:tcPr marL="50800" marR="50800" marT="50800" marB="50800"/>
                </a:tc>
                <a:tc>
                  <a:txBody>
                    <a:bodyPr/>
                    <a:lstStyle/>
                    <a:p>
                      <a:pPr marL="0" marR="0" fontAlgn="t">
                        <a:buNone/>
                      </a:pPr>
                      <a:r>
                        <a:rPr lang="en-US" sz="1600">
                          <a:effectLst/>
                        </a:rPr>
                        <a:t>Levitical, mortal</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Melchizedek, eternal</a:t>
                      </a:r>
                      <a:endParaRPr lang="en-US" sz="1600">
                        <a:effectLst/>
                        <a:latin typeface="Calibri" panose="020F0502020204030204" pitchFamily="34" charset="0"/>
                      </a:endParaRPr>
                    </a:p>
                  </a:txBody>
                  <a:tcPr marL="50800" marR="50800" marT="50800" marB="50800"/>
                </a:tc>
                <a:extLst>
                  <a:ext uri="{0D108BD9-81ED-4DB2-BD59-A6C34878D82A}">
                    <a16:rowId xmlns:a16="http://schemas.microsoft.com/office/drawing/2014/main" val="2552403583"/>
                  </a:ext>
                </a:extLst>
              </a:tr>
              <a:tr h="348656">
                <a:tc>
                  <a:txBody>
                    <a:bodyPr/>
                    <a:lstStyle/>
                    <a:p>
                      <a:pPr marL="0" marR="0" fontAlgn="t">
                        <a:buNone/>
                      </a:pPr>
                      <a:r>
                        <a:rPr lang="en-US" sz="1600" b="1">
                          <a:effectLst/>
                        </a:rPr>
                        <a:t>Sacrifice</a:t>
                      </a:r>
                      <a:endParaRPr lang="en-US" sz="1600" b="1">
                        <a:effectLst/>
                        <a:latin typeface="Calibri" panose="020F0502020204030204" pitchFamily="34" charset="0"/>
                      </a:endParaRPr>
                    </a:p>
                  </a:txBody>
                  <a:tcPr marL="50800" marR="50800" marT="50800" marB="50800"/>
                </a:tc>
                <a:tc>
                  <a:txBody>
                    <a:bodyPr/>
                    <a:lstStyle/>
                    <a:p>
                      <a:pPr marL="0" marR="0" fontAlgn="t">
                        <a:buNone/>
                      </a:pPr>
                      <a:r>
                        <a:rPr lang="en-US" sz="1600">
                          <a:effectLst/>
                        </a:rPr>
                        <a:t>Repeated, animal</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Once-for-all, Christ</a:t>
                      </a:r>
                      <a:endParaRPr lang="en-US" sz="1600">
                        <a:effectLst/>
                        <a:latin typeface="Calibri" panose="020F0502020204030204" pitchFamily="34" charset="0"/>
                      </a:endParaRPr>
                    </a:p>
                  </a:txBody>
                  <a:tcPr marL="50800" marR="50800" marT="50800" marB="50800"/>
                </a:tc>
                <a:extLst>
                  <a:ext uri="{0D108BD9-81ED-4DB2-BD59-A6C34878D82A}">
                    <a16:rowId xmlns:a16="http://schemas.microsoft.com/office/drawing/2014/main" val="3543791270"/>
                  </a:ext>
                </a:extLst>
              </a:tr>
              <a:tr h="565744">
                <a:tc>
                  <a:txBody>
                    <a:bodyPr/>
                    <a:lstStyle/>
                    <a:p>
                      <a:pPr marL="0" marR="0" fontAlgn="t">
                        <a:buNone/>
                      </a:pPr>
                      <a:r>
                        <a:rPr lang="en-US" sz="1600" b="1" dirty="0">
                          <a:effectLst/>
                        </a:rPr>
                        <a:t>Covenant</a:t>
                      </a:r>
                      <a:endParaRPr lang="en-US" sz="1600" b="1" dirty="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Temporary</a:t>
                      </a:r>
                      <a:endParaRPr lang="en-US" sz="1600" dirty="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Eternal</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458581223"/>
                  </a:ext>
                </a:extLst>
              </a:tr>
              <a:tr h="348656">
                <a:tc>
                  <a:txBody>
                    <a:bodyPr/>
                    <a:lstStyle/>
                    <a:p>
                      <a:pPr marL="0" marR="0" fontAlgn="t">
                        <a:buNone/>
                      </a:pPr>
                      <a:r>
                        <a:rPr lang="en-US" sz="1600" b="1" dirty="0">
                          <a:effectLst/>
                        </a:rPr>
                        <a:t>Access to God</a:t>
                      </a:r>
                      <a:endParaRPr lang="en-US" sz="1600" b="1" dirty="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Limited, through priests</a:t>
                      </a:r>
                      <a:endParaRPr lang="en-US" sz="1600" dirty="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Direct, through Christ</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361950584"/>
                  </a:ext>
                </a:extLst>
              </a:tr>
            </a:tbl>
          </a:graphicData>
        </a:graphic>
      </p:graphicFrame>
      <p:sp>
        <p:nvSpPr>
          <p:cNvPr id="4" name="TextBox 3">
            <a:extLst>
              <a:ext uri="{FF2B5EF4-FFF2-40B4-BE49-F238E27FC236}">
                <a16:creationId xmlns:a16="http://schemas.microsoft.com/office/drawing/2014/main" id="{15886973-FEA6-89FE-2DB2-65CEB07AC077}"/>
              </a:ext>
            </a:extLst>
          </p:cNvPr>
          <p:cNvSpPr txBox="1"/>
          <p:nvPr/>
        </p:nvSpPr>
        <p:spPr>
          <a:xfrm>
            <a:off x="304801" y="3886200"/>
            <a:ext cx="8763000" cy="1477328"/>
          </a:xfrm>
          <a:prstGeom prst="rect">
            <a:avLst/>
          </a:prstGeom>
          <a:noFill/>
        </p:spPr>
        <p:txBody>
          <a:bodyPr wrap="square" rtlCol="0">
            <a:spAutoFit/>
          </a:bodyPr>
          <a:lstStyle/>
          <a:p>
            <a:r>
              <a:rPr lang="en-US" b="1" dirty="0"/>
              <a:t>The book of Hebrews teaches that:</a:t>
            </a:r>
          </a:p>
          <a:p>
            <a:pPr marL="285750" indent="-285750" fontAlgn="ctr">
              <a:buFont typeface="Arial" panose="020B0604020202020204" pitchFamily="34" charset="0"/>
              <a:buChar char="•"/>
            </a:pPr>
            <a:r>
              <a:rPr lang="en-US" dirty="0"/>
              <a:t>The </a:t>
            </a:r>
            <a:r>
              <a:rPr lang="en-US" b="1" dirty="0"/>
              <a:t>Law was a teacher and shadow</a:t>
            </a:r>
            <a:r>
              <a:rPr lang="en-US" dirty="0"/>
              <a:t>, preparing people for Christ.</a:t>
            </a:r>
          </a:p>
          <a:p>
            <a:pPr marL="285750" indent="-285750" fontAlgn="ctr">
              <a:buFont typeface="Arial" panose="020B0604020202020204" pitchFamily="34" charset="0"/>
              <a:buChar char="•"/>
            </a:pPr>
            <a:r>
              <a:rPr lang="en-US" dirty="0"/>
              <a:t>It </a:t>
            </a:r>
            <a:r>
              <a:rPr lang="en-US" b="1" dirty="0"/>
              <a:t>exposed sin but couldn’t remove it</a:t>
            </a:r>
            <a:r>
              <a:rPr lang="en-US" dirty="0"/>
              <a:t>.</a:t>
            </a:r>
          </a:p>
          <a:p>
            <a:pPr marL="285750" indent="-285750" fontAlgn="ctr">
              <a:buFont typeface="Arial" panose="020B0604020202020204" pitchFamily="34" charset="0"/>
              <a:buChar char="•"/>
            </a:pPr>
            <a:r>
              <a:rPr lang="en-US" dirty="0"/>
              <a:t>It </a:t>
            </a:r>
            <a:r>
              <a:rPr lang="en-US" b="1" dirty="0"/>
              <a:t>pointed to a better priest, better sacrifice, and better covenant</a:t>
            </a:r>
            <a:r>
              <a:rPr lang="en-US" dirty="0"/>
              <a:t>.</a:t>
            </a:r>
          </a:p>
          <a:p>
            <a:pPr marL="285750" indent="-285750" fontAlgn="ctr">
              <a:buFont typeface="Arial" panose="020B0604020202020204" pitchFamily="34" charset="0"/>
              <a:buChar char="•"/>
            </a:pPr>
            <a:r>
              <a:rPr lang="en-US" dirty="0"/>
              <a:t>Jesus Christ is that fulfillment; the reality behind every shadow.</a:t>
            </a:r>
          </a:p>
        </p:txBody>
      </p:sp>
    </p:spTree>
    <p:extLst>
      <p:ext uri="{BB962C8B-B14F-4D97-AF65-F5344CB8AC3E}">
        <p14:creationId xmlns:p14="http://schemas.microsoft.com/office/powerpoint/2010/main" val="1359503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CDCDE-DA05-686A-DBED-A96D8E4E89A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7CCE0F0-D7A3-F019-5CDC-A540BEE8F17D}"/>
              </a:ext>
            </a:extLst>
          </p:cNvPr>
          <p:cNvSpPr txBox="1">
            <a:spLocks/>
          </p:cNvSpPr>
          <p:nvPr/>
        </p:nvSpPr>
        <p:spPr bwMode="auto">
          <a:xfrm>
            <a:off x="257172" y="114300"/>
            <a:ext cx="8763001"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62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5300" dirty="0">
                <a:solidFill>
                  <a:schemeClr val="tx2">
                    <a:lumMod val="60000"/>
                    <a:lumOff val="40000"/>
                  </a:schemeClr>
                </a:solidFill>
              </a:rPr>
              <a:t>Core Promises of the New Covenant</a:t>
            </a:r>
          </a:p>
        </p:txBody>
      </p:sp>
      <p:graphicFrame>
        <p:nvGraphicFramePr>
          <p:cNvPr id="2" name="Table 1">
            <a:extLst>
              <a:ext uri="{FF2B5EF4-FFF2-40B4-BE49-F238E27FC236}">
                <a16:creationId xmlns:a16="http://schemas.microsoft.com/office/drawing/2014/main" id="{D8EF2BDC-1680-7CD8-4E3E-5A2C29BC98DF}"/>
              </a:ext>
            </a:extLst>
          </p:cNvPr>
          <p:cNvGraphicFramePr>
            <a:graphicFrameLocks noGrp="1"/>
          </p:cNvGraphicFramePr>
          <p:nvPr>
            <p:extLst>
              <p:ext uri="{D42A27DB-BD31-4B8C-83A1-F6EECF244321}">
                <p14:modId xmlns:p14="http://schemas.microsoft.com/office/powerpoint/2010/main" val="2342141013"/>
              </p:ext>
            </p:extLst>
          </p:nvPr>
        </p:nvGraphicFramePr>
        <p:xfrm>
          <a:off x="380999" y="762000"/>
          <a:ext cx="8382001" cy="2743200"/>
        </p:xfrm>
        <a:graphic>
          <a:graphicData uri="http://schemas.openxmlformats.org/drawingml/2006/table">
            <a:tbl>
              <a:tblPr>
                <a:tableStyleId>{D113A9D2-9D6B-4929-AA2D-F23B5EE8CBE7}</a:tableStyleId>
              </a:tblPr>
              <a:tblGrid>
                <a:gridCol w="2590801">
                  <a:extLst>
                    <a:ext uri="{9D8B030D-6E8A-4147-A177-3AD203B41FA5}">
                      <a16:colId xmlns:a16="http://schemas.microsoft.com/office/drawing/2014/main" val="1375761793"/>
                    </a:ext>
                  </a:extLst>
                </a:gridCol>
                <a:gridCol w="2819400">
                  <a:extLst>
                    <a:ext uri="{9D8B030D-6E8A-4147-A177-3AD203B41FA5}">
                      <a16:colId xmlns:a16="http://schemas.microsoft.com/office/drawing/2014/main" val="2920125795"/>
                    </a:ext>
                  </a:extLst>
                </a:gridCol>
                <a:gridCol w="2971800">
                  <a:extLst>
                    <a:ext uri="{9D8B030D-6E8A-4147-A177-3AD203B41FA5}">
                      <a16:colId xmlns:a16="http://schemas.microsoft.com/office/drawing/2014/main" val="955386333"/>
                    </a:ext>
                  </a:extLst>
                </a:gridCol>
              </a:tblGrid>
              <a:tr h="348656">
                <a:tc>
                  <a:txBody>
                    <a:bodyPr/>
                    <a:lstStyle/>
                    <a:p>
                      <a:pPr marL="0" marR="0" fontAlgn="t">
                        <a:buNone/>
                      </a:pPr>
                      <a:r>
                        <a:rPr lang="en-US" sz="1600" b="1" u="sng" dirty="0">
                          <a:effectLst/>
                        </a:rPr>
                        <a:t>Core Promise</a:t>
                      </a:r>
                      <a:endParaRPr lang="en-US" sz="1600" b="1" u="sng" dirty="0">
                        <a:effectLst/>
                        <a:latin typeface="Calibri" panose="020F0502020204030204" pitchFamily="34" charset="0"/>
                      </a:endParaRPr>
                    </a:p>
                  </a:txBody>
                  <a:tcPr marL="50800" marR="50800" marT="50800" marB="50800"/>
                </a:tc>
                <a:tc>
                  <a:txBody>
                    <a:bodyPr/>
                    <a:lstStyle/>
                    <a:p>
                      <a:pPr marL="0" marR="0" fontAlgn="t">
                        <a:buNone/>
                      </a:pPr>
                      <a:r>
                        <a:rPr lang="en-US" sz="1600" b="1" u="sng" dirty="0">
                          <a:effectLst/>
                        </a:rPr>
                        <a:t>Old Covenant Anticipation</a:t>
                      </a:r>
                      <a:endParaRPr lang="en-US" sz="1600" u="sng" dirty="0">
                        <a:effectLst/>
                        <a:latin typeface="Calibri" panose="020F0502020204030204" pitchFamily="34" charset="0"/>
                      </a:endParaRPr>
                    </a:p>
                  </a:txBody>
                  <a:tcPr marL="50800" marR="50800" marT="50800" marB="50800"/>
                </a:tc>
                <a:tc>
                  <a:txBody>
                    <a:bodyPr/>
                    <a:lstStyle/>
                    <a:p>
                      <a:pPr marL="0" marR="0" fontAlgn="t">
                        <a:buNone/>
                      </a:pPr>
                      <a:r>
                        <a:rPr lang="en-US" sz="1600" b="1" u="sng" dirty="0">
                          <a:effectLst/>
                        </a:rPr>
                        <a:t>Fulfillment in Christ</a:t>
                      </a:r>
                      <a:endParaRPr lang="en-US" sz="1600" u="sng" dirty="0">
                        <a:effectLst/>
                        <a:latin typeface="Calibri" panose="020F0502020204030204" pitchFamily="34" charset="0"/>
                      </a:endParaRPr>
                    </a:p>
                  </a:txBody>
                  <a:tcPr marL="50800" marR="50800" marT="50800" marB="50800"/>
                </a:tc>
                <a:extLst>
                  <a:ext uri="{0D108BD9-81ED-4DB2-BD59-A6C34878D82A}">
                    <a16:rowId xmlns:a16="http://schemas.microsoft.com/office/drawing/2014/main" val="4038209571"/>
                  </a:ext>
                </a:extLst>
              </a:tr>
              <a:tr h="565744">
                <a:tc>
                  <a:txBody>
                    <a:bodyPr/>
                    <a:lstStyle/>
                    <a:p>
                      <a:pPr marL="0" marR="0" fontAlgn="t">
                        <a:buNone/>
                      </a:pPr>
                      <a:r>
                        <a:rPr lang="en-US" sz="1600" b="1" dirty="0">
                          <a:effectLst/>
                        </a:rPr>
                        <a:t>Forgiveness of sins</a:t>
                      </a:r>
                      <a:endParaRPr lang="en-US" sz="1600" b="1" dirty="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Jeremiah 31:34</a:t>
                      </a:r>
                      <a:endParaRPr lang="en-US" sz="1600" dirty="0">
                        <a:effectLst/>
                        <a:latin typeface="Calibri" panose="020F0502020204030204" pitchFamily="34" charset="0"/>
                      </a:endParaRPr>
                    </a:p>
                  </a:txBody>
                  <a:tcPr marL="50800" marR="50800" marT="50800" marB="50800"/>
                </a:tc>
                <a:tc>
                  <a:txBody>
                    <a:bodyPr/>
                    <a:lstStyle/>
                    <a:p>
                      <a:pPr marL="0" marR="0" fontAlgn="t">
                        <a:buNone/>
                      </a:pPr>
                      <a:r>
                        <a:rPr lang="en-US" sz="1600">
                          <a:effectLst/>
                        </a:rPr>
                        <a:t>Luke 22:20; Hebrews 9:22</a:t>
                      </a:r>
                      <a:endParaRPr lang="en-US" sz="1600">
                        <a:effectLst/>
                        <a:latin typeface="Calibri" panose="020F0502020204030204" pitchFamily="34" charset="0"/>
                      </a:endParaRPr>
                    </a:p>
                  </a:txBody>
                  <a:tcPr marL="50800" marR="50800" marT="50800" marB="50800"/>
                </a:tc>
                <a:extLst>
                  <a:ext uri="{0D108BD9-81ED-4DB2-BD59-A6C34878D82A}">
                    <a16:rowId xmlns:a16="http://schemas.microsoft.com/office/drawing/2014/main" val="3412552054"/>
                  </a:ext>
                </a:extLst>
              </a:tr>
              <a:tr h="565744">
                <a:tc>
                  <a:txBody>
                    <a:bodyPr/>
                    <a:lstStyle/>
                    <a:p>
                      <a:pPr marL="0" marR="0" fontAlgn="t">
                        <a:buNone/>
                      </a:pPr>
                      <a:r>
                        <a:rPr lang="en-US" sz="1600" b="1">
                          <a:effectLst/>
                        </a:rPr>
                        <a:t>New heart &amp; Spirit</a:t>
                      </a:r>
                      <a:endParaRPr lang="en-US" sz="1600" b="1">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Ezekiel 36:26–27</a:t>
                      </a:r>
                      <a:endParaRPr lang="en-US" sz="1600" dirty="0">
                        <a:effectLst/>
                        <a:latin typeface="Calibri" panose="020F0502020204030204" pitchFamily="34" charset="0"/>
                      </a:endParaRPr>
                    </a:p>
                  </a:txBody>
                  <a:tcPr marL="50800" marR="50800" marT="50800" marB="50800"/>
                </a:tc>
                <a:tc>
                  <a:txBody>
                    <a:bodyPr/>
                    <a:lstStyle/>
                    <a:p>
                      <a:pPr marL="0" marR="0" fontAlgn="t">
                        <a:buNone/>
                      </a:pPr>
                      <a:r>
                        <a:rPr lang="en-US" sz="1600">
                          <a:effectLst/>
                        </a:rPr>
                        <a:t>John 3:5; John 14:16–17</a:t>
                      </a:r>
                      <a:endParaRPr lang="en-US" sz="1600">
                        <a:effectLst/>
                        <a:latin typeface="Calibri" panose="020F0502020204030204" pitchFamily="34" charset="0"/>
                      </a:endParaRPr>
                    </a:p>
                  </a:txBody>
                  <a:tcPr marL="50800" marR="50800" marT="50800" marB="50800"/>
                </a:tc>
                <a:extLst>
                  <a:ext uri="{0D108BD9-81ED-4DB2-BD59-A6C34878D82A}">
                    <a16:rowId xmlns:a16="http://schemas.microsoft.com/office/drawing/2014/main" val="2552403583"/>
                  </a:ext>
                </a:extLst>
              </a:tr>
              <a:tr h="348656">
                <a:tc>
                  <a:txBody>
                    <a:bodyPr/>
                    <a:lstStyle/>
                    <a:p>
                      <a:pPr marL="0" marR="0" fontAlgn="t">
                        <a:buNone/>
                      </a:pPr>
                      <a:r>
                        <a:rPr lang="en-US" sz="1600" b="1" dirty="0">
                          <a:effectLst/>
                        </a:rPr>
                        <a:t>Direct knowledge of God</a:t>
                      </a:r>
                      <a:endParaRPr lang="en-US" sz="1600" b="1" dirty="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Jeremiah 31:34</a:t>
                      </a:r>
                      <a:endParaRPr lang="en-US" sz="1600" dirty="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John 14:6; Hebrews 10:19</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3543791270"/>
                  </a:ext>
                </a:extLst>
              </a:tr>
              <a:tr h="565744">
                <a:tc>
                  <a:txBody>
                    <a:bodyPr/>
                    <a:lstStyle/>
                    <a:p>
                      <a:pPr marL="0" marR="0" fontAlgn="t">
                        <a:buNone/>
                      </a:pPr>
                      <a:r>
                        <a:rPr lang="en-US" sz="1600" b="1">
                          <a:effectLst/>
                        </a:rPr>
                        <a:t>Everlasting peace</a:t>
                      </a:r>
                      <a:endParaRPr lang="en-US" sz="1600" b="1">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Ezekiel 37:26</a:t>
                      </a:r>
                      <a:endParaRPr lang="en-US" sz="1600" dirty="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John 14:27; Ephesians 2:14</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458581223"/>
                  </a:ext>
                </a:extLst>
              </a:tr>
              <a:tr h="348656">
                <a:tc>
                  <a:txBody>
                    <a:bodyPr/>
                    <a:lstStyle/>
                    <a:p>
                      <a:pPr marL="0" marR="0" fontAlgn="t">
                        <a:buNone/>
                      </a:pPr>
                      <a:r>
                        <a:rPr lang="en-US" sz="1600" b="1" dirty="0">
                          <a:effectLst/>
                        </a:rPr>
                        <a:t>Eternal kingdom</a:t>
                      </a:r>
                      <a:endParaRPr lang="en-US" sz="1600" b="1" dirty="0">
                        <a:effectLst/>
                        <a:latin typeface="Calibri" panose="020F0502020204030204" pitchFamily="34" charset="0"/>
                      </a:endParaRPr>
                    </a:p>
                  </a:txBody>
                  <a:tcPr marL="50800" marR="50800" marT="50800" marB="50800"/>
                </a:tc>
                <a:tc>
                  <a:txBody>
                    <a:bodyPr/>
                    <a:lstStyle/>
                    <a:p>
                      <a:pPr marL="0" marR="0" fontAlgn="t">
                        <a:buNone/>
                      </a:pPr>
                      <a:r>
                        <a:rPr lang="en-US" sz="1600">
                          <a:effectLst/>
                        </a:rPr>
                        <a:t>Daniel 2:44</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Mark 1:15; Hebrews 12:28</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361950584"/>
                  </a:ext>
                </a:extLst>
              </a:tr>
            </a:tbl>
          </a:graphicData>
        </a:graphic>
      </p:graphicFrame>
      <p:sp>
        <p:nvSpPr>
          <p:cNvPr id="4" name="TextBox 3">
            <a:extLst>
              <a:ext uri="{FF2B5EF4-FFF2-40B4-BE49-F238E27FC236}">
                <a16:creationId xmlns:a16="http://schemas.microsoft.com/office/drawing/2014/main" id="{638EC440-4861-2CD8-F4E7-CA956687C054}"/>
              </a:ext>
            </a:extLst>
          </p:cNvPr>
          <p:cNvSpPr txBox="1"/>
          <p:nvPr/>
        </p:nvSpPr>
        <p:spPr>
          <a:xfrm>
            <a:off x="380998" y="3733800"/>
            <a:ext cx="8515351" cy="2862322"/>
          </a:xfrm>
          <a:prstGeom prst="rect">
            <a:avLst/>
          </a:prstGeom>
          <a:noFill/>
        </p:spPr>
        <p:txBody>
          <a:bodyPr wrap="square" rtlCol="0">
            <a:spAutoFit/>
          </a:bodyPr>
          <a:lstStyle/>
          <a:p>
            <a:r>
              <a:rPr lang="en-US" dirty="0"/>
              <a:t>The New Covenant fulfills the deep longings planted in the Old:</a:t>
            </a:r>
          </a:p>
          <a:p>
            <a:pPr marL="285750" indent="-285750" fontAlgn="ctr">
              <a:buFont typeface="Arial" panose="020B0604020202020204" pitchFamily="34" charset="0"/>
              <a:buChar char="•"/>
            </a:pPr>
            <a:r>
              <a:rPr lang="en-US" b="1" dirty="0"/>
              <a:t>Forgiveness replaces guilt.</a:t>
            </a:r>
            <a:endParaRPr lang="en-US" dirty="0"/>
          </a:p>
          <a:p>
            <a:pPr marL="285750" indent="-285750" fontAlgn="ctr">
              <a:buFont typeface="Arial" panose="020B0604020202020204" pitchFamily="34" charset="0"/>
              <a:buChar char="•"/>
            </a:pPr>
            <a:r>
              <a:rPr lang="en-US" b="1" dirty="0"/>
              <a:t>Spirit replaces stone.</a:t>
            </a:r>
            <a:endParaRPr lang="en-US" dirty="0"/>
          </a:p>
          <a:p>
            <a:pPr marL="285750" indent="-285750" fontAlgn="ctr">
              <a:buFont typeface="Arial" panose="020B0604020202020204" pitchFamily="34" charset="0"/>
              <a:buChar char="•"/>
            </a:pPr>
            <a:r>
              <a:rPr lang="en-US" b="1" dirty="0"/>
              <a:t>Relationship replaces ritual.</a:t>
            </a:r>
            <a:endParaRPr lang="en-US" dirty="0"/>
          </a:p>
          <a:p>
            <a:pPr marL="285750" indent="-285750" fontAlgn="ctr">
              <a:buFont typeface="Arial" panose="020B0604020202020204" pitchFamily="34" charset="0"/>
              <a:buChar char="•"/>
            </a:pPr>
            <a:r>
              <a:rPr lang="en-US" b="1" dirty="0"/>
              <a:t>Peace replaces striving.</a:t>
            </a:r>
            <a:endParaRPr lang="en-US" dirty="0"/>
          </a:p>
          <a:p>
            <a:pPr marL="285750" indent="-285750" fontAlgn="ctr">
              <a:buFont typeface="Arial" panose="020B0604020202020204" pitchFamily="34" charset="0"/>
              <a:buChar char="•"/>
            </a:pPr>
            <a:r>
              <a:rPr lang="en-US" b="1" dirty="0"/>
              <a:t>The eternal kingdom replaces all passing systems.</a:t>
            </a:r>
          </a:p>
          <a:p>
            <a:pPr fontAlgn="ctr"/>
            <a:endParaRPr lang="en-US" dirty="0"/>
          </a:p>
          <a:p>
            <a:r>
              <a:rPr lang="en-US" dirty="0"/>
              <a:t>Jesus didn’t abolish the Law or the Prophets; He completed their meaning (</a:t>
            </a:r>
            <a:r>
              <a:rPr lang="en-US" b="1" dirty="0"/>
              <a:t>Matthew 5:17</a:t>
            </a:r>
            <a:r>
              <a:rPr lang="en-US" dirty="0"/>
              <a:t>).  Everything the Law anticipated - forgiveness, renewal, communion with God - finds its reality in Him.</a:t>
            </a:r>
          </a:p>
        </p:txBody>
      </p:sp>
    </p:spTree>
    <p:extLst>
      <p:ext uri="{BB962C8B-B14F-4D97-AF65-F5344CB8AC3E}">
        <p14:creationId xmlns:p14="http://schemas.microsoft.com/office/powerpoint/2010/main" val="1242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5CE08-A15C-823A-1049-F5CE3371E00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5C80EBB-56FD-D26B-DC80-ABE4A826F8A2}"/>
              </a:ext>
            </a:extLst>
          </p:cNvPr>
          <p:cNvSpPr txBox="1">
            <a:spLocks/>
          </p:cNvSpPr>
          <p:nvPr/>
        </p:nvSpPr>
        <p:spPr bwMode="auto">
          <a:xfrm>
            <a:off x="2286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600" dirty="0"/>
              <a:t>Promises of the New Covenant</a:t>
            </a:r>
            <a:br>
              <a:rPr lang="en-US" dirty="0"/>
            </a:br>
            <a:r>
              <a:rPr lang="en-US" sz="2400" u="sng" dirty="0">
                <a:solidFill>
                  <a:schemeClr val="tx2">
                    <a:lumMod val="60000"/>
                    <a:lumOff val="40000"/>
                  </a:schemeClr>
                </a:solidFill>
              </a:rPr>
              <a:t>Forgiveness of Sins</a:t>
            </a:r>
          </a:p>
        </p:txBody>
      </p:sp>
      <p:sp>
        <p:nvSpPr>
          <p:cNvPr id="3" name="TextBox 2">
            <a:extLst>
              <a:ext uri="{FF2B5EF4-FFF2-40B4-BE49-F238E27FC236}">
                <a16:creationId xmlns:a16="http://schemas.microsoft.com/office/drawing/2014/main" id="{C074DF6E-0055-D375-E7AC-54CA38C4C8EF}"/>
              </a:ext>
            </a:extLst>
          </p:cNvPr>
          <p:cNvSpPr txBox="1"/>
          <p:nvPr/>
        </p:nvSpPr>
        <p:spPr>
          <a:xfrm>
            <a:off x="304800" y="1143000"/>
            <a:ext cx="8534400" cy="5355312"/>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Old Covenant Anticipation</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Israel’s sacrifices brought ritual cleansing but not true forgiveness.</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God promised a future time when sins would be completely forgiven and remembered no more.  </a:t>
            </a:r>
          </a:p>
          <a:p>
            <a:pPr marL="285750" indent="-285750" fontAlgn="ctr">
              <a:buFont typeface="Arial" panose="020B0604020202020204" pitchFamily="34" charset="0"/>
              <a:buChar char="•"/>
            </a:pPr>
            <a:r>
              <a:rPr lang="en-US" i="1" dirty="0">
                <a:ea typeface="ＭＳ Ｐゴシック" pitchFamily="-106" charset="-128"/>
                <a:cs typeface="ＭＳ Ｐゴシック" pitchFamily="-106" charset="-128"/>
              </a:rPr>
              <a:t>“I will forgive their iniquity and their sin I will no longer call to mind.”</a:t>
            </a:r>
            <a:r>
              <a:rPr lang="en-US" dirty="0">
                <a:ea typeface="ＭＳ Ｐゴシック" pitchFamily="-106" charset="-128"/>
                <a:cs typeface="ＭＳ Ｐゴシック" pitchFamily="-106" charset="-128"/>
              </a:rPr>
              <a:t> </a:t>
            </a:r>
            <a:r>
              <a:rPr lang="en-US" b="1" dirty="0">
                <a:ea typeface="ＭＳ Ｐゴシック" pitchFamily="-106" charset="-128"/>
                <a:cs typeface="ＭＳ Ｐゴシック" pitchFamily="-106" charset="-128"/>
              </a:rPr>
              <a:t>Jeremiah 31:34</a:t>
            </a:r>
          </a:p>
          <a:p>
            <a:endParaRPr lang="en-US" dirty="0">
              <a:ea typeface="ＭＳ Ｐゴシック" pitchFamily="-106" charset="-128"/>
              <a:cs typeface="ＭＳ Ｐゴシック" pitchFamily="-106" charset="-128"/>
            </a:endParaRPr>
          </a:p>
          <a:p>
            <a:r>
              <a:rPr lang="en-US" b="1" dirty="0">
                <a:ea typeface="ＭＳ Ｐゴシック" pitchFamily="-106" charset="-128"/>
                <a:cs typeface="ＭＳ Ｐゴシック" pitchFamily="-106" charset="-128"/>
              </a:rPr>
              <a:t>New Covenant Fulfillment</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Jesus declared that His blood was the means of this forgiveness.</a:t>
            </a:r>
          </a:p>
          <a:p>
            <a:pPr marL="285750" indent="-285750">
              <a:buFont typeface="Arial" panose="020B0604020202020204" pitchFamily="34" charset="0"/>
              <a:buChar char="•"/>
            </a:pPr>
            <a:r>
              <a:rPr lang="en-US" i="1" dirty="0">
                <a:ea typeface="ＭＳ Ｐゴシック" pitchFamily="-106" charset="-128"/>
                <a:cs typeface="ＭＳ Ｐゴシック" pitchFamily="-106" charset="-128"/>
              </a:rPr>
              <a:t>“This cup that is poured out for you is the new covenant in my blood.”</a:t>
            </a:r>
            <a:r>
              <a:rPr lang="en-US" dirty="0">
                <a:ea typeface="ＭＳ Ｐゴシック" pitchFamily="-106" charset="-128"/>
                <a:cs typeface="ＭＳ Ｐゴシック" pitchFamily="-106" charset="-128"/>
              </a:rPr>
              <a:t> </a:t>
            </a:r>
            <a:r>
              <a:rPr lang="en-US" b="1" dirty="0">
                <a:ea typeface="ＭＳ Ｐゴシック" pitchFamily="-106" charset="-128"/>
                <a:cs typeface="ＭＳ Ｐゴシック" pitchFamily="-106" charset="-128"/>
              </a:rPr>
              <a:t>Luke 22:20</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His sacrifice once for all fulfilled what the old offerings only pictured.</a:t>
            </a:r>
          </a:p>
          <a:p>
            <a:pPr marL="285750" indent="-285750">
              <a:buFont typeface="Arial" panose="020B0604020202020204" pitchFamily="34" charset="0"/>
              <a:buChar char="•"/>
            </a:pPr>
            <a:r>
              <a:rPr lang="en-US" i="1" dirty="0">
                <a:ea typeface="ＭＳ Ｐゴシック" pitchFamily="-106" charset="-128"/>
                <a:cs typeface="ＭＳ Ｐゴシック" pitchFamily="-106" charset="-128"/>
              </a:rPr>
              <a:t>“Without the shedding of blood there is no forgiveness.”</a:t>
            </a:r>
            <a:r>
              <a:rPr lang="en-US" dirty="0">
                <a:ea typeface="ＭＳ Ｐゴシック" pitchFamily="-106" charset="-128"/>
                <a:cs typeface="ＭＳ Ｐゴシック" pitchFamily="-106" charset="-128"/>
              </a:rPr>
              <a:t> </a:t>
            </a:r>
            <a:r>
              <a:rPr lang="en-US" b="1" dirty="0">
                <a:ea typeface="ＭＳ Ｐゴシック" pitchFamily="-106" charset="-128"/>
                <a:cs typeface="ＭＳ Ｐゴシック" pitchFamily="-106" charset="-128"/>
              </a:rPr>
              <a:t>Hebrews 9:22</a:t>
            </a:r>
          </a:p>
          <a:p>
            <a:endParaRPr lang="en-US" dirty="0">
              <a:ea typeface="ＭＳ Ｐゴシック" pitchFamily="-106" charset="-128"/>
              <a:cs typeface="ＭＳ Ｐゴシック" pitchFamily="-106" charset="-128"/>
            </a:endParaRPr>
          </a:p>
          <a:p>
            <a:r>
              <a:rPr lang="en-US" b="1" dirty="0">
                <a:ea typeface="ＭＳ Ｐゴシック" pitchFamily="-106" charset="-128"/>
                <a:cs typeface="ＭＳ Ｐゴシック" pitchFamily="-106" charset="-128"/>
              </a:rPr>
              <a:t>Jesus’ Teaching</a:t>
            </a:r>
            <a:endParaRPr lang="en-US" dirty="0">
              <a:ea typeface="ＭＳ Ｐゴシック" pitchFamily="-106" charset="-128"/>
              <a:cs typeface="ＭＳ Ｐゴシック" pitchFamily="-106" charset="-128"/>
            </a:endParaRPr>
          </a:p>
          <a:p>
            <a:pPr fontAlgn="ctr"/>
            <a:r>
              <a:rPr lang="en-US" dirty="0">
                <a:ea typeface="ＭＳ Ｐゴシック" pitchFamily="-106" charset="-128"/>
                <a:cs typeface="ＭＳ Ｐゴシック" pitchFamily="-106" charset="-128"/>
              </a:rPr>
              <a:t>He linked forgiveness directly to His person and mission:</a:t>
            </a:r>
          </a:p>
          <a:p>
            <a:pPr marL="285750" indent="-285750">
              <a:buFont typeface="Arial" panose="020B0604020202020204" pitchFamily="34" charset="0"/>
              <a:buChar char="•"/>
            </a:pPr>
            <a:r>
              <a:rPr lang="en-US" i="1" dirty="0">
                <a:ea typeface="ＭＳ Ｐゴシック" pitchFamily="-106" charset="-128"/>
                <a:cs typeface="ＭＳ Ｐゴシック" pitchFamily="-106" charset="-128"/>
              </a:rPr>
              <a:t>“The Son of Man has authority on earth to forgive sins.”</a:t>
            </a:r>
            <a:r>
              <a:rPr lang="en-US" dirty="0">
                <a:ea typeface="ＭＳ Ｐゴシック" pitchFamily="-106" charset="-128"/>
                <a:cs typeface="ＭＳ Ｐゴシック" pitchFamily="-106" charset="-128"/>
              </a:rPr>
              <a:t> </a:t>
            </a:r>
            <a:r>
              <a:rPr lang="en-US" b="1" dirty="0">
                <a:ea typeface="ＭＳ Ｐゴシック" pitchFamily="-106" charset="-128"/>
                <a:cs typeface="ＭＳ Ｐゴシック" pitchFamily="-106" charset="-128"/>
              </a:rPr>
              <a:t>Mark 2:10</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He taught His followers to extend that forgiveness to others as a mark of belonging to the kingdom (</a:t>
            </a:r>
            <a:r>
              <a:rPr lang="en-US" b="1" dirty="0">
                <a:ea typeface="ＭＳ Ｐゴシック" pitchFamily="-106" charset="-128"/>
                <a:cs typeface="ＭＳ Ｐゴシック" pitchFamily="-106" charset="-128"/>
              </a:rPr>
              <a:t>Matthew 6:14–15</a:t>
            </a:r>
            <a:r>
              <a:rPr lang="en-US" dirty="0">
                <a:ea typeface="ＭＳ Ｐゴシック" pitchFamily="-106" charset="-128"/>
                <a:cs typeface="ＭＳ Ｐゴシック" pitchFamily="-106" charset="-128"/>
              </a:rPr>
              <a:t>).</a:t>
            </a:r>
          </a:p>
        </p:txBody>
      </p:sp>
    </p:spTree>
    <p:extLst>
      <p:ext uri="{BB962C8B-B14F-4D97-AF65-F5344CB8AC3E}">
        <p14:creationId xmlns:p14="http://schemas.microsoft.com/office/powerpoint/2010/main" val="2151007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1000"/>
                                        <p:tgtEl>
                                          <p:spTgt spid="3">
                                            <p:txEl>
                                              <p:pRg st="5" end="5"/>
                                            </p:txEl>
                                          </p:spTgt>
                                        </p:tgtEl>
                                      </p:cBhvr>
                                    </p:animEffect>
                                    <p:anim calcmode="lin" valueType="num">
                                      <p:cBhvr>
                                        <p:cTn id="3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1000"/>
                                        <p:tgtEl>
                                          <p:spTgt spid="3">
                                            <p:txEl>
                                              <p:pRg st="6" end="6"/>
                                            </p:txEl>
                                          </p:spTgt>
                                        </p:tgtEl>
                                      </p:cBhvr>
                                    </p:animEffect>
                                    <p:anim calcmode="lin" valueType="num">
                                      <p:cBhvr>
                                        <p:cTn id="3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1000"/>
                                        <p:tgtEl>
                                          <p:spTgt spid="3">
                                            <p:txEl>
                                              <p:pRg st="7" end="7"/>
                                            </p:txEl>
                                          </p:spTgt>
                                        </p:tgtEl>
                                      </p:cBhvr>
                                    </p:animEffect>
                                    <p:anim calcmode="lin" valueType="num">
                                      <p:cBhvr>
                                        <p:cTn id="4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1000"/>
                                        <p:tgtEl>
                                          <p:spTgt spid="3">
                                            <p:txEl>
                                              <p:pRg st="8" end="8"/>
                                            </p:txEl>
                                          </p:spTgt>
                                        </p:tgtEl>
                                      </p:cBhvr>
                                    </p:animEffect>
                                    <p:anim calcmode="lin" valueType="num">
                                      <p:cBhvr>
                                        <p:cTn id="4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fade">
                                      <p:cBhvr>
                                        <p:cTn id="49" dur="1000"/>
                                        <p:tgtEl>
                                          <p:spTgt spid="3">
                                            <p:txEl>
                                              <p:pRg st="9" end="9"/>
                                            </p:txEl>
                                          </p:spTgt>
                                        </p:tgtEl>
                                      </p:cBhvr>
                                    </p:animEffect>
                                    <p:anim calcmode="lin" valueType="num">
                                      <p:cBhvr>
                                        <p:cTn id="50"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11" end="11"/>
                                            </p:txEl>
                                          </p:spTgt>
                                        </p:tgtEl>
                                        <p:attrNameLst>
                                          <p:attrName>style.visibility</p:attrName>
                                        </p:attrNameLst>
                                      </p:cBhvr>
                                      <p:to>
                                        <p:strVal val="visible"/>
                                      </p:to>
                                    </p:set>
                                    <p:animEffect transition="in" filter="fade">
                                      <p:cBhvr>
                                        <p:cTn id="56" dur="1000"/>
                                        <p:tgtEl>
                                          <p:spTgt spid="3">
                                            <p:txEl>
                                              <p:pRg st="11" end="11"/>
                                            </p:txEl>
                                          </p:spTgt>
                                        </p:tgtEl>
                                      </p:cBhvr>
                                    </p:animEffect>
                                    <p:anim calcmode="lin" valueType="num">
                                      <p:cBhvr>
                                        <p:cTn id="57"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3">
                                            <p:txEl>
                                              <p:pRg st="12" end="12"/>
                                            </p:txEl>
                                          </p:spTgt>
                                        </p:tgtEl>
                                        <p:attrNameLst>
                                          <p:attrName>style.visibility</p:attrName>
                                        </p:attrNameLst>
                                      </p:cBhvr>
                                      <p:to>
                                        <p:strVal val="visible"/>
                                      </p:to>
                                    </p:set>
                                    <p:animEffect transition="in" filter="fade">
                                      <p:cBhvr>
                                        <p:cTn id="61" dur="1000"/>
                                        <p:tgtEl>
                                          <p:spTgt spid="3">
                                            <p:txEl>
                                              <p:pRg st="12" end="12"/>
                                            </p:txEl>
                                          </p:spTgt>
                                        </p:tgtEl>
                                      </p:cBhvr>
                                    </p:animEffect>
                                    <p:anim calcmode="lin" valueType="num">
                                      <p:cBhvr>
                                        <p:cTn id="62"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3">
                                            <p:txEl>
                                              <p:pRg st="13" end="13"/>
                                            </p:txEl>
                                          </p:spTgt>
                                        </p:tgtEl>
                                        <p:attrNameLst>
                                          <p:attrName>style.visibility</p:attrName>
                                        </p:attrNameLst>
                                      </p:cBhvr>
                                      <p:to>
                                        <p:strVal val="visible"/>
                                      </p:to>
                                    </p:set>
                                    <p:animEffect transition="in" filter="fade">
                                      <p:cBhvr>
                                        <p:cTn id="66" dur="1000"/>
                                        <p:tgtEl>
                                          <p:spTgt spid="3">
                                            <p:txEl>
                                              <p:pRg st="13" end="13"/>
                                            </p:txEl>
                                          </p:spTgt>
                                        </p:tgtEl>
                                      </p:cBhvr>
                                    </p:animEffect>
                                    <p:anim calcmode="lin" valueType="num">
                                      <p:cBhvr>
                                        <p:cTn id="67"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68" dur="1000" fill="hold"/>
                                        <p:tgtEl>
                                          <p:spTgt spid="3">
                                            <p:txEl>
                                              <p:pRg st="13" end="13"/>
                                            </p:txEl>
                                          </p:spTgt>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3">
                                            <p:txEl>
                                              <p:pRg st="14" end="14"/>
                                            </p:txEl>
                                          </p:spTgt>
                                        </p:tgtEl>
                                        <p:attrNameLst>
                                          <p:attrName>style.visibility</p:attrName>
                                        </p:attrNameLst>
                                      </p:cBhvr>
                                      <p:to>
                                        <p:strVal val="visible"/>
                                      </p:to>
                                    </p:set>
                                    <p:animEffect transition="in" filter="fade">
                                      <p:cBhvr>
                                        <p:cTn id="71" dur="1000"/>
                                        <p:tgtEl>
                                          <p:spTgt spid="3">
                                            <p:txEl>
                                              <p:pRg st="14" end="14"/>
                                            </p:txEl>
                                          </p:spTgt>
                                        </p:tgtEl>
                                      </p:cBhvr>
                                    </p:animEffect>
                                    <p:anim calcmode="lin" valueType="num">
                                      <p:cBhvr>
                                        <p:cTn id="72"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73"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59AFA-937F-210F-37E1-69F50BA4708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EFD2816-A7EA-1153-71D7-0579E562A809}"/>
              </a:ext>
            </a:extLst>
          </p:cNvPr>
          <p:cNvSpPr txBox="1">
            <a:spLocks/>
          </p:cNvSpPr>
          <p:nvPr/>
        </p:nvSpPr>
        <p:spPr bwMode="auto">
          <a:xfrm>
            <a:off x="2286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600" dirty="0"/>
              <a:t>Promises of the New Covenant</a:t>
            </a:r>
            <a:br>
              <a:rPr lang="en-US" dirty="0"/>
            </a:br>
            <a:r>
              <a:rPr lang="en-US" sz="2400" u="sng" dirty="0">
                <a:solidFill>
                  <a:schemeClr val="tx2">
                    <a:lumMod val="60000"/>
                    <a:lumOff val="40000"/>
                  </a:schemeClr>
                </a:solidFill>
              </a:rPr>
              <a:t>A New Heart and Spirit</a:t>
            </a:r>
          </a:p>
        </p:txBody>
      </p:sp>
      <p:sp>
        <p:nvSpPr>
          <p:cNvPr id="3" name="TextBox 2">
            <a:extLst>
              <a:ext uri="{FF2B5EF4-FFF2-40B4-BE49-F238E27FC236}">
                <a16:creationId xmlns:a16="http://schemas.microsoft.com/office/drawing/2014/main" id="{844A8F5A-10D9-3F99-E742-710493A08E08}"/>
              </a:ext>
            </a:extLst>
          </p:cNvPr>
          <p:cNvSpPr txBox="1"/>
          <p:nvPr/>
        </p:nvSpPr>
        <p:spPr>
          <a:xfrm>
            <a:off x="228600" y="1143000"/>
            <a:ext cx="8534400" cy="5355312"/>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Old Covenant Anticipation</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The Law was written on stone, but hearts remained hard.</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God promised to change that; to give His people new hearts and His Spirit.</a:t>
            </a:r>
          </a:p>
          <a:p>
            <a:pPr marL="285750" indent="-285750">
              <a:buFont typeface="Arial" panose="020B0604020202020204" pitchFamily="34" charset="0"/>
              <a:buChar char="•"/>
            </a:pPr>
            <a:r>
              <a:rPr lang="en-US" i="1" dirty="0">
                <a:ea typeface="ＭＳ Ｐゴシック" pitchFamily="-106" charset="-128"/>
                <a:cs typeface="ＭＳ Ｐゴシック" pitchFamily="-106" charset="-128"/>
              </a:rPr>
              <a:t>“I will give you a new heart, and I will put a new spirit within you.”</a:t>
            </a:r>
            <a:r>
              <a:rPr lang="en-US" dirty="0">
                <a:ea typeface="ＭＳ Ｐゴシック" pitchFamily="-106" charset="-128"/>
                <a:cs typeface="ＭＳ Ｐゴシック" pitchFamily="-106" charset="-128"/>
              </a:rPr>
              <a:t>  </a:t>
            </a:r>
            <a:r>
              <a:rPr lang="en-US" b="1" dirty="0">
                <a:ea typeface="ＭＳ Ｐゴシック" pitchFamily="-106" charset="-128"/>
                <a:cs typeface="ＭＳ Ｐゴシック" pitchFamily="-106" charset="-128"/>
              </a:rPr>
              <a:t>Ezekiel 36:26–27</a:t>
            </a:r>
            <a:endParaRPr lang="en-US"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i="1" dirty="0">
                <a:ea typeface="ＭＳ Ｐゴシック" pitchFamily="-106" charset="-128"/>
                <a:cs typeface="ＭＳ Ｐゴシック" pitchFamily="-106" charset="-128"/>
              </a:rPr>
              <a:t>“I will put my law within them and write it on their hearts.”</a:t>
            </a:r>
            <a:r>
              <a:rPr lang="en-US" dirty="0">
                <a:ea typeface="ＭＳ Ｐゴシック" pitchFamily="-106" charset="-128"/>
                <a:cs typeface="ＭＳ Ｐゴシック" pitchFamily="-106" charset="-128"/>
              </a:rPr>
              <a:t>  </a:t>
            </a:r>
            <a:r>
              <a:rPr lang="en-US" b="1" dirty="0">
                <a:ea typeface="ＭＳ Ｐゴシック" pitchFamily="-106" charset="-128"/>
                <a:cs typeface="ＭＳ Ｐゴシック" pitchFamily="-106" charset="-128"/>
              </a:rPr>
              <a:t>Jeremiah 31:33</a:t>
            </a:r>
            <a:endParaRPr lang="en-US" dirty="0">
              <a:ea typeface="ＭＳ Ｐゴシック" pitchFamily="-106" charset="-128"/>
              <a:cs typeface="ＭＳ Ｐゴシック" pitchFamily="-106" charset="-128"/>
            </a:endParaRPr>
          </a:p>
          <a:p>
            <a:endParaRPr lang="en-US" b="1" dirty="0">
              <a:ea typeface="ＭＳ Ｐゴシック" pitchFamily="-106" charset="-128"/>
              <a:cs typeface="ＭＳ Ｐゴシック" pitchFamily="-106" charset="-128"/>
            </a:endParaRPr>
          </a:p>
          <a:p>
            <a:r>
              <a:rPr lang="en-US" b="1" dirty="0">
                <a:ea typeface="ＭＳ Ｐゴシック" pitchFamily="-106" charset="-128"/>
                <a:cs typeface="ＭＳ Ｐゴシック" pitchFamily="-106" charset="-128"/>
              </a:rPr>
              <a:t>New Covenant Fulfillment</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Jesus promised the coming of the Holy Spirit; the inner power to obey and love God.</a:t>
            </a:r>
          </a:p>
          <a:p>
            <a:pPr marL="285750" indent="-285750">
              <a:buFont typeface="Arial" panose="020B0604020202020204" pitchFamily="34" charset="0"/>
              <a:buChar char="•"/>
            </a:pPr>
            <a:r>
              <a:rPr lang="en-US" i="1" dirty="0">
                <a:ea typeface="ＭＳ Ｐゴシック" pitchFamily="-106" charset="-128"/>
                <a:cs typeface="ＭＳ Ｐゴシック" pitchFamily="-106" charset="-128"/>
              </a:rPr>
              <a:t>“The Advocate, the Holy Spirit… will be with you forever.”</a:t>
            </a:r>
            <a:r>
              <a:rPr lang="en-US" dirty="0">
                <a:ea typeface="ＭＳ Ｐゴシック" pitchFamily="-106" charset="-128"/>
                <a:cs typeface="ＭＳ Ｐゴシック" pitchFamily="-106" charset="-128"/>
              </a:rPr>
              <a:t>  </a:t>
            </a:r>
            <a:r>
              <a:rPr lang="en-US" b="1" dirty="0">
                <a:ea typeface="ＭＳ Ｐゴシック" pitchFamily="-106" charset="-128"/>
                <a:cs typeface="ＭＳ Ｐゴシック" pitchFamily="-106" charset="-128"/>
              </a:rPr>
              <a:t>John 14:16–17</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At Pentecost, this was fulfilled (Acts 2). The Spirit now dwells within every believer.</a:t>
            </a:r>
          </a:p>
          <a:p>
            <a:endParaRPr lang="en-US" b="1" dirty="0">
              <a:ea typeface="ＭＳ Ｐゴシック" pitchFamily="-106" charset="-128"/>
              <a:cs typeface="ＭＳ Ｐゴシック" pitchFamily="-106" charset="-128"/>
            </a:endParaRPr>
          </a:p>
          <a:p>
            <a:r>
              <a:rPr lang="en-US" b="1" dirty="0">
                <a:ea typeface="ＭＳ Ｐゴシック" pitchFamily="-106" charset="-128"/>
                <a:cs typeface="ＭＳ Ｐゴシック" pitchFamily="-106" charset="-128"/>
              </a:rPr>
              <a:t>Jesus’ Teaching</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He described this inner transformation as being “born again.”</a:t>
            </a:r>
          </a:p>
          <a:p>
            <a:pPr marL="285750" indent="-285750">
              <a:buFont typeface="Arial" panose="020B0604020202020204" pitchFamily="34" charset="0"/>
              <a:buChar char="•"/>
            </a:pPr>
            <a:r>
              <a:rPr lang="en-US" i="1" dirty="0">
                <a:ea typeface="ＭＳ Ｐゴシック" pitchFamily="-106" charset="-128"/>
                <a:cs typeface="ＭＳ Ｐゴシック" pitchFamily="-106" charset="-128"/>
              </a:rPr>
              <a:t>“Unless someone is born of water and the Spirit, he cannot enter the kingdom of God.”</a:t>
            </a:r>
            <a:r>
              <a:rPr lang="en-US" dirty="0">
                <a:ea typeface="ＭＳ Ｐゴシック" pitchFamily="-106" charset="-128"/>
                <a:cs typeface="ＭＳ Ｐゴシック" pitchFamily="-106" charset="-128"/>
              </a:rPr>
              <a:t>  </a:t>
            </a:r>
            <a:r>
              <a:rPr lang="en-US" b="1" dirty="0">
                <a:ea typeface="ＭＳ Ｐゴシック" pitchFamily="-106" charset="-128"/>
                <a:cs typeface="ＭＳ Ｐゴシック" pitchFamily="-106" charset="-128"/>
              </a:rPr>
              <a:t>John 3:5</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The Spirit gives life from within; not external law, but inward renewal.</a:t>
            </a:r>
          </a:p>
        </p:txBody>
      </p:sp>
    </p:spTree>
    <p:extLst>
      <p:ext uri="{BB962C8B-B14F-4D97-AF65-F5344CB8AC3E}">
        <p14:creationId xmlns:p14="http://schemas.microsoft.com/office/powerpoint/2010/main" val="3204640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1000"/>
                                        <p:tgtEl>
                                          <p:spTgt spid="3">
                                            <p:txEl>
                                              <p:pRg st="6" end="6"/>
                                            </p:txEl>
                                          </p:spTgt>
                                        </p:tgtEl>
                                      </p:cBhvr>
                                    </p:animEffect>
                                    <p:anim calcmode="lin" valueType="num">
                                      <p:cBhvr>
                                        <p:cTn id="3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1000"/>
                                        <p:tgtEl>
                                          <p:spTgt spid="3">
                                            <p:txEl>
                                              <p:pRg st="7" end="7"/>
                                            </p:txEl>
                                          </p:spTgt>
                                        </p:tgtEl>
                                      </p:cBhvr>
                                    </p:animEffect>
                                    <p:anim calcmode="lin" valueType="num">
                                      <p:cBhvr>
                                        <p:cTn id="4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1000"/>
                                        <p:tgtEl>
                                          <p:spTgt spid="3">
                                            <p:txEl>
                                              <p:pRg st="8" end="8"/>
                                            </p:txEl>
                                          </p:spTgt>
                                        </p:tgtEl>
                                      </p:cBhvr>
                                    </p:animEffect>
                                    <p:anim calcmode="lin" valueType="num">
                                      <p:cBhvr>
                                        <p:cTn id="4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fade">
                                      <p:cBhvr>
                                        <p:cTn id="49" dur="1000"/>
                                        <p:tgtEl>
                                          <p:spTgt spid="3">
                                            <p:txEl>
                                              <p:pRg st="9" end="9"/>
                                            </p:txEl>
                                          </p:spTgt>
                                        </p:tgtEl>
                                      </p:cBhvr>
                                    </p:animEffect>
                                    <p:anim calcmode="lin" valueType="num">
                                      <p:cBhvr>
                                        <p:cTn id="50"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11" end="11"/>
                                            </p:txEl>
                                          </p:spTgt>
                                        </p:tgtEl>
                                        <p:attrNameLst>
                                          <p:attrName>style.visibility</p:attrName>
                                        </p:attrNameLst>
                                      </p:cBhvr>
                                      <p:to>
                                        <p:strVal val="visible"/>
                                      </p:to>
                                    </p:set>
                                    <p:animEffect transition="in" filter="fade">
                                      <p:cBhvr>
                                        <p:cTn id="56" dur="1000"/>
                                        <p:tgtEl>
                                          <p:spTgt spid="3">
                                            <p:txEl>
                                              <p:pRg st="11" end="11"/>
                                            </p:txEl>
                                          </p:spTgt>
                                        </p:tgtEl>
                                      </p:cBhvr>
                                    </p:animEffect>
                                    <p:anim calcmode="lin" valueType="num">
                                      <p:cBhvr>
                                        <p:cTn id="57"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3">
                                            <p:txEl>
                                              <p:pRg st="12" end="12"/>
                                            </p:txEl>
                                          </p:spTgt>
                                        </p:tgtEl>
                                        <p:attrNameLst>
                                          <p:attrName>style.visibility</p:attrName>
                                        </p:attrNameLst>
                                      </p:cBhvr>
                                      <p:to>
                                        <p:strVal val="visible"/>
                                      </p:to>
                                    </p:set>
                                    <p:animEffect transition="in" filter="fade">
                                      <p:cBhvr>
                                        <p:cTn id="61" dur="1000"/>
                                        <p:tgtEl>
                                          <p:spTgt spid="3">
                                            <p:txEl>
                                              <p:pRg st="12" end="12"/>
                                            </p:txEl>
                                          </p:spTgt>
                                        </p:tgtEl>
                                      </p:cBhvr>
                                    </p:animEffect>
                                    <p:anim calcmode="lin" valueType="num">
                                      <p:cBhvr>
                                        <p:cTn id="62"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3">
                                            <p:txEl>
                                              <p:pRg st="13" end="13"/>
                                            </p:txEl>
                                          </p:spTgt>
                                        </p:tgtEl>
                                        <p:attrNameLst>
                                          <p:attrName>style.visibility</p:attrName>
                                        </p:attrNameLst>
                                      </p:cBhvr>
                                      <p:to>
                                        <p:strVal val="visible"/>
                                      </p:to>
                                    </p:set>
                                    <p:animEffect transition="in" filter="fade">
                                      <p:cBhvr>
                                        <p:cTn id="66" dur="1000"/>
                                        <p:tgtEl>
                                          <p:spTgt spid="3">
                                            <p:txEl>
                                              <p:pRg st="13" end="13"/>
                                            </p:txEl>
                                          </p:spTgt>
                                        </p:tgtEl>
                                      </p:cBhvr>
                                    </p:animEffect>
                                    <p:anim calcmode="lin" valueType="num">
                                      <p:cBhvr>
                                        <p:cTn id="67"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68" dur="1000" fill="hold"/>
                                        <p:tgtEl>
                                          <p:spTgt spid="3">
                                            <p:txEl>
                                              <p:pRg st="13" end="13"/>
                                            </p:txEl>
                                          </p:spTgt>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3">
                                            <p:txEl>
                                              <p:pRg st="14" end="14"/>
                                            </p:txEl>
                                          </p:spTgt>
                                        </p:tgtEl>
                                        <p:attrNameLst>
                                          <p:attrName>style.visibility</p:attrName>
                                        </p:attrNameLst>
                                      </p:cBhvr>
                                      <p:to>
                                        <p:strVal val="visible"/>
                                      </p:to>
                                    </p:set>
                                    <p:animEffect transition="in" filter="fade">
                                      <p:cBhvr>
                                        <p:cTn id="71" dur="1000"/>
                                        <p:tgtEl>
                                          <p:spTgt spid="3">
                                            <p:txEl>
                                              <p:pRg st="14" end="14"/>
                                            </p:txEl>
                                          </p:spTgt>
                                        </p:tgtEl>
                                      </p:cBhvr>
                                    </p:animEffect>
                                    <p:anim calcmode="lin" valueType="num">
                                      <p:cBhvr>
                                        <p:cTn id="72"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73"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3DDCA-CBEA-47B3-0929-55C1C02C106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B98C3E0-2E3A-46F4-C6B8-B30890DF36B8}"/>
              </a:ext>
            </a:extLst>
          </p:cNvPr>
          <p:cNvSpPr txBox="1">
            <a:spLocks/>
          </p:cNvSpPr>
          <p:nvPr/>
        </p:nvSpPr>
        <p:spPr bwMode="auto">
          <a:xfrm>
            <a:off x="2286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600" dirty="0"/>
              <a:t>Promises of the New Covenant</a:t>
            </a:r>
            <a:br>
              <a:rPr lang="en-US" dirty="0"/>
            </a:br>
            <a:r>
              <a:rPr lang="en-US" sz="2400" u="sng" dirty="0">
                <a:solidFill>
                  <a:schemeClr val="tx2">
                    <a:lumMod val="60000"/>
                    <a:lumOff val="40000"/>
                  </a:schemeClr>
                </a:solidFill>
              </a:rPr>
              <a:t>Direct and Personal Relationship with God</a:t>
            </a:r>
          </a:p>
        </p:txBody>
      </p:sp>
      <p:sp>
        <p:nvSpPr>
          <p:cNvPr id="3" name="TextBox 2">
            <a:extLst>
              <a:ext uri="{FF2B5EF4-FFF2-40B4-BE49-F238E27FC236}">
                <a16:creationId xmlns:a16="http://schemas.microsoft.com/office/drawing/2014/main" id="{27AC0B2E-ADD7-2D5F-50C0-3B95B74C38F6}"/>
              </a:ext>
            </a:extLst>
          </p:cNvPr>
          <p:cNvSpPr txBox="1"/>
          <p:nvPr/>
        </p:nvSpPr>
        <p:spPr>
          <a:xfrm>
            <a:off x="228600" y="1143000"/>
            <a:ext cx="8534400" cy="5109091"/>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Old Covenant Anticipation</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Access to God was limited to priests and prophets. The people stood at a distance.</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God promised a time when all His people would know Him personally.</a:t>
            </a:r>
          </a:p>
          <a:p>
            <a:pPr marL="285750" indent="-285750">
              <a:buFont typeface="Arial" panose="020B0604020202020204" pitchFamily="34" charset="0"/>
              <a:buChar char="•"/>
            </a:pPr>
            <a:r>
              <a:rPr lang="en-US" i="1" dirty="0">
                <a:ea typeface="ＭＳ Ｐゴシック" pitchFamily="-106" charset="-128"/>
                <a:cs typeface="ＭＳ Ｐゴシック" pitchFamily="-106" charset="-128"/>
              </a:rPr>
              <a:t>“They will all know me, from the least of them to the greatest.”</a:t>
            </a:r>
            <a:r>
              <a:rPr lang="en-US" dirty="0">
                <a:ea typeface="ＭＳ Ｐゴシック" pitchFamily="-106" charset="-128"/>
                <a:cs typeface="ＭＳ Ｐゴシック" pitchFamily="-106" charset="-128"/>
              </a:rPr>
              <a:t> </a:t>
            </a:r>
            <a:r>
              <a:rPr lang="en-US" b="1" dirty="0">
                <a:ea typeface="ＭＳ Ｐゴシック" pitchFamily="-106" charset="-128"/>
                <a:cs typeface="ＭＳ Ｐゴシック" pitchFamily="-106" charset="-128"/>
              </a:rPr>
              <a:t>Jeremiah 31:34</a:t>
            </a:r>
            <a:endParaRPr lang="en-US" dirty="0">
              <a:ea typeface="ＭＳ Ｐゴシック" pitchFamily="-106" charset="-128"/>
              <a:cs typeface="ＭＳ Ｐゴシック" pitchFamily="-106" charset="-128"/>
            </a:endParaRPr>
          </a:p>
          <a:p>
            <a:endParaRPr lang="en-US" b="1" dirty="0">
              <a:ea typeface="ＭＳ Ｐゴシック" pitchFamily="-106" charset="-128"/>
              <a:cs typeface="ＭＳ Ｐゴシック" pitchFamily="-106" charset="-128"/>
            </a:endParaRPr>
          </a:p>
          <a:p>
            <a:r>
              <a:rPr lang="en-US" b="1" dirty="0">
                <a:ea typeface="ＭＳ Ｐゴシック" pitchFamily="-106" charset="-128"/>
                <a:cs typeface="ＭＳ Ｐゴシック" pitchFamily="-106" charset="-128"/>
              </a:rPr>
              <a:t>New Covenant Fulfillment</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Through Christ, the veil is torn, and direct access is opened.</a:t>
            </a:r>
          </a:p>
          <a:p>
            <a:pPr marL="285750" indent="-285750">
              <a:buFont typeface="Arial" panose="020B0604020202020204" pitchFamily="34" charset="0"/>
              <a:buChar char="•"/>
            </a:pPr>
            <a:r>
              <a:rPr lang="en-US" i="1" dirty="0">
                <a:ea typeface="ＭＳ Ｐゴシック" pitchFamily="-106" charset="-128"/>
                <a:cs typeface="ＭＳ Ｐゴシック" pitchFamily="-106" charset="-128"/>
              </a:rPr>
              <a:t>“We have confidence to enter the sanctuary by the blood of Jesus.”</a:t>
            </a:r>
            <a:r>
              <a:rPr lang="en-US" dirty="0">
                <a:ea typeface="ＭＳ Ｐゴシック" pitchFamily="-106" charset="-128"/>
                <a:cs typeface="ＭＳ Ｐゴシック" pitchFamily="-106" charset="-128"/>
              </a:rPr>
              <a:t> </a:t>
            </a:r>
            <a:r>
              <a:rPr lang="en-US" b="1" dirty="0">
                <a:ea typeface="ＭＳ Ｐゴシック" pitchFamily="-106" charset="-128"/>
                <a:cs typeface="ＭＳ Ｐゴシック" pitchFamily="-106" charset="-128"/>
              </a:rPr>
              <a:t>Hebrews 10:19–20</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Every believer is now part of a royal priesthood (</a:t>
            </a:r>
            <a:r>
              <a:rPr lang="en-US" b="1" dirty="0">
                <a:ea typeface="ＭＳ Ｐゴシック" pitchFamily="-106" charset="-128"/>
                <a:cs typeface="ＭＳ Ｐゴシック" pitchFamily="-106" charset="-128"/>
              </a:rPr>
              <a:t>1 Peter 2:9</a:t>
            </a:r>
            <a:r>
              <a:rPr lang="en-US" dirty="0">
                <a:ea typeface="ＭＳ Ｐゴシック" pitchFamily="-106" charset="-128"/>
                <a:cs typeface="ＭＳ Ｐゴシック" pitchFamily="-106" charset="-128"/>
              </a:rPr>
              <a:t>).</a:t>
            </a:r>
          </a:p>
          <a:p>
            <a:endParaRPr lang="en-US" b="1" dirty="0">
              <a:ea typeface="ＭＳ Ｐゴシック" pitchFamily="-106" charset="-128"/>
              <a:cs typeface="ＭＳ Ｐゴシック" pitchFamily="-106" charset="-128"/>
            </a:endParaRPr>
          </a:p>
          <a:p>
            <a:r>
              <a:rPr lang="en-US" b="1" dirty="0">
                <a:ea typeface="ＭＳ Ｐゴシック" pitchFamily="-106" charset="-128"/>
                <a:cs typeface="ＭＳ Ｐゴシック" pitchFamily="-106" charset="-128"/>
              </a:rPr>
              <a:t>Jesus’ Teaching</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He invited personal fellowship with the Father through Himself.</a:t>
            </a:r>
          </a:p>
          <a:p>
            <a:pPr marL="285750" indent="-285750">
              <a:buFont typeface="Arial" panose="020B0604020202020204" pitchFamily="34" charset="0"/>
              <a:buChar char="•"/>
            </a:pPr>
            <a:r>
              <a:rPr lang="en-US" i="1" dirty="0">
                <a:ea typeface="ＭＳ Ｐゴシック" pitchFamily="-106" charset="-128"/>
                <a:cs typeface="ＭＳ Ｐゴシック" pitchFamily="-106" charset="-128"/>
              </a:rPr>
              <a:t>“No one comes to the Father except through Me.”</a:t>
            </a:r>
            <a:r>
              <a:rPr lang="en-US" dirty="0">
                <a:ea typeface="ＭＳ Ｐゴシック" pitchFamily="-106" charset="-128"/>
                <a:cs typeface="ＭＳ Ｐゴシック" pitchFamily="-106" charset="-128"/>
              </a:rPr>
              <a:t>  </a:t>
            </a:r>
            <a:r>
              <a:rPr lang="en-US" b="1" dirty="0">
                <a:ea typeface="ＭＳ Ｐゴシック" pitchFamily="-106" charset="-128"/>
                <a:cs typeface="ＭＳ Ｐゴシック" pitchFamily="-106" charset="-128"/>
              </a:rPr>
              <a:t>John 14:6</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He prayed that His followers would share His own relationship with the Father:</a:t>
            </a:r>
          </a:p>
          <a:p>
            <a:pPr marL="285750" indent="-285750">
              <a:buFont typeface="Arial" panose="020B0604020202020204" pitchFamily="34" charset="0"/>
              <a:buChar char="•"/>
            </a:pPr>
            <a:r>
              <a:rPr lang="en-US" i="1" dirty="0">
                <a:ea typeface="ＭＳ Ｐゴシック" pitchFamily="-106" charset="-128"/>
                <a:cs typeface="ＭＳ Ｐゴシック" pitchFamily="-106" charset="-128"/>
              </a:rPr>
              <a:t>“That they may be one, just as You, Father, are in Me and I in You.”</a:t>
            </a:r>
            <a:r>
              <a:rPr lang="en-US" dirty="0">
                <a:ea typeface="ＭＳ Ｐゴシック" pitchFamily="-106" charset="-128"/>
                <a:cs typeface="ＭＳ Ｐゴシック" pitchFamily="-106" charset="-128"/>
              </a:rPr>
              <a:t> </a:t>
            </a:r>
            <a:r>
              <a:rPr lang="en-US" b="1" dirty="0">
                <a:ea typeface="ＭＳ Ｐゴシック" pitchFamily="-106" charset="-128"/>
                <a:cs typeface="ＭＳ Ｐゴシック" pitchFamily="-106" charset="-128"/>
              </a:rPr>
              <a:t>John 17:21</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The Spirit gives life from within; not external law, but inward renewal.</a:t>
            </a:r>
            <a:endParaRPr lang="en-US" sz="2000"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261127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1000"/>
                                        <p:tgtEl>
                                          <p:spTgt spid="3">
                                            <p:txEl>
                                              <p:pRg st="5" end="5"/>
                                            </p:txEl>
                                          </p:spTgt>
                                        </p:tgtEl>
                                      </p:cBhvr>
                                    </p:animEffect>
                                    <p:anim calcmode="lin" valueType="num">
                                      <p:cBhvr>
                                        <p:cTn id="3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1000"/>
                                        <p:tgtEl>
                                          <p:spTgt spid="3">
                                            <p:txEl>
                                              <p:pRg st="6" end="6"/>
                                            </p:txEl>
                                          </p:spTgt>
                                        </p:tgtEl>
                                      </p:cBhvr>
                                    </p:animEffect>
                                    <p:anim calcmode="lin" valueType="num">
                                      <p:cBhvr>
                                        <p:cTn id="3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1000"/>
                                        <p:tgtEl>
                                          <p:spTgt spid="3">
                                            <p:txEl>
                                              <p:pRg st="7" end="7"/>
                                            </p:txEl>
                                          </p:spTgt>
                                        </p:tgtEl>
                                      </p:cBhvr>
                                    </p:animEffect>
                                    <p:anim calcmode="lin" valueType="num">
                                      <p:cBhvr>
                                        <p:cTn id="4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1000"/>
                                        <p:tgtEl>
                                          <p:spTgt spid="3">
                                            <p:txEl>
                                              <p:pRg st="8" end="8"/>
                                            </p:txEl>
                                          </p:spTgt>
                                        </p:tgtEl>
                                      </p:cBhvr>
                                    </p:animEffect>
                                    <p:anim calcmode="lin" valueType="num">
                                      <p:cBhvr>
                                        <p:cTn id="4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animEffect transition="in" filter="fade">
                                      <p:cBhvr>
                                        <p:cTn id="51" dur="1000"/>
                                        <p:tgtEl>
                                          <p:spTgt spid="3">
                                            <p:txEl>
                                              <p:pRg st="10" end="10"/>
                                            </p:txEl>
                                          </p:spTgt>
                                        </p:tgtEl>
                                      </p:cBhvr>
                                    </p:animEffect>
                                    <p:anim calcmode="lin" valueType="num">
                                      <p:cBhvr>
                                        <p:cTn id="52"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3"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3">
                                            <p:txEl>
                                              <p:pRg st="11" end="11"/>
                                            </p:txEl>
                                          </p:spTgt>
                                        </p:tgtEl>
                                        <p:attrNameLst>
                                          <p:attrName>style.visibility</p:attrName>
                                        </p:attrNameLst>
                                      </p:cBhvr>
                                      <p:to>
                                        <p:strVal val="visible"/>
                                      </p:to>
                                    </p:set>
                                    <p:animEffect transition="in" filter="fade">
                                      <p:cBhvr>
                                        <p:cTn id="56" dur="1000"/>
                                        <p:tgtEl>
                                          <p:spTgt spid="3">
                                            <p:txEl>
                                              <p:pRg st="11" end="11"/>
                                            </p:txEl>
                                          </p:spTgt>
                                        </p:tgtEl>
                                      </p:cBhvr>
                                    </p:animEffect>
                                    <p:anim calcmode="lin" valueType="num">
                                      <p:cBhvr>
                                        <p:cTn id="57"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3">
                                            <p:txEl>
                                              <p:pRg st="12" end="12"/>
                                            </p:txEl>
                                          </p:spTgt>
                                        </p:tgtEl>
                                        <p:attrNameLst>
                                          <p:attrName>style.visibility</p:attrName>
                                        </p:attrNameLst>
                                      </p:cBhvr>
                                      <p:to>
                                        <p:strVal val="visible"/>
                                      </p:to>
                                    </p:set>
                                    <p:animEffect transition="in" filter="fade">
                                      <p:cBhvr>
                                        <p:cTn id="61" dur="1000"/>
                                        <p:tgtEl>
                                          <p:spTgt spid="3">
                                            <p:txEl>
                                              <p:pRg st="12" end="12"/>
                                            </p:txEl>
                                          </p:spTgt>
                                        </p:tgtEl>
                                      </p:cBhvr>
                                    </p:animEffect>
                                    <p:anim calcmode="lin" valueType="num">
                                      <p:cBhvr>
                                        <p:cTn id="62"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3">
                                            <p:txEl>
                                              <p:pRg st="13" end="13"/>
                                            </p:txEl>
                                          </p:spTgt>
                                        </p:tgtEl>
                                        <p:attrNameLst>
                                          <p:attrName>style.visibility</p:attrName>
                                        </p:attrNameLst>
                                      </p:cBhvr>
                                      <p:to>
                                        <p:strVal val="visible"/>
                                      </p:to>
                                    </p:set>
                                    <p:animEffect transition="in" filter="fade">
                                      <p:cBhvr>
                                        <p:cTn id="66" dur="1000"/>
                                        <p:tgtEl>
                                          <p:spTgt spid="3">
                                            <p:txEl>
                                              <p:pRg st="13" end="13"/>
                                            </p:txEl>
                                          </p:spTgt>
                                        </p:tgtEl>
                                      </p:cBhvr>
                                    </p:animEffect>
                                    <p:anim calcmode="lin" valueType="num">
                                      <p:cBhvr>
                                        <p:cTn id="67"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68" dur="1000" fill="hold"/>
                                        <p:tgtEl>
                                          <p:spTgt spid="3">
                                            <p:txEl>
                                              <p:pRg st="13" end="13"/>
                                            </p:txEl>
                                          </p:spTgt>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3">
                                            <p:txEl>
                                              <p:pRg st="14" end="14"/>
                                            </p:txEl>
                                          </p:spTgt>
                                        </p:tgtEl>
                                        <p:attrNameLst>
                                          <p:attrName>style.visibility</p:attrName>
                                        </p:attrNameLst>
                                      </p:cBhvr>
                                      <p:to>
                                        <p:strVal val="visible"/>
                                      </p:to>
                                    </p:set>
                                    <p:animEffect transition="in" filter="fade">
                                      <p:cBhvr>
                                        <p:cTn id="71" dur="1000"/>
                                        <p:tgtEl>
                                          <p:spTgt spid="3">
                                            <p:txEl>
                                              <p:pRg st="14" end="14"/>
                                            </p:txEl>
                                          </p:spTgt>
                                        </p:tgtEl>
                                      </p:cBhvr>
                                    </p:animEffect>
                                    <p:anim calcmode="lin" valueType="num">
                                      <p:cBhvr>
                                        <p:cTn id="72"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73" dur="1000" fill="hold"/>
                                        <p:tgtEl>
                                          <p:spTgt spid="3">
                                            <p:txEl>
                                              <p:pRg st="14" end="14"/>
                                            </p:txEl>
                                          </p:spTgt>
                                        </p:tgtEl>
                                        <p:attrNameLst>
                                          <p:attrName>ppt_y</p:attrName>
                                        </p:attrNameLst>
                                      </p:cBhvr>
                                      <p:tavLst>
                                        <p:tav tm="0">
                                          <p:val>
                                            <p:strVal val="#ppt_y+.1"/>
                                          </p:val>
                                        </p:tav>
                                        <p:tav tm="100000">
                                          <p:val>
                                            <p:strVal val="#ppt_y"/>
                                          </p:val>
                                        </p:tav>
                                      </p:tavLst>
                                    </p:anim>
                                  </p:childTnLst>
                                </p:cTn>
                              </p:par>
                              <p:par>
                                <p:cTn id="74" presetID="42" presetClass="entr" presetSubtype="0" fill="hold" nodeType="withEffect">
                                  <p:stCondLst>
                                    <p:cond delay="0"/>
                                  </p:stCondLst>
                                  <p:childTnLst>
                                    <p:set>
                                      <p:cBhvr>
                                        <p:cTn id="75" dur="1" fill="hold">
                                          <p:stCondLst>
                                            <p:cond delay="0"/>
                                          </p:stCondLst>
                                        </p:cTn>
                                        <p:tgtEl>
                                          <p:spTgt spid="3">
                                            <p:txEl>
                                              <p:pRg st="15" end="15"/>
                                            </p:txEl>
                                          </p:spTgt>
                                        </p:tgtEl>
                                        <p:attrNameLst>
                                          <p:attrName>style.visibility</p:attrName>
                                        </p:attrNameLst>
                                      </p:cBhvr>
                                      <p:to>
                                        <p:strVal val="visible"/>
                                      </p:to>
                                    </p:set>
                                    <p:animEffect transition="in" filter="fade">
                                      <p:cBhvr>
                                        <p:cTn id="76" dur="1000"/>
                                        <p:tgtEl>
                                          <p:spTgt spid="3">
                                            <p:txEl>
                                              <p:pRg st="15" end="15"/>
                                            </p:txEl>
                                          </p:spTgt>
                                        </p:tgtEl>
                                      </p:cBhvr>
                                    </p:animEffect>
                                    <p:anim calcmode="lin" valueType="num">
                                      <p:cBhvr>
                                        <p:cTn id="77" dur="1000" fill="hold"/>
                                        <p:tgtEl>
                                          <p:spTgt spid="3">
                                            <p:txEl>
                                              <p:pRg st="15" end="15"/>
                                            </p:txEl>
                                          </p:spTgt>
                                        </p:tgtEl>
                                        <p:attrNameLst>
                                          <p:attrName>ppt_x</p:attrName>
                                        </p:attrNameLst>
                                      </p:cBhvr>
                                      <p:tavLst>
                                        <p:tav tm="0">
                                          <p:val>
                                            <p:strVal val="#ppt_x"/>
                                          </p:val>
                                        </p:tav>
                                        <p:tav tm="100000">
                                          <p:val>
                                            <p:strVal val="#ppt_x"/>
                                          </p:val>
                                        </p:tav>
                                      </p:tavLst>
                                    </p:anim>
                                    <p:anim calcmode="lin" valueType="num">
                                      <p:cBhvr>
                                        <p:cTn id="78" dur="1000" fill="hold"/>
                                        <p:tgtEl>
                                          <p:spTgt spid="3">
                                            <p:txEl>
                                              <p:pRg st="15" end="1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1C35A-965A-47E7-B1BB-F4FD1C34553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EF17628-9ECB-33FF-322A-D32E2786F8C5}"/>
              </a:ext>
            </a:extLst>
          </p:cNvPr>
          <p:cNvSpPr txBox="1">
            <a:spLocks/>
          </p:cNvSpPr>
          <p:nvPr/>
        </p:nvSpPr>
        <p:spPr bwMode="auto">
          <a:xfrm>
            <a:off x="2286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600" dirty="0"/>
              <a:t>Promises of the New Covenant</a:t>
            </a:r>
            <a:br>
              <a:rPr lang="en-US" dirty="0"/>
            </a:br>
            <a:r>
              <a:rPr lang="en-US" sz="2400" u="sng" dirty="0">
                <a:solidFill>
                  <a:schemeClr val="tx2">
                    <a:lumMod val="60000"/>
                    <a:lumOff val="40000"/>
                  </a:schemeClr>
                </a:solidFill>
              </a:rPr>
              <a:t>An Everlasting Covenant of Peace</a:t>
            </a:r>
          </a:p>
        </p:txBody>
      </p:sp>
      <p:sp>
        <p:nvSpPr>
          <p:cNvPr id="3" name="TextBox 2">
            <a:extLst>
              <a:ext uri="{FF2B5EF4-FFF2-40B4-BE49-F238E27FC236}">
                <a16:creationId xmlns:a16="http://schemas.microsoft.com/office/drawing/2014/main" id="{0A12AA06-19F0-D462-3625-AD632D42F534}"/>
              </a:ext>
            </a:extLst>
          </p:cNvPr>
          <p:cNvSpPr txBox="1"/>
          <p:nvPr/>
        </p:nvSpPr>
        <p:spPr>
          <a:xfrm>
            <a:off x="228600" y="1143000"/>
            <a:ext cx="8534400" cy="5632311"/>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Old Covenant Anticipation</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God promised a lasting covenant of peace; not dependent on Israel’s faithfulness but on His own mercy.</a:t>
            </a:r>
          </a:p>
          <a:p>
            <a:pPr marL="285750" indent="-285750">
              <a:buFont typeface="Arial" panose="020B0604020202020204" pitchFamily="34" charset="0"/>
              <a:buChar char="•"/>
            </a:pPr>
            <a:r>
              <a:rPr lang="en-US" i="1" dirty="0">
                <a:ea typeface="ＭＳ Ｐゴシック" pitchFamily="-106" charset="-128"/>
                <a:cs typeface="ＭＳ Ｐゴシック" pitchFamily="-106" charset="-128"/>
              </a:rPr>
              <a:t>“I will make a covenant of peace with them; it will be an everlasting covenant.”</a:t>
            </a:r>
            <a:r>
              <a:rPr lang="en-US" dirty="0">
                <a:ea typeface="ＭＳ Ｐゴシック" pitchFamily="-106" charset="-128"/>
                <a:cs typeface="ＭＳ Ｐゴシック" pitchFamily="-106" charset="-128"/>
              </a:rPr>
              <a:t> </a:t>
            </a:r>
            <a:r>
              <a:rPr lang="en-US" b="1" dirty="0">
                <a:ea typeface="ＭＳ Ｐゴシック" pitchFamily="-106" charset="-128"/>
                <a:cs typeface="ＭＳ Ｐゴシック" pitchFamily="-106" charset="-128"/>
              </a:rPr>
              <a:t>Ezekiel 37:26</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The prophets foresaw a restored kingdom where righteousness and peace reign.</a:t>
            </a:r>
          </a:p>
          <a:p>
            <a:endParaRPr lang="en-US" b="1" dirty="0">
              <a:ea typeface="ＭＳ Ｐゴシック" pitchFamily="-106" charset="-128"/>
              <a:cs typeface="ＭＳ Ｐゴシック" pitchFamily="-106" charset="-128"/>
            </a:endParaRPr>
          </a:p>
          <a:p>
            <a:r>
              <a:rPr lang="en-US" b="1" dirty="0">
                <a:ea typeface="ＭＳ Ｐゴシック" pitchFamily="-106" charset="-128"/>
                <a:cs typeface="ＭＳ Ｐゴシック" pitchFamily="-106" charset="-128"/>
              </a:rPr>
              <a:t>New Covenant Fulfillment</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Jesus is called the “Prince of Peace” (</a:t>
            </a:r>
            <a:r>
              <a:rPr lang="en-US" b="1" dirty="0">
                <a:ea typeface="ＭＳ Ｐゴシック" pitchFamily="-106" charset="-128"/>
                <a:cs typeface="ＭＳ Ｐゴシック" pitchFamily="-106" charset="-128"/>
              </a:rPr>
              <a:t>Isaiah 9:6</a:t>
            </a:r>
            <a:r>
              <a:rPr lang="en-US" dirty="0">
                <a:ea typeface="ＭＳ Ｐゴシック" pitchFamily="-106" charset="-128"/>
                <a:cs typeface="ＭＳ Ｐゴシック" pitchFamily="-106" charset="-128"/>
              </a:rPr>
              <a:t>). Through Him, God reconciles the world to Himself.</a:t>
            </a:r>
          </a:p>
          <a:p>
            <a:pPr marL="285750" indent="-285750">
              <a:buFont typeface="Arial" panose="020B0604020202020204" pitchFamily="34" charset="0"/>
              <a:buChar char="•"/>
            </a:pPr>
            <a:r>
              <a:rPr lang="en-US" i="1" dirty="0">
                <a:ea typeface="ＭＳ Ｐゴシック" pitchFamily="-106" charset="-128"/>
                <a:cs typeface="ＭＳ Ｐゴシック" pitchFamily="-106" charset="-128"/>
              </a:rPr>
              <a:t>“He Himself is our peace.”</a:t>
            </a:r>
            <a:r>
              <a:rPr lang="en-US" dirty="0">
                <a:ea typeface="ＭＳ Ｐゴシック" pitchFamily="-106" charset="-128"/>
                <a:cs typeface="ＭＳ Ｐゴシック" pitchFamily="-106" charset="-128"/>
              </a:rPr>
              <a:t> </a:t>
            </a:r>
            <a:r>
              <a:rPr lang="en-US" b="1" dirty="0">
                <a:ea typeface="ＭＳ Ｐゴシック" pitchFamily="-106" charset="-128"/>
                <a:cs typeface="ＭＳ Ｐゴシック" pitchFamily="-106" charset="-128"/>
              </a:rPr>
              <a:t>Ephesians 2:14</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His death removes enmity between God and man, creating one new people united in peace.</a:t>
            </a:r>
          </a:p>
          <a:p>
            <a:endParaRPr lang="en-US" b="1" dirty="0">
              <a:ea typeface="ＭＳ Ｐゴシック" pitchFamily="-106" charset="-128"/>
              <a:cs typeface="ＭＳ Ｐゴシック" pitchFamily="-106" charset="-128"/>
            </a:endParaRPr>
          </a:p>
          <a:p>
            <a:r>
              <a:rPr lang="en-US" b="1" dirty="0">
                <a:ea typeface="ＭＳ Ｐゴシック" pitchFamily="-106" charset="-128"/>
                <a:cs typeface="ＭＳ Ｐゴシック" pitchFamily="-106" charset="-128"/>
              </a:rPr>
              <a:t>Jesus’ Teaching</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He offered His peace as a gift to His disciples:</a:t>
            </a:r>
          </a:p>
          <a:p>
            <a:pPr marL="285750" indent="-285750">
              <a:buFont typeface="Arial" panose="020B0604020202020204" pitchFamily="34" charset="0"/>
              <a:buChar char="•"/>
            </a:pPr>
            <a:r>
              <a:rPr lang="en-US" i="1" dirty="0">
                <a:ea typeface="ＭＳ Ｐゴシック" pitchFamily="-106" charset="-128"/>
                <a:cs typeface="ＭＳ Ｐゴシック" pitchFamily="-106" charset="-128"/>
              </a:rPr>
              <a:t>“Peace I leave with you; My peace I give to you.”</a:t>
            </a:r>
            <a:r>
              <a:rPr lang="en-US" dirty="0">
                <a:ea typeface="ＭＳ Ｐゴシック" pitchFamily="-106" charset="-128"/>
                <a:cs typeface="ＭＳ Ｐゴシック" pitchFamily="-106" charset="-128"/>
              </a:rPr>
              <a:t> </a:t>
            </a:r>
            <a:r>
              <a:rPr lang="en-US" b="1" dirty="0">
                <a:ea typeface="ＭＳ Ｐゴシック" pitchFamily="-106" charset="-128"/>
                <a:cs typeface="ＭＳ Ｐゴシック" pitchFamily="-106" charset="-128"/>
              </a:rPr>
              <a:t>John 14:27</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This peace is not the absence of trouble but the presence of reconciliation with God.</a:t>
            </a:r>
          </a:p>
        </p:txBody>
      </p:sp>
    </p:spTree>
    <p:extLst>
      <p:ext uri="{BB962C8B-B14F-4D97-AF65-F5344CB8AC3E}">
        <p14:creationId xmlns:p14="http://schemas.microsoft.com/office/powerpoint/2010/main" val="3209318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1000"/>
                                        <p:tgtEl>
                                          <p:spTgt spid="3">
                                            <p:txEl>
                                              <p:pRg st="5" end="5"/>
                                            </p:txEl>
                                          </p:spTgt>
                                        </p:tgtEl>
                                      </p:cBhvr>
                                    </p:animEffect>
                                    <p:anim calcmode="lin" valueType="num">
                                      <p:cBhvr>
                                        <p:cTn id="3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1000"/>
                                        <p:tgtEl>
                                          <p:spTgt spid="3">
                                            <p:txEl>
                                              <p:pRg st="6" end="6"/>
                                            </p:txEl>
                                          </p:spTgt>
                                        </p:tgtEl>
                                      </p:cBhvr>
                                    </p:animEffect>
                                    <p:anim calcmode="lin" valueType="num">
                                      <p:cBhvr>
                                        <p:cTn id="3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1000"/>
                                        <p:tgtEl>
                                          <p:spTgt spid="3">
                                            <p:txEl>
                                              <p:pRg st="7" end="7"/>
                                            </p:txEl>
                                          </p:spTgt>
                                        </p:tgtEl>
                                      </p:cBhvr>
                                    </p:animEffect>
                                    <p:anim calcmode="lin" valueType="num">
                                      <p:cBhvr>
                                        <p:cTn id="4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1000"/>
                                        <p:tgtEl>
                                          <p:spTgt spid="3">
                                            <p:txEl>
                                              <p:pRg st="8" end="8"/>
                                            </p:txEl>
                                          </p:spTgt>
                                        </p:tgtEl>
                                      </p:cBhvr>
                                    </p:animEffect>
                                    <p:anim calcmode="lin" valueType="num">
                                      <p:cBhvr>
                                        <p:cTn id="4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animEffect transition="in" filter="fade">
                                      <p:cBhvr>
                                        <p:cTn id="51" dur="1000"/>
                                        <p:tgtEl>
                                          <p:spTgt spid="3">
                                            <p:txEl>
                                              <p:pRg st="10" end="10"/>
                                            </p:txEl>
                                          </p:spTgt>
                                        </p:tgtEl>
                                      </p:cBhvr>
                                    </p:animEffect>
                                    <p:anim calcmode="lin" valueType="num">
                                      <p:cBhvr>
                                        <p:cTn id="52"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3"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3">
                                            <p:txEl>
                                              <p:pRg st="11" end="11"/>
                                            </p:txEl>
                                          </p:spTgt>
                                        </p:tgtEl>
                                        <p:attrNameLst>
                                          <p:attrName>style.visibility</p:attrName>
                                        </p:attrNameLst>
                                      </p:cBhvr>
                                      <p:to>
                                        <p:strVal val="visible"/>
                                      </p:to>
                                    </p:set>
                                    <p:animEffect transition="in" filter="fade">
                                      <p:cBhvr>
                                        <p:cTn id="56" dur="1000"/>
                                        <p:tgtEl>
                                          <p:spTgt spid="3">
                                            <p:txEl>
                                              <p:pRg st="11" end="11"/>
                                            </p:txEl>
                                          </p:spTgt>
                                        </p:tgtEl>
                                      </p:cBhvr>
                                    </p:animEffect>
                                    <p:anim calcmode="lin" valueType="num">
                                      <p:cBhvr>
                                        <p:cTn id="57"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3">
                                            <p:txEl>
                                              <p:pRg st="12" end="12"/>
                                            </p:txEl>
                                          </p:spTgt>
                                        </p:tgtEl>
                                        <p:attrNameLst>
                                          <p:attrName>style.visibility</p:attrName>
                                        </p:attrNameLst>
                                      </p:cBhvr>
                                      <p:to>
                                        <p:strVal val="visible"/>
                                      </p:to>
                                    </p:set>
                                    <p:animEffect transition="in" filter="fade">
                                      <p:cBhvr>
                                        <p:cTn id="61" dur="1000"/>
                                        <p:tgtEl>
                                          <p:spTgt spid="3">
                                            <p:txEl>
                                              <p:pRg st="12" end="12"/>
                                            </p:txEl>
                                          </p:spTgt>
                                        </p:tgtEl>
                                      </p:cBhvr>
                                    </p:animEffect>
                                    <p:anim calcmode="lin" valueType="num">
                                      <p:cBhvr>
                                        <p:cTn id="62"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3">
                                            <p:txEl>
                                              <p:pRg st="13" end="13"/>
                                            </p:txEl>
                                          </p:spTgt>
                                        </p:tgtEl>
                                        <p:attrNameLst>
                                          <p:attrName>style.visibility</p:attrName>
                                        </p:attrNameLst>
                                      </p:cBhvr>
                                      <p:to>
                                        <p:strVal val="visible"/>
                                      </p:to>
                                    </p:set>
                                    <p:animEffect transition="in" filter="fade">
                                      <p:cBhvr>
                                        <p:cTn id="66" dur="1000"/>
                                        <p:tgtEl>
                                          <p:spTgt spid="3">
                                            <p:txEl>
                                              <p:pRg st="13" end="13"/>
                                            </p:txEl>
                                          </p:spTgt>
                                        </p:tgtEl>
                                      </p:cBhvr>
                                    </p:animEffect>
                                    <p:anim calcmode="lin" valueType="num">
                                      <p:cBhvr>
                                        <p:cTn id="67"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68"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11D87-2DE8-F682-BD93-F2FCEF64590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96C1975-7A08-28FF-5F6F-C9BEEEF6AA05}"/>
              </a:ext>
            </a:extLst>
          </p:cNvPr>
          <p:cNvSpPr txBox="1">
            <a:spLocks/>
          </p:cNvSpPr>
          <p:nvPr/>
        </p:nvSpPr>
        <p:spPr bwMode="auto">
          <a:xfrm>
            <a:off x="2286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600" dirty="0"/>
              <a:t>Promises of the New Covenant</a:t>
            </a:r>
            <a:br>
              <a:rPr lang="en-US" dirty="0"/>
            </a:br>
            <a:r>
              <a:rPr lang="en-US" sz="2400" u="sng" dirty="0">
                <a:solidFill>
                  <a:schemeClr val="tx2">
                    <a:lumMod val="60000"/>
                    <a:lumOff val="40000"/>
                  </a:schemeClr>
                </a:solidFill>
              </a:rPr>
              <a:t>A Kingdom That Cannot Be Shaken</a:t>
            </a:r>
          </a:p>
        </p:txBody>
      </p:sp>
      <p:sp>
        <p:nvSpPr>
          <p:cNvPr id="3" name="TextBox 2">
            <a:extLst>
              <a:ext uri="{FF2B5EF4-FFF2-40B4-BE49-F238E27FC236}">
                <a16:creationId xmlns:a16="http://schemas.microsoft.com/office/drawing/2014/main" id="{87F82BAC-EFAF-F5A6-FC1C-0117B8A6C102}"/>
              </a:ext>
            </a:extLst>
          </p:cNvPr>
          <p:cNvSpPr txBox="1"/>
          <p:nvPr/>
        </p:nvSpPr>
        <p:spPr>
          <a:xfrm>
            <a:off x="228600" y="1371600"/>
            <a:ext cx="8534400" cy="3477875"/>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Old Covenant Anticipation</a:t>
            </a:r>
            <a:endParaRPr lang="en-US" sz="2000" dirty="0">
              <a:ea typeface="ＭＳ Ｐゴシック" pitchFamily="-106" charset="-128"/>
              <a:cs typeface="ＭＳ Ｐゴシック" pitchFamily="-106" charset="-128"/>
            </a:endParaRPr>
          </a:p>
          <a:p>
            <a:pPr marL="342900" indent="-342900" fontAlgn="ctr">
              <a:buFont typeface="Arial" panose="020B0604020202020204" pitchFamily="34" charset="0"/>
              <a:buChar char="•"/>
            </a:pPr>
            <a:r>
              <a:rPr lang="en-US" sz="2000" dirty="0">
                <a:ea typeface="ＭＳ Ｐゴシック" pitchFamily="-106" charset="-128"/>
                <a:cs typeface="ＭＳ Ｐゴシック" pitchFamily="-106" charset="-128"/>
              </a:rPr>
              <a:t>The prophets foresaw a future kingdom established by God Himself; one that would never end.</a:t>
            </a:r>
          </a:p>
          <a:p>
            <a:pPr marL="342900" indent="-342900">
              <a:buFont typeface="Arial" panose="020B0604020202020204" pitchFamily="34" charset="0"/>
              <a:buChar char="•"/>
            </a:pPr>
            <a:r>
              <a:rPr lang="en-US" sz="2000" i="1" dirty="0">
                <a:ea typeface="ＭＳ Ｐゴシック" pitchFamily="-106" charset="-128"/>
                <a:cs typeface="ＭＳ Ｐゴシック" pitchFamily="-106" charset="-128"/>
              </a:rPr>
              <a:t>“In the days of those kings the God of heaven will set up a kingdom that will never be destroyed.”</a:t>
            </a:r>
            <a:r>
              <a:rPr lang="en-US" sz="2000" dirty="0">
                <a:ea typeface="ＭＳ Ｐゴシック" pitchFamily="-106" charset="-128"/>
                <a:cs typeface="ＭＳ Ｐゴシック" pitchFamily="-106" charset="-128"/>
              </a:rPr>
              <a:t>  </a:t>
            </a:r>
            <a:r>
              <a:rPr lang="en-US" sz="2000" b="1" dirty="0">
                <a:ea typeface="ＭＳ Ｐゴシック" pitchFamily="-106" charset="-128"/>
                <a:cs typeface="ＭＳ Ｐゴシック" pitchFamily="-106" charset="-128"/>
              </a:rPr>
              <a:t>Daniel 2:44</a:t>
            </a:r>
            <a:endParaRPr lang="en-US" sz="2000" dirty="0">
              <a:ea typeface="ＭＳ Ｐゴシック" pitchFamily="-106" charset="-128"/>
              <a:cs typeface="ＭＳ Ｐゴシック" pitchFamily="-106" charset="-128"/>
            </a:endParaRPr>
          </a:p>
          <a:p>
            <a:endParaRPr lang="en-US" sz="2000" b="1" dirty="0">
              <a:ea typeface="ＭＳ Ｐゴシック" pitchFamily="-106" charset="-128"/>
              <a:cs typeface="ＭＳ Ｐゴシック" pitchFamily="-106" charset="-128"/>
            </a:endParaRPr>
          </a:p>
          <a:p>
            <a:r>
              <a:rPr lang="en-US" sz="2000" b="1" dirty="0">
                <a:ea typeface="ＭＳ Ｐゴシック" pitchFamily="-106" charset="-128"/>
                <a:cs typeface="ＭＳ Ｐゴシック" pitchFamily="-106" charset="-128"/>
              </a:rPr>
              <a:t>New Covenant Fulfillment</a:t>
            </a:r>
            <a:endParaRPr lang="en-US" sz="2000" dirty="0">
              <a:ea typeface="ＭＳ Ｐゴシック" pitchFamily="-106" charset="-128"/>
              <a:cs typeface="ＭＳ Ｐゴシック" pitchFamily="-106" charset="-128"/>
            </a:endParaRPr>
          </a:p>
          <a:p>
            <a:pPr marL="342900" indent="-342900" fontAlgn="ctr">
              <a:buFont typeface="Arial" panose="020B0604020202020204" pitchFamily="34" charset="0"/>
              <a:buChar char="•"/>
            </a:pPr>
            <a:r>
              <a:rPr lang="en-US" sz="2000" dirty="0">
                <a:ea typeface="ＭＳ Ｐゴシック" pitchFamily="-106" charset="-128"/>
                <a:cs typeface="ＭＳ Ｐゴシック" pitchFamily="-106" charset="-128"/>
              </a:rPr>
              <a:t>Jesus announced that kingdom had arrived:</a:t>
            </a:r>
          </a:p>
          <a:p>
            <a:pPr marL="342900" indent="-342900">
              <a:buFont typeface="Arial" panose="020B0604020202020204" pitchFamily="34" charset="0"/>
              <a:buChar char="•"/>
            </a:pPr>
            <a:r>
              <a:rPr lang="en-US" sz="2000" i="1" dirty="0">
                <a:ea typeface="ＭＳ Ｐゴシック" pitchFamily="-106" charset="-128"/>
                <a:cs typeface="ＭＳ Ｐゴシック" pitchFamily="-106" charset="-128"/>
              </a:rPr>
              <a:t>“The kingdom of God is at hand.”</a:t>
            </a:r>
            <a:r>
              <a:rPr lang="en-US" sz="2000" dirty="0">
                <a:ea typeface="ＭＳ Ｐゴシック" pitchFamily="-106" charset="-128"/>
                <a:cs typeface="ＭＳ Ｐゴシック" pitchFamily="-106" charset="-128"/>
              </a:rPr>
              <a:t> </a:t>
            </a:r>
            <a:r>
              <a:rPr lang="en-US" sz="2000" b="1" dirty="0">
                <a:ea typeface="ＭＳ Ｐゴシック" pitchFamily="-106" charset="-128"/>
                <a:cs typeface="ＭＳ Ｐゴシック" pitchFamily="-106" charset="-128"/>
              </a:rPr>
              <a:t>Mark 1:15</a:t>
            </a:r>
            <a:endParaRPr lang="en-US" sz="2000" dirty="0">
              <a:ea typeface="ＭＳ Ｐゴシック" pitchFamily="-106" charset="-128"/>
              <a:cs typeface="ＭＳ Ｐゴシック" pitchFamily="-106" charset="-128"/>
            </a:endParaRPr>
          </a:p>
          <a:p>
            <a:pPr marL="342900" indent="-342900" fontAlgn="ctr">
              <a:buFont typeface="Arial" panose="020B0604020202020204" pitchFamily="34" charset="0"/>
              <a:buChar char="•"/>
            </a:pPr>
            <a:r>
              <a:rPr lang="en-US" sz="2000" dirty="0">
                <a:ea typeface="ＭＳ Ｐゴシック" pitchFamily="-106" charset="-128"/>
                <a:cs typeface="ＭＳ Ｐゴシック" pitchFamily="-106" charset="-128"/>
              </a:rPr>
              <a:t>His resurrection confirmed that this kingdom is eternal.</a:t>
            </a:r>
          </a:p>
          <a:p>
            <a:pPr marL="342900" indent="-342900">
              <a:buFont typeface="Arial" panose="020B0604020202020204" pitchFamily="34" charset="0"/>
              <a:buChar char="•"/>
            </a:pPr>
            <a:r>
              <a:rPr lang="en-US" sz="2000" i="1" dirty="0">
                <a:ea typeface="ＭＳ Ｐゴシック" pitchFamily="-106" charset="-128"/>
                <a:cs typeface="ＭＳ Ｐゴシック" pitchFamily="-106" charset="-128"/>
              </a:rPr>
              <a:t>“We are receiving a kingdom that cannot be shaken.”</a:t>
            </a:r>
            <a:r>
              <a:rPr lang="en-US" sz="2000" dirty="0">
                <a:ea typeface="ＭＳ Ｐゴシック" pitchFamily="-106" charset="-128"/>
                <a:cs typeface="ＭＳ Ｐゴシック" pitchFamily="-106" charset="-128"/>
              </a:rPr>
              <a:t>  </a:t>
            </a:r>
            <a:r>
              <a:rPr lang="en-US" sz="2000" b="1" dirty="0">
                <a:ea typeface="ＭＳ Ｐゴシック" pitchFamily="-106" charset="-128"/>
                <a:cs typeface="ＭＳ Ｐゴシック" pitchFamily="-106" charset="-128"/>
              </a:rPr>
              <a:t>Hebrews 12:28</a:t>
            </a:r>
            <a:endParaRPr lang="en-US" sz="2000"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3966663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1000"/>
                                        <p:tgtEl>
                                          <p:spTgt spid="3">
                                            <p:txEl>
                                              <p:pRg st="5" end="5"/>
                                            </p:txEl>
                                          </p:spTgt>
                                        </p:tgtEl>
                                      </p:cBhvr>
                                    </p:animEffect>
                                    <p:anim calcmode="lin" valueType="num">
                                      <p:cBhvr>
                                        <p:cTn id="3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1000"/>
                                        <p:tgtEl>
                                          <p:spTgt spid="3">
                                            <p:txEl>
                                              <p:pRg st="6" end="6"/>
                                            </p:txEl>
                                          </p:spTgt>
                                        </p:tgtEl>
                                      </p:cBhvr>
                                    </p:animEffect>
                                    <p:anim calcmode="lin" valueType="num">
                                      <p:cBhvr>
                                        <p:cTn id="3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1000"/>
                                        <p:tgtEl>
                                          <p:spTgt spid="3">
                                            <p:txEl>
                                              <p:pRg st="7" end="7"/>
                                            </p:txEl>
                                          </p:spTgt>
                                        </p:tgtEl>
                                      </p:cBhvr>
                                    </p:animEffect>
                                    <p:anim calcmode="lin" valueType="num">
                                      <p:cBhvr>
                                        <p:cTn id="4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1000"/>
                                        <p:tgtEl>
                                          <p:spTgt spid="3">
                                            <p:txEl>
                                              <p:pRg st="8" end="8"/>
                                            </p:txEl>
                                          </p:spTgt>
                                        </p:tgtEl>
                                      </p:cBhvr>
                                    </p:animEffect>
                                    <p:anim calcmode="lin" valueType="num">
                                      <p:cBhvr>
                                        <p:cTn id="4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34520</TotalTime>
  <Words>4306</Words>
  <Application>Microsoft Office PowerPoint</Application>
  <PresentationFormat>On-screen Show (4:3)</PresentationFormat>
  <Paragraphs>423</Paragraphs>
  <Slides>10</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10</vt:i4>
      </vt:variant>
    </vt:vector>
  </HeadingPairs>
  <TitlesOfParts>
    <vt:vector size="16" baseType="lpstr">
      <vt:lpstr>ＭＳ Ｐゴシック</vt:lpstr>
      <vt:lpstr>Arial</vt:lpstr>
      <vt:lpstr>Arial Narrow</vt:lpstr>
      <vt:lpstr>Calibri</vt:lpstr>
      <vt:lpstr>PPT_Template_2010SummerSchool</vt:lpstr>
      <vt:lpstr>1_UPCRC_Powerpoint_Template_with I-Mark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1310</cp:revision>
  <cp:lastPrinted>2025-10-19T02:51:52Z</cp:lastPrinted>
  <dcterms:created xsi:type="dcterms:W3CDTF">2010-06-16T02:58:04Z</dcterms:created>
  <dcterms:modified xsi:type="dcterms:W3CDTF">2025-11-02T13:38:55Z</dcterms:modified>
</cp:coreProperties>
</file>