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5"/>
  </p:notesMasterIdLst>
  <p:sldIdLst>
    <p:sldId id="560" r:id="rId3"/>
    <p:sldId id="567" r:id="rId4"/>
    <p:sldId id="570" r:id="rId5"/>
    <p:sldId id="571" r:id="rId6"/>
    <p:sldId id="572" r:id="rId7"/>
    <p:sldId id="574" r:id="rId8"/>
    <p:sldId id="577" r:id="rId9"/>
    <p:sldId id="576" r:id="rId10"/>
    <p:sldId id="575" r:id="rId11"/>
    <p:sldId id="578" r:id="rId12"/>
    <p:sldId id="573" r:id="rId13"/>
    <p:sldId id="579" r:id="rId14"/>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06" autoAdjust="0"/>
    <p:restoredTop sz="75321" autoAdjust="0"/>
  </p:normalViewPr>
  <p:slideViewPr>
    <p:cSldViewPr>
      <p:cViewPr varScale="1">
        <p:scale>
          <a:sx n="118" d="100"/>
          <a:sy n="118" d="100"/>
        </p:scale>
        <p:origin x="1596" y="108"/>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384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076364" cy="469265"/>
          </a:xfrm>
          <a:prstGeom prst="rect">
            <a:avLst/>
          </a:prstGeom>
        </p:spPr>
        <p:txBody>
          <a:bodyPr vert="horz" wrap="square" lIns="94087" tIns="47044" rIns="94087" bIns="47044"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5" y="1"/>
            <a:ext cx="3076364" cy="469265"/>
          </a:xfrm>
          <a:prstGeom prst="rect">
            <a:avLst/>
          </a:prstGeom>
        </p:spPr>
        <p:txBody>
          <a:bodyPr vert="horz" wrap="square" lIns="94087" tIns="47044" rIns="94087" bIns="47044"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11/12/2025</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087" tIns="47044" rIns="94087" bIns="47044"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087" tIns="47044" rIns="94087" bIns="47044"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914406"/>
            <a:ext cx="3076364" cy="469265"/>
          </a:xfrm>
          <a:prstGeom prst="rect">
            <a:avLst/>
          </a:prstGeom>
        </p:spPr>
        <p:txBody>
          <a:bodyPr vert="horz" wrap="square" lIns="94087" tIns="47044" rIns="94087" bIns="47044"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5" y="8914406"/>
            <a:ext cx="3076364" cy="469265"/>
          </a:xfrm>
          <a:prstGeom prst="rect">
            <a:avLst/>
          </a:prstGeom>
        </p:spPr>
        <p:txBody>
          <a:bodyPr vert="horz" wrap="square" lIns="94087" tIns="47044" rIns="94087" bIns="47044"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EE1C7-1EE0-70E2-129C-779C338B4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55BCE-5209-A53C-0D03-1ACB3A0822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CCBA4-A9ED-B98C-BA69-7A85D7C7589F}"/>
              </a:ext>
            </a:extLst>
          </p:cNvPr>
          <p:cNvSpPr>
            <a:spLocks noGrp="1"/>
          </p:cNvSpPr>
          <p:nvPr>
            <p:ph type="body" idx="1"/>
          </p:nvPr>
        </p:nvSpPr>
        <p:spPr/>
        <p:txBody>
          <a:bodyPr>
            <a:normAutofit/>
          </a:bodyPr>
          <a:lstStyle/>
          <a:p>
            <a:r>
              <a:rPr lang="en-US" sz="1200" b="1" kern="1200" dirty="0">
                <a:solidFill>
                  <a:schemeClr val="tx1"/>
                </a:solidFill>
                <a:effectLst/>
                <a:latin typeface="+mn-lt"/>
                <a:ea typeface="ＭＳ Ｐゴシック" pitchFamily="-106" charset="-128"/>
                <a:cs typeface="ＭＳ Ｐゴシック" pitchFamily="-106" charset="-128"/>
              </a:rPr>
              <a:t>The “Answer, Don’t Answer” Principle</a:t>
            </a:r>
            <a:endParaRPr lang="en-US" sz="1200" kern="1200" dirty="0">
              <a:solidFill>
                <a:schemeClr val="tx1"/>
              </a:solidFill>
              <a:effectLst/>
              <a:latin typeface="+mn-lt"/>
              <a:ea typeface="ＭＳ Ｐゴシック" pitchFamily="-106" charset="-128"/>
              <a:cs typeface="ＭＳ Ｐゴシック" pitchFamily="-106" charset="-128"/>
            </a:endParaRP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Jesus’ response pattern followed the wisdom of </a:t>
            </a:r>
            <a:r>
              <a:rPr lang="en-US" sz="1200" b="1" kern="1200" dirty="0">
                <a:solidFill>
                  <a:schemeClr val="tx1"/>
                </a:solidFill>
                <a:effectLst/>
                <a:latin typeface="+mn-lt"/>
                <a:ea typeface="ＭＳ Ｐゴシック" pitchFamily="-106" charset="-128"/>
                <a:cs typeface="ＭＳ Ｐゴシック" pitchFamily="-106" charset="-128"/>
              </a:rPr>
              <a:t>Proverbs 26:4–5</a:t>
            </a:r>
            <a:r>
              <a:rPr lang="en-US" sz="1200" kern="1200" dirty="0">
                <a:solidFill>
                  <a:schemeClr val="tx1"/>
                </a:solidFill>
                <a:effectLst/>
                <a:latin typeface="+mn-lt"/>
                <a:ea typeface="ＭＳ Ｐゴシック" pitchFamily="-106" charset="-128"/>
                <a:cs typeface="ＭＳ Ｐゴシック" pitchFamily="-106" charset="-128"/>
              </a:rPr>
              <a:t>:</a:t>
            </a:r>
          </a:p>
          <a:p>
            <a:r>
              <a:rPr lang="en-US" sz="1200" kern="1200" dirty="0">
                <a:solidFill>
                  <a:schemeClr val="tx1"/>
                </a:solidFill>
                <a:effectLst/>
                <a:latin typeface="+mn-lt"/>
                <a:ea typeface="ＭＳ Ｐゴシック" pitchFamily="-106" charset="-128"/>
                <a:cs typeface="ＭＳ Ｐゴシック" pitchFamily="-106" charset="-128"/>
              </a:rPr>
              <a:t>“Do not answer a fool according to his folly,</a:t>
            </a:r>
          </a:p>
          <a:p>
            <a:r>
              <a:rPr lang="en-US" sz="1200" kern="1200" dirty="0">
                <a:solidFill>
                  <a:schemeClr val="tx1"/>
                </a:solidFill>
                <a:effectLst/>
                <a:latin typeface="+mn-lt"/>
                <a:ea typeface="ＭＳ Ｐゴシック" pitchFamily="-106" charset="-128"/>
                <a:cs typeface="ＭＳ Ｐゴシック" pitchFamily="-106" charset="-128"/>
              </a:rPr>
              <a:t>or you yourself will be just like him.</a:t>
            </a:r>
          </a:p>
          <a:p>
            <a:r>
              <a:rPr lang="en-US" sz="1200" kern="1200" dirty="0">
                <a:solidFill>
                  <a:schemeClr val="tx1"/>
                </a:solidFill>
                <a:effectLst/>
                <a:latin typeface="+mn-lt"/>
                <a:ea typeface="ＭＳ Ｐゴシック" pitchFamily="-106" charset="-128"/>
                <a:cs typeface="ＭＳ Ｐゴシック" pitchFamily="-106" charset="-128"/>
              </a:rPr>
              <a:t>Answer a fool according to his folly,</a:t>
            </a:r>
          </a:p>
          <a:p>
            <a:r>
              <a:rPr lang="en-US" sz="1200" kern="1200" dirty="0">
                <a:solidFill>
                  <a:schemeClr val="tx1"/>
                </a:solidFill>
                <a:effectLst/>
                <a:latin typeface="+mn-lt"/>
                <a:ea typeface="ＭＳ Ｐゴシック" pitchFamily="-106" charset="-128"/>
                <a:cs typeface="ＭＳ Ｐゴシック" pitchFamily="-106" charset="-128"/>
              </a:rPr>
              <a:t>or he will be wise in his own eyes.”</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This balance captures Jesus’ approach:</a:t>
            </a:r>
          </a:p>
          <a:p>
            <a:pPr rtl="0" fontAlgn="ctr"/>
            <a:r>
              <a:rPr lang="en-US" sz="1200" b="1" kern="1200" dirty="0">
                <a:solidFill>
                  <a:schemeClr val="tx1"/>
                </a:solidFill>
                <a:effectLst/>
                <a:latin typeface="+mn-lt"/>
                <a:ea typeface="ＭＳ Ｐゴシック" pitchFamily="-106" charset="-128"/>
                <a:cs typeface="ＭＳ Ｐゴシック" pitchFamily="-106" charset="-128"/>
              </a:rPr>
              <a:t>He didn’t answer</a:t>
            </a:r>
            <a:r>
              <a:rPr lang="en-US" sz="1200" kern="1200" dirty="0">
                <a:solidFill>
                  <a:schemeClr val="tx1"/>
                </a:solidFill>
                <a:effectLst/>
                <a:latin typeface="+mn-lt"/>
                <a:ea typeface="ＭＳ Ｐゴシック" pitchFamily="-106" charset="-128"/>
                <a:cs typeface="ＭＳ Ｐゴシック" pitchFamily="-106" charset="-128"/>
              </a:rPr>
              <a:t> when the question was malicious or insincere.</a:t>
            </a:r>
          </a:p>
          <a:p>
            <a:pPr rtl="0" fontAlgn="ctr"/>
            <a:r>
              <a:rPr lang="en-US" sz="1200" b="1" kern="1200" dirty="0">
                <a:solidFill>
                  <a:schemeClr val="tx1"/>
                </a:solidFill>
                <a:effectLst/>
                <a:latin typeface="+mn-lt"/>
                <a:ea typeface="ＭＳ Ｐゴシック" pitchFamily="-106" charset="-128"/>
                <a:cs typeface="ＭＳ Ｐゴシック" pitchFamily="-106" charset="-128"/>
              </a:rPr>
              <a:t>He did answer</a:t>
            </a:r>
            <a:r>
              <a:rPr lang="en-US" sz="1200" kern="1200" dirty="0">
                <a:solidFill>
                  <a:schemeClr val="tx1"/>
                </a:solidFill>
                <a:effectLst/>
                <a:latin typeface="+mn-lt"/>
                <a:ea typeface="ＭＳ Ｐゴシック" pitchFamily="-106" charset="-128"/>
                <a:cs typeface="ＭＳ Ｐゴシック" pitchFamily="-106" charset="-128"/>
              </a:rPr>
              <a:t> when truth needed to be declared, exposing hypocrisy or revealing God’s wisdom.</a:t>
            </a:r>
          </a:p>
          <a:p>
            <a:r>
              <a:rPr lang="en-US" sz="1200" kern="1200" dirty="0">
                <a:solidFill>
                  <a:schemeClr val="tx1"/>
                </a:solidFill>
                <a:effectLst/>
                <a:latin typeface="+mn-lt"/>
                <a:ea typeface="ＭＳ Ｐゴシック" pitchFamily="-106" charset="-128"/>
                <a:cs typeface="ＭＳ Ｐゴシック" pitchFamily="-106" charset="-128"/>
              </a:rPr>
              <a:t>He always answered in a way that pointed back to God’s authority — never falling into human traps.</a:t>
            </a:r>
          </a:p>
          <a:p>
            <a:endParaRPr lang="en-US" sz="1400" dirty="0"/>
          </a:p>
        </p:txBody>
      </p:sp>
      <p:sp>
        <p:nvSpPr>
          <p:cNvPr id="4" name="Slide Number Placeholder 3">
            <a:extLst>
              <a:ext uri="{FF2B5EF4-FFF2-40B4-BE49-F238E27FC236}">
                <a16:creationId xmlns:a16="http://schemas.microsoft.com/office/drawing/2014/main" id="{3603345E-929F-C8D2-64E3-D485990D7FFE}"/>
              </a:ext>
            </a:extLst>
          </p:cNvPr>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4166235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293F4-D80C-58F0-1795-D9E406BFC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31B89-343C-6375-9DD0-5F75651AD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8C4BF3-6EF1-131F-520B-9E3C3D3FD65F}"/>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mn-lt"/>
                <a:ea typeface="ＭＳ Ｐゴシック" pitchFamily="-106" charset="-128"/>
                <a:cs typeface="ＭＳ Ｐゴシック" pitchFamily="-106" charset="-128"/>
              </a:rPr>
              <a:t>2Pe 2:20-22  For if, after they have escaped the pollutions of the world through the knowledge of the Lord and Savior Jesus Christ, they are again entangled in them and overcome, the latter end is worse for them than the beginning.  (21)  For it would have been better for them not to have known the way of righteousness, than having known </a:t>
            </a:r>
            <a:r>
              <a:rPr lang="en-US" sz="1200" b="0" i="1" u="none" strike="noStrike" kern="1200" baseline="0" dirty="0">
                <a:solidFill>
                  <a:schemeClr val="tx1"/>
                </a:solidFill>
                <a:latin typeface="+mn-lt"/>
                <a:ea typeface="ＭＳ Ｐゴシック" pitchFamily="-106" charset="-128"/>
                <a:cs typeface="ＭＳ Ｐゴシック" pitchFamily="-106" charset="-128"/>
              </a:rPr>
              <a:t>it,</a:t>
            </a:r>
            <a:r>
              <a:rPr lang="en-US" sz="1200" b="0" i="0" u="none" strike="noStrike" kern="1200" baseline="0" dirty="0">
                <a:solidFill>
                  <a:schemeClr val="tx1"/>
                </a:solidFill>
                <a:latin typeface="+mn-lt"/>
                <a:ea typeface="ＭＳ Ｐゴシック" pitchFamily="-106" charset="-128"/>
                <a:cs typeface="ＭＳ Ｐゴシック" pitchFamily="-106" charset="-128"/>
              </a:rPr>
              <a:t> to turn from the holy commandment delivered to them.  (22)  But it has happened to them according to the true proverb: "A DOG RETURNS TO HIS OWN VOMIT," and, "a sow, having washed, to her wallowing in the mire."</a:t>
            </a:r>
          </a:p>
          <a:p>
            <a:endParaRPr lang="en-US" dirty="0"/>
          </a:p>
        </p:txBody>
      </p:sp>
      <p:sp>
        <p:nvSpPr>
          <p:cNvPr id="4" name="Slide Number Placeholder 3">
            <a:extLst>
              <a:ext uri="{FF2B5EF4-FFF2-40B4-BE49-F238E27FC236}">
                <a16:creationId xmlns:a16="http://schemas.microsoft.com/office/drawing/2014/main" id="{6BB5E097-C75D-F246-EE53-01D3F3040A56}"/>
              </a:ext>
            </a:extLst>
          </p:cNvPr>
          <p:cNvSpPr>
            <a:spLocks noGrp="1"/>
          </p:cNvSpPr>
          <p:nvPr>
            <p:ph type="sldNum" sz="quarter" idx="5"/>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2482566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1F849-120D-4846-9BEE-9F1C0E409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CB0E2-ACDD-4068-A598-0450663BC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A025D8-C449-0EFA-101B-5416F6480C6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A7C37860-BFCF-15BE-1A69-D1C8BC305B2E}"/>
              </a:ext>
            </a:extLst>
          </p:cNvPr>
          <p:cNvSpPr>
            <a:spLocks noGrp="1"/>
          </p:cNvSpPr>
          <p:nvPr>
            <p:ph type="sldNum" sz="quarter" idx="5"/>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357640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4CA41-BA43-8E29-2A96-16D2585B7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59152-002A-E1DB-EE2E-B7284648D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60213-D8B7-41EE-C715-A672396AFFF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04B5231-714C-7F07-6B25-B445E1DC05C1}"/>
              </a:ext>
            </a:extLst>
          </p:cNvPr>
          <p:cNvSpPr>
            <a:spLocks noGrp="1"/>
          </p:cNvSpPr>
          <p:nvPr>
            <p:ph type="sldNum" sz="quarter" idx="5"/>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2533172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CFD6A-C840-241D-A92C-39771B6F0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72AD29-22B3-1C72-9401-BB628344DF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26EED4-F98E-1AF6-37C9-55F2DDC99608}"/>
              </a:ext>
            </a:extLst>
          </p:cNvPr>
          <p:cNvSpPr>
            <a:spLocks noGrp="1"/>
          </p:cNvSpPr>
          <p:nvPr>
            <p:ph type="body" idx="1"/>
          </p:nvPr>
        </p:nvSpPr>
        <p:spPr/>
        <p:txBody>
          <a:bodyPr>
            <a:normAutofit fontScale="92500" lnSpcReduction="2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mn-lt"/>
                <a:ea typeface="ＭＳ Ｐゴシック" pitchFamily="-106" charset="-128"/>
                <a:cs typeface="ＭＳ Ｐゴシック" pitchFamily="-106" charset="-128"/>
              </a:rPr>
              <a:t>Mat 19:3-12  The Pharisees also came to Him, testing Him, and saying to Him, "Is it lawful for a man to divorce his wife for </a:t>
            </a:r>
            <a:r>
              <a:rPr lang="en-US" sz="1200" b="0" i="1" u="none" strike="noStrike" kern="1200" baseline="0" dirty="0">
                <a:solidFill>
                  <a:schemeClr val="tx1"/>
                </a:solidFill>
                <a:latin typeface="+mn-lt"/>
                <a:ea typeface="ＭＳ Ｐゴシック" pitchFamily="-106" charset="-128"/>
                <a:cs typeface="ＭＳ Ｐゴシック" pitchFamily="-106" charset="-128"/>
              </a:rPr>
              <a:t>just</a:t>
            </a:r>
            <a:r>
              <a:rPr lang="en-US" sz="1200" b="0" i="0" u="none" strike="noStrike" kern="1200" baseline="0" dirty="0">
                <a:solidFill>
                  <a:schemeClr val="tx1"/>
                </a:solidFill>
                <a:latin typeface="+mn-lt"/>
                <a:ea typeface="ＭＳ Ｐゴシック" pitchFamily="-106" charset="-128"/>
                <a:cs typeface="ＭＳ Ｐゴシック" pitchFamily="-106" charset="-128"/>
              </a:rPr>
              <a:t> any reason?"  (4)  And He answered and said to them, "Have you not read that He who made </a:t>
            </a:r>
            <a:r>
              <a:rPr lang="en-US" sz="1200" b="0" i="1" u="none" strike="noStrike" kern="1200" baseline="0" dirty="0">
                <a:solidFill>
                  <a:schemeClr val="tx1"/>
                </a:solidFill>
                <a:latin typeface="+mn-lt"/>
                <a:ea typeface="ＭＳ Ｐゴシック" pitchFamily="-106" charset="-128"/>
                <a:cs typeface="ＭＳ Ｐゴシック" pitchFamily="-106" charset="-128"/>
              </a:rPr>
              <a:t>them</a:t>
            </a:r>
            <a:r>
              <a:rPr lang="en-US" sz="1200" b="0" i="0" u="none" strike="noStrike" kern="1200" baseline="0" dirty="0">
                <a:solidFill>
                  <a:schemeClr val="tx1"/>
                </a:solidFill>
                <a:latin typeface="+mn-lt"/>
                <a:ea typeface="ＭＳ Ｐゴシック" pitchFamily="-106" charset="-128"/>
                <a:cs typeface="ＭＳ Ｐゴシック" pitchFamily="-106" charset="-128"/>
              </a:rPr>
              <a:t> at the beginning 'MADE THEM MALE AND FEMALE,'  (5)  and said, 'FOR THIS REASON A MAN SHALL LEAVE HIS FATHER AND MOTHER AND BE JOINED TO HIS WIFE, AND THE TWO SHALL BECOME ONE FLESH' ?  (6)  So then, they are no longer two but one flesh. Therefore what God has joined together, let not man separate."  (7)  They said to Him, "Why then did Moses command to give a certificate of divorce, and to put her away?"  (8)  He said to them, "Moses, because of the hardness of your hearts, permitted you to divorce your wives, but from the beginning it was not so.  (9)  And I say to you, whoever divorces his wife, except for sexual immorality, and marries another, commits adultery; and whoever marries her who is divorced commits adultery."  (10)  His disciples said to Him, "If such is the case of the man with </a:t>
            </a:r>
            <a:r>
              <a:rPr lang="en-US" sz="1200" b="0" i="1" u="none" strike="noStrike" kern="1200" baseline="0" dirty="0">
                <a:solidFill>
                  <a:schemeClr val="tx1"/>
                </a:solidFill>
                <a:latin typeface="+mn-lt"/>
                <a:ea typeface="ＭＳ Ｐゴシック" pitchFamily="-106" charset="-128"/>
                <a:cs typeface="ＭＳ Ｐゴシック" pitchFamily="-106" charset="-128"/>
              </a:rPr>
              <a:t>his</a:t>
            </a:r>
            <a:r>
              <a:rPr lang="en-US" sz="1200" b="0" i="0" u="none" strike="noStrike" kern="1200" baseline="0" dirty="0">
                <a:solidFill>
                  <a:schemeClr val="tx1"/>
                </a:solidFill>
                <a:latin typeface="+mn-lt"/>
                <a:ea typeface="ＭＳ Ｐゴシック" pitchFamily="-106" charset="-128"/>
                <a:cs typeface="ＭＳ Ｐゴシック" pitchFamily="-106" charset="-128"/>
              </a:rPr>
              <a:t> wife, it is better not to marry."  (11)  But He said to them, "All cannot accept this saying, but only </a:t>
            </a:r>
            <a:r>
              <a:rPr lang="en-US" sz="1200" b="0" i="1" u="none" strike="noStrike" kern="1200" baseline="0" dirty="0">
                <a:solidFill>
                  <a:schemeClr val="tx1"/>
                </a:solidFill>
                <a:latin typeface="+mn-lt"/>
                <a:ea typeface="ＭＳ Ｐゴシック" pitchFamily="-106" charset="-128"/>
                <a:cs typeface="ＭＳ Ｐゴシック" pitchFamily="-106" charset="-128"/>
              </a:rPr>
              <a:t>those</a:t>
            </a:r>
            <a:r>
              <a:rPr lang="en-US" sz="1200" b="0" i="0" u="none" strike="noStrike" kern="1200" baseline="0" dirty="0">
                <a:solidFill>
                  <a:schemeClr val="tx1"/>
                </a:solidFill>
                <a:latin typeface="+mn-lt"/>
                <a:ea typeface="ＭＳ Ｐゴシック" pitchFamily="-106" charset="-128"/>
                <a:cs typeface="ＭＳ Ｐゴシック" pitchFamily="-106" charset="-128"/>
              </a:rPr>
              <a:t> to whom it has been given:  (12)  For there are eunuchs who were born thus from </a:t>
            </a:r>
            <a:r>
              <a:rPr lang="en-US" sz="1200" b="0" i="1" u="none" strike="noStrike" kern="1200" baseline="0" dirty="0">
                <a:solidFill>
                  <a:schemeClr val="tx1"/>
                </a:solidFill>
                <a:latin typeface="+mn-lt"/>
                <a:ea typeface="ＭＳ Ｐゴシック" pitchFamily="-106" charset="-128"/>
                <a:cs typeface="ＭＳ Ｐゴシック" pitchFamily="-106" charset="-128"/>
              </a:rPr>
              <a:t>their</a:t>
            </a:r>
            <a:r>
              <a:rPr lang="en-US" sz="1200" b="0" i="0" u="none" strike="noStrike" kern="1200" baseline="0" dirty="0">
                <a:solidFill>
                  <a:schemeClr val="tx1"/>
                </a:solidFill>
                <a:latin typeface="+mn-lt"/>
                <a:ea typeface="ＭＳ Ｐゴシック" pitchFamily="-106" charset="-128"/>
                <a:cs typeface="ＭＳ Ｐゴシック" pitchFamily="-106" charset="-128"/>
              </a:rPr>
              <a:t> mother's womb, and there are eunuchs who were made eunuchs by men, and there are eunuchs who have made themselves eunuchs for the kingdom of heaven's sake. He who is able to accept </a:t>
            </a:r>
            <a:r>
              <a:rPr lang="en-US" sz="1200" b="0" i="1" u="none" strike="noStrike" kern="1200" baseline="0" dirty="0">
                <a:solidFill>
                  <a:schemeClr val="tx1"/>
                </a:solidFill>
                <a:latin typeface="+mn-lt"/>
                <a:ea typeface="ＭＳ Ｐゴシック" pitchFamily="-106" charset="-128"/>
                <a:cs typeface="ＭＳ Ｐゴシック" pitchFamily="-106" charset="-128"/>
              </a:rPr>
              <a:t>it,</a:t>
            </a:r>
            <a:r>
              <a:rPr lang="en-US" sz="1200" b="0" i="0" u="none" strike="noStrike" kern="1200" baseline="0" dirty="0">
                <a:solidFill>
                  <a:schemeClr val="tx1"/>
                </a:solidFill>
                <a:latin typeface="+mn-lt"/>
                <a:ea typeface="ＭＳ Ｐゴシック" pitchFamily="-106" charset="-128"/>
                <a:cs typeface="ＭＳ Ｐゴシック" pitchFamily="-106" charset="-128"/>
              </a:rPr>
              <a:t> let him accept </a:t>
            </a:r>
            <a:r>
              <a:rPr lang="en-US" sz="1200" b="0" i="1" u="none" strike="noStrike" kern="1200" baseline="0" dirty="0">
                <a:solidFill>
                  <a:schemeClr val="tx1"/>
                </a:solidFill>
                <a:latin typeface="+mn-lt"/>
                <a:ea typeface="ＭＳ Ｐゴシック" pitchFamily="-106" charset="-128"/>
                <a:cs typeface="ＭＳ Ｐゴシック" pitchFamily="-106" charset="-128"/>
              </a:rPr>
              <a:t>it."</a:t>
            </a:r>
            <a:endParaRPr lang="en-US" sz="1200" b="0" i="0" u="none" strike="noStrike" kern="1200" baseline="0" dirty="0">
              <a:solidFill>
                <a:schemeClr val="tx1"/>
              </a:solidFill>
              <a:latin typeface="+mn-lt"/>
              <a:ea typeface="ＭＳ Ｐゴシック" pitchFamily="-106" charset="-128"/>
              <a:cs typeface="ＭＳ Ｐゴシック" pitchFamily="-106" charset="-128"/>
            </a:endParaRPr>
          </a:p>
          <a:p>
            <a:endParaRPr lang="en-US"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mn-lt"/>
                <a:ea typeface="ＭＳ Ｐゴシック" pitchFamily="-106" charset="-128"/>
                <a:cs typeface="ＭＳ Ｐゴシック" pitchFamily="-106" charset="-128"/>
              </a:rPr>
              <a:t>Mar 10:2-12  The Pharisees came and asked Him, "Is it lawful for a man to divorce </a:t>
            </a:r>
            <a:r>
              <a:rPr lang="en-US" sz="1200" b="0" i="1" u="none" strike="noStrike" kern="1200" baseline="0" dirty="0">
                <a:solidFill>
                  <a:schemeClr val="tx1"/>
                </a:solidFill>
                <a:latin typeface="+mn-lt"/>
                <a:ea typeface="ＭＳ Ｐゴシック" pitchFamily="-106" charset="-128"/>
                <a:cs typeface="ＭＳ Ｐゴシック" pitchFamily="-106" charset="-128"/>
              </a:rPr>
              <a:t>his</a:t>
            </a:r>
            <a:r>
              <a:rPr lang="en-US" sz="1200" b="0" i="0" u="none" strike="noStrike" kern="1200" baseline="0" dirty="0">
                <a:solidFill>
                  <a:schemeClr val="tx1"/>
                </a:solidFill>
                <a:latin typeface="+mn-lt"/>
                <a:ea typeface="ＭＳ Ｐゴシック" pitchFamily="-106" charset="-128"/>
                <a:cs typeface="ＭＳ Ｐゴシック" pitchFamily="-106" charset="-128"/>
              </a:rPr>
              <a:t> wife?" testing Him.  (3)  And He answered and said to them, "What did Moses command you?"  (4)  They said, "Moses permitted </a:t>
            </a:r>
            <a:r>
              <a:rPr lang="en-US" sz="1200" b="0" i="1" u="none" strike="noStrike" kern="1200" baseline="0" dirty="0">
                <a:solidFill>
                  <a:schemeClr val="tx1"/>
                </a:solidFill>
                <a:latin typeface="+mn-lt"/>
                <a:ea typeface="ＭＳ Ｐゴシック" pitchFamily="-106" charset="-128"/>
                <a:cs typeface="ＭＳ Ｐゴシック" pitchFamily="-106" charset="-128"/>
              </a:rPr>
              <a:t>a man</a:t>
            </a:r>
            <a:r>
              <a:rPr lang="en-US" sz="1200" b="0" i="0" u="none" strike="noStrike" kern="1200" baseline="0" dirty="0">
                <a:solidFill>
                  <a:schemeClr val="tx1"/>
                </a:solidFill>
                <a:latin typeface="+mn-lt"/>
                <a:ea typeface="ＭＳ Ｐゴシック" pitchFamily="-106" charset="-128"/>
                <a:cs typeface="ＭＳ Ｐゴシック" pitchFamily="-106" charset="-128"/>
              </a:rPr>
              <a:t> to write a certificate of divorce, and to dismiss </a:t>
            </a:r>
            <a:r>
              <a:rPr lang="en-US" sz="1200" b="0" i="1" u="none" strike="noStrike" kern="1200" baseline="0" dirty="0">
                <a:solidFill>
                  <a:schemeClr val="tx1"/>
                </a:solidFill>
                <a:latin typeface="+mn-lt"/>
                <a:ea typeface="ＭＳ Ｐゴシック" pitchFamily="-106" charset="-128"/>
                <a:cs typeface="ＭＳ Ｐゴシック" pitchFamily="-106" charset="-128"/>
              </a:rPr>
              <a:t>her.</a:t>
            </a:r>
            <a:r>
              <a:rPr lang="en-US" sz="1200" b="0" i="0" u="none" strike="noStrike" kern="1200" baseline="0" dirty="0">
                <a:solidFill>
                  <a:schemeClr val="tx1"/>
                </a:solidFill>
                <a:latin typeface="+mn-lt"/>
                <a:ea typeface="ＭＳ Ｐゴシック" pitchFamily="-106" charset="-128"/>
                <a:cs typeface="ＭＳ Ｐゴシック" pitchFamily="-106" charset="-128"/>
              </a:rPr>
              <a:t>"  (5)  And Jesus answered and said to them, "Because of the hardness of your heart he wrote you this precept.  (6)  But from the beginning of the creation, God 'MADE THEM MALE AND FEMALE.'  (7)  'FOR THIS REASON A MAN SHALL LEAVE HIS FATHER AND MOTHER AND BE JOINED TO HIS WIFE,  (8)  AND THE TWO SHALL BECOME ONE FLESH'; so then they are no longer two, but one flesh.  (9)  Therefore what God has joined together, let not man separate."  (10)  In the house His disciples also asked Him again about the same </a:t>
            </a:r>
            <a:r>
              <a:rPr lang="en-US" sz="1200" b="0" i="1" u="none" strike="noStrike" kern="1200" baseline="0" dirty="0">
                <a:solidFill>
                  <a:schemeClr val="tx1"/>
                </a:solidFill>
                <a:latin typeface="+mn-lt"/>
                <a:ea typeface="ＭＳ Ｐゴシック" pitchFamily="-106" charset="-128"/>
                <a:cs typeface="ＭＳ Ｐゴシック" pitchFamily="-106" charset="-128"/>
              </a:rPr>
              <a:t>matter.</a:t>
            </a:r>
            <a:r>
              <a:rPr lang="en-US" sz="1200" b="0" i="0" u="none" strike="noStrike" kern="1200" baseline="0" dirty="0">
                <a:solidFill>
                  <a:schemeClr val="tx1"/>
                </a:solidFill>
                <a:latin typeface="+mn-lt"/>
                <a:ea typeface="ＭＳ Ｐゴシック" pitchFamily="-106" charset="-128"/>
                <a:cs typeface="ＭＳ Ｐゴシック" pitchFamily="-106" charset="-128"/>
              </a:rPr>
              <a:t>  (11)  So He said to them, "Whoever divorces his wife and marries another commits adultery against her.  (12)  And if a woman divorces her husband and marries another, she commits adultery."</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mn-lt"/>
                <a:ea typeface="ＭＳ Ｐゴシック" pitchFamily="-106" charset="-128"/>
                <a:cs typeface="ＭＳ Ｐゴシック" pitchFamily="-106" charset="-128"/>
              </a:rPr>
              <a:t>Joh 6:26  Jesus answered them and said, "Most assuredly, I say to you, you seek Me, not because you saw the signs, but because you ate of the loaves and were filled.</a:t>
            </a:r>
          </a:p>
          <a:p>
            <a:endParaRPr lang="en-US" dirty="0"/>
          </a:p>
          <a:p>
            <a:endParaRPr lang="en-US" dirty="0"/>
          </a:p>
        </p:txBody>
      </p:sp>
      <p:sp>
        <p:nvSpPr>
          <p:cNvPr id="4" name="Slide Number Placeholder 3">
            <a:extLst>
              <a:ext uri="{FF2B5EF4-FFF2-40B4-BE49-F238E27FC236}">
                <a16:creationId xmlns:a16="http://schemas.microsoft.com/office/drawing/2014/main" id="{F37B693D-F37C-EEB1-E88D-BE3FC41021AC}"/>
              </a:ext>
            </a:extLst>
          </p:cNvPr>
          <p:cNvSpPr>
            <a:spLocks noGrp="1"/>
          </p:cNvSpPr>
          <p:nvPr>
            <p:ph type="sldNum" sz="quarter" idx="5"/>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2197914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DB283-770D-A3AE-3E7E-A8ADFBB34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DE966-AD2E-9223-762F-E57E0E0E4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4FA63-C37E-8195-1A5F-CE953E66CB6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6A813F7-8247-D549-1D66-B118785E6A8D}"/>
              </a:ext>
            </a:extLst>
          </p:cNvPr>
          <p:cNvSpPr>
            <a:spLocks noGrp="1"/>
          </p:cNvSpPr>
          <p:nvPr>
            <p:ph type="sldNum" sz="quarter" idx="5"/>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3601657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3F3B2-C87D-C8DE-9806-C8CA8802E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EB41A-675D-D5F8-8019-372DC8B2EA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F768E8-78F7-C46C-12FA-41CB67529C64}"/>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mn-lt"/>
                <a:ea typeface="ＭＳ Ｐゴシック" pitchFamily="-106" charset="-128"/>
                <a:cs typeface="ＭＳ Ｐゴシック" pitchFamily="-106" charset="-128"/>
              </a:rPr>
              <a:t>2Th 3:13-15  But </a:t>
            </a:r>
            <a:r>
              <a:rPr lang="en-US" sz="1200" b="0" i="1" u="none" strike="noStrike" kern="1200" baseline="0" dirty="0">
                <a:solidFill>
                  <a:schemeClr val="tx1"/>
                </a:solidFill>
                <a:latin typeface="+mn-lt"/>
                <a:ea typeface="ＭＳ Ｐゴシック" pitchFamily="-106" charset="-128"/>
                <a:cs typeface="ＭＳ Ｐゴシック" pitchFamily="-106" charset="-128"/>
              </a:rPr>
              <a:t>as for</a:t>
            </a:r>
            <a:r>
              <a:rPr lang="en-US" sz="1200" b="0" i="0" u="none" strike="noStrike" kern="1200" baseline="0" dirty="0">
                <a:solidFill>
                  <a:schemeClr val="tx1"/>
                </a:solidFill>
                <a:latin typeface="+mn-lt"/>
                <a:ea typeface="ＭＳ Ｐゴシック" pitchFamily="-106" charset="-128"/>
                <a:cs typeface="ＭＳ Ｐゴシック" pitchFamily="-106" charset="-128"/>
              </a:rPr>
              <a:t> you, brethren, do not grow weary </a:t>
            </a:r>
            <a:r>
              <a:rPr lang="en-US" sz="1200" b="0" i="1" u="none" strike="noStrike" kern="1200" baseline="0" dirty="0">
                <a:solidFill>
                  <a:schemeClr val="tx1"/>
                </a:solidFill>
                <a:latin typeface="+mn-lt"/>
                <a:ea typeface="ＭＳ Ｐゴシック" pitchFamily="-106" charset="-128"/>
                <a:cs typeface="ＭＳ Ｐゴシック" pitchFamily="-106" charset="-128"/>
              </a:rPr>
              <a:t>in</a:t>
            </a:r>
            <a:r>
              <a:rPr lang="en-US" sz="1200" b="0" i="0" u="none" strike="noStrike" kern="1200" baseline="0" dirty="0">
                <a:solidFill>
                  <a:schemeClr val="tx1"/>
                </a:solidFill>
                <a:latin typeface="+mn-lt"/>
                <a:ea typeface="ＭＳ Ｐゴシック" pitchFamily="-106" charset="-128"/>
                <a:cs typeface="ＭＳ Ｐゴシック" pitchFamily="-106" charset="-128"/>
              </a:rPr>
              <a:t> doing good.  (14)  And if anyone does not obey our word in this epistle, note that person and do not keep company with him, that he may be ashamed.  (15)  Yet do not count </a:t>
            </a:r>
            <a:r>
              <a:rPr lang="en-US" sz="1200" b="0" i="1" u="none" strike="noStrike" kern="1200" baseline="0" dirty="0">
                <a:solidFill>
                  <a:schemeClr val="tx1"/>
                </a:solidFill>
                <a:latin typeface="+mn-lt"/>
                <a:ea typeface="ＭＳ Ｐゴシック" pitchFamily="-106" charset="-128"/>
                <a:cs typeface="ＭＳ Ｐゴシック" pitchFamily="-106" charset="-128"/>
              </a:rPr>
              <a:t>him</a:t>
            </a:r>
            <a:r>
              <a:rPr lang="en-US" sz="1200" b="0" i="0" u="none" strike="noStrike" kern="1200" baseline="0" dirty="0">
                <a:solidFill>
                  <a:schemeClr val="tx1"/>
                </a:solidFill>
                <a:latin typeface="+mn-lt"/>
                <a:ea typeface="ＭＳ Ｐゴシック" pitchFamily="-106" charset="-128"/>
                <a:cs typeface="ＭＳ Ｐゴシック" pitchFamily="-106" charset="-128"/>
              </a:rPr>
              <a:t> as an enemy, but admonish </a:t>
            </a:r>
            <a:r>
              <a:rPr lang="en-US" sz="1200" b="0" i="1" u="none" strike="noStrike" kern="1200" baseline="0" dirty="0">
                <a:solidFill>
                  <a:schemeClr val="tx1"/>
                </a:solidFill>
                <a:latin typeface="+mn-lt"/>
                <a:ea typeface="ＭＳ Ｐゴシック" pitchFamily="-106" charset="-128"/>
                <a:cs typeface="ＭＳ Ｐゴシック" pitchFamily="-106" charset="-128"/>
              </a:rPr>
              <a:t>him</a:t>
            </a:r>
            <a:r>
              <a:rPr lang="en-US" sz="1200" b="0" i="0" u="none" strike="noStrike" kern="1200" baseline="0" dirty="0">
                <a:solidFill>
                  <a:schemeClr val="tx1"/>
                </a:solidFill>
                <a:latin typeface="+mn-lt"/>
                <a:ea typeface="ＭＳ Ｐゴシック" pitchFamily="-106" charset="-128"/>
                <a:cs typeface="ＭＳ Ｐゴシック" pitchFamily="-106" charset="-128"/>
              </a:rPr>
              <a:t> as a brother.</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24E51526-89C8-CE9A-CCD0-A94A53FF3B93}"/>
              </a:ext>
            </a:extLst>
          </p:cNvPr>
          <p:cNvSpPr>
            <a:spLocks noGrp="1"/>
          </p:cNvSpPr>
          <p:nvPr>
            <p:ph type="sldNum" sz="quarter" idx="5"/>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3543079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3C7E3-0E89-C7F1-3D5B-CD5627716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FB658-9028-92F9-730C-85A5E2DCA4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91634-BDF1-E250-1459-371185A3A329}"/>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282290A-132A-E7BD-8051-C40C80B78175}"/>
              </a:ext>
            </a:extLst>
          </p:cNvPr>
          <p:cNvSpPr>
            <a:spLocks noGrp="1"/>
          </p:cNvSpPr>
          <p:nvPr>
            <p:ph type="sldNum" sz="quarter" idx="5"/>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2889978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11228-033B-6501-496E-349DBCC14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E48F38-71B7-43AB-66FE-830AACF82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30423-11E1-3ABB-CF98-5CB7ED84113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91E1C11-388B-49E5-9C70-FF0343D8B7C7}"/>
              </a:ext>
            </a:extLst>
          </p:cNvPr>
          <p:cNvSpPr>
            <a:spLocks noGrp="1"/>
          </p:cNvSpPr>
          <p:nvPr>
            <p:ph type="sldNum" sz="quarter" idx="5"/>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4094635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AB6D0-87C6-8831-D71F-08EB4ABFF3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B1B9A-BA22-885D-4FDD-CA7E102DA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EA93DC-9F64-41F6-1E16-601EE2D61B0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D492A73-D9D8-B824-A9F5-D3ECE6E61DD2}"/>
              </a:ext>
            </a:extLst>
          </p:cNvPr>
          <p:cNvSpPr>
            <a:spLocks noGrp="1"/>
          </p:cNvSpPr>
          <p:nvPr>
            <p:ph type="sldNum" sz="quarter" idx="5"/>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37100429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876B6-6AC8-DE97-8504-4143F2E75A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B1B75-D385-5834-9597-1EEA0CC08A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06528-0256-C802-A4E9-829A2161F28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D306A876-3363-4022-97FF-B446DF57F162}"/>
              </a:ext>
            </a:extLst>
          </p:cNvPr>
          <p:cNvSpPr>
            <a:spLocks noGrp="1"/>
          </p:cNvSpPr>
          <p:nvPr>
            <p:ph type="sldNum" sz="quarter" idx="5"/>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4896523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DFADF-042A-2E7F-6540-57DDE232D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6416D-F28D-B662-FBBB-6804E8175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381C14-2F60-71F2-C6E5-A8DDDF6C8345}"/>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6170E062-16D9-8739-5773-8397F478A5AB}"/>
              </a:ext>
            </a:extLst>
          </p:cNvPr>
          <p:cNvSpPr>
            <a:spLocks noGrp="1"/>
          </p:cNvSpPr>
          <p:nvPr>
            <p:ph type="sldNum" sz="quarter" idx="5"/>
          </p:nvPr>
        </p:nvSpPr>
        <p:spPr/>
        <p:txBody>
          <a:bodyPr/>
          <a:lstStyle/>
          <a:p>
            <a:pPr>
              <a:defRPr/>
            </a:pPr>
            <a:fld id="{07776858-791E-4C8D-8FA3-473B3AFECFAC}" type="slidenum">
              <a:rPr lang="en-US" smtClean="0"/>
              <a:pPr>
                <a:defRPr/>
              </a:pPr>
              <a:t>12</a:t>
            </a:fld>
            <a:endParaRPr lang="en-US"/>
          </a:p>
        </p:txBody>
      </p:sp>
    </p:spTree>
    <p:extLst>
      <p:ext uri="{BB962C8B-B14F-4D97-AF65-F5344CB8AC3E}">
        <p14:creationId xmlns:p14="http://schemas.microsoft.com/office/powerpoint/2010/main" val="417837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hil@UsefulEngine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4826E-3D54-D155-2F1B-C5B9C08B24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1EDE2-7532-5C86-C012-FEF9434CBB70}"/>
              </a:ext>
            </a:extLst>
          </p:cNvPr>
          <p:cNvSpPr txBox="1">
            <a:spLocks/>
          </p:cNvSpPr>
          <p:nvPr/>
        </p:nvSpPr>
        <p:spPr bwMode="auto">
          <a:xfrm>
            <a:off x="457200" y="228600"/>
            <a:ext cx="82296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Seeking Wisdom</a:t>
            </a:r>
          </a:p>
          <a:p>
            <a:endParaRPr lang="en-US" sz="2400" dirty="0">
              <a:solidFill>
                <a:schemeClr val="tx2">
                  <a:lumMod val="60000"/>
                  <a:lumOff val="40000"/>
                </a:schemeClr>
              </a:solidFill>
            </a:endParaRPr>
          </a:p>
          <a:p>
            <a:r>
              <a:rPr lang="en-US" sz="3600" dirty="0"/>
              <a:t>Proverbs 26:4-5</a:t>
            </a:r>
            <a:r>
              <a:rPr lang="en-US" sz="3600" b="0" dirty="0"/>
              <a:t>  </a:t>
            </a:r>
            <a:r>
              <a:rPr lang="en-US" sz="3600" b="0" i="1" dirty="0"/>
              <a:t>Do not answer</a:t>
            </a:r>
            <a:r>
              <a:rPr lang="en-US" sz="3600" b="0" dirty="0"/>
              <a:t> a fool according to his folly, Lest you also be like him.  (5)  </a:t>
            </a:r>
            <a:r>
              <a:rPr lang="en-US" sz="3600" b="0" i="1" dirty="0"/>
              <a:t>Answer</a:t>
            </a:r>
            <a:r>
              <a:rPr lang="en-US" sz="3600" b="0" dirty="0"/>
              <a:t> a fool according to his folly, Lest he be wise in his own eyes.</a:t>
            </a:r>
          </a:p>
          <a:p>
            <a:endParaRPr lang="en-US" b="0" dirty="0"/>
          </a:p>
          <a:p>
            <a:r>
              <a:rPr lang="en-US" sz="2000" dirty="0">
                <a:solidFill>
                  <a:schemeClr val="tx2">
                    <a:lumMod val="60000"/>
                    <a:lumOff val="40000"/>
                  </a:schemeClr>
                </a:solidFill>
                <a:hlinkClick r:id="rId3"/>
              </a:rPr>
              <a:t>Phil@UsefulEngines.com</a:t>
            </a:r>
            <a:endParaRPr lang="en-US" sz="2000" dirty="0">
              <a:solidFill>
                <a:schemeClr val="tx2">
                  <a:lumMod val="60000"/>
                  <a:lumOff val="40000"/>
                </a:schemeClr>
              </a:solidFill>
            </a:endParaRPr>
          </a:p>
          <a:p>
            <a:endParaRPr lang="en-US" sz="2000" dirty="0">
              <a:solidFill>
                <a:schemeClr val="tx2">
                  <a:lumMod val="60000"/>
                  <a:lumOff val="40000"/>
                </a:schemeClr>
              </a:solidFill>
            </a:endParaRPr>
          </a:p>
          <a:p>
            <a:r>
              <a:rPr lang="en-US" sz="2000" dirty="0">
                <a:solidFill>
                  <a:schemeClr val="tx2">
                    <a:lumMod val="60000"/>
                    <a:lumOff val="40000"/>
                  </a:schemeClr>
                </a:solidFill>
              </a:rPr>
              <a:t>https://tinyurl.com/GodOfPromises</a:t>
            </a: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3292055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3CB79-AE28-5E30-6F76-D4799940D93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640AEB9-14C7-987E-E884-9B7BD0418348}"/>
              </a:ext>
            </a:extLst>
          </p:cNvPr>
          <p:cNvSpPr>
            <a:spLocks noGrp="1"/>
          </p:cNvSpPr>
          <p:nvPr>
            <p:ph type="title"/>
          </p:nvPr>
        </p:nvSpPr>
        <p:spPr>
          <a:xfrm>
            <a:off x="228600" y="0"/>
            <a:ext cx="8686800" cy="978931"/>
          </a:xfrm>
        </p:spPr>
        <p:txBody>
          <a:bodyPr>
            <a:normAutofit fontScale="90000"/>
          </a:bodyPr>
          <a:lstStyle/>
          <a:p>
            <a:r>
              <a:rPr lang="en-US" sz="3600" dirty="0"/>
              <a:t>The Question of Paying Taxes</a:t>
            </a:r>
            <a:br>
              <a:rPr lang="en-US" dirty="0"/>
            </a:br>
            <a:r>
              <a:rPr lang="de-DE" sz="2400" dirty="0">
                <a:solidFill>
                  <a:schemeClr val="tx2">
                    <a:lumMod val="60000"/>
                    <a:lumOff val="40000"/>
                  </a:schemeClr>
                </a:solidFill>
              </a:rPr>
              <a:t>Matthew 22:15–22; Mark 12:13–17; Luke 20:20–26</a:t>
            </a:r>
            <a:endParaRPr lang="en-US" sz="2400" dirty="0">
              <a:solidFill>
                <a:schemeClr val="tx2">
                  <a:lumMod val="60000"/>
                  <a:lumOff val="40000"/>
                </a:schemeClr>
              </a:solidFill>
            </a:endParaRPr>
          </a:p>
        </p:txBody>
      </p:sp>
      <p:sp>
        <p:nvSpPr>
          <p:cNvPr id="5" name="TextBox 4">
            <a:extLst>
              <a:ext uri="{FF2B5EF4-FFF2-40B4-BE49-F238E27FC236}">
                <a16:creationId xmlns:a16="http://schemas.microsoft.com/office/drawing/2014/main" id="{D3A3DBCB-C7DD-EB3E-C0D7-76011087C478}"/>
              </a:ext>
            </a:extLst>
          </p:cNvPr>
          <p:cNvSpPr txBox="1"/>
          <p:nvPr/>
        </p:nvSpPr>
        <p:spPr>
          <a:xfrm>
            <a:off x="243435" y="1066800"/>
            <a:ext cx="8686800" cy="1200329"/>
          </a:xfrm>
          <a:prstGeom prst="rect">
            <a:avLst/>
          </a:prstGeom>
          <a:noFill/>
        </p:spPr>
        <p:txBody>
          <a:bodyPr wrap="square" rtlCol="0">
            <a:spAutoFit/>
          </a:bodyPr>
          <a:lstStyle/>
          <a:p>
            <a:pPr marL="285750" indent="-285750" fontAlgn="ctr">
              <a:buFont typeface="Arial" panose="020B0604020202020204" pitchFamily="34" charset="0"/>
              <a:buChar char="•"/>
            </a:pPr>
            <a:r>
              <a:rPr lang="en-US" dirty="0"/>
              <a:t>The Pharisees asked, </a:t>
            </a:r>
            <a:r>
              <a:rPr lang="en-US" i="1" dirty="0"/>
              <a:t>“Is it lawful to pay taxes to Caesar or not?”</a:t>
            </a:r>
            <a:endParaRPr lang="en-US" dirty="0"/>
          </a:p>
          <a:p>
            <a:pPr marL="285750" indent="-285750" fontAlgn="ctr">
              <a:buFont typeface="Arial" panose="020B0604020202020204" pitchFamily="34" charset="0"/>
              <a:buChar char="•"/>
            </a:pPr>
            <a:r>
              <a:rPr lang="en-US" dirty="0"/>
              <a:t>If He said “yes,” He’d offend the Jews. If “no,” He’d offend Rome.</a:t>
            </a:r>
          </a:p>
          <a:p>
            <a:pPr marL="285750" indent="-285750" fontAlgn="ctr">
              <a:buFont typeface="Arial" panose="020B0604020202020204" pitchFamily="34" charset="0"/>
              <a:buChar char="•"/>
            </a:pPr>
            <a:r>
              <a:rPr lang="en-US" dirty="0"/>
              <a:t>Jesus asked for a coin: </a:t>
            </a:r>
            <a:r>
              <a:rPr lang="en-US" i="1" dirty="0"/>
              <a:t>“Whose image is this?”</a:t>
            </a:r>
            <a:br>
              <a:rPr lang="en-US" i="1" dirty="0"/>
            </a:br>
            <a:r>
              <a:rPr lang="en-US" dirty="0"/>
              <a:t>Then said, </a:t>
            </a:r>
            <a:r>
              <a:rPr lang="en-US" i="1" dirty="0"/>
              <a:t>“Render to Caesar what is Caesar’s, and to God what is God’s.”</a:t>
            </a:r>
            <a:endParaRPr lang="en-US" dirty="0"/>
          </a:p>
        </p:txBody>
      </p:sp>
      <p:sp>
        <p:nvSpPr>
          <p:cNvPr id="2" name="TextBox 1">
            <a:extLst>
              <a:ext uri="{FF2B5EF4-FFF2-40B4-BE49-F238E27FC236}">
                <a16:creationId xmlns:a16="http://schemas.microsoft.com/office/drawing/2014/main" id="{8DB84AB0-4CC8-8065-C4CA-599502E582C9}"/>
              </a:ext>
            </a:extLst>
          </p:cNvPr>
          <p:cNvSpPr txBox="1"/>
          <p:nvPr/>
        </p:nvSpPr>
        <p:spPr>
          <a:xfrm>
            <a:off x="240943" y="2282639"/>
            <a:ext cx="8686800" cy="646331"/>
          </a:xfrm>
          <a:prstGeom prst="rect">
            <a:avLst/>
          </a:prstGeom>
          <a:noFill/>
        </p:spPr>
        <p:txBody>
          <a:bodyPr wrap="square" rtlCol="0">
            <a:spAutoFit/>
          </a:bodyPr>
          <a:lstStyle/>
          <a:p>
            <a:pPr marL="285750" indent="-285750">
              <a:buFont typeface="Arial" panose="020B0604020202020204" pitchFamily="34" charset="0"/>
              <a:buChar char="•"/>
            </a:pPr>
            <a:r>
              <a:rPr lang="en-US" b="1" dirty="0"/>
              <a:t>Answer, but not the way they expected.</a:t>
            </a:r>
            <a:br>
              <a:rPr lang="en-US" b="1" dirty="0"/>
            </a:br>
            <a:r>
              <a:rPr lang="en-US" dirty="0"/>
              <a:t>He exposed their hypocrisy without taking their bait.</a:t>
            </a:r>
            <a:endParaRPr lang="en-US" sz="1400" i="1" dirty="0"/>
          </a:p>
        </p:txBody>
      </p:sp>
      <p:sp>
        <p:nvSpPr>
          <p:cNvPr id="6" name="TextBox 5">
            <a:extLst>
              <a:ext uri="{FF2B5EF4-FFF2-40B4-BE49-F238E27FC236}">
                <a16:creationId xmlns:a16="http://schemas.microsoft.com/office/drawing/2014/main" id="{80800283-63A7-C0A8-4E29-DFAB807BF33C}"/>
              </a:ext>
            </a:extLst>
          </p:cNvPr>
          <p:cNvSpPr txBox="1"/>
          <p:nvPr/>
        </p:nvSpPr>
        <p:spPr>
          <a:xfrm>
            <a:off x="304800" y="3605865"/>
            <a:ext cx="8598257" cy="2031325"/>
          </a:xfrm>
          <a:prstGeom prst="rect">
            <a:avLst/>
          </a:prstGeom>
          <a:noFill/>
        </p:spPr>
        <p:txBody>
          <a:bodyPr wrap="square" rtlCol="0">
            <a:spAutoFit/>
          </a:bodyPr>
          <a:lstStyle/>
          <a:p>
            <a:r>
              <a:rPr lang="en-US" b="1" u="sng" dirty="0"/>
              <a:t>The Unrepentant Sinner</a:t>
            </a:r>
            <a:endParaRPr lang="en-US" u="sng" dirty="0"/>
          </a:p>
          <a:p>
            <a:r>
              <a:rPr lang="en-US" dirty="0"/>
              <a:t> </a:t>
            </a:r>
          </a:p>
          <a:p>
            <a:r>
              <a:rPr lang="en-US" b="1" dirty="0"/>
              <a:t>Proverbs 26:11</a:t>
            </a:r>
            <a:r>
              <a:rPr lang="en-US" dirty="0"/>
              <a:t> – “As a dog returns to its vomit, so a fool repeats his folly.”</a:t>
            </a:r>
          </a:p>
          <a:p>
            <a:r>
              <a:rPr lang="en-US" b="1" dirty="0"/>
              <a:t>2 Peter 2:20–22</a:t>
            </a:r>
            <a:r>
              <a:rPr lang="en-US" dirty="0"/>
              <a:t> – Warns of those who know the truth but return to sin.</a:t>
            </a:r>
          </a:p>
          <a:p>
            <a:endParaRPr lang="en-US" dirty="0"/>
          </a:p>
          <a:p>
            <a:r>
              <a:rPr lang="en-US" b="1" dirty="0"/>
              <a:t>Example:</a:t>
            </a:r>
            <a:r>
              <a:rPr lang="en-US" dirty="0"/>
              <a:t> Pharaoh repeatedly hardened his heart (Exodus 7–14).</a:t>
            </a:r>
          </a:p>
          <a:p>
            <a:pPr marL="285750" indent="-285750">
              <a:buFont typeface="Arial" panose="020B0604020202020204" pitchFamily="34" charset="0"/>
              <a:buChar char="•"/>
            </a:pPr>
            <a:r>
              <a:rPr lang="en-US" dirty="0"/>
              <a:t>God gave him chances, but mercy was withdrawn when his rebellion persisted.</a:t>
            </a:r>
          </a:p>
        </p:txBody>
      </p:sp>
      <p:cxnSp>
        <p:nvCxnSpPr>
          <p:cNvPr id="7" name="Straight Connector 6">
            <a:extLst>
              <a:ext uri="{FF2B5EF4-FFF2-40B4-BE49-F238E27FC236}">
                <a16:creationId xmlns:a16="http://schemas.microsoft.com/office/drawing/2014/main" id="{F21D9C2E-1EF7-8925-4C3F-982C8E11224D}"/>
              </a:ext>
            </a:extLst>
          </p:cNvPr>
          <p:cNvCxnSpPr/>
          <p:nvPr/>
        </p:nvCxnSpPr>
        <p:spPr>
          <a:xfrm>
            <a:off x="240943" y="3200400"/>
            <a:ext cx="8598257"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774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E2FC3-1367-30C7-1E74-F372157A0B8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07AA6EC-C98B-73D2-8E33-87C59288EB1A}"/>
              </a:ext>
            </a:extLst>
          </p:cNvPr>
          <p:cNvSpPr>
            <a:spLocks noGrp="1"/>
          </p:cNvSpPr>
          <p:nvPr>
            <p:ph type="title"/>
          </p:nvPr>
        </p:nvSpPr>
        <p:spPr>
          <a:xfrm>
            <a:off x="228600" y="0"/>
            <a:ext cx="8686800" cy="978931"/>
          </a:xfrm>
        </p:spPr>
        <p:txBody>
          <a:bodyPr>
            <a:normAutofit fontScale="90000"/>
          </a:bodyPr>
          <a:lstStyle/>
          <a:p>
            <a:r>
              <a:rPr lang="en-US" sz="3600" dirty="0"/>
              <a:t>The Woman Caught in Adultery</a:t>
            </a:r>
            <a:br>
              <a:rPr lang="en-US" dirty="0"/>
            </a:br>
            <a:r>
              <a:rPr lang="en-US" sz="2400" dirty="0">
                <a:solidFill>
                  <a:schemeClr val="tx2">
                    <a:lumMod val="60000"/>
                    <a:lumOff val="40000"/>
                  </a:schemeClr>
                </a:solidFill>
              </a:rPr>
              <a:t>John 8:3–11</a:t>
            </a:r>
          </a:p>
        </p:txBody>
      </p:sp>
      <p:sp>
        <p:nvSpPr>
          <p:cNvPr id="5" name="TextBox 4">
            <a:extLst>
              <a:ext uri="{FF2B5EF4-FFF2-40B4-BE49-F238E27FC236}">
                <a16:creationId xmlns:a16="http://schemas.microsoft.com/office/drawing/2014/main" id="{83365D59-56AC-7A91-2640-D40BC5796865}"/>
              </a:ext>
            </a:extLst>
          </p:cNvPr>
          <p:cNvSpPr txBox="1"/>
          <p:nvPr/>
        </p:nvSpPr>
        <p:spPr>
          <a:xfrm>
            <a:off x="243435" y="1066800"/>
            <a:ext cx="8686800" cy="1477328"/>
          </a:xfrm>
          <a:prstGeom prst="rect">
            <a:avLst/>
          </a:prstGeom>
          <a:noFill/>
        </p:spPr>
        <p:txBody>
          <a:bodyPr wrap="square" rtlCol="0">
            <a:spAutoFit/>
          </a:bodyPr>
          <a:lstStyle/>
          <a:p>
            <a:pPr marL="285750" indent="-285750" fontAlgn="ctr">
              <a:buFont typeface="Arial" panose="020B0604020202020204" pitchFamily="34" charset="0"/>
              <a:buChar char="•"/>
            </a:pPr>
            <a:r>
              <a:rPr lang="en-US" dirty="0"/>
              <a:t>The scribes and Pharisees said, </a:t>
            </a:r>
            <a:r>
              <a:rPr lang="en-US" i="1" dirty="0"/>
              <a:t>“Moses commanded us to stone such a woman. What do You say?”</a:t>
            </a:r>
            <a:endParaRPr lang="en-US" dirty="0"/>
          </a:p>
          <a:p>
            <a:pPr marL="285750" indent="-285750" fontAlgn="ctr">
              <a:buFont typeface="Arial" panose="020B0604020202020204" pitchFamily="34" charset="0"/>
              <a:buChar char="•"/>
            </a:pPr>
            <a:r>
              <a:rPr lang="en-US" dirty="0"/>
              <a:t>If He said, “stone her,” He’d violate Roman law. If “forgive her,” He’d deny Moses.</a:t>
            </a:r>
          </a:p>
          <a:p>
            <a:pPr marL="285750" indent="-285750" fontAlgn="ctr">
              <a:buFont typeface="Arial" panose="020B0604020202020204" pitchFamily="34" charset="0"/>
              <a:buChar char="•"/>
            </a:pPr>
            <a:r>
              <a:rPr lang="en-US" dirty="0"/>
              <a:t>Jesus stooped down and wrote on the ground. Then said, </a:t>
            </a:r>
            <a:r>
              <a:rPr lang="en-US" i="1" dirty="0"/>
              <a:t>“He who is without sin among you, let him throw a stone first.”</a:t>
            </a:r>
            <a:endParaRPr lang="en-US" dirty="0"/>
          </a:p>
        </p:txBody>
      </p:sp>
      <p:sp>
        <p:nvSpPr>
          <p:cNvPr id="2" name="TextBox 1">
            <a:extLst>
              <a:ext uri="{FF2B5EF4-FFF2-40B4-BE49-F238E27FC236}">
                <a16:creationId xmlns:a16="http://schemas.microsoft.com/office/drawing/2014/main" id="{9AD5CBCB-1677-8AF3-9C0F-D8AC7C2225C7}"/>
              </a:ext>
            </a:extLst>
          </p:cNvPr>
          <p:cNvSpPr txBox="1"/>
          <p:nvPr/>
        </p:nvSpPr>
        <p:spPr>
          <a:xfrm>
            <a:off x="249035" y="2631466"/>
            <a:ext cx="8686800" cy="646331"/>
          </a:xfrm>
          <a:prstGeom prst="rect">
            <a:avLst/>
          </a:prstGeom>
          <a:noFill/>
        </p:spPr>
        <p:txBody>
          <a:bodyPr wrap="square" rtlCol="0">
            <a:spAutoFit/>
          </a:bodyPr>
          <a:lstStyle/>
          <a:p>
            <a:pPr marL="285750" indent="-285750">
              <a:buFont typeface="Arial" panose="020B0604020202020204" pitchFamily="34" charset="0"/>
              <a:buChar char="•"/>
            </a:pPr>
            <a:r>
              <a:rPr lang="en-US" b="1" dirty="0"/>
              <a:t>He answered without answering.</a:t>
            </a:r>
            <a:br>
              <a:rPr lang="en-US" b="1" dirty="0"/>
            </a:br>
            <a:r>
              <a:rPr lang="en-US" dirty="0"/>
              <a:t>He upheld the Law and mercy together; silencing accusers.</a:t>
            </a:r>
            <a:r>
              <a:rPr lang="en-US" b="1" dirty="0"/>
              <a:t> </a:t>
            </a:r>
            <a:endParaRPr lang="en-US" sz="1400" i="1" dirty="0"/>
          </a:p>
        </p:txBody>
      </p:sp>
      <p:sp>
        <p:nvSpPr>
          <p:cNvPr id="3" name="TextBox 2">
            <a:extLst>
              <a:ext uri="{FF2B5EF4-FFF2-40B4-BE49-F238E27FC236}">
                <a16:creationId xmlns:a16="http://schemas.microsoft.com/office/drawing/2014/main" id="{86A9CD28-3419-09A7-46DF-D803835C9E8D}"/>
              </a:ext>
            </a:extLst>
          </p:cNvPr>
          <p:cNvSpPr txBox="1"/>
          <p:nvPr/>
        </p:nvSpPr>
        <p:spPr>
          <a:xfrm>
            <a:off x="167439" y="3810000"/>
            <a:ext cx="8598257" cy="2308324"/>
          </a:xfrm>
          <a:prstGeom prst="rect">
            <a:avLst/>
          </a:prstGeom>
          <a:noFill/>
        </p:spPr>
        <p:txBody>
          <a:bodyPr wrap="square" rtlCol="0">
            <a:spAutoFit/>
          </a:bodyPr>
          <a:lstStyle/>
          <a:p>
            <a:r>
              <a:rPr lang="en-US" b="1" u="sng" dirty="0"/>
              <a:t>The Manipulative</a:t>
            </a:r>
            <a:endParaRPr lang="en-US" u="sng" dirty="0"/>
          </a:p>
          <a:p>
            <a:r>
              <a:rPr lang="en-US" dirty="0"/>
              <a:t> </a:t>
            </a:r>
          </a:p>
          <a:p>
            <a:r>
              <a:rPr lang="en-US" b="1" dirty="0"/>
              <a:t>Luke 4:1–13</a:t>
            </a:r>
            <a:r>
              <a:rPr lang="en-US" dirty="0"/>
              <a:t> – Satan tried to manipulate Jesus with Scripture and promises.</a:t>
            </a:r>
          </a:p>
          <a:p>
            <a:r>
              <a:rPr lang="en-US" b="1" dirty="0"/>
              <a:t>Proverbs 12:5</a:t>
            </a:r>
            <a:r>
              <a:rPr lang="en-US" dirty="0"/>
              <a:t> – </a:t>
            </a:r>
            <a:r>
              <a:rPr lang="en-US" i="1" dirty="0"/>
              <a:t>“The plans of the righteous are just, but the advice of the wicked is deceitful.”</a:t>
            </a:r>
          </a:p>
          <a:p>
            <a:endParaRPr lang="en-US" i="1" dirty="0"/>
          </a:p>
          <a:p>
            <a:r>
              <a:rPr lang="en-US" b="1" dirty="0"/>
              <a:t>Example:</a:t>
            </a:r>
            <a:r>
              <a:rPr lang="en-US" dirty="0"/>
              <a:t> Delilah manipulated Samson for personal gain (</a:t>
            </a:r>
            <a:r>
              <a:rPr lang="en-US" b="1" dirty="0"/>
              <a:t>Judges 16</a:t>
            </a:r>
            <a:r>
              <a:rPr lang="en-US" dirty="0"/>
              <a:t>).</a:t>
            </a:r>
          </a:p>
          <a:p>
            <a:pPr marL="285750" indent="-285750">
              <a:buFont typeface="Arial" panose="020B0604020202020204" pitchFamily="34" charset="0"/>
              <a:buChar char="•"/>
            </a:pPr>
            <a:r>
              <a:rPr lang="en-US" dirty="0"/>
              <a:t>Jesus resisted manipulation by standing firm on God’s Word.</a:t>
            </a:r>
          </a:p>
        </p:txBody>
      </p:sp>
      <p:cxnSp>
        <p:nvCxnSpPr>
          <p:cNvPr id="7" name="Straight Connector 6">
            <a:extLst>
              <a:ext uri="{FF2B5EF4-FFF2-40B4-BE49-F238E27FC236}">
                <a16:creationId xmlns:a16="http://schemas.microsoft.com/office/drawing/2014/main" id="{AC02927D-8167-2676-CEB7-ED25EB2E3E75}"/>
              </a:ext>
            </a:extLst>
          </p:cNvPr>
          <p:cNvCxnSpPr/>
          <p:nvPr/>
        </p:nvCxnSpPr>
        <p:spPr>
          <a:xfrm>
            <a:off x="184972" y="3581400"/>
            <a:ext cx="8598257"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7490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2F2E6-5937-14DA-288C-3E465426800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3238A08-5D1D-4400-FDE2-6F82D4D92342}"/>
              </a:ext>
            </a:extLst>
          </p:cNvPr>
          <p:cNvSpPr>
            <a:spLocks noGrp="1"/>
          </p:cNvSpPr>
          <p:nvPr>
            <p:ph type="title"/>
          </p:nvPr>
        </p:nvSpPr>
        <p:spPr>
          <a:xfrm>
            <a:off x="228600" y="0"/>
            <a:ext cx="8686800" cy="978931"/>
          </a:xfrm>
        </p:spPr>
        <p:txBody>
          <a:bodyPr>
            <a:normAutofit fontScale="90000"/>
          </a:bodyPr>
          <a:lstStyle/>
          <a:p>
            <a:r>
              <a:rPr lang="en-US" sz="3600" dirty="0"/>
              <a:t>Authority Questioned by the Chief Priests</a:t>
            </a:r>
            <a:br>
              <a:rPr lang="en-US" dirty="0"/>
            </a:br>
            <a:r>
              <a:rPr lang="en-US" sz="2400" dirty="0">
                <a:solidFill>
                  <a:schemeClr val="tx2">
                    <a:lumMod val="60000"/>
                    <a:lumOff val="40000"/>
                  </a:schemeClr>
                </a:solidFill>
              </a:rPr>
              <a:t>Matthew 21:23–27; Mark 11:27–33; Luke 20:1–8</a:t>
            </a:r>
          </a:p>
        </p:txBody>
      </p:sp>
      <p:sp>
        <p:nvSpPr>
          <p:cNvPr id="5" name="TextBox 4">
            <a:extLst>
              <a:ext uri="{FF2B5EF4-FFF2-40B4-BE49-F238E27FC236}">
                <a16:creationId xmlns:a16="http://schemas.microsoft.com/office/drawing/2014/main" id="{821D46D0-DFCC-293C-C09C-80153D9F2382}"/>
              </a:ext>
            </a:extLst>
          </p:cNvPr>
          <p:cNvSpPr txBox="1"/>
          <p:nvPr/>
        </p:nvSpPr>
        <p:spPr>
          <a:xfrm>
            <a:off x="243435" y="1066800"/>
            <a:ext cx="8686800" cy="1200329"/>
          </a:xfrm>
          <a:prstGeom prst="rect">
            <a:avLst/>
          </a:prstGeom>
          <a:noFill/>
        </p:spPr>
        <p:txBody>
          <a:bodyPr wrap="square" rtlCol="0">
            <a:spAutoFit/>
          </a:bodyPr>
          <a:lstStyle/>
          <a:p>
            <a:pPr marL="285750" indent="-285750" fontAlgn="ctr">
              <a:buFont typeface="Arial" panose="020B0604020202020204" pitchFamily="34" charset="0"/>
              <a:buChar char="•"/>
            </a:pPr>
            <a:r>
              <a:rPr lang="en-US" dirty="0"/>
              <a:t>They asked, </a:t>
            </a:r>
            <a:r>
              <a:rPr lang="en-US" i="1" dirty="0"/>
              <a:t>“By what authority are You doing these things?”</a:t>
            </a:r>
            <a:endParaRPr lang="en-US" dirty="0"/>
          </a:p>
          <a:p>
            <a:pPr marL="285750" indent="-285750" fontAlgn="ctr">
              <a:buFont typeface="Arial" panose="020B0604020202020204" pitchFamily="34" charset="0"/>
              <a:buChar char="•"/>
            </a:pPr>
            <a:r>
              <a:rPr lang="en-US" dirty="0"/>
              <a:t>Jesus countered: </a:t>
            </a:r>
            <a:r>
              <a:rPr lang="en-US" i="1" dirty="0"/>
              <a:t>“The baptism of John; was it from heaven or from men?”</a:t>
            </a:r>
            <a:endParaRPr lang="en-US" dirty="0"/>
          </a:p>
          <a:p>
            <a:pPr marL="285750" indent="-285750" fontAlgn="ctr">
              <a:buFont typeface="Arial" panose="020B0604020202020204" pitchFamily="34" charset="0"/>
              <a:buChar char="•"/>
            </a:pPr>
            <a:r>
              <a:rPr lang="en-US" dirty="0"/>
              <a:t>They refused to answer, fearing the crowd.</a:t>
            </a:r>
          </a:p>
          <a:p>
            <a:pPr marL="285750" indent="-285750" fontAlgn="ctr">
              <a:buFont typeface="Arial" panose="020B0604020202020204" pitchFamily="34" charset="0"/>
              <a:buChar char="•"/>
            </a:pPr>
            <a:r>
              <a:rPr lang="en-US" dirty="0"/>
              <a:t>Jesus then said, </a:t>
            </a:r>
            <a:r>
              <a:rPr lang="en-US" i="1" dirty="0"/>
              <a:t>“Neither will I tell you by what authority I do these things.”</a:t>
            </a:r>
            <a:endParaRPr lang="en-US" dirty="0"/>
          </a:p>
        </p:txBody>
      </p:sp>
      <p:sp>
        <p:nvSpPr>
          <p:cNvPr id="2" name="TextBox 1">
            <a:extLst>
              <a:ext uri="{FF2B5EF4-FFF2-40B4-BE49-F238E27FC236}">
                <a16:creationId xmlns:a16="http://schemas.microsoft.com/office/drawing/2014/main" id="{C7395E90-B81F-7981-0DD7-31509CFABF18}"/>
              </a:ext>
            </a:extLst>
          </p:cNvPr>
          <p:cNvSpPr txBox="1"/>
          <p:nvPr/>
        </p:nvSpPr>
        <p:spPr>
          <a:xfrm>
            <a:off x="219364" y="2354998"/>
            <a:ext cx="8686800" cy="646331"/>
          </a:xfrm>
          <a:prstGeom prst="rect">
            <a:avLst/>
          </a:prstGeom>
          <a:noFill/>
        </p:spPr>
        <p:txBody>
          <a:bodyPr wrap="square" rtlCol="0">
            <a:spAutoFit/>
          </a:bodyPr>
          <a:lstStyle/>
          <a:p>
            <a:pPr marL="285750" indent="-285750">
              <a:buFont typeface="Arial" panose="020B0604020202020204" pitchFamily="34" charset="0"/>
              <a:buChar char="•"/>
            </a:pPr>
            <a:r>
              <a:rPr lang="en-US" b="1" dirty="0"/>
              <a:t>Don’t answer.</a:t>
            </a:r>
            <a:br>
              <a:rPr lang="en-US" b="1" dirty="0"/>
            </a:br>
            <a:r>
              <a:rPr lang="en-US" dirty="0"/>
              <a:t>He revealed their hypocrisy - they weren’t seeking truth, only control.</a:t>
            </a:r>
            <a:r>
              <a:rPr lang="en-US" b="1" dirty="0"/>
              <a:t> </a:t>
            </a:r>
            <a:endParaRPr lang="en-US" sz="1400" i="1" dirty="0"/>
          </a:p>
        </p:txBody>
      </p:sp>
      <p:sp>
        <p:nvSpPr>
          <p:cNvPr id="3" name="TextBox 2">
            <a:extLst>
              <a:ext uri="{FF2B5EF4-FFF2-40B4-BE49-F238E27FC236}">
                <a16:creationId xmlns:a16="http://schemas.microsoft.com/office/drawing/2014/main" id="{FD46B6AA-DC6E-6003-C06D-5DF59691E438}"/>
              </a:ext>
            </a:extLst>
          </p:cNvPr>
          <p:cNvSpPr txBox="1"/>
          <p:nvPr/>
        </p:nvSpPr>
        <p:spPr>
          <a:xfrm>
            <a:off x="231971" y="3631058"/>
            <a:ext cx="8598257" cy="2308324"/>
          </a:xfrm>
          <a:prstGeom prst="rect">
            <a:avLst/>
          </a:prstGeom>
          <a:noFill/>
        </p:spPr>
        <p:txBody>
          <a:bodyPr wrap="square" rtlCol="0">
            <a:spAutoFit/>
          </a:bodyPr>
          <a:lstStyle/>
          <a:p>
            <a:r>
              <a:rPr lang="en-US" b="1" u="sng" dirty="0"/>
              <a:t>The Divisive</a:t>
            </a:r>
            <a:endParaRPr lang="en-US" u="sng" dirty="0"/>
          </a:p>
          <a:p>
            <a:r>
              <a:rPr lang="en-US" dirty="0"/>
              <a:t> </a:t>
            </a:r>
          </a:p>
          <a:p>
            <a:r>
              <a:rPr lang="en-US" b="1" dirty="0"/>
              <a:t>Titus 3:10–11</a:t>
            </a:r>
            <a:r>
              <a:rPr lang="en-US" dirty="0"/>
              <a:t> – </a:t>
            </a:r>
            <a:r>
              <a:rPr lang="en-US" i="1" dirty="0"/>
              <a:t>“Reject a divisive person after a first and second warning.”</a:t>
            </a:r>
          </a:p>
          <a:p>
            <a:r>
              <a:rPr lang="en-US" b="1" dirty="0"/>
              <a:t>Romans 16:17</a:t>
            </a:r>
            <a:r>
              <a:rPr lang="en-US" dirty="0"/>
              <a:t> – </a:t>
            </a:r>
            <a:r>
              <a:rPr lang="en-US" i="1" dirty="0"/>
              <a:t>“Watch out for those who cause divisions and put obstacles in your way.”</a:t>
            </a:r>
          </a:p>
          <a:p>
            <a:endParaRPr lang="en-US" i="1" dirty="0"/>
          </a:p>
          <a:p>
            <a:r>
              <a:rPr lang="en-US" b="1" dirty="0"/>
              <a:t>Example:</a:t>
            </a:r>
            <a:r>
              <a:rPr lang="en-US" dirty="0"/>
              <a:t> Korah led rebellion against Moses (Numbers 16).</a:t>
            </a:r>
          </a:p>
          <a:p>
            <a:pPr marL="285750" indent="-285750">
              <a:buFont typeface="Arial" panose="020B0604020202020204" pitchFamily="34" charset="0"/>
              <a:buChar char="•"/>
            </a:pPr>
            <a:r>
              <a:rPr lang="en-US" dirty="0"/>
              <a:t>Division often disguises itself as “righteous disagreement.”</a:t>
            </a:r>
          </a:p>
        </p:txBody>
      </p:sp>
      <p:cxnSp>
        <p:nvCxnSpPr>
          <p:cNvPr id="7" name="Straight Connector 6">
            <a:extLst>
              <a:ext uri="{FF2B5EF4-FFF2-40B4-BE49-F238E27FC236}">
                <a16:creationId xmlns:a16="http://schemas.microsoft.com/office/drawing/2014/main" id="{0E585047-3BC6-CF73-6089-86D9956D5EC7}"/>
              </a:ext>
            </a:extLst>
          </p:cNvPr>
          <p:cNvCxnSpPr/>
          <p:nvPr/>
        </p:nvCxnSpPr>
        <p:spPr>
          <a:xfrm>
            <a:off x="228600" y="3352800"/>
            <a:ext cx="8598257"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597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0FB68-28DA-FE2C-30CE-623CD54AE3B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ED863EE-16F1-BA58-E11F-DCE0EA618707}"/>
              </a:ext>
            </a:extLst>
          </p:cNvPr>
          <p:cNvSpPr>
            <a:spLocks noGrp="1"/>
          </p:cNvSpPr>
          <p:nvPr>
            <p:ph type="title"/>
          </p:nvPr>
        </p:nvSpPr>
        <p:spPr>
          <a:xfrm>
            <a:off x="228600" y="0"/>
            <a:ext cx="8686800" cy="978931"/>
          </a:xfrm>
        </p:spPr>
        <p:txBody>
          <a:bodyPr>
            <a:normAutofit fontScale="90000"/>
          </a:bodyPr>
          <a:lstStyle/>
          <a:p>
            <a:r>
              <a:rPr lang="en-US" sz="3600" dirty="0"/>
              <a:t>The Question of Divorce</a:t>
            </a:r>
            <a:br>
              <a:rPr lang="en-US" dirty="0"/>
            </a:br>
            <a:r>
              <a:rPr lang="en-US" sz="2400" dirty="0">
                <a:solidFill>
                  <a:schemeClr val="tx2">
                    <a:lumMod val="60000"/>
                    <a:lumOff val="40000"/>
                  </a:schemeClr>
                </a:solidFill>
              </a:rPr>
              <a:t>Matthew 19:3–9; Mark 10:2–9</a:t>
            </a:r>
          </a:p>
        </p:txBody>
      </p:sp>
      <p:sp>
        <p:nvSpPr>
          <p:cNvPr id="5" name="TextBox 4">
            <a:extLst>
              <a:ext uri="{FF2B5EF4-FFF2-40B4-BE49-F238E27FC236}">
                <a16:creationId xmlns:a16="http://schemas.microsoft.com/office/drawing/2014/main" id="{92E79388-BE64-D7A2-A23E-C47EA0544245}"/>
              </a:ext>
            </a:extLst>
          </p:cNvPr>
          <p:cNvSpPr txBox="1"/>
          <p:nvPr/>
        </p:nvSpPr>
        <p:spPr>
          <a:xfrm>
            <a:off x="243435" y="1066800"/>
            <a:ext cx="8686800" cy="923330"/>
          </a:xfrm>
          <a:prstGeom prst="rect">
            <a:avLst/>
          </a:prstGeom>
          <a:noFill/>
        </p:spPr>
        <p:txBody>
          <a:bodyPr wrap="square" rtlCol="0">
            <a:spAutoFit/>
          </a:bodyPr>
          <a:lstStyle/>
          <a:p>
            <a:pPr fontAlgn="ctr"/>
            <a:r>
              <a:rPr lang="en-US" dirty="0"/>
              <a:t>The Pharisees tested Him: </a:t>
            </a:r>
            <a:r>
              <a:rPr lang="en-US" i="1" dirty="0"/>
              <a:t>“Is it lawful for a man to divorce his wife for any reason?”</a:t>
            </a:r>
            <a:endParaRPr lang="en-US" dirty="0"/>
          </a:p>
          <a:p>
            <a:pPr fontAlgn="ctr"/>
            <a:r>
              <a:rPr lang="en-US" dirty="0"/>
              <a:t>Jesus redirected them to Scripture: </a:t>
            </a:r>
            <a:r>
              <a:rPr lang="en-US" i="1" dirty="0"/>
              <a:t>“Have you not read... that God made them male and female?”</a:t>
            </a:r>
            <a:endParaRPr lang="en-US" dirty="0"/>
          </a:p>
        </p:txBody>
      </p:sp>
      <p:sp>
        <p:nvSpPr>
          <p:cNvPr id="2" name="TextBox 1">
            <a:extLst>
              <a:ext uri="{FF2B5EF4-FFF2-40B4-BE49-F238E27FC236}">
                <a16:creationId xmlns:a16="http://schemas.microsoft.com/office/drawing/2014/main" id="{CEC6A5E0-8DD8-29A1-5585-7723DC206293}"/>
              </a:ext>
            </a:extLst>
          </p:cNvPr>
          <p:cNvSpPr txBox="1"/>
          <p:nvPr/>
        </p:nvSpPr>
        <p:spPr>
          <a:xfrm>
            <a:off x="265014" y="2069907"/>
            <a:ext cx="8686800"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t>Answer by returning to God’s original intent.</a:t>
            </a:r>
            <a:br>
              <a:rPr lang="en-US" b="1" dirty="0"/>
            </a:br>
            <a:r>
              <a:rPr lang="en-US" dirty="0"/>
              <a:t>He refused to argue their legal loopholes and instead exposed their hardness of heart.</a:t>
            </a:r>
            <a:endParaRPr lang="en-US" sz="1400" i="1" dirty="0"/>
          </a:p>
        </p:txBody>
      </p:sp>
      <p:sp>
        <p:nvSpPr>
          <p:cNvPr id="3" name="TextBox 2">
            <a:extLst>
              <a:ext uri="{FF2B5EF4-FFF2-40B4-BE49-F238E27FC236}">
                <a16:creationId xmlns:a16="http://schemas.microsoft.com/office/drawing/2014/main" id="{BFAC0B2B-36C7-8B69-A6E3-F2A631DB33ED}"/>
              </a:ext>
            </a:extLst>
          </p:cNvPr>
          <p:cNvSpPr txBox="1"/>
          <p:nvPr/>
        </p:nvSpPr>
        <p:spPr>
          <a:xfrm>
            <a:off x="265014" y="3657600"/>
            <a:ext cx="8598257" cy="2308324"/>
          </a:xfrm>
          <a:prstGeom prst="rect">
            <a:avLst/>
          </a:prstGeom>
          <a:noFill/>
        </p:spPr>
        <p:txBody>
          <a:bodyPr wrap="square" rtlCol="0">
            <a:spAutoFit/>
          </a:bodyPr>
          <a:lstStyle/>
          <a:p>
            <a:r>
              <a:rPr lang="en-US" b="1" u="sng" dirty="0"/>
              <a:t>The Drainer</a:t>
            </a:r>
            <a:r>
              <a:rPr lang="en-US" b="1" dirty="0"/>
              <a:t> (those who sap energy or constantly take without giving)</a:t>
            </a:r>
            <a:endParaRPr lang="en-US" dirty="0"/>
          </a:p>
          <a:p>
            <a:r>
              <a:rPr lang="en-US" dirty="0"/>
              <a:t> </a:t>
            </a:r>
          </a:p>
          <a:p>
            <a:r>
              <a:rPr lang="en-US" b="1" dirty="0"/>
              <a:t>Luke 5:16</a:t>
            </a:r>
            <a:r>
              <a:rPr lang="en-US" dirty="0"/>
              <a:t> – </a:t>
            </a:r>
            <a:r>
              <a:rPr lang="en-US" i="1" dirty="0"/>
              <a:t>“Jesus often withdrew to lonely places and prayed.”</a:t>
            </a:r>
          </a:p>
          <a:p>
            <a:r>
              <a:rPr lang="en-US" b="1" dirty="0"/>
              <a:t>Proverbs 25:17</a:t>
            </a:r>
            <a:r>
              <a:rPr lang="en-US" dirty="0"/>
              <a:t> – </a:t>
            </a:r>
            <a:r>
              <a:rPr lang="en-US" i="1" dirty="0"/>
              <a:t>“Seldom set foot in your neighbor’s house; too much of you, and they will hate you.”</a:t>
            </a:r>
          </a:p>
          <a:p>
            <a:endParaRPr lang="en-US" i="1" dirty="0"/>
          </a:p>
          <a:p>
            <a:r>
              <a:rPr lang="en-US" b="1" dirty="0"/>
              <a:t>Example:</a:t>
            </a:r>
            <a:r>
              <a:rPr lang="en-US" dirty="0"/>
              <a:t> The crowds followed Jesus for miracles, not truth (</a:t>
            </a:r>
            <a:r>
              <a:rPr lang="en-US" b="1" dirty="0"/>
              <a:t>John 6:26</a:t>
            </a:r>
            <a:r>
              <a:rPr lang="en-US" dirty="0"/>
              <a:t>).</a:t>
            </a:r>
          </a:p>
          <a:p>
            <a:pPr marL="285750" indent="-285750">
              <a:buFont typeface="Arial" panose="020B0604020202020204" pitchFamily="34" charset="0"/>
              <a:buChar char="•"/>
            </a:pPr>
            <a:r>
              <a:rPr lang="en-US" dirty="0"/>
              <a:t>Even Jesus set boundaries and rested.</a:t>
            </a:r>
          </a:p>
        </p:txBody>
      </p:sp>
      <p:cxnSp>
        <p:nvCxnSpPr>
          <p:cNvPr id="7" name="Straight Connector 6">
            <a:extLst>
              <a:ext uri="{FF2B5EF4-FFF2-40B4-BE49-F238E27FC236}">
                <a16:creationId xmlns:a16="http://schemas.microsoft.com/office/drawing/2014/main" id="{6BC2375D-A174-B796-4722-7E3738C3170A}"/>
              </a:ext>
            </a:extLst>
          </p:cNvPr>
          <p:cNvCxnSpPr/>
          <p:nvPr/>
        </p:nvCxnSpPr>
        <p:spPr>
          <a:xfrm>
            <a:off x="315120" y="3352800"/>
            <a:ext cx="8598257"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614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E2AB9-96EB-FDF9-BBA9-6FEC2093E58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8BAAD4A-6D83-EC6C-ED9F-A0291BB1571D}"/>
              </a:ext>
            </a:extLst>
          </p:cNvPr>
          <p:cNvSpPr>
            <a:spLocks noGrp="1"/>
          </p:cNvSpPr>
          <p:nvPr>
            <p:ph type="title"/>
          </p:nvPr>
        </p:nvSpPr>
        <p:spPr>
          <a:xfrm>
            <a:off x="228600" y="0"/>
            <a:ext cx="8686800" cy="978931"/>
          </a:xfrm>
        </p:spPr>
        <p:txBody>
          <a:bodyPr>
            <a:normAutofit fontScale="90000"/>
          </a:bodyPr>
          <a:lstStyle/>
          <a:p>
            <a:r>
              <a:rPr lang="en-US" sz="3600" dirty="0"/>
              <a:t>The Question of Resurrection (Sadducees)</a:t>
            </a:r>
            <a:br>
              <a:rPr lang="en-US" dirty="0"/>
            </a:br>
            <a:r>
              <a:rPr lang="en-US" sz="2400" dirty="0">
                <a:solidFill>
                  <a:schemeClr val="tx2">
                    <a:lumMod val="60000"/>
                    <a:lumOff val="40000"/>
                  </a:schemeClr>
                </a:solidFill>
              </a:rPr>
              <a:t>Matthew 22:23–33; Luke 20:27–40</a:t>
            </a:r>
          </a:p>
        </p:txBody>
      </p:sp>
      <p:sp>
        <p:nvSpPr>
          <p:cNvPr id="5" name="TextBox 4">
            <a:extLst>
              <a:ext uri="{FF2B5EF4-FFF2-40B4-BE49-F238E27FC236}">
                <a16:creationId xmlns:a16="http://schemas.microsoft.com/office/drawing/2014/main" id="{5C10B28B-CC5F-FD48-523D-91A771782430}"/>
              </a:ext>
            </a:extLst>
          </p:cNvPr>
          <p:cNvSpPr txBox="1"/>
          <p:nvPr/>
        </p:nvSpPr>
        <p:spPr>
          <a:xfrm>
            <a:off x="243435" y="1066800"/>
            <a:ext cx="8686800" cy="1200329"/>
          </a:xfrm>
          <a:prstGeom prst="rect">
            <a:avLst/>
          </a:prstGeom>
          <a:noFill/>
        </p:spPr>
        <p:txBody>
          <a:bodyPr wrap="square" rtlCol="0">
            <a:spAutoFit/>
          </a:bodyPr>
          <a:lstStyle/>
          <a:p>
            <a:pPr marL="285750" indent="-285750" fontAlgn="ctr">
              <a:buFont typeface="Arial" panose="020B0604020202020204" pitchFamily="34" charset="0"/>
              <a:buChar char="•"/>
            </a:pPr>
            <a:r>
              <a:rPr lang="en-US" dirty="0"/>
              <a:t>The Sadducees, who denied resurrection, presented a ridiculous story about seven husbands.</a:t>
            </a:r>
          </a:p>
          <a:p>
            <a:pPr marL="285750" indent="-285750" fontAlgn="ctr">
              <a:buFont typeface="Arial" panose="020B0604020202020204" pitchFamily="34" charset="0"/>
              <a:buChar char="•"/>
            </a:pPr>
            <a:r>
              <a:rPr lang="en-US" dirty="0"/>
              <a:t>Jesus said, </a:t>
            </a:r>
            <a:r>
              <a:rPr lang="en-US" i="1" dirty="0"/>
              <a:t>“You are mistaken, not knowing the Scriptures nor the power of God.”</a:t>
            </a:r>
            <a:endParaRPr lang="en-US" dirty="0"/>
          </a:p>
        </p:txBody>
      </p:sp>
      <p:sp>
        <p:nvSpPr>
          <p:cNvPr id="2" name="TextBox 1">
            <a:extLst>
              <a:ext uri="{FF2B5EF4-FFF2-40B4-BE49-F238E27FC236}">
                <a16:creationId xmlns:a16="http://schemas.microsoft.com/office/drawing/2014/main" id="{F2A85A93-D951-1FF9-F3FA-4FA790E93A6B}"/>
              </a:ext>
            </a:extLst>
          </p:cNvPr>
          <p:cNvSpPr txBox="1"/>
          <p:nvPr/>
        </p:nvSpPr>
        <p:spPr>
          <a:xfrm>
            <a:off x="228600" y="2352235"/>
            <a:ext cx="8686800" cy="646331"/>
          </a:xfrm>
          <a:prstGeom prst="rect">
            <a:avLst/>
          </a:prstGeom>
          <a:noFill/>
        </p:spPr>
        <p:txBody>
          <a:bodyPr wrap="square" rtlCol="0">
            <a:spAutoFit/>
          </a:bodyPr>
          <a:lstStyle/>
          <a:p>
            <a:pPr marL="285750" indent="-285750">
              <a:buFont typeface="Arial" panose="020B0604020202020204" pitchFamily="34" charset="0"/>
              <a:buChar char="•"/>
            </a:pPr>
            <a:r>
              <a:rPr lang="en-US" b="1" dirty="0"/>
              <a:t>Answer that corrects ignorance, not argument.</a:t>
            </a:r>
            <a:br>
              <a:rPr lang="en-US" b="1" dirty="0"/>
            </a:br>
            <a:r>
              <a:rPr lang="en-US" dirty="0"/>
              <a:t>He dismantled their logic by revealing their false premise.</a:t>
            </a:r>
            <a:endParaRPr lang="en-US" sz="1400" i="1" dirty="0"/>
          </a:p>
        </p:txBody>
      </p:sp>
      <p:sp>
        <p:nvSpPr>
          <p:cNvPr id="3" name="TextBox 2">
            <a:extLst>
              <a:ext uri="{FF2B5EF4-FFF2-40B4-BE49-F238E27FC236}">
                <a16:creationId xmlns:a16="http://schemas.microsoft.com/office/drawing/2014/main" id="{1A707118-F235-825C-3ADF-6911D4E29696}"/>
              </a:ext>
            </a:extLst>
          </p:cNvPr>
          <p:cNvSpPr txBox="1"/>
          <p:nvPr/>
        </p:nvSpPr>
        <p:spPr>
          <a:xfrm>
            <a:off x="243435" y="3569262"/>
            <a:ext cx="8598257" cy="2585323"/>
          </a:xfrm>
          <a:prstGeom prst="rect">
            <a:avLst/>
          </a:prstGeom>
          <a:noFill/>
        </p:spPr>
        <p:txBody>
          <a:bodyPr wrap="square" rtlCol="0">
            <a:spAutoFit/>
          </a:bodyPr>
          <a:lstStyle/>
          <a:p>
            <a:r>
              <a:rPr lang="en-US" b="1" u="sng" dirty="0"/>
              <a:t>The God Replacement</a:t>
            </a:r>
            <a:r>
              <a:rPr lang="en-US" b="1" dirty="0"/>
              <a:t> (those who want your worship, attention, or loyalty over God)</a:t>
            </a:r>
            <a:endParaRPr lang="en-US" dirty="0"/>
          </a:p>
          <a:p>
            <a:r>
              <a:rPr lang="en-US" dirty="0"/>
              <a:t> </a:t>
            </a:r>
          </a:p>
          <a:p>
            <a:r>
              <a:rPr lang="en-US" b="1" dirty="0"/>
              <a:t>Acts 14:11–15</a:t>
            </a:r>
            <a:r>
              <a:rPr lang="en-US" dirty="0"/>
              <a:t> – Paul and Barnabas were worshiped as gods but tore their clothes, saying, </a:t>
            </a:r>
            <a:r>
              <a:rPr lang="en-US" i="1" dirty="0"/>
              <a:t>“We are only men.”</a:t>
            </a:r>
          </a:p>
          <a:p>
            <a:r>
              <a:rPr lang="en-US" b="1" dirty="0"/>
              <a:t>Exodus 20:3</a:t>
            </a:r>
            <a:r>
              <a:rPr lang="en-US" dirty="0"/>
              <a:t> – </a:t>
            </a:r>
            <a:r>
              <a:rPr lang="en-US" i="1" dirty="0"/>
              <a:t>“You shall have no other gods before Me.”</a:t>
            </a:r>
          </a:p>
          <a:p>
            <a:endParaRPr lang="en-US" dirty="0"/>
          </a:p>
          <a:p>
            <a:r>
              <a:rPr lang="en-US" b="1" dirty="0"/>
              <a:t>Example:</a:t>
            </a:r>
            <a:r>
              <a:rPr lang="en-US" dirty="0"/>
              <a:t> Herod accepted praise as a god and was struck down (</a:t>
            </a:r>
            <a:r>
              <a:rPr lang="en-US" b="1" dirty="0"/>
              <a:t>Acts 12:21–23</a:t>
            </a:r>
            <a:r>
              <a:rPr lang="en-US" dirty="0"/>
              <a:t>).</a:t>
            </a:r>
          </a:p>
          <a:p>
            <a:pPr marL="285750" indent="-285750">
              <a:buFont typeface="Arial" panose="020B0604020202020204" pitchFamily="34" charset="0"/>
              <a:buChar char="•"/>
            </a:pPr>
            <a:r>
              <a:rPr lang="en-US" dirty="0"/>
              <a:t>Never support those who exalt themselves above God.</a:t>
            </a:r>
          </a:p>
        </p:txBody>
      </p:sp>
      <p:cxnSp>
        <p:nvCxnSpPr>
          <p:cNvPr id="7" name="Straight Connector 6">
            <a:extLst>
              <a:ext uri="{FF2B5EF4-FFF2-40B4-BE49-F238E27FC236}">
                <a16:creationId xmlns:a16="http://schemas.microsoft.com/office/drawing/2014/main" id="{44459572-7176-4B3A-6E2A-9C50130D093C}"/>
              </a:ext>
            </a:extLst>
          </p:cNvPr>
          <p:cNvCxnSpPr/>
          <p:nvPr/>
        </p:nvCxnSpPr>
        <p:spPr>
          <a:xfrm>
            <a:off x="272871" y="3276600"/>
            <a:ext cx="8598257"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1054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5FAA7-14F5-7F59-F1BC-399C3343E9A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0440E69-63D4-FC59-A61E-05D29E3A672F}"/>
              </a:ext>
            </a:extLst>
          </p:cNvPr>
          <p:cNvSpPr>
            <a:spLocks noGrp="1"/>
          </p:cNvSpPr>
          <p:nvPr>
            <p:ph type="title"/>
          </p:nvPr>
        </p:nvSpPr>
        <p:spPr>
          <a:xfrm>
            <a:off x="228600" y="0"/>
            <a:ext cx="8686800" cy="978931"/>
          </a:xfrm>
        </p:spPr>
        <p:txBody>
          <a:bodyPr>
            <a:normAutofit fontScale="90000"/>
          </a:bodyPr>
          <a:lstStyle/>
          <a:p>
            <a:r>
              <a:rPr lang="en-US" sz="3600" dirty="0"/>
              <a:t>Before Pilate and Herod</a:t>
            </a:r>
            <a:br>
              <a:rPr lang="en-US" dirty="0"/>
            </a:br>
            <a:r>
              <a:rPr lang="en-US" sz="2400" dirty="0">
                <a:solidFill>
                  <a:schemeClr val="tx2">
                    <a:lumMod val="60000"/>
                    <a:lumOff val="40000"/>
                  </a:schemeClr>
                </a:solidFill>
              </a:rPr>
              <a:t>Matthew 27:11–14; Luke 23:8–9; John 18:33–38</a:t>
            </a:r>
          </a:p>
        </p:txBody>
      </p:sp>
      <p:sp>
        <p:nvSpPr>
          <p:cNvPr id="5" name="TextBox 4">
            <a:extLst>
              <a:ext uri="{FF2B5EF4-FFF2-40B4-BE49-F238E27FC236}">
                <a16:creationId xmlns:a16="http://schemas.microsoft.com/office/drawing/2014/main" id="{B9194552-52C4-E409-F920-39D591D83B2E}"/>
              </a:ext>
            </a:extLst>
          </p:cNvPr>
          <p:cNvSpPr txBox="1"/>
          <p:nvPr/>
        </p:nvSpPr>
        <p:spPr>
          <a:xfrm>
            <a:off x="243435" y="1066800"/>
            <a:ext cx="8686800" cy="923330"/>
          </a:xfrm>
          <a:prstGeom prst="rect">
            <a:avLst/>
          </a:prstGeom>
          <a:noFill/>
        </p:spPr>
        <p:txBody>
          <a:bodyPr wrap="square" rtlCol="0">
            <a:spAutoFit/>
          </a:bodyPr>
          <a:lstStyle/>
          <a:p>
            <a:pPr marL="285750" indent="-285750" fontAlgn="ctr">
              <a:buFont typeface="Arial" panose="020B0604020202020204" pitchFamily="34" charset="0"/>
              <a:buChar char="•"/>
            </a:pPr>
            <a:r>
              <a:rPr lang="en-US" dirty="0"/>
              <a:t>Pilate asked, </a:t>
            </a:r>
            <a:r>
              <a:rPr lang="en-US" i="1" dirty="0"/>
              <a:t>“Are You the King of the Jews?”</a:t>
            </a:r>
            <a:r>
              <a:rPr lang="en-US" dirty="0"/>
              <a:t> Jesus answered, </a:t>
            </a:r>
            <a:r>
              <a:rPr lang="en-US" i="1" dirty="0"/>
              <a:t>“You say so.”</a:t>
            </a:r>
            <a:endParaRPr lang="en-US" dirty="0"/>
          </a:p>
          <a:p>
            <a:pPr marL="285750" indent="-285750" fontAlgn="ctr">
              <a:buFont typeface="Arial" panose="020B0604020202020204" pitchFamily="34" charset="0"/>
              <a:buChar char="•"/>
            </a:pPr>
            <a:r>
              <a:rPr lang="en-US" dirty="0"/>
              <a:t>When falsely accused, </a:t>
            </a:r>
            <a:r>
              <a:rPr lang="en-US" i="1" dirty="0"/>
              <a:t>He gave no answer.</a:t>
            </a:r>
            <a:endParaRPr lang="en-US" dirty="0"/>
          </a:p>
          <a:p>
            <a:pPr marL="285750" indent="-285750" fontAlgn="ctr">
              <a:buFont typeface="Arial" panose="020B0604020202020204" pitchFamily="34" charset="0"/>
              <a:buChar char="•"/>
            </a:pPr>
            <a:r>
              <a:rPr lang="en-US" dirty="0"/>
              <a:t>Before Herod, </a:t>
            </a:r>
            <a:r>
              <a:rPr lang="en-US" i="1" dirty="0"/>
              <a:t>He said nothing at all.</a:t>
            </a:r>
            <a:endParaRPr lang="en-US" dirty="0"/>
          </a:p>
        </p:txBody>
      </p:sp>
      <p:sp>
        <p:nvSpPr>
          <p:cNvPr id="2" name="TextBox 1">
            <a:extLst>
              <a:ext uri="{FF2B5EF4-FFF2-40B4-BE49-F238E27FC236}">
                <a16:creationId xmlns:a16="http://schemas.microsoft.com/office/drawing/2014/main" id="{7B1F1339-982A-D4AD-3026-C6E29672096E}"/>
              </a:ext>
            </a:extLst>
          </p:cNvPr>
          <p:cNvSpPr txBox="1"/>
          <p:nvPr/>
        </p:nvSpPr>
        <p:spPr>
          <a:xfrm>
            <a:off x="228130" y="2077999"/>
            <a:ext cx="8686800"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t>Don’t answer lies or mockery.</a:t>
            </a:r>
            <a:br>
              <a:rPr lang="en-US" b="1" dirty="0"/>
            </a:br>
            <a:r>
              <a:rPr lang="en-US" dirty="0"/>
              <a:t>Silence itself became testimony; fulfilling </a:t>
            </a:r>
            <a:r>
              <a:rPr lang="en-US" b="1" i="1" dirty="0"/>
              <a:t>Isaiah 53:7</a:t>
            </a:r>
            <a:r>
              <a:rPr lang="en-US" dirty="0"/>
              <a:t>  </a:t>
            </a:r>
            <a:r>
              <a:rPr lang="en-US" i="1" dirty="0"/>
              <a:t>“He was oppressed and afflicted, yet He did not open His mouth.”</a:t>
            </a:r>
            <a:endParaRPr lang="en-US" sz="1400" i="1" dirty="0"/>
          </a:p>
        </p:txBody>
      </p:sp>
      <p:sp>
        <p:nvSpPr>
          <p:cNvPr id="3" name="TextBox 2">
            <a:extLst>
              <a:ext uri="{FF2B5EF4-FFF2-40B4-BE49-F238E27FC236}">
                <a16:creationId xmlns:a16="http://schemas.microsoft.com/office/drawing/2014/main" id="{64B014A6-2516-51D5-28D8-CEA651244450}"/>
              </a:ext>
            </a:extLst>
          </p:cNvPr>
          <p:cNvSpPr txBox="1"/>
          <p:nvPr/>
        </p:nvSpPr>
        <p:spPr>
          <a:xfrm>
            <a:off x="228130" y="3482876"/>
            <a:ext cx="8598257" cy="2585323"/>
          </a:xfrm>
          <a:prstGeom prst="rect">
            <a:avLst/>
          </a:prstGeom>
          <a:noFill/>
        </p:spPr>
        <p:txBody>
          <a:bodyPr wrap="square" rtlCol="0">
            <a:spAutoFit/>
          </a:bodyPr>
          <a:lstStyle/>
          <a:p>
            <a:r>
              <a:rPr lang="en-US" b="1" u="sng" dirty="0"/>
              <a:t>The Willfully Disobedient</a:t>
            </a:r>
            <a:endParaRPr lang="en-US" u="sng" dirty="0"/>
          </a:p>
          <a:p>
            <a:r>
              <a:rPr lang="en-US" dirty="0"/>
              <a:t> </a:t>
            </a:r>
          </a:p>
          <a:p>
            <a:r>
              <a:rPr lang="en-US" b="1" dirty="0"/>
              <a:t>2 Thessalonians 3:14–15</a:t>
            </a:r>
            <a:r>
              <a:rPr lang="en-US" dirty="0"/>
              <a:t> – </a:t>
            </a:r>
            <a:r>
              <a:rPr lang="en-US" i="1" dirty="0"/>
              <a:t>“Take special note of anyone who does not obey our instruction… do not associate with them.”</a:t>
            </a:r>
          </a:p>
          <a:p>
            <a:r>
              <a:rPr lang="en-US" b="1" dirty="0"/>
              <a:t>Proverbs 29:1</a:t>
            </a:r>
            <a:r>
              <a:rPr lang="en-US" dirty="0"/>
              <a:t> – </a:t>
            </a:r>
            <a:r>
              <a:rPr lang="en-US" i="1" dirty="0"/>
              <a:t>“Whoever remains stiff-necked after many rebukes will suddenly be destroyed.”</a:t>
            </a:r>
          </a:p>
          <a:p>
            <a:endParaRPr lang="en-US" dirty="0"/>
          </a:p>
          <a:p>
            <a:r>
              <a:rPr lang="en-US" b="1" dirty="0"/>
              <a:t>Example:</a:t>
            </a:r>
            <a:r>
              <a:rPr lang="en-US" dirty="0"/>
              <a:t> King Saul repeatedly disobeyed God’s commands (</a:t>
            </a:r>
            <a:r>
              <a:rPr lang="en-US" b="1" dirty="0"/>
              <a:t>1 Samuel 15</a:t>
            </a:r>
            <a:r>
              <a:rPr lang="en-US" dirty="0"/>
              <a:t>).</a:t>
            </a:r>
          </a:p>
          <a:p>
            <a:pPr marL="285750" indent="-285750">
              <a:buFont typeface="Arial" panose="020B0604020202020204" pitchFamily="34" charset="0"/>
              <a:buChar char="•"/>
            </a:pPr>
            <a:r>
              <a:rPr lang="en-US" dirty="0"/>
              <a:t>Helping rebellion only multiplies its cost.</a:t>
            </a:r>
          </a:p>
        </p:txBody>
      </p:sp>
      <p:cxnSp>
        <p:nvCxnSpPr>
          <p:cNvPr id="7" name="Straight Connector 6">
            <a:extLst>
              <a:ext uri="{FF2B5EF4-FFF2-40B4-BE49-F238E27FC236}">
                <a16:creationId xmlns:a16="http://schemas.microsoft.com/office/drawing/2014/main" id="{40A5B6ED-D39F-0C68-16A1-872F3EA966D4}"/>
              </a:ext>
            </a:extLst>
          </p:cNvPr>
          <p:cNvCxnSpPr/>
          <p:nvPr/>
        </p:nvCxnSpPr>
        <p:spPr>
          <a:xfrm>
            <a:off x="243435" y="3200400"/>
            <a:ext cx="8598257"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855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3E922-0EF5-9774-3CC3-098CAC56A2E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F1EFFFD-F3B0-902D-4884-38027904FDC9}"/>
              </a:ext>
            </a:extLst>
          </p:cNvPr>
          <p:cNvSpPr>
            <a:spLocks noGrp="1"/>
          </p:cNvSpPr>
          <p:nvPr>
            <p:ph type="title"/>
          </p:nvPr>
        </p:nvSpPr>
        <p:spPr>
          <a:xfrm>
            <a:off x="228600" y="0"/>
            <a:ext cx="8686800" cy="978931"/>
          </a:xfrm>
        </p:spPr>
        <p:txBody>
          <a:bodyPr>
            <a:normAutofit fontScale="90000"/>
          </a:bodyPr>
          <a:lstStyle/>
          <a:p>
            <a:r>
              <a:rPr lang="en-US" sz="3600" dirty="0"/>
              <a:t>The Question of His Authority as Messiah</a:t>
            </a:r>
            <a:br>
              <a:rPr lang="en-US" dirty="0"/>
            </a:br>
            <a:r>
              <a:rPr lang="en-US" sz="2400" dirty="0">
                <a:solidFill>
                  <a:schemeClr val="tx2">
                    <a:lumMod val="60000"/>
                    <a:lumOff val="40000"/>
                  </a:schemeClr>
                </a:solidFill>
              </a:rPr>
              <a:t>John 10:24–25</a:t>
            </a:r>
          </a:p>
        </p:txBody>
      </p:sp>
      <p:sp>
        <p:nvSpPr>
          <p:cNvPr id="5" name="TextBox 4">
            <a:extLst>
              <a:ext uri="{FF2B5EF4-FFF2-40B4-BE49-F238E27FC236}">
                <a16:creationId xmlns:a16="http://schemas.microsoft.com/office/drawing/2014/main" id="{5A2891E0-6353-FD04-6452-BBE50F0765E6}"/>
              </a:ext>
            </a:extLst>
          </p:cNvPr>
          <p:cNvSpPr txBox="1"/>
          <p:nvPr/>
        </p:nvSpPr>
        <p:spPr>
          <a:xfrm>
            <a:off x="243435" y="1066800"/>
            <a:ext cx="8686800" cy="923330"/>
          </a:xfrm>
          <a:prstGeom prst="rect">
            <a:avLst/>
          </a:prstGeom>
          <a:noFill/>
        </p:spPr>
        <p:txBody>
          <a:bodyPr wrap="square" rtlCol="0">
            <a:spAutoFit/>
          </a:bodyPr>
          <a:lstStyle/>
          <a:p>
            <a:pPr marL="285750" indent="-285750" fontAlgn="ctr">
              <a:buFont typeface="Arial" panose="020B0604020202020204" pitchFamily="34" charset="0"/>
              <a:buChar char="•"/>
            </a:pPr>
            <a:r>
              <a:rPr lang="en-US" dirty="0"/>
              <a:t>“If You are the Christ, tell us plainly.”</a:t>
            </a:r>
          </a:p>
          <a:p>
            <a:pPr marL="285750" indent="-285750" fontAlgn="ctr">
              <a:buFont typeface="Arial" panose="020B0604020202020204" pitchFamily="34" charset="0"/>
              <a:buChar char="•"/>
            </a:pPr>
            <a:r>
              <a:rPr lang="en-US" dirty="0"/>
              <a:t>Jesus replied, </a:t>
            </a:r>
            <a:r>
              <a:rPr lang="en-US" i="1" dirty="0"/>
              <a:t>“I told you, and you do not believe. The works I do in My Father’s name testify about Me.”</a:t>
            </a:r>
            <a:endParaRPr lang="en-US" dirty="0"/>
          </a:p>
        </p:txBody>
      </p:sp>
      <p:sp>
        <p:nvSpPr>
          <p:cNvPr id="2" name="TextBox 1">
            <a:extLst>
              <a:ext uri="{FF2B5EF4-FFF2-40B4-BE49-F238E27FC236}">
                <a16:creationId xmlns:a16="http://schemas.microsoft.com/office/drawing/2014/main" id="{079F35B8-DDE9-FB7B-46D2-B924C2B59C66}"/>
              </a:ext>
            </a:extLst>
          </p:cNvPr>
          <p:cNvSpPr txBox="1"/>
          <p:nvPr/>
        </p:nvSpPr>
        <p:spPr>
          <a:xfrm>
            <a:off x="243435" y="2077999"/>
            <a:ext cx="8686800" cy="646331"/>
          </a:xfrm>
          <a:prstGeom prst="rect">
            <a:avLst/>
          </a:prstGeom>
          <a:noFill/>
        </p:spPr>
        <p:txBody>
          <a:bodyPr wrap="square" rtlCol="0">
            <a:spAutoFit/>
          </a:bodyPr>
          <a:lstStyle/>
          <a:p>
            <a:pPr marL="285750" indent="-285750">
              <a:buFont typeface="Arial" panose="020B0604020202020204" pitchFamily="34" charset="0"/>
              <a:buChar char="•"/>
            </a:pPr>
            <a:r>
              <a:rPr lang="en-US" b="1" dirty="0"/>
              <a:t>Answer with evidence, not argument.</a:t>
            </a:r>
            <a:br>
              <a:rPr lang="en-US" b="1" dirty="0"/>
            </a:br>
            <a:r>
              <a:rPr lang="en-US" dirty="0"/>
              <a:t>He pointed to actions, not words, as proof.</a:t>
            </a:r>
            <a:r>
              <a:rPr lang="en-US" b="1" dirty="0"/>
              <a:t> </a:t>
            </a:r>
            <a:endParaRPr lang="en-US" sz="1400" i="1" dirty="0"/>
          </a:p>
        </p:txBody>
      </p:sp>
      <p:sp>
        <p:nvSpPr>
          <p:cNvPr id="3" name="TextBox 2">
            <a:extLst>
              <a:ext uri="{FF2B5EF4-FFF2-40B4-BE49-F238E27FC236}">
                <a16:creationId xmlns:a16="http://schemas.microsoft.com/office/drawing/2014/main" id="{8D3B117E-B706-A05C-EA28-DDB3122CECBC}"/>
              </a:ext>
            </a:extLst>
          </p:cNvPr>
          <p:cNvSpPr txBox="1"/>
          <p:nvPr/>
        </p:nvSpPr>
        <p:spPr>
          <a:xfrm>
            <a:off x="243435" y="3408770"/>
            <a:ext cx="8598257" cy="2585323"/>
          </a:xfrm>
          <a:prstGeom prst="rect">
            <a:avLst/>
          </a:prstGeom>
          <a:noFill/>
        </p:spPr>
        <p:txBody>
          <a:bodyPr wrap="square" rtlCol="0">
            <a:spAutoFit/>
          </a:bodyPr>
          <a:lstStyle/>
          <a:p>
            <a:r>
              <a:rPr lang="en-US" b="1" u="sng" dirty="0"/>
              <a:t>The Assignment Blocker</a:t>
            </a:r>
            <a:r>
              <a:rPr lang="en-US" b="1" dirty="0"/>
              <a:t> (those who oppose or distract from God’s call on your life)</a:t>
            </a:r>
            <a:endParaRPr lang="en-US" dirty="0"/>
          </a:p>
          <a:p>
            <a:r>
              <a:rPr lang="en-US" dirty="0"/>
              <a:t> </a:t>
            </a:r>
          </a:p>
          <a:p>
            <a:r>
              <a:rPr lang="en-US" b="1" dirty="0"/>
              <a:t>Genesis 12:1–4</a:t>
            </a:r>
            <a:r>
              <a:rPr lang="en-US" dirty="0"/>
              <a:t> – God told Abram to leave his country and kindred.</a:t>
            </a:r>
          </a:p>
          <a:p>
            <a:r>
              <a:rPr lang="en-US" b="1" dirty="0"/>
              <a:t>Matthew 16:23</a:t>
            </a:r>
            <a:r>
              <a:rPr lang="en-US" dirty="0"/>
              <a:t> – </a:t>
            </a:r>
            <a:r>
              <a:rPr lang="en-US" i="1" dirty="0"/>
              <a:t>Jesus said to Peter, “Get behind me, Satan!” </a:t>
            </a:r>
            <a:r>
              <a:rPr lang="en-US" dirty="0"/>
              <a:t>when Peter tried to divert Him from the cross.</a:t>
            </a:r>
          </a:p>
          <a:p>
            <a:endParaRPr lang="en-US" dirty="0"/>
          </a:p>
          <a:p>
            <a:r>
              <a:rPr lang="en-US" b="1" dirty="0"/>
              <a:t>Example:</a:t>
            </a:r>
            <a:r>
              <a:rPr lang="en-US" dirty="0"/>
              <a:t> Jonah fled his calling and endangered others on the ship (</a:t>
            </a:r>
            <a:r>
              <a:rPr lang="en-US" b="1" dirty="0"/>
              <a:t>Jonah 1</a:t>
            </a:r>
            <a:r>
              <a:rPr lang="en-US" dirty="0"/>
              <a:t>).</a:t>
            </a:r>
          </a:p>
          <a:p>
            <a:pPr marL="285750" indent="-285750">
              <a:buFont typeface="Arial" panose="020B0604020202020204" pitchFamily="34" charset="0"/>
              <a:buChar char="•"/>
            </a:pPr>
            <a:r>
              <a:rPr lang="en-US" dirty="0"/>
              <a:t>Don’t let others anchor you where God has told you to move on.</a:t>
            </a:r>
          </a:p>
        </p:txBody>
      </p:sp>
      <p:cxnSp>
        <p:nvCxnSpPr>
          <p:cNvPr id="7" name="Straight Connector 6">
            <a:extLst>
              <a:ext uri="{FF2B5EF4-FFF2-40B4-BE49-F238E27FC236}">
                <a16:creationId xmlns:a16="http://schemas.microsoft.com/office/drawing/2014/main" id="{7DD6B2FA-B17B-506D-1AF1-F37A430BC352}"/>
              </a:ext>
            </a:extLst>
          </p:cNvPr>
          <p:cNvCxnSpPr/>
          <p:nvPr/>
        </p:nvCxnSpPr>
        <p:spPr>
          <a:xfrm>
            <a:off x="272871" y="2971800"/>
            <a:ext cx="8598257"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307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41B00-506B-92C0-A598-A337BC2414D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9E00DFC-81E7-9270-01B3-6C69906C3719}"/>
              </a:ext>
            </a:extLst>
          </p:cNvPr>
          <p:cNvSpPr>
            <a:spLocks noGrp="1"/>
          </p:cNvSpPr>
          <p:nvPr>
            <p:ph type="title"/>
          </p:nvPr>
        </p:nvSpPr>
        <p:spPr>
          <a:xfrm>
            <a:off x="228600" y="0"/>
            <a:ext cx="8686800" cy="978931"/>
          </a:xfrm>
        </p:spPr>
        <p:txBody>
          <a:bodyPr>
            <a:normAutofit fontScale="90000"/>
          </a:bodyPr>
          <a:lstStyle/>
          <a:p>
            <a:r>
              <a:rPr lang="en-US" sz="3600" dirty="0"/>
              <a:t>When Tested by Satan</a:t>
            </a:r>
            <a:br>
              <a:rPr lang="en-US" dirty="0"/>
            </a:br>
            <a:r>
              <a:rPr lang="en-US" sz="2400" dirty="0">
                <a:solidFill>
                  <a:schemeClr val="tx2">
                    <a:lumMod val="60000"/>
                    <a:lumOff val="40000"/>
                  </a:schemeClr>
                </a:solidFill>
              </a:rPr>
              <a:t>Matthew 4:1–11</a:t>
            </a:r>
          </a:p>
        </p:txBody>
      </p:sp>
      <p:sp>
        <p:nvSpPr>
          <p:cNvPr id="5" name="TextBox 4">
            <a:extLst>
              <a:ext uri="{FF2B5EF4-FFF2-40B4-BE49-F238E27FC236}">
                <a16:creationId xmlns:a16="http://schemas.microsoft.com/office/drawing/2014/main" id="{11DFA46D-2BDE-7359-5FED-3E07882BC974}"/>
              </a:ext>
            </a:extLst>
          </p:cNvPr>
          <p:cNvSpPr txBox="1"/>
          <p:nvPr/>
        </p:nvSpPr>
        <p:spPr>
          <a:xfrm>
            <a:off x="152400" y="1007035"/>
            <a:ext cx="8686800" cy="646331"/>
          </a:xfrm>
          <a:prstGeom prst="rect">
            <a:avLst/>
          </a:prstGeom>
          <a:noFill/>
        </p:spPr>
        <p:txBody>
          <a:bodyPr wrap="square" rtlCol="0">
            <a:spAutoFit/>
          </a:bodyPr>
          <a:lstStyle/>
          <a:p>
            <a:pPr marL="285750" indent="-285750" fontAlgn="ctr">
              <a:buFont typeface="Arial" panose="020B0604020202020204" pitchFamily="34" charset="0"/>
              <a:buChar char="•"/>
            </a:pPr>
            <a:r>
              <a:rPr lang="en-US" dirty="0"/>
              <a:t>Satan twisted Scripture to tempt Jesus.</a:t>
            </a:r>
          </a:p>
          <a:p>
            <a:pPr marL="285750" indent="-285750" fontAlgn="ctr">
              <a:buFont typeface="Arial" panose="020B0604020202020204" pitchFamily="34" charset="0"/>
              <a:buChar char="•"/>
            </a:pPr>
            <a:r>
              <a:rPr lang="en-US" dirty="0"/>
              <a:t>Jesus didn’t debate. He quoted Scripture correctly: </a:t>
            </a:r>
            <a:r>
              <a:rPr lang="en-US" i="1" dirty="0"/>
              <a:t>“It is written…”</a:t>
            </a:r>
            <a:endParaRPr lang="en-US" dirty="0"/>
          </a:p>
        </p:txBody>
      </p:sp>
      <p:sp>
        <p:nvSpPr>
          <p:cNvPr id="2" name="TextBox 1">
            <a:extLst>
              <a:ext uri="{FF2B5EF4-FFF2-40B4-BE49-F238E27FC236}">
                <a16:creationId xmlns:a16="http://schemas.microsoft.com/office/drawing/2014/main" id="{504313CA-6A31-6512-EEB5-715297B1E800}"/>
              </a:ext>
            </a:extLst>
          </p:cNvPr>
          <p:cNvSpPr txBox="1"/>
          <p:nvPr/>
        </p:nvSpPr>
        <p:spPr>
          <a:xfrm>
            <a:off x="152400" y="1708136"/>
            <a:ext cx="8686800" cy="646331"/>
          </a:xfrm>
          <a:prstGeom prst="rect">
            <a:avLst/>
          </a:prstGeom>
          <a:noFill/>
        </p:spPr>
        <p:txBody>
          <a:bodyPr wrap="square" rtlCol="0">
            <a:spAutoFit/>
          </a:bodyPr>
          <a:lstStyle/>
          <a:p>
            <a:pPr marL="285750" indent="-285750">
              <a:buFont typeface="Arial" panose="020B0604020202020204" pitchFamily="34" charset="0"/>
              <a:buChar char="•"/>
            </a:pPr>
            <a:r>
              <a:rPr lang="en-US" b="1" dirty="0"/>
              <a:t>Answer only with truth, not speculation.</a:t>
            </a:r>
            <a:br>
              <a:rPr lang="en-US" b="1" dirty="0"/>
            </a:br>
            <a:r>
              <a:rPr lang="en-US" dirty="0"/>
              <a:t>He resisted by anchoring in God’s Word, not human logic.</a:t>
            </a:r>
            <a:r>
              <a:rPr lang="en-US" b="1" dirty="0"/>
              <a:t> </a:t>
            </a:r>
            <a:endParaRPr lang="en-US" sz="1400" i="1" dirty="0"/>
          </a:p>
        </p:txBody>
      </p:sp>
      <p:sp>
        <p:nvSpPr>
          <p:cNvPr id="3" name="TextBox 2">
            <a:extLst>
              <a:ext uri="{FF2B5EF4-FFF2-40B4-BE49-F238E27FC236}">
                <a16:creationId xmlns:a16="http://schemas.microsoft.com/office/drawing/2014/main" id="{4B9ECB49-39ED-9F05-11FF-76C6B8868DA6}"/>
              </a:ext>
            </a:extLst>
          </p:cNvPr>
          <p:cNvSpPr txBox="1"/>
          <p:nvPr/>
        </p:nvSpPr>
        <p:spPr>
          <a:xfrm>
            <a:off x="152400" y="2957281"/>
            <a:ext cx="8598257" cy="2308324"/>
          </a:xfrm>
          <a:prstGeom prst="rect">
            <a:avLst/>
          </a:prstGeom>
          <a:noFill/>
        </p:spPr>
        <p:txBody>
          <a:bodyPr wrap="square" rtlCol="0">
            <a:spAutoFit/>
          </a:bodyPr>
          <a:lstStyle/>
          <a:p>
            <a:r>
              <a:rPr lang="en-US" b="1" u="sng" dirty="0"/>
              <a:t>The Jealous Spirit</a:t>
            </a:r>
            <a:endParaRPr lang="en-US" u="sng" dirty="0"/>
          </a:p>
          <a:p>
            <a:r>
              <a:rPr lang="en-US" dirty="0"/>
              <a:t> </a:t>
            </a:r>
          </a:p>
          <a:p>
            <a:r>
              <a:rPr lang="en-US" b="1" dirty="0"/>
              <a:t>Proverbs 27:4</a:t>
            </a:r>
            <a:r>
              <a:rPr lang="en-US" dirty="0"/>
              <a:t> – </a:t>
            </a:r>
            <a:r>
              <a:rPr lang="en-US" i="1" dirty="0"/>
              <a:t>“Wrath is cruel and anger a torrent, but who can stand before jealousy?”</a:t>
            </a:r>
          </a:p>
          <a:p>
            <a:r>
              <a:rPr lang="en-US" b="1" dirty="0"/>
              <a:t>James 3:16</a:t>
            </a:r>
            <a:r>
              <a:rPr lang="en-US" dirty="0"/>
              <a:t> – </a:t>
            </a:r>
            <a:r>
              <a:rPr lang="en-US" i="1" dirty="0"/>
              <a:t>“Where jealousy and selfish ambition exist, there is disorder.”</a:t>
            </a:r>
          </a:p>
          <a:p>
            <a:endParaRPr lang="en-US" dirty="0"/>
          </a:p>
          <a:p>
            <a:r>
              <a:rPr lang="en-US" b="1" dirty="0"/>
              <a:t>Example:</a:t>
            </a:r>
            <a:r>
              <a:rPr lang="en-US" dirty="0"/>
              <a:t> Saul’s jealousy of David destroyed him (1 Samuel 18–19).</a:t>
            </a:r>
          </a:p>
          <a:p>
            <a:pPr marL="285750" indent="-285750">
              <a:buFont typeface="Arial" panose="020B0604020202020204" pitchFamily="34" charset="0"/>
              <a:buChar char="•"/>
            </a:pPr>
            <a:r>
              <a:rPr lang="en-US" dirty="0"/>
              <a:t>Jealousy turns potential allies into enemies.</a:t>
            </a:r>
          </a:p>
        </p:txBody>
      </p:sp>
      <p:cxnSp>
        <p:nvCxnSpPr>
          <p:cNvPr id="7" name="Straight Connector 6">
            <a:extLst>
              <a:ext uri="{FF2B5EF4-FFF2-40B4-BE49-F238E27FC236}">
                <a16:creationId xmlns:a16="http://schemas.microsoft.com/office/drawing/2014/main" id="{48E262CC-DD13-2896-37EA-B605363BEC60}"/>
              </a:ext>
            </a:extLst>
          </p:cNvPr>
          <p:cNvCxnSpPr/>
          <p:nvPr/>
        </p:nvCxnSpPr>
        <p:spPr>
          <a:xfrm>
            <a:off x="152400" y="2667000"/>
            <a:ext cx="8598257"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006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F40BC-99DA-8F96-7250-D22BA682BFC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7F63FAE-D7CA-0A9A-CD94-7367AB998FF5}"/>
              </a:ext>
            </a:extLst>
          </p:cNvPr>
          <p:cNvSpPr>
            <a:spLocks noGrp="1"/>
          </p:cNvSpPr>
          <p:nvPr>
            <p:ph type="title"/>
          </p:nvPr>
        </p:nvSpPr>
        <p:spPr>
          <a:xfrm>
            <a:off x="228600" y="1"/>
            <a:ext cx="8686800" cy="609600"/>
          </a:xfrm>
        </p:spPr>
        <p:txBody>
          <a:bodyPr>
            <a:normAutofit fontScale="90000"/>
          </a:bodyPr>
          <a:lstStyle/>
          <a:p>
            <a:r>
              <a:rPr lang="en-US" sz="3600" dirty="0"/>
              <a:t>The Pattern of Jesus’ Responses</a:t>
            </a:r>
            <a:endParaRPr lang="en-US" sz="2400" dirty="0">
              <a:solidFill>
                <a:schemeClr val="tx2">
                  <a:lumMod val="60000"/>
                  <a:lumOff val="40000"/>
                </a:schemeClr>
              </a:solidFill>
            </a:endParaRPr>
          </a:p>
        </p:txBody>
      </p:sp>
      <p:sp>
        <p:nvSpPr>
          <p:cNvPr id="6" name="TextBox 5">
            <a:extLst>
              <a:ext uri="{FF2B5EF4-FFF2-40B4-BE49-F238E27FC236}">
                <a16:creationId xmlns:a16="http://schemas.microsoft.com/office/drawing/2014/main" id="{173702CF-3BE4-4025-6B27-8C04EB415E58}"/>
              </a:ext>
            </a:extLst>
          </p:cNvPr>
          <p:cNvSpPr txBox="1"/>
          <p:nvPr/>
        </p:nvSpPr>
        <p:spPr>
          <a:xfrm>
            <a:off x="228600" y="3962400"/>
            <a:ext cx="8686800" cy="2031325"/>
          </a:xfrm>
          <a:prstGeom prst="rect">
            <a:avLst/>
          </a:prstGeom>
          <a:noFill/>
        </p:spPr>
        <p:txBody>
          <a:bodyPr wrap="square" rtlCol="0">
            <a:spAutoFit/>
          </a:bodyPr>
          <a:lstStyle/>
          <a:p>
            <a:r>
              <a:rPr lang="en-US" b="1" u="sng" dirty="0"/>
              <a:t>Key Takeaway</a:t>
            </a:r>
            <a:endParaRPr lang="en-US" u="sng" dirty="0"/>
          </a:p>
          <a:p>
            <a:pPr marL="285750" indent="-285750">
              <a:buFont typeface="Arial" panose="020B0604020202020204" pitchFamily="34" charset="0"/>
              <a:buChar char="•"/>
            </a:pPr>
            <a:r>
              <a:rPr lang="en-US" dirty="0"/>
              <a:t>Jesus never answered to </a:t>
            </a:r>
            <a:r>
              <a:rPr lang="en-US" i="1" dirty="0"/>
              <a:t>win an argument.</a:t>
            </a:r>
            <a:endParaRPr lang="en-US" dirty="0"/>
          </a:p>
          <a:p>
            <a:pPr marL="285750" indent="-285750">
              <a:buFont typeface="Arial" panose="020B0604020202020204" pitchFamily="34" charset="0"/>
              <a:buChar char="•"/>
            </a:pPr>
            <a:r>
              <a:rPr lang="en-US" dirty="0"/>
              <a:t>He answered to reveal truth, expose motive, and honor the Father’s will.</a:t>
            </a:r>
          </a:p>
          <a:p>
            <a:pPr marL="285750" indent="-285750">
              <a:buFont typeface="Arial" panose="020B0604020202020204" pitchFamily="34" charset="0"/>
              <a:buChar char="•"/>
            </a:pPr>
            <a:r>
              <a:rPr lang="en-US" dirty="0"/>
              <a:t>Silence or a counter-question was often His shield against manipulation.</a:t>
            </a:r>
          </a:p>
          <a:p>
            <a:pPr marL="285750" indent="-285750">
              <a:buFont typeface="Arial" panose="020B0604020202020204" pitchFamily="34" charset="0"/>
              <a:buChar char="•"/>
            </a:pPr>
            <a:r>
              <a:rPr lang="en-US" b="1" dirty="0"/>
              <a:t>John 2:24–25</a:t>
            </a:r>
            <a:r>
              <a:rPr lang="en-US" dirty="0"/>
              <a:t> sums it up best:</a:t>
            </a:r>
          </a:p>
          <a:p>
            <a:pPr marL="742950" lvl="1" indent="-285750">
              <a:buFont typeface="Arial" panose="020B0604020202020204" pitchFamily="34" charset="0"/>
              <a:buChar char="•"/>
            </a:pPr>
            <a:r>
              <a:rPr lang="en-US" i="1" dirty="0"/>
              <a:t>“But Jesus did not entrust Himself to them, because He knew all people… He Himself knew what was in man.”</a:t>
            </a:r>
          </a:p>
        </p:txBody>
      </p:sp>
      <p:graphicFrame>
        <p:nvGraphicFramePr>
          <p:cNvPr id="3" name="Table 2">
            <a:extLst>
              <a:ext uri="{FF2B5EF4-FFF2-40B4-BE49-F238E27FC236}">
                <a16:creationId xmlns:a16="http://schemas.microsoft.com/office/drawing/2014/main" id="{E671C74B-D57D-C58A-2238-982DCB7766ED}"/>
              </a:ext>
            </a:extLst>
          </p:cNvPr>
          <p:cNvGraphicFramePr>
            <a:graphicFrameLocks noGrp="1"/>
          </p:cNvGraphicFramePr>
          <p:nvPr>
            <p:extLst>
              <p:ext uri="{D42A27DB-BD31-4B8C-83A1-F6EECF244321}">
                <p14:modId xmlns:p14="http://schemas.microsoft.com/office/powerpoint/2010/main" val="395418666"/>
              </p:ext>
            </p:extLst>
          </p:nvPr>
        </p:nvGraphicFramePr>
        <p:xfrm>
          <a:off x="304800" y="660693"/>
          <a:ext cx="8534400" cy="3032760"/>
        </p:xfrm>
        <a:graphic>
          <a:graphicData uri="http://schemas.openxmlformats.org/drawingml/2006/table">
            <a:tbl>
              <a:tblPr firstRow="1" bandRow="1">
                <a:tableStyleId>{D113A9D2-9D6B-4929-AA2D-F23B5EE8CBE7}</a:tableStyleId>
              </a:tblPr>
              <a:tblGrid>
                <a:gridCol w="2844800">
                  <a:extLst>
                    <a:ext uri="{9D8B030D-6E8A-4147-A177-3AD203B41FA5}">
                      <a16:colId xmlns:a16="http://schemas.microsoft.com/office/drawing/2014/main" val="4116460058"/>
                    </a:ext>
                  </a:extLst>
                </a:gridCol>
                <a:gridCol w="2844800">
                  <a:extLst>
                    <a:ext uri="{9D8B030D-6E8A-4147-A177-3AD203B41FA5}">
                      <a16:colId xmlns:a16="http://schemas.microsoft.com/office/drawing/2014/main" val="435009808"/>
                    </a:ext>
                  </a:extLst>
                </a:gridCol>
                <a:gridCol w="2844800">
                  <a:extLst>
                    <a:ext uri="{9D8B030D-6E8A-4147-A177-3AD203B41FA5}">
                      <a16:colId xmlns:a16="http://schemas.microsoft.com/office/drawing/2014/main" val="141170831"/>
                    </a:ext>
                  </a:extLst>
                </a:gridCol>
              </a:tblGrid>
              <a:tr h="370840">
                <a:tc>
                  <a:txBody>
                    <a:bodyPr/>
                    <a:lstStyle/>
                    <a:p>
                      <a:pPr marL="0" marR="0" fontAlgn="t">
                        <a:buNone/>
                      </a:pPr>
                      <a:r>
                        <a:rPr lang="en-US" sz="1600" b="1" dirty="0">
                          <a:effectLst/>
                        </a:rPr>
                        <a:t>Situation Type</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b="1">
                          <a:effectLst/>
                        </a:rPr>
                        <a:t>Jesus’ Response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b="1" dirty="0">
                          <a:effectLst/>
                        </a:rPr>
                        <a:t>Example</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1176367148"/>
                  </a:ext>
                </a:extLst>
              </a:tr>
              <a:tr h="370840">
                <a:tc>
                  <a:txBody>
                    <a:bodyPr/>
                    <a:lstStyle/>
                    <a:p>
                      <a:pPr marL="0" marR="0" fontAlgn="t">
                        <a:buNone/>
                      </a:pPr>
                      <a:r>
                        <a:rPr lang="en-US" sz="1600" b="1">
                          <a:effectLst/>
                        </a:rPr>
                        <a:t>Malicious trap</a:t>
                      </a:r>
                      <a:endParaRPr lang="en-US" sz="1600" b="1">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Don’t answer or redirect</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Authority challenge (Matt 21)</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1687940231"/>
                  </a:ext>
                </a:extLst>
              </a:tr>
              <a:tr h="370840">
                <a:tc>
                  <a:txBody>
                    <a:bodyPr/>
                    <a:lstStyle/>
                    <a:p>
                      <a:pPr marL="0" marR="0" fontAlgn="t">
                        <a:buNone/>
                      </a:pPr>
                      <a:r>
                        <a:rPr lang="en-US" sz="1600" b="1">
                          <a:effectLst/>
                        </a:rPr>
                        <a:t>Twisted Scripture</a:t>
                      </a:r>
                      <a:endParaRPr lang="en-US" sz="1600" b="1">
                        <a:effectLst/>
                        <a:latin typeface="Calibri" panose="020F0502020204030204" pitchFamily="34" charset="0"/>
                      </a:endParaRPr>
                    </a:p>
                  </a:txBody>
                  <a:tcPr marL="50800" marR="50800" marT="50800" marB="50800"/>
                </a:tc>
                <a:tc>
                  <a:txBody>
                    <a:bodyPr/>
                    <a:lstStyle/>
                    <a:p>
                      <a:pPr marL="0" marR="0" fontAlgn="t">
                        <a:buNone/>
                      </a:pPr>
                      <a:r>
                        <a:rPr lang="en-US" sz="1600">
                          <a:effectLst/>
                        </a:rPr>
                        <a:t>Correct with Scripture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Temptation in wilderness (Matt 4)</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2691120158"/>
                  </a:ext>
                </a:extLst>
              </a:tr>
              <a:tr h="370840">
                <a:tc>
                  <a:txBody>
                    <a:bodyPr/>
                    <a:lstStyle/>
                    <a:p>
                      <a:pPr marL="0" marR="0" fontAlgn="t">
                        <a:buNone/>
                      </a:pPr>
                      <a:r>
                        <a:rPr lang="en-US" sz="1600" b="1" dirty="0">
                          <a:effectLst/>
                        </a:rPr>
                        <a:t>Hypocritical question</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Expose motive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Taxes to Caesar (Matt 22)</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357319014"/>
                  </a:ext>
                </a:extLst>
              </a:tr>
              <a:tr h="370840">
                <a:tc>
                  <a:txBody>
                    <a:bodyPr/>
                    <a:lstStyle/>
                    <a:p>
                      <a:pPr marL="0" marR="0" fontAlgn="t">
                        <a:buNone/>
                      </a:pPr>
                      <a:r>
                        <a:rPr lang="en-US" sz="1600" b="1" dirty="0">
                          <a:effectLst/>
                        </a:rPr>
                        <a:t>Moral trap</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Elevate God’s justice and mercy</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Adulterous woman (John 8)</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145815030"/>
                  </a:ext>
                </a:extLst>
              </a:tr>
              <a:tr h="370840">
                <a:tc>
                  <a:txBody>
                    <a:bodyPr/>
                    <a:lstStyle/>
                    <a:p>
                      <a:pPr marL="0" marR="0" fontAlgn="t">
                        <a:buNone/>
                      </a:pPr>
                      <a:r>
                        <a:rPr lang="en-US" sz="1600" b="1">
                          <a:effectLst/>
                        </a:rPr>
                        <a:t>Ignorant question</a:t>
                      </a:r>
                      <a:endParaRPr lang="en-US" sz="1600" b="1">
                        <a:effectLst/>
                        <a:latin typeface="Calibri" panose="020F0502020204030204" pitchFamily="34" charset="0"/>
                      </a:endParaRPr>
                    </a:p>
                  </a:txBody>
                  <a:tcPr marL="50800" marR="50800" marT="50800" marB="50800"/>
                </a:tc>
                <a:tc>
                  <a:txBody>
                    <a:bodyPr/>
                    <a:lstStyle/>
                    <a:p>
                      <a:pPr marL="0" marR="0" fontAlgn="t">
                        <a:buNone/>
                      </a:pPr>
                      <a:r>
                        <a:rPr lang="en-US" sz="1600">
                          <a:effectLst/>
                        </a:rPr>
                        <a:t>Teach truth</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Sadducees’ riddle (Matt 22)</a:t>
                      </a:r>
                      <a:endParaRPr lang="en-US" sz="1600">
                        <a:effectLst/>
                        <a:latin typeface="Calibri" panose="020F0502020204030204" pitchFamily="34" charset="0"/>
                      </a:endParaRPr>
                    </a:p>
                  </a:txBody>
                  <a:tcPr marL="50800" marR="50800" marT="50800" marB="50800"/>
                </a:tc>
                <a:extLst>
                  <a:ext uri="{0D108BD9-81ED-4DB2-BD59-A6C34878D82A}">
                    <a16:rowId xmlns:a16="http://schemas.microsoft.com/office/drawing/2014/main" val="3071386790"/>
                  </a:ext>
                </a:extLst>
              </a:tr>
              <a:tr h="370840">
                <a:tc>
                  <a:txBody>
                    <a:bodyPr/>
                    <a:lstStyle/>
                    <a:p>
                      <a:pPr marL="0" marR="0" fontAlgn="t">
                        <a:buNone/>
                      </a:pPr>
                      <a:r>
                        <a:rPr lang="en-US" sz="1600" b="1" dirty="0">
                          <a:effectLst/>
                        </a:rPr>
                        <a:t>False accusation</a:t>
                      </a:r>
                      <a:endParaRPr lang="en-US" sz="1600" b="1"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Silence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Before Pilate (Matt 27)</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866934205"/>
                  </a:ext>
                </a:extLst>
              </a:tr>
            </a:tbl>
          </a:graphicData>
        </a:graphic>
      </p:graphicFrame>
    </p:spTree>
    <p:extLst>
      <p:ext uri="{BB962C8B-B14F-4D97-AF65-F5344CB8AC3E}">
        <p14:creationId xmlns:p14="http://schemas.microsoft.com/office/powerpoint/2010/main" val="2972175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3903E-809C-5BF4-5401-F0A8C061599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D0CCAB5-63DB-54A3-9A5D-2696DFEEB8A9}"/>
              </a:ext>
            </a:extLst>
          </p:cNvPr>
          <p:cNvSpPr>
            <a:spLocks noGrp="1"/>
          </p:cNvSpPr>
          <p:nvPr>
            <p:ph type="title"/>
          </p:nvPr>
        </p:nvSpPr>
        <p:spPr>
          <a:xfrm>
            <a:off x="228600" y="1"/>
            <a:ext cx="8686800" cy="533400"/>
          </a:xfrm>
        </p:spPr>
        <p:txBody>
          <a:bodyPr>
            <a:normAutofit fontScale="90000"/>
          </a:bodyPr>
          <a:lstStyle/>
          <a:p>
            <a:r>
              <a:rPr lang="en-US" sz="3600" dirty="0"/>
              <a:t>Yet More Enablement Anti-Patterns</a:t>
            </a:r>
            <a:endParaRPr lang="en-US" sz="2400" dirty="0">
              <a:solidFill>
                <a:schemeClr val="tx2">
                  <a:lumMod val="60000"/>
                  <a:lumOff val="40000"/>
                </a:schemeClr>
              </a:solidFill>
            </a:endParaRPr>
          </a:p>
        </p:txBody>
      </p:sp>
      <p:sp>
        <p:nvSpPr>
          <p:cNvPr id="5" name="TextBox 4">
            <a:extLst>
              <a:ext uri="{FF2B5EF4-FFF2-40B4-BE49-F238E27FC236}">
                <a16:creationId xmlns:a16="http://schemas.microsoft.com/office/drawing/2014/main" id="{67686C38-8519-7B72-C117-692D92472AC5}"/>
              </a:ext>
            </a:extLst>
          </p:cNvPr>
          <p:cNvSpPr txBox="1"/>
          <p:nvPr/>
        </p:nvSpPr>
        <p:spPr>
          <a:xfrm>
            <a:off x="228600" y="685800"/>
            <a:ext cx="8686800" cy="2031325"/>
          </a:xfrm>
          <a:prstGeom prst="rect">
            <a:avLst/>
          </a:prstGeom>
          <a:noFill/>
        </p:spPr>
        <p:txBody>
          <a:bodyPr wrap="square" rtlCol="0">
            <a:spAutoFit/>
          </a:bodyPr>
          <a:lstStyle/>
          <a:p>
            <a:r>
              <a:rPr lang="en-US" b="1" u="sng" dirty="0"/>
              <a:t>The Time-Waster</a:t>
            </a:r>
            <a:endParaRPr lang="en-US" u="sng" dirty="0"/>
          </a:p>
          <a:p>
            <a:pPr marL="285750" indent="-285750">
              <a:buFont typeface="Arial" panose="020B0604020202020204" pitchFamily="34" charset="0"/>
              <a:buChar char="•"/>
            </a:pPr>
            <a:r>
              <a:rPr lang="en-US" b="1" dirty="0"/>
              <a:t>Ephesians 5:15–16</a:t>
            </a:r>
            <a:r>
              <a:rPr lang="en-US" dirty="0"/>
              <a:t> – </a:t>
            </a:r>
            <a:r>
              <a:rPr lang="en-US" i="1" dirty="0"/>
              <a:t>“Be careful how you live… making the most of your time, because the days are evil.”</a:t>
            </a:r>
          </a:p>
          <a:p>
            <a:pPr marL="285750" indent="-285750">
              <a:buFont typeface="Arial" panose="020B0604020202020204" pitchFamily="34" charset="0"/>
              <a:buChar char="•"/>
            </a:pPr>
            <a:r>
              <a:rPr lang="en-US" b="1" dirty="0"/>
              <a:t>Proverbs 6:9–11</a:t>
            </a:r>
            <a:r>
              <a:rPr lang="en-US" dirty="0"/>
              <a:t> – warns against sloth and wasted opportunity.</a:t>
            </a:r>
          </a:p>
          <a:p>
            <a:pPr marL="285750" indent="-285750">
              <a:buFont typeface="Arial" panose="020B0604020202020204" pitchFamily="34" charset="0"/>
              <a:buChar char="•"/>
            </a:pPr>
            <a:r>
              <a:rPr lang="en-US" b="1" dirty="0"/>
              <a:t>Example:</a:t>
            </a:r>
            <a:r>
              <a:rPr lang="en-US" dirty="0"/>
              <a:t> The five foolish virgins (</a:t>
            </a:r>
            <a:r>
              <a:rPr lang="en-US" b="1" dirty="0"/>
              <a:t>Matthew 25:1–13</a:t>
            </a:r>
            <a:r>
              <a:rPr lang="en-US" dirty="0"/>
              <a:t>) who were unprepared when opportunity came.</a:t>
            </a:r>
          </a:p>
          <a:p>
            <a:pPr marL="742950" lvl="1" indent="-285750">
              <a:buFont typeface="Arial" panose="020B0604020202020204" pitchFamily="34" charset="0"/>
              <a:buChar char="•"/>
            </a:pPr>
            <a:r>
              <a:rPr lang="en-US" dirty="0"/>
              <a:t>Your time is sacred; steward it wisely.</a:t>
            </a:r>
          </a:p>
        </p:txBody>
      </p:sp>
      <p:sp>
        <p:nvSpPr>
          <p:cNvPr id="6" name="TextBox 5">
            <a:extLst>
              <a:ext uri="{FF2B5EF4-FFF2-40B4-BE49-F238E27FC236}">
                <a16:creationId xmlns:a16="http://schemas.microsoft.com/office/drawing/2014/main" id="{11CF1551-9019-F9F8-78CA-8109B3E76D9A}"/>
              </a:ext>
            </a:extLst>
          </p:cNvPr>
          <p:cNvSpPr txBox="1"/>
          <p:nvPr/>
        </p:nvSpPr>
        <p:spPr>
          <a:xfrm>
            <a:off x="228600" y="3048000"/>
            <a:ext cx="8686800" cy="2585323"/>
          </a:xfrm>
          <a:prstGeom prst="rect">
            <a:avLst/>
          </a:prstGeom>
          <a:noFill/>
        </p:spPr>
        <p:txBody>
          <a:bodyPr wrap="square" rtlCol="0">
            <a:spAutoFit/>
          </a:bodyPr>
          <a:lstStyle/>
          <a:p>
            <a:r>
              <a:rPr lang="en-US" b="1" u="sng" dirty="0"/>
              <a:t>The User</a:t>
            </a:r>
            <a:r>
              <a:rPr lang="en-US" b="1" dirty="0"/>
              <a:t> (those who take advantage of generosity without gratitude or purpose)</a:t>
            </a:r>
            <a:endParaRPr lang="en-US" dirty="0"/>
          </a:p>
          <a:p>
            <a:r>
              <a:rPr lang="en-US" dirty="0"/>
              <a:t> </a:t>
            </a:r>
          </a:p>
          <a:p>
            <a:pPr marL="285750" indent="-285750">
              <a:buFont typeface="Arial" panose="020B0604020202020204" pitchFamily="34" charset="0"/>
              <a:buChar char="•"/>
            </a:pPr>
            <a:r>
              <a:rPr lang="en-US" b="1" dirty="0"/>
              <a:t>John 6:26–27</a:t>
            </a:r>
            <a:r>
              <a:rPr lang="en-US" dirty="0"/>
              <a:t> – </a:t>
            </a:r>
            <a:r>
              <a:rPr lang="en-US" i="1" dirty="0"/>
              <a:t>“You seek Me… because you ate the loaves and were filled.”</a:t>
            </a:r>
          </a:p>
          <a:p>
            <a:pPr marL="285750" indent="-285750">
              <a:buFont typeface="Arial" panose="020B0604020202020204" pitchFamily="34" charset="0"/>
              <a:buChar char="•"/>
            </a:pPr>
            <a:r>
              <a:rPr lang="en-US" b="1" dirty="0"/>
              <a:t>Proverbs 25:19</a:t>
            </a:r>
            <a:r>
              <a:rPr lang="en-US" dirty="0"/>
              <a:t> – </a:t>
            </a:r>
            <a:r>
              <a:rPr lang="en-US" i="1" dirty="0"/>
              <a:t>“Confidence in an unfaithful man in time of trouble is like a broken tooth.”</a:t>
            </a:r>
          </a:p>
          <a:p>
            <a:pPr marL="285750" indent="-285750">
              <a:buFont typeface="Arial" panose="020B0604020202020204" pitchFamily="34" charset="0"/>
              <a:buChar char="•"/>
            </a:pPr>
            <a:r>
              <a:rPr lang="en-US" b="1" dirty="0"/>
              <a:t>Example:</a:t>
            </a:r>
            <a:r>
              <a:rPr lang="en-US" dirty="0"/>
              <a:t> The prodigal son’s companions left him when the money was gone (</a:t>
            </a:r>
            <a:r>
              <a:rPr lang="en-US" b="1" dirty="0"/>
              <a:t>Luke 15:14–16</a:t>
            </a:r>
            <a:r>
              <a:rPr lang="en-US" dirty="0"/>
              <a:t>).</a:t>
            </a:r>
          </a:p>
          <a:p>
            <a:pPr marL="742950" lvl="1" indent="-285750">
              <a:buFont typeface="Arial" panose="020B0604020202020204" pitchFamily="34" charset="0"/>
              <a:buChar char="•"/>
            </a:pPr>
            <a:r>
              <a:rPr lang="en-US" dirty="0"/>
              <a:t>Users love benefits, not relationship.</a:t>
            </a:r>
          </a:p>
        </p:txBody>
      </p:sp>
    </p:spTree>
    <p:extLst>
      <p:ext uri="{BB962C8B-B14F-4D97-AF65-F5344CB8AC3E}">
        <p14:creationId xmlns:p14="http://schemas.microsoft.com/office/powerpoint/2010/main" val="407488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32598-1668-CC72-4089-8C74C403E28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25CA55E-E5C6-8D54-7B39-3EEA3EBFCDDF}"/>
              </a:ext>
            </a:extLst>
          </p:cNvPr>
          <p:cNvSpPr>
            <a:spLocks noGrp="1"/>
          </p:cNvSpPr>
          <p:nvPr>
            <p:ph type="title"/>
          </p:nvPr>
        </p:nvSpPr>
        <p:spPr>
          <a:xfrm>
            <a:off x="228600" y="1"/>
            <a:ext cx="8686800" cy="533400"/>
          </a:xfrm>
        </p:spPr>
        <p:txBody>
          <a:bodyPr>
            <a:normAutofit fontScale="90000"/>
          </a:bodyPr>
          <a:lstStyle/>
          <a:p>
            <a:r>
              <a:rPr lang="en-US" sz="3600" dirty="0"/>
              <a:t>Yet More Enablement Anti-Patterns</a:t>
            </a:r>
            <a:endParaRPr lang="en-US" sz="2400" dirty="0">
              <a:solidFill>
                <a:schemeClr val="tx2">
                  <a:lumMod val="60000"/>
                  <a:lumOff val="40000"/>
                </a:schemeClr>
              </a:solidFill>
            </a:endParaRPr>
          </a:p>
        </p:txBody>
      </p:sp>
      <p:sp>
        <p:nvSpPr>
          <p:cNvPr id="2" name="TextBox 1">
            <a:extLst>
              <a:ext uri="{FF2B5EF4-FFF2-40B4-BE49-F238E27FC236}">
                <a16:creationId xmlns:a16="http://schemas.microsoft.com/office/drawing/2014/main" id="{76EAFFFD-6BD4-DF46-EDA4-0D809E5417AA}"/>
              </a:ext>
            </a:extLst>
          </p:cNvPr>
          <p:cNvSpPr txBox="1"/>
          <p:nvPr/>
        </p:nvSpPr>
        <p:spPr>
          <a:xfrm>
            <a:off x="228600" y="604487"/>
            <a:ext cx="8686800" cy="2031325"/>
          </a:xfrm>
          <a:prstGeom prst="rect">
            <a:avLst/>
          </a:prstGeom>
          <a:noFill/>
        </p:spPr>
        <p:txBody>
          <a:bodyPr wrap="square" rtlCol="0">
            <a:spAutoFit/>
          </a:bodyPr>
          <a:lstStyle/>
          <a:p>
            <a:r>
              <a:rPr lang="en-US" b="1" u="sng" dirty="0"/>
              <a:t>The Gossip</a:t>
            </a:r>
            <a:endParaRPr lang="en-US" u="sng" dirty="0"/>
          </a:p>
          <a:p>
            <a:pPr marL="285750" indent="-285750">
              <a:buFont typeface="Arial" panose="020B0604020202020204" pitchFamily="34" charset="0"/>
              <a:buChar char="•"/>
            </a:pPr>
            <a:r>
              <a:rPr lang="en-US" b="1" dirty="0"/>
              <a:t>Proverbs 16:28</a:t>
            </a:r>
            <a:r>
              <a:rPr lang="en-US" dirty="0"/>
              <a:t> – </a:t>
            </a:r>
            <a:r>
              <a:rPr lang="en-US" i="1" dirty="0"/>
              <a:t>“A perverse person stirs up conflict, and a gossip separates close friends.”</a:t>
            </a:r>
          </a:p>
          <a:p>
            <a:pPr marL="285750" indent="-285750">
              <a:buFont typeface="Arial" panose="020B0604020202020204" pitchFamily="34" charset="0"/>
              <a:buChar char="•"/>
            </a:pPr>
            <a:r>
              <a:rPr lang="en-US" b="1" dirty="0"/>
              <a:t>Romans 1:29–30</a:t>
            </a:r>
            <a:r>
              <a:rPr lang="en-US" dirty="0"/>
              <a:t> – gossip is listed among sins of the depraved mind.</a:t>
            </a:r>
          </a:p>
          <a:p>
            <a:pPr marL="285750" indent="-285750">
              <a:buFont typeface="Arial" panose="020B0604020202020204" pitchFamily="34" charset="0"/>
              <a:buChar char="•"/>
            </a:pPr>
            <a:r>
              <a:rPr lang="en-US" b="1" dirty="0"/>
              <a:t>Example:</a:t>
            </a:r>
            <a:r>
              <a:rPr lang="en-US" dirty="0"/>
              <a:t> Miriam spoke against Moses and was struck with leprosy (</a:t>
            </a:r>
            <a:r>
              <a:rPr lang="en-US" b="1" dirty="0"/>
              <a:t>Numbers 12</a:t>
            </a:r>
            <a:r>
              <a:rPr lang="en-US" dirty="0"/>
              <a:t>).</a:t>
            </a:r>
          </a:p>
          <a:p>
            <a:pPr marL="742950" lvl="1" indent="-285750">
              <a:buFont typeface="Arial" panose="020B0604020202020204" pitchFamily="34" charset="0"/>
              <a:buChar char="•"/>
            </a:pPr>
            <a:r>
              <a:rPr lang="en-US" dirty="0"/>
              <a:t>Gossip destroys trust faster than open enemies.</a:t>
            </a:r>
          </a:p>
        </p:txBody>
      </p:sp>
      <p:sp>
        <p:nvSpPr>
          <p:cNvPr id="6" name="TextBox 5">
            <a:extLst>
              <a:ext uri="{FF2B5EF4-FFF2-40B4-BE49-F238E27FC236}">
                <a16:creationId xmlns:a16="http://schemas.microsoft.com/office/drawing/2014/main" id="{3C8317CC-817B-8564-43EF-9815624ADA4D}"/>
              </a:ext>
            </a:extLst>
          </p:cNvPr>
          <p:cNvSpPr txBox="1"/>
          <p:nvPr/>
        </p:nvSpPr>
        <p:spPr>
          <a:xfrm>
            <a:off x="240064" y="2635812"/>
            <a:ext cx="8686800" cy="1754326"/>
          </a:xfrm>
          <a:prstGeom prst="rect">
            <a:avLst/>
          </a:prstGeom>
          <a:noFill/>
        </p:spPr>
        <p:txBody>
          <a:bodyPr wrap="square" rtlCol="0">
            <a:spAutoFit/>
          </a:bodyPr>
          <a:lstStyle/>
          <a:p>
            <a:r>
              <a:rPr lang="en-US" b="1" u="sng" dirty="0"/>
              <a:t>The Negative Thinker</a:t>
            </a:r>
            <a:r>
              <a:rPr lang="en-US" b="1" dirty="0"/>
              <a:t> (those who spread unbelief and fear)</a:t>
            </a:r>
            <a:endParaRPr lang="en-US" dirty="0"/>
          </a:p>
          <a:p>
            <a:pPr marL="285750" indent="-285750">
              <a:buFont typeface="Arial" panose="020B0604020202020204" pitchFamily="34" charset="0"/>
              <a:buChar char="•"/>
            </a:pPr>
            <a:r>
              <a:rPr lang="en-US" b="1" dirty="0"/>
              <a:t>Numbers 13:31–33</a:t>
            </a:r>
            <a:r>
              <a:rPr lang="en-US" dirty="0"/>
              <a:t> – the ten spies discouraged Israel through unbelief.</a:t>
            </a:r>
          </a:p>
          <a:p>
            <a:pPr marL="285750" indent="-285750">
              <a:buFont typeface="Arial" panose="020B0604020202020204" pitchFamily="34" charset="0"/>
              <a:buChar char="•"/>
            </a:pPr>
            <a:r>
              <a:rPr lang="en-US" b="1" dirty="0"/>
              <a:t>Philippians 4:13</a:t>
            </a:r>
            <a:r>
              <a:rPr lang="en-US" dirty="0"/>
              <a:t> – </a:t>
            </a:r>
            <a:r>
              <a:rPr lang="en-US" i="1" dirty="0"/>
              <a:t>“I can do all things through Christ who strengthens me.”</a:t>
            </a:r>
          </a:p>
          <a:p>
            <a:pPr marL="285750" indent="-285750">
              <a:buFont typeface="Arial" panose="020B0604020202020204" pitchFamily="34" charset="0"/>
              <a:buChar char="•"/>
            </a:pPr>
            <a:r>
              <a:rPr lang="en-US" b="1" dirty="0"/>
              <a:t>Example:</a:t>
            </a:r>
            <a:r>
              <a:rPr lang="en-US" dirty="0"/>
              <a:t> Israel’s fear at the Promised Land cost them 40 years in the wilderness.</a:t>
            </a:r>
          </a:p>
          <a:p>
            <a:pPr marL="742950" lvl="1" indent="-285750">
              <a:buFont typeface="Arial" panose="020B0604020202020204" pitchFamily="34" charset="0"/>
              <a:buChar char="•"/>
            </a:pPr>
            <a:r>
              <a:rPr lang="en-US" dirty="0"/>
              <a:t>Negativity infects faith faster than doubt alone.</a:t>
            </a:r>
          </a:p>
        </p:txBody>
      </p:sp>
      <p:sp>
        <p:nvSpPr>
          <p:cNvPr id="3" name="TextBox 2">
            <a:extLst>
              <a:ext uri="{FF2B5EF4-FFF2-40B4-BE49-F238E27FC236}">
                <a16:creationId xmlns:a16="http://schemas.microsoft.com/office/drawing/2014/main" id="{CF332999-32CA-632C-B30C-7D9151F6FABE}"/>
              </a:ext>
            </a:extLst>
          </p:cNvPr>
          <p:cNvSpPr txBox="1"/>
          <p:nvPr/>
        </p:nvSpPr>
        <p:spPr>
          <a:xfrm>
            <a:off x="240064" y="4461224"/>
            <a:ext cx="8686800" cy="2031325"/>
          </a:xfrm>
          <a:prstGeom prst="rect">
            <a:avLst/>
          </a:prstGeom>
          <a:noFill/>
        </p:spPr>
        <p:txBody>
          <a:bodyPr wrap="square" rtlCol="0">
            <a:spAutoFit/>
          </a:bodyPr>
          <a:lstStyle/>
          <a:p>
            <a:r>
              <a:rPr lang="en-US" b="1" u="sng" dirty="0"/>
              <a:t>Additional types Scripture warns against</a:t>
            </a:r>
            <a:endParaRPr lang="en-US" u="sng" dirty="0"/>
          </a:p>
          <a:p>
            <a:pPr fontAlgn="ctr"/>
            <a:r>
              <a:rPr lang="en-US" b="1" dirty="0"/>
              <a:t>The Scoffer or Mocking Spirit</a:t>
            </a:r>
            <a:r>
              <a:rPr lang="en-US" dirty="0"/>
              <a:t> – </a:t>
            </a:r>
            <a:r>
              <a:rPr lang="en-US" i="1" dirty="0"/>
              <a:t>Proverbs 9:7–8</a:t>
            </a:r>
            <a:r>
              <a:rPr lang="en-US" dirty="0"/>
              <a:t>; </a:t>
            </a:r>
            <a:r>
              <a:rPr lang="en-US" i="1" dirty="0"/>
              <a:t>Psalm 1:1</a:t>
            </a:r>
            <a:r>
              <a:rPr lang="en-US" dirty="0"/>
              <a:t>. Avoid those who mock correction or holy things.</a:t>
            </a:r>
          </a:p>
          <a:p>
            <a:pPr fontAlgn="ctr"/>
            <a:r>
              <a:rPr lang="en-US" b="1" dirty="0"/>
              <a:t>The False Teacher</a:t>
            </a:r>
            <a:r>
              <a:rPr lang="en-US" dirty="0"/>
              <a:t> – </a:t>
            </a:r>
            <a:r>
              <a:rPr lang="en-US" i="1" dirty="0"/>
              <a:t>2 Peter 2:1–3</a:t>
            </a:r>
            <a:r>
              <a:rPr lang="en-US" dirty="0"/>
              <a:t>; </a:t>
            </a:r>
            <a:r>
              <a:rPr lang="en-US" i="1" dirty="0"/>
              <a:t>2 John 10–11</a:t>
            </a:r>
            <a:r>
              <a:rPr lang="en-US" dirty="0"/>
              <a:t>. Don’t welcome or support those spreading false doctrine.</a:t>
            </a:r>
          </a:p>
          <a:p>
            <a:pPr fontAlgn="ctr"/>
            <a:r>
              <a:rPr lang="en-US" b="1" dirty="0"/>
              <a:t>The Proud and Arrogant</a:t>
            </a:r>
            <a:r>
              <a:rPr lang="en-US" dirty="0"/>
              <a:t> – </a:t>
            </a:r>
            <a:r>
              <a:rPr lang="en-US" i="1" dirty="0"/>
              <a:t>James 4:6</a:t>
            </a:r>
            <a:r>
              <a:rPr lang="en-US" dirty="0"/>
              <a:t>; </a:t>
            </a:r>
            <a:r>
              <a:rPr lang="en-US" i="1" dirty="0"/>
              <a:t>Proverbs 16:18</a:t>
            </a:r>
            <a:r>
              <a:rPr lang="en-US" dirty="0"/>
              <a:t>. Pride resists correction and drains grace from community.</a:t>
            </a:r>
          </a:p>
        </p:txBody>
      </p:sp>
    </p:spTree>
    <p:extLst>
      <p:ext uri="{BB962C8B-B14F-4D97-AF65-F5344CB8AC3E}">
        <p14:creationId xmlns:p14="http://schemas.microsoft.com/office/powerpoint/2010/main" val="4076148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3"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45208</TotalTime>
  <Words>2588</Words>
  <Application>Microsoft Office PowerPoint</Application>
  <PresentationFormat>On-screen Show (4:3)</PresentationFormat>
  <Paragraphs>188</Paragraphs>
  <Slides>12</Slides>
  <Notes>12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Arial Narrow</vt:lpstr>
      <vt:lpstr>Calibri</vt:lpstr>
      <vt:lpstr>PPT_Template_2010SummerSchool</vt:lpstr>
      <vt:lpstr>1_UPCRC_Powerpoint_Template_with I-Mark</vt:lpstr>
      <vt:lpstr>PowerPoint Presentation</vt:lpstr>
      <vt:lpstr>The Question of Paying Taxes Matthew 22:15–22; Mark 12:13–17; Luke 20:20–26</vt:lpstr>
      <vt:lpstr>The Woman Caught in Adultery John 8:3–11</vt:lpstr>
      <vt:lpstr>Authority Questioned by the Chief Priests Matthew 21:23–27; Mark 11:27–33; Luke 20:1–8</vt:lpstr>
      <vt:lpstr>The Question of Divorce Matthew 19:3–9; Mark 10:2–9</vt:lpstr>
      <vt:lpstr>The Question of Resurrection (Sadducees) Matthew 22:23–33; Luke 20:27–40</vt:lpstr>
      <vt:lpstr>Before Pilate and Herod Matthew 27:11–14; Luke 23:8–9; John 18:33–38</vt:lpstr>
      <vt:lpstr>The Question of His Authority as Messiah John 10:24–25</vt:lpstr>
      <vt:lpstr>When Tested by Satan Matthew 4:1–11</vt:lpstr>
      <vt:lpstr>The Pattern of Jesus’ Responses</vt:lpstr>
      <vt:lpstr>Yet More Enablement Anti-Patterns</vt:lpstr>
      <vt:lpstr>Yet More Enablement Anti-Patterns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1572</cp:revision>
  <cp:lastPrinted>2025-10-28T15:01:17Z</cp:lastPrinted>
  <dcterms:created xsi:type="dcterms:W3CDTF">2010-06-16T02:58:04Z</dcterms:created>
  <dcterms:modified xsi:type="dcterms:W3CDTF">2025-11-12T13:10:07Z</dcterms:modified>
</cp:coreProperties>
</file>