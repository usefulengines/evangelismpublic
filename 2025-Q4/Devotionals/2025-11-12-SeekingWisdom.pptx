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68" r:id="rId1"/>
    <p:sldMasterId id="2147484131" r:id="rId2"/>
  </p:sldMasterIdLst>
  <p:notesMasterIdLst>
    <p:notesMasterId r:id="rId15"/>
  </p:notesMasterIdLst>
  <p:sldIdLst>
    <p:sldId id="560" r:id="rId3"/>
    <p:sldId id="567" r:id="rId4"/>
    <p:sldId id="570" r:id="rId5"/>
    <p:sldId id="571" r:id="rId6"/>
    <p:sldId id="572" r:id="rId7"/>
    <p:sldId id="574" r:id="rId8"/>
    <p:sldId id="577" r:id="rId9"/>
    <p:sldId id="576" r:id="rId10"/>
    <p:sldId id="575" r:id="rId11"/>
    <p:sldId id="578" r:id="rId12"/>
    <p:sldId id="573" r:id="rId13"/>
    <p:sldId id="579" r:id="rId14"/>
  </p:sldIdLst>
  <p:sldSz cx="9144000" cy="6858000" type="screen4x3"/>
  <p:notesSz cx="7099300" cy="93853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hillip Pennington" initials="PP" lastIdx="2" clrIdx="0">
    <p:extLst>
      <p:ext uri="{19B8F6BF-5375-455C-9EA6-DF929625EA0E}">
        <p15:presenceInfo xmlns:p15="http://schemas.microsoft.com/office/powerpoint/2012/main" userId="7a30b84b863a4f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606" autoAdjust="0"/>
    <p:restoredTop sz="75321" autoAdjust="0"/>
  </p:normalViewPr>
  <p:slideViewPr>
    <p:cSldViewPr>
      <p:cViewPr varScale="1">
        <p:scale>
          <a:sx n="118" d="100"/>
          <a:sy n="118" d="100"/>
        </p:scale>
        <p:origin x="1896" y="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9" d="100"/>
          <a:sy n="99" d="100"/>
        </p:scale>
        <p:origin x="38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6364" cy="469265"/>
          </a:xfrm>
          <a:prstGeom prst="rect">
            <a:avLst/>
          </a:prstGeom>
        </p:spPr>
        <p:txBody>
          <a:bodyPr vert="horz" wrap="square" lIns="94087" tIns="47044" rIns="94087" bIns="4704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1"/>
            <a:ext cx="3076364" cy="469265"/>
          </a:xfrm>
          <a:prstGeom prst="rect">
            <a:avLst/>
          </a:prstGeom>
        </p:spPr>
        <p:txBody>
          <a:bodyPr vert="horz" wrap="square" lIns="94087" tIns="47044" rIns="94087" bIns="4704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37B93000-4848-40F5-8AEF-44DFB12065B3}" type="datetime1">
              <a:rPr lang="en-US"/>
              <a:pPr>
                <a:defRPr/>
              </a:pPr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3325" y="704850"/>
            <a:ext cx="4692650" cy="3519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4087" tIns="47044" rIns="94087" bIns="47044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458018"/>
            <a:ext cx="5679440" cy="4223385"/>
          </a:xfrm>
          <a:prstGeom prst="rect">
            <a:avLst/>
          </a:prstGeom>
        </p:spPr>
        <p:txBody>
          <a:bodyPr vert="horz" wrap="square" lIns="94087" tIns="47044" rIns="94087" bIns="47044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914406"/>
            <a:ext cx="3076364" cy="469265"/>
          </a:xfrm>
          <a:prstGeom prst="rect">
            <a:avLst/>
          </a:prstGeom>
        </p:spPr>
        <p:txBody>
          <a:bodyPr vert="horz" wrap="square" lIns="94087" tIns="47044" rIns="94087" bIns="4704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8914406"/>
            <a:ext cx="3076364" cy="469265"/>
          </a:xfrm>
          <a:prstGeom prst="rect">
            <a:avLst/>
          </a:prstGeom>
        </p:spPr>
        <p:txBody>
          <a:bodyPr vert="horz" wrap="square" lIns="94087" tIns="47044" rIns="94087" bIns="4704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07776858-791E-4C8D-8FA3-473B3AFECFA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7504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EE1C7-1EE0-70E2-129C-779C338B4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55BCE-5209-A53C-0D03-1ACB3A082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CCBA4-A9ED-B98C-BA69-7A85D7C75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“Answer, Don’t Answer” Principle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Jesus’ response pattern followed the wisdom of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Proverbs 26:4–5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“Do not answer a fool according to his folly,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or you yourself will be just like him.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Answer a fool according to his folly,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or he will be wise in his own eyes.”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balance captures Jesus’ approach:</a:t>
            </a:r>
          </a:p>
          <a:p>
            <a:pPr rtl="0" fontAlgn="ctr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 didn’t answer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when the question was malicious or insincere.</a:t>
            </a:r>
          </a:p>
          <a:p>
            <a:pPr rtl="0" fontAlgn="ctr"/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 did answer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when truth needed to be declared, exposing hypocrisy or revealing God’s wisdom.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 always answered in a way that pointed back to God’s authority — never falling into human traps.</a:t>
            </a:r>
          </a:p>
          <a:p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3345E-929F-C8D2-64E3-D485990D7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235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293F4-D80C-58F0-1795-D9E406BF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31B89-343C-6375-9DD0-5F75651A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8C4BF3-6EF1-131F-520B-9E3C3D3FD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E097-C75D-F246-EE53-01D3F3040A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66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1F849-120D-4846-9BEE-9F1C0E409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1CB0E2-ACDD-4068-A598-0450663BC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025D8-C449-0EFA-101B-5416F6480C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7860-BFCF-15BE-1A69-D1C8BC305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407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4CA41-BA43-8E29-2A96-16D2585B7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59152-002A-E1DB-EE2E-B7284648D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60213-D8B7-41EE-C715-A672396AFF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B5231-714C-7F07-6B25-B445E1DC05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172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CFD6A-C840-241D-A92C-39771B6F0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2AD29-22B3-1C72-9401-BB628344DF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6EED4-F98E-1AF6-37C9-55F2DDC99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B693D-F37C-EEB1-E88D-BE3FC41021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9145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DB283-770D-A3AE-3E7E-A8ADFBB34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6DE966-AD2E-9223-762F-E57E0E0E4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B4FA63-C37E-8195-1A5F-CE953E66C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813F7-8247-D549-1D66-B118785E6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657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3F3B2-C87D-C8DE-9806-C8CA8802E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1EB41A-675D-D5F8-8019-372DC8B2EA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F768E8-78F7-C46C-12FA-41CB6752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51526-89C8-CE9A-CCD0-A94A53FF3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79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3C7E3-0E89-C7F1-3D5B-CD5627716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FB658-9028-92F9-730C-85A5E2DCA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91634-BDF1-E250-1459-371185A3A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2290A-132A-E7BD-8051-C40C80B78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788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1228-033B-6501-496E-349DBCC1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48F38-71B7-43AB-66FE-830AACF82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30423-11E1-3ABB-CF98-5CB7ED841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E1C11-388B-49E5-9C70-FF0343D8B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635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AB6D0-87C6-8831-D71F-08EB4ABF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B1B9A-BA22-885D-4FDD-CA7E102DA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A93DC-9F64-41F6-1E16-601EE2D6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492A73-D9D8-B824-A9F5-D3ECE6E61D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42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876B6-6AC8-DE97-8504-4143F2E75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B1B75-D385-5834-9597-1EEA0CC08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C06528-0256-C802-A4E9-829A2161F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6A876-3363-4022-97FF-B446DF57F1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523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FADF-042A-2E7F-6540-57DDE232D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6416D-F28D-B662-FBBB-6804E8175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81C14-2F60-71F2-C6E5-A8DDDF6C8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0E062-16D9-8739-5773-8397F478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37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391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4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734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9" r:id="rId1"/>
    <p:sldLayoutId id="2147484150" r:id="rId2"/>
  </p:sldLayoutIdLst>
  <p:hf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Phil@UsefulEngines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4826E-3D54-D155-2F1B-C5B9C08B2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1EDE2-7532-5C86-C012-FEF9434CBB70}"/>
              </a:ext>
            </a:extLst>
          </p:cNvPr>
          <p:cNvSpPr txBox="1">
            <a:spLocks/>
          </p:cNvSpPr>
          <p:nvPr/>
        </p:nvSpPr>
        <p:spPr bwMode="auto">
          <a:xfrm>
            <a:off x="457200" y="228600"/>
            <a:ext cx="8229600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dirty="0"/>
              <a:t>Seeking Wisdom</a:t>
            </a: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3600" dirty="0"/>
              <a:t>Proverbs 26:4-5</a:t>
            </a:r>
            <a:r>
              <a:rPr lang="en-US" sz="3600" b="0" dirty="0"/>
              <a:t>  </a:t>
            </a:r>
            <a:r>
              <a:rPr lang="en-US" sz="3600" b="0" i="1" dirty="0"/>
              <a:t>Do not answer</a:t>
            </a:r>
            <a:r>
              <a:rPr lang="en-US" sz="3600" b="0" dirty="0"/>
              <a:t> a fool according to his folly, Lest you also be like him.  (5)  </a:t>
            </a:r>
            <a:r>
              <a:rPr lang="en-US" sz="3600" b="0" i="1" dirty="0"/>
              <a:t>Answer</a:t>
            </a:r>
            <a:r>
              <a:rPr lang="en-US" sz="3600" b="0" dirty="0"/>
              <a:t> a fool according to his folly, Lest he be wise in his own eyes.</a:t>
            </a:r>
          </a:p>
          <a:p>
            <a:endParaRPr lang="en-US" b="0" dirty="0"/>
          </a:p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  <a:hlinkClick r:id="rId3"/>
              </a:rPr>
              <a:t>Phil@UsefulEngines.com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https://tinyurl.com/GodOfPromises</a:t>
            </a: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55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CB79-AE28-5E30-6F76-D4799940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640AEB9-14C7-987E-E884-9B7BD0418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Question of Paying Taxes</a:t>
            </a:r>
            <a:br>
              <a:rPr lang="en-US" dirty="0"/>
            </a:br>
            <a:r>
              <a:rPr lang="de-DE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22:15–22; Mark 12:13–17; Luke 20:20–26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A3DBCB-C7DD-EB3E-C0D7-76011087C478}"/>
              </a:ext>
            </a:extLst>
          </p:cNvPr>
          <p:cNvSpPr txBox="1"/>
          <p:nvPr/>
        </p:nvSpPr>
        <p:spPr>
          <a:xfrm>
            <a:off x="243435" y="1066800"/>
            <a:ext cx="8686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The Pharisees asked, </a:t>
            </a:r>
            <a:r>
              <a:rPr lang="en-US" i="1" dirty="0"/>
              <a:t>“Is it lawful to pay taxes to Caesar or not?”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If He said “yes,” He’d offend the Jews. If “no,” He’d offend Rome.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asked for a coin: </a:t>
            </a:r>
            <a:r>
              <a:rPr lang="en-US" i="1" dirty="0"/>
              <a:t>“Whose image is this?”</a:t>
            </a:r>
            <a:br>
              <a:rPr lang="en-US" i="1" dirty="0"/>
            </a:br>
            <a:r>
              <a:rPr lang="en-US" dirty="0"/>
              <a:t>Then said, </a:t>
            </a:r>
            <a:r>
              <a:rPr lang="en-US" i="1" dirty="0"/>
              <a:t>“Render to Caesar what is Caesar’s, and to God what is God’s.”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B84AB0-4CC8-8065-C4CA-599502E582C9}"/>
              </a:ext>
            </a:extLst>
          </p:cNvPr>
          <p:cNvSpPr txBox="1"/>
          <p:nvPr/>
        </p:nvSpPr>
        <p:spPr>
          <a:xfrm>
            <a:off x="240943" y="2282639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Answer, but not the way they expected.</a:t>
            </a:r>
            <a:br>
              <a:rPr lang="en-US" b="1" dirty="0"/>
            </a:br>
            <a:r>
              <a:rPr lang="en-US" dirty="0"/>
              <a:t>He exposed their hypocrisy without taking their bait.</a:t>
            </a:r>
            <a:endParaRPr lang="en-US" sz="14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800283-63A7-C0A8-4E29-DFAB807BF33C}"/>
              </a:ext>
            </a:extLst>
          </p:cNvPr>
          <p:cNvSpPr txBox="1"/>
          <p:nvPr/>
        </p:nvSpPr>
        <p:spPr>
          <a:xfrm>
            <a:off x="304800" y="3605865"/>
            <a:ext cx="85982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Unrepentant Sinner</a:t>
            </a:r>
            <a:endParaRPr lang="en-US" u="sng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Proverbs 26:11</a:t>
            </a:r>
            <a:r>
              <a:rPr lang="en-US" dirty="0"/>
              <a:t> – “As a dog returns to its vomit, so a fool repeats his folly.”</a:t>
            </a:r>
          </a:p>
          <a:p>
            <a:r>
              <a:rPr lang="en-US" b="1" dirty="0"/>
              <a:t>2 Peter 2:20–22</a:t>
            </a:r>
            <a:r>
              <a:rPr lang="en-US" dirty="0"/>
              <a:t> – warns of those who know the truth but return to sin.</a:t>
            </a:r>
          </a:p>
          <a:p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Pharaoh repeatedly hardened his heart (Exodus 7–14).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God gave him chances, but mercy was withdrawn when his rebellion persisted.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1D9C2E-1EF7-8925-4C3F-982C8E11224D}"/>
              </a:ext>
            </a:extLst>
          </p:cNvPr>
          <p:cNvCxnSpPr/>
          <p:nvPr/>
        </p:nvCxnSpPr>
        <p:spPr>
          <a:xfrm>
            <a:off x="240943" y="32004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746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E2FC3-1367-30C7-1E74-F372157A0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7AA6EC-C98B-73D2-8E33-87C59288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Woman Caught in Adultery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John 8:3–11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65D59-56AC-7A91-2640-D40BC5796865}"/>
              </a:ext>
            </a:extLst>
          </p:cNvPr>
          <p:cNvSpPr txBox="1"/>
          <p:nvPr/>
        </p:nvSpPr>
        <p:spPr>
          <a:xfrm>
            <a:off x="243435" y="1066800"/>
            <a:ext cx="8686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The scribes and Pharisees said, </a:t>
            </a:r>
            <a:r>
              <a:rPr lang="en-US" i="1" dirty="0"/>
              <a:t>“Moses commanded us to stone such a woman. What do You say?”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If He said, “stone her,” He’d violate Roman law. If “forgive her,” He’d deny Moses.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stooped down and wrote on the ground. Then said, </a:t>
            </a:r>
            <a:r>
              <a:rPr lang="en-US" i="1" dirty="0"/>
              <a:t>“He who is without sin among you, let him throw a stone first.”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D5CBCB-1677-8AF3-9C0F-D8AC7C2225C7}"/>
              </a:ext>
            </a:extLst>
          </p:cNvPr>
          <p:cNvSpPr txBox="1"/>
          <p:nvPr/>
        </p:nvSpPr>
        <p:spPr>
          <a:xfrm>
            <a:off x="249035" y="2631466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 answered without answering.</a:t>
            </a:r>
            <a:br>
              <a:rPr lang="en-US" b="1" dirty="0"/>
            </a:br>
            <a:r>
              <a:rPr lang="en-US" dirty="0"/>
              <a:t>He upheld the Law and mercy together; silencing accusers.</a:t>
            </a:r>
            <a:r>
              <a:rPr lang="en-US" b="1" dirty="0"/>
              <a:t> 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A9CD28-3419-09A7-46DF-D803835C9E8D}"/>
              </a:ext>
            </a:extLst>
          </p:cNvPr>
          <p:cNvSpPr txBox="1"/>
          <p:nvPr/>
        </p:nvSpPr>
        <p:spPr>
          <a:xfrm>
            <a:off x="167439" y="3810000"/>
            <a:ext cx="85982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Manipulative</a:t>
            </a:r>
            <a:endParaRPr lang="en-US" u="sng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Luke 4:1–13</a:t>
            </a:r>
            <a:r>
              <a:rPr lang="en-US" dirty="0"/>
              <a:t> – Satan tried to manipulate Jesus with Scripture and promises.</a:t>
            </a:r>
          </a:p>
          <a:p>
            <a:r>
              <a:rPr lang="en-US" b="1" dirty="0"/>
              <a:t>Proverbs 12:5</a:t>
            </a:r>
            <a:r>
              <a:rPr lang="en-US" dirty="0"/>
              <a:t> – </a:t>
            </a:r>
            <a:r>
              <a:rPr lang="en-US" i="1" dirty="0"/>
              <a:t>“The plans of the righteous are just, but the advice of the wicked is deceitful.”</a:t>
            </a:r>
          </a:p>
          <a:p>
            <a:endParaRPr lang="en-US" i="1" dirty="0"/>
          </a:p>
          <a:p>
            <a:r>
              <a:rPr lang="en-US" b="1" dirty="0"/>
              <a:t>Example:</a:t>
            </a:r>
            <a:r>
              <a:rPr lang="en-US" dirty="0"/>
              <a:t> Delilah manipulated Samson for personal gain (</a:t>
            </a:r>
            <a:r>
              <a:rPr lang="en-US" b="1" dirty="0"/>
              <a:t>Judges 16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Jesus resisted manipulation by standing firm on God’s Word.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02927D-8167-2676-CEB7-ED25EB2E3E75}"/>
              </a:ext>
            </a:extLst>
          </p:cNvPr>
          <p:cNvCxnSpPr/>
          <p:nvPr/>
        </p:nvCxnSpPr>
        <p:spPr>
          <a:xfrm>
            <a:off x="184972" y="35814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490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2F2E6-5937-14DA-288C-3E465426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238A08-5D1D-4400-FDE2-6F82D4D9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Authority Questioned by the Chief Priests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21:23–27; Mark 11:27–33; Luke 20:1–8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1D46D0-DFCC-293C-C09C-80153D9F2382}"/>
              </a:ext>
            </a:extLst>
          </p:cNvPr>
          <p:cNvSpPr txBox="1"/>
          <p:nvPr/>
        </p:nvSpPr>
        <p:spPr>
          <a:xfrm>
            <a:off x="243435" y="1066800"/>
            <a:ext cx="8686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They asked, </a:t>
            </a:r>
            <a:r>
              <a:rPr lang="en-US" i="1" dirty="0"/>
              <a:t>“By what authority are You doing these things?”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countered: </a:t>
            </a:r>
            <a:r>
              <a:rPr lang="en-US" i="1" dirty="0"/>
              <a:t>“The baptism of John; was it from heaven or from men?”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They refused to answer, fearing the crowd.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then said, </a:t>
            </a:r>
            <a:r>
              <a:rPr lang="en-US" i="1" dirty="0"/>
              <a:t>“Neither will I tell you by what authority I do these things.”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395E90-B81F-7981-0DD7-31509CFABF18}"/>
              </a:ext>
            </a:extLst>
          </p:cNvPr>
          <p:cNvSpPr txBox="1"/>
          <p:nvPr/>
        </p:nvSpPr>
        <p:spPr>
          <a:xfrm>
            <a:off x="219364" y="2354998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Don’t answer.</a:t>
            </a:r>
            <a:br>
              <a:rPr lang="en-US" b="1" dirty="0"/>
            </a:br>
            <a:r>
              <a:rPr lang="en-US" dirty="0"/>
              <a:t>He revealed their hypocrisy - they weren’t seeking truth, only control.</a:t>
            </a:r>
            <a:r>
              <a:rPr lang="en-US" b="1" dirty="0"/>
              <a:t> 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6B6AA-DC6E-6003-C06D-5DF59691E438}"/>
              </a:ext>
            </a:extLst>
          </p:cNvPr>
          <p:cNvSpPr txBox="1"/>
          <p:nvPr/>
        </p:nvSpPr>
        <p:spPr>
          <a:xfrm>
            <a:off x="231971" y="3631058"/>
            <a:ext cx="85982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Divisive</a:t>
            </a:r>
            <a:endParaRPr lang="en-US" u="sng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Titus 3:10–11</a:t>
            </a:r>
            <a:r>
              <a:rPr lang="en-US" dirty="0"/>
              <a:t> – </a:t>
            </a:r>
            <a:r>
              <a:rPr lang="en-US" i="1" dirty="0"/>
              <a:t>“Reject a divisive person after a first and second warning.”</a:t>
            </a:r>
          </a:p>
          <a:p>
            <a:r>
              <a:rPr lang="en-US" b="1" dirty="0"/>
              <a:t>Romans 16:17</a:t>
            </a:r>
            <a:r>
              <a:rPr lang="en-US" dirty="0"/>
              <a:t> – </a:t>
            </a:r>
            <a:r>
              <a:rPr lang="en-US" i="1" dirty="0"/>
              <a:t>“Watch out for those who cause divisions and put obstacles in your way.”</a:t>
            </a:r>
          </a:p>
          <a:p>
            <a:endParaRPr lang="en-US" i="1" dirty="0"/>
          </a:p>
          <a:p>
            <a:r>
              <a:rPr lang="en-US" b="1" dirty="0"/>
              <a:t>Example:</a:t>
            </a:r>
            <a:r>
              <a:rPr lang="en-US" dirty="0"/>
              <a:t> Korah led rebellion against Moses (Numbers 16).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Division often disguises itself as “righteous disagreement.”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E585047-3BC6-CF73-6089-86D9956D5EC7}"/>
              </a:ext>
            </a:extLst>
          </p:cNvPr>
          <p:cNvCxnSpPr/>
          <p:nvPr/>
        </p:nvCxnSpPr>
        <p:spPr>
          <a:xfrm>
            <a:off x="228600" y="33528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5975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0FB68-28DA-FE2C-30CE-623CD54A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ED863EE-16F1-BA58-E11F-DCE0EA618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Question of Divorce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19:3–9; Mark 10:2–9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79388-BE64-D7A2-A23E-C47EA0544245}"/>
              </a:ext>
            </a:extLst>
          </p:cNvPr>
          <p:cNvSpPr txBox="1"/>
          <p:nvPr/>
        </p:nvSpPr>
        <p:spPr>
          <a:xfrm>
            <a:off x="243435" y="1066800"/>
            <a:ext cx="8686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/>
            <a:r>
              <a:rPr lang="en-US" dirty="0"/>
              <a:t>The Pharisees tested Him: </a:t>
            </a:r>
            <a:r>
              <a:rPr lang="en-US" i="1" dirty="0"/>
              <a:t>“Is it lawful for a man to divorce his wife for any reason?”</a:t>
            </a:r>
            <a:endParaRPr lang="en-US" dirty="0"/>
          </a:p>
          <a:p>
            <a:pPr fontAlgn="ctr"/>
            <a:r>
              <a:rPr lang="en-US" dirty="0"/>
              <a:t>Jesus redirected them to Scripture: </a:t>
            </a:r>
            <a:r>
              <a:rPr lang="en-US" i="1" dirty="0"/>
              <a:t>“Have you not read... that God made them male and female?”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C6A5E0-8DD8-29A1-5585-7723DC206293}"/>
              </a:ext>
            </a:extLst>
          </p:cNvPr>
          <p:cNvSpPr txBox="1"/>
          <p:nvPr/>
        </p:nvSpPr>
        <p:spPr>
          <a:xfrm>
            <a:off x="265014" y="2069907"/>
            <a:ext cx="8686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Answer by returning to God’s original intent.</a:t>
            </a:r>
            <a:br>
              <a:rPr lang="en-US" b="1" dirty="0"/>
            </a:br>
            <a:r>
              <a:rPr lang="en-US" dirty="0"/>
              <a:t>He refused to argue their legal loopholes and instead exposed their hardness of heart.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AC0B2B-36C7-8B69-A6E3-F2A631DB33ED}"/>
              </a:ext>
            </a:extLst>
          </p:cNvPr>
          <p:cNvSpPr txBox="1"/>
          <p:nvPr/>
        </p:nvSpPr>
        <p:spPr>
          <a:xfrm>
            <a:off x="265014" y="3657600"/>
            <a:ext cx="85982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Drainer</a:t>
            </a:r>
            <a:r>
              <a:rPr lang="en-US" b="1" dirty="0"/>
              <a:t> (those who sap energy or constantly take without giving)</a:t>
            </a:r>
            <a:endParaRPr lang="en-US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Luke 5:16</a:t>
            </a:r>
            <a:r>
              <a:rPr lang="en-US" dirty="0"/>
              <a:t> – </a:t>
            </a:r>
            <a:r>
              <a:rPr lang="en-US" i="1" dirty="0"/>
              <a:t>“Jesus often withdrew to lonely places and prayed.”</a:t>
            </a:r>
          </a:p>
          <a:p>
            <a:r>
              <a:rPr lang="en-US" b="1" dirty="0"/>
              <a:t>Proverbs 25:17</a:t>
            </a:r>
            <a:r>
              <a:rPr lang="en-US" dirty="0"/>
              <a:t> – </a:t>
            </a:r>
            <a:r>
              <a:rPr lang="en-US" i="1" dirty="0"/>
              <a:t>“Seldom set foot in your neighbor’s house—too much of you, and they will hate you.”</a:t>
            </a:r>
          </a:p>
          <a:p>
            <a:endParaRPr lang="en-US" i="1" dirty="0"/>
          </a:p>
          <a:p>
            <a:r>
              <a:rPr lang="en-US" b="1" dirty="0"/>
              <a:t>Example:</a:t>
            </a:r>
            <a:r>
              <a:rPr lang="en-US" dirty="0"/>
              <a:t> The crowds followed Jesus for miracles, not truth (</a:t>
            </a:r>
            <a:r>
              <a:rPr lang="en-US" b="1" dirty="0"/>
              <a:t>John 6:26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Jesus set boundaries and rested.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BC2375D-A174-B796-4722-7E3738C3170A}"/>
              </a:ext>
            </a:extLst>
          </p:cNvPr>
          <p:cNvCxnSpPr/>
          <p:nvPr/>
        </p:nvCxnSpPr>
        <p:spPr>
          <a:xfrm>
            <a:off x="315120" y="33528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5614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2AB9-96EB-FDF9-BBA9-6FEC2093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8BAAD4A-6D83-EC6C-ED9F-A0291BB15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Question of Resurrection (Sadducees)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22:23–33; Luke 20:27–40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10B28B-CC5F-FD48-523D-91A771782430}"/>
              </a:ext>
            </a:extLst>
          </p:cNvPr>
          <p:cNvSpPr txBox="1"/>
          <p:nvPr/>
        </p:nvSpPr>
        <p:spPr>
          <a:xfrm>
            <a:off x="243435" y="1066800"/>
            <a:ext cx="8686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The Sadducees, who denied resurrection, presented a ridiculous story about seven husbands.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said, </a:t>
            </a:r>
            <a:r>
              <a:rPr lang="en-US" i="1" dirty="0"/>
              <a:t>“You are mistaken, not knowing the Scriptures nor the power of God.”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85A93-D951-1FF9-F3FA-4FA790E93A6B}"/>
              </a:ext>
            </a:extLst>
          </p:cNvPr>
          <p:cNvSpPr txBox="1"/>
          <p:nvPr/>
        </p:nvSpPr>
        <p:spPr>
          <a:xfrm>
            <a:off x="228600" y="2352235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Answer that corrects ignorance, not argument.</a:t>
            </a:r>
            <a:br>
              <a:rPr lang="en-US" b="1" dirty="0"/>
            </a:br>
            <a:r>
              <a:rPr lang="en-US" dirty="0"/>
              <a:t>He dismantled their logic by revealing their false premise.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707118-F235-825C-3ADF-6911D4E29696}"/>
              </a:ext>
            </a:extLst>
          </p:cNvPr>
          <p:cNvSpPr txBox="1"/>
          <p:nvPr/>
        </p:nvSpPr>
        <p:spPr>
          <a:xfrm>
            <a:off x="243435" y="3569262"/>
            <a:ext cx="85982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God Replacement</a:t>
            </a:r>
            <a:r>
              <a:rPr lang="en-US" b="1" dirty="0"/>
              <a:t> (those who want your worship, attention, or loyalty over God)</a:t>
            </a:r>
            <a:endParaRPr lang="en-US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Acts 14:11–15</a:t>
            </a:r>
            <a:r>
              <a:rPr lang="en-US" dirty="0"/>
              <a:t> – Paul and Barnabas were worshiped as gods but tore their clothes, saying, </a:t>
            </a:r>
            <a:r>
              <a:rPr lang="en-US" i="1" dirty="0"/>
              <a:t>“We are only men.”</a:t>
            </a:r>
          </a:p>
          <a:p>
            <a:r>
              <a:rPr lang="en-US" b="1" dirty="0"/>
              <a:t>Exodus 20:3</a:t>
            </a:r>
            <a:r>
              <a:rPr lang="en-US" dirty="0"/>
              <a:t> – </a:t>
            </a:r>
            <a:r>
              <a:rPr lang="en-US" i="1" dirty="0"/>
              <a:t>“You shall have no other gods before Me.”</a:t>
            </a:r>
          </a:p>
          <a:p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Herod accepted praise as a god and was struck down (</a:t>
            </a:r>
            <a:r>
              <a:rPr lang="en-US" b="1" dirty="0"/>
              <a:t>Acts 12:21–23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Never support those who exalt themselves above God.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459572-7176-4B3A-6E2A-9C50130D093C}"/>
              </a:ext>
            </a:extLst>
          </p:cNvPr>
          <p:cNvCxnSpPr/>
          <p:nvPr/>
        </p:nvCxnSpPr>
        <p:spPr>
          <a:xfrm>
            <a:off x="272871" y="32766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10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5FAA7-14F5-7F59-F1BC-399C3343E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0440E69-63D4-FC59-A61E-05D29E3A6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Before Pilate and Herod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27:11–14; Luke 23:8–9; John 18:33–38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194552-52C4-E409-F920-39D591D83B2E}"/>
              </a:ext>
            </a:extLst>
          </p:cNvPr>
          <p:cNvSpPr txBox="1"/>
          <p:nvPr/>
        </p:nvSpPr>
        <p:spPr>
          <a:xfrm>
            <a:off x="243435" y="1066800"/>
            <a:ext cx="8686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Pilate asked, </a:t>
            </a:r>
            <a:r>
              <a:rPr lang="en-US" i="1" dirty="0"/>
              <a:t>“Are You the King of the Jews?”</a:t>
            </a:r>
            <a:r>
              <a:rPr lang="en-US" dirty="0"/>
              <a:t> Jesus answered, </a:t>
            </a:r>
            <a:r>
              <a:rPr lang="en-US" i="1" dirty="0"/>
              <a:t>“You say so.”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When falsely accused, </a:t>
            </a:r>
            <a:r>
              <a:rPr lang="en-US" i="1" dirty="0"/>
              <a:t>He gave no answer.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Before Herod, </a:t>
            </a:r>
            <a:r>
              <a:rPr lang="en-US" i="1" dirty="0"/>
              <a:t>He said nothing at all.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F1339-982A-D4AD-3026-C6E29672096E}"/>
              </a:ext>
            </a:extLst>
          </p:cNvPr>
          <p:cNvSpPr txBox="1"/>
          <p:nvPr/>
        </p:nvSpPr>
        <p:spPr>
          <a:xfrm>
            <a:off x="228130" y="2077999"/>
            <a:ext cx="8686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Don’t answer lies or mockery.</a:t>
            </a:r>
            <a:br>
              <a:rPr lang="en-US" b="1" dirty="0"/>
            </a:br>
            <a:r>
              <a:rPr lang="en-US" dirty="0"/>
              <a:t>Silence itself became testimony; fulfilling </a:t>
            </a:r>
            <a:r>
              <a:rPr lang="en-US" b="1" i="1" dirty="0"/>
              <a:t>Isaiah 53:7</a:t>
            </a:r>
            <a:r>
              <a:rPr lang="en-US" dirty="0"/>
              <a:t>  </a:t>
            </a:r>
            <a:r>
              <a:rPr lang="en-US" i="1" dirty="0"/>
              <a:t>“He was oppressed and afflicted, yet He did not open His mouth.”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B014A6-2516-51D5-28D8-CEA651244450}"/>
              </a:ext>
            </a:extLst>
          </p:cNvPr>
          <p:cNvSpPr txBox="1"/>
          <p:nvPr/>
        </p:nvSpPr>
        <p:spPr>
          <a:xfrm>
            <a:off x="228130" y="3482876"/>
            <a:ext cx="85982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Willfully Disobedient</a:t>
            </a:r>
            <a:endParaRPr lang="en-US" u="sng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2 Thessalonians 3:14–15</a:t>
            </a:r>
            <a:r>
              <a:rPr lang="en-US" dirty="0"/>
              <a:t> – </a:t>
            </a:r>
            <a:r>
              <a:rPr lang="en-US" i="1" dirty="0"/>
              <a:t>“Take special note of anyone who does not obey our instruction… do not associate with them.”</a:t>
            </a:r>
          </a:p>
          <a:p>
            <a:r>
              <a:rPr lang="en-US" b="1" dirty="0"/>
              <a:t>Proverbs 29:1</a:t>
            </a:r>
            <a:r>
              <a:rPr lang="en-US" dirty="0"/>
              <a:t> – </a:t>
            </a:r>
            <a:r>
              <a:rPr lang="en-US" i="1" dirty="0"/>
              <a:t>“Whoever remains stiff-necked after many rebukes will suddenly be destroyed.”</a:t>
            </a:r>
          </a:p>
          <a:p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King Saul repeatedly disobeyed God’s commands (</a:t>
            </a:r>
            <a:r>
              <a:rPr lang="en-US" b="1" dirty="0"/>
              <a:t>1 Samuel 15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Helping rebellion only multiplies its cost.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A5B6ED-D39F-0C68-16A1-872F3EA966D4}"/>
              </a:ext>
            </a:extLst>
          </p:cNvPr>
          <p:cNvCxnSpPr/>
          <p:nvPr/>
        </p:nvCxnSpPr>
        <p:spPr>
          <a:xfrm>
            <a:off x="243435" y="32004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8550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3E922-0EF5-9774-3CC3-098CAC56A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F1EFFFD-F3B0-902D-4884-38027904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Question of His Authority as Messiah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John 10:24–25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2891E0-6353-FD04-6452-BBE50F0765E6}"/>
              </a:ext>
            </a:extLst>
          </p:cNvPr>
          <p:cNvSpPr txBox="1"/>
          <p:nvPr/>
        </p:nvSpPr>
        <p:spPr>
          <a:xfrm>
            <a:off x="243435" y="1066800"/>
            <a:ext cx="8686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“If You are the Christ, tell us plainly.”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replied, </a:t>
            </a:r>
            <a:r>
              <a:rPr lang="en-US" i="1" dirty="0"/>
              <a:t>“I told you, and you do not believe. The works I do in My Father’s name testify about Me.”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F35B8-DDE9-FB7B-46D2-B924C2B59C66}"/>
              </a:ext>
            </a:extLst>
          </p:cNvPr>
          <p:cNvSpPr txBox="1"/>
          <p:nvPr/>
        </p:nvSpPr>
        <p:spPr>
          <a:xfrm>
            <a:off x="243435" y="2077999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Answer with evidence, not argument.</a:t>
            </a:r>
            <a:br>
              <a:rPr lang="en-US" b="1" dirty="0"/>
            </a:br>
            <a:r>
              <a:rPr lang="en-US" dirty="0"/>
              <a:t>He pointed to actions, not words, as proof.</a:t>
            </a:r>
            <a:r>
              <a:rPr lang="en-US" b="1" dirty="0"/>
              <a:t> 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B117E-B706-A05C-EA28-DDB3122CECBC}"/>
              </a:ext>
            </a:extLst>
          </p:cNvPr>
          <p:cNvSpPr txBox="1"/>
          <p:nvPr/>
        </p:nvSpPr>
        <p:spPr>
          <a:xfrm>
            <a:off x="243435" y="3408770"/>
            <a:ext cx="85982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Assignment Blocker</a:t>
            </a:r>
            <a:r>
              <a:rPr lang="en-US" b="1" dirty="0"/>
              <a:t> (those who oppose or distract from God’s call on your life)</a:t>
            </a:r>
            <a:endParaRPr lang="en-US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Genesis 12:1–4</a:t>
            </a:r>
            <a:r>
              <a:rPr lang="en-US" dirty="0"/>
              <a:t> – God told Abram to leave his country and kindred.</a:t>
            </a:r>
          </a:p>
          <a:p>
            <a:r>
              <a:rPr lang="en-US" b="1" dirty="0"/>
              <a:t>Matthew 16:23</a:t>
            </a:r>
            <a:r>
              <a:rPr lang="en-US" dirty="0"/>
              <a:t> – </a:t>
            </a:r>
            <a:r>
              <a:rPr lang="en-US" i="1" dirty="0"/>
              <a:t>Jesus said to Peter, “Get behind me, Satan!” </a:t>
            </a:r>
            <a:r>
              <a:rPr lang="en-US" dirty="0"/>
              <a:t>when Peter tried to divert Him from the cross.</a:t>
            </a:r>
          </a:p>
          <a:p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Jonah fled his calling and endangered others on the ship (</a:t>
            </a:r>
            <a:r>
              <a:rPr lang="en-US" b="1" dirty="0"/>
              <a:t>Jonah 1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Don’t let others anchor you where God has told you to move on.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DD6B2FA-B17B-506D-1AF1-F37A430BC352}"/>
              </a:ext>
            </a:extLst>
          </p:cNvPr>
          <p:cNvCxnSpPr/>
          <p:nvPr/>
        </p:nvCxnSpPr>
        <p:spPr>
          <a:xfrm>
            <a:off x="272871" y="29718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07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41B00-506B-92C0-A598-A337BC241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9E00DFC-81E7-9270-01B3-6C69906C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97893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When Tested by Satan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 4:1–11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FA46D-2BDE-7359-5FED-3E07882BC974}"/>
              </a:ext>
            </a:extLst>
          </p:cNvPr>
          <p:cNvSpPr txBox="1"/>
          <p:nvPr/>
        </p:nvSpPr>
        <p:spPr>
          <a:xfrm>
            <a:off x="152400" y="1007035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Satan twisted Scripture to tempt Jesus.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Jesus didn’t debate. He quoted Scripture correctly: </a:t>
            </a:r>
            <a:r>
              <a:rPr lang="en-US" i="1" dirty="0"/>
              <a:t>“It is written…”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4313CA-6A31-6512-EEB5-715297B1E800}"/>
              </a:ext>
            </a:extLst>
          </p:cNvPr>
          <p:cNvSpPr txBox="1"/>
          <p:nvPr/>
        </p:nvSpPr>
        <p:spPr>
          <a:xfrm>
            <a:off x="152400" y="1708136"/>
            <a:ext cx="8686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Answer only with truth, not speculation.</a:t>
            </a:r>
            <a:br>
              <a:rPr lang="en-US" b="1" dirty="0"/>
            </a:br>
            <a:r>
              <a:rPr lang="en-US" dirty="0"/>
              <a:t>He resisted by anchoring in God’s Word, not human logic.</a:t>
            </a:r>
            <a:r>
              <a:rPr lang="en-US" b="1" dirty="0"/>
              <a:t> </a:t>
            </a:r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9ECB49-39ED-9F05-11FF-76C6B8868DA6}"/>
              </a:ext>
            </a:extLst>
          </p:cNvPr>
          <p:cNvSpPr txBox="1"/>
          <p:nvPr/>
        </p:nvSpPr>
        <p:spPr>
          <a:xfrm>
            <a:off x="152400" y="2957281"/>
            <a:ext cx="85982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Jealous Spirit</a:t>
            </a:r>
            <a:endParaRPr lang="en-US" u="sng" dirty="0"/>
          </a:p>
          <a:p>
            <a:r>
              <a:rPr lang="en-US" dirty="0"/>
              <a:t> </a:t>
            </a:r>
          </a:p>
          <a:p>
            <a:r>
              <a:rPr lang="en-US" b="1" dirty="0"/>
              <a:t>Proverbs 27:4</a:t>
            </a:r>
            <a:r>
              <a:rPr lang="en-US" dirty="0"/>
              <a:t> – </a:t>
            </a:r>
            <a:r>
              <a:rPr lang="en-US" i="1" dirty="0"/>
              <a:t>“Wrath is cruel and anger a torrent, but who can stand before jealousy?”</a:t>
            </a:r>
          </a:p>
          <a:p>
            <a:r>
              <a:rPr lang="en-US" b="1" dirty="0"/>
              <a:t>James 3:16</a:t>
            </a:r>
            <a:r>
              <a:rPr lang="en-US" dirty="0"/>
              <a:t> – </a:t>
            </a:r>
            <a:r>
              <a:rPr lang="en-US" i="1" dirty="0"/>
              <a:t>“Where jealousy and selfish ambition exist, there is disorder.”</a:t>
            </a:r>
          </a:p>
          <a:p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Saul’s jealousy of David destroyed him (1 Samuel 18–19).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Jealousy turns potential allies into enemies.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E262CC-DD13-2896-37EA-B605363BEC60}"/>
              </a:ext>
            </a:extLst>
          </p:cNvPr>
          <p:cNvCxnSpPr/>
          <p:nvPr/>
        </p:nvCxnSpPr>
        <p:spPr>
          <a:xfrm>
            <a:off x="152400" y="2667000"/>
            <a:ext cx="8598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06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F40BC-99DA-8F96-7250-D22BA682B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7F63FAE-D7CA-0A9A-CD94-7367AB998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"/>
            <a:ext cx="8686800" cy="609600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Pattern of Jesus’ Responses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702CF-3BE4-4025-6B27-8C04EB415E58}"/>
              </a:ext>
            </a:extLst>
          </p:cNvPr>
          <p:cNvSpPr txBox="1"/>
          <p:nvPr/>
        </p:nvSpPr>
        <p:spPr>
          <a:xfrm>
            <a:off x="228600" y="3962400"/>
            <a:ext cx="8686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Key Takeaway</a:t>
            </a:r>
            <a:endParaRPr lang="en-US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Jesus never answered to </a:t>
            </a:r>
            <a:r>
              <a:rPr lang="en-US" i="1" dirty="0"/>
              <a:t>win an argument.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 answered to reveal truth, expose motive, and honor the Father’s will.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Silence or a counter-question was often His shield against manipulation.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John 2:24–25</a:t>
            </a:r>
            <a:r>
              <a:rPr lang="en-US" dirty="0"/>
              <a:t> sums it up best: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/>
              <a:t>“But Jesus did not entrust Himself to them, because He knew all people… He Himself knew what was in man.”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671C74B-D57D-C58A-2238-982DCB7766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18666"/>
              </p:ext>
            </p:extLst>
          </p:nvPr>
        </p:nvGraphicFramePr>
        <p:xfrm>
          <a:off x="304800" y="660693"/>
          <a:ext cx="8534400" cy="303276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2844800">
                  <a:extLst>
                    <a:ext uri="{9D8B030D-6E8A-4147-A177-3AD203B41FA5}">
                      <a16:colId xmlns:a16="http://schemas.microsoft.com/office/drawing/2014/main" val="4116460058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435009808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1411708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Situation Type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Jesus’ Response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Example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176367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Malicious trap</a:t>
                      </a:r>
                      <a:endParaRPr lang="en-US" sz="16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Don’t answer or redirect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Authority challenge (Matt 21)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87940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Twisted Scripture</a:t>
                      </a:r>
                      <a:endParaRPr lang="en-US" sz="16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Correct with Scripture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Temptation in wilderness (Matt 4)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691120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Hypocritical question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Expose motive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Taxes to Caesar (Matt 22)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57319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Moral trap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Elevate God’s justice and mercy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Adulterous woman (John 8)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45815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Ignorant question</a:t>
                      </a:r>
                      <a:endParaRPr lang="en-US" sz="16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Teach truth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Sadducees’ riddle (Matt 22)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071386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False accusation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Silence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Before Pilate (Matt 27)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866934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17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3903E-809C-5BF4-5401-F0A8C061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D0CCAB5-63DB-54A3-9A5D-2696DFEEB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"/>
            <a:ext cx="8686800" cy="533400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Yet More Anti-Patterns of Enablement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86C38-8519-7B72-C117-692D92472AC5}"/>
              </a:ext>
            </a:extLst>
          </p:cNvPr>
          <p:cNvSpPr txBox="1"/>
          <p:nvPr/>
        </p:nvSpPr>
        <p:spPr>
          <a:xfrm>
            <a:off x="228600" y="685800"/>
            <a:ext cx="8686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Time-Waster</a:t>
            </a:r>
            <a:endParaRPr lang="en-US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Ephesians 5:15–16</a:t>
            </a:r>
            <a:r>
              <a:rPr lang="en-US" dirty="0"/>
              <a:t> – </a:t>
            </a:r>
            <a:r>
              <a:rPr lang="en-US" i="1" dirty="0"/>
              <a:t>“Be careful how you live… making the most of your time, because the days are evil.”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Proverbs 6:9–11</a:t>
            </a:r>
            <a:r>
              <a:rPr lang="en-US" dirty="0"/>
              <a:t> – warns against sloth and wasted opportunity.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Example:</a:t>
            </a:r>
            <a:r>
              <a:rPr lang="en-US" dirty="0"/>
              <a:t> The five foolish virgins (</a:t>
            </a:r>
            <a:r>
              <a:rPr lang="en-US" b="1" dirty="0"/>
              <a:t>Matthew 25:1–13</a:t>
            </a:r>
            <a:r>
              <a:rPr lang="en-US" dirty="0"/>
              <a:t>) who were unprepared when opportunity came.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Your time is sacred; steward it wisely.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F1551-9019-F9F8-78CA-8109B3E76D9A}"/>
              </a:ext>
            </a:extLst>
          </p:cNvPr>
          <p:cNvSpPr txBox="1"/>
          <p:nvPr/>
        </p:nvSpPr>
        <p:spPr>
          <a:xfrm>
            <a:off x="228600" y="3048000"/>
            <a:ext cx="8686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User</a:t>
            </a:r>
            <a:r>
              <a:rPr lang="en-US" b="1" dirty="0"/>
              <a:t> (those who take advantage of generosity without gratitude or purpose)</a:t>
            </a:r>
            <a:endParaRPr lang="en-US" dirty="0"/>
          </a:p>
          <a:p>
            <a:r>
              <a:rPr lang="en-US" dirty="0"/>
              <a:t>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John 6:26–27</a:t>
            </a:r>
            <a:r>
              <a:rPr lang="en-US" dirty="0"/>
              <a:t> – </a:t>
            </a:r>
            <a:r>
              <a:rPr lang="en-US" i="1" dirty="0"/>
              <a:t>“You seek Me… because you ate the loaves and were filled.”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Proverbs 25:19</a:t>
            </a:r>
            <a:r>
              <a:rPr lang="en-US" dirty="0"/>
              <a:t> – </a:t>
            </a:r>
            <a:r>
              <a:rPr lang="en-US" i="1" dirty="0"/>
              <a:t>“Confidence in an unfaithful man in time of trouble is like a broken tooth.”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Example:</a:t>
            </a:r>
            <a:r>
              <a:rPr lang="en-US" dirty="0"/>
              <a:t> The prodigal son’s companions left him when the money was gone (</a:t>
            </a:r>
            <a:r>
              <a:rPr lang="en-US" b="1" dirty="0"/>
              <a:t>Luke 15:14–16</a:t>
            </a:r>
            <a:r>
              <a:rPr lang="en-US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Users love benefits, not relationship.</a:t>
            </a:r>
          </a:p>
        </p:txBody>
      </p:sp>
    </p:spTree>
    <p:extLst>
      <p:ext uri="{BB962C8B-B14F-4D97-AF65-F5344CB8AC3E}">
        <p14:creationId xmlns:p14="http://schemas.microsoft.com/office/powerpoint/2010/main" val="407488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32598-1668-CC72-4089-8C74C403E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25CA55E-E5C6-8D54-7B39-3EEA3EBFC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"/>
            <a:ext cx="8686800" cy="533400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Yet More Anti-Patterns of Enablement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EAFFFD-6BD4-DF46-EDA4-0D809E5417AA}"/>
              </a:ext>
            </a:extLst>
          </p:cNvPr>
          <p:cNvSpPr txBox="1"/>
          <p:nvPr/>
        </p:nvSpPr>
        <p:spPr>
          <a:xfrm>
            <a:off x="240064" y="685800"/>
            <a:ext cx="8686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Gossip</a:t>
            </a:r>
            <a:endParaRPr lang="en-US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Proverbs 16:28</a:t>
            </a:r>
            <a:r>
              <a:rPr lang="en-US" dirty="0"/>
              <a:t> – </a:t>
            </a:r>
            <a:r>
              <a:rPr lang="en-US" i="1" dirty="0"/>
              <a:t>“A perverse person stirs up conflict, and a gossip separates close friends.”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Romans 1:29–30</a:t>
            </a:r>
            <a:r>
              <a:rPr lang="en-US" dirty="0"/>
              <a:t> – gossip is listed among sins of the depraved mind.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Example:</a:t>
            </a:r>
            <a:r>
              <a:rPr lang="en-US" dirty="0"/>
              <a:t> Miriam spoke against Moses and was struck with leprosy (</a:t>
            </a:r>
            <a:r>
              <a:rPr lang="en-US" b="1" dirty="0"/>
              <a:t>Numbers 12</a:t>
            </a:r>
            <a:r>
              <a:rPr lang="en-US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Gossip destroys trust faster than open enemies.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8317CC-817B-8564-43EF-9815624ADA4D}"/>
              </a:ext>
            </a:extLst>
          </p:cNvPr>
          <p:cNvSpPr txBox="1"/>
          <p:nvPr/>
        </p:nvSpPr>
        <p:spPr>
          <a:xfrm>
            <a:off x="240064" y="2788211"/>
            <a:ext cx="8686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The Negative Thinker</a:t>
            </a:r>
            <a:r>
              <a:rPr lang="en-US" b="1" dirty="0"/>
              <a:t> (those who spread unbelief and fear)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Numbers 13:31–33</a:t>
            </a:r>
            <a:r>
              <a:rPr lang="en-US" dirty="0"/>
              <a:t> – the ten spies discouraged Israel through unbelief.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Philippians 4:13</a:t>
            </a:r>
            <a:r>
              <a:rPr lang="en-US" dirty="0"/>
              <a:t> – </a:t>
            </a:r>
            <a:r>
              <a:rPr lang="en-US" i="1" dirty="0"/>
              <a:t>“I can do all things through Christ who strengthens me.”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Example:</a:t>
            </a:r>
            <a:r>
              <a:rPr lang="en-US" dirty="0"/>
              <a:t> Israel’s fear at the Promised Land cost them 40 years in the wilderness.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Negativity infects faith faster than doubt alone.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32999-32CA-632C-B30C-7D9151F6FABE}"/>
              </a:ext>
            </a:extLst>
          </p:cNvPr>
          <p:cNvSpPr txBox="1"/>
          <p:nvPr/>
        </p:nvSpPr>
        <p:spPr>
          <a:xfrm>
            <a:off x="240064" y="4613623"/>
            <a:ext cx="8686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Additional types Scripture warns against</a:t>
            </a:r>
            <a:endParaRPr lang="en-US" u="sng" dirty="0"/>
          </a:p>
          <a:p>
            <a:pPr fontAlgn="ctr"/>
            <a:r>
              <a:rPr lang="en-US" b="1" dirty="0"/>
              <a:t>The Scoffer or Mocking Spirit</a:t>
            </a:r>
            <a:r>
              <a:rPr lang="en-US" dirty="0"/>
              <a:t> – </a:t>
            </a:r>
            <a:r>
              <a:rPr lang="en-US" i="1" dirty="0"/>
              <a:t>Proverbs 9:7–8</a:t>
            </a:r>
            <a:r>
              <a:rPr lang="en-US" dirty="0"/>
              <a:t>; </a:t>
            </a:r>
            <a:r>
              <a:rPr lang="en-US" i="1" dirty="0"/>
              <a:t>Psalm 1:1</a:t>
            </a:r>
            <a:r>
              <a:rPr lang="en-US" dirty="0"/>
              <a:t>. Avoid those who mock correction or holy things.</a:t>
            </a:r>
          </a:p>
          <a:p>
            <a:pPr fontAlgn="ctr"/>
            <a:r>
              <a:rPr lang="en-US" b="1" dirty="0"/>
              <a:t>The False Teacher</a:t>
            </a:r>
            <a:r>
              <a:rPr lang="en-US" dirty="0"/>
              <a:t> – </a:t>
            </a:r>
            <a:r>
              <a:rPr lang="en-US" i="1" dirty="0"/>
              <a:t>2 Peter 2:1–3</a:t>
            </a:r>
            <a:r>
              <a:rPr lang="en-US" dirty="0"/>
              <a:t>; </a:t>
            </a:r>
            <a:r>
              <a:rPr lang="en-US" i="1" dirty="0"/>
              <a:t>2 John 10–11</a:t>
            </a:r>
            <a:r>
              <a:rPr lang="en-US" dirty="0"/>
              <a:t>. Don’t welcome or support those spreading false doctrine.</a:t>
            </a:r>
          </a:p>
          <a:p>
            <a:pPr fontAlgn="ctr"/>
            <a:r>
              <a:rPr lang="en-US" b="1" dirty="0"/>
              <a:t>The Proud and Arrogant</a:t>
            </a:r>
            <a:r>
              <a:rPr lang="en-US" dirty="0"/>
              <a:t> – </a:t>
            </a:r>
            <a:r>
              <a:rPr lang="en-US" i="1" dirty="0"/>
              <a:t>James 4:6</a:t>
            </a:r>
            <a:r>
              <a:rPr lang="en-US" dirty="0"/>
              <a:t>; </a:t>
            </a:r>
            <a:r>
              <a:rPr lang="en-US" i="1" dirty="0"/>
              <a:t>Proverbs 16:18</a:t>
            </a:r>
            <a:r>
              <a:rPr lang="en-US" dirty="0"/>
              <a:t>. Pride resists correction and drains grace from community.</a:t>
            </a:r>
          </a:p>
        </p:txBody>
      </p:sp>
    </p:spTree>
    <p:extLst>
      <p:ext uri="{BB962C8B-B14F-4D97-AF65-F5344CB8AC3E}">
        <p14:creationId xmlns:p14="http://schemas.microsoft.com/office/powerpoint/2010/main" val="407614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/>
    </p:bldLst>
  </p:timing>
</p:sld>
</file>

<file path=ppt/theme/theme1.xml><?xml version="1.0" encoding="utf-8"?>
<a:theme xmlns:a="http://schemas.openxmlformats.org/drawingml/2006/main" name="PPT_Template_2010SummerSchoo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UPCRC_Powerpoint_Template_with I-Ma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PPT_Template_2010SummerSchool</Template>
  <TotalTime>45174</TotalTime>
  <Words>1807</Words>
  <Application>Microsoft Office PowerPoint</Application>
  <PresentationFormat>On-screen Show (4:3)</PresentationFormat>
  <Paragraphs>179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Arial Narrow</vt:lpstr>
      <vt:lpstr>Calibri</vt:lpstr>
      <vt:lpstr>PPT_Template_2010SummerSchool</vt:lpstr>
      <vt:lpstr>1_UPCRC_Powerpoint_Template_with I-Mark</vt:lpstr>
      <vt:lpstr>PowerPoint Presentation</vt:lpstr>
      <vt:lpstr>The Question of Paying Taxes Matthew 22:15–22; Mark 12:13–17; Luke 20:20–26</vt:lpstr>
      <vt:lpstr>The Woman Caught in Adultery John 8:3–11</vt:lpstr>
      <vt:lpstr>Authority Questioned by the Chief Priests Matthew 21:23–27; Mark 11:27–33; Luke 20:1–8</vt:lpstr>
      <vt:lpstr>The Question of Divorce Matthew 19:3–9; Mark 10:2–9</vt:lpstr>
      <vt:lpstr>The Question of Resurrection (Sadducees) Matthew 22:23–33; Luke 20:27–40</vt:lpstr>
      <vt:lpstr>Before Pilate and Herod Matthew 27:11–14; Luke 23:8–9; John 18:33–38</vt:lpstr>
      <vt:lpstr>The Question of His Authority as Messiah John 10:24–25</vt:lpstr>
      <vt:lpstr>When Tested by Satan Matthew 4:1–11</vt:lpstr>
      <vt:lpstr>The Pattern of Jesus’ Responses</vt:lpstr>
      <vt:lpstr>Yet More Anti-Patterns of Enablement</vt:lpstr>
      <vt:lpstr>Yet More Anti-Patterns of Enablement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 Pennington</dc:creator>
  <cp:lastModifiedBy>Phil Pennington</cp:lastModifiedBy>
  <cp:revision>1564</cp:revision>
  <cp:lastPrinted>2025-10-28T15:01:17Z</cp:lastPrinted>
  <dcterms:created xsi:type="dcterms:W3CDTF">2010-06-16T02:58:04Z</dcterms:created>
  <dcterms:modified xsi:type="dcterms:W3CDTF">2025-11-12T04:01:33Z</dcterms:modified>
</cp:coreProperties>
</file>