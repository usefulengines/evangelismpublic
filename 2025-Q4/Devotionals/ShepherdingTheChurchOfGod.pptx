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3"/>
  </p:notesMasterIdLst>
  <p:sldIdLst>
    <p:sldId id="560" r:id="rId3"/>
    <p:sldId id="567" r:id="rId4"/>
    <p:sldId id="568" r:id="rId5"/>
    <p:sldId id="569" r:id="rId6"/>
    <p:sldId id="570" r:id="rId7"/>
    <p:sldId id="571" r:id="rId8"/>
    <p:sldId id="572" r:id="rId9"/>
    <p:sldId id="573" r:id="rId10"/>
    <p:sldId id="566" r:id="rId11"/>
    <p:sldId id="554" r:id="rId12"/>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5321" autoAdjust="0"/>
  </p:normalViewPr>
  <p:slideViewPr>
    <p:cSldViewPr>
      <p:cViewPr varScale="1">
        <p:scale>
          <a:sx n="104" d="100"/>
          <a:sy n="104" d="100"/>
        </p:scale>
        <p:origin x="108" y="426"/>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6364" cy="469265"/>
          </a:xfrm>
          <a:prstGeom prst="rect">
            <a:avLst/>
          </a:prstGeom>
        </p:spPr>
        <p:txBody>
          <a:bodyPr vert="horz" wrap="square" lIns="94087" tIns="47044" rIns="94087" bIns="47044"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1"/>
            <a:ext cx="3076364" cy="469265"/>
          </a:xfrm>
          <a:prstGeom prst="rect">
            <a:avLst/>
          </a:prstGeom>
        </p:spPr>
        <p:txBody>
          <a:bodyPr vert="horz" wrap="square" lIns="94087" tIns="47044" rIns="94087" bIns="47044"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11/5/2025</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087" tIns="47044" rIns="94087" bIns="4704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087" tIns="47044" rIns="94087" bIns="4704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914406"/>
            <a:ext cx="3076364" cy="469265"/>
          </a:xfrm>
          <a:prstGeom prst="rect">
            <a:avLst/>
          </a:prstGeom>
        </p:spPr>
        <p:txBody>
          <a:bodyPr vert="horz" wrap="square" lIns="94087" tIns="47044" rIns="94087" bIns="47044"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087" tIns="47044" rIns="94087" bIns="47044"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E1C7-1EE0-70E2-129C-779C338B4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55BCE-5209-A53C-0D03-1ACB3A082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CBA4-A9ED-B98C-BA69-7A85D7C7589F}"/>
              </a:ext>
            </a:extLst>
          </p:cNvPr>
          <p:cNvSpPr>
            <a:spLocks noGrp="1"/>
          </p:cNvSpPr>
          <p:nvPr>
            <p:ph type="body" idx="1"/>
          </p:nvPr>
        </p:nvSpPr>
        <p:spPr/>
        <p:txBody>
          <a:bodyPr>
            <a:normAutofit/>
          </a:bodyPr>
          <a:lstStyle/>
          <a:p>
            <a:endParaRPr lang="en-US" sz="1400" dirty="0"/>
          </a:p>
        </p:txBody>
      </p:sp>
      <p:sp>
        <p:nvSpPr>
          <p:cNvPr id="4" name="Slide Number Placeholder 3">
            <a:extLst>
              <a:ext uri="{FF2B5EF4-FFF2-40B4-BE49-F238E27FC236}">
                <a16:creationId xmlns:a16="http://schemas.microsoft.com/office/drawing/2014/main" id="{3603345E-929F-C8D2-64E3-D485990D7FFE}"/>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6623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293F4-D80C-58F0-1795-D9E406BFC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31B89-343C-6375-9DD0-5F75651AD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8C4BF3-6EF1-131F-520B-9E3C3D3FD65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6BB5E097-C75D-F246-EE53-01D3F3040A56}"/>
              </a:ext>
            </a:extLst>
          </p:cNvPr>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482566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0247E-8A58-282E-AE77-74E90351E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D1574-C692-E373-C95D-07F3C5F01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8C6B1-AA43-FC94-A644-999EA2AB6309}"/>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F0F2932E-2984-9C5B-7C1B-41D68E4FC9F5}"/>
              </a:ext>
            </a:extLst>
          </p:cNvPr>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949958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C2F59-9FA8-D021-EBC0-CB6804CB4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4004-9220-837B-E0EC-68837D0AA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36322-07C0-A28A-0A83-BDBCA8E1CA3D}"/>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6FDE2FA8-1654-AE08-257F-574329FA79CB}"/>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813921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E2C94-0BDF-AC54-1D8C-D6B9B43EF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A41DC-453A-6DCC-F9A9-412940567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F567B-4316-1F06-6167-EF49CF0563BA}"/>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1D16F305-157A-0DC9-3B5C-6B7C0F1A6BA1}"/>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617411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FA2B7-8D2B-09D9-7C1C-3C59FD15C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09CED-E386-4661-66C9-D45C60E7DC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0E17C-507D-ADAE-C976-1319EBFBA78C}"/>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B69EB41B-C5B0-AB8E-58EC-D9D34DFB3AB4}"/>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506778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79FD-D0BD-2136-E711-E671C1D6B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8A270-1B16-15FC-53CF-DDBB3B9F2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84F19-5E2F-1033-1792-02EC608A5113}"/>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59959EA6-B769-17AC-6505-10808A106D9E}"/>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3727629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A12B-937B-1108-82FA-C83FC6B12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DAF63-FFBB-EB74-37E4-DAD2BFD21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22E9B-D19F-686C-DCE6-86AC395AB6D8}"/>
              </a:ext>
            </a:extLst>
          </p:cNvPr>
          <p:cNvSpPr>
            <a:spLocks noGrp="1"/>
          </p:cNvSpPr>
          <p:nvPr>
            <p:ph type="body" idx="1"/>
          </p:nvPr>
        </p:nvSpPr>
        <p:spPr/>
        <p:txBody>
          <a:bodyPr>
            <a:normAutofit/>
          </a:bodyPr>
          <a:lstStyle/>
          <a:p>
            <a:endParaRPr lang="en-US" sz="1400" dirty="0"/>
          </a:p>
          <a:p>
            <a:endParaRPr lang="en-US" dirty="0"/>
          </a:p>
        </p:txBody>
      </p:sp>
      <p:sp>
        <p:nvSpPr>
          <p:cNvPr id="4" name="Slide Number Placeholder 3">
            <a:extLst>
              <a:ext uri="{FF2B5EF4-FFF2-40B4-BE49-F238E27FC236}">
                <a16:creationId xmlns:a16="http://schemas.microsoft.com/office/drawing/2014/main" id="{DB1EED28-75CE-18B7-082F-6094C39F91C1}"/>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844688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indent="0">
              <a:buFont typeface="Arial" panose="020B0604020202020204" pitchFamily="34" charset="0"/>
              <a:buNone/>
            </a:pPr>
            <a:endParaRPr lang="en-US" baseline="0" dirty="0"/>
          </a:p>
          <a:p>
            <a:pPr marL="171450" indent="-171450">
              <a:buFont typeface="Arial" panose="020B0604020202020204" pitchFamily="34" charset="0"/>
              <a:buChar char="•"/>
            </a:pPr>
            <a:r>
              <a:rPr lang="en-US" baseline="0" dirty="0"/>
              <a:t>Why is there such debate about “exactly when is a person saved”?</a:t>
            </a:r>
          </a:p>
          <a:p>
            <a:pPr marL="171450" indent="-171450">
              <a:buFont typeface="Arial" panose="020B0604020202020204" pitchFamily="34" charset="0"/>
              <a:buChar char="•"/>
            </a:pPr>
            <a:r>
              <a:rPr lang="en-US" baseline="0" dirty="0"/>
              <a:t>What is the “Biblical Plan of Salvation” and the importance that baptism plays in it?</a:t>
            </a:r>
          </a:p>
          <a:p>
            <a:pPr marL="171450" indent="-171450">
              <a:buFont typeface="Arial" panose="020B0604020202020204" pitchFamily="34" charset="0"/>
              <a:buChar char="•"/>
            </a:pPr>
            <a:r>
              <a:rPr lang="en-US" baseline="0" dirty="0"/>
              <a:t>Did anyone in Apostolic Days ever admonish another to </a:t>
            </a:r>
            <a:r>
              <a:rPr lang="en-US" u="sng" baseline="0" dirty="0"/>
              <a:t>be “saved” by “saying a Sinner’s Prayer</a:t>
            </a:r>
            <a:r>
              <a:rPr lang="en-US" baseline="0" dirty="0"/>
              <a:t>”?</a:t>
            </a:r>
          </a:p>
          <a:p>
            <a:pPr marL="171450" indent="-171450">
              <a:buFont typeface="Arial" panose="020B0604020202020204" pitchFamily="34" charset="0"/>
              <a:buChar char="•"/>
            </a:pPr>
            <a:r>
              <a:rPr lang="en-US" baseline="0" dirty="0"/>
              <a:t>What is the </a:t>
            </a:r>
            <a:r>
              <a:rPr lang="en-US" u="sng" baseline="0" dirty="0"/>
              <a:t>specific reason and purpose of baptism</a:t>
            </a:r>
            <a:r>
              <a:rPr lang="en-US" baseline="0" dirty="0"/>
              <a:t>?   </a:t>
            </a:r>
          </a:p>
          <a:p>
            <a:pPr marL="171450" indent="-171450">
              <a:buFont typeface="Arial" panose="020B0604020202020204" pitchFamily="34" charset="0"/>
              <a:buChar char="•"/>
            </a:pPr>
            <a:r>
              <a:rPr lang="en-US" baseline="0" dirty="0"/>
              <a:t>What is the significance of </a:t>
            </a:r>
            <a:r>
              <a:rPr lang="en-US" u="sng" baseline="0" dirty="0"/>
              <a:t>being baptized in the Name of </a:t>
            </a:r>
            <a:r>
              <a:rPr lang="en-US" u="sng" baseline="0" dirty="0" err="1"/>
              <a:t>Yeshua</a:t>
            </a:r>
            <a:r>
              <a:rPr lang="en-US" u="sng" baseline="0" dirty="0"/>
              <a:t> of Nazareth</a:t>
            </a:r>
            <a:r>
              <a:rPr lang="en-US" baseline="0" dirty="0"/>
              <a:t>?</a:t>
            </a:r>
          </a:p>
          <a:p>
            <a:pPr marL="171450" indent="-171450">
              <a:buFont typeface="Arial" panose="020B0604020202020204" pitchFamily="34" charset="0"/>
              <a:buChar char="•"/>
            </a:pPr>
            <a:r>
              <a:rPr lang="en-US" baseline="0" dirty="0"/>
              <a:t>What are certain </a:t>
            </a:r>
            <a:r>
              <a:rPr lang="en-US" u="sng" baseline="0" dirty="0"/>
              <a:t>objections to the necessity of baptism</a:t>
            </a:r>
            <a:r>
              <a:rPr lang="en-US" baseline="0" dirty="0"/>
              <a:t>?</a:t>
            </a:r>
          </a:p>
          <a:p>
            <a:pPr marL="171450" indent="-171450">
              <a:buFont typeface="Arial" panose="020B0604020202020204" pitchFamily="34" charset="0"/>
              <a:buChar char="•"/>
            </a:pPr>
            <a:r>
              <a:rPr lang="en-US" baseline="0" dirty="0"/>
              <a:t>Why it is that we are commanded to </a:t>
            </a:r>
            <a:r>
              <a:rPr lang="en-US" u="sng" baseline="0" dirty="0"/>
              <a:t>obey a “water” baptism and not a “spirit” baptism</a:t>
            </a:r>
            <a:r>
              <a:rPr lang="en-US" baseline="0" dirty="0"/>
              <a:t>?</a:t>
            </a:r>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Eph 2:8-9  </a:t>
            </a:r>
            <a:r>
              <a:rPr lang="en-US" sz="1200" b="0" i="0" u="none" strike="noStrike" kern="1200" baseline="0" dirty="0">
                <a:solidFill>
                  <a:schemeClr val="tx1"/>
                </a:solidFill>
                <a:latin typeface="+mn-lt"/>
                <a:ea typeface="ＭＳ Ｐゴシック" pitchFamily="-106" charset="-128"/>
                <a:cs typeface="ＭＳ Ｐゴシック" pitchFamily="-106" charset="-128"/>
              </a:rPr>
              <a:t>For by grace you are saved through faith, and this is not from yourselves, it is the gift of God;  (9)  it is not from works, so that no one can boast.</a:t>
            </a:r>
          </a:p>
          <a:p>
            <a:endParaRPr lang="en-US" dirty="0"/>
          </a:p>
          <a:p>
            <a:r>
              <a:rPr lang="en-US" b="1" dirty="0"/>
              <a:t>Luk 13:3-5  </a:t>
            </a:r>
            <a:r>
              <a:rPr lang="en-US" dirty="0"/>
              <a:t>No, I tell you! But unless you repent, you will all perish as well!  (4)  Or those eighteen who were killed when the tower in Siloam fell on them, do you think they were worse offenders than all the others who live in Jerusalem?  (5)  No, I tell you! But unless you repent you will all perish as well!”</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Mar 16:16  </a:t>
            </a:r>
            <a:r>
              <a:rPr lang="en-US" sz="1200" b="0" i="0" u="none" strike="noStrike" kern="1200" baseline="0" dirty="0">
                <a:solidFill>
                  <a:schemeClr val="tx1"/>
                </a:solidFill>
                <a:latin typeface="+mn-lt"/>
                <a:ea typeface="ＭＳ Ｐゴシック" pitchFamily="-106" charset="-128"/>
                <a:cs typeface="ＭＳ Ｐゴシック" pitchFamily="-106" charset="-128"/>
              </a:rPr>
              <a:t>The one who believes and is baptized will be saved, but the one who does not believe will be condemned.</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ＭＳ Ｐゴシック" pitchFamily="-106" charset="-128"/>
                <a:cs typeface="ＭＳ Ｐゴシック" pitchFamily="-106" charset="-128"/>
              </a:rPr>
              <a:t>Act 2:38  </a:t>
            </a:r>
            <a:r>
              <a:rPr lang="en-US" sz="1200" b="0" i="0" u="none" strike="noStrike" kern="1200" baseline="0" dirty="0">
                <a:solidFill>
                  <a:schemeClr val="tx1"/>
                </a:solidFill>
                <a:latin typeface="+mn-lt"/>
                <a:ea typeface="ＭＳ Ｐゴシック" pitchFamily="-106" charset="-128"/>
                <a:cs typeface="ＭＳ Ｐゴシック" pitchFamily="-106" charset="-128"/>
              </a:rPr>
              <a:t>Peter said to them, “Repent, and each one of you be baptized in the name of Jesus Christ for the forgiveness of your sins, and you will receive the gift of the Holy Spirit.</a:t>
            </a:r>
          </a:p>
          <a:p>
            <a:endParaRPr lang="en-US" dirty="0"/>
          </a:p>
          <a:p>
            <a:r>
              <a:rPr lang="en-US" b="1" dirty="0"/>
              <a:t>1Pe 3:21  </a:t>
            </a:r>
            <a:r>
              <a:rPr lang="en-US" dirty="0"/>
              <a:t>And this prefigured baptism, which now saves you – not the washing off of physical dirt but the pledge of a good conscience to God – through the resurrection of Jesus Christ,</a:t>
            </a:r>
          </a:p>
          <a:p>
            <a:endParaRPr lang="en-US" dirty="0"/>
          </a:p>
          <a:p>
            <a:r>
              <a:rPr lang="en-US" dirty="0"/>
              <a:t>-----------------------------</a:t>
            </a:r>
          </a:p>
          <a:p>
            <a:endParaRPr lang="en-US" dirty="0"/>
          </a:p>
          <a:p>
            <a:pPr marL="0" indent="0">
              <a:buFontTx/>
              <a:buNone/>
            </a:pPr>
            <a:r>
              <a:rPr lang="en-US" sz="1200" b="1" dirty="0"/>
              <a:t>The Gospel centers on the restoration of relationship with God, accomplished through Christ’s life, death, and resurrection.</a:t>
            </a:r>
          </a:p>
          <a:p>
            <a:endParaRPr lang="en-US" sz="1200" dirty="0"/>
          </a:p>
          <a:p>
            <a:r>
              <a:rPr lang="en-US" sz="1200" dirty="0"/>
              <a:t>-  </a:t>
            </a:r>
            <a:r>
              <a:rPr lang="en-US" sz="1200" b="1" dirty="0"/>
              <a:t>John 17:3 </a:t>
            </a:r>
            <a:r>
              <a:rPr lang="en-US" sz="1200" dirty="0"/>
              <a:t>: "Now this is eternal life: that they know you, the only true God, and Jesus Christ, whom you have sent."</a:t>
            </a:r>
          </a:p>
          <a:p>
            <a:r>
              <a:rPr lang="en-US" sz="1200" dirty="0"/>
              <a:t>   - </a:t>
            </a:r>
            <a:r>
              <a:rPr lang="en-US" sz="1200" b="1" dirty="0"/>
              <a:t>Defines eternal life as knowing God personally and relationally.</a:t>
            </a:r>
          </a:p>
          <a:p>
            <a:endParaRPr lang="en-US" sz="1200" dirty="0"/>
          </a:p>
          <a:p>
            <a:r>
              <a:rPr lang="en-US" sz="1200" dirty="0"/>
              <a:t>-  </a:t>
            </a:r>
            <a:r>
              <a:rPr lang="en-US" sz="1200" b="1" dirty="0"/>
              <a:t>John 14:16-17 </a:t>
            </a:r>
            <a:r>
              <a:rPr lang="en-US" sz="1200" dirty="0"/>
              <a:t>: "And I will ask the Father, and he will give you another advocate to help you and be with you forever—the Spirit of truth. The world cannot accept him, because it neither sees him nor knows him. But you know him, for he lives with you and will be in you."</a:t>
            </a:r>
          </a:p>
          <a:p>
            <a:r>
              <a:rPr lang="en-US" sz="1200" dirty="0"/>
              <a:t>   - </a:t>
            </a:r>
            <a:r>
              <a:rPr lang="en-US" sz="1200" b="1" dirty="0"/>
              <a:t>Speaks of the Holy Spirit’s indwelling presence, a vital part of the believer’s union with God.</a:t>
            </a:r>
          </a:p>
          <a:p>
            <a:endParaRPr lang="en-US" sz="1200" dirty="0"/>
          </a:p>
          <a:p>
            <a:r>
              <a:rPr lang="en-US" sz="1200" dirty="0"/>
              <a:t>-  </a:t>
            </a:r>
            <a:r>
              <a:rPr lang="en-US" sz="1200" b="1" dirty="0"/>
              <a:t>2 Corinthians 5:17-18 </a:t>
            </a:r>
            <a:r>
              <a:rPr lang="en-US" sz="1200" dirty="0"/>
              <a:t>: "Therefore, if anyone is in Christ, the new creation has come: The old has gone, the new is here! All this is from God, who reconciled us to himself through Christ."</a:t>
            </a:r>
          </a:p>
          <a:p>
            <a:r>
              <a:rPr lang="en-US" sz="1200" dirty="0"/>
              <a:t>   - </a:t>
            </a:r>
            <a:r>
              <a:rPr lang="en-US" sz="1200" b="1" dirty="0"/>
              <a:t>Highlights the transformative power of the Gospel, reconciling believers to God.</a:t>
            </a:r>
          </a:p>
          <a:p>
            <a:endParaRPr lang="en-US" sz="1200"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1562713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F9D84-D556-988B-C623-810DB2123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9BCFE-32B6-229E-6383-184BAEA491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1DBEC-C027-2FFE-68C5-521A0E17797F}"/>
              </a:ext>
            </a:extLst>
          </p:cNvPr>
          <p:cNvSpPr>
            <a:spLocks noGrp="1"/>
          </p:cNvSpPr>
          <p:nvPr>
            <p:ph type="body" idx="1"/>
          </p:nvPr>
        </p:nvSpPr>
        <p:spPr/>
        <p:txBody>
          <a:bodyPr>
            <a:normAutofit fontScale="40000" lnSpcReduction="20000"/>
          </a:bodyPr>
          <a:lstStyle/>
          <a:p>
            <a:r>
              <a:rPr lang="en-US" sz="1400" dirty="0"/>
              <a:t>When Paul lists the “fruit of the Spirit” (Gal. 5:22–23)—love, joy, peace, patience, kindness, goodness, faithfulness, gentleness, and self-control—he’s describing the character and conduct that flow out of a life yielded to God’s Spirit. Although the explicit phrase “Holy Spirit” appears less frequently in the Old Testament, several psalms not only point to “living the good life” (i.e., walking in covenant faithfulness and blessing) but also reference or imply the work of God’s Spirit in shaping that life. </a:t>
            </a:r>
          </a:p>
          <a:p>
            <a:endParaRPr lang="en-US" sz="1400" dirty="0"/>
          </a:p>
          <a:p>
            <a:r>
              <a:rPr lang="en-US" sz="1400" dirty="0"/>
              <a:t>--------------</a:t>
            </a:r>
          </a:p>
          <a:p>
            <a:r>
              <a:rPr lang="en-US" sz="1400" dirty="0"/>
              <a:t>In </a:t>
            </a:r>
            <a:r>
              <a:rPr lang="en-US" sz="1400" b="1" dirty="0"/>
              <a:t>Jeremiah 31:31–34</a:t>
            </a:r>
            <a:r>
              <a:rPr lang="en-US" sz="1400" dirty="0"/>
              <a:t>, God promises a “new covenant” in which </a:t>
            </a:r>
            <a:r>
              <a:rPr lang="en-US" sz="1400" b="1" dirty="0"/>
              <a:t>His law will be written on people’s hearts</a:t>
            </a:r>
            <a:r>
              <a:rPr lang="en-US" sz="1400" dirty="0"/>
              <a:t>, and as a result, </a:t>
            </a:r>
            <a:r>
              <a:rPr lang="en-US" sz="1400" b="1" dirty="0"/>
              <a:t>“they shall all know me.”</a:t>
            </a:r>
            <a:r>
              <a:rPr lang="en-US" sz="1400" dirty="0"/>
              <a:t> This new covenant relationship implies an intimate, personal knowledge of God rather than a merely external or secondhand acquaintance. To understand how one can know they truly “know the LORD,” it’s helpful to consider several biblical principles that clarify the nature and evidence of this relationship.</a:t>
            </a:r>
          </a:p>
          <a:p>
            <a:endParaRPr lang="en-US" sz="1400" dirty="0"/>
          </a:p>
          <a:p>
            <a:r>
              <a:rPr lang="en-US" sz="1400" b="1" dirty="0"/>
              <a:t> 1. An Internal, Heart-Level Knowledge</a:t>
            </a:r>
            <a:r>
              <a:rPr lang="en-US" sz="1400" dirty="0"/>
              <a:t>:   </a:t>
            </a:r>
          </a:p>
          <a:p>
            <a:r>
              <a:rPr lang="en-US" sz="1400" dirty="0"/>
              <a:t>   Under the new covenant, God’s law is not just a set of external rules; it is internalized. This indicates that truly knowing the LORD involves a changed heart—a shift from merely following religious observances to experiencing a genuine inward transformation (</a:t>
            </a:r>
            <a:r>
              <a:rPr lang="en-US" sz="1400" b="1" dirty="0"/>
              <a:t>Jeremiah 31:33</a:t>
            </a:r>
            <a:r>
              <a:rPr lang="en-US" sz="1400" dirty="0"/>
              <a:t>). Thus, </a:t>
            </a:r>
            <a:r>
              <a:rPr lang="en-US" sz="1400" u="sng" dirty="0"/>
              <a:t>one sign of knowing the Lord is the deep, inner desire to love, honor, and please Him, not because of external pressure, but because one’s heart has been made new</a:t>
            </a:r>
            <a:r>
              <a:rPr lang="en-US" sz="1400" dirty="0"/>
              <a:t>.</a:t>
            </a:r>
          </a:p>
          <a:p>
            <a:endParaRPr lang="en-US" sz="1400" dirty="0"/>
          </a:p>
          <a:p>
            <a:r>
              <a:rPr lang="en-US" sz="1400" b="1" dirty="0"/>
              <a:t> 2. A Personal Relationship Through Christ:   </a:t>
            </a:r>
          </a:p>
          <a:p>
            <a:r>
              <a:rPr lang="en-US" sz="1400" dirty="0"/>
              <a:t>   The New Testament reveals that </a:t>
            </a:r>
            <a:r>
              <a:rPr lang="en-US" sz="1400" u="sng" dirty="0"/>
              <a:t>Jesus Christ mediates this new covenant</a:t>
            </a:r>
            <a:r>
              <a:rPr lang="en-US" sz="1400" dirty="0"/>
              <a:t>. Through faith in Christ’s death and resurrection, believers enter into a restored relationship with God (Hebrews 8:6–12, John 14:6). </a:t>
            </a:r>
            <a:r>
              <a:rPr lang="en-US" sz="1400" u="sng" dirty="0"/>
              <a:t>Knowing the Lord, then, is inseparable from knowing Christ</a:t>
            </a:r>
            <a:r>
              <a:rPr lang="en-US" sz="1400" dirty="0"/>
              <a:t>. If you have placed your trust in Jesus, believing His sacrifice for your sins, and have become His disciple, </a:t>
            </a:r>
            <a:r>
              <a:rPr lang="en-US" sz="1400" u="sng" dirty="0"/>
              <a:t>this faith relationship is a foundational indicator that you know God</a:t>
            </a:r>
            <a:r>
              <a:rPr lang="en-US" sz="1400" dirty="0"/>
              <a:t>.</a:t>
            </a:r>
          </a:p>
          <a:p>
            <a:endParaRPr lang="en-US" sz="1400" dirty="0"/>
          </a:p>
          <a:p>
            <a:r>
              <a:rPr lang="en-US" sz="1400" b="1" dirty="0"/>
              <a:t> 3. Obedience as a Sign of Knowledge:   </a:t>
            </a:r>
          </a:p>
          <a:p>
            <a:r>
              <a:rPr lang="en-US" sz="1400" dirty="0"/>
              <a:t>   First John gives practical tests for knowing God:  </a:t>
            </a:r>
          </a:p>
          <a:p>
            <a:pPr marL="469054" lvl="1"/>
            <a:r>
              <a:rPr lang="en-US" sz="1400" b="1" dirty="0"/>
              <a:t>1 John 2:3–6</a:t>
            </a:r>
            <a:r>
              <a:rPr lang="en-US" sz="1400" dirty="0"/>
              <a:t>: </a:t>
            </a:r>
            <a:r>
              <a:rPr lang="en-US" sz="1400" b="1" i="1" u="sng" dirty="0"/>
              <a:t>Now by this we know that we know Him, if we keep His commandments</a:t>
            </a:r>
            <a:r>
              <a:rPr lang="en-US" sz="1400" i="1" dirty="0"/>
              <a:t>. He who says, "I know Him," and does not keep His commandments, is a liar, and the truth is not in him. But whoever keeps His word, truly the love of God is perfected in him. By this we know that we are in Him. He who says he abides in Him ought himself also to walk just as He walked. </a:t>
            </a:r>
          </a:p>
          <a:p>
            <a:endParaRPr lang="en-US" sz="1400" dirty="0"/>
          </a:p>
          <a:p>
            <a:r>
              <a:rPr lang="en-US" sz="1400" b="1" dirty="0"/>
              <a:t> 4. Love as the Outflow of Knowing God:   </a:t>
            </a:r>
          </a:p>
          <a:p>
            <a:r>
              <a:rPr lang="en-US" sz="1400" dirty="0"/>
              <a:t>   Another test of knowing the Lord is found in love.  </a:t>
            </a:r>
          </a:p>
          <a:p>
            <a:pPr lvl="1"/>
            <a:r>
              <a:rPr lang="en-US" sz="1400" b="1" dirty="0"/>
              <a:t>1 John 4:7–12 </a:t>
            </a:r>
            <a:r>
              <a:rPr lang="en-US" sz="1400" dirty="0"/>
              <a:t>: </a:t>
            </a:r>
            <a:r>
              <a:rPr lang="en-US" sz="1400" i="1" dirty="0"/>
              <a:t>Beloved, let us love one another, for love is of God; and </a:t>
            </a:r>
            <a:r>
              <a:rPr lang="en-US" sz="1400" b="1" i="1" u="sng" dirty="0"/>
              <a:t>everyone who loves is born of God and knows God</a:t>
            </a:r>
            <a:r>
              <a:rPr lang="en-US" sz="1400" i="1" dirty="0"/>
              <a:t>. </a:t>
            </a:r>
            <a:r>
              <a:rPr lang="en-US" sz="1400" b="1" i="1" u="sng" dirty="0"/>
              <a:t>He who does not love does not know God</a:t>
            </a:r>
            <a:r>
              <a:rPr lang="en-US" sz="1400" i="1" dirty="0"/>
              <a:t>, for God is love. In this the love of God was manifested toward us, that God has sent His only begotten Son into the world, that we might live through Him. In this is love, not that we loved God, but that He loved us and sent His Son to be the propitiation for our sins. Beloved, if God so loved us, we also ought to love one another. No one has seen God at any time. If we love one another, God abides in us, and His love has been perfected in us. </a:t>
            </a:r>
          </a:p>
          <a:p>
            <a:endParaRPr lang="en-US" sz="1400" dirty="0"/>
          </a:p>
          <a:p>
            <a:r>
              <a:rPr lang="en-US" sz="1400" b="1" dirty="0"/>
              <a:t> 5. The Witness of the Holy Spirit:   </a:t>
            </a:r>
          </a:p>
          <a:p>
            <a:r>
              <a:rPr lang="en-US" sz="1400" dirty="0"/>
              <a:t> Under the new covenant, God’s Spirit dwells within believers:  </a:t>
            </a:r>
          </a:p>
          <a:p>
            <a:pPr lvl="1"/>
            <a:r>
              <a:rPr lang="en-US" sz="1400" b="1" dirty="0"/>
              <a:t>Romans 8:12-17 : </a:t>
            </a:r>
            <a:r>
              <a:rPr lang="en-US" sz="1400" i="1" dirty="0"/>
              <a:t>Therefore, brethren, we are debtors—not to the flesh, to live according to the flesh. For if you live according to the flesh you will die; but if by the Spirit you put to death the deeds of the body, you will live. </a:t>
            </a:r>
            <a:r>
              <a:rPr lang="en-US" sz="1400" b="1" i="1" u="sng" dirty="0"/>
              <a:t>For as many as are led by the Spirit of God, these are sons of God</a:t>
            </a:r>
            <a:r>
              <a:rPr lang="en-US" sz="1400" i="1" dirty="0"/>
              <a:t>. For you did not receive the spirit of bondage again to fear, but you received the Spirit of adoption by whom we cry out, "Abba, Father." </a:t>
            </a:r>
            <a:r>
              <a:rPr lang="en-US" sz="1400" b="1" i="1" u="sng" dirty="0"/>
              <a:t>The Spirit Himself bears witness with our spirit that we are children of God</a:t>
            </a:r>
            <a:r>
              <a:rPr lang="en-US" sz="1400" i="1" dirty="0"/>
              <a:t>, and if children, then heirs—heirs of God and joint heirs with Christ, if indeed we suffer with Him, that we may also be glorified together. </a:t>
            </a:r>
          </a:p>
          <a:p>
            <a:endParaRPr lang="en-US" sz="1400" dirty="0"/>
          </a:p>
        </p:txBody>
      </p:sp>
      <p:sp>
        <p:nvSpPr>
          <p:cNvPr id="4" name="Slide Number Placeholder 3">
            <a:extLst>
              <a:ext uri="{FF2B5EF4-FFF2-40B4-BE49-F238E27FC236}">
                <a16:creationId xmlns:a16="http://schemas.microsoft.com/office/drawing/2014/main" id="{055C45F5-66E6-D59F-FDF6-AB351AA559D5}"/>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443633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4826E-3D54-D155-2F1B-C5B9C08B2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1EDE2-7532-5C86-C012-FEF9434CBB70}"/>
              </a:ext>
            </a:extLst>
          </p:cNvPr>
          <p:cNvSpPr txBox="1">
            <a:spLocks/>
          </p:cNvSpPr>
          <p:nvPr/>
        </p:nvSpPr>
        <p:spPr bwMode="auto">
          <a:xfrm>
            <a:off x="457200" y="228600"/>
            <a:ext cx="8229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55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Shepherding the Church of God</a:t>
            </a:r>
          </a:p>
          <a:p>
            <a:endParaRPr lang="en-US" sz="2800" dirty="0">
              <a:solidFill>
                <a:schemeClr val="tx2">
                  <a:lumMod val="60000"/>
                  <a:lumOff val="40000"/>
                </a:schemeClr>
              </a:solidFill>
            </a:endParaRPr>
          </a:p>
          <a:p>
            <a:endParaRPr lang="en-US" sz="2400" dirty="0">
              <a:solidFill>
                <a:schemeClr val="tx2">
                  <a:lumMod val="60000"/>
                  <a:lumOff val="40000"/>
                </a:schemeClr>
              </a:solidFill>
            </a:endParaRPr>
          </a:p>
          <a:p>
            <a:r>
              <a:rPr lang="en-US" dirty="0"/>
              <a:t>Acts 20:26-32  </a:t>
            </a:r>
            <a:r>
              <a:rPr lang="en-US" b="0" dirty="0"/>
              <a:t>Therefore I declare to you today that I am innocent of the blood of you all.  (27)  For I did not hold back from announcing to you the whole purpose of God.  (28)  Watch out for yourselves and for all the flock of which the Holy Spirit has made you overseers, to shepherd the church of God that he obtained with the blood of his own Son.  (29)  I know that after I am gone fierce wolves will come in among you, not sparing the flock.  (30)  Even from among your own group men will arise, teaching perversions of the truth to draw the disciples away after them.  (31)  Therefore, be alert, remembering that night and day for three years I did not stop warning each one of you with tears.  (32)  And now I entrust you to God and to the message of his grace. This message is able to build you up and give you an inheritance among all those who are sanctified.</a:t>
            </a:r>
          </a:p>
          <a:p>
            <a:endParaRPr lang="en-US" b="0" dirty="0"/>
          </a:p>
          <a:p>
            <a:r>
              <a:rPr lang="en-US" sz="2000" dirty="0">
                <a:solidFill>
                  <a:schemeClr val="tx2">
                    <a:lumMod val="60000"/>
                    <a:lumOff val="40000"/>
                  </a:schemeClr>
                </a:solidFill>
                <a:hlinkClick r:id="rId3"/>
              </a:rPr>
              <a:t>Phil@UsefulEngines.com</a:t>
            </a:r>
            <a:endParaRPr lang="en-US" sz="2000" dirty="0">
              <a:solidFill>
                <a:schemeClr val="tx2">
                  <a:lumMod val="60000"/>
                  <a:lumOff val="40000"/>
                </a:schemeClr>
              </a:solidFill>
            </a:endParaRPr>
          </a:p>
          <a:p>
            <a:endParaRPr lang="en-US" sz="2000" dirty="0">
              <a:solidFill>
                <a:schemeClr val="tx2">
                  <a:lumMod val="60000"/>
                  <a:lumOff val="40000"/>
                </a:schemeClr>
              </a:solidFill>
            </a:endParaRPr>
          </a:p>
          <a:p>
            <a:r>
              <a:rPr lang="en-US" sz="2000" dirty="0">
                <a:solidFill>
                  <a:schemeClr val="tx2">
                    <a:lumMod val="60000"/>
                    <a:lumOff val="40000"/>
                  </a:schemeClr>
                </a:solidFill>
              </a:rPr>
              <a:t>https://tinyurl.com/GodOfPromises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3292055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CB79-AE28-5E30-6F76-D4799940D93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640AEB9-14C7-987E-E884-9B7BD0418348}"/>
              </a:ext>
            </a:extLst>
          </p:cNvPr>
          <p:cNvSpPr>
            <a:spLocks noGrp="1"/>
          </p:cNvSpPr>
          <p:nvPr>
            <p:ph type="title"/>
          </p:nvPr>
        </p:nvSpPr>
        <p:spPr>
          <a:xfrm>
            <a:off x="228600" y="1"/>
            <a:ext cx="8686800" cy="533400"/>
          </a:xfrm>
        </p:spPr>
        <p:txBody>
          <a:bodyPr>
            <a:normAutofit fontScale="90000"/>
          </a:bodyPr>
          <a:lstStyle/>
          <a:p>
            <a:pPr algn="l"/>
            <a:r>
              <a:rPr lang="en-US" dirty="0"/>
              <a:t>Elders are Appointed by the Holy Spirit</a:t>
            </a:r>
            <a:endParaRPr lang="en-US" sz="2400" dirty="0">
              <a:solidFill>
                <a:schemeClr val="tx2">
                  <a:lumMod val="60000"/>
                  <a:lumOff val="40000"/>
                </a:schemeClr>
              </a:solidFill>
            </a:endParaRPr>
          </a:p>
        </p:txBody>
      </p:sp>
      <p:sp>
        <p:nvSpPr>
          <p:cNvPr id="5" name="TextBox 4">
            <a:extLst>
              <a:ext uri="{FF2B5EF4-FFF2-40B4-BE49-F238E27FC236}">
                <a16:creationId xmlns:a16="http://schemas.microsoft.com/office/drawing/2014/main" id="{D3A3DBCB-C7DD-EB3E-C0D7-76011087C478}"/>
              </a:ext>
            </a:extLst>
          </p:cNvPr>
          <p:cNvSpPr txBox="1"/>
          <p:nvPr/>
        </p:nvSpPr>
        <p:spPr>
          <a:xfrm>
            <a:off x="219364" y="609600"/>
            <a:ext cx="8686800" cy="2031325"/>
          </a:xfrm>
          <a:prstGeom prst="rect">
            <a:avLst/>
          </a:prstGeom>
          <a:noFill/>
        </p:spPr>
        <p:txBody>
          <a:bodyPr wrap="square" rtlCol="0">
            <a:spAutoFit/>
          </a:bodyPr>
          <a:lstStyle/>
          <a:p>
            <a:r>
              <a:rPr lang="en-US" i="1" dirty="0"/>
              <a:t>“Be on guard for yourselves and for all the flock, among which the Holy Spirit has made you overseers, to shepherd the church of God which He purchased with His own blood.” (Acts 20:28, NASB 1995)</a:t>
            </a:r>
          </a:p>
          <a:p>
            <a:endParaRPr lang="en-US" i="1" dirty="0"/>
          </a:p>
          <a:p>
            <a:r>
              <a:rPr lang="en-US" i="1" dirty="0"/>
              <a:t>“Obey your leaders and submit to them, for they keep watch over your souls as those who will give an account. Let them do this with joy and not with grief, for this would be unprofitable for you.” (Hebrews 13:17, NASB 1995)</a:t>
            </a:r>
          </a:p>
        </p:txBody>
      </p:sp>
      <p:sp>
        <p:nvSpPr>
          <p:cNvPr id="2" name="TextBox 1">
            <a:extLst>
              <a:ext uri="{FF2B5EF4-FFF2-40B4-BE49-F238E27FC236}">
                <a16:creationId xmlns:a16="http://schemas.microsoft.com/office/drawing/2014/main" id="{8DB84AB0-4CC8-8065-C4CA-599502E582C9}"/>
              </a:ext>
            </a:extLst>
          </p:cNvPr>
          <p:cNvSpPr txBox="1"/>
          <p:nvPr/>
        </p:nvSpPr>
        <p:spPr>
          <a:xfrm>
            <a:off x="219364" y="2769966"/>
            <a:ext cx="8686800" cy="2308324"/>
          </a:xfrm>
          <a:prstGeom prst="rect">
            <a:avLst/>
          </a:prstGeom>
          <a:noFill/>
        </p:spPr>
        <p:txBody>
          <a:bodyPr wrap="square" rtlCol="0">
            <a:spAutoFit/>
          </a:bodyPr>
          <a:lstStyle/>
          <a:p>
            <a:r>
              <a:rPr lang="en-US" b="1" dirty="0"/>
              <a:t>Key Points</a:t>
            </a:r>
            <a:endParaRPr lang="en-US" dirty="0"/>
          </a:p>
          <a:p>
            <a:r>
              <a:rPr lang="en-US" dirty="0"/>
              <a:t>Eldership is not a human election or popularity role; it’s a divine appointment to guard the flock. </a:t>
            </a:r>
          </a:p>
          <a:p>
            <a:pPr marL="285750" indent="-285750">
              <a:buFont typeface="Arial" panose="020B0604020202020204" pitchFamily="34" charset="0"/>
              <a:buChar char="•"/>
            </a:pPr>
            <a:r>
              <a:rPr lang="en-US" dirty="0"/>
              <a:t>The Holy Spirit makes elders overseers, implying divine trust and accountability.</a:t>
            </a:r>
          </a:p>
          <a:p>
            <a:pPr marL="285750" indent="-285750">
              <a:buFont typeface="Arial" panose="020B0604020202020204" pitchFamily="34" charset="0"/>
              <a:buChar char="•"/>
            </a:pPr>
            <a:r>
              <a:rPr lang="en-US" dirty="0"/>
              <a:t>They shepherd what Christ purchased with His own blood; the highest stewardship imaginable.</a:t>
            </a:r>
          </a:p>
          <a:p>
            <a:pPr marL="285750" indent="-285750">
              <a:buFont typeface="Arial" panose="020B0604020202020204" pitchFamily="34" charset="0"/>
              <a:buChar char="•"/>
            </a:pPr>
            <a:r>
              <a:rPr lang="en-US" dirty="0"/>
              <a:t>The congregation’s duty is to </a:t>
            </a:r>
            <a:r>
              <a:rPr lang="en-US" i="1" dirty="0"/>
              <a:t>obey and submit</a:t>
            </a:r>
            <a:r>
              <a:rPr lang="en-US" dirty="0"/>
              <a:t> to elders who lead biblically (Heb. 13:17).</a:t>
            </a:r>
            <a:endParaRPr lang="en-US" sz="1400" i="1" dirty="0"/>
          </a:p>
        </p:txBody>
      </p:sp>
      <p:sp>
        <p:nvSpPr>
          <p:cNvPr id="6" name="TextBox 5">
            <a:extLst>
              <a:ext uri="{FF2B5EF4-FFF2-40B4-BE49-F238E27FC236}">
                <a16:creationId xmlns:a16="http://schemas.microsoft.com/office/drawing/2014/main" id="{80800283-63A7-C0A8-4E29-DFAB807BF33C}"/>
              </a:ext>
            </a:extLst>
          </p:cNvPr>
          <p:cNvSpPr txBox="1"/>
          <p:nvPr/>
        </p:nvSpPr>
        <p:spPr>
          <a:xfrm>
            <a:off x="219364" y="5207331"/>
            <a:ext cx="8686800" cy="1477328"/>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How does recognizing the Spirit’s role in appointing elders change how we view their authority?</a:t>
            </a:r>
          </a:p>
          <a:p>
            <a:pPr marL="285750" indent="-285750" fontAlgn="ctr">
              <a:buFont typeface="Arial" panose="020B0604020202020204" pitchFamily="34" charset="0"/>
              <a:buChar char="•"/>
            </a:pPr>
            <a:r>
              <a:rPr lang="en-US" dirty="0"/>
              <a:t>What does it mean to “submit” when we disagree with decisions that are not sinful but uncomfortable?</a:t>
            </a:r>
          </a:p>
        </p:txBody>
      </p:sp>
    </p:spTree>
    <p:extLst>
      <p:ext uri="{BB962C8B-B14F-4D97-AF65-F5344CB8AC3E}">
        <p14:creationId xmlns:p14="http://schemas.microsoft.com/office/powerpoint/2010/main" val="144774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4011-59B8-479D-649C-FC0B43A5A49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190CF27-088A-6CAF-8EAC-20530FABD5C6}"/>
              </a:ext>
            </a:extLst>
          </p:cNvPr>
          <p:cNvSpPr>
            <a:spLocks noGrp="1"/>
          </p:cNvSpPr>
          <p:nvPr>
            <p:ph type="title"/>
          </p:nvPr>
        </p:nvSpPr>
        <p:spPr>
          <a:xfrm>
            <a:off x="228600" y="1"/>
            <a:ext cx="8686800" cy="533400"/>
          </a:xfrm>
        </p:spPr>
        <p:txBody>
          <a:bodyPr>
            <a:normAutofit fontScale="90000"/>
          </a:bodyPr>
          <a:lstStyle/>
          <a:p>
            <a:pPr lvl="0"/>
            <a:r>
              <a:rPr lang="en-US" dirty="0"/>
              <a:t>Ministers Must Submit to Elders</a:t>
            </a:r>
          </a:p>
        </p:txBody>
      </p:sp>
      <p:sp>
        <p:nvSpPr>
          <p:cNvPr id="5" name="TextBox 4">
            <a:extLst>
              <a:ext uri="{FF2B5EF4-FFF2-40B4-BE49-F238E27FC236}">
                <a16:creationId xmlns:a16="http://schemas.microsoft.com/office/drawing/2014/main" id="{9A723089-51E2-A6EB-7AED-8083FE3BA470}"/>
              </a:ext>
            </a:extLst>
          </p:cNvPr>
          <p:cNvSpPr txBox="1"/>
          <p:nvPr/>
        </p:nvSpPr>
        <p:spPr>
          <a:xfrm>
            <a:off x="228600" y="1143000"/>
            <a:ext cx="8686800" cy="646331"/>
          </a:xfrm>
          <a:prstGeom prst="rect">
            <a:avLst/>
          </a:prstGeom>
          <a:noFill/>
        </p:spPr>
        <p:txBody>
          <a:bodyPr wrap="square" rtlCol="0">
            <a:spAutoFit/>
          </a:bodyPr>
          <a:lstStyle/>
          <a:p>
            <a:r>
              <a:rPr lang="en-US" i="1" dirty="0"/>
              <a:t>“The elders who rule well are to be considered worthy of double honor, especially those who work hard at preaching and teaching.” (1 Timothy 5:17, NASB 1995)</a:t>
            </a:r>
          </a:p>
        </p:txBody>
      </p:sp>
      <p:sp>
        <p:nvSpPr>
          <p:cNvPr id="2" name="TextBox 1">
            <a:extLst>
              <a:ext uri="{FF2B5EF4-FFF2-40B4-BE49-F238E27FC236}">
                <a16:creationId xmlns:a16="http://schemas.microsoft.com/office/drawing/2014/main" id="{D3639CBF-6096-DFFF-2967-2BFBED0D118E}"/>
              </a:ext>
            </a:extLst>
          </p:cNvPr>
          <p:cNvSpPr txBox="1"/>
          <p:nvPr/>
        </p:nvSpPr>
        <p:spPr>
          <a:xfrm>
            <a:off x="251691" y="2057400"/>
            <a:ext cx="8686800" cy="2308324"/>
          </a:xfrm>
          <a:prstGeom prst="rect">
            <a:avLst/>
          </a:prstGeom>
          <a:noFill/>
        </p:spPr>
        <p:txBody>
          <a:bodyPr wrap="square" rtlCol="0">
            <a:spAutoFit/>
          </a:bodyPr>
          <a:lstStyle/>
          <a:p>
            <a:r>
              <a:rPr lang="en-US" b="1" dirty="0"/>
              <a:t>Key Points</a:t>
            </a:r>
            <a:endParaRPr lang="en-US" dirty="0"/>
          </a:p>
          <a:p>
            <a:r>
              <a:rPr lang="en-US" dirty="0"/>
              <a:t>A preacher serves under the oversight of elders, not above them. </a:t>
            </a:r>
          </a:p>
          <a:p>
            <a:pPr marL="285750" indent="-285750" fontAlgn="ctr">
              <a:buFont typeface="Arial" panose="020B0604020202020204" pitchFamily="34" charset="0"/>
              <a:buChar char="•"/>
            </a:pPr>
            <a:r>
              <a:rPr lang="en-US" dirty="0"/>
              <a:t>“The elders who rule well” implies they </a:t>
            </a:r>
            <a:r>
              <a:rPr lang="en-US" i="1" dirty="0"/>
              <a:t>lead diligently</a:t>
            </a:r>
            <a:r>
              <a:rPr lang="en-US" dirty="0"/>
              <a:t>; ruling with Scripture, not personality.</a:t>
            </a:r>
          </a:p>
          <a:p>
            <a:pPr marL="285750" indent="-285750" fontAlgn="ctr">
              <a:buFont typeface="Arial" panose="020B0604020202020204" pitchFamily="34" charset="0"/>
              <a:buChar char="•"/>
            </a:pPr>
            <a:r>
              <a:rPr lang="en-US" dirty="0"/>
              <a:t>Ministers labor “especially in preaching and teaching” under the same accountability.</a:t>
            </a:r>
          </a:p>
          <a:p>
            <a:pPr marL="285750" indent="-285750" fontAlgn="ctr">
              <a:buFont typeface="Arial" panose="020B0604020202020204" pitchFamily="34" charset="0"/>
              <a:buChar char="•"/>
            </a:pPr>
            <a:r>
              <a:rPr lang="en-US" dirty="0"/>
              <a:t>The New Testament pattern shows evangelists like Timothy and Titus working </a:t>
            </a:r>
            <a:r>
              <a:rPr lang="en-US" i="1" dirty="0"/>
              <a:t>with</a:t>
            </a:r>
            <a:r>
              <a:rPr lang="en-US" dirty="0"/>
              <a:t> elders, not over them.</a:t>
            </a:r>
          </a:p>
        </p:txBody>
      </p:sp>
      <p:sp>
        <p:nvSpPr>
          <p:cNvPr id="3" name="TextBox 2">
            <a:extLst>
              <a:ext uri="{FF2B5EF4-FFF2-40B4-BE49-F238E27FC236}">
                <a16:creationId xmlns:a16="http://schemas.microsoft.com/office/drawing/2014/main" id="{DE3A00F8-8F04-83C3-7623-C9134C854126}"/>
              </a:ext>
            </a:extLst>
          </p:cNvPr>
          <p:cNvSpPr txBox="1"/>
          <p:nvPr/>
        </p:nvSpPr>
        <p:spPr>
          <a:xfrm>
            <a:off x="221673" y="4495800"/>
            <a:ext cx="8686800" cy="1200329"/>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Why is it important for preachers and elders to model submission and cooperation?</a:t>
            </a:r>
          </a:p>
          <a:p>
            <a:pPr marL="285750" indent="-285750" fontAlgn="ctr">
              <a:buFont typeface="Arial" panose="020B0604020202020204" pitchFamily="34" charset="0"/>
              <a:buChar char="•"/>
            </a:pPr>
            <a:r>
              <a:rPr lang="en-US" dirty="0"/>
              <a:t>What happens when a minister resists oversight?</a:t>
            </a:r>
          </a:p>
        </p:txBody>
      </p:sp>
    </p:spTree>
    <p:extLst>
      <p:ext uri="{BB962C8B-B14F-4D97-AF65-F5344CB8AC3E}">
        <p14:creationId xmlns:p14="http://schemas.microsoft.com/office/powerpoint/2010/main" val="393791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190EE-FBEC-B5B6-B1D9-BEF2134A11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F7EB02C-D5F9-DA30-ABEF-DAE42C166E7D}"/>
              </a:ext>
            </a:extLst>
          </p:cNvPr>
          <p:cNvSpPr>
            <a:spLocks noGrp="1"/>
          </p:cNvSpPr>
          <p:nvPr>
            <p:ph type="title"/>
          </p:nvPr>
        </p:nvSpPr>
        <p:spPr>
          <a:xfrm>
            <a:off x="228600" y="1"/>
            <a:ext cx="8686800" cy="533400"/>
          </a:xfrm>
        </p:spPr>
        <p:txBody>
          <a:bodyPr>
            <a:normAutofit fontScale="90000"/>
          </a:bodyPr>
          <a:lstStyle/>
          <a:p>
            <a:pPr lvl="0"/>
            <a:r>
              <a:rPr lang="en-US" dirty="0"/>
              <a:t>The Sin of Gossip and Division</a:t>
            </a:r>
          </a:p>
        </p:txBody>
      </p:sp>
      <p:sp>
        <p:nvSpPr>
          <p:cNvPr id="5" name="TextBox 4">
            <a:extLst>
              <a:ext uri="{FF2B5EF4-FFF2-40B4-BE49-F238E27FC236}">
                <a16:creationId xmlns:a16="http://schemas.microsoft.com/office/drawing/2014/main" id="{08EDB909-8EAB-D619-B09E-B48D41939C4C}"/>
              </a:ext>
            </a:extLst>
          </p:cNvPr>
          <p:cNvSpPr txBox="1"/>
          <p:nvPr/>
        </p:nvSpPr>
        <p:spPr>
          <a:xfrm>
            <a:off x="214745" y="685800"/>
            <a:ext cx="8686800" cy="2308324"/>
          </a:xfrm>
          <a:prstGeom prst="rect">
            <a:avLst/>
          </a:prstGeom>
          <a:noFill/>
        </p:spPr>
        <p:txBody>
          <a:bodyPr wrap="square" rtlCol="0">
            <a:spAutoFit/>
          </a:bodyPr>
          <a:lstStyle/>
          <a:p>
            <a:r>
              <a:rPr lang="en-US" i="1" dirty="0"/>
              <a:t>“For there must also be factions among you, so that those who are approved may become evident among you.” (1 Corinthians 11:19, NASB 1995)</a:t>
            </a:r>
          </a:p>
          <a:p>
            <a:endParaRPr lang="en-US" i="1" dirty="0"/>
          </a:p>
          <a:p>
            <a:r>
              <a:rPr lang="en-US" i="1" dirty="0"/>
              <a:t>“A perverse person spreads strife, and a slanderer separates close friends.” (Proverbs 16:28, NASB 1995)</a:t>
            </a:r>
          </a:p>
          <a:p>
            <a:endParaRPr lang="en-US" i="1" dirty="0"/>
          </a:p>
          <a:p>
            <a:r>
              <a:rPr lang="en-US" i="1" dirty="0"/>
              <a:t>“Reject a factious man after a first and second warning, knowing that such a man is perverted and is sinning, being self-condemned.” (Titus 3:10–11, NASB 1995)</a:t>
            </a:r>
          </a:p>
        </p:txBody>
      </p:sp>
      <p:sp>
        <p:nvSpPr>
          <p:cNvPr id="2" name="TextBox 1">
            <a:extLst>
              <a:ext uri="{FF2B5EF4-FFF2-40B4-BE49-F238E27FC236}">
                <a16:creationId xmlns:a16="http://schemas.microsoft.com/office/drawing/2014/main" id="{1C11E7E6-E83D-29CD-AC69-566F7496C63C}"/>
              </a:ext>
            </a:extLst>
          </p:cNvPr>
          <p:cNvSpPr txBox="1"/>
          <p:nvPr/>
        </p:nvSpPr>
        <p:spPr>
          <a:xfrm>
            <a:off x="214745" y="3196798"/>
            <a:ext cx="8686800" cy="1477328"/>
          </a:xfrm>
          <a:prstGeom prst="rect">
            <a:avLst/>
          </a:prstGeom>
          <a:noFill/>
        </p:spPr>
        <p:txBody>
          <a:bodyPr wrap="square" rtlCol="0">
            <a:spAutoFit/>
          </a:bodyPr>
          <a:lstStyle/>
          <a:p>
            <a:r>
              <a:rPr lang="en-US" b="1" dirty="0"/>
              <a:t>Key Points</a:t>
            </a:r>
            <a:endParaRPr lang="en-US" dirty="0"/>
          </a:p>
          <a:p>
            <a:r>
              <a:rPr lang="en-US" dirty="0"/>
              <a:t>Gossip, backbiting, and factions are spiritual cancers that destroy churches. </a:t>
            </a:r>
          </a:p>
          <a:p>
            <a:pPr marL="285750" indent="-285750" fontAlgn="ctr">
              <a:buFont typeface="Arial" panose="020B0604020202020204" pitchFamily="34" charset="0"/>
              <a:buChar char="•"/>
            </a:pPr>
            <a:r>
              <a:rPr lang="en-US" dirty="0"/>
              <a:t>Factions may arise, but they reveal who is genuine (1 Cor. 11:19).</a:t>
            </a:r>
          </a:p>
          <a:p>
            <a:pPr marL="285750" indent="-285750" fontAlgn="ctr">
              <a:buFont typeface="Arial" panose="020B0604020202020204" pitchFamily="34" charset="0"/>
              <a:buChar char="•"/>
            </a:pPr>
            <a:r>
              <a:rPr lang="en-US" dirty="0"/>
              <a:t>Gossip and slander destroy trust and unity (Prov. 16:28).</a:t>
            </a:r>
          </a:p>
          <a:p>
            <a:pPr marL="285750" indent="-285750" fontAlgn="ctr">
              <a:buFont typeface="Arial" panose="020B0604020202020204" pitchFamily="34" charset="0"/>
              <a:buChar char="•"/>
            </a:pPr>
            <a:r>
              <a:rPr lang="en-US" dirty="0"/>
              <a:t>Divisive people must be warned and, if unrepentant, rejected (Titus 3:10).</a:t>
            </a:r>
          </a:p>
        </p:txBody>
      </p:sp>
      <p:sp>
        <p:nvSpPr>
          <p:cNvPr id="3" name="TextBox 2">
            <a:extLst>
              <a:ext uri="{FF2B5EF4-FFF2-40B4-BE49-F238E27FC236}">
                <a16:creationId xmlns:a16="http://schemas.microsoft.com/office/drawing/2014/main" id="{458BB21B-0F59-1ABE-D609-0B8E888DBD4C}"/>
              </a:ext>
            </a:extLst>
          </p:cNvPr>
          <p:cNvSpPr txBox="1"/>
          <p:nvPr/>
        </p:nvSpPr>
        <p:spPr>
          <a:xfrm>
            <a:off x="214745" y="4876800"/>
            <a:ext cx="8686800" cy="923330"/>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How can we lovingly correct gossip when we hear it?</a:t>
            </a:r>
          </a:p>
          <a:p>
            <a:pPr marL="285750" indent="-285750" fontAlgn="ctr">
              <a:buFont typeface="Arial" panose="020B0604020202020204" pitchFamily="34" charset="0"/>
              <a:buChar char="•"/>
            </a:pPr>
            <a:r>
              <a:rPr lang="en-US" dirty="0"/>
              <a:t>Why is silence often mistaken for kindness when it’s really enabling sin?</a:t>
            </a:r>
          </a:p>
        </p:txBody>
      </p:sp>
    </p:spTree>
    <p:extLst>
      <p:ext uri="{BB962C8B-B14F-4D97-AF65-F5344CB8AC3E}">
        <p14:creationId xmlns:p14="http://schemas.microsoft.com/office/powerpoint/2010/main" val="252296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0F5D2-2E6B-C2C4-BE50-E26290E3101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439E50C-5A71-9419-1A38-6FEDC9C27EA5}"/>
              </a:ext>
            </a:extLst>
          </p:cNvPr>
          <p:cNvSpPr>
            <a:spLocks noGrp="1"/>
          </p:cNvSpPr>
          <p:nvPr>
            <p:ph type="title"/>
          </p:nvPr>
        </p:nvSpPr>
        <p:spPr>
          <a:xfrm>
            <a:off x="228600" y="1"/>
            <a:ext cx="8686800" cy="533400"/>
          </a:xfrm>
        </p:spPr>
        <p:txBody>
          <a:bodyPr>
            <a:normAutofit fontScale="90000"/>
          </a:bodyPr>
          <a:lstStyle/>
          <a:p>
            <a:pPr lvl="0"/>
            <a:r>
              <a:rPr lang="en-US" dirty="0"/>
              <a:t>Elders Must Lead Courageously</a:t>
            </a:r>
          </a:p>
        </p:txBody>
      </p:sp>
      <p:sp>
        <p:nvSpPr>
          <p:cNvPr id="5" name="TextBox 4">
            <a:extLst>
              <a:ext uri="{FF2B5EF4-FFF2-40B4-BE49-F238E27FC236}">
                <a16:creationId xmlns:a16="http://schemas.microsoft.com/office/drawing/2014/main" id="{C6565289-C869-AB81-ABF5-C01348E10895}"/>
              </a:ext>
            </a:extLst>
          </p:cNvPr>
          <p:cNvSpPr txBox="1"/>
          <p:nvPr/>
        </p:nvSpPr>
        <p:spPr>
          <a:xfrm>
            <a:off x="228600" y="1143000"/>
            <a:ext cx="8686800" cy="923330"/>
          </a:xfrm>
          <a:prstGeom prst="rect">
            <a:avLst/>
          </a:prstGeom>
          <a:noFill/>
        </p:spPr>
        <p:txBody>
          <a:bodyPr wrap="square" rtlCol="0">
            <a:spAutoFit/>
          </a:bodyPr>
          <a:lstStyle/>
          <a:p>
            <a:r>
              <a:rPr lang="en-US" i="1" dirty="0"/>
              <a:t>“For am I now seeking the favor of men, or of God? Or am I striving to please men? If I were still trying to please men, I would not be a bond-servant of Christ.” (Galatians 1:10, NASB 1995)</a:t>
            </a:r>
          </a:p>
        </p:txBody>
      </p:sp>
      <p:sp>
        <p:nvSpPr>
          <p:cNvPr id="2" name="TextBox 1">
            <a:extLst>
              <a:ext uri="{FF2B5EF4-FFF2-40B4-BE49-F238E27FC236}">
                <a16:creationId xmlns:a16="http://schemas.microsoft.com/office/drawing/2014/main" id="{2BFBC370-FD24-4417-ED0A-8DC19E11EED4}"/>
              </a:ext>
            </a:extLst>
          </p:cNvPr>
          <p:cNvSpPr txBox="1"/>
          <p:nvPr/>
        </p:nvSpPr>
        <p:spPr>
          <a:xfrm>
            <a:off x="228600" y="2289602"/>
            <a:ext cx="8686800" cy="1754326"/>
          </a:xfrm>
          <a:prstGeom prst="rect">
            <a:avLst/>
          </a:prstGeom>
          <a:noFill/>
        </p:spPr>
        <p:txBody>
          <a:bodyPr wrap="square" rtlCol="0">
            <a:spAutoFit/>
          </a:bodyPr>
          <a:lstStyle/>
          <a:p>
            <a:r>
              <a:rPr lang="en-US" b="1" dirty="0"/>
              <a:t>Key Points</a:t>
            </a:r>
            <a:endParaRPr lang="en-US" dirty="0"/>
          </a:p>
          <a:p>
            <a:r>
              <a:rPr lang="en-US" dirty="0"/>
              <a:t>Faithful shepherds must please God, not people. </a:t>
            </a:r>
          </a:p>
          <a:p>
            <a:pPr marL="285750" indent="-285750" fontAlgn="ctr">
              <a:buFont typeface="Arial" panose="020B0604020202020204" pitchFamily="34" charset="0"/>
              <a:buChar char="•"/>
            </a:pPr>
            <a:r>
              <a:rPr lang="en-US" dirty="0"/>
              <a:t>Elders face pressure to appease; but compromise kills credibility.</a:t>
            </a:r>
          </a:p>
          <a:p>
            <a:pPr marL="285750" indent="-285750" fontAlgn="ctr">
              <a:buFont typeface="Arial" panose="020B0604020202020204" pitchFamily="34" charset="0"/>
              <a:buChar char="•"/>
            </a:pPr>
            <a:r>
              <a:rPr lang="en-US" dirty="0"/>
              <a:t>Paul’s words remind us that pleasing people nullifies servanthood to Christ.</a:t>
            </a:r>
          </a:p>
          <a:p>
            <a:pPr marL="285750" indent="-285750" fontAlgn="ctr">
              <a:buFont typeface="Arial" panose="020B0604020202020204" pitchFamily="34" charset="0"/>
              <a:buChar char="•"/>
            </a:pPr>
            <a:r>
              <a:rPr lang="en-US" dirty="0"/>
              <a:t>Sometimes the flock must be pruned before it grows healthy again (cf. John 15:2).</a:t>
            </a:r>
          </a:p>
        </p:txBody>
      </p:sp>
      <p:sp>
        <p:nvSpPr>
          <p:cNvPr id="3" name="TextBox 2">
            <a:extLst>
              <a:ext uri="{FF2B5EF4-FFF2-40B4-BE49-F238E27FC236}">
                <a16:creationId xmlns:a16="http://schemas.microsoft.com/office/drawing/2014/main" id="{68C500B3-1AF6-6579-A613-4693CC64755D}"/>
              </a:ext>
            </a:extLst>
          </p:cNvPr>
          <p:cNvSpPr txBox="1"/>
          <p:nvPr/>
        </p:nvSpPr>
        <p:spPr>
          <a:xfrm>
            <a:off x="228600" y="4267200"/>
            <a:ext cx="8686800" cy="923330"/>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What does “courageous leadership” look like in conflict?</a:t>
            </a:r>
          </a:p>
          <a:p>
            <a:pPr marL="285750" indent="-285750" fontAlgn="ctr">
              <a:buFont typeface="Arial" panose="020B0604020202020204" pitchFamily="34" charset="0"/>
              <a:buChar char="•"/>
            </a:pPr>
            <a:r>
              <a:rPr lang="en-US" dirty="0"/>
              <a:t>How can elders strengthen one another to remain faithful?</a:t>
            </a:r>
          </a:p>
        </p:txBody>
      </p:sp>
    </p:spTree>
    <p:extLst>
      <p:ext uri="{BB962C8B-B14F-4D97-AF65-F5344CB8AC3E}">
        <p14:creationId xmlns:p14="http://schemas.microsoft.com/office/powerpoint/2010/main" val="261593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84F5E-B919-146F-46EB-9FB763AB081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AAF6FC1-2C3F-B2FA-1A43-FC171C7E048E}"/>
              </a:ext>
            </a:extLst>
          </p:cNvPr>
          <p:cNvSpPr>
            <a:spLocks noGrp="1"/>
          </p:cNvSpPr>
          <p:nvPr>
            <p:ph type="title"/>
          </p:nvPr>
        </p:nvSpPr>
        <p:spPr>
          <a:xfrm>
            <a:off x="228600" y="1"/>
            <a:ext cx="8686800" cy="533400"/>
          </a:xfrm>
        </p:spPr>
        <p:txBody>
          <a:bodyPr>
            <a:noAutofit/>
          </a:bodyPr>
          <a:lstStyle/>
          <a:p>
            <a:pPr lvl="0"/>
            <a:r>
              <a:rPr lang="en-US" sz="2800" dirty="0"/>
              <a:t>The Church Belongs to Christ, Not Committees</a:t>
            </a:r>
          </a:p>
        </p:txBody>
      </p:sp>
      <p:sp>
        <p:nvSpPr>
          <p:cNvPr id="5" name="TextBox 4">
            <a:extLst>
              <a:ext uri="{FF2B5EF4-FFF2-40B4-BE49-F238E27FC236}">
                <a16:creationId xmlns:a16="http://schemas.microsoft.com/office/drawing/2014/main" id="{95C27EF6-0F37-1CF9-F81F-FEA2FF4F946D}"/>
              </a:ext>
            </a:extLst>
          </p:cNvPr>
          <p:cNvSpPr txBox="1"/>
          <p:nvPr/>
        </p:nvSpPr>
        <p:spPr>
          <a:xfrm>
            <a:off x="228600" y="542637"/>
            <a:ext cx="8686800" cy="2585323"/>
          </a:xfrm>
          <a:prstGeom prst="rect">
            <a:avLst/>
          </a:prstGeom>
          <a:noFill/>
        </p:spPr>
        <p:txBody>
          <a:bodyPr wrap="square" rtlCol="0">
            <a:spAutoFit/>
          </a:bodyPr>
          <a:lstStyle/>
          <a:p>
            <a:r>
              <a:rPr lang="en-US" i="1" dirty="0"/>
              <a:t>“And He put all things in subjection under His feet, and gave Him as head over all things to the church, which is His body, the fullness of Him who fills all in all.” (Ephesians 1:22–23, NASB 1995)</a:t>
            </a:r>
          </a:p>
          <a:p>
            <a:endParaRPr lang="en-US" i="1" dirty="0"/>
          </a:p>
          <a:p>
            <a:r>
              <a:rPr lang="en-US" i="1" dirty="0"/>
              <a:t>“Therefore, I exhort the elders among you, as your fellow elder and witness of the sufferings of Christ, and a partaker also of the glory that is to be revealed, shepherd the flock of God among you, exercising oversight not under compulsion, but voluntarily, according to the will of God; and not for sordid gain, but with eagerness.” (1 Peter 5:1–2, NASB 1995)</a:t>
            </a:r>
          </a:p>
        </p:txBody>
      </p:sp>
      <p:sp>
        <p:nvSpPr>
          <p:cNvPr id="2" name="TextBox 1">
            <a:extLst>
              <a:ext uri="{FF2B5EF4-FFF2-40B4-BE49-F238E27FC236}">
                <a16:creationId xmlns:a16="http://schemas.microsoft.com/office/drawing/2014/main" id="{C88245EE-63E5-D80C-452E-21CC9E4B6595}"/>
              </a:ext>
            </a:extLst>
          </p:cNvPr>
          <p:cNvSpPr txBox="1"/>
          <p:nvPr/>
        </p:nvSpPr>
        <p:spPr>
          <a:xfrm>
            <a:off x="228600" y="3244334"/>
            <a:ext cx="8686800" cy="1477328"/>
          </a:xfrm>
          <a:prstGeom prst="rect">
            <a:avLst/>
          </a:prstGeom>
          <a:noFill/>
        </p:spPr>
        <p:txBody>
          <a:bodyPr wrap="square" rtlCol="0">
            <a:spAutoFit/>
          </a:bodyPr>
          <a:lstStyle/>
          <a:p>
            <a:r>
              <a:rPr lang="en-US" b="1" dirty="0"/>
              <a:t>Key Points</a:t>
            </a:r>
            <a:endParaRPr lang="en-US" dirty="0"/>
          </a:p>
          <a:p>
            <a:pPr fontAlgn="ctr"/>
            <a:r>
              <a:rPr lang="en-US" dirty="0"/>
              <a:t>Christ is the Head; the church functions through His order, not human systems. </a:t>
            </a:r>
          </a:p>
          <a:p>
            <a:pPr marL="285750" indent="-285750" fontAlgn="ctr">
              <a:buFont typeface="Arial" panose="020B0604020202020204" pitchFamily="34" charset="0"/>
              <a:buChar char="•"/>
            </a:pPr>
            <a:r>
              <a:rPr lang="en-US" dirty="0"/>
              <a:t>Christ rules the church through His Word and His appointed shepherds.</a:t>
            </a:r>
          </a:p>
          <a:p>
            <a:pPr marL="285750" indent="-285750" fontAlgn="ctr">
              <a:buFont typeface="Arial" panose="020B0604020202020204" pitchFamily="34" charset="0"/>
              <a:buChar char="•"/>
            </a:pPr>
            <a:r>
              <a:rPr lang="en-US" dirty="0"/>
              <a:t>Elders oversee; deacons serve; members follow.</a:t>
            </a:r>
          </a:p>
          <a:p>
            <a:pPr marL="285750" indent="-285750" fontAlgn="ctr">
              <a:buFont typeface="Arial" panose="020B0604020202020204" pitchFamily="34" charset="0"/>
              <a:buChar char="•"/>
            </a:pPr>
            <a:r>
              <a:rPr lang="en-US" dirty="0"/>
              <a:t>When committees or cliques take control, disorder and strife result.</a:t>
            </a:r>
          </a:p>
        </p:txBody>
      </p:sp>
      <p:sp>
        <p:nvSpPr>
          <p:cNvPr id="3" name="TextBox 2">
            <a:extLst>
              <a:ext uri="{FF2B5EF4-FFF2-40B4-BE49-F238E27FC236}">
                <a16:creationId xmlns:a16="http://schemas.microsoft.com/office/drawing/2014/main" id="{EF7CE988-F2AC-F05C-C16D-7FAD23EB4146}"/>
              </a:ext>
            </a:extLst>
          </p:cNvPr>
          <p:cNvSpPr txBox="1"/>
          <p:nvPr/>
        </p:nvSpPr>
        <p:spPr>
          <a:xfrm>
            <a:off x="228600" y="4838035"/>
            <a:ext cx="8686800" cy="923330"/>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What’s the difference between cooperative service and unsanctioned control?</a:t>
            </a:r>
          </a:p>
          <a:p>
            <a:pPr marL="285750" indent="-285750" fontAlgn="ctr">
              <a:buFont typeface="Arial" panose="020B0604020202020204" pitchFamily="34" charset="0"/>
              <a:buChar char="•"/>
            </a:pPr>
            <a:r>
              <a:rPr lang="en-US" dirty="0"/>
              <a:t>How can members support their elders’ oversight with joy rather than resistance?</a:t>
            </a:r>
          </a:p>
        </p:txBody>
      </p:sp>
    </p:spTree>
    <p:extLst>
      <p:ext uri="{BB962C8B-B14F-4D97-AF65-F5344CB8AC3E}">
        <p14:creationId xmlns:p14="http://schemas.microsoft.com/office/powerpoint/2010/main" val="271877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3B089-B9B8-C9CE-D51D-E258AC5431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7C347E5-B4D1-C506-5C62-BD7B3B025FAB}"/>
              </a:ext>
            </a:extLst>
          </p:cNvPr>
          <p:cNvSpPr>
            <a:spLocks noGrp="1"/>
          </p:cNvSpPr>
          <p:nvPr>
            <p:ph type="title"/>
          </p:nvPr>
        </p:nvSpPr>
        <p:spPr>
          <a:xfrm>
            <a:off x="228600" y="1"/>
            <a:ext cx="8686800" cy="576322"/>
          </a:xfrm>
        </p:spPr>
        <p:txBody>
          <a:bodyPr>
            <a:normAutofit fontScale="90000"/>
          </a:bodyPr>
          <a:lstStyle/>
          <a:p>
            <a:pPr lvl="0"/>
            <a:r>
              <a:rPr lang="en-US" dirty="0"/>
              <a:t>A Biblical Path Forward</a:t>
            </a:r>
          </a:p>
        </p:txBody>
      </p:sp>
      <p:sp>
        <p:nvSpPr>
          <p:cNvPr id="5" name="TextBox 4">
            <a:extLst>
              <a:ext uri="{FF2B5EF4-FFF2-40B4-BE49-F238E27FC236}">
                <a16:creationId xmlns:a16="http://schemas.microsoft.com/office/drawing/2014/main" id="{8A6097B2-870E-3D46-3366-9050D98B3065}"/>
              </a:ext>
            </a:extLst>
          </p:cNvPr>
          <p:cNvSpPr txBox="1"/>
          <p:nvPr/>
        </p:nvSpPr>
        <p:spPr>
          <a:xfrm>
            <a:off x="228600" y="613268"/>
            <a:ext cx="8686800" cy="2862322"/>
          </a:xfrm>
          <a:prstGeom prst="rect">
            <a:avLst/>
          </a:prstGeom>
          <a:noFill/>
        </p:spPr>
        <p:txBody>
          <a:bodyPr wrap="square" rtlCol="0">
            <a:spAutoFit/>
          </a:bodyPr>
          <a:lstStyle/>
          <a:p>
            <a:r>
              <a:rPr lang="en-US" i="1" dirty="0"/>
              <a:t>“But if any of you lacks wisdom, let him ask of God, who gives to all generously and without reproach, and it will be given to him.” (James 1:5, NASB 1995)</a:t>
            </a:r>
          </a:p>
          <a:p>
            <a:endParaRPr lang="en-US" i="1" dirty="0"/>
          </a:p>
          <a:p>
            <a:r>
              <a:rPr lang="en-US" i="1" dirty="0"/>
              <a:t>“If your brother sins, go and show him his fault in private; if he listens to you, you have won your brother.” (Matthew 18:15, NASB 1995)</a:t>
            </a:r>
          </a:p>
          <a:p>
            <a:endParaRPr lang="en-US" i="1" dirty="0"/>
          </a:p>
          <a:p>
            <a:r>
              <a:rPr lang="en-US" i="1" dirty="0"/>
              <a:t>“Therefore I, the prisoner of the Lord, implore you to walk in a manner worthy of the calling with which you have been called, with all humility and gentleness, with patience, showing tolerance for one another in love, being diligent to preserve the unity of the Spirit in the bond of peace.” (Ephesians 4:1–3, NASB 1995)</a:t>
            </a:r>
          </a:p>
        </p:txBody>
      </p:sp>
      <p:sp>
        <p:nvSpPr>
          <p:cNvPr id="2" name="TextBox 1">
            <a:extLst>
              <a:ext uri="{FF2B5EF4-FFF2-40B4-BE49-F238E27FC236}">
                <a16:creationId xmlns:a16="http://schemas.microsoft.com/office/drawing/2014/main" id="{B5F206BF-C32D-24DC-DA63-1FA1CE127962}"/>
              </a:ext>
            </a:extLst>
          </p:cNvPr>
          <p:cNvSpPr txBox="1"/>
          <p:nvPr/>
        </p:nvSpPr>
        <p:spPr>
          <a:xfrm>
            <a:off x="228600" y="3544862"/>
            <a:ext cx="8686800" cy="1477328"/>
          </a:xfrm>
          <a:prstGeom prst="rect">
            <a:avLst/>
          </a:prstGeom>
          <a:noFill/>
        </p:spPr>
        <p:txBody>
          <a:bodyPr wrap="square" rtlCol="0">
            <a:spAutoFit/>
          </a:bodyPr>
          <a:lstStyle/>
          <a:p>
            <a:r>
              <a:rPr lang="en-US" b="1" dirty="0"/>
              <a:t>Key Points</a:t>
            </a:r>
            <a:endParaRPr lang="en-US" dirty="0"/>
          </a:p>
          <a:p>
            <a:pPr fontAlgn="ctr"/>
            <a:r>
              <a:rPr lang="en-US" dirty="0"/>
              <a:t>Healing and unity come through prayer, humility, and obedience to God’s Word.</a:t>
            </a:r>
          </a:p>
          <a:p>
            <a:pPr marL="285750" indent="-285750" fontAlgn="ctr">
              <a:buFont typeface="Arial" panose="020B0604020202020204" pitchFamily="34" charset="0"/>
              <a:buChar char="•"/>
            </a:pPr>
            <a:r>
              <a:rPr lang="en-US" dirty="0"/>
              <a:t>Pray and fast for wisdom (James 1:5).</a:t>
            </a:r>
          </a:p>
          <a:p>
            <a:pPr marL="285750" indent="-285750" fontAlgn="ctr">
              <a:buFont typeface="Arial" panose="020B0604020202020204" pitchFamily="34" charset="0"/>
              <a:buChar char="•"/>
            </a:pPr>
            <a:r>
              <a:rPr lang="en-US" dirty="0"/>
              <a:t>Address sin and division directly (Matt. 18:15–17).</a:t>
            </a:r>
          </a:p>
          <a:p>
            <a:pPr marL="285750" indent="-285750" fontAlgn="ctr">
              <a:buFont typeface="Arial" panose="020B0604020202020204" pitchFamily="34" charset="0"/>
              <a:buChar char="•"/>
            </a:pPr>
            <a:r>
              <a:rPr lang="en-US" dirty="0"/>
              <a:t>Pursue unity grounded in truth and love (Eph. 4:1–6).</a:t>
            </a:r>
            <a:endParaRPr lang="en-US" i="1" dirty="0"/>
          </a:p>
        </p:txBody>
      </p:sp>
      <p:sp>
        <p:nvSpPr>
          <p:cNvPr id="3" name="TextBox 2">
            <a:extLst>
              <a:ext uri="{FF2B5EF4-FFF2-40B4-BE49-F238E27FC236}">
                <a16:creationId xmlns:a16="http://schemas.microsoft.com/office/drawing/2014/main" id="{A29A05A2-6CF7-03A7-74C6-E64DEB17E185}"/>
              </a:ext>
            </a:extLst>
          </p:cNvPr>
          <p:cNvSpPr txBox="1"/>
          <p:nvPr/>
        </p:nvSpPr>
        <p:spPr>
          <a:xfrm>
            <a:off x="251691" y="5091462"/>
            <a:ext cx="8686800" cy="923330"/>
          </a:xfrm>
          <a:prstGeom prst="rect">
            <a:avLst/>
          </a:prstGeom>
          <a:noFill/>
        </p:spPr>
        <p:txBody>
          <a:bodyPr wrap="square" rtlCol="0">
            <a:spAutoFit/>
          </a:bodyPr>
          <a:lstStyle/>
          <a:p>
            <a:r>
              <a:rPr lang="en-US" b="1" dirty="0"/>
              <a:t>Application</a:t>
            </a:r>
            <a:endParaRPr lang="en-US" dirty="0"/>
          </a:p>
          <a:p>
            <a:pPr marL="285750" indent="-285750" fontAlgn="ctr">
              <a:buFont typeface="Arial" panose="020B0604020202020204" pitchFamily="34" charset="0"/>
              <a:buChar char="•"/>
            </a:pPr>
            <a:r>
              <a:rPr lang="en-US" dirty="0"/>
              <a:t>What would reconciliation look like in this congregation?</a:t>
            </a:r>
          </a:p>
          <a:p>
            <a:pPr marL="285750" indent="-285750" fontAlgn="ctr">
              <a:buFont typeface="Arial" panose="020B0604020202020204" pitchFamily="34" charset="0"/>
              <a:buChar char="•"/>
            </a:pPr>
            <a:r>
              <a:rPr lang="en-US" dirty="0"/>
              <a:t>How can prayer and fasting renew unity?</a:t>
            </a:r>
          </a:p>
        </p:txBody>
      </p:sp>
    </p:spTree>
    <p:extLst>
      <p:ext uri="{BB962C8B-B14F-4D97-AF65-F5344CB8AC3E}">
        <p14:creationId xmlns:p14="http://schemas.microsoft.com/office/powerpoint/2010/main" val="381064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A1E6-58B3-7429-FEF1-3010A8FBD46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91699D2-D10E-3A0F-92BA-2C260B87887C}"/>
              </a:ext>
            </a:extLst>
          </p:cNvPr>
          <p:cNvSpPr>
            <a:spLocks noGrp="1"/>
          </p:cNvSpPr>
          <p:nvPr>
            <p:ph type="title"/>
          </p:nvPr>
        </p:nvSpPr>
        <p:spPr>
          <a:xfrm>
            <a:off x="228600" y="0"/>
            <a:ext cx="8686800" cy="1066799"/>
          </a:xfrm>
        </p:spPr>
        <p:txBody>
          <a:bodyPr>
            <a:normAutofit/>
          </a:bodyPr>
          <a:lstStyle/>
          <a:p>
            <a:pPr lvl="0"/>
            <a:r>
              <a:rPr lang="en-US" dirty="0"/>
              <a:t>Closing Reflection</a:t>
            </a:r>
          </a:p>
        </p:txBody>
      </p:sp>
      <p:sp>
        <p:nvSpPr>
          <p:cNvPr id="5" name="TextBox 4">
            <a:extLst>
              <a:ext uri="{FF2B5EF4-FFF2-40B4-BE49-F238E27FC236}">
                <a16:creationId xmlns:a16="http://schemas.microsoft.com/office/drawing/2014/main" id="{A7AFBFAA-506E-C618-F4D6-C3EB42456C40}"/>
              </a:ext>
            </a:extLst>
          </p:cNvPr>
          <p:cNvSpPr txBox="1"/>
          <p:nvPr/>
        </p:nvSpPr>
        <p:spPr>
          <a:xfrm>
            <a:off x="228600" y="1103744"/>
            <a:ext cx="8686800" cy="646331"/>
          </a:xfrm>
          <a:prstGeom prst="rect">
            <a:avLst/>
          </a:prstGeom>
          <a:noFill/>
        </p:spPr>
        <p:txBody>
          <a:bodyPr wrap="square" rtlCol="0">
            <a:spAutoFit/>
          </a:bodyPr>
          <a:lstStyle/>
          <a:p>
            <a:r>
              <a:rPr lang="en-US" i="1" dirty="0"/>
              <a:t>“Be on guard for yourselves and for all the flock... to shepherd the church of God which He purchased with His own blood.” (Acts 20:28, NASB 1995)</a:t>
            </a:r>
          </a:p>
        </p:txBody>
      </p:sp>
      <p:sp>
        <p:nvSpPr>
          <p:cNvPr id="2" name="TextBox 1">
            <a:extLst>
              <a:ext uri="{FF2B5EF4-FFF2-40B4-BE49-F238E27FC236}">
                <a16:creationId xmlns:a16="http://schemas.microsoft.com/office/drawing/2014/main" id="{58156489-1C58-4609-0FC9-7948A46254A6}"/>
              </a:ext>
            </a:extLst>
          </p:cNvPr>
          <p:cNvSpPr txBox="1"/>
          <p:nvPr/>
        </p:nvSpPr>
        <p:spPr>
          <a:xfrm>
            <a:off x="228600" y="1905000"/>
            <a:ext cx="8686800" cy="923330"/>
          </a:xfrm>
          <a:prstGeom prst="rect">
            <a:avLst/>
          </a:prstGeom>
          <a:noFill/>
        </p:spPr>
        <p:txBody>
          <a:bodyPr wrap="square" rtlCol="0">
            <a:spAutoFit/>
          </a:bodyPr>
          <a:lstStyle/>
          <a:p>
            <a:r>
              <a:rPr lang="en-US" b="1" dirty="0"/>
              <a:t>Key Point</a:t>
            </a:r>
            <a:endParaRPr lang="en-US" dirty="0"/>
          </a:p>
          <a:p>
            <a:r>
              <a:rPr lang="en-US" dirty="0"/>
              <a:t>Unity and leadership are sacred trusts, sealed by the blood of Christ. May God strengthen His shepherds to lead faithfully.</a:t>
            </a:r>
            <a:endParaRPr lang="en-US" i="1" dirty="0"/>
          </a:p>
        </p:txBody>
      </p:sp>
      <p:sp>
        <p:nvSpPr>
          <p:cNvPr id="3" name="TextBox 2">
            <a:extLst>
              <a:ext uri="{FF2B5EF4-FFF2-40B4-BE49-F238E27FC236}">
                <a16:creationId xmlns:a16="http://schemas.microsoft.com/office/drawing/2014/main" id="{1DCF198E-1DBE-6F22-6E12-12213C6B52E1}"/>
              </a:ext>
            </a:extLst>
          </p:cNvPr>
          <p:cNvSpPr txBox="1"/>
          <p:nvPr/>
        </p:nvSpPr>
        <p:spPr>
          <a:xfrm>
            <a:off x="228600" y="3031746"/>
            <a:ext cx="8686800" cy="1754326"/>
          </a:xfrm>
          <a:prstGeom prst="rect">
            <a:avLst/>
          </a:prstGeom>
          <a:noFill/>
        </p:spPr>
        <p:txBody>
          <a:bodyPr wrap="square" rtlCol="0">
            <a:spAutoFit/>
          </a:bodyPr>
          <a:lstStyle/>
          <a:p>
            <a:pPr fontAlgn="ctr"/>
            <a:r>
              <a:rPr lang="en-US" b="1" dirty="0"/>
              <a:t>Application</a:t>
            </a:r>
          </a:p>
          <a:p>
            <a:pPr fontAlgn="ctr"/>
            <a:r>
              <a:rPr lang="en-US" b="1" dirty="0"/>
              <a:t>Prayerful dependence</a:t>
            </a:r>
            <a:r>
              <a:rPr lang="en-US" dirty="0"/>
              <a:t> - Elders seek God’s guidance together.</a:t>
            </a:r>
          </a:p>
          <a:p>
            <a:pPr fontAlgn="ctr"/>
            <a:r>
              <a:rPr lang="en-US" b="1" dirty="0"/>
              <a:t>Loving correction</a:t>
            </a:r>
            <a:r>
              <a:rPr lang="en-US" dirty="0"/>
              <a:t> - Address divisive behavior quickly and biblically.</a:t>
            </a:r>
          </a:p>
          <a:p>
            <a:pPr fontAlgn="ctr"/>
            <a:r>
              <a:rPr lang="en-US" b="1" dirty="0"/>
              <a:t>Clear communication</a:t>
            </a:r>
            <a:r>
              <a:rPr lang="en-US" dirty="0"/>
              <a:t> - Teach the congregation what Scripture says about leadership.</a:t>
            </a:r>
          </a:p>
          <a:p>
            <a:pPr fontAlgn="ctr"/>
            <a:r>
              <a:rPr lang="en-US" b="1" dirty="0"/>
              <a:t>Restoration</a:t>
            </a:r>
            <a:r>
              <a:rPr lang="en-US" dirty="0"/>
              <a:t> - Focus on rebuilding peace and faith among those who remain.</a:t>
            </a:r>
          </a:p>
        </p:txBody>
      </p:sp>
    </p:spTree>
    <p:extLst>
      <p:ext uri="{BB962C8B-B14F-4D97-AF65-F5344CB8AC3E}">
        <p14:creationId xmlns:p14="http://schemas.microsoft.com/office/powerpoint/2010/main" val="338221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The Covenant is a gift from God</a:t>
            </a:r>
            <a:br>
              <a:rPr lang="en-US" dirty="0"/>
            </a:br>
            <a:r>
              <a:rPr lang="en-US" sz="2400" dirty="0">
                <a:solidFill>
                  <a:schemeClr val="tx2">
                    <a:lumMod val="60000"/>
                    <a:lumOff val="40000"/>
                  </a:schemeClr>
                </a:solidFill>
              </a:rPr>
              <a:t>For by grace are you saved through faith (not of yourselves)</a:t>
            </a:r>
          </a:p>
        </p:txBody>
      </p:sp>
      <p:sp>
        <p:nvSpPr>
          <p:cNvPr id="6" name="TextBox 5"/>
          <p:cNvSpPr txBox="1"/>
          <p:nvPr/>
        </p:nvSpPr>
        <p:spPr>
          <a:xfrm>
            <a:off x="456475" y="1313527"/>
            <a:ext cx="8001000" cy="1323439"/>
          </a:xfrm>
          <a:prstGeom prst="rect">
            <a:avLst/>
          </a:prstGeom>
          <a:noFill/>
        </p:spPr>
        <p:txBody>
          <a:bodyPr wrap="square" rtlCol="0">
            <a:spAutoFit/>
          </a:bodyPr>
          <a:lstStyle/>
          <a:p>
            <a:r>
              <a:rPr lang="en-US" sz="2000" dirty="0"/>
              <a:t>Even though we must believe and have faith in Jesus,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believing </a:t>
            </a:r>
            <a:r>
              <a:rPr lang="en-US" sz="2000" b="1" u="sng" dirty="0">
                <a:solidFill>
                  <a:srgbClr val="FF0000"/>
                </a:solidFill>
              </a:rPr>
              <a:t>faith</a:t>
            </a:r>
            <a:r>
              <a:rPr lang="en-US" sz="2000" b="1" dirty="0">
                <a:solidFill>
                  <a:srgbClr val="FF0000"/>
                </a:solidFill>
              </a:rPr>
              <a:t> that saves</a:t>
            </a:r>
            <a:r>
              <a:rPr lang="en-US" sz="2000" dirty="0"/>
              <a:t>.  </a:t>
            </a:r>
            <a:r>
              <a:rPr lang="en-US" sz="2000" i="1" dirty="0"/>
              <a:t>It’s only by the shed </a:t>
            </a:r>
            <a:r>
              <a:rPr lang="en-US" sz="2000" b="1" i="1" u="sng" dirty="0"/>
              <a:t>blood</a:t>
            </a:r>
            <a:r>
              <a:rPr lang="en-US" sz="2000" i="1" dirty="0"/>
              <a:t> of the Lamb of God, Jesus of Nazareth, that our sins will be forgiven.   </a:t>
            </a:r>
            <a:r>
              <a:rPr lang="en-US" sz="2000" b="1" dirty="0"/>
              <a:t>And yet, without </a:t>
            </a:r>
            <a:r>
              <a:rPr lang="en-US" sz="2000" b="1" u="sng" dirty="0"/>
              <a:t>faith</a:t>
            </a:r>
            <a:r>
              <a:rPr lang="en-US" sz="2000" b="1" dirty="0"/>
              <a:t> no man will be saved.</a:t>
            </a:r>
            <a:r>
              <a:rPr lang="en-US" sz="2000" dirty="0"/>
              <a:t>   </a:t>
            </a:r>
            <a:r>
              <a:rPr lang="en-US" sz="2000" i="1" dirty="0"/>
              <a:t>(Ephesians 2:8-9)</a:t>
            </a:r>
          </a:p>
        </p:txBody>
      </p:sp>
      <p:sp>
        <p:nvSpPr>
          <p:cNvPr id="5" name="TextBox 4"/>
          <p:cNvSpPr txBox="1"/>
          <p:nvPr/>
        </p:nvSpPr>
        <p:spPr>
          <a:xfrm>
            <a:off x="447789" y="2914511"/>
            <a:ext cx="8001000" cy="1323439"/>
          </a:xfrm>
          <a:prstGeom prst="rect">
            <a:avLst/>
          </a:prstGeom>
          <a:noFill/>
        </p:spPr>
        <p:txBody>
          <a:bodyPr wrap="square" rtlCol="0">
            <a:spAutoFit/>
          </a:bodyPr>
          <a:lstStyle/>
          <a:p>
            <a:r>
              <a:rPr lang="en-US" sz="2000" dirty="0"/>
              <a:t>Even though we must repent, that is turn from our sins,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a:t>
            </a:r>
            <a:r>
              <a:rPr lang="en-US" sz="2000" b="1" u="sng" dirty="0">
                <a:solidFill>
                  <a:srgbClr val="FF0000"/>
                </a:solidFill>
              </a:rPr>
              <a:t>repentance</a:t>
            </a:r>
            <a:r>
              <a:rPr lang="en-US" sz="2000" b="1" dirty="0">
                <a:solidFill>
                  <a:srgbClr val="FF0000"/>
                </a:solidFill>
              </a:rPr>
              <a:t> that saves us</a:t>
            </a:r>
            <a:r>
              <a:rPr lang="en-US" sz="2000" dirty="0"/>
              <a:t>.  </a:t>
            </a:r>
            <a:r>
              <a:rPr lang="en-US" sz="2000" i="1" dirty="0"/>
              <a:t>It’s only by the </a:t>
            </a:r>
            <a:r>
              <a:rPr lang="en-US" sz="2000" b="1" i="1" u="sng" dirty="0"/>
              <a:t>blood</a:t>
            </a:r>
            <a:r>
              <a:rPr lang="en-US" sz="2000" i="1" dirty="0"/>
              <a:t> of God’s only Son, shed at Golgotha, that our sins can be forgiven.   </a:t>
            </a:r>
            <a:r>
              <a:rPr lang="en-US" sz="2000" b="1" dirty="0"/>
              <a:t>And yet, if we do not </a:t>
            </a:r>
            <a:r>
              <a:rPr lang="en-US" sz="2000" b="1" u="sng" dirty="0"/>
              <a:t>repent</a:t>
            </a:r>
            <a:r>
              <a:rPr lang="en-US" sz="2000" b="1" dirty="0"/>
              <a:t>, we will perish.</a:t>
            </a:r>
            <a:r>
              <a:rPr lang="en-US" sz="2000" dirty="0"/>
              <a:t>  (Luke 13:3-5)</a:t>
            </a:r>
          </a:p>
        </p:txBody>
      </p:sp>
      <p:sp>
        <p:nvSpPr>
          <p:cNvPr id="7" name="TextBox 6"/>
          <p:cNvSpPr txBox="1"/>
          <p:nvPr/>
        </p:nvSpPr>
        <p:spPr>
          <a:xfrm>
            <a:off x="456475" y="4572000"/>
            <a:ext cx="8001000" cy="1631216"/>
          </a:xfrm>
          <a:prstGeom prst="rect">
            <a:avLst/>
          </a:prstGeom>
          <a:noFill/>
        </p:spPr>
        <p:txBody>
          <a:bodyPr wrap="square" rtlCol="0">
            <a:spAutoFit/>
          </a:bodyPr>
          <a:lstStyle/>
          <a:p>
            <a:r>
              <a:rPr lang="en-US" sz="2000" dirty="0"/>
              <a:t>Even though we are commanded to be baptized, </a:t>
            </a:r>
            <a:r>
              <a:rPr lang="en-US" sz="2000" b="1" dirty="0">
                <a:solidFill>
                  <a:srgbClr val="FF0000"/>
                </a:solidFill>
              </a:rPr>
              <a:t>it’s </a:t>
            </a:r>
            <a:r>
              <a:rPr lang="en-US" sz="2000" b="1" u="sng" dirty="0">
                <a:solidFill>
                  <a:srgbClr val="FF0000"/>
                </a:solidFill>
              </a:rPr>
              <a:t>not</a:t>
            </a:r>
            <a:r>
              <a:rPr lang="en-US" sz="2000" b="1" dirty="0">
                <a:solidFill>
                  <a:srgbClr val="FF0000"/>
                </a:solidFill>
              </a:rPr>
              <a:t> our </a:t>
            </a:r>
            <a:r>
              <a:rPr lang="en-US" sz="2000" b="1" u="sng" dirty="0">
                <a:solidFill>
                  <a:srgbClr val="FF0000"/>
                </a:solidFill>
              </a:rPr>
              <a:t>baptism</a:t>
            </a:r>
            <a:r>
              <a:rPr lang="en-US" sz="2000" b="1" dirty="0">
                <a:solidFill>
                  <a:srgbClr val="FF0000"/>
                </a:solidFill>
              </a:rPr>
              <a:t> that saves us</a:t>
            </a:r>
            <a:r>
              <a:rPr lang="en-US" sz="2000" dirty="0"/>
              <a:t>.  </a:t>
            </a:r>
            <a:r>
              <a:rPr lang="en-US" sz="2000" i="1" dirty="0"/>
              <a:t>It’s only by the </a:t>
            </a:r>
            <a:r>
              <a:rPr lang="en-US" sz="2000" b="1" i="1" u="sng" dirty="0"/>
              <a:t>blood</a:t>
            </a:r>
            <a:r>
              <a:rPr lang="en-US" sz="2000" i="1" dirty="0"/>
              <a:t> of the Messiah, who has defeated sin and death.  </a:t>
            </a:r>
            <a:r>
              <a:rPr lang="en-US" sz="2000" b="1" dirty="0"/>
              <a:t>And yet, without </a:t>
            </a:r>
            <a:r>
              <a:rPr lang="en-US" sz="2000" b="1" u="sng" dirty="0"/>
              <a:t>baptism</a:t>
            </a:r>
            <a:r>
              <a:rPr lang="en-US" sz="2000" b="1" dirty="0"/>
              <a:t> no one will ‘washed in the blood’ and enter a Covenant Relationship with God.  </a:t>
            </a:r>
            <a:r>
              <a:rPr lang="en-US" sz="2000" dirty="0"/>
              <a:t>(Mark 16:16; Acts 2:38; 1 Peter 3:21; Romans 6:1-14)</a:t>
            </a:r>
          </a:p>
        </p:txBody>
      </p:sp>
    </p:spTree>
    <p:extLst>
      <p:ext uri="{BB962C8B-B14F-4D97-AF65-F5344CB8AC3E}">
        <p14:creationId xmlns:p14="http://schemas.microsoft.com/office/powerpoint/2010/main" val="6904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CC360-DE64-FD06-00B7-46D3D1641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AD7B0-4DA2-8E35-5C1E-D128743D4FBA}"/>
              </a:ext>
            </a:extLst>
          </p:cNvPr>
          <p:cNvSpPr>
            <a:spLocks noGrp="1"/>
          </p:cNvSpPr>
          <p:nvPr>
            <p:ph type="title"/>
          </p:nvPr>
        </p:nvSpPr>
        <p:spPr>
          <a:xfrm>
            <a:off x="266700" y="0"/>
            <a:ext cx="8610600" cy="1143000"/>
          </a:xfrm>
        </p:spPr>
        <p:txBody>
          <a:bodyPr>
            <a:normAutofit fontScale="90000"/>
          </a:bodyPr>
          <a:lstStyle/>
          <a:p>
            <a:pPr algn="l"/>
            <a:r>
              <a:rPr lang="en-US" dirty="0"/>
              <a:t>The Spiritual Man – A New Creation</a:t>
            </a:r>
            <a:br>
              <a:rPr lang="en-US" dirty="0"/>
            </a:br>
            <a:r>
              <a:rPr lang="en-US" sz="2400" dirty="0">
                <a:solidFill>
                  <a:schemeClr val="tx2">
                    <a:lumMod val="60000"/>
                    <a:lumOff val="40000"/>
                  </a:schemeClr>
                </a:solidFill>
              </a:rPr>
              <a:t>1 Cor. 2:6-16; 2 Cor. 5:16-21; Galatians 5; Romans 8</a:t>
            </a:r>
          </a:p>
        </p:txBody>
      </p:sp>
      <p:sp>
        <p:nvSpPr>
          <p:cNvPr id="3" name="TextBox 2">
            <a:extLst>
              <a:ext uri="{FF2B5EF4-FFF2-40B4-BE49-F238E27FC236}">
                <a16:creationId xmlns:a16="http://schemas.microsoft.com/office/drawing/2014/main" id="{1066A093-8C2F-E758-7D37-1B61546BC782}"/>
              </a:ext>
            </a:extLst>
          </p:cNvPr>
          <p:cNvSpPr txBox="1"/>
          <p:nvPr/>
        </p:nvSpPr>
        <p:spPr>
          <a:xfrm>
            <a:off x="266700" y="2144577"/>
            <a:ext cx="8610600"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i="1" dirty="0">
                <a:latin typeface="+mn-lt"/>
              </a:rPr>
              <a:t>An Internal, Heart-Level Knowledge  </a:t>
            </a:r>
            <a:r>
              <a:rPr lang="en-US" sz="2000" i="1" dirty="0">
                <a:latin typeface="+mn-lt"/>
              </a:rPr>
              <a:t>(Jer. 31:33)</a:t>
            </a:r>
          </a:p>
          <a:p>
            <a:pPr marL="285750" indent="-285750">
              <a:lnSpc>
                <a:spcPct val="150000"/>
              </a:lnSpc>
              <a:buFont typeface="Arial" panose="020B0604020202020204" pitchFamily="34" charset="0"/>
              <a:buChar char="•"/>
            </a:pPr>
            <a:r>
              <a:rPr lang="en-US" sz="2000" b="1" i="1" dirty="0">
                <a:latin typeface="+mn-lt"/>
              </a:rPr>
              <a:t>A Covenant Relationship mediated via Jesus Christ </a:t>
            </a:r>
            <a:r>
              <a:rPr lang="en-US" sz="2000" i="1" dirty="0">
                <a:latin typeface="+mn-lt"/>
              </a:rPr>
              <a:t>(John 14:6)</a:t>
            </a:r>
          </a:p>
          <a:p>
            <a:pPr marL="285750" indent="-285750">
              <a:lnSpc>
                <a:spcPct val="150000"/>
              </a:lnSpc>
              <a:buFont typeface="Arial" panose="020B0604020202020204" pitchFamily="34" charset="0"/>
              <a:buChar char="•"/>
            </a:pPr>
            <a:r>
              <a:rPr lang="en-US" sz="2000" b="1" i="1" dirty="0">
                <a:latin typeface="+mn-lt"/>
              </a:rPr>
              <a:t>Obedience as a Sign of Knowledge; a Practical Test </a:t>
            </a:r>
            <a:r>
              <a:rPr lang="en-US" sz="2000" i="1" dirty="0">
                <a:latin typeface="+mn-lt"/>
              </a:rPr>
              <a:t>(1 John 2:3-6)</a:t>
            </a:r>
          </a:p>
          <a:p>
            <a:pPr marL="285750" indent="-285750">
              <a:lnSpc>
                <a:spcPct val="150000"/>
              </a:lnSpc>
              <a:buFont typeface="Arial" panose="020B0604020202020204" pitchFamily="34" charset="0"/>
              <a:buChar char="•"/>
            </a:pPr>
            <a:r>
              <a:rPr lang="en-US" sz="2000" b="1" i="1" dirty="0">
                <a:latin typeface="+mn-lt"/>
              </a:rPr>
              <a:t>Love as the Outflow of Knowing God; a Practical Test </a:t>
            </a:r>
            <a:r>
              <a:rPr lang="en-US" sz="2000" i="1" dirty="0">
                <a:latin typeface="+mn-lt"/>
              </a:rPr>
              <a:t>(1 John 4:7-8)</a:t>
            </a:r>
          </a:p>
          <a:p>
            <a:pPr marL="285750" indent="-285750">
              <a:lnSpc>
                <a:spcPct val="150000"/>
              </a:lnSpc>
              <a:buFont typeface="Arial" panose="020B0604020202020204" pitchFamily="34" charset="0"/>
              <a:buChar char="•"/>
            </a:pPr>
            <a:r>
              <a:rPr lang="en-US" sz="2000" b="1" i="1" dirty="0">
                <a:latin typeface="+mn-lt"/>
              </a:rPr>
              <a:t>The Witness of the Holy Spirit</a:t>
            </a:r>
            <a:r>
              <a:rPr lang="en-US" sz="2000" i="1" dirty="0">
                <a:latin typeface="+mn-lt"/>
              </a:rPr>
              <a:t> (Romans 8:12-17)</a:t>
            </a:r>
            <a:endParaRPr lang="en-US" sz="2000" dirty="0">
              <a:latin typeface="+mn-lt"/>
            </a:endParaRPr>
          </a:p>
          <a:p>
            <a:pPr marL="285750" indent="-285750">
              <a:lnSpc>
                <a:spcPct val="150000"/>
              </a:lnSpc>
              <a:buFont typeface="Arial" panose="020B0604020202020204" pitchFamily="34" charset="0"/>
              <a:buChar char="•"/>
            </a:pPr>
            <a:r>
              <a:rPr lang="en-US" sz="2000" b="1" i="1" dirty="0">
                <a:latin typeface="+mn-lt"/>
              </a:rPr>
              <a:t>The Fruit of the Spirit; a Practical Test</a:t>
            </a:r>
            <a:r>
              <a:rPr lang="en-US" sz="2000" i="1" dirty="0">
                <a:latin typeface="+mn-lt"/>
              </a:rPr>
              <a:t> (Galatians 5:22-25)</a:t>
            </a:r>
          </a:p>
          <a:p>
            <a:pPr marL="285750" indent="-285750">
              <a:lnSpc>
                <a:spcPct val="150000"/>
              </a:lnSpc>
              <a:buFont typeface="Arial" panose="020B0604020202020204" pitchFamily="34" charset="0"/>
              <a:buChar char="•"/>
            </a:pPr>
            <a:r>
              <a:rPr lang="en-US" sz="2000" b="1" i="1" dirty="0">
                <a:latin typeface="+mn-lt"/>
              </a:rPr>
              <a:t>The Mind of Christ; a World-View Test</a:t>
            </a:r>
            <a:r>
              <a:rPr lang="en-US" sz="2000" i="1" dirty="0">
                <a:latin typeface="+mn-lt"/>
              </a:rPr>
              <a:t> (1 Corinthians 2:16)</a:t>
            </a:r>
            <a:endParaRPr lang="en-US" sz="2000" b="1" i="1" dirty="0">
              <a:latin typeface="+mn-lt"/>
            </a:endParaRPr>
          </a:p>
        </p:txBody>
      </p:sp>
      <p:sp>
        <p:nvSpPr>
          <p:cNvPr id="4" name="TextBox 3">
            <a:extLst>
              <a:ext uri="{FF2B5EF4-FFF2-40B4-BE49-F238E27FC236}">
                <a16:creationId xmlns:a16="http://schemas.microsoft.com/office/drawing/2014/main" id="{6133F9C2-6CAA-E9BF-1EE5-AFA21A8EA715}"/>
              </a:ext>
            </a:extLst>
          </p:cNvPr>
          <p:cNvSpPr txBox="1"/>
          <p:nvPr/>
        </p:nvSpPr>
        <p:spPr>
          <a:xfrm>
            <a:off x="269060" y="1219200"/>
            <a:ext cx="8610600" cy="707886"/>
          </a:xfrm>
          <a:prstGeom prst="rect">
            <a:avLst/>
          </a:prstGeom>
          <a:noFill/>
        </p:spPr>
        <p:txBody>
          <a:bodyPr wrap="square" rtlCol="0">
            <a:spAutoFit/>
          </a:bodyPr>
          <a:lstStyle/>
          <a:p>
            <a:r>
              <a:rPr lang="en-US" sz="2000" b="1" i="1" dirty="0"/>
              <a:t>Therefore, if anyone is in Christ, </a:t>
            </a:r>
            <a:r>
              <a:rPr lang="en-US" sz="2000" b="1" i="1" u="sng" dirty="0"/>
              <a:t>he is a new creation</a:t>
            </a:r>
            <a:r>
              <a:rPr lang="en-US" sz="2000" b="1" i="1" dirty="0"/>
              <a:t>; old things have passed away; behold, all things have become new.   (2 Cor. 5:17)</a:t>
            </a:r>
          </a:p>
        </p:txBody>
      </p:sp>
      <p:sp>
        <p:nvSpPr>
          <p:cNvPr id="5" name="Scroll: Horizontal 4">
            <a:extLst>
              <a:ext uri="{FF2B5EF4-FFF2-40B4-BE49-F238E27FC236}">
                <a16:creationId xmlns:a16="http://schemas.microsoft.com/office/drawing/2014/main" id="{E7812585-4EC8-DC4A-D169-4A5E4323D12E}"/>
              </a:ext>
            </a:extLst>
          </p:cNvPr>
          <p:cNvSpPr/>
          <p:nvPr/>
        </p:nvSpPr>
        <p:spPr>
          <a:xfrm>
            <a:off x="264340" y="1579886"/>
            <a:ext cx="8610600" cy="5029200"/>
          </a:xfrm>
          <a:prstGeom prst="horizontalScroll">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t>How to be Right with God…</a:t>
            </a:r>
          </a:p>
          <a:p>
            <a:endParaRPr lang="en-US" sz="1600" b="1" i="1" dirty="0"/>
          </a:p>
          <a:p>
            <a:r>
              <a:rPr lang="en-US" sz="1600" b="1" i="1" dirty="0"/>
              <a:t>“</a:t>
            </a:r>
            <a:r>
              <a:rPr lang="en-US" sz="1600" b="1" i="1" u="sng" dirty="0"/>
              <a:t>If anyone says ‘I love God’ and yet hates his fellow Christian, he is a liar because the one who does not love his fellow Christian whom he has seen cannot love God whom he has not seen.</a:t>
            </a:r>
            <a:r>
              <a:rPr lang="en-US" sz="1600" b="1" i="1" dirty="0"/>
              <a:t> And the commandment we have from Him is this: that the one who loves God should love his fellow Christian too. Everyone who believes that Jesus is the Christ has been fathered by God, and everyone who loves the Father loves the child fathered by Him. </a:t>
            </a:r>
            <a:r>
              <a:rPr lang="en-US" sz="1600" b="1" i="1" u="sng" dirty="0"/>
              <a:t>By this we know that we love the children of God: whenever we love God and obey His commandments.</a:t>
            </a:r>
            <a:r>
              <a:rPr lang="en-US" sz="1600" b="1" i="1" dirty="0"/>
              <a:t> For this is the love of God: that we keep His commandments. And His commandments do not weigh us down, because everyone who has been fathered by God </a:t>
            </a:r>
            <a:r>
              <a:rPr lang="en-US" sz="1600" b="1" i="1" u="sng" dirty="0"/>
              <a:t>overcomes</a:t>
            </a:r>
            <a:r>
              <a:rPr lang="en-US" sz="1600" b="1" i="1" dirty="0"/>
              <a:t> the world.”   </a:t>
            </a:r>
          </a:p>
          <a:p>
            <a:r>
              <a:rPr lang="en-US" sz="1600" b="1" i="1" dirty="0"/>
              <a:t>1 John 4:20 – 5:4</a:t>
            </a:r>
          </a:p>
          <a:p>
            <a:endParaRPr lang="en-US" b="1" i="1" dirty="0"/>
          </a:p>
        </p:txBody>
      </p:sp>
    </p:spTree>
    <p:extLst>
      <p:ext uri="{BB962C8B-B14F-4D97-AF65-F5344CB8AC3E}">
        <p14:creationId xmlns:p14="http://schemas.microsoft.com/office/powerpoint/2010/main" val="146243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45098</TotalTime>
  <Words>3247</Words>
  <Application>Microsoft Office PowerPoint</Application>
  <PresentationFormat>On-screen Show (4:3)</PresentationFormat>
  <Paragraphs>172</Paragraphs>
  <Slides>10</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Arial Narrow</vt:lpstr>
      <vt:lpstr>Calibri</vt:lpstr>
      <vt:lpstr>PPT_Template_2010SummerSchool</vt:lpstr>
      <vt:lpstr>1_UPCRC_Powerpoint_Template_with I-Mark</vt:lpstr>
      <vt:lpstr>PowerPoint Presentation</vt:lpstr>
      <vt:lpstr>Elders are Appointed by the Holy Spirit</vt:lpstr>
      <vt:lpstr>Ministers Must Submit to Elders</vt:lpstr>
      <vt:lpstr>The Sin of Gossip and Division</vt:lpstr>
      <vt:lpstr>Elders Must Lead Courageously</vt:lpstr>
      <vt:lpstr>The Church Belongs to Christ, Not Committees</vt:lpstr>
      <vt:lpstr>A Biblical Path Forward</vt:lpstr>
      <vt:lpstr>Closing Reflection</vt:lpstr>
      <vt:lpstr>The Covenant is a gift from God For by grace are you saved through faith (not of yourselves)</vt:lpstr>
      <vt:lpstr>The Spiritual Man – A New Creation 1 Cor. 2:6-16; 2 Cor. 5:16-21; Galatians 5; Romans 8</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1549</cp:revision>
  <cp:lastPrinted>2025-10-28T15:01:17Z</cp:lastPrinted>
  <dcterms:created xsi:type="dcterms:W3CDTF">2010-06-16T02:58:04Z</dcterms:created>
  <dcterms:modified xsi:type="dcterms:W3CDTF">2025-11-05T20:10:31Z</dcterms:modified>
</cp:coreProperties>
</file>