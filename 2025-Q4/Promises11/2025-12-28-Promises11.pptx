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1"/>
  </p:notesMasterIdLst>
  <p:sldIdLst>
    <p:sldId id="395" r:id="rId3"/>
    <p:sldId id="581" r:id="rId4"/>
    <p:sldId id="583" r:id="rId5"/>
    <p:sldId id="586" r:id="rId6"/>
    <p:sldId id="588" r:id="rId7"/>
    <p:sldId id="587" r:id="rId8"/>
    <p:sldId id="589" r:id="rId9"/>
    <p:sldId id="590" r:id="rId10"/>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59" autoAdjust="0"/>
    <p:restoredTop sz="55158" autoAdjust="0"/>
  </p:normalViewPr>
  <p:slideViewPr>
    <p:cSldViewPr>
      <p:cViewPr varScale="1">
        <p:scale>
          <a:sx n="86" d="100"/>
          <a:sy n="86" d="100"/>
        </p:scale>
        <p:origin x="2280" y="9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4"/>
            <a:ext cx="3169921" cy="480060"/>
          </a:xfrm>
          <a:prstGeom prst="rect">
            <a:avLst/>
          </a:prstGeom>
        </p:spPr>
        <p:txBody>
          <a:bodyPr vert="horz" wrap="square" lIns="96579" tIns="48290" rIns="96579" bIns="48290"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143589" y="4"/>
            <a:ext cx="3169921" cy="480060"/>
          </a:xfrm>
          <a:prstGeom prst="rect">
            <a:avLst/>
          </a:prstGeom>
        </p:spPr>
        <p:txBody>
          <a:bodyPr vert="horz" wrap="square" lIns="96579" tIns="48290" rIns="96579" bIns="48290"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12/25/2025</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wrap="square" lIns="96579" tIns="48290" rIns="96579" bIns="48290"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31521" y="4560571"/>
            <a:ext cx="5852160" cy="4320540"/>
          </a:xfrm>
          <a:prstGeom prst="rect">
            <a:avLst/>
          </a:prstGeom>
        </p:spPr>
        <p:txBody>
          <a:bodyPr vert="horz" wrap="square" lIns="96579" tIns="48290" rIns="96579" bIns="4829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5" y="9119474"/>
            <a:ext cx="3169921" cy="480060"/>
          </a:xfrm>
          <a:prstGeom prst="rect">
            <a:avLst/>
          </a:prstGeom>
        </p:spPr>
        <p:txBody>
          <a:bodyPr vert="horz" wrap="square" lIns="96579" tIns="48290" rIns="96579" bIns="48290"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143589" y="9119474"/>
            <a:ext cx="3169921" cy="480060"/>
          </a:xfrm>
          <a:prstGeom prst="rect">
            <a:avLst/>
          </a:prstGeom>
        </p:spPr>
        <p:txBody>
          <a:bodyPr vert="horz" wrap="square" lIns="96579" tIns="48290" rIns="96579" bIns="48290"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a:bodyPr>
          <a:lstStyle/>
          <a:p>
            <a:r>
              <a:rPr lang="en-US" sz="1400" b="1" kern="1200" dirty="0">
                <a:solidFill>
                  <a:schemeClr val="tx1"/>
                </a:solidFill>
                <a:effectLst/>
                <a:latin typeface="+mn-lt"/>
                <a:ea typeface="ＭＳ Ｐゴシック" pitchFamily="-106" charset="-128"/>
                <a:cs typeface="ＭＳ Ｐゴシック" pitchFamily="-106" charset="-128"/>
              </a:rPr>
              <a:t>Core Theme</a:t>
            </a:r>
            <a:endParaRPr lang="en-US" sz="1400" kern="1200" dirty="0">
              <a:solidFill>
                <a:schemeClr val="tx1"/>
              </a:solidFill>
              <a:effectLst/>
              <a:latin typeface="+mn-lt"/>
              <a:ea typeface="ＭＳ Ｐゴシック" pitchFamily="-106" charset="-128"/>
              <a:cs typeface="ＭＳ Ｐゴシック" pitchFamily="-106" charset="-128"/>
            </a:endParaRP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God promises that Christ will return to judge, restore, and bring His people into eternal life in a renewed creation.</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The return of Christ is not a threat to believers.</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It is the completion of God’s plan.</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Eternal life begins now, but it is fully revealed when Jesus returns.</a:t>
            </a:r>
          </a:p>
          <a:p>
            <a:endParaRPr lang="en-US" sz="1400" dirty="0"/>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The return of Christ and the promise of eternal life cannot be separated.</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Christ returns to judge what is broken and restore what is good.</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Eternal life is the result, not an escape.</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God keeps His promises.</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Jesus will return.</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And God will dwell with His people forever, in a world made new.</a:t>
            </a:r>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3562420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5C54A-0CA2-D446-FEEE-25092C128F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6C41FF-4EF1-57E1-D01F-1A7F1106F4C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933434-B584-32FF-5D59-C65D97766B69}"/>
              </a:ext>
            </a:extLst>
          </p:cNvPr>
          <p:cNvSpPr>
            <a:spLocks noGrp="1"/>
          </p:cNvSpPr>
          <p:nvPr>
            <p:ph type="body" idx="1"/>
          </p:nvPr>
        </p:nvSpPr>
        <p:spPr/>
        <p:txBody>
          <a:bodyPr>
            <a:normAutofit/>
          </a:bodyPr>
          <a:lstStyle/>
          <a:p>
            <a:r>
              <a:rPr lang="en-US" sz="1400" b="1" kern="1200" dirty="0">
                <a:solidFill>
                  <a:schemeClr val="tx1"/>
                </a:solidFill>
                <a:effectLst/>
                <a:latin typeface="+mn-lt"/>
                <a:ea typeface="ＭＳ Ｐゴシック" pitchFamily="-106" charset="-128"/>
                <a:cs typeface="ＭＳ Ｐゴシック" pitchFamily="-106" charset="-128"/>
              </a:rPr>
              <a:t>God’s Character in Scripture</a:t>
            </a:r>
            <a:endParaRPr lang="en-US" sz="1400" kern="1200" dirty="0">
              <a:solidFill>
                <a:schemeClr val="tx1"/>
              </a:solidFill>
              <a:effectLst/>
              <a:latin typeface="+mn-lt"/>
              <a:ea typeface="ＭＳ Ｐゴシック" pitchFamily="-106" charset="-128"/>
              <a:cs typeface="ＭＳ Ｐゴシック" pitchFamily="-106" charset="-128"/>
            </a:endParaRPr>
          </a:p>
          <a:p>
            <a:endParaRPr lang="en-US" sz="1400" b="1" kern="1200" dirty="0">
              <a:solidFill>
                <a:schemeClr val="tx1"/>
              </a:solidFill>
              <a:effectLst/>
              <a:latin typeface="+mn-lt"/>
              <a:ea typeface="ＭＳ Ｐゴシック" pitchFamily="-106" charset="-128"/>
              <a:cs typeface="ＭＳ Ｐゴシック" pitchFamily="-106"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0" i="0" u="none" strike="noStrike" kern="1200" baseline="0" dirty="0">
                <a:solidFill>
                  <a:schemeClr val="tx1"/>
                </a:solidFill>
                <a:latin typeface="+mn-lt"/>
                <a:ea typeface="ＭＳ Ｐゴシック" pitchFamily="-106" charset="-128"/>
                <a:cs typeface="ＭＳ Ｐゴシック" pitchFamily="-106" charset="-128"/>
              </a:rPr>
              <a:t>Act 1:6-11  Therefore, when they had come together, they asked Him, saying, "Lord, will You at this time restore the kingdom to Israel?"  (7)  And He said to them, "It is not for you to know times or seasons which the Father has put in His own authority.  (8)  But you shall receive power when the Holy Spirit has come upon you; and you shall be witnesses to Me in Jerusalem, and in all Judea and Samaria, and to the end of the earth."  (9)  Now when He had spoken these things, while they watched, He was taken up, and a cloud received Him out of their sight.  (10)  And while they looked steadfastly toward heaven as He went up, behold, two men stood by them in white apparel,  (11)  who also said, "Men of Galilee, why do you stand gazing up into heaven? This </a:t>
            </a:r>
            <a:r>
              <a:rPr lang="en-US" sz="1400" b="0" i="1" u="none" strike="noStrike" kern="1200" baseline="0" dirty="0">
                <a:solidFill>
                  <a:schemeClr val="tx1"/>
                </a:solidFill>
                <a:latin typeface="+mn-lt"/>
                <a:ea typeface="ＭＳ Ｐゴシック" pitchFamily="-106" charset="-128"/>
                <a:cs typeface="ＭＳ Ｐゴシック" pitchFamily="-106" charset="-128"/>
              </a:rPr>
              <a:t>same</a:t>
            </a:r>
            <a:r>
              <a:rPr lang="en-US" sz="1400" b="0" i="0" u="none" strike="noStrike" kern="1200" baseline="0" dirty="0">
                <a:solidFill>
                  <a:schemeClr val="tx1"/>
                </a:solidFill>
                <a:latin typeface="+mn-lt"/>
                <a:ea typeface="ＭＳ Ｐゴシック" pitchFamily="-106" charset="-128"/>
                <a:cs typeface="ＭＳ Ｐゴシック" pitchFamily="-106" charset="-128"/>
              </a:rPr>
              <a:t> Jesus, who was taken up from you into heaven, will so come in like manner as you saw Him go into heaven."</a:t>
            </a:r>
          </a:p>
          <a:p>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0" i="0" u="none" strike="noStrike" kern="1200" baseline="0" dirty="0">
                <a:solidFill>
                  <a:schemeClr val="tx1"/>
                </a:solidFill>
                <a:latin typeface="+mn-lt"/>
                <a:ea typeface="ＭＳ Ｐゴシック" pitchFamily="-106" charset="-128"/>
                <a:cs typeface="ＭＳ Ｐゴシック" pitchFamily="-106" charset="-128"/>
              </a:rPr>
              <a:t>1Th 4:13-18  But I do not want you to be ignorant, brethren, concerning those who have fallen asleep, lest you sorrow as others who have no hope.  (14)  For if we believe that Jesus died and rose again, even so God will bring with Him those who sleep in Jesus.  (15)  For this we say to you by the word of the Lord, that we who are alive </a:t>
            </a:r>
            <a:r>
              <a:rPr lang="en-US" sz="1400" b="0" i="1" u="none" strike="noStrike" kern="1200" baseline="0" dirty="0">
                <a:solidFill>
                  <a:schemeClr val="tx1"/>
                </a:solidFill>
                <a:latin typeface="+mn-lt"/>
                <a:ea typeface="ＭＳ Ｐゴシック" pitchFamily="-106" charset="-128"/>
                <a:cs typeface="ＭＳ Ｐゴシック" pitchFamily="-106" charset="-128"/>
              </a:rPr>
              <a:t>and</a:t>
            </a:r>
            <a:r>
              <a:rPr lang="en-US" sz="1400" b="0" i="0" u="none" strike="noStrike" kern="1200" baseline="0" dirty="0">
                <a:solidFill>
                  <a:schemeClr val="tx1"/>
                </a:solidFill>
                <a:latin typeface="+mn-lt"/>
                <a:ea typeface="ＭＳ Ｐゴシック" pitchFamily="-106" charset="-128"/>
                <a:cs typeface="ＭＳ Ｐゴシック" pitchFamily="-106" charset="-128"/>
              </a:rPr>
              <a:t> remain until the coming of the Lord will by no means precede those who are asleep.  (16)  For the Lord Himself will descend from heaven with a shout, with the voice of an archangel, and with the trumpet of God. And the dead in Christ will rise first.  (17)  Then we who are alive </a:t>
            </a:r>
            <a:r>
              <a:rPr lang="en-US" sz="1400" b="0" i="1" u="none" strike="noStrike" kern="1200" baseline="0" dirty="0">
                <a:solidFill>
                  <a:schemeClr val="tx1"/>
                </a:solidFill>
                <a:latin typeface="+mn-lt"/>
                <a:ea typeface="ＭＳ Ｐゴシック" pitchFamily="-106" charset="-128"/>
                <a:cs typeface="ＭＳ Ｐゴシック" pitchFamily="-106" charset="-128"/>
              </a:rPr>
              <a:t>and</a:t>
            </a:r>
            <a:r>
              <a:rPr lang="en-US" sz="1400" b="0" i="0" u="none" strike="noStrike" kern="1200" baseline="0" dirty="0">
                <a:solidFill>
                  <a:schemeClr val="tx1"/>
                </a:solidFill>
                <a:latin typeface="+mn-lt"/>
                <a:ea typeface="ＭＳ Ｐゴシック" pitchFamily="-106" charset="-128"/>
                <a:cs typeface="ＭＳ Ｐゴシック" pitchFamily="-106" charset="-128"/>
              </a:rPr>
              <a:t> remain shall be caught up together with them in the clouds to meet the Lord in the air. And thus we shall always be with the Lord.  (18)  Therefore comfort one another with these words.</a:t>
            </a:r>
          </a:p>
          <a:p>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0" i="0" u="none" strike="noStrike" kern="1200" baseline="0" dirty="0">
                <a:solidFill>
                  <a:schemeClr val="tx1"/>
                </a:solidFill>
                <a:latin typeface="+mn-lt"/>
                <a:ea typeface="ＭＳ Ｐゴシック" pitchFamily="-106" charset="-128"/>
                <a:cs typeface="ＭＳ Ｐゴシック" pitchFamily="-106" charset="-128"/>
              </a:rPr>
              <a:t>Rev 21:1-8  Now I saw a new heaven and a new earth, for the first heaven and the first earth had passed away. Also there was no more sea.  (2)  Then I, John, saw the holy city, New Jerusalem, coming down out of heaven from God, prepared as a bride adorned for her husband.  (3)  And I heard a loud voice from heaven saying, "Behold, the tabernacle of God </a:t>
            </a:r>
            <a:r>
              <a:rPr lang="en-US" sz="1400" b="0" i="1" u="none" strike="noStrike" kern="1200" baseline="0" dirty="0">
                <a:solidFill>
                  <a:schemeClr val="tx1"/>
                </a:solidFill>
                <a:latin typeface="+mn-lt"/>
                <a:ea typeface="ＭＳ Ｐゴシック" pitchFamily="-106" charset="-128"/>
                <a:cs typeface="ＭＳ Ｐゴシック" pitchFamily="-106" charset="-128"/>
              </a:rPr>
              <a:t>is</a:t>
            </a:r>
            <a:r>
              <a:rPr lang="en-US" sz="1400" b="0" i="0" u="none" strike="noStrike" kern="1200" baseline="0" dirty="0">
                <a:solidFill>
                  <a:schemeClr val="tx1"/>
                </a:solidFill>
                <a:latin typeface="+mn-lt"/>
                <a:ea typeface="ＭＳ Ｐゴシック" pitchFamily="-106" charset="-128"/>
                <a:cs typeface="ＭＳ Ｐゴシック" pitchFamily="-106" charset="-128"/>
              </a:rPr>
              <a:t> with men, and He will dwell with them, and they shall be His people. God Himself will be with them </a:t>
            </a:r>
            <a:r>
              <a:rPr lang="en-US" sz="1400" b="0" i="1" u="none" strike="noStrike" kern="1200" baseline="0" dirty="0">
                <a:solidFill>
                  <a:schemeClr val="tx1"/>
                </a:solidFill>
                <a:latin typeface="+mn-lt"/>
                <a:ea typeface="ＭＳ Ｐゴシック" pitchFamily="-106" charset="-128"/>
                <a:cs typeface="ＭＳ Ｐゴシック" pitchFamily="-106" charset="-128"/>
              </a:rPr>
              <a:t>and be</a:t>
            </a:r>
            <a:r>
              <a:rPr lang="en-US" sz="1400" b="0" i="0" u="none" strike="noStrike" kern="1200" baseline="0" dirty="0">
                <a:solidFill>
                  <a:schemeClr val="tx1"/>
                </a:solidFill>
                <a:latin typeface="+mn-lt"/>
                <a:ea typeface="ＭＳ Ｐゴシック" pitchFamily="-106" charset="-128"/>
                <a:cs typeface="ＭＳ Ｐゴシック" pitchFamily="-106" charset="-128"/>
              </a:rPr>
              <a:t> their God.  (4)  And God will wipe away every tear from their eyes; there shall be no more death, nor sorrow, nor crying. There shall be no more pain, for the former things have passed away."  (5)  Then He who sat on the throne said, "Behold, I make all things new." And He said to me, "Write, for these words are true and faithful."  (6)  And He said to me, "It is done! I am the Alpha and the Omega, the Beginning and the End. I will give of the fountain of the water of life freely to him who thirsts.  (7)  He who overcomes shall inherit all things, and I will be his God and he shall be My son.  (8)  But the cowardly, unbelieving, abominable, murderers, sexually immoral, sorcerers, idolaters, and all liars shall have their part in the lake which burns with fire and brimstone, which is the second death."</a:t>
            </a:r>
          </a:p>
          <a:p>
            <a:endParaRPr lang="en-US" dirty="0"/>
          </a:p>
          <a:p>
            <a:r>
              <a:rPr lang="en-US" sz="1400" b="1" dirty="0"/>
              <a:t>God’s character in History – From promises made to promises fulfilled…</a:t>
            </a:r>
          </a:p>
          <a:p>
            <a:pPr marL="285750" indent="-285750">
              <a:buFont typeface="Arial" panose="020B0604020202020204" pitchFamily="34" charset="0"/>
              <a:buChar char="•"/>
            </a:pPr>
            <a:r>
              <a:rPr lang="en-US" sz="1400" dirty="0">
                <a:ea typeface="ＭＳ Ｐゴシック" pitchFamily="-106" charset="-128"/>
                <a:cs typeface="ＭＳ Ｐゴシック" pitchFamily="-106" charset="-128"/>
              </a:rPr>
              <a:t>God has never failed to keep a redemptive promise.</a:t>
            </a:r>
          </a:p>
          <a:p>
            <a:pPr marL="285750" indent="-285750">
              <a:buFont typeface="Arial" panose="020B0604020202020204" pitchFamily="34" charset="0"/>
              <a:buChar char="•"/>
            </a:pPr>
            <a:r>
              <a:rPr lang="en-US" sz="1400" dirty="0">
                <a:ea typeface="ＭＳ Ｐゴシック" pitchFamily="-106" charset="-128"/>
                <a:cs typeface="ＭＳ Ｐゴシック" pitchFamily="-106" charset="-128"/>
              </a:rPr>
              <a:t>He promised a seed to Abraham.</a:t>
            </a:r>
          </a:p>
          <a:p>
            <a:pPr marL="285750" indent="-285750">
              <a:buFont typeface="Arial" panose="020B0604020202020204" pitchFamily="34" charset="0"/>
              <a:buChar char="•"/>
            </a:pPr>
            <a:r>
              <a:rPr lang="en-US" sz="1400" dirty="0">
                <a:ea typeface="ＭＳ Ｐゴシック" pitchFamily="-106" charset="-128"/>
                <a:cs typeface="ＭＳ Ｐゴシック" pitchFamily="-106" charset="-128"/>
              </a:rPr>
              <a:t>He delivered Israel from Egypt.</a:t>
            </a:r>
          </a:p>
          <a:p>
            <a:pPr marL="285750" indent="-285750">
              <a:buFont typeface="Arial" panose="020B0604020202020204" pitchFamily="34" charset="0"/>
              <a:buChar char="•"/>
            </a:pPr>
            <a:r>
              <a:rPr lang="en-US" sz="1400" dirty="0">
                <a:ea typeface="ＭＳ Ｐゴシック" pitchFamily="-106" charset="-128"/>
                <a:cs typeface="ＭＳ Ｐゴシック" pitchFamily="-106" charset="-128"/>
              </a:rPr>
              <a:t>He sent the Messiah at the appointed time.</a:t>
            </a:r>
          </a:p>
          <a:p>
            <a:pPr marL="285750" indent="-285750">
              <a:buFont typeface="Arial" panose="020B0604020202020204" pitchFamily="34" charset="0"/>
              <a:buChar char="•"/>
            </a:pPr>
            <a:r>
              <a:rPr lang="en-US" sz="1400" u="sng" dirty="0">
                <a:ea typeface="ＭＳ Ｐゴシック" pitchFamily="-106" charset="-128"/>
                <a:cs typeface="ＭＳ Ｐゴシック" pitchFamily="-106" charset="-128"/>
              </a:rPr>
              <a:t>Christ’s return stands in that same line.</a:t>
            </a:r>
          </a:p>
          <a:p>
            <a:pPr marL="742950" lvl="1" indent="-285750">
              <a:buFont typeface="Arial" panose="020B0604020202020204" pitchFamily="34" charset="0"/>
              <a:buChar char="•"/>
            </a:pPr>
            <a:r>
              <a:rPr lang="en-US" sz="1400" dirty="0">
                <a:ea typeface="ＭＳ Ｐゴシック" pitchFamily="-106" charset="-128"/>
                <a:cs typeface="ＭＳ Ｐゴシック" pitchFamily="-106" charset="-128"/>
              </a:rPr>
              <a:t>It is not symbolic optimism.</a:t>
            </a:r>
          </a:p>
          <a:p>
            <a:pPr marL="742950" lvl="1" indent="-285750">
              <a:buFont typeface="Arial" panose="020B0604020202020204" pitchFamily="34" charset="0"/>
              <a:buChar char="•"/>
            </a:pPr>
            <a:r>
              <a:rPr lang="en-US" sz="1400" dirty="0">
                <a:ea typeface="ＭＳ Ｐゴシック" pitchFamily="-106" charset="-128"/>
                <a:cs typeface="ＭＳ Ｐゴシック" pitchFamily="-106" charset="-128"/>
              </a:rPr>
              <a:t>It is the final act of a long, faithful story.</a:t>
            </a:r>
          </a:p>
          <a:p>
            <a:pPr marL="742950" lvl="1" indent="-285750">
              <a:buFont typeface="Arial" panose="020B0604020202020204" pitchFamily="34" charset="0"/>
              <a:buChar char="•"/>
            </a:pPr>
            <a:r>
              <a:rPr lang="en-US" sz="1400" dirty="0">
                <a:ea typeface="ＭＳ Ｐゴシック" pitchFamily="-106" charset="-128"/>
                <a:cs typeface="ＭＳ Ｐゴシック" pitchFamily="-106" charset="-128"/>
              </a:rPr>
              <a:t>From Eden lost to Eden restored, history moves toward reunion.</a:t>
            </a:r>
          </a:p>
          <a:p>
            <a:pPr marL="742950" lvl="1" indent="-285750">
              <a:buFont typeface="Arial" panose="020B0604020202020204" pitchFamily="34" charset="0"/>
              <a:buChar char="•"/>
            </a:pPr>
            <a:r>
              <a:rPr lang="en-US" sz="1400" dirty="0">
                <a:ea typeface="ＭＳ Ｐゴシック" pitchFamily="-106" charset="-128"/>
                <a:cs typeface="ＭＳ Ｐゴシック" pitchFamily="-106" charset="-128"/>
              </a:rPr>
              <a:t>Judgment removes what corrupts.</a:t>
            </a:r>
          </a:p>
          <a:p>
            <a:pPr marL="742950" lvl="1" indent="-285750">
              <a:buFont typeface="Arial" panose="020B0604020202020204" pitchFamily="34" charset="0"/>
              <a:buChar char="•"/>
            </a:pPr>
            <a:r>
              <a:rPr lang="en-US" sz="1400" dirty="0">
                <a:ea typeface="ＭＳ Ｐゴシック" pitchFamily="-106" charset="-128"/>
                <a:cs typeface="ＭＳ Ｐゴシック" pitchFamily="-106" charset="-128"/>
              </a:rPr>
              <a:t>Restoration brings what endures.</a:t>
            </a:r>
            <a:r>
              <a:rPr lang="en-US" sz="1400" b="1" u="sng" dirty="0">
                <a:ea typeface="ＭＳ Ｐゴシック" pitchFamily="-106" charset="-128"/>
                <a:cs typeface="ＭＳ Ｐゴシック" pitchFamily="-106" charset="-128"/>
              </a:rPr>
              <a:t> </a:t>
            </a:r>
          </a:p>
          <a:p>
            <a:endParaRPr lang="en-US" dirty="0"/>
          </a:p>
        </p:txBody>
      </p:sp>
      <p:sp>
        <p:nvSpPr>
          <p:cNvPr id="4" name="Slide Number Placeholder 3">
            <a:extLst>
              <a:ext uri="{FF2B5EF4-FFF2-40B4-BE49-F238E27FC236}">
                <a16:creationId xmlns:a16="http://schemas.microsoft.com/office/drawing/2014/main" id="{517F07E8-A341-3E69-2E3F-81FD5E2E1368}"/>
              </a:ext>
            </a:extLst>
          </p:cNvPr>
          <p:cNvSpPr>
            <a:spLocks noGrp="1"/>
          </p:cNvSpPr>
          <p:nvPr>
            <p:ph type="sldNum" sz="quarter" idx="10"/>
          </p:nvPr>
        </p:nvSpPr>
        <p:spPr/>
        <p:txBody>
          <a:bodyPr/>
          <a:lstStyle/>
          <a:p>
            <a:pPr>
              <a:defRPr/>
            </a:pPr>
            <a:fld id="{07776858-791E-4C8D-8FA3-473B3AFECFAC}" type="slidenum">
              <a:rPr lang="en-US" smtClean="0"/>
              <a:pPr>
                <a:defRPr/>
              </a:pPr>
              <a:t>2</a:t>
            </a:fld>
            <a:endParaRPr lang="en-US" dirty="0"/>
          </a:p>
        </p:txBody>
      </p:sp>
    </p:spTree>
    <p:extLst>
      <p:ext uri="{BB962C8B-B14F-4D97-AF65-F5344CB8AC3E}">
        <p14:creationId xmlns:p14="http://schemas.microsoft.com/office/powerpoint/2010/main" val="1463107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BB813-E96D-E9A9-7B18-D8DA902D3B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D485C5-2666-6357-2148-060263A34C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327A1D2-D7E6-F017-EF41-B8DC9A93776D}"/>
              </a:ext>
            </a:extLst>
          </p:cNvPr>
          <p:cNvSpPr>
            <a:spLocks noGrp="1"/>
          </p:cNvSpPr>
          <p:nvPr>
            <p:ph type="body" idx="1"/>
          </p:nvPr>
        </p:nvSpPr>
        <p:spPr/>
        <p:txBody>
          <a:bodyPr>
            <a:normAutofit/>
          </a:bodyPr>
          <a:lstStyle/>
          <a:p>
            <a:r>
              <a:rPr lang="en-US" sz="1400" b="1" kern="1200" dirty="0">
                <a:solidFill>
                  <a:schemeClr val="tx1"/>
                </a:solidFill>
                <a:effectLst/>
                <a:latin typeface="+mn-lt"/>
                <a:ea typeface="ＭＳ Ｐゴシック" pitchFamily="-106" charset="-128"/>
                <a:cs typeface="ＭＳ Ｐゴシック" pitchFamily="-106" charset="-128"/>
              </a:rPr>
              <a:t>God’s Character Revealed in Jesus</a:t>
            </a:r>
            <a:endParaRPr lang="en-US" sz="1400" kern="1200" dirty="0">
              <a:solidFill>
                <a:schemeClr val="tx1"/>
              </a:solidFill>
              <a:effectLst/>
              <a:latin typeface="+mn-lt"/>
              <a:ea typeface="ＭＳ Ｐゴシック" pitchFamily="-106" charset="-128"/>
              <a:cs typeface="ＭＳ Ｐゴシック" pitchFamily="-106" charset="-128"/>
            </a:endParaRPr>
          </a:p>
          <a:p>
            <a:endParaRPr lang="en-US" sz="1400" b="1" kern="1200" dirty="0">
              <a:solidFill>
                <a:schemeClr val="tx1"/>
              </a:solidFill>
              <a:effectLst/>
              <a:latin typeface="+mn-lt"/>
              <a:ea typeface="ＭＳ Ｐゴシック" pitchFamily="-106" charset="-128"/>
              <a:cs typeface="ＭＳ Ｐゴシック" pitchFamily="-106"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1" i="0" u="none" strike="noStrike" kern="1200" baseline="0" dirty="0">
                <a:solidFill>
                  <a:schemeClr val="tx1"/>
                </a:solidFill>
                <a:latin typeface="+mn-lt"/>
                <a:ea typeface="ＭＳ Ｐゴシック" pitchFamily="-106" charset="-128"/>
                <a:cs typeface="ＭＳ Ｐゴシック" pitchFamily="-106" charset="-128"/>
              </a:rPr>
              <a:t>Mat 24:29-31  </a:t>
            </a:r>
            <a:r>
              <a:rPr lang="en-US" sz="1400" b="0" i="0" u="none" strike="noStrike" kern="1200" baseline="0" dirty="0">
                <a:solidFill>
                  <a:schemeClr val="tx1"/>
                </a:solidFill>
                <a:latin typeface="+mn-lt"/>
                <a:ea typeface="ＭＳ Ｐゴシック" pitchFamily="-106" charset="-128"/>
                <a:cs typeface="ＭＳ Ｐゴシック" pitchFamily="-106" charset="-128"/>
              </a:rPr>
              <a:t>"Immediately after the tribulation of those days the sun will be darkened, and the moon will not give its light; the stars will fall from heaven, and the powers of the heavens will be shaken.  (30)  Then the sign of the Son of Man will appear in heaven, and then all the tribes of the earth will mourn, and they will see the Son of Man coming on the clouds of heaven with power and great glory.  (31)  And He will send His angels with a great sound of a trumpet, and they will gather together His elect from the four winds, from one end of heaven to the other.</a:t>
            </a:r>
          </a:p>
          <a:p>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1" i="0" u="none" strike="noStrike" kern="1200" baseline="0" dirty="0">
                <a:solidFill>
                  <a:schemeClr val="tx1"/>
                </a:solidFill>
                <a:latin typeface="+mn-lt"/>
                <a:ea typeface="ＭＳ Ｐゴシック" pitchFamily="-106" charset="-128"/>
                <a:cs typeface="ＭＳ Ｐゴシック" pitchFamily="-106" charset="-128"/>
              </a:rPr>
              <a:t>Joh 17:24  </a:t>
            </a:r>
            <a:r>
              <a:rPr lang="en-US" sz="1400" b="0" i="0" u="none" strike="noStrike" kern="1200" baseline="0" dirty="0">
                <a:solidFill>
                  <a:schemeClr val="tx1"/>
                </a:solidFill>
                <a:latin typeface="+mn-lt"/>
                <a:ea typeface="ＭＳ Ｐゴシック" pitchFamily="-106" charset="-128"/>
                <a:cs typeface="ＭＳ Ｐゴシック" pitchFamily="-106" charset="-128"/>
              </a:rPr>
              <a:t>"Father, I desire that they also whom You gave Me may be with Me where I am, that they may behold My glory which You have given Me; for You loved Me before the foundation of the world.</a:t>
            </a:r>
          </a:p>
          <a:p>
            <a:endParaRPr lang="en-US" sz="14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1" i="0" u="none" strike="noStrike" kern="1200" baseline="0" dirty="0">
                <a:solidFill>
                  <a:schemeClr val="tx1"/>
                </a:solidFill>
                <a:latin typeface="+mn-lt"/>
                <a:ea typeface="ＭＳ Ｐゴシック" pitchFamily="-106" charset="-128"/>
                <a:cs typeface="ＭＳ Ｐゴシック" pitchFamily="-106" charset="-128"/>
              </a:rPr>
              <a:t>Rev 22:12  </a:t>
            </a:r>
            <a:r>
              <a:rPr lang="en-US" sz="1400" b="0" i="0" u="none" strike="noStrike" kern="1200" baseline="0" dirty="0">
                <a:solidFill>
                  <a:schemeClr val="tx1"/>
                </a:solidFill>
                <a:latin typeface="+mn-lt"/>
                <a:ea typeface="ＭＳ Ｐゴシック" pitchFamily="-106" charset="-128"/>
                <a:cs typeface="ＭＳ Ｐゴシック" pitchFamily="-106" charset="-128"/>
              </a:rPr>
              <a:t>"And behold, I am coming quickly, and My reward </a:t>
            </a:r>
            <a:r>
              <a:rPr lang="en-US" sz="1400" b="0" i="1" u="none" strike="noStrike" kern="1200" baseline="0" dirty="0">
                <a:solidFill>
                  <a:schemeClr val="tx1"/>
                </a:solidFill>
                <a:latin typeface="+mn-lt"/>
                <a:ea typeface="ＭＳ Ｐゴシック" pitchFamily="-106" charset="-128"/>
                <a:cs typeface="ＭＳ Ｐゴシック" pitchFamily="-106" charset="-128"/>
              </a:rPr>
              <a:t>is</a:t>
            </a:r>
            <a:r>
              <a:rPr lang="en-US" sz="1400" b="0" i="0" u="none" strike="noStrike" kern="1200" baseline="0" dirty="0">
                <a:solidFill>
                  <a:schemeClr val="tx1"/>
                </a:solidFill>
                <a:latin typeface="+mn-lt"/>
                <a:ea typeface="ＭＳ Ｐゴシック" pitchFamily="-106" charset="-128"/>
                <a:cs typeface="ＭＳ Ｐゴシック" pitchFamily="-106" charset="-128"/>
              </a:rPr>
              <a:t> with Me, to give to every one according to his work.</a:t>
            </a:r>
          </a:p>
          <a:p>
            <a:endParaRPr lang="en-US" sz="1400" dirty="0"/>
          </a:p>
          <a:p>
            <a:endParaRPr lang="en-US" sz="1400" dirty="0"/>
          </a:p>
          <a:p>
            <a:r>
              <a:rPr lang="en-US" sz="1400" b="1" kern="1200" dirty="0">
                <a:solidFill>
                  <a:schemeClr val="tx1"/>
                </a:solidFill>
                <a:effectLst/>
                <a:latin typeface="+mn-lt"/>
                <a:ea typeface="ＭＳ Ｐゴシック" pitchFamily="-106" charset="-128"/>
                <a:cs typeface="ＭＳ Ｐゴシック" pitchFamily="-106" charset="-128"/>
              </a:rPr>
              <a:t>Why does God delay?  God’s Invitation to Know Him…</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2 Peter 3:9–13; Romans 8:18–25</a:t>
            </a:r>
            <a:endParaRPr lang="en-US" sz="1400" kern="1200" dirty="0">
              <a:solidFill>
                <a:schemeClr val="tx1"/>
              </a:solidFill>
              <a:effectLst/>
              <a:latin typeface="+mn-lt"/>
              <a:ea typeface="ＭＳ Ｐゴシック" pitchFamily="-106" charset="-128"/>
              <a:cs typeface="ＭＳ Ｐゴシック" pitchFamily="-106" charset="-128"/>
            </a:endParaRP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God delays judgment out of mercy.</a:t>
            </a:r>
          </a:p>
          <a:p>
            <a:pPr marL="628650" lvl="1"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He is </a:t>
            </a:r>
            <a:r>
              <a:rPr lang="en-US" sz="1400" i="1" kern="1200" dirty="0">
                <a:solidFill>
                  <a:schemeClr val="tx1"/>
                </a:solidFill>
                <a:effectLst/>
                <a:latin typeface="+mn-lt"/>
                <a:ea typeface="ＭＳ Ｐゴシック" pitchFamily="-106" charset="-128"/>
                <a:cs typeface="ＭＳ Ｐゴシック" pitchFamily="-106" charset="-128"/>
              </a:rPr>
              <a:t>“not wanting any to perish but all to come to repentance” </a:t>
            </a:r>
            <a:r>
              <a:rPr lang="en-US" sz="1400" kern="1200" dirty="0">
                <a:solidFill>
                  <a:schemeClr val="tx1"/>
                </a:solidFill>
                <a:effectLst/>
                <a:latin typeface="+mn-lt"/>
                <a:ea typeface="ＭＳ Ｐゴシック" pitchFamily="-106" charset="-128"/>
                <a:cs typeface="ＭＳ Ｐゴシック" pitchFamily="-106" charset="-128"/>
              </a:rPr>
              <a:t>(2 Peter 3:9).</a:t>
            </a:r>
          </a:p>
          <a:p>
            <a:pPr marL="628650" lvl="1"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The promise of Christ’s return calls for patience, not complacency.</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Peter connects Christ’s return directly to the new creation.</a:t>
            </a:r>
          </a:p>
          <a:p>
            <a:pPr marL="628650" lvl="1" indent="-171450">
              <a:buFont typeface="Arial" panose="020B0604020202020204" pitchFamily="34" charset="0"/>
              <a:buChar char="•"/>
            </a:pPr>
            <a:r>
              <a:rPr lang="en-US" sz="1400" i="1" kern="1200" dirty="0">
                <a:solidFill>
                  <a:schemeClr val="tx1"/>
                </a:solidFill>
                <a:effectLst/>
                <a:latin typeface="+mn-lt"/>
                <a:ea typeface="ＭＳ Ｐゴシック" pitchFamily="-106" charset="-128"/>
                <a:cs typeface="ＭＳ Ｐゴシック" pitchFamily="-106" charset="-128"/>
              </a:rPr>
              <a:t>“We are waiting for new heavens and a new earth, in which righteousness truly resides” </a:t>
            </a:r>
            <a:r>
              <a:rPr lang="en-US" sz="1400" kern="1200" dirty="0">
                <a:solidFill>
                  <a:schemeClr val="tx1"/>
                </a:solidFill>
                <a:effectLst/>
                <a:latin typeface="+mn-lt"/>
                <a:ea typeface="ＭＳ Ｐゴシック" pitchFamily="-106" charset="-128"/>
                <a:cs typeface="ＭＳ Ｐゴシック" pitchFamily="-106" charset="-128"/>
              </a:rPr>
              <a:t>(2 Peter 3:13).</a:t>
            </a:r>
          </a:p>
          <a:p>
            <a:pPr marL="628650" lvl="1"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Hope shapes conduct.</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Paul adds that creation itself waits for this day.</a:t>
            </a:r>
          </a:p>
          <a:p>
            <a:pPr marL="628650" lvl="1"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It groans for release and renewal (Romans 8:19–22).</a:t>
            </a:r>
          </a:p>
          <a:p>
            <a:pPr marL="628650" lvl="1"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Believers live in that tension.</a:t>
            </a:r>
          </a:p>
          <a:p>
            <a:pPr marL="628650" lvl="1"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Waiting.</a:t>
            </a:r>
          </a:p>
          <a:p>
            <a:pPr marL="628650" lvl="1"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Trusting.</a:t>
            </a:r>
          </a:p>
          <a:p>
            <a:pPr marL="628650" lvl="1"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Living holy lives pointed toward what is coming.</a:t>
            </a:r>
          </a:p>
          <a:p>
            <a:pPr marL="0" indent="0">
              <a:buFont typeface="Arial" panose="020B0604020202020204" pitchFamily="34" charset="0"/>
              <a:buNone/>
            </a:pPr>
            <a:endParaRPr lang="en-US" sz="1400" kern="1200" dirty="0">
              <a:solidFill>
                <a:schemeClr val="tx1"/>
              </a:solidFill>
              <a:effectLst/>
              <a:latin typeface="+mn-lt"/>
              <a:ea typeface="ＭＳ Ｐゴシック" pitchFamily="-106" charset="-128"/>
              <a:cs typeface="ＭＳ Ｐゴシック" pitchFamily="-106" charset="-128"/>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sz="1400" b="1" i="0" u="none" strike="noStrike" kern="1200" baseline="0" dirty="0">
                <a:solidFill>
                  <a:schemeClr val="tx1"/>
                </a:solidFill>
                <a:latin typeface="+mn-lt"/>
                <a:ea typeface="ＭＳ Ｐゴシック" pitchFamily="-106" charset="-128"/>
                <a:cs typeface="ＭＳ Ｐゴシック" pitchFamily="-106" charset="-128"/>
              </a:rPr>
              <a:t>2Pe 3:9-13  </a:t>
            </a:r>
            <a:r>
              <a:rPr lang="en-US" sz="1400" b="0" i="0" u="none" strike="noStrike" kern="1200" baseline="0" dirty="0">
                <a:solidFill>
                  <a:schemeClr val="tx1"/>
                </a:solidFill>
                <a:latin typeface="+mn-lt"/>
                <a:ea typeface="ＭＳ Ｐゴシック" pitchFamily="-106" charset="-128"/>
                <a:cs typeface="ＭＳ Ｐゴシック" pitchFamily="-106" charset="-128"/>
              </a:rPr>
              <a:t>The Lord is not slack concerning </a:t>
            </a:r>
            <a:r>
              <a:rPr lang="en-US" sz="1400" b="0" i="1" u="none" strike="noStrike" kern="1200" baseline="0" dirty="0">
                <a:solidFill>
                  <a:schemeClr val="tx1"/>
                </a:solidFill>
                <a:latin typeface="+mn-lt"/>
                <a:ea typeface="ＭＳ Ｐゴシック" pitchFamily="-106" charset="-128"/>
                <a:cs typeface="ＭＳ Ｐゴシック" pitchFamily="-106" charset="-128"/>
              </a:rPr>
              <a:t>His</a:t>
            </a:r>
            <a:r>
              <a:rPr lang="en-US" sz="1400" b="0" i="0" u="none" strike="noStrike" kern="1200" baseline="0" dirty="0">
                <a:solidFill>
                  <a:schemeClr val="tx1"/>
                </a:solidFill>
                <a:latin typeface="+mn-lt"/>
                <a:ea typeface="ＭＳ Ｐゴシック" pitchFamily="-106" charset="-128"/>
                <a:cs typeface="ＭＳ Ｐゴシック" pitchFamily="-106" charset="-128"/>
              </a:rPr>
              <a:t> promise, as some count slackness, but is longsuffering toward us, not willing that any should perish but that all should come to repentance.  (10)  But the day of the Lord will come as a thief in the night, in which the heavens will pass away with a great noise, and the elements will melt with fervent heat; both the earth and the works that are in it will be burned up.  (11)  Therefore, since all these things will be dissolved, what manner </a:t>
            </a:r>
            <a:r>
              <a:rPr lang="en-US" sz="1400" b="0" i="1" u="none" strike="noStrike" kern="1200" baseline="0" dirty="0">
                <a:solidFill>
                  <a:schemeClr val="tx1"/>
                </a:solidFill>
                <a:latin typeface="+mn-lt"/>
                <a:ea typeface="ＭＳ Ｐゴシック" pitchFamily="-106" charset="-128"/>
                <a:cs typeface="ＭＳ Ｐゴシック" pitchFamily="-106" charset="-128"/>
              </a:rPr>
              <a:t>of persons</a:t>
            </a:r>
            <a:r>
              <a:rPr lang="en-US" sz="1400" b="0" i="0" u="none" strike="noStrike" kern="1200" baseline="0" dirty="0">
                <a:solidFill>
                  <a:schemeClr val="tx1"/>
                </a:solidFill>
                <a:latin typeface="+mn-lt"/>
                <a:ea typeface="ＭＳ Ｐゴシック" pitchFamily="-106" charset="-128"/>
                <a:cs typeface="ＭＳ Ｐゴシック" pitchFamily="-106" charset="-128"/>
              </a:rPr>
              <a:t> ought you to be in holy conduct and godliness,  (12)  looking for and hastening the coming of the day of God, because of which the heavens will be dissolved, being on fire, and the elements will melt with fervent heat?  (13)  Nevertheless we, according to His promise, look for new heavens and a new earth in which righteousness dwells.</a:t>
            </a:r>
          </a:p>
          <a:p>
            <a:pPr marL="0" indent="0">
              <a:buFont typeface="Arial" panose="020B0604020202020204" pitchFamily="34" charset="0"/>
              <a:buNone/>
            </a:pPr>
            <a:endParaRPr lang="en-US" sz="1400" kern="1200" dirty="0">
              <a:solidFill>
                <a:schemeClr val="tx1"/>
              </a:solidFill>
              <a:effectLst/>
              <a:latin typeface="+mn-lt"/>
              <a:ea typeface="ＭＳ Ｐゴシック" pitchFamily="-106" charset="-128"/>
              <a:cs typeface="ＭＳ Ｐゴシック" pitchFamily="-106" charset="-128"/>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sz="1400" b="1" i="0" u="none" strike="noStrike" kern="1200" baseline="0" dirty="0">
                <a:solidFill>
                  <a:schemeClr val="tx1"/>
                </a:solidFill>
                <a:latin typeface="+mn-lt"/>
                <a:ea typeface="ＭＳ Ｐゴシック" pitchFamily="-106" charset="-128"/>
                <a:cs typeface="ＭＳ Ｐゴシック" pitchFamily="-106" charset="-128"/>
              </a:rPr>
              <a:t>Rom 8:18-25  </a:t>
            </a:r>
            <a:r>
              <a:rPr lang="en-US" sz="1400" b="0" i="0" u="none" strike="noStrike" kern="1200" baseline="0" dirty="0">
                <a:solidFill>
                  <a:schemeClr val="tx1"/>
                </a:solidFill>
                <a:latin typeface="+mn-lt"/>
                <a:ea typeface="ＭＳ Ｐゴシック" pitchFamily="-106" charset="-128"/>
                <a:cs typeface="ＭＳ Ｐゴシック" pitchFamily="-106" charset="-128"/>
              </a:rPr>
              <a:t>For I consider that the sufferings of this present time are not worthy </a:t>
            </a:r>
            <a:r>
              <a:rPr lang="en-US" sz="1400" b="0" i="1" u="none" strike="noStrike" kern="1200" baseline="0" dirty="0">
                <a:solidFill>
                  <a:schemeClr val="tx1"/>
                </a:solidFill>
                <a:latin typeface="+mn-lt"/>
                <a:ea typeface="ＭＳ Ｐゴシック" pitchFamily="-106" charset="-128"/>
                <a:cs typeface="ＭＳ Ｐゴシック" pitchFamily="-106" charset="-128"/>
              </a:rPr>
              <a:t>to be compared</a:t>
            </a:r>
            <a:r>
              <a:rPr lang="en-US" sz="1400" b="0" i="0" u="none" strike="noStrike" kern="1200" baseline="0" dirty="0">
                <a:solidFill>
                  <a:schemeClr val="tx1"/>
                </a:solidFill>
                <a:latin typeface="+mn-lt"/>
                <a:ea typeface="ＭＳ Ｐゴシック" pitchFamily="-106" charset="-128"/>
                <a:cs typeface="ＭＳ Ｐゴシック" pitchFamily="-106" charset="-128"/>
              </a:rPr>
              <a:t> with the glory which shall be revealed in us.  (19)  For the earnest expectation of the creation eagerly waits for the revealing of the sons of God.  (20)  For the creation was subjected to futility, not willingly, but because of Him who subjected </a:t>
            </a:r>
            <a:r>
              <a:rPr lang="en-US" sz="1400" b="0" i="1" u="none" strike="noStrike" kern="1200" baseline="0" dirty="0">
                <a:solidFill>
                  <a:schemeClr val="tx1"/>
                </a:solidFill>
                <a:latin typeface="+mn-lt"/>
                <a:ea typeface="ＭＳ Ｐゴシック" pitchFamily="-106" charset="-128"/>
                <a:cs typeface="ＭＳ Ｐゴシック" pitchFamily="-106" charset="-128"/>
              </a:rPr>
              <a:t>it</a:t>
            </a:r>
            <a:r>
              <a:rPr lang="en-US" sz="1400" b="0" i="0" u="none" strike="noStrike" kern="1200" baseline="0" dirty="0">
                <a:solidFill>
                  <a:schemeClr val="tx1"/>
                </a:solidFill>
                <a:latin typeface="+mn-lt"/>
                <a:ea typeface="ＭＳ Ｐゴシック" pitchFamily="-106" charset="-128"/>
                <a:cs typeface="ＭＳ Ｐゴシック" pitchFamily="-106" charset="-128"/>
              </a:rPr>
              <a:t> in hope;  (21)  because the creation itself also will be delivered from the bondage of corruption into the glorious liberty of the children of God.  (22)  For we know that the whole creation groans and labors with birth pangs together until now.  (23)  Not only </a:t>
            </a:r>
            <a:r>
              <a:rPr lang="en-US" sz="1400" b="0" i="1" u="none" strike="noStrike" kern="1200" baseline="0" dirty="0">
                <a:solidFill>
                  <a:schemeClr val="tx1"/>
                </a:solidFill>
                <a:latin typeface="+mn-lt"/>
                <a:ea typeface="ＭＳ Ｐゴシック" pitchFamily="-106" charset="-128"/>
                <a:cs typeface="ＭＳ Ｐゴシック" pitchFamily="-106" charset="-128"/>
              </a:rPr>
              <a:t>that,</a:t>
            </a:r>
            <a:r>
              <a:rPr lang="en-US" sz="1400" b="0" i="0" u="none" strike="noStrike" kern="1200" baseline="0" dirty="0">
                <a:solidFill>
                  <a:schemeClr val="tx1"/>
                </a:solidFill>
                <a:latin typeface="+mn-lt"/>
                <a:ea typeface="ＭＳ Ｐゴシック" pitchFamily="-106" charset="-128"/>
                <a:cs typeface="ＭＳ Ｐゴシック" pitchFamily="-106" charset="-128"/>
              </a:rPr>
              <a:t> but we also who have the </a:t>
            </a:r>
            <a:r>
              <a:rPr lang="en-US" sz="1400" b="0" i="0" u="none" strike="noStrike" kern="1200" baseline="0" dirty="0" err="1">
                <a:solidFill>
                  <a:schemeClr val="tx1"/>
                </a:solidFill>
                <a:latin typeface="+mn-lt"/>
                <a:ea typeface="ＭＳ Ｐゴシック" pitchFamily="-106" charset="-128"/>
                <a:cs typeface="ＭＳ Ｐゴシック" pitchFamily="-106" charset="-128"/>
              </a:rPr>
              <a:t>firstfruits</a:t>
            </a:r>
            <a:r>
              <a:rPr lang="en-US" sz="1400" b="0" i="0" u="none" strike="noStrike" kern="1200" baseline="0" dirty="0">
                <a:solidFill>
                  <a:schemeClr val="tx1"/>
                </a:solidFill>
                <a:latin typeface="+mn-lt"/>
                <a:ea typeface="ＭＳ Ｐゴシック" pitchFamily="-106" charset="-128"/>
                <a:cs typeface="ＭＳ Ｐゴシック" pitchFamily="-106" charset="-128"/>
              </a:rPr>
              <a:t> of the Spirit, even we ourselves groan within ourselves, eagerly waiting for the adoption, the redemption of our body.  (24)  For we were saved in this hope, but hope that is seen is not hope; for why does one still hope for what he sees?  (25)  But if we hope for what we do not see, we eagerly wait for </a:t>
            </a:r>
            <a:r>
              <a:rPr lang="en-US" sz="1400" b="0" i="1" u="none" strike="noStrike" kern="1200" baseline="0" dirty="0">
                <a:solidFill>
                  <a:schemeClr val="tx1"/>
                </a:solidFill>
                <a:latin typeface="+mn-lt"/>
                <a:ea typeface="ＭＳ Ｐゴシック" pitchFamily="-106" charset="-128"/>
                <a:cs typeface="ＭＳ Ｐゴシック" pitchFamily="-106" charset="-128"/>
              </a:rPr>
              <a:t>it</a:t>
            </a:r>
            <a:r>
              <a:rPr lang="en-US" sz="1400" b="0" i="0" u="none" strike="noStrike" kern="1200" baseline="0" dirty="0">
                <a:solidFill>
                  <a:schemeClr val="tx1"/>
                </a:solidFill>
                <a:latin typeface="+mn-lt"/>
                <a:ea typeface="ＭＳ Ｐゴシック" pitchFamily="-106" charset="-128"/>
                <a:cs typeface="ＭＳ Ｐゴシック" pitchFamily="-106" charset="-128"/>
              </a:rPr>
              <a:t> with perseverance.</a:t>
            </a:r>
          </a:p>
          <a:p>
            <a:pPr marL="0" indent="0">
              <a:buFont typeface="Arial" panose="020B0604020202020204" pitchFamily="34" charset="0"/>
              <a:buNone/>
            </a:pPr>
            <a:endParaRPr lang="en-US" sz="1400" kern="1200" dirty="0">
              <a:solidFill>
                <a:schemeClr val="tx1"/>
              </a:solidFill>
              <a:effectLst/>
              <a:latin typeface="+mn-lt"/>
              <a:ea typeface="ＭＳ Ｐゴシック" pitchFamily="-106" charset="-128"/>
              <a:cs typeface="ＭＳ Ｐゴシック" pitchFamily="-106" charset="-128"/>
            </a:endParaRPr>
          </a:p>
          <a:p>
            <a:pPr marL="0" indent="0">
              <a:buFont typeface="Arial" panose="020B0604020202020204" pitchFamily="34" charset="0"/>
              <a:buNone/>
            </a:pPr>
            <a:endParaRPr lang="en-US" sz="1400" kern="1200" dirty="0">
              <a:solidFill>
                <a:schemeClr val="tx1"/>
              </a:solidFill>
              <a:effectLst/>
              <a:latin typeface="+mn-lt"/>
              <a:ea typeface="ＭＳ Ｐゴシック" pitchFamily="-106" charset="-128"/>
              <a:cs typeface="ＭＳ Ｐゴシック" pitchFamily="-106" charset="-128"/>
            </a:endParaRPr>
          </a:p>
          <a:p>
            <a:endParaRPr lang="en-US" dirty="0"/>
          </a:p>
        </p:txBody>
      </p:sp>
      <p:sp>
        <p:nvSpPr>
          <p:cNvPr id="4" name="Slide Number Placeholder 3">
            <a:extLst>
              <a:ext uri="{FF2B5EF4-FFF2-40B4-BE49-F238E27FC236}">
                <a16:creationId xmlns:a16="http://schemas.microsoft.com/office/drawing/2014/main" id="{E4ED9CEA-E893-637F-8F3B-C7053676CECC}"/>
              </a:ext>
            </a:extLst>
          </p:cNvPr>
          <p:cNvSpPr>
            <a:spLocks noGrp="1"/>
          </p:cNvSpPr>
          <p:nvPr>
            <p:ph type="sldNum" sz="quarter" idx="10"/>
          </p:nvPr>
        </p:nvSpPr>
        <p:spPr/>
        <p:txBody>
          <a:bodyPr/>
          <a:lstStyle/>
          <a:p>
            <a:pPr>
              <a:defRPr/>
            </a:pPr>
            <a:fld id="{07776858-791E-4C8D-8FA3-473B3AFECFAC}" type="slidenum">
              <a:rPr lang="en-US" smtClean="0"/>
              <a:pPr>
                <a:defRPr/>
              </a:pPr>
              <a:t>3</a:t>
            </a:fld>
            <a:endParaRPr lang="en-US" dirty="0"/>
          </a:p>
        </p:txBody>
      </p:sp>
    </p:spTree>
    <p:extLst>
      <p:ext uri="{BB962C8B-B14F-4D97-AF65-F5344CB8AC3E}">
        <p14:creationId xmlns:p14="http://schemas.microsoft.com/office/powerpoint/2010/main" val="2626094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98B88-233E-2905-07FC-6B9672706F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CF186C-093E-F6C6-9C75-D4AFF0ECBA8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491BCB1-113B-3904-3C1A-2CDEE06F98A0}"/>
              </a:ext>
            </a:extLst>
          </p:cNvPr>
          <p:cNvSpPr>
            <a:spLocks noGrp="1"/>
          </p:cNvSpPr>
          <p:nvPr>
            <p:ph type="body" idx="1"/>
          </p:nvPr>
        </p:nvSpPr>
        <p:spPr/>
        <p:txBody>
          <a:bodyPr>
            <a:normAutofit/>
          </a:bodyPr>
          <a:lstStyle/>
          <a:p>
            <a:r>
              <a:rPr lang="en-US" sz="1400" b="1" kern="1200" dirty="0">
                <a:solidFill>
                  <a:schemeClr val="tx1"/>
                </a:solidFill>
                <a:effectLst/>
                <a:latin typeface="+mn-lt"/>
                <a:ea typeface="ＭＳ Ｐゴシック" pitchFamily="-106" charset="-128"/>
                <a:cs typeface="ＭＳ Ｐゴシック" pitchFamily="-106" charset="-128"/>
              </a:rPr>
              <a:t>The Promises of the Return of Christ and of Eternal Life</a:t>
            </a:r>
            <a:endParaRPr lang="en-US" sz="1400" kern="1200" dirty="0">
              <a:solidFill>
                <a:schemeClr val="tx1"/>
              </a:solidFill>
              <a:effectLst/>
              <a:latin typeface="+mn-lt"/>
              <a:ea typeface="ＭＳ Ｐゴシック" pitchFamily="-106" charset="-128"/>
              <a:cs typeface="ＭＳ Ｐゴシック" pitchFamily="-106" charset="-128"/>
            </a:endParaRPr>
          </a:p>
          <a:p>
            <a:pPr marL="285750" indent="-2857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The return of Christ and the promise of eternal life cannot be separated.</a:t>
            </a:r>
          </a:p>
          <a:p>
            <a:pPr marL="285750" indent="-2857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Christ returns to judge what is broken and restore what is good.</a:t>
            </a:r>
          </a:p>
          <a:p>
            <a:pPr marL="285750" indent="-2857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Eternal life is the result, not an escape.</a:t>
            </a:r>
          </a:p>
          <a:p>
            <a:pPr marL="285750" indent="-2857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God keeps His promises.</a:t>
            </a:r>
          </a:p>
          <a:p>
            <a:pPr marL="285750" indent="-2857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Jesus will return.</a:t>
            </a:r>
          </a:p>
          <a:p>
            <a:pPr marL="285750" indent="-2857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And God will dwell with His people forever, in a world made new.</a:t>
            </a:r>
            <a:endParaRPr lang="en-US" sz="1400" b="1" kern="1200" dirty="0">
              <a:solidFill>
                <a:schemeClr val="tx1"/>
              </a:solidFill>
              <a:effectLst/>
              <a:latin typeface="+mn-lt"/>
              <a:ea typeface="ＭＳ Ｐゴシック" pitchFamily="-106" charset="-128"/>
              <a:cs typeface="ＭＳ Ｐゴシック" pitchFamily="-106" charset="-128"/>
            </a:endParaRP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How?</a:t>
            </a:r>
          </a:p>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Matthew 13:44 (NET)</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“The kingdom of heaven is like a treasure hidden in a field that a person found and hid. Then because of joy, he went and sold all that he had and bought that field.”</a:t>
            </a:r>
          </a:p>
          <a:p>
            <a:r>
              <a:rPr lang="en-US" sz="1400" kern="1200" dirty="0">
                <a:solidFill>
                  <a:schemeClr val="tx1"/>
                </a:solidFill>
                <a:effectLst/>
                <a:latin typeface="+mn-lt"/>
                <a:ea typeface="ＭＳ Ｐゴシック" pitchFamily="-106" charset="-128"/>
                <a:cs typeface="ＭＳ Ｐゴシック" pitchFamily="-106" charset="-128"/>
              </a:rPr>
              <a:t>Jesus describes the kingdom as something of such value that it changes everything.</a:t>
            </a:r>
          </a:p>
          <a:p>
            <a:r>
              <a:rPr lang="en-US" sz="1400" kern="1200" dirty="0">
                <a:solidFill>
                  <a:schemeClr val="tx1"/>
                </a:solidFill>
                <a:effectLst/>
                <a:latin typeface="+mn-lt"/>
                <a:ea typeface="ＭＳ Ｐゴシック" pitchFamily="-106" charset="-128"/>
                <a:cs typeface="ＭＳ Ｐゴシック" pitchFamily="-106" charset="-128"/>
              </a:rPr>
              <a:t>Once it is seen, nothing else compares.</a:t>
            </a:r>
          </a:p>
          <a:p>
            <a:endParaRPr lang="en-US" sz="1400" dirty="0"/>
          </a:p>
          <a:p>
            <a:r>
              <a:rPr lang="en-US" sz="1400" b="1" kern="1200" dirty="0">
                <a:solidFill>
                  <a:schemeClr val="tx1"/>
                </a:solidFill>
                <a:effectLst/>
                <a:latin typeface="+mn-lt"/>
                <a:ea typeface="ＭＳ Ｐゴシック" pitchFamily="-106" charset="-128"/>
                <a:cs typeface="ＭＳ Ｐゴシック" pitchFamily="-106" charset="-128"/>
              </a:rPr>
              <a:t>Matthew 13:45–46 (NET)</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“Again, the kingdom of heaven is like a merchant searching for fine pearls. When he found a pearl of great value, he sold everything he had and bought it.”</a:t>
            </a:r>
          </a:p>
          <a:p>
            <a:r>
              <a:rPr lang="en-US" sz="1400" kern="1200" dirty="0">
                <a:solidFill>
                  <a:schemeClr val="tx1"/>
                </a:solidFill>
                <a:effectLst/>
                <a:latin typeface="+mn-lt"/>
                <a:ea typeface="ＭＳ Ｐゴシック" pitchFamily="-106" charset="-128"/>
                <a:cs typeface="ＭＳ Ｐゴシック" pitchFamily="-106" charset="-128"/>
              </a:rPr>
              <a:t>Jesus pairs this with the treasure parable.</a:t>
            </a:r>
          </a:p>
          <a:p>
            <a:r>
              <a:rPr lang="en-US" sz="1400" kern="1200" dirty="0">
                <a:solidFill>
                  <a:schemeClr val="tx1"/>
                </a:solidFill>
                <a:effectLst/>
                <a:latin typeface="+mn-lt"/>
                <a:ea typeface="ＭＳ Ｐゴシック" pitchFamily="-106" charset="-128"/>
                <a:cs typeface="ＭＳ Ｐゴシック" pitchFamily="-106" charset="-128"/>
              </a:rPr>
              <a:t>The point is the same.</a:t>
            </a:r>
          </a:p>
          <a:p>
            <a:r>
              <a:rPr lang="en-US" sz="1400" kern="1200" dirty="0">
                <a:solidFill>
                  <a:schemeClr val="tx1"/>
                </a:solidFill>
                <a:effectLst/>
                <a:latin typeface="+mn-lt"/>
                <a:ea typeface="ＭＳ Ｐゴシック" pitchFamily="-106" charset="-128"/>
                <a:cs typeface="ＭＳ Ｐゴシック" pitchFamily="-106" charset="-128"/>
              </a:rPr>
              <a:t>The kingdom is worth everything.</a:t>
            </a:r>
          </a:p>
          <a:p>
            <a:endParaRPr lang="en-US" dirty="0"/>
          </a:p>
        </p:txBody>
      </p:sp>
      <p:sp>
        <p:nvSpPr>
          <p:cNvPr id="4" name="Slide Number Placeholder 3">
            <a:extLst>
              <a:ext uri="{FF2B5EF4-FFF2-40B4-BE49-F238E27FC236}">
                <a16:creationId xmlns:a16="http://schemas.microsoft.com/office/drawing/2014/main" id="{D8A8ED28-BA4C-5F7B-C118-25E982A3C4B9}"/>
              </a:ext>
            </a:extLst>
          </p:cNvPr>
          <p:cNvSpPr>
            <a:spLocks noGrp="1"/>
          </p:cNvSpPr>
          <p:nvPr>
            <p:ph type="sldNum" sz="quarter" idx="10"/>
          </p:nvPr>
        </p:nvSpPr>
        <p:spPr/>
        <p:txBody>
          <a:bodyPr/>
          <a:lstStyle/>
          <a:p>
            <a:pPr>
              <a:defRPr/>
            </a:pPr>
            <a:fld id="{07776858-791E-4C8D-8FA3-473B3AFECFAC}" type="slidenum">
              <a:rPr lang="en-US" smtClean="0"/>
              <a:pPr>
                <a:defRPr/>
              </a:pPr>
              <a:t>4</a:t>
            </a:fld>
            <a:endParaRPr lang="en-US" dirty="0"/>
          </a:p>
        </p:txBody>
      </p:sp>
    </p:spTree>
    <p:extLst>
      <p:ext uri="{BB962C8B-B14F-4D97-AF65-F5344CB8AC3E}">
        <p14:creationId xmlns:p14="http://schemas.microsoft.com/office/powerpoint/2010/main" val="480955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E64FE-6EB9-397A-5F18-4691C1928F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E83982-3CD5-C50B-7BE0-B70E4534A56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5CA91F4-79E2-05B8-A084-C4C96545E4EC}"/>
              </a:ext>
            </a:extLst>
          </p:cNvPr>
          <p:cNvSpPr>
            <a:spLocks noGrp="1"/>
          </p:cNvSpPr>
          <p:nvPr>
            <p:ph type="body" idx="1"/>
          </p:nvPr>
        </p:nvSpPr>
        <p:spPr/>
        <p:txBody>
          <a:bodyPr>
            <a:normAutofit/>
          </a:bodyPr>
          <a:lstStyle/>
          <a:p>
            <a:r>
              <a:rPr lang="en-US" sz="1200" b="1" kern="1200" dirty="0">
                <a:solidFill>
                  <a:schemeClr val="tx1"/>
                </a:solidFill>
                <a:effectLst/>
                <a:latin typeface="+mn-lt"/>
                <a:ea typeface="ＭＳ Ｐゴシック" pitchFamily="-106" charset="-128"/>
                <a:cs typeface="ＭＳ Ｐゴシック" pitchFamily="-106" charset="-128"/>
              </a:rPr>
              <a:t>Pearl as a Symbol of Costly Formation</a:t>
            </a:r>
            <a:endParaRPr lang="en-US" sz="1200" kern="1200" dirty="0">
              <a:solidFill>
                <a:schemeClr val="tx1"/>
              </a:solidFill>
              <a:effectLst/>
              <a:latin typeface="+mn-lt"/>
              <a:ea typeface="ＭＳ Ｐゴシック" pitchFamily="-106" charset="-128"/>
              <a:cs typeface="ＭＳ Ｐゴシック" pitchFamily="-106" charset="-128"/>
            </a:endParaRPr>
          </a:p>
          <a:p>
            <a:endParaRPr lang="en-US" dirty="0"/>
          </a:p>
        </p:txBody>
      </p:sp>
      <p:sp>
        <p:nvSpPr>
          <p:cNvPr id="4" name="Slide Number Placeholder 3">
            <a:extLst>
              <a:ext uri="{FF2B5EF4-FFF2-40B4-BE49-F238E27FC236}">
                <a16:creationId xmlns:a16="http://schemas.microsoft.com/office/drawing/2014/main" id="{66B07746-DDA2-FFEB-4E71-D3BC68F2E835}"/>
              </a:ext>
            </a:extLst>
          </p:cNvPr>
          <p:cNvSpPr>
            <a:spLocks noGrp="1"/>
          </p:cNvSpPr>
          <p:nvPr>
            <p:ph type="sldNum" sz="quarter" idx="10"/>
          </p:nvPr>
        </p:nvSpPr>
        <p:spPr/>
        <p:txBody>
          <a:bodyPr/>
          <a:lstStyle/>
          <a:p>
            <a:pPr>
              <a:defRPr/>
            </a:pPr>
            <a:fld id="{07776858-791E-4C8D-8FA3-473B3AFECFAC}" type="slidenum">
              <a:rPr lang="en-US" smtClean="0"/>
              <a:pPr>
                <a:defRPr/>
              </a:pPr>
              <a:t>5</a:t>
            </a:fld>
            <a:endParaRPr lang="en-US" dirty="0"/>
          </a:p>
        </p:txBody>
      </p:sp>
    </p:spTree>
    <p:extLst>
      <p:ext uri="{BB962C8B-B14F-4D97-AF65-F5344CB8AC3E}">
        <p14:creationId xmlns:p14="http://schemas.microsoft.com/office/powerpoint/2010/main" val="4500932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64E89-FC04-536B-2ED8-6653A48827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190691-DE10-429C-EA1B-E9B7031EAFF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35768E3-9B64-C64F-3DE4-46B550B58818}"/>
              </a:ext>
            </a:extLst>
          </p:cNvPr>
          <p:cNvSpPr>
            <a:spLocks noGrp="1"/>
          </p:cNvSpPr>
          <p:nvPr>
            <p:ph type="body" idx="1"/>
          </p:nvPr>
        </p:nvSpPr>
        <p:spPr/>
        <p:txBody>
          <a:bodyPr>
            <a:normAutofit fontScale="55000" lnSpcReduction="20000"/>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1" i="0" u="none" strike="noStrike" kern="1200" baseline="0" dirty="0">
                <a:solidFill>
                  <a:schemeClr val="tx1"/>
                </a:solidFill>
                <a:latin typeface="+mn-lt"/>
                <a:ea typeface="ＭＳ Ｐゴシック" pitchFamily="-106" charset="-128"/>
                <a:cs typeface="ＭＳ Ｐゴシック" pitchFamily="-106" charset="-128"/>
              </a:rPr>
              <a:t>Rev 21:1-27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b="1" i="0" u="none" strike="noStrike" kern="1200" baseline="0" dirty="0">
              <a:solidFill>
                <a:schemeClr val="tx1"/>
              </a:solidFill>
              <a:latin typeface="+mn-lt"/>
              <a:ea typeface="ＭＳ Ｐゴシック" pitchFamily="-106" charset="-128"/>
              <a:cs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The New Jerusalem and the Pearl Gates (Revelation 21)</a:t>
            </a: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kern="1200" dirty="0">
                <a:solidFill>
                  <a:schemeClr val="tx1"/>
                </a:solidFill>
                <a:effectLst/>
                <a:latin typeface="+mn-lt"/>
                <a:ea typeface="ＭＳ Ｐゴシック" pitchFamily="-106" charset="-128"/>
                <a:cs typeface="ＭＳ Ｐゴシック" pitchFamily="-106" charset="-128"/>
              </a:rPr>
              <a:t>John writes:  </a:t>
            </a:r>
            <a:r>
              <a:rPr lang="en-US" sz="1200" b="1" kern="1200" dirty="0">
                <a:solidFill>
                  <a:schemeClr val="tx1"/>
                </a:solidFill>
                <a:effectLst/>
                <a:latin typeface="+mn-lt"/>
                <a:ea typeface="ＭＳ Ｐゴシック" pitchFamily="-106" charset="-128"/>
                <a:cs typeface="ＭＳ Ｐゴシック" pitchFamily="-106" charset="-128"/>
              </a:rPr>
              <a:t>Revelation 21:21  </a:t>
            </a:r>
            <a:r>
              <a:rPr lang="en-US" sz="1200" i="1" kern="1200" dirty="0">
                <a:solidFill>
                  <a:schemeClr val="tx1"/>
                </a:solidFill>
                <a:effectLst/>
                <a:latin typeface="+mn-lt"/>
                <a:ea typeface="ＭＳ Ｐゴシック" pitchFamily="-106" charset="-128"/>
                <a:cs typeface="ＭＳ Ｐゴシック" pitchFamily="-106" charset="-128"/>
              </a:rPr>
              <a:t>“The twelve gates are twelve pearls—each one of the gates is made from just one pearl.”</a:t>
            </a:r>
          </a:p>
          <a:p>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Key observations:</a:t>
            </a:r>
          </a:p>
          <a:p>
            <a:pPr rtl="0" fontAlgn="ctr"/>
            <a:r>
              <a:rPr lang="en-US" sz="1200" kern="1200" dirty="0">
                <a:solidFill>
                  <a:schemeClr val="tx1"/>
                </a:solidFill>
                <a:effectLst/>
                <a:latin typeface="+mn-lt"/>
                <a:ea typeface="ＭＳ Ｐゴシック" pitchFamily="-106" charset="-128"/>
                <a:cs typeface="ＭＳ Ｐゴシック" pitchFamily="-106" charset="-128"/>
              </a:rPr>
              <a:t>Each gate is made from </a:t>
            </a:r>
            <a:r>
              <a:rPr lang="en-US" sz="1200" b="1" kern="1200" dirty="0">
                <a:solidFill>
                  <a:schemeClr val="tx1"/>
                </a:solidFill>
                <a:effectLst/>
                <a:latin typeface="+mn-lt"/>
                <a:ea typeface="ＭＳ Ｐゴシック" pitchFamily="-106" charset="-128"/>
                <a:cs typeface="ＭＳ Ｐゴシック" pitchFamily="-106" charset="-128"/>
              </a:rPr>
              <a:t>one pearl</a:t>
            </a:r>
            <a:r>
              <a:rPr lang="en-US" sz="1200" kern="1200" dirty="0">
                <a:solidFill>
                  <a:schemeClr val="tx1"/>
                </a:solidFill>
                <a:effectLst/>
                <a:latin typeface="+mn-lt"/>
                <a:ea typeface="ＭＳ Ｐゴシック" pitchFamily="-106" charset="-128"/>
                <a:cs typeface="ＭＳ Ｐゴシック" pitchFamily="-106" charset="-128"/>
              </a:rPr>
              <a:t>, not many.</a:t>
            </a:r>
          </a:p>
          <a:p>
            <a:pPr rtl="0" fontAlgn="ctr"/>
            <a:r>
              <a:rPr lang="en-US" sz="1200" kern="1200" dirty="0">
                <a:solidFill>
                  <a:schemeClr val="tx1"/>
                </a:solidFill>
                <a:effectLst/>
                <a:latin typeface="+mn-lt"/>
                <a:ea typeface="ＭＳ Ｐゴシック" pitchFamily="-106" charset="-128"/>
                <a:cs typeface="ＭＳ Ｐゴシック" pitchFamily="-106" charset="-128"/>
              </a:rPr>
              <a:t>Gates are </a:t>
            </a:r>
            <a:r>
              <a:rPr lang="en-US" sz="1200" b="1" kern="1200" dirty="0">
                <a:solidFill>
                  <a:schemeClr val="tx1"/>
                </a:solidFill>
                <a:effectLst/>
                <a:latin typeface="+mn-lt"/>
                <a:ea typeface="ＭＳ Ｐゴシック" pitchFamily="-106" charset="-128"/>
                <a:cs typeface="ＭＳ Ｐゴシック" pitchFamily="-106" charset="-128"/>
              </a:rPr>
              <a:t>points of entry</a:t>
            </a:r>
            <a:r>
              <a:rPr lang="en-US" sz="1200" kern="1200" dirty="0">
                <a:solidFill>
                  <a:schemeClr val="tx1"/>
                </a:solidFill>
                <a:effectLst/>
                <a:latin typeface="+mn-lt"/>
                <a:ea typeface="ＭＳ Ｐゴシック" pitchFamily="-106" charset="-128"/>
                <a:cs typeface="ＭＳ Ｐゴシック" pitchFamily="-106" charset="-128"/>
              </a:rPr>
              <a:t>, not decoration.</a:t>
            </a:r>
          </a:p>
          <a:p>
            <a:pPr rtl="0" fontAlgn="ctr"/>
            <a:r>
              <a:rPr lang="en-US" sz="1200" kern="1200" dirty="0">
                <a:solidFill>
                  <a:schemeClr val="tx1"/>
                </a:solidFill>
                <a:effectLst/>
                <a:latin typeface="+mn-lt"/>
                <a:ea typeface="ＭＳ Ｐゴシック" pitchFamily="-106" charset="-128"/>
                <a:cs typeface="ＭＳ Ｐゴシック" pitchFamily="-106" charset="-128"/>
              </a:rPr>
              <a:t>The city represents </a:t>
            </a:r>
            <a:r>
              <a:rPr lang="en-US" sz="1200" b="1" kern="1200" dirty="0">
                <a:solidFill>
                  <a:schemeClr val="tx1"/>
                </a:solidFill>
                <a:effectLst/>
                <a:latin typeface="+mn-lt"/>
                <a:ea typeface="ＭＳ Ｐゴシック" pitchFamily="-106" charset="-128"/>
                <a:cs typeface="ＭＳ Ｐゴシック" pitchFamily="-106" charset="-128"/>
              </a:rPr>
              <a:t>the people of God</a:t>
            </a:r>
            <a:r>
              <a:rPr lang="en-US" sz="1200" kern="1200" dirty="0">
                <a:solidFill>
                  <a:schemeClr val="tx1"/>
                </a:solidFill>
                <a:effectLst/>
                <a:latin typeface="+mn-lt"/>
                <a:ea typeface="ＭＳ Ｐゴシック" pitchFamily="-106" charset="-128"/>
                <a:cs typeface="ＭＳ Ｐゴシック" pitchFamily="-106" charset="-128"/>
              </a:rPr>
              <a:t>, not a mere structure (Revelation 21:2, 9–10).</a:t>
            </a:r>
          </a:p>
          <a:p>
            <a:r>
              <a:rPr lang="en-US" sz="1200" kern="1200" dirty="0">
                <a:solidFill>
                  <a:schemeClr val="tx1"/>
                </a:solidFill>
                <a:effectLst/>
                <a:latin typeface="+mn-lt"/>
                <a:ea typeface="ＭＳ Ｐゴシック" pitchFamily="-106" charset="-128"/>
                <a:cs typeface="ＭＳ Ｐゴシック" pitchFamily="-106" charset="-128"/>
              </a:rPr>
              <a:t>The imagery is deliberate.</a:t>
            </a:r>
          </a:p>
          <a:p>
            <a:r>
              <a:rPr lang="en-US" sz="1200" kern="1200" dirty="0">
                <a:solidFill>
                  <a:schemeClr val="tx1"/>
                </a:solidFill>
                <a:effectLst/>
                <a:latin typeface="+mn-lt"/>
                <a:ea typeface="ＭＳ Ｐゴシック" pitchFamily="-106" charset="-128"/>
                <a:cs typeface="ＭＳ Ｐゴシック" pitchFamily="-106" charset="-128"/>
              </a:rPr>
              <a:t>If walls define identity, </a:t>
            </a:r>
            <a:r>
              <a:rPr lang="en-US" sz="1200" b="1" kern="1200" dirty="0">
                <a:solidFill>
                  <a:schemeClr val="tx1"/>
                </a:solidFill>
                <a:effectLst/>
                <a:latin typeface="+mn-lt"/>
                <a:ea typeface="ＭＳ Ｐゴシック" pitchFamily="-106" charset="-128"/>
                <a:cs typeface="ＭＳ Ｐゴシック" pitchFamily="-106" charset="-128"/>
              </a:rPr>
              <a:t>gates define access</a:t>
            </a:r>
            <a:r>
              <a:rPr lang="en-US" sz="1200" kern="1200" dirty="0">
                <a:solidFill>
                  <a:schemeClr val="tx1"/>
                </a:solidFill>
                <a:effectLst/>
                <a:latin typeface="+mn-lt"/>
                <a:ea typeface="ＭＳ Ｐゴシック" pitchFamily="-106" charset="-128"/>
                <a:cs typeface="ＭＳ Ｐゴシック" pitchFamily="-106" charset="-128"/>
              </a:rPr>
              <a: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b="1" i="0" u="none" strike="noStrike" kern="1200" baseline="0" dirty="0">
              <a:solidFill>
                <a:schemeClr val="tx1"/>
              </a:solidFill>
              <a:latin typeface="+mn-lt"/>
              <a:ea typeface="ＭＳ Ｐゴシック" pitchFamily="-106" charset="-128"/>
              <a:cs typeface="ＭＳ Ｐゴシック" pitchFamily="-106"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b="0" i="0" u="none" strike="noStrike" kern="1200" baseline="0" dirty="0">
              <a:solidFill>
                <a:schemeClr val="tx1"/>
              </a:solidFill>
              <a:latin typeface="+mn-lt"/>
              <a:ea typeface="ＭＳ Ｐゴシック" pitchFamily="-106" charset="-128"/>
              <a:cs typeface="ＭＳ Ｐゴシック" pitchFamily="-106"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1" i="0" u="none" strike="noStrike" kern="1200" baseline="0" dirty="0">
                <a:solidFill>
                  <a:schemeClr val="tx1"/>
                </a:solidFill>
                <a:latin typeface="+mn-lt"/>
                <a:ea typeface="ＭＳ Ｐゴシック" pitchFamily="-106" charset="-128"/>
                <a:cs typeface="ＭＳ Ｐゴシック" pitchFamily="-106" charset="-128"/>
              </a:rPr>
              <a:t>The New Heaven and the New Earth</a:t>
            </a:r>
            <a:endParaRPr lang="en-US" sz="1400" b="0" i="0" u="none" strike="noStrike" kern="1200" baseline="0" dirty="0">
              <a:solidFill>
                <a:schemeClr val="tx1"/>
              </a:solidFill>
              <a:latin typeface="+mn-lt"/>
              <a:ea typeface="ＭＳ Ｐゴシック" pitchFamily="-106" charset="-128"/>
              <a:cs typeface="ＭＳ Ｐゴシック" pitchFamily="-106"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0" i="0" u="none" strike="noStrike" kern="1200" baseline="0" dirty="0">
                <a:solidFill>
                  <a:schemeClr val="tx1"/>
                </a:solidFill>
                <a:latin typeface="+mn-lt"/>
                <a:ea typeface="ＭＳ Ｐゴシック" pitchFamily="-106" charset="-128"/>
                <a:cs typeface="ＭＳ Ｐゴシック" pitchFamily="-106" charset="-128"/>
              </a:rPr>
              <a:t>Now I saw a new heaven and a new earth, for the first heaven and the first earth had passed away. Also there was no more sea.  (2)  Then I, John, saw the holy city, </a:t>
            </a:r>
            <a:r>
              <a:rPr lang="en-US" sz="1400" b="1" i="0" u="none" strike="noStrike" kern="1200" baseline="0" dirty="0">
                <a:solidFill>
                  <a:schemeClr val="tx1"/>
                </a:solidFill>
                <a:latin typeface="+mn-lt"/>
                <a:ea typeface="ＭＳ Ｐゴシック" pitchFamily="-106" charset="-128"/>
                <a:cs typeface="ＭＳ Ｐゴシック" pitchFamily="-106" charset="-128"/>
              </a:rPr>
              <a:t>New Jerusalem, coming down out of heaven from God, prepared as a bride adorned for her husband</a:t>
            </a:r>
            <a:r>
              <a:rPr lang="en-US" sz="1400" b="0" i="0" u="none" strike="noStrike" kern="1200" baseline="0" dirty="0">
                <a:solidFill>
                  <a:schemeClr val="tx1"/>
                </a:solidFill>
                <a:latin typeface="+mn-lt"/>
                <a:ea typeface="ＭＳ Ｐゴシック" pitchFamily="-106" charset="-128"/>
                <a:cs typeface="ＭＳ Ｐゴシック" pitchFamily="-106" charset="-128"/>
              </a:rPr>
              <a:t>.  (3)  And I heard a loud voice from heaven saying, "Behold, the tabernacle of God </a:t>
            </a:r>
            <a:r>
              <a:rPr lang="en-US" sz="1400" b="0" i="1" u="none" strike="noStrike" kern="1200" baseline="0" dirty="0">
                <a:solidFill>
                  <a:schemeClr val="tx1"/>
                </a:solidFill>
                <a:latin typeface="+mn-lt"/>
                <a:ea typeface="ＭＳ Ｐゴシック" pitchFamily="-106" charset="-128"/>
                <a:cs typeface="ＭＳ Ｐゴシック" pitchFamily="-106" charset="-128"/>
              </a:rPr>
              <a:t>is</a:t>
            </a:r>
            <a:r>
              <a:rPr lang="en-US" sz="1400" b="0" i="0" u="none" strike="noStrike" kern="1200" baseline="0" dirty="0">
                <a:solidFill>
                  <a:schemeClr val="tx1"/>
                </a:solidFill>
                <a:latin typeface="+mn-lt"/>
                <a:ea typeface="ＭＳ Ｐゴシック" pitchFamily="-106" charset="-128"/>
                <a:cs typeface="ＭＳ Ｐゴシック" pitchFamily="-106" charset="-128"/>
              </a:rPr>
              <a:t> with men, and He will dwell with them, and they shall be His people. God Himself will be with them </a:t>
            </a:r>
            <a:r>
              <a:rPr lang="en-US" sz="1400" b="0" i="1" u="none" strike="noStrike" kern="1200" baseline="0" dirty="0">
                <a:solidFill>
                  <a:schemeClr val="tx1"/>
                </a:solidFill>
                <a:latin typeface="+mn-lt"/>
                <a:ea typeface="ＭＳ Ｐゴシック" pitchFamily="-106" charset="-128"/>
                <a:cs typeface="ＭＳ Ｐゴシック" pitchFamily="-106" charset="-128"/>
              </a:rPr>
              <a:t>and be</a:t>
            </a:r>
            <a:r>
              <a:rPr lang="en-US" sz="1400" b="0" i="0" u="none" strike="noStrike" kern="1200" baseline="0" dirty="0">
                <a:solidFill>
                  <a:schemeClr val="tx1"/>
                </a:solidFill>
                <a:latin typeface="+mn-lt"/>
                <a:ea typeface="ＭＳ Ｐゴシック" pitchFamily="-106" charset="-128"/>
                <a:cs typeface="ＭＳ Ｐゴシック" pitchFamily="-106" charset="-128"/>
              </a:rPr>
              <a:t> their God.  (4)  And God will wipe away every tear from their eyes; there shall be no more death, nor sorrow, nor crying. There shall be no more pain, for the former things have passed away."  (5)  Then He who sat on the throne said, "Behold, I make all things new." And He said to me, "Write, for these words are true and faithful."  (6)  And He said to me, "It is done! I am the Alpha and the Omega, the Beginning and the End. I will give of the fountain of the water of life freely to him who thirsts.  (7)  He who overcomes shall inherit all things, and I will be his God and he shall be My son.  (8)  But the cowardly, unbelieving, abominable, murderers, sexually immoral, sorcerers, idolaters, and all liars shall have their part in the lake which burns with fire and brimstone, which is the second death."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b="0" i="0" u="none" strike="noStrike" kern="1200" baseline="0" dirty="0">
              <a:solidFill>
                <a:schemeClr val="tx1"/>
              </a:solidFill>
              <a:latin typeface="+mn-lt"/>
              <a:ea typeface="ＭＳ Ｐゴシック" pitchFamily="-106" charset="-128"/>
              <a:cs typeface="ＭＳ Ｐゴシック" pitchFamily="-106"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1" i="0" u="none" strike="noStrike" kern="1200" baseline="0" dirty="0">
                <a:solidFill>
                  <a:schemeClr val="tx1"/>
                </a:solidFill>
                <a:latin typeface="+mn-lt"/>
                <a:ea typeface="ＭＳ Ｐゴシック" pitchFamily="-106" charset="-128"/>
                <a:cs typeface="ＭＳ Ｐゴシック" pitchFamily="-106" charset="-128"/>
              </a:rPr>
              <a:t>The New Jerusalem</a:t>
            </a:r>
            <a:endParaRPr lang="en-US" sz="1400" b="0" i="0" u="none" strike="noStrike" kern="1200" baseline="0" dirty="0">
              <a:solidFill>
                <a:schemeClr val="tx1"/>
              </a:solidFill>
              <a:latin typeface="+mn-lt"/>
              <a:ea typeface="ＭＳ Ｐゴシック" pitchFamily="-106" charset="-128"/>
              <a:cs typeface="ＭＳ Ｐゴシック" pitchFamily="-106"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0" i="0" u="none" strike="noStrike" kern="1200" baseline="0" dirty="0">
                <a:solidFill>
                  <a:schemeClr val="tx1"/>
                </a:solidFill>
                <a:latin typeface="+mn-lt"/>
                <a:ea typeface="ＭＳ Ｐゴシック" pitchFamily="-106" charset="-128"/>
                <a:cs typeface="ＭＳ Ｐゴシック" pitchFamily="-106" charset="-128"/>
              </a:rPr>
              <a:t>(9)  Then one of the seven angels who had the seven bowls filled with the seven last plagues came to me and talked with me, saying, "Come, I will show you the bride, the Lamb's wife."  (10)  And he carried me away in the Spirit to a great and high mountain, and showed me the great city, the holy Jerusalem, descending out of heaven from God,  (11)  having the glory of God. </a:t>
            </a:r>
            <a:r>
              <a:rPr lang="en-US" sz="1400" b="1" i="0" u="none" strike="noStrike" kern="1200" baseline="0" dirty="0">
                <a:solidFill>
                  <a:schemeClr val="tx1"/>
                </a:solidFill>
                <a:latin typeface="+mn-lt"/>
                <a:ea typeface="ＭＳ Ｐゴシック" pitchFamily="-106" charset="-128"/>
                <a:cs typeface="ＭＳ Ｐゴシック" pitchFamily="-106" charset="-128"/>
              </a:rPr>
              <a:t>Her light </a:t>
            </a:r>
            <a:r>
              <a:rPr lang="en-US" sz="1400" b="1" i="1" u="none" strike="noStrike" kern="1200" baseline="0" dirty="0">
                <a:solidFill>
                  <a:schemeClr val="tx1"/>
                </a:solidFill>
                <a:latin typeface="+mn-lt"/>
                <a:ea typeface="ＭＳ Ｐゴシック" pitchFamily="-106" charset="-128"/>
                <a:cs typeface="ＭＳ Ｐゴシック" pitchFamily="-106" charset="-128"/>
              </a:rPr>
              <a:t>was</a:t>
            </a:r>
            <a:r>
              <a:rPr lang="en-US" sz="1400" b="1" i="0" u="none" strike="noStrike" kern="1200" baseline="0" dirty="0">
                <a:solidFill>
                  <a:schemeClr val="tx1"/>
                </a:solidFill>
                <a:latin typeface="+mn-lt"/>
                <a:ea typeface="ＭＳ Ｐゴシック" pitchFamily="-106" charset="-128"/>
                <a:cs typeface="ＭＳ Ｐゴシック" pitchFamily="-106" charset="-128"/>
              </a:rPr>
              <a:t> like a most precious stone, like a jasper stone, clear as crystal.</a:t>
            </a:r>
            <a:r>
              <a:rPr lang="en-US" sz="1400" b="0" i="0" u="none" strike="noStrike" kern="1200" baseline="0" dirty="0">
                <a:solidFill>
                  <a:schemeClr val="tx1"/>
                </a:solidFill>
                <a:latin typeface="+mn-lt"/>
                <a:ea typeface="ＭＳ Ｐゴシック" pitchFamily="-106" charset="-128"/>
                <a:cs typeface="ＭＳ Ｐゴシック" pitchFamily="-106" charset="-128"/>
              </a:rPr>
              <a:t>  (12)  Also she had a great and high wall with twelve gates, and twelve angels at the gates, and names written on them, which are </a:t>
            </a:r>
            <a:r>
              <a:rPr lang="en-US" sz="1400" b="0" i="1" u="none" strike="noStrike" kern="1200" baseline="0" dirty="0">
                <a:solidFill>
                  <a:schemeClr val="tx1"/>
                </a:solidFill>
                <a:latin typeface="+mn-lt"/>
                <a:ea typeface="ＭＳ Ｐゴシック" pitchFamily="-106" charset="-128"/>
                <a:cs typeface="ＭＳ Ｐゴシック" pitchFamily="-106" charset="-128"/>
              </a:rPr>
              <a:t>the names</a:t>
            </a:r>
            <a:r>
              <a:rPr lang="en-US" sz="1400" b="0" i="0" u="none" strike="noStrike" kern="1200" baseline="0" dirty="0">
                <a:solidFill>
                  <a:schemeClr val="tx1"/>
                </a:solidFill>
                <a:latin typeface="+mn-lt"/>
                <a:ea typeface="ＭＳ Ｐゴシック" pitchFamily="-106" charset="-128"/>
                <a:cs typeface="ＭＳ Ｐゴシック" pitchFamily="-106" charset="-128"/>
              </a:rPr>
              <a:t> of the twelve tribes of the children of Israel:  (13)  three gates on the east, three gates on the north, three gates on the south, and three gates on the west.  (14)  Now the wall of the city had twelve foundations, and on them were the names of the twelve apostles of the Lamb.  (15)  And he who talked with me had a gold reed to measure the city, its gates, and its wall.  (16)  The city is laid out as a square; its length is as great as its breadth. And he measured the city with the reed: twelve thousand furlongs. Its length, breadth, and height are equal.  (17)  Then he measured its wall: one hundred </a:t>
            </a:r>
            <a:r>
              <a:rPr lang="en-US" sz="1400" b="0" i="1" u="none" strike="noStrike" kern="1200" baseline="0" dirty="0">
                <a:solidFill>
                  <a:schemeClr val="tx1"/>
                </a:solidFill>
                <a:latin typeface="+mn-lt"/>
                <a:ea typeface="ＭＳ Ｐゴシック" pitchFamily="-106" charset="-128"/>
                <a:cs typeface="ＭＳ Ｐゴシック" pitchFamily="-106" charset="-128"/>
              </a:rPr>
              <a:t>and</a:t>
            </a:r>
            <a:r>
              <a:rPr lang="en-US" sz="1400" b="0" i="0" u="none" strike="noStrike" kern="1200" baseline="0" dirty="0">
                <a:solidFill>
                  <a:schemeClr val="tx1"/>
                </a:solidFill>
                <a:latin typeface="+mn-lt"/>
                <a:ea typeface="ＭＳ Ｐゴシック" pitchFamily="-106" charset="-128"/>
                <a:cs typeface="ＭＳ Ｐゴシック" pitchFamily="-106" charset="-128"/>
              </a:rPr>
              <a:t> forty-four cubits, </a:t>
            </a:r>
            <a:r>
              <a:rPr lang="en-US" sz="1400" b="0" i="1" u="none" strike="noStrike" kern="1200" baseline="0" dirty="0">
                <a:solidFill>
                  <a:schemeClr val="tx1"/>
                </a:solidFill>
                <a:latin typeface="+mn-lt"/>
                <a:ea typeface="ＭＳ Ｐゴシック" pitchFamily="-106" charset="-128"/>
                <a:cs typeface="ＭＳ Ｐゴシック" pitchFamily="-106" charset="-128"/>
              </a:rPr>
              <a:t>according</a:t>
            </a:r>
            <a:r>
              <a:rPr lang="en-US" sz="1400" b="0" i="0" u="none" strike="noStrike" kern="1200" baseline="0" dirty="0">
                <a:solidFill>
                  <a:schemeClr val="tx1"/>
                </a:solidFill>
                <a:latin typeface="+mn-lt"/>
                <a:ea typeface="ＭＳ Ｐゴシック" pitchFamily="-106" charset="-128"/>
                <a:cs typeface="ＭＳ Ｐゴシック" pitchFamily="-106" charset="-128"/>
              </a:rPr>
              <a:t> to the measure of a man, that is, of an angel.  (18)  The construction of its wall was </a:t>
            </a:r>
            <a:r>
              <a:rPr lang="en-US" sz="1400" b="0" i="1" u="none" strike="noStrike" kern="1200" baseline="0" dirty="0">
                <a:solidFill>
                  <a:schemeClr val="tx1"/>
                </a:solidFill>
                <a:latin typeface="+mn-lt"/>
                <a:ea typeface="ＭＳ Ｐゴシック" pitchFamily="-106" charset="-128"/>
                <a:cs typeface="ＭＳ Ｐゴシック" pitchFamily="-106" charset="-128"/>
              </a:rPr>
              <a:t>of</a:t>
            </a:r>
            <a:r>
              <a:rPr lang="en-US" sz="1400" b="0" i="0" u="none" strike="noStrike" kern="1200" baseline="0" dirty="0">
                <a:solidFill>
                  <a:schemeClr val="tx1"/>
                </a:solidFill>
                <a:latin typeface="+mn-lt"/>
                <a:ea typeface="ＭＳ Ｐゴシック" pitchFamily="-106" charset="-128"/>
                <a:cs typeface="ＭＳ Ｐゴシック" pitchFamily="-106" charset="-128"/>
              </a:rPr>
              <a:t> jasper; and the city </a:t>
            </a:r>
            <a:r>
              <a:rPr lang="en-US" sz="1400" b="0" i="1" u="none" strike="noStrike" kern="1200" baseline="0" dirty="0">
                <a:solidFill>
                  <a:schemeClr val="tx1"/>
                </a:solidFill>
                <a:latin typeface="+mn-lt"/>
                <a:ea typeface="ＭＳ Ｐゴシック" pitchFamily="-106" charset="-128"/>
                <a:cs typeface="ＭＳ Ｐゴシック" pitchFamily="-106" charset="-128"/>
              </a:rPr>
              <a:t>was</a:t>
            </a:r>
            <a:r>
              <a:rPr lang="en-US" sz="1400" b="0" i="0" u="none" strike="noStrike" kern="1200" baseline="0" dirty="0">
                <a:solidFill>
                  <a:schemeClr val="tx1"/>
                </a:solidFill>
                <a:latin typeface="+mn-lt"/>
                <a:ea typeface="ＭＳ Ｐゴシック" pitchFamily="-106" charset="-128"/>
                <a:cs typeface="ＭＳ Ｐゴシック" pitchFamily="-106" charset="-128"/>
              </a:rPr>
              <a:t> pure gold, like clear glass.  (19)  The foundations of the wall of the city </a:t>
            </a:r>
            <a:r>
              <a:rPr lang="en-US" sz="1400" b="0" i="1" u="none" strike="noStrike" kern="1200" baseline="0" dirty="0">
                <a:solidFill>
                  <a:schemeClr val="tx1"/>
                </a:solidFill>
                <a:latin typeface="+mn-lt"/>
                <a:ea typeface="ＭＳ Ｐゴシック" pitchFamily="-106" charset="-128"/>
                <a:cs typeface="ＭＳ Ｐゴシック" pitchFamily="-106" charset="-128"/>
              </a:rPr>
              <a:t>were</a:t>
            </a:r>
            <a:r>
              <a:rPr lang="en-US" sz="1400" b="0" i="0" u="none" strike="noStrike" kern="1200" baseline="0" dirty="0">
                <a:solidFill>
                  <a:schemeClr val="tx1"/>
                </a:solidFill>
                <a:latin typeface="+mn-lt"/>
                <a:ea typeface="ＭＳ Ｐゴシック" pitchFamily="-106" charset="-128"/>
                <a:cs typeface="ＭＳ Ｐゴシック" pitchFamily="-106" charset="-128"/>
              </a:rPr>
              <a:t> adorned with all kinds of precious stones: the first foundation </a:t>
            </a:r>
            <a:r>
              <a:rPr lang="en-US" sz="1400" b="0" i="1" u="none" strike="noStrike" kern="1200" baseline="0" dirty="0">
                <a:solidFill>
                  <a:schemeClr val="tx1"/>
                </a:solidFill>
                <a:latin typeface="+mn-lt"/>
                <a:ea typeface="ＭＳ Ｐゴシック" pitchFamily="-106" charset="-128"/>
                <a:cs typeface="ＭＳ Ｐゴシック" pitchFamily="-106" charset="-128"/>
              </a:rPr>
              <a:t>was</a:t>
            </a:r>
            <a:r>
              <a:rPr lang="en-US" sz="1400" b="0" i="0" u="none" strike="noStrike" kern="1200" baseline="0" dirty="0">
                <a:solidFill>
                  <a:schemeClr val="tx1"/>
                </a:solidFill>
                <a:latin typeface="+mn-lt"/>
                <a:ea typeface="ＭＳ Ｐゴシック" pitchFamily="-106" charset="-128"/>
                <a:cs typeface="ＭＳ Ｐゴシック" pitchFamily="-106" charset="-128"/>
              </a:rPr>
              <a:t> jasper, the second sapphire, the third chalcedony, the fourth emerald,  (20)  the fifth sardonyx, the sixth sardius, the seventh chrysolite, the eighth beryl, the ninth topaz, the tenth chrysoprase, the eleventh jacinth, and the twelfth amethyst.  (21)  </a:t>
            </a:r>
            <a:r>
              <a:rPr lang="en-US" sz="1400" b="1" i="0" u="none" strike="noStrike" kern="1200" baseline="0" dirty="0">
                <a:solidFill>
                  <a:schemeClr val="tx1"/>
                </a:solidFill>
                <a:latin typeface="+mn-lt"/>
                <a:ea typeface="ＭＳ Ｐゴシック" pitchFamily="-106" charset="-128"/>
                <a:cs typeface="ＭＳ Ｐゴシック" pitchFamily="-106" charset="-128"/>
              </a:rPr>
              <a:t>The twelve gates </a:t>
            </a:r>
            <a:r>
              <a:rPr lang="en-US" sz="1400" b="1" i="1" u="none" strike="noStrike" kern="1200" baseline="0" dirty="0">
                <a:solidFill>
                  <a:schemeClr val="tx1"/>
                </a:solidFill>
                <a:latin typeface="+mn-lt"/>
                <a:ea typeface="ＭＳ Ｐゴシック" pitchFamily="-106" charset="-128"/>
                <a:cs typeface="ＭＳ Ｐゴシック" pitchFamily="-106" charset="-128"/>
              </a:rPr>
              <a:t>were</a:t>
            </a:r>
            <a:r>
              <a:rPr lang="en-US" sz="1400" b="1" i="0" u="none" strike="noStrike" kern="1200" baseline="0" dirty="0">
                <a:solidFill>
                  <a:schemeClr val="tx1"/>
                </a:solidFill>
                <a:latin typeface="+mn-lt"/>
                <a:ea typeface="ＭＳ Ｐゴシック" pitchFamily="-106" charset="-128"/>
                <a:cs typeface="ＭＳ Ｐゴシック" pitchFamily="-106" charset="-128"/>
              </a:rPr>
              <a:t> twelve pearls: each individual gate was of one pearl.</a:t>
            </a:r>
            <a:r>
              <a:rPr lang="en-US" sz="1400" b="0" i="0" u="none" strike="noStrike" kern="1200" baseline="0" dirty="0">
                <a:solidFill>
                  <a:schemeClr val="tx1"/>
                </a:solidFill>
                <a:latin typeface="+mn-lt"/>
                <a:ea typeface="ＭＳ Ｐゴシック" pitchFamily="-106" charset="-128"/>
                <a:cs typeface="ＭＳ Ｐゴシック" pitchFamily="-106" charset="-128"/>
              </a:rPr>
              <a:t> And the street of the city </a:t>
            </a:r>
            <a:r>
              <a:rPr lang="en-US" sz="1400" b="0" i="1" u="none" strike="noStrike" kern="1200" baseline="0" dirty="0">
                <a:solidFill>
                  <a:schemeClr val="tx1"/>
                </a:solidFill>
                <a:latin typeface="+mn-lt"/>
                <a:ea typeface="ＭＳ Ｐゴシック" pitchFamily="-106" charset="-128"/>
                <a:cs typeface="ＭＳ Ｐゴシック" pitchFamily="-106" charset="-128"/>
              </a:rPr>
              <a:t>was</a:t>
            </a:r>
            <a:r>
              <a:rPr lang="en-US" sz="1400" b="0" i="0" u="none" strike="noStrike" kern="1200" baseline="0" dirty="0">
                <a:solidFill>
                  <a:schemeClr val="tx1"/>
                </a:solidFill>
                <a:latin typeface="+mn-lt"/>
                <a:ea typeface="ＭＳ Ｐゴシック" pitchFamily="-106" charset="-128"/>
                <a:cs typeface="ＭＳ Ｐゴシック" pitchFamily="-106" charset="-128"/>
              </a:rPr>
              <a:t> pure gold, like transparent glass.  (22)  But I saw no temple in it, for the Lord God Almighty and the Lamb are its temple.  (23)  The city had no need of the sun or of the moon to shine in it, for the glory of God illuminated it. The Lamb </a:t>
            </a:r>
            <a:r>
              <a:rPr lang="en-US" sz="1400" b="0" i="1" u="none" strike="noStrike" kern="1200" baseline="0" dirty="0">
                <a:solidFill>
                  <a:schemeClr val="tx1"/>
                </a:solidFill>
                <a:latin typeface="+mn-lt"/>
                <a:ea typeface="ＭＳ Ｐゴシック" pitchFamily="-106" charset="-128"/>
                <a:cs typeface="ＭＳ Ｐゴシック" pitchFamily="-106" charset="-128"/>
              </a:rPr>
              <a:t>is</a:t>
            </a:r>
            <a:r>
              <a:rPr lang="en-US" sz="1400" b="0" i="0" u="none" strike="noStrike" kern="1200" baseline="0" dirty="0">
                <a:solidFill>
                  <a:schemeClr val="tx1"/>
                </a:solidFill>
                <a:latin typeface="+mn-lt"/>
                <a:ea typeface="ＭＳ Ｐゴシック" pitchFamily="-106" charset="-128"/>
                <a:cs typeface="ＭＳ Ｐゴシック" pitchFamily="-106" charset="-128"/>
              </a:rPr>
              <a:t> its light.  (24)  And the nations of those who are saved shall walk in its light, and the kings of the earth bring their glory and honor into it.  (25)  Its gates shall not be shut at all by day (there shall be no night there).  (26)  And they shall bring the glory and the honor of the nations into it.  (27)  But there shall by no means enter it anything that defiles, or causes an abomination or a lie, but only those who are written in the Lamb's Book of Life.</a:t>
            </a:r>
          </a:p>
          <a:p>
            <a:endParaRPr lang="en-US" dirty="0"/>
          </a:p>
        </p:txBody>
      </p:sp>
      <p:sp>
        <p:nvSpPr>
          <p:cNvPr id="4" name="Slide Number Placeholder 3">
            <a:extLst>
              <a:ext uri="{FF2B5EF4-FFF2-40B4-BE49-F238E27FC236}">
                <a16:creationId xmlns:a16="http://schemas.microsoft.com/office/drawing/2014/main" id="{092ABF1C-7047-226B-1CA9-FFF1D944388D}"/>
              </a:ext>
            </a:extLst>
          </p:cNvPr>
          <p:cNvSpPr>
            <a:spLocks noGrp="1"/>
          </p:cNvSpPr>
          <p:nvPr>
            <p:ph type="sldNum" sz="quarter" idx="10"/>
          </p:nvPr>
        </p:nvSpPr>
        <p:spPr/>
        <p:txBody>
          <a:bodyPr/>
          <a:lstStyle/>
          <a:p>
            <a:pPr>
              <a:defRPr/>
            </a:pPr>
            <a:fld id="{07776858-791E-4C8D-8FA3-473B3AFECFAC}" type="slidenum">
              <a:rPr lang="en-US" smtClean="0"/>
              <a:pPr>
                <a:defRPr/>
              </a:pPr>
              <a:t>6</a:t>
            </a:fld>
            <a:endParaRPr lang="en-US" dirty="0"/>
          </a:p>
        </p:txBody>
      </p:sp>
    </p:spTree>
    <p:extLst>
      <p:ext uri="{BB962C8B-B14F-4D97-AF65-F5344CB8AC3E}">
        <p14:creationId xmlns:p14="http://schemas.microsoft.com/office/powerpoint/2010/main" val="18632452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70407-24EB-E3CE-8202-3436E87F69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C4EAEF-4B39-198B-A24C-1F214F0D364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540714-CD32-F0F0-43E9-10FF1221B023}"/>
              </a:ext>
            </a:extLst>
          </p:cNvPr>
          <p:cNvSpPr>
            <a:spLocks noGrp="1"/>
          </p:cNvSpPr>
          <p:nvPr>
            <p:ph type="body" idx="1"/>
          </p:nvPr>
        </p:nvSpPr>
        <p:spPr/>
        <p:txBody>
          <a:bodyPr>
            <a:normAutofit/>
          </a:bodyPr>
          <a:lstStyle/>
          <a:p>
            <a:r>
              <a:rPr lang="en-US" sz="1200" b="1" kern="1200" dirty="0">
                <a:solidFill>
                  <a:schemeClr val="tx1"/>
                </a:solidFill>
                <a:effectLst/>
                <a:latin typeface="+mn-lt"/>
                <a:ea typeface="ＭＳ Ｐゴシック" pitchFamily="-106" charset="-128"/>
                <a:cs typeface="ＭＳ Ｐゴシック" pitchFamily="-106" charset="-128"/>
              </a:rPr>
              <a:t>The Church as the “Pearl of Great Value”</a:t>
            </a:r>
            <a:endParaRPr lang="en-US" sz="1200" kern="1200" dirty="0">
              <a:solidFill>
                <a:schemeClr val="tx1"/>
              </a:solidFill>
              <a:effectLst/>
              <a:latin typeface="+mn-lt"/>
              <a:ea typeface="ＭＳ Ｐゴシック" pitchFamily="-106" charset="-128"/>
              <a:cs typeface="ＭＳ Ｐゴシック" pitchFamily="-106" charset="-128"/>
            </a:endParaRP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i="0" u="none" strike="noStrike" kern="1200" baseline="0" dirty="0">
                <a:solidFill>
                  <a:schemeClr val="tx1"/>
                </a:solidFill>
                <a:latin typeface="+mn-lt"/>
                <a:ea typeface="ＭＳ Ｐゴシック" pitchFamily="-106" charset="-128"/>
                <a:cs typeface="ＭＳ Ｐゴシック" pitchFamily="-106" charset="-128"/>
              </a:rPr>
              <a:t>Act 20:28  </a:t>
            </a:r>
            <a:r>
              <a:rPr lang="en-US" sz="1200" b="0" i="0" u="none" strike="noStrike" kern="1200" baseline="0" dirty="0">
                <a:solidFill>
                  <a:schemeClr val="tx1"/>
                </a:solidFill>
                <a:latin typeface="+mn-lt"/>
                <a:ea typeface="ＭＳ Ｐゴシック" pitchFamily="-106" charset="-128"/>
                <a:cs typeface="ＭＳ Ｐゴシック" pitchFamily="-106" charset="-128"/>
              </a:rPr>
              <a:t>Therefore take heed to yourselves and to all the flock, among which the Holy Spirit has made you overseers, to shepherd the church of God which </a:t>
            </a:r>
            <a:r>
              <a:rPr lang="en-US" sz="1200" b="1" i="0" u="none" strike="noStrike" kern="1200" baseline="0" dirty="0">
                <a:solidFill>
                  <a:schemeClr val="tx1"/>
                </a:solidFill>
                <a:latin typeface="+mn-lt"/>
                <a:ea typeface="ＭＳ Ｐゴシック" pitchFamily="-106" charset="-128"/>
                <a:cs typeface="ＭＳ Ｐゴシック" pitchFamily="-106" charset="-128"/>
              </a:rPr>
              <a:t>He purchased with His own blood</a:t>
            </a:r>
            <a:r>
              <a:rPr lang="en-US" sz="1200" b="0" i="0" u="none" strike="noStrike" kern="1200" baseline="0" dirty="0">
                <a:solidFill>
                  <a:schemeClr val="tx1"/>
                </a:solidFill>
                <a:latin typeface="+mn-lt"/>
                <a:ea typeface="ＭＳ Ｐゴシック" pitchFamily="-106" charset="-128"/>
                <a:cs typeface="ＭＳ Ｐゴシック" pitchFamily="-106" charset="-128"/>
              </a:rPr>
              <a:t>.</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657CB0A6-F5AA-2074-2A71-1E9CF4A2DE84}"/>
              </a:ext>
            </a:extLst>
          </p:cNvPr>
          <p:cNvSpPr>
            <a:spLocks noGrp="1"/>
          </p:cNvSpPr>
          <p:nvPr>
            <p:ph type="sldNum" sz="quarter" idx="10"/>
          </p:nvPr>
        </p:nvSpPr>
        <p:spPr/>
        <p:txBody>
          <a:bodyPr/>
          <a:lstStyle/>
          <a:p>
            <a:pPr>
              <a:defRPr/>
            </a:pPr>
            <a:fld id="{07776858-791E-4C8D-8FA3-473B3AFECFAC}" type="slidenum">
              <a:rPr lang="en-US" smtClean="0"/>
              <a:pPr>
                <a:defRPr/>
              </a:pPr>
              <a:t>7</a:t>
            </a:fld>
            <a:endParaRPr lang="en-US" dirty="0"/>
          </a:p>
        </p:txBody>
      </p:sp>
    </p:spTree>
    <p:extLst>
      <p:ext uri="{BB962C8B-B14F-4D97-AF65-F5344CB8AC3E}">
        <p14:creationId xmlns:p14="http://schemas.microsoft.com/office/powerpoint/2010/main" val="41818195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D3C00-C85C-61B3-2426-63275BCE6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7E4EF2-B195-C249-F250-BF78EF68650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B25AD72-F94E-BAE5-7B9F-5B7965B8DD6B}"/>
              </a:ext>
            </a:extLst>
          </p:cNvPr>
          <p:cNvSpPr>
            <a:spLocks noGrp="1"/>
          </p:cNvSpPr>
          <p:nvPr>
            <p:ph type="body" idx="1"/>
          </p:nvPr>
        </p:nvSpPr>
        <p:spPr/>
        <p:txBody>
          <a:bodyPr>
            <a:normAutofit/>
          </a:bodyPr>
          <a:lstStyle/>
          <a:p>
            <a:r>
              <a:rPr lang="en-US" sz="1400" b="1" kern="1200" dirty="0">
                <a:solidFill>
                  <a:schemeClr val="tx1"/>
                </a:solidFill>
                <a:effectLst/>
                <a:latin typeface="+mn-lt"/>
                <a:ea typeface="ＭＳ Ｐゴシック" pitchFamily="-106" charset="-128"/>
                <a:cs typeface="ＭＳ Ｐゴシック" pitchFamily="-106" charset="-128"/>
              </a:rPr>
              <a:t>Passing Through the Pearl Gates</a:t>
            </a:r>
          </a:p>
          <a:p>
            <a:endParaRPr lang="en-US" sz="1400" kern="1200" dirty="0">
              <a:solidFill>
                <a:schemeClr val="tx1"/>
              </a:solidFill>
              <a:effectLst/>
              <a:latin typeface="+mn-lt"/>
              <a:ea typeface="ＭＳ Ｐゴシック" pitchFamily="-106" charset="-128"/>
              <a:cs typeface="ＭＳ Ｐゴシック" pitchFamily="-106" charset="-128"/>
            </a:endParaRPr>
          </a:p>
          <a:p>
            <a:pPr marL="285750" indent="-285750">
              <a:buFont typeface="Arial" panose="020B0604020202020204" pitchFamily="34" charset="0"/>
              <a:buChar char="•"/>
            </a:pPr>
            <a:r>
              <a:rPr lang="en-US" sz="1400" dirty="0">
                <a:ea typeface="ＭＳ Ｐゴシック" pitchFamily="-106" charset="-128"/>
                <a:cs typeface="ＭＳ Ｐゴシック" pitchFamily="-106" charset="-128"/>
              </a:rPr>
              <a:t>This correlation is not forced.</a:t>
            </a:r>
          </a:p>
          <a:p>
            <a:pPr marL="285750" indent="-285750">
              <a:buFont typeface="Arial" panose="020B0604020202020204" pitchFamily="34" charset="0"/>
              <a:buChar char="•"/>
            </a:pPr>
            <a:r>
              <a:rPr lang="en-US" sz="1400" dirty="0">
                <a:ea typeface="ＭＳ Ｐゴシック" pitchFamily="-106" charset="-128"/>
                <a:cs typeface="ＭＳ Ｐゴシック" pitchFamily="-106" charset="-128"/>
              </a:rPr>
              <a:t>It is consistent with Scripture’s unified story:</a:t>
            </a:r>
          </a:p>
          <a:p>
            <a:pPr marL="742950" lvl="1" indent="-285750">
              <a:buFont typeface="Arial" panose="020B0604020202020204" pitchFamily="34" charset="0"/>
              <a:buChar char="•"/>
            </a:pPr>
            <a:r>
              <a:rPr lang="en-US" sz="1400" dirty="0">
                <a:ea typeface="ＭＳ Ｐゴシック" pitchFamily="-106" charset="-128"/>
                <a:cs typeface="ＭＳ Ｐゴシック" pitchFamily="-106" charset="-128"/>
              </a:rPr>
              <a:t>Glory comes through the cross,</a:t>
            </a:r>
          </a:p>
          <a:p>
            <a:pPr marL="742950" lvl="1" indent="-285750">
              <a:buFont typeface="Arial" panose="020B0604020202020204" pitchFamily="34" charset="0"/>
              <a:buChar char="•"/>
            </a:pPr>
            <a:r>
              <a:rPr lang="en-US" sz="1400" dirty="0">
                <a:ea typeface="ＭＳ Ｐゴシック" pitchFamily="-106" charset="-128"/>
                <a:cs typeface="ＭＳ Ｐゴシック" pitchFamily="-106" charset="-128"/>
              </a:rPr>
              <a:t>Life through death,</a:t>
            </a:r>
          </a:p>
          <a:p>
            <a:pPr marL="742950" lvl="1" indent="-285750">
              <a:buFont typeface="Arial" panose="020B0604020202020204" pitchFamily="34" charset="0"/>
              <a:buChar char="•"/>
            </a:pPr>
            <a:r>
              <a:rPr lang="en-US" sz="1400" dirty="0">
                <a:ea typeface="ＭＳ Ｐゴシック" pitchFamily="-106" charset="-128"/>
                <a:cs typeface="ＭＳ Ｐゴシック" pitchFamily="-106" charset="-128"/>
              </a:rPr>
              <a:t>And the kingdom through Christ alone.</a:t>
            </a:r>
          </a:p>
          <a:p>
            <a:endParaRPr lang="en-US" dirty="0"/>
          </a:p>
        </p:txBody>
      </p:sp>
      <p:sp>
        <p:nvSpPr>
          <p:cNvPr id="4" name="Slide Number Placeholder 3">
            <a:extLst>
              <a:ext uri="{FF2B5EF4-FFF2-40B4-BE49-F238E27FC236}">
                <a16:creationId xmlns:a16="http://schemas.microsoft.com/office/drawing/2014/main" id="{3B1BB534-324B-1282-8EDB-2310DD1B7449}"/>
              </a:ext>
            </a:extLst>
          </p:cNvPr>
          <p:cNvSpPr>
            <a:spLocks noGrp="1"/>
          </p:cNvSpPr>
          <p:nvPr>
            <p:ph type="sldNum" sz="quarter" idx="10"/>
          </p:nvPr>
        </p:nvSpPr>
        <p:spPr/>
        <p:txBody>
          <a:bodyPr/>
          <a:lstStyle/>
          <a:p>
            <a:pPr>
              <a:defRPr/>
            </a:pPr>
            <a:fld id="{07776858-791E-4C8D-8FA3-473B3AFECFAC}" type="slidenum">
              <a:rPr lang="en-US" smtClean="0"/>
              <a:pPr>
                <a:defRPr/>
              </a:pPr>
              <a:t>8</a:t>
            </a:fld>
            <a:endParaRPr lang="en-US" dirty="0"/>
          </a:p>
        </p:txBody>
      </p:sp>
    </p:spTree>
    <p:extLst>
      <p:ext uri="{BB962C8B-B14F-4D97-AF65-F5344CB8AC3E}">
        <p14:creationId xmlns:p14="http://schemas.microsoft.com/office/powerpoint/2010/main" val="773084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A53F3-F5FA-47DF-8211-8B502AD79E23}"/>
              </a:ext>
            </a:extLst>
          </p:cNvPr>
          <p:cNvSpPr txBox="1">
            <a:spLocks/>
          </p:cNvSpPr>
          <p:nvPr/>
        </p:nvSpPr>
        <p:spPr bwMode="auto">
          <a:xfrm>
            <a:off x="457200" y="419100"/>
            <a:ext cx="82296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47500" lnSpcReduction="20000"/>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6700" dirty="0"/>
              <a:t>The Promises of God</a:t>
            </a:r>
            <a:br>
              <a:rPr lang="en-US" dirty="0"/>
            </a:br>
            <a:endParaRPr lang="en-US" dirty="0"/>
          </a:p>
          <a:p>
            <a:r>
              <a:rPr lang="en-US" dirty="0"/>
              <a:t>Promise of Christ’s Return and Eternal Life</a:t>
            </a:r>
          </a:p>
          <a:p>
            <a:endParaRPr lang="en-US" sz="2400" dirty="0">
              <a:solidFill>
                <a:schemeClr val="tx2">
                  <a:lumMod val="60000"/>
                  <a:lumOff val="40000"/>
                </a:schemeClr>
              </a:solidFill>
            </a:endParaRPr>
          </a:p>
          <a:p>
            <a:r>
              <a:rPr lang="en-US" b="0" dirty="0"/>
              <a:t>Therefore, when they had come together, they asked Him, saying, "Lord, will You at this time restore the kingdom to Israel?" And He said to them, "It is not for you to know times or seasons which the Father has put in His own authority. But you shall receive power when the Holy Spirit has come upon you; and you shall be witnesses to Me in Jerusalem, and in all Judea and Samaria, and to the end of the earth." Now when He had spoken these things, while they watched, He was taken up, and a cloud received Him out of their sight. And while they looked steadfastly toward heaven as He went up, behold, two men stood by them in white apparel, who also said, "Men of Galilee, why do you stand gazing up into heaven? This </a:t>
            </a:r>
            <a:r>
              <a:rPr lang="en-US" b="0" i="1" dirty="0"/>
              <a:t>same</a:t>
            </a:r>
            <a:r>
              <a:rPr lang="en-US" b="0" dirty="0"/>
              <a:t> Jesus, who was taken up from you into heaven, will so come in like manner as you saw Him go into heaven."</a:t>
            </a:r>
          </a:p>
          <a:p>
            <a:r>
              <a:rPr lang="en-US" b="0" dirty="0"/>
              <a:t>(Acts 1:6-11)</a:t>
            </a:r>
          </a:p>
          <a:p>
            <a:endParaRPr lang="en-US" b="0" dirty="0"/>
          </a:p>
          <a:p>
            <a:r>
              <a:rPr lang="en-US" dirty="0">
                <a:solidFill>
                  <a:schemeClr val="tx2">
                    <a:lumMod val="60000"/>
                    <a:lumOff val="40000"/>
                  </a:schemeClr>
                </a:solidFill>
              </a:rPr>
              <a:t>http://tinyurl.com/GodOfPromises</a:t>
            </a:r>
          </a:p>
          <a:p>
            <a:endParaRPr lang="en-US" sz="2400" dirty="0">
              <a:solidFill>
                <a:schemeClr val="tx2">
                  <a:lumMod val="60000"/>
                  <a:lumOff val="40000"/>
                </a:schemeClr>
              </a:solidFill>
            </a:endParaRPr>
          </a:p>
        </p:txBody>
      </p:sp>
    </p:spTree>
    <p:extLst>
      <p:ext uri="{BB962C8B-B14F-4D97-AF65-F5344CB8AC3E}">
        <p14:creationId xmlns:p14="http://schemas.microsoft.com/office/powerpoint/2010/main" val="45865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16FF1C5C-098A-B7B4-29DA-163600C9EAB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9D62506-1BC3-6C6E-2FAB-806688DE005A}"/>
              </a:ext>
            </a:extLst>
          </p:cNvPr>
          <p:cNvSpPr txBox="1">
            <a:spLocks/>
          </p:cNvSpPr>
          <p:nvPr/>
        </p:nvSpPr>
        <p:spPr bwMode="auto">
          <a:xfrm>
            <a:off x="192879" y="28992"/>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4600" dirty="0"/>
              <a:t>God’s Character in Scripture</a:t>
            </a:r>
            <a:br>
              <a:rPr lang="en-US" dirty="0"/>
            </a:br>
            <a:r>
              <a:rPr lang="en-US" sz="3400" dirty="0">
                <a:solidFill>
                  <a:schemeClr val="tx2">
                    <a:lumMod val="60000"/>
                    <a:lumOff val="40000"/>
                  </a:schemeClr>
                </a:solidFill>
              </a:rPr>
              <a:t>Promises made </a:t>
            </a:r>
            <a:r>
              <a:rPr lang="en-US" sz="3400" dirty="0">
                <a:solidFill>
                  <a:schemeClr val="tx2">
                    <a:lumMod val="60000"/>
                    <a:lumOff val="40000"/>
                  </a:schemeClr>
                </a:solidFill>
                <a:sym typeface="Wingdings" panose="05000000000000000000" pitchFamily="2" charset="2"/>
              </a:rPr>
              <a:t></a:t>
            </a:r>
            <a:r>
              <a:rPr lang="en-US" sz="3400" dirty="0">
                <a:solidFill>
                  <a:schemeClr val="tx2">
                    <a:lumMod val="60000"/>
                    <a:lumOff val="40000"/>
                  </a:schemeClr>
                </a:solidFill>
              </a:rPr>
              <a:t> Promises fulfilled</a:t>
            </a:r>
            <a:endParaRPr lang="en-US" sz="3800" dirty="0">
              <a:solidFill>
                <a:schemeClr val="tx2">
                  <a:lumMod val="60000"/>
                  <a:lumOff val="40000"/>
                </a:schemeClr>
              </a:solidFill>
            </a:endParaRPr>
          </a:p>
        </p:txBody>
      </p:sp>
      <p:sp>
        <p:nvSpPr>
          <p:cNvPr id="3" name="TextBox 2">
            <a:extLst>
              <a:ext uri="{FF2B5EF4-FFF2-40B4-BE49-F238E27FC236}">
                <a16:creationId xmlns:a16="http://schemas.microsoft.com/office/drawing/2014/main" id="{C96E21EF-3DEE-2EB9-2120-682F4B4560B7}"/>
              </a:ext>
            </a:extLst>
          </p:cNvPr>
          <p:cNvSpPr txBox="1"/>
          <p:nvPr/>
        </p:nvSpPr>
        <p:spPr>
          <a:xfrm>
            <a:off x="233362" y="1035574"/>
            <a:ext cx="8677275" cy="4524315"/>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Acts 1:6–11; 1 Thessalonians 4:13–18; Revelation 21:1–8</a:t>
            </a:r>
            <a:endParaRPr lang="en-US"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At the ascension, the angels speak plainly.</a:t>
            </a:r>
          </a:p>
          <a:p>
            <a:pPr marL="742950" lvl="1" indent="-285750">
              <a:buFont typeface="Arial" panose="020B0604020202020204" pitchFamily="34" charset="0"/>
              <a:buChar char="•"/>
            </a:pPr>
            <a:r>
              <a:rPr lang="en-US" i="1" dirty="0">
                <a:ea typeface="ＭＳ Ｐゴシック" pitchFamily="-106" charset="-128"/>
                <a:cs typeface="ＭＳ Ｐゴシック" pitchFamily="-106" charset="-128"/>
              </a:rPr>
              <a:t>“This same Jesus… will come back in the same way you saw him go into heaven” </a:t>
            </a:r>
            <a:r>
              <a:rPr lang="en-US" dirty="0">
                <a:ea typeface="ＭＳ Ｐゴシック" pitchFamily="-106" charset="-128"/>
                <a:cs typeface="ＭＳ Ｐゴシック" pitchFamily="-106" charset="-128"/>
              </a:rPr>
              <a:t>(Acts 1:11).</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God ties hope to a real, future event.</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Paul describes Christ’s return as a moment of comfort, not fear.</a:t>
            </a:r>
          </a:p>
          <a:p>
            <a:pPr marL="742950" lvl="1" indent="-285750">
              <a:buFont typeface="Arial" panose="020B0604020202020204" pitchFamily="34" charset="0"/>
              <a:buChar char="•"/>
            </a:pPr>
            <a:r>
              <a:rPr lang="en-US" i="1" dirty="0">
                <a:ea typeface="ＭＳ Ｐゴシック" pitchFamily="-106" charset="-128"/>
                <a:cs typeface="ＭＳ Ｐゴシック" pitchFamily="-106" charset="-128"/>
              </a:rPr>
              <a:t>“The Lord himself will come down from heaven… and we will always be with the Lord” </a:t>
            </a:r>
            <a:r>
              <a:rPr lang="en-US" dirty="0">
                <a:ea typeface="ＭＳ Ｐゴシック" pitchFamily="-106" charset="-128"/>
                <a:cs typeface="ＭＳ Ｐゴシック" pitchFamily="-106" charset="-128"/>
              </a:rPr>
              <a:t>(1 Thessalonians 4:16–17).</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The goal is presence.</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Life with Christ, without end.</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Revelation shows what follows His return.</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A new heaven and a new earth.</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God dwelling with humanity.</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No death.</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No pain.</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This is the shape of eternal life (Revelation 21:1–4).</a:t>
            </a:r>
          </a:p>
        </p:txBody>
      </p:sp>
      <p:sp>
        <p:nvSpPr>
          <p:cNvPr id="7" name="TextBox 6">
            <a:extLst>
              <a:ext uri="{FF2B5EF4-FFF2-40B4-BE49-F238E27FC236}">
                <a16:creationId xmlns:a16="http://schemas.microsoft.com/office/drawing/2014/main" id="{81FE59E3-F2B7-6197-16CF-792FADB2AC4B}"/>
              </a:ext>
            </a:extLst>
          </p:cNvPr>
          <p:cNvSpPr txBox="1"/>
          <p:nvPr/>
        </p:nvSpPr>
        <p:spPr>
          <a:xfrm>
            <a:off x="233362" y="5822426"/>
            <a:ext cx="8601074" cy="369332"/>
          </a:xfrm>
          <a:prstGeom prst="rect">
            <a:avLst/>
          </a:prstGeom>
          <a:noFill/>
        </p:spPr>
        <p:txBody>
          <a:bodyPr wrap="square" rtlCol="0">
            <a:spAutoFit/>
          </a:bodyPr>
          <a:lstStyle/>
          <a:p>
            <a:r>
              <a:rPr lang="en-US" b="1" u="sng" dirty="0"/>
              <a:t>How should God’s character in history affect our hope of this promise?</a:t>
            </a:r>
            <a:r>
              <a:rPr lang="en-US" b="1" dirty="0"/>
              <a:t> </a:t>
            </a:r>
          </a:p>
        </p:txBody>
      </p:sp>
    </p:spTree>
    <p:extLst>
      <p:ext uri="{BB962C8B-B14F-4D97-AF65-F5344CB8AC3E}">
        <p14:creationId xmlns:p14="http://schemas.microsoft.com/office/powerpoint/2010/main" val="270849363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C82B7-FB43-E688-154C-39CC5206875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93DF048-E166-B840-A162-0F2E8C4CAE03}"/>
              </a:ext>
            </a:extLst>
          </p:cNvPr>
          <p:cNvSpPr txBox="1">
            <a:spLocks/>
          </p:cNvSpPr>
          <p:nvPr/>
        </p:nvSpPr>
        <p:spPr bwMode="auto">
          <a:xfrm>
            <a:off x="192879" y="28992"/>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4600" dirty="0"/>
              <a:t>God’s Character Revealed in Jesus</a:t>
            </a:r>
            <a:br>
              <a:rPr lang="en-US" dirty="0"/>
            </a:br>
            <a:r>
              <a:rPr lang="en-US" sz="3400" dirty="0">
                <a:solidFill>
                  <a:schemeClr val="tx2">
                    <a:lumMod val="60000"/>
                    <a:lumOff val="40000"/>
                  </a:schemeClr>
                </a:solidFill>
              </a:rPr>
              <a:t>The Alpha and the Omega</a:t>
            </a:r>
            <a:endParaRPr lang="en-US" sz="3800" dirty="0">
              <a:solidFill>
                <a:schemeClr val="tx2">
                  <a:lumMod val="60000"/>
                  <a:lumOff val="40000"/>
                </a:schemeClr>
              </a:solidFill>
            </a:endParaRPr>
          </a:p>
        </p:txBody>
      </p:sp>
      <p:sp>
        <p:nvSpPr>
          <p:cNvPr id="3" name="TextBox 2">
            <a:extLst>
              <a:ext uri="{FF2B5EF4-FFF2-40B4-BE49-F238E27FC236}">
                <a16:creationId xmlns:a16="http://schemas.microsoft.com/office/drawing/2014/main" id="{577940EB-198E-09E9-48C4-3FBC75DD266A}"/>
              </a:ext>
            </a:extLst>
          </p:cNvPr>
          <p:cNvSpPr txBox="1"/>
          <p:nvPr/>
        </p:nvSpPr>
        <p:spPr>
          <a:xfrm>
            <a:off x="192880" y="1019592"/>
            <a:ext cx="8677275" cy="3416320"/>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Matthew 24:30–31; John 17:24; Revelation 22:12</a:t>
            </a:r>
            <a:endParaRPr lang="en-US"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Jesus openly promised His return.</a:t>
            </a:r>
          </a:p>
          <a:p>
            <a:pPr marL="742950" lvl="1" indent="-285750">
              <a:buFont typeface="Arial" panose="020B0604020202020204" pitchFamily="34" charset="0"/>
              <a:buChar char="•"/>
            </a:pPr>
            <a:r>
              <a:rPr lang="en-US" i="1" dirty="0">
                <a:ea typeface="ＭＳ Ｐゴシック" pitchFamily="-106" charset="-128"/>
                <a:cs typeface="ＭＳ Ｐゴシック" pitchFamily="-106" charset="-128"/>
              </a:rPr>
              <a:t>“They will see the Son of Man arriving on the clouds of heaven with power and great glory” </a:t>
            </a:r>
            <a:r>
              <a:rPr lang="en-US" dirty="0">
                <a:ea typeface="ＭＳ Ｐゴシック" pitchFamily="-106" charset="-128"/>
                <a:cs typeface="ＭＳ Ｐゴシック" pitchFamily="-106" charset="-128"/>
              </a:rPr>
              <a:t>(Matthew 24:30).</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His coming is visible and decisive.</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But Jesus also reveals </a:t>
            </a:r>
            <a:r>
              <a:rPr lang="en-US" i="1" dirty="0">
                <a:ea typeface="ＭＳ Ｐゴシック" pitchFamily="-106" charset="-128"/>
                <a:cs typeface="ＭＳ Ｐゴシック" pitchFamily="-106" charset="-128"/>
              </a:rPr>
              <a:t>why</a:t>
            </a:r>
            <a:r>
              <a:rPr lang="en-US" dirty="0">
                <a:ea typeface="ＭＳ Ｐゴシック" pitchFamily="-106" charset="-128"/>
                <a:cs typeface="ＭＳ Ｐゴシック" pitchFamily="-106" charset="-128"/>
              </a:rPr>
              <a:t> He comes.</a:t>
            </a:r>
          </a:p>
          <a:p>
            <a:pPr marL="742950" lvl="1" indent="-285750">
              <a:buFont typeface="Arial" panose="020B0604020202020204" pitchFamily="34" charset="0"/>
              <a:buChar char="•"/>
            </a:pPr>
            <a:r>
              <a:rPr lang="en-US" i="1" dirty="0">
                <a:ea typeface="ＭＳ Ｐゴシック" pitchFamily="-106" charset="-128"/>
                <a:cs typeface="ＭＳ Ｐゴシック" pitchFamily="-106" charset="-128"/>
              </a:rPr>
              <a:t>“Father, I want those you have given me to be with me where I am”</a:t>
            </a:r>
            <a:r>
              <a:rPr lang="en-US" dirty="0">
                <a:ea typeface="ＭＳ Ｐゴシック" pitchFamily="-106" charset="-128"/>
                <a:cs typeface="ＭＳ Ｐゴシック" pitchFamily="-106" charset="-128"/>
              </a:rPr>
              <a:t> (John 17:24).</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Return and eternal life belong together.</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At the close of Scripture, Jesus says,</a:t>
            </a:r>
          </a:p>
          <a:p>
            <a:pPr marL="742950" lvl="1" indent="-285750">
              <a:buFont typeface="Arial" panose="020B0604020202020204" pitchFamily="34" charset="0"/>
              <a:buChar char="•"/>
            </a:pPr>
            <a:r>
              <a:rPr lang="en-US" i="1" dirty="0">
                <a:ea typeface="ＭＳ Ｐゴシック" pitchFamily="-106" charset="-128"/>
                <a:cs typeface="ＭＳ Ｐゴシック" pitchFamily="-106" charset="-128"/>
              </a:rPr>
              <a:t>“Look! I am coming soon, and my reward is with me”</a:t>
            </a:r>
            <a:r>
              <a:rPr lang="en-US" dirty="0">
                <a:ea typeface="ＭＳ Ｐゴシック" pitchFamily="-106" charset="-128"/>
                <a:cs typeface="ＭＳ Ｐゴシック" pitchFamily="-106" charset="-128"/>
              </a:rPr>
              <a:t> (Revelation 22:12).</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His return brings life, justice, and renewal.</a:t>
            </a:r>
          </a:p>
        </p:txBody>
      </p:sp>
      <p:sp>
        <p:nvSpPr>
          <p:cNvPr id="6" name="TextBox 5">
            <a:extLst>
              <a:ext uri="{FF2B5EF4-FFF2-40B4-BE49-F238E27FC236}">
                <a16:creationId xmlns:a16="http://schemas.microsoft.com/office/drawing/2014/main" id="{B64093C2-9A45-E164-4995-D8B0669AE661}"/>
              </a:ext>
            </a:extLst>
          </p:cNvPr>
          <p:cNvSpPr txBox="1"/>
          <p:nvPr/>
        </p:nvSpPr>
        <p:spPr>
          <a:xfrm>
            <a:off x="192879" y="4583162"/>
            <a:ext cx="8677275" cy="923330"/>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Why does God delay?</a:t>
            </a:r>
          </a:p>
          <a:p>
            <a:r>
              <a:rPr lang="en-US" b="1" dirty="0">
                <a:ea typeface="ＭＳ Ｐゴシック" pitchFamily="-106" charset="-128"/>
                <a:cs typeface="ＭＳ Ｐゴシック" pitchFamily="-106" charset="-128"/>
              </a:rPr>
              <a:t>2 Peter 3:9–13; Romans 8:18–25</a:t>
            </a:r>
            <a:endParaRPr lang="en-US" dirty="0">
              <a:ea typeface="ＭＳ Ｐゴシック" pitchFamily="-106" charset="-128"/>
              <a:cs typeface="ＭＳ Ｐゴシック" pitchFamily="-106" charset="-128"/>
            </a:endParaRPr>
          </a:p>
          <a:p>
            <a:endParaRPr lang="en-US"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1112714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D2243-0794-AEB4-AC42-E69B5F30BBD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0DDA7C6-2B0E-D11F-90D6-B9CCC9785D4D}"/>
              </a:ext>
            </a:extLst>
          </p:cNvPr>
          <p:cNvSpPr txBox="1">
            <a:spLocks/>
          </p:cNvSpPr>
          <p:nvPr/>
        </p:nvSpPr>
        <p:spPr bwMode="auto">
          <a:xfrm>
            <a:off x="192879" y="28992"/>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4100" dirty="0">
                <a:solidFill>
                  <a:schemeClr val="tx1"/>
                </a:solidFill>
                <a:ea typeface="ＭＳ Ｐゴシック" pitchFamily="-106" charset="-128"/>
                <a:cs typeface="ＭＳ Ｐゴシック" pitchFamily="-106" charset="-128"/>
              </a:rPr>
              <a:t>The Pearl, the Kingdom, and the Church</a:t>
            </a:r>
            <a:br>
              <a:rPr lang="en-US" dirty="0"/>
            </a:br>
            <a:r>
              <a:rPr lang="en-US" sz="3600" dirty="0">
                <a:solidFill>
                  <a:schemeClr val="tx2">
                    <a:lumMod val="60000"/>
                    <a:lumOff val="40000"/>
                  </a:schemeClr>
                </a:solidFill>
              </a:rPr>
              <a:t>A biblical-theological correlation</a:t>
            </a:r>
          </a:p>
        </p:txBody>
      </p:sp>
      <p:sp>
        <p:nvSpPr>
          <p:cNvPr id="3" name="TextBox 2">
            <a:extLst>
              <a:ext uri="{FF2B5EF4-FFF2-40B4-BE49-F238E27FC236}">
                <a16:creationId xmlns:a16="http://schemas.microsoft.com/office/drawing/2014/main" id="{227CA997-9BE3-F8F5-1EDB-C9016AF392A1}"/>
              </a:ext>
            </a:extLst>
          </p:cNvPr>
          <p:cNvSpPr txBox="1"/>
          <p:nvPr/>
        </p:nvSpPr>
        <p:spPr>
          <a:xfrm>
            <a:off x="192880" y="1019592"/>
            <a:ext cx="8677275" cy="2031325"/>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The Kingdom as a Pearl (Matthew 13)</a:t>
            </a:r>
            <a:endParaRPr lang="en-US"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13:44 -  </a:t>
            </a:r>
            <a:r>
              <a:rPr lang="en-US" dirty="0">
                <a:ea typeface="ＭＳ Ｐゴシック" pitchFamily="-106" charset="-128"/>
                <a:cs typeface="ＭＳ Ｐゴシック" pitchFamily="-106" charset="-128"/>
              </a:rPr>
              <a:t>“The kingdom of heaven is like a </a:t>
            </a:r>
            <a:r>
              <a:rPr lang="en-US" b="1" dirty="0">
                <a:ea typeface="ＭＳ Ｐゴシック" pitchFamily="-106" charset="-128"/>
                <a:cs typeface="ＭＳ Ｐゴシック" pitchFamily="-106" charset="-128"/>
              </a:rPr>
              <a:t>treasure</a:t>
            </a:r>
            <a:r>
              <a:rPr lang="en-US" dirty="0">
                <a:ea typeface="ＭＳ Ｐゴシック" pitchFamily="-106" charset="-128"/>
                <a:cs typeface="ＭＳ Ｐゴシック" pitchFamily="-106" charset="-128"/>
              </a:rPr>
              <a:t> hidden in a field that a person found and hid. Then because of joy, he went and sold all that he had and bought that field.”</a:t>
            </a: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13:45-46 - </a:t>
            </a:r>
            <a:r>
              <a:rPr lang="en-US" dirty="0">
                <a:ea typeface="ＭＳ Ｐゴシック" pitchFamily="-106" charset="-128"/>
                <a:cs typeface="ＭＳ Ｐゴシック" pitchFamily="-106" charset="-128"/>
              </a:rPr>
              <a:t>“Again, the kingdom of heaven is like a merchant searching for fine pearls. When he found a </a:t>
            </a:r>
            <a:r>
              <a:rPr lang="en-US" b="1" dirty="0">
                <a:ea typeface="ＭＳ Ｐゴシック" pitchFamily="-106" charset="-128"/>
                <a:cs typeface="ＭＳ Ｐゴシック" pitchFamily="-106" charset="-128"/>
              </a:rPr>
              <a:t>pearl</a:t>
            </a:r>
            <a:r>
              <a:rPr lang="en-US" dirty="0">
                <a:ea typeface="ＭＳ Ｐゴシック" pitchFamily="-106" charset="-128"/>
                <a:cs typeface="ＭＳ Ｐゴシック" pitchFamily="-106" charset="-128"/>
              </a:rPr>
              <a:t> of great value, he sold everything he had and bought it.”</a:t>
            </a:r>
            <a:endParaRPr lang="en-US" b="1" dirty="0">
              <a:ea typeface="ＭＳ Ｐゴシック" pitchFamily="-106" charset="-128"/>
              <a:cs typeface="ＭＳ Ｐゴシック" pitchFamily="-106" charset="-128"/>
            </a:endParaRPr>
          </a:p>
        </p:txBody>
      </p:sp>
      <p:sp>
        <p:nvSpPr>
          <p:cNvPr id="2" name="TextBox 1">
            <a:extLst>
              <a:ext uri="{FF2B5EF4-FFF2-40B4-BE49-F238E27FC236}">
                <a16:creationId xmlns:a16="http://schemas.microsoft.com/office/drawing/2014/main" id="{6C462ACB-29C4-372B-A1DF-9774D7A78B30}"/>
              </a:ext>
            </a:extLst>
          </p:cNvPr>
          <p:cNvSpPr txBox="1"/>
          <p:nvPr/>
        </p:nvSpPr>
        <p:spPr>
          <a:xfrm>
            <a:off x="183585" y="3150275"/>
            <a:ext cx="8677275" cy="2308324"/>
          </a:xfrm>
          <a:prstGeom prst="rect">
            <a:avLst/>
          </a:prstGeom>
          <a:noFill/>
        </p:spPr>
        <p:txBody>
          <a:bodyPr wrap="square" rtlCol="0">
            <a:spAutoFit/>
          </a:bodyPr>
          <a:lstStyle/>
          <a:p>
            <a:pPr fontAlgn="ctr"/>
            <a:r>
              <a:rPr lang="en-US" b="1" dirty="0">
                <a:ea typeface="ＭＳ Ｐゴシック" pitchFamily="-106" charset="-128"/>
                <a:cs typeface="ＭＳ Ｐゴシック" pitchFamily="-106" charset="-128"/>
              </a:rPr>
              <a:t>Observations:</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The pearl is </a:t>
            </a:r>
            <a:r>
              <a:rPr lang="en-US" b="1" dirty="0">
                <a:ea typeface="ＭＳ Ｐゴシック" pitchFamily="-106" charset="-128"/>
                <a:cs typeface="ＭＳ Ｐゴシック" pitchFamily="-106" charset="-128"/>
              </a:rPr>
              <a:t>singular</a:t>
            </a:r>
            <a:r>
              <a:rPr lang="en-US" dirty="0">
                <a:ea typeface="ＭＳ Ｐゴシック" pitchFamily="-106" charset="-128"/>
                <a:cs typeface="ＭＳ Ｐゴシック" pitchFamily="-106" charset="-128"/>
              </a:rPr>
              <a:t>.  Nothing else compares.</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Its value is </a:t>
            </a:r>
            <a:r>
              <a:rPr lang="en-US" b="1" dirty="0">
                <a:ea typeface="ＭＳ Ｐゴシック" pitchFamily="-106" charset="-128"/>
                <a:cs typeface="ＭＳ Ｐゴシック" pitchFamily="-106" charset="-128"/>
              </a:rPr>
              <a:t>recognized</a:t>
            </a:r>
            <a:r>
              <a:rPr lang="en-US" dirty="0">
                <a:ea typeface="ＭＳ Ｐゴシック" pitchFamily="-106" charset="-128"/>
                <a:cs typeface="ＭＳ Ｐゴシック" pitchFamily="-106" charset="-128"/>
              </a:rPr>
              <a:t>, not imposed.  It is worth everything.</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Possession requires </a:t>
            </a:r>
            <a:r>
              <a:rPr lang="en-US" b="1" dirty="0">
                <a:ea typeface="ＭＳ Ｐゴシック" pitchFamily="-106" charset="-128"/>
                <a:cs typeface="ＭＳ Ｐゴシック" pitchFamily="-106" charset="-128"/>
              </a:rPr>
              <a:t>total surrender</a:t>
            </a:r>
            <a:r>
              <a:rPr lang="en-US" dirty="0">
                <a:ea typeface="ＭＳ Ｐゴシック" pitchFamily="-106" charset="-128"/>
                <a:cs typeface="ＭＳ Ｐゴシック" pitchFamily="-106" charset="-128"/>
              </a:rPr>
              <a:t>.</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The merchant seeks intentionally, unlike the man who stumbles on the treasure in the field (13:44).</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The kingdom here is not described as inherited or assumed.</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It is recognized, valued, and chosen at great cost.</a:t>
            </a:r>
          </a:p>
        </p:txBody>
      </p:sp>
      <p:sp>
        <p:nvSpPr>
          <p:cNvPr id="6" name="TextBox 5">
            <a:extLst>
              <a:ext uri="{FF2B5EF4-FFF2-40B4-BE49-F238E27FC236}">
                <a16:creationId xmlns:a16="http://schemas.microsoft.com/office/drawing/2014/main" id="{8716D864-0862-A88F-7F17-0194382EF1DF}"/>
              </a:ext>
            </a:extLst>
          </p:cNvPr>
          <p:cNvSpPr txBox="1"/>
          <p:nvPr/>
        </p:nvSpPr>
        <p:spPr>
          <a:xfrm>
            <a:off x="163141" y="5557957"/>
            <a:ext cx="8677275" cy="646331"/>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How are the Kingdom of Heaven and the Church related?</a:t>
            </a: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Why did Jesus use the “kingdom of &lt;___&gt;” phraseology?</a:t>
            </a:r>
            <a:endParaRPr lang="en-US"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386432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0E0AD-8853-E91C-835A-D377856DDFB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9300292-0236-AF2A-56A1-9F35FC71A098}"/>
              </a:ext>
            </a:extLst>
          </p:cNvPr>
          <p:cNvSpPr txBox="1">
            <a:spLocks/>
          </p:cNvSpPr>
          <p:nvPr/>
        </p:nvSpPr>
        <p:spPr bwMode="auto">
          <a:xfrm>
            <a:off x="192879" y="28992"/>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500" dirty="0">
                <a:solidFill>
                  <a:schemeClr val="tx1"/>
                </a:solidFill>
                <a:ea typeface="ＭＳ Ｐゴシック" pitchFamily="-106" charset="-128"/>
                <a:cs typeface="ＭＳ Ｐゴシック" pitchFamily="-106" charset="-128"/>
              </a:rPr>
              <a:t>The Church, Like a Treasured Pearl</a:t>
            </a:r>
            <a:br>
              <a:rPr lang="en-US" dirty="0"/>
            </a:br>
            <a:r>
              <a:rPr lang="en-US" sz="3000" dirty="0">
                <a:solidFill>
                  <a:schemeClr val="tx2">
                    <a:lumMod val="60000"/>
                    <a:lumOff val="40000"/>
                  </a:schemeClr>
                </a:solidFill>
              </a:rPr>
              <a:t>A biblical-theological correlation</a:t>
            </a:r>
          </a:p>
        </p:txBody>
      </p:sp>
      <p:sp>
        <p:nvSpPr>
          <p:cNvPr id="3" name="TextBox 2">
            <a:extLst>
              <a:ext uri="{FF2B5EF4-FFF2-40B4-BE49-F238E27FC236}">
                <a16:creationId xmlns:a16="http://schemas.microsoft.com/office/drawing/2014/main" id="{B80E8C05-C653-98BC-1EAE-47DDAA2EA548}"/>
              </a:ext>
            </a:extLst>
          </p:cNvPr>
          <p:cNvSpPr txBox="1"/>
          <p:nvPr/>
        </p:nvSpPr>
        <p:spPr>
          <a:xfrm>
            <a:off x="192880" y="1019592"/>
            <a:ext cx="8677275" cy="2585323"/>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Pearl as a Symbol of Costly Formation</a:t>
            </a:r>
            <a:endParaRPr lang="en-US"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Scripture does not explain how pearls form.</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But biblical symbolism often assumes common human knowledge.</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A pearl forms through </a:t>
            </a:r>
            <a:r>
              <a:rPr lang="en-US" b="1" dirty="0">
                <a:ea typeface="ＭＳ Ｐゴシック" pitchFamily="-106" charset="-128"/>
                <a:cs typeface="ＭＳ Ｐゴシック" pitchFamily="-106" charset="-128"/>
              </a:rPr>
              <a:t>irritation and suffering</a:t>
            </a:r>
            <a:r>
              <a:rPr lang="en-US" dirty="0">
                <a:ea typeface="ＭＳ Ｐゴシック" pitchFamily="-106" charset="-128"/>
                <a:cs typeface="ＭＳ Ｐゴシック" pitchFamily="-106" charset="-128"/>
              </a:rPr>
              <a:t>.</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It is produced by a living organism responding to intrusion.</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This aligns with how Scripture describes God’s people:</a:t>
            </a:r>
          </a:p>
          <a:p>
            <a:pPr marL="742950" lvl="1" indent="-285750" fontAlgn="ctr">
              <a:buFont typeface="Arial" panose="020B0604020202020204" pitchFamily="34" charset="0"/>
              <a:buChar char="•"/>
            </a:pPr>
            <a:r>
              <a:rPr lang="en-US" dirty="0">
                <a:ea typeface="ＭＳ Ｐゴシック" pitchFamily="-106" charset="-128"/>
                <a:cs typeface="ＭＳ Ｐゴシック" pitchFamily="-106" charset="-128"/>
              </a:rPr>
              <a:t>Formed through trial</a:t>
            </a:r>
          </a:p>
          <a:p>
            <a:pPr marL="742950" lvl="1" indent="-285750" fontAlgn="ctr">
              <a:buFont typeface="Arial" panose="020B0604020202020204" pitchFamily="34" charset="0"/>
              <a:buChar char="•"/>
            </a:pPr>
            <a:r>
              <a:rPr lang="en-US" dirty="0">
                <a:ea typeface="ＭＳ Ｐゴシック" pitchFamily="-106" charset="-128"/>
                <a:cs typeface="ＭＳ Ｐゴシック" pitchFamily="-106" charset="-128"/>
              </a:rPr>
              <a:t>Refined through suffering</a:t>
            </a:r>
          </a:p>
          <a:p>
            <a:pPr marL="742950" lvl="1" indent="-285750" fontAlgn="ctr">
              <a:buFont typeface="Arial" panose="020B0604020202020204" pitchFamily="34" charset="0"/>
              <a:buChar char="•"/>
            </a:pPr>
            <a:r>
              <a:rPr lang="en-US" dirty="0">
                <a:ea typeface="ＭＳ Ｐゴシック" pitchFamily="-106" charset="-128"/>
                <a:cs typeface="ＭＳ Ｐゴシック" pitchFamily="-106" charset="-128"/>
              </a:rPr>
              <a:t>Glorified through perseverance</a:t>
            </a:r>
          </a:p>
        </p:txBody>
      </p:sp>
      <p:sp>
        <p:nvSpPr>
          <p:cNvPr id="2" name="TextBox 1">
            <a:extLst>
              <a:ext uri="{FF2B5EF4-FFF2-40B4-BE49-F238E27FC236}">
                <a16:creationId xmlns:a16="http://schemas.microsoft.com/office/drawing/2014/main" id="{87AE7D86-BE26-2388-71EF-CA2BA674150A}"/>
              </a:ext>
            </a:extLst>
          </p:cNvPr>
          <p:cNvSpPr txBox="1"/>
          <p:nvPr/>
        </p:nvSpPr>
        <p:spPr>
          <a:xfrm>
            <a:off x="192879" y="3718352"/>
            <a:ext cx="8677275" cy="1477328"/>
          </a:xfrm>
          <a:prstGeom prst="rect">
            <a:avLst/>
          </a:prstGeom>
          <a:noFill/>
        </p:spPr>
        <p:txBody>
          <a:bodyPr wrap="square" rtlCol="0">
            <a:spAutoFit/>
          </a:bodyPr>
          <a:lstStyle/>
          <a:p>
            <a:pPr fontAlgn="ctr"/>
            <a:r>
              <a:rPr lang="en-US" b="1" dirty="0"/>
              <a:t>Observations:</a:t>
            </a:r>
            <a:endParaRPr lang="en-US"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Romans 5:3–4</a:t>
            </a:r>
            <a:r>
              <a:rPr lang="en-US" dirty="0">
                <a:ea typeface="ＭＳ Ｐゴシック" pitchFamily="-106" charset="-128"/>
                <a:cs typeface="ＭＳ Ｐゴシック" pitchFamily="-106" charset="-128"/>
              </a:rPr>
              <a:t> - </a:t>
            </a:r>
            <a:r>
              <a:rPr lang="en-US" i="1" dirty="0">
                <a:ea typeface="ＭＳ Ｐゴシック" pitchFamily="-106" charset="-128"/>
                <a:cs typeface="ＭＳ Ｐゴシック" pitchFamily="-106" charset="-128"/>
              </a:rPr>
              <a:t>“Suffering produces endurance, endurance character, and character hope.”</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The church is not created instantly.</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It is formed through faithfulness under pressure.</a:t>
            </a:r>
          </a:p>
        </p:txBody>
      </p:sp>
      <p:sp>
        <p:nvSpPr>
          <p:cNvPr id="6" name="TextBox 5">
            <a:extLst>
              <a:ext uri="{FF2B5EF4-FFF2-40B4-BE49-F238E27FC236}">
                <a16:creationId xmlns:a16="http://schemas.microsoft.com/office/drawing/2014/main" id="{0EBDACEA-AABD-1D93-BE74-51CF270B0481}"/>
              </a:ext>
            </a:extLst>
          </p:cNvPr>
          <p:cNvSpPr txBox="1"/>
          <p:nvPr/>
        </p:nvSpPr>
        <p:spPr>
          <a:xfrm>
            <a:off x="192879" y="5309117"/>
            <a:ext cx="8529637" cy="1200329"/>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How do the similarities and contrasts between Old and New Covenants lead to an understanding of the cost of the formation of the Church? </a:t>
            </a: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What were the risks and costs associated with prior covenants?</a:t>
            </a: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What are the expectations and risks associated with the New Covenant?</a:t>
            </a:r>
            <a:endParaRPr lang="en-US"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727697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6A55E-8707-990C-AB6B-EF448FB2880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1BF832D-52C6-4173-8A6C-EA735BFB2807}"/>
              </a:ext>
            </a:extLst>
          </p:cNvPr>
          <p:cNvSpPr txBox="1">
            <a:spLocks/>
          </p:cNvSpPr>
          <p:nvPr/>
        </p:nvSpPr>
        <p:spPr bwMode="auto">
          <a:xfrm>
            <a:off x="192879" y="28992"/>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500" dirty="0">
                <a:solidFill>
                  <a:schemeClr val="tx1"/>
                </a:solidFill>
                <a:ea typeface="ＭＳ Ｐゴシック" pitchFamily="-106" charset="-128"/>
                <a:cs typeface="ＭＳ Ｐゴシック" pitchFamily="-106" charset="-128"/>
              </a:rPr>
              <a:t>The Church, New Jerusalem, Pearl Gates</a:t>
            </a:r>
            <a:br>
              <a:rPr lang="en-US" dirty="0"/>
            </a:br>
            <a:r>
              <a:rPr lang="en-US" sz="3000" dirty="0">
                <a:solidFill>
                  <a:schemeClr val="tx2">
                    <a:lumMod val="60000"/>
                    <a:lumOff val="40000"/>
                  </a:schemeClr>
                </a:solidFill>
              </a:rPr>
              <a:t>A biblical-theological correlation</a:t>
            </a:r>
          </a:p>
        </p:txBody>
      </p:sp>
      <p:sp>
        <p:nvSpPr>
          <p:cNvPr id="3" name="TextBox 2">
            <a:extLst>
              <a:ext uri="{FF2B5EF4-FFF2-40B4-BE49-F238E27FC236}">
                <a16:creationId xmlns:a16="http://schemas.microsoft.com/office/drawing/2014/main" id="{C0CC62FD-F533-14D7-D008-DE09C138E5AB}"/>
              </a:ext>
            </a:extLst>
          </p:cNvPr>
          <p:cNvSpPr txBox="1"/>
          <p:nvPr/>
        </p:nvSpPr>
        <p:spPr>
          <a:xfrm>
            <a:off x="192880" y="1019592"/>
            <a:ext cx="8677275" cy="2031325"/>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The New Jerusalem and the Pearl Gates (Revelation 21)</a:t>
            </a:r>
            <a:endParaRPr lang="en-US"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21:21  “</a:t>
            </a:r>
            <a:r>
              <a:rPr lang="en-US" i="1" dirty="0">
                <a:ea typeface="ＭＳ Ｐゴシック" pitchFamily="-106" charset="-128"/>
                <a:cs typeface="ＭＳ Ｐゴシック" pitchFamily="-106" charset="-128"/>
              </a:rPr>
              <a:t>Then I, John, saw the holy city, New Jerusalem, coming down out of heaven from God, prepared as a bride adorned for her husband.” </a:t>
            </a: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21:21  </a:t>
            </a:r>
            <a:r>
              <a:rPr lang="en-US" i="1" dirty="0">
                <a:ea typeface="ＭＳ Ｐゴシック" pitchFamily="-106" charset="-128"/>
                <a:cs typeface="ＭＳ Ｐゴシック" pitchFamily="-106" charset="-128"/>
              </a:rPr>
              <a:t>“The twelve gates were twelve </a:t>
            </a:r>
            <a:r>
              <a:rPr lang="en-US" b="1" i="1" dirty="0">
                <a:ea typeface="ＭＳ Ｐゴシック" pitchFamily="-106" charset="-128"/>
                <a:cs typeface="ＭＳ Ｐゴシック" pitchFamily="-106" charset="-128"/>
              </a:rPr>
              <a:t>pearls</a:t>
            </a:r>
            <a:r>
              <a:rPr lang="en-US" i="1" dirty="0">
                <a:ea typeface="ＭＳ Ｐゴシック" pitchFamily="-106" charset="-128"/>
                <a:cs typeface="ＭＳ Ｐゴシック" pitchFamily="-106" charset="-128"/>
              </a:rPr>
              <a:t>: each individual gate was of one pearl.”</a:t>
            </a: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21:27  </a:t>
            </a:r>
            <a:r>
              <a:rPr lang="en-US" i="1" dirty="0">
                <a:ea typeface="ＭＳ Ｐゴシック" pitchFamily="-106" charset="-128"/>
                <a:cs typeface="ＭＳ Ｐゴシック" pitchFamily="-106" charset="-128"/>
              </a:rPr>
              <a:t>“But there shall by no means enter it anything that defiles, or causes an abomination or a lie, but only those who are written in the Lamb's Book of Life.”</a:t>
            </a:r>
            <a:endParaRPr lang="en-US" b="1" i="1" dirty="0">
              <a:ea typeface="ＭＳ Ｐゴシック" pitchFamily="-106" charset="-128"/>
              <a:cs typeface="ＭＳ Ｐゴシック" pitchFamily="-106" charset="-128"/>
            </a:endParaRPr>
          </a:p>
        </p:txBody>
      </p:sp>
      <p:sp>
        <p:nvSpPr>
          <p:cNvPr id="2" name="TextBox 1">
            <a:extLst>
              <a:ext uri="{FF2B5EF4-FFF2-40B4-BE49-F238E27FC236}">
                <a16:creationId xmlns:a16="http://schemas.microsoft.com/office/drawing/2014/main" id="{E72C373C-B0D4-E1DF-2082-A6E180C50021}"/>
              </a:ext>
            </a:extLst>
          </p:cNvPr>
          <p:cNvSpPr txBox="1"/>
          <p:nvPr/>
        </p:nvSpPr>
        <p:spPr>
          <a:xfrm>
            <a:off x="192880" y="3164354"/>
            <a:ext cx="8677275" cy="1754326"/>
          </a:xfrm>
          <a:prstGeom prst="rect">
            <a:avLst/>
          </a:prstGeom>
          <a:noFill/>
        </p:spPr>
        <p:txBody>
          <a:bodyPr wrap="square" rtlCol="0">
            <a:spAutoFit/>
          </a:bodyPr>
          <a:lstStyle/>
          <a:p>
            <a:pPr fontAlgn="ctr"/>
            <a:r>
              <a:rPr lang="en-US" b="1" dirty="0"/>
              <a:t>Observations:</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Each gate is made from </a:t>
            </a:r>
            <a:r>
              <a:rPr lang="en-US" b="1" dirty="0">
                <a:ea typeface="ＭＳ Ｐゴシック" pitchFamily="-106" charset="-128"/>
                <a:cs typeface="ＭＳ Ｐゴシック" pitchFamily="-106" charset="-128"/>
              </a:rPr>
              <a:t>one pearl</a:t>
            </a:r>
            <a:r>
              <a:rPr lang="en-US" dirty="0">
                <a:ea typeface="ＭＳ Ｐゴシック" pitchFamily="-106" charset="-128"/>
                <a:cs typeface="ＭＳ Ｐゴシック" pitchFamily="-106" charset="-128"/>
              </a:rPr>
              <a:t>, not many.</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Gates are </a:t>
            </a:r>
            <a:r>
              <a:rPr lang="en-US" b="1" dirty="0">
                <a:ea typeface="ＭＳ Ｐゴシック" pitchFamily="-106" charset="-128"/>
                <a:cs typeface="ＭＳ Ｐゴシック" pitchFamily="-106" charset="-128"/>
              </a:rPr>
              <a:t>points of entry</a:t>
            </a:r>
            <a:r>
              <a:rPr lang="en-US" dirty="0">
                <a:ea typeface="ＭＳ Ｐゴシック" pitchFamily="-106" charset="-128"/>
                <a:cs typeface="ＭＳ Ｐゴシック" pitchFamily="-106" charset="-128"/>
              </a:rPr>
              <a:t>, not decoration.</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The city represents </a:t>
            </a:r>
            <a:r>
              <a:rPr lang="en-US" b="1" dirty="0">
                <a:ea typeface="ＭＳ Ｐゴシック" pitchFamily="-106" charset="-128"/>
                <a:cs typeface="ＭＳ Ｐゴシック" pitchFamily="-106" charset="-128"/>
              </a:rPr>
              <a:t>the people of God</a:t>
            </a:r>
            <a:r>
              <a:rPr lang="en-US" dirty="0">
                <a:ea typeface="ＭＳ Ｐゴシック" pitchFamily="-106" charset="-128"/>
                <a:cs typeface="ＭＳ Ｐゴシック" pitchFamily="-106" charset="-128"/>
              </a:rPr>
              <a:t>, not a mere structure (21:2, 9–10).</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The imagery is deliberate.</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If walls define identity, </a:t>
            </a:r>
            <a:r>
              <a:rPr lang="en-US" b="1" dirty="0">
                <a:ea typeface="ＭＳ Ｐゴシック" pitchFamily="-106" charset="-128"/>
                <a:cs typeface="ＭＳ Ｐゴシック" pitchFamily="-106" charset="-128"/>
              </a:rPr>
              <a:t>gates define access</a:t>
            </a:r>
            <a:r>
              <a:rPr lang="en-US" dirty="0">
                <a:ea typeface="ＭＳ Ｐゴシック" pitchFamily="-106" charset="-128"/>
                <a:cs typeface="ＭＳ Ｐゴシック" pitchFamily="-106" charset="-128"/>
              </a:rPr>
              <a:t>.</a:t>
            </a:r>
          </a:p>
        </p:txBody>
      </p:sp>
      <p:sp>
        <p:nvSpPr>
          <p:cNvPr id="6" name="TextBox 5">
            <a:extLst>
              <a:ext uri="{FF2B5EF4-FFF2-40B4-BE49-F238E27FC236}">
                <a16:creationId xmlns:a16="http://schemas.microsoft.com/office/drawing/2014/main" id="{07E6C4A7-150F-0ADD-A6DA-A062D051D4B2}"/>
              </a:ext>
            </a:extLst>
          </p:cNvPr>
          <p:cNvSpPr txBox="1"/>
          <p:nvPr/>
        </p:nvSpPr>
        <p:spPr>
          <a:xfrm>
            <a:off x="192879" y="5032117"/>
            <a:ext cx="8677275" cy="1200329"/>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What are the key metaphors implied via the Pearl Gates?  </a:t>
            </a: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If ‘suffering’, whose suffering? </a:t>
            </a: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If ‘the way’, what is the preceding path?</a:t>
            </a: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What part, if any, does sin play in this correlation of metaphor to reality?  </a:t>
            </a:r>
            <a:endParaRPr lang="en-US"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2069409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14609-5D76-7C29-C4DB-BC558D42120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1A0E78C-4C7D-79AF-4141-86C1786F585E}"/>
              </a:ext>
            </a:extLst>
          </p:cNvPr>
          <p:cNvSpPr txBox="1">
            <a:spLocks/>
          </p:cNvSpPr>
          <p:nvPr/>
        </p:nvSpPr>
        <p:spPr bwMode="auto">
          <a:xfrm>
            <a:off x="192879" y="28992"/>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500" dirty="0">
                <a:solidFill>
                  <a:schemeClr val="tx1"/>
                </a:solidFill>
                <a:ea typeface="ＭＳ Ｐゴシック" pitchFamily="-106" charset="-128"/>
                <a:cs typeface="ＭＳ Ｐゴシック" pitchFamily="-106" charset="-128"/>
              </a:rPr>
              <a:t>The Church, a </a:t>
            </a:r>
            <a:r>
              <a:rPr lang="en-US" sz="3600" dirty="0">
                <a:solidFill>
                  <a:schemeClr val="tx1"/>
                </a:solidFill>
                <a:ea typeface="ＭＳ Ｐゴシック" pitchFamily="-106" charset="-128"/>
                <a:cs typeface="ＭＳ Ｐゴシック" pitchFamily="-106" charset="-128"/>
              </a:rPr>
              <a:t>“Pearl of Great Value”</a:t>
            </a:r>
            <a:br>
              <a:rPr lang="en-US" dirty="0"/>
            </a:br>
            <a:r>
              <a:rPr lang="en-US" sz="3000" dirty="0">
                <a:solidFill>
                  <a:schemeClr val="tx2">
                    <a:lumMod val="60000"/>
                    <a:lumOff val="40000"/>
                  </a:schemeClr>
                </a:solidFill>
              </a:rPr>
              <a:t>A biblical-theological correlation</a:t>
            </a:r>
          </a:p>
        </p:txBody>
      </p:sp>
      <p:sp>
        <p:nvSpPr>
          <p:cNvPr id="3" name="TextBox 2">
            <a:extLst>
              <a:ext uri="{FF2B5EF4-FFF2-40B4-BE49-F238E27FC236}">
                <a16:creationId xmlns:a16="http://schemas.microsoft.com/office/drawing/2014/main" id="{5D6675FA-74DF-BCCC-45E4-312359F50FB1}"/>
              </a:ext>
            </a:extLst>
          </p:cNvPr>
          <p:cNvSpPr txBox="1"/>
          <p:nvPr/>
        </p:nvSpPr>
        <p:spPr>
          <a:xfrm>
            <a:off x="192880" y="1019592"/>
            <a:ext cx="8677275" cy="3693319"/>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The Church as the “Pearl of Great Value”</a:t>
            </a:r>
            <a:endParaRPr lang="en-US"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There is a strong thematic coherence here:</a:t>
            </a:r>
          </a:p>
          <a:p>
            <a:pPr marL="742950" lvl="1" indent="-285750" fontAlgn="ctr">
              <a:buFont typeface="Arial" panose="020B0604020202020204" pitchFamily="34" charset="0"/>
              <a:buChar char="•"/>
            </a:pPr>
            <a:r>
              <a:rPr lang="en-US" dirty="0">
                <a:ea typeface="ＭＳ Ｐゴシック" pitchFamily="-106" charset="-128"/>
                <a:cs typeface="ＭＳ Ｐゴシック" pitchFamily="-106" charset="-128"/>
              </a:rPr>
              <a:t>In </a:t>
            </a:r>
            <a:r>
              <a:rPr lang="en-US" b="1" dirty="0">
                <a:ea typeface="ＭＳ Ｐゴシック" pitchFamily="-106" charset="-128"/>
                <a:cs typeface="ＭＳ Ｐゴシック" pitchFamily="-106" charset="-128"/>
              </a:rPr>
              <a:t>Matthew 13</a:t>
            </a:r>
            <a:r>
              <a:rPr lang="en-US" dirty="0">
                <a:ea typeface="ＭＳ Ｐゴシック" pitchFamily="-106" charset="-128"/>
                <a:cs typeface="ＭＳ Ｐゴシック" pitchFamily="-106" charset="-128"/>
              </a:rPr>
              <a:t>, the kingdom is a pearl worth everything.</a:t>
            </a:r>
          </a:p>
          <a:p>
            <a:pPr marL="742950" lvl="1" indent="-285750" fontAlgn="ctr">
              <a:buFont typeface="Arial" panose="020B0604020202020204" pitchFamily="34" charset="0"/>
              <a:buChar char="•"/>
            </a:pPr>
            <a:r>
              <a:rPr lang="en-US" dirty="0">
                <a:ea typeface="ＭＳ Ｐゴシック" pitchFamily="-106" charset="-128"/>
                <a:cs typeface="ＭＳ Ｐゴシック" pitchFamily="-106" charset="-128"/>
              </a:rPr>
              <a:t>In </a:t>
            </a:r>
            <a:r>
              <a:rPr lang="en-US" b="1" dirty="0">
                <a:ea typeface="ＭＳ Ｐゴシック" pitchFamily="-106" charset="-128"/>
                <a:cs typeface="ＭＳ Ｐゴシック" pitchFamily="-106" charset="-128"/>
              </a:rPr>
              <a:t>Revelation 21</a:t>
            </a:r>
            <a:r>
              <a:rPr lang="en-US" dirty="0">
                <a:ea typeface="ＭＳ Ｐゴシック" pitchFamily="-106" charset="-128"/>
                <a:cs typeface="ＭＳ Ｐゴシック" pitchFamily="-106" charset="-128"/>
              </a:rPr>
              <a:t>, the people of God are entered </a:t>
            </a:r>
            <a:r>
              <a:rPr lang="en-US" i="1" dirty="0">
                <a:ea typeface="ＭＳ Ｐゴシック" pitchFamily="-106" charset="-128"/>
                <a:cs typeface="ＭＳ Ｐゴシック" pitchFamily="-106" charset="-128"/>
              </a:rPr>
              <a:t>through</a:t>
            </a:r>
            <a:r>
              <a:rPr lang="en-US" dirty="0">
                <a:ea typeface="ＭＳ Ｐゴシック" pitchFamily="-106" charset="-128"/>
                <a:cs typeface="ＭＳ Ｐゴシック" pitchFamily="-106" charset="-128"/>
              </a:rPr>
              <a:t> pearl gates.</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Christ gives everything to purchase His people (Acts 20:28).</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Entry into eternal life comes through Christ’s suffering, not bypassing it.</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This does </a:t>
            </a:r>
            <a:r>
              <a:rPr lang="en-US" b="1" u="sng" dirty="0">
                <a:ea typeface="ＭＳ Ｐゴシック" pitchFamily="-106" charset="-128"/>
                <a:cs typeface="ＭＳ Ｐゴシック" pitchFamily="-106" charset="-128"/>
              </a:rPr>
              <a:t>not</a:t>
            </a:r>
            <a:r>
              <a:rPr lang="en-US" dirty="0">
                <a:ea typeface="ＭＳ Ｐゴシック" pitchFamily="-106" charset="-128"/>
                <a:cs typeface="ＭＳ Ｐゴシック" pitchFamily="-106" charset="-128"/>
              </a:rPr>
              <a:t> mean:</a:t>
            </a:r>
          </a:p>
          <a:p>
            <a:pPr marL="742950" lvl="1" indent="-285750" fontAlgn="ctr">
              <a:buFont typeface="Arial" panose="020B0604020202020204" pitchFamily="34" charset="0"/>
              <a:buChar char="•"/>
            </a:pPr>
            <a:r>
              <a:rPr lang="en-US" dirty="0">
                <a:ea typeface="ＭＳ Ｐゴシック" pitchFamily="-106" charset="-128"/>
                <a:cs typeface="ＭＳ Ｐゴシック" pitchFamily="-106" charset="-128"/>
              </a:rPr>
              <a:t>Believers earn salvation by suffering.</a:t>
            </a:r>
          </a:p>
          <a:p>
            <a:pPr marL="742950" lvl="1" indent="-285750" fontAlgn="ctr">
              <a:buFont typeface="Arial" panose="020B0604020202020204" pitchFamily="34" charset="0"/>
              <a:buChar char="•"/>
            </a:pPr>
            <a:r>
              <a:rPr lang="en-US" dirty="0">
                <a:ea typeface="ＭＳ Ｐゴシック" pitchFamily="-106" charset="-128"/>
                <a:cs typeface="ＭＳ Ｐゴシック" pitchFamily="-106" charset="-128"/>
              </a:rPr>
              <a:t>Suffering itself saves.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It does mean:</a:t>
            </a:r>
          </a:p>
          <a:p>
            <a:pPr marL="742950" lvl="1" indent="-285750" fontAlgn="ctr">
              <a:buFont typeface="Arial" panose="020B0604020202020204" pitchFamily="34" charset="0"/>
              <a:buChar char="•"/>
            </a:pPr>
            <a:r>
              <a:rPr lang="en-US" dirty="0">
                <a:ea typeface="ＭＳ Ｐゴシック" pitchFamily="-106" charset="-128"/>
                <a:cs typeface="ＭＳ Ｐゴシック" pitchFamily="-106" charset="-128"/>
              </a:rPr>
              <a:t>The </a:t>
            </a:r>
            <a:r>
              <a:rPr lang="en-US" b="1" dirty="0">
                <a:ea typeface="ＭＳ Ｐゴシック" pitchFamily="-106" charset="-128"/>
                <a:cs typeface="ＭＳ Ｐゴシック" pitchFamily="-106" charset="-128"/>
              </a:rPr>
              <a:t>way</a:t>
            </a:r>
            <a:r>
              <a:rPr lang="en-US" dirty="0">
                <a:ea typeface="ＭＳ Ｐゴシック" pitchFamily="-106" charset="-128"/>
                <a:cs typeface="ＭＳ Ｐゴシック" pitchFamily="-106" charset="-128"/>
              </a:rPr>
              <a:t> into the kingdom is </a:t>
            </a:r>
            <a:r>
              <a:rPr lang="en-US" u="sng" dirty="0">
                <a:ea typeface="ＭＳ Ｐゴシック" pitchFamily="-106" charset="-128"/>
                <a:cs typeface="ＭＳ Ｐゴシック" pitchFamily="-106" charset="-128"/>
              </a:rPr>
              <a:t>shaped by the cross</a:t>
            </a:r>
            <a:r>
              <a:rPr lang="en-US" dirty="0">
                <a:ea typeface="ＭＳ Ｐゴシック" pitchFamily="-106" charset="-128"/>
                <a:cs typeface="ＭＳ Ｐゴシック" pitchFamily="-106" charset="-128"/>
              </a:rPr>
              <a:t>.</a:t>
            </a:r>
          </a:p>
          <a:p>
            <a:pPr marL="742950" lvl="1" indent="-285750" fontAlgn="ctr">
              <a:buFont typeface="Arial" panose="020B0604020202020204" pitchFamily="34" charset="0"/>
              <a:buChar char="•"/>
            </a:pPr>
            <a:r>
              <a:rPr lang="en-US" dirty="0">
                <a:ea typeface="ＭＳ Ｐゴシック" pitchFamily="-106" charset="-128"/>
                <a:cs typeface="ＭＳ Ｐゴシック" pitchFamily="-106" charset="-128"/>
              </a:rPr>
              <a:t>The church exists because </a:t>
            </a:r>
            <a:r>
              <a:rPr lang="en-US" b="1" dirty="0">
                <a:ea typeface="ＭＳ Ｐゴシック" pitchFamily="-106" charset="-128"/>
                <a:cs typeface="ＭＳ Ｐゴシック" pitchFamily="-106" charset="-128"/>
              </a:rPr>
              <a:t>Christ overcame suffering</a:t>
            </a:r>
            <a:r>
              <a:rPr lang="en-US" dirty="0">
                <a:ea typeface="ＭＳ Ｐゴシック" pitchFamily="-106" charset="-128"/>
                <a:cs typeface="ＭＳ Ｐゴシック" pitchFamily="-106" charset="-128"/>
              </a:rPr>
              <a:t>.</a:t>
            </a:r>
          </a:p>
          <a:p>
            <a:pPr marL="742950" lvl="1" indent="-285750" fontAlgn="ctr">
              <a:buFont typeface="Arial" panose="020B0604020202020204" pitchFamily="34" charset="0"/>
              <a:buChar char="•"/>
            </a:pPr>
            <a:r>
              <a:rPr lang="en-US" dirty="0">
                <a:ea typeface="ＭＳ Ｐゴシック" pitchFamily="-106" charset="-128"/>
                <a:cs typeface="ＭＳ Ｐゴシック" pitchFamily="-106" charset="-128"/>
              </a:rPr>
              <a:t>Participation in the kingdom follows that same pattern.</a:t>
            </a:r>
          </a:p>
        </p:txBody>
      </p:sp>
      <p:sp>
        <p:nvSpPr>
          <p:cNvPr id="2" name="TextBox 1">
            <a:extLst>
              <a:ext uri="{FF2B5EF4-FFF2-40B4-BE49-F238E27FC236}">
                <a16:creationId xmlns:a16="http://schemas.microsoft.com/office/drawing/2014/main" id="{A6E5169F-DEA8-14C0-4656-83DB973D3D28}"/>
              </a:ext>
            </a:extLst>
          </p:cNvPr>
          <p:cNvSpPr txBox="1"/>
          <p:nvPr/>
        </p:nvSpPr>
        <p:spPr>
          <a:xfrm>
            <a:off x="233362" y="4953000"/>
            <a:ext cx="8677275" cy="1200329"/>
          </a:xfrm>
          <a:prstGeom prst="rect">
            <a:avLst/>
          </a:prstGeom>
          <a:noFill/>
        </p:spPr>
        <p:txBody>
          <a:bodyPr wrap="square" rtlCol="0">
            <a:spAutoFit/>
          </a:bodyPr>
          <a:lstStyle/>
          <a:p>
            <a:pPr fontAlgn="ctr"/>
            <a:r>
              <a:rPr lang="en-US" b="1" dirty="0"/>
              <a:t>Observations:</a:t>
            </a:r>
            <a:endParaRPr lang="en-US"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John 16:33 </a:t>
            </a:r>
            <a:r>
              <a:rPr lang="en-US" i="1" dirty="0">
                <a:ea typeface="ＭＳ Ｐゴシック" pitchFamily="-106" charset="-128"/>
                <a:cs typeface="ＭＳ Ｐゴシック" pitchFamily="-106" charset="-128"/>
              </a:rPr>
              <a:t>“In the world you have trouble and suffering but take courage - I have conquered the world.”</a:t>
            </a:r>
          </a:p>
          <a:p>
            <a:pPr marL="285750" indent="-285750">
              <a:buFont typeface="Arial" panose="020B0604020202020204" pitchFamily="34" charset="0"/>
              <a:buChar char="•"/>
            </a:pPr>
            <a:endParaRPr lang="en-US"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1195806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8EE2C-D3EE-5BF2-8747-A0C4A01D21E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57B45F5-D99A-EAFB-F13B-A325A0AB4EF0}"/>
              </a:ext>
            </a:extLst>
          </p:cNvPr>
          <p:cNvSpPr txBox="1">
            <a:spLocks/>
          </p:cNvSpPr>
          <p:nvPr/>
        </p:nvSpPr>
        <p:spPr bwMode="auto">
          <a:xfrm>
            <a:off x="192879" y="28992"/>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3500" dirty="0">
                <a:solidFill>
                  <a:schemeClr val="tx1"/>
                </a:solidFill>
                <a:ea typeface="ＭＳ Ｐゴシック" pitchFamily="-106" charset="-128"/>
                <a:cs typeface="ＭＳ Ｐゴシック" pitchFamily="-106" charset="-128"/>
              </a:rPr>
              <a:t>Passing Through the Pearl Gates </a:t>
            </a:r>
            <a:br>
              <a:rPr lang="en-US" dirty="0"/>
            </a:br>
            <a:r>
              <a:rPr lang="en-US" sz="3000" dirty="0">
                <a:solidFill>
                  <a:schemeClr val="tx2">
                    <a:lumMod val="60000"/>
                    <a:lumOff val="40000"/>
                  </a:schemeClr>
                </a:solidFill>
              </a:rPr>
              <a:t>Access to the fulfilled promises of God</a:t>
            </a:r>
          </a:p>
        </p:txBody>
      </p:sp>
      <p:sp>
        <p:nvSpPr>
          <p:cNvPr id="3" name="TextBox 2">
            <a:extLst>
              <a:ext uri="{FF2B5EF4-FFF2-40B4-BE49-F238E27FC236}">
                <a16:creationId xmlns:a16="http://schemas.microsoft.com/office/drawing/2014/main" id="{4E8B671E-B1F2-7053-E1C6-77BF99FD7B62}"/>
              </a:ext>
            </a:extLst>
          </p:cNvPr>
          <p:cNvSpPr txBox="1"/>
          <p:nvPr/>
        </p:nvSpPr>
        <p:spPr>
          <a:xfrm>
            <a:off x="192879" y="1019592"/>
            <a:ext cx="8677275" cy="2031325"/>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Passing Through the Pearl Gates as the Way into the City of God</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Gates are crossed.  They are not, as are the walls, just to be admired from a distance. The image suggests this pattern:</a:t>
            </a:r>
          </a:p>
          <a:p>
            <a:pPr marL="742950" lvl="1" indent="-285750" fontAlgn="ctr">
              <a:buFont typeface="Arial" panose="020B0604020202020204" pitchFamily="34" charset="0"/>
              <a:buChar char="•"/>
            </a:pPr>
            <a:r>
              <a:rPr lang="en-US" dirty="0">
                <a:ea typeface="ＭＳ Ｐゴシック" pitchFamily="-106" charset="-128"/>
                <a:cs typeface="ＭＳ Ｐゴシック" pitchFamily="-106" charset="-128"/>
              </a:rPr>
              <a:t>The kingdom is revealed as priceless.</a:t>
            </a:r>
          </a:p>
          <a:p>
            <a:pPr marL="742950" lvl="1" indent="-285750" fontAlgn="ctr">
              <a:buFont typeface="Arial" panose="020B0604020202020204" pitchFamily="34" charset="0"/>
              <a:buChar char="•"/>
            </a:pPr>
            <a:r>
              <a:rPr lang="en-US" dirty="0">
                <a:ea typeface="ＭＳ Ｐゴシック" pitchFamily="-106" charset="-128"/>
                <a:cs typeface="ＭＳ Ｐゴシック" pitchFamily="-106" charset="-128"/>
              </a:rPr>
              <a:t>Christ purchases it at infinite cost.</a:t>
            </a:r>
          </a:p>
          <a:p>
            <a:pPr marL="742950" lvl="1" indent="-285750" fontAlgn="ctr">
              <a:buFont typeface="Arial" panose="020B0604020202020204" pitchFamily="34" charset="0"/>
              <a:buChar char="•"/>
            </a:pPr>
            <a:r>
              <a:rPr lang="en-US" dirty="0">
                <a:ea typeface="ＭＳ Ｐゴシック" pitchFamily="-106" charset="-128"/>
                <a:cs typeface="ＭＳ Ｐゴシック" pitchFamily="-106" charset="-128"/>
              </a:rPr>
              <a:t>The church is formed through suffering and faith.</a:t>
            </a:r>
          </a:p>
          <a:p>
            <a:pPr marL="742950" lvl="1" indent="-285750" fontAlgn="ctr">
              <a:buFont typeface="Arial" panose="020B0604020202020204" pitchFamily="34" charset="0"/>
              <a:buChar char="•"/>
            </a:pPr>
            <a:r>
              <a:rPr lang="en-US" b="1" dirty="0">
                <a:ea typeface="ＭＳ Ｐゴシック" pitchFamily="-106" charset="-128"/>
                <a:cs typeface="ＭＳ Ｐゴシック" pitchFamily="-106" charset="-128"/>
              </a:rPr>
              <a:t>Entry</a:t>
            </a:r>
            <a:r>
              <a:rPr lang="en-US" dirty="0">
                <a:ea typeface="ＭＳ Ｐゴシック" pitchFamily="-106" charset="-128"/>
                <a:cs typeface="ＭＳ Ｐゴシック" pitchFamily="-106" charset="-128"/>
              </a:rPr>
              <a:t> into the final city comes </a:t>
            </a:r>
            <a:r>
              <a:rPr lang="en-US" b="1" dirty="0">
                <a:ea typeface="ＭＳ Ｐゴシック" pitchFamily="-106" charset="-128"/>
                <a:cs typeface="ＭＳ Ｐゴシック" pitchFamily="-106" charset="-128"/>
              </a:rPr>
              <a:t>through what Christ has formed</a:t>
            </a:r>
            <a:r>
              <a:rPr lang="en-US" dirty="0">
                <a:ea typeface="ＭＳ Ｐゴシック" pitchFamily="-106" charset="-128"/>
                <a:cs typeface="ＭＳ Ｐゴシック" pitchFamily="-106" charset="-128"/>
              </a:rPr>
              <a:t>.</a:t>
            </a:r>
          </a:p>
        </p:txBody>
      </p:sp>
      <p:sp>
        <p:nvSpPr>
          <p:cNvPr id="2" name="TextBox 1">
            <a:extLst>
              <a:ext uri="{FF2B5EF4-FFF2-40B4-BE49-F238E27FC236}">
                <a16:creationId xmlns:a16="http://schemas.microsoft.com/office/drawing/2014/main" id="{AEA982A7-7707-59E8-A7CC-2BD47A3DEDCC}"/>
              </a:ext>
            </a:extLst>
          </p:cNvPr>
          <p:cNvSpPr txBox="1"/>
          <p:nvPr/>
        </p:nvSpPr>
        <p:spPr>
          <a:xfrm>
            <a:off x="192878" y="3080654"/>
            <a:ext cx="8677275" cy="3416320"/>
          </a:xfrm>
          <a:prstGeom prst="rect">
            <a:avLst/>
          </a:prstGeom>
          <a:noFill/>
        </p:spPr>
        <p:txBody>
          <a:bodyPr wrap="square" rtlCol="0">
            <a:spAutoFit/>
          </a:bodyPr>
          <a:lstStyle/>
          <a:p>
            <a:pPr fontAlgn="ctr"/>
            <a:r>
              <a:rPr lang="en-US" b="1" dirty="0"/>
              <a:t>Observations:</a:t>
            </a:r>
            <a:endParaRPr lang="en-US"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Matthew 7:13–14  </a:t>
            </a:r>
            <a:r>
              <a:rPr lang="en-US" dirty="0">
                <a:ea typeface="ＭＳ Ｐゴシック" pitchFamily="-106" charset="-128"/>
                <a:cs typeface="ＭＳ Ｐゴシック" pitchFamily="-106" charset="-128"/>
              </a:rPr>
              <a:t>“</a:t>
            </a:r>
            <a:r>
              <a:rPr lang="en-US" i="1" dirty="0">
                <a:ea typeface="ＭＳ Ｐゴシック" pitchFamily="-106" charset="-128"/>
                <a:cs typeface="ＭＳ Ｐゴシック" pitchFamily="-106" charset="-128"/>
              </a:rPr>
              <a:t>Enter through the narrow gate… the way is narrow that leads to life.”</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Revelation does not contradict Matthew.  It completes it.</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The </a:t>
            </a:r>
            <a:r>
              <a:rPr lang="en-US" b="1" dirty="0">
                <a:ea typeface="ＭＳ Ｐゴシック" pitchFamily="-106" charset="-128"/>
                <a:cs typeface="ＭＳ Ｐゴシック" pitchFamily="-106" charset="-128"/>
              </a:rPr>
              <a:t>pearl</a:t>
            </a:r>
            <a:r>
              <a:rPr lang="en-US" dirty="0">
                <a:ea typeface="ＭＳ Ｐゴシック" pitchFamily="-106" charset="-128"/>
                <a:cs typeface="ＭＳ Ｐゴシック" pitchFamily="-106" charset="-128"/>
              </a:rPr>
              <a:t> in Matthew shows the </a:t>
            </a:r>
            <a:r>
              <a:rPr lang="en-US" u="sng" dirty="0">
                <a:ea typeface="ＭＳ Ｐゴシック" pitchFamily="-106" charset="-128"/>
                <a:cs typeface="ＭＳ Ｐゴシック" pitchFamily="-106" charset="-128"/>
              </a:rPr>
              <a:t>value of the kingdom</a:t>
            </a:r>
            <a:r>
              <a:rPr lang="en-US" dirty="0">
                <a:ea typeface="ＭＳ Ｐゴシック" pitchFamily="-106" charset="-128"/>
                <a:cs typeface="ＭＳ Ｐゴシック" pitchFamily="-106" charset="-128"/>
              </a:rPr>
              <a:t>.</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The </a:t>
            </a:r>
            <a:r>
              <a:rPr lang="en-US" b="1" dirty="0">
                <a:ea typeface="ＭＳ Ｐゴシック" pitchFamily="-106" charset="-128"/>
                <a:cs typeface="ＭＳ Ｐゴシック" pitchFamily="-106" charset="-128"/>
              </a:rPr>
              <a:t>pearl gates</a:t>
            </a:r>
            <a:r>
              <a:rPr lang="en-US" dirty="0">
                <a:ea typeface="ＭＳ Ｐゴシック" pitchFamily="-106" charset="-128"/>
                <a:cs typeface="ＭＳ Ｐゴシック" pitchFamily="-106" charset="-128"/>
              </a:rPr>
              <a:t> in Revelation show the </a:t>
            </a:r>
            <a:r>
              <a:rPr lang="en-US" u="sng" dirty="0">
                <a:ea typeface="ＭＳ Ｐゴシック" pitchFamily="-106" charset="-128"/>
                <a:cs typeface="ＭＳ Ｐゴシック" pitchFamily="-106" charset="-128"/>
              </a:rPr>
              <a:t>cost by which entry is made</a:t>
            </a:r>
            <a:r>
              <a:rPr lang="en-US" dirty="0">
                <a:ea typeface="ＭＳ Ｐゴシック" pitchFamily="-106" charset="-128"/>
                <a:cs typeface="ＭＳ Ｐゴシック" pitchFamily="-106" charset="-128"/>
              </a:rPr>
              <a:t>.</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The kingdom and the church are not separate realities.</a:t>
            </a:r>
          </a:p>
          <a:p>
            <a:pPr marL="742950" lvl="1" indent="-285750" fontAlgn="ctr">
              <a:buFont typeface="Arial" panose="020B0604020202020204" pitchFamily="34" charset="0"/>
              <a:buChar char="•"/>
            </a:pPr>
            <a:r>
              <a:rPr lang="en-US" dirty="0">
                <a:ea typeface="ＭＳ Ｐゴシック" pitchFamily="-106" charset="-128"/>
                <a:cs typeface="ＭＳ Ｐゴシック" pitchFamily="-106" charset="-128"/>
              </a:rPr>
              <a:t>One describes </a:t>
            </a:r>
            <a:r>
              <a:rPr lang="en-US" b="1" dirty="0">
                <a:ea typeface="ＭＳ Ｐゴシック" pitchFamily="-106" charset="-128"/>
                <a:cs typeface="ＭＳ Ｐゴシック" pitchFamily="-106" charset="-128"/>
              </a:rPr>
              <a:t>value</a:t>
            </a:r>
            <a:r>
              <a:rPr lang="en-US" dirty="0">
                <a:ea typeface="ＭＳ Ｐゴシック" pitchFamily="-106" charset="-128"/>
                <a:cs typeface="ＭＳ Ｐゴシック" pitchFamily="-106" charset="-128"/>
              </a:rPr>
              <a:t>.</a:t>
            </a:r>
          </a:p>
          <a:p>
            <a:pPr marL="742950" lvl="1" indent="-285750" fontAlgn="ctr">
              <a:buFont typeface="Arial" panose="020B0604020202020204" pitchFamily="34" charset="0"/>
              <a:buChar char="•"/>
            </a:pPr>
            <a:r>
              <a:rPr lang="en-US" dirty="0">
                <a:ea typeface="ＭＳ Ｐゴシック" pitchFamily="-106" charset="-128"/>
                <a:cs typeface="ＭＳ Ｐゴシック" pitchFamily="-106" charset="-128"/>
              </a:rPr>
              <a:t>The other describes </a:t>
            </a:r>
            <a:r>
              <a:rPr lang="en-US" b="1" dirty="0">
                <a:ea typeface="ＭＳ Ｐゴシック" pitchFamily="-106" charset="-128"/>
                <a:cs typeface="ＭＳ Ｐゴシック" pitchFamily="-106" charset="-128"/>
              </a:rPr>
              <a:t>access</a:t>
            </a:r>
            <a:r>
              <a:rPr lang="en-US" dirty="0">
                <a:ea typeface="ＭＳ Ｐゴシック" pitchFamily="-106" charset="-128"/>
                <a:cs typeface="ＭＳ Ｐゴシック" pitchFamily="-106" charset="-128"/>
              </a:rPr>
              <a:t>.</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Both center on Christ.</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Both are born through suffering.</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Both lead to life with God.</a:t>
            </a:r>
          </a:p>
        </p:txBody>
      </p:sp>
    </p:spTree>
    <p:extLst>
      <p:ext uri="{BB962C8B-B14F-4D97-AF65-F5344CB8AC3E}">
        <p14:creationId xmlns:p14="http://schemas.microsoft.com/office/powerpoint/2010/main" val="1725960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PPT_Template_2010SummerSchool</Template>
  <TotalTime>41787</TotalTime>
  <Words>4329</Words>
  <Application>Microsoft Office PowerPoint</Application>
  <PresentationFormat>On-screen Show (4:3)</PresentationFormat>
  <Paragraphs>232</Paragraphs>
  <Slides>8</Slides>
  <Notes>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vt:i4>
      </vt:variant>
    </vt:vector>
  </HeadingPairs>
  <TitlesOfParts>
    <vt:vector size="15" baseType="lpstr">
      <vt:lpstr>ＭＳ Ｐゴシック</vt:lpstr>
      <vt:lpstr>Arial</vt:lpstr>
      <vt:lpstr>Arial Narrow</vt:lpstr>
      <vt:lpstr>Calibri</vt:lpstr>
      <vt:lpstr>Wingdings</vt:lpstr>
      <vt:lpstr>PPT_Template_2010SummerSchool</vt:lpstr>
      <vt:lpstr>1_UPCRC_Powerpoint_Template_with I-Mark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1432</cp:revision>
  <cp:lastPrinted>2025-12-08T17:37:56Z</cp:lastPrinted>
  <dcterms:created xsi:type="dcterms:W3CDTF">2010-06-16T02:58:04Z</dcterms:created>
  <dcterms:modified xsi:type="dcterms:W3CDTF">2025-12-26T20:51:31Z</dcterms:modified>
</cp:coreProperties>
</file>