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9"/>
  </p:notesMasterIdLst>
  <p:sldIdLst>
    <p:sldId id="395" r:id="rId3"/>
    <p:sldId id="581" r:id="rId4"/>
    <p:sldId id="582" r:id="rId5"/>
    <p:sldId id="583" r:id="rId6"/>
    <p:sldId id="584" r:id="rId7"/>
    <p:sldId id="585" r:id="rId8"/>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63512" autoAdjust="0"/>
  </p:normalViewPr>
  <p:slideViewPr>
    <p:cSldViewPr>
      <p:cViewPr varScale="1">
        <p:scale>
          <a:sx n="100" d="100"/>
          <a:sy n="100" d="100"/>
        </p:scale>
        <p:origin x="1842"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169921" cy="480060"/>
          </a:xfrm>
          <a:prstGeom prst="rect">
            <a:avLst/>
          </a:prstGeom>
        </p:spPr>
        <p:txBody>
          <a:bodyPr vert="horz" wrap="square" lIns="96579" tIns="48290" rIns="96579" bIns="48290"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89" y="4"/>
            <a:ext cx="3169921" cy="480060"/>
          </a:xfrm>
          <a:prstGeom prst="rect">
            <a:avLst/>
          </a:prstGeom>
        </p:spPr>
        <p:txBody>
          <a:bodyPr vert="horz" wrap="square" lIns="96579" tIns="48290" rIns="96579" bIns="48290"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11/24/2025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wrap="square" lIns="96579" tIns="48290" rIns="96579" bIns="4829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4560571"/>
            <a:ext cx="5852160" cy="4320540"/>
          </a:xfrm>
          <a:prstGeom prst="rect">
            <a:avLst/>
          </a:prstGeom>
        </p:spPr>
        <p:txBody>
          <a:bodyPr vert="horz" wrap="square" lIns="96579" tIns="48290" rIns="96579" bIns="4829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9119474"/>
            <a:ext cx="3169921" cy="480060"/>
          </a:xfrm>
          <a:prstGeom prst="rect">
            <a:avLst/>
          </a:prstGeom>
        </p:spPr>
        <p:txBody>
          <a:bodyPr vert="horz" wrap="square" lIns="96579" tIns="48290" rIns="96579" bIns="48290"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89" y="9119474"/>
            <a:ext cx="3169921" cy="480060"/>
          </a:xfrm>
          <a:prstGeom prst="rect">
            <a:avLst/>
          </a:prstGeom>
        </p:spPr>
        <p:txBody>
          <a:bodyPr vert="horz" wrap="square" lIns="96579" tIns="48290" rIns="96579" bIns="48290"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r>
              <a:rPr lang="en-US" sz="1400" b="1" dirty="0"/>
              <a:t>The Promise of Adoption and Inheritance</a:t>
            </a:r>
          </a:p>
          <a:p>
            <a:endParaRPr lang="en-US" sz="1400" dirty="0"/>
          </a:p>
          <a:p>
            <a:pPr rtl="0" fontAlgn="ctr"/>
            <a:r>
              <a:rPr lang="en-US" sz="1400" b="1" dirty="0"/>
              <a:t>Overview:</a:t>
            </a:r>
            <a:r>
              <a:rPr lang="en-US" sz="1400" dirty="0"/>
              <a:t> God promises to make us His children and heirs.</a:t>
            </a:r>
          </a:p>
          <a:p>
            <a:pPr rtl="0" fontAlgn="ctr"/>
            <a:endParaRPr lang="en-US" sz="1400" dirty="0"/>
          </a:p>
          <a:p>
            <a:pPr rtl="0" fontAlgn="ctr"/>
            <a:r>
              <a:rPr lang="en-US" sz="1400" b="1" dirty="0"/>
              <a:t>Teaching Notes:</a:t>
            </a:r>
            <a:endParaRPr lang="en-US" sz="1400" dirty="0"/>
          </a:p>
          <a:p>
            <a:pPr lvl="1" rtl="0" fontAlgn="ctr"/>
            <a:r>
              <a:rPr lang="en-US" sz="1400" dirty="0"/>
              <a:t>Romans 8:12–17 → Spirit of adoption.</a:t>
            </a:r>
          </a:p>
          <a:p>
            <a:pPr lvl="1" rtl="0" fontAlgn="ctr"/>
            <a:r>
              <a:rPr lang="en-US" sz="1400" dirty="0"/>
              <a:t>Galatians 4:4–7 → Full rights as sons.</a:t>
            </a:r>
          </a:p>
          <a:p>
            <a:pPr lvl="1" rtl="0" fontAlgn="ctr"/>
            <a:r>
              <a:rPr lang="en-US" sz="1400" dirty="0"/>
              <a:t>Ephesians 1:13–14 → Inheritance sealed.</a:t>
            </a:r>
          </a:p>
          <a:p>
            <a:pPr lvl="1" rtl="0" fontAlgn="ctr"/>
            <a:endParaRPr lang="en-US" sz="1400" dirty="0"/>
          </a:p>
          <a:p>
            <a:pPr rtl="0" fontAlgn="ctr"/>
            <a:r>
              <a:rPr lang="en-US" sz="1400" b="1" dirty="0"/>
              <a:t>Cross-References:</a:t>
            </a:r>
            <a:r>
              <a:rPr lang="en-US" sz="1400" dirty="0"/>
              <a:t> 1 John 3:1–3; Revelation 21:7.</a:t>
            </a:r>
          </a:p>
          <a:p>
            <a:pPr rtl="0" fontAlgn="ctr"/>
            <a:endParaRPr lang="en-US" sz="1400" dirty="0"/>
          </a:p>
          <a:p>
            <a:pPr rtl="0" fontAlgn="ctr"/>
            <a:r>
              <a:rPr lang="en-US" sz="1400" b="1" dirty="0"/>
              <a:t>Discussion Guidance:</a:t>
            </a:r>
            <a:r>
              <a:rPr lang="en-US" sz="1400" dirty="0"/>
              <a:t> Stress identity and inheritance in Christ.</a:t>
            </a:r>
          </a:p>
          <a:p>
            <a:pPr rtl="0" fontAlgn="ctr"/>
            <a:endParaRPr lang="en-US" sz="1400" dirty="0"/>
          </a:p>
          <a:p>
            <a:pPr rtl="0" fontAlgn="ctr"/>
            <a:r>
              <a:rPr lang="en-US" sz="1400" b="1" dirty="0"/>
              <a:t>Edify:</a:t>
            </a:r>
            <a:r>
              <a:rPr lang="en-US" sz="1400" dirty="0"/>
              <a:t> Affirm participants by reminding them of their value as God’s children.</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56242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5C54A-0CA2-D446-FEEE-25092C128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C41FF-4EF1-57E1-D01F-1A7F1106F4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933434-B584-32FF-5D59-C65D97766B69}"/>
              </a:ext>
            </a:extLst>
          </p:cNvPr>
          <p:cNvSpPr>
            <a:spLocks noGrp="1"/>
          </p:cNvSpPr>
          <p:nvPr>
            <p:ph type="body" idx="1"/>
          </p:nvPr>
        </p:nvSpPr>
        <p:spPr/>
        <p:txBody>
          <a:bodyPr>
            <a:normAutofit fontScale="92500" lnSpcReduction="20000"/>
          </a:bodyPr>
          <a:lstStyle/>
          <a:p>
            <a:pPr defTabSz="938266"/>
            <a:r>
              <a:rPr lang="en-US" sz="1400" b="1" u="sng" dirty="0"/>
              <a:t>God’s Character in Scripture</a:t>
            </a:r>
            <a:endParaRPr lang="en-US" sz="1400" u="sng" dirty="0"/>
          </a:p>
          <a:p>
            <a:endParaRPr lang="en-US" sz="1400" b="1" dirty="0"/>
          </a:p>
          <a:p>
            <a:r>
              <a:rPr lang="en-US" sz="1400" b="1" dirty="0"/>
              <a:t>and</a:t>
            </a:r>
          </a:p>
          <a:p>
            <a:endParaRPr lang="en-US" sz="1400" b="1" dirty="0"/>
          </a:p>
          <a:p>
            <a:r>
              <a:rPr lang="en-US" sz="1400" b="1" u="sng" dirty="0"/>
              <a:t>God’s Character in History</a:t>
            </a:r>
            <a:endParaRPr lang="en-US" sz="1400" u="sng" dirty="0"/>
          </a:p>
          <a:p>
            <a:r>
              <a:rPr lang="en-US" sz="1400" dirty="0"/>
              <a:t> </a:t>
            </a:r>
          </a:p>
          <a:p>
            <a:r>
              <a:rPr lang="en-US" sz="1400" dirty="0"/>
              <a:t>God has always shown father-like care.</a:t>
            </a:r>
          </a:p>
          <a:p>
            <a:r>
              <a:rPr lang="en-US" sz="1400" dirty="0"/>
              <a:t> </a:t>
            </a:r>
          </a:p>
          <a:p>
            <a:r>
              <a:rPr lang="en-US" sz="1400" b="1" dirty="0"/>
              <a:t>Examples</a:t>
            </a:r>
            <a:endParaRPr lang="en-US" sz="1400" dirty="0"/>
          </a:p>
          <a:p>
            <a:r>
              <a:rPr lang="en-US" sz="1400" dirty="0"/>
              <a:t> </a:t>
            </a:r>
          </a:p>
          <a:p>
            <a:pPr marL="293208" indent="-293208" fontAlgn="ctr">
              <a:buFont typeface="Arial" panose="020B0604020202020204" pitchFamily="34" charset="0"/>
              <a:buChar char="•"/>
            </a:pPr>
            <a:r>
              <a:rPr lang="en-US" sz="1400" dirty="0"/>
              <a:t>He carried Israel </a:t>
            </a:r>
            <a:r>
              <a:rPr lang="en-US" sz="1400" i="1" dirty="0"/>
              <a:t>“like a man carries his son”</a:t>
            </a:r>
            <a:r>
              <a:rPr lang="en-US" sz="1400" dirty="0"/>
              <a:t> </a:t>
            </a:r>
            <a:r>
              <a:rPr lang="en-US" sz="1400" i="1" dirty="0"/>
              <a:t>(</a:t>
            </a:r>
            <a:r>
              <a:rPr lang="en-US" sz="1400" b="1" i="1" dirty="0"/>
              <a:t>Deuteronomy </a:t>
            </a:r>
            <a:r>
              <a:rPr lang="en-US" sz="1400" b="1" dirty="0"/>
              <a:t>1:31</a:t>
            </a:r>
            <a:r>
              <a:rPr lang="en-US" sz="1400" dirty="0"/>
              <a:t>).</a:t>
            </a:r>
          </a:p>
          <a:p>
            <a:pPr marL="293208" indent="-293208" fontAlgn="ctr">
              <a:buFont typeface="Arial" panose="020B0604020202020204" pitchFamily="34" charset="0"/>
              <a:buChar char="•"/>
            </a:pPr>
            <a:r>
              <a:rPr lang="en-US" sz="1400" dirty="0"/>
              <a:t>He disciplined them </a:t>
            </a:r>
            <a:r>
              <a:rPr lang="en-US" sz="1400" i="1" dirty="0"/>
              <a:t>“as a man disciplines his son”</a:t>
            </a:r>
            <a:r>
              <a:rPr lang="en-US" sz="1400" dirty="0"/>
              <a:t> (</a:t>
            </a:r>
            <a:r>
              <a:rPr lang="en-US" sz="1400" b="1" dirty="0"/>
              <a:t>Deuteronomy 8:5</a:t>
            </a:r>
            <a:r>
              <a:rPr lang="en-US" sz="1400" dirty="0"/>
              <a:t>).</a:t>
            </a:r>
          </a:p>
          <a:p>
            <a:r>
              <a:rPr lang="en-US" sz="1400" dirty="0"/>
              <a:t> </a:t>
            </a:r>
          </a:p>
          <a:p>
            <a:r>
              <a:rPr lang="en-US" sz="1400" dirty="0"/>
              <a:t>These moments hint at something greater. Israel was “son” in a national sense. In the New Covenant, sonship becomes personal, intimate, and given by the Spirit.</a:t>
            </a:r>
          </a:p>
          <a:p>
            <a:endParaRPr lang="en-US" dirty="0"/>
          </a:p>
        </p:txBody>
      </p:sp>
      <p:sp>
        <p:nvSpPr>
          <p:cNvPr id="4" name="Slide Number Placeholder 3">
            <a:extLst>
              <a:ext uri="{FF2B5EF4-FFF2-40B4-BE49-F238E27FC236}">
                <a16:creationId xmlns:a16="http://schemas.microsoft.com/office/drawing/2014/main" id="{517F07E8-A341-3E69-2E3F-81FD5E2E1368}"/>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1463107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A3367-BA08-12AF-9960-1C39F8A12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CB856-3B2C-2357-E1AF-9B07CEE081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0015930-9C0B-C20C-C200-BBA45D18AD3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AB748D5-6D03-2D01-501A-028465F57F7C}"/>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2129227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4797F-339F-F820-EBF0-095283D03F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4F142-97C1-7CA5-F1DD-6E8D09F663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23D549-F1E3-5209-7EE4-BDDFA061408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08F2088-AA29-662D-ED88-F2392B6FEF7C}"/>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1458480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7BD16-20D8-147F-827E-55B656D07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45A51-72EB-9186-B354-4006A27810F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B34501-48C0-70E3-3F7C-BA7B7E60CA8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CB93B90-6036-E990-3EF2-B433618C4C67}"/>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2713131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8B7FE-48B5-6661-D411-BA194189B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BC56FE-BF0E-16C4-5060-946211722A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7B9493C-8366-DA8C-598A-46A565F03695}"/>
              </a:ext>
            </a:extLst>
          </p:cNvPr>
          <p:cNvSpPr>
            <a:spLocks noGrp="1"/>
          </p:cNvSpPr>
          <p:nvPr>
            <p:ph type="body" idx="1"/>
          </p:nvPr>
        </p:nvSpPr>
        <p:spPr/>
        <p:txBody>
          <a:bodyPr>
            <a:normAutofit/>
          </a:bodyPr>
          <a:lstStyle/>
          <a:p>
            <a:r>
              <a:rPr lang="en-US" sz="1600" b="1" dirty="0"/>
              <a:t>Identity</a:t>
            </a:r>
            <a:endParaRPr lang="en-US" sz="1600" dirty="0"/>
          </a:p>
          <a:p>
            <a:r>
              <a:rPr lang="en-US" sz="1600" dirty="0"/>
              <a:t>Pick one false identity (“I’m alone,” “I’m not enough,” “I’m a failure”). </a:t>
            </a:r>
            <a:r>
              <a:rPr lang="en-US" sz="1600" u="sng" dirty="0"/>
              <a:t>Replace it with Scripture: </a:t>
            </a:r>
            <a:r>
              <a:rPr lang="en-US" sz="1600" i="1" u="sng" dirty="0"/>
              <a:t>“You are God’s child”</a:t>
            </a:r>
            <a:r>
              <a:rPr lang="en-US" sz="1600" u="sng" dirty="0"/>
              <a:t> (</a:t>
            </a:r>
            <a:r>
              <a:rPr lang="en-US" sz="1600" b="1" u="sng" dirty="0"/>
              <a:t>1 John 3:1</a:t>
            </a:r>
            <a:r>
              <a:rPr lang="en-US" sz="1600" u="sng" dirty="0"/>
              <a:t>).</a:t>
            </a:r>
          </a:p>
          <a:p>
            <a:r>
              <a:rPr lang="en-US" sz="1600" dirty="0"/>
              <a:t> </a:t>
            </a:r>
          </a:p>
          <a:p>
            <a:r>
              <a:rPr lang="en-US" sz="1600" b="1" dirty="0"/>
              <a:t>Encourage</a:t>
            </a:r>
            <a:endParaRPr lang="en-US" sz="1600" dirty="0"/>
          </a:p>
          <a:p>
            <a:r>
              <a:rPr lang="en-US" sz="1600" dirty="0"/>
              <a:t>Tell another believer: </a:t>
            </a:r>
            <a:r>
              <a:rPr lang="en-US" sz="1600" u="sng" dirty="0"/>
              <a:t>“You have an inheritance. God is with you. You belong to Him.”</a:t>
            </a:r>
          </a:p>
          <a:p>
            <a:r>
              <a:rPr lang="en-US" sz="1600" dirty="0"/>
              <a:t> </a:t>
            </a:r>
          </a:p>
          <a:p>
            <a:r>
              <a:rPr lang="en-US" sz="1600" b="1" dirty="0"/>
              <a:t>Live</a:t>
            </a:r>
            <a:endParaRPr lang="en-US" sz="1600" dirty="0"/>
          </a:p>
          <a:p>
            <a:r>
              <a:rPr lang="en-US" sz="1600" dirty="0"/>
              <a:t>Walk as a son, not a slave.</a:t>
            </a:r>
          </a:p>
          <a:p>
            <a:r>
              <a:rPr lang="en-US" sz="1600" dirty="0"/>
              <a:t>Talk to God as Father.</a:t>
            </a:r>
          </a:p>
          <a:p>
            <a:r>
              <a:rPr lang="en-US" sz="1600" dirty="0"/>
              <a:t>Trust His care.</a:t>
            </a:r>
          </a:p>
          <a:p>
            <a:r>
              <a:rPr lang="en-US" sz="1600" dirty="0"/>
              <a:t>Rest in His promises.</a:t>
            </a:r>
          </a:p>
          <a:p>
            <a:endParaRPr lang="en-US" dirty="0"/>
          </a:p>
        </p:txBody>
      </p:sp>
      <p:sp>
        <p:nvSpPr>
          <p:cNvPr id="4" name="Slide Number Placeholder 3">
            <a:extLst>
              <a:ext uri="{FF2B5EF4-FFF2-40B4-BE49-F238E27FC236}">
                <a16:creationId xmlns:a16="http://schemas.microsoft.com/office/drawing/2014/main" id="{F7085EC0-23FE-D916-08E0-234A6F201B3C}"/>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1820438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A53F3-F5FA-47DF-8211-8B502AD79E23}"/>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550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The Promises of God</a:t>
            </a:r>
            <a:br>
              <a:rPr lang="en-US" dirty="0"/>
            </a:br>
            <a:endParaRPr lang="en-US" dirty="0"/>
          </a:p>
          <a:p>
            <a:r>
              <a:rPr lang="en-US" i="1" dirty="0"/>
              <a:t>Promise of Adoption and Inheritance</a:t>
            </a:r>
          </a:p>
          <a:p>
            <a:endParaRPr lang="en-US" sz="2400" dirty="0">
              <a:solidFill>
                <a:schemeClr val="tx2">
                  <a:lumMod val="60000"/>
                  <a:lumOff val="40000"/>
                </a:schemeClr>
              </a:solidFill>
            </a:endParaRPr>
          </a:p>
          <a:p>
            <a:r>
              <a:rPr lang="en-US" b="0" dirty="0"/>
              <a:t>Therefore, brethren, we are debtors - not to the flesh, to live according to the flesh. For if you live according to the flesh you will die; but if by the Spirit you put to death the deeds of the body, you will live. For as many as are led by the Spirit of God, these are sons of God. For you did not receive the spirit of bondage again to fear, but you received the Spirit of adoption by whom we cry out, "Abba, Father." The Spirit Himself bears witness with our spirit that we are children of God, and if children, then heirs - heirs of God and joint heirs with Christ, if indeed we suffer with </a:t>
            </a:r>
            <a:r>
              <a:rPr lang="en-US" b="0" i="1" dirty="0"/>
              <a:t>Him,</a:t>
            </a:r>
            <a:r>
              <a:rPr lang="en-US" b="0" dirty="0"/>
              <a:t> that we may also be glorified together.</a:t>
            </a:r>
          </a:p>
          <a:p>
            <a:r>
              <a:rPr lang="en-US" b="0" dirty="0"/>
              <a:t>(Romans 8:12-17)</a:t>
            </a:r>
          </a:p>
          <a:p>
            <a:endParaRPr lang="en-US" b="0" dirty="0"/>
          </a:p>
          <a:p>
            <a:r>
              <a:rPr lang="en-US" dirty="0">
                <a:solidFill>
                  <a:schemeClr val="tx2">
                    <a:lumMod val="60000"/>
                    <a:lumOff val="40000"/>
                  </a:schemeClr>
                </a:solidFill>
              </a:rPr>
              <a:t>http://tinyurl.com/GodOfPromises</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16FF1C5C-098A-B7B4-29DA-163600C9EAB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D62506-1BC3-6C6E-2FAB-806688DE005A}"/>
              </a:ext>
            </a:extLst>
          </p:cNvPr>
          <p:cNvSpPr txBox="1">
            <a:spLocks/>
          </p:cNvSpPr>
          <p:nvPr/>
        </p:nvSpPr>
        <p:spPr bwMode="auto">
          <a:xfrm>
            <a:off x="204787" y="0"/>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600" dirty="0"/>
              <a:t>God’s Character in Scripture</a:t>
            </a:r>
            <a:br>
              <a:rPr lang="en-US" dirty="0"/>
            </a:br>
            <a:r>
              <a:rPr lang="en-US" sz="3400" dirty="0">
                <a:solidFill>
                  <a:schemeClr val="tx2">
                    <a:lumMod val="60000"/>
                    <a:lumOff val="40000"/>
                  </a:schemeClr>
                </a:solidFill>
              </a:rPr>
              <a:t>God has always called His people “My children”</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C96E21EF-3DEE-2EB9-2120-682F4B4560B7}"/>
              </a:ext>
            </a:extLst>
          </p:cNvPr>
          <p:cNvSpPr txBox="1"/>
          <p:nvPr/>
        </p:nvSpPr>
        <p:spPr>
          <a:xfrm>
            <a:off x="192880" y="1019592"/>
            <a:ext cx="8677275" cy="2031325"/>
          </a:xfrm>
          <a:prstGeom prst="rect">
            <a:avLst/>
          </a:prstGeom>
          <a:noFill/>
        </p:spPr>
        <p:txBody>
          <a:bodyPr wrap="square" rtlCol="0">
            <a:spAutoFit/>
          </a:bodyPr>
          <a:lstStyle/>
          <a:p>
            <a:r>
              <a:rPr lang="en-US" b="1" dirty="0"/>
              <a:t>Israel as God’s son</a:t>
            </a:r>
            <a:endParaRPr lang="en-US" dirty="0"/>
          </a:p>
          <a:p>
            <a:pPr marL="285750" indent="-285750" fontAlgn="ctr">
              <a:buFont typeface="Arial" panose="020B0604020202020204" pitchFamily="34" charset="0"/>
              <a:buChar char="•"/>
            </a:pPr>
            <a:r>
              <a:rPr lang="en-US" i="1" dirty="0"/>
              <a:t>“Thus says the LORD, ‘Israel is my son, my firstborn’”</a:t>
            </a:r>
            <a:r>
              <a:rPr lang="en-US" dirty="0"/>
              <a:t> (</a:t>
            </a:r>
            <a:r>
              <a:rPr lang="en-US" b="1" dirty="0"/>
              <a:t>Exodus 4:22</a:t>
            </a:r>
            <a:r>
              <a:rPr lang="en-US" dirty="0"/>
              <a:t>).</a:t>
            </a:r>
          </a:p>
          <a:p>
            <a:pPr marL="285750" indent="-285750" fontAlgn="ctr">
              <a:buFont typeface="Arial" panose="020B0604020202020204" pitchFamily="34" charset="0"/>
              <a:buChar char="•"/>
            </a:pPr>
            <a:r>
              <a:rPr lang="en-US" i="1" dirty="0"/>
              <a:t>“When Israel was a young man, I loved him, and I called my son out of Egypt.”</a:t>
            </a:r>
            <a:r>
              <a:rPr lang="en-US" dirty="0"/>
              <a:t> (</a:t>
            </a:r>
            <a:r>
              <a:rPr lang="en-US" b="1" dirty="0"/>
              <a:t>Hosea 11:1</a:t>
            </a:r>
            <a:r>
              <a:rPr lang="en-US" dirty="0"/>
              <a:t>).</a:t>
            </a:r>
          </a:p>
          <a:p>
            <a:pPr marL="285750" indent="-285750">
              <a:buFont typeface="Arial" panose="020B0604020202020204" pitchFamily="34" charset="0"/>
              <a:buChar char="•"/>
            </a:pPr>
            <a:r>
              <a:rPr lang="en-US" dirty="0"/>
              <a:t> But Israel failed to keep the covenant. The Law could not create sons. It only exposed sin. The New Covenant fixes this by giving a new heart and a new Spirit (</a:t>
            </a:r>
            <a:r>
              <a:rPr lang="en-US" b="1" dirty="0"/>
              <a:t>Jeremiah 31:31–34</a:t>
            </a:r>
            <a:r>
              <a:rPr lang="en-US" dirty="0"/>
              <a:t>; </a:t>
            </a:r>
            <a:r>
              <a:rPr lang="en-US" b="1" dirty="0"/>
              <a:t>Ezekiel 36:26–27</a:t>
            </a:r>
            <a:r>
              <a:rPr lang="en-US" dirty="0"/>
              <a:t>).</a:t>
            </a:r>
          </a:p>
        </p:txBody>
      </p:sp>
      <p:sp>
        <p:nvSpPr>
          <p:cNvPr id="2" name="TextBox 1">
            <a:extLst>
              <a:ext uri="{FF2B5EF4-FFF2-40B4-BE49-F238E27FC236}">
                <a16:creationId xmlns:a16="http://schemas.microsoft.com/office/drawing/2014/main" id="{D3787957-C6F8-2572-ACEE-92B8E91190C3}"/>
              </a:ext>
            </a:extLst>
          </p:cNvPr>
          <p:cNvSpPr txBox="1"/>
          <p:nvPr/>
        </p:nvSpPr>
        <p:spPr>
          <a:xfrm>
            <a:off x="164305" y="3234809"/>
            <a:ext cx="8677275" cy="2308324"/>
          </a:xfrm>
          <a:prstGeom prst="rect">
            <a:avLst/>
          </a:prstGeom>
          <a:noFill/>
        </p:spPr>
        <p:txBody>
          <a:bodyPr wrap="square" rtlCol="0">
            <a:spAutoFit/>
          </a:bodyPr>
          <a:lstStyle/>
          <a:p>
            <a:r>
              <a:rPr lang="en-US" b="1" dirty="0"/>
              <a:t>Adoption through the Spirit</a:t>
            </a:r>
            <a:endParaRPr lang="en-US" dirty="0"/>
          </a:p>
          <a:p>
            <a:pPr marL="285750" indent="-285750" fontAlgn="ctr">
              <a:buFont typeface="Arial" panose="020B0604020202020204" pitchFamily="34" charset="0"/>
              <a:buChar char="•"/>
            </a:pPr>
            <a:r>
              <a:rPr lang="en-US" i="1" dirty="0"/>
              <a:t>“For all who are led by the Spirit of God are the sons of God… you received the Spirit of adoption… The Spirit himself bears witness… </a:t>
            </a:r>
            <a:r>
              <a:rPr lang="en-US" i="1" u="sng" dirty="0"/>
              <a:t>we are children of God</a:t>
            </a:r>
            <a:r>
              <a:rPr lang="en-US" i="1" dirty="0"/>
              <a:t>. And if children, then heirs.”</a:t>
            </a:r>
            <a:r>
              <a:rPr lang="en-US" dirty="0"/>
              <a:t> (</a:t>
            </a:r>
            <a:r>
              <a:rPr lang="en-US" b="1" dirty="0"/>
              <a:t>Romans 8:14–17</a:t>
            </a:r>
            <a:r>
              <a:rPr lang="en-US" dirty="0"/>
              <a:t>).</a:t>
            </a:r>
          </a:p>
          <a:p>
            <a:pPr marL="285750" indent="-285750" fontAlgn="ctr">
              <a:buFont typeface="Arial" panose="020B0604020202020204" pitchFamily="34" charset="0"/>
              <a:buChar char="•"/>
            </a:pPr>
            <a:r>
              <a:rPr lang="en-US" i="1" dirty="0"/>
              <a:t>“But when the appropriate time had come, God sent out his Son… to redeem those who were under the law, </a:t>
            </a:r>
            <a:r>
              <a:rPr lang="en-US" b="1" i="1" dirty="0"/>
              <a:t>so that we may be adopted as sons</a:t>
            </a:r>
            <a:r>
              <a:rPr lang="en-US" i="1" dirty="0"/>
              <a:t>… you are no longer a slave but a son, and if </a:t>
            </a:r>
            <a:r>
              <a:rPr lang="en-US" i="1" u="sng" dirty="0"/>
              <a:t>you are a son</a:t>
            </a:r>
            <a:r>
              <a:rPr lang="en-US" i="1" dirty="0"/>
              <a:t>, then </a:t>
            </a:r>
            <a:r>
              <a:rPr lang="en-US" i="1" u="sng" dirty="0"/>
              <a:t>you are also an heir</a:t>
            </a:r>
            <a:r>
              <a:rPr lang="en-US" i="1" dirty="0"/>
              <a:t> through God.”</a:t>
            </a:r>
            <a:r>
              <a:rPr lang="en-US" dirty="0"/>
              <a:t> (</a:t>
            </a:r>
            <a:r>
              <a:rPr lang="en-US" b="1" dirty="0"/>
              <a:t>Galatians 4:4–7</a:t>
            </a:r>
            <a:r>
              <a:rPr lang="en-US" dirty="0"/>
              <a:t>).</a:t>
            </a:r>
          </a:p>
        </p:txBody>
      </p:sp>
      <p:sp>
        <p:nvSpPr>
          <p:cNvPr id="4" name="TextBox 3">
            <a:extLst>
              <a:ext uri="{FF2B5EF4-FFF2-40B4-BE49-F238E27FC236}">
                <a16:creationId xmlns:a16="http://schemas.microsoft.com/office/drawing/2014/main" id="{D834FD90-D728-78E2-D14F-D4A91F2F2B32}"/>
              </a:ext>
            </a:extLst>
          </p:cNvPr>
          <p:cNvSpPr txBox="1"/>
          <p:nvPr/>
        </p:nvSpPr>
        <p:spPr>
          <a:xfrm>
            <a:off x="192880" y="5727025"/>
            <a:ext cx="8577262" cy="646331"/>
          </a:xfrm>
          <a:prstGeom prst="rect">
            <a:avLst/>
          </a:prstGeom>
          <a:noFill/>
        </p:spPr>
        <p:txBody>
          <a:bodyPr wrap="square" rtlCol="0">
            <a:spAutoFit/>
          </a:bodyPr>
          <a:lstStyle/>
          <a:p>
            <a:r>
              <a:rPr lang="en-US" b="1" dirty="0"/>
              <a:t>Adoption is the </a:t>
            </a:r>
            <a:r>
              <a:rPr lang="en-US" b="1" u="sng" dirty="0"/>
              <a:t>work of the Spirit</a:t>
            </a:r>
            <a:r>
              <a:rPr lang="en-US" b="1" dirty="0"/>
              <a:t>. The Spirit gives us a </a:t>
            </a:r>
            <a:r>
              <a:rPr lang="en-US" b="1" u="sng" dirty="0"/>
              <a:t>new identity</a:t>
            </a:r>
            <a:r>
              <a:rPr lang="en-US" b="1" dirty="0"/>
              <a:t> and a </a:t>
            </a:r>
            <a:r>
              <a:rPr lang="en-US" b="1" u="sng" dirty="0"/>
              <a:t>new relationship</a:t>
            </a:r>
            <a:r>
              <a:rPr lang="en-US" b="1" dirty="0"/>
              <a:t> with God.</a:t>
            </a:r>
          </a:p>
        </p:txBody>
      </p:sp>
    </p:spTree>
    <p:extLst>
      <p:ext uri="{BB962C8B-B14F-4D97-AF65-F5344CB8AC3E}">
        <p14:creationId xmlns:p14="http://schemas.microsoft.com/office/powerpoint/2010/main" val="270849363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74B4-E9E9-4C7C-00B5-412E2210E11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0A29C85-2A61-C9A0-101E-BDC152D02B78}"/>
              </a:ext>
            </a:extLst>
          </p:cNvPr>
          <p:cNvSpPr txBox="1">
            <a:spLocks/>
          </p:cNvSpPr>
          <p:nvPr/>
        </p:nvSpPr>
        <p:spPr bwMode="auto">
          <a:xfrm>
            <a:off x="214312" y="0"/>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900" dirty="0"/>
              <a:t>God’s Character Revealed in Jesus</a:t>
            </a:r>
            <a:br>
              <a:rPr lang="en-US" dirty="0"/>
            </a:br>
            <a:r>
              <a:rPr lang="en-US" sz="2400" dirty="0">
                <a:solidFill>
                  <a:schemeClr val="tx2">
                    <a:lumMod val="60000"/>
                    <a:lumOff val="40000"/>
                  </a:schemeClr>
                </a:solidFill>
              </a:rPr>
              <a:t>Jesus is the true son… and He shares His sonship with us!</a:t>
            </a:r>
          </a:p>
        </p:txBody>
      </p:sp>
      <p:sp>
        <p:nvSpPr>
          <p:cNvPr id="3" name="TextBox 2">
            <a:extLst>
              <a:ext uri="{FF2B5EF4-FFF2-40B4-BE49-F238E27FC236}">
                <a16:creationId xmlns:a16="http://schemas.microsoft.com/office/drawing/2014/main" id="{CAFA62E8-376B-2F80-2005-B8876D19AAEC}"/>
              </a:ext>
            </a:extLst>
          </p:cNvPr>
          <p:cNvSpPr txBox="1"/>
          <p:nvPr/>
        </p:nvSpPr>
        <p:spPr>
          <a:xfrm>
            <a:off x="214312" y="1073051"/>
            <a:ext cx="8677275" cy="1754326"/>
          </a:xfrm>
          <a:prstGeom prst="rect">
            <a:avLst/>
          </a:prstGeom>
          <a:noFill/>
        </p:spPr>
        <p:txBody>
          <a:bodyPr wrap="square" rtlCol="0">
            <a:spAutoFit/>
          </a:bodyPr>
          <a:lstStyle/>
          <a:p>
            <a:r>
              <a:rPr lang="en-US" b="1" dirty="0"/>
              <a:t>Faith in Jesus makes us </a:t>
            </a:r>
            <a:r>
              <a:rPr lang="en-US" b="1" u="sng" dirty="0"/>
              <a:t>God’s children</a:t>
            </a:r>
            <a:endParaRPr lang="en-US" u="sng" dirty="0"/>
          </a:p>
          <a:p>
            <a:pPr marL="285750" indent="-285750" fontAlgn="ctr">
              <a:buFont typeface="Arial" panose="020B0604020202020204" pitchFamily="34" charset="0"/>
              <a:buChar char="•"/>
            </a:pPr>
            <a:r>
              <a:rPr lang="en-US" i="1" dirty="0"/>
              <a:t>“But to all who have received him… he gave the right to become God’s children.”</a:t>
            </a:r>
            <a:r>
              <a:rPr lang="en-US" dirty="0"/>
              <a:t> (</a:t>
            </a:r>
            <a:r>
              <a:rPr lang="en-US" b="1" dirty="0"/>
              <a:t>John 1:12</a:t>
            </a:r>
            <a:r>
              <a:rPr lang="en-US" dirty="0"/>
              <a:t>).</a:t>
            </a:r>
          </a:p>
          <a:p>
            <a:pPr marL="285750" indent="-285750" fontAlgn="ctr">
              <a:buFont typeface="Arial" panose="020B0604020202020204" pitchFamily="34" charset="0"/>
              <a:buChar char="•"/>
            </a:pPr>
            <a:r>
              <a:rPr lang="en-US" i="1" dirty="0"/>
              <a:t>“Jesus is not ashamed to call them brothers and sisters.”</a:t>
            </a:r>
            <a:r>
              <a:rPr lang="en-US" dirty="0"/>
              <a:t> (</a:t>
            </a:r>
            <a:r>
              <a:rPr lang="en-US" b="1" dirty="0"/>
              <a:t>Hebrews 2:11</a:t>
            </a:r>
            <a:r>
              <a:rPr lang="en-US" dirty="0"/>
              <a:t>).</a:t>
            </a:r>
          </a:p>
          <a:p>
            <a:pPr marL="285750" indent="-285750">
              <a:buFont typeface="Arial" panose="020B0604020202020204" pitchFamily="34" charset="0"/>
              <a:buChar char="•"/>
            </a:pPr>
            <a:r>
              <a:rPr lang="en-US" dirty="0"/>
              <a:t> Jesus brings us into His family. </a:t>
            </a:r>
            <a:r>
              <a:rPr lang="en-US" u="sng" dirty="0"/>
              <a:t>Adoption is not a metaphor</a:t>
            </a:r>
            <a:r>
              <a:rPr lang="en-US" dirty="0"/>
              <a:t>. It is a real change in status.</a:t>
            </a:r>
          </a:p>
        </p:txBody>
      </p:sp>
      <p:sp>
        <p:nvSpPr>
          <p:cNvPr id="2" name="TextBox 1">
            <a:extLst>
              <a:ext uri="{FF2B5EF4-FFF2-40B4-BE49-F238E27FC236}">
                <a16:creationId xmlns:a16="http://schemas.microsoft.com/office/drawing/2014/main" id="{2C4DE024-BB2D-C48A-B43E-6FD32E8E547C}"/>
              </a:ext>
            </a:extLst>
          </p:cNvPr>
          <p:cNvSpPr txBox="1"/>
          <p:nvPr/>
        </p:nvSpPr>
        <p:spPr>
          <a:xfrm>
            <a:off x="214312" y="2909828"/>
            <a:ext cx="8677275" cy="2031325"/>
          </a:xfrm>
          <a:prstGeom prst="rect">
            <a:avLst/>
          </a:prstGeom>
          <a:noFill/>
        </p:spPr>
        <p:txBody>
          <a:bodyPr wrap="square" rtlCol="0">
            <a:spAutoFit/>
          </a:bodyPr>
          <a:lstStyle/>
          <a:p>
            <a:r>
              <a:rPr lang="en-US" b="1" dirty="0"/>
              <a:t>God’s Invitation to </a:t>
            </a:r>
            <a:r>
              <a:rPr lang="en-US" b="1" u="sng" dirty="0"/>
              <a:t>Know Him</a:t>
            </a:r>
          </a:p>
          <a:p>
            <a:pPr marL="285750" indent="-285750" fontAlgn="ctr">
              <a:buFont typeface="Arial" panose="020B0604020202020204" pitchFamily="34" charset="0"/>
              <a:buChar char="•"/>
            </a:pPr>
            <a:r>
              <a:rPr lang="en-US" i="1" dirty="0"/>
              <a:t>“And when you heard the word of truth… you were sealed with the Holy Spirit… who is the down payment of our inheritance.”</a:t>
            </a:r>
            <a:r>
              <a:rPr lang="en-US" dirty="0"/>
              <a:t> (</a:t>
            </a:r>
            <a:r>
              <a:rPr lang="en-US" b="1" dirty="0"/>
              <a:t>Ephesians 1:13–14</a:t>
            </a:r>
            <a:r>
              <a:rPr lang="en-US" dirty="0"/>
              <a:t>).</a:t>
            </a:r>
          </a:p>
          <a:p>
            <a:pPr marL="285750" indent="-285750" fontAlgn="ctr">
              <a:buFont typeface="Arial" panose="020B0604020202020204" pitchFamily="34" charset="0"/>
              <a:buChar char="•"/>
            </a:pPr>
            <a:r>
              <a:rPr lang="en-US" i="1" dirty="0"/>
              <a:t>“See what sort of love the Father has given to us: that we should be called God’s children - and indeed we are!”</a:t>
            </a:r>
            <a:r>
              <a:rPr lang="en-US" dirty="0"/>
              <a:t> (</a:t>
            </a:r>
            <a:r>
              <a:rPr lang="en-US" b="1" dirty="0"/>
              <a:t>1 John 3:1–3</a:t>
            </a:r>
            <a:r>
              <a:rPr lang="en-US" dirty="0"/>
              <a:t>).</a:t>
            </a:r>
          </a:p>
          <a:p>
            <a:pPr marL="285750" indent="-285750">
              <a:buFont typeface="Arial" panose="020B0604020202020204" pitchFamily="34" charset="0"/>
              <a:buChar char="•"/>
            </a:pPr>
            <a:r>
              <a:rPr lang="en-US" u="sng" dirty="0"/>
              <a:t>The Spirit is the guarantee</a:t>
            </a:r>
            <a:r>
              <a:rPr lang="en-US" dirty="0"/>
              <a:t>. He keeps us. He teaches us how to live as sons and daughters.</a:t>
            </a:r>
          </a:p>
        </p:txBody>
      </p:sp>
      <p:sp>
        <p:nvSpPr>
          <p:cNvPr id="4" name="TextBox 3">
            <a:extLst>
              <a:ext uri="{FF2B5EF4-FFF2-40B4-BE49-F238E27FC236}">
                <a16:creationId xmlns:a16="http://schemas.microsoft.com/office/drawing/2014/main" id="{44D6BA41-4D6F-E348-8B9B-11F20A14A116}"/>
              </a:ext>
            </a:extLst>
          </p:cNvPr>
          <p:cNvSpPr txBox="1"/>
          <p:nvPr/>
        </p:nvSpPr>
        <p:spPr>
          <a:xfrm>
            <a:off x="242887" y="5181600"/>
            <a:ext cx="8577262" cy="369332"/>
          </a:xfrm>
          <a:prstGeom prst="rect">
            <a:avLst/>
          </a:prstGeom>
          <a:noFill/>
        </p:spPr>
        <p:txBody>
          <a:bodyPr wrap="square" rtlCol="0">
            <a:spAutoFit/>
          </a:bodyPr>
          <a:lstStyle/>
          <a:p>
            <a:r>
              <a:rPr lang="en-US" b="1" dirty="0"/>
              <a:t>Adoption brings </a:t>
            </a:r>
            <a:r>
              <a:rPr lang="en-US" b="1" u="sng" dirty="0"/>
              <a:t>security</a:t>
            </a:r>
            <a:r>
              <a:rPr lang="en-US" b="1" dirty="0"/>
              <a:t>, not fear.</a:t>
            </a:r>
          </a:p>
        </p:txBody>
      </p:sp>
    </p:spTree>
    <p:extLst>
      <p:ext uri="{BB962C8B-B14F-4D97-AF65-F5344CB8AC3E}">
        <p14:creationId xmlns:p14="http://schemas.microsoft.com/office/powerpoint/2010/main" val="98388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53EC7-80D2-3030-62C7-0471ECAA091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D147412-A188-C0DD-A1B6-9666A9D0D4B5}"/>
              </a:ext>
            </a:extLst>
          </p:cNvPr>
          <p:cNvSpPr txBox="1">
            <a:spLocks/>
          </p:cNvSpPr>
          <p:nvPr/>
        </p:nvSpPr>
        <p:spPr bwMode="auto">
          <a:xfrm>
            <a:off x="214312" y="0"/>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200" dirty="0"/>
              <a:t>Adoption and the New Covenant</a:t>
            </a:r>
            <a:br>
              <a:rPr lang="en-US" dirty="0"/>
            </a:br>
            <a:r>
              <a:rPr lang="en-US" sz="2400" dirty="0">
                <a:solidFill>
                  <a:schemeClr val="tx2">
                    <a:lumMod val="60000"/>
                    <a:lumOff val="40000"/>
                  </a:schemeClr>
                </a:solidFill>
              </a:rPr>
              <a:t>Solves the Core Problem – The Heart</a:t>
            </a:r>
          </a:p>
        </p:txBody>
      </p:sp>
      <p:sp>
        <p:nvSpPr>
          <p:cNvPr id="3" name="TextBox 2">
            <a:extLst>
              <a:ext uri="{FF2B5EF4-FFF2-40B4-BE49-F238E27FC236}">
                <a16:creationId xmlns:a16="http://schemas.microsoft.com/office/drawing/2014/main" id="{30D6EF86-D01E-D00D-80AF-D176969C5BD5}"/>
              </a:ext>
            </a:extLst>
          </p:cNvPr>
          <p:cNvSpPr txBox="1"/>
          <p:nvPr/>
        </p:nvSpPr>
        <p:spPr>
          <a:xfrm>
            <a:off x="214312" y="1038225"/>
            <a:ext cx="8677275" cy="2585323"/>
          </a:xfrm>
          <a:prstGeom prst="rect">
            <a:avLst/>
          </a:prstGeom>
          <a:noFill/>
        </p:spPr>
        <p:txBody>
          <a:bodyPr wrap="square" rtlCol="0">
            <a:spAutoFit/>
          </a:bodyPr>
          <a:lstStyle/>
          <a:p>
            <a:r>
              <a:rPr lang="en-US" b="1" dirty="0"/>
              <a:t>God promises:</a:t>
            </a:r>
          </a:p>
          <a:p>
            <a:pPr marL="285750" indent="-285750">
              <a:buFont typeface="Arial" panose="020B0604020202020204" pitchFamily="34" charset="0"/>
              <a:buChar char="•"/>
            </a:pPr>
            <a:r>
              <a:rPr lang="en-US" dirty="0"/>
              <a:t>A new heart</a:t>
            </a:r>
          </a:p>
          <a:p>
            <a:pPr marL="285750" indent="-285750" fontAlgn="ctr">
              <a:buFont typeface="Arial" panose="020B0604020202020204" pitchFamily="34" charset="0"/>
              <a:buChar char="•"/>
            </a:pPr>
            <a:r>
              <a:rPr lang="en-US" dirty="0"/>
              <a:t>His Spirit within</a:t>
            </a:r>
          </a:p>
          <a:p>
            <a:pPr marL="285750" indent="-285750" fontAlgn="ctr">
              <a:buFont typeface="Arial" panose="020B0604020202020204" pitchFamily="34" charset="0"/>
              <a:buChar char="•"/>
            </a:pPr>
            <a:r>
              <a:rPr lang="en-US" dirty="0"/>
              <a:t>Forgiveness of sins</a:t>
            </a:r>
          </a:p>
          <a:p>
            <a:pPr marL="285750" indent="-285750" fontAlgn="ctr">
              <a:buFont typeface="Arial" panose="020B0604020202020204" pitchFamily="34" charset="0"/>
              <a:buChar char="•"/>
            </a:pPr>
            <a:r>
              <a:rPr lang="en-US" dirty="0"/>
              <a:t>A personal relationship</a:t>
            </a:r>
          </a:p>
          <a:p>
            <a:pPr marL="285750" indent="-285750" fontAlgn="ctr">
              <a:buFont typeface="Arial" panose="020B0604020202020204" pitchFamily="34" charset="0"/>
              <a:buChar char="•"/>
            </a:pPr>
            <a:r>
              <a:rPr lang="en-US" i="1" dirty="0"/>
              <a:t>“I will be your God, and you will be my people.”</a:t>
            </a:r>
            <a:r>
              <a:rPr lang="en-US" dirty="0"/>
              <a:t> (</a:t>
            </a:r>
            <a:r>
              <a:rPr lang="en-US" b="1" dirty="0"/>
              <a:t>Jeremiah 31:31–34</a:t>
            </a:r>
            <a:r>
              <a:rPr lang="en-US" dirty="0"/>
              <a:t>) </a:t>
            </a:r>
          </a:p>
          <a:p>
            <a:r>
              <a:rPr lang="en-US" b="1" dirty="0"/>
              <a:t>This is adoption language.</a:t>
            </a:r>
          </a:p>
          <a:p>
            <a:pPr marL="285750" indent="-285750">
              <a:buFont typeface="Arial" panose="020B0604020202020204" pitchFamily="34" charset="0"/>
              <a:buChar char="•"/>
            </a:pPr>
            <a:r>
              <a:rPr lang="en-US" dirty="0"/>
              <a:t>The Law could not create sons because it could not change hearts.</a:t>
            </a:r>
          </a:p>
          <a:p>
            <a:pPr marL="285750" indent="-285750">
              <a:buFont typeface="Arial" panose="020B0604020202020204" pitchFamily="34" charset="0"/>
              <a:buChar char="•"/>
            </a:pPr>
            <a:r>
              <a:rPr lang="en-US" dirty="0"/>
              <a:t>The Spirit can.</a:t>
            </a:r>
          </a:p>
        </p:txBody>
      </p:sp>
      <p:sp>
        <p:nvSpPr>
          <p:cNvPr id="2" name="TextBox 1">
            <a:extLst>
              <a:ext uri="{FF2B5EF4-FFF2-40B4-BE49-F238E27FC236}">
                <a16:creationId xmlns:a16="http://schemas.microsoft.com/office/drawing/2014/main" id="{53E02166-F487-0767-C52A-950343DDC07F}"/>
              </a:ext>
            </a:extLst>
          </p:cNvPr>
          <p:cNvSpPr txBox="1"/>
          <p:nvPr/>
        </p:nvSpPr>
        <p:spPr>
          <a:xfrm>
            <a:off x="214311" y="3769400"/>
            <a:ext cx="8677275" cy="1754326"/>
          </a:xfrm>
          <a:prstGeom prst="rect">
            <a:avLst/>
          </a:prstGeom>
          <a:noFill/>
        </p:spPr>
        <p:txBody>
          <a:bodyPr wrap="square" rtlCol="0">
            <a:spAutoFit/>
          </a:bodyPr>
          <a:lstStyle/>
          <a:p>
            <a:r>
              <a:rPr lang="en-US" b="1" dirty="0"/>
              <a:t>Key connections:</a:t>
            </a:r>
            <a:endParaRPr lang="en-US" dirty="0"/>
          </a:p>
          <a:p>
            <a:pPr marL="285750" indent="-285750" fontAlgn="ctr">
              <a:buFont typeface="Arial" panose="020B0604020202020204" pitchFamily="34" charset="0"/>
              <a:buChar char="•"/>
            </a:pPr>
            <a:r>
              <a:rPr lang="en-US" b="1" dirty="0"/>
              <a:t>New heart → </a:t>
            </a:r>
            <a:r>
              <a:rPr lang="en-US" dirty="0"/>
              <a:t>new identity as God’s child.</a:t>
            </a:r>
          </a:p>
          <a:p>
            <a:pPr marL="285750" indent="-285750" fontAlgn="ctr">
              <a:buFont typeface="Arial" panose="020B0604020202020204" pitchFamily="34" charset="0"/>
              <a:buChar char="•"/>
            </a:pPr>
            <a:r>
              <a:rPr lang="en-US" b="1" dirty="0"/>
              <a:t>Spirit within → </a:t>
            </a:r>
            <a:r>
              <a:rPr lang="en-US" dirty="0"/>
              <a:t>Spirit of adoption.</a:t>
            </a:r>
          </a:p>
          <a:p>
            <a:pPr marL="285750" indent="-285750" fontAlgn="ctr">
              <a:buFont typeface="Arial" panose="020B0604020202020204" pitchFamily="34" charset="0"/>
              <a:buChar char="•"/>
            </a:pPr>
            <a:r>
              <a:rPr lang="en-US" b="1" dirty="0"/>
              <a:t>Forgiveness → </a:t>
            </a:r>
            <a:r>
              <a:rPr lang="en-US" dirty="0"/>
              <a:t>removal of fear and guilt.</a:t>
            </a:r>
          </a:p>
          <a:p>
            <a:pPr marL="285750" indent="-285750" fontAlgn="ctr">
              <a:buFont typeface="Arial" panose="020B0604020202020204" pitchFamily="34" charset="0"/>
              <a:buChar char="•"/>
            </a:pPr>
            <a:r>
              <a:rPr lang="en-US" b="1" dirty="0"/>
              <a:t>Knowing God personally → </a:t>
            </a:r>
            <a:r>
              <a:rPr lang="en-US" dirty="0"/>
              <a:t>relationship of Father and child.</a:t>
            </a:r>
          </a:p>
          <a:p>
            <a:pPr marL="285750" indent="-285750" fontAlgn="ctr">
              <a:buFont typeface="Arial" panose="020B0604020202020204" pitchFamily="34" charset="0"/>
              <a:buChar char="•"/>
            </a:pPr>
            <a:r>
              <a:rPr lang="en-US" b="1" dirty="0"/>
              <a:t>New Covenant inheritance → </a:t>
            </a:r>
            <a:r>
              <a:rPr lang="en-US" dirty="0"/>
              <a:t>eternal life, resurrection, and the kingdom.</a:t>
            </a:r>
          </a:p>
        </p:txBody>
      </p:sp>
      <p:sp>
        <p:nvSpPr>
          <p:cNvPr id="4" name="TextBox 3">
            <a:extLst>
              <a:ext uri="{FF2B5EF4-FFF2-40B4-BE49-F238E27FC236}">
                <a16:creationId xmlns:a16="http://schemas.microsoft.com/office/drawing/2014/main" id="{59929DD3-88B0-B879-4682-D42459C9DA1B}"/>
              </a:ext>
            </a:extLst>
          </p:cNvPr>
          <p:cNvSpPr txBox="1"/>
          <p:nvPr/>
        </p:nvSpPr>
        <p:spPr>
          <a:xfrm>
            <a:off x="214311" y="5669578"/>
            <a:ext cx="8577262" cy="646331"/>
          </a:xfrm>
          <a:prstGeom prst="rect">
            <a:avLst/>
          </a:prstGeom>
          <a:noFill/>
        </p:spPr>
        <p:txBody>
          <a:bodyPr wrap="square" rtlCol="0">
            <a:spAutoFit/>
          </a:bodyPr>
          <a:lstStyle/>
          <a:p>
            <a:r>
              <a:rPr lang="en-US" b="1" dirty="0"/>
              <a:t>The Apostles saw adoption as one of the main blessings of the New Covenant.</a:t>
            </a:r>
          </a:p>
        </p:txBody>
      </p:sp>
    </p:spTree>
    <p:extLst>
      <p:ext uri="{BB962C8B-B14F-4D97-AF65-F5344CB8AC3E}">
        <p14:creationId xmlns:p14="http://schemas.microsoft.com/office/powerpoint/2010/main" val="488983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B5A34-55D4-145E-CB1C-31A5BA63D16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BA710A3-54A5-B96A-2443-91BDD610343D}"/>
              </a:ext>
            </a:extLst>
          </p:cNvPr>
          <p:cNvSpPr txBox="1">
            <a:spLocks/>
          </p:cNvSpPr>
          <p:nvPr/>
        </p:nvSpPr>
        <p:spPr bwMode="auto">
          <a:xfrm>
            <a:off x="214312" y="28574"/>
            <a:ext cx="8577262"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Adoption and Inheritance in Apostolic Teaching</a:t>
            </a:r>
            <a:br>
              <a:rPr lang="en-US" dirty="0"/>
            </a:br>
            <a:r>
              <a:rPr lang="en-US" sz="3400" dirty="0">
                <a:solidFill>
                  <a:schemeClr val="tx2">
                    <a:lumMod val="60000"/>
                    <a:lumOff val="40000"/>
                  </a:schemeClr>
                </a:solidFill>
              </a:rPr>
              <a:t>Our Inheritance Includes…</a:t>
            </a:r>
            <a:endParaRPr lang="en-US" sz="2400" dirty="0">
              <a:solidFill>
                <a:schemeClr val="tx2">
                  <a:lumMod val="60000"/>
                  <a:lumOff val="40000"/>
                </a:schemeClr>
              </a:solidFill>
            </a:endParaRPr>
          </a:p>
        </p:txBody>
      </p:sp>
      <p:sp>
        <p:nvSpPr>
          <p:cNvPr id="3" name="TextBox 2">
            <a:extLst>
              <a:ext uri="{FF2B5EF4-FFF2-40B4-BE49-F238E27FC236}">
                <a16:creationId xmlns:a16="http://schemas.microsoft.com/office/drawing/2014/main" id="{C10B6978-705D-4C54-3358-1FF393D5BAE5}"/>
              </a:ext>
            </a:extLst>
          </p:cNvPr>
          <p:cNvSpPr txBox="1"/>
          <p:nvPr/>
        </p:nvSpPr>
        <p:spPr>
          <a:xfrm>
            <a:off x="214312" y="962025"/>
            <a:ext cx="8677275" cy="3416320"/>
          </a:xfrm>
          <a:prstGeom prst="rect">
            <a:avLst/>
          </a:prstGeom>
          <a:noFill/>
        </p:spPr>
        <p:txBody>
          <a:bodyPr wrap="square" rtlCol="0">
            <a:spAutoFit/>
          </a:bodyPr>
          <a:lstStyle/>
          <a:p>
            <a:r>
              <a:rPr lang="en-US" b="1" dirty="0"/>
              <a:t>1. Eternal life</a:t>
            </a:r>
            <a:endParaRPr lang="en-US" dirty="0"/>
          </a:p>
          <a:p>
            <a:pPr marL="285750" indent="-285750" fontAlgn="ctr">
              <a:buFont typeface="Arial" panose="020B0604020202020204" pitchFamily="34" charset="0"/>
              <a:buChar char="•"/>
            </a:pPr>
            <a:r>
              <a:rPr lang="en-US" i="1" dirty="0"/>
              <a:t>“We are heirs… of eternal life.”</a:t>
            </a:r>
            <a:r>
              <a:rPr lang="en-US" dirty="0"/>
              <a:t> (</a:t>
            </a:r>
            <a:r>
              <a:rPr lang="en-US" b="1" dirty="0"/>
              <a:t>Titus 3:7</a:t>
            </a:r>
            <a:r>
              <a:rPr lang="en-US" dirty="0"/>
              <a:t>).</a:t>
            </a:r>
          </a:p>
          <a:p>
            <a:r>
              <a:rPr lang="en-US" dirty="0"/>
              <a:t> </a:t>
            </a:r>
          </a:p>
          <a:p>
            <a:r>
              <a:rPr lang="en-US" b="1" dirty="0"/>
              <a:t>2. The Kingdom</a:t>
            </a:r>
            <a:endParaRPr lang="en-US" dirty="0"/>
          </a:p>
          <a:p>
            <a:pPr marL="285750" indent="-285750" fontAlgn="ctr">
              <a:buFont typeface="Arial" panose="020B0604020202020204" pitchFamily="34" charset="0"/>
              <a:buChar char="•"/>
            </a:pPr>
            <a:r>
              <a:rPr lang="en-US" i="1" dirty="0"/>
              <a:t>“The unrighteous </a:t>
            </a:r>
            <a:r>
              <a:rPr lang="en-US" i="1" u="sng" dirty="0"/>
              <a:t>will not inherit</a:t>
            </a:r>
            <a:r>
              <a:rPr lang="en-US" i="1" dirty="0"/>
              <a:t> the kingdom of God.”</a:t>
            </a:r>
            <a:r>
              <a:rPr lang="en-US" dirty="0"/>
              <a:t> (</a:t>
            </a:r>
            <a:r>
              <a:rPr lang="en-US" b="1" dirty="0"/>
              <a:t>1 Corinthians 6:9–10</a:t>
            </a:r>
            <a:r>
              <a:rPr lang="en-US" dirty="0"/>
              <a:t>).</a:t>
            </a:r>
          </a:p>
          <a:p>
            <a:pPr marL="285750" indent="-285750" fontAlgn="ctr">
              <a:buFont typeface="Arial" panose="020B0604020202020204" pitchFamily="34" charset="0"/>
              <a:buChar char="•"/>
            </a:pPr>
            <a:r>
              <a:rPr lang="en-US" dirty="0"/>
              <a:t>God’s children </a:t>
            </a:r>
            <a:r>
              <a:rPr lang="en-US" u="sng" dirty="0"/>
              <a:t>will</a:t>
            </a:r>
            <a:r>
              <a:rPr lang="en-US" dirty="0"/>
              <a:t>.</a:t>
            </a:r>
          </a:p>
          <a:p>
            <a:r>
              <a:rPr lang="en-US" dirty="0"/>
              <a:t> </a:t>
            </a:r>
          </a:p>
          <a:p>
            <a:r>
              <a:rPr lang="en-US" b="1" dirty="0"/>
              <a:t>3. Resurrection glory</a:t>
            </a:r>
            <a:endParaRPr lang="en-US" dirty="0"/>
          </a:p>
          <a:p>
            <a:pPr marL="285750" indent="-285750" fontAlgn="ctr">
              <a:buFont typeface="Arial" panose="020B0604020202020204" pitchFamily="34" charset="0"/>
              <a:buChar char="•"/>
            </a:pPr>
            <a:r>
              <a:rPr lang="en-US" i="1" dirty="0"/>
              <a:t>“If we suffer with him, we may also be glorified with him.”</a:t>
            </a:r>
            <a:r>
              <a:rPr lang="en-US" dirty="0"/>
              <a:t> (</a:t>
            </a:r>
            <a:r>
              <a:rPr lang="en-US" b="1" dirty="0"/>
              <a:t>Romans 8:17</a:t>
            </a:r>
            <a:r>
              <a:rPr lang="en-US" dirty="0"/>
              <a:t>).</a:t>
            </a:r>
          </a:p>
          <a:p>
            <a:r>
              <a:rPr lang="en-US" dirty="0"/>
              <a:t> </a:t>
            </a:r>
          </a:p>
          <a:p>
            <a:r>
              <a:rPr lang="en-US" b="1" dirty="0"/>
              <a:t>4. God Himself</a:t>
            </a:r>
            <a:r>
              <a:rPr lang="en-US" dirty="0"/>
              <a:t>… </a:t>
            </a:r>
            <a:r>
              <a:rPr lang="en-US" b="1" dirty="0"/>
              <a:t>God is our portion</a:t>
            </a:r>
            <a:r>
              <a:rPr lang="en-US" dirty="0"/>
              <a:t>.</a:t>
            </a:r>
          </a:p>
          <a:p>
            <a:pPr marL="285750" indent="-285750" fontAlgn="ctr">
              <a:buFont typeface="Arial" panose="020B0604020202020204" pitchFamily="34" charset="0"/>
              <a:buChar char="•"/>
            </a:pPr>
            <a:r>
              <a:rPr lang="en-US" i="1" dirty="0"/>
              <a:t>“You are heirs according to the promise.”</a:t>
            </a:r>
            <a:r>
              <a:rPr lang="en-US" dirty="0"/>
              <a:t> (</a:t>
            </a:r>
            <a:r>
              <a:rPr lang="en-US" b="1" dirty="0"/>
              <a:t>Galatians 3:29</a:t>
            </a:r>
            <a:r>
              <a:rPr lang="en-US" dirty="0"/>
              <a:t>).</a:t>
            </a:r>
          </a:p>
        </p:txBody>
      </p:sp>
      <p:sp>
        <p:nvSpPr>
          <p:cNvPr id="4" name="TextBox 3">
            <a:extLst>
              <a:ext uri="{FF2B5EF4-FFF2-40B4-BE49-F238E27FC236}">
                <a16:creationId xmlns:a16="http://schemas.microsoft.com/office/drawing/2014/main" id="{BBEDA847-F03D-74B6-6C4C-A0E316D7D9FA}"/>
              </a:ext>
            </a:extLst>
          </p:cNvPr>
          <p:cNvSpPr txBox="1"/>
          <p:nvPr/>
        </p:nvSpPr>
        <p:spPr>
          <a:xfrm>
            <a:off x="285750" y="4840009"/>
            <a:ext cx="8577262" cy="646331"/>
          </a:xfrm>
          <a:prstGeom prst="rect">
            <a:avLst/>
          </a:prstGeom>
          <a:noFill/>
        </p:spPr>
        <p:txBody>
          <a:bodyPr wrap="square" rtlCol="0">
            <a:spAutoFit/>
          </a:bodyPr>
          <a:lstStyle/>
          <a:p>
            <a:r>
              <a:rPr lang="en-US" b="1" dirty="0"/>
              <a:t>Abraham’s </a:t>
            </a:r>
            <a:r>
              <a:rPr lang="en-US" b="1" u="sng" dirty="0"/>
              <a:t>promise</a:t>
            </a:r>
            <a:r>
              <a:rPr lang="en-US" b="1" dirty="0"/>
              <a:t> always pointed beyond land and nation. It pointed to God giving Himself to His people. Adoption is the </a:t>
            </a:r>
            <a:r>
              <a:rPr lang="en-US" b="1" u="sng" dirty="0"/>
              <a:t>fulfillment</a:t>
            </a:r>
            <a:r>
              <a:rPr lang="en-US" b="1" dirty="0"/>
              <a:t>.</a:t>
            </a:r>
          </a:p>
        </p:txBody>
      </p:sp>
    </p:spTree>
    <p:extLst>
      <p:ext uri="{BB962C8B-B14F-4D97-AF65-F5344CB8AC3E}">
        <p14:creationId xmlns:p14="http://schemas.microsoft.com/office/powerpoint/2010/main" val="397354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1000"/>
                                        <p:tgtEl>
                                          <p:spTgt spid="3">
                                            <p:txEl>
                                              <p:pRg st="7" end="7"/>
                                            </p:txEl>
                                          </p:spTgt>
                                        </p:tgtEl>
                                      </p:cBhvr>
                                    </p:animEffect>
                                    <p:anim calcmode="lin" valueType="num">
                                      <p:cBhvr>
                                        <p:cTn id="3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1000"/>
                                        <p:tgtEl>
                                          <p:spTgt spid="3">
                                            <p:txEl>
                                              <p:pRg st="8" end="8"/>
                                            </p:txEl>
                                          </p:spTgt>
                                        </p:tgtEl>
                                      </p:cBhvr>
                                    </p:animEffect>
                                    <p:anim calcmode="lin" valueType="num">
                                      <p:cBhvr>
                                        <p:cTn id="4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fade">
                                      <p:cBhvr>
                                        <p:cTn id="48" dur="1000"/>
                                        <p:tgtEl>
                                          <p:spTgt spid="3">
                                            <p:txEl>
                                              <p:pRg st="10" end="10"/>
                                            </p:txEl>
                                          </p:spTgt>
                                        </p:tgtEl>
                                      </p:cBhvr>
                                    </p:animEffect>
                                    <p:anim calcmode="lin" valueType="num">
                                      <p:cBhvr>
                                        <p:cTn id="49"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animEffect transition="in" filter="fade">
                                      <p:cBhvr>
                                        <p:cTn id="53" dur="1000"/>
                                        <p:tgtEl>
                                          <p:spTgt spid="3">
                                            <p:txEl>
                                              <p:pRg st="11" end="11"/>
                                            </p:txEl>
                                          </p:spTgt>
                                        </p:tgtEl>
                                      </p:cBhvr>
                                    </p:animEffect>
                                    <p:anim calcmode="lin" valueType="num">
                                      <p:cBhvr>
                                        <p:cTn id="54"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fade">
                                      <p:cBhvr>
                                        <p:cTn id="60" dur="1000"/>
                                        <p:tgtEl>
                                          <p:spTgt spid="4"/>
                                        </p:tgtEl>
                                      </p:cBhvr>
                                    </p:animEffect>
                                    <p:anim calcmode="lin" valueType="num">
                                      <p:cBhvr>
                                        <p:cTn id="61" dur="1000" fill="hold"/>
                                        <p:tgtEl>
                                          <p:spTgt spid="4"/>
                                        </p:tgtEl>
                                        <p:attrNameLst>
                                          <p:attrName>ppt_x</p:attrName>
                                        </p:attrNameLst>
                                      </p:cBhvr>
                                      <p:tavLst>
                                        <p:tav tm="0">
                                          <p:val>
                                            <p:strVal val="#ppt_x"/>
                                          </p:val>
                                        </p:tav>
                                        <p:tav tm="100000">
                                          <p:val>
                                            <p:strVal val="#ppt_x"/>
                                          </p:val>
                                        </p:tav>
                                      </p:tavLst>
                                    </p:anim>
                                    <p:anim calcmode="lin" valueType="num">
                                      <p:cBhvr>
                                        <p:cTn id="6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AF1D3-3E11-7191-A055-B9385552CC3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C144A0A-8176-1815-85BB-78A8AEBBF52B}"/>
              </a:ext>
            </a:extLst>
          </p:cNvPr>
          <p:cNvSpPr txBox="1">
            <a:spLocks/>
          </p:cNvSpPr>
          <p:nvPr/>
        </p:nvSpPr>
        <p:spPr bwMode="auto">
          <a:xfrm>
            <a:off x="214312" y="0"/>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600" dirty="0"/>
              <a:t>Examples of Adoption in Scripture</a:t>
            </a:r>
            <a:br>
              <a:rPr lang="en-US" dirty="0"/>
            </a:br>
            <a:r>
              <a:rPr lang="en-US" sz="2400" dirty="0">
                <a:solidFill>
                  <a:schemeClr val="tx2">
                    <a:lumMod val="60000"/>
                    <a:lumOff val="40000"/>
                  </a:schemeClr>
                </a:solidFill>
              </a:rPr>
              <a:t>Moments that point to the New Covenant reality…</a:t>
            </a:r>
          </a:p>
        </p:txBody>
      </p:sp>
      <p:sp>
        <p:nvSpPr>
          <p:cNvPr id="3" name="TextBox 2">
            <a:extLst>
              <a:ext uri="{FF2B5EF4-FFF2-40B4-BE49-F238E27FC236}">
                <a16:creationId xmlns:a16="http://schemas.microsoft.com/office/drawing/2014/main" id="{4CCB33E5-F8F1-6FAD-639D-CAA6D326DD2C}"/>
              </a:ext>
            </a:extLst>
          </p:cNvPr>
          <p:cNvSpPr txBox="1"/>
          <p:nvPr/>
        </p:nvSpPr>
        <p:spPr>
          <a:xfrm>
            <a:off x="214312" y="1047750"/>
            <a:ext cx="8677275" cy="2585323"/>
          </a:xfrm>
          <a:prstGeom prst="rect">
            <a:avLst/>
          </a:prstGeom>
          <a:noFill/>
        </p:spPr>
        <p:txBody>
          <a:bodyPr wrap="square" rtlCol="0">
            <a:spAutoFit/>
          </a:bodyPr>
          <a:lstStyle/>
          <a:p>
            <a:pPr fontAlgn="ctr"/>
            <a:r>
              <a:rPr lang="en-US" b="1" dirty="0"/>
              <a:t>Moses</a:t>
            </a:r>
            <a:r>
              <a:rPr lang="en-US" dirty="0"/>
              <a:t> adopted by Pharaoh’s daughter (</a:t>
            </a:r>
            <a:r>
              <a:rPr lang="en-US" b="1" dirty="0"/>
              <a:t>Exodus 2:10</a:t>
            </a:r>
            <a:r>
              <a:rPr lang="en-US" dirty="0"/>
              <a:t>).</a:t>
            </a:r>
          </a:p>
          <a:p>
            <a:pPr marL="285750" indent="-285750" fontAlgn="ctr">
              <a:buFont typeface="Arial" panose="020B0604020202020204" pitchFamily="34" charset="0"/>
              <a:buChar char="•"/>
            </a:pPr>
            <a:r>
              <a:rPr lang="en-US" dirty="0"/>
              <a:t>A picture of someone brought from </a:t>
            </a:r>
            <a:r>
              <a:rPr lang="en-US" u="sng" dirty="0"/>
              <a:t>slavery into royalty</a:t>
            </a:r>
            <a:r>
              <a:rPr lang="en-US" dirty="0"/>
              <a:t>.</a:t>
            </a:r>
          </a:p>
          <a:p>
            <a:pPr fontAlgn="ctr"/>
            <a:endParaRPr lang="en-US" b="1" dirty="0"/>
          </a:p>
          <a:p>
            <a:pPr fontAlgn="ctr"/>
            <a:r>
              <a:rPr lang="en-US" b="1" dirty="0"/>
              <a:t>David and Mephibosheth</a:t>
            </a:r>
            <a:r>
              <a:rPr lang="en-US" dirty="0"/>
              <a:t> (</a:t>
            </a:r>
            <a:r>
              <a:rPr lang="en-US" b="1" dirty="0"/>
              <a:t>2 Samuel 9</a:t>
            </a:r>
            <a:r>
              <a:rPr lang="en-US" dirty="0"/>
              <a:t>).</a:t>
            </a:r>
          </a:p>
          <a:p>
            <a:pPr marL="285750" indent="-285750" fontAlgn="ctr">
              <a:buFont typeface="Arial" panose="020B0604020202020204" pitchFamily="34" charset="0"/>
              <a:buChar char="•"/>
            </a:pPr>
            <a:r>
              <a:rPr lang="en-US" dirty="0"/>
              <a:t>The king brings an undeserving, helpless man </a:t>
            </a:r>
            <a:r>
              <a:rPr lang="en-US" u="sng" dirty="0"/>
              <a:t>to his table</a:t>
            </a:r>
            <a:r>
              <a:rPr lang="en-US" dirty="0"/>
              <a:t>.</a:t>
            </a:r>
          </a:p>
          <a:p>
            <a:pPr marL="285750" indent="-285750" fontAlgn="ctr">
              <a:buFont typeface="Arial" panose="020B0604020202020204" pitchFamily="34" charset="0"/>
              <a:buChar char="•"/>
            </a:pPr>
            <a:r>
              <a:rPr lang="en-US" dirty="0"/>
              <a:t>This mirrors God’s </a:t>
            </a:r>
            <a:r>
              <a:rPr lang="en-US" u="sng" dirty="0"/>
              <a:t>grace to us</a:t>
            </a:r>
            <a:r>
              <a:rPr lang="en-US" dirty="0"/>
              <a:t>.</a:t>
            </a:r>
          </a:p>
          <a:p>
            <a:pPr fontAlgn="ctr"/>
            <a:endParaRPr lang="en-US" b="1" dirty="0"/>
          </a:p>
          <a:p>
            <a:pPr fontAlgn="ctr"/>
            <a:r>
              <a:rPr lang="en-US" b="1" dirty="0"/>
              <a:t>The prodigal son</a:t>
            </a:r>
            <a:r>
              <a:rPr lang="en-US" dirty="0"/>
              <a:t> (</a:t>
            </a:r>
            <a:r>
              <a:rPr lang="en-US" b="1" dirty="0"/>
              <a:t>Luke 15:11–24</a:t>
            </a:r>
            <a:r>
              <a:rPr lang="en-US" dirty="0"/>
              <a:t>).</a:t>
            </a:r>
          </a:p>
          <a:p>
            <a:pPr marL="285750" indent="-285750" fontAlgn="ctr">
              <a:buFont typeface="Arial" panose="020B0604020202020204" pitchFamily="34" charset="0"/>
              <a:buChar char="•"/>
            </a:pPr>
            <a:r>
              <a:rPr lang="en-US" dirty="0"/>
              <a:t>The father restores him with </a:t>
            </a:r>
            <a:r>
              <a:rPr lang="en-US" u="sng" dirty="0"/>
              <a:t>full sonship</a:t>
            </a:r>
            <a:r>
              <a:rPr lang="en-US" dirty="0"/>
              <a:t> - robe, ring, feast.</a:t>
            </a:r>
          </a:p>
        </p:txBody>
      </p:sp>
      <p:sp>
        <p:nvSpPr>
          <p:cNvPr id="2" name="TextBox 1">
            <a:extLst>
              <a:ext uri="{FF2B5EF4-FFF2-40B4-BE49-F238E27FC236}">
                <a16:creationId xmlns:a16="http://schemas.microsoft.com/office/drawing/2014/main" id="{5A100CE2-E532-7428-3AAF-9FF39A86B238}"/>
              </a:ext>
            </a:extLst>
          </p:cNvPr>
          <p:cNvSpPr txBox="1"/>
          <p:nvPr/>
        </p:nvSpPr>
        <p:spPr>
          <a:xfrm>
            <a:off x="204787" y="3824347"/>
            <a:ext cx="8677275" cy="369332"/>
          </a:xfrm>
          <a:prstGeom prst="rect">
            <a:avLst/>
          </a:prstGeom>
          <a:noFill/>
        </p:spPr>
        <p:txBody>
          <a:bodyPr wrap="square" rtlCol="0">
            <a:spAutoFit/>
          </a:bodyPr>
          <a:lstStyle/>
          <a:p>
            <a:r>
              <a:rPr lang="en-US" b="1" dirty="0"/>
              <a:t>These moments paint the heart of adoption: </a:t>
            </a:r>
            <a:r>
              <a:rPr lang="en-US" b="1" u="sng" dirty="0"/>
              <a:t>mercy</a:t>
            </a:r>
            <a:r>
              <a:rPr lang="en-US" b="1" dirty="0"/>
              <a:t>, </a:t>
            </a:r>
            <a:r>
              <a:rPr lang="en-US" b="1" u="sng" dirty="0"/>
              <a:t>restoration</a:t>
            </a:r>
            <a:r>
              <a:rPr lang="en-US" b="1" dirty="0"/>
              <a:t>, and </a:t>
            </a:r>
            <a:r>
              <a:rPr lang="en-US" b="1" u="sng" dirty="0"/>
              <a:t>welcome</a:t>
            </a:r>
            <a:r>
              <a:rPr lang="en-US" b="1" dirty="0"/>
              <a:t>. </a:t>
            </a:r>
          </a:p>
        </p:txBody>
      </p:sp>
      <p:sp>
        <p:nvSpPr>
          <p:cNvPr id="4" name="TextBox 3">
            <a:extLst>
              <a:ext uri="{FF2B5EF4-FFF2-40B4-BE49-F238E27FC236}">
                <a16:creationId xmlns:a16="http://schemas.microsoft.com/office/drawing/2014/main" id="{573AD62B-55F5-8599-EC07-52E548A09A34}"/>
              </a:ext>
            </a:extLst>
          </p:cNvPr>
          <p:cNvSpPr txBox="1"/>
          <p:nvPr/>
        </p:nvSpPr>
        <p:spPr>
          <a:xfrm>
            <a:off x="214312" y="4495800"/>
            <a:ext cx="8577262" cy="1785104"/>
          </a:xfrm>
          <a:prstGeom prst="rect">
            <a:avLst/>
          </a:prstGeom>
          <a:noFill/>
        </p:spPr>
        <p:txBody>
          <a:bodyPr wrap="square" rtlCol="0">
            <a:spAutoFit/>
          </a:bodyPr>
          <a:lstStyle/>
          <a:p>
            <a:r>
              <a:rPr lang="en-US" sz="2000" b="1" i="1" dirty="0"/>
              <a:t>The Steadfast Love of the Lord never ceases…</a:t>
            </a:r>
          </a:p>
          <a:p>
            <a:pPr marL="285750" indent="-285750" fontAlgn="ctr">
              <a:buFont typeface="Arial" panose="020B0604020202020204" pitchFamily="34" charset="0"/>
              <a:buChar char="•"/>
            </a:pPr>
            <a:r>
              <a:rPr lang="en-US" dirty="0"/>
              <a:t>What does adoption say about </a:t>
            </a:r>
            <a:r>
              <a:rPr lang="en-US" u="sng" dirty="0"/>
              <a:t>who you are</a:t>
            </a:r>
            <a:r>
              <a:rPr lang="en-US" dirty="0"/>
              <a:t> in reality?</a:t>
            </a:r>
          </a:p>
          <a:p>
            <a:pPr marL="285750" indent="-285750" fontAlgn="ctr">
              <a:buFont typeface="Arial" panose="020B0604020202020204" pitchFamily="34" charset="0"/>
              <a:buChar char="•"/>
            </a:pPr>
            <a:r>
              <a:rPr lang="en-US" dirty="0"/>
              <a:t>What lies or labels do you need to </a:t>
            </a:r>
            <a:r>
              <a:rPr lang="en-US" u="sng" dirty="0"/>
              <a:t>replace with God’s truth</a:t>
            </a:r>
            <a:r>
              <a:rPr lang="en-US" dirty="0"/>
              <a:t>?</a:t>
            </a:r>
          </a:p>
          <a:p>
            <a:pPr marL="285750" indent="-285750" fontAlgn="ctr">
              <a:buFont typeface="Arial" panose="020B0604020202020204" pitchFamily="34" charset="0"/>
              <a:buChar char="•"/>
            </a:pPr>
            <a:r>
              <a:rPr lang="en-US" dirty="0"/>
              <a:t>How does being an heir </a:t>
            </a:r>
            <a:r>
              <a:rPr lang="en-US" u="sng" dirty="0"/>
              <a:t>shape the way you see</a:t>
            </a:r>
            <a:r>
              <a:rPr lang="en-US" dirty="0"/>
              <a:t> suffering, work, and the future?</a:t>
            </a:r>
          </a:p>
          <a:p>
            <a:pPr marL="285750" indent="-285750" fontAlgn="ctr">
              <a:buFont typeface="Arial" panose="020B0604020202020204" pitchFamily="34" charset="0"/>
              <a:buChar char="•"/>
            </a:pPr>
            <a:r>
              <a:rPr lang="en-US" dirty="0"/>
              <a:t>How can we </a:t>
            </a:r>
            <a:r>
              <a:rPr lang="en-US" u="sng" dirty="0"/>
              <a:t>remind each other</a:t>
            </a:r>
            <a:r>
              <a:rPr lang="en-US" dirty="0"/>
              <a:t> to live like children of God, not slaves or orphans?</a:t>
            </a:r>
          </a:p>
        </p:txBody>
      </p:sp>
    </p:spTree>
    <p:extLst>
      <p:ext uri="{BB962C8B-B14F-4D97-AF65-F5344CB8AC3E}">
        <p14:creationId xmlns:p14="http://schemas.microsoft.com/office/powerpoint/2010/main" val="354951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1000"/>
                                        <p:tgtEl>
                                          <p:spTgt spid="3">
                                            <p:txEl>
                                              <p:pRg st="7" end="7"/>
                                            </p:txEl>
                                          </p:spTgt>
                                        </p:tgtEl>
                                      </p:cBhvr>
                                    </p:animEffect>
                                    <p:anim calcmode="lin" valueType="num">
                                      <p:cBhvr>
                                        <p:cTn id="3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1000"/>
                                        <p:tgtEl>
                                          <p:spTgt spid="3">
                                            <p:txEl>
                                              <p:pRg st="8" end="8"/>
                                            </p:txEl>
                                          </p:spTgt>
                                        </p:tgtEl>
                                      </p:cBhvr>
                                    </p:animEffect>
                                    <p:anim calcmode="lin" valueType="num">
                                      <p:cBhvr>
                                        <p:cTn id="4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1000"/>
                                        <p:tgtEl>
                                          <p:spTgt spid="2"/>
                                        </p:tgtEl>
                                      </p:cBhvr>
                                    </p:animEffect>
                                    <p:anim calcmode="lin" valueType="num">
                                      <p:cBhvr>
                                        <p:cTn id="49" dur="1000" fill="hold"/>
                                        <p:tgtEl>
                                          <p:spTgt spid="2"/>
                                        </p:tgtEl>
                                        <p:attrNameLst>
                                          <p:attrName>ppt_x</p:attrName>
                                        </p:attrNameLst>
                                      </p:cBhvr>
                                      <p:tavLst>
                                        <p:tav tm="0">
                                          <p:val>
                                            <p:strVal val="#ppt_x"/>
                                          </p:val>
                                        </p:tav>
                                        <p:tav tm="100000">
                                          <p:val>
                                            <p:strVal val="#ppt_x"/>
                                          </p:val>
                                        </p:tav>
                                      </p:tavLst>
                                    </p:anim>
                                    <p:anim calcmode="lin" valueType="num">
                                      <p:cBhvr>
                                        <p:cTn id="5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1000"/>
                                        <p:tgtEl>
                                          <p:spTgt spid="4"/>
                                        </p:tgtEl>
                                      </p:cBhvr>
                                    </p:animEffect>
                                    <p:anim calcmode="lin" valueType="num">
                                      <p:cBhvr>
                                        <p:cTn id="56" dur="1000" fill="hold"/>
                                        <p:tgtEl>
                                          <p:spTgt spid="4"/>
                                        </p:tgtEl>
                                        <p:attrNameLst>
                                          <p:attrName>ppt_x</p:attrName>
                                        </p:attrNameLst>
                                      </p:cBhvr>
                                      <p:tavLst>
                                        <p:tav tm="0">
                                          <p:val>
                                            <p:strVal val="#ppt_x"/>
                                          </p:val>
                                        </p:tav>
                                        <p:tav tm="100000">
                                          <p:val>
                                            <p:strVal val="#ppt_x"/>
                                          </p:val>
                                        </p:tav>
                                      </p:tavLst>
                                    </p:anim>
                                    <p:anim calcmode="lin" valueType="num">
                                      <p:cBhvr>
                                        <p:cTn id="5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PPT_Template_2010SummerSchool</Template>
  <TotalTime>38994</TotalTime>
  <Words>1263</Words>
  <Application>Microsoft Office PowerPoint</Application>
  <PresentationFormat>On-screen Show (4:3)</PresentationFormat>
  <Paragraphs>118</Paragraphs>
  <Slides>6</Slides>
  <Notes>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6</vt:i4>
      </vt:variant>
    </vt:vector>
  </HeadingPairs>
  <TitlesOfParts>
    <vt:vector size="11" baseType="lpstr">
      <vt:lpstr>Arial</vt:lpstr>
      <vt:lpstr>Arial Narrow</vt:lpstr>
      <vt:lpstr>Calibri</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1374</cp:revision>
  <cp:lastPrinted>2025-11-25T12:03:34Z</cp:lastPrinted>
  <dcterms:created xsi:type="dcterms:W3CDTF">2010-06-16T02:58:04Z</dcterms:created>
  <dcterms:modified xsi:type="dcterms:W3CDTF">2025-11-25T12:06:59Z</dcterms:modified>
</cp:coreProperties>
</file>