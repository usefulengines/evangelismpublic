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68" r:id="rId1"/>
    <p:sldMasterId id="2147484131" r:id="rId2"/>
  </p:sldMasterIdLst>
  <p:notesMasterIdLst>
    <p:notesMasterId r:id="rId6"/>
  </p:notesMasterIdLst>
  <p:sldIdLst>
    <p:sldId id="395" r:id="rId3"/>
    <p:sldId id="336" r:id="rId4"/>
    <p:sldId id="576" r:id="rId5"/>
  </p:sldIdLst>
  <p:sldSz cx="9144000" cy="6858000" type="screen4x3"/>
  <p:notesSz cx="7099300" cy="93853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hillip Pennington" initials="PP" lastIdx="2" clrIdx="0">
    <p:extLst>
      <p:ext uri="{19B8F6BF-5375-455C-9EA6-DF929625EA0E}">
        <p15:presenceInfo xmlns:p15="http://schemas.microsoft.com/office/powerpoint/2012/main" userId="7a30b84b863a4f9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62" autoAdjust="0"/>
    <p:restoredTop sz="63512" autoAdjust="0"/>
  </p:normalViewPr>
  <p:slideViewPr>
    <p:cSldViewPr>
      <p:cViewPr varScale="1">
        <p:scale>
          <a:sx n="100" d="100"/>
          <a:sy n="100" d="100"/>
        </p:scale>
        <p:origin x="51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3076364" cy="469265"/>
          </a:xfrm>
          <a:prstGeom prst="rect">
            <a:avLst/>
          </a:prstGeom>
        </p:spPr>
        <p:txBody>
          <a:bodyPr vert="horz" wrap="square" lIns="94154" tIns="47077" rIns="94154" bIns="4707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6" y="1"/>
            <a:ext cx="3076364" cy="469265"/>
          </a:xfrm>
          <a:prstGeom prst="rect">
            <a:avLst/>
          </a:prstGeom>
        </p:spPr>
        <p:txBody>
          <a:bodyPr vert="horz" wrap="square" lIns="94154" tIns="47077" rIns="94154" bIns="4707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37B93000-4848-40F5-8AEF-44DFB12065B3}" type="datetime1">
              <a:rPr lang="en-US"/>
              <a:pPr>
                <a:defRPr/>
              </a:pPr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3325" y="704850"/>
            <a:ext cx="4692650" cy="3519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94154" tIns="47077" rIns="94154" bIns="47077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458018"/>
            <a:ext cx="5679440" cy="4223385"/>
          </a:xfrm>
          <a:prstGeom prst="rect">
            <a:avLst/>
          </a:prstGeom>
        </p:spPr>
        <p:txBody>
          <a:bodyPr vert="horz" wrap="square" lIns="94154" tIns="47077" rIns="94154" bIns="4707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8914406"/>
            <a:ext cx="3076364" cy="469265"/>
          </a:xfrm>
          <a:prstGeom prst="rect">
            <a:avLst/>
          </a:prstGeom>
        </p:spPr>
        <p:txBody>
          <a:bodyPr vert="horz" wrap="square" lIns="94154" tIns="47077" rIns="94154" bIns="4707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6" y="8914406"/>
            <a:ext cx="3076364" cy="469265"/>
          </a:xfrm>
          <a:prstGeom prst="rect">
            <a:avLst/>
          </a:prstGeom>
        </p:spPr>
        <p:txBody>
          <a:bodyPr vert="horz" wrap="square" lIns="94154" tIns="47077" rIns="94154" bIns="4707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  <a:ea typeface="ＭＳ Ｐゴシック" pitchFamily="-106" charset="-128"/>
              </a:defRPr>
            </a:lvl1pPr>
          </a:lstStyle>
          <a:p>
            <a:pPr>
              <a:defRPr/>
            </a:pPr>
            <a:fld id="{07776858-791E-4C8D-8FA3-473B3AFECFA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37504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ＭＳ Ｐゴシック" pitchFamily="-106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106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Promise of the Messiah Fulfilled in Christ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Key Verses: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Isaiah 9:6–7; John 1:14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Jesus is the fulfillment of all God’s covenant promises.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20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Old Covenant</a:t>
            </a:r>
            <a:endParaRPr lang="en-US" sz="14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Given through Moses: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The Law was established at Sinai (Exodus 19–24). It defined Israel’s relationship with God through commandments, sacrifices, and rituals.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Written on stone: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It was external, requiring obedience to written laws (2 Corinthians 3:7).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Conditional: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Blessings depended on Israel’s faithfulness and obedience; curses came for disobedience (Deuteronomy 28).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Temporary: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The Law served as a guardian or tutor until Christ came (Galatians 3:24–25).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Revealed sin: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The Law exposed the sinfulness of humanity but could not remove sin (Romans 3:20; Hebrews 10:1–4).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Priestly mediation: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Access to God came through priests and animal sacrifices, repeated continually.</a:t>
            </a:r>
          </a:p>
          <a:p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 </a:t>
            </a:r>
          </a:p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New Covenant</a:t>
            </a:r>
            <a:endParaRPr lang="en-US" sz="14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Established by Christ: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Instituted through His death and resurrection (Luke 22:20; Hebrews 9:15).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Written on hearts: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God’s Spirit writes His law within believers, bringing inner transformation (Jeremiah 31:33; 2 Corinthians 3:3).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Unconditional grace: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Salvation and righteousness come by faith, not by works of the Law (Romans 3:21–22; Ephesians 2:8–9).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Eternal and complete: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Christ’s sacrifice is once for all, providing full forgiveness and direct access to God (Hebrews 10:10–14).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Priesthood of all believers: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No longer through Levitical priests, but through Christ our High Priest (Hebrews 4:14–16; 1 Peter 2:9).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Union with Christ:</a:t>
            </a:r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 The Spirit indwells believers, producing obedience and holiness from within (Romans 8:1–4).</a:t>
            </a:r>
          </a:p>
          <a:p>
            <a:endParaRPr lang="en-US" sz="1400" b="1" dirty="0"/>
          </a:p>
          <a:p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New Covenant fulfills the deep longings planted in the Old:</a:t>
            </a: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Forgiveness replaces guilt.</a:t>
            </a:r>
            <a:endParaRPr lang="en-US" sz="14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Spirit replaces stone.</a:t>
            </a:r>
            <a:endParaRPr lang="en-US" sz="14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Relationship replaces ritual.</a:t>
            </a:r>
            <a:endParaRPr lang="en-US" sz="14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Peace replaces striving.</a:t>
            </a:r>
            <a:endParaRPr lang="en-US" sz="14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pPr rtl="0" fontAlgn="ctr"/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The eternal kingdom replaces all passing systems.</a:t>
            </a:r>
            <a:endParaRPr lang="en-US" sz="1400" kern="1200" dirty="0">
              <a:solidFill>
                <a:schemeClr val="tx1"/>
              </a:solidFill>
              <a:effectLst/>
              <a:latin typeface="+mn-lt"/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Jesus didn’t abolish the Law or the Prophets; He completed their meaning (Matthew 5:17).</a:t>
            </a:r>
          </a:p>
          <a:p>
            <a:r>
              <a:rPr lang="en-US" sz="1400" kern="1200" dirty="0">
                <a:solidFill>
                  <a:schemeClr val="tx1"/>
                </a:solidFill>
                <a:effectLst/>
                <a:latin typeface="+mn-lt"/>
                <a:ea typeface="ＭＳ Ｐゴシック" pitchFamily="-106" charset="-128"/>
                <a:cs typeface="ＭＳ Ｐゴシック" pitchFamily="-106" charset="-128"/>
              </a:rPr>
              <a:t>Everything the Law anticipated; forgiveness, renewal, communion with God; finds its reality in Him.</a:t>
            </a:r>
          </a:p>
          <a:p>
            <a:pPr lvl="0"/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40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924DC-7E79-F956-7E7A-9A91CF810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90594-776B-4B1C-CB5D-578AEE388C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81AF37-CC7E-26F1-1A98-CB676DE12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2EFACF-5AF4-FBCF-C716-A7E106575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776858-791E-4C8D-8FA3-473B3AFECFAC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lang="en-US" sz="4400" b="1" kern="1200" dirty="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3918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741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734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9" r:id="rId1"/>
    <p:sldLayoutId id="2147484150" r:id="rId2"/>
  </p:sldLayoutIdLst>
  <p:hf hdr="0"/>
  <p:txStyles>
    <p:titleStyle>
      <a:lvl1pPr algn="ctr" rtl="0" eaLnBrk="1" fontAlgn="base" hangingPunct="1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0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43000"/>
            <a:ext cx="8229600" cy="510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</p:sldLayoutIdLst>
  <p:hf hdr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4400" b="1" kern="1200" dirty="0">
          <a:solidFill>
            <a:schemeClr val="tx2"/>
          </a:solidFill>
          <a:latin typeface="+mj-lt"/>
          <a:ea typeface="ＭＳ Ｐゴシック" pitchFamily="34" charset="-128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charset="0"/>
          <a:ea typeface="ＭＳ Ｐゴシック" pitchFamily="34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 Narrow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A53F3-F5FA-47DF-8211-8B502AD79E23}"/>
              </a:ext>
            </a:extLst>
          </p:cNvPr>
          <p:cNvSpPr txBox="1">
            <a:spLocks/>
          </p:cNvSpPr>
          <p:nvPr/>
        </p:nvSpPr>
        <p:spPr bwMode="auto">
          <a:xfrm>
            <a:off x="457200" y="457200"/>
            <a:ext cx="8229600" cy="601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2500" lnSpcReduction="10000"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lang="en-US" sz="4400" b="1" kern="1200" dirty="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6700" dirty="0"/>
              <a:t>The Promises of God</a:t>
            </a:r>
            <a:br>
              <a:rPr lang="en-US" dirty="0"/>
            </a:br>
            <a:endParaRPr lang="en-US" dirty="0"/>
          </a:p>
          <a:p>
            <a:r>
              <a:rPr lang="en-US" i="1" dirty="0"/>
              <a:t>Promise of the Messiah Fulfilled in Christ</a:t>
            </a:r>
          </a:p>
          <a:p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b="0" dirty="0"/>
              <a:t>“Indeed.”</a:t>
            </a:r>
          </a:p>
          <a:p>
            <a:r>
              <a:rPr lang="en-US" b="0" dirty="0"/>
              <a:t>(</a:t>
            </a:r>
            <a:r>
              <a:rPr lang="en-US" dirty="0"/>
              <a:t>Isaiah 9:6-7</a:t>
            </a:r>
            <a:r>
              <a:rPr lang="en-US" b="0" dirty="0"/>
              <a:t>)</a:t>
            </a:r>
          </a:p>
          <a:p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http://tinyurl.com/GodOfPromises</a:t>
            </a:r>
          </a:p>
          <a:p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8658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 bwMode="auto">
          <a:xfrm>
            <a:off x="381000" y="0"/>
            <a:ext cx="83820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lnSpcReduction="10000"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200" dirty="0"/>
              <a:t>Apostolic Theology</a:t>
            </a:r>
            <a:br>
              <a:rPr lang="en-US" sz="3600" dirty="0"/>
            </a:b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As taught about the Old Covenant </a:t>
            </a:r>
            <a:endParaRPr lang="en-US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1000" y="3995678"/>
            <a:ext cx="825436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Apostolic passages:</a:t>
            </a:r>
            <a:endParaRPr lang="en-US" dirty="0"/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Romans 3–8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Galatians 3–4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2 Corinthians 3</a:t>
            </a:r>
          </a:p>
          <a:p>
            <a:pPr marL="285750" indent="-285750" fontAlgn="ctr">
              <a:buFont typeface="Arial" panose="020B0604020202020204" pitchFamily="34" charset="0"/>
              <a:buChar char="•"/>
            </a:pPr>
            <a:r>
              <a:rPr lang="en-US" dirty="0"/>
              <a:t>Hebrews 8–10</a:t>
            </a:r>
          </a:p>
          <a:p>
            <a:pPr fontAlgn="ctr"/>
            <a:endParaRPr lang="en-US" dirty="0"/>
          </a:p>
          <a:p>
            <a:r>
              <a:rPr lang="en-US" dirty="0"/>
              <a:t>These writings show the apostles understood the Old Covenant as a shadow pointing to Christ, and the New Covenant as its fulfillment; </a:t>
            </a:r>
            <a:r>
              <a:rPr lang="en-US" i="1" dirty="0"/>
              <a:t>where God’s promise of forgiveness and renewal is fully realized in Jesus.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27E62CA-71FD-D0E6-54C3-5D129476F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866238"/>
              </p:ext>
            </p:extLst>
          </p:nvPr>
        </p:nvGraphicFramePr>
        <p:xfrm>
          <a:off x="444817" y="990600"/>
          <a:ext cx="8254365" cy="2770464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2419630">
                  <a:extLst>
                    <a:ext uri="{9D8B030D-6E8A-4147-A177-3AD203B41FA5}">
                      <a16:colId xmlns:a16="http://schemas.microsoft.com/office/drawing/2014/main" val="1375761793"/>
                    </a:ext>
                  </a:extLst>
                </a:gridCol>
                <a:gridCol w="2391051">
                  <a:extLst>
                    <a:ext uri="{9D8B030D-6E8A-4147-A177-3AD203B41FA5}">
                      <a16:colId xmlns:a16="http://schemas.microsoft.com/office/drawing/2014/main" val="2920125795"/>
                    </a:ext>
                  </a:extLst>
                </a:gridCol>
                <a:gridCol w="3443684">
                  <a:extLst>
                    <a:ext uri="{9D8B030D-6E8A-4147-A177-3AD203B41FA5}">
                      <a16:colId xmlns:a16="http://schemas.microsoft.com/office/drawing/2014/main" val="955386333"/>
                    </a:ext>
                  </a:extLst>
                </a:gridCol>
              </a:tblGrid>
              <a:tr h="34865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800" b="1" u="sng" dirty="0">
                          <a:effectLst/>
                        </a:rPr>
                        <a:t>Aspect</a:t>
                      </a:r>
                      <a:endParaRPr lang="en-US" sz="1800" u="sng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800" b="1" u="sng" dirty="0">
                          <a:effectLst/>
                        </a:rPr>
                        <a:t>Old Covenant</a:t>
                      </a:r>
                      <a:endParaRPr lang="en-US" sz="1800" u="sng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800" b="1" u="sng" dirty="0">
                          <a:effectLst/>
                        </a:rPr>
                        <a:t>New Covenant</a:t>
                      </a:r>
                      <a:endParaRPr lang="en-US" sz="1800" u="sng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038209571"/>
                  </a:ext>
                </a:extLst>
              </a:tr>
              <a:tr h="56574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Mediator</a:t>
                      </a:r>
                      <a:endParaRPr lang="en-US" sz="16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Moses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Jesus Christ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412552054"/>
                  </a:ext>
                </a:extLst>
              </a:tr>
              <a:tr h="56574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Basis</a:t>
                      </a:r>
                      <a:endParaRPr lang="en-US" sz="16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Law (works)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Grace (faith)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2552403583"/>
                  </a:ext>
                </a:extLst>
              </a:tr>
              <a:tr h="34865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>
                          <a:effectLst/>
                        </a:rPr>
                        <a:t>Location of Law</a:t>
                      </a:r>
                      <a:endParaRPr lang="en-US" sz="16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Written on stone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Written on hearts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543791270"/>
                  </a:ext>
                </a:extLst>
              </a:tr>
              <a:tr h="56574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>
                          <a:effectLst/>
                        </a:rPr>
                        <a:t>Sacrifice</a:t>
                      </a:r>
                      <a:endParaRPr lang="en-US" sz="16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Repeated animals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>
                          <a:effectLst/>
                        </a:rPr>
                        <a:t>Once-for-all by Christ</a:t>
                      </a:r>
                      <a:endParaRPr lang="en-US" sz="16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458581223"/>
                  </a:ext>
                </a:extLst>
              </a:tr>
              <a:tr h="34865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b="1" dirty="0">
                          <a:effectLst/>
                        </a:rPr>
                        <a:t>Access to God</a:t>
                      </a:r>
                      <a:endParaRPr lang="en-US" sz="16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Through priests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US" sz="1600" dirty="0">
                          <a:effectLst/>
                        </a:rPr>
                        <a:t>Direct through Christ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361950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5502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CE08-A15C-823A-1049-F5CE3371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C80EBB-56FD-D26B-DC80-ABE4A826F8A2}"/>
              </a:ext>
            </a:extLst>
          </p:cNvPr>
          <p:cNvSpPr txBox="1">
            <a:spLocks/>
          </p:cNvSpPr>
          <p:nvPr/>
        </p:nvSpPr>
        <p:spPr bwMode="auto">
          <a:xfrm>
            <a:off x="228600" y="0"/>
            <a:ext cx="838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lang="en-US" sz="4000" b="1" kern="1200">
                <a:solidFill>
                  <a:schemeClr val="tx2"/>
                </a:solidFill>
                <a:latin typeface="+mj-lt"/>
                <a:ea typeface="ＭＳ Ｐゴシック" pitchFamily="34" charset="-128"/>
                <a:cs typeface="+mj-cs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Arial" charset="0"/>
                <a:ea typeface="ＭＳ Ｐゴシック" pitchFamily="34" charset="-128"/>
              </a:defRPr>
            </a:lvl5pPr>
            <a:lvl6pPr marL="4572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6pPr>
            <a:lvl7pPr marL="9144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7pPr>
            <a:lvl8pPr marL="13716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8pPr>
            <a:lvl9pPr marL="1828800"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dirty="0"/>
              <a:t>Promises</a:t>
            </a:r>
            <a:br>
              <a:rPr lang="en-US" dirty="0"/>
            </a:br>
            <a:r>
              <a:rPr lang="en-US" sz="2400" u="sng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74DF6E-0055-D375-E7AC-54CA38C4C8EF}"/>
              </a:ext>
            </a:extLst>
          </p:cNvPr>
          <p:cNvSpPr txBox="1"/>
          <p:nvPr/>
        </p:nvSpPr>
        <p:spPr>
          <a:xfrm>
            <a:off x="304800" y="1143000"/>
            <a:ext cx="8534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ea typeface="ＭＳ Ｐゴシック" pitchFamily="-106" charset="-128"/>
                <a:cs typeface="ＭＳ Ｐゴシック" pitchFamily="-106" charset="-128"/>
              </a:rPr>
              <a:t>Old</a:t>
            </a:r>
            <a:endParaRPr lang="en-US" dirty="0"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b="1" dirty="0">
                <a:ea typeface="ＭＳ Ｐゴシック" pitchFamily="-106" charset="-128"/>
                <a:cs typeface="ＭＳ Ｐゴシック" pitchFamily="-106" charset="-128"/>
              </a:rPr>
              <a:t>New</a:t>
            </a:r>
            <a:endParaRPr lang="en-US" dirty="0">
              <a:ea typeface="ＭＳ Ｐゴシック" pitchFamily="-106" charset="-128"/>
              <a:cs typeface="ＭＳ Ｐゴシック" pitchFamily="-106" charset="-128"/>
            </a:endParaRPr>
          </a:p>
          <a:p>
            <a:r>
              <a:rPr lang="en-US" b="1" dirty="0">
                <a:ea typeface="ＭＳ Ｐゴシック" pitchFamily="-106" charset="-128"/>
                <a:cs typeface="ＭＳ Ｐゴシック" pitchFamily="-106" charset="-128"/>
              </a:rPr>
              <a:t>Jesus’ Teaching</a:t>
            </a:r>
            <a:endParaRPr lang="en-US" dirty="0">
              <a:ea typeface="ＭＳ Ｐゴシック" pitchFamily="-106" charset="-128"/>
              <a:cs typeface="ＭＳ Ｐゴシック" pitchFamily="-10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5100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PT_Template_2010SummerSchoo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UPCRC_Powerpoint_Template_with I-Mar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PPT_Template_2010SummerSchool</Template>
  <TotalTime>34522</TotalTime>
  <Words>488</Words>
  <Application>Microsoft Office PowerPoint</Application>
  <PresentationFormat>On-screen Show (4:3)</PresentationFormat>
  <Paragraphs>67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ＭＳ Ｐゴシック</vt:lpstr>
      <vt:lpstr>Arial</vt:lpstr>
      <vt:lpstr>Arial Narrow</vt:lpstr>
      <vt:lpstr>Calibri</vt:lpstr>
      <vt:lpstr>PPT_Template_2010SummerSchool</vt:lpstr>
      <vt:lpstr>1_UPCRC_Powerpoint_Template_with I-Mark</vt:lpstr>
      <vt:lpstr>PowerPoint Presentation</vt:lpstr>
      <vt:lpstr>PowerPoint Presentation</vt:lpstr>
      <vt:lpstr>PowerPoint Presentation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Phil Pennington</dc:creator>
  <cp:lastModifiedBy>Phil Pennington</cp:lastModifiedBy>
  <cp:revision>1311</cp:revision>
  <cp:lastPrinted>2025-10-19T02:51:52Z</cp:lastPrinted>
  <dcterms:created xsi:type="dcterms:W3CDTF">2010-06-16T02:58:04Z</dcterms:created>
  <dcterms:modified xsi:type="dcterms:W3CDTF">2025-11-03T11:28:58Z</dcterms:modified>
</cp:coreProperties>
</file>