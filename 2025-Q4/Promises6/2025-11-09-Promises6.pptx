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2"/>
  </p:notesMasterIdLst>
  <p:sldIdLst>
    <p:sldId id="395" r:id="rId3"/>
    <p:sldId id="581" r:id="rId4"/>
    <p:sldId id="579" r:id="rId5"/>
    <p:sldId id="580" r:id="rId6"/>
    <p:sldId id="336" r:id="rId7"/>
    <p:sldId id="578" r:id="rId8"/>
    <p:sldId id="576" r:id="rId9"/>
    <p:sldId id="582" r:id="rId10"/>
    <p:sldId id="583" r:id="rId11"/>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63512" autoAdjust="0"/>
  </p:normalViewPr>
  <p:slideViewPr>
    <p:cSldViewPr>
      <p:cViewPr varScale="1">
        <p:scale>
          <a:sx n="100" d="100"/>
          <a:sy n="100" d="100"/>
        </p:scale>
        <p:origin x="2400"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commentAuthors" Target="commentAuthor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2"/>
            <a:ext cx="3076364" cy="469265"/>
          </a:xfrm>
          <a:prstGeom prst="rect">
            <a:avLst/>
          </a:prstGeom>
        </p:spPr>
        <p:txBody>
          <a:bodyPr vert="horz" wrap="square" lIns="94138" tIns="47069" rIns="94138" bIns="47069"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6" y="2"/>
            <a:ext cx="3076364" cy="469265"/>
          </a:xfrm>
          <a:prstGeom prst="rect">
            <a:avLst/>
          </a:prstGeom>
        </p:spPr>
        <p:txBody>
          <a:bodyPr vert="horz" wrap="square" lIns="94138" tIns="47069" rIns="94138" bIns="47069"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11/9/2025</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138" tIns="47069" rIns="94138" bIns="47069"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138" tIns="47069" rIns="94138" bIns="47069"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4" y="8914406"/>
            <a:ext cx="3076364" cy="469265"/>
          </a:xfrm>
          <a:prstGeom prst="rect">
            <a:avLst/>
          </a:prstGeom>
        </p:spPr>
        <p:txBody>
          <a:bodyPr vert="horz" wrap="square" lIns="94138" tIns="47069" rIns="94138" bIns="47069"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6" y="8914406"/>
            <a:ext cx="3076364" cy="469265"/>
          </a:xfrm>
          <a:prstGeom prst="rect">
            <a:avLst/>
          </a:prstGeom>
        </p:spPr>
        <p:txBody>
          <a:bodyPr vert="horz" wrap="square" lIns="94138" tIns="47069" rIns="94138" bIns="47069"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32500" lnSpcReduction="20000"/>
          </a:bodyPr>
          <a:lstStyle/>
          <a:p>
            <a:r>
              <a:rPr lang="en-US" sz="1600" b="1" i="1" dirty="0"/>
              <a:t>Promise of the Messiah Fulfilled in Christ</a:t>
            </a:r>
            <a:endParaRPr lang="en-US" sz="1600" dirty="0"/>
          </a:p>
          <a:p>
            <a:r>
              <a:rPr lang="en-US" sz="1600" i="1" dirty="0"/>
              <a:t>Key Verses:</a:t>
            </a:r>
            <a:r>
              <a:rPr lang="en-US" sz="1600" dirty="0"/>
              <a:t> Isaiah 9:6–7; John 1:14</a:t>
            </a:r>
          </a:p>
          <a:p>
            <a:r>
              <a:rPr lang="en-US" sz="1600" dirty="0"/>
              <a:t>Jesus is the </a:t>
            </a:r>
            <a:r>
              <a:rPr lang="en-US" sz="1600" b="1" dirty="0"/>
              <a:t>fulfillment</a:t>
            </a:r>
            <a:r>
              <a:rPr lang="en-US" sz="1600" dirty="0"/>
              <a:t> of all God’s covenant promises.</a:t>
            </a:r>
          </a:p>
          <a:p>
            <a:endParaRPr lang="en-US" sz="1600" dirty="0"/>
          </a:p>
          <a:p>
            <a:r>
              <a:rPr lang="en-US" sz="1600" b="1" dirty="0"/>
              <a:t>Prophecy: The Coming King and Savior</a:t>
            </a:r>
            <a:endParaRPr lang="en-US" sz="1600" dirty="0"/>
          </a:p>
          <a:p>
            <a:r>
              <a:rPr lang="en-US" sz="1600" dirty="0"/>
              <a:t>From the earliest covenants, God revealed His plan to redeem humanity through a promised Deliverer. The prophets spoke of this Messiah centuries before His birth.</a:t>
            </a:r>
          </a:p>
          <a:p>
            <a:r>
              <a:rPr lang="en-US" sz="1600" b="1" dirty="0"/>
              <a:t>Isaiah 9:6–7</a:t>
            </a:r>
            <a:endParaRPr lang="en-US" sz="1600" dirty="0"/>
          </a:p>
          <a:p>
            <a:r>
              <a:rPr lang="en-US" sz="1600" dirty="0"/>
              <a:t>“For a child will be born to us, a son will be given to us;</a:t>
            </a:r>
          </a:p>
          <a:p>
            <a:r>
              <a:rPr lang="en-US" sz="1600" dirty="0"/>
              <a:t>And the government will rest on His shoulders;</a:t>
            </a:r>
          </a:p>
          <a:p>
            <a:r>
              <a:rPr lang="en-US" sz="1600" dirty="0"/>
              <a:t>And His name will be called Wonderful Counselor, Mighty God,</a:t>
            </a:r>
          </a:p>
          <a:p>
            <a:r>
              <a:rPr lang="en-US" sz="1600" dirty="0"/>
              <a:t>Eternal Father, Prince of Peace.</a:t>
            </a:r>
          </a:p>
          <a:p>
            <a:r>
              <a:rPr lang="en-US" sz="1600" dirty="0"/>
              <a:t>There will be no end to the increase of His government or of peace,</a:t>
            </a:r>
          </a:p>
          <a:p>
            <a:r>
              <a:rPr lang="en-US" sz="1600" dirty="0"/>
              <a:t>On the throne of David and over his kingdom,</a:t>
            </a:r>
          </a:p>
          <a:p>
            <a:r>
              <a:rPr lang="en-US" sz="1600" dirty="0"/>
              <a:t>To establish it and to uphold it with justice and righteousness</a:t>
            </a:r>
          </a:p>
          <a:p>
            <a:r>
              <a:rPr lang="en-US" sz="1600" dirty="0"/>
              <a:t>From then on and forevermore.</a:t>
            </a:r>
          </a:p>
          <a:p>
            <a:r>
              <a:rPr lang="en-US" sz="1600" dirty="0"/>
              <a:t>The zeal of the LORD of hosts will accomplish this.”</a:t>
            </a:r>
          </a:p>
          <a:p>
            <a:r>
              <a:rPr lang="en-US" sz="1600" b="1" dirty="0"/>
              <a:t>Micah 5:2</a:t>
            </a:r>
            <a:endParaRPr lang="en-US" sz="1600" dirty="0"/>
          </a:p>
          <a:p>
            <a:r>
              <a:rPr lang="en-US" sz="1600" dirty="0"/>
              <a:t>“But as for you, Bethlehem Ephrathah,</a:t>
            </a:r>
          </a:p>
          <a:p>
            <a:r>
              <a:rPr lang="en-US" sz="1600" dirty="0"/>
              <a:t>Too little to be among the clans of Judah,</a:t>
            </a:r>
          </a:p>
          <a:p>
            <a:r>
              <a:rPr lang="en-US" sz="1600" dirty="0"/>
              <a:t>From you One will go forth for Me to be ruler in Israel.</a:t>
            </a:r>
          </a:p>
          <a:p>
            <a:r>
              <a:rPr lang="en-US" sz="1600" dirty="0"/>
              <a:t>His goings forth are from long ago,</a:t>
            </a:r>
          </a:p>
          <a:p>
            <a:r>
              <a:rPr lang="en-US" sz="1600" dirty="0"/>
              <a:t>From the days of eternity.”</a:t>
            </a:r>
          </a:p>
          <a:p>
            <a:endParaRPr lang="en-US" sz="1600" dirty="0"/>
          </a:p>
          <a:p>
            <a:r>
              <a:rPr lang="en-US" sz="1600" dirty="0"/>
              <a:t>These prophecies display God’s </a:t>
            </a:r>
            <a:r>
              <a:rPr lang="en-US" sz="1600" b="1" dirty="0"/>
              <a:t>faithfulness</a:t>
            </a:r>
            <a:r>
              <a:rPr lang="en-US" sz="1600" dirty="0"/>
              <a:t> — He declared His plan long before fulfilling it.</a:t>
            </a:r>
          </a:p>
          <a:p>
            <a:r>
              <a:rPr lang="en-US" sz="1600" dirty="0"/>
              <a:t>They also show His </a:t>
            </a:r>
            <a:r>
              <a:rPr lang="en-US" sz="1600" b="1" dirty="0"/>
              <a:t>sovereignty</a:t>
            </a:r>
            <a:r>
              <a:rPr lang="en-US" sz="1600" dirty="0"/>
              <a:t> — even the place of Messiah’s birth was preordained.</a:t>
            </a:r>
          </a:p>
          <a:p>
            <a:endParaRPr lang="en-US" sz="1600" dirty="0"/>
          </a:p>
          <a:p>
            <a:r>
              <a:rPr lang="en-US" sz="1600" b="1" dirty="0"/>
              <a:t>Fulfillment: Christ’s Birth, Ministry, Death, and Resurrection</a:t>
            </a:r>
            <a:endParaRPr lang="en-US" sz="1600" dirty="0"/>
          </a:p>
          <a:p>
            <a:r>
              <a:rPr lang="en-US" sz="1600" dirty="0"/>
              <a:t>Every event in Jesus’ life aligned with prophecy:</a:t>
            </a:r>
          </a:p>
          <a:p>
            <a:pPr rtl="0" fontAlgn="ctr"/>
            <a:r>
              <a:rPr lang="en-US" sz="1600" b="1" dirty="0"/>
              <a:t>Born of a virgin (Isaiah 7:14; Matthew 1:23)</a:t>
            </a:r>
            <a:endParaRPr lang="en-US" sz="1600" dirty="0"/>
          </a:p>
          <a:p>
            <a:pPr rtl="0" fontAlgn="ctr"/>
            <a:r>
              <a:rPr lang="en-US" sz="1600" b="1" dirty="0"/>
              <a:t>From the line of David (2 Samuel 7:12–13; Luke 1:32–33)</a:t>
            </a:r>
            <a:endParaRPr lang="en-US" sz="1600" dirty="0"/>
          </a:p>
          <a:p>
            <a:pPr rtl="0" fontAlgn="ctr"/>
            <a:r>
              <a:rPr lang="en-US" sz="1600" b="1" dirty="0"/>
              <a:t>Betrayed for thirty pieces of silver (Zechariah 11:12–13; Matthew 26:15)</a:t>
            </a:r>
            <a:endParaRPr lang="en-US" sz="1600" dirty="0"/>
          </a:p>
          <a:p>
            <a:pPr rtl="0" fontAlgn="ctr"/>
            <a:r>
              <a:rPr lang="en-US" sz="1600" b="1" dirty="0"/>
              <a:t>Crucified and pierced (Psalm 22:16; Zechariah 12:10; John 19:34)</a:t>
            </a:r>
            <a:endParaRPr lang="en-US" sz="1600" dirty="0"/>
          </a:p>
          <a:p>
            <a:pPr rtl="0" fontAlgn="ctr"/>
            <a:r>
              <a:rPr lang="en-US" sz="1600" b="1" dirty="0"/>
              <a:t>Raised from the dead (Psalm 16:10; Acts 2:31)</a:t>
            </a:r>
            <a:endParaRPr lang="en-US" sz="1600" dirty="0"/>
          </a:p>
          <a:p>
            <a:r>
              <a:rPr lang="en-US" sz="1600" dirty="0"/>
              <a:t>God proved in history that He keeps His promises, no matter how long the wait.</a:t>
            </a:r>
          </a:p>
          <a:p>
            <a:r>
              <a:rPr lang="en-US" sz="1600" dirty="0"/>
              <a:t>“But when the fullness of the time came, God sent forth His Son, born of a woman, born under the Law.”</a:t>
            </a:r>
          </a:p>
          <a:p>
            <a:r>
              <a:rPr lang="en-US" sz="1600" dirty="0"/>
              <a:t>— </a:t>
            </a:r>
            <a:r>
              <a:rPr lang="en-US" sz="1600" b="1" dirty="0"/>
              <a:t>Galatians 4:4</a:t>
            </a:r>
            <a:endParaRPr lang="en-US" sz="1600" dirty="0"/>
          </a:p>
          <a:p>
            <a:r>
              <a:rPr lang="en-US" sz="1600" dirty="0"/>
              <a:t>The cross and the empty tomb are the clearest evidence that God’s word never fails.</a:t>
            </a:r>
          </a:p>
          <a:p>
            <a:endParaRPr lang="en-US" sz="1600" dirty="0"/>
          </a:p>
          <a:p>
            <a:r>
              <a:rPr lang="en-US" sz="1600" b="1" dirty="0"/>
              <a:t>God’s Character Revealed in Jesus</a:t>
            </a:r>
            <a:endParaRPr lang="en-US" sz="1600" dirty="0"/>
          </a:p>
          <a:p>
            <a:r>
              <a:rPr lang="en-US" sz="1600" b="1" dirty="0"/>
              <a:t>The Promise Made Flesh</a:t>
            </a:r>
            <a:endParaRPr lang="en-US" sz="1600" dirty="0"/>
          </a:p>
          <a:p>
            <a:r>
              <a:rPr lang="en-US" sz="1600" b="1" dirty="0"/>
              <a:t>Matthew 1:21–23</a:t>
            </a:r>
            <a:endParaRPr lang="en-US" sz="1600" dirty="0"/>
          </a:p>
          <a:p>
            <a:r>
              <a:rPr lang="en-US" sz="1600" dirty="0"/>
              <a:t>“She will bear a Son; and you shall call His name Jesus, for He will save His people from their sins.”</a:t>
            </a:r>
          </a:p>
          <a:p>
            <a:r>
              <a:rPr lang="en-US" sz="1600" dirty="0"/>
              <a:t>Now all this took place to fulfill what was spoken by the Lord through the prophet:</a:t>
            </a:r>
          </a:p>
          <a:p>
            <a:r>
              <a:rPr lang="en-US" sz="1600" dirty="0"/>
              <a:t>“Behold, the virgin shall be with child and shall bear a Son,</a:t>
            </a:r>
          </a:p>
          <a:p>
            <a:r>
              <a:rPr lang="en-US" sz="1600" dirty="0"/>
              <a:t>and they shall call His name Immanuel,” which translated means, “God with us.”</a:t>
            </a:r>
          </a:p>
          <a:p>
            <a:r>
              <a:rPr lang="en-US" sz="1600" b="1" dirty="0"/>
              <a:t>John 1:14</a:t>
            </a:r>
            <a:endParaRPr lang="en-US" sz="1600" dirty="0"/>
          </a:p>
          <a:p>
            <a:r>
              <a:rPr lang="en-US" sz="1600" dirty="0"/>
              <a:t>“And the Word became flesh, and dwelt among us, and we saw His glory, glory as of the only begotten from the Father, full of grace and truth.”</a:t>
            </a:r>
          </a:p>
          <a:p>
            <a:r>
              <a:rPr lang="en-US" sz="1600" dirty="0"/>
              <a:t>Jesus is the visible image of the invisible God (Colossians 1:15).</a:t>
            </a:r>
          </a:p>
          <a:p>
            <a:r>
              <a:rPr lang="en-US" sz="1600" dirty="0"/>
              <a:t>In Him, we see God’s mercy, truth, and justice perfectly united.</a:t>
            </a:r>
          </a:p>
          <a:p>
            <a:r>
              <a:rPr lang="en-US" sz="1600" dirty="0"/>
              <a:t>He is not merely the messenger of God’s promise — He </a:t>
            </a:r>
            <a:r>
              <a:rPr lang="en-US" sz="1600" b="1" dirty="0"/>
              <a:t>is</a:t>
            </a:r>
            <a:r>
              <a:rPr lang="en-US" sz="1600" dirty="0"/>
              <a:t> the promise fulfilled.</a:t>
            </a:r>
          </a:p>
          <a:p>
            <a:endParaRPr lang="en-US" sz="1600" dirty="0"/>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C54A-0CA2-D446-FEEE-25092C128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C41FF-4EF1-57E1-D01F-1A7F1106F4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933434-B584-32FF-5D59-C65D97766B69}"/>
              </a:ext>
            </a:extLst>
          </p:cNvPr>
          <p:cNvSpPr>
            <a:spLocks noGrp="1"/>
          </p:cNvSpPr>
          <p:nvPr>
            <p:ph type="body" idx="1"/>
          </p:nvPr>
        </p:nvSpPr>
        <p:spPr/>
        <p:txBody>
          <a:bodyPr>
            <a:normAutofit fontScale="92500" lnSpcReduction="20000"/>
          </a:bodyPr>
          <a:lstStyle/>
          <a:p>
            <a:r>
              <a:rPr lang="en-US" sz="1600" dirty="0"/>
              <a:t>Lamentations 3:22-23</a:t>
            </a:r>
          </a:p>
          <a:p>
            <a:endParaRPr lang="en-US" sz="1600" dirty="0"/>
          </a:p>
          <a:p>
            <a:pPr defTabSz="914246"/>
            <a:r>
              <a:rPr lang="en-US" sz="1600" dirty="0"/>
              <a:t>The </a:t>
            </a:r>
            <a:r>
              <a:rPr lang="en-US" sz="1600" b="1" dirty="0"/>
              <a:t>steadfast love </a:t>
            </a:r>
            <a:r>
              <a:rPr lang="en-US" sz="1600" dirty="0"/>
              <a:t>of the Lord never ceases; His </a:t>
            </a:r>
            <a:r>
              <a:rPr lang="en-US" sz="1600" b="1" dirty="0"/>
              <a:t>mercies</a:t>
            </a:r>
            <a:r>
              <a:rPr lang="en-US" sz="1600" dirty="0"/>
              <a:t> never come to an end. They are new every morning, new every morning; </a:t>
            </a:r>
            <a:r>
              <a:rPr lang="en-US" sz="1600" b="1" dirty="0"/>
              <a:t>Great is Thy faithfulness, O Lord,</a:t>
            </a:r>
            <a:r>
              <a:rPr lang="en-US" sz="1600" dirty="0"/>
              <a:t> </a:t>
            </a:r>
            <a:r>
              <a:rPr lang="en-US" sz="1600" b="1" dirty="0"/>
              <a:t>Great is Thy faithfulness!</a:t>
            </a:r>
            <a:endParaRPr lang="en-US" sz="1600" dirty="0"/>
          </a:p>
          <a:p>
            <a:endParaRPr lang="en-US" sz="1600" dirty="0"/>
          </a:p>
          <a:p>
            <a:pPr defTabSz="890991"/>
            <a:r>
              <a:rPr lang="en-US" sz="1600" b="1" dirty="0"/>
              <a:t>Mat 9:9-13  </a:t>
            </a:r>
            <a:r>
              <a:rPr lang="en-US" sz="1600" dirty="0"/>
              <a:t>As Jesus passed on from there, He saw a man named Matthew sitting at the tax office. And He said to him, "Follow Me." So he arose and followed Him.  (10)  Now it happened, as Jesus sat at the table in the house, </a:t>
            </a:r>
            <a:r>
              <a:rPr lang="en-US" sz="1600" i="1" dirty="0"/>
              <a:t>that</a:t>
            </a:r>
            <a:r>
              <a:rPr lang="en-US" sz="1600" dirty="0"/>
              <a:t> behold, many tax collectors and sinners came and sat down with Him and His disciples.  (11)  And when the Pharisees saw </a:t>
            </a:r>
            <a:r>
              <a:rPr lang="en-US" sz="1600" i="1" dirty="0"/>
              <a:t>it,</a:t>
            </a:r>
            <a:r>
              <a:rPr lang="en-US" sz="1600" dirty="0"/>
              <a:t> they said to His disciples, "Why does your Teacher eat with tax collectors and sinners?"  (12)  When Jesus heard </a:t>
            </a:r>
            <a:r>
              <a:rPr lang="en-US" sz="1600" i="1" dirty="0"/>
              <a:t>that,</a:t>
            </a:r>
            <a:r>
              <a:rPr lang="en-US" sz="1600" dirty="0"/>
              <a:t> He said to them, "Those who are well have no need of a physician, but those who are sick.  (13)  </a:t>
            </a:r>
            <a:r>
              <a:rPr lang="en-US" sz="1600" b="1" dirty="0"/>
              <a:t>But go and learn what </a:t>
            </a:r>
            <a:r>
              <a:rPr lang="en-US" sz="1600" b="1" i="1" dirty="0"/>
              <a:t>this</a:t>
            </a:r>
            <a:r>
              <a:rPr lang="en-US" sz="1600" b="1" dirty="0"/>
              <a:t> means: 'I DESIRE MERCY AND NOT SACRIFICE.' For I did not come to call the righteous, but sinners, to repentance."</a:t>
            </a:r>
          </a:p>
          <a:p>
            <a:endParaRPr lang="en-US" sz="1600" dirty="0"/>
          </a:p>
          <a:p>
            <a:pPr defTabSz="890991"/>
            <a:r>
              <a:rPr lang="en-US" sz="1600" b="1" dirty="0"/>
              <a:t>Mat 12:1-8  </a:t>
            </a:r>
            <a:r>
              <a:rPr lang="en-US" sz="1600" dirty="0"/>
              <a:t>At that time Jesus went through the grainfields on the Sabbath. And His disciples were hungry, and began to pluck heads of grain and to eat.  (2)  And when the Pharisees saw </a:t>
            </a:r>
            <a:r>
              <a:rPr lang="en-US" sz="1600" i="1" dirty="0"/>
              <a:t>it,</a:t>
            </a:r>
            <a:r>
              <a:rPr lang="en-US" sz="1600" dirty="0"/>
              <a:t> they said to Him, "Look, Your disciples are doing what is not lawful to do on the Sabbath!"  (3)  But He said to them, "Have you not read what David did when he was hungry, he and those who were with him:  (4)  how he entered the house of God and ate the showbread which was not lawful for him to eat, nor for those who were with him, but only for the priests?  (5)  Or have you not read in the law that on the Sabbath the priests in the temple profane the Sabbath, and are blameless?  (6)  Yet I say to you that in this place there is </a:t>
            </a:r>
            <a:r>
              <a:rPr lang="en-US" sz="1600" i="1" dirty="0"/>
              <a:t>One</a:t>
            </a:r>
            <a:r>
              <a:rPr lang="en-US" sz="1600" dirty="0"/>
              <a:t> greater than the temple.  (7)  </a:t>
            </a:r>
            <a:r>
              <a:rPr lang="en-US" sz="1600" b="1" dirty="0"/>
              <a:t>But if you had known what </a:t>
            </a:r>
            <a:r>
              <a:rPr lang="en-US" sz="1600" b="1" i="1" dirty="0"/>
              <a:t>this</a:t>
            </a:r>
            <a:r>
              <a:rPr lang="en-US" sz="1600" b="1" dirty="0"/>
              <a:t> means, 'I DESIRE MERCY AND NOT SACRIFICE,' you would not have condemned the guiltless.</a:t>
            </a:r>
            <a:r>
              <a:rPr lang="en-US" sz="1600" dirty="0"/>
              <a:t>  (8)  For the Son of Man is Lord even of the Sabbath."</a:t>
            </a:r>
          </a:p>
          <a:p>
            <a:endParaRPr lang="en-US" dirty="0"/>
          </a:p>
        </p:txBody>
      </p:sp>
      <p:sp>
        <p:nvSpPr>
          <p:cNvPr id="4" name="Slide Number Placeholder 3">
            <a:extLst>
              <a:ext uri="{FF2B5EF4-FFF2-40B4-BE49-F238E27FC236}">
                <a16:creationId xmlns:a16="http://schemas.microsoft.com/office/drawing/2014/main" id="{517F07E8-A341-3E69-2E3F-81FD5E2E1368}"/>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1463107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FC16B-55B9-D4BE-5219-25623000F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4DE16-DCDE-DC3D-8556-53C52197CA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57CE5A-E075-AC46-627B-AF70C8A733F3}"/>
              </a:ext>
            </a:extLst>
          </p:cNvPr>
          <p:cNvSpPr>
            <a:spLocks noGrp="1"/>
          </p:cNvSpPr>
          <p:nvPr>
            <p:ph type="body" idx="1"/>
          </p:nvPr>
        </p:nvSpPr>
        <p:spPr/>
        <p:txBody>
          <a:bodyPr>
            <a:normAutofit fontScale="77500" lnSpcReduction="20000"/>
          </a:bodyPr>
          <a:lstStyle/>
          <a:p>
            <a:r>
              <a:rPr lang="en-US" sz="1600" b="1" dirty="0"/>
              <a:t>What the data supports:</a:t>
            </a:r>
            <a:endParaRPr lang="en-US" sz="1600" dirty="0"/>
          </a:p>
          <a:p>
            <a:pPr rtl="0" fontAlgn="ctr"/>
            <a:endParaRPr lang="en-US" sz="1600" b="1" dirty="0"/>
          </a:p>
          <a:p>
            <a:pPr rtl="0" fontAlgn="ctr"/>
            <a:r>
              <a:rPr lang="en-US" sz="1600" b="1" dirty="0"/>
              <a:t>God sees us ‘in Christ’</a:t>
            </a:r>
            <a:r>
              <a:rPr lang="en-US" sz="1600" dirty="0"/>
              <a:t>—that is, clothed with Christ/justified/adopted—</a:t>
            </a:r>
            <a:r>
              <a:rPr lang="en-US" sz="1600" b="1" dirty="0"/>
              <a:t>by faith</a:t>
            </a:r>
            <a:r>
              <a:rPr lang="en-US" sz="1600" dirty="0"/>
              <a:t> (union), not by performance. Status is a </a:t>
            </a:r>
            <a:r>
              <a:rPr lang="en-US" sz="1600" b="1" dirty="0"/>
              <a:t>grace gift</a:t>
            </a:r>
            <a:r>
              <a:rPr lang="en-US" sz="1600" dirty="0"/>
              <a:t> grounded in Christ’s obedience, cross, and resurrection. </a:t>
            </a:r>
          </a:p>
          <a:p>
            <a:pPr rtl="0" fontAlgn="ctr"/>
            <a:endParaRPr lang="en-US" sz="1600" b="1" dirty="0"/>
          </a:p>
          <a:p>
            <a:pPr rtl="0" fontAlgn="ctr"/>
            <a:r>
              <a:rPr lang="en-US" sz="1600" b="1" dirty="0"/>
              <a:t>Ethic flows from status.</a:t>
            </a:r>
            <a:r>
              <a:rPr lang="en-US" sz="1600" dirty="0"/>
              <a:t> The Spirit writes the law on hearts (Jer 31; </a:t>
            </a:r>
            <a:r>
              <a:rPr lang="en-US" sz="1600" dirty="0" err="1"/>
              <a:t>Ezek</a:t>
            </a:r>
            <a:r>
              <a:rPr lang="en-US" sz="1600" dirty="0"/>
              <a:t> 36), so we </a:t>
            </a:r>
            <a:r>
              <a:rPr lang="en-US" sz="1600" b="1" dirty="0"/>
              <a:t>live out</a:t>
            </a:r>
            <a:r>
              <a:rPr lang="en-US" sz="1600" dirty="0"/>
              <a:t> covenant loyalty as fruit—Paul’s “one anothers.” This is the </a:t>
            </a:r>
            <a:r>
              <a:rPr lang="en-US" sz="1600" b="1" dirty="0"/>
              <a:t>messianic ḥesed</a:t>
            </a:r>
            <a:r>
              <a:rPr lang="en-US" sz="1600" dirty="0"/>
              <a:t> reproduced in us.</a:t>
            </a:r>
          </a:p>
          <a:p>
            <a:endParaRPr lang="en-US" sz="1600" b="1" dirty="0"/>
          </a:p>
          <a:p>
            <a:r>
              <a:rPr lang="en-US" sz="1600" b="1" dirty="0"/>
              <a:t>Nuance:  </a:t>
            </a:r>
            <a:r>
              <a:rPr lang="en-US" sz="1600" dirty="0"/>
              <a:t>It’s better to say: </a:t>
            </a:r>
            <a:r>
              <a:rPr lang="en-US" sz="1600" i="1" dirty="0"/>
              <a:t>Because we are in Christ, God regards us in the status of His Son, and therefore calls and empowers us to live the Son’s ethic.</a:t>
            </a:r>
            <a:r>
              <a:rPr lang="en-US" sz="1600" dirty="0"/>
              <a:t> Our obedience doesn’t create the status; it </a:t>
            </a:r>
            <a:r>
              <a:rPr lang="en-US" sz="1600" b="1" dirty="0"/>
              <a:t>confirms and expresses</a:t>
            </a:r>
            <a:r>
              <a:rPr lang="en-US" sz="1600" dirty="0"/>
              <a:t> it (Eph 2:8–10; Rom 8:4).</a:t>
            </a:r>
          </a:p>
          <a:p>
            <a:endParaRPr lang="en-US" sz="1600" dirty="0"/>
          </a:p>
          <a:p>
            <a:r>
              <a:rPr lang="en-US" sz="1600" b="1" dirty="0"/>
              <a:t>Status in Christ is by union (grace), and the ḥesed </a:t>
            </a:r>
            <a:r>
              <a:rPr lang="en-US" sz="1600" b="1" u="sng" dirty="0"/>
              <a:t>ethic</a:t>
            </a:r>
            <a:r>
              <a:rPr lang="en-US" sz="1600" b="1" dirty="0"/>
              <a:t> is its necessary </a:t>
            </a:r>
            <a:r>
              <a:rPr lang="en-US" sz="1600" b="1" u="sng" dirty="0"/>
              <a:t>fruit</a:t>
            </a:r>
            <a:r>
              <a:rPr lang="en-US" sz="1600" dirty="0"/>
              <a:t>. In Christ, God keeps His Davidic/New-Covenant oath; and in Christ, we share both His </a:t>
            </a:r>
            <a:r>
              <a:rPr lang="en-US" sz="1600" b="1" dirty="0"/>
              <a:t>standing</a:t>
            </a:r>
            <a:r>
              <a:rPr lang="en-US" sz="1600" dirty="0"/>
              <a:t> and His </a:t>
            </a:r>
            <a:r>
              <a:rPr lang="en-US" sz="1600" b="1" dirty="0"/>
              <a:t>way of life</a:t>
            </a:r>
            <a:r>
              <a:rPr lang="en-US" sz="1600" dirty="0"/>
              <a:t>—the way of ḥesed.</a:t>
            </a:r>
          </a:p>
          <a:p>
            <a:pPr lvl="0"/>
            <a:endParaRPr lang="en-US" sz="1600" dirty="0"/>
          </a:p>
          <a:p>
            <a:pPr lvl="0"/>
            <a:r>
              <a:rPr lang="en-US" sz="1600" dirty="0"/>
              <a:t>Ps 89:33–35; Isa 9:6–7; Mic 5:2; Hos 6:6 ⇢ Matt 9:13; 12:7; Mark 10:42–45; John 13; John 1:14; 14:6; Rom 6:3–5; 8:1–4; 2 Cor 5:17,21; Gal 2:20; 3:27; Eph 5:1–2,21; “one another” catena (Rom 12; Eph 4; Col 3; 1 Thess 5; Heb 10; 1 Pet 4–5).</a:t>
            </a:r>
          </a:p>
        </p:txBody>
      </p:sp>
      <p:sp>
        <p:nvSpPr>
          <p:cNvPr id="4" name="Slide Number Placeholder 3">
            <a:extLst>
              <a:ext uri="{FF2B5EF4-FFF2-40B4-BE49-F238E27FC236}">
                <a16:creationId xmlns:a16="http://schemas.microsoft.com/office/drawing/2014/main" id="{7EEFD904-30AD-3059-1C7C-96138173CFA1}"/>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2694398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2F146-0464-A02B-D713-84EE5610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961DE-89AB-9163-C4FD-48A29B4942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89F741-F27C-D5A8-3F72-C3D013ADDFE4}"/>
              </a:ext>
            </a:extLst>
          </p:cNvPr>
          <p:cNvSpPr>
            <a:spLocks noGrp="1"/>
          </p:cNvSpPr>
          <p:nvPr>
            <p:ph type="body" idx="1"/>
          </p:nvPr>
        </p:nvSpPr>
        <p:spPr/>
        <p:txBody>
          <a:bodyPr>
            <a:normAutofit fontScale="40000" lnSpcReduction="20000"/>
          </a:bodyPr>
          <a:lstStyle/>
          <a:p>
            <a:r>
              <a:rPr lang="en-US" sz="1600" dirty="0"/>
              <a:t>The author of Hebrews builds a theology that ties the old covenants to the new covenant in Christ.  In Christ, </a:t>
            </a:r>
            <a:r>
              <a:rPr lang="en-US" sz="1600" i="1" dirty="0"/>
              <a:t>ḥesed</a:t>
            </a:r>
            <a:r>
              <a:rPr lang="en-US" sz="1600" dirty="0"/>
              <a:t> and covenant faithfulness converge — God keeping His oaths through the obedient Son.</a:t>
            </a:r>
          </a:p>
          <a:p>
            <a:endParaRPr lang="en-US" sz="1600" dirty="0"/>
          </a:p>
          <a:p>
            <a:r>
              <a:rPr lang="en-US" sz="1600" b="1" dirty="0"/>
              <a:t>The New Covenant promised (Jeremiah 31:31–34)</a:t>
            </a:r>
            <a:endParaRPr lang="en-US" sz="1600" dirty="0"/>
          </a:p>
          <a:p>
            <a:r>
              <a:rPr lang="en-US" sz="1600" i="1" dirty="0"/>
              <a:t>“Look, the days are coming,” says the Lord, “when I will make a new covenant with the people of Israel and Judah. It will not be like the covenant that I made with their ancestors… I will put my law within them and write it on their hearts. I will be their God, and they will be my people… for I will forgive their iniquity and their sin I will remember no more.”</a:t>
            </a:r>
          </a:p>
          <a:p>
            <a:r>
              <a:rPr lang="en-US" sz="1600" dirty="0"/>
              <a:t>— </a:t>
            </a:r>
            <a:r>
              <a:rPr lang="en-US" sz="1600" i="1" dirty="0"/>
              <a:t>Jeremiah 31:31–34, NET</a:t>
            </a:r>
            <a:endParaRPr lang="en-US" sz="1600" dirty="0"/>
          </a:p>
          <a:p>
            <a:pPr marL="171421" indent="-171421">
              <a:buFont typeface="Arial" panose="020B0604020202020204" pitchFamily="34" charset="0"/>
              <a:buChar char="•"/>
            </a:pPr>
            <a:r>
              <a:rPr lang="en-US" sz="1600" dirty="0"/>
              <a:t>In context, Jeremiah's audience imagined national restoration — land, peace, temple. but the promise went far deeper: </a:t>
            </a:r>
            <a:r>
              <a:rPr lang="en-US" sz="1600" b="1" dirty="0"/>
              <a:t>inner transformation</a:t>
            </a:r>
            <a:r>
              <a:rPr lang="en-US" sz="1600" dirty="0"/>
              <a:t>, </a:t>
            </a:r>
            <a:r>
              <a:rPr lang="en-US" sz="1600" b="1" dirty="0"/>
              <a:t>forgiveness</a:t>
            </a:r>
            <a:r>
              <a:rPr lang="en-US" sz="1600" dirty="0"/>
              <a:t>, and </a:t>
            </a:r>
            <a:r>
              <a:rPr lang="en-US" sz="1600" b="1" dirty="0"/>
              <a:t>direct relationship</a:t>
            </a:r>
            <a:r>
              <a:rPr lang="en-US" sz="1600" dirty="0"/>
              <a:t> with God.</a:t>
            </a:r>
          </a:p>
          <a:p>
            <a:pPr marL="171421" indent="-171421">
              <a:buFont typeface="Arial" panose="020B0604020202020204" pitchFamily="34" charset="0"/>
              <a:buChar char="•"/>
            </a:pPr>
            <a:r>
              <a:rPr lang="en-US" sz="1600" dirty="0"/>
              <a:t>This covenant isn’t about stone tablets but about hearts reshaped by God’s Spirit (compare Ezekiel 36:26–27). it’s the </a:t>
            </a:r>
            <a:r>
              <a:rPr lang="en-US" sz="1600" i="1" dirty="0"/>
              <a:t>ḥesed</a:t>
            </a:r>
            <a:r>
              <a:rPr lang="en-US" sz="1600" dirty="0"/>
              <a:t> of God now written inside His people.</a:t>
            </a:r>
          </a:p>
          <a:p>
            <a:pPr marL="171421" indent="-171421">
              <a:buFont typeface="Arial" panose="020B0604020202020204" pitchFamily="34" charset="0"/>
              <a:buChar char="•"/>
            </a:pPr>
            <a:r>
              <a:rPr lang="en-US" sz="1600" dirty="0"/>
              <a:t>The Israelites expected renewal </a:t>
            </a:r>
            <a:r>
              <a:rPr lang="en-US" sz="1600" i="1" dirty="0"/>
              <a:t>around</a:t>
            </a:r>
            <a:r>
              <a:rPr lang="en-US" sz="1600" dirty="0"/>
              <a:t> them; God promised renewal </a:t>
            </a:r>
            <a:r>
              <a:rPr lang="en-US" sz="1600" i="1" dirty="0"/>
              <a:t>within</a:t>
            </a:r>
            <a:r>
              <a:rPr lang="en-US" sz="1600" dirty="0"/>
              <a:t> them.</a:t>
            </a:r>
          </a:p>
          <a:p>
            <a:r>
              <a:rPr lang="en-US" sz="1600" dirty="0"/>
              <a:t> </a:t>
            </a:r>
          </a:p>
          <a:p>
            <a:r>
              <a:rPr lang="en-US" sz="1600" b="1" dirty="0"/>
              <a:t>Israel's misunderstanding of the Messiah and </a:t>
            </a:r>
            <a:r>
              <a:rPr lang="en-US" sz="1600" b="1" i="1" dirty="0"/>
              <a:t>ḥesed</a:t>
            </a:r>
            <a:endParaRPr lang="en-US" sz="1600" dirty="0"/>
          </a:p>
          <a:p>
            <a:pPr marL="171421" indent="-171421">
              <a:buFont typeface="Arial" panose="020B0604020202020204" pitchFamily="34" charset="0"/>
              <a:buChar char="•"/>
            </a:pPr>
            <a:r>
              <a:rPr lang="en-US" sz="1600" dirty="0"/>
              <a:t>Ancient Israel largely read the messianic prophecies politically — a ruler like David who would free them from gentile rule. but they missed the moral and relational nature of the Messiah’s rule: His </a:t>
            </a:r>
            <a:r>
              <a:rPr lang="en-US" sz="1600" i="1" dirty="0"/>
              <a:t>ḥesed</a:t>
            </a:r>
            <a:r>
              <a:rPr lang="en-US" sz="1600" dirty="0"/>
              <a:t>.</a:t>
            </a:r>
          </a:p>
          <a:p>
            <a:pPr marL="171421" indent="-171421">
              <a:buFont typeface="Arial" panose="020B0604020202020204" pitchFamily="34" charset="0"/>
              <a:buChar char="•"/>
            </a:pPr>
            <a:r>
              <a:rPr lang="en-US" sz="1600" b="1" dirty="0"/>
              <a:t>Isaiah 53</a:t>
            </a:r>
            <a:r>
              <a:rPr lang="en-US" sz="1600" dirty="0"/>
              <a:t> shows the suffering servant who bears sin through self-giving love — the </a:t>
            </a:r>
            <a:r>
              <a:rPr lang="en-US" sz="1600" i="1" dirty="0"/>
              <a:t>ḥesed</a:t>
            </a:r>
            <a:r>
              <a:rPr lang="en-US" sz="1600" dirty="0"/>
              <a:t> of God made flesh.</a:t>
            </a:r>
          </a:p>
          <a:p>
            <a:pPr marL="171421" indent="-171421">
              <a:buFont typeface="Arial" panose="020B0604020202020204" pitchFamily="34" charset="0"/>
              <a:buChar char="•"/>
            </a:pPr>
            <a:r>
              <a:rPr lang="en-US" sz="1600" b="1" dirty="0"/>
              <a:t>Micah 6:8</a:t>
            </a:r>
            <a:r>
              <a:rPr lang="en-US" sz="1600" dirty="0"/>
              <a:t> already summarized covenant morality: “</a:t>
            </a:r>
            <a:r>
              <a:rPr lang="en-US" sz="1600" i="1" dirty="0"/>
              <a:t>to do justice, to love ḥesed, and to walk humbly with your God.</a:t>
            </a:r>
            <a:r>
              <a:rPr lang="en-US" sz="1600" dirty="0"/>
              <a:t>” the people loved ritual but ignored covenant loyalty.</a:t>
            </a:r>
          </a:p>
          <a:p>
            <a:pPr marL="171421" indent="-171421">
              <a:buFont typeface="Arial" panose="020B0604020202020204" pitchFamily="34" charset="0"/>
              <a:buChar char="•"/>
            </a:pPr>
            <a:r>
              <a:rPr lang="en-US" sz="1600" dirty="0"/>
              <a:t>By Jesus' day, this blindness persisted. when Jesus quoted </a:t>
            </a:r>
            <a:r>
              <a:rPr lang="en-US" sz="1600" i="1" dirty="0"/>
              <a:t>Hosea 6:6</a:t>
            </a:r>
            <a:r>
              <a:rPr lang="en-US" sz="1600" dirty="0"/>
              <a:t> (“I desire </a:t>
            </a:r>
            <a:r>
              <a:rPr lang="en-US" sz="1600" i="1" dirty="0"/>
              <a:t>ḥesed</a:t>
            </a:r>
            <a:r>
              <a:rPr lang="en-US" sz="1600" dirty="0"/>
              <a:t>, not sacrifice”), he wasn’t introducing a new idea; he was restoring the original covenant ethic Israel had abandoned.</a:t>
            </a:r>
          </a:p>
          <a:p>
            <a:pPr marL="171421" indent="-171421">
              <a:buFont typeface="Arial" panose="020B0604020202020204" pitchFamily="34" charset="0"/>
              <a:buChar char="•"/>
            </a:pPr>
            <a:r>
              <a:rPr lang="en-US" sz="1600" dirty="0"/>
              <a:t>The mystery was not that the messiah would come — but </a:t>
            </a:r>
            <a:r>
              <a:rPr lang="en-US" sz="1600" i="1" dirty="0"/>
              <a:t>how</a:t>
            </a:r>
            <a:r>
              <a:rPr lang="en-US" sz="1600" dirty="0"/>
              <a:t>: as a servant, not a conqueror; as one who rules by dying, not killing.</a:t>
            </a:r>
          </a:p>
          <a:p>
            <a:pPr marL="171421" indent="-171421">
              <a:buFont typeface="Arial" panose="020B0604020202020204" pitchFamily="34" charset="0"/>
              <a:buChar char="•"/>
            </a:pPr>
            <a:r>
              <a:rPr lang="en-US" sz="1600" dirty="0"/>
              <a:t>His throne was a cross.</a:t>
            </a:r>
          </a:p>
          <a:p>
            <a:pPr marL="171421" indent="-171421">
              <a:buFont typeface="Arial" panose="020B0604020202020204" pitchFamily="34" charset="0"/>
              <a:buChar char="•"/>
            </a:pPr>
            <a:r>
              <a:rPr lang="en-US" sz="1600" dirty="0"/>
              <a:t>His victory was </a:t>
            </a:r>
            <a:r>
              <a:rPr lang="en-US" sz="1600" i="1" dirty="0"/>
              <a:t>ḥesed</a:t>
            </a:r>
            <a:r>
              <a:rPr lang="en-US" sz="1600" dirty="0"/>
              <a:t> fulfilled.</a:t>
            </a:r>
          </a:p>
          <a:p>
            <a:endParaRPr lang="en-US" sz="1600" dirty="0"/>
          </a:p>
          <a:p>
            <a:r>
              <a:rPr lang="en-US" sz="1600" b="1" dirty="0"/>
              <a:t>The revelation of true </a:t>
            </a:r>
            <a:r>
              <a:rPr lang="en-US" sz="1600" b="1" i="1" dirty="0"/>
              <a:t>ḥesed</a:t>
            </a:r>
            <a:endParaRPr lang="en-US" sz="1600" dirty="0"/>
          </a:p>
          <a:p>
            <a:r>
              <a:rPr lang="en-US" sz="1600" dirty="0"/>
              <a:t>When viewed from the cross:</a:t>
            </a:r>
          </a:p>
          <a:p>
            <a:pPr marL="171421" indent="-171421" fontAlgn="ctr">
              <a:buFont typeface="Arial" panose="020B0604020202020204" pitchFamily="34" charset="0"/>
              <a:buChar char="•"/>
            </a:pPr>
            <a:r>
              <a:rPr lang="en-US" sz="1600" i="1" dirty="0"/>
              <a:t>ḥesed</a:t>
            </a:r>
            <a:r>
              <a:rPr lang="en-US" sz="1600" dirty="0"/>
              <a:t> = God’s faithful love that fulfills every promise despite human failure.</a:t>
            </a:r>
          </a:p>
          <a:p>
            <a:pPr marL="171421" indent="-171421" fontAlgn="ctr">
              <a:buFont typeface="Arial" panose="020B0604020202020204" pitchFamily="34" charset="0"/>
              <a:buChar char="•"/>
            </a:pPr>
            <a:r>
              <a:rPr lang="en-US" sz="1600" dirty="0"/>
              <a:t>In Christ, that </a:t>
            </a:r>
            <a:r>
              <a:rPr lang="en-US" sz="1600" i="1" dirty="0"/>
              <a:t>ḥesed</a:t>
            </a:r>
            <a:r>
              <a:rPr lang="en-US" sz="1600" dirty="0"/>
              <a:t> becomes personal — poured into hearts by the spirit (rom 5:5).</a:t>
            </a:r>
          </a:p>
          <a:p>
            <a:pPr marL="171421" indent="-171421" fontAlgn="ctr">
              <a:buFont typeface="Arial" panose="020B0604020202020204" pitchFamily="34" charset="0"/>
              <a:buChar char="•"/>
            </a:pPr>
            <a:r>
              <a:rPr lang="en-US" sz="1600" dirty="0"/>
              <a:t>the “mystery” hidden for ages (Col 1:26–27) is that gentiles and jews together share this covenant faithfulness through union with Christ.</a:t>
            </a:r>
          </a:p>
          <a:p>
            <a:pPr marL="171421" indent="-171421">
              <a:buFont typeface="Arial" panose="020B0604020202020204" pitchFamily="34" charset="0"/>
              <a:buChar char="•"/>
            </a:pPr>
            <a:r>
              <a:rPr lang="en-US" sz="1600" dirty="0"/>
              <a:t>“Now the main point of what we are saying is this: we have such a high priest, one who sat down at the right hand of the throne of the Majesty in heaven... he is the mediator of a better covenant, enacted on better promises.” — </a:t>
            </a:r>
            <a:r>
              <a:rPr lang="en-US" sz="1600" i="1" dirty="0"/>
              <a:t>Hebrews 8:1,6, NET</a:t>
            </a:r>
            <a:endParaRPr lang="en-US" sz="1600" dirty="0"/>
          </a:p>
          <a:p>
            <a:r>
              <a:rPr lang="en-US" sz="1600" dirty="0"/>
              <a:t> </a:t>
            </a:r>
          </a:p>
          <a:p>
            <a:r>
              <a:rPr lang="en-US" sz="1600" b="1" dirty="0"/>
              <a:t>Summary Thoughts</a:t>
            </a:r>
            <a:endParaRPr lang="en-US" sz="1600" dirty="0"/>
          </a:p>
          <a:p>
            <a:pPr marL="171421" indent="-171421">
              <a:buFont typeface="Arial" panose="020B0604020202020204" pitchFamily="34" charset="0"/>
              <a:buChar char="•"/>
            </a:pPr>
            <a:r>
              <a:rPr lang="en-US" sz="1600" dirty="0"/>
              <a:t>The ancient covenants were </a:t>
            </a:r>
            <a:r>
              <a:rPr lang="en-US" sz="1600" b="1" dirty="0"/>
              <a:t>shadows</a:t>
            </a:r>
            <a:r>
              <a:rPr lang="en-US" sz="1600" dirty="0"/>
              <a:t>; Christ is </a:t>
            </a:r>
            <a:r>
              <a:rPr lang="en-US" sz="1600" b="1" dirty="0"/>
              <a:t>substance</a:t>
            </a:r>
            <a:r>
              <a:rPr lang="en-US" sz="1600" dirty="0"/>
              <a:t>.</a:t>
            </a:r>
          </a:p>
          <a:p>
            <a:pPr marL="171421" indent="-171421">
              <a:buFont typeface="Arial" panose="020B0604020202020204" pitchFamily="34" charset="0"/>
              <a:buChar char="•"/>
            </a:pPr>
            <a:r>
              <a:rPr lang="en-US" sz="1600" dirty="0"/>
              <a:t>Their rituals hinted at what his </a:t>
            </a:r>
            <a:r>
              <a:rPr lang="en-US" sz="1600" i="1" dirty="0"/>
              <a:t>ḥesed</a:t>
            </a:r>
            <a:r>
              <a:rPr lang="en-US" sz="1600" dirty="0"/>
              <a:t> would achieve: forgiveness, transformation, and unbreakable fellowship.</a:t>
            </a:r>
          </a:p>
          <a:p>
            <a:pPr marL="171421" indent="-171421">
              <a:buFont typeface="Arial" panose="020B0604020202020204" pitchFamily="34" charset="0"/>
              <a:buChar char="•"/>
            </a:pPr>
            <a:r>
              <a:rPr lang="en-US" sz="1600" dirty="0"/>
              <a:t>So when we read backward through the new covenant, we see the same God — steadfast, loyal, merciful — fulfilling His own covenant from the inside out.</a:t>
            </a:r>
          </a:p>
          <a:p>
            <a:endParaRPr lang="en-US" sz="1600" dirty="0"/>
          </a:p>
          <a:p>
            <a:endParaRPr lang="en-US" sz="1600" dirty="0"/>
          </a:p>
          <a:p>
            <a:endParaRPr lang="en-US" dirty="0"/>
          </a:p>
        </p:txBody>
      </p:sp>
      <p:sp>
        <p:nvSpPr>
          <p:cNvPr id="4" name="Slide Number Placeholder 3">
            <a:extLst>
              <a:ext uri="{FF2B5EF4-FFF2-40B4-BE49-F238E27FC236}">
                <a16:creationId xmlns:a16="http://schemas.microsoft.com/office/drawing/2014/main" id="{4DC260F6-9FD2-B989-3760-00EF30F03367}"/>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807811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70000" lnSpcReduction="20000"/>
          </a:bodyPr>
          <a:lstStyle/>
          <a:p>
            <a:r>
              <a:rPr lang="en-US" sz="1600" dirty="0"/>
              <a:t>The apostolic theology of </a:t>
            </a:r>
            <a:r>
              <a:rPr lang="en-US" sz="1600" i="1" dirty="0"/>
              <a:t>ḥesed</a:t>
            </a:r>
            <a:r>
              <a:rPr lang="en-US" sz="1600" dirty="0"/>
              <a:t> can be summed up this way:</a:t>
            </a:r>
          </a:p>
          <a:p>
            <a:r>
              <a:rPr lang="en-US" sz="1600" b="1" dirty="0"/>
              <a:t>Christ is both the revelation and reproduction of God’s covenant love.</a:t>
            </a:r>
            <a:endParaRPr lang="en-US" sz="1600" dirty="0"/>
          </a:p>
          <a:p>
            <a:pPr marL="171421" indent="-171421">
              <a:buFont typeface="Arial" panose="020B0604020202020204" pitchFamily="34" charset="0"/>
              <a:buChar char="•"/>
            </a:pPr>
            <a:r>
              <a:rPr lang="en-US" sz="1600" dirty="0"/>
              <a:t>His followers, joined to Him by the Spirit, become living witnesses of that same faithfulness — serving, giving, forgiving, and suffering as He did.</a:t>
            </a:r>
          </a:p>
          <a:p>
            <a:pPr marL="171421" indent="-171421">
              <a:buFont typeface="Arial" panose="020B0604020202020204" pitchFamily="34" charset="0"/>
              <a:buChar char="•"/>
            </a:pPr>
            <a:endParaRPr lang="en-US" sz="1600" dirty="0"/>
          </a:p>
          <a:p>
            <a:r>
              <a:rPr lang="en-US" sz="1600" b="1" dirty="0"/>
              <a:t>Lev 19:9-18  </a:t>
            </a:r>
            <a:r>
              <a:rPr lang="en-US" sz="1600" dirty="0"/>
              <a:t>'When you reap the harvest of your land, you shall not wholly reap the corners of your field, nor shall you gather the gleanings of your harvest.  (10)  And you shall not glean your vineyard, nor shall you gather every grape of your vineyard; you shall leave them for the poor and the stranger: I am the LORD your God.  (11)  'You shall not steal, nor deal falsely, nor lie to one another.  (12)  And you shall not swear by My name falsely, nor shall you profane the name of your God: I am the LORD.  (13)  'You shall not cheat your neighbor, nor rob him. The wages of him who is hired shall not remain with you all night until morning.  (14)  You shall not curse the deaf, nor put a stumbling block before the blind, but shall fear your God: I am the LORD.  (15)  'You shall do no injustice in judgment. You shall not be partial to the poor, nor honor the person of the mighty. In righteousness you shall judge your neighbor.  (16)  You shall not go about as a talebearer among your people; nor shall you take a stand against the life of your neighbor: I am the LORD.  (17)  'You shall not hate your brother in your heart. You shall surely rebuke your neighbor, and not bear sin because of him.  (18)  </a:t>
            </a:r>
            <a:r>
              <a:rPr lang="en-US" sz="1600" b="1" dirty="0"/>
              <a:t>You shall not take vengeance, nor bear any grudge against the children of your people, but you shall love your neighbor as yourself: I am the LORD.</a:t>
            </a:r>
          </a:p>
          <a:p>
            <a:pPr lvl="0"/>
            <a:endParaRPr lang="en-US" sz="1600" dirty="0"/>
          </a:p>
          <a:p>
            <a:pPr defTabSz="914246"/>
            <a:r>
              <a:rPr lang="en-US" sz="1600" b="1" dirty="0"/>
              <a:t>Joh 13:31-35  </a:t>
            </a:r>
            <a:r>
              <a:rPr lang="en-US" sz="1600" dirty="0"/>
              <a:t>So, when he had gone out, Jesus said, "Now the Son of Man is glorified, and God is glorified in Him.  (32)  If God is glorified in Him, God will also glorify Him in Himself, and glorify Him immediately.  (33)  Little children, I shall be with you a little while longer. You will seek Me; and as I said to the Jews, 'Where I am going, you cannot come,' so now I say to you.  (34)  A new commandment I give to you, that you love one another; as I have loved you, that you also love one another.  (35)  </a:t>
            </a:r>
            <a:r>
              <a:rPr lang="en-US" sz="1600" b="1" dirty="0"/>
              <a:t>By this all will know that you are My disciples, if you have love for one another."</a:t>
            </a:r>
          </a:p>
          <a:p>
            <a:pPr lvl="0"/>
            <a:endParaRPr lang="en-US" sz="140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6F216-45CE-6D4A-A7EC-8CF8530C1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177E0-5BC1-CCA2-E0D0-B0F1ED13C32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EF2C66-0FC5-CCA7-0145-EA560B9DBB86}"/>
              </a:ext>
            </a:extLst>
          </p:cNvPr>
          <p:cNvSpPr>
            <a:spLocks noGrp="1"/>
          </p:cNvSpPr>
          <p:nvPr>
            <p:ph type="body" idx="1"/>
          </p:nvPr>
        </p:nvSpPr>
        <p:spPr/>
        <p:txBody>
          <a:bodyPr>
            <a:normAutofit fontScale="85000" lnSpcReduction="20000"/>
          </a:bodyPr>
          <a:lstStyle/>
          <a:p>
            <a:pPr defTabSz="914246"/>
            <a:r>
              <a:rPr lang="en-US" sz="1600" b="1" dirty="0"/>
              <a:t>Joh 1:1-18  </a:t>
            </a:r>
            <a:r>
              <a:rPr lang="en-US" sz="1600" dirty="0"/>
              <a:t>In the beginning was the Word, and the Word was with God, and the Word was God.  (2)  He was in the beginning with God.  (3)  All things were made through Him, and without Him nothing was made that was made.  (4)  In Him was life, and the life was the light of men.  (5)  And the light shines in the darkness, and the darkness did not comprehend it.  (6)  There was a man sent from God, whose name </a:t>
            </a:r>
            <a:r>
              <a:rPr lang="en-US" sz="1600" i="1" dirty="0"/>
              <a:t>was</a:t>
            </a:r>
            <a:r>
              <a:rPr lang="en-US" sz="1600" dirty="0"/>
              <a:t> John.  (7)  This man came for a witness, to bear witness of the Light, that all through him might believe.  (8)  He was not that Light, but </a:t>
            </a:r>
            <a:r>
              <a:rPr lang="en-US" sz="1600" i="1" dirty="0"/>
              <a:t>was sent</a:t>
            </a:r>
            <a:r>
              <a:rPr lang="en-US" sz="1600" dirty="0"/>
              <a:t> to bear witness of that Light.  (9)  That was the true Light which gives light to every man coming into the world.  (10)  He was in the world, and the world was made through Him, and the world did not know Him.  (11)  He came to His own, and His own did not receive Him.  (12)  But as many as received Him, to them He gave the right to become children of God, to those who believe in His name:  (13)  who were born, not of blood, nor of the will of the flesh, nor of the will of man, but of God.  (14)  And the Word became flesh and dwelt among us, and we beheld His glory, the glory as of the only begotten of the Father, full of grace and truth.  (15)  John bore witness of Him and cried out, saying, "This was He of whom I said, 'He who comes after me is preferred before me, for He was before me.' "  (16)  And of His fullness we have all received, and grace for grace.  (17)  </a:t>
            </a:r>
            <a:r>
              <a:rPr lang="en-US" sz="1600" b="1" dirty="0"/>
              <a:t>For the law was given through Moses, </a:t>
            </a:r>
            <a:r>
              <a:rPr lang="en-US" sz="1600" b="1" i="1" dirty="0"/>
              <a:t>but</a:t>
            </a:r>
            <a:r>
              <a:rPr lang="en-US" sz="1600" b="1" dirty="0"/>
              <a:t> grace and truth came through Jesus Christ.</a:t>
            </a:r>
            <a:r>
              <a:rPr lang="en-US" sz="1600" dirty="0"/>
              <a:t>  (18)  No one has seen God at any time. The only begotten Son, who is in the bosom of the Father, He has declared </a:t>
            </a:r>
            <a:r>
              <a:rPr lang="en-US" sz="1600" i="1" dirty="0"/>
              <a:t>Him.</a:t>
            </a:r>
            <a:endParaRPr lang="en-US" sz="1600" dirty="0"/>
          </a:p>
          <a:p>
            <a:endParaRPr lang="en-US" dirty="0"/>
          </a:p>
        </p:txBody>
      </p:sp>
      <p:sp>
        <p:nvSpPr>
          <p:cNvPr id="4" name="Slide Number Placeholder 3">
            <a:extLst>
              <a:ext uri="{FF2B5EF4-FFF2-40B4-BE49-F238E27FC236}">
                <a16:creationId xmlns:a16="http://schemas.microsoft.com/office/drawing/2014/main" id="{1EACAD69-D764-0807-A1D0-7D2CC703E71A}"/>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2078675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924DC-7E79-F956-7E7A-9A91CF810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90594-776B-4B1C-CB5D-578AEE388C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81AF37-CC7E-26F1-1A98-CB676DE120E2}"/>
              </a:ext>
            </a:extLst>
          </p:cNvPr>
          <p:cNvSpPr>
            <a:spLocks noGrp="1"/>
          </p:cNvSpPr>
          <p:nvPr>
            <p:ph type="body" idx="1"/>
          </p:nvPr>
        </p:nvSpPr>
        <p:spPr/>
        <p:txBody>
          <a:bodyPr>
            <a:normAutofit fontScale="62500" lnSpcReduction="20000"/>
          </a:bodyPr>
          <a:lstStyle/>
          <a:p>
            <a:pPr defTabSz="914246"/>
            <a:r>
              <a:rPr lang="en-US" sz="1600" b="1" dirty="0"/>
              <a:t>Mar 10:35-45  </a:t>
            </a:r>
            <a:r>
              <a:rPr lang="en-US" sz="1600" dirty="0"/>
              <a:t>Then James and John, the sons of Zebedee, came to Him, saying, "Teacher, we want You to do for us whatever we ask."  (36)  And He said to them, "What do you want Me to do for you?"  (37)  They said to Him, "Grant us that we may sit, one on Your right hand and the other on Your left, in Your glory."  (38)  But Jesus said to them, "You do not know what you ask. Are you able to drink the cup that I drink, and be baptized with the baptism that I am baptized with?"  (39)  They said to Him, "We are able." So Jesus said to them, "You will indeed drink the cup that I drink, and with the baptism I am baptized with you will be baptized;  (40)  but to sit on My right hand and on My left is not Mine to give, but </a:t>
            </a:r>
            <a:r>
              <a:rPr lang="en-US" sz="1600" i="1" dirty="0"/>
              <a:t>it is for those</a:t>
            </a:r>
            <a:r>
              <a:rPr lang="en-US" sz="1600" dirty="0"/>
              <a:t> for whom it is prepared."  (41)  And when the ten heard </a:t>
            </a:r>
            <a:r>
              <a:rPr lang="en-US" sz="1600" i="1" dirty="0"/>
              <a:t>it,</a:t>
            </a:r>
            <a:r>
              <a:rPr lang="en-US" sz="1600" dirty="0"/>
              <a:t> they began to be greatly displeased with James and John.  (42)  But Jesus called them to </a:t>
            </a:r>
            <a:r>
              <a:rPr lang="en-US" sz="1600" i="1" dirty="0"/>
              <a:t>Himself</a:t>
            </a:r>
            <a:r>
              <a:rPr lang="en-US" sz="1600" dirty="0"/>
              <a:t> and said to them, "You know that those who are considered rulers over the Gentiles lord it over them, and their great ones exercise authority over them.  (43)  Yet it shall not be so among you; but whoever desires to become great among you shall be your servant.  (44)  </a:t>
            </a:r>
            <a:r>
              <a:rPr lang="en-US" sz="1600" b="1" dirty="0"/>
              <a:t>And whoever of you desires to be first shall be slave of all.  </a:t>
            </a:r>
            <a:r>
              <a:rPr lang="en-US" sz="1600" dirty="0"/>
              <a:t>(45)  For even the Son of Man did not come to be served, but to serve, and to give His life a ransom for many."</a:t>
            </a:r>
          </a:p>
          <a:p>
            <a:endParaRPr lang="en-US" sz="1600" dirty="0"/>
          </a:p>
          <a:p>
            <a:pPr defTabSz="914246"/>
            <a:r>
              <a:rPr lang="en-US" sz="1600" b="1" dirty="0"/>
              <a:t>Rom 1:1-2  </a:t>
            </a:r>
            <a:r>
              <a:rPr lang="en-US" sz="1600" dirty="0"/>
              <a:t>Paul, a </a:t>
            </a:r>
            <a:r>
              <a:rPr lang="en-US" sz="1600" b="1" dirty="0"/>
              <a:t>bondservant</a:t>
            </a:r>
            <a:r>
              <a:rPr lang="en-US" sz="1600" dirty="0"/>
              <a:t> of Jesus Christ, called </a:t>
            </a:r>
            <a:r>
              <a:rPr lang="en-US" sz="1600" i="1" dirty="0"/>
              <a:t>to be</a:t>
            </a:r>
            <a:r>
              <a:rPr lang="en-US" sz="1600" dirty="0"/>
              <a:t> an apostle, separated to the gospel of God  (2)  which He promised before through His prophets in the Holy Scriptures,</a:t>
            </a:r>
          </a:p>
          <a:p>
            <a:endParaRPr lang="en-US" sz="1600" dirty="0"/>
          </a:p>
          <a:p>
            <a:r>
              <a:rPr lang="en-US" sz="1600" b="1" dirty="0"/>
              <a:t>1Pe 2:13-25  </a:t>
            </a:r>
            <a:r>
              <a:rPr lang="en-US" sz="1600" dirty="0"/>
              <a:t>Therefore submit yourselves to every ordinance of man for the Lord's sake, whether to the king as supreme,  (14)  or to governors, as to those who are sent by him for the punishment of evildoers and for the praise of those who do good.  (15)  For this is the will of God, that by doing good you may put to silence the ignorance of foolish men—  (16)  </a:t>
            </a:r>
            <a:r>
              <a:rPr lang="en-US" sz="1600" b="1" dirty="0"/>
              <a:t>as free, yet not using liberty as a cloak for vice, but as bondservants of God.  (17)  Honor all people. Love the brotherhood. Fear God. Honor the king.  </a:t>
            </a:r>
            <a:r>
              <a:rPr lang="en-US" sz="1600" dirty="0"/>
              <a:t>(18)  Servants, be submissive to your masters with all fear, not only to the good and gentle, but also to the harsh.  (19)  For this is commendable, if because of conscience toward God one endures grief, suffering wrongfully.  (20)  For what credit is it if, when you are beaten for your faults, you take it patiently? But when you do good and suffer, if you take it patiently, this is commendable before God.  (21)  For to this you were called, because Christ also suffered for us, leaving us an example, that you should follow His steps:  (22)  "WHO COMMITTED NO SIN, NOR WAS DECEIT FOUND IN HIS MOUTH";  (23)  who, when He was reviled, did not revile in return; when He suffered, He did not threaten, but committed Himself to Him who judges righteously;  (24)  who Himself bore our sins in His own body on the tree, that we, having died to sins, might live for righteousness—by whose stripes you were healed.  (25)  For you were like sheep going astray, but have now returned to the Shepherd and Overseer of your souls.</a:t>
            </a:r>
          </a:p>
        </p:txBody>
      </p:sp>
      <p:sp>
        <p:nvSpPr>
          <p:cNvPr id="4" name="Slide Number Placeholder 3">
            <a:extLst>
              <a:ext uri="{FF2B5EF4-FFF2-40B4-BE49-F238E27FC236}">
                <a16:creationId xmlns:a16="http://schemas.microsoft.com/office/drawing/2014/main" id="{2A2EFACF-5AF4-FBCF-C716-A7E106575171}"/>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28943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35E2C-425A-2FA0-C045-F993FDC9B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844E44-51B1-00F5-D6C7-A7796FA126F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E2FD3F-E274-3528-1367-9688872C6C64}"/>
              </a:ext>
            </a:extLst>
          </p:cNvPr>
          <p:cNvSpPr>
            <a:spLocks noGrp="1"/>
          </p:cNvSpPr>
          <p:nvPr>
            <p:ph type="body" idx="1"/>
          </p:nvPr>
        </p:nvSpPr>
        <p:spPr/>
        <p:txBody>
          <a:bodyPr>
            <a:normAutofit fontScale="62500" lnSpcReduction="20000"/>
          </a:bodyPr>
          <a:lstStyle/>
          <a:p>
            <a:r>
              <a:rPr lang="en-US" sz="1600" b="1" dirty="0"/>
              <a:t>1 Jn 1:1-10  </a:t>
            </a:r>
            <a:r>
              <a:rPr lang="en-US" sz="1600" dirty="0"/>
              <a:t>That which was from the beginning, which we have heard, which we have seen with our eyes, which we have looked upon, and our hands have handled, concerning the Word of life—  (2)  the life was manifested, and we have seen, and bear witness, and declare to you that eternal life which was with the Father and was manifested to us—  (3)  that which we have seen and heard we declare to you, that you also may have fellowship with us; and truly our fellowship is with the Father and with His Son Jesus Christ.  (4)  And these things we write to you that your joy may be full.  (5)  This is the message which we have heard from Him and declare to you, that God is light and in Him is no darkness at all.  (6)  If we say that we have fellowship with Him, and walk in darkness, we lie and do not practice the truth.  (7)  But if we walk in the light </a:t>
            </a:r>
            <a:r>
              <a:rPr lang="en-US" sz="1600" b="1" dirty="0"/>
              <a:t>as He is </a:t>
            </a:r>
            <a:r>
              <a:rPr lang="en-US" sz="1600" dirty="0"/>
              <a:t>in the light, we have fellowship with one another, and the blood of Jesus Christ His Son cleanses us from all sin.  (8)  If we say that we have no sin, we deceive ourselves, and the truth is not in us.  (9)  If we confess our sins, He is faithful and just to forgive us our sins and to cleanse us from all unrighteousness.  (10)  If we say that we h</a:t>
            </a:r>
          </a:p>
          <a:p>
            <a:endParaRPr lang="en-US" sz="1600" dirty="0"/>
          </a:p>
          <a:p>
            <a:r>
              <a:rPr lang="en-US" sz="1600" b="1" dirty="0"/>
              <a:t>1 Jn 3:11-24  </a:t>
            </a:r>
            <a:r>
              <a:rPr lang="en-US" sz="1600" dirty="0"/>
              <a:t>For this is the message that you heard from the beginning, that we should love one another,  (12)  not as Cain who was of the wicked one and murdered his brother. And why did he murder him? Because his works were evil and his brother's righteous.  (13)  Do not marvel, my brethren, if the world hates you.  (14)  We know that we have passed from death to life, because we love the brethren. He who does not love his brother abides in death.  (15)  Whoever hates his brother is a murderer, and you know that no murderer has eternal life abiding in him.  (16)  By this we know love, because He laid down His life for us. And we also ought to lay down our lives for the brethren.  (17)  But whoever has this world's goods, and sees his brother in need, and shuts up his heart from him, how does the love of God abide in him?  (18)  My little children, let us not love in word or in tongue, but in deed and in truth.  (19)  And by this we know that we are of the truth, and shall assure our hearts before Him.  (20)  For if our heart condemns us, God is greater than our heart, and knows all things.  (21)  Beloved, if our heart does not condemn us, we have confidence toward God.  (22)  And whatever we ask we receive from Him, because we keep His commandments and do those things that are pleasing in His sight.  (23)  And this is His commandment: that we should believe on the name of His Son Jesus Christ and love one another, as He gave us commandment.  (24)  </a:t>
            </a:r>
            <a:r>
              <a:rPr lang="en-US" sz="1600" b="1" dirty="0"/>
              <a:t>Now he who keeps His commandments abides in Him, and He in him. And by this we know that He abides in us, by the Spirit whom He has given </a:t>
            </a:r>
            <a:r>
              <a:rPr lang="en-US" sz="1600" b="1" dirty="0" err="1"/>
              <a:t>us.ave</a:t>
            </a:r>
            <a:r>
              <a:rPr lang="en-US" sz="1600" b="1" dirty="0"/>
              <a:t> not sinned, we make Him a liar, and His word is not in us.</a:t>
            </a:r>
          </a:p>
        </p:txBody>
      </p:sp>
      <p:sp>
        <p:nvSpPr>
          <p:cNvPr id="4" name="Slide Number Placeholder 3">
            <a:extLst>
              <a:ext uri="{FF2B5EF4-FFF2-40B4-BE49-F238E27FC236}">
                <a16:creationId xmlns:a16="http://schemas.microsoft.com/office/drawing/2014/main" id="{A2E57C5E-CF9A-8B87-F192-5766DE3BCD9B}"/>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dirty="0"/>
          </a:p>
        </p:txBody>
      </p:sp>
    </p:spTree>
    <p:extLst>
      <p:ext uri="{BB962C8B-B14F-4D97-AF65-F5344CB8AC3E}">
        <p14:creationId xmlns:p14="http://schemas.microsoft.com/office/powerpoint/2010/main" val="3560505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75004-E1CE-DC6E-2059-12B84AF9E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D7DC5-20E2-A33A-ACD8-8B23B7C83E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60A64B-C3FE-7EE7-AC0C-6C96902D5DD2}"/>
              </a:ext>
            </a:extLst>
          </p:cNvPr>
          <p:cNvSpPr>
            <a:spLocks noGrp="1"/>
          </p:cNvSpPr>
          <p:nvPr>
            <p:ph type="body" idx="1"/>
          </p:nvPr>
        </p:nvSpPr>
        <p:spPr/>
        <p:txBody>
          <a:bodyPr>
            <a:normAutofit fontScale="55000" lnSpcReduction="20000"/>
          </a:bodyPr>
          <a:lstStyle/>
          <a:p>
            <a:r>
              <a:rPr lang="en-US" sz="1600" b="1" dirty="0"/>
              <a:t>Mat 25:31-46</a:t>
            </a:r>
            <a:r>
              <a:rPr lang="en-US" sz="1600" dirty="0"/>
              <a:t>  "When the Son of Man comes in His glory, and all the holy angels with Him, then He will sit on the throne of His glory.  (32)  All the nations will be gathered before Him, and He will separate them one from another, as a shepherd divides his sheep from the goats.  (33)  And He will set the sheep on His right hand, but the goats on the left.  (34)  Then the King will say to those on His right hand, 'Come, you blessed of My Father, inherit the kingdom prepared for you from the foundation of the world:  (35)  for I was hungry and you gave Me food; I was thirsty and you gave Me drink; I was a stranger and you took Me in;  (36)  I was naked and you clothed Me; I was sick and you visited Me; I was in prison and you came to Me.'  (37)  "Then the righteous will answer Him, saying, 'Lord, when did we see You hungry and feed You, or thirsty and give You drink?  (38)  When did we see You a stranger and take You in, or naked and clothe You?  (39)  Or when did we see You sick, or in prison, and come to You?'  (40)  </a:t>
            </a:r>
            <a:r>
              <a:rPr lang="en-US" sz="1600" b="1" dirty="0"/>
              <a:t>And the King will answer and say to them, 'Assuredly, I say to you, inasmuch as you did it to one of the least of these My brethren, you did it to Me.'  </a:t>
            </a:r>
            <a:r>
              <a:rPr lang="en-US" sz="1600" dirty="0"/>
              <a:t>(41)  "Then He will also say to those on the left hand, 'Depart from Me, you cursed, into the everlasting fire prepared for the devil and his angels:  (42)  for I was hungry and you gave Me no food; I was thirsty and you gave Me no drink;  (43)  I was a stranger and you did not take Me in, naked and you did not clothe Me, sick and in prison and you did not visit Me.'  (44)  "Then they also will answer Him, saying, 'Lord, when did we see You hungry or thirsty or a stranger or naked or sick or in prison, and did not minister to You?'  (45)  Then He will answer them, saying, 'Assuredly, I say to you, inasmuch as you did not do it to one of the least of these, you did not do it to Me.'  (46)  And these will go away into everlasting punishment, but the righteous into eternal life.“</a:t>
            </a:r>
          </a:p>
          <a:p>
            <a:endParaRPr lang="en-US" sz="1600" dirty="0"/>
          </a:p>
          <a:p>
            <a:r>
              <a:rPr lang="en-US" sz="1600" b="1" dirty="0"/>
              <a:t>1Co 11:1  </a:t>
            </a:r>
            <a:r>
              <a:rPr lang="en-US" sz="1600" dirty="0"/>
              <a:t>Imitate me, just as I also imitate Christ.</a:t>
            </a:r>
          </a:p>
          <a:p>
            <a:endParaRPr lang="en-US" sz="1600" dirty="0"/>
          </a:p>
          <a:p>
            <a:r>
              <a:rPr lang="en-US" sz="1600" b="1" dirty="0"/>
              <a:t>1Pe 5:1-11  </a:t>
            </a:r>
            <a:r>
              <a:rPr lang="en-US" sz="1600" dirty="0"/>
              <a:t>The elders who are among you I exhort, I who am a fellow elder and a witness of the sufferings of Christ, and also a partaker of the glory that will be revealed:  (2)  </a:t>
            </a:r>
            <a:r>
              <a:rPr lang="en-US" sz="1600" b="1" dirty="0"/>
              <a:t>Shepherd the flock of God which is among you, serving as overseers, not by compulsion but willingly, not for dishonest gain but eagerly;  </a:t>
            </a:r>
            <a:r>
              <a:rPr lang="en-US" sz="1600" dirty="0"/>
              <a:t>(3)  </a:t>
            </a:r>
            <a:r>
              <a:rPr lang="en-US" sz="1600" b="1" dirty="0"/>
              <a:t>nor as being lords over those entrusted to you, but being examples to the flock;</a:t>
            </a:r>
            <a:r>
              <a:rPr lang="en-US" sz="1600" dirty="0"/>
              <a:t>  (4)  and when the Chief Shepherd appears, you will receive the crown of glory that does not fade away.  (5)  Likewise you younger people, submit yourselves to your elders. Yes, all of you be submissive to one another, and be clothed with humility, for "GOD RESISTS THE PROUD, BUT GIVES GRACE TO THE HUMBLE."  (6)  Therefore humble yourselves under the mighty hand of God, that He may exalt you in due time,  (7)  casting all your care upon Him, for He cares for you.  (8)  Be sober, be vigilant; because your adversary the devil walks about like a roaring lion, seeking whom he may devour.  (9)  Resist him, steadfast in the faith, knowing that the same sufferings are experienced by your brotherhood in the world.  (10)  But may the God of all grace, who called us to His eternal glory by Christ Jesus, after you have suffered a while, perfect, establish, strengthen, and settle you.  (11)  To Him be the glory and the dominion forever and ever. Amen.</a:t>
            </a:r>
          </a:p>
          <a:p>
            <a:endParaRPr lang="en-US" dirty="0"/>
          </a:p>
        </p:txBody>
      </p:sp>
      <p:sp>
        <p:nvSpPr>
          <p:cNvPr id="4" name="Slide Number Placeholder 3">
            <a:extLst>
              <a:ext uri="{FF2B5EF4-FFF2-40B4-BE49-F238E27FC236}">
                <a16:creationId xmlns:a16="http://schemas.microsoft.com/office/drawing/2014/main" id="{B9A01493-9EBA-7523-9F7E-C0769AB05706}"/>
              </a:ext>
            </a:extLst>
          </p:cNvPr>
          <p:cNvSpPr>
            <a:spLocks noGrp="1"/>
          </p:cNvSpPr>
          <p:nvPr>
            <p:ph type="sldNum" sz="quarter" idx="10"/>
          </p:nvPr>
        </p:nvSpPr>
        <p:spPr/>
        <p:txBody>
          <a:bodyPr/>
          <a:lstStyle/>
          <a:p>
            <a:pPr>
              <a:defRPr/>
            </a:pPr>
            <a:fld id="{07776858-791E-4C8D-8FA3-473B3AFECFAC}" type="slidenum">
              <a:rPr lang="en-US" smtClean="0"/>
              <a:pPr>
                <a:defRPr/>
              </a:pPr>
              <a:t>9</a:t>
            </a:fld>
            <a:endParaRPr lang="en-US" dirty="0"/>
          </a:p>
        </p:txBody>
      </p:sp>
    </p:spTree>
    <p:extLst>
      <p:ext uri="{BB962C8B-B14F-4D97-AF65-F5344CB8AC3E}">
        <p14:creationId xmlns:p14="http://schemas.microsoft.com/office/powerpoint/2010/main" val="1583714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572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550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The Promises of God</a:t>
            </a:r>
            <a:br>
              <a:rPr lang="en-US" dirty="0"/>
            </a:br>
            <a:endParaRPr lang="en-US" dirty="0"/>
          </a:p>
          <a:p>
            <a:r>
              <a:rPr lang="en-US" i="1" dirty="0"/>
              <a:t>Promise of the Messiah Fulfilled in Christ</a:t>
            </a:r>
          </a:p>
          <a:p>
            <a:endParaRPr lang="en-US" sz="2400" dirty="0">
              <a:solidFill>
                <a:schemeClr val="tx2">
                  <a:lumMod val="60000"/>
                  <a:lumOff val="40000"/>
                </a:schemeClr>
              </a:solidFill>
            </a:endParaRPr>
          </a:p>
          <a:p>
            <a:r>
              <a:rPr lang="en-US" dirty="0"/>
              <a:t>For a child has been born to us, a son has been given to us. He shoulders responsibility and is called: Amazing Adviser, Mighty God, Everlasting Father, Prince of Peace. His dominion will be vast, and he will bring immeasurable prosperity. He will rule on David’s throne and over David’s kingdom, establishing it and strengthening it by promoting justice and fairness, from this time forward and forevermore. The zeal of the LORD of Heaven’s Armies will accomplish this.</a:t>
            </a:r>
          </a:p>
          <a:p>
            <a:r>
              <a:rPr lang="en-US" b="0" dirty="0"/>
              <a:t>(</a:t>
            </a:r>
            <a:r>
              <a:rPr lang="en-US" dirty="0"/>
              <a:t>Isaiah 9:6-7</a:t>
            </a:r>
            <a:r>
              <a:rPr lang="en-US" b="0" dirty="0"/>
              <a:t>)</a:t>
            </a:r>
          </a:p>
          <a:p>
            <a:endParaRPr lang="en-US" dirty="0">
              <a:solidFill>
                <a:schemeClr val="tx2">
                  <a:lumMod val="60000"/>
                  <a:lumOff val="40000"/>
                </a:schemeClr>
              </a:solidFill>
            </a:endParaRPr>
          </a:p>
          <a:p>
            <a:r>
              <a:rPr lang="en-US" dirty="0">
                <a:solidFill>
                  <a:schemeClr val="tx2">
                    <a:lumMod val="60000"/>
                    <a:lumOff val="40000"/>
                  </a:schemeClr>
                </a:solidFill>
              </a:rPr>
              <a:t>http://tinyurl.com/GodOfPromises</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F1C5C-098A-B7B4-29DA-163600C9EAB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D62506-1BC3-6C6E-2FAB-806688DE005A}"/>
              </a:ext>
            </a:extLst>
          </p:cNvPr>
          <p:cNvSpPr txBox="1">
            <a:spLocks/>
          </p:cNvSpPr>
          <p:nvPr/>
        </p:nvSpPr>
        <p:spPr bwMode="auto">
          <a:xfrm>
            <a:off x="228600" y="0"/>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God’s Character Revealed</a:t>
            </a:r>
            <a:br>
              <a:rPr lang="en-US" dirty="0"/>
            </a:br>
            <a:r>
              <a:rPr lang="en-US" sz="2400" dirty="0">
                <a:solidFill>
                  <a:schemeClr val="tx2">
                    <a:lumMod val="60000"/>
                    <a:lumOff val="40000"/>
                  </a:schemeClr>
                </a:solidFill>
              </a:rPr>
              <a:t>The </a:t>
            </a:r>
            <a:r>
              <a:rPr lang="en-US" sz="2400" u="sng" dirty="0">
                <a:solidFill>
                  <a:schemeClr val="tx2">
                    <a:lumMod val="60000"/>
                    <a:lumOff val="40000"/>
                  </a:schemeClr>
                </a:solidFill>
              </a:rPr>
              <a:t>Steadfast Love</a:t>
            </a:r>
            <a:r>
              <a:rPr lang="en-US" sz="2400" dirty="0">
                <a:solidFill>
                  <a:schemeClr val="tx2">
                    <a:lumMod val="60000"/>
                    <a:lumOff val="40000"/>
                  </a:schemeClr>
                </a:solidFill>
              </a:rPr>
              <a:t> of the Lord Never Ceases…</a:t>
            </a:r>
          </a:p>
        </p:txBody>
      </p:sp>
      <p:sp>
        <p:nvSpPr>
          <p:cNvPr id="3" name="TextBox 2">
            <a:extLst>
              <a:ext uri="{FF2B5EF4-FFF2-40B4-BE49-F238E27FC236}">
                <a16:creationId xmlns:a16="http://schemas.microsoft.com/office/drawing/2014/main" id="{C96E21EF-3DEE-2EB9-2120-682F4B4560B7}"/>
              </a:ext>
            </a:extLst>
          </p:cNvPr>
          <p:cNvSpPr txBox="1"/>
          <p:nvPr/>
        </p:nvSpPr>
        <p:spPr>
          <a:xfrm>
            <a:off x="233362" y="1019175"/>
            <a:ext cx="8677275" cy="5632311"/>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Hosea 6:6 – Jesus quotes twice in Matthew</a:t>
            </a:r>
          </a:p>
          <a:p>
            <a:pPr marL="342900" indent="-342900">
              <a:buFont typeface="Arial" panose="020B0604020202020204" pitchFamily="34" charset="0"/>
              <a:buChar char="•"/>
            </a:pPr>
            <a:r>
              <a:rPr lang="en-US" u="sng" dirty="0">
                <a:ea typeface="ＭＳ Ｐゴシック" pitchFamily="-106" charset="-128"/>
                <a:cs typeface="ＭＳ Ｐゴシック" pitchFamily="-106" charset="-128"/>
              </a:rPr>
              <a:t>Mat 9:13</a:t>
            </a:r>
            <a:r>
              <a:rPr lang="en-US" dirty="0">
                <a:ea typeface="ＭＳ Ｐゴシック" pitchFamily="-106" charset="-128"/>
                <a:cs typeface="ＭＳ Ｐゴシック" pitchFamily="-106" charset="-128"/>
              </a:rPr>
              <a:t>  “</a:t>
            </a:r>
            <a:r>
              <a:rPr lang="en-US" i="1" dirty="0">
                <a:ea typeface="ＭＳ Ｐゴシック" pitchFamily="-106" charset="-128"/>
                <a:cs typeface="ＭＳ Ｐゴシック" pitchFamily="-106" charset="-128"/>
              </a:rPr>
              <a:t>Go and learn what this saying means: </a:t>
            </a:r>
            <a:r>
              <a:rPr lang="en-US" dirty="0">
                <a:ea typeface="ＭＳ Ｐゴシック" pitchFamily="-106" charset="-128"/>
                <a:cs typeface="ＭＳ Ｐゴシック" pitchFamily="-106" charset="-128"/>
              </a:rPr>
              <a:t>‘</a:t>
            </a:r>
            <a:r>
              <a:rPr lang="en-US" b="1" i="1" dirty="0">
                <a:ea typeface="ＭＳ Ｐゴシック" pitchFamily="-106" charset="-128"/>
                <a:cs typeface="ＭＳ Ｐゴシック" pitchFamily="-106" charset="-128"/>
              </a:rPr>
              <a:t>I want mercy and not sacrifice</a:t>
            </a:r>
            <a:r>
              <a:rPr lang="en-US" i="1" dirty="0">
                <a:ea typeface="ＭＳ Ｐゴシック" pitchFamily="-106" charset="-128"/>
                <a:cs typeface="ＭＳ Ｐゴシック" pitchFamily="-106" charset="-128"/>
              </a:rPr>
              <a:t>.</a:t>
            </a:r>
            <a:r>
              <a:rPr lang="en-US" dirty="0">
                <a:ea typeface="ＭＳ Ｐゴシック" pitchFamily="-106" charset="-128"/>
                <a:cs typeface="ＭＳ Ｐゴシック" pitchFamily="-106" charset="-128"/>
              </a:rPr>
              <a:t>’ </a:t>
            </a:r>
            <a:r>
              <a:rPr lang="en-US" i="1" dirty="0">
                <a:ea typeface="ＭＳ Ｐゴシック" pitchFamily="-106" charset="-128"/>
                <a:cs typeface="ＭＳ Ｐゴシック" pitchFamily="-106" charset="-128"/>
              </a:rPr>
              <a:t>For I did not come to call the righteous, but sinners</a:t>
            </a:r>
            <a:r>
              <a:rPr lang="en-US" dirty="0">
                <a:ea typeface="ＭＳ Ｐゴシック" pitchFamily="-106" charset="-128"/>
                <a:cs typeface="ＭＳ Ｐゴシック" pitchFamily="-106" charset="-128"/>
              </a:rPr>
              <a:t>.”</a:t>
            </a:r>
          </a:p>
          <a:p>
            <a:pPr marL="342900" indent="-342900">
              <a:buFont typeface="Arial" panose="020B0604020202020204" pitchFamily="34" charset="0"/>
              <a:buChar char="•"/>
            </a:pPr>
            <a:r>
              <a:rPr lang="en-US" u="sng" dirty="0"/>
              <a:t>Mat 12:7</a:t>
            </a:r>
            <a:r>
              <a:rPr lang="en-US" dirty="0"/>
              <a:t>  “</a:t>
            </a:r>
            <a:r>
              <a:rPr lang="en-US" i="1" dirty="0"/>
              <a:t>If you had known what this means: </a:t>
            </a:r>
            <a:r>
              <a:rPr lang="en-US" dirty="0"/>
              <a:t>‘</a:t>
            </a:r>
            <a:r>
              <a:rPr lang="en-US" b="1" i="1" dirty="0"/>
              <a:t>I want mercy and not sacrifice</a:t>
            </a:r>
            <a:r>
              <a:rPr lang="en-US" dirty="0"/>
              <a:t>,’ </a:t>
            </a:r>
            <a:r>
              <a:rPr lang="en-US" i="1" dirty="0"/>
              <a:t>you would not have condemned the innocent.</a:t>
            </a:r>
            <a:r>
              <a:rPr lang="en-US" dirty="0"/>
              <a:t>”</a:t>
            </a:r>
          </a:p>
          <a:p>
            <a:endParaRPr lang="en-US" b="1"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‘Mercy’ is translated from Hebrew ‘</a:t>
            </a:r>
            <a:r>
              <a:rPr lang="en-US" b="1" dirty="0"/>
              <a:t>ḥesed (חֶסֶד)’</a:t>
            </a:r>
          </a:p>
          <a:p>
            <a:pPr marL="285750" indent="-285750">
              <a:buFont typeface="Arial" panose="020B0604020202020204" pitchFamily="34" charset="0"/>
              <a:buChar char="•"/>
            </a:pPr>
            <a:r>
              <a:rPr lang="en-US" u="sng" dirty="0">
                <a:ea typeface="ＭＳ Ｐゴシック" pitchFamily="-106" charset="-128"/>
                <a:cs typeface="ＭＳ Ｐゴシック" pitchFamily="-106" charset="-128"/>
              </a:rPr>
              <a:t>Hosea 6:6</a:t>
            </a:r>
            <a:r>
              <a:rPr lang="en-US" b="1" dirty="0">
                <a:ea typeface="ＭＳ Ｐゴシック" pitchFamily="-106" charset="-128"/>
                <a:cs typeface="ＭＳ Ｐゴシック" pitchFamily="-106" charset="-128"/>
              </a:rPr>
              <a:t>  ‘</a:t>
            </a:r>
            <a:r>
              <a:rPr lang="en-US" i="1" dirty="0"/>
              <a:t>I desire </a:t>
            </a:r>
            <a:r>
              <a:rPr lang="en-US" b="1" i="1" dirty="0"/>
              <a:t>mercy</a:t>
            </a:r>
            <a:r>
              <a:rPr lang="en-US" i="1" dirty="0"/>
              <a:t> (Heb. ḥesed), not sacrifice</a:t>
            </a:r>
            <a:r>
              <a:rPr lang="en-US" dirty="0"/>
              <a:t>.’</a:t>
            </a:r>
          </a:p>
          <a:p>
            <a:pPr marL="285750" indent="-285750">
              <a:buFont typeface="Arial" panose="020B0604020202020204" pitchFamily="34" charset="0"/>
              <a:buChar char="•"/>
            </a:pPr>
            <a:r>
              <a:rPr lang="en-US" u="sng" dirty="0">
                <a:ea typeface="ＭＳ Ｐゴシック" pitchFamily="-106" charset="-128"/>
                <a:cs typeface="ＭＳ Ｐゴシック" pitchFamily="-106" charset="-128"/>
              </a:rPr>
              <a:t>Psalm 89:34-35</a:t>
            </a:r>
            <a:r>
              <a:rPr lang="en-US" b="1" dirty="0">
                <a:ea typeface="ＭＳ Ｐゴシック" pitchFamily="-106" charset="-128"/>
                <a:cs typeface="ＭＳ Ｐゴシック" pitchFamily="-106" charset="-128"/>
              </a:rPr>
              <a:t>  </a:t>
            </a:r>
            <a:r>
              <a:rPr lang="en-US" dirty="0">
                <a:ea typeface="ＭＳ Ｐゴシック" pitchFamily="-106" charset="-128"/>
                <a:cs typeface="ＭＳ Ｐゴシック" pitchFamily="-106" charset="-128"/>
              </a:rPr>
              <a:t>‘</a:t>
            </a:r>
            <a:r>
              <a:rPr lang="en-US" i="1" dirty="0">
                <a:ea typeface="ＭＳ Ｐゴシック" pitchFamily="-106" charset="-128"/>
                <a:cs typeface="ＭＳ Ｐゴシック" pitchFamily="-106" charset="-128"/>
              </a:rPr>
              <a:t>I will not break my </a:t>
            </a:r>
            <a:r>
              <a:rPr lang="en-US" b="1" i="1" dirty="0">
                <a:ea typeface="ＭＳ Ｐゴシック" pitchFamily="-106" charset="-128"/>
                <a:cs typeface="ＭＳ Ｐゴシック" pitchFamily="-106" charset="-128"/>
              </a:rPr>
              <a:t>covenant </a:t>
            </a:r>
            <a:r>
              <a:rPr lang="en-US" i="1" dirty="0">
                <a:ea typeface="ＭＳ Ｐゴシック" pitchFamily="-106" charset="-128"/>
                <a:cs typeface="ＭＳ Ｐゴシック" pitchFamily="-106" charset="-128"/>
              </a:rPr>
              <a:t>(Heb. hesed) or go back on what I promised.  Once and for all I have vowed by my own holiness…’</a:t>
            </a:r>
          </a:p>
          <a:p>
            <a:endParaRPr lang="en-US"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What </a:t>
            </a:r>
            <a:r>
              <a:rPr lang="en-US" b="1" u="sng" dirty="0">
                <a:ea typeface="ＭＳ Ｐゴシック" pitchFamily="-106" charset="-128"/>
                <a:cs typeface="ＭＳ Ｐゴシック" pitchFamily="-106" charset="-128"/>
              </a:rPr>
              <a:t>hesed</a:t>
            </a:r>
            <a:r>
              <a:rPr lang="en-US" b="1" dirty="0">
                <a:ea typeface="ＭＳ Ｐゴシック" pitchFamily="-106" charset="-128"/>
                <a:cs typeface="ＭＳ Ｐゴシック" pitchFamily="-106" charset="-128"/>
              </a:rPr>
              <a:t> means (and why </a:t>
            </a:r>
            <a:r>
              <a:rPr lang="en-US" b="1" u="sng" dirty="0">
                <a:ea typeface="ＭＳ Ｐゴシック" pitchFamily="-106" charset="-128"/>
                <a:cs typeface="ＭＳ Ｐゴシック" pitchFamily="-106" charset="-128"/>
              </a:rPr>
              <a:t>covenant</a:t>
            </a:r>
            <a:r>
              <a:rPr lang="en-US" b="1" dirty="0">
                <a:ea typeface="ＭＳ Ｐゴシック" pitchFamily="-106" charset="-128"/>
                <a:cs typeface="ＭＳ Ｐゴシック" pitchFamily="-106" charset="-128"/>
              </a:rPr>
              <a:t> matters)</a:t>
            </a:r>
          </a:p>
          <a:p>
            <a:pPr marL="285750" indent="-285750">
              <a:buFont typeface="Arial" panose="020B0604020202020204" pitchFamily="34" charset="0"/>
              <a:buChar char="•"/>
            </a:pPr>
            <a:r>
              <a:rPr lang="en-US" dirty="0"/>
              <a:t>Core ideas: </a:t>
            </a:r>
            <a:r>
              <a:rPr lang="en-US" b="1" u="sng" dirty="0"/>
              <a:t>covenant loyalty, steadfast love, faithful mercy</a:t>
            </a:r>
            <a:r>
              <a:rPr lang="en-US" dirty="0"/>
              <a:t>. </a:t>
            </a:r>
            <a:r>
              <a:rPr lang="en-US" u="sng" dirty="0"/>
              <a:t>Love that </a:t>
            </a:r>
            <a:r>
              <a:rPr lang="en-US" i="1" u="sng" dirty="0"/>
              <a:t>acts</a:t>
            </a:r>
            <a:r>
              <a:rPr lang="en-US" u="sng" dirty="0"/>
              <a:t> to keep promises. It’s relational, oath-shaped, and other-seeking</a:t>
            </a:r>
            <a:r>
              <a:rPr lang="en-US" dirty="0"/>
              <a:t>.</a:t>
            </a:r>
          </a:p>
          <a:p>
            <a:pPr marL="285750" indent="-285750">
              <a:buFont typeface="Arial" panose="020B0604020202020204" pitchFamily="34" charset="0"/>
              <a:buChar char="•"/>
            </a:pPr>
            <a:r>
              <a:rPr lang="en-US" dirty="0"/>
              <a:t>Hesed is </a:t>
            </a:r>
            <a:r>
              <a:rPr lang="en-US" b="1" dirty="0"/>
              <a:t>covenant love-in-action</a:t>
            </a:r>
            <a:r>
              <a:rPr lang="en-US" dirty="0"/>
              <a:t>. It’s the </a:t>
            </a:r>
            <a:r>
              <a:rPr lang="en-US" i="1" dirty="0"/>
              <a:t>moral shape </a:t>
            </a:r>
            <a:r>
              <a:rPr lang="en-US" dirty="0"/>
              <a:t>of God’s promise-keeping.</a:t>
            </a:r>
          </a:p>
          <a:p>
            <a:pPr marL="285750" indent="-285750">
              <a:buFont typeface="Arial" panose="020B0604020202020204" pitchFamily="34" charset="0"/>
              <a:buChar char="•"/>
            </a:pPr>
            <a:r>
              <a:rPr lang="en-US" b="1" dirty="0"/>
              <a:t>Implication:</a:t>
            </a:r>
            <a:r>
              <a:rPr lang="en-US" dirty="0"/>
              <a:t> Jesus operationalizes ḥesed: </a:t>
            </a:r>
            <a:r>
              <a:rPr lang="en-US" i="1" dirty="0"/>
              <a:t>mercy &gt; sacrifice</a:t>
            </a:r>
            <a:r>
              <a:rPr lang="en-US" dirty="0"/>
              <a:t>; </a:t>
            </a:r>
            <a:r>
              <a:rPr lang="en-US" i="1" dirty="0"/>
              <a:t>greatness = servanthood</a:t>
            </a:r>
            <a:r>
              <a:rPr lang="en-US" dirty="0"/>
              <a:t>; </a:t>
            </a:r>
            <a:r>
              <a:rPr lang="en-US" i="1" dirty="0"/>
              <a:t>rule = self-giving love</a:t>
            </a:r>
            <a:r>
              <a:rPr lang="en-US" dirty="0"/>
              <a:t>.</a:t>
            </a:r>
          </a:p>
          <a:p>
            <a:pPr marL="285750" indent="-285750">
              <a:buFont typeface="Arial" panose="020B0604020202020204" pitchFamily="34" charset="0"/>
              <a:buChar char="•"/>
            </a:pPr>
            <a:r>
              <a:rPr lang="en-US" dirty="0"/>
              <a:t>Paul saturates his letters with </a:t>
            </a:r>
            <a:r>
              <a:rPr lang="en-US" b="1" dirty="0"/>
              <a:t>“one another”</a:t>
            </a:r>
            <a:r>
              <a:rPr lang="en-US" dirty="0"/>
              <a:t> commands (love, bear, forgive, submit). It’s the </a:t>
            </a:r>
            <a:r>
              <a:rPr lang="en-US" u="sng" dirty="0"/>
              <a:t>communal ethic of covenant loyalty </a:t>
            </a:r>
            <a:r>
              <a:rPr lang="en-US" dirty="0"/>
              <a:t>now formed “in Christ.”</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270849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1000"/>
                                        <p:tgtEl>
                                          <p:spTgt spid="3">
                                            <p:txEl>
                                              <p:pRg st="8" end="8"/>
                                            </p:txEl>
                                          </p:spTgt>
                                        </p:tgtEl>
                                      </p:cBhvr>
                                    </p:animEffect>
                                    <p:anim calcmode="lin" valueType="num">
                                      <p:cBhvr>
                                        <p:cTn id="4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1000"/>
                                        <p:tgtEl>
                                          <p:spTgt spid="3">
                                            <p:txEl>
                                              <p:pRg st="9" end="9"/>
                                            </p:txEl>
                                          </p:spTgt>
                                        </p:tgtEl>
                                      </p:cBhvr>
                                    </p:animEffect>
                                    <p:anim calcmode="lin" valueType="num">
                                      <p:cBhvr>
                                        <p:cTn id="4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1000"/>
                                        <p:tgtEl>
                                          <p:spTgt spid="3">
                                            <p:txEl>
                                              <p:pRg st="10" end="10"/>
                                            </p:txEl>
                                          </p:spTgt>
                                        </p:tgtEl>
                                      </p:cBhvr>
                                    </p:animEffect>
                                    <p:anim calcmode="lin" valueType="num">
                                      <p:cBhvr>
                                        <p:cTn id="52"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1000"/>
                                        <p:tgtEl>
                                          <p:spTgt spid="3">
                                            <p:txEl>
                                              <p:pRg st="11" end="11"/>
                                            </p:txEl>
                                          </p:spTgt>
                                        </p:tgtEl>
                                      </p:cBhvr>
                                    </p:animEffect>
                                    <p:anim calcmode="lin" valueType="num">
                                      <p:cBhvr>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Effect transition="in" filter="fade">
                                      <p:cBhvr>
                                        <p:cTn id="61" dur="1000"/>
                                        <p:tgtEl>
                                          <p:spTgt spid="3">
                                            <p:txEl>
                                              <p:pRg st="12" end="12"/>
                                            </p:txEl>
                                          </p:spTgt>
                                        </p:tgtEl>
                                      </p:cBhvr>
                                    </p:animEffect>
                                    <p:anim calcmode="lin" valueType="num">
                                      <p:cBhvr>
                                        <p:cTn id="6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558D6-1B64-B6E0-96F5-A98F9F36BED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27E372D-3379-7994-3500-5BC48AC7291D}"/>
              </a:ext>
            </a:extLst>
          </p:cNvPr>
          <p:cNvSpPr txBox="1">
            <a:spLocks/>
          </p:cNvSpPr>
          <p:nvPr/>
        </p:nvSpPr>
        <p:spPr bwMode="auto">
          <a:xfrm>
            <a:off x="253364" y="-14099"/>
            <a:ext cx="83820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200" dirty="0"/>
              <a:t>Looking Backwards </a:t>
            </a:r>
            <a:br>
              <a:rPr lang="en-US" sz="3600" dirty="0"/>
            </a:br>
            <a:r>
              <a:rPr lang="en-US" sz="2400" dirty="0">
                <a:solidFill>
                  <a:schemeClr val="tx2">
                    <a:lumMod val="60000"/>
                    <a:lumOff val="40000"/>
                  </a:schemeClr>
                </a:solidFill>
              </a:rPr>
              <a:t>Through the Lens of the New Covenant </a:t>
            </a:r>
            <a:endParaRPr lang="en-US" sz="2000" dirty="0">
              <a:solidFill>
                <a:schemeClr val="tx2">
                  <a:lumMod val="60000"/>
                  <a:lumOff val="40000"/>
                </a:schemeClr>
              </a:solidFill>
            </a:endParaRPr>
          </a:p>
        </p:txBody>
      </p:sp>
      <p:sp>
        <p:nvSpPr>
          <p:cNvPr id="8" name="TextBox 7">
            <a:extLst>
              <a:ext uri="{FF2B5EF4-FFF2-40B4-BE49-F238E27FC236}">
                <a16:creationId xmlns:a16="http://schemas.microsoft.com/office/drawing/2014/main" id="{1D589070-263E-91A8-C459-A0E26ADBD042}"/>
              </a:ext>
            </a:extLst>
          </p:cNvPr>
          <p:cNvSpPr txBox="1"/>
          <p:nvPr/>
        </p:nvSpPr>
        <p:spPr>
          <a:xfrm>
            <a:off x="253364" y="3886200"/>
            <a:ext cx="8566788" cy="2585323"/>
          </a:xfrm>
          <a:prstGeom prst="rect">
            <a:avLst/>
          </a:prstGeom>
          <a:noFill/>
        </p:spPr>
        <p:txBody>
          <a:bodyPr wrap="square" rtlCol="0">
            <a:spAutoFit/>
          </a:bodyPr>
          <a:lstStyle/>
          <a:p>
            <a:r>
              <a:rPr lang="en-US" b="1" dirty="0"/>
              <a:t>Synthesis:</a:t>
            </a:r>
            <a:r>
              <a:rPr lang="en-US" dirty="0"/>
              <a:t> If </a:t>
            </a:r>
            <a:r>
              <a:rPr lang="en-US" b="1" dirty="0"/>
              <a:t>ḥesed</a:t>
            </a:r>
            <a:r>
              <a:rPr lang="en-US" dirty="0"/>
              <a:t> is </a:t>
            </a:r>
            <a:r>
              <a:rPr lang="en-US" i="1" dirty="0"/>
              <a:t>covenant love-in-action</a:t>
            </a:r>
            <a:r>
              <a:rPr lang="en-US" dirty="0"/>
              <a:t>, </a:t>
            </a:r>
            <a:r>
              <a:rPr lang="en-US" u="sng" dirty="0"/>
              <a:t>then being </a:t>
            </a:r>
            <a:r>
              <a:rPr lang="en-US" b="1" u="sng" dirty="0"/>
              <a:t>in Christ</a:t>
            </a:r>
            <a:r>
              <a:rPr lang="en-US" u="sng" dirty="0"/>
              <a:t> means</a:t>
            </a:r>
            <a:r>
              <a:rPr lang="en-US" dirty="0"/>
              <a:t>:</a:t>
            </a:r>
          </a:p>
          <a:p>
            <a:pPr marL="285750" indent="-285750" fontAlgn="ctr">
              <a:buFont typeface="Arial" panose="020B0604020202020204" pitchFamily="34" charset="0"/>
              <a:buChar char="•"/>
            </a:pPr>
            <a:r>
              <a:rPr lang="en-US" b="1" dirty="0"/>
              <a:t>Status</a:t>
            </a:r>
            <a:r>
              <a:rPr lang="en-US" dirty="0"/>
              <a:t> – Our </a:t>
            </a:r>
            <a:r>
              <a:rPr lang="en-US" u="sng" dirty="0"/>
              <a:t>Standing</a:t>
            </a:r>
            <a:r>
              <a:rPr lang="en-US" dirty="0"/>
              <a:t> with God.  Counted righteous in Him (</a:t>
            </a:r>
            <a:r>
              <a:rPr lang="en-US" b="1" dirty="0"/>
              <a:t>2 Cor 5:21</a:t>
            </a:r>
            <a:r>
              <a:rPr lang="en-US" dirty="0"/>
              <a:t>), welcomed as sons/partners of the New Covenant (</a:t>
            </a:r>
            <a:r>
              <a:rPr lang="en-US" b="1" dirty="0"/>
              <a:t>Jer 31; Luke 22</a:t>
            </a:r>
            <a:r>
              <a:rPr lang="en-US" dirty="0"/>
              <a:t>).</a:t>
            </a:r>
            <a:endParaRPr lang="en-US" b="1" dirty="0"/>
          </a:p>
          <a:p>
            <a:pPr marL="285750" indent="-285750" fontAlgn="ctr">
              <a:buFont typeface="Arial" panose="020B0604020202020204" pitchFamily="34" charset="0"/>
              <a:buChar char="•"/>
            </a:pPr>
            <a:r>
              <a:rPr lang="en-US" b="1" dirty="0"/>
              <a:t>Ethic</a:t>
            </a:r>
            <a:r>
              <a:rPr lang="en-US" dirty="0"/>
              <a:t> – Our new </a:t>
            </a:r>
            <a:r>
              <a:rPr lang="en-US" u="sng" dirty="0"/>
              <a:t>Fruit-Bearing Way of Life</a:t>
            </a:r>
            <a:r>
              <a:rPr lang="en-US" dirty="0"/>
              <a:t>.  Empowered to practice ḥesed-shaped love (“</a:t>
            </a:r>
            <a:r>
              <a:rPr lang="en-US" i="1" dirty="0"/>
              <a:t>walk in love</a:t>
            </a:r>
            <a:r>
              <a:rPr lang="en-US" dirty="0"/>
              <a:t>,” </a:t>
            </a:r>
            <a:r>
              <a:rPr lang="en-US" b="1" dirty="0"/>
              <a:t>Eph 5:1–2</a:t>
            </a:r>
            <a:r>
              <a:rPr lang="en-US" dirty="0"/>
              <a:t>), expressed as Paul’s </a:t>
            </a:r>
            <a:r>
              <a:rPr lang="en-US" u="sng" dirty="0"/>
              <a:t>union in Christ expression</a:t>
            </a:r>
            <a:r>
              <a:rPr lang="en-US" dirty="0"/>
              <a:t> of “one anothers.”</a:t>
            </a:r>
            <a:endParaRPr lang="en-US" b="1" dirty="0"/>
          </a:p>
          <a:p>
            <a:pPr marL="285750" indent="-285750" fontAlgn="ctr">
              <a:buFont typeface="Arial" panose="020B0604020202020204" pitchFamily="34" charset="0"/>
              <a:buChar char="•"/>
            </a:pPr>
            <a:r>
              <a:rPr lang="en-US" dirty="0"/>
              <a:t>The new covenant doesn’t cancel the old; it </a:t>
            </a:r>
            <a:r>
              <a:rPr lang="en-US" b="1" dirty="0"/>
              <a:t>completes</a:t>
            </a:r>
            <a:r>
              <a:rPr lang="en-US" dirty="0"/>
              <a:t> it.</a:t>
            </a:r>
          </a:p>
          <a:p>
            <a:pPr marL="285750" indent="-285750" fontAlgn="ctr">
              <a:buFont typeface="Arial" panose="020B0604020202020204" pitchFamily="34" charset="0"/>
              <a:buChar char="•"/>
            </a:pPr>
            <a:r>
              <a:rPr lang="en-US" dirty="0"/>
              <a:t>Jesus, The </a:t>
            </a:r>
            <a:r>
              <a:rPr lang="en-US" b="1" dirty="0"/>
              <a:t>Messiah</a:t>
            </a:r>
            <a:r>
              <a:rPr lang="en-US" dirty="0"/>
              <a:t>, is the </a:t>
            </a:r>
            <a:r>
              <a:rPr lang="en-US" u="sng" dirty="0"/>
              <a:t>covenant keeper</a:t>
            </a:r>
            <a:r>
              <a:rPr lang="en-US" dirty="0"/>
              <a:t> </a:t>
            </a:r>
            <a:r>
              <a:rPr lang="en-US" i="1" dirty="0"/>
              <a:t>on both sides</a:t>
            </a:r>
            <a:r>
              <a:rPr lang="en-US" dirty="0"/>
              <a:t> of the covenant…</a:t>
            </a:r>
          </a:p>
          <a:p>
            <a:pPr marL="285750" indent="-285750" fontAlgn="ctr">
              <a:buFont typeface="Arial" panose="020B0604020202020204" pitchFamily="34" charset="0"/>
              <a:buChar char="•"/>
            </a:pPr>
            <a:r>
              <a:rPr lang="en-US" b="1" dirty="0"/>
              <a:t>Messiah</a:t>
            </a:r>
            <a:r>
              <a:rPr lang="en-US" dirty="0"/>
              <a:t> </a:t>
            </a:r>
            <a:r>
              <a:rPr lang="en-US" b="1" dirty="0"/>
              <a:t>=</a:t>
            </a:r>
            <a:r>
              <a:rPr lang="en-US" dirty="0"/>
              <a:t> </a:t>
            </a:r>
            <a:r>
              <a:rPr lang="en-US" u="sng" dirty="0"/>
              <a:t>Man’s perfect obedience to God</a:t>
            </a:r>
            <a:r>
              <a:rPr lang="en-US" dirty="0"/>
              <a:t> </a:t>
            </a:r>
            <a:r>
              <a:rPr lang="en-US" b="1" dirty="0"/>
              <a:t>+</a:t>
            </a:r>
            <a:r>
              <a:rPr lang="en-US" dirty="0"/>
              <a:t> </a:t>
            </a:r>
            <a:r>
              <a:rPr lang="en-US" u="sng" dirty="0"/>
              <a:t>God’s perfect mercy toward man</a:t>
            </a:r>
            <a:r>
              <a:rPr lang="en-US" dirty="0"/>
              <a:t>.</a:t>
            </a:r>
          </a:p>
        </p:txBody>
      </p:sp>
      <p:graphicFrame>
        <p:nvGraphicFramePr>
          <p:cNvPr id="3" name="Table 2">
            <a:extLst>
              <a:ext uri="{FF2B5EF4-FFF2-40B4-BE49-F238E27FC236}">
                <a16:creationId xmlns:a16="http://schemas.microsoft.com/office/drawing/2014/main" id="{845B968C-684B-DDC1-AB51-987EB5ABDEA2}"/>
              </a:ext>
            </a:extLst>
          </p:cNvPr>
          <p:cNvGraphicFramePr>
            <a:graphicFrameLocks noGrp="1"/>
          </p:cNvGraphicFramePr>
          <p:nvPr>
            <p:extLst>
              <p:ext uri="{D42A27DB-BD31-4B8C-83A1-F6EECF244321}">
                <p14:modId xmlns:p14="http://schemas.microsoft.com/office/powerpoint/2010/main" val="4054990764"/>
              </p:ext>
            </p:extLst>
          </p:nvPr>
        </p:nvGraphicFramePr>
        <p:xfrm>
          <a:off x="361950" y="990600"/>
          <a:ext cx="8477252" cy="2600960"/>
        </p:xfrm>
        <a:graphic>
          <a:graphicData uri="http://schemas.openxmlformats.org/drawingml/2006/table">
            <a:tbl>
              <a:tblPr firstRow="1" bandRow="1">
                <a:tableStyleId>{D113A9D2-9D6B-4929-AA2D-F23B5EE8CBE7}</a:tableStyleId>
              </a:tblPr>
              <a:tblGrid>
                <a:gridCol w="1238250">
                  <a:extLst>
                    <a:ext uri="{9D8B030D-6E8A-4147-A177-3AD203B41FA5}">
                      <a16:colId xmlns:a16="http://schemas.microsoft.com/office/drawing/2014/main" val="529175433"/>
                    </a:ext>
                  </a:extLst>
                </a:gridCol>
                <a:gridCol w="2362200">
                  <a:extLst>
                    <a:ext uri="{9D8B030D-6E8A-4147-A177-3AD203B41FA5}">
                      <a16:colId xmlns:a16="http://schemas.microsoft.com/office/drawing/2014/main" val="2114119881"/>
                    </a:ext>
                  </a:extLst>
                </a:gridCol>
                <a:gridCol w="2757489">
                  <a:extLst>
                    <a:ext uri="{9D8B030D-6E8A-4147-A177-3AD203B41FA5}">
                      <a16:colId xmlns:a16="http://schemas.microsoft.com/office/drawing/2014/main" val="3640258926"/>
                    </a:ext>
                  </a:extLst>
                </a:gridCol>
                <a:gridCol w="2119313">
                  <a:extLst>
                    <a:ext uri="{9D8B030D-6E8A-4147-A177-3AD203B41FA5}">
                      <a16:colId xmlns:a16="http://schemas.microsoft.com/office/drawing/2014/main" val="4023087004"/>
                    </a:ext>
                  </a:extLst>
                </a:gridCol>
              </a:tblGrid>
              <a:tr h="370840">
                <a:tc>
                  <a:txBody>
                    <a:bodyPr/>
                    <a:lstStyle/>
                    <a:p>
                      <a:pPr marL="0" marR="0" fontAlgn="t">
                        <a:buNone/>
                      </a:pPr>
                      <a:r>
                        <a:rPr lang="en-US" sz="1800" b="1" dirty="0">
                          <a:effectLst/>
                          <a:latin typeface="Calibri" panose="020F0502020204030204" pitchFamily="34" charset="0"/>
                        </a:rPr>
                        <a:t>Covenant</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b="1" dirty="0">
                          <a:effectLst/>
                          <a:latin typeface="Calibri" panose="020F0502020204030204" pitchFamily="34" charset="0"/>
                        </a:rPr>
                        <a:t>Promise Given</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b="1" dirty="0">
                          <a:effectLst/>
                          <a:latin typeface="Calibri" panose="020F0502020204030204" pitchFamily="34" charset="0"/>
                        </a:rPr>
                        <a:t>Promise Fulfilled in Messiah</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b="1" i="1" dirty="0">
                          <a:effectLst/>
                          <a:latin typeface="Calibri" panose="020F0502020204030204" pitchFamily="34" charset="0"/>
                        </a:rPr>
                        <a:t>ḥesed</a:t>
                      </a:r>
                      <a:r>
                        <a:rPr lang="en-US" sz="1800" b="1" dirty="0">
                          <a:effectLst/>
                          <a:latin typeface="Calibri" panose="020F0502020204030204" pitchFamily="34" charset="0"/>
                        </a:rPr>
                        <a:t> expression</a:t>
                      </a:r>
                      <a:endParaRPr lang="en-US" sz="18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547286927"/>
                  </a:ext>
                </a:extLst>
              </a:tr>
              <a:tr h="370840">
                <a:tc>
                  <a:txBody>
                    <a:bodyPr/>
                    <a:lstStyle/>
                    <a:p>
                      <a:pPr marL="0" marR="0" fontAlgn="t">
                        <a:buNone/>
                      </a:pPr>
                      <a:r>
                        <a:rPr lang="en-US" sz="1800" b="1" dirty="0">
                          <a:effectLst/>
                          <a:latin typeface="Calibri" panose="020F0502020204030204" pitchFamily="34" charset="0"/>
                        </a:rPr>
                        <a:t>Abrahamic</a:t>
                      </a:r>
                    </a:p>
                  </a:txBody>
                  <a:tcPr marL="50800" marR="50800" marT="50800" marB="50800"/>
                </a:tc>
                <a:tc>
                  <a:txBody>
                    <a:bodyPr/>
                    <a:lstStyle/>
                    <a:p>
                      <a:pPr marL="0" marR="0" fontAlgn="t">
                        <a:buNone/>
                      </a:pPr>
                      <a:r>
                        <a:rPr lang="en-US" sz="1800" dirty="0">
                          <a:effectLst/>
                          <a:latin typeface="Calibri" panose="020F0502020204030204" pitchFamily="34" charset="0"/>
                        </a:rPr>
                        <a:t>Blessing to all Nations (Gen. 12:3)</a:t>
                      </a:r>
                    </a:p>
                  </a:txBody>
                  <a:tcPr marL="50800" marR="50800" marT="50800" marB="50800"/>
                </a:tc>
                <a:tc>
                  <a:txBody>
                    <a:bodyPr/>
                    <a:lstStyle/>
                    <a:p>
                      <a:pPr marL="0" marR="0" fontAlgn="t">
                        <a:buNone/>
                      </a:pPr>
                      <a:r>
                        <a:rPr lang="en-US" sz="1800" dirty="0">
                          <a:effectLst/>
                          <a:latin typeface="Calibri" panose="020F0502020204030204" pitchFamily="34" charset="0"/>
                        </a:rPr>
                        <a:t>Salvation through faith in Jesus (Gal. 3:8,16)</a:t>
                      </a:r>
                    </a:p>
                  </a:txBody>
                  <a:tcPr marL="50800" marR="50800" marT="50800" marB="50800"/>
                </a:tc>
                <a:tc>
                  <a:txBody>
                    <a:bodyPr/>
                    <a:lstStyle/>
                    <a:p>
                      <a:pPr marL="0" marR="0" fontAlgn="t">
                        <a:buNone/>
                      </a:pPr>
                      <a:r>
                        <a:rPr lang="en-US" sz="1800" dirty="0">
                          <a:effectLst/>
                          <a:latin typeface="Calibri" panose="020F0502020204030204" pitchFamily="34" charset="0"/>
                        </a:rPr>
                        <a:t>Faithful inclusion of all who believe</a:t>
                      </a:r>
                    </a:p>
                  </a:txBody>
                  <a:tcPr marL="50800" marR="50800" marT="50800" marB="50800"/>
                </a:tc>
                <a:extLst>
                  <a:ext uri="{0D108BD9-81ED-4DB2-BD59-A6C34878D82A}">
                    <a16:rowId xmlns:a16="http://schemas.microsoft.com/office/drawing/2014/main" val="1596976829"/>
                  </a:ext>
                </a:extLst>
              </a:tr>
              <a:tr h="370840">
                <a:tc>
                  <a:txBody>
                    <a:bodyPr/>
                    <a:lstStyle/>
                    <a:p>
                      <a:pPr marL="0" marR="0" fontAlgn="t">
                        <a:buNone/>
                      </a:pPr>
                      <a:r>
                        <a:rPr lang="en-US" sz="1800" b="1" dirty="0">
                          <a:effectLst/>
                          <a:latin typeface="Calibri" panose="020F0502020204030204" pitchFamily="34" charset="0"/>
                        </a:rPr>
                        <a:t>Mosaic</a:t>
                      </a:r>
                    </a:p>
                  </a:txBody>
                  <a:tcPr marL="50800" marR="50800" marT="50800" marB="50800"/>
                </a:tc>
                <a:tc>
                  <a:txBody>
                    <a:bodyPr/>
                    <a:lstStyle/>
                    <a:p>
                      <a:pPr marL="0" marR="0" fontAlgn="t">
                        <a:buNone/>
                      </a:pPr>
                      <a:r>
                        <a:rPr lang="en-US" sz="1800" dirty="0">
                          <a:effectLst/>
                          <a:latin typeface="Calibri" panose="020F0502020204030204" pitchFamily="34" charset="0"/>
                        </a:rPr>
                        <a:t>Holiness and Obedience (Exo. 19:5–6)</a:t>
                      </a:r>
                    </a:p>
                  </a:txBody>
                  <a:tcPr marL="50800" marR="50800" marT="50800" marB="50800"/>
                </a:tc>
                <a:tc>
                  <a:txBody>
                    <a:bodyPr/>
                    <a:lstStyle/>
                    <a:p>
                      <a:pPr marL="0" marR="0" fontAlgn="t">
                        <a:buNone/>
                      </a:pPr>
                      <a:r>
                        <a:rPr lang="en-US" sz="1800" dirty="0">
                          <a:effectLst/>
                          <a:latin typeface="Calibri" panose="020F0502020204030204" pitchFamily="34" charset="0"/>
                        </a:rPr>
                        <a:t>Law written on hearts by the Spirit (Heb. 10:15–18)</a:t>
                      </a:r>
                    </a:p>
                  </a:txBody>
                  <a:tcPr marL="50800" marR="50800" marT="50800" marB="50800"/>
                </a:tc>
                <a:tc>
                  <a:txBody>
                    <a:bodyPr/>
                    <a:lstStyle/>
                    <a:p>
                      <a:pPr marL="0" marR="0" fontAlgn="t">
                        <a:buNone/>
                      </a:pPr>
                      <a:r>
                        <a:rPr lang="en-US" sz="1800" dirty="0">
                          <a:effectLst/>
                          <a:latin typeface="Calibri" panose="020F0502020204030204" pitchFamily="34" charset="0"/>
                        </a:rPr>
                        <a:t>Inward transformation, grace over law</a:t>
                      </a:r>
                    </a:p>
                  </a:txBody>
                  <a:tcPr marL="50800" marR="50800" marT="50800" marB="50800"/>
                </a:tc>
                <a:extLst>
                  <a:ext uri="{0D108BD9-81ED-4DB2-BD59-A6C34878D82A}">
                    <a16:rowId xmlns:a16="http://schemas.microsoft.com/office/drawing/2014/main" val="4084465531"/>
                  </a:ext>
                </a:extLst>
              </a:tr>
              <a:tr h="370840">
                <a:tc>
                  <a:txBody>
                    <a:bodyPr/>
                    <a:lstStyle/>
                    <a:p>
                      <a:pPr marL="0" marR="0" fontAlgn="t">
                        <a:buNone/>
                      </a:pPr>
                      <a:r>
                        <a:rPr lang="en-US" sz="1800" b="1" dirty="0">
                          <a:effectLst/>
                          <a:latin typeface="Calibri" panose="020F0502020204030204" pitchFamily="34" charset="0"/>
                        </a:rPr>
                        <a:t>Davidic</a:t>
                      </a:r>
                    </a:p>
                  </a:txBody>
                  <a:tcPr marL="50800" marR="50800" marT="50800" marB="50800"/>
                </a:tc>
                <a:tc>
                  <a:txBody>
                    <a:bodyPr/>
                    <a:lstStyle/>
                    <a:p>
                      <a:pPr marL="0" marR="0" fontAlgn="t">
                        <a:buNone/>
                      </a:pPr>
                      <a:r>
                        <a:rPr lang="en-US" sz="1800" dirty="0">
                          <a:effectLst/>
                          <a:latin typeface="Calibri" panose="020F0502020204030204" pitchFamily="34" charset="0"/>
                        </a:rPr>
                        <a:t>Eternal Throne (2 Sam. 7:12–16)</a:t>
                      </a:r>
                    </a:p>
                  </a:txBody>
                  <a:tcPr marL="50800" marR="50800" marT="50800" marB="50800"/>
                </a:tc>
                <a:tc>
                  <a:txBody>
                    <a:bodyPr/>
                    <a:lstStyle/>
                    <a:p>
                      <a:pPr marL="0" marR="0" fontAlgn="t">
                        <a:buNone/>
                      </a:pPr>
                      <a:r>
                        <a:rPr lang="en-US" sz="1800" dirty="0">
                          <a:effectLst/>
                          <a:latin typeface="Calibri" panose="020F0502020204030204" pitchFamily="34" charset="0"/>
                        </a:rPr>
                        <a:t>Jesus, Son of David, reigning forever (Luke 1:32–33)</a:t>
                      </a:r>
                    </a:p>
                  </a:txBody>
                  <a:tcPr marL="50800" marR="50800" marT="50800" marB="50800"/>
                </a:tc>
                <a:tc>
                  <a:txBody>
                    <a:bodyPr/>
                    <a:lstStyle/>
                    <a:p>
                      <a:pPr marL="0" marR="0" fontAlgn="t">
                        <a:buNone/>
                      </a:pPr>
                      <a:r>
                        <a:rPr lang="en-US" sz="1800" dirty="0">
                          <a:effectLst/>
                          <a:latin typeface="Calibri" panose="020F0502020204030204" pitchFamily="34" charset="0"/>
                        </a:rPr>
                        <a:t>Covenant love established forever</a:t>
                      </a:r>
                    </a:p>
                  </a:txBody>
                  <a:tcPr marL="50800" marR="50800" marT="50800" marB="50800"/>
                </a:tc>
                <a:extLst>
                  <a:ext uri="{0D108BD9-81ED-4DB2-BD59-A6C34878D82A}">
                    <a16:rowId xmlns:a16="http://schemas.microsoft.com/office/drawing/2014/main" val="1685971274"/>
                  </a:ext>
                </a:extLst>
              </a:tr>
            </a:tbl>
          </a:graphicData>
        </a:graphic>
      </p:graphicFrame>
    </p:spTree>
    <p:extLst>
      <p:ext uri="{BB962C8B-B14F-4D97-AF65-F5344CB8AC3E}">
        <p14:creationId xmlns:p14="http://schemas.microsoft.com/office/powerpoint/2010/main" val="198825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4B002-6563-C900-0ADE-34BA8A73E20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ECB58E4-385F-90FD-8F71-570107515FA2}"/>
              </a:ext>
            </a:extLst>
          </p:cNvPr>
          <p:cNvSpPr txBox="1">
            <a:spLocks/>
          </p:cNvSpPr>
          <p:nvPr/>
        </p:nvSpPr>
        <p:spPr bwMode="auto">
          <a:xfrm>
            <a:off x="228600" y="0"/>
            <a:ext cx="8382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The Book of Hebrews</a:t>
            </a:r>
            <a:br>
              <a:rPr lang="en-US" dirty="0"/>
            </a:br>
            <a:r>
              <a:rPr lang="en-US" sz="2400" dirty="0">
                <a:solidFill>
                  <a:schemeClr val="tx2">
                    <a:lumMod val="60000"/>
                    <a:lumOff val="40000"/>
                  </a:schemeClr>
                </a:solidFill>
              </a:rPr>
              <a:t>Unveiling Connections between Covenants </a:t>
            </a:r>
          </a:p>
        </p:txBody>
      </p:sp>
      <p:sp>
        <p:nvSpPr>
          <p:cNvPr id="3" name="TextBox 2">
            <a:extLst>
              <a:ext uri="{FF2B5EF4-FFF2-40B4-BE49-F238E27FC236}">
                <a16:creationId xmlns:a16="http://schemas.microsoft.com/office/drawing/2014/main" id="{C10E074F-A21B-E54F-EE8E-E971A6F43193}"/>
              </a:ext>
            </a:extLst>
          </p:cNvPr>
          <p:cNvSpPr txBox="1"/>
          <p:nvPr/>
        </p:nvSpPr>
        <p:spPr>
          <a:xfrm>
            <a:off x="223684" y="914400"/>
            <a:ext cx="8534400" cy="1477328"/>
          </a:xfrm>
          <a:prstGeom prst="rect">
            <a:avLst/>
          </a:prstGeom>
          <a:noFill/>
        </p:spPr>
        <p:txBody>
          <a:bodyPr wrap="square" rtlCol="0">
            <a:spAutoFit/>
          </a:bodyPr>
          <a:lstStyle/>
          <a:p>
            <a:r>
              <a:rPr lang="en-US" b="1" dirty="0"/>
              <a:t>Abrahamic Covenant </a:t>
            </a:r>
            <a:r>
              <a:rPr lang="en-US" dirty="0"/>
              <a:t>→</a:t>
            </a:r>
            <a:r>
              <a:rPr lang="en-US" b="1" dirty="0"/>
              <a:t> Messiah, the Faithful Seed</a:t>
            </a:r>
            <a:endParaRPr lang="en-US" dirty="0"/>
          </a:p>
          <a:p>
            <a:pPr marL="285750" indent="-285750" fontAlgn="ctr">
              <a:buFont typeface="Arial" panose="020B0604020202020204" pitchFamily="34" charset="0"/>
              <a:buChar char="•"/>
            </a:pPr>
            <a:r>
              <a:rPr lang="en-US" dirty="0"/>
              <a:t>Abraham’s promise was righteousness through faith (</a:t>
            </a:r>
            <a:r>
              <a:rPr lang="en-US" b="1" dirty="0"/>
              <a:t>Genesis 15:6</a:t>
            </a:r>
            <a:r>
              <a:rPr lang="en-US" dirty="0"/>
              <a:t>).</a:t>
            </a:r>
          </a:p>
          <a:p>
            <a:pPr marL="285750" indent="-285750" fontAlgn="ctr">
              <a:buFont typeface="Arial" panose="020B0604020202020204" pitchFamily="34" charset="0"/>
              <a:buChar char="•"/>
            </a:pPr>
            <a:r>
              <a:rPr lang="en-US" b="1" dirty="0"/>
              <a:t>Hebrews 6:13-18</a:t>
            </a:r>
            <a:r>
              <a:rPr lang="en-US" dirty="0"/>
              <a:t> says God confirmed that oath by Himself, so it cannot fail.</a:t>
            </a:r>
          </a:p>
          <a:p>
            <a:pPr marL="285750" indent="-285750" fontAlgn="ctr">
              <a:buFont typeface="Arial" panose="020B0604020202020204" pitchFamily="34" charset="0"/>
              <a:buChar char="•"/>
            </a:pPr>
            <a:r>
              <a:rPr lang="en-US" dirty="0"/>
              <a:t>Jesus is the </a:t>
            </a:r>
            <a:r>
              <a:rPr lang="en-US" b="1" dirty="0"/>
              <a:t>guarantor</a:t>
            </a:r>
            <a:r>
              <a:rPr lang="en-US" dirty="0"/>
              <a:t> (</a:t>
            </a:r>
            <a:r>
              <a:rPr lang="en-US" b="1" dirty="0"/>
              <a:t>7:22</a:t>
            </a:r>
            <a:r>
              <a:rPr lang="en-US" dirty="0"/>
              <a:t>) - the living fulfillment of God’s unbreakable </a:t>
            </a:r>
            <a:r>
              <a:rPr lang="en-US" i="1" dirty="0"/>
              <a:t>ḥesed</a:t>
            </a:r>
            <a:r>
              <a:rPr lang="en-US" dirty="0"/>
              <a:t> oath.</a:t>
            </a:r>
          </a:p>
        </p:txBody>
      </p:sp>
      <p:sp>
        <p:nvSpPr>
          <p:cNvPr id="4" name="TextBox 3">
            <a:extLst>
              <a:ext uri="{FF2B5EF4-FFF2-40B4-BE49-F238E27FC236}">
                <a16:creationId xmlns:a16="http://schemas.microsoft.com/office/drawing/2014/main" id="{95CEF3C5-E4A3-BDF6-5E65-A1FA4389D2B2}"/>
              </a:ext>
            </a:extLst>
          </p:cNvPr>
          <p:cNvSpPr txBox="1"/>
          <p:nvPr/>
        </p:nvSpPr>
        <p:spPr>
          <a:xfrm>
            <a:off x="223684" y="4572000"/>
            <a:ext cx="8534400" cy="2031325"/>
          </a:xfrm>
          <a:prstGeom prst="rect">
            <a:avLst/>
          </a:prstGeom>
          <a:noFill/>
        </p:spPr>
        <p:txBody>
          <a:bodyPr wrap="square" rtlCol="0">
            <a:spAutoFit/>
          </a:bodyPr>
          <a:lstStyle/>
          <a:p>
            <a:r>
              <a:rPr lang="en-US" b="1" dirty="0"/>
              <a:t>Davidic Covenant </a:t>
            </a:r>
            <a:r>
              <a:rPr lang="en-US" dirty="0"/>
              <a:t>→</a:t>
            </a:r>
            <a:r>
              <a:rPr lang="en-US" b="1" dirty="0"/>
              <a:t> Messiah, the Eternal King</a:t>
            </a:r>
            <a:endParaRPr lang="en-US" dirty="0"/>
          </a:p>
          <a:p>
            <a:pPr marL="285750" indent="-285750" fontAlgn="ctr">
              <a:buFont typeface="Arial" panose="020B0604020202020204" pitchFamily="34" charset="0"/>
              <a:buChar char="•"/>
            </a:pPr>
            <a:r>
              <a:rPr lang="en-US" b="1" dirty="0"/>
              <a:t>Hebrews 1:8-9</a:t>
            </a:r>
            <a:r>
              <a:rPr lang="en-US" dirty="0"/>
              <a:t> applies </a:t>
            </a:r>
            <a:r>
              <a:rPr lang="en-US" b="1" dirty="0"/>
              <a:t>Psalm 45</a:t>
            </a:r>
            <a:r>
              <a:rPr lang="en-US" dirty="0"/>
              <a:t> to the son: </a:t>
            </a:r>
            <a:r>
              <a:rPr lang="en-US" i="1" dirty="0"/>
              <a:t>“Your throne, O God, is forever and ever… you have loved righteousness and hated lawlessness.”</a:t>
            </a:r>
          </a:p>
          <a:p>
            <a:pPr marL="285750" indent="-285750" fontAlgn="ctr">
              <a:buFont typeface="Arial" panose="020B0604020202020204" pitchFamily="34" charset="0"/>
              <a:buChar char="•"/>
            </a:pPr>
            <a:r>
              <a:rPr lang="en-US" dirty="0"/>
              <a:t>Jesus reigns as king </a:t>
            </a:r>
            <a:r>
              <a:rPr lang="en-US" i="1" u="sng" dirty="0"/>
              <a:t>and</a:t>
            </a:r>
            <a:r>
              <a:rPr lang="en-US" dirty="0"/>
              <a:t> priest - a combination no Israelite king ever could hold under the Mosaic Law.</a:t>
            </a:r>
          </a:p>
          <a:p>
            <a:pPr marL="285750" indent="-285750" fontAlgn="ctr">
              <a:buFont typeface="Arial" panose="020B0604020202020204" pitchFamily="34" charset="0"/>
              <a:buChar char="•"/>
            </a:pPr>
            <a:r>
              <a:rPr lang="en-US" u="sng" dirty="0"/>
              <a:t>This unites the covenant strands</a:t>
            </a:r>
            <a:r>
              <a:rPr lang="en-US" dirty="0"/>
              <a:t>: a faithful Davidic king, a righteous high priest, and a better covenant built on better promises (</a:t>
            </a:r>
            <a:r>
              <a:rPr lang="en-US" b="1" dirty="0"/>
              <a:t>8:6</a:t>
            </a:r>
            <a:r>
              <a:rPr lang="en-US" dirty="0"/>
              <a:t>).</a:t>
            </a:r>
          </a:p>
        </p:txBody>
      </p:sp>
      <p:sp>
        <p:nvSpPr>
          <p:cNvPr id="6" name="TextBox 5">
            <a:extLst>
              <a:ext uri="{FF2B5EF4-FFF2-40B4-BE49-F238E27FC236}">
                <a16:creationId xmlns:a16="http://schemas.microsoft.com/office/drawing/2014/main" id="{08D351D0-4DBF-FE0A-618D-3D23BB9BB66F}"/>
              </a:ext>
            </a:extLst>
          </p:cNvPr>
          <p:cNvSpPr txBox="1"/>
          <p:nvPr/>
        </p:nvSpPr>
        <p:spPr>
          <a:xfrm>
            <a:off x="223684" y="2466202"/>
            <a:ext cx="8534400" cy="2031325"/>
          </a:xfrm>
          <a:prstGeom prst="rect">
            <a:avLst/>
          </a:prstGeom>
          <a:noFill/>
        </p:spPr>
        <p:txBody>
          <a:bodyPr wrap="square" rtlCol="0">
            <a:spAutoFit/>
          </a:bodyPr>
          <a:lstStyle/>
          <a:p>
            <a:r>
              <a:rPr lang="en-US" b="1" dirty="0"/>
              <a:t>Mosaic Covenant </a:t>
            </a:r>
            <a:r>
              <a:rPr lang="en-US" dirty="0"/>
              <a:t>→</a:t>
            </a:r>
            <a:r>
              <a:rPr lang="en-US" b="1" dirty="0"/>
              <a:t> Messiah, the Perfect Mediator</a:t>
            </a:r>
            <a:endParaRPr lang="en-US" dirty="0"/>
          </a:p>
          <a:p>
            <a:pPr marL="285750" indent="-285750" fontAlgn="ctr">
              <a:buFont typeface="Arial" panose="020B0604020202020204" pitchFamily="34" charset="0"/>
              <a:buChar char="•"/>
            </a:pPr>
            <a:r>
              <a:rPr lang="en-US" dirty="0"/>
              <a:t>The law exposed sin but could not change the heart (</a:t>
            </a:r>
            <a:r>
              <a:rPr lang="en-US" b="1" dirty="0"/>
              <a:t>Hebrews 10:1-4</a:t>
            </a:r>
            <a:r>
              <a:rPr lang="en-US" dirty="0"/>
              <a:t>).</a:t>
            </a:r>
          </a:p>
          <a:p>
            <a:pPr marL="285750" indent="-285750" fontAlgn="ctr">
              <a:buFont typeface="Arial" panose="020B0604020202020204" pitchFamily="34" charset="0"/>
              <a:buChar char="•"/>
            </a:pPr>
            <a:r>
              <a:rPr lang="en-US" dirty="0"/>
              <a:t>Jesus fulfills it by offering His own blood, accomplishing inward cleansing (</a:t>
            </a:r>
            <a:r>
              <a:rPr lang="en-US" b="1" dirty="0"/>
              <a:t>9:14-15</a:t>
            </a:r>
            <a:r>
              <a:rPr lang="en-US" dirty="0"/>
              <a:t>).</a:t>
            </a:r>
          </a:p>
          <a:p>
            <a:pPr marL="285750" indent="-285750" fontAlgn="ctr">
              <a:buFont typeface="Arial" panose="020B0604020202020204" pitchFamily="34" charset="0"/>
              <a:buChar char="•"/>
            </a:pPr>
            <a:r>
              <a:rPr lang="en-US" dirty="0"/>
              <a:t>His priesthood is after </a:t>
            </a:r>
            <a:r>
              <a:rPr lang="en-US" b="1" dirty="0"/>
              <a:t>Melchizedek</a:t>
            </a:r>
            <a:r>
              <a:rPr lang="en-US" dirty="0"/>
              <a:t> - eternal, righteous, and merciful (</a:t>
            </a:r>
            <a:r>
              <a:rPr lang="en-US" b="1" dirty="0"/>
              <a:t>7:23-27</a:t>
            </a:r>
            <a:r>
              <a:rPr lang="en-US" dirty="0"/>
              <a:t>).</a:t>
            </a:r>
          </a:p>
          <a:p>
            <a:pPr marL="285750" indent="-285750" fontAlgn="ctr">
              <a:buFont typeface="Arial" panose="020B0604020202020204" pitchFamily="34" charset="0"/>
              <a:buChar char="•"/>
            </a:pPr>
            <a:r>
              <a:rPr lang="en-US" dirty="0"/>
              <a:t>“</a:t>
            </a:r>
            <a:r>
              <a:rPr lang="en-US" i="1" dirty="0"/>
              <a:t>He is able to save completely those who come to God through him, because he always lives to intercede for them</a:t>
            </a:r>
            <a:r>
              <a:rPr lang="en-US" dirty="0"/>
              <a:t>.” (</a:t>
            </a:r>
            <a:r>
              <a:rPr lang="en-US" b="1" dirty="0"/>
              <a:t>7:25</a:t>
            </a:r>
            <a:r>
              <a:rPr lang="en-US" dirty="0"/>
              <a:t>)</a:t>
            </a:r>
          </a:p>
        </p:txBody>
      </p:sp>
    </p:spTree>
    <p:extLst>
      <p:ext uri="{BB962C8B-B14F-4D97-AF65-F5344CB8AC3E}">
        <p14:creationId xmlns:p14="http://schemas.microsoft.com/office/powerpoint/2010/main" val="337604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53364" y="0"/>
            <a:ext cx="8382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200" dirty="0"/>
              <a:t>Apostolic Theology</a:t>
            </a:r>
            <a:br>
              <a:rPr lang="en-US" sz="3600" dirty="0"/>
            </a:br>
            <a:r>
              <a:rPr lang="en-US" sz="2600" dirty="0">
                <a:solidFill>
                  <a:schemeClr val="tx2">
                    <a:lumMod val="60000"/>
                    <a:lumOff val="40000"/>
                  </a:schemeClr>
                </a:solidFill>
              </a:rPr>
              <a:t>The heart of ḥesed as the Apostles understood it…</a:t>
            </a:r>
            <a:endParaRPr lang="en-US" sz="3800" dirty="0">
              <a:solidFill>
                <a:schemeClr val="tx2">
                  <a:lumMod val="60000"/>
                  <a:lumOff val="40000"/>
                </a:schemeClr>
              </a:solidFill>
            </a:endParaRPr>
          </a:p>
        </p:txBody>
      </p:sp>
      <p:sp>
        <p:nvSpPr>
          <p:cNvPr id="8" name="TextBox 7"/>
          <p:cNvSpPr txBox="1"/>
          <p:nvPr/>
        </p:nvSpPr>
        <p:spPr>
          <a:xfrm>
            <a:off x="314325" y="5105400"/>
            <a:ext cx="8254364" cy="923330"/>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Messiah is both the revelation and reproduction of God’s covenant love.</a:t>
            </a:r>
            <a:endParaRPr lang="en-US" dirty="0">
              <a:ea typeface="ＭＳ Ｐゴシック" pitchFamily="-106" charset="-128"/>
              <a:cs typeface="ＭＳ Ｐゴシック" pitchFamily="-106" charset="-128"/>
            </a:endParaRPr>
          </a:p>
          <a:p>
            <a:pPr marL="171450" indent="-171450">
              <a:buFont typeface="Arial" panose="020B0604020202020204" pitchFamily="34" charset="0"/>
              <a:buChar char="•"/>
            </a:pPr>
            <a:r>
              <a:rPr lang="en-US" dirty="0">
                <a:ea typeface="ＭＳ Ｐゴシック" pitchFamily="-106" charset="-128"/>
                <a:cs typeface="ＭＳ Ｐゴシック" pitchFamily="-106" charset="-128"/>
              </a:rPr>
              <a:t>His followers, joined to Him by the Spirit, become living witnesses of that same faithfulness - serving, giving, forgiving, and suffering as He did.</a:t>
            </a:r>
          </a:p>
        </p:txBody>
      </p:sp>
      <p:graphicFrame>
        <p:nvGraphicFramePr>
          <p:cNvPr id="4" name="Table 3">
            <a:extLst>
              <a:ext uri="{FF2B5EF4-FFF2-40B4-BE49-F238E27FC236}">
                <a16:creationId xmlns:a16="http://schemas.microsoft.com/office/drawing/2014/main" id="{95E97948-F0F2-1D0C-46F4-4EB026D73C18}"/>
              </a:ext>
            </a:extLst>
          </p:cNvPr>
          <p:cNvGraphicFramePr>
            <a:graphicFrameLocks noGrp="1"/>
          </p:cNvGraphicFramePr>
          <p:nvPr>
            <p:extLst>
              <p:ext uri="{D42A27DB-BD31-4B8C-83A1-F6EECF244321}">
                <p14:modId xmlns:p14="http://schemas.microsoft.com/office/powerpoint/2010/main" val="3560103104"/>
              </p:ext>
            </p:extLst>
          </p:nvPr>
        </p:nvGraphicFramePr>
        <p:xfrm>
          <a:off x="314325" y="1186815"/>
          <a:ext cx="8420100" cy="3627120"/>
        </p:xfrm>
        <a:graphic>
          <a:graphicData uri="http://schemas.openxmlformats.org/drawingml/2006/table">
            <a:tbl>
              <a:tblPr firstRow="1" bandRow="1">
                <a:tableStyleId>{D113A9D2-9D6B-4929-AA2D-F23B5EE8CBE7}</a:tableStyleId>
              </a:tblPr>
              <a:tblGrid>
                <a:gridCol w="2324100">
                  <a:extLst>
                    <a:ext uri="{9D8B030D-6E8A-4147-A177-3AD203B41FA5}">
                      <a16:colId xmlns:a16="http://schemas.microsoft.com/office/drawing/2014/main" val="1497120512"/>
                    </a:ext>
                  </a:extLst>
                </a:gridCol>
                <a:gridCol w="2895600">
                  <a:extLst>
                    <a:ext uri="{9D8B030D-6E8A-4147-A177-3AD203B41FA5}">
                      <a16:colId xmlns:a16="http://schemas.microsoft.com/office/drawing/2014/main" val="3099511716"/>
                    </a:ext>
                  </a:extLst>
                </a:gridCol>
                <a:gridCol w="3200400">
                  <a:extLst>
                    <a:ext uri="{9D8B030D-6E8A-4147-A177-3AD203B41FA5}">
                      <a16:colId xmlns:a16="http://schemas.microsoft.com/office/drawing/2014/main" val="575035972"/>
                    </a:ext>
                  </a:extLst>
                </a:gridCol>
              </a:tblGrid>
              <a:tr h="370840">
                <a:tc>
                  <a:txBody>
                    <a:bodyPr/>
                    <a:lstStyle/>
                    <a:p>
                      <a:pPr marL="0" marR="0" fontAlgn="t">
                        <a:buNone/>
                      </a:pPr>
                      <a:r>
                        <a:rPr lang="en-US" sz="1800" b="1" dirty="0">
                          <a:effectLst/>
                          <a:latin typeface="Calibri" panose="020F0502020204030204" pitchFamily="34" charset="0"/>
                        </a:rPr>
                        <a:t>Theme</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b="1" dirty="0">
                          <a:effectLst/>
                          <a:latin typeface="Calibri" panose="020F0502020204030204" pitchFamily="34" charset="0"/>
                        </a:rPr>
                        <a:t>Old Covenant Concept</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b="1" dirty="0">
                          <a:effectLst/>
                          <a:latin typeface="Calibri" panose="020F0502020204030204" pitchFamily="34" charset="0"/>
                        </a:rPr>
                        <a:t>Apostolic Fulfillment in Messiah</a:t>
                      </a:r>
                      <a:endParaRPr lang="en-US" sz="18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1159816265"/>
                  </a:ext>
                </a:extLst>
              </a:tr>
              <a:tr h="370840">
                <a:tc>
                  <a:txBody>
                    <a:bodyPr/>
                    <a:lstStyle/>
                    <a:p>
                      <a:pPr marL="0" marR="0" fontAlgn="t">
                        <a:buNone/>
                      </a:pPr>
                      <a:r>
                        <a:rPr lang="en-US" sz="1800" b="1" dirty="0">
                          <a:effectLst/>
                          <a:latin typeface="Calibri" panose="020F0502020204030204" pitchFamily="34" charset="0"/>
                        </a:rPr>
                        <a:t>ḥesed (Steadfast Love)</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a:effectLst/>
                          <a:latin typeface="Calibri" panose="020F0502020204030204" pitchFamily="34" charset="0"/>
                        </a:rPr>
                        <a:t>God’s loyal faithfulness to Israel</a:t>
                      </a:r>
                    </a:p>
                  </a:txBody>
                  <a:tcPr marL="50800" marR="50800" marT="50800" marB="50800"/>
                </a:tc>
                <a:tc>
                  <a:txBody>
                    <a:bodyPr/>
                    <a:lstStyle/>
                    <a:p>
                      <a:pPr marL="0" marR="0" fontAlgn="t">
                        <a:buNone/>
                      </a:pPr>
                      <a:r>
                        <a:rPr lang="en-US" sz="1800" dirty="0">
                          <a:effectLst/>
                          <a:latin typeface="Calibri" panose="020F0502020204030204" pitchFamily="34" charset="0"/>
                        </a:rPr>
                        <a:t>Christ’s faithful obedience unto death; believers now embody it</a:t>
                      </a:r>
                    </a:p>
                  </a:txBody>
                  <a:tcPr marL="50800" marR="50800" marT="50800" marB="50800"/>
                </a:tc>
                <a:extLst>
                  <a:ext uri="{0D108BD9-81ED-4DB2-BD59-A6C34878D82A}">
                    <a16:rowId xmlns:a16="http://schemas.microsoft.com/office/drawing/2014/main" val="2764759871"/>
                  </a:ext>
                </a:extLst>
              </a:tr>
              <a:tr h="370840">
                <a:tc>
                  <a:txBody>
                    <a:bodyPr/>
                    <a:lstStyle/>
                    <a:p>
                      <a:pPr marL="0" marR="0" fontAlgn="t">
                        <a:buNone/>
                      </a:pPr>
                      <a:r>
                        <a:rPr lang="en-US" sz="1800" b="1" dirty="0">
                          <a:effectLst/>
                          <a:latin typeface="Calibri" panose="020F0502020204030204" pitchFamily="34" charset="0"/>
                        </a:rPr>
                        <a:t>Servant/Slave</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dirty="0">
                          <a:effectLst/>
                          <a:latin typeface="Calibri" panose="020F0502020204030204" pitchFamily="34" charset="0"/>
                        </a:rPr>
                        <a:t>One bound by covenant duty</a:t>
                      </a:r>
                    </a:p>
                  </a:txBody>
                  <a:tcPr marL="50800" marR="50800" marT="50800" marB="50800"/>
                </a:tc>
                <a:tc>
                  <a:txBody>
                    <a:bodyPr/>
                    <a:lstStyle/>
                    <a:p>
                      <a:pPr marL="0" marR="0" fontAlgn="t">
                        <a:buNone/>
                      </a:pPr>
                      <a:r>
                        <a:rPr lang="en-US" sz="1800" dirty="0">
                          <a:effectLst/>
                          <a:latin typeface="Calibri" panose="020F0502020204030204" pitchFamily="34" charset="0"/>
                        </a:rPr>
                        <a:t>One who freely serves out of Christ-like love</a:t>
                      </a:r>
                    </a:p>
                  </a:txBody>
                  <a:tcPr marL="50800" marR="50800" marT="50800" marB="50800"/>
                </a:tc>
                <a:extLst>
                  <a:ext uri="{0D108BD9-81ED-4DB2-BD59-A6C34878D82A}">
                    <a16:rowId xmlns:a16="http://schemas.microsoft.com/office/drawing/2014/main" val="3205901062"/>
                  </a:ext>
                </a:extLst>
              </a:tr>
              <a:tr h="370840">
                <a:tc>
                  <a:txBody>
                    <a:bodyPr/>
                    <a:lstStyle/>
                    <a:p>
                      <a:pPr marL="0" marR="0" fontAlgn="t">
                        <a:buNone/>
                      </a:pPr>
                      <a:r>
                        <a:rPr lang="en-US" sz="1800" b="1" dirty="0">
                          <a:effectLst/>
                          <a:latin typeface="Calibri" panose="020F0502020204030204" pitchFamily="34" charset="0"/>
                        </a:rPr>
                        <a:t>Moral Measure</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dirty="0">
                          <a:effectLst/>
                          <a:latin typeface="Calibri" panose="020F0502020204030204" pitchFamily="34" charset="0"/>
                        </a:rPr>
                        <a:t>Law as external standard</a:t>
                      </a:r>
                    </a:p>
                  </a:txBody>
                  <a:tcPr marL="50800" marR="50800" marT="50800" marB="50800"/>
                </a:tc>
                <a:tc>
                  <a:txBody>
                    <a:bodyPr/>
                    <a:lstStyle/>
                    <a:p>
                      <a:pPr marL="0" marR="0" fontAlgn="t">
                        <a:buNone/>
                      </a:pPr>
                      <a:r>
                        <a:rPr lang="en-US" sz="1800">
                          <a:effectLst/>
                          <a:latin typeface="Calibri" panose="020F0502020204030204" pitchFamily="34" charset="0"/>
                        </a:rPr>
                        <a:t>Jesus Himself as living standard (“as He is”)</a:t>
                      </a:r>
                    </a:p>
                  </a:txBody>
                  <a:tcPr marL="50800" marR="50800" marT="50800" marB="50800"/>
                </a:tc>
                <a:extLst>
                  <a:ext uri="{0D108BD9-81ED-4DB2-BD59-A6C34878D82A}">
                    <a16:rowId xmlns:a16="http://schemas.microsoft.com/office/drawing/2014/main" val="1661330567"/>
                  </a:ext>
                </a:extLst>
              </a:tr>
              <a:tr h="370840">
                <a:tc>
                  <a:txBody>
                    <a:bodyPr/>
                    <a:lstStyle/>
                    <a:p>
                      <a:pPr marL="0" marR="0" fontAlgn="t">
                        <a:buNone/>
                      </a:pPr>
                      <a:r>
                        <a:rPr lang="en-US" sz="1800" b="1" dirty="0">
                          <a:effectLst/>
                          <a:latin typeface="Calibri" panose="020F0502020204030204" pitchFamily="34" charset="0"/>
                        </a:rPr>
                        <a:t>Community Ethic</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dirty="0">
                          <a:effectLst/>
                          <a:latin typeface="Calibri" panose="020F0502020204030204" pitchFamily="34" charset="0"/>
                        </a:rPr>
                        <a:t>Neighbor love (Lev 19:18)</a:t>
                      </a:r>
                    </a:p>
                  </a:txBody>
                  <a:tcPr marL="50800" marR="50800" marT="50800" marB="50800"/>
                </a:tc>
                <a:tc>
                  <a:txBody>
                    <a:bodyPr/>
                    <a:lstStyle/>
                    <a:p>
                      <a:pPr marL="0" marR="0" fontAlgn="t">
                        <a:buNone/>
                      </a:pPr>
                      <a:r>
                        <a:rPr lang="en-US" sz="1800" dirty="0">
                          <a:effectLst/>
                          <a:latin typeface="Calibri" panose="020F0502020204030204" pitchFamily="34" charset="0"/>
                        </a:rPr>
                        <a:t>Mutual service and honor (“one another”)</a:t>
                      </a:r>
                    </a:p>
                  </a:txBody>
                  <a:tcPr marL="50800" marR="50800" marT="50800" marB="50800"/>
                </a:tc>
                <a:extLst>
                  <a:ext uri="{0D108BD9-81ED-4DB2-BD59-A6C34878D82A}">
                    <a16:rowId xmlns:a16="http://schemas.microsoft.com/office/drawing/2014/main" val="87974292"/>
                  </a:ext>
                </a:extLst>
              </a:tr>
              <a:tr h="370840">
                <a:tc>
                  <a:txBody>
                    <a:bodyPr/>
                    <a:lstStyle/>
                    <a:p>
                      <a:pPr marL="0" marR="0" fontAlgn="t">
                        <a:buNone/>
                      </a:pPr>
                      <a:r>
                        <a:rPr lang="en-US" sz="1800" b="1" dirty="0">
                          <a:effectLst/>
                          <a:latin typeface="Calibri" panose="020F0502020204030204" pitchFamily="34" charset="0"/>
                        </a:rPr>
                        <a:t>Covenant Sign</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dirty="0">
                          <a:effectLst/>
                          <a:latin typeface="Calibri" panose="020F0502020204030204" pitchFamily="34" charset="0"/>
                        </a:rPr>
                        <a:t>Circumcision, ritual</a:t>
                      </a:r>
                    </a:p>
                  </a:txBody>
                  <a:tcPr marL="50800" marR="50800" marT="50800" marB="50800"/>
                </a:tc>
                <a:tc>
                  <a:txBody>
                    <a:bodyPr/>
                    <a:lstStyle/>
                    <a:p>
                      <a:pPr marL="0" marR="0" fontAlgn="t">
                        <a:buNone/>
                      </a:pPr>
                      <a:r>
                        <a:rPr lang="en-US" sz="1800" dirty="0">
                          <a:effectLst/>
                          <a:latin typeface="Calibri" panose="020F0502020204030204" pitchFamily="34" charset="0"/>
                        </a:rPr>
                        <a:t>Self-giving love shown in action (John 13:35)</a:t>
                      </a:r>
                    </a:p>
                  </a:txBody>
                  <a:tcPr marL="50800" marR="50800" marT="50800" marB="50800"/>
                </a:tc>
                <a:extLst>
                  <a:ext uri="{0D108BD9-81ED-4DB2-BD59-A6C34878D82A}">
                    <a16:rowId xmlns:a16="http://schemas.microsoft.com/office/drawing/2014/main" val="2706987946"/>
                  </a:ext>
                </a:extLst>
              </a:tr>
            </a:tbl>
          </a:graphicData>
        </a:graphic>
      </p:graphicFrame>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64DAE-C1D2-81A6-DDF0-E0506D65CB2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CF8D915-90DC-6DE0-AF1C-D035542598F4}"/>
              </a:ext>
            </a:extLst>
          </p:cNvPr>
          <p:cNvSpPr txBox="1">
            <a:spLocks/>
          </p:cNvSpPr>
          <p:nvPr/>
        </p:nvSpPr>
        <p:spPr bwMode="auto">
          <a:xfrm>
            <a:off x="228600" y="0"/>
            <a:ext cx="8382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600" dirty="0"/>
              <a:t>Apostolic Theology</a:t>
            </a:r>
            <a:br>
              <a:rPr lang="en-US" sz="4400" dirty="0"/>
            </a:br>
            <a:r>
              <a:rPr lang="en-US" sz="3600" dirty="0">
                <a:solidFill>
                  <a:schemeClr val="tx2">
                    <a:lumMod val="60000"/>
                    <a:lumOff val="40000"/>
                  </a:schemeClr>
                </a:solidFill>
              </a:rPr>
              <a:t>The heart of ḥesed as the Apostles understood it…</a:t>
            </a:r>
            <a:endParaRPr lang="en-US" sz="4800" dirty="0">
              <a:solidFill>
                <a:schemeClr val="tx2">
                  <a:lumMod val="60000"/>
                  <a:lumOff val="40000"/>
                </a:schemeClr>
              </a:solidFill>
            </a:endParaRPr>
          </a:p>
        </p:txBody>
      </p:sp>
      <p:sp>
        <p:nvSpPr>
          <p:cNvPr id="3" name="TextBox 2">
            <a:extLst>
              <a:ext uri="{FF2B5EF4-FFF2-40B4-BE49-F238E27FC236}">
                <a16:creationId xmlns:a16="http://schemas.microsoft.com/office/drawing/2014/main" id="{11B5DBD3-E6B6-D0F6-2BA3-B517EA60C5D7}"/>
              </a:ext>
            </a:extLst>
          </p:cNvPr>
          <p:cNvSpPr txBox="1"/>
          <p:nvPr/>
        </p:nvSpPr>
        <p:spPr>
          <a:xfrm>
            <a:off x="228600" y="933450"/>
            <a:ext cx="8534400" cy="5632311"/>
          </a:xfrm>
          <a:prstGeom prst="rect">
            <a:avLst/>
          </a:prstGeom>
          <a:noFill/>
        </p:spPr>
        <p:txBody>
          <a:bodyPr wrap="square" rtlCol="0">
            <a:spAutoFit/>
          </a:bodyPr>
          <a:lstStyle/>
          <a:p>
            <a:r>
              <a:rPr lang="en-US" sz="2000" b="1" dirty="0"/>
              <a:t>ḥesed becomes incarnate in Christ</a:t>
            </a:r>
          </a:p>
          <a:p>
            <a:endParaRPr lang="en-US" sz="2000" dirty="0"/>
          </a:p>
          <a:p>
            <a:pPr marL="285750" indent="-285750">
              <a:buFont typeface="Arial" panose="020B0604020202020204" pitchFamily="34" charset="0"/>
              <a:buChar char="•"/>
            </a:pPr>
            <a:r>
              <a:rPr lang="en-US" sz="2000" i="1" dirty="0"/>
              <a:t>ḥesed</a:t>
            </a:r>
            <a:r>
              <a:rPr lang="en-US" sz="2000" dirty="0"/>
              <a:t> describes God’s </a:t>
            </a:r>
            <a:r>
              <a:rPr lang="en-US" sz="2000" i="1" dirty="0"/>
              <a:t>steadfast love - his covenant loyalty, mercy, and faithfulness</a:t>
            </a:r>
            <a:r>
              <a:rPr lang="en-US" sz="2000" dirty="0"/>
              <a:t>. in Jesus, that word took on flesh.</a:t>
            </a:r>
          </a:p>
          <a:p>
            <a:endParaRPr lang="en-US" sz="2000" dirty="0"/>
          </a:p>
          <a:p>
            <a:pPr marL="285750" indent="-285750">
              <a:buFont typeface="Arial" panose="020B0604020202020204" pitchFamily="34" charset="0"/>
              <a:buChar char="•"/>
            </a:pPr>
            <a:r>
              <a:rPr lang="en-US" sz="2000" dirty="0"/>
              <a:t>His life defined what </a:t>
            </a:r>
            <a:r>
              <a:rPr lang="en-US" sz="2000" i="1" dirty="0"/>
              <a:t>ḥesed</a:t>
            </a:r>
            <a:r>
              <a:rPr lang="en-US" sz="2000" dirty="0"/>
              <a:t> looks like when embodied: compassion that serves, truth that acts, loyalty that sacrifices.</a:t>
            </a:r>
          </a:p>
          <a:p>
            <a:endParaRPr lang="en-US" sz="2000" dirty="0"/>
          </a:p>
          <a:p>
            <a:pPr marL="285750" indent="-285750">
              <a:buFont typeface="Arial" panose="020B0604020202020204" pitchFamily="34" charset="0"/>
              <a:buChar char="•"/>
            </a:pPr>
            <a:r>
              <a:rPr lang="en-US" sz="2000" dirty="0"/>
              <a:t>When the apostles looked at Jesus, they saw not just a teacher but the full revelation of God’s </a:t>
            </a:r>
            <a:r>
              <a:rPr lang="en-US" sz="2000" i="1" dirty="0" err="1"/>
              <a:t>ḥesed</a:t>
            </a:r>
            <a:r>
              <a:rPr lang="en-US" sz="2000" dirty="0"/>
              <a:t>.</a:t>
            </a:r>
          </a:p>
          <a:p>
            <a:endParaRPr lang="en-US" sz="2000" dirty="0"/>
          </a:p>
          <a:p>
            <a:pPr marL="285750" indent="-285750">
              <a:buFont typeface="Arial" panose="020B0604020202020204" pitchFamily="34" charset="0"/>
              <a:buChar char="•"/>
            </a:pPr>
            <a:r>
              <a:rPr lang="en-US" sz="2000" i="1" dirty="0"/>
              <a:t>“For the law was given through Moses, but grace and truth came through Jesus Christ.” </a:t>
            </a:r>
            <a:r>
              <a:rPr lang="en-US" sz="2000" dirty="0"/>
              <a:t>(</a:t>
            </a:r>
            <a:r>
              <a:rPr lang="en-US" sz="2000" b="1" dirty="0"/>
              <a:t>John 1:17</a:t>
            </a:r>
            <a:r>
              <a:rPr lang="en-US" sz="2000" dirty="0"/>
              <a:t>)</a:t>
            </a:r>
          </a:p>
          <a:p>
            <a:endParaRPr lang="en-US" sz="2000" dirty="0"/>
          </a:p>
          <a:p>
            <a:pPr marL="285750" indent="-285750">
              <a:buFont typeface="Arial" panose="020B0604020202020204" pitchFamily="34" charset="0"/>
              <a:buChar char="•"/>
            </a:pPr>
            <a:r>
              <a:rPr lang="en-US" sz="2000" dirty="0"/>
              <a:t>That phrase “grace and truth” echoes the Hebrew pair </a:t>
            </a:r>
            <a:r>
              <a:rPr lang="en-US" sz="2000" b="1" i="1" dirty="0" err="1"/>
              <a:t>ḥesed</a:t>
            </a:r>
            <a:r>
              <a:rPr lang="en-US" sz="2000" b="1" i="1" dirty="0"/>
              <a:t> </a:t>
            </a:r>
            <a:r>
              <a:rPr lang="en-US" sz="2000" b="1" i="1" dirty="0" err="1"/>
              <a:t>wʾemet</a:t>
            </a:r>
            <a:r>
              <a:rPr lang="en-US" sz="2000" i="1" dirty="0"/>
              <a:t>, </a:t>
            </a:r>
            <a:r>
              <a:rPr lang="en-US" sz="2000" dirty="0"/>
              <a:t> “</a:t>
            </a:r>
            <a:r>
              <a:rPr lang="en-US" sz="2000" b="1" i="1" dirty="0"/>
              <a:t>steadfast love and faithfulness</a:t>
            </a:r>
            <a:r>
              <a:rPr lang="en-US" sz="2000" dirty="0"/>
              <a:t>.”</a:t>
            </a:r>
          </a:p>
          <a:p>
            <a:endParaRPr lang="en-US" sz="2000" dirty="0"/>
          </a:p>
          <a:p>
            <a:pPr marL="285750" indent="-285750">
              <a:buFont typeface="Arial" panose="020B0604020202020204" pitchFamily="34" charset="0"/>
              <a:buChar char="•"/>
            </a:pPr>
            <a:r>
              <a:rPr lang="en-US" sz="2000" b="1" dirty="0"/>
              <a:t>Jesus is God’s covenant love walking among men.</a:t>
            </a:r>
          </a:p>
        </p:txBody>
      </p:sp>
    </p:spTree>
    <p:extLst>
      <p:ext uri="{BB962C8B-B14F-4D97-AF65-F5344CB8AC3E}">
        <p14:creationId xmlns:p14="http://schemas.microsoft.com/office/powerpoint/2010/main" val="3423850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1000"/>
                                        <p:tgtEl>
                                          <p:spTgt spid="3">
                                            <p:txEl>
                                              <p:pRg st="6" end="6"/>
                                            </p:txEl>
                                          </p:spTgt>
                                        </p:tgtEl>
                                      </p:cBhvr>
                                    </p:animEffect>
                                    <p:anim calcmode="lin" valueType="num">
                                      <p:cBhvr>
                                        <p:cTn id="2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1000"/>
                                        <p:tgtEl>
                                          <p:spTgt spid="3">
                                            <p:txEl>
                                              <p:pRg st="8" end="8"/>
                                            </p:txEl>
                                          </p:spTgt>
                                        </p:tgtEl>
                                      </p:cBhvr>
                                    </p:animEffect>
                                    <p:anim calcmode="lin" valueType="num">
                                      <p:cBhvr>
                                        <p:cTn id="2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1000"/>
                                        <p:tgtEl>
                                          <p:spTgt spid="3">
                                            <p:txEl>
                                              <p:pRg st="10" end="10"/>
                                            </p:txEl>
                                          </p:spTgt>
                                        </p:tgtEl>
                                      </p:cBhvr>
                                    </p:animEffect>
                                    <p:anim calcmode="lin" valueType="num">
                                      <p:cBhvr>
                                        <p:cTn id="3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1000"/>
                                        <p:tgtEl>
                                          <p:spTgt spid="3">
                                            <p:txEl>
                                              <p:pRg st="12" end="12"/>
                                            </p:txEl>
                                          </p:spTgt>
                                        </p:tgtEl>
                                      </p:cBhvr>
                                    </p:animEffect>
                                    <p:anim calcmode="lin" valueType="num">
                                      <p:cBhvr>
                                        <p:cTn id="43"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5CE08-A15C-823A-1049-F5CE3371E00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5C80EBB-56FD-D26B-DC80-ABE4A826F8A2}"/>
              </a:ext>
            </a:extLst>
          </p:cNvPr>
          <p:cNvSpPr txBox="1">
            <a:spLocks/>
          </p:cNvSpPr>
          <p:nvPr/>
        </p:nvSpPr>
        <p:spPr bwMode="auto">
          <a:xfrm>
            <a:off x="228600" y="0"/>
            <a:ext cx="8686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Apostolic Theology</a:t>
            </a:r>
            <a:br>
              <a:rPr lang="en-US" sz="4400" dirty="0"/>
            </a:br>
            <a:r>
              <a:rPr lang="en-US" sz="3100" dirty="0">
                <a:solidFill>
                  <a:schemeClr val="tx2">
                    <a:lumMod val="60000"/>
                    <a:lumOff val="40000"/>
                  </a:schemeClr>
                </a:solidFill>
              </a:rPr>
              <a:t>The heart of ḥesed as the Apostles understood it…</a:t>
            </a:r>
            <a:endParaRPr lang="en-US" sz="4800" dirty="0">
              <a:solidFill>
                <a:schemeClr val="tx2">
                  <a:lumMod val="60000"/>
                  <a:lumOff val="40000"/>
                </a:schemeClr>
              </a:solidFill>
            </a:endParaRPr>
          </a:p>
        </p:txBody>
      </p:sp>
      <p:sp>
        <p:nvSpPr>
          <p:cNvPr id="3" name="TextBox 2">
            <a:extLst>
              <a:ext uri="{FF2B5EF4-FFF2-40B4-BE49-F238E27FC236}">
                <a16:creationId xmlns:a16="http://schemas.microsoft.com/office/drawing/2014/main" id="{C074DF6E-0055-D375-E7AC-54CA38C4C8EF}"/>
              </a:ext>
            </a:extLst>
          </p:cNvPr>
          <p:cNvSpPr txBox="1"/>
          <p:nvPr/>
        </p:nvSpPr>
        <p:spPr>
          <a:xfrm>
            <a:off x="228600" y="923925"/>
            <a:ext cx="8534400" cy="5632311"/>
          </a:xfrm>
          <a:prstGeom prst="rect">
            <a:avLst/>
          </a:prstGeom>
          <a:noFill/>
        </p:spPr>
        <p:txBody>
          <a:bodyPr wrap="square" rtlCol="0">
            <a:spAutoFit/>
          </a:bodyPr>
          <a:lstStyle/>
          <a:p>
            <a:r>
              <a:rPr lang="en-US" b="1" dirty="0"/>
              <a:t>The Apostles reinterpreted “service” through the lens of </a:t>
            </a:r>
            <a:r>
              <a:rPr lang="en-US" b="1" dirty="0" err="1"/>
              <a:t>ḥesed</a:t>
            </a:r>
            <a:endParaRPr lang="en-US" b="1" dirty="0"/>
          </a:p>
          <a:p>
            <a:endParaRPr lang="en-US" dirty="0"/>
          </a:p>
          <a:p>
            <a:pPr marL="285750" indent="-285750">
              <a:buFont typeface="Arial" panose="020B0604020202020204" pitchFamily="34" charset="0"/>
              <a:buChar char="•"/>
            </a:pPr>
            <a:r>
              <a:rPr lang="en-US" dirty="0"/>
              <a:t>In Roman society, a </a:t>
            </a:r>
            <a:r>
              <a:rPr lang="en-US" b="1" dirty="0"/>
              <a:t>slave</a:t>
            </a:r>
            <a:r>
              <a:rPr lang="en-US" dirty="0"/>
              <a:t> or </a:t>
            </a:r>
            <a:r>
              <a:rPr lang="en-US" b="1" dirty="0"/>
              <a:t>servant</a:t>
            </a:r>
            <a:r>
              <a:rPr lang="en-US" dirty="0"/>
              <a:t> held no honor. But the apostles turned the idea upside down.</a:t>
            </a:r>
          </a:p>
          <a:p>
            <a:endParaRPr lang="en-US" dirty="0"/>
          </a:p>
          <a:p>
            <a:pPr marL="285750" indent="-285750" fontAlgn="ctr">
              <a:buFont typeface="Arial" panose="020B0604020202020204" pitchFamily="34" charset="0"/>
              <a:buChar char="•"/>
            </a:pPr>
            <a:r>
              <a:rPr lang="en-US" b="1" dirty="0"/>
              <a:t>Jesus</a:t>
            </a:r>
            <a:r>
              <a:rPr lang="en-US" dirty="0"/>
              <a:t> said, </a:t>
            </a:r>
            <a:r>
              <a:rPr lang="en-US" i="1" dirty="0"/>
              <a:t>“Whoever wants to be first among you must be slave of all.” </a:t>
            </a:r>
            <a:r>
              <a:rPr lang="en-US" dirty="0"/>
              <a:t>(</a:t>
            </a:r>
            <a:r>
              <a:rPr lang="en-US" b="1" dirty="0"/>
              <a:t>Mark 10:44</a:t>
            </a:r>
            <a:r>
              <a:rPr lang="en-US" dirty="0"/>
              <a:t>)</a:t>
            </a:r>
          </a:p>
          <a:p>
            <a:pPr fontAlgn="ctr"/>
            <a:endParaRPr lang="en-US" dirty="0"/>
          </a:p>
          <a:p>
            <a:pPr marL="285750" indent="-285750" fontAlgn="ctr">
              <a:buFont typeface="Arial" panose="020B0604020202020204" pitchFamily="34" charset="0"/>
              <a:buChar char="•"/>
            </a:pPr>
            <a:r>
              <a:rPr lang="en-US" b="1" dirty="0"/>
              <a:t>Paul</a:t>
            </a:r>
            <a:r>
              <a:rPr lang="en-US" dirty="0"/>
              <a:t> called himself “</a:t>
            </a:r>
            <a:r>
              <a:rPr lang="en-US" i="1" dirty="0"/>
              <a:t>a slave of Christ Jesus</a:t>
            </a:r>
            <a:r>
              <a:rPr lang="en-US" dirty="0"/>
              <a:t>.” (</a:t>
            </a:r>
            <a:r>
              <a:rPr lang="en-US" b="1" dirty="0"/>
              <a:t>Romans 1:1</a:t>
            </a:r>
            <a:r>
              <a:rPr lang="en-US" dirty="0"/>
              <a:t>)</a:t>
            </a:r>
          </a:p>
          <a:p>
            <a:pPr fontAlgn="ctr"/>
            <a:endParaRPr lang="en-US" dirty="0"/>
          </a:p>
          <a:p>
            <a:pPr marL="285750" indent="-285750" fontAlgn="ctr">
              <a:buFont typeface="Arial" panose="020B0604020202020204" pitchFamily="34" charset="0"/>
              <a:buChar char="•"/>
            </a:pPr>
            <a:r>
              <a:rPr lang="en-US" b="1" dirty="0"/>
              <a:t>Peter</a:t>
            </a:r>
            <a:r>
              <a:rPr lang="en-US" dirty="0"/>
              <a:t> told believers to “</a:t>
            </a:r>
            <a:r>
              <a:rPr lang="en-US" i="1" dirty="0"/>
              <a:t>use your freedom to serve one another</a:t>
            </a:r>
            <a:r>
              <a:rPr lang="en-US" dirty="0"/>
              <a:t>.” (</a:t>
            </a:r>
            <a:r>
              <a:rPr lang="en-US" b="1" dirty="0"/>
              <a:t>1 Pet 2:16</a:t>
            </a:r>
            <a:r>
              <a:rPr lang="en-US" dirty="0"/>
              <a:t>)</a:t>
            </a:r>
          </a:p>
          <a:p>
            <a:pPr fontAlgn="ctr"/>
            <a:endParaRPr lang="en-US" dirty="0"/>
          </a:p>
          <a:p>
            <a:pPr marL="285750" indent="-285750">
              <a:buFont typeface="Arial" panose="020B0604020202020204" pitchFamily="34" charset="0"/>
              <a:buChar char="•"/>
            </a:pPr>
            <a:r>
              <a:rPr lang="en-US" dirty="0"/>
              <a:t>This wasn’t humiliation for its own sake. it was the </a:t>
            </a:r>
            <a:r>
              <a:rPr lang="en-US" i="1" dirty="0"/>
              <a:t>ḥesed</a:t>
            </a:r>
            <a:r>
              <a:rPr lang="en-US" dirty="0"/>
              <a:t> way - love that puts the other’s good above self, because that’s what Christ did.</a:t>
            </a:r>
          </a:p>
          <a:p>
            <a:endParaRPr lang="en-US" dirty="0"/>
          </a:p>
          <a:p>
            <a:pPr marL="285750" indent="-285750">
              <a:buFont typeface="Arial" panose="020B0604020202020204" pitchFamily="34" charset="0"/>
              <a:buChar char="•"/>
            </a:pPr>
            <a:r>
              <a:rPr lang="en-US" dirty="0"/>
              <a:t>To serve as Jesus served is to practice </a:t>
            </a:r>
            <a:r>
              <a:rPr lang="en-US" u="sng" dirty="0"/>
              <a:t>covenant faithfulness</a:t>
            </a:r>
            <a:r>
              <a:rPr lang="en-US" dirty="0"/>
              <a:t> inside the new </a:t>
            </a:r>
            <a:r>
              <a:rPr lang="en-US" u="sng" dirty="0"/>
              <a:t>covenant family</a:t>
            </a:r>
            <a:r>
              <a:rPr lang="en-US" dirty="0"/>
              <a:t>.</a:t>
            </a:r>
          </a:p>
          <a:p>
            <a:endParaRPr lang="en-US" dirty="0"/>
          </a:p>
          <a:p>
            <a:pPr marL="285750" indent="-285750">
              <a:buFont typeface="Arial" panose="020B0604020202020204" pitchFamily="34" charset="0"/>
              <a:buChar char="•"/>
            </a:pPr>
            <a:r>
              <a:rPr lang="en-US" dirty="0"/>
              <a:t>So when believers act as </a:t>
            </a:r>
            <a:r>
              <a:rPr lang="en-US" b="1" dirty="0"/>
              <a:t>stewards</a:t>
            </a:r>
            <a:r>
              <a:rPr lang="en-US" dirty="0"/>
              <a:t>, </a:t>
            </a:r>
            <a:r>
              <a:rPr lang="en-US" b="1" dirty="0"/>
              <a:t>servants</a:t>
            </a:r>
            <a:r>
              <a:rPr lang="en-US" dirty="0"/>
              <a:t>, or </a:t>
            </a:r>
            <a:r>
              <a:rPr lang="en-US" b="1" dirty="0"/>
              <a:t>slaves</a:t>
            </a:r>
            <a:r>
              <a:rPr lang="en-US" dirty="0"/>
              <a:t>, they’re living out </a:t>
            </a:r>
            <a:r>
              <a:rPr lang="en-US" u="sng" dirty="0"/>
              <a:t>divine loyalty</a:t>
            </a:r>
            <a:r>
              <a:rPr lang="en-US" dirty="0"/>
              <a:t> - the practical expression of </a:t>
            </a:r>
            <a:r>
              <a:rPr lang="en-US" i="1" dirty="0"/>
              <a:t>ḥesed</a:t>
            </a:r>
            <a:r>
              <a:rPr lang="en-US" dirty="0"/>
              <a:t>.</a:t>
            </a:r>
          </a:p>
        </p:txBody>
      </p:sp>
    </p:spTree>
    <p:extLst>
      <p:ext uri="{BB962C8B-B14F-4D97-AF65-F5344CB8AC3E}">
        <p14:creationId xmlns:p14="http://schemas.microsoft.com/office/powerpoint/2010/main" val="215100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1000"/>
                                        <p:tgtEl>
                                          <p:spTgt spid="3">
                                            <p:txEl>
                                              <p:pRg st="6" end="6"/>
                                            </p:txEl>
                                          </p:spTgt>
                                        </p:tgtEl>
                                      </p:cBhvr>
                                    </p:animEffect>
                                    <p:anim calcmode="lin" valueType="num">
                                      <p:cBhvr>
                                        <p:cTn id="2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1000"/>
                                        <p:tgtEl>
                                          <p:spTgt spid="3">
                                            <p:txEl>
                                              <p:pRg st="8" end="8"/>
                                            </p:txEl>
                                          </p:spTgt>
                                        </p:tgtEl>
                                      </p:cBhvr>
                                    </p:animEffect>
                                    <p:anim calcmode="lin" valueType="num">
                                      <p:cBhvr>
                                        <p:cTn id="2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1000"/>
                                        <p:tgtEl>
                                          <p:spTgt spid="3">
                                            <p:txEl>
                                              <p:pRg st="10" end="10"/>
                                            </p:txEl>
                                          </p:spTgt>
                                        </p:tgtEl>
                                      </p:cBhvr>
                                    </p:animEffect>
                                    <p:anim calcmode="lin" valueType="num">
                                      <p:cBhvr>
                                        <p:cTn id="3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1000"/>
                                        <p:tgtEl>
                                          <p:spTgt spid="3">
                                            <p:txEl>
                                              <p:pRg st="12" end="12"/>
                                            </p:txEl>
                                          </p:spTgt>
                                        </p:tgtEl>
                                      </p:cBhvr>
                                    </p:animEffect>
                                    <p:anim calcmode="lin" valueType="num">
                                      <p:cBhvr>
                                        <p:cTn id="43"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animEffect transition="in" filter="fade">
                                      <p:cBhvr>
                                        <p:cTn id="49" dur="1000"/>
                                        <p:tgtEl>
                                          <p:spTgt spid="3">
                                            <p:txEl>
                                              <p:pRg st="14" end="14"/>
                                            </p:txEl>
                                          </p:spTgt>
                                        </p:tgtEl>
                                      </p:cBhvr>
                                    </p:animEffect>
                                    <p:anim calcmode="lin" valueType="num">
                                      <p:cBhvr>
                                        <p:cTn id="50"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FCBD3-5DDB-1EA5-FE78-0F79047F19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24B8E8-E6A3-071A-0BEF-D460949724C3}"/>
              </a:ext>
            </a:extLst>
          </p:cNvPr>
          <p:cNvSpPr txBox="1"/>
          <p:nvPr/>
        </p:nvSpPr>
        <p:spPr>
          <a:xfrm>
            <a:off x="304800" y="914400"/>
            <a:ext cx="8763000" cy="5909310"/>
          </a:xfrm>
          <a:prstGeom prst="rect">
            <a:avLst/>
          </a:prstGeom>
          <a:noFill/>
        </p:spPr>
        <p:txBody>
          <a:bodyPr wrap="square" rtlCol="0">
            <a:spAutoFit/>
          </a:bodyPr>
          <a:lstStyle/>
          <a:p>
            <a:r>
              <a:rPr lang="en-US" b="1" dirty="0"/>
              <a:t>“As He is” - Messiah as the moral measure of </a:t>
            </a:r>
            <a:r>
              <a:rPr lang="en-US" b="1" dirty="0" err="1"/>
              <a:t>ḥesed</a:t>
            </a:r>
            <a:endParaRPr lang="en-US" b="1" dirty="0"/>
          </a:p>
          <a:p>
            <a:endParaRPr lang="en-US" dirty="0"/>
          </a:p>
          <a:p>
            <a:pPr marL="285750" indent="-285750">
              <a:buFont typeface="Arial" panose="020B0604020202020204" pitchFamily="34" charset="0"/>
              <a:buChar char="•"/>
            </a:pPr>
            <a:r>
              <a:rPr lang="en-US" dirty="0"/>
              <a:t>Refer to John’s many “</a:t>
            </a:r>
            <a:r>
              <a:rPr lang="en-US" i="1" dirty="0"/>
              <a:t>as He is</a:t>
            </a:r>
            <a:r>
              <a:rPr lang="en-US" dirty="0"/>
              <a:t>” statements (</a:t>
            </a:r>
            <a:r>
              <a:rPr lang="en-US" b="1" dirty="0"/>
              <a:t>1 John 1-5</a:t>
            </a:r>
            <a:r>
              <a:rPr lang="en-US" dirty="0"/>
              <a:t>). That repetition is the Apostolic ethic:</a:t>
            </a:r>
          </a:p>
          <a:p>
            <a:endParaRPr lang="en-US" dirty="0"/>
          </a:p>
          <a:p>
            <a:pPr marL="742950" lvl="1" indent="-285750">
              <a:buFont typeface="Arial" panose="020B0604020202020204" pitchFamily="34" charset="0"/>
              <a:buChar char="•"/>
            </a:pPr>
            <a:r>
              <a:rPr lang="en-US" dirty="0"/>
              <a:t>The </a:t>
            </a:r>
            <a:r>
              <a:rPr lang="en-US" u="sng" dirty="0"/>
              <a:t>measure</a:t>
            </a:r>
            <a:r>
              <a:rPr lang="en-US" dirty="0"/>
              <a:t> of holiness, righteousness, purity, love, and truth is </a:t>
            </a:r>
            <a:r>
              <a:rPr lang="en-US" i="1" dirty="0"/>
              <a:t>Jesus Himself</a:t>
            </a:r>
            <a:r>
              <a:rPr lang="en-US" dirty="0"/>
              <a:t>.</a:t>
            </a:r>
          </a:p>
          <a:p>
            <a:pPr lvl="1"/>
            <a:endParaRPr lang="en-US" dirty="0"/>
          </a:p>
          <a:p>
            <a:pPr marL="742950" lvl="1" indent="-285750" fontAlgn="ctr">
              <a:buFont typeface="Arial" panose="020B0604020202020204" pitchFamily="34" charset="0"/>
              <a:buChar char="•"/>
            </a:pPr>
            <a:r>
              <a:rPr lang="en-US" b="1" dirty="0"/>
              <a:t>Walk in the light, as He is in the light</a:t>
            </a:r>
            <a:r>
              <a:rPr lang="en-US" dirty="0"/>
              <a:t> → faithfulness in truth.</a:t>
            </a:r>
          </a:p>
          <a:p>
            <a:pPr lvl="1" fontAlgn="ctr"/>
            <a:endParaRPr lang="en-US" dirty="0"/>
          </a:p>
          <a:p>
            <a:pPr marL="742950" lvl="1" indent="-285750" fontAlgn="ctr">
              <a:buFont typeface="Arial" panose="020B0604020202020204" pitchFamily="34" charset="0"/>
              <a:buChar char="•"/>
            </a:pPr>
            <a:r>
              <a:rPr lang="en-US" b="1" dirty="0"/>
              <a:t>Be righteous, just as He is righteous</a:t>
            </a:r>
            <a:r>
              <a:rPr lang="en-US" dirty="0"/>
              <a:t> → moral integrity shaped by His obedience.</a:t>
            </a:r>
          </a:p>
          <a:p>
            <a:pPr lvl="1" fontAlgn="ctr"/>
            <a:endParaRPr lang="en-US" dirty="0"/>
          </a:p>
          <a:p>
            <a:pPr marL="742950" lvl="1" indent="-285750" fontAlgn="ctr">
              <a:buFont typeface="Arial" panose="020B0604020202020204" pitchFamily="34" charset="0"/>
              <a:buChar char="•"/>
            </a:pPr>
            <a:r>
              <a:rPr lang="en-US" b="1" dirty="0"/>
              <a:t>Love one another, as He loved us</a:t>
            </a:r>
            <a:r>
              <a:rPr lang="en-US" dirty="0"/>
              <a:t> → covenant love extending outward.</a:t>
            </a:r>
          </a:p>
          <a:p>
            <a:pPr lvl="1" fontAlgn="ctr"/>
            <a:endParaRPr lang="en-US" dirty="0"/>
          </a:p>
          <a:p>
            <a:pPr marL="742950" lvl="1" indent="-285750" fontAlgn="ctr">
              <a:buFont typeface="Arial" panose="020B0604020202020204" pitchFamily="34" charset="0"/>
              <a:buChar char="•"/>
            </a:pPr>
            <a:r>
              <a:rPr lang="en-US" b="1" dirty="0"/>
              <a:t>Purify yourself, as He is pure</a:t>
            </a:r>
            <a:r>
              <a:rPr lang="en-US" dirty="0"/>
              <a:t> → moral renewal through fellowship with Him.</a:t>
            </a:r>
          </a:p>
          <a:p>
            <a:pPr lvl="1" fontAlgn="ctr"/>
            <a:endParaRPr lang="en-US" dirty="0"/>
          </a:p>
          <a:p>
            <a:pPr marL="742950" lvl="1" indent="-285750">
              <a:buFont typeface="Arial" panose="020B0604020202020204" pitchFamily="34" charset="0"/>
              <a:buChar char="•"/>
            </a:pPr>
            <a:r>
              <a:rPr lang="en-US" dirty="0"/>
              <a:t>Each “</a:t>
            </a:r>
            <a:r>
              <a:rPr lang="en-US" i="1" dirty="0"/>
              <a:t>as He is</a:t>
            </a:r>
            <a:r>
              <a:rPr lang="en-US" dirty="0"/>
              <a:t>” ties ethics back to Christ’s nature - His </a:t>
            </a:r>
            <a:r>
              <a:rPr lang="en-US" i="1" dirty="0"/>
              <a:t>ḥesed</a:t>
            </a:r>
            <a:r>
              <a:rPr lang="en-US" dirty="0"/>
              <a:t> in action.</a:t>
            </a:r>
          </a:p>
          <a:p>
            <a:pPr lvl="1"/>
            <a:endParaRPr lang="en-US" dirty="0"/>
          </a:p>
          <a:p>
            <a:pPr marL="742950" lvl="1" indent="-285750">
              <a:buFont typeface="Arial" panose="020B0604020202020204" pitchFamily="34" charset="0"/>
              <a:buChar char="•"/>
            </a:pPr>
            <a:r>
              <a:rPr lang="en-US" dirty="0"/>
              <a:t>It’s not moralism but participation: </a:t>
            </a:r>
            <a:r>
              <a:rPr lang="en-US" u="sng" dirty="0"/>
              <a:t>sharing His life by the Spirit</a:t>
            </a:r>
            <a:r>
              <a:rPr lang="en-US" dirty="0"/>
              <a:t> (</a:t>
            </a:r>
            <a:r>
              <a:rPr lang="en-US" b="1" dirty="0"/>
              <a:t>1 John 3:24</a:t>
            </a:r>
            <a:r>
              <a:rPr lang="en-US" dirty="0"/>
              <a:t>).</a:t>
            </a:r>
          </a:p>
        </p:txBody>
      </p:sp>
      <p:sp>
        <p:nvSpPr>
          <p:cNvPr id="2" name="Title 1">
            <a:extLst>
              <a:ext uri="{FF2B5EF4-FFF2-40B4-BE49-F238E27FC236}">
                <a16:creationId xmlns:a16="http://schemas.microsoft.com/office/drawing/2014/main" id="{13880727-6140-6A0B-461B-7E7B9ABF90C7}"/>
              </a:ext>
            </a:extLst>
          </p:cNvPr>
          <p:cNvSpPr txBox="1">
            <a:spLocks/>
          </p:cNvSpPr>
          <p:nvPr/>
        </p:nvSpPr>
        <p:spPr bwMode="auto">
          <a:xfrm>
            <a:off x="228600" y="0"/>
            <a:ext cx="8686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Apostolic Theology</a:t>
            </a:r>
            <a:br>
              <a:rPr lang="en-US" sz="4400" dirty="0"/>
            </a:br>
            <a:r>
              <a:rPr lang="en-US" sz="3100" dirty="0">
                <a:solidFill>
                  <a:schemeClr val="tx2">
                    <a:lumMod val="60000"/>
                    <a:lumOff val="40000"/>
                  </a:schemeClr>
                </a:solidFill>
              </a:rPr>
              <a:t>The heart of ḥesed as the Apostles understood it…</a:t>
            </a:r>
            <a:endParaRPr lang="en-US" sz="4800" dirty="0">
              <a:solidFill>
                <a:schemeClr val="tx2">
                  <a:lumMod val="60000"/>
                  <a:lumOff val="40000"/>
                </a:schemeClr>
              </a:solidFill>
            </a:endParaRPr>
          </a:p>
        </p:txBody>
      </p:sp>
    </p:spTree>
    <p:extLst>
      <p:ext uri="{BB962C8B-B14F-4D97-AF65-F5344CB8AC3E}">
        <p14:creationId xmlns:p14="http://schemas.microsoft.com/office/powerpoint/2010/main" val="2123675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1000"/>
                                        <p:tgtEl>
                                          <p:spTgt spid="3">
                                            <p:txEl>
                                              <p:pRg st="6" end="6"/>
                                            </p:txEl>
                                          </p:spTgt>
                                        </p:tgtEl>
                                      </p:cBhvr>
                                    </p:animEffect>
                                    <p:anim calcmode="lin" valueType="num">
                                      <p:cBhvr>
                                        <p:cTn id="2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1000"/>
                                        <p:tgtEl>
                                          <p:spTgt spid="3">
                                            <p:txEl>
                                              <p:pRg st="8" end="8"/>
                                            </p:txEl>
                                          </p:spTgt>
                                        </p:tgtEl>
                                      </p:cBhvr>
                                    </p:animEffect>
                                    <p:anim calcmode="lin" valueType="num">
                                      <p:cBhvr>
                                        <p:cTn id="2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1000"/>
                                        <p:tgtEl>
                                          <p:spTgt spid="3">
                                            <p:txEl>
                                              <p:pRg st="10" end="10"/>
                                            </p:txEl>
                                          </p:spTgt>
                                        </p:tgtEl>
                                      </p:cBhvr>
                                    </p:animEffect>
                                    <p:anim calcmode="lin" valueType="num">
                                      <p:cBhvr>
                                        <p:cTn id="3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1000"/>
                                        <p:tgtEl>
                                          <p:spTgt spid="3">
                                            <p:txEl>
                                              <p:pRg st="12" end="12"/>
                                            </p:txEl>
                                          </p:spTgt>
                                        </p:tgtEl>
                                      </p:cBhvr>
                                    </p:animEffect>
                                    <p:anim calcmode="lin" valueType="num">
                                      <p:cBhvr>
                                        <p:cTn id="43"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animEffect transition="in" filter="fade">
                                      <p:cBhvr>
                                        <p:cTn id="49" dur="1000"/>
                                        <p:tgtEl>
                                          <p:spTgt spid="3">
                                            <p:txEl>
                                              <p:pRg st="14" end="14"/>
                                            </p:txEl>
                                          </p:spTgt>
                                        </p:tgtEl>
                                      </p:cBhvr>
                                    </p:animEffect>
                                    <p:anim calcmode="lin" valueType="num">
                                      <p:cBhvr>
                                        <p:cTn id="50"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6" end="16"/>
                                            </p:txEl>
                                          </p:spTgt>
                                        </p:tgtEl>
                                        <p:attrNameLst>
                                          <p:attrName>style.visibility</p:attrName>
                                        </p:attrNameLst>
                                      </p:cBhvr>
                                      <p:to>
                                        <p:strVal val="visible"/>
                                      </p:to>
                                    </p:set>
                                    <p:animEffect transition="in" filter="fade">
                                      <p:cBhvr>
                                        <p:cTn id="56" dur="1000"/>
                                        <p:tgtEl>
                                          <p:spTgt spid="3">
                                            <p:txEl>
                                              <p:pRg st="16" end="16"/>
                                            </p:txEl>
                                          </p:spTgt>
                                        </p:tgtEl>
                                      </p:cBhvr>
                                    </p:animEffect>
                                    <p:anim calcmode="lin" valueType="num">
                                      <p:cBhvr>
                                        <p:cTn id="57" dur="1000" fill="hold"/>
                                        <p:tgtEl>
                                          <p:spTgt spid="3">
                                            <p:txEl>
                                              <p:pRg st="16" end="1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5DC53-2009-B912-BA6E-6EE111C53B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88D8F4-97F4-3A65-CE91-ECAE6599354F}"/>
              </a:ext>
            </a:extLst>
          </p:cNvPr>
          <p:cNvSpPr txBox="1"/>
          <p:nvPr/>
        </p:nvSpPr>
        <p:spPr>
          <a:xfrm>
            <a:off x="304800" y="1143000"/>
            <a:ext cx="8534400" cy="2308324"/>
          </a:xfrm>
          <a:prstGeom prst="rect">
            <a:avLst/>
          </a:prstGeom>
          <a:noFill/>
        </p:spPr>
        <p:txBody>
          <a:bodyPr wrap="square" rtlCol="0">
            <a:spAutoFit/>
          </a:bodyPr>
          <a:lstStyle/>
          <a:p>
            <a:r>
              <a:rPr lang="en-US" b="1" dirty="0"/>
              <a:t>The </a:t>
            </a:r>
            <a:r>
              <a:rPr lang="en-US" b="1" i="1" dirty="0"/>
              <a:t>ḥesed</a:t>
            </a:r>
            <a:r>
              <a:rPr lang="en-US" b="1" dirty="0"/>
              <a:t> test - “As you did it to one of these” (Matt 25:40)</a:t>
            </a:r>
            <a:endParaRPr lang="en-US" dirty="0"/>
          </a:p>
          <a:p>
            <a:pPr marL="285750" indent="-285750">
              <a:buFont typeface="Arial" panose="020B0604020202020204" pitchFamily="34" charset="0"/>
              <a:buChar char="•"/>
            </a:pPr>
            <a:r>
              <a:rPr lang="en-US" dirty="0"/>
              <a:t>Jesus made relational ethics the ground of final judgment.</a:t>
            </a:r>
          </a:p>
          <a:p>
            <a:pPr marL="285750" indent="-285750">
              <a:buFont typeface="Arial" panose="020B0604020202020204" pitchFamily="34" charset="0"/>
              <a:buChar char="•"/>
            </a:pPr>
            <a:r>
              <a:rPr lang="en-US" dirty="0"/>
              <a:t>To serve others as if they were Christ is the ultimate covenant expression of love.</a:t>
            </a:r>
          </a:p>
          <a:p>
            <a:pPr marL="285750" indent="-285750">
              <a:buFont typeface="Arial" panose="020B0604020202020204" pitchFamily="34" charset="0"/>
              <a:buChar char="•"/>
            </a:pPr>
            <a:r>
              <a:rPr lang="en-US" dirty="0"/>
              <a:t>This mirrors God’s own </a:t>
            </a:r>
            <a:r>
              <a:rPr lang="en-US" i="1" dirty="0"/>
              <a:t>ḥesed</a:t>
            </a:r>
            <a:r>
              <a:rPr lang="en-US" dirty="0"/>
              <a:t>: He treats us as His own Son deserves and calls us to treat others as if they were His Son.</a:t>
            </a:r>
          </a:p>
          <a:p>
            <a:pPr marL="285750" indent="-285750">
              <a:buFont typeface="Arial" panose="020B0604020202020204" pitchFamily="34" charset="0"/>
              <a:buChar char="•"/>
            </a:pPr>
            <a:r>
              <a:rPr lang="en-US" dirty="0"/>
              <a:t>The moral test, then, is not ceremony or confession alone, but whether we live the </a:t>
            </a:r>
            <a:r>
              <a:rPr lang="en-US" i="1" dirty="0"/>
              <a:t>ḥesed</a:t>
            </a:r>
            <a:r>
              <a:rPr lang="en-US" dirty="0"/>
              <a:t> life - mercy, service, faithfulness, love - toward others.</a:t>
            </a:r>
          </a:p>
        </p:txBody>
      </p:sp>
      <p:sp>
        <p:nvSpPr>
          <p:cNvPr id="2" name="Title 1">
            <a:extLst>
              <a:ext uri="{FF2B5EF4-FFF2-40B4-BE49-F238E27FC236}">
                <a16:creationId xmlns:a16="http://schemas.microsoft.com/office/drawing/2014/main" id="{07CCFB4A-0B71-257E-F7AC-03B008432EF8}"/>
              </a:ext>
            </a:extLst>
          </p:cNvPr>
          <p:cNvSpPr txBox="1">
            <a:spLocks/>
          </p:cNvSpPr>
          <p:nvPr/>
        </p:nvSpPr>
        <p:spPr bwMode="auto">
          <a:xfrm>
            <a:off x="228600" y="0"/>
            <a:ext cx="8686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Apostolic Theology</a:t>
            </a:r>
            <a:br>
              <a:rPr lang="en-US" sz="4400" dirty="0"/>
            </a:br>
            <a:r>
              <a:rPr lang="en-US" sz="3100" dirty="0">
                <a:solidFill>
                  <a:schemeClr val="tx2">
                    <a:lumMod val="60000"/>
                    <a:lumOff val="40000"/>
                  </a:schemeClr>
                </a:solidFill>
              </a:rPr>
              <a:t>The heart of ḥesed as the Apostles understood it…</a:t>
            </a:r>
            <a:endParaRPr lang="en-US" sz="4800" dirty="0">
              <a:solidFill>
                <a:schemeClr val="tx2">
                  <a:lumMod val="60000"/>
                  <a:lumOff val="40000"/>
                </a:schemeClr>
              </a:solidFill>
            </a:endParaRPr>
          </a:p>
        </p:txBody>
      </p:sp>
      <p:sp>
        <p:nvSpPr>
          <p:cNvPr id="4" name="TextBox 3">
            <a:extLst>
              <a:ext uri="{FF2B5EF4-FFF2-40B4-BE49-F238E27FC236}">
                <a16:creationId xmlns:a16="http://schemas.microsoft.com/office/drawing/2014/main" id="{3A2B4DE0-6887-903E-B76B-E1BC65A9443F}"/>
              </a:ext>
            </a:extLst>
          </p:cNvPr>
          <p:cNvSpPr txBox="1"/>
          <p:nvPr/>
        </p:nvSpPr>
        <p:spPr>
          <a:xfrm>
            <a:off x="342900" y="3810000"/>
            <a:ext cx="8696325" cy="2031325"/>
          </a:xfrm>
          <a:prstGeom prst="rect">
            <a:avLst/>
          </a:prstGeom>
          <a:noFill/>
        </p:spPr>
        <p:txBody>
          <a:bodyPr wrap="square" rtlCol="0">
            <a:spAutoFit/>
          </a:bodyPr>
          <a:lstStyle/>
          <a:p>
            <a:r>
              <a:rPr lang="en-US" b="1" dirty="0"/>
              <a:t>Apostolic Leadership - Passing on the </a:t>
            </a:r>
            <a:r>
              <a:rPr lang="en-US" b="1" i="1" dirty="0" err="1"/>
              <a:t>ḥesed</a:t>
            </a:r>
            <a:r>
              <a:rPr lang="en-US" b="1" dirty="0"/>
              <a:t> Pattern</a:t>
            </a:r>
            <a:endParaRPr lang="en-US" dirty="0"/>
          </a:p>
          <a:p>
            <a:pPr marL="285750" indent="-285750">
              <a:buFont typeface="Arial" panose="020B0604020202020204" pitchFamily="34" charset="0"/>
              <a:buChar char="•"/>
            </a:pPr>
            <a:r>
              <a:rPr lang="en-US" dirty="0"/>
              <a:t>For Paul, Peter, and John, leadership meant </a:t>
            </a:r>
            <a:r>
              <a:rPr lang="en-US" b="1" dirty="0"/>
              <a:t>modeling Messiah’s faithfulness</a:t>
            </a:r>
            <a:r>
              <a:rPr lang="en-US" dirty="0"/>
              <a:t>.</a:t>
            </a:r>
          </a:p>
          <a:p>
            <a:pPr marL="742950" lvl="1" indent="-285750">
              <a:buFont typeface="Arial" panose="020B0604020202020204" pitchFamily="34" charset="0"/>
              <a:buChar char="•"/>
            </a:pPr>
            <a:r>
              <a:rPr lang="en-US" dirty="0"/>
              <a:t>“</a:t>
            </a:r>
            <a:r>
              <a:rPr lang="en-US" i="1" dirty="0"/>
              <a:t>Imitate me, as I also imitate Christ</a:t>
            </a:r>
            <a:r>
              <a:rPr lang="en-US" dirty="0"/>
              <a:t>.” (</a:t>
            </a:r>
            <a:r>
              <a:rPr lang="en-US" b="1" dirty="0"/>
              <a:t>1 Cor 11:1</a:t>
            </a:r>
            <a:r>
              <a:rPr lang="en-US" dirty="0"/>
              <a:t>)</a:t>
            </a:r>
          </a:p>
          <a:p>
            <a:pPr marL="742950" lvl="1" indent="-285750">
              <a:buFont typeface="Arial" panose="020B0604020202020204" pitchFamily="34" charset="0"/>
              <a:buChar char="•"/>
            </a:pPr>
            <a:r>
              <a:rPr lang="en-US" dirty="0"/>
              <a:t>“</a:t>
            </a:r>
            <a:r>
              <a:rPr lang="en-US" i="1" dirty="0"/>
              <a:t>Shepherd the flock of God among you… not lording it over those entrusted to you</a:t>
            </a:r>
            <a:r>
              <a:rPr lang="en-US" dirty="0"/>
              <a:t>.” (</a:t>
            </a:r>
            <a:r>
              <a:rPr lang="en-US" b="1" dirty="0"/>
              <a:t>1 Pet 5:2-3</a:t>
            </a:r>
            <a:r>
              <a:rPr lang="en-US" dirty="0"/>
              <a:t>)</a:t>
            </a:r>
          </a:p>
          <a:p>
            <a:pPr marL="285750" indent="-285750">
              <a:buFont typeface="Arial" panose="020B0604020202020204" pitchFamily="34" charset="0"/>
              <a:buChar char="•"/>
            </a:pPr>
            <a:r>
              <a:rPr lang="en-US" dirty="0"/>
              <a:t>Their model was not authority but loyalty - </a:t>
            </a:r>
            <a:r>
              <a:rPr lang="en-US" i="1" dirty="0" err="1"/>
              <a:t>ḥesed</a:t>
            </a:r>
            <a:r>
              <a:rPr lang="en-US" dirty="0"/>
              <a:t> stewardship: guiding others’ good as Christ guided theirs.</a:t>
            </a:r>
          </a:p>
        </p:txBody>
      </p:sp>
    </p:spTree>
    <p:extLst>
      <p:ext uri="{BB962C8B-B14F-4D97-AF65-F5344CB8AC3E}">
        <p14:creationId xmlns:p14="http://schemas.microsoft.com/office/powerpoint/2010/main" val="1768265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36042</TotalTime>
  <Words>6557</Words>
  <Application>Microsoft Office PowerPoint</Application>
  <PresentationFormat>On-screen Show (4:3)</PresentationFormat>
  <Paragraphs>266</Paragraphs>
  <Slides>9</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ＭＳ Ｐゴシック</vt:lpstr>
      <vt:lpstr>Arial</vt:lpstr>
      <vt:lpstr>Arial Narrow</vt:lpstr>
      <vt:lpstr>Calibri</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1344</cp:revision>
  <cp:lastPrinted>2025-11-09T14:39:19Z</cp:lastPrinted>
  <dcterms:created xsi:type="dcterms:W3CDTF">2010-06-16T02:58:04Z</dcterms:created>
  <dcterms:modified xsi:type="dcterms:W3CDTF">2025-11-09T14:39:30Z</dcterms:modified>
</cp:coreProperties>
</file>