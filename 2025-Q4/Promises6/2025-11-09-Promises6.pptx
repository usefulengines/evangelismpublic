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2"/>
  </p:notesMasterIdLst>
  <p:sldIdLst>
    <p:sldId id="395" r:id="rId3"/>
    <p:sldId id="581" r:id="rId4"/>
    <p:sldId id="579" r:id="rId5"/>
    <p:sldId id="580" r:id="rId6"/>
    <p:sldId id="336" r:id="rId7"/>
    <p:sldId id="578" r:id="rId8"/>
    <p:sldId id="576" r:id="rId9"/>
    <p:sldId id="582" r:id="rId10"/>
    <p:sldId id="583" r:id="rId11"/>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63512" autoAdjust="0"/>
  </p:normalViewPr>
  <p:slideViewPr>
    <p:cSldViewPr>
      <p:cViewPr varScale="1">
        <p:scale>
          <a:sx n="100" d="100"/>
          <a:sy n="100" d="100"/>
        </p:scale>
        <p:origin x="1038" y="7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commentAuthors" Target="commentAuthor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viewProps" Target="view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1"/>
            <a:ext cx="3076364" cy="469265"/>
          </a:xfrm>
          <a:prstGeom prst="rect">
            <a:avLst/>
          </a:prstGeom>
        </p:spPr>
        <p:txBody>
          <a:bodyPr vert="horz" wrap="square" lIns="94154" tIns="47077" rIns="94154" bIns="47077"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1"/>
            <a:ext cx="3076364" cy="469265"/>
          </a:xfrm>
          <a:prstGeom prst="rect">
            <a:avLst/>
          </a:prstGeom>
        </p:spPr>
        <p:txBody>
          <a:bodyPr vert="horz" wrap="square" lIns="94154" tIns="47077" rIns="94154" bIns="47077"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11/7/2025</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54" tIns="47077" rIns="94154" bIns="47077"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54" tIns="47077" rIns="94154" bIns="47077"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3" y="8914406"/>
            <a:ext cx="3076364" cy="469265"/>
          </a:xfrm>
          <a:prstGeom prst="rect">
            <a:avLst/>
          </a:prstGeom>
        </p:spPr>
        <p:txBody>
          <a:bodyPr vert="horz" wrap="square" lIns="94154" tIns="47077" rIns="94154" bIns="47077"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54" tIns="47077" rIns="94154" bIns="47077"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85000" lnSpcReduction="20000"/>
          </a:bodyPr>
          <a:lstStyle/>
          <a:p>
            <a:r>
              <a:rPr lang="en-US" sz="1200" b="1" i="1" kern="1200" dirty="0">
                <a:solidFill>
                  <a:schemeClr val="tx1"/>
                </a:solidFill>
                <a:effectLst/>
                <a:latin typeface="+mn-lt"/>
                <a:ea typeface="ＭＳ Ｐゴシック" pitchFamily="-106" charset="-128"/>
                <a:cs typeface="ＭＳ Ｐゴシック" pitchFamily="-106" charset="-128"/>
              </a:rPr>
              <a:t>Promise of the Messiah Fulfilled in Christ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i="1" kern="1200" dirty="0">
                <a:solidFill>
                  <a:schemeClr val="tx1"/>
                </a:solidFill>
                <a:effectLst/>
                <a:latin typeface="+mn-lt"/>
                <a:ea typeface="ＭＳ Ｐゴシック" pitchFamily="-106" charset="-128"/>
                <a:cs typeface="ＭＳ Ｐゴシック" pitchFamily="-106" charset="-128"/>
              </a:rPr>
              <a:t>Key Verses:</a:t>
            </a:r>
            <a:r>
              <a:rPr lang="en-US" sz="1200" kern="1200" dirty="0">
                <a:solidFill>
                  <a:schemeClr val="tx1"/>
                </a:solidFill>
                <a:effectLst/>
                <a:latin typeface="+mn-lt"/>
                <a:ea typeface="ＭＳ Ｐゴシック" pitchFamily="-106" charset="-128"/>
                <a:cs typeface="ＭＳ Ｐゴシック" pitchFamily="-106" charset="-128"/>
              </a:rPr>
              <a:t> Isaiah 9:6–7; John 1:14</a:t>
            </a:r>
          </a:p>
          <a:p>
            <a:r>
              <a:rPr lang="en-US" sz="1200" kern="1200" dirty="0">
                <a:solidFill>
                  <a:schemeClr val="tx1"/>
                </a:solidFill>
                <a:effectLst/>
                <a:latin typeface="+mn-lt"/>
                <a:ea typeface="ＭＳ Ｐゴシック" pitchFamily="-106" charset="-128"/>
                <a:cs typeface="ＭＳ Ｐゴシック" pitchFamily="-106" charset="-128"/>
              </a:rPr>
              <a:t>Jesus is the </a:t>
            </a:r>
            <a:r>
              <a:rPr lang="en-US" sz="1200" b="1" kern="1200" dirty="0">
                <a:solidFill>
                  <a:schemeClr val="tx1"/>
                </a:solidFill>
                <a:effectLst/>
                <a:latin typeface="+mn-lt"/>
                <a:ea typeface="ＭＳ Ｐゴシック" pitchFamily="-106" charset="-128"/>
                <a:cs typeface="ＭＳ Ｐゴシック" pitchFamily="-106" charset="-128"/>
              </a:rPr>
              <a:t>fulfillment</a:t>
            </a:r>
            <a:r>
              <a:rPr lang="en-US" sz="1200" kern="1200" dirty="0">
                <a:solidFill>
                  <a:schemeClr val="tx1"/>
                </a:solidFill>
                <a:effectLst/>
                <a:latin typeface="+mn-lt"/>
                <a:ea typeface="ＭＳ Ｐゴシック" pitchFamily="-106" charset="-128"/>
                <a:cs typeface="ＭＳ Ｐゴシック" pitchFamily="-106" charset="-128"/>
              </a:rPr>
              <a:t> of all God’s covenant promises.</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Prophecy: The Coming King and Savior</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From the earliest covenants, God revealed His plan to redeem humanity through a promised Deliverer. The prophets spoke of this Messiah centuries before His birth.</a:t>
            </a:r>
          </a:p>
          <a:p>
            <a:r>
              <a:rPr lang="en-US" sz="1200" b="1" kern="1200" dirty="0">
                <a:solidFill>
                  <a:schemeClr val="tx1"/>
                </a:solidFill>
                <a:effectLst/>
                <a:latin typeface="+mn-lt"/>
                <a:ea typeface="ＭＳ Ｐゴシック" pitchFamily="-106" charset="-128"/>
                <a:cs typeface="ＭＳ Ｐゴシック" pitchFamily="-106" charset="-128"/>
              </a:rPr>
              <a:t>Isaiah 9:6–7</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“For a child will be born to us, a son will be given to us;</a:t>
            </a:r>
          </a:p>
          <a:p>
            <a:r>
              <a:rPr lang="en-US" sz="1200" kern="1200" dirty="0">
                <a:solidFill>
                  <a:schemeClr val="tx1"/>
                </a:solidFill>
                <a:effectLst/>
                <a:latin typeface="+mn-lt"/>
                <a:ea typeface="ＭＳ Ｐゴシック" pitchFamily="-106" charset="-128"/>
                <a:cs typeface="ＭＳ Ｐゴシック" pitchFamily="-106" charset="-128"/>
              </a:rPr>
              <a:t>And the government will rest on His shoulders;</a:t>
            </a:r>
          </a:p>
          <a:p>
            <a:r>
              <a:rPr lang="en-US" sz="1200" kern="1200" dirty="0">
                <a:solidFill>
                  <a:schemeClr val="tx1"/>
                </a:solidFill>
                <a:effectLst/>
                <a:latin typeface="+mn-lt"/>
                <a:ea typeface="ＭＳ Ｐゴシック" pitchFamily="-106" charset="-128"/>
                <a:cs typeface="ＭＳ Ｐゴシック" pitchFamily="-106" charset="-128"/>
              </a:rPr>
              <a:t>And His name will be called Wonderful Counselor, Mighty God,</a:t>
            </a:r>
          </a:p>
          <a:p>
            <a:r>
              <a:rPr lang="en-US" sz="1200" kern="1200" dirty="0">
                <a:solidFill>
                  <a:schemeClr val="tx1"/>
                </a:solidFill>
                <a:effectLst/>
                <a:latin typeface="+mn-lt"/>
                <a:ea typeface="ＭＳ Ｐゴシック" pitchFamily="-106" charset="-128"/>
                <a:cs typeface="ＭＳ Ｐゴシック" pitchFamily="-106" charset="-128"/>
              </a:rPr>
              <a:t>Eternal Father, Prince of Peace.</a:t>
            </a:r>
          </a:p>
          <a:p>
            <a:r>
              <a:rPr lang="en-US" sz="1200" kern="1200" dirty="0">
                <a:solidFill>
                  <a:schemeClr val="tx1"/>
                </a:solidFill>
                <a:effectLst/>
                <a:latin typeface="+mn-lt"/>
                <a:ea typeface="ＭＳ Ｐゴシック" pitchFamily="-106" charset="-128"/>
                <a:cs typeface="ＭＳ Ｐゴシック" pitchFamily="-106" charset="-128"/>
              </a:rPr>
              <a:t>There will be no end to the increase of His government or of peace,</a:t>
            </a:r>
          </a:p>
          <a:p>
            <a:r>
              <a:rPr lang="en-US" sz="1200" kern="1200" dirty="0">
                <a:solidFill>
                  <a:schemeClr val="tx1"/>
                </a:solidFill>
                <a:effectLst/>
                <a:latin typeface="+mn-lt"/>
                <a:ea typeface="ＭＳ Ｐゴシック" pitchFamily="-106" charset="-128"/>
                <a:cs typeface="ＭＳ Ｐゴシック" pitchFamily="-106" charset="-128"/>
              </a:rPr>
              <a:t>On the throne of David and over his kingdom,</a:t>
            </a:r>
          </a:p>
          <a:p>
            <a:r>
              <a:rPr lang="en-US" sz="1200" kern="1200" dirty="0">
                <a:solidFill>
                  <a:schemeClr val="tx1"/>
                </a:solidFill>
                <a:effectLst/>
                <a:latin typeface="+mn-lt"/>
                <a:ea typeface="ＭＳ Ｐゴシック" pitchFamily="-106" charset="-128"/>
                <a:cs typeface="ＭＳ Ｐゴシック" pitchFamily="-106" charset="-128"/>
              </a:rPr>
              <a:t>To establish it and to uphold it with justice and righteousness</a:t>
            </a:r>
          </a:p>
          <a:p>
            <a:r>
              <a:rPr lang="en-US" sz="1200" kern="1200" dirty="0">
                <a:solidFill>
                  <a:schemeClr val="tx1"/>
                </a:solidFill>
                <a:effectLst/>
                <a:latin typeface="+mn-lt"/>
                <a:ea typeface="ＭＳ Ｐゴシック" pitchFamily="-106" charset="-128"/>
                <a:cs typeface="ＭＳ Ｐゴシック" pitchFamily="-106" charset="-128"/>
              </a:rPr>
              <a:t>From then on and forevermore.</a:t>
            </a:r>
          </a:p>
          <a:p>
            <a:r>
              <a:rPr lang="en-US" sz="1200" kern="1200" dirty="0">
                <a:solidFill>
                  <a:schemeClr val="tx1"/>
                </a:solidFill>
                <a:effectLst/>
                <a:latin typeface="+mn-lt"/>
                <a:ea typeface="ＭＳ Ｐゴシック" pitchFamily="-106" charset="-128"/>
                <a:cs typeface="ＭＳ Ｐゴシック" pitchFamily="-106" charset="-128"/>
              </a:rPr>
              <a:t>The zeal of the LORD of hosts will accomplish this.”</a:t>
            </a:r>
          </a:p>
          <a:p>
            <a:r>
              <a:rPr lang="en-US" sz="1200" b="1" kern="1200" dirty="0">
                <a:solidFill>
                  <a:schemeClr val="tx1"/>
                </a:solidFill>
                <a:effectLst/>
                <a:latin typeface="+mn-lt"/>
                <a:ea typeface="ＭＳ Ｐゴシック" pitchFamily="-106" charset="-128"/>
                <a:cs typeface="ＭＳ Ｐゴシック" pitchFamily="-106" charset="-128"/>
              </a:rPr>
              <a:t>Micah 5:2</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“But as for you, Bethlehem Ephrathah,</a:t>
            </a:r>
          </a:p>
          <a:p>
            <a:r>
              <a:rPr lang="en-US" sz="1200" kern="1200" dirty="0">
                <a:solidFill>
                  <a:schemeClr val="tx1"/>
                </a:solidFill>
                <a:effectLst/>
                <a:latin typeface="+mn-lt"/>
                <a:ea typeface="ＭＳ Ｐゴシック" pitchFamily="-106" charset="-128"/>
                <a:cs typeface="ＭＳ Ｐゴシック" pitchFamily="-106" charset="-128"/>
              </a:rPr>
              <a:t>Too little to be among the clans of Judah,</a:t>
            </a:r>
          </a:p>
          <a:p>
            <a:r>
              <a:rPr lang="en-US" sz="1200" kern="1200" dirty="0">
                <a:solidFill>
                  <a:schemeClr val="tx1"/>
                </a:solidFill>
                <a:effectLst/>
                <a:latin typeface="+mn-lt"/>
                <a:ea typeface="ＭＳ Ｐゴシック" pitchFamily="-106" charset="-128"/>
                <a:cs typeface="ＭＳ Ｐゴシック" pitchFamily="-106" charset="-128"/>
              </a:rPr>
              <a:t>From you One will go forth for Me to be ruler in Israel.</a:t>
            </a:r>
          </a:p>
          <a:p>
            <a:r>
              <a:rPr lang="en-US" sz="1200" kern="1200" dirty="0">
                <a:solidFill>
                  <a:schemeClr val="tx1"/>
                </a:solidFill>
                <a:effectLst/>
                <a:latin typeface="+mn-lt"/>
                <a:ea typeface="ＭＳ Ｐゴシック" pitchFamily="-106" charset="-128"/>
                <a:cs typeface="ＭＳ Ｐゴシック" pitchFamily="-106" charset="-128"/>
              </a:rPr>
              <a:t>His goings forth are from long ago,</a:t>
            </a:r>
          </a:p>
          <a:p>
            <a:r>
              <a:rPr lang="en-US" sz="1200" kern="1200" dirty="0">
                <a:solidFill>
                  <a:schemeClr val="tx1"/>
                </a:solidFill>
                <a:effectLst/>
                <a:latin typeface="+mn-lt"/>
                <a:ea typeface="ＭＳ Ｐゴシック" pitchFamily="-106" charset="-128"/>
                <a:cs typeface="ＭＳ Ｐゴシック" pitchFamily="-106" charset="-128"/>
              </a:rPr>
              <a:t>From the days of eternity.”</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These prophecies display God’s </a:t>
            </a:r>
            <a:r>
              <a:rPr lang="en-US" sz="1200" b="1" kern="1200" dirty="0">
                <a:solidFill>
                  <a:schemeClr val="tx1"/>
                </a:solidFill>
                <a:effectLst/>
                <a:latin typeface="+mn-lt"/>
                <a:ea typeface="ＭＳ Ｐゴシック" pitchFamily="-106" charset="-128"/>
                <a:cs typeface="ＭＳ Ｐゴシック" pitchFamily="-106" charset="-128"/>
              </a:rPr>
              <a:t>faithfulness</a:t>
            </a:r>
            <a:r>
              <a:rPr lang="en-US" sz="1200" kern="1200" dirty="0">
                <a:solidFill>
                  <a:schemeClr val="tx1"/>
                </a:solidFill>
                <a:effectLst/>
                <a:latin typeface="+mn-lt"/>
                <a:ea typeface="ＭＳ Ｐゴシック" pitchFamily="-106" charset="-128"/>
                <a:cs typeface="ＭＳ Ｐゴシック" pitchFamily="-106" charset="-128"/>
              </a:rPr>
              <a:t> — He declared His plan long before fulfilling it.</a:t>
            </a:r>
          </a:p>
          <a:p>
            <a:r>
              <a:rPr lang="en-US" sz="1200" kern="1200" dirty="0">
                <a:solidFill>
                  <a:schemeClr val="tx1"/>
                </a:solidFill>
                <a:effectLst/>
                <a:latin typeface="+mn-lt"/>
                <a:ea typeface="ＭＳ Ｐゴシック" pitchFamily="-106" charset="-128"/>
                <a:cs typeface="ＭＳ Ｐゴシック" pitchFamily="-106" charset="-128"/>
              </a:rPr>
              <a:t>They also show His </a:t>
            </a:r>
            <a:r>
              <a:rPr lang="en-US" sz="1200" b="1" kern="1200" dirty="0">
                <a:solidFill>
                  <a:schemeClr val="tx1"/>
                </a:solidFill>
                <a:effectLst/>
                <a:latin typeface="+mn-lt"/>
                <a:ea typeface="ＭＳ Ｐゴシック" pitchFamily="-106" charset="-128"/>
                <a:cs typeface="ＭＳ Ｐゴシック" pitchFamily="-106" charset="-128"/>
              </a:rPr>
              <a:t>sovereignty</a:t>
            </a:r>
            <a:r>
              <a:rPr lang="en-US" sz="1200" kern="1200" dirty="0">
                <a:solidFill>
                  <a:schemeClr val="tx1"/>
                </a:solidFill>
                <a:effectLst/>
                <a:latin typeface="+mn-lt"/>
                <a:ea typeface="ＭＳ Ｐゴシック" pitchFamily="-106" charset="-128"/>
                <a:cs typeface="ＭＳ Ｐゴシック" pitchFamily="-106" charset="-128"/>
              </a:rPr>
              <a:t> — even the place of Messiah’s birth was preordained.</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Fulfillment: Christ’s Birth, Ministry, Death, and Resurrection</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Every event in Jesus’ life aligned with prophecy:</a:t>
            </a:r>
          </a:p>
          <a:p>
            <a:pPr rtl="0" fontAlgn="ctr"/>
            <a:r>
              <a:rPr lang="en-US" sz="1200" b="1" kern="1200" dirty="0">
                <a:solidFill>
                  <a:schemeClr val="tx1"/>
                </a:solidFill>
                <a:effectLst/>
                <a:latin typeface="+mn-lt"/>
                <a:ea typeface="ＭＳ Ｐゴシック" pitchFamily="-106" charset="-128"/>
                <a:cs typeface="ＭＳ Ｐゴシック" pitchFamily="-106" charset="-128"/>
              </a:rPr>
              <a:t>Born of a virgin (Isaiah 7:14; Matthew 1:23)</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From the line of David (2 Samuel 7:12–13; Luke 1:32–33)</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Betrayed for thirty pieces of silver (Zechariah 11:12–13; Matthew 26:15)</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Crucified and pierced (Psalm 22:16; Zechariah 12:10; John 19:34)</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Raised from the dead (Psalm 16:10; Acts 2:31)</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God proved in history that He keeps His promises, no matter how long the wait.</a:t>
            </a:r>
          </a:p>
          <a:p>
            <a:r>
              <a:rPr lang="en-US" sz="1200" kern="1200" dirty="0">
                <a:solidFill>
                  <a:schemeClr val="tx1"/>
                </a:solidFill>
                <a:effectLst/>
                <a:latin typeface="+mn-lt"/>
                <a:ea typeface="ＭＳ Ｐゴシック" pitchFamily="-106" charset="-128"/>
                <a:cs typeface="ＭＳ Ｐゴシック" pitchFamily="-106" charset="-128"/>
              </a:rPr>
              <a:t>“But when the fullness of the time came, God sent forth His Son, born of a woman, born under the Law.”</a:t>
            </a:r>
          </a:p>
          <a:p>
            <a:r>
              <a:rPr lang="en-US" sz="1200" kern="1200" dirty="0">
                <a:solidFill>
                  <a:schemeClr val="tx1"/>
                </a:solidFill>
                <a:effectLst/>
                <a:latin typeface="+mn-lt"/>
                <a:ea typeface="ＭＳ Ｐゴシック" pitchFamily="-106" charset="-128"/>
                <a:cs typeface="ＭＳ Ｐゴシック" pitchFamily="-106" charset="-128"/>
              </a:rPr>
              <a:t>— </a:t>
            </a:r>
            <a:r>
              <a:rPr lang="en-US" sz="1200" b="1" kern="1200" dirty="0">
                <a:solidFill>
                  <a:schemeClr val="tx1"/>
                </a:solidFill>
                <a:effectLst/>
                <a:latin typeface="+mn-lt"/>
                <a:ea typeface="ＭＳ Ｐゴシック" pitchFamily="-106" charset="-128"/>
                <a:cs typeface="ＭＳ Ｐゴシック" pitchFamily="-106" charset="-128"/>
              </a:rPr>
              <a:t>Galatians 4:4</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cross and the empty tomb are the clearest evidence that God’s word never fails.</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God’s Character Revealed in Jesus</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The Promise Made Flesh</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Matthew 1:21–23</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“She will bear a Son; and you shall call His name Jesus, for He will save His people from their sins.”</a:t>
            </a:r>
          </a:p>
          <a:p>
            <a:r>
              <a:rPr lang="en-US" sz="1200" kern="1200" dirty="0">
                <a:solidFill>
                  <a:schemeClr val="tx1"/>
                </a:solidFill>
                <a:effectLst/>
                <a:latin typeface="+mn-lt"/>
                <a:ea typeface="ＭＳ Ｐゴシック" pitchFamily="-106" charset="-128"/>
                <a:cs typeface="ＭＳ Ｐゴシック" pitchFamily="-106" charset="-128"/>
              </a:rPr>
              <a:t>Now all this took place to fulfill what was spoken by the Lord through the prophet:</a:t>
            </a:r>
          </a:p>
          <a:p>
            <a:r>
              <a:rPr lang="en-US" sz="1200" kern="1200" dirty="0">
                <a:solidFill>
                  <a:schemeClr val="tx1"/>
                </a:solidFill>
                <a:effectLst/>
                <a:latin typeface="+mn-lt"/>
                <a:ea typeface="ＭＳ Ｐゴシック" pitchFamily="-106" charset="-128"/>
                <a:cs typeface="ＭＳ Ｐゴシック" pitchFamily="-106" charset="-128"/>
              </a:rPr>
              <a:t>“Behold, the virgin shall be with child and shall bear a Son,</a:t>
            </a:r>
          </a:p>
          <a:p>
            <a:r>
              <a:rPr lang="en-US" sz="1200" kern="1200" dirty="0">
                <a:solidFill>
                  <a:schemeClr val="tx1"/>
                </a:solidFill>
                <a:effectLst/>
                <a:latin typeface="+mn-lt"/>
                <a:ea typeface="ＭＳ Ｐゴシック" pitchFamily="-106" charset="-128"/>
                <a:cs typeface="ＭＳ Ｐゴシック" pitchFamily="-106" charset="-128"/>
              </a:rPr>
              <a:t>and they shall call His name Immanuel,” which translated means, “God with us.”</a:t>
            </a:r>
          </a:p>
          <a:p>
            <a:r>
              <a:rPr lang="en-US" sz="1200" b="1" kern="1200" dirty="0">
                <a:solidFill>
                  <a:schemeClr val="tx1"/>
                </a:solidFill>
                <a:effectLst/>
                <a:latin typeface="+mn-lt"/>
                <a:ea typeface="ＭＳ Ｐゴシック" pitchFamily="-106" charset="-128"/>
                <a:cs typeface="ＭＳ Ｐゴシック" pitchFamily="-106" charset="-128"/>
              </a:rPr>
              <a:t>John 1:14</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“And the Word became flesh, and dwelt among us, and we saw His glory, glory as of the only begotten from the Father, full of grace and truth.”</a:t>
            </a:r>
          </a:p>
          <a:p>
            <a:r>
              <a:rPr lang="en-US" sz="1200" kern="1200" dirty="0">
                <a:solidFill>
                  <a:schemeClr val="tx1"/>
                </a:solidFill>
                <a:effectLst/>
                <a:latin typeface="+mn-lt"/>
                <a:ea typeface="ＭＳ Ｐゴシック" pitchFamily="-106" charset="-128"/>
                <a:cs typeface="ＭＳ Ｐゴシック" pitchFamily="-106" charset="-128"/>
              </a:rPr>
              <a:t>Jesus is the visible image of the invisible God (Colossians 1:15).</a:t>
            </a:r>
          </a:p>
          <a:p>
            <a:r>
              <a:rPr lang="en-US" sz="1200" kern="1200" dirty="0">
                <a:solidFill>
                  <a:schemeClr val="tx1"/>
                </a:solidFill>
                <a:effectLst/>
                <a:latin typeface="+mn-lt"/>
                <a:ea typeface="ＭＳ Ｐゴシック" pitchFamily="-106" charset="-128"/>
                <a:cs typeface="ＭＳ Ｐゴシック" pitchFamily="-106" charset="-128"/>
              </a:rPr>
              <a:t>In Him, we see God’s mercy, truth, and justice perfectly united.</a:t>
            </a:r>
          </a:p>
          <a:p>
            <a:r>
              <a:rPr lang="en-US" sz="1200" kern="1200" dirty="0">
                <a:solidFill>
                  <a:schemeClr val="tx1"/>
                </a:solidFill>
                <a:effectLst/>
                <a:latin typeface="+mn-lt"/>
                <a:ea typeface="ＭＳ Ｐゴシック" pitchFamily="-106" charset="-128"/>
                <a:cs typeface="ＭＳ Ｐゴシック" pitchFamily="-106" charset="-128"/>
              </a:rPr>
              <a:t>He is not merely the messenger of God’s promise — He </a:t>
            </a:r>
            <a:r>
              <a:rPr lang="en-US" sz="1200" b="1" kern="1200" dirty="0">
                <a:solidFill>
                  <a:schemeClr val="tx1"/>
                </a:solidFill>
                <a:effectLst/>
                <a:latin typeface="+mn-lt"/>
                <a:ea typeface="ＭＳ Ｐゴシック" pitchFamily="-106" charset="-128"/>
                <a:cs typeface="ＭＳ Ｐゴシック" pitchFamily="-106" charset="-128"/>
              </a:rPr>
              <a:t>is</a:t>
            </a:r>
            <a:r>
              <a:rPr lang="en-US" sz="1200" kern="1200" dirty="0">
                <a:solidFill>
                  <a:schemeClr val="tx1"/>
                </a:solidFill>
                <a:effectLst/>
                <a:latin typeface="+mn-lt"/>
                <a:ea typeface="ＭＳ Ｐゴシック" pitchFamily="-106" charset="-128"/>
                <a:cs typeface="ＭＳ Ｐゴシック" pitchFamily="-106" charset="-128"/>
              </a:rPr>
              <a:t> the promise fulfilled.</a:t>
            </a:r>
          </a:p>
          <a:p>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FC16B-55B9-D4BE-5219-25623000F6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4DE16-DCDE-DC3D-8556-53C52197CA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57CE5A-E075-AC46-627B-AF70C8A733F3}"/>
              </a:ext>
            </a:extLst>
          </p:cNvPr>
          <p:cNvSpPr>
            <a:spLocks noGrp="1"/>
          </p:cNvSpPr>
          <p:nvPr>
            <p:ph type="body" idx="1"/>
          </p:nvPr>
        </p:nvSpPr>
        <p:spPr/>
        <p:txBody>
          <a:bodyPr>
            <a:normAutofit/>
          </a:bodyPr>
          <a:lstStyle/>
          <a:p>
            <a:r>
              <a:rPr lang="en-US" sz="1200" b="1" kern="1200" dirty="0">
                <a:solidFill>
                  <a:schemeClr val="tx1"/>
                </a:solidFill>
                <a:effectLst/>
                <a:latin typeface="+mn-lt"/>
                <a:ea typeface="ＭＳ Ｐゴシック" pitchFamily="-106" charset="-128"/>
                <a:cs typeface="ＭＳ Ｐゴシック" pitchFamily="-106" charset="-128"/>
              </a:rPr>
              <a:t>What the data supports:</a:t>
            </a:r>
            <a:endParaRPr lang="en-US" sz="1200" kern="1200" dirty="0">
              <a:solidFill>
                <a:schemeClr val="tx1"/>
              </a:solidFill>
              <a:effectLst/>
              <a:latin typeface="+mn-lt"/>
              <a:ea typeface="ＭＳ Ｐゴシック" pitchFamily="-106" charset="-128"/>
              <a:cs typeface="ＭＳ Ｐゴシック" pitchFamily="-106" charset="-128"/>
            </a:endParaRPr>
          </a:p>
          <a:p>
            <a:pPr rtl="0" fontAlgn="ctr"/>
            <a:endParaRPr lang="en-US" sz="1200" b="1"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God sees us ‘in Christ’</a:t>
            </a:r>
            <a:r>
              <a:rPr lang="en-US" sz="1200" kern="1200" dirty="0">
                <a:solidFill>
                  <a:schemeClr val="tx1"/>
                </a:solidFill>
                <a:effectLst/>
                <a:latin typeface="+mn-lt"/>
                <a:ea typeface="ＭＳ Ｐゴシック" pitchFamily="-106" charset="-128"/>
                <a:cs typeface="ＭＳ Ｐゴシック" pitchFamily="-106" charset="-128"/>
              </a:rPr>
              <a:t>—that is, clothed with Christ/justified/adopted—</a:t>
            </a:r>
            <a:r>
              <a:rPr lang="en-US" sz="1200" b="1" kern="1200" dirty="0">
                <a:solidFill>
                  <a:schemeClr val="tx1"/>
                </a:solidFill>
                <a:effectLst/>
                <a:latin typeface="+mn-lt"/>
                <a:ea typeface="ＭＳ Ｐゴシック" pitchFamily="-106" charset="-128"/>
                <a:cs typeface="ＭＳ Ｐゴシック" pitchFamily="-106" charset="-128"/>
              </a:rPr>
              <a:t>by faith</a:t>
            </a:r>
            <a:r>
              <a:rPr lang="en-US" sz="1200" kern="1200" dirty="0">
                <a:solidFill>
                  <a:schemeClr val="tx1"/>
                </a:solidFill>
                <a:effectLst/>
                <a:latin typeface="+mn-lt"/>
                <a:ea typeface="ＭＳ Ｐゴシック" pitchFamily="-106" charset="-128"/>
                <a:cs typeface="ＭＳ Ｐゴシック" pitchFamily="-106" charset="-128"/>
              </a:rPr>
              <a:t> (union), not by performance. Status is a </a:t>
            </a:r>
            <a:r>
              <a:rPr lang="en-US" sz="1200" b="1" kern="1200" dirty="0">
                <a:solidFill>
                  <a:schemeClr val="tx1"/>
                </a:solidFill>
                <a:effectLst/>
                <a:latin typeface="+mn-lt"/>
                <a:ea typeface="ＭＳ Ｐゴシック" pitchFamily="-106" charset="-128"/>
                <a:cs typeface="ＭＳ Ｐゴシック" pitchFamily="-106" charset="-128"/>
              </a:rPr>
              <a:t>grace gift</a:t>
            </a:r>
            <a:r>
              <a:rPr lang="en-US" sz="1200" kern="1200" dirty="0">
                <a:solidFill>
                  <a:schemeClr val="tx1"/>
                </a:solidFill>
                <a:effectLst/>
                <a:latin typeface="+mn-lt"/>
                <a:ea typeface="ＭＳ Ｐゴシック" pitchFamily="-106" charset="-128"/>
                <a:cs typeface="ＭＳ Ｐゴシック" pitchFamily="-106" charset="-128"/>
              </a:rPr>
              <a:t> grounded in Christ’s obedience, cross, and resurrection. </a:t>
            </a:r>
          </a:p>
          <a:p>
            <a:pPr rtl="0" fontAlgn="ctr"/>
            <a:endParaRPr lang="en-US" sz="1200" b="1" kern="1200" dirty="0">
              <a:solidFill>
                <a:schemeClr val="tx1"/>
              </a:solidFill>
              <a:effectLst/>
              <a:latin typeface="+mn-lt"/>
              <a:ea typeface="ＭＳ Ｐゴシック" pitchFamily="-106" charset="-128"/>
              <a:cs typeface="ＭＳ Ｐゴシック" pitchFamily="-106" charset="-128"/>
            </a:endParaRPr>
          </a:p>
          <a:p>
            <a:pPr rtl="0" fontAlgn="ctr"/>
            <a:r>
              <a:rPr lang="en-US" sz="1200" b="1" kern="1200" dirty="0">
                <a:solidFill>
                  <a:schemeClr val="tx1"/>
                </a:solidFill>
                <a:effectLst/>
                <a:latin typeface="+mn-lt"/>
                <a:ea typeface="ＭＳ Ｐゴシック" pitchFamily="-106" charset="-128"/>
                <a:cs typeface="ＭＳ Ｐゴシック" pitchFamily="-106" charset="-128"/>
              </a:rPr>
              <a:t>Ethic flows from status.</a:t>
            </a:r>
            <a:r>
              <a:rPr lang="en-US" sz="1200" kern="1200" dirty="0">
                <a:solidFill>
                  <a:schemeClr val="tx1"/>
                </a:solidFill>
                <a:effectLst/>
                <a:latin typeface="+mn-lt"/>
                <a:ea typeface="ＭＳ Ｐゴシック" pitchFamily="-106" charset="-128"/>
                <a:cs typeface="ＭＳ Ｐゴシック" pitchFamily="-106" charset="-128"/>
              </a:rPr>
              <a:t> The Spirit writes the law on hearts (Jer 31; </a:t>
            </a:r>
            <a:r>
              <a:rPr lang="en-US" sz="1200" kern="1200" dirty="0" err="1">
                <a:solidFill>
                  <a:schemeClr val="tx1"/>
                </a:solidFill>
                <a:effectLst/>
                <a:latin typeface="+mn-lt"/>
                <a:ea typeface="ＭＳ Ｐゴシック" pitchFamily="-106" charset="-128"/>
                <a:cs typeface="ＭＳ Ｐゴシック" pitchFamily="-106" charset="-128"/>
              </a:rPr>
              <a:t>Ezek</a:t>
            </a:r>
            <a:r>
              <a:rPr lang="en-US" sz="1200" kern="1200" dirty="0">
                <a:solidFill>
                  <a:schemeClr val="tx1"/>
                </a:solidFill>
                <a:effectLst/>
                <a:latin typeface="+mn-lt"/>
                <a:ea typeface="ＭＳ Ｐゴシック" pitchFamily="-106" charset="-128"/>
                <a:cs typeface="ＭＳ Ｐゴシック" pitchFamily="-106" charset="-128"/>
              </a:rPr>
              <a:t> 36), so we </a:t>
            </a:r>
            <a:r>
              <a:rPr lang="en-US" sz="1200" b="1" kern="1200" dirty="0">
                <a:solidFill>
                  <a:schemeClr val="tx1"/>
                </a:solidFill>
                <a:effectLst/>
                <a:latin typeface="+mn-lt"/>
                <a:ea typeface="ＭＳ Ｐゴシック" pitchFamily="-106" charset="-128"/>
                <a:cs typeface="ＭＳ Ｐゴシック" pitchFamily="-106" charset="-128"/>
              </a:rPr>
              <a:t>live out</a:t>
            </a:r>
            <a:r>
              <a:rPr lang="en-US" sz="1200" kern="1200" dirty="0">
                <a:solidFill>
                  <a:schemeClr val="tx1"/>
                </a:solidFill>
                <a:effectLst/>
                <a:latin typeface="+mn-lt"/>
                <a:ea typeface="ＭＳ Ｐゴシック" pitchFamily="-106" charset="-128"/>
                <a:cs typeface="ＭＳ Ｐゴシック" pitchFamily="-106" charset="-128"/>
              </a:rPr>
              <a:t> covenant loyalty as fruit—Paul’s “one anothers.” This is the </a:t>
            </a:r>
            <a:r>
              <a:rPr lang="en-US" sz="1200" b="1" kern="1200" dirty="0">
                <a:solidFill>
                  <a:schemeClr val="tx1"/>
                </a:solidFill>
                <a:effectLst/>
                <a:latin typeface="+mn-lt"/>
                <a:ea typeface="ＭＳ Ｐゴシック" pitchFamily="-106" charset="-128"/>
                <a:cs typeface="ＭＳ Ｐゴシック" pitchFamily="-106" charset="-128"/>
              </a:rPr>
              <a:t>messianic ḥesed</a:t>
            </a:r>
            <a:r>
              <a:rPr lang="en-US" sz="1200" kern="1200" dirty="0">
                <a:solidFill>
                  <a:schemeClr val="tx1"/>
                </a:solidFill>
                <a:effectLst/>
                <a:latin typeface="+mn-lt"/>
                <a:ea typeface="ＭＳ Ｐゴシック" pitchFamily="-106" charset="-128"/>
                <a:cs typeface="ＭＳ Ｐゴシック" pitchFamily="-106" charset="-128"/>
              </a:rPr>
              <a:t> reproduced in us.</a:t>
            </a:r>
          </a:p>
          <a:p>
            <a:endParaRPr lang="en-US" sz="1200" b="1"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Nuance:  </a:t>
            </a:r>
            <a:r>
              <a:rPr lang="en-US" sz="1200" kern="1200" dirty="0">
                <a:solidFill>
                  <a:schemeClr val="tx1"/>
                </a:solidFill>
                <a:effectLst/>
                <a:latin typeface="+mn-lt"/>
                <a:ea typeface="ＭＳ Ｐゴシック" pitchFamily="-106" charset="-128"/>
                <a:cs typeface="ＭＳ Ｐゴシック" pitchFamily="-106" charset="-128"/>
              </a:rPr>
              <a:t>It’s better to say: </a:t>
            </a:r>
            <a:r>
              <a:rPr lang="en-US" sz="1200" i="1" kern="1200" dirty="0">
                <a:solidFill>
                  <a:schemeClr val="tx1"/>
                </a:solidFill>
                <a:effectLst/>
                <a:latin typeface="+mn-lt"/>
                <a:ea typeface="ＭＳ Ｐゴシック" pitchFamily="-106" charset="-128"/>
                <a:cs typeface="ＭＳ Ｐゴシック" pitchFamily="-106" charset="-128"/>
              </a:rPr>
              <a:t>Because we are in Christ, God regards us in the status of His Son, and therefore calls and empowers us to live the Son’s ethic.</a:t>
            </a:r>
            <a:r>
              <a:rPr lang="en-US" sz="1200" kern="1200" dirty="0">
                <a:solidFill>
                  <a:schemeClr val="tx1"/>
                </a:solidFill>
                <a:effectLst/>
                <a:latin typeface="+mn-lt"/>
                <a:ea typeface="ＭＳ Ｐゴシック" pitchFamily="-106" charset="-128"/>
                <a:cs typeface="ＭＳ Ｐゴシック" pitchFamily="-106" charset="-128"/>
              </a:rPr>
              <a:t> Our obedience doesn’t create the status; it </a:t>
            </a:r>
            <a:r>
              <a:rPr lang="en-US" sz="1200" b="1" kern="1200" dirty="0">
                <a:solidFill>
                  <a:schemeClr val="tx1"/>
                </a:solidFill>
                <a:effectLst/>
                <a:latin typeface="+mn-lt"/>
                <a:ea typeface="ＭＳ Ｐゴシック" pitchFamily="-106" charset="-128"/>
                <a:cs typeface="ＭＳ Ｐゴシック" pitchFamily="-106" charset="-128"/>
              </a:rPr>
              <a:t>confirms and expresses</a:t>
            </a:r>
            <a:r>
              <a:rPr lang="en-US" sz="1200" kern="1200" dirty="0">
                <a:solidFill>
                  <a:schemeClr val="tx1"/>
                </a:solidFill>
                <a:effectLst/>
                <a:latin typeface="+mn-lt"/>
                <a:ea typeface="ＭＳ Ｐゴシック" pitchFamily="-106" charset="-128"/>
                <a:cs typeface="ＭＳ Ｐゴシック" pitchFamily="-106" charset="-128"/>
              </a:rPr>
              <a:t> it (Eph 2:8–10; Rom 8:4).</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Status in Christ is by union (grace), and the ḥesed </a:t>
            </a:r>
            <a:r>
              <a:rPr lang="en-US" sz="1200" b="1" u="sng" kern="1200" dirty="0">
                <a:solidFill>
                  <a:schemeClr val="tx1"/>
                </a:solidFill>
                <a:effectLst/>
                <a:latin typeface="+mn-lt"/>
                <a:ea typeface="ＭＳ Ｐゴシック" pitchFamily="-106" charset="-128"/>
                <a:cs typeface="ＭＳ Ｐゴシック" pitchFamily="-106" charset="-128"/>
              </a:rPr>
              <a:t>ethic</a:t>
            </a:r>
            <a:r>
              <a:rPr lang="en-US" sz="1200" b="1" kern="1200" dirty="0">
                <a:solidFill>
                  <a:schemeClr val="tx1"/>
                </a:solidFill>
                <a:effectLst/>
                <a:latin typeface="+mn-lt"/>
                <a:ea typeface="ＭＳ Ｐゴシック" pitchFamily="-106" charset="-128"/>
                <a:cs typeface="ＭＳ Ｐゴシック" pitchFamily="-106" charset="-128"/>
              </a:rPr>
              <a:t> is its necessary </a:t>
            </a:r>
            <a:r>
              <a:rPr lang="en-US" sz="1200" b="1" u="sng" kern="1200" dirty="0">
                <a:solidFill>
                  <a:schemeClr val="tx1"/>
                </a:solidFill>
                <a:effectLst/>
                <a:latin typeface="+mn-lt"/>
                <a:ea typeface="ＭＳ Ｐゴシック" pitchFamily="-106" charset="-128"/>
                <a:cs typeface="ＭＳ Ｐゴシック" pitchFamily="-106" charset="-128"/>
              </a:rPr>
              <a:t>fruit</a:t>
            </a:r>
            <a:r>
              <a:rPr lang="en-US" sz="1200" kern="1200" dirty="0">
                <a:solidFill>
                  <a:schemeClr val="tx1"/>
                </a:solidFill>
                <a:effectLst/>
                <a:latin typeface="+mn-lt"/>
                <a:ea typeface="ＭＳ Ｐゴシック" pitchFamily="-106" charset="-128"/>
                <a:cs typeface="ＭＳ Ｐゴシック" pitchFamily="-106" charset="-128"/>
              </a:rPr>
              <a:t>. In Christ, God keeps His Davidic/New-Covenant oath; and in Christ, we share both His </a:t>
            </a:r>
            <a:r>
              <a:rPr lang="en-US" sz="1200" b="1" kern="1200" dirty="0">
                <a:solidFill>
                  <a:schemeClr val="tx1"/>
                </a:solidFill>
                <a:effectLst/>
                <a:latin typeface="+mn-lt"/>
                <a:ea typeface="ＭＳ Ｐゴシック" pitchFamily="-106" charset="-128"/>
                <a:cs typeface="ＭＳ Ｐゴシック" pitchFamily="-106" charset="-128"/>
              </a:rPr>
              <a:t>standing</a:t>
            </a:r>
            <a:r>
              <a:rPr lang="en-US" sz="1200" kern="1200" dirty="0">
                <a:solidFill>
                  <a:schemeClr val="tx1"/>
                </a:solidFill>
                <a:effectLst/>
                <a:latin typeface="+mn-lt"/>
                <a:ea typeface="ＭＳ Ｐゴシック" pitchFamily="-106" charset="-128"/>
                <a:cs typeface="ＭＳ Ｐゴシック" pitchFamily="-106" charset="-128"/>
              </a:rPr>
              <a:t> and His </a:t>
            </a:r>
            <a:r>
              <a:rPr lang="en-US" sz="1200" b="1" kern="1200" dirty="0">
                <a:solidFill>
                  <a:schemeClr val="tx1"/>
                </a:solidFill>
                <a:effectLst/>
                <a:latin typeface="+mn-lt"/>
                <a:ea typeface="ＭＳ Ｐゴシック" pitchFamily="-106" charset="-128"/>
                <a:cs typeface="ＭＳ Ｐゴシック" pitchFamily="-106" charset="-128"/>
              </a:rPr>
              <a:t>way of life</a:t>
            </a:r>
            <a:r>
              <a:rPr lang="en-US" sz="1200" kern="1200" dirty="0">
                <a:solidFill>
                  <a:schemeClr val="tx1"/>
                </a:solidFill>
                <a:effectLst/>
                <a:latin typeface="+mn-lt"/>
                <a:ea typeface="ＭＳ Ｐゴシック" pitchFamily="-106" charset="-128"/>
                <a:cs typeface="ＭＳ Ｐゴシック" pitchFamily="-106" charset="-128"/>
              </a:rPr>
              <a:t>—the way of ḥesed.</a:t>
            </a:r>
          </a:p>
          <a:p>
            <a:pPr lvl="0"/>
            <a:endParaRPr lang="en-US" sz="1400" dirty="0"/>
          </a:p>
          <a:p>
            <a:pPr lvl="0"/>
            <a:r>
              <a:rPr lang="en-US" sz="1200" kern="1200" dirty="0">
                <a:solidFill>
                  <a:schemeClr val="tx1"/>
                </a:solidFill>
                <a:effectLst/>
                <a:latin typeface="+mn-lt"/>
                <a:ea typeface="ＭＳ Ｐゴシック" pitchFamily="-106" charset="-128"/>
                <a:cs typeface="ＭＳ Ｐゴシック" pitchFamily="-106" charset="-128"/>
              </a:rPr>
              <a:t>Ps 89:33–35; Isa 9:6–7; Mic 5:2; Hos 6:6 ⇢ Matt 9:13; 12:7; Mark 10:42–45; John 13; John 1:14; 14:6; Rom 6:3–5; 8:1–4; 2 Cor 5:17,21; Gal 2:20; 3:27; Eph 5:1–2,21; “one another” catena (Rom 12; Eph 4; Col 3; 1 Thess 5; Heb 10; 1 Pet 4–5).</a:t>
            </a:r>
            <a:endParaRPr lang="en-US" sz="1400" dirty="0"/>
          </a:p>
        </p:txBody>
      </p:sp>
      <p:sp>
        <p:nvSpPr>
          <p:cNvPr id="4" name="Slide Number Placeholder 3">
            <a:extLst>
              <a:ext uri="{FF2B5EF4-FFF2-40B4-BE49-F238E27FC236}">
                <a16:creationId xmlns:a16="http://schemas.microsoft.com/office/drawing/2014/main" id="{7EEFD904-30AD-3059-1C7C-96138173CFA1}"/>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26943988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F146-0464-A02B-D713-84EE5610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8961DE-89AB-9163-C4FD-48A29B4942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89F741-F27C-D5A8-3F72-C3D013ADDFE4}"/>
              </a:ext>
            </a:extLst>
          </p:cNvPr>
          <p:cNvSpPr>
            <a:spLocks noGrp="1"/>
          </p:cNvSpPr>
          <p:nvPr>
            <p:ph type="body" idx="1"/>
          </p:nvPr>
        </p:nvSpPr>
        <p:spPr/>
        <p:txBody>
          <a:bodyPr>
            <a:normAutofit fontScale="92500"/>
          </a:bodyPr>
          <a:lstStyle/>
          <a:p>
            <a:endParaRPr lang="en-US" dirty="0"/>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kern="1200" dirty="0">
                <a:solidFill>
                  <a:schemeClr val="tx1"/>
                </a:solidFill>
                <a:effectLst/>
                <a:latin typeface="+mn-lt"/>
                <a:ea typeface="ＭＳ Ｐゴシック" pitchFamily="-106" charset="-128"/>
                <a:cs typeface="ＭＳ Ｐゴシック" pitchFamily="-106" charset="-128"/>
              </a:rPr>
              <a:t>the author of </a:t>
            </a:r>
            <a:r>
              <a:rPr lang="en-US" sz="1200" kern="1200" dirty="0" err="1">
                <a:solidFill>
                  <a:schemeClr val="tx1"/>
                </a:solidFill>
                <a:effectLst/>
                <a:latin typeface="+mn-lt"/>
                <a:ea typeface="ＭＳ Ｐゴシック" pitchFamily="-106" charset="-128"/>
                <a:cs typeface="ＭＳ Ｐゴシック" pitchFamily="-106" charset="-128"/>
              </a:rPr>
              <a:t>hebrews</a:t>
            </a:r>
            <a:r>
              <a:rPr lang="en-US" sz="1200" kern="1200" dirty="0">
                <a:solidFill>
                  <a:schemeClr val="tx1"/>
                </a:solidFill>
                <a:effectLst/>
                <a:latin typeface="+mn-lt"/>
                <a:ea typeface="ＭＳ Ｐゴシック" pitchFamily="-106" charset="-128"/>
                <a:cs typeface="ＭＳ Ｐゴシック" pitchFamily="-106" charset="-128"/>
              </a:rPr>
              <a:t> builds a theology that ties the old covenants to the new covenant in </a:t>
            </a:r>
            <a:r>
              <a:rPr lang="en-US" sz="1200" kern="1200" dirty="0" err="1">
                <a:solidFill>
                  <a:schemeClr val="tx1"/>
                </a:solidFill>
                <a:effectLst/>
                <a:latin typeface="+mn-lt"/>
                <a:ea typeface="ＭＳ Ｐゴシック" pitchFamily="-106" charset="-128"/>
                <a:cs typeface="ＭＳ Ｐゴシック" pitchFamily="-106" charset="-128"/>
              </a:rPr>
              <a:t>christ</a:t>
            </a: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mn-lt"/>
                <a:ea typeface="ＭＳ Ｐゴシック" pitchFamily="-106" charset="-128"/>
                <a:cs typeface="ＭＳ Ｐゴシック" pitchFamily="-106" charset="-128"/>
              </a:rPr>
              <a:t>in </a:t>
            </a:r>
            <a:r>
              <a:rPr lang="en-US" sz="1200" kern="1200" dirty="0" err="1">
                <a:solidFill>
                  <a:schemeClr val="tx1"/>
                </a:solidFill>
                <a:effectLst/>
                <a:latin typeface="+mn-lt"/>
                <a:ea typeface="ＭＳ Ｐゴシック" pitchFamily="-106" charset="-128"/>
                <a:cs typeface="ＭＳ Ｐゴシック" pitchFamily="-106" charset="-128"/>
              </a:rPr>
              <a:t>christ</a:t>
            </a:r>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and covenant faithfulness converge — God keeping His oaths through the obedient Son.</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the new covenant promised (</a:t>
            </a:r>
            <a:r>
              <a:rPr lang="en-US" sz="1200" b="1" kern="1200" dirty="0" err="1">
                <a:solidFill>
                  <a:schemeClr val="tx1"/>
                </a:solidFill>
                <a:effectLst/>
                <a:latin typeface="+mn-lt"/>
                <a:ea typeface="ＭＳ Ｐゴシック" pitchFamily="-106" charset="-128"/>
                <a:cs typeface="ＭＳ Ｐゴシック" pitchFamily="-106" charset="-128"/>
              </a:rPr>
              <a:t>jeremiah</a:t>
            </a:r>
            <a:r>
              <a:rPr lang="en-US" sz="1200" b="1" kern="1200" dirty="0">
                <a:solidFill>
                  <a:schemeClr val="tx1"/>
                </a:solidFill>
                <a:effectLst/>
                <a:latin typeface="+mn-lt"/>
                <a:ea typeface="ＭＳ Ｐゴシック" pitchFamily="-106" charset="-128"/>
                <a:cs typeface="ＭＳ Ｐゴシック" pitchFamily="-106" charset="-128"/>
              </a:rPr>
              <a:t> 31:31–34)</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“Look, the days are coming,” says the Lord, “when I will make a new covenant with the people of Israel and Judah. It will not be like the covenant that I made with their ancestors… I will put my law within them and write it on their hearts. I will be their God, and they will be my people… for I will forgive their iniquity and their sin I will remember no more.”</a:t>
            </a:r>
          </a:p>
          <a:p>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Jeremiah 31:31–34,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in context, </a:t>
            </a:r>
            <a:r>
              <a:rPr lang="en-US" sz="1200" kern="1200" dirty="0" err="1">
                <a:solidFill>
                  <a:schemeClr val="tx1"/>
                </a:solidFill>
                <a:effectLst/>
                <a:latin typeface="+mn-lt"/>
                <a:ea typeface="ＭＳ Ｐゴシック" pitchFamily="-106" charset="-128"/>
                <a:cs typeface="ＭＳ Ｐゴシック" pitchFamily="-106" charset="-128"/>
              </a:rPr>
              <a:t>jeremiah’s</a:t>
            </a:r>
            <a:r>
              <a:rPr lang="en-US" sz="1200" kern="1200" dirty="0">
                <a:solidFill>
                  <a:schemeClr val="tx1"/>
                </a:solidFill>
                <a:effectLst/>
                <a:latin typeface="+mn-lt"/>
                <a:ea typeface="ＭＳ Ｐゴシック" pitchFamily="-106" charset="-128"/>
                <a:cs typeface="ＭＳ Ｐゴシック" pitchFamily="-106" charset="-128"/>
              </a:rPr>
              <a:t> audience imagined national restoration — land, peace, temple. but the promise went far deeper: </a:t>
            </a:r>
            <a:r>
              <a:rPr lang="en-US" sz="1200" b="1" kern="1200" dirty="0">
                <a:solidFill>
                  <a:schemeClr val="tx1"/>
                </a:solidFill>
                <a:effectLst/>
                <a:latin typeface="+mn-lt"/>
                <a:ea typeface="ＭＳ Ｐゴシック" pitchFamily="-106" charset="-128"/>
                <a:cs typeface="ＭＳ Ｐゴシック" pitchFamily="-106" charset="-128"/>
              </a:rPr>
              <a:t>inner transformation</a:t>
            </a:r>
            <a:r>
              <a:rPr lang="en-US" sz="1200" kern="1200" dirty="0">
                <a:solidFill>
                  <a:schemeClr val="tx1"/>
                </a:solidFill>
                <a:effectLst/>
                <a:latin typeface="+mn-lt"/>
                <a:ea typeface="ＭＳ Ｐゴシック" pitchFamily="-106" charset="-128"/>
                <a:cs typeface="ＭＳ Ｐゴシック" pitchFamily="-106" charset="-128"/>
              </a:rPr>
              <a:t>, </a:t>
            </a:r>
            <a:r>
              <a:rPr lang="en-US" sz="1200" b="1" kern="1200" dirty="0">
                <a:solidFill>
                  <a:schemeClr val="tx1"/>
                </a:solidFill>
                <a:effectLst/>
                <a:latin typeface="+mn-lt"/>
                <a:ea typeface="ＭＳ Ｐゴシック" pitchFamily="-106" charset="-128"/>
                <a:cs typeface="ＭＳ Ｐゴシック" pitchFamily="-106" charset="-128"/>
              </a:rPr>
              <a:t>forgiveness</a:t>
            </a:r>
            <a:r>
              <a:rPr lang="en-US" sz="1200" kern="1200" dirty="0">
                <a:solidFill>
                  <a:schemeClr val="tx1"/>
                </a:solidFill>
                <a:effectLst/>
                <a:latin typeface="+mn-lt"/>
                <a:ea typeface="ＭＳ Ｐゴシック" pitchFamily="-106" charset="-128"/>
                <a:cs typeface="ＭＳ Ｐゴシック" pitchFamily="-106" charset="-128"/>
              </a:rPr>
              <a:t>, and </a:t>
            </a:r>
            <a:r>
              <a:rPr lang="en-US" sz="1200" b="1" kern="1200" dirty="0">
                <a:solidFill>
                  <a:schemeClr val="tx1"/>
                </a:solidFill>
                <a:effectLst/>
                <a:latin typeface="+mn-lt"/>
                <a:ea typeface="ＭＳ Ｐゴシック" pitchFamily="-106" charset="-128"/>
                <a:cs typeface="ＭＳ Ｐゴシック" pitchFamily="-106" charset="-128"/>
              </a:rPr>
              <a:t>direct relationship</a:t>
            </a:r>
            <a:r>
              <a:rPr lang="en-US" sz="1200" kern="1200" dirty="0">
                <a:solidFill>
                  <a:schemeClr val="tx1"/>
                </a:solidFill>
                <a:effectLst/>
                <a:latin typeface="+mn-lt"/>
                <a:ea typeface="ＭＳ Ｐゴシック" pitchFamily="-106" charset="-128"/>
                <a:cs typeface="ＭＳ Ｐゴシック" pitchFamily="-106" charset="-128"/>
              </a:rPr>
              <a:t> with God.</a:t>
            </a:r>
          </a:p>
          <a:p>
            <a:r>
              <a:rPr lang="en-US" sz="1200" kern="1200" dirty="0">
                <a:solidFill>
                  <a:schemeClr val="tx1"/>
                </a:solidFill>
                <a:effectLst/>
                <a:latin typeface="+mn-lt"/>
                <a:ea typeface="ＭＳ Ｐゴシック" pitchFamily="-106" charset="-128"/>
                <a:cs typeface="ＭＳ Ｐゴシック" pitchFamily="-106" charset="-128"/>
              </a:rPr>
              <a:t>this covenant isn’t about stone tablets but about hearts reshaped by God’s Spirit (compare </a:t>
            </a:r>
            <a:r>
              <a:rPr lang="en-US" sz="1200" kern="1200" dirty="0" err="1">
                <a:solidFill>
                  <a:schemeClr val="tx1"/>
                </a:solidFill>
                <a:effectLst/>
                <a:latin typeface="+mn-lt"/>
                <a:ea typeface="ＭＳ Ｐゴシック" pitchFamily="-106" charset="-128"/>
                <a:cs typeface="ＭＳ Ｐゴシック" pitchFamily="-106" charset="-128"/>
              </a:rPr>
              <a:t>ezekiel</a:t>
            </a:r>
            <a:r>
              <a:rPr lang="en-US" sz="1200" kern="1200" dirty="0">
                <a:solidFill>
                  <a:schemeClr val="tx1"/>
                </a:solidFill>
                <a:effectLst/>
                <a:latin typeface="+mn-lt"/>
                <a:ea typeface="ＭＳ Ｐゴシック" pitchFamily="-106" charset="-128"/>
                <a:cs typeface="ＭＳ Ｐゴシック" pitchFamily="-106" charset="-128"/>
              </a:rPr>
              <a:t> 36:26–27). it’s the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of God now written inside His people.</a:t>
            </a:r>
          </a:p>
          <a:p>
            <a:r>
              <a:rPr lang="en-US" sz="1200" kern="1200" dirty="0">
                <a:solidFill>
                  <a:schemeClr val="tx1"/>
                </a:solidFill>
                <a:effectLst/>
                <a:latin typeface="+mn-lt"/>
                <a:ea typeface="ＭＳ Ｐゴシック" pitchFamily="-106" charset="-128"/>
                <a:cs typeface="ＭＳ Ｐゴシック" pitchFamily="-106" charset="-128"/>
              </a:rPr>
              <a:t>the </a:t>
            </a:r>
            <a:r>
              <a:rPr lang="en-US" sz="1200" kern="1200" dirty="0" err="1">
                <a:solidFill>
                  <a:schemeClr val="tx1"/>
                </a:solidFill>
                <a:effectLst/>
                <a:latin typeface="+mn-lt"/>
                <a:ea typeface="ＭＳ Ｐゴシック" pitchFamily="-106" charset="-128"/>
                <a:cs typeface="ＭＳ Ｐゴシック" pitchFamily="-106" charset="-128"/>
              </a:rPr>
              <a:t>israelites</a:t>
            </a:r>
            <a:r>
              <a:rPr lang="en-US" sz="1200" kern="1200" dirty="0">
                <a:solidFill>
                  <a:schemeClr val="tx1"/>
                </a:solidFill>
                <a:effectLst/>
                <a:latin typeface="+mn-lt"/>
                <a:ea typeface="ＭＳ Ｐゴシック" pitchFamily="-106" charset="-128"/>
                <a:cs typeface="ＭＳ Ｐゴシック" pitchFamily="-106" charset="-128"/>
              </a:rPr>
              <a:t> expected renewal </a:t>
            </a:r>
            <a:r>
              <a:rPr lang="en-US" sz="1200" i="1" kern="1200" dirty="0">
                <a:solidFill>
                  <a:schemeClr val="tx1"/>
                </a:solidFill>
                <a:effectLst/>
                <a:latin typeface="+mn-lt"/>
                <a:ea typeface="ＭＳ Ｐゴシック" pitchFamily="-106" charset="-128"/>
                <a:cs typeface="ＭＳ Ｐゴシック" pitchFamily="-106" charset="-128"/>
              </a:rPr>
              <a:t>around</a:t>
            </a:r>
            <a:r>
              <a:rPr lang="en-US" sz="1200" kern="1200" dirty="0">
                <a:solidFill>
                  <a:schemeClr val="tx1"/>
                </a:solidFill>
                <a:effectLst/>
                <a:latin typeface="+mn-lt"/>
                <a:ea typeface="ＭＳ Ｐゴシック" pitchFamily="-106" charset="-128"/>
                <a:cs typeface="ＭＳ Ｐゴシック" pitchFamily="-106" charset="-128"/>
              </a:rPr>
              <a:t> them; God promised renewal </a:t>
            </a:r>
            <a:r>
              <a:rPr lang="en-US" sz="1200" i="1" kern="1200" dirty="0">
                <a:solidFill>
                  <a:schemeClr val="tx1"/>
                </a:solidFill>
                <a:effectLst/>
                <a:latin typeface="+mn-lt"/>
                <a:ea typeface="ＭＳ Ｐゴシック" pitchFamily="-106" charset="-128"/>
                <a:cs typeface="ＭＳ Ｐゴシック" pitchFamily="-106" charset="-128"/>
              </a:rPr>
              <a:t>within</a:t>
            </a:r>
            <a:r>
              <a:rPr lang="en-US" sz="1200" kern="1200" dirty="0">
                <a:solidFill>
                  <a:schemeClr val="tx1"/>
                </a:solidFill>
                <a:effectLst/>
                <a:latin typeface="+mn-lt"/>
                <a:ea typeface="ＭＳ Ｐゴシック" pitchFamily="-106" charset="-128"/>
                <a:cs typeface="ＭＳ Ｐゴシック" pitchFamily="-106" charset="-128"/>
              </a:rPr>
              <a:t> them.</a:t>
            </a: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err="1">
                <a:solidFill>
                  <a:schemeClr val="tx1"/>
                </a:solidFill>
                <a:effectLst/>
                <a:latin typeface="+mn-lt"/>
                <a:ea typeface="ＭＳ Ｐゴシック" pitchFamily="-106" charset="-128"/>
                <a:cs typeface="ＭＳ Ｐゴシック" pitchFamily="-106" charset="-128"/>
              </a:rPr>
              <a:t>israel’s</a:t>
            </a:r>
            <a:r>
              <a:rPr lang="en-US" sz="1200" b="1" kern="1200" dirty="0">
                <a:solidFill>
                  <a:schemeClr val="tx1"/>
                </a:solidFill>
                <a:effectLst/>
                <a:latin typeface="+mn-lt"/>
                <a:ea typeface="ＭＳ Ｐゴシック" pitchFamily="-106" charset="-128"/>
                <a:cs typeface="ＭＳ Ｐゴシック" pitchFamily="-106" charset="-128"/>
              </a:rPr>
              <a:t> misunderstanding of the messiah and </a:t>
            </a:r>
            <a:r>
              <a:rPr lang="en-US" sz="1200" b="1" i="1" kern="1200" dirty="0">
                <a:solidFill>
                  <a:schemeClr val="tx1"/>
                </a:solidFill>
                <a:effectLst/>
                <a:latin typeface="+mn-lt"/>
                <a:ea typeface="ＭＳ Ｐゴシック" pitchFamily="-106" charset="-128"/>
                <a:cs typeface="ＭＳ Ｐゴシック" pitchFamily="-106" charset="-128"/>
              </a:rPr>
              <a:t>ḥesed</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ancient </a:t>
            </a:r>
            <a:r>
              <a:rPr lang="en-US" sz="1200" kern="1200" dirty="0" err="1">
                <a:solidFill>
                  <a:schemeClr val="tx1"/>
                </a:solidFill>
                <a:effectLst/>
                <a:latin typeface="+mn-lt"/>
                <a:ea typeface="ＭＳ Ｐゴシック" pitchFamily="-106" charset="-128"/>
                <a:cs typeface="ＭＳ Ｐゴシック" pitchFamily="-106" charset="-128"/>
              </a:rPr>
              <a:t>israel</a:t>
            </a:r>
            <a:r>
              <a:rPr lang="en-US" sz="1200" kern="1200" dirty="0">
                <a:solidFill>
                  <a:schemeClr val="tx1"/>
                </a:solidFill>
                <a:effectLst/>
                <a:latin typeface="+mn-lt"/>
                <a:ea typeface="ＭＳ Ｐゴシック" pitchFamily="-106" charset="-128"/>
                <a:cs typeface="ＭＳ Ｐゴシック" pitchFamily="-106" charset="-128"/>
              </a:rPr>
              <a:t> largely read the messianic prophecies politically — a ruler like </a:t>
            </a:r>
            <a:r>
              <a:rPr lang="en-US" sz="1200" kern="1200" dirty="0" err="1">
                <a:solidFill>
                  <a:schemeClr val="tx1"/>
                </a:solidFill>
                <a:effectLst/>
                <a:latin typeface="+mn-lt"/>
                <a:ea typeface="ＭＳ Ｐゴシック" pitchFamily="-106" charset="-128"/>
                <a:cs typeface="ＭＳ Ｐゴシック" pitchFamily="-106" charset="-128"/>
              </a:rPr>
              <a:t>david</a:t>
            </a:r>
            <a:r>
              <a:rPr lang="en-US" sz="1200" kern="1200" dirty="0">
                <a:solidFill>
                  <a:schemeClr val="tx1"/>
                </a:solidFill>
                <a:effectLst/>
                <a:latin typeface="+mn-lt"/>
                <a:ea typeface="ＭＳ Ｐゴシック" pitchFamily="-106" charset="-128"/>
                <a:cs typeface="ＭＳ Ｐゴシック" pitchFamily="-106" charset="-128"/>
              </a:rPr>
              <a:t> who would free them from gentile rule. but they missed the moral and relational nature of the Messiah’s rule: His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a:t>
            </a:r>
          </a:p>
          <a:p>
            <a:r>
              <a:rPr lang="en-US" sz="1200" b="1" kern="1200" dirty="0" err="1">
                <a:solidFill>
                  <a:schemeClr val="tx1"/>
                </a:solidFill>
                <a:effectLst/>
                <a:latin typeface="+mn-lt"/>
                <a:ea typeface="ＭＳ Ｐゴシック" pitchFamily="-106" charset="-128"/>
                <a:cs typeface="ＭＳ Ｐゴシック" pitchFamily="-106" charset="-128"/>
              </a:rPr>
              <a:t>isaiah</a:t>
            </a:r>
            <a:r>
              <a:rPr lang="en-US" sz="1200" b="1" kern="1200" dirty="0">
                <a:solidFill>
                  <a:schemeClr val="tx1"/>
                </a:solidFill>
                <a:effectLst/>
                <a:latin typeface="+mn-lt"/>
                <a:ea typeface="ＭＳ Ｐゴシック" pitchFamily="-106" charset="-128"/>
                <a:cs typeface="ＭＳ Ｐゴシック" pitchFamily="-106" charset="-128"/>
              </a:rPr>
              <a:t> 53</a:t>
            </a:r>
            <a:r>
              <a:rPr lang="en-US" sz="1200" kern="1200" dirty="0">
                <a:solidFill>
                  <a:schemeClr val="tx1"/>
                </a:solidFill>
                <a:effectLst/>
                <a:latin typeface="+mn-lt"/>
                <a:ea typeface="ＭＳ Ｐゴシック" pitchFamily="-106" charset="-128"/>
                <a:cs typeface="ＭＳ Ｐゴシック" pitchFamily="-106" charset="-128"/>
              </a:rPr>
              <a:t> shows the suffering servant who bears sin through self-giving love — the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of God made flesh.</a:t>
            </a:r>
          </a:p>
          <a:p>
            <a:r>
              <a:rPr lang="en-US" sz="1200" b="1" kern="1200" dirty="0" err="1">
                <a:solidFill>
                  <a:schemeClr val="tx1"/>
                </a:solidFill>
                <a:effectLst/>
                <a:latin typeface="+mn-lt"/>
                <a:ea typeface="ＭＳ Ｐゴシック" pitchFamily="-106" charset="-128"/>
                <a:cs typeface="ＭＳ Ｐゴシック" pitchFamily="-106" charset="-128"/>
              </a:rPr>
              <a:t>micah</a:t>
            </a:r>
            <a:r>
              <a:rPr lang="en-US" sz="1200" b="1" kern="1200" dirty="0">
                <a:solidFill>
                  <a:schemeClr val="tx1"/>
                </a:solidFill>
                <a:effectLst/>
                <a:latin typeface="+mn-lt"/>
                <a:ea typeface="ＭＳ Ｐゴシック" pitchFamily="-106" charset="-128"/>
                <a:cs typeface="ＭＳ Ｐゴシック" pitchFamily="-106" charset="-128"/>
              </a:rPr>
              <a:t> 6:8</a:t>
            </a:r>
            <a:r>
              <a:rPr lang="en-US" sz="1200" kern="1200" dirty="0">
                <a:solidFill>
                  <a:schemeClr val="tx1"/>
                </a:solidFill>
                <a:effectLst/>
                <a:latin typeface="+mn-lt"/>
                <a:ea typeface="ＭＳ Ｐゴシック" pitchFamily="-106" charset="-128"/>
                <a:cs typeface="ＭＳ Ｐゴシック" pitchFamily="-106" charset="-128"/>
              </a:rPr>
              <a:t> already summarized covenant morality: “to do justice, to love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and to walk humbly with your God.” the people loved ritual but ignored covenant loyalty.</a:t>
            </a:r>
          </a:p>
          <a:p>
            <a:r>
              <a:rPr lang="en-US" sz="1200" kern="1200" dirty="0">
                <a:solidFill>
                  <a:schemeClr val="tx1"/>
                </a:solidFill>
                <a:effectLst/>
                <a:latin typeface="+mn-lt"/>
                <a:ea typeface="ＭＳ Ｐゴシック" pitchFamily="-106" charset="-128"/>
                <a:cs typeface="ＭＳ Ｐゴシック" pitchFamily="-106" charset="-128"/>
              </a:rPr>
              <a:t>by </a:t>
            </a:r>
            <a:r>
              <a:rPr lang="en-US" sz="1200" kern="1200" dirty="0" err="1">
                <a:solidFill>
                  <a:schemeClr val="tx1"/>
                </a:solidFill>
                <a:effectLst/>
                <a:latin typeface="+mn-lt"/>
                <a:ea typeface="ＭＳ Ｐゴシック" pitchFamily="-106" charset="-128"/>
                <a:cs typeface="ＭＳ Ｐゴシック" pitchFamily="-106" charset="-128"/>
              </a:rPr>
              <a:t>jesus’</a:t>
            </a:r>
            <a:r>
              <a:rPr lang="en-US" sz="1200" kern="1200" dirty="0">
                <a:solidFill>
                  <a:schemeClr val="tx1"/>
                </a:solidFill>
                <a:effectLst/>
                <a:latin typeface="+mn-lt"/>
                <a:ea typeface="ＭＳ Ｐゴシック" pitchFamily="-106" charset="-128"/>
                <a:cs typeface="ＭＳ Ｐゴシック" pitchFamily="-106" charset="-128"/>
              </a:rPr>
              <a:t> day, this blindness persisted. when </a:t>
            </a:r>
            <a:r>
              <a:rPr lang="en-US" sz="1200" kern="1200" dirty="0" err="1">
                <a:solidFill>
                  <a:schemeClr val="tx1"/>
                </a:solidFill>
                <a:effectLst/>
                <a:latin typeface="+mn-lt"/>
                <a:ea typeface="ＭＳ Ｐゴシック" pitchFamily="-106" charset="-128"/>
                <a:cs typeface="ＭＳ Ｐゴシック" pitchFamily="-106" charset="-128"/>
              </a:rPr>
              <a:t>jesus</a:t>
            </a:r>
            <a:r>
              <a:rPr lang="en-US" sz="1200" kern="1200" dirty="0">
                <a:solidFill>
                  <a:schemeClr val="tx1"/>
                </a:solidFill>
                <a:effectLst/>
                <a:latin typeface="+mn-lt"/>
                <a:ea typeface="ＭＳ Ｐゴシック" pitchFamily="-106" charset="-128"/>
                <a:cs typeface="ＭＳ Ｐゴシック" pitchFamily="-106" charset="-128"/>
              </a:rPr>
              <a:t> quoted </a:t>
            </a:r>
            <a:r>
              <a:rPr lang="en-US" sz="1200" i="1" kern="1200" dirty="0" err="1">
                <a:solidFill>
                  <a:schemeClr val="tx1"/>
                </a:solidFill>
                <a:effectLst/>
                <a:latin typeface="+mn-lt"/>
                <a:ea typeface="ＭＳ Ｐゴシック" pitchFamily="-106" charset="-128"/>
                <a:cs typeface="ＭＳ Ｐゴシック" pitchFamily="-106" charset="-128"/>
              </a:rPr>
              <a:t>hosea</a:t>
            </a:r>
            <a:r>
              <a:rPr lang="en-US" sz="1200" i="1" kern="1200" dirty="0">
                <a:solidFill>
                  <a:schemeClr val="tx1"/>
                </a:solidFill>
                <a:effectLst/>
                <a:latin typeface="+mn-lt"/>
                <a:ea typeface="ＭＳ Ｐゴシック" pitchFamily="-106" charset="-128"/>
                <a:cs typeface="ＭＳ Ｐゴシック" pitchFamily="-106" charset="-128"/>
              </a:rPr>
              <a:t> 6:6</a:t>
            </a:r>
            <a:r>
              <a:rPr lang="en-US" sz="1200" kern="1200" dirty="0">
                <a:solidFill>
                  <a:schemeClr val="tx1"/>
                </a:solidFill>
                <a:effectLst/>
                <a:latin typeface="+mn-lt"/>
                <a:ea typeface="ＭＳ Ｐゴシック" pitchFamily="-106" charset="-128"/>
                <a:cs typeface="ＭＳ Ｐゴシック" pitchFamily="-106" charset="-128"/>
              </a:rPr>
              <a:t> (“</a:t>
            </a:r>
            <a:r>
              <a:rPr lang="en-US" sz="1200" kern="1200" dirty="0" err="1">
                <a:solidFill>
                  <a:schemeClr val="tx1"/>
                </a:solidFill>
                <a:effectLst/>
                <a:latin typeface="+mn-lt"/>
                <a:ea typeface="ＭＳ Ｐゴシック" pitchFamily="-106" charset="-128"/>
                <a:cs typeface="ＭＳ Ｐゴシック" pitchFamily="-106" charset="-128"/>
              </a:rPr>
              <a:t>i</a:t>
            </a:r>
            <a:r>
              <a:rPr lang="en-US" sz="1200" kern="1200" dirty="0">
                <a:solidFill>
                  <a:schemeClr val="tx1"/>
                </a:solidFill>
                <a:effectLst/>
                <a:latin typeface="+mn-lt"/>
                <a:ea typeface="ＭＳ Ｐゴシック" pitchFamily="-106" charset="-128"/>
                <a:cs typeface="ＭＳ Ｐゴシック" pitchFamily="-106" charset="-128"/>
              </a:rPr>
              <a:t> desire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not sacrifice”), he wasn’t introducing a new idea; he was restoring the original covenant ethic </a:t>
            </a:r>
            <a:r>
              <a:rPr lang="en-US" sz="1200" kern="1200" dirty="0" err="1">
                <a:solidFill>
                  <a:schemeClr val="tx1"/>
                </a:solidFill>
                <a:effectLst/>
                <a:latin typeface="+mn-lt"/>
                <a:ea typeface="ＭＳ Ｐゴシック" pitchFamily="-106" charset="-128"/>
                <a:cs typeface="ＭＳ Ｐゴシック" pitchFamily="-106" charset="-128"/>
              </a:rPr>
              <a:t>israel</a:t>
            </a:r>
            <a:r>
              <a:rPr lang="en-US" sz="1200" kern="1200" dirty="0">
                <a:solidFill>
                  <a:schemeClr val="tx1"/>
                </a:solidFill>
                <a:effectLst/>
                <a:latin typeface="+mn-lt"/>
                <a:ea typeface="ＭＳ Ｐゴシック" pitchFamily="-106" charset="-128"/>
                <a:cs typeface="ＭＳ Ｐゴシック" pitchFamily="-106" charset="-128"/>
              </a:rPr>
              <a:t> had abandoned.</a:t>
            </a:r>
          </a:p>
          <a:p>
            <a:r>
              <a:rPr lang="en-US" sz="1200" kern="1200" dirty="0">
                <a:solidFill>
                  <a:schemeClr val="tx1"/>
                </a:solidFill>
                <a:effectLst/>
                <a:latin typeface="+mn-lt"/>
                <a:ea typeface="ＭＳ Ｐゴシック" pitchFamily="-106" charset="-128"/>
                <a:cs typeface="ＭＳ Ｐゴシック" pitchFamily="-106" charset="-128"/>
              </a:rPr>
              <a:t>the mystery was not that the messiah would come — but </a:t>
            </a:r>
            <a:r>
              <a:rPr lang="en-US" sz="1200" i="1" kern="1200" dirty="0">
                <a:solidFill>
                  <a:schemeClr val="tx1"/>
                </a:solidFill>
                <a:effectLst/>
                <a:latin typeface="+mn-lt"/>
                <a:ea typeface="ＭＳ Ｐゴシック" pitchFamily="-106" charset="-128"/>
                <a:cs typeface="ＭＳ Ｐゴシック" pitchFamily="-106" charset="-128"/>
              </a:rPr>
              <a:t>how</a:t>
            </a:r>
            <a:r>
              <a:rPr lang="en-US" sz="1200" kern="1200" dirty="0">
                <a:solidFill>
                  <a:schemeClr val="tx1"/>
                </a:solidFill>
                <a:effectLst/>
                <a:latin typeface="+mn-lt"/>
                <a:ea typeface="ＭＳ Ｐゴシック" pitchFamily="-106" charset="-128"/>
                <a:cs typeface="ＭＳ Ｐゴシック" pitchFamily="-106" charset="-128"/>
              </a:rPr>
              <a:t>: as a servant, not a conqueror; as one who rules by dying, not killing.</a:t>
            </a:r>
          </a:p>
          <a:p>
            <a:r>
              <a:rPr lang="en-US" sz="1200" kern="1200" dirty="0">
                <a:solidFill>
                  <a:schemeClr val="tx1"/>
                </a:solidFill>
                <a:effectLst/>
                <a:latin typeface="+mn-lt"/>
                <a:ea typeface="ＭＳ Ｐゴシック" pitchFamily="-106" charset="-128"/>
                <a:cs typeface="ＭＳ Ｐゴシック" pitchFamily="-106" charset="-128"/>
              </a:rPr>
              <a:t>his throne was a cross.</a:t>
            </a:r>
          </a:p>
          <a:p>
            <a:r>
              <a:rPr lang="en-US" sz="1200" kern="1200" dirty="0">
                <a:solidFill>
                  <a:schemeClr val="tx1"/>
                </a:solidFill>
                <a:effectLst/>
                <a:latin typeface="+mn-lt"/>
                <a:ea typeface="ＭＳ Ｐゴシック" pitchFamily="-106" charset="-128"/>
                <a:cs typeface="ＭＳ Ｐゴシック" pitchFamily="-106" charset="-128"/>
              </a:rPr>
              <a:t>his victory was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fulfilled.</a:t>
            </a:r>
          </a:p>
          <a:p>
            <a:endParaRPr lang="en-US" dirty="0"/>
          </a:p>
          <a:p>
            <a:r>
              <a:rPr lang="en-US" sz="1200" b="1" kern="1200" dirty="0">
                <a:solidFill>
                  <a:schemeClr val="tx1"/>
                </a:solidFill>
                <a:effectLst/>
                <a:latin typeface="+mn-lt"/>
                <a:ea typeface="ＭＳ Ｐゴシック" pitchFamily="-106" charset="-128"/>
                <a:cs typeface="ＭＳ Ｐゴシック" pitchFamily="-106" charset="-128"/>
              </a:rPr>
              <a:t>the revelation of true </a:t>
            </a:r>
            <a:r>
              <a:rPr lang="en-US" sz="1200" b="1" i="1" kern="1200" dirty="0">
                <a:solidFill>
                  <a:schemeClr val="tx1"/>
                </a:solidFill>
                <a:effectLst/>
                <a:latin typeface="+mn-lt"/>
                <a:ea typeface="ＭＳ Ｐゴシック" pitchFamily="-106" charset="-128"/>
                <a:cs typeface="ＭＳ Ｐゴシック" pitchFamily="-106" charset="-128"/>
              </a:rPr>
              <a:t>ḥesed</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when viewed from the cross:</a:t>
            </a:r>
          </a:p>
          <a:p>
            <a:pPr rtl="0" fontAlgn="ct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 God’s faithful love that fulfills every promise despite human failure.</a:t>
            </a:r>
          </a:p>
          <a:p>
            <a:pPr rtl="0" fontAlgn="ctr"/>
            <a:r>
              <a:rPr lang="en-US" sz="1200" kern="1200" dirty="0">
                <a:solidFill>
                  <a:schemeClr val="tx1"/>
                </a:solidFill>
                <a:effectLst/>
                <a:latin typeface="+mn-lt"/>
                <a:ea typeface="ＭＳ Ｐゴシック" pitchFamily="-106" charset="-128"/>
                <a:cs typeface="ＭＳ Ｐゴシック" pitchFamily="-106" charset="-128"/>
              </a:rPr>
              <a:t>in </a:t>
            </a:r>
            <a:r>
              <a:rPr lang="en-US" sz="1200" kern="1200" dirty="0" err="1">
                <a:solidFill>
                  <a:schemeClr val="tx1"/>
                </a:solidFill>
                <a:effectLst/>
                <a:latin typeface="+mn-lt"/>
                <a:ea typeface="ＭＳ Ｐゴシック" pitchFamily="-106" charset="-128"/>
                <a:cs typeface="ＭＳ Ｐゴシック" pitchFamily="-106" charset="-128"/>
              </a:rPr>
              <a:t>christ</a:t>
            </a:r>
            <a:r>
              <a:rPr lang="en-US" sz="1200" kern="1200" dirty="0">
                <a:solidFill>
                  <a:schemeClr val="tx1"/>
                </a:solidFill>
                <a:effectLst/>
                <a:latin typeface="+mn-lt"/>
                <a:ea typeface="ＭＳ Ｐゴシック" pitchFamily="-106" charset="-128"/>
                <a:cs typeface="ＭＳ Ｐゴシック" pitchFamily="-106" charset="-128"/>
              </a:rPr>
              <a:t>, that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becomes personal — poured into hearts by the spirit (rom 5:5).</a:t>
            </a:r>
          </a:p>
          <a:p>
            <a:pPr rtl="0" fontAlgn="ctr"/>
            <a:r>
              <a:rPr lang="en-US" sz="1200" kern="1200" dirty="0">
                <a:solidFill>
                  <a:schemeClr val="tx1"/>
                </a:solidFill>
                <a:effectLst/>
                <a:latin typeface="+mn-lt"/>
                <a:ea typeface="ＭＳ Ｐゴシック" pitchFamily="-106" charset="-128"/>
                <a:cs typeface="ＭＳ Ｐゴシック" pitchFamily="-106" charset="-128"/>
              </a:rPr>
              <a:t>the “mystery” hidden for ages (col 1:26–27) is that gentiles and jews together share this covenant faithfulness through union with </a:t>
            </a:r>
            <a:r>
              <a:rPr lang="en-US" sz="1200" kern="1200" dirty="0" err="1">
                <a:solidFill>
                  <a:schemeClr val="tx1"/>
                </a:solidFill>
                <a:effectLst/>
                <a:latin typeface="+mn-lt"/>
                <a:ea typeface="ＭＳ Ｐゴシック" pitchFamily="-106" charset="-128"/>
                <a:cs typeface="ＭＳ Ｐゴシック" pitchFamily="-106" charset="-128"/>
              </a:rPr>
              <a:t>christ</a:t>
            </a:r>
            <a:r>
              <a:rPr lang="en-US" sz="1200" kern="1200" dirty="0">
                <a:solidFill>
                  <a:schemeClr val="tx1"/>
                </a:solidFill>
                <a:effectLst/>
                <a:latin typeface="+mn-lt"/>
                <a:ea typeface="ＭＳ Ｐゴシック" pitchFamily="-106" charset="-128"/>
                <a:cs typeface="ＭＳ Ｐゴシック" pitchFamily="-106" charset="-128"/>
              </a:rPr>
              <a:t>.</a:t>
            </a:r>
          </a:p>
          <a:p>
            <a:r>
              <a:rPr lang="en-US" sz="1200" kern="1200" dirty="0">
                <a:solidFill>
                  <a:schemeClr val="tx1"/>
                </a:solidFill>
                <a:effectLst/>
                <a:latin typeface="+mn-lt"/>
                <a:ea typeface="ＭＳ Ｐゴシック" pitchFamily="-106" charset="-128"/>
                <a:cs typeface="ＭＳ Ｐゴシック" pitchFamily="-106" charset="-128"/>
              </a:rPr>
              <a:t>“Now the main point of what we are saying is this: we have such a high priest, one who sat down at the right hand of the throne of the Majesty in heaven... he is the mediator of a better covenant, enacted on better promises.”</a:t>
            </a:r>
          </a:p>
          <a:p>
            <a:r>
              <a:rPr lang="en-US" sz="1200" kern="1200" dirty="0">
                <a:solidFill>
                  <a:schemeClr val="tx1"/>
                </a:solidFill>
                <a:effectLst/>
                <a:latin typeface="+mn-lt"/>
                <a:ea typeface="ＭＳ Ｐゴシック" pitchFamily="-106" charset="-128"/>
                <a:cs typeface="ＭＳ Ｐゴシック" pitchFamily="-106" charset="-128"/>
              </a:rPr>
              <a:t>— </a:t>
            </a:r>
            <a:r>
              <a:rPr lang="en-US" sz="1200" i="1" kern="1200" dirty="0">
                <a:solidFill>
                  <a:schemeClr val="tx1"/>
                </a:solidFill>
                <a:effectLst/>
                <a:latin typeface="+mn-lt"/>
                <a:ea typeface="ＭＳ Ｐゴシック" pitchFamily="-106" charset="-128"/>
                <a:cs typeface="ＭＳ Ｐゴシック" pitchFamily="-106" charset="-128"/>
              </a:rPr>
              <a:t>Hebrews 8:1,6, NET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summary thought</a:t>
            </a:r>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the ancient covenants were </a:t>
            </a:r>
            <a:r>
              <a:rPr lang="en-US" sz="1200" b="1" kern="1200" dirty="0">
                <a:solidFill>
                  <a:schemeClr val="tx1"/>
                </a:solidFill>
                <a:effectLst/>
                <a:latin typeface="+mn-lt"/>
                <a:ea typeface="ＭＳ Ｐゴシック" pitchFamily="-106" charset="-128"/>
                <a:cs typeface="ＭＳ Ｐゴシック" pitchFamily="-106" charset="-128"/>
              </a:rPr>
              <a:t>shadows</a:t>
            </a:r>
            <a:r>
              <a:rPr lang="en-US" sz="1200" kern="1200" dirty="0">
                <a:solidFill>
                  <a:schemeClr val="tx1"/>
                </a:solidFill>
                <a:effectLst/>
                <a:latin typeface="+mn-lt"/>
                <a:ea typeface="ＭＳ Ｐゴシック" pitchFamily="-106" charset="-128"/>
                <a:cs typeface="ＭＳ Ｐゴシック" pitchFamily="-106" charset="-128"/>
              </a:rPr>
              <a:t>; </a:t>
            </a:r>
            <a:r>
              <a:rPr lang="en-US" sz="1200" kern="1200" dirty="0" err="1">
                <a:solidFill>
                  <a:schemeClr val="tx1"/>
                </a:solidFill>
                <a:effectLst/>
                <a:latin typeface="+mn-lt"/>
                <a:ea typeface="ＭＳ Ｐゴシック" pitchFamily="-106" charset="-128"/>
                <a:cs typeface="ＭＳ Ｐゴシック" pitchFamily="-106" charset="-128"/>
              </a:rPr>
              <a:t>christ</a:t>
            </a:r>
            <a:r>
              <a:rPr lang="en-US" sz="1200" kern="1200" dirty="0">
                <a:solidFill>
                  <a:schemeClr val="tx1"/>
                </a:solidFill>
                <a:effectLst/>
                <a:latin typeface="+mn-lt"/>
                <a:ea typeface="ＭＳ Ｐゴシック" pitchFamily="-106" charset="-128"/>
                <a:cs typeface="ＭＳ Ｐゴシック" pitchFamily="-106" charset="-128"/>
              </a:rPr>
              <a:t> is </a:t>
            </a:r>
            <a:r>
              <a:rPr lang="en-US" sz="1200" b="1" kern="1200" dirty="0">
                <a:solidFill>
                  <a:schemeClr val="tx1"/>
                </a:solidFill>
                <a:effectLst/>
                <a:latin typeface="+mn-lt"/>
                <a:ea typeface="ＭＳ Ｐゴシック" pitchFamily="-106" charset="-128"/>
                <a:cs typeface="ＭＳ Ｐゴシック" pitchFamily="-106" charset="-128"/>
              </a:rPr>
              <a:t>substance</a:t>
            </a:r>
            <a:r>
              <a:rPr lang="en-US" sz="1200" kern="1200" dirty="0">
                <a:solidFill>
                  <a:schemeClr val="tx1"/>
                </a:solidFill>
                <a:effectLst/>
                <a:latin typeface="+mn-lt"/>
                <a:ea typeface="ＭＳ Ｐゴシック" pitchFamily="-106" charset="-128"/>
                <a:cs typeface="ＭＳ Ｐゴシック" pitchFamily="-106" charset="-128"/>
              </a:rPr>
              <a:t>.</a:t>
            </a:r>
          </a:p>
          <a:p>
            <a:r>
              <a:rPr lang="en-US" sz="1200" kern="1200" dirty="0">
                <a:solidFill>
                  <a:schemeClr val="tx1"/>
                </a:solidFill>
                <a:effectLst/>
                <a:latin typeface="+mn-lt"/>
                <a:ea typeface="ＭＳ Ｐゴシック" pitchFamily="-106" charset="-128"/>
                <a:cs typeface="ＭＳ Ｐゴシック" pitchFamily="-106" charset="-128"/>
              </a:rPr>
              <a:t>their rituals hinted at what his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would achieve: forgiveness, transformation, and unbreakable fellowship.</a:t>
            </a:r>
          </a:p>
          <a:p>
            <a:r>
              <a:rPr lang="en-US" sz="1200" kern="1200" dirty="0">
                <a:solidFill>
                  <a:schemeClr val="tx1"/>
                </a:solidFill>
                <a:effectLst/>
                <a:latin typeface="+mn-lt"/>
                <a:ea typeface="ＭＳ Ｐゴシック" pitchFamily="-106" charset="-128"/>
                <a:cs typeface="ＭＳ Ｐゴシック" pitchFamily="-106" charset="-128"/>
              </a:rPr>
              <a:t>so when we read backward through the new covenant, we see the same God — steadfast, loyal, merciful — fulfilling His own covenant from the inside out.</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DC260F6-9FD2-B989-3760-00EF30F03367}"/>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8078113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r>
              <a:rPr lang="en-US" sz="1200" kern="1200" dirty="0">
                <a:solidFill>
                  <a:schemeClr val="tx1"/>
                </a:solidFill>
                <a:effectLst/>
                <a:latin typeface="+mn-lt"/>
                <a:ea typeface="ＭＳ Ｐゴシック" pitchFamily="-106" charset="-128"/>
                <a:cs typeface="ＭＳ Ｐゴシック" pitchFamily="-106" charset="-128"/>
              </a:rPr>
              <a:t>The apostolic theology of </a:t>
            </a:r>
            <a:r>
              <a:rPr lang="en-US" sz="1200" i="1" kern="1200" dirty="0">
                <a:solidFill>
                  <a:schemeClr val="tx1"/>
                </a:solidFill>
                <a:effectLst/>
                <a:latin typeface="+mn-lt"/>
                <a:ea typeface="ＭＳ Ｐゴシック" pitchFamily="-106" charset="-128"/>
                <a:cs typeface="ＭＳ Ｐゴシック" pitchFamily="-106" charset="-128"/>
              </a:rPr>
              <a:t>ḥesed</a:t>
            </a:r>
            <a:r>
              <a:rPr lang="en-US" sz="1200" kern="1200" dirty="0">
                <a:solidFill>
                  <a:schemeClr val="tx1"/>
                </a:solidFill>
                <a:effectLst/>
                <a:latin typeface="+mn-lt"/>
                <a:ea typeface="ＭＳ Ｐゴシック" pitchFamily="-106" charset="-128"/>
                <a:cs typeface="ＭＳ Ｐゴシック" pitchFamily="-106" charset="-128"/>
              </a:rPr>
              <a:t> can be summed up this way:</a:t>
            </a:r>
          </a:p>
          <a:p>
            <a:r>
              <a:rPr lang="en-US" sz="1200" b="1" kern="1200" dirty="0">
                <a:solidFill>
                  <a:schemeClr val="tx1"/>
                </a:solidFill>
                <a:effectLst/>
                <a:latin typeface="+mn-lt"/>
                <a:ea typeface="ＭＳ Ｐゴシック" pitchFamily="-106" charset="-128"/>
                <a:cs typeface="ＭＳ Ｐゴシック" pitchFamily="-106" charset="-128"/>
              </a:rPr>
              <a:t>Christ is both the revelation and reproduction of God’s covenant love.</a:t>
            </a:r>
            <a:endParaRPr lang="en-US" sz="1200" kern="1200" dirty="0">
              <a:solidFill>
                <a:schemeClr val="tx1"/>
              </a:solidFill>
              <a:effectLst/>
              <a:latin typeface="+mn-lt"/>
              <a:ea typeface="ＭＳ Ｐゴシック" pitchFamily="-106" charset="-128"/>
              <a:cs typeface="ＭＳ Ｐゴシック" pitchFamily="-106" charset="-128"/>
            </a:endParaRPr>
          </a:p>
          <a:p>
            <a:pPr marL="171450" indent="-171450">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His followers, joined to Him by the Spirit, become living witnesses of that same faithfulness — serving, giving, forgiving, and suffering as He did.</a:t>
            </a:r>
          </a:p>
          <a:p>
            <a:pPr lvl="0"/>
            <a:endParaRPr lang="en-US" sz="140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F216-45CE-6D4A-A7EC-8CF8530C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177E0-5BC1-CCA2-E0D0-B0F1ED13C32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EF2C66-0FC5-CCA7-0145-EA560B9DBB86}"/>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EACAD69-D764-0807-A1D0-7D2CC703E71A}"/>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0786758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924DC-7E79-F956-7E7A-9A91CF810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90594-776B-4B1C-CB5D-578AEE388C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81AF37-CC7E-26F1-1A98-CB676DE120E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2A2EFACF-5AF4-FBCF-C716-A7E106575171}"/>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28943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35E2C-425A-2FA0-C045-F993FDC9B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844E44-51B1-00F5-D6C7-A7796FA126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CE2FD3F-E274-3528-1367-9688872C6C64}"/>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A2E57C5E-CF9A-8B87-F192-5766DE3BCD9B}"/>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35605053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75004-E1CE-DC6E-2059-12B84AF9EB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D7DC5-20E2-A33A-ACD8-8B23B7C83EB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D60A64B-C3FE-7EE7-AC0C-6C96902D5DD2}"/>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B9A01493-9EBA-7523-9F7E-C0769AB05706}"/>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1583714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572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550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the Messiah Fulfilled in Christ</a:t>
            </a:r>
          </a:p>
          <a:p>
            <a:endParaRPr lang="en-US" sz="2400" dirty="0">
              <a:solidFill>
                <a:schemeClr val="tx2">
                  <a:lumMod val="60000"/>
                  <a:lumOff val="40000"/>
                </a:schemeClr>
              </a:solidFill>
            </a:endParaRPr>
          </a:p>
          <a:p>
            <a:r>
              <a:rPr lang="en-US" dirty="0"/>
              <a:t>For a child has been born to us, a son has been given to us. He shoulders responsibility and is called: Amazing Adviser, Mighty God, Everlasting Father, Prince of Peace. His dominion will be vast, and he will bring immeasurable prosperity. He will rule on David’s throne and over David’s kingdom, establishing it and strengthening it by promoting justice and fairness, from this time forward and forevermore. The zeal of the LORD of Heaven’s Armies will accomplish this.</a:t>
            </a:r>
          </a:p>
          <a:p>
            <a:r>
              <a:rPr lang="en-US" b="0" dirty="0"/>
              <a:t>(</a:t>
            </a:r>
            <a:r>
              <a:rPr lang="en-US" dirty="0"/>
              <a:t>Isaiah 9:6-7</a:t>
            </a:r>
            <a:r>
              <a:rPr lang="en-US" b="0" dirty="0"/>
              <a:t>)</a:t>
            </a:r>
          </a:p>
          <a:p>
            <a:endParaRPr lang="en-US" dirty="0">
              <a:solidFill>
                <a:schemeClr val="tx2">
                  <a:lumMod val="60000"/>
                  <a:lumOff val="40000"/>
                </a:schemeClr>
              </a:solidFill>
            </a:endParaRPr>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228600" y="0"/>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God’s Character Revealed</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Steadfast Love</a:t>
            </a:r>
            <a:r>
              <a:rPr lang="en-US" sz="2400" dirty="0">
                <a:solidFill>
                  <a:schemeClr val="tx2">
                    <a:lumMod val="60000"/>
                    <a:lumOff val="40000"/>
                  </a:schemeClr>
                </a:solidFill>
              </a:rPr>
              <a:t> of the Lord Never Ceases…</a:t>
            </a:r>
          </a:p>
        </p:txBody>
      </p:sp>
      <p:sp>
        <p:nvSpPr>
          <p:cNvPr id="3" name="TextBox 2">
            <a:extLst>
              <a:ext uri="{FF2B5EF4-FFF2-40B4-BE49-F238E27FC236}">
                <a16:creationId xmlns:a16="http://schemas.microsoft.com/office/drawing/2014/main" id="{C96E21EF-3DEE-2EB9-2120-682F4B4560B7}"/>
              </a:ext>
            </a:extLst>
          </p:cNvPr>
          <p:cNvSpPr txBox="1"/>
          <p:nvPr/>
        </p:nvSpPr>
        <p:spPr>
          <a:xfrm>
            <a:off x="233362" y="1019175"/>
            <a:ext cx="8677275" cy="5632311"/>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Hosea 6:6 – Jesus quotes twice in Matthew</a:t>
            </a:r>
          </a:p>
          <a:p>
            <a:pPr marL="342900" indent="-342900">
              <a:buFont typeface="Arial" panose="020B0604020202020204" pitchFamily="34" charset="0"/>
              <a:buChar char="•"/>
            </a:pPr>
            <a:r>
              <a:rPr lang="en-US" u="sng" dirty="0">
                <a:ea typeface="ＭＳ Ｐゴシック" pitchFamily="-106" charset="-128"/>
                <a:cs typeface="ＭＳ Ｐゴシック" pitchFamily="-106" charset="-128"/>
              </a:rPr>
              <a:t>Mat 9:13</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Go and learn what this saying means: </a:t>
            </a:r>
            <a:r>
              <a:rPr lang="en-US" dirty="0">
                <a:ea typeface="ＭＳ Ｐゴシック" pitchFamily="-106" charset="-128"/>
                <a:cs typeface="ＭＳ Ｐゴシック" pitchFamily="-106" charset="-128"/>
              </a:rPr>
              <a:t>‘</a:t>
            </a:r>
            <a:r>
              <a:rPr lang="en-US" b="1" i="1" dirty="0">
                <a:ea typeface="ＭＳ Ｐゴシック" pitchFamily="-106" charset="-128"/>
                <a:cs typeface="ＭＳ Ｐゴシック" pitchFamily="-106" charset="-128"/>
              </a:rPr>
              <a:t>I want mercy and not sacrifice</a:t>
            </a:r>
            <a:r>
              <a:rPr lang="en-US" i="1" dirty="0">
                <a:ea typeface="ＭＳ Ｐゴシック" pitchFamily="-106" charset="-128"/>
                <a:cs typeface="ＭＳ Ｐゴシック" pitchFamily="-106" charset="-128"/>
              </a:rPr>
              <a:t>.</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For I did not come to call the righteous, but sinners</a:t>
            </a:r>
            <a:r>
              <a:rPr lang="en-US"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u="sng" dirty="0"/>
              <a:t>Mat 12:7</a:t>
            </a:r>
            <a:r>
              <a:rPr lang="en-US" dirty="0"/>
              <a:t>  “</a:t>
            </a:r>
            <a:r>
              <a:rPr lang="en-US" i="1" dirty="0"/>
              <a:t>If you had known what this means: </a:t>
            </a:r>
            <a:r>
              <a:rPr lang="en-US" dirty="0"/>
              <a:t>‘</a:t>
            </a:r>
            <a:r>
              <a:rPr lang="en-US" b="1" i="1" dirty="0"/>
              <a:t>I want mercy and not sacrifice</a:t>
            </a:r>
            <a:r>
              <a:rPr lang="en-US" dirty="0"/>
              <a:t>,’ </a:t>
            </a:r>
            <a:r>
              <a:rPr lang="en-US" i="1" dirty="0"/>
              <a:t>you would not have condemned the innocent.</a:t>
            </a:r>
            <a:r>
              <a:rPr lang="en-US" dirty="0"/>
              <a:t>”</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‘Mercy’ is translated from Hebrew ‘</a:t>
            </a:r>
            <a:r>
              <a:rPr lang="en-US" b="1" dirty="0"/>
              <a:t>ḥesed (חֶסֶד)’</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Hosea 6:6</a:t>
            </a:r>
            <a:r>
              <a:rPr lang="en-US" b="1" dirty="0">
                <a:ea typeface="ＭＳ Ｐゴシック" pitchFamily="-106" charset="-128"/>
                <a:cs typeface="ＭＳ Ｐゴシック" pitchFamily="-106" charset="-128"/>
              </a:rPr>
              <a:t>  ‘</a:t>
            </a:r>
            <a:r>
              <a:rPr lang="en-US" i="1" dirty="0"/>
              <a:t>I desire </a:t>
            </a:r>
            <a:r>
              <a:rPr lang="en-US" b="1" i="1" dirty="0"/>
              <a:t>mercy</a:t>
            </a:r>
            <a:r>
              <a:rPr lang="en-US" i="1" dirty="0"/>
              <a:t> (Heb. ḥesed), not sacrifice</a:t>
            </a:r>
            <a:r>
              <a:rPr lang="en-US" dirty="0"/>
              <a:t>.’</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Psalm 89:34-35</a:t>
            </a:r>
            <a:r>
              <a:rPr lang="en-US" b="1" dirty="0">
                <a:ea typeface="ＭＳ Ｐゴシック" pitchFamily="-106" charset="-128"/>
                <a:cs typeface="ＭＳ Ｐゴシック" pitchFamily="-106" charset="-128"/>
              </a:rPr>
              <a:t>  </a:t>
            </a:r>
            <a:r>
              <a:rPr lang="en-US" dirty="0">
                <a:ea typeface="ＭＳ Ｐゴシック" pitchFamily="-106" charset="-128"/>
                <a:cs typeface="ＭＳ Ｐゴシック" pitchFamily="-106" charset="-128"/>
              </a:rPr>
              <a:t>‘</a:t>
            </a:r>
            <a:r>
              <a:rPr lang="en-US" i="1" dirty="0">
                <a:ea typeface="ＭＳ Ｐゴシック" pitchFamily="-106" charset="-128"/>
                <a:cs typeface="ＭＳ Ｐゴシック" pitchFamily="-106" charset="-128"/>
              </a:rPr>
              <a:t>I will not break my </a:t>
            </a:r>
            <a:r>
              <a:rPr lang="en-US" b="1" i="1" dirty="0">
                <a:ea typeface="ＭＳ Ｐゴシック" pitchFamily="-106" charset="-128"/>
                <a:cs typeface="ＭＳ Ｐゴシック" pitchFamily="-106" charset="-128"/>
              </a:rPr>
              <a:t>covenant </a:t>
            </a:r>
            <a:r>
              <a:rPr lang="en-US" i="1" dirty="0">
                <a:ea typeface="ＭＳ Ｐゴシック" pitchFamily="-106" charset="-128"/>
                <a:cs typeface="ＭＳ Ｐゴシック" pitchFamily="-106" charset="-128"/>
              </a:rPr>
              <a:t>(Heb. hesed) or go back on what I promised.  Once and for all I have vowed by my own holiness…’</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What </a:t>
            </a:r>
            <a:r>
              <a:rPr lang="en-US" b="1" u="sng" dirty="0">
                <a:ea typeface="ＭＳ Ｐゴシック" pitchFamily="-106" charset="-128"/>
                <a:cs typeface="ＭＳ Ｐゴシック" pitchFamily="-106" charset="-128"/>
              </a:rPr>
              <a:t>hesed</a:t>
            </a:r>
            <a:r>
              <a:rPr lang="en-US" b="1" dirty="0">
                <a:ea typeface="ＭＳ Ｐゴシック" pitchFamily="-106" charset="-128"/>
                <a:cs typeface="ＭＳ Ｐゴシック" pitchFamily="-106" charset="-128"/>
              </a:rPr>
              <a:t> means (and why covenant matters)</a:t>
            </a:r>
          </a:p>
          <a:p>
            <a:pPr marL="285750" indent="-285750">
              <a:buFont typeface="Arial" panose="020B0604020202020204" pitchFamily="34" charset="0"/>
              <a:buChar char="•"/>
            </a:pPr>
            <a:r>
              <a:rPr lang="en-US" dirty="0"/>
              <a:t>Core ideas: </a:t>
            </a:r>
            <a:r>
              <a:rPr lang="en-US" b="1" dirty="0"/>
              <a:t>covenant loyalty, steadfast love, faithful mercy</a:t>
            </a:r>
            <a:r>
              <a:rPr lang="en-US" dirty="0"/>
              <a:t>. Love that </a:t>
            </a:r>
            <a:r>
              <a:rPr lang="en-US" i="1" dirty="0"/>
              <a:t>acts</a:t>
            </a:r>
            <a:r>
              <a:rPr lang="en-US" dirty="0"/>
              <a:t> to keep promises. It’s relational, oath-shaped, and other-seeking.</a:t>
            </a:r>
          </a:p>
          <a:p>
            <a:pPr marL="285750" indent="-285750">
              <a:buFont typeface="Arial" panose="020B0604020202020204" pitchFamily="34" charset="0"/>
              <a:buChar char="•"/>
            </a:pPr>
            <a:r>
              <a:rPr lang="en-US" dirty="0"/>
              <a:t>Hesed is </a:t>
            </a:r>
            <a:r>
              <a:rPr lang="en-US" b="1" dirty="0"/>
              <a:t>covenant love-in-action</a:t>
            </a:r>
            <a:r>
              <a:rPr lang="en-US" dirty="0"/>
              <a:t>. It’s the </a:t>
            </a:r>
            <a:r>
              <a:rPr lang="en-US" i="1" dirty="0"/>
              <a:t>moral shape </a:t>
            </a:r>
            <a:r>
              <a:rPr lang="en-US" dirty="0"/>
              <a:t>of God’s promise-keeping.</a:t>
            </a:r>
          </a:p>
          <a:p>
            <a:pPr marL="285750" indent="-285750">
              <a:buFont typeface="Arial" panose="020B0604020202020204" pitchFamily="34" charset="0"/>
              <a:buChar char="•"/>
            </a:pPr>
            <a:r>
              <a:rPr lang="en-US" b="1" dirty="0"/>
              <a:t>Implication:</a:t>
            </a:r>
            <a:r>
              <a:rPr lang="en-US" dirty="0"/>
              <a:t> Jesus operationalizes ḥesed: </a:t>
            </a:r>
            <a:r>
              <a:rPr lang="en-US" i="1" dirty="0"/>
              <a:t>mercy &gt; sacrifice</a:t>
            </a:r>
            <a:r>
              <a:rPr lang="en-US" dirty="0"/>
              <a:t>; </a:t>
            </a:r>
            <a:r>
              <a:rPr lang="en-US" i="1" dirty="0"/>
              <a:t>greatness = servanthood</a:t>
            </a:r>
            <a:r>
              <a:rPr lang="en-US" dirty="0"/>
              <a:t>; </a:t>
            </a:r>
            <a:r>
              <a:rPr lang="en-US" i="1" dirty="0"/>
              <a:t>rule = self-giving love</a:t>
            </a:r>
            <a:r>
              <a:rPr lang="en-US" dirty="0"/>
              <a:t>.</a:t>
            </a:r>
          </a:p>
          <a:p>
            <a:pPr marL="285750" indent="-285750">
              <a:buFont typeface="Arial" panose="020B0604020202020204" pitchFamily="34" charset="0"/>
              <a:buChar char="•"/>
            </a:pPr>
            <a:r>
              <a:rPr lang="en-US" dirty="0"/>
              <a:t>Paul saturates his letters with </a:t>
            </a:r>
            <a:r>
              <a:rPr lang="en-US" b="1" dirty="0"/>
              <a:t>“one another”</a:t>
            </a:r>
            <a:r>
              <a:rPr lang="en-US" dirty="0"/>
              <a:t> commands (love, bear, forgive, submit). It’s the communal ethic of covenant loyalty now formed “in Christ.”</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708493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1000"/>
                                        <p:tgtEl>
                                          <p:spTgt spid="3">
                                            <p:txEl>
                                              <p:pRg st="8" end="8"/>
                                            </p:txEl>
                                          </p:spTgt>
                                        </p:tgtEl>
                                      </p:cBhvr>
                                    </p:animEffect>
                                    <p:anim calcmode="lin" valueType="num">
                                      <p:cBhvr>
                                        <p:cTn id="42"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Effect transition="in" filter="fade">
                                      <p:cBhvr>
                                        <p:cTn id="51" dur="1000"/>
                                        <p:tgtEl>
                                          <p:spTgt spid="3">
                                            <p:txEl>
                                              <p:pRg st="10" end="10"/>
                                            </p:txEl>
                                          </p:spTgt>
                                        </p:tgtEl>
                                      </p:cBhvr>
                                    </p:animEffect>
                                    <p:anim calcmode="lin" valueType="num">
                                      <p:cBhvr>
                                        <p:cTn id="52"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3"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558D6-1B64-B6E0-96F5-A98F9F36BED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27E372D-3379-7994-3500-5BC48AC7291D}"/>
              </a:ext>
            </a:extLst>
          </p:cNvPr>
          <p:cNvSpPr txBox="1">
            <a:spLocks/>
          </p:cNvSpPr>
          <p:nvPr/>
        </p:nvSpPr>
        <p:spPr bwMode="auto">
          <a:xfrm>
            <a:off x="253364" y="-14099"/>
            <a:ext cx="8382000"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Looking Backwards </a:t>
            </a:r>
            <a:br>
              <a:rPr lang="en-US" sz="3600" dirty="0"/>
            </a:br>
            <a:r>
              <a:rPr lang="en-US" sz="2400" dirty="0">
                <a:solidFill>
                  <a:schemeClr val="tx2">
                    <a:lumMod val="60000"/>
                    <a:lumOff val="40000"/>
                  </a:schemeClr>
                </a:solidFill>
              </a:rPr>
              <a:t>Through the Lens of the New Covenant </a:t>
            </a:r>
            <a:endParaRPr lang="en-US" sz="2000" dirty="0">
              <a:solidFill>
                <a:schemeClr val="tx2">
                  <a:lumMod val="60000"/>
                  <a:lumOff val="40000"/>
                </a:schemeClr>
              </a:solidFill>
            </a:endParaRPr>
          </a:p>
        </p:txBody>
      </p:sp>
      <p:sp>
        <p:nvSpPr>
          <p:cNvPr id="8" name="TextBox 7">
            <a:extLst>
              <a:ext uri="{FF2B5EF4-FFF2-40B4-BE49-F238E27FC236}">
                <a16:creationId xmlns:a16="http://schemas.microsoft.com/office/drawing/2014/main" id="{1D589070-263E-91A8-C459-A0E26ADBD042}"/>
              </a:ext>
            </a:extLst>
          </p:cNvPr>
          <p:cNvSpPr txBox="1"/>
          <p:nvPr/>
        </p:nvSpPr>
        <p:spPr>
          <a:xfrm>
            <a:off x="253364" y="3886200"/>
            <a:ext cx="8566788" cy="2585323"/>
          </a:xfrm>
          <a:prstGeom prst="rect">
            <a:avLst/>
          </a:prstGeom>
          <a:noFill/>
        </p:spPr>
        <p:txBody>
          <a:bodyPr wrap="square" rtlCol="0">
            <a:spAutoFit/>
          </a:bodyPr>
          <a:lstStyle/>
          <a:p>
            <a:r>
              <a:rPr lang="en-US" b="1" dirty="0"/>
              <a:t>Synthesis:</a:t>
            </a:r>
            <a:r>
              <a:rPr lang="en-US" dirty="0"/>
              <a:t> If </a:t>
            </a:r>
            <a:r>
              <a:rPr lang="en-US" b="1" dirty="0"/>
              <a:t>ḥesed</a:t>
            </a:r>
            <a:r>
              <a:rPr lang="en-US" dirty="0"/>
              <a:t> is </a:t>
            </a:r>
            <a:r>
              <a:rPr lang="en-US" i="1" dirty="0"/>
              <a:t>covenant love-in-action</a:t>
            </a:r>
            <a:r>
              <a:rPr lang="en-US" dirty="0"/>
              <a:t>, </a:t>
            </a:r>
            <a:r>
              <a:rPr lang="en-US" u="sng" dirty="0"/>
              <a:t>then being </a:t>
            </a:r>
            <a:r>
              <a:rPr lang="en-US" b="1" u="sng" dirty="0"/>
              <a:t>in Christ</a:t>
            </a:r>
            <a:r>
              <a:rPr lang="en-US" u="sng" dirty="0"/>
              <a:t> means</a:t>
            </a:r>
            <a:r>
              <a:rPr lang="en-US" dirty="0"/>
              <a:t>:</a:t>
            </a:r>
          </a:p>
          <a:p>
            <a:pPr marL="285750" indent="-285750" fontAlgn="ctr">
              <a:buFont typeface="Arial" panose="020B0604020202020204" pitchFamily="34" charset="0"/>
              <a:buChar char="•"/>
            </a:pPr>
            <a:r>
              <a:rPr lang="en-US" b="1" dirty="0"/>
              <a:t>Status</a:t>
            </a:r>
            <a:r>
              <a:rPr lang="en-US" dirty="0"/>
              <a:t> – Our </a:t>
            </a:r>
            <a:r>
              <a:rPr lang="en-US" u="sng" dirty="0"/>
              <a:t>Standing</a:t>
            </a:r>
            <a:r>
              <a:rPr lang="en-US" dirty="0"/>
              <a:t> with God.  Counted righteous in Him (2 Cor 5:21), welcomed as sons/partners of the New Covenant (Jer 31; Luke 22).</a:t>
            </a:r>
            <a:endParaRPr lang="en-US" b="1" dirty="0"/>
          </a:p>
          <a:p>
            <a:pPr marL="285750" indent="-285750" fontAlgn="ctr">
              <a:buFont typeface="Arial" panose="020B0604020202020204" pitchFamily="34" charset="0"/>
              <a:buChar char="•"/>
            </a:pPr>
            <a:r>
              <a:rPr lang="en-US" b="1" dirty="0"/>
              <a:t>Ethic</a:t>
            </a:r>
            <a:r>
              <a:rPr lang="en-US" dirty="0"/>
              <a:t> – Our new </a:t>
            </a:r>
            <a:r>
              <a:rPr lang="en-US" u="sng" dirty="0"/>
              <a:t>Fruit-Bearing Way of Life</a:t>
            </a:r>
            <a:r>
              <a:rPr lang="en-US" dirty="0"/>
              <a:t>.  Empowered to practice ḥesed-shaped love (“walk in love,” Eph 5:1–2), expressed as Paul’s </a:t>
            </a:r>
            <a:r>
              <a:rPr lang="en-US" u="sng" dirty="0"/>
              <a:t>union in Christ expression</a:t>
            </a:r>
            <a:r>
              <a:rPr lang="en-US" dirty="0"/>
              <a:t> of “one anothers.”</a:t>
            </a:r>
            <a:endParaRPr lang="en-US" b="1" dirty="0"/>
          </a:p>
          <a:p>
            <a:pPr marL="285750" indent="-285750" fontAlgn="ctr">
              <a:buFont typeface="Arial" panose="020B0604020202020204" pitchFamily="34" charset="0"/>
              <a:buChar char="•"/>
            </a:pPr>
            <a:r>
              <a:rPr lang="en-US" dirty="0"/>
              <a:t>The new covenant doesn’t cancel the old; it </a:t>
            </a:r>
            <a:r>
              <a:rPr lang="en-US" b="1" dirty="0"/>
              <a:t>completes</a:t>
            </a:r>
            <a:r>
              <a:rPr lang="en-US" dirty="0"/>
              <a:t> it.</a:t>
            </a:r>
          </a:p>
          <a:p>
            <a:pPr marL="285750" indent="-285750" fontAlgn="ctr">
              <a:buFont typeface="Arial" panose="020B0604020202020204" pitchFamily="34" charset="0"/>
              <a:buChar char="•"/>
            </a:pPr>
            <a:r>
              <a:rPr lang="en-US" dirty="0"/>
              <a:t>Jesus, The </a:t>
            </a:r>
            <a:r>
              <a:rPr lang="en-US" b="1" dirty="0"/>
              <a:t>Messiah</a:t>
            </a:r>
            <a:r>
              <a:rPr lang="en-US" dirty="0"/>
              <a:t>, is the </a:t>
            </a:r>
            <a:r>
              <a:rPr lang="en-US" u="sng" dirty="0"/>
              <a:t>covenant keeper</a:t>
            </a:r>
            <a:r>
              <a:rPr lang="en-US" dirty="0"/>
              <a:t> </a:t>
            </a:r>
            <a:r>
              <a:rPr lang="en-US" i="1" dirty="0"/>
              <a:t>on both sides</a:t>
            </a:r>
            <a:r>
              <a:rPr lang="en-US" dirty="0"/>
              <a:t>:</a:t>
            </a:r>
          </a:p>
          <a:p>
            <a:pPr marL="285750" indent="-285750" fontAlgn="ctr">
              <a:buFont typeface="Arial" panose="020B0604020202020204" pitchFamily="34" charset="0"/>
              <a:buChar char="•"/>
            </a:pPr>
            <a:r>
              <a:rPr lang="en-US" b="1" dirty="0"/>
              <a:t>Messiah</a:t>
            </a:r>
            <a:r>
              <a:rPr lang="en-US" dirty="0"/>
              <a:t> = Man’s perfect obedience to God + God’s perfect mercy toward man.</a:t>
            </a:r>
          </a:p>
        </p:txBody>
      </p:sp>
      <p:graphicFrame>
        <p:nvGraphicFramePr>
          <p:cNvPr id="3" name="Table 2">
            <a:extLst>
              <a:ext uri="{FF2B5EF4-FFF2-40B4-BE49-F238E27FC236}">
                <a16:creationId xmlns:a16="http://schemas.microsoft.com/office/drawing/2014/main" id="{845B968C-684B-DDC1-AB51-987EB5ABDEA2}"/>
              </a:ext>
            </a:extLst>
          </p:cNvPr>
          <p:cNvGraphicFramePr>
            <a:graphicFrameLocks noGrp="1"/>
          </p:cNvGraphicFramePr>
          <p:nvPr>
            <p:extLst>
              <p:ext uri="{D42A27DB-BD31-4B8C-83A1-F6EECF244321}">
                <p14:modId xmlns:p14="http://schemas.microsoft.com/office/powerpoint/2010/main" val="4054990764"/>
              </p:ext>
            </p:extLst>
          </p:nvPr>
        </p:nvGraphicFramePr>
        <p:xfrm>
          <a:off x="361950" y="990600"/>
          <a:ext cx="8477252" cy="2600960"/>
        </p:xfrm>
        <a:graphic>
          <a:graphicData uri="http://schemas.openxmlformats.org/drawingml/2006/table">
            <a:tbl>
              <a:tblPr firstRow="1" bandRow="1">
                <a:tableStyleId>{D113A9D2-9D6B-4929-AA2D-F23B5EE8CBE7}</a:tableStyleId>
              </a:tblPr>
              <a:tblGrid>
                <a:gridCol w="1238250">
                  <a:extLst>
                    <a:ext uri="{9D8B030D-6E8A-4147-A177-3AD203B41FA5}">
                      <a16:colId xmlns:a16="http://schemas.microsoft.com/office/drawing/2014/main" val="529175433"/>
                    </a:ext>
                  </a:extLst>
                </a:gridCol>
                <a:gridCol w="2362200">
                  <a:extLst>
                    <a:ext uri="{9D8B030D-6E8A-4147-A177-3AD203B41FA5}">
                      <a16:colId xmlns:a16="http://schemas.microsoft.com/office/drawing/2014/main" val="2114119881"/>
                    </a:ext>
                  </a:extLst>
                </a:gridCol>
                <a:gridCol w="2757489">
                  <a:extLst>
                    <a:ext uri="{9D8B030D-6E8A-4147-A177-3AD203B41FA5}">
                      <a16:colId xmlns:a16="http://schemas.microsoft.com/office/drawing/2014/main" val="3640258926"/>
                    </a:ext>
                  </a:extLst>
                </a:gridCol>
                <a:gridCol w="2119313">
                  <a:extLst>
                    <a:ext uri="{9D8B030D-6E8A-4147-A177-3AD203B41FA5}">
                      <a16:colId xmlns:a16="http://schemas.microsoft.com/office/drawing/2014/main" val="4023087004"/>
                    </a:ext>
                  </a:extLst>
                </a:gridCol>
              </a:tblGrid>
              <a:tr h="370840">
                <a:tc>
                  <a:txBody>
                    <a:bodyPr/>
                    <a:lstStyle/>
                    <a:p>
                      <a:pPr marL="0" marR="0" fontAlgn="t">
                        <a:buNone/>
                      </a:pPr>
                      <a:r>
                        <a:rPr lang="en-US" sz="1800" b="1" dirty="0">
                          <a:effectLst/>
                          <a:latin typeface="Calibri" panose="020F0502020204030204" pitchFamily="34" charset="0"/>
                        </a:rPr>
                        <a:t>Covenant</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Promise Given</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Promise Fulfilled in Messiah</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i="1" dirty="0">
                          <a:effectLst/>
                          <a:latin typeface="Calibri" panose="020F0502020204030204" pitchFamily="34" charset="0"/>
                        </a:rPr>
                        <a:t>ḥesed</a:t>
                      </a:r>
                      <a:r>
                        <a:rPr lang="en-US" sz="1800" b="1" dirty="0">
                          <a:effectLst/>
                          <a:latin typeface="Calibri" panose="020F0502020204030204" pitchFamily="34" charset="0"/>
                        </a:rPr>
                        <a:t> expression</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547286927"/>
                  </a:ext>
                </a:extLst>
              </a:tr>
              <a:tr h="370840">
                <a:tc>
                  <a:txBody>
                    <a:bodyPr/>
                    <a:lstStyle/>
                    <a:p>
                      <a:pPr marL="0" marR="0" fontAlgn="t">
                        <a:buNone/>
                      </a:pPr>
                      <a:r>
                        <a:rPr lang="en-US" sz="1800" b="1" dirty="0">
                          <a:effectLst/>
                          <a:latin typeface="Calibri" panose="020F0502020204030204" pitchFamily="34" charset="0"/>
                        </a:rPr>
                        <a:t>Abrahamic</a:t>
                      </a:r>
                    </a:p>
                  </a:txBody>
                  <a:tcPr marL="50800" marR="50800" marT="50800" marB="50800"/>
                </a:tc>
                <a:tc>
                  <a:txBody>
                    <a:bodyPr/>
                    <a:lstStyle/>
                    <a:p>
                      <a:pPr marL="0" marR="0" fontAlgn="t">
                        <a:buNone/>
                      </a:pPr>
                      <a:r>
                        <a:rPr lang="en-US" sz="1800" dirty="0">
                          <a:effectLst/>
                          <a:latin typeface="Calibri" panose="020F0502020204030204" pitchFamily="34" charset="0"/>
                        </a:rPr>
                        <a:t>Blessing to all Nations (Gen. 12:3)</a:t>
                      </a:r>
                    </a:p>
                  </a:txBody>
                  <a:tcPr marL="50800" marR="50800" marT="50800" marB="50800"/>
                </a:tc>
                <a:tc>
                  <a:txBody>
                    <a:bodyPr/>
                    <a:lstStyle/>
                    <a:p>
                      <a:pPr marL="0" marR="0" fontAlgn="t">
                        <a:buNone/>
                      </a:pPr>
                      <a:r>
                        <a:rPr lang="en-US" sz="1800" dirty="0">
                          <a:effectLst/>
                          <a:latin typeface="Calibri" panose="020F0502020204030204" pitchFamily="34" charset="0"/>
                        </a:rPr>
                        <a:t>Salvation through faith in Jesus (Gal. 3:8,16)</a:t>
                      </a:r>
                    </a:p>
                  </a:txBody>
                  <a:tcPr marL="50800" marR="50800" marT="50800" marB="50800"/>
                </a:tc>
                <a:tc>
                  <a:txBody>
                    <a:bodyPr/>
                    <a:lstStyle/>
                    <a:p>
                      <a:pPr marL="0" marR="0" fontAlgn="t">
                        <a:buNone/>
                      </a:pPr>
                      <a:r>
                        <a:rPr lang="en-US" sz="1800" dirty="0">
                          <a:effectLst/>
                          <a:latin typeface="Calibri" panose="020F0502020204030204" pitchFamily="34" charset="0"/>
                        </a:rPr>
                        <a:t>Faithful inclusion of all who believe</a:t>
                      </a:r>
                    </a:p>
                  </a:txBody>
                  <a:tcPr marL="50800" marR="50800" marT="50800" marB="50800"/>
                </a:tc>
                <a:extLst>
                  <a:ext uri="{0D108BD9-81ED-4DB2-BD59-A6C34878D82A}">
                    <a16:rowId xmlns:a16="http://schemas.microsoft.com/office/drawing/2014/main" val="1596976829"/>
                  </a:ext>
                </a:extLst>
              </a:tr>
              <a:tr h="370840">
                <a:tc>
                  <a:txBody>
                    <a:bodyPr/>
                    <a:lstStyle/>
                    <a:p>
                      <a:pPr marL="0" marR="0" fontAlgn="t">
                        <a:buNone/>
                      </a:pPr>
                      <a:r>
                        <a:rPr lang="en-US" sz="1800" b="1" dirty="0">
                          <a:effectLst/>
                          <a:latin typeface="Calibri" panose="020F0502020204030204" pitchFamily="34" charset="0"/>
                        </a:rPr>
                        <a:t>Mosaic</a:t>
                      </a:r>
                    </a:p>
                  </a:txBody>
                  <a:tcPr marL="50800" marR="50800" marT="50800" marB="50800"/>
                </a:tc>
                <a:tc>
                  <a:txBody>
                    <a:bodyPr/>
                    <a:lstStyle/>
                    <a:p>
                      <a:pPr marL="0" marR="0" fontAlgn="t">
                        <a:buNone/>
                      </a:pPr>
                      <a:r>
                        <a:rPr lang="en-US" sz="1800" dirty="0">
                          <a:effectLst/>
                          <a:latin typeface="Calibri" panose="020F0502020204030204" pitchFamily="34" charset="0"/>
                        </a:rPr>
                        <a:t>Holiness and Obedience (Exo. 19:5–6)</a:t>
                      </a:r>
                    </a:p>
                  </a:txBody>
                  <a:tcPr marL="50800" marR="50800" marT="50800" marB="50800"/>
                </a:tc>
                <a:tc>
                  <a:txBody>
                    <a:bodyPr/>
                    <a:lstStyle/>
                    <a:p>
                      <a:pPr marL="0" marR="0" fontAlgn="t">
                        <a:buNone/>
                      </a:pPr>
                      <a:r>
                        <a:rPr lang="en-US" sz="1800" dirty="0">
                          <a:effectLst/>
                          <a:latin typeface="Calibri" panose="020F0502020204030204" pitchFamily="34" charset="0"/>
                        </a:rPr>
                        <a:t>Law written on hearts by the Spirit (Heb. 10:15–18)</a:t>
                      </a:r>
                    </a:p>
                  </a:txBody>
                  <a:tcPr marL="50800" marR="50800" marT="50800" marB="50800"/>
                </a:tc>
                <a:tc>
                  <a:txBody>
                    <a:bodyPr/>
                    <a:lstStyle/>
                    <a:p>
                      <a:pPr marL="0" marR="0" fontAlgn="t">
                        <a:buNone/>
                      </a:pPr>
                      <a:r>
                        <a:rPr lang="en-US" sz="1800" dirty="0">
                          <a:effectLst/>
                          <a:latin typeface="Calibri" panose="020F0502020204030204" pitchFamily="34" charset="0"/>
                        </a:rPr>
                        <a:t>Inward transformation, grace over law</a:t>
                      </a:r>
                    </a:p>
                  </a:txBody>
                  <a:tcPr marL="50800" marR="50800" marT="50800" marB="50800"/>
                </a:tc>
                <a:extLst>
                  <a:ext uri="{0D108BD9-81ED-4DB2-BD59-A6C34878D82A}">
                    <a16:rowId xmlns:a16="http://schemas.microsoft.com/office/drawing/2014/main" val="4084465531"/>
                  </a:ext>
                </a:extLst>
              </a:tr>
              <a:tr h="370840">
                <a:tc>
                  <a:txBody>
                    <a:bodyPr/>
                    <a:lstStyle/>
                    <a:p>
                      <a:pPr marL="0" marR="0" fontAlgn="t">
                        <a:buNone/>
                      </a:pPr>
                      <a:r>
                        <a:rPr lang="en-US" sz="1800" b="1" dirty="0">
                          <a:effectLst/>
                          <a:latin typeface="Calibri" panose="020F0502020204030204" pitchFamily="34" charset="0"/>
                        </a:rPr>
                        <a:t>Davidic</a:t>
                      </a:r>
                    </a:p>
                  </a:txBody>
                  <a:tcPr marL="50800" marR="50800" marT="50800" marB="50800"/>
                </a:tc>
                <a:tc>
                  <a:txBody>
                    <a:bodyPr/>
                    <a:lstStyle/>
                    <a:p>
                      <a:pPr marL="0" marR="0" fontAlgn="t">
                        <a:buNone/>
                      </a:pPr>
                      <a:r>
                        <a:rPr lang="en-US" sz="1800" dirty="0">
                          <a:effectLst/>
                          <a:latin typeface="Calibri" panose="020F0502020204030204" pitchFamily="34" charset="0"/>
                        </a:rPr>
                        <a:t>Eternal Throne (2 Sam. 7:12–16)</a:t>
                      </a:r>
                    </a:p>
                  </a:txBody>
                  <a:tcPr marL="50800" marR="50800" marT="50800" marB="50800"/>
                </a:tc>
                <a:tc>
                  <a:txBody>
                    <a:bodyPr/>
                    <a:lstStyle/>
                    <a:p>
                      <a:pPr marL="0" marR="0" fontAlgn="t">
                        <a:buNone/>
                      </a:pPr>
                      <a:r>
                        <a:rPr lang="en-US" sz="1800" dirty="0">
                          <a:effectLst/>
                          <a:latin typeface="Calibri" panose="020F0502020204030204" pitchFamily="34" charset="0"/>
                        </a:rPr>
                        <a:t>Jesus, Son of David, reigning forever (Luke 1:32–33)</a:t>
                      </a:r>
                    </a:p>
                  </a:txBody>
                  <a:tcPr marL="50800" marR="50800" marT="50800" marB="50800"/>
                </a:tc>
                <a:tc>
                  <a:txBody>
                    <a:bodyPr/>
                    <a:lstStyle/>
                    <a:p>
                      <a:pPr marL="0" marR="0" fontAlgn="t">
                        <a:buNone/>
                      </a:pPr>
                      <a:r>
                        <a:rPr lang="en-US" sz="1800" dirty="0">
                          <a:effectLst/>
                          <a:latin typeface="Calibri" panose="020F0502020204030204" pitchFamily="34" charset="0"/>
                        </a:rPr>
                        <a:t>Covenant love established forever</a:t>
                      </a:r>
                    </a:p>
                  </a:txBody>
                  <a:tcPr marL="50800" marR="50800" marT="50800" marB="50800"/>
                </a:tc>
                <a:extLst>
                  <a:ext uri="{0D108BD9-81ED-4DB2-BD59-A6C34878D82A}">
                    <a16:rowId xmlns:a16="http://schemas.microsoft.com/office/drawing/2014/main" val="1685971274"/>
                  </a:ext>
                </a:extLst>
              </a:tr>
            </a:tbl>
          </a:graphicData>
        </a:graphic>
      </p:graphicFrame>
    </p:spTree>
    <p:extLst>
      <p:ext uri="{BB962C8B-B14F-4D97-AF65-F5344CB8AC3E}">
        <p14:creationId xmlns:p14="http://schemas.microsoft.com/office/powerpoint/2010/main" val="1988255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B002-6563-C900-0ADE-34BA8A73E2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CB58E4-385F-90FD-8F71-570107515FA2}"/>
              </a:ext>
            </a:extLst>
          </p:cNvPr>
          <p:cNvSpPr txBox="1">
            <a:spLocks/>
          </p:cNvSpPr>
          <p:nvPr/>
        </p:nvSpPr>
        <p:spPr bwMode="auto">
          <a:xfrm>
            <a:off x="2286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The Book of Hebrews</a:t>
            </a:r>
            <a:br>
              <a:rPr lang="en-US" dirty="0"/>
            </a:br>
            <a:r>
              <a:rPr lang="en-US" sz="2400" dirty="0">
                <a:solidFill>
                  <a:schemeClr val="tx2">
                    <a:lumMod val="60000"/>
                    <a:lumOff val="40000"/>
                  </a:schemeClr>
                </a:solidFill>
              </a:rPr>
              <a:t>Unveiling Connections between Covenants </a:t>
            </a:r>
          </a:p>
        </p:txBody>
      </p:sp>
      <p:sp>
        <p:nvSpPr>
          <p:cNvPr id="3" name="TextBox 2">
            <a:extLst>
              <a:ext uri="{FF2B5EF4-FFF2-40B4-BE49-F238E27FC236}">
                <a16:creationId xmlns:a16="http://schemas.microsoft.com/office/drawing/2014/main" id="{C10E074F-A21B-E54F-EE8E-E971A6F43193}"/>
              </a:ext>
            </a:extLst>
          </p:cNvPr>
          <p:cNvSpPr txBox="1"/>
          <p:nvPr/>
        </p:nvSpPr>
        <p:spPr>
          <a:xfrm>
            <a:off x="228600" y="914400"/>
            <a:ext cx="8534400" cy="5909310"/>
          </a:xfrm>
          <a:prstGeom prst="rect">
            <a:avLst/>
          </a:prstGeom>
          <a:noFill/>
        </p:spPr>
        <p:txBody>
          <a:bodyPr wrap="square" rtlCol="0">
            <a:spAutoFit/>
          </a:bodyPr>
          <a:lstStyle/>
          <a:p>
            <a:r>
              <a:rPr lang="en-US" b="1" dirty="0" err="1"/>
              <a:t>abrahamic</a:t>
            </a:r>
            <a:r>
              <a:rPr lang="en-US" b="1" dirty="0"/>
              <a:t> covenant → Messiah, the faithful seed</a:t>
            </a:r>
            <a:endParaRPr lang="en-US" dirty="0"/>
          </a:p>
          <a:p>
            <a:pPr fontAlgn="ctr"/>
            <a:r>
              <a:rPr lang="en-US" dirty="0" err="1"/>
              <a:t>abraham’s</a:t>
            </a:r>
            <a:r>
              <a:rPr lang="en-US" dirty="0"/>
              <a:t> promise was righteousness through faith (genesis 15:6).</a:t>
            </a:r>
          </a:p>
          <a:p>
            <a:pPr fontAlgn="ctr"/>
            <a:r>
              <a:rPr lang="en-US" dirty="0" err="1"/>
              <a:t>hebrews</a:t>
            </a:r>
            <a:r>
              <a:rPr lang="en-US" dirty="0"/>
              <a:t> 6:13–18 says God confirmed that oath by Himself, so it cannot fail.</a:t>
            </a:r>
          </a:p>
          <a:p>
            <a:pPr fontAlgn="ctr"/>
            <a:r>
              <a:rPr lang="en-US" dirty="0" err="1"/>
              <a:t>jesus</a:t>
            </a:r>
            <a:r>
              <a:rPr lang="en-US" dirty="0"/>
              <a:t> is the </a:t>
            </a:r>
            <a:r>
              <a:rPr lang="en-US" b="1" dirty="0"/>
              <a:t>guarantor</a:t>
            </a:r>
            <a:r>
              <a:rPr lang="en-US" dirty="0"/>
              <a:t> (7:22) — the living fulfillment of God’s unbreakable </a:t>
            </a:r>
            <a:r>
              <a:rPr lang="en-US" i="1" dirty="0"/>
              <a:t>ḥesed</a:t>
            </a:r>
            <a:r>
              <a:rPr lang="en-US" dirty="0"/>
              <a:t> oath.</a:t>
            </a:r>
          </a:p>
          <a:p>
            <a:endParaRPr lang="en-US" dirty="0">
              <a:ea typeface="ＭＳ Ｐゴシック" pitchFamily="-106" charset="-128"/>
              <a:cs typeface="ＭＳ Ｐゴシック" pitchFamily="-106" charset="-128"/>
            </a:endParaRPr>
          </a:p>
          <a:p>
            <a:r>
              <a:rPr lang="en-US" b="1" dirty="0"/>
              <a:t>mosaic covenant → Messiah, the perfect mediator</a:t>
            </a:r>
            <a:endParaRPr lang="en-US" dirty="0"/>
          </a:p>
          <a:p>
            <a:pPr fontAlgn="ctr"/>
            <a:r>
              <a:rPr lang="en-US" dirty="0"/>
              <a:t>the law exposed sin but could not change the heart (</a:t>
            </a:r>
            <a:r>
              <a:rPr lang="en-US" dirty="0" err="1"/>
              <a:t>hebrews</a:t>
            </a:r>
            <a:r>
              <a:rPr lang="en-US" dirty="0"/>
              <a:t> 10:1–4).</a:t>
            </a:r>
          </a:p>
          <a:p>
            <a:pPr fontAlgn="ctr"/>
            <a:r>
              <a:rPr lang="en-US" dirty="0" err="1"/>
              <a:t>jesus</a:t>
            </a:r>
            <a:r>
              <a:rPr lang="en-US" dirty="0"/>
              <a:t> fulfills it by offering His own blood, accomplishing inward cleansing (9:14–15).</a:t>
            </a:r>
          </a:p>
          <a:p>
            <a:pPr fontAlgn="ctr"/>
            <a:r>
              <a:rPr lang="en-US" dirty="0"/>
              <a:t>his priesthood is after </a:t>
            </a:r>
            <a:r>
              <a:rPr lang="en-US" b="1" dirty="0" err="1"/>
              <a:t>melchizedek</a:t>
            </a:r>
            <a:r>
              <a:rPr lang="en-US" dirty="0"/>
              <a:t> — eternal, righteous, and merciful (7:23–27).</a:t>
            </a:r>
          </a:p>
          <a:p>
            <a:pPr fontAlgn="ctr"/>
            <a:r>
              <a:rPr lang="en-US" dirty="0"/>
              <a:t>“he is able to save completely those who come to God through him, because he always lives to intercede for them.” (7:25)</a:t>
            </a:r>
          </a:p>
          <a:p>
            <a:endParaRPr lang="en-US" dirty="0">
              <a:ea typeface="ＭＳ Ｐゴシック" pitchFamily="-106" charset="-128"/>
              <a:cs typeface="ＭＳ Ｐゴシック" pitchFamily="-106" charset="-128"/>
            </a:endParaRPr>
          </a:p>
          <a:p>
            <a:r>
              <a:rPr lang="en-US" b="1" dirty="0" err="1"/>
              <a:t>davidic</a:t>
            </a:r>
            <a:r>
              <a:rPr lang="en-US" b="1" dirty="0"/>
              <a:t> covenant → Messiah, the eternal king</a:t>
            </a:r>
            <a:endParaRPr lang="en-US" dirty="0"/>
          </a:p>
          <a:p>
            <a:pPr fontAlgn="ctr"/>
            <a:r>
              <a:rPr lang="en-US" dirty="0" err="1"/>
              <a:t>hebrews</a:t>
            </a:r>
            <a:r>
              <a:rPr lang="en-US" dirty="0"/>
              <a:t> 1:8–9 applies psalm 45 to the son: “your throne, o God, is forever and ever… you have loved righteousness and hated lawlessness.”</a:t>
            </a:r>
          </a:p>
          <a:p>
            <a:pPr fontAlgn="ctr"/>
            <a:r>
              <a:rPr lang="en-US" dirty="0" err="1"/>
              <a:t>jesus</a:t>
            </a:r>
            <a:r>
              <a:rPr lang="en-US" dirty="0"/>
              <a:t> reigns as king </a:t>
            </a:r>
            <a:r>
              <a:rPr lang="en-US" i="1" dirty="0"/>
              <a:t>and</a:t>
            </a:r>
            <a:r>
              <a:rPr lang="en-US" dirty="0"/>
              <a:t> priest — a combination no </a:t>
            </a:r>
            <a:r>
              <a:rPr lang="en-US" dirty="0" err="1"/>
              <a:t>israelite</a:t>
            </a:r>
            <a:r>
              <a:rPr lang="en-US" dirty="0"/>
              <a:t> king ever could hold under the mosaic law.</a:t>
            </a:r>
          </a:p>
          <a:p>
            <a:pPr fontAlgn="ctr"/>
            <a:r>
              <a:rPr lang="en-US" dirty="0"/>
              <a:t>this unites the covenant strands: a faithful </a:t>
            </a:r>
            <a:r>
              <a:rPr lang="en-US" dirty="0" err="1"/>
              <a:t>davidic</a:t>
            </a:r>
            <a:r>
              <a:rPr lang="en-US" dirty="0"/>
              <a:t> king, a righteous high priest, and a better covenant built on better promises (8:6).</a:t>
            </a:r>
          </a:p>
        </p:txBody>
      </p:sp>
    </p:spTree>
    <p:extLst>
      <p:ext uri="{BB962C8B-B14F-4D97-AF65-F5344CB8AC3E}">
        <p14:creationId xmlns:p14="http://schemas.microsoft.com/office/powerpoint/2010/main" val="337604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1000"/>
                                        <p:tgtEl>
                                          <p:spTgt spid="3">
                                            <p:txEl>
                                              <p:pRg st="5" end="5"/>
                                            </p:txEl>
                                          </p:spTgt>
                                        </p:tgtEl>
                                      </p:cBhvr>
                                    </p:animEffect>
                                    <p:anim calcmode="lin" valueType="num">
                                      <p:cBhvr>
                                        <p:cTn id="36"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fade">
                                      <p:cBhvr>
                                        <p:cTn id="42" dur="1000"/>
                                        <p:tgtEl>
                                          <p:spTgt spid="3">
                                            <p:txEl>
                                              <p:pRg st="6" end="6"/>
                                            </p:txEl>
                                          </p:spTgt>
                                        </p:tgtEl>
                                      </p:cBhvr>
                                    </p:animEffect>
                                    <p:anim calcmode="lin" valueType="num">
                                      <p:cBhvr>
                                        <p:cTn id="43"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Effect transition="in" filter="fade">
                                      <p:cBhvr>
                                        <p:cTn id="49" dur="1000"/>
                                        <p:tgtEl>
                                          <p:spTgt spid="3">
                                            <p:txEl>
                                              <p:pRg st="7" end="7"/>
                                            </p:txEl>
                                          </p:spTgt>
                                        </p:tgtEl>
                                      </p:cBhvr>
                                    </p:animEffect>
                                    <p:anim calcmode="lin" valueType="num">
                                      <p:cBhvr>
                                        <p:cTn id="50" dur="1000" fill="hold"/>
                                        <p:tgtEl>
                                          <p:spTgt spid="3">
                                            <p:txEl>
                                              <p:pRg st="7" end="7"/>
                                            </p:txEl>
                                          </p:spTgt>
                                        </p:tgtEl>
                                        <p:attrNameLst>
                                          <p:attrName>ppt_x</p:attrName>
                                        </p:attrNameLst>
                                      </p:cBhvr>
                                      <p:tavLst>
                                        <p:tav tm="0">
                                          <p:val>
                                            <p:strVal val="#ppt_x"/>
                                          </p:val>
                                        </p:tav>
                                        <p:tav tm="100000">
                                          <p:val>
                                            <p:strVal val="#ppt_x"/>
                                          </p:val>
                                        </p:tav>
                                      </p:tavLst>
                                    </p:anim>
                                    <p:anim calcmode="lin" valueType="num">
                                      <p:cBhvr>
                                        <p:cTn id="51" dur="1000" fill="hold"/>
                                        <p:tgtEl>
                                          <p:spTgt spid="3">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3">
                                            <p:txEl>
                                              <p:pRg st="8" end="8"/>
                                            </p:txEl>
                                          </p:spTgt>
                                        </p:tgtEl>
                                        <p:attrNameLst>
                                          <p:attrName>style.visibility</p:attrName>
                                        </p:attrNameLst>
                                      </p:cBhvr>
                                      <p:to>
                                        <p:strVal val="visible"/>
                                      </p:to>
                                    </p:set>
                                    <p:animEffect transition="in" filter="fade">
                                      <p:cBhvr>
                                        <p:cTn id="56" dur="1000"/>
                                        <p:tgtEl>
                                          <p:spTgt spid="3">
                                            <p:txEl>
                                              <p:pRg st="8" end="8"/>
                                            </p:txEl>
                                          </p:spTgt>
                                        </p:tgtEl>
                                      </p:cBhvr>
                                    </p:animEffect>
                                    <p:anim calcmode="lin" valueType="num">
                                      <p:cBhvr>
                                        <p:cTn id="57"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8" end="8"/>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3">
                                            <p:txEl>
                                              <p:pRg st="9" end="9"/>
                                            </p:txEl>
                                          </p:spTgt>
                                        </p:tgtEl>
                                        <p:attrNameLst>
                                          <p:attrName>style.visibility</p:attrName>
                                        </p:attrNameLst>
                                      </p:cBhvr>
                                      <p:to>
                                        <p:strVal val="visible"/>
                                      </p:to>
                                    </p:set>
                                    <p:animEffect transition="in" filter="fade">
                                      <p:cBhvr>
                                        <p:cTn id="63" dur="1000"/>
                                        <p:tgtEl>
                                          <p:spTgt spid="3">
                                            <p:txEl>
                                              <p:pRg st="9" end="9"/>
                                            </p:txEl>
                                          </p:spTgt>
                                        </p:tgtEl>
                                      </p:cBhvr>
                                    </p:animEffect>
                                    <p:anim calcmode="lin" valueType="num">
                                      <p:cBhvr>
                                        <p:cTn id="64"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65" dur="1000" fill="hold"/>
                                        <p:tgtEl>
                                          <p:spTgt spid="3">
                                            <p:txEl>
                                              <p:pRg st="9" end="9"/>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53364"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200" dirty="0"/>
              <a:t>Apostolic Theology</a:t>
            </a:r>
            <a:br>
              <a:rPr lang="en-US" sz="3600" dirty="0"/>
            </a:br>
            <a:r>
              <a:rPr lang="en-US" sz="2600" dirty="0">
                <a:solidFill>
                  <a:schemeClr val="tx2">
                    <a:lumMod val="60000"/>
                    <a:lumOff val="40000"/>
                  </a:schemeClr>
                </a:solidFill>
              </a:rPr>
              <a:t>The heart of ḥesed as the Apostles understood it…</a:t>
            </a:r>
            <a:endParaRPr lang="en-US" sz="3800" dirty="0">
              <a:solidFill>
                <a:schemeClr val="tx2">
                  <a:lumMod val="60000"/>
                  <a:lumOff val="40000"/>
                </a:schemeClr>
              </a:solidFill>
            </a:endParaRPr>
          </a:p>
        </p:txBody>
      </p:sp>
      <p:sp>
        <p:nvSpPr>
          <p:cNvPr id="8" name="TextBox 7"/>
          <p:cNvSpPr txBox="1"/>
          <p:nvPr/>
        </p:nvSpPr>
        <p:spPr>
          <a:xfrm>
            <a:off x="314325" y="5105400"/>
            <a:ext cx="8254364" cy="923330"/>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Messiah is both the revelation and reproduction of God’s covenant love.</a:t>
            </a:r>
            <a:endParaRPr lang="en-US" dirty="0">
              <a:ea typeface="ＭＳ Ｐゴシック" pitchFamily="-106" charset="-128"/>
              <a:cs typeface="ＭＳ Ｐゴシック" pitchFamily="-106" charset="-128"/>
            </a:endParaRPr>
          </a:p>
          <a:p>
            <a:pPr marL="171450" indent="-171450">
              <a:buFont typeface="Arial" panose="020B0604020202020204" pitchFamily="34" charset="0"/>
              <a:buChar char="•"/>
            </a:pPr>
            <a:r>
              <a:rPr lang="en-US" dirty="0">
                <a:ea typeface="ＭＳ Ｐゴシック" pitchFamily="-106" charset="-128"/>
                <a:cs typeface="ＭＳ Ｐゴシック" pitchFamily="-106" charset="-128"/>
              </a:rPr>
              <a:t>His followers, joined to Him by the Spirit, become living witnesses of that same faithfulness - serving, giving, forgiving, and suffering as He did.</a:t>
            </a:r>
          </a:p>
        </p:txBody>
      </p:sp>
      <p:graphicFrame>
        <p:nvGraphicFramePr>
          <p:cNvPr id="4" name="Table 3">
            <a:extLst>
              <a:ext uri="{FF2B5EF4-FFF2-40B4-BE49-F238E27FC236}">
                <a16:creationId xmlns:a16="http://schemas.microsoft.com/office/drawing/2014/main" id="{95E97948-F0F2-1D0C-46F4-4EB026D73C18}"/>
              </a:ext>
            </a:extLst>
          </p:cNvPr>
          <p:cNvGraphicFramePr>
            <a:graphicFrameLocks noGrp="1"/>
          </p:cNvGraphicFramePr>
          <p:nvPr>
            <p:extLst>
              <p:ext uri="{D42A27DB-BD31-4B8C-83A1-F6EECF244321}">
                <p14:modId xmlns:p14="http://schemas.microsoft.com/office/powerpoint/2010/main" val="3560103104"/>
              </p:ext>
            </p:extLst>
          </p:nvPr>
        </p:nvGraphicFramePr>
        <p:xfrm>
          <a:off x="314325" y="1186815"/>
          <a:ext cx="8420100" cy="3627120"/>
        </p:xfrm>
        <a:graphic>
          <a:graphicData uri="http://schemas.openxmlformats.org/drawingml/2006/table">
            <a:tbl>
              <a:tblPr firstRow="1" bandRow="1">
                <a:tableStyleId>{D113A9D2-9D6B-4929-AA2D-F23B5EE8CBE7}</a:tableStyleId>
              </a:tblPr>
              <a:tblGrid>
                <a:gridCol w="2324100">
                  <a:extLst>
                    <a:ext uri="{9D8B030D-6E8A-4147-A177-3AD203B41FA5}">
                      <a16:colId xmlns:a16="http://schemas.microsoft.com/office/drawing/2014/main" val="1497120512"/>
                    </a:ext>
                  </a:extLst>
                </a:gridCol>
                <a:gridCol w="2895600">
                  <a:extLst>
                    <a:ext uri="{9D8B030D-6E8A-4147-A177-3AD203B41FA5}">
                      <a16:colId xmlns:a16="http://schemas.microsoft.com/office/drawing/2014/main" val="3099511716"/>
                    </a:ext>
                  </a:extLst>
                </a:gridCol>
                <a:gridCol w="3200400">
                  <a:extLst>
                    <a:ext uri="{9D8B030D-6E8A-4147-A177-3AD203B41FA5}">
                      <a16:colId xmlns:a16="http://schemas.microsoft.com/office/drawing/2014/main" val="575035972"/>
                    </a:ext>
                  </a:extLst>
                </a:gridCol>
              </a:tblGrid>
              <a:tr h="370840">
                <a:tc>
                  <a:txBody>
                    <a:bodyPr/>
                    <a:lstStyle/>
                    <a:p>
                      <a:pPr marL="0" marR="0" fontAlgn="t">
                        <a:buNone/>
                      </a:pPr>
                      <a:r>
                        <a:rPr lang="en-US" sz="1800" b="1" dirty="0">
                          <a:effectLst/>
                          <a:latin typeface="Calibri" panose="020F0502020204030204" pitchFamily="34" charset="0"/>
                        </a:rPr>
                        <a:t>Theme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Old Covenant Concept</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b="1" dirty="0">
                          <a:effectLst/>
                          <a:latin typeface="Calibri" panose="020F0502020204030204" pitchFamily="34" charset="0"/>
                        </a:rPr>
                        <a:t>Apostolic Fulfillment in Messiah</a:t>
                      </a:r>
                      <a:endParaRPr lang="en-US" sz="18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1159816265"/>
                  </a:ext>
                </a:extLst>
              </a:tr>
              <a:tr h="370840">
                <a:tc>
                  <a:txBody>
                    <a:bodyPr/>
                    <a:lstStyle/>
                    <a:p>
                      <a:pPr marL="0" marR="0" fontAlgn="t">
                        <a:buNone/>
                      </a:pPr>
                      <a:r>
                        <a:rPr lang="en-US" sz="1800" b="1" dirty="0">
                          <a:effectLst/>
                          <a:latin typeface="Calibri" panose="020F0502020204030204" pitchFamily="34" charset="0"/>
                        </a:rPr>
                        <a:t>ḥesed (Steadfast Love)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a:effectLst/>
                          <a:latin typeface="Calibri" panose="020F0502020204030204" pitchFamily="34" charset="0"/>
                        </a:rPr>
                        <a:t>God’s loyal faithfulness to Israel</a:t>
                      </a:r>
                    </a:p>
                  </a:txBody>
                  <a:tcPr marL="50800" marR="50800" marT="50800" marB="50800"/>
                </a:tc>
                <a:tc>
                  <a:txBody>
                    <a:bodyPr/>
                    <a:lstStyle/>
                    <a:p>
                      <a:pPr marL="0" marR="0" fontAlgn="t">
                        <a:buNone/>
                      </a:pPr>
                      <a:r>
                        <a:rPr lang="en-US" sz="1800" dirty="0">
                          <a:effectLst/>
                          <a:latin typeface="Calibri" panose="020F0502020204030204" pitchFamily="34" charset="0"/>
                        </a:rPr>
                        <a:t>Christ’s faithful obedience unto death; believers now embody it</a:t>
                      </a:r>
                    </a:p>
                  </a:txBody>
                  <a:tcPr marL="50800" marR="50800" marT="50800" marB="50800"/>
                </a:tc>
                <a:extLst>
                  <a:ext uri="{0D108BD9-81ED-4DB2-BD59-A6C34878D82A}">
                    <a16:rowId xmlns:a16="http://schemas.microsoft.com/office/drawing/2014/main" val="2764759871"/>
                  </a:ext>
                </a:extLst>
              </a:tr>
              <a:tr h="370840">
                <a:tc>
                  <a:txBody>
                    <a:bodyPr/>
                    <a:lstStyle/>
                    <a:p>
                      <a:pPr marL="0" marR="0" fontAlgn="t">
                        <a:buNone/>
                      </a:pPr>
                      <a:r>
                        <a:rPr lang="en-US" sz="1800" b="1" dirty="0">
                          <a:effectLst/>
                          <a:latin typeface="Calibri" panose="020F0502020204030204" pitchFamily="34" charset="0"/>
                        </a:rPr>
                        <a:t>Servant/Slave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One bound by covenant duty</a:t>
                      </a:r>
                    </a:p>
                  </a:txBody>
                  <a:tcPr marL="50800" marR="50800" marT="50800" marB="50800"/>
                </a:tc>
                <a:tc>
                  <a:txBody>
                    <a:bodyPr/>
                    <a:lstStyle/>
                    <a:p>
                      <a:pPr marL="0" marR="0" fontAlgn="t">
                        <a:buNone/>
                      </a:pPr>
                      <a:r>
                        <a:rPr lang="en-US" sz="1800" dirty="0">
                          <a:effectLst/>
                          <a:latin typeface="Calibri" panose="020F0502020204030204" pitchFamily="34" charset="0"/>
                        </a:rPr>
                        <a:t>One who freely serves out of Christ-like love</a:t>
                      </a:r>
                    </a:p>
                  </a:txBody>
                  <a:tcPr marL="50800" marR="50800" marT="50800" marB="50800"/>
                </a:tc>
                <a:extLst>
                  <a:ext uri="{0D108BD9-81ED-4DB2-BD59-A6C34878D82A}">
                    <a16:rowId xmlns:a16="http://schemas.microsoft.com/office/drawing/2014/main" val="3205901062"/>
                  </a:ext>
                </a:extLst>
              </a:tr>
              <a:tr h="370840">
                <a:tc>
                  <a:txBody>
                    <a:bodyPr/>
                    <a:lstStyle/>
                    <a:p>
                      <a:pPr marL="0" marR="0" fontAlgn="t">
                        <a:buNone/>
                      </a:pPr>
                      <a:r>
                        <a:rPr lang="en-US" sz="1800" b="1" dirty="0">
                          <a:effectLst/>
                          <a:latin typeface="Calibri" panose="020F0502020204030204" pitchFamily="34" charset="0"/>
                        </a:rPr>
                        <a:t>Moral Measure</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Law as external standard</a:t>
                      </a:r>
                    </a:p>
                  </a:txBody>
                  <a:tcPr marL="50800" marR="50800" marT="50800" marB="50800"/>
                </a:tc>
                <a:tc>
                  <a:txBody>
                    <a:bodyPr/>
                    <a:lstStyle/>
                    <a:p>
                      <a:pPr marL="0" marR="0" fontAlgn="t">
                        <a:buNone/>
                      </a:pPr>
                      <a:r>
                        <a:rPr lang="en-US" sz="1800">
                          <a:effectLst/>
                          <a:latin typeface="Calibri" panose="020F0502020204030204" pitchFamily="34" charset="0"/>
                        </a:rPr>
                        <a:t>Jesus Himself as living standard (“as He is”)</a:t>
                      </a:r>
                    </a:p>
                  </a:txBody>
                  <a:tcPr marL="50800" marR="50800" marT="50800" marB="50800"/>
                </a:tc>
                <a:extLst>
                  <a:ext uri="{0D108BD9-81ED-4DB2-BD59-A6C34878D82A}">
                    <a16:rowId xmlns:a16="http://schemas.microsoft.com/office/drawing/2014/main" val="1661330567"/>
                  </a:ext>
                </a:extLst>
              </a:tr>
              <a:tr h="370840">
                <a:tc>
                  <a:txBody>
                    <a:bodyPr/>
                    <a:lstStyle/>
                    <a:p>
                      <a:pPr marL="0" marR="0" fontAlgn="t">
                        <a:buNone/>
                      </a:pPr>
                      <a:r>
                        <a:rPr lang="en-US" sz="1800" b="1" dirty="0">
                          <a:effectLst/>
                          <a:latin typeface="Calibri" panose="020F0502020204030204" pitchFamily="34" charset="0"/>
                        </a:rPr>
                        <a:t>Community Ethic</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Neighbor love (Lev 19:18)</a:t>
                      </a:r>
                    </a:p>
                  </a:txBody>
                  <a:tcPr marL="50800" marR="50800" marT="50800" marB="50800"/>
                </a:tc>
                <a:tc>
                  <a:txBody>
                    <a:bodyPr/>
                    <a:lstStyle/>
                    <a:p>
                      <a:pPr marL="0" marR="0" fontAlgn="t">
                        <a:buNone/>
                      </a:pPr>
                      <a:r>
                        <a:rPr lang="en-US" sz="1800" dirty="0">
                          <a:effectLst/>
                          <a:latin typeface="Calibri" panose="020F0502020204030204" pitchFamily="34" charset="0"/>
                        </a:rPr>
                        <a:t>Mutual service and honor (“one another”)</a:t>
                      </a:r>
                    </a:p>
                  </a:txBody>
                  <a:tcPr marL="50800" marR="50800" marT="50800" marB="50800"/>
                </a:tc>
                <a:extLst>
                  <a:ext uri="{0D108BD9-81ED-4DB2-BD59-A6C34878D82A}">
                    <a16:rowId xmlns:a16="http://schemas.microsoft.com/office/drawing/2014/main" val="87974292"/>
                  </a:ext>
                </a:extLst>
              </a:tr>
              <a:tr h="370840">
                <a:tc>
                  <a:txBody>
                    <a:bodyPr/>
                    <a:lstStyle/>
                    <a:p>
                      <a:pPr marL="0" marR="0" fontAlgn="t">
                        <a:buNone/>
                      </a:pPr>
                      <a:r>
                        <a:rPr lang="en-US" sz="1800" b="1" dirty="0">
                          <a:effectLst/>
                          <a:latin typeface="Calibri" panose="020F0502020204030204" pitchFamily="34" charset="0"/>
                        </a:rPr>
                        <a:t>Covenant Sign</a:t>
                      </a:r>
                      <a:endParaRPr lang="en-US" sz="1800" dirty="0">
                        <a:effectLst/>
                        <a:latin typeface="Calibri" panose="020F0502020204030204" pitchFamily="34" charset="0"/>
                      </a:endParaRPr>
                    </a:p>
                  </a:txBody>
                  <a:tcPr marL="50800" marR="50800" marT="50800" marB="50800"/>
                </a:tc>
                <a:tc>
                  <a:txBody>
                    <a:bodyPr/>
                    <a:lstStyle/>
                    <a:p>
                      <a:pPr marL="0" marR="0" fontAlgn="t">
                        <a:buNone/>
                      </a:pPr>
                      <a:r>
                        <a:rPr lang="en-US" sz="1800" dirty="0">
                          <a:effectLst/>
                          <a:latin typeface="Calibri" panose="020F0502020204030204" pitchFamily="34" charset="0"/>
                        </a:rPr>
                        <a:t>Circumcision, ritual</a:t>
                      </a:r>
                    </a:p>
                  </a:txBody>
                  <a:tcPr marL="50800" marR="50800" marT="50800" marB="50800"/>
                </a:tc>
                <a:tc>
                  <a:txBody>
                    <a:bodyPr/>
                    <a:lstStyle/>
                    <a:p>
                      <a:pPr marL="0" marR="0" fontAlgn="t">
                        <a:buNone/>
                      </a:pPr>
                      <a:r>
                        <a:rPr lang="en-US" sz="1800" dirty="0">
                          <a:effectLst/>
                          <a:latin typeface="Calibri" panose="020F0502020204030204" pitchFamily="34" charset="0"/>
                        </a:rPr>
                        <a:t>Self-giving love shown in action (John 13:35)</a:t>
                      </a:r>
                    </a:p>
                  </a:txBody>
                  <a:tcPr marL="50800" marR="50800" marT="50800" marB="50800"/>
                </a:tc>
                <a:extLst>
                  <a:ext uri="{0D108BD9-81ED-4DB2-BD59-A6C34878D82A}">
                    <a16:rowId xmlns:a16="http://schemas.microsoft.com/office/drawing/2014/main" val="2706987946"/>
                  </a:ext>
                </a:extLst>
              </a:tr>
            </a:tbl>
          </a:graphicData>
        </a:graphic>
      </p:graphicFrame>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64DAE-C1D2-81A6-DDF0-E0506D65CB2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CF8D915-90DC-6DE0-AF1C-D035542598F4}"/>
              </a:ext>
            </a:extLst>
          </p:cNvPr>
          <p:cNvSpPr txBox="1">
            <a:spLocks/>
          </p:cNvSpPr>
          <p:nvPr/>
        </p:nvSpPr>
        <p:spPr bwMode="auto">
          <a:xfrm>
            <a:off x="2286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600" dirty="0"/>
              <a:t>Apostolic Theology</a:t>
            </a:r>
            <a:br>
              <a:rPr lang="en-US" sz="4400" dirty="0"/>
            </a:br>
            <a:r>
              <a:rPr lang="en-US" sz="36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
        <p:nvSpPr>
          <p:cNvPr id="3" name="TextBox 2">
            <a:extLst>
              <a:ext uri="{FF2B5EF4-FFF2-40B4-BE49-F238E27FC236}">
                <a16:creationId xmlns:a16="http://schemas.microsoft.com/office/drawing/2014/main" id="{11B5DBD3-E6B6-D0F6-2BA3-B517EA60C5D7}"/>
              </a:ext>
            </a:extLst>
          </p:cNvPr>
          <p:cNvSpPr txBox="1"/>
          <p:nvPr/>
        </p:nvSpPr>
        <p:spPr>
          <a:xfrm>
            <a:off x="228600" y="914400"/>
            <a:ext cx="8534400" cy="3416320"/>
          </a:xfrm>
          <a:prstGeom prst="rect">
            <a:avLst/>
          </a:prstGeom>
          <a:noFill/>
        </p:spPr>
        <p:txBody>
          <a:bodyPr wrap="square" rtlCol="0">
            <a:spAutoFit/>
          </a:bodyPr>
          <a:lstStyle/>
          <a:p>
            <a:r>
              <a:rPr lang="en-US" b="1" dirty="0"/>
              <a:t>ḥesed becomes incarnate in Christ</a:t>
            </a:r>
            <a:endParaRPr lang="en-US" dirty="0"/>
          </a:p>
          <a:p>
            <a:pPr marL="285750" indent="-285750">
              <a:buFont typeface="Arial" panose="020B0604020202020204" pitchFamily="34" charset="0"/>
              <a:buChar char="•"/>
            </a:pPr>
            <a:r>
              <a:rPr lang="en-US" i="1" dirty="0"/>
              <a:t>ḥesed</a:t>
            </a:r>
            <a:r>
              <a:rPr lang="en-US" dirty="0"/>
              <a:t> describes God’s steadfast love - his covenant loyalty, mercy, and faithfulness. in Jesus, that word took on flesh.</a:t>
            </a:r>
          </a:p>
          <a:p>
            <a:pPr marL="285750" indent="-285750">
              <a:buFont typeface="Arial" panose="020B0604020202020204" pitchFamily="34" charset="0"/>
              <a:buChar char="•"/>
            </a:pPr>
            <a:r>
              <a:rPr lang="en-US" dirty="0"/>
              <a:t>His life defined what </a:t>
            </a:r>
            <a:r>
              <a:rPr lang="en-US" i="1" dirty="0"/>
              <a:t>ḥesed</a:t>
            </a:r>
            <a:r>
              <a:rPr lang="en-US" dirty="0"/>
              <a:t> looks like when embodied: compassion that serves, truth that acts, loyalty that sacrifices.</a:t>
            </a:r>
          </a:p>
          <a:p>
            <a:pPr marL="285750" indent="-285750">
              <a:buFont typeface="Arial" panose="020B0604020202020204" pitchFamily="34" charset="0"/>
              <a:buChar char="•"/>
            </a:pPr>
            <a:r>
              <a:rPr lang="en-US" dirty="0"/>
              <a:t>When the apostles looked at Jesus, they saw not just a teacher but the full revelation of God’s </a:t>
            </a:r>
            <a:r>
              <a:rPr lang="en-US" i="1" dirty="0"/>
              <a:t>ḥesed</a:t>
            </a:r>
            <a:r>
              <a:rPr lang="en-US" dirty="0"/>
              <a:t>.</a:t>
            </a:r>
          </a:p>
          <a:p>
            <a:pPr marL="285750" indent="-285750">
              <a:buFont typeface="Arial" panose="020B0604020202020204" pitchFamily="34" charset="0"/>
              <a:buChar char="•"/>
            </a:pPr>
            <a:r>
              <a:rPr lang="en-US" dirty="0"/>
              <a:t>“For the law was given through Moses, but grace and truth came through Jesus Christ.” (john 1:17, NET)</a:t>
            </a:r>
          </a:p>
          <a:p>
            <a:pPr marL="285750" indent="-285750">
              <a:buFont typeface="Arial" panose="020B0604020202020204" pitchFamily="34" charset="0"/>
              <a:buChar char="•"/>
            </a:pPr>
            <a:r>
              <a:rPr lang="en-US" dirty="0"/>
              <a:t>That phrase “grace and truth” echoes the </a:t>
            </a:r>
            <a:r>
              <a:rPr lang="en-US" dirty="0" err="1"/>
              <a:t>hebrew</a:t>
            </a:r>
            <a:r>
              <a:rPr lang="en-US" dirty="0"/>
              <a:t> pair </a:t>
            </a:r>
            <a:r>
              <a:rPr lang="en-US" i="1" dirty="0"/>
              <a:t>ḥesed </a:t>
            </a:r>
            <a:r>
              <a:rPr lang="en-US" i="1" dirty="0" err="1"/>
              <a:t>wʾemet</a:t>
            </a:r>
            <a:r>
              <a:rPr lang="en-US" dirty="0"/>
              <a:t> — “steadfast love and faithfulness.”</a:t>
            </a:r>
          </a:p>
          <a:p>
            <a:pPr marL="285750" indent="-285750">
              <a:buFont typeface="Arial" panose="020B0604020202020204" pitchFamily="34" charset="0"/>
              <a:buChar char="•"/>
            </a:pPr>
            <a:r>
              <a:rPr lang="en-US" dirty="0"/>
              <a:t>Jesus is God’s covenant love walking among men.</a:t>
            </a:r>
          </a:p>
        </p:txBody>
      </p:sp>
    </p:spTree>
    <p:extLst>
      <p:ext uri="{BB962C8B-B14F-4D97-AF65-F5344CB8AC3E}">
        <p14:creationId xmlns:p14="http://schemas.microsoft.com/office/powerpoint/2010/main" val="3423850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5CE08-A15C-823A-1049-F5CE3371E0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5C80EBB-56FD-D26B-DC80-ABE4A826F8A2}"/>
              </a:ext>
            </a:extLst>
          </p:cNvPr>
          <p:cNvSpPr txBox="1">
            <a:spLocks/>
          </p:cNvSpPr>
          <p:nvPr/>
        </p:nvSpPr>
        <p:spPr bwMode="auto">
          <a:xfrm>
            <a:off x="228600" y="0"/>
            <a:ext cx="86868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Apostolic Theology</a:t>
            </a:r>
            <a:br>
              <a:rPr lang="en-US" sz="4400" dirty="0"/>
            </a:br>
            <a:r>
              <a:rPr lang="en-US" sz="3100" dirty="0">
                <a:solidFill>
                  <a:schemeClr val="tx2">
                    <a:lumMod val="60000"/>
                    <a:lumOff val="40000"/>
                  </a:schemeClr>
                </a:solidFill>
              </a:rPr>
              <a:t>The heart of ḥesed as the Apostles understood it…</a:t>
            </a:r>
            <a:endParaRPr lang="en-US" sz="4800" dirty="0">
              <a:solidFill>
                <a:schemeClr val="tx2">
                  <a:lumMod val="60000"/>
                  <a:lumOff val="40000"/>
                </a:schemeClr>
              </a:solidFill>
            </a:endParaRPr>
          </a:p>
        </p:txBody>
      </p:sp>
      <p:sp>
        <p:nvSpPr>
          <p:cNvPr id="3" name="TextBox 2">
            <a:extLst>
              <a:ext uri="{FF2B5EF4-FFF2-40B4-BE49-F238E27FC236}">
                <a16:creationId xmlns:a16="http://schemas.microsoft.com/office/drawing/2014/main" id="{C074DF6E-0055-D375-E7AC-54CA38C4C8EF}"/>
              </a:ext>
            </a:extLst>
          </p:cNvPr>
          <p:cNvSpPr txBox="1"/>
          <p:nvPr/>
        </p:nvSpPr>
        <p:spPr>
          <a:xfrm>
            <a:off x="304800" y="1143000"/>
            <a:ext cx="8534400" cy="3693319"/>
          </a:xfrm>
          <a:prstGeom prst="rect">
            <a:avLst/>
          </a:prstGeom>
          <a:noFill/>
        </p:spPr>
        <p:txBody>
          <a:bodyPr wrap="square" rtlCol="0">
            <a:spAutoFit/>
          </a:bodyPr>
          <a:lstStyle/>
          <a:p>
            <a:r>
              <a:rPr lang="en-US" b="1" dirty="0"/>
              <a:t>apostles reinterpret “service” through the lens of ḥesed</a:t>
            </a:r>
            <a:endParaRPr lang="en-US" dirty="0"/>
          </a:p>
          <a:p>
            <a:r>
              <a:rPr lang="en-US" dirty="0"/>
              <a:t>in roman society, a </a:t>
            </a:r>
            <a:r>
              <a:rPr lang="en-US" b="1" dirty="0"/>
              <a:t>slave</a:t>
            </a:r>
            <a:r>
              <a:rPr lang="en-US" dirty="0"/>
              <a:t> or </a:t>
            </a:r>
            <a:r>
              <a:rPr lang="en-US" b="1" dirty="0"/>
              <a:t>servant</a:t>
            </a:r>
            <a:r>
              <a:rPr lang="en-US" dirty="0"/>
              <a:t> held no honor. but the apostles turned the idea upside down.</a:t>
            </a:r>
          </a:p>
          <a:p>
            <a:pPr fontAlgn="ctr"/>
            <a:r>
              <a:rPr lang="en-US" b="1" dirty="0"/>
              <a:t>Jesus</a:t>
            </a:r>
            <a:r>
              <a:rPr lang="en-US" dirty="0"/>
              <a:t> said, “whoever wants to be first among you must be slave of all.” (mark 10:44)</a:t>
            </a:r>
          </a:p>
          <a:p>
            <a:pPr fontAlgn="ctr"/>
            <a:r>
              <a:rPr lang="en-US" b="1" dirty="0"/>
              <a:t>Paul</a:t>
            </a:r>
            <a:r>
              <a:rPr lang="en-US" dirty="0"/>
              <a:t> called himself “a slave of Christ Jesus.” (rom 1:1)</a:t>
            </a:r>
          </a:p>
          <a:p>
            <a:pPr fontAlgn="ctr"/>
            <a:r>
              <a:rPr lang="en-US" b="1" dirty="0"/>
              <a:t>Peter</a:t>
            </a:r>
            <a:r>
              <a:rPr lang="en-US" dirty="0"/>
              <a:t> told believers to “use your freedom to serve one another.” (1 pet 2:16)</a:t>
            </a:r>
          </a:p>
          <a:p>
            <a:r>
              <a:rPr lang="en-US" dirty="0"/>
              <a:t>this wasn’t humiliation for its own sake. it was the </a:t>
            </a:r>
            <a:r>
              <a:rPr lang="en-US" i="1" dirty="0"/>
              <a:t>ḥesed</a:t>
            </a:r>
            <a:r>
              <a:rPr lang="en-US" dirty="0"/>
              <a:t> way — love that puts the other’s good above self, because that’s what Christ did.</a:t>
            </a:r>
          </a:p>
          <a:p>
            <a:r>
              <a:rPr lang="en-US" dirty="0"/>
              <a:t>to serve as Jesus served is to practice covenant faithfulness inside the new covenant family.</a:t>
            </a:r>
          </a:p>
          <a:p>
            <a:r>
              <a:rPr lang="en-US" dirty="0"/>
              <a:t>so when believers act as </a:t>
            </a:r>
            <a:r>
              <a:rPr lang="en-US" b="1" dirty="0"/>
              <a:t>stewards</a:t>
            </a:r>
            <a:r>
              <a:rPr lang="en-US" dirty="0"/>
              <a:t>, </a:t>
            </a:r>
            <a:r>
              <a:rPr lang="en-US" b="1" dirty="0"/>
              <a:t>servants</a:t>
            </a:r>
            <a:r>
              <a:rPr lang="en-US" dirty="0"/>
              <a:t>, or </a:t>
            </a:r>
            <a:r>
              <a:rPr lang="en-US" b="1" dirty="0"/>
              <a:t>slaves</a:t>
            </a:r>
            <a:r>
              <a:rPr lang="en-US" dirty="0"/>
              <a:t>, they’re living out divine loyalty — the practical expression of </a:t>
            </a:r>
            <a:r>
              <a:rPr lang="en-US" i="1" dirty="0"/>
              <a:t>ḥesed</a:t>
            </a:r>
            <a:r>
              <a:rPr lang="en-US" dirty="0"/>
              <a:t>.</a:t>
            </a:r>
          </a:p>
        </p:txBody>
      </p:sp>
    </p:spTree>
    <p:extLst>
      <p:ext uri="{BB962C8B-B14F-4D97-AF65-F5344CB8AC3E}">
        <p14:creationId xmlns:p14="http://schemas.microsoft.com/office/powerpoint/2010/main" val="21510070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FCBD3-5DDB-1EA5-FE78-0F79047F197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E05BFAD-70C4-CD94-EA62-BBD729DD9F99}"/>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a:t>
            </a:r>
            <a:br>
              <a:rPr lang="en-US" dirty="0"/>
            </a:br>
            <a:r>
              <a:rPr lang="en-US" sz="2400" u="sng" dirty="0">
                <a:solidFill>
                  <a:schemeClr val="tx2">
                    <a:lumMod val="60000"/>
                    <a:lumOff val="40000"/>
                  </a:schemeClr>
                </a:solidFill>
              </a:rPr>
              <a:t>For</a:t>
            </a:r>
          </a:p>
        </p:txBody>
      </p:sp>
      <p:sp>
        <p:nvSpPr>
          <p:cNvPr id="3" name="TextBox 2">
            <a:extLst>
              <a:ext uri="{FF2B5EF4-FFF2-40B4-BE49-F238E27FC236}">
                <a16:creationId xmlns:a16="http://schemas.microsoft.com/office/drawing/2014/main" id="{6624B8E8-E6A3-071A-0BEF-D460949724C3}"/>
              </a:ext>
            </a:extLst>
          </p:cNvPr>
          <p:cNvSpPr txBox="1"/>
          <p:nvPr/>
        </p:nvSpPr>
        <p:spPr>
          <a:xfrm>
            <a:off x="304800" y="1143000"/>
            <a:ext cx="8534400" cy="3139321"/>
          </a:xfrm>
          <a:prstGeom prst="rect">
            <a:avLst/>
          </a:prstGeom>
          <a:noFill/>
        </p:spPr>
        <p:txBody>
          <a:bodyPr wrap="square" rtlCol="0">
            <a:spAutoFit/>
          </a:bodyPr>
          <a:lstStyle/>
          <a:p>
            <a:r>
              <a:rPr lang="en-US" b="1" dirty="0"/>
              <a:t>“as He is” — Christ as the moral measure of ḥesed</a:t>
            </a:r>
            <a:endParaRPr lang="en-US" dirty="0"/>
          </a:p>
          <a:p>
            <a:r>
              <a:rPr lang="en-US" dirty="0"/>
              <a:t>you listed john’s many “as He is” statements (1 john 1–5). that repetition is the apostolic ethic:</a:t>
            </a:r>
          </a:p>
          <a:p>
            <a:r>
              <a:rPr lang="en-US" dirty="0"/>
              <a:t>the measure of holiness, righteousness, purity, love, and truth is </a:t>
            </a:r>
            <a:r>
              <a:rPr lang="en-US" i="1" dirty="0"/>
              <a:t>Jesus Himself</a:t>
            </a:r>
            <a:r>
              <a:rPr lang="en-US" dirty="0"/>
              <a:t>.</a:t>
            </a:r>
          </a:p>
          <a:p>
            <a:pPr fontAlgn="ctr"/>
            <a:r>
              <a:rPr lang="en-US" b="1" dirty="0"/>
              <a:t>walk in the light, as He is in the light</a:t>
            </a:r>
            <a:r>
              <a:rPr lang="en-US" dirty="0"/>
              <a:t> → faithfulness in truth.</a:t>
            </a:r>
          </a:p>
          <a:p>
            <a:pPr fontAlgn="ctr"/>
            <a:r>
              <a:rPr lang="en-US" b="1" dirty="0"/>
              <a:t>be righteous, just as He is righteous</a:t>
            </a:r>
            <a:r>
              <a:rPr lang="en-US" dirty="0"/>
              <a:t> → moral integrity shaped by His obedience.</a:t>
            </a:r>
          </a:p>
          <a:p>
            <a:pPr fontAlgn="ctr"/>
            <a:r>
              <a:rPr lang="en-US" b="1" dirty="0"/>
              <a:t>love one another, as He loved us</a:t>
            </a:r>
            <a:r>
              <a:rPr lang="en-US" dirty="0"/>
              <a:t> → covenant love extending outward.</a:t>
            </a:r>
          </a:p>
          <a:p>
            <a:pPr fontAlgn="ctr"/>
            <a:r>
              <a:rPr lang="en-US" b="1" dirty="0"/>
              <a:t>purify yourself, as He is pure</a:t>
            </a:r>
            <a:r>
              <a:rPr lang="en-US" dirty="0"/>
              <a:t> → moral renewal through fellowship with Him.</a:t>
            </a:r>
          </a:p>
          <a:p>
            <a:r>
              <a:rPr lang="en-US" dirty="0"/>
              <a:t>each “as He is” ties ethics back to Christ’s nature — His </a:t>
            </a:r>
            <a:r>
              <a:rPr lang="en-US" i="1" dirty="0"/>
              <a:t>ḥesed</a:t>
            </a:r>
            <a:r>
              <a:rPr lang="en-US" dirty="0"/>
              <a:t> in action.</a:t>
            </a:r>
          </a:p>
          <a:p>
            <a:r>
              <a:rPr lang="en-US" dirty="0"/>
              <a:t>it’s not moralism but participation: sharing His life by the Spirit (1 john 3:24).</a:t>
            </a:r>
          </a:p>
        </p:txBody>
      </p:sp>
    </p:spTree>
    <p:extLst>
      <p:ext uri="{BB962C8B-B14F-4D97-AF65-F5344CB8AC3E}">
        <p14:creationId xmlns:p14="http://schemas.microsoft.com/office/powerpoint/2010/main" val="2123675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5DC53-2009-B912-BA6E-6EE111C53B7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5762546-EDB9-B93C-3201-37B79F22C812}"/>
              </a:ext>
            </a:extLst>
          </p:cNvPr>
          <p:cNvSpPr txBox="1">
            <a:spLocks/>
          </p:cNvSpPr>
          <p:nvPr/>
        </p:nvSpPr>
        <p:spPr bwMode="auto">
          <a:xfrm>
            <a:off x="2286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Promises</a:t>
            </a:r>
            <a:br>
              <a:rPr lang="en-US" dirty="0"/>
            </a:br>
            <a:r>
              <a:rPr lang="en-US" sz="2400" u="sng" dirty="0">
                <a:solidFill>
                  <a:schemeClr val="tx2">
                    <a:lumMod val="60000"/>
                    <a:lumOff val="40000"/>
                  </a:schemeClr>
                </a:solidFill>
              </a:rPr>
              <a:t>For</a:t>
            </a:r>
          </a:p>
        </p:txBody>
      </p:sp>
      <p:sp>
        <p:nvSpPr>
          <p:cNvPr id="3" name="TextBox 2">
            <a:extLst>
              <a:ext uri="{FF2B5EF4-FFF2-40B4-BE49-F238E27FC236}">
                <a16:creationId xmlns:a16="http://schemas.microsoft.com/office/drawing/2014/main" id="{B088D8F4-97F4-3A65-CE91-ECAE6599354F}"/>
              </a:ext>
            </a:extLst>
          </p:cNvPr>
          <p:cNvSpPr txBox="1"/>
          <p:nvPr/>
        </p:nvSpPr>
        <p:spPr>
          <a:xfrm>
            <a:off x="304800" y="1143000"/>
            <a:ext cx="8534400" cy="4524315"/>
          </a:xfrm>
          <a:prstGeom prst="rect">
            <a:avLst/>
          </a:prstGeom>
          <a:noFill/>
        </p:spPr>
        <p:txBody>
          <a:bodyPr wrap="square" rtlCol="0">
            <a:spAutoFit/>
          </a:bodyPr>
          <a:lstStyle/>
          <a:p>
            <a:r>
              <a:rPr lang="en-US" b="1" dirty="0"/>
              <a:t>the </a:t>
            </a:r>
            <a:r>
              <a:rPr lang="en-US" b="1" i="1" dirty="0"/>
              <a:t>ḥesed</a:t>
            </a:r>
            <a:r>
              <a:rPr lang="en-US" b="1" dirty="0"/>
              <a:t> test — “as you did it to one of these” (matt 25:40)</a:t>
            </a:r>
            <a:endParaRPr lang="en-US" dirty="0"/>
          </a:p>
          <a:p>
            <a:r>
              <a:rPr lang="en-US" dirty="0"/>
              <a:t>Jesus made relational ethics the ground of final judgment.</a:t>
            </a:r>
          </a:p>
          <a:p>
            <a:r>
              <a:rPr lang="en-US" dirty="0"/>
              <a:t>to serve others as if they were Christ is the ultimate covenant expression of love.</a:t>
            </a:r>
          </a:p>
          <a:p>
            <a:r>
              <a:rPr lang="en-US" dirty="0"/>
              <a:t>this mirrors God’s own </a:t>
            </a:r>
            <a:r>
              <a:rPr lang="en-US" i="1" dirty="0"/>
              <a:t>ḥesed</a:t>
            </a:r>
            <a:r>
              <a:rPr lang="en-US" dirty="0"/>
              <a:t>: He treats us as His own Son deserves, and calls us to treat others as if they were His Son.</a:t>
            </a:r>
          </a:p>
          <a:p>
            <a:r>
              <a:rPr lang="en-US" dirty="0"/>
              <a:t>the moral test, then, is not ceremony or confession alone, but whether we live the </a:t>
            </a:r>
            <a:r>
              <a:rPr lang="en-US" i="1" dirty="0"/>
              <a:t>ḥesed</a:t>
            </a:r>
            <a:r>
              <a:rPr lang="en-US" dirty="0"/>
              <a:t> life — mercy, service, faithfulness, love — toward others.</a:t>
            </a:r>
          </a:p>
          <a:p>
            <a:endParaRPr lang="en-US" dirty="0"/>
          </a:p>
          <a:p>
            <a:r>
              <a:rPr lang="en-US" b="1" dirty="0"/>
              <a:t>apostolic leadership — passing on the </a:t>
            </a:r>
            <a:r>
              <a:rPr lang="en-US" b="1" i="1" dirty="0"/>
              <a:t>ḥesed</a:t>
            </a:r>
            <a:r>
              <a:rPr lang="en-US" b="1" dirty="0"/>
              <a:t> pattern</a:t>
            </a:r>
            <a:endParaRPr lang="en-US" dirty="0"/>
          </a:p>
          <a:p>
            <a:r>
              <a:rPr lang="en-US" dirty="0"/>
              <a:t>for </a:t>
            </a:r>
            <a:r>
              <a:rPr lang="en-US" dirty="0" err="1"/>
              <a:t>paul</a:t>
            </a:r>
            <a:r>
              <a:rPr lang="en-US" dirty="0"/>
              <a:t>, peter, and john, leadership meant </a:t>
            </a:r>
            <a:r>
              <a:rPr lang="en-US" b="1" dirty="0"/>
              <a:t>modeling Christ’s faithfulness</a:t>
            </a:r>
            <a:r>
              <a:rPr lang="en-US" dirty="0"/>
              <a:t>.</a:t>
            </a:r>
          </a:p>
          <a:p>
            <a:r>
              <a:rPr lang="en-US" dirty="0"/>
              <a:t>“imitate me, as I also imitate Christ.” (1 </a:t>
            </a:r>
            <a:r>
              <a:rPr lang="en-US" dirty="0" err="1"/>
              <a:t>cor</a:t>
            </a:r>
            <a:r>
              <a:rPr lang="en-US" dirty="0"/>
              <a:t> 11:1)</a:t>
            </a:r>
          </a:p>
          <a:p>
            <a:r>
              <a:rPr lang="en-US" dirty="0"/>
              <a:t>“shepherd the flock of God among you… not lording it over those entrusted to you.” (1 pet 5:2–3)</a:t>
            </a:r>
          </a:p>
          <a:p>
            <a:r>
              <a:rPr lang="en-US" dirty="0"/>
              <a:t>their model was not authority but loyalty — </a:t>
            </a:r>
            <a:r>
              <a:rPr lang="en-US" i="1" dirty="0"/>
              <a:t>ḥesed</a:t>
            </a:r>
            <a:r>
              <a:rPr lang="en-US" dirty="0"/>
              <a:t> stewardship: guiding others’ good as Christ guided theirs.</a:t>
            </a:r>
          </a:p>
          <a:p>
            <a:endParaRPr lang="en-US" dirty="0"/>
          </a:p>
        </p:txBody>
      </p:sp>
    </p:spTree>
    <p:extLst>
      <p:ext uri="{BB962C8B-B14F-4D97-AF65-F5344CB8AC3E}">
        <p14:creationId xmlns:p14="http://schemas.microsoft.com/office/powerpoint/2010/main" val="1768265387"/>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35583</TotalTime>
  <Words>3030</Words>
  <Application>Microsoft Office PowerPoint</Application>
  <PresentationFormat>On-screen Show (4:3)</PresentationFormat>
  <Paragraphs>228</Paragraphs>
  <Slides>9</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9</vt:i4>
      </vt:variant>
    </vt:vector>
  </HeadingPairs>
  <TitlesOfParts>
    <vt:vector size="15"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1319</cp:revision>
  <cp:lastPrinted>2025-10-19T02:51:52Z</cp:lastPrinted>
  <dcterms:created xsi:type="dcterms:W3CDTF">2010-06-16T02:58:04Z</dcterms:created>
  <dcterms:modified xsi:type="dcterms:W3CDTF">2025-11-08T12:47:17Z</dcterms:modified>
</cp:coreProperties>
</file>