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068" r:id="rId1"/>
    <p:sldMasterId id="2147484131" r:id="rId2"/>
  </p:sldMasterIdLst>
  <p:notesMasterIdLst>
    <p:notesMasterId r:id="rId11"/>
  </p:notesMasterIdLst>
  <p:sldIdLst>
    <p:sldId id="395" r:id="rId3"/>
    <p:sldId id="581" r:id="rId4"/>
    <p:sldId id="582" r:id="rId5"/>
    <p:sldId id="583" r:id="rId6"/>
    <p:sldId id="586" r:id="rId7"/>
    <p:sldId id="585" r:id="rId8"/>
    <p:sldId id="587" r:id="rId9"/>
    <p:sldId id="584" r:id="rId10"/>
  </p:sldIdLst>
  <p:sldSz cx="9144000" cy="6858000" type="screen4x3"/>
  <p:notesSz cx="7315200" cy="9601200"/>
  <p:defaultTextStyle>
    <a:defPPr>
      <a:defRPr lang="en-US"/>
    </a:defPPr>
    <a:lvl1pPr algn="l"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lip Pennington" initials="PP" lastIdx="2" clrIdx="0">
    <p:extLst>
      <p:ext uri="{19B8F6BF-5375-455C-9EA6-DF929625EA0E}">
        <p15:presenceInfo xmlns:p15="http://schemas.microsoft.com/office/powerpoint/2012/main" userId="7a30b84b863a4f9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23" autoAdjust="0"/>
    <p:restoredTop sz="63471" autoAdjust="0"/>
  </p:normalViewPr>
  <p:slideViewPr>
    <p:cSldViewPr>
      <p:cViewPr varScale="1">
        <p:scale>
          <a:sx n="92" d="100"/>
          <a:sy n="92" d="100"/>
        </p:scale>
        <p:origin x="1792" y="17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5" y="4"/>
            <a:ext cx="3169921" cy="480060"/>
          </a:xfrm>
          <a:prstGeom prst="rect">
            <a:avLst/>
          </a:prstGeom>
        </p:spPr>
        <p:txBody>
          <a:bodyPr vert="horz" wrap="square" lIns="96579" tIns="48290" rIns="96579" bIns="48290" numCol="1" anchor="t"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3" name="Date Placeholder 2"/>
          <p:cNvSpPr>
            <a:spLocks noGrp="1"/>
          </p:cNvSpPr>
          <p:nvPr>
            <p:ph type="dt" idx="1"/>
          </p:nvPr>
        </p:nvSpPr>
        <p:spPr>
          <a:xfrm>
            <a:off x="4143589" y="4"/>
            <a:ext cx="3169921" cy="480060"/>
          </a:xfrm>
          <a:prstGeom prst="rect">
            <a:avLst/>
          </a:prstGeom>
        </p:spPr>
        <p:txBody>
          <a:bodyPr vert="horz" wrap="square" lIns="96579" tIns="48290" rIns="96579" bIns="48290" numCol="1" anchor="t"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37B93000-4848-40F5-8AEF-44DFB12065B3}" type="datetime1">
              <a:rPr lang="en-US"/>
              <a:pPr>
                <a:defRPr/>
              </a:pPr>
              <a:t>12/3/25</a:t>
            </a:fld>
            <a:endParaRPr lang="en-US"/>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wrap="square" lIns="96579" tIns="48290" rIns="96579" bIns="48290" numCol="1" anchor="ctr" anchorCtr="0" compatLnSpc="1">
            <a:prstTxWarp prst="textNoShape">
              <a:avLst/>
            </a:prstTxWarp>
          </a:bodyPr>
          <a:lstStyle/>
          <a:p>
            <a:pPr lvl="0"/>
            <a:endParaRPr lang="en-US" noProof="0"/>
          </a:p>
        </p:txBody>
      </p:sp>
      <p:sp>
        <p:nvSpPr>
          <p:cNvPr id="5" name="Notes Placeholder 4"/>
          <p:cNvSpPr>
            <a:spLocks noGrp="1"/>
          </p:cNvSpPr>
          <p:nvPr>
            <p:ph type="body" sz="quarter" idx="3"/>
          </p:nvPr>
        </p:nvSpPr>
        <p:spPr>
          <a:xfrm>
            <a:off x="731521" y="4560571"/>
            <a:ext cx="5852160" cy="4320540"/>
          </a:xfrm>
          <a:prstGeom prst="rect">
            <a:avLst/>
          </a:prstGeom>
        </p:spPr>
        <p:txBody>
          <a:bodyPr vert="horz" wrap="square" lIns="96579" tIns="48290" rIns="96579" bIns="48290" numCol="1" anchor="t" anchorCtr="0" compatLnSpc="1">
            <a:prstTxWarp prst="textNoShape">
              <a:avLst/>
            </a:prstTxWarp>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5" y="9119474"/>
            <a:ext cx="3169921" cy="480060"/>
          </a:xfrm>
          <a:prstGeom prst="rect">
            <a:avLst/>
          </a:prstGeom>
        </p:spPr>
        <p:txBody>
          <a:bodyPr vert="horz" wrap="square" lIns="96579" tIns="48290" rIns="96579" bIns="48290" numCol="1" anchor="b" anchorCtr="0" compatLnSpc="1">
            <a:prstTxWarp prst="textNoShape">
              <a:avLst/>
            </a:prstTxWarp>
          </a:bodyPr>
          <a:lstStyle>
            <a:lvl1pPr>
              <a:defRPr sz="1200">
                <a:latin typeface="Arial" pitchFamily="34" charset="0"/>
                <a:ea typeface="ＭＳ Ｐゴシック" pitchFamily="-106" charset="-128"/>
              </a:defRPr>
            </a:lvl1pPr>
          </a:lstStyle>
          <a:p>
            <a:pPr>
              <a:defRPr/>
            </a:pPr>
            <a:endParaRPr lang="en-US"/>
          </a:p>
        </p:txBody>
      </p:sp>
      <p:sp>
        <p:nvSpPr>
          <p:cNvPr id="7" name="Slide Number Placeholder 6"/>
          <p:cNvSpPr>
            <a:spLocks noGrp="1"/>
          </p:cNvSpPr>
          <p:nvPr>
            <p:ph type="sldNum" sz="quarter" idx="5"/>
          </p:nvPr>
        </p:nvSpPr>
        <p:spPr>
          <a:xfrm>
            <a:off x="4143589" y="9119474"/>
            <a:ext cx="3169921" cy="480060"/>
          </a:xfrm>
          <a:prstGeom prst="rect">
            <a:avLst/>
          </a:prstGeom>
        </p:spPr>
        <p:txBody>
          <a:bodyPr vert="horz" wrap="square" lIns="96579" tIns="48290" rIns="96579" bIns="48290" numCol="1" anchor="b" anchorCtr="0" compatLnSpc="1">
            <a:prstTxWarp prst="textNoShape">
              <a:avLst/>
            </a:prstTxWarp>
          </a:bodyPr>
          <a:lstStyle>
            <a:lvl1pPr algn="r">
              <a:defRPr sz="1200">
                <a:latin typeface="Arial" pitchFamily="34" charset="0"/>
                <a:ea typeface="ＭＳ Ｐゴシック" pitchFamily="-106" charset="-128"/>
              </a:defRPr>
            </a:lvl1pPr>
          </a:lstStyle>
          <a:p>
            <a:pPr>
              <a:defRPr/>
            </a:pPr>
            <a:fld id="{07776858-791E-4C8D-8FA3-473B3AFECFAC}" type="slidenum">
              <a:rPr lang="en-US"/>
              <a:pPr>
                <a:defRPr/>
              </a:pPr>
              <a:t>‹#›</a:t>
            </a:fld>
            <a:endParaRPr lang="en-US"/>
          </a:p>
        </p:txBody>
      </p:sp>
    </p:spTree>
    <p:extLst>
      <p:ext uri="{BB962C8B-B14F-4D97-AF65-F5344CB8AC3E}">
        <p14:creationId xmlns:p14="http://schemas.microsoft.com/office/powerpoint/2010/main" val="411837504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mn-lt"/>
        <a:ea typeface="ＭＳ Ｐゴシック" pitchFamily="-106"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normAutofit fontScale="92500" lnSpcReduction="10000"/>
          </a:bodyPr>
          <a:lstStyle/>
          <a:p>
            <a:r>
              <a:rPr lang="en-US" sz="1400" b="1" kern="1200" dirty="0">
                <a:solidFill>
                  <a:schemeClr val="tx1"/>
                </a:solidFill>
                <a:effectLst/>
                <a:latin typeface="+mn-lt"/>
                <a:ea typeface="ＭＳ Ｐゴシック" pitchFamily="-106" charset="-128"/>
                <a:cs typeface="ＭＳ Ｐゴシック" pitchFamily="-106" charset="-128"/>
              </a:rPr>
              <a:t>Promise of Rest and Peace</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Core Theme</a:t>
            </a:r>
            <a:endParaRPr lang="en-US" sz="1400" kern="1200" dirty="0">
              <a:solidFill>
                <a:schemeClr val="tx1"/>
              </a:solidFill>
              <a:effectLst/>
              <a:latin typeface="+mn-lt"/>
              <a:ea typeface="ＭＳ Ｐゴシック" pitchFamily="-106" charset="-128"/>
              <a:cs typeface="ＭＳ Ｐゴシック" pitchFamily="-106" charset="-128"/>
            </a:endParaRP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God promises rest in Himself.</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This rest is physical, spiritual, and eternal.</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Christ is the full and final source of this rest.</a:t>
            </a:r>
          </a:p>
          <a:p>
            <a:endParaRPr lang="en-US" sz="1400" kern="1200" dirty="0">
              <a:solidFill>
                <a:schemeClr val="tx1"/>
              </a:solidFill>
              <a:effectLst/>
              <a:latin typeface="+mn-lt"/>
              <a:ea typeface="ＭＳ Ｐゴシック" pitchFamily="-106" charset="-128"/>
              <a:cs typeface="ＭＳ Ｐゴシック" pitchFamily="-106"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b="1" kern="1200" dirty="0">
                <a:solidFill>
                  <a:schemeClr val="tx1"/>
                </a:solidFill>
                <a:effectLst/>
                <a:latin typeface="+mn-lt"/>
                <a:ea typeface="ＭＳ Ｐゴシック" pitchFamily="-106" charset="-128"/>
                <a:cs typeface="ＭＳ Ｐゴシック" pitchFamily="-106" charset="-128"/>
              </a:rPr>
              <a:t>Hebrews 4:1-11 : How the ancient Israelites missed the promised rest…</a:t>
            </a:r>
            <a:endParaRPr lang="en-US" sz="1400" kern="1200" dirty="0">
              <a:solidFill>
                <a:schemeClr val="tx1"/>
              </a:solidFill>
              <a:effectLst/>
              <a:latin typeface="+mn-lt"/>
              <a:ea typeface="ＭＳ Ｐゴシック" pitchFamily="-106" charset="-128"/>
              <a:cs typeface="ＭＳ Ｐゴシック" pitchFamily="-106" charset="-128"/>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kern="1200" dirty="0">
                <a:solidFill>
                  <a:schemeClr val="tx1"/>
                </a:solidFill>
                <a:effectLst/>
                <a:latin typeface="+mn-lt"/>
                <a:ea typeface="ＭＳ Ｐゴシック" pitchFamily="-106" charset="-128"/>
                <a:cs typeface="ＭＳ Ｐゴシック" pitchFamily="-106" charset="-128"/>
              </a:rPr>
              <a:t>“Therefore we must be wary that, while the promise of entering his rest remains open, none of you may seem to have come short of it. For we had good news proclaimed to us just as they did. But the message they heard did them no good, since they did not join in with those who heard it in faith. For we who have believed enter that rest, as he has said, “</a:t>
            </a:r>
            <a:r>
              <a:rPr lang="en-US" sz="1400" b="1" i="1" kern="1200" dirty="0">
                <a:solidFill>
                  <a:schemeClr val="tx1"/>
                </a:solidFill>
                <a:effectLst/>
                <a:latin typeface="+mn-lt"/>
                <a:ea typeface="ＭＳ Ｐゴシック" pitchFamily="-106" charset="-128"/>
                <a:cs typeface="ＭＳ Ｐゴシック" pitchFamily="-106" charset="-128"/>
              </a:rPr>
              <a:t>As I swore in my anger</a:t>
            </a:r>
            <a:r>
              <a:rPr lang="en-US" sz="1400" i="1" kern="1200" dirty="0">
                <a:solidFill>
                  <a:schemeClr val="tx1"/>
                </a:solidFill>
                <a:effectLst/>
                <a:latin typeface="+mn-lt"/>
                <a:ea typeface="ＭＳ Ｐゴシック" pitchFamily="-106" charset="-128"/>
                <a:cs typeface="ＭＳ Ｐゴシック" pitchFamily="-106" charset="-128"/>
              </a:rPr>
              <a:t>,</a:t>
            </a:r>
            <a:r>
              <a:rPr lang="en-US" sz="1400" kern="1200" dirty="0">
                <a:solidFill>
                  <a:schemeClr val="tx1"/>
                </a:solidFill>
                <a:effectLst/>
                <a:latin typeface="+mn-lt"/>
                <a:ea typeface="ＭＳ Ｐゴシック" pitchFamily="-106" charset="-128"/>
                <a:cs typeface="ＭＳ Ｐゴシック" pitchFamily="-106" charset="-128"/>
              </a:rPr>
              <a:t> ‘</a:t>
            </a:r>
            <a:r>
              <a:rPr lang="en-US" sz="1400" b="1" i="1" kern="1200" dirty="0">
                <a:solidFill>
                  <a:schemeClr val="tx1"/>
                </a:solidFill>
                <a:effectLst/>
                <a:latin typeface="+mn-lt"/>
                <a:ea typeface="ＭＳ Ｐゴシック" pitchFamily="-106" charset="-128"/>
                <a:cs typeface="ＭＳ Ｐゴシック" pitchFamily="-106" charset="-128"/>
              </a:rPr>
              <a:t>They will never enter my rest!</a:t>
            </a:r>
            <a:r>
              <a:rPr lang="en-US" sz="1400" kern="1200" dirty="0">
                <a:solidFill>
                  <a:schemeClr val="tx1"/>
                </a:solidFill>
                <a:effectLst/>
                <a:latin typeface="+mn-lt"/>
                <a:ea typeface="ＭＳ Ｐゴシック" pitchFamily="-106" charset="-128"/>
                <a:cs typeface="ＭＳ Ｐゴシック" pitchFamily="-106" charset="-128"/>
              </a:rPr>
              <a:t>’” And yet God’s works were accomplished from the foundation of the world. For he has spoken somewhere about the seventh day in this way: “</a:t>
            </a:r>
            <a:r>
              <a:rPr lang="en-US" sz="1400" b="1" i="1" kern="1200" dirty="0">
                <a:solidFill>
                  <a:schemeClr val="tx1"/>
                </a:solidFill>
                <a:effectLst/>
                <a:latin typeface="+mn-lt"/>
                <a:ea typeface="ＭＳ Ｐゴシック" pitchFamily="-106" charset="-128"/>
                <a:cs typeface="ＭＳ Ｐゴシック" pitchFamily="-106" charset="-128"/>
              </a:rPr>
              <a:t>And God rested on the seventh day from all his works</a:t>
            </a:r>
            <a:r>
              <a:rPr lang="en-US" sz="1400" kern="1200" dirty="0">
                <a:solidFill>
                  <a:schemeClr val="tx1"/>
                </a:solidFill>
                <a:effectLst/>
                <a:latin typeface="+mn-lt"/>
                <a:ea typeface="ＭＳ Ｐゴシック" pitchFamily="-106" charset="-128"/>
                <a:cs typeface="ＭＳ Ｐゴシック" pitchFamily="-106" charset="-128"/>
              </a:rPr>
              <a:t>,” but to repeat the text cited earlier: “</a:t>
            </a:r>
            <a:r>
              <a:rPr lang="en-US" sz="1400" b="1" i="1" kern="1200" dirty="0">
                <a:solidFill>
                  <a:schemeClr val="tx1"/>
                </a:solidFill>
                <a:effectLst/>
                <a:latin typeface="+mn-lt"/>
                <a:ea typeface="ＭＳ Ｐゴシック" pitchFamily="-106" charset="-128"/>
                <a:cs typeface="ＭＳ Ｐゴシック" pitchFamily="-106" charset="-128"/>
              </a:rPr>
              <a:t>They will never enter my rest!</a:t>
            </a:r>
            <a:r>
              <a:rPr lang="en-US" sz="1400" kern="1200" dirty="0">
                <a:solidFill>
                  <a:schemeClr val="tx1"/>
                </a:solidFill>
                <a:effectLst/>
                <a:latin typeface="+mn-lt"/>
                <a:ea typeface="ＭＳ Ｐゴシック" pitchFamily="-106" charset="-128"/>
                <a:cs typeface="ＭＳ Ｐゴシック" pitchFamily="-106" charset="-128"/>
              </a:rPr>
              <a:t>” Therefore it remains for some to enter it, yet those to whom it was previously proclaimed did not enter because of disobedience. So God again ordains a certain day, “Today,” speaking through David after so long a time, as in the words quoted before, “</a:t>
            </a:r>
            <a:r>
              <a:rPr lang="en-US" sz="1400" b="1" i="1" kern="1200" dirty="0">
                <a:solidFill>
                  <a:schemeClr val="tx1"/>
                </a:solidFill>
                <a:effectLst/>
                <a:latin typeface="+mn-lt"/>
                <a:ea typeface="ＭＳ Ｐゴシック" pitchFamily="-106" charset="-128"/>
                <a:cs typeface="ＭＳ Ｐゴシック" pitchFamily="-106" charset="-128"/>
              </a:rPr>
              <a:t>Oh</a:t>
            </a:r>
            <a:r>
              <a:rPr lang="en-US" sz="1400" i="1" kern="1200" dirty="0">
                <a:solidFill>
                  <a:schemeClr val="tx1"/>
                </a:solidFill>
                <a:effectLst/>
                <a:latin typeface="+mn-lt"/>
                <a:ea typeface="ＭＳ Ｐゴシック" pitchFamily="-106" charset="-128"/>
                <a:cs typeface="ＭＳ Ｐゴシック" pitchFamily="-106" charset="-128"/>
              </a:rPr>
              <a:t>, </a:t>
            </a:r>
            <a:r>
              <a:rPr lang="en-US" sz="1400" b="1" i="1" kern="1200" dirty="0">
                <a:solidFill>
                  <a:schemeClr val="tx1"/>
                </a:solidFill>
                <a:effectLst/>
                <a:latin typeface="+mn-lt"/>
                <a:ea typeface="ＭＳ Ｐゴシック" pitchFamily="-106" charset="-128"/>
                <a:cs typeface="ＭＳ Ｐゴシック" pitchFamily="-106" charset="-128"/>
              </a:rPr>
              <a:t>that today you would listen as he speaks! Do not harden your hearts</a:t>
            </a:r>
            <a:r>
              <a:rPr lang="en-US" sz="1400" kern="1200" dirty="0">
                <a:solidFill>
                  <a:schemeClr val="tx1"/>
                </a:solidFill>
                <a:effectLst/>
                <a:latin typeface="+mn-lt"/>
                <a:ea typeface="ＭＳ Ｐゴシック" pitchFamily="-106" charset="-128"/>
                <a:cs typeface="ＭＳ Ｐゴシック" pitchFamily="-106" charset="-128"/>
              </a:rPr>
              <a:t>.” For if Joshua had given them rest, God would not have spoken afterward about another day. Consequently a Sabbath rest remains for the people of God. For the one who enters God’s rest has also rested from his works, just as God did from his own works. Thus we must make every effort to enter that rest, so that no one may fall by following the same pattern of disobedience.”  (</a:t>
            </a:r>
            <a:r>
              <a:rPr lang="en-US" sz="1400" b="1" kern="1200" dirty="0">
                <a:solidFill>
                  <a:schemeClr val="tx1"/>
                </a:solidFill>
                <a:effectLst/>
                <a:latin typeface="+mn-lt"/>
                <a:ea typeface="ＭＳ Ｐゴシック" pitchFamily="-106" charset="-128"/>
                <a:cs typeface="ＭＳ Ｐゴシック" pitchFamily="-106" charset="-128"/>
              </a:rPr>
              <a:t>Hebrews 4:1-11</a:t>
            </a:r>
            <a:r>
              <a:rPr lang="en-US" sz="1400" kern="1200" dirty="0">
                <a:solidFill>
                  <a:schemeClr val="tx1"/>
                </a:solidFill>
                <a:effectLst/>
                <a:latin typeface="+mn-lt"/>
                <a:ea typeface="ＭＳ Ｐゴシック" pitchFamily="-106" charset="-128"/>
                <a:cs typeface="ＭＳ Ｐゴシック" pitchFamily="-106" charset="-128"/>
              </a:rPr>
              <a:t>)</a:t>
            </a:r>
          </a:p>
          <a:p>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i="0" u="none" strike="noStrike" kern="1200" dirty="0">
                <a:solidFill>
                  <a:schemeClr val="tx1"/>
                </a:solidFill>
                <a:effectLst/>
                <a:latin typeface="+mn-lt"/>
                <a:ea typeface="ＭＳ Ｐゴシック" pitchFamily="-106" charset="-128"/>
                <a:cs typeface="ＭＳ Ｐゴシック" pitchFamily="-106" charset="-128"/>
              </a:rPr>
              <a:t>The previous verses demonstrate that God's rest is still available</a:t>
            </a:r>
            <a:r>
              <a:rPr lang="en-US" sz="1400" b="0" i="0" u="none" strike="noStrike" kern="1200" dirty="0">
                <a:solidFill>
                  <a:schemeClr val="tx1"/>
                </a:solidFill>
                <a:effectLst/>
                <a:latin typeface="+mn-lt"/>
                <a:ea typeface="ＭＳ Ｐゴシック" pitchFamily="-106" charset="-128"/>
                <a:cs typeface="ＭＳ Ｐゴシック" pitchFamily="-106" charset="-128"/>
              </a:rPr>
              <a:t>. This verse says that diligence is necessary in order </a:t>
            </a:r>
            <a:r>
              <a:rPr lang="en-US" sz="1400" b="1" i="0" u="none" strike="noStrike" kern="1200" dirty="0">
                <a:solidFill>
                  <a:schemeClr val="tx1"/>
                </a:solidFill>
                <a:effectLst/>
                <a:latin typeface="+mn-lt"/>
                <a:ea typeface="ＭＳ Ｐゴシック" pitchFamily="-106" charset="-128"/>
                <a:cs typeface="ＭＳ Ｐゴシック" pitchFamily="-106" charset="-128"/>
              </a:rPr>
              <a:t>to enter that rest</a:t>
            </a:r>
            <a:r>
              <a:rPr lang="en-US" sz="1400" b="0" i="0" u="none" strike="noStrike" kern="1200" dirty="0">
                <a:solidFill>
                  <a:schemeClr val="tx1"/>
                </a:solidFill>
                <a:effectLst/>
                <a:latin typeface="+mn-lt"/>
                <a:ea typeface="ＭＳ Ｐゴシック" pitchFamily="-106" charset="-128"/>
                <a:cs typeface="ＭＳ Ｐゴシック" pitchFamily="-106" charset="-128"/>
              </a:rPr>
              <a:t>. We must </a:t>
            </a:r>
            <a:r>
              <a:rPr lang="en-US" sz="1400" b="1" i="0" u="none" strike="noStrike" kern="1200" dirty="0">
                <a:solidFill>
                  <a:schemeClr val="tx1"/>
                </a:solidFill>
                <a:effectLst/>
                <a:latin typeface="+mn-lt"/>
                <a:ea typeface="ＭＳ Ｐゴシック" pitchFamily="-106" charset="-128"/>
                <a:cs typeface="ＭＳ Ｐゴシック" pitchFamily="-106" charset="-128"/>
              </a:rPr>
              <a:t>be diligent</a:t>
            </a:r>
            <a:r>
              <a:rPr lang="en-US" sz="1400" b="0" i="0" u="none" strike="noStrike" kern="1200" dirty="0">
                <a:solidFill>
                  <a:schemeClr val="tx1"/>
                </a:solidFill>
                <a:effectLst/>
                <a:latin typeface="+mn-lt"/>
                <a:ea typeface="ＭＳ Ｐゴシック" pitchFamily="-106" charset="-128"/>
                <a:cs typeface="ＭＳ Ｐゴシック" pitchFamily="-106" charset="-128"/>
              </a:rPr>
              <a:t> to make sure that our only hope is Christ the Lord. We must diligently resist any temptation merely to profess faith in Him and then to renounce Him in the heat of suffering and persecution. The Israelites were careless. </a:t>
            </a:r>
            <a:r>
              <a:rPr lang="en-US" sz="1400" b="1" i="1" u="none" strike="noStrike" kern="1200" baseline="0" dirty="0">
                <a:solidFill>
                  <a:schemeClr val="tx1"/>
                </a:solidFill>
                <a:effectLst/>
                <a:latin typeface="+mn-lt"/>
                <a:ea typeface="ＭＳ Ｐゴシック" pitchFamily="-106" charset="-128"/>
                <a:cs typeface="ＭＳ Ｐゴシック" pitchFamily="-106" charset="-128"/>
              </a:rPr>
              <a:t>They treated God's promises lightly</a:t>
            </a:r>
            <a:r>
              <a:rPr lang="en-US" sz="1400" b="0" i="0" u="none" strike="noStrike" kern="1200" dirty="0">
                <a:solidFill>
                  <a:schemeClr val="tx1"/>
                </a:solidFill>
                <a:effectLst/>
                <a:latin typeface="+mn-lt"/>
                <a:ea typeface="ＭＳ Ｐゴシック" pitchFamily="-106" charset="-128"/>
                <a:cs typeface="ＭＳ Ｐゴシック" pitchFamily="-106" charset="-128"/>
              </a:rPr>
              <a:t>. They hankered for Egypt, the land of their bondage. They were not diligent in appropriating God's promises by faith. As a result, they never reached Canaan. We should be warned by their example.</a:t>
            </a:r>
          </a:p>
          <a:p>
            <a:endParaRPr lang="en-US" sz="120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p:cNvSpPr>
            <a:spLocks noGrp="1"/>
          </p:cNvSpPr>
          <p:nvPr>
            <p:ph type="sldNum" sz="quarter" idx="5"/>
          </p:nvPr>
        </p:nvSpPr>
        <p:spPr/>
        <p:txBody>
          <a:bodyPr/>
          <a:lstStyle/>
          <a:p>
            <a:pPr>
              <a:defRPr/>
            </a:pPr>
            <a:fld id="{07776858-791E-4C8D-8FA3-473B3AFECFAC}" type="slidenum">
              <a:rPr lang="en-US" smtClean="0"/>
              <a:pPr>
                <a:defRPr/>
              </a:pPr>
              <a:t>1</a:t>
            </a:fld>
            <a:endParaRPr lang="en-US"/>
          </a:p>
        </p:txBody>
      </p:sp>
    </p:spTree>
    <p:extLst>
      <p:ext uri="{BB962C8B-B14F-4D97-AF65-F5344CB8AC3E}">
        <p14:creationId xmlns:p14="http://schemas.microsoft.com/office/powerpoint/2010/main" val="35624209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5C54A-0CA2-D446-FEEE-25092C128F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6C41FF-4EF1-57E1-D01F-1A7F1106F4C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5933434-B584-32FF-5D59-C65D97766B69}"/>
              </a:ext>
            </a:extLst>
          </p:cNvPr>
          <p:cNvSpPr>
            <a:spLocks noGrp="1"/>
          </p:cNvSpPr>
          <p:nvPr>
            <p:ph type="body" idx="1"/>
          </p:nvPr>
        </p:nvSpPr>
        <p:spPr/>
        <p:txBody>
          <a:bodyPr>
            <a:normAutofit lnSpcReduction="10000"/>
          </a:bodyPr>
          <a:lstStyle/>
          <a:p>
            <a:r>
              <a:rPr lang="en-US" sz="1400" b="1" u="sng" kern="1200" dirty="0">
                <a:solidFill>
                  <a:schemeClr val="tx1"/>
                </a:solidFill>
                <a:effectLst/>
                <a:latin typeface="+mn-lt"/>
                <a:ea typeface="ＭＳ Ｐゴシック" pitchFamily="-106" charset="-128"/>
                <a:cs typeface="ＭＳ Ｐゴシック" pitchFamily="-106" charset="-128"/>
              </a:rPr>
              <a:t>Rest and Peace: How They Connect</a:t>
            </a:r>
            <a:endParaRPr lang="en-US" sz="1400" u="sng"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kern="1200" dirty="0">
                <a:solidFill>
                  <a:schemeClr val="tx1"/>
                </a:solidFill>
                <a:effectLst/>
                <a:latin typeface="+mn-lt"/>
                <a:ea typeface="ＭＳ Ｐゴシック" pitchFamily="-106" charset="-128"/>
                <a:cs typeface="ＭＳ Ｐゴシック" pitchFamily="-106" charset="-128"/>
              </a:rPr>
              <a:t>The Bible links </a:t>
            </a:r>
            <a:r>
              <a:rPr lang="en-US" sz="1400" b="1" kern="1200" dirty="0">
                <a:solidFill>
                  <a:schemeClr val="tx1"/>
                </a:solidFill>
                <a:effectLst/>
                <a:latin typeface="+mn-lt"/>
                <a:ea typeface="ＭＳ Ｐゴシック" pitchFamily="-106" charset="-128"/>
                <a:cs typeface="ＭＳ Ｐゴシック" pitchFamily="-106" charset="-128"/>
              </a:rPr>
              <a:t>peace</a:t>
            </a:r>
            <a:r>
              <a:rPr lang="en-US" sz="1400" kern="1200" dirty="0">
                <a:solidFill>
                  <a:schemeClr val="tx1"/>
                </a:solidFill>
                <a:effectLst/>
                <a:latin typeface="+mn-lt"/>
                <a:ea typeface="ＭＳ Ｐゴシック" pitchFamily="-106" charset="-128"/>
                <a:cs typeface="ＭＳ Ｐゴシック" pitchFamily="-106" charset="-128"/>
              </a:rPr>
              <a:t> and </a:t>
            </a:r>
            <a:r>
              <a:rPr lang="en-US" sz="1400" b="1" kern="1200" dirty="0">
                <a:solidFill>
                  <a:schemeClr val="tx1"/>
                </a:solidFill>
                <a:effectLst/>
                <a:latin typeface="+mn-lt"/>
                <a:ea typeface="ＭＳ Ｐゴシック" pitchFamily="-106" charset="-128"/>
                <a:cs typeface="ＭＳ Ｐゴシック" pitchFamily="-106" charset="-128"/>
              </a:rPr>
              <a:t>rest</a:t>
            </a:r>
            <a:r>
              <a:rPr lang="en-US" sz="1400" kern="1200" dirty="0">
                <a:solidFill>
                  <a:schemeClr val="tx1"/>
                </a:solidFill>
                <a:effectLst/>
                <a:latin typeface="+mn-lt"/>
                <a:ea typeface="ＭＳ Ｐゴシック" pitchFamily="-106" charset="-128"/>
                <a:cs typeface="ＭＳ Ｐゴシック" pitchFamily="-106" charset="-128"/>
              </a:rPr>
              <a:t> as two sides of one promise.</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sz="1400" kern="1200" dirty="0">
                <a:solidFill>
                  <a:schemeClr val="tx1"/>
                </a:solidFill>
                <a:effectLst/>
                <a:latin typeface="+mn-lt"/>
                <a:ea typeface="ＭＳ Ｐゴシック" pitchFamily="-106" charset="-128"/>
                <a:cs typeface="ＭＳ Ｐゴシック" pitchFamily="-106" charset="-128"/>
              </a:rPr>
              <a:t>Peace speaks to our </a:t>
            </a:r>
            <a:r>
              <a:rPr lang="en-US" sz="1400" b="1" kern="1200" dirty="0">
                <a:solidFill>
                  <a:schemeClr val="tx1"/>
                </a:solidFill>
                <a:effectLst/>
                <a:latin typeface="+mn-lt"/>
                <a:ea typeface="ＭＳ Ｐゴシック" pitchFamily="-106" charset="-128"/>
                <a:cs typeface="ＭＳ Ｐゴシック" pitchFamily="-106" charset="-128"/>
              </a:rPr>
              <a:t>relationship with God</a:t>
            </a:r>
            <a:r>
              <a:rPr lang="en-US" sz="1400" kern="1200" dirty="0">
                <a:solidFill>
                  <a:schemeClr val="tx1"/>
                </a:solidFill>
                <a:effectLst/>
                <a:latin typeface="+mn-lt"/>
                <a:ea typeface="ＭＳ Ｐゴシック" pitchFamily="-106" charset="-128"/>
                <a:cs typeface="ＭＳ Ｐゴシック" pitchFamily="-106" charset="-128"/>
              </a:rPr>
              <a:t>.</a:t>
            </a:r>
          </a:p>
          <a:p>
            <a:r>
              <a:rPr lang="en-US" sz="1400" kern="1200" dirty="0">
                <a:solidFill>
                  <a:schemeClr val="tx1"/>
                </a:solidFill>
                <a:effectLst/>
                <a:latin typeface="+mn-lt"/>
                <a:ea typeface="ＭＳ Ｐゴシック" pitchFamily="-106" charset="-128"/>
                <a:cs typeface="ＭＳ Ｐゴシック" pitchFamily="-106" charset="-128"/>
              </a:rPr>
              <a:t>Rest speaks to our </a:t>
            </a:r>
            <a:r>
              <a:rPr lang="en-US" sz="1400" b="1" kern="1200" dirty="0">
                <a:solidFill>
                  <a:schemeClr val="tx1"/>
                </a:solidFill>
                <a:effectLst/>
                <a:latin typeface="+mn-lt"/>
                <a:ea typeface="ＭＳ Ｐゴシック" pitchFamily="-106" charset="-128"/>
                <a:cs typeface="ＭＳ Ｐゴシック" pitchFamily="-106" charset="-128"/>
              </a:rPr>
              <a:t>state with God</a:t>
            </a:r>
            <a:r>
              <a:rPr lang="en-US" sz="1400" kern="1200" dirty="0">
                <a:solidFill>
                  <a:schemeClr val="tx1"/>
                </a:solidFill>
                <a:effectLst/>
                <a:latin typeface="+mn-lt"/>
                <a:ea typeface="ＭＳ Ｐゴシック" pitchFamily="-106" charset="-128"/>
                <a:cs typeface="ＭＳ Ｐゴシック" pitchFamily="-106" charset="-128"/>
              </a:rPr>
              <a:t>.</a:t>
            </a:r>
          </a:p>
          <a:p>
            <a:r>
              <a:rPr lang="en-US" sz="1400" kern="1200" dirty="0">
                <a:solidFill>
                  <a:schemeClr val="tx1"/>
                </a:solidFill>
                <a:effectLst/>
                <a:latin typeface="+mn-lt"/>
                <a:ea typeface="ＭＳ Ｐゴシック" pitchFamily="-106" charset="-128"/>
                <a:cs typeface="ＭＳ Ｐゴシック" pitchFamily="-106" charset="-128"/>
              </a:rPr>
              <a:t>Both come together in Christ.</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i="1" kern="1200" dirty="0">
                <a:solidFill>
                  <a:schemeClr val="tx1"/>
                </a:solidFill>
                <a:effectLst/>
                <a:latin typeface="+mn-lt"/>
                <a:ea typeface="ＭＳ Ｐゴシック" pitchFamily="-106" charset="-128"/>
                <a:cs typeface="ＭＳ Ｐゴシック" pitchFamily="-106" charset="-128"/>
              </a:rPr>
              <a:t>God brings the soul out of chaos and into His order.</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i="1" kern="1200" dirty="0">
                <a:solidFill>
                  <a:schemeClr val="tx1"/>
                </a:solidFill>
                <a:effectLst/>
                <a:latin typeface="+mn-lt"/>
                <a:ea typeface="ＭＳ Ｐゴシック" pitchFamily="-106" charset="-128"/>
                <a:cs typeface="ＭＳ Ｐゴシック" pitchFamily="-106" charset="-128"/>
              </a:rPr>
              <a:t>Peace is Christ ruling the heart. Rest is Christ calming the heart.</a:t>
            </a:r>
            <a:endParaRPr lang="en-US" sz="1400" dirty="0"/>
          </a:p>
          <a:p>
            <a:endParaRPr lang="en-US" sz="1400" dirty="0"/>
          </a:p>
          <a:p>
            <a:pPr rtl="0" fontAlgn="ctr"/>
            <a:r>
              <a:rPr lang="en-US" sz="1400" b="1" i="0" kern="1200" dirty="0">
                <a:solidFill>
                  <a:schemeClr val="tx1"/>
                </a:solidFill>
                <a:effectLst/>
                <a:latin typeface="+mn-lt"/>
                <a:ea typeface="ＭＳ Ｐゴシック" pitchFamily="-106" charset="-128"/>
                <a:cs typeface="ＭＳ Ｐゴシック" pitchFamily="-106" charset="-128"/>
              </a:rPr>
              <a:t>What is God’s rest?</a:t>
            </a:r>
            <a:br>
              <a:rPr lang="en-US" sz="1400" b="1" i="0" kern="1200" dirty="0">
                <a:solidFill>
                  <a:schemeClr val="tx1"/>
                </a:solidFill>
                <a:effectLst/>
                <a:latin typeface="+mn-lt"/>
                <a:ea typeface="ＭＳ Ｐゴシック" pitchFamily="-106" charset="-128"/>
                <a:cs typeface="ＭＳ Ｐゴシック" pitchFamily="-106" charset="-128"/>
              </a:rPr>
            </a:br>
            <a:r>
              <a:rPr lang="en-US" sz="1400" b="0" i="0" kern="1200" dirty="0">
                <a:solidFill>
                  <a:schemeClr val="tx1"/>
                </a:solidFill>
                <a:effectLst/>
                <a:latin typeface="+mn-lt"/>
                <a:ea typeface="ＭＳ Ｐゴシック" pitchFamily="-106" charset="-128"/>
                <a:cs typeface="ＭＳ Ｐゴシック" pitchFamily="-106" charset="-128"/>
              </a:rPr>
              <a:t>It is God’s peace, presence, and completed work shared with His people through Christ.</a:t>
            </a:r>
            <a:endParaRPr lang="en-US" sz="1400" b="1" i="0" kern="1200" dirty="0">
              <a:solidFill>
                <a:schemeClr val="tx1"/>
              </a:solidFill>
              <a:effectLst/>
              <a:latin typeface="+mn-lt"/>
              <a:ea typeface="ＭＳ Ｐゴシック" pitchFamily="-106" charset="-128"/>
              <a:cs typeface="ＭＳ Ｐゴシック" pitchFamily="-106" charset="-128"/>
            </a:endParaRPr>
          </a:p>
          <a:p>
            <a:pPr rtl="0" fontAlgn="ctr"/>
            <a:endParaRPr lang="en-US" sz="1400" b="1" i="0" kern="1200" dirty="0">
              <a:solidFill>
                <a:schemeClr val="tx1"/>
              </a:solidFill>
              <a:effectLst/>
              <a:latin typeface="+mn-lt"/>
              <a:ea typeface="ＭＳ Ｐゴシック" pitchFamily="-106" charset="-128"/>
              <a:cs typeface="ＭＳ Ｐゴシック" pitchFamily="-106" charset="-128"/>
            </a:endParaRPr>
          </a:p>
          <a:p>
            <a:pPr rtl="0" fontAlgn="ctr"/>
            <a:r>
              <a:rPr lang="en-US" sz="1400" b="1" i="0" kern="1200" dirty="0">
                <a:solidFill>
                  <a:schemeClr val="tx1"/>
                </a:solidFill>
                <a:effectLst/>
                <a:latin typeface="+mn-lt"/>
                <a:ea typeface="ＭＳ Ｐゴシック" pitchFamily="-106" charset="-128"/>
                <a:cs typeface="ＭＳ Ｐゴシック" pitchFamily="-106" charset="-128"/>
              </a:rPr>
              <a:t>Why do we struggle to rest?</a:t>
            </a:r>
            <a:br>
              <a:rPr lang="en-US" sz="1400" b="1" i="0" kern="1200" dirty="0">
                <a:solidFill>
                  <a:schemeClr val="tx1"/>
                </a:solidFill>
                <a:effectLst/>
                <a:latin typeface="+mn-lt"/>
                <a:ea typeface="ＭＳ Ｐゴシック" pitchFamily="-106" charset="-128"/>
                <a:cs typeface="ＭＳ Ｐゴシック" pitchFamily="-106" charset="-128"/>
              </a:rPr>
            </a:br>
            <a:r>
              <a:rPr lang="en-US" sz="1400" b="0" i="0" kern="1200" dirty="0">
                <a:solidFill>
                  <a:schemeClr val="tx1"/>
                </a:solidFill>
                <a:effectLst/>
                <a:latin typeface="+mn-lt"/>
                <a:ea typeface="ＭＳ Ｐゴシック" pitchFamily="-106" charset="-128"/>
                <a:cs typeface="ＭＳ Ｐゴシック" pitchFamily="-106" charset="-128"/>
              </a:rPr>
              <a:t>We trust ourselves.</a:t>
            </a:r>
            <a:br>
              <a:rPr lang="en-US" sz="1400" b="0" i="0" kern="1200" dirty="0">
                <a:solidFill>
                  <a:schemeClr val="tx1"/>
                </a:solidFill>
                <a:effectLst/>
                <a:latin typeface="+mn-lt"/>
                <a:ea typeface="ＭＳ Ｐゴシック" pitchFamily="-106" charset="-128"/>
                <a:cs typeface="ＭＳ Ｐゴシック" pitchFamily="-106" charset="-128"/>
              </a:rPr>
            </a:br>
            <a:r>
              <a:rPr lang="en-US" sz="1400" b="0" i="0" kern="1200" dirty="0">
                <a:solidFill>
                  <a:schemeClr val="tx1"/>
                </a:solidFill>
                <a:effectLst/>
                <a:latin typeface="+mn-lt"/>
                <a:ea typeface="ＭＳ Ｐゴシック" pitchFamily="-106" charset="-128"/>
                <a:cs typeface="ＭＳ Ｐゴシック" pitchFamily="-106" charset="-128"/>
              </a:rPr>
              <a:t>We fear loss.</a:t>
            </a:r>
            <a:br>
              <a:rPr lang="en-US" sz="1400" b="0" i="0" kern="1200" dirty="0">
                <a:solidFill>
                  <a:schemeClr val="tx1"/>
                </a:solidFill>
                <a:effectLst/>
                <a:latin typeface="+mn-lt"/>
                <a:ea typeface="ＭＳ Ｐゴシック" pitchFamily="-106" charset="-128"/>
                <a:cs typeface="ＭＳ Ｐゴシック" pitchFamily="-106" charset="-128"/>
              </a:rPr>
            </a:br>
            <a:r>
              <a:rPr lang="en-US" sz="1400" b="0" i="0" kern="1200" dirty="0">
                <a:solidFill>
                  <a:schemeClr val="tx1"/>
                </a:solidFill>
                <a:effectLst/>
                <a:latin typeface="+mn-lt"/>
                <a:ea typeface="ＭＳ Ｐゴシック" pitchFamily="-106" charset="-128"/>
                <a:cs typeface="ＭＳ Ｐゴシック" pitchFamily="-106" charset="-128"/>
              </a:rPr>
              <a:t>We carry guilt.</a:t>
            </a:r>
            <a:br>
              <a:rPr lang="en-US" sz="1400" b="0" i="0" kern="1200" dirty="0">
                <a:solidFill>
                  <a:schemeClr val="tx1"/>
                </a:solidFill>
                <a:effectLst/>
                <a:latin typeface="+mn-lt"/>
                <a:ea typeface="ＭＳ Ｐゴシック" pitchFamily="-106" charset="-128"/>
                <a:cs typeface="ＭＳ Ｐゴシック" pitchFamily="-106" charset="-128"/>
              </a:rPr>
            </a:br>
            <a:r>
              <a:rPr lang="en-US" sz="1400" b="0" i="0" kern="1200" dirty="0">
                <a:solidFill>
                  <a:schemeClr val="tx1"/>
                </a:solidFill>
                <a:effectLst/>
                <a:latin typeface="+mn-lt"/>
                <a:ea typeface="ＭＳ Ｐゴシック" pitchFamily="-106" charset="-128"/>
                <a:cs typeface="ＭＳ Ｐゴシック" pitchFamily="-106" charset="-128"/>
              </a:rPr>
              <a:t>We believe rest must be earned.</a:t>
            </a:r>
            <a:endParaRPr lang="en-US" sz="1400" b="1" i="0" kern="1200" dirty="0">
              <a:solidFill>
                <a:schemeClr val="tx1"/>
              </a:solidFill>
              <a:effectLst/>
              <a:latin typeface="+mn-lt"/>
              <a:ea typeface="ＭＳ Ｐゴシック" pitchFamily="-106" charset="-128"/>
              <a:cs typeface="ＭＳ Ｐゴシック" pitchFamily="-106" charset="-128"/>
            </a:endParaRPr>
          </a:p>
          <a:p>
            <a:pPr rtl="0" fontAlgn="ctr"/>
            <a:endParaRPr lang="en-US" sz="1400" b="1" i="0" kern="1200" dirty="0">
              <a:solidFill>
                <a:schemeClr val="tx1"/>
              </a:solidFill>
              <a:effectLst/>
              <a:latin typeface="+mn-lt"/>
              <a:ea typeface="ＭＳ Ｐゴシック" pitchFamily="-106" charset="-128"/>
              <a:cs typeface="ＭＳ Ｐゴシック" pitchFamily="-106" charset="-128"/>
            </a:endParaRPr>
          </a:p>
          <a:p>
            <a:pPr rtl="0" fontAlgn="ctr"/>
            <a:r>
              <a:rPr lang="en-US" sz="1400" b="1" i="0" kern="1200" dirty="0">
                <a:solidFill>
                  <a:schemeClr val="tx1"/>
                </a:solidFill>
                <a:effectLst/>
                <a:latin typeface="+mn-lt"/>
                <a:ea typeface="ＭＳ Ｐゴシック" pitchFamily="-106" charset="-128"/>
                <a:cs typeface="ＭＳ Ｐゴシック" pitchFamily="-106" charset="-128"/>
              </a:rPr>
              <a:t>How do we enter God’s promised rest?</a:t>
            </a:r>
            <a:br>
              <a:rPr lang="en-US" sz="1400" b="1" i="0" kern="1200" dirty="0">
                <a:solidFill>
                  <a:schemeClr val="tx1"/>
                </a:solidFill>
                <a:effectLst/>
                <a:latin typeface="+mn-lt"/>
                <a:ea typeface="ＭＳ Ｐゴシック" pitchFamily="-106" charset="-128"/>
                <a:cs typeface="ＭＳ Ｐゴシック" pitchFamily="-106" charset="-128"/>
              </a:rPr>
            </a:br>
            <a:r>
              <a:rPr lang="en-US" sz="1400" b="0" i="0" kern="1200" dirty="0">
                <a:solidFill>
                  <a:schemeClr val="tx1"/>
                </a:solidFill>
                <a:effectLst/>
                <a:latin typeface="+mn-lt"/>
                <a:ea typeface="ＭＳ Ｐゴシック" pitchFamily="-106" charset="-128"/>
                <a:cs typeface="ＭＳ Ｐゴシック" pitchFamily="-106" charset="-128"/>
              </a:rPr>
              <a:t>By faith in Christ.</a:t>
            </a:r>
            <a:br>
              <a:rPr lang="en-US" sz="1400" b="0" i="0" kern="1200" dirty="0">
                <a:solidFill>
                  <a:schemeClr val="tx1"/>
                </a:solidFill>
                <a:effectLst/>
                <a:latin typeface="+mn-lt"/>
                <a:ea typeface="ＭＳ Ｐゴシック" pitchFamily="-106" charset="-128"/>
                <a:cs typeface="ＭＳ Ｐゴシック" pitchFamily="-106" charset="-128"/>
              </a:rPr>
            </a:br>
            <a:r>
              <a:rPr lang="en-US" sz="1400" b="0" i="0" kern="1200" dirty="0">
                <a:solidFill>
                  <a:schemeClr val="tx1"/>
                </a:solidFill>
                <a:effectLst/>
                <a:latin typeface="+mn-lt"/>
                <a:ea typeface="ＭＳ Ｐゴシック" pitchFamily="-106" charset="-128"/>
                <a:cs typeface="ＭＳ Ｐゴシック" pitchFamily="-106" charset="-128"/>
              </a:rPr>
              <a:t>By obedience to His voice.</a:t>
            </a:r>
            <a:br>
              <a:rPr lang="en-US" sz="1400" b="0" i="0" kern="1200" dirty="0">
                <a:solidFill>
                  <a:schemeClr val="tx1"/>
                </a:solidFill>
                <a:effectLst/>
                <a:latin typeface="+mn-lt"/>
                <a:ea typeface="ＭＳ Ｐゴシック" pitchFamily="-106" charset="-128"/>
                <a:cs typeface="ＭＳ Ｐゴシック" pitchFamily="-106" charset="-128"/>
              </a:rPr>
            </a:br>
            <a:r>
              <a:rPr lang="en-US" sz="1400" b="0" i="0" kern="1200" dirty="0">
                <a:solidFill>
                  <a:schemeClr val="tx1"/>
                </a:solidFill>
                <a:effectLst/>
                <a:latin typeface="+mn-lt"/>
                <a:ea typeface="ＭＳ Ｐゴシック" pitchFamily="-106" charset="-128"/>
                <a:cs typeface="ＭＳ Ｐゴシック" pitchFamily="-106" charset="-128"/>
              </a:rPr>
              <a:t>By trusting His finished work.</a:t>
            </a:r>
            <a:br>
              <a:rPr lang="en-US" sz="1400" b="0" i="0" kern="1200" dirty="0">
                <a:solidFill>
                  <a:schemeClr val="tx1"/>
                </a:solidFill>
                <a:effectLst/>
                <a:latin typeface="+mn-lt"/>
                <a:ea typeface="ＭＳ Ｐゴシック" pitchFamily="-106" charset="-128"/>
                <a:cs typeface="ＭＳ Ｐゴシック" pitchFamily="-106" charset="-128"/>
              </a:rPr>
            </a:br>
            <a:r>
              <a:rPr lang="en-US" sz="1400" b="0" i="0" kern="1200" dirty="0">
                <a:solidFill>
                  <a:schemeClr val="tx1"/>
                </a:solidFill>
                <a:effectLst/>
                <a:latin typeface="+mn-lt"/>
                <a:ea typeface="ＭＳ Ｐゴシック" pitchFamily="-106" charset="-128"/>
                <a:cs typeface="ＭＳ Ｐゴシック" pitchFamily="-106" charset="-128"/>
              </a:rPr>
              <a:t>By laying down our burdens and pride.</a:t>
            </a:r>
            <a:endParaRPr lang="en-US" sz="1400" b="1" i="0" kern="1200" dirty="0">
              <a:solidFill>
                <a:schemeClr val="tx1"/>
              </a:solidFill>
              <a:effectLst/>
              <a:latin typeface="+mn-lt"/>
              <a:ea typeface="ＭＳ Ｐゴシック" pitchFamily="-106" charset="-128"/>
              <a:cs typeface="ＭＳ Ｐゴシック" pitchFamily="-106" charset="-128"/>
            </a:endParaRPr>
          </a:p>
          <a:p>
            <a:endParaRPr lang="en-US" dirty="0"/>
          </a:p>
        </p:txBody>
      </p:sp>
      <p:sp>
        <p:nvSpPr>
          <p:cNvPr id="4" name="Slide Number Placeholder 3">
            <a:extLst>
              <a:ext uri="{FF2B5EF4-FFF2-40B4-BE49-F238E27FC236}">
                <a16:creationId xmlns:a16="http://schemas.microsoft.com/office/drawing/2014/main" id="{517F07E8-A341-3E69-2E3F-81FD5E2E1368}"/>
              </a:ext>
            </a:extLst>
          </p:cNvPr>
          <p:cNvSpPr>
            <a:spLocks noGrp="1"/>
          </p:cNvSpPr>
          <p:nvPr>
            <p:ph type="sldNum" sz="quarter" idx="10"/>
          </p:nvPr>
        </p:nvSpPr>
        <p:spPr/>
        <p:txBody>
          <a:bodyPr/>
          <a:lstStyle/>
          <a:p>
            <a:pPr>
              <a:defRPr/>
            </a:pPr>
            <a:fld id="{07776858-791E-4C8D-8FA3-473B3AFECFAC}" type="slidenum">
              <a:rPr lang="en-US" smtClean="0"/>
              <a:pPr>
                <a:defRPr/>
              </a:pPr>
              <a:t>2</a:t>
            </a:fld>
            <a:endParaRPr lang="en-US" dirty="0"/>
          </a:p>
        </p:txBody>
      </p:sp>
    </p:spTree>
    <p:extLst>
      <p:ext uri="{BB962C8B-B14F-4D97-AF65-F5344CB8AC3E}">
        <p14:creationId xmlns:p14="http://schemas.microsoft.com/office/powerpoint/2010/main" val="14631070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82C0F-A1B6-CF0A-6687-95E7368B02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61448-805E-6256-F686-8C91B33FF6D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AF75CF1-88A7-66EE-68F2-80D81812B2E4}"/>
              </a:ext>
            </a:extLst>
          </p:cNvPr>
          <p:cNvSpPr>
            <a:spLocks noGrp="1"/>
          </p:cNvSpPr>
          <p:nvPr>
            <p:ph type="body" idx="1"/>
          </p:nvPr>
        </p:nvSpPr>
        <p:spPr/>
        <p:txBody>
          <a:bodyPr>
            <a:normAutofit/>
          </a:bodyPr>
          <a:lstStyle/>
          <a:p>
            <a:r>
              <a:rPr lang="en-US" sz="1400" b="1" kern="1200" dirty="0">
                <a:solidFill>
                  <a:schemeClr val="tx1"/>
                </a:solidFill>
                <a:effectLst/>
                <a:latin typeface="+mn-lt"/>
                <a:ea typeface="ＭＳ Ｐゴシック" pitchFamily="-106" charset="-128"/>
                <a:cs typeface="ＭＳ Ｐゴシック" pitchFamily="-106" charset="-128"/>
              </a:rPr>
              <a:t>Rest is tied to obedience</a:t>
            </a:r>
            <a:endParaRPr lang="en-US" sz="1400" kern="1200" dirty="0">
              <a:solidFill>
                <a:schemeClr val="tx1"/>
              </a:solidFill>
              <a:effectLst/>
              <a:latin typeface="+mn-lt"/>
              <a:ea typeface="ＭＳ Ｐゴシック" pitchFamily="-106" charset="-128"/>
              <a:cs typeface="ＭＳ Ｐゴシック" pitchFamily="-106" charset="-128"/>
            </a:endParaRP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Israel failed to enter God’s deeper rest because they hardened their hearts.</a:t>
            </a:r>
          </a:p>
          <a:p>
            <a:pPr marL="171450" indent="-171450">
              <a:buFont typeface="Arial" panose="020B0604020202020204" pitchFamily="34" charset="0"/>
              <a:buChar char="•"/>
            </a:pPr>
            <a:r>
              <a:rPr lang="en-US" sz="1400" b="1" kern="1200" dirty="0">
                <a:solidFill>
                  <a:schemeClr val="tx1"/>
                </a:solidFill>
                <a:effectLst/>
                <a:latin typeface="+mn-lt"/>
                <a:ea typeface="ＭＳ Ｐゴシック" pitchFamily="-106" charset="-128"/>
                <a:cs typeface="ＭＳ Ｐゴシック" pitchFamily="-106" charset="-128"/>
              </a:rPr>
              <a:t>Hebrews 4:7 - </a:t>
            </a:r>
            <a:r>
              <a:rPr lang="en-US" sz="1400" kern="1200" dirty="0">
                <a:solidFill>
                  <a:schemeClr val="tx1"/>
                </a:solidFill>
                <a:effectLst/>
                <a:latin typeface="+mn-lt"/>
                <a:ea typeface="ＭＳ Ｐゴシック" pitchFamily="-106" charset="-128"/>
                <a:cs typeface="ＭＳ Ｐゴシック" pitchFamily="-106" charset="-128"/>
              </a:rPr>
              <a:t>“Today, if you hear his voice, do not harden your hearts.”</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Rest comes from trust.</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No trust, no rest.</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Rest requires faith</a:t>
            </a:r>
            <a:endParaRPr lang="en-US" sz="1400" kern="1200" dirty="0">
              <a:solidFill>
                <a:schemeClr val="tx1"/>
              </a:solidFill>
              <a:effectLst/>
              <a:latin typeface="+mn-lt"/>
              <a:ea typeface="ＭＳ Ｐゴシック" pitchFamily="-106" charset="-128"/>
              <a:cs typeface="ＭＳ Ｐゴシック" pitchFamily="-106" charset="-128"/>
            </a:endParaRPr>
          </a:p>
          <a:p>
            <a:pPr marL="171450" indent="-171450">
              <a:buFont typeface="Arial" panose="020B0604020202020204" pitchFamily="34" charset="0"/>
              <a:buChar char="•"/>
            </a:pPr>
            <a:r>
              <a:rPr lang="en-US" sz="1400" b="1" kern="1200" dirty="0">
                <a:solidFill>
                  <a:schemeClr val="tx1"/>
                </a:solidFill>
                <a:effectLst/>
                <a:latin typeface="+mn-lt"/>
                <a:ea typeface="ＭＳ Ｐゴシック" pitchFamily="-106" charset="-128"/>
                <a:cs typeface="ＭＳ Ｐゴシック" pitchFamily="-106" charset="-128"/>
              </a:rPr>
              <a:t>Hebrews 4:2 - </a:t>
            </a:r>
            <a:r>
              <a:rPr lang="en-US" sz="1400" kern="1200" dirty="0">
                <a:solidFill>
                  <a:schemeClr val="tx1"/>
                </a:solidFill>
                <a:effectLst/>
                <a:latin typeface="+mn-lt"/>
                <a:ea typeface="ＭＳ Ｐゴシック" pitchFamily="-106" charset="-128"/>
                <a:cs typeface="ＭＳ Ｐゴシック" pitchFamily="-106" charset="-128"/>
              </a:rPr>
              <a:t>“The message they heard did them no good, since they did not join in with those who heard it in faith.”</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Faith brings us into God’s rest.</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Unbelief shuts the door.</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Rest comes through Christ’s finished work</a:t>
            </a:r>
            <a:endParaRPr lang="en-US" sz="1400" kern="1200" dirty="0">
              <a:solidFill>
                <a:schemeClr val="tx1"/>
              </a:solidFill>
              <a:effectLst/>
              <a:latin typeface="+mn-lt"/>
              <a:ea typeface="ＭＳ Ｐゴシック" pitchFamily="-106" charset="-128"/>
              <a:cs typeface="ＭＳ Ｐゴシック" pitchFamily="-106" charset="-128"/>
            </a:endParaRPr>
          </a:p>
          <a:p>
            <a:pPr marL="171450" indent="-171450">
              <a:buFont typeface="Arial" panose="020B0604020202020204" pitchFamily="34" charset="0"/>
              <a:buChar char="•"/>
            </a:pPr>
            <a:r>
              <a:rPr lang="en-US" sz="1400" b="1" kern="1200" dirty="0">
                <a:solidFill>
                  <a:schemeClr val="tx1"/>
                </a:solidFill>
                <a:effectLst/>
                <a:latin typeface="+mn-lt"/>
                <a:ea typeface="ＭＳ Ｐゴシック" pitchFamily="-106" charset="-128"/>
                <a:cs typeface="ＭＳ Ｐゴシック" pitchFamily="-106" charset="-128"/>
              </a:rPr>
              <a:t>Hebrews 4:3 - </a:t>
            </a:r>
            <a:r>
              <a:rPr lang="en-US" sz="1400" kern="1200" dirty="0">
                <a:solidFill>
                  <a:schemeClr val="tx1"/>
                </a:solidFill>
                <a:effectLst/>
                <a:latin typeface="+mn-lt"/>
                <a:ea typeface="ＭＳ Ｐゴシック" pitchFamily="-106" charset="-128"/>
                <a:cs typeface="ＭＳ Ｐゴシック" pitchFamily="-106" charset="-128"/>
              </a:rPr>
              <a:t>“We who have believed enter that rest.”</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The early church taught this clearly.</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Christ fulfills the Sabbath by giving us peace with God.</a:t>
            </a:r>
          </a:p>
          <a:p>
            <a:r>
              <a:rPr lang="en-US" sz="1400" kern="1200" dirty="0">
                <a:solidFill>
                  <a:schemeClr val="tx1"/>
                </a:solidFill>
                <a:effectLst/>
                <a:latin typeface="+mn-lt"/>
                <a:ea typeface="ＭＳ Ｐゴシック" pitchFamily="-106" charset="-128"/>
                <a:cs typeface="ＭＳ Ｐゴシック" pitchFamily="-106" charset="-128"/>
              </a:rPr>
              <a:t> </a:t>
            </a:r>
          </a:p>
          <a:p>
            <a:r>
              <a:rPr lang="en-US" sz="1400" b="1" kern="1200" dirty="0">
                <a:solidFill>
                  <a:schemeClr val="tx1"/>
                </a:solidFill>
                <a:effectLst/>
                <a:latin typeface="+mn-lt"/>
                <a:ea typeface="ＭＳ Ｐゴシック" pitchFamily="-106" charset="-128"/>
                <a:cs typeface="ＭＳ Ｐゴシック" pitchFamily="-106" charset="-128"/>
              </a:rPr>
              <a:t>Rest grows as we follow the Shepherd</a:t>
            </a:r>
            <a:r>
              <a:rPr lang="en-US" sz="1400" kern="1200" dirty="0">
                <a:solidFill>
                  <a:schemeClr val="tx1"/>
                </a:solidFill>
                <a:effectLst/>
                <a:latin typeface="+mn-lt"/>
                <a:ea typeface="ＭＳ Ｐゴシック" pitchFamily="-106" charset="-128"/>
                <a:cs typeface="ＭＳ Ｐゴシック" pitchFamily="-106" charset="-128"/>
              </a:rPr>
              <a:t> </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Psalm 23 is not passive.</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It is a walk with God.</a:t>
            </a:r>
          </a:p>
          <a:p>
            <a:pPr marL="171450" indent="-171450">
              <a:buFont typeface="Arial" panose="020B0604020202020204" pitchFamily="34" charset="0"/>
              <a:buChar char="•"/>
            </a:pPr>
            <a:r>
              <a:rPr lang="en-US" sz="1400" kern="1200" dirty="0">
                <a:solidFill>
                  <a:schemeClr val="tx1"/>
                </a:solidFill>
                <a:effectLst/>
                <a:latin typeface="+mn-lt"/>
                <a:ea typeface="ＭＳ Ｐゴシック" pitchFamily="-106" charset="-128"/>
                <a:cs typeface="ＭＳ Ｐゴシック" pitchFamily="-106" charset="-128"/>
              </a:rPr>
              <a:t>Rest is found on His path.</a:t>
            </a: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kern="1200" dirty="0">
                <a:solidFill>
                  <a:schemeClr val="tx1"/>
                </a:solidFill>
                <a:effectLst/>
                <a:latin typeface="+mn-lt"/>
                <a:ea typeface="ＭＳ Ｐゴシック" pitchFamily="-106" charset="-128"/>
                <a:cs typeface="ＭＳ Ｐゴシック" pitchFamily="-106" charset="-128"/>
              </a:rPr>
              <a:t> </a:t>
            </a:r>
          </a:p>
          <a:p>
            <a:r>
              <a:rPr lang="en-US" sz="1200" kern="1200" dirty="0">
                <a:solidFill>
                  <a:schemeClr val="tx1"/>
                </a:solidFill>
                <a:effectLst/>
                <a:latin typeface="+mn-lt"/>
                <a:ea typeface="ＭＳ Ｐゴシック" pitchFamily="-106" charset="-128"/>
                <a:cs typeface="ＭＳ Ｐゴシック" pitchFamily="-106" charset="-128"/>
              </a:rPr>
              <a:t> </a:t>
            </a:r>
          </a:p>
          <a:p>
            <a:endParaRPr lang="en-US" dirty="0"/>
          </a:p>
        </p:txBody>
      </p:sp>
      <p:sp>
        <p:nvSpPr>
          <p:cNvPr id="4" name="Slide Number Placeholder 3">
            <a:extLst>
              <a:ext uri="{FF2B5EF4-FFF2-40B4-BE49-F238E27FC236}">
                <a16:creationId xmlns:a16="http://schemas.microsoft.com/office/drawing/2014/main" id="{93452917-0EDC-8BDE-8DD3-A0045CA8026B}"/>
              </a:ext>
            </a:extLst>
          </p:cNvPr>
          <p:cNvSpPr>
            <a:spLocks noGrp="1"/>
          </p:cNvSpPr>
          <p:nvPr>
            <p:ph type="sldNum" sz="quarter" idx="10"/>
          </p:nvPr>
        </p:nvSpPr>
        <p:spPr/>
        <p:txBody>
          <a:bodyPr/>
          <a:lstStyle/>
          <a:p>
            <a:pPr>
              <a:defRPr/>
            </a:pPr>
            <a:fld id="{07776858-791E-4C8D-8FA3-473B3AFECFAC}" type="slidenum">
              <a:rPr lang="en-US" smtClean="0"/>
              <a:pPr>
                <a:defRPr/>
              </a:pPr>
              <a:t>3</a:t>
            </a:fld>
            <a:endParaRPr lang="en-US" dirty="0"/>
          </a:p>
        </p:txBody>
      </p:sp>
    </p:spTree>
    <p:extLst>
      <p:ext uri="{BB962C8B-B14F-4D97-AF65-F5344CB8AC3E}">
        <p14:creationId xmlns:p14="http://schemas.microsoft.com/office/powerpoint/2010/main" val="37392336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7B044-2101-AA96-A010-AB47AFA104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AEE587-49CC-BFA3-BE07-A95F3B49CF7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693CAB3-C026-A93B-7275-7E09F6C08643}"/>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FC0E84CB-3359-68A8-7EC8-F7EE70FB32B3}"/>
              </a:ext>
            </a:extLst>
          </p:cNvPr>
          <p:cNvSpPr>
            <a:spLocks noGrp="1"/>
          </p:cNvSpPr>
          <p:nvPr>
            <p:ph type="sldNum" sz="quarter" idx="10"/>
          </p:nvPr>
        </p:nvSpPr>
        <p:spPr/>
        <p:txBody>
          <a:bodyPr/>
          <a:lstStyle/>
          <a:p>
            <a:pPr>
              <a:defRPr/>
            </a:pPr>
            <a:fld id="{07776858-791E-4C8D-8FA3-473B3AFECFAC}" type="slidenum">
              <a:rPr lang="en-US" smtClean="0"/>
              <a:pPr>
                <a:defRPr/>
              </a:pPr>
              <a:t>4</a:t>
            </a:fld>
            <a:endParaRPr lang="en-US" dirty="0"/>
          </a:p>
        </p:txBody>
      </p:sp>
    </p:spTree>
    <p:extLst>
      <p:ext uri="{BB962C8B-B14F-4D97-AF65-F5344CB8AC3E}">
        <p14:creationId xmlns:p14="http://schemas.microsoft.com/office/powerpoint/2010/main" val="1528760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5B243-1088-739E-F542-567E3DD9B0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AE6977-16A9-77C8-1C2F-1344090713E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B03CF1C-CB73-644D-8BFA-9918000D56F5}"/>
              </a:ext>
            </a:extLst>
          </p:cNvPr>
          <p:cNvSpPr>
            <a:spLocks noGrp="1"/>
          </p:cNvSpPr>
          <p:nvPr>
            <p:ph type="body" idx="1"/>
          </p:nvPr>
        </p:nvSpPr>
        <p:spPr/>
        <p:txBody>
          <a:bodyPr>
            <a:normAutofit fontScale="77500" lnSpcReduction="20000"/>
          </a:bodyPr>
          <a:lstStyle/>
          <a:p>
            <a:endParaRPr lang="en-US" dirty="0"/>
          </a:p>
        </p:txBody>
      </p:sp>
      <p:sp>
        <p:nvSpPr>
          <p:cNvPr id="4" name="Slide Number Placeholder 3">
            <a:extLst>
              <a:ext uri="{FF2B5EF4-FFF2-40B4-BE49-F238E27FC236}">
                <a16:creationId xmlns:a16="http://schemas.microsoft.com/office/drawing/2014/main" id="{44293C87-518F-4D9F-2D9A-E24D9DCEC481}"/>
              </a:ext>
            </a:extLst>
          </p:cNvPr>
          <p:cNvSpPr>
            <a:spLocks noGrp="1"/>
          </p:cNvSpPr>
          <p:nvPr>
            <p:ph type="sldNum" sz="quarter" idx="10"/>
          </p:nvPr>
        </p:nvSpPr>
        <p:spPr/>
        <p:txBody>
          <a:bodyPr/>
          <a:lstStyle/>
          <a:p>
            <a:pPr>
              <a:defRPr/>
            </a:pPr>
            <a:fld id="{07776858-791E-4C8D-8FA3-473B3AFECFAC}" type="slidenum">
              <a:rPr lang="en-US" smtClean="0"/>
              <a:pPr>
                <a:defRPr/>
              </a:pPr>
              <a:t>5</a:t>
            </a:fld>
            <a:endParaRPr lang="en-US" dirty="0"/>
          </a:p>
        </p:txBody>
      </p:sp>
    </p:spTree>
    <p:extLst>
      <p:ext uri="{BB962C8B-B14F-4D97-AF65-F5344CB8AC3E}">
        <p14:creationId xmlns:p14="http://schemas.microsoft.com/office/powerpoint/2010/main" val="25423703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E2267E-065F-E551-58BF-1142866053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0FCE3C-9893-87BD-17AC-E0244674EC99}"/>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534C6DCF-E136-132A-72C3-535B8EF050D7}"/>
              </a:ext>
            </a:extLst>
          </p:cNvPr>
          <p:cNvSpPr>
            <a:spLocks noGrp="1"/>
          </p:cNvSpPr>
          <p:nvPr>
            <p:ph type="body" idx="1"/>
          </p:nvPr>
        </p:nvSpPr>
        <p:spPr/>
        <p:txBody>
          <a:bodyPr>
            <a:normAutofit fontScale="92500" lnSpcReduction="20000"/>
          </a:bodyPr>
          <a:lstStyle/>
          <a:p>
            <a:endParaRPr lang="en-US" dirty="0"/>
          </a:p>
        </p:txBody>
      </p:sp>
      <p:sp>
        <p:nvSpPr>
          <p:cNvPr id="4" name="Slide Number Placeholder 3">
            <a:extLst>
              <a:ext uri="{FF2B5EF4-FFF2-40B4-BE49-F238E27FC236}">
                <a16:creationId xmlns:a16="http://schemas.microsoft.com/office/drawing/2014/main" id="{BBC66B9E-6653-DE70-222E-5149AAE38C3B}"/>
              </a:ext>
            </a:extLst>
          </p:cNvPr>
          <p:cNvSpPr>
            <a:spLocks noGrp="1"/>
          </p:cNvSpPr>
          <p:nvPr>
            <p:ph type="sldNum" sz="quarter" idx="10"/>
          </p:nvPr>
        </p:nvSpPr>
        <p:spPr/>
        <p:txBody>
          <a:bodyPr/>
          <a:lstStyle/>
          <a:p>
            <a:pPr>
              <a:defRPr/>
            </a:pPr>
            <a:fld id="{07776858-791E-4C8D-8FA3-473B3AFECFAC}" type="slidenum">
              <a:rPr lang="en-US" smtClean="0"/>
              <a:pPr>
                <a:defRPr/>
              </a:pPr>
              <a:t>6</a:t>
            </a:fld>
            <a:endParaRPr lang="en-US" dirty="0"/>
          </a:p>
        </p:txBody>
      </p:sp>
    </p:spTree>
    <p:extLst>
      <p:ext uri="{BB962C8B-B14F-4D97-AF65-F5344CB8AC3E}">
        <p14:creationId xmlns:p14="http://schemas.microsoft.com/office/powerpoint/2010/main" val="28528335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8F5A1-9B0A-F15D-82BD-2098B821EB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1B5658-B310-BC9B-5797-B1BAF201796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3351B138-2EF3-1748-CD15-7B4ABA4D9DFD}"/>
              </a:ext>
            </a:extLst>
          </p:cNvPr>
          <p:cNvSpPr>
            <a:spLocks noGrp="1"/>
          </p:cNvSpPr>
          <p:nvPr>
            <p:ph type="body" idx="1"/>
          </p:nvPr>
        </p:nvSpPr>
        <p:spPr/>
        <p:txBody>
          <a:bodyPr>
            <a:normAutofit lnSpcReduction="10000"/>
          </a:bodyPr>
          <a:lstStyle/>
          <a:p>
            <a:endParaRPr lang="en-US" sz="1400" b="1"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Ephesians 2:13-22</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13</a:t>
            </a:r>
            <a:r>
              <a:rPr lang="en-US" sz="1400" kern="1200" dirty="0">
                <a:solidFill>
                  <a:schemeClr val="tx1"/>
                </a:solidFill>
                <a:effectLst/>
                <a:latin typeface="+mn-lt"/>
                <a:ea typeface="ＭＳ Ｐゴシック" pitchFamily="-106" charset="-128"/>
                <a:cs typeface="ＭＳ Ｐゴシック" pitchFamily="-106" charset="-128"/>
              </a:rPr>
              <a:t> But now in Christ Jesus you who used to be far away have been brought near by the blood of Christ. </a:t>
            </a:r>
            <a:r>
              <a:rPr lang="en-US" sz="1400" b="1" kern="1200" dirty="0">
                <a:solidFill>
                  <a:schemeClr val="tx1"/>
                </a:solidFill>
                <a:effectLst/>
                <a:latin typeface="+mn-lt"/>
                <a:ea typeface="ＭＳ Ｐゴシック" pitchFamily="-106" charset="-128"/>
                <a:cs typeface="ＭＳ Ｐゴシック" pitchFamily="-106" charset="-128"/>
              </a:rPr>
              <a:t>14</a:t>
            </a:r>
            <a:r>
              <a:rPr lang="en-US" sz="1400" kern="1200" dirty="0">
                <a:solidFill>
                  <a:schemeClr val="tx1"/>
                </a:solidFill>
                <a:effectLst/>
                <a:latin typeface="+mn-lt"/>
                <a:ea typeface="ＭＳ Ｐゴシック" pitchFamily="-106" charset="-128"/>
                <a:cs typeface="ＭＳ Ｐゴシック" pitchFamily="-106" charset="-128"/>
              </a:rPr>
              <a:t> For he is our peace, the one who made both groups into one and who destroyed the middle wall of partition, the hostility, </a:t>
            </a:r>
            <a:r>
              <a:rPr lang="en-US" sz="1400" b="1" kern="1200" dirty="0">
                <a:solidFill>
                  <a:schemeClr val="tx1"/>
                </a:solidFill>
                <a:effectLst/>
                <a:latin typeface="+mn-lt"/>
                <a:ea typeface="ＭＳ Ｐゴシック" pitchFamily="-106" charset="-128"/>
                <a:cs typeface="ＭＳ Ｐゴシック" pitchFamily="-106" charset="-128"/>
              </a:rPr>
              <a:t>15</a:t>
            </a:r>
            <a:r>
              <a:rPr lang="en-US" sz="1400" kern="1200" dirty="0">
                <a:solidFill>
                  <a:schemeClr val="tx1"/>
                </a:solidFill>
                <a:effectLst/>
                <a:latin typeface="+mn-lt"/>
                <a:ea typeface="ＭＳ Ｐゴシック" pitchFamily="-106" charset="-128"/>
                <a:cs typeface="ＭＳ Ｐゴシック" pitchFamily="-106" charset="-128"/>
              </a:rPr>
              <a:t> when he nullified in his flesh the law of commandments in decrees. He did this to create in himself one new man out of two, thus making peace, </a:t>
            </a:r>
            <a:r>
              <a:rPr lang="en-US" sz="1400" b="1" kern="1200" dirty="0">
                <a:solidFill>
                  <a:schemeClr val="tx1"/>
                </a:solidFill>
                <a:effectLst/>
                <a:latin typeface="+mn-lt"/>
                <a:ea typeface="ＭＳ Ｐゴシック" pitchFamily="-106" charset="-128"/>
                <a:cs typeface="ＭＳ Ｐゴシック" pitchFamily="-106" charset="-128"/>
              </a:rPr>
              <a:t>16</a:t>
            </a:r>
            <a:r>
              <a:rPr lang="en-US" sz="1400" kern="1200" dirty="0">
                <a:solidFill>
                  <a:schemeClr val="tx1"/>
                </a:solidFill>
                <a:effectLst/>
                <a:latin typeface="+mn-lt"/>
                <a:ea typeface="ＭＳ Ｐゴシック" pitchFamily="-106" charset="-128"/>
                <a:cs typeface="ＭＳ Ｐゴシック" pitchFamily="-106" charset="-128"/>
              </a:rPr>
              <a:t> and to reconcile them both in one body to God through the cross, by which the hostility has been killed. </a:t>
            </a:r>
            <a:r>
              <a:rPr lang="en-US" sz="1400" b="1" kern="1200" dirty="0">
                <a:solidFill>
                  <a:schemeClr val="tx1"/>
                </a:solidFill>
                <a:effectLst/>
                <a:latin typeface="+mn-lt"/>
                <a:ea typeface="ＭＳ Ｐゴシック" pitchFamily="-106" charset="-128"/>
                <a:cs typeface="ＭＳ Ｐゴシック" pitchFamily="-106" charset="-128"/>
              </a:rPr>
              <a:t>17</a:t>
            </a:r>
            <a:r>
              <a:rPr lang="en-US" sz="1400" kern="1200" dirty="0">
                <a:solidFill>
                  <a:schemeClr val="tx1"/>
                </a:solidFill>
                <a:effectLst/>
                <a:latin typeface="+mn-lt"/>
                <a:ea typeface="ＭＳ Ｐゴシック" pitchFamily="-106" charset="-128"/>
                <a:cs typeface="ＭＳ Ｐゴシック" pitchFamily="-106" charset="-128"/>
              </a:rPr>
              <a:t> And he came and preached peace to you who were far off and peace to those who were near, </a:t>
            </a:r>
            <a:r>
              <a:rPr lang="en-US" sz="1400" b="1" kern="1200" dirty="0">
                <a:solidFill>
                  <a:schemeClr val="tx1"/>
                </a:solidFill>
                <a:effectLst/>
                <a:latin typeface="+mn-lt"/>
                <a:ea typeface="ＭＳ Ｐゴシック" pitchFamily="-106" charset="-128"/>
                <a:cs typeface="ＭＳ Ｐゴシック" pitchFamily="-106" charset="-128"/>
              </a:rPr>
              <a:t>18</a:t>
            </a:r>
            <a:r>
              <a:rPr lang="en-US" sz="1400" kern="1200" dirty="0">
                <a:solidFill>
                  <a:schemeClr val="tx1"/>
                </a:solidFill>
                <a:effectLst/>
                <a:latin typeface="+mn-lt"/>
                <a:ea typeface="ＭＳ Ｐゴシック" pitchFamily="-106" charset="-128"/>
                <a:cs typeface="ＭＳ Ｐゴシック" pitchFamily="-106" charset="-128"/>
              </a:rPr>
              <a:t> so that through him we both have access in one Spirit to the Father. </a:t>
            </a:r>
            <a:r>
              <a:rPr lang="en-US" sz="1400" b="1" kern="1200" dirty="0">
                <a:solidFill>
                  <a:schemeClr val="tx1"/>
                </a:solidFill>
                <a:effectLst/>
                <a:latin typeface="+mn-lt"/>
                <a:ea typeface="ＭＳ Ｐゴシック" pitchFamily="-106" charset="-128"/>
                <a:cs typeface="ＭＳ Ｐゴシック" pitchFamily="-106" charset="-128"/>
              </a:rPr>
              <a:t>19</a:t>
            </a:r>
            <a:r>
              <a:rPr lang="en-US" sz="1400" kern="1200" dirty="0">
                <a:solidFill>
                  <a:schemeClr val="tx1"/>
                </a:solidFill>
                <a:effectLst/>
                <a:latin typeface="+mn-lt"/>
                <a:ea typeface="ＭＳ Ｐゴシック" pitchFamily="-106" charset="-128"/>
                <a:cs typeface="ＭＳ Ｐゴシック" pitchFamily="-106" charset="-128"/>
              </a:rPr>
              <a:t> So then you are no longer foreigners and noncitizens, but you are fellow citizens with the saints and members of God’s household, </a:t>
            </a:r>
            <a:r>
              <a:rPr lang="en-US" sz="1400" b="1" kern="1200" dirty="0">
                <a:solidFill>
                  <a:schemeClr val="tx1"/>
                </a:solidFill>
                <a:effectLst/>
                <a:latin typeface="+mn-lt"/>
                <a:ea typeface="ＭＳ Ｐゴシック" pitchFamily="-106" charset="-128"/>
                <a:cs typeface="ＭＳ Ｐゴシック" pitchFamily="-106" charset="-128"/>
              </a:rPr>
              <a:t>20</a:t>
            </a:r>
            <a:r>
              <a:rPr lang="en-US" sz="1400" kern="1200" dirty="0">
                <a:solidFill>
                  <a:schemeClr val="tx1"/>
                </a:solidFill>
                <a:effectLst/>
                <a:latin typeface="+mn-lt"/>
                <a:ea typeface="ＭＳ Ｐゴシック" pitchFamily="-106" charset="-128"/>
                <a:cs typeface="ＭＳ Ｐゴシック" pitchFamily="-106" charset="-128"/>
              </a:rPr>
              <a:t> because you have been built on the foundation of the apostles and prophets, with Christ Jesus himself as the cornerstone. </a:t>
            </a:r>
            <a:r>
              <a:rPr lang="en-US" sz="1400" b="1" kern="1200" dirty="0">
                <a:solidFill>
                  <a:schemeClr val="tx1"/>
                </a:solidFill>
                <a:effectLst/>
                <a:latin typeface="+mn-lt"/>
                <a:ea typeface="ＭＳ Ｐゴシック" pitchFamily="-106" charset="-128"/>
                <a:cs typeface="ＭＳ Ｐゴシック" pitchFamily="-106" charset="-128"/>
              </a:rPr>
              <a:t>21</a:t>
            </a:r>
            <a:r>
              <a:rPr lang="en-US" sz="1400" kern="1200" dirty="0">
                <a:solidFill>
                  <a:schemeClr val="tx1"/>
                </a:solidFill>
                <a:effectLst/>
                <a:latin typeface="+mn-lt"/>
                <a:ea typeface="ＭＳ Ｐゴシック" pitchFamily="-106" charset="-128"/>
                <a:cs typeface="ＭＳ Ｐゴシック" pitchFamily="-106" charset="-128"/>
              </a:rPr>
              <a:t> In him the whole building, being joined together, grows into a holy temple in the Lord, </a:t>
            </a:r>
            <a:r>
              <a:rPr lang="en-US" sz="1400" b="1" kern="1200" dirty="0">
                <a:solidFill>
                  <a:schemeClr val="tx1"/>
                </a:solidFill>
                <a:effectLst/>
                <a:latin typeface="+mn-lt"/>
                <a:ea typeface="ＭＳ Ｐゴシック" pitchFamily="-106" charset="-128"/>
                <a:cs typeface="ＭＳ Ｐゴシック" pitchFamily="-106" charset="-128"/>
              </a:rPr>
              <a:t>22</a:t>
            </a:r>
            <a:r>
              <a:rPr lang="en-US" sz="1400" kern="1200" dirty="0">
                <a:solidFill>
                  <a:schemeClr val="tx1"/>
                </a:solidFill>
                <a:effectLst/>
                <a:latin typeface="+mn-lt"/>
                <a:ea typeface="ＭＳ Ｐゴシック" pitchFamily="-106" charset="-128"/>
                <a:cs typeface="ＭＳ Ｐゴシック" pitchFamily="-106" charset="-128"/>
              </a:rPr>
              <a:t> in whom you also are being built together into a dwelling place of God in the Spirit.</a:t>
            </a:r>
          </a:p>
          <a:p>
            <a:endParaRPr lang="en-US" sz="1400" dirty="0"/>
          </a:p>
          <a:p>
            <a:r>
              <a:rPr lang="en-US" sz="1400" b="1" kern="1200" dirty="0">
                <a:solidFill>
                  <a:schemeClr val="tx1"/>
                </a:solidFill>
                <a:effectLst/>
                <a:latin typeface="+mn-lt"/>
                <a:ea typeface="ＭＳ Ｐゴシック" pitchFamily="-106" charset="-128"/>
                <a:cs typeface="ＭＳ Ｐゴシック" pitchFamily="-106" charset="-128"/>
              </a:rPr>
              <a:t>Ephesians 4:1-7</a:t>
            </a:r>
            <a:endParaRPr lang="en-US" sz="1400" kern="1200" dirty="0">
              <a:solidFill>
                <a:schemeClr val="tx1"/>
              </a:solidFill>
              <a:effectLst/>
              <a:latin typeface="+mn-lt"/>
              <a:ea typeface="ＭＳ Ｐゴシック" pitchFamily="-106" charset="-128"/>
              <a:cs typeface="ＭＳ Ｐゴシック" pitchFamily="-106" charset="-128"/>
            </a:endParaRPr>
          </a:p>
          <a:p>
            <a:r>
              <a:rPr lang="en-US" sz="1400" b="1" kern="1200" dirty="0">
                <a:solidFill>
                  <a:schemeClr val="tx1"/>
                </a:solidFill>
                <a:effectLst/>
                <a:latin typeface="+mn-lt"/>
                <a:ea typeface="ＭＳ Ｐゴシック" pitchFamily="-106" charset="-128"/>
                <a:cs typeface="ＭＳ Ｐゴシック" pitchFamily="-106" charset="-128"/>
              </a:rPr>
              <a:t>1</a:t>
            </a:r>
            <a:r>
              <a:rPr lang="en-US" sz="1400" kern="1200" dirty="0">
                <a:solidFill>
                  <a:schemeClr val="tx1"/>
                </a:solidFill>
                <a:effectLst/>
                <a:latin typeface="+mn-lt"/>
                <a:ea typeface="ＭＳ Ｐゴシック" pitchFamily="-106" charset="-128"/>
                <a:cs typeface="ＭＳ Ｐゴシック" pitchFamily="-106" charset="-128"/>
              </a:rPr>
              <a:t> I, therefore, the prisoner for the Lord, urge you to live worthily of the calling with which you have been called, </a:t>
            </a:r>
            <a:r>
              <a:rPr lang="en-US" sz="1400" b="1" kern="1200" dirty="0">
                <a:solidFill>
                  <a:schemeClr val="tx1"/>
                </a:solidFill>
                <a:effectLst/>
                <a:latin typeface="+mn-lt"/>
                <a:ea typeface="ＭＳ Ｐゴシック" pitchFamily="-106" charset="-128"/>
                <a:cs typeface="ＭＳ Ｐゴシック" pitchFamily="-106" charset="-128"/>
              </a:rPr>
              <a:t>2</a:t>
            </a:r>
            <a:r>
              <a:rPr lang="en-US" sz="1400" kern="1200" dirty="0">
                <a:solidFill>
                  <a:schemeClr val="tx1"/>
                </a:solidFill>
                <a:effectLst/>
                <a:latin typeface="+mn-lt"/>
                <a:ea typeface="ＭＳ Ｐゴシック" pitchFamily="-106" charset="-128"/>
                <a:cs typeface="ＭＳ Ｐゴシック" pitchFamily="-106" charset="-128"/>
              </a:rPr>
              <a:t> with all humility and gentleness, with patience, putting up with one another in love, </a:t>
            </a:r>
            <a:r>
              <a:rPr lang="en-US" sz="1400" b="1" kern="1200" dirty="0">
                <a:solidFill>
                  <a:schemeClr val="tx1"/>
                </a:solidFill>
                <a:effectLst/>
                <a:latin typeface="+mn-lt"/>
                <a:ea typeface="ＭＳ Ｐゴシック" pitchFamily="-106" charset="-128"/>
                <a:cs typeface="ＭＳ Ｐゴシック" pitchFamily="-106" charset="-128"/>
              </a:rPr>
              <a:t>3</a:t>
            </a:r>
            <a:r>
              <a:rPr lang="en-US" sz="1400" kern="1200" dirty="0">
                <a:solidFill>
                  <a:schemeClr val="tx1"/>
                </a:solidFill>
                <a:effectLst/>
                <a:latin typeface="+mn-lt"/>
                <a:ea typeface="ＭＳ Ｐゴシック" pitchFamily="-106" charset="-128"/>
                <a:cs typeface="ＭＳ Ｐゴシック" pitchFamily="-106" charset="-128"/>
              </a:rPr>
              <a:t> making every effort to keep the unity of the Spirit in the bond of peace. </a:t>
            </a:r>
            <a:r>
              <a:rPr lang="en-US" sz="1400" b="1" kern="1200" dirty="0">
                <a:solidFill>
                  <a:schemeClr val="tx1"/>
                </a:solidFill>
                <a:effectLst/>
                <a:latin typeface="+mn-lt"/>
                <a:ea typeface="ＭＳ Ｐゴシック" pitchFamily="-106" charset="-128"/>
                <a:cs typeface="ＭＳ Ｐゴシック" pitchFamily="-106" charset="-128"/>
              </a:rPr>
              <a:t>4</a:t>
            </a:r>
            <a:r>
              <a:rPr lang="en-US" sz="1400" kern="1200" dirty="0">
                <a:solidFill>
                  <a:schemeClr val="tx1"/>
                </a:solidFill>
                <a:effectLst/>
                <a:latin typeface="+mn-lt"/>
                <a:ea typeface="ＭＳ Ｐゴシック" pitchFamily="-106" charset="-128"/>
                <a:cs typeface="ＭＳ Ｐゴシック" pitchFamily="-106" charset="-128"/>
              </a:rPr>
              <a:t> There is one body and one Spirit, just as you too were called to the one hope of your calling, </a:t>
            </a:r>
            <a:r>
              <a:rPr lang="en-US" sz="1400" b="1" kern="1200" dirty="0">
                <a:solidFill>
                  <a:schemeClr val="tx1"/>
                </a:solidFill>
                <a:effectLst/>
                <a:latin typeface="+mn-lt"/>
                <a:ea typeface="ＭＳ Ｐゴシック" pitchFamily="-106" charset="-128"/>
                <a:cs typeface="ＭＳ Ｐゴシック" pitchFamily="-106" charset="-128"/>
              </a:rPr>
              <a:t>5</a:t>
            </a:r>
            <a:r>
              <a:rPr lang="en-US" sz="1400" kern="1200" dirty="0">
                <a:solidFill>
                  <a:schemeClr val="tx1"/>
                </a:solidFill>
                <a:effectLst/>
                <a:latin typeface="+mn-lt"/>
                <a:ea typeface="ＭＳ Ｐゴシック" pitchFamily="-106" charset="-128"/>
                <a:cs typeface="ＭＳ Ｐゴシック" pitchFamily="-106" charset="-128"/>
              </a:rPr>
              <a:t> one Lord, one faith, one baptism, </a:t>
            </a:r>
            <a:r>
              <a:rPr lang="en-US" sz="1400" b="1" kern="1200" dirty="0">
                <a:solidFill>
                  <a:schemeClr val="tx1"/>
                </a:solidFill>
                <a:effectLst/>
                <a:latin typeface="+mn-lt"/>
                <a:ea typeface="ＭＳ Ｐゴシック" pitchFamily="-106" charset="-128"/>
                <a:cs typeface="ＭＳ Ｐゴシック" pitchFamily="-106" charset="-128"/>
              </a:rPr>
              <a:t>6</a:t>
            </a:r>
            <a:r>
              <a:rPr lang="en-US" sz="1400" kern="1200" dirty="0">
                <a:solidFill>
                  <a:schemeClr val="tx1"/>
                </a:solidFill>
                <a:effectLst/>
                <a:latin typeface="+mn-lt"/>
                <a:ea typeface="ＭＳ Ｐゴシック" pitchFamily="-106" charset="-128"/>
                <a:cs typeface="ＭＳ Ｐゴシック" pitchFamily="-106" charset="-128"/>
              </a:rPr>
              <a:t> one God and Father of all, who is over all and through all and in all. </a:t>
            </a:r>
            <a:r>
              <a:rPr lang="en-US" sz="1400" b="1" kern="1200" dirty="0">
                <a:solidFill>
                  <a:schemeClr val="tx1"/>
                </a:solidFill>
                <a:effectLst/>
                <a:latin typeface="+mn-lt"/>
                <a:ea typeface="ＭＳ Ｐゴシック" pitchFamily="-106" charset="-128"/>
                <a:cs typeface="ＭＳ Ｐゴシック" pitchFamily="-106" charset="-128"/>
              </a:rPr>
              <a:t>7</a:t>
            </a:r>
            <a:r>
              <a:rPr lang="en-US" sz="1400" kern="1200" dirty="0">
                <a:solidFill>
                  <a:schemeClr val="tx1"/>
                </a:solidFill>
                <a:effectLst/>
                <a:latin typeface="+mn-lt"/>
                <a:ea typeface="ＭＳ Ｐゴシック" pitchFamily="-106" charset="-128"/>
                <a:cs typeface="ＭＳ Ｐゴシック" pitchFamily="-106" charset="-128"/>
              </a:rPr>
              <a:t> But to each one of us grace was given according to the measure of Christ’s gift.</a:t>
            </a:r>
          </a:p>
          <a:p>
            <a:endParaRPr lang="en-US" dirty="0"/>
          </a:p>
        </p:txBody>
      </p:sp>
      <p:sp>
        <p:nvSpPr>
          <p:cNvPr id="4" name="Slide Number Placeholder 3">
            <a:extLst>
              <a:ext uri="{FF2B5EF4-FFF2-40B4-BE49-F238E27FC236}">
                <a16:creationId xmlns:a16="http://schemas.microsoft.com/office/drawing/2014/main" id="{5DB7AF03-753D-04B3-FBA8-0844561C7673}"/>
              </a:ext>
            </a:extLst>
          </p:cNvPr>
          <p:cNvSpPr>
            <a:spLocks noGrp="1"/>
          </p:cNvSpPr>
          <p:nvPr>
            <p:ph type="sldNum" sz="quarter" idx="10"/>
          </p:nvPr>
        </p:nvSpPr>
        <p:spPr/>
        <p:txBody>
          <a:bodyPr/>
          <a:lstStyle/>
          <a:p>
            <a:pPr>
              <a:defRPr/>
            </a:pPr>
            <a:fld id="{07776858-791E-4C8D-8FA3-473B3AFECFAC}" type="slidenum">
              <a:rPr lang="en-US" smtClean="0"/>
              <a:pPr>
                <a:defRPr/>
              </a:pPr>
              <a:t>7</a:t>
            </a:fld>
            <a:endParaRPr lang="en-US" dirty="0"/>
          </a:p>
        </p:txBody>
      </p:sp>
    </p:spTree>
    <p:extLst>
      <p:ext uri="{BB962C8B-B14F-4D97-AF65-F5344CB8AC3E}">
        <p14:creationId xmlns:p14="http://schemas.microsoft.com/office/powerpoint/2010/main" val="2880506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95AFE-FE73-573C-2FA2-D939CECB48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A31938-4A58-4D69-B82D-5EEA230C065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BBFA937-7387-2D1F-717F-E9E40C748D2F}"/>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F9FFDDCD-B853-F0A8-4615-B5EC31004475}"/>
              </a:ext>
            </a:extLst>
          </p:cNvPr>
          <p:cNvSpPr>
            <a:spLocks noGrp="1"/>
          </p:cNvSpPr>
          <p:nvPr>
            <p:ph type="sldNum" sz="quarter" idx="10"/>
          </p:nvPr>
        </p:nvSpPr>
        <p:spPr/>
        <p:txBody>
          <a:bodyPr/>
          <a:lstStyle/>
          <a:p>
            <a:pPr>
              <a:defRPr/>
            </a:pPr>
            <a:fld id="{07776858-791E-4C8D-8FA3-473B3AFECFAC}" type="slidenum">
              <a:rPr lang="en-US" smtClean="0"/>
              <a:pPr>
                <a:defRPr/>
              </a:pPr>
              <a:t>8</a:t>
            </a:fld>
            <a:endParaRPr lang="en-US" dirty="0"/>
          </a:p>
        </p:txBody>
      </p:sp>
    </p:spTree>
    <p:extLst>
      <p:ext uri="{BB962C8B-B14F-4D97-AF65-F5344CB8AC3E}">
        <p14:creationId xmlns:p14="http://schemas.microsoft.com/office/powerpoint/2010/main" val="2942703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lang="en-US" sz="4400" b="1" kern="1200" dirty="0">
                <a:solidFill>
                  <a:schemeClr val="tx2"/>
                </a:solidFill>
                <a:latin typeface="+mj-lt"/>
                <a:ea typeface="ＭＳ Ｐゴシック" pitchFamily="34" charset="-128"/>
                <a:cs typeface="+mj-cs"/>
              </a:defRPr>
            </a:lvl1p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Tree>
    <p:extLst>
      <p:ext uri="{BB962C8B-B14F-4D97-AF65-F5344CB8AC3E}">
        <p14:creationId xmlns:p14="http://schemas.microsoft.com/office/powerpoint/2010/main" val="4243918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a:t>Click to edit Master title style</a:t>
            </a:r>
            <a:endParaRPr lang="en-US" dirty="0"/>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534741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sz="4000"/>
            </a:lvl1pPr>
          </a:lstStyle>
          <a:p>
            <a:r>
              <a:rPr lang="en-US" dirty="0"/>
              <a:t>Click to edit Master title style</a:t>
            </a:r>
          </a:p>
        </p:txBody>
      </p:sp>
      <p:sp>
        <p:nvSpPr>
          <p:cNvPr id="3" name="Content Placeholder 2"/>
          <p:cNvSpPr>
            <a:spLocks noGrp="1"/>
          </p:cNvSpPr>
          <p:nvPr>
            <p:ph idx="1"/>
          </p:nvPr>
        </p:nvSpPr>
        <p:spPr/>
        <p:txBody>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623734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27"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8"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49" r:id="rId1"/>
    <p:sldLayoutId id="2147484150" r:id="rId2"/>
  </p:sldLayoutIdLst>
  <p:hf hdr="0"/>
  <p:txStyles>
    <p:title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1" fontAlgn="base" hangingPunct="1">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1" fontAlgn="base" hangingPunct="1">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1" fontAlgn="base" hangingPunct="1">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1" fontAlgn="base" hangingPunct="1">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050" name="Title Placeholder 1"/>
          <p:cNvSpPr>
            <a:spLocks noGrp="1"/>
          </p:cNvSpPr>
          <p:nvPr>
            <p:ph type="title"/>
          </p:nvPr>
        </p:nvSpPr>
        <p:spPr bwMode="auto">
          <a:xfrm>
            <a:off x="457200" y="0"/>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2051" name="Text Placeholder 2"/>
          <p:cNvSpPr>
            <a:spLocks noGrp="1"/>
          </p:cNvSpPr>
          <p:nvPr>
            <p:ph type="body" idx="1"/>
          </p:nvPr>
        </p:nvSpPr>
        <p:spPr bwMode="auto">
          <a:xfrm>
            <a:off x="457200" y="1143000"/>
            <a:ext cx="8229600" cy="5105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 bg1="lt1" tx1="dk1" bg2="lt2" tx2="dk2" accent1="accent1" accent2="accent2" accent3="accent3" accent4="accent4" accent5="accent5" accent6="accent6" hlink="hlink" folHlink="folHlink"/>
  <p:sldLayoutIdLst>
    <p:sldLayoutId id="2147484151" r:id="rId1"/>
  </p:sldLayoutIdLst>
  <p:hf hdr="0"/>
  <p:txStyles>
    <p:titleStyle>
      <a:lvl1pPr algn="ctr" rtl="0" eaLnBrk="0" fontAlgn="base" hangingPunct="0">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0" fontAlgn="base" hangingPunct="0">
        <a:spcBef>
          <a:spcPct val="0"/>
        </a:spcBef>
        <a:spcAft>
          <a:spcPct val="0"/>
        </a:spcAft>
        <a:defRPr sz="4400" b="1">
          <a:solidFill>
            <a:schemeClr val="tx2"/>
          </a:solidFill>
          <a:latin typeface="Arial" charset="0"/>
          <a:ea typeface="ＭＳ Ｐゴシック" pitchFamily="34" charset="-128"/>
        </a:defRPr>
      </a:lvl2pPr>
      <a:lvl3pPr algn="ctr" rtl="0" eaLnBrk="0" fontAlgn="base" hangingPunct="0">
        <a:spcBef>
          <a:spcPct val="0"/>
        </a:spcBef>
        <a:spcAft>
          <a:spcPct val="0"/>
        </a:spcAft>
        <a:defRPr sz="4400" b="1">
          <a:solidFill>
            <a:schemeClr val="tx2"/>
          </a:solidFill>
          <a:latin typeface="Arial" charset="0"/>
          <a:ea typeface="ＭＳ Ｐゴシック" pitchFamily="34" charset="-128"/>
        </a:defRPr>
      </a:lvl3pPr>
      <a:lvl4pPr algn="ctr" rtl="0" eaLnBrk="0" fontAlgn="base" hangingPunct="0">
        <a:spcBef>
          <a:spcPct val="0"/>
        </a:spcBef>
        <a:spcAft>
          <a:spcPct val="0"/>
        </a:spcAft>
        <a:defRPr sz="4400" b="1">
          <a:solidFill>
            <a:schemeClr val="tx2"/>
          </a:solidFill>
          <a:latin typeface="Arial" charset="0"/>
          <a:ea typeface="ＭＳ Ｐゴシック" pitchFamily="34" charset="-128"/>
        </a:defRPr>
      </a:lvl4pPr>
      <a:lvl5pPr algn="ctr" rtl="0" eaLnBrk="0" fontAlgn="base" hangingPunct="0">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Arial Narrow" pitchFamily="34" charset="0"/>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Arial Narrow" pitchFamily="34" charset="0"/>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Arial Narrow" pitchFamily="34" charset="0"/>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A53F3-F5FA-47DF-8211-8B502AD79E23}"/>
              </a:ext>
            </a:extLst>
          </p:cNvPr>
          <p:cNvSpPr txBox="1">
            <a:spLocks/>
          </p:cNvSpPr>
          <p:nvPr/>
        </p:nvSpPr>
        <p:spPr bwMode="auto">
          <a:xfrm>
            <a:off x="457200" y="419100"/>
            <a:ext cx="8229600" cy="601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7500" lnSpcReduction="20000"/>
          </a:bodyPr>
          <a:lstStyle>
            <a:lvl1pPr algn="ctr" rtl="0" eaLnBrk="1" fontAlgn="base" hangingPunct="1">
              <a:spcBef>
                <a:spcPct val="0"/>
              </a:spcBef>
              <a:spcAft>
                <a:spcPct val="0"/>
              </a:spcAft>
              <a:defRPr lang="en-US" sz="4400" b="1" kern="1200" dirty="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6700" dirty="0"/>
              <a:t>The Promises of God</a:t>
            </a:r>
            <a:br>
              <a:rPr lang="en-US" dirty="0"/>
            </a:br>
            <a:endParaRPr lang="en-US" dirty="0"/>
          </a:p>
          <a:p>
            <a:r>
              <a:rPr lang="en-US" i="1" dirty="0"/>
              <a:t>Promise of Peace and Rest</a:t>
            </a:r>
          </a:p>
          <a:p>
            <a:endParaRPr lang="en-US" sz="2400" dirty="0">
              <a:solidFill>
                <a:schemeClr val="tx2">
                  <a:lumMod val="60000"/>
                  <a:lumOff val="40000"/>
                </a:schemeClr>
              </a:solidFill>
            </a:endParaRPr>
          </a:p>
          <a:p>
            <a:r>
              <a:rPr lang="en-US" dirty="0"/>
              <a:t>“Come to me, all you who are weary and burdened, and I will give you rest. Take my yoke on you and learn from me, because I am gentle and humble in heart, and you will find rest for your souls. For my yoke is easy to bear, and my load is not hard to carry.”” (Matthew 11:28-30)</a:t>
            </a:r>
          </a:p>
          <a:p>
            <a:r>
              <a:rPr lang="en-US" b="0" dirty="0"/>
              <a:t> </a:t>
            </a:r>
          </a:p>
          <a:p>
            <a:r>
              <a:rPr lang="en-US" dirty="0">
                <a:solidFill>
                  <a:schemeClr val="tx2">
                    <a:lumMod val="60000"/>
                    <a:lumOff val="40000"/>
                  </a:schemeClr>
                </a:solidFill>
              </a:rPr>
              <a:t>http://tinyurl.com/GodOfPromises</a:t>
            </a:r>
          </a:p>
          <a:p>
            <a:endParaRPr lang="en-US" sz="2400" dirty="0">
              <a:solidFill>
                <a:schemeClr val="tx2">
                  <a:lumMod val="60000"/>
                  <a:lumOff val="40000"/>
                </a:schemeClr>
              </a:solidFill>
            </a:endParaRPr>
          </a:p>
        </p:txBody>
      </p:sp>
    </p:spTree>
    <p:extLst>
      <p:ext uri="{BB962C8B-B14F-4D97-AF65-F5344CB8AC3E}">
        <p14:creationId xmlns:p14="http://schemas.microsoft.com/office/powerpoint/2010/main" val="4586589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16FF1C5C-098A-B7B4-29DA-163600C9EABC}"/>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59D62506-1BC3-6C6E-2FAB-806688DE005A}"/>
              </a:ext>
            </a:extLst>
          </p:cNvPr>
          <p:cNvSpPr txBox="1">
            <a:spLocks/>
          </p:cNvSpPr>
          <p:nvPr/>
        </p:nvSpPr>
        <p:spPr bwMode="auto">
          <a:xfrm>
            <a:off x="192879" y="28992"/>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Jesus gives both Peace and Rest</a:t>
            </a:r>
            <a:br>
              <a:rPr lang="en-US" dirty="0"/>
            </a:br>
            <a:r>
              <a:rPr lang="en-US" sz="3400" dirty="0">
                <a:solidFill>
                  <a:schemeClr val="tx2">
                    <a:lumMod val="60000"/>
                    <a:lumOff val="40000"/>
                  </a:schemeClr>
                </a:solidFill>
              </a:rPr>
              <a:t>Peace &amp; Rest – two sides of one promise </a:t>
            </a:r>
            <a:endParaRPr lang="en-US" sz="3800" dirty="0">
              <a:solidFill>
                <a:schemeClr val="tx2">
                  <a:lumMod val="60000"/>
                  <a:lumOff val="40000"/>
                </a:schemeClr>
              </a:solidFill>
            </a:endParaRPr>
          </a:p>
        </p:txBody>
      </p:sp>
      <p:sp>
        <p:nvSpPr>
          <p:cNvPr id="3" name="TextBox 2">
            <a:extLst>
              <a:ext uri="{FF2B5EF4-FFF2-40B4-BE49-F238E27FC236}">
                <a16:creationId xmlns:a16="http://schemas.microsoft.com/office/drawing/2014/main" id="{C96E21EF-3DEE-2EB9-2120-682F4B4560B7}"/>
              </a:ext>
            </a:extLst>
          </p:cNvPr>
          <p:cNvSpPr txBox="1"/>
          <p:nvPr/>
        </p:nvSpPr>
        <p:spPr>
          <a:xfrm>
            <a:off x="192880" y="1019592"/>
            <a:ext cx="8677275" cy="1754326"/>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Jesus Promises Peace – John 14:27</a:t>
            </a:r>
          </a:p>
          <a:p>
            <a:pPr marL="285750" indent="-285750">
              <a:buFont typeface="Arial" panose="020B0604020202020204" pitchFamily="34" charset="0"/>
              <a:buChar char="•"/>
            </a:pPr>
            <a:r>
              <a:rPr lang="en-US" i="1" dirty="0">
                <a:ea typeface="ＭＳ Ｐゴシック" pitchFamily="-106" charset="-128"/>
                <a:cs typeface="ＭＳ Ｐゴシック" pitchFamily="-106" charset="-128"/>
              </a:rPr>
              <a:t>“</a:t>
            </a:r>
            <a:r>
              <a:rPr lang="en-US" b="1" i="1" dirty="0">
                <a:ea typeface="ＭＳ Ｐゴシック" pitchFamily="-106" charset="-128"/>
                <a:cs typeface="ＭＳ Ｐゴシック" pitchFamily="-106" charset="-128"/>
              </a:rPr>
              <a:t>Peace</a:t>
            </a:r>
            <a:r>
              <a:rPr lang="en-US" i="1" dirty="0">
                <a:ea typeface="ＭＳ Ｐゴシック" pitchFamily="-106" charset="-128"/>
                <a:cs typeface="ＭＳ Ｐゴシック" pitchFamily="-106" charset="-128"/>
              </a:rPr>
              <a:t> I leave with you; </a:t>
            </a:r>
            <a:r>
              <a:rPr lang="en-US" b="1" i="1" dirty="0">
                <a:ea typeface="ＭＳ Ｐゴシック" pitchFamily="-106" charset="-128"/>
                <a:cs typeface="ＭＳ Ｐゴシック" pitchFamily="-106" charset="-128"/>
              </a:rPr>
              <a:t>my peace I give to you</a:t>
            </a:r>
            <a:r>
              <a:rPr lang="en-US" i="1" dirty="0">
                <a:ea typeface="ＭＳ Ｐゴシック" pitchFamily="-106" charset="-128"/>
                <a:cs typeface="ＭＳ Ｐゴシック" pitchFamily="-106" charset="-128"/>
              </a:rPr>
              <a:t>… Do not let your hearts be distressed.”</a:t>
            </a:r>
          </a:p>
          <a:p>
            <a:endParaRPr lang="en-US" b="1" dirty="0">
              <a:ea typeface="ＭＳ Ｐゴシック" pitchFamily="-106" charset="-128"/>
              <a:cs typeface="ＭＳ Ｐゴシック" pitchFamily="-106" charset="-128"/>
            </a:endParaRPr>
          </a:p>
          <a:p>
            <a:r>
              <a:rPr lang="en-US" b="1" dirty="0">
                <a:ea typeface="ＭＳ Ｐゴシック" pitchFamily="-106" charset="-128"/>
                <a:cs typeface="ＭＳ Ｐゴシック" pitchFamily="-106" charset="-128"/>
              </a:rPr>
              <a:t>Jesus Promises Rest – Matthew 11:28–29 </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i="1" dirty="0">
                <a:ea typeface="ＭＳ Ｐゴシック" pitchFamily="-106" charset="-128"/>
                <a:cs typeface="ＭＳ Ｐゴシック" pitchFamily="-106" charset="-128"/>
              </a:rPr>
              <a:t>“Come to me… and </a:t>
            </a:r>
            <a:r>
              <a:rPr lang="en-US" b="1" i="1" dirty="0">
                <a:ea typeface="ＭＳ Ｐゴシック" pitchFamily="-106" charset="-128"/>
                <a:cs typeface="ＭＳ Ｐゴシック" pitchFamily="-106" charset="-128"/>
              </a:rPr>
              <a:t>I will give you rest</a:t>
            </a:r>
            <a:r>
              <a:rPr lang="en-US" i="1" dirty="0">
                <a:ea typeface="ＭＳ Ｐゴシック" pitchFamily="-106" charset="-128"/>
                <a:cs typeface="ＭＳ Ｐゴシック" pitchFamily="-106" charset="-128"/>
              </a:rPr>
              <a:t>… and you will find </a:t>
            </a:r>
            <a:r>
              <a:rPr lang="en-US" b="1" i="1" dirty="0">
                <a:ea typeface="ＭＳ Ｐゴシック" pitchFamily="-106" charset="-128"/>
                <a:cs typeface="ＭＳ Ｐゴシック" pitchFamily="-106" charset="-128"/>
              </a:rPr>
              <a:t>rest for your souls</a:t>
            </a:r>
            <a:r>
              <a:rPr lang="en-US" i="1" dirty="0">
                <a:ea typeface="ＭＳ Ｐゴシック" pitchFamily="-106" charset="-128"/>
                <a:cs typeface="ＭＳ Ｐゴシック" pitchFamily="-106" charset="-128"/>
              </a:rPr>
              <a:t>.”</a:t>
            </a:r>
          </a:p>
        </p:txBody>
      </p:sp>
      <p:sp>
        <p:nvSpPr>
          <p:cNvPr id="2" name="TextBox 1">
            <a:extLst>
              <a:ext uri="{FF2B5EF4-FFF2-40B4-BE49-F238E27FC236}">
                <a16:creationId xmlns:a16="http://schemas.microsoft.com/office/drawing/2014/main" id="{D3787957-C6F8-2572-ACEE-92B8E91190C3}"/>
              </a:ext>
            </a:extLst>
          </p:cNvPr>
          <p:cNvSpPr txBox="1"/>
          <p:nvPr/>
        </p:nvSpPr>
        <p:spPr>
          <a:xfrm>
            <a:off x="192879" y="2971800"/>
            <a:ext cx="8677275" cy="1754326"/>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Peace and Rest - How They Connect</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Bible links </a:t>
            </a:r>
            <a:r>
              <a:rPr lang="en-US" b="1" dirty="0">
                <a:ea typeface="ＭＳ Ｐゴシック" pitchFamily="-106" charset="-128"/>
                <a:cs typeface="ＭＳ Ｐゴシック" pitchFamily="-106" charset="-128"/>
              </a:rPr>
              <a:t>peace</a:t>
            </a:r>
            <a:r>
              <a:rPr lang="en-US" dirty="0">
                <a:ea typeface="ＭＳ Ｐゴシック" pitchFamily="-106" charset="-128"/>
                <a:cs typeface="ＭＳ Ｐゴシック" pitchFamily="-106" charset="-128"/>
              </a:rPr>
              <a:t> and </a:t>
            </a:r>
            <a:r>
              <a:rPr lang="en-US" b="1" dirty="0">
                <a:ea typeface="ＭＳ Ｐゴシック" pitchFamily="-106" charset="-128"/>
                <a:cs typeface="ＭＳ Ｐゴシック" pitchFamily="-106" charset="-128"/>
              </a:rPr>
              <a:t>rest</a:t>
            </a:r>
            <a:r>
              <a:rPr lang="en-US" dirty="0">
                <a:ea typeface="ＭＳ Ｐゴシック" pitchFamily="-106" charset="-128"/>
                <a:cs typeface="ＭＳ Ｐゴシック" pitchFamily="-106" charset="-128"/>
              </a:rPr>
              <a:t> as two sides of one promise.</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Peace speaks to our </a:t>
            </a:r>
            <a:r>
              <a:rPr lang="en-US" b="1" dirty="0">
                <a:ea typeface="ＭＳ Ｐゴシック" pitchFamily="-106" charset="-128"/>
                <a:cs typeface="ＭＳ Ｐゴシック" pitchFamily="-106" charset="-128"/>
              </a:rPr>
              <a:t>relationship with God</a:t>
            </a:r>
            <a:r>
              <a:rPr lang="en-US" dirty="0">
                <a:ea typeface="ＭＳ Ｐゴシック" pitchFamily="-106" charset="-128"/>
                <a:cs typeface="ＭＳ Ｐゴシック" pitchFamily="-106" charset="-128"/>
              </a:rPr>
              <a:t>.</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Rest speaks to our </a:t>
            </a:r>
            <a:r>
              <a:rPr lang="en-US" b="1" dirty="0">
                <a:ea typeface="ＭＳ Ｐゴシック" pitchFamily="-106" charset="-128"/>
                <a:cs typeface="ＭＳ Ｐゴシック" pitchFamily="-106" charset="-128"/>
              </a:rPr>
              <a:t>state with God</a:t>
            </a:r>
            <a:r>
              <a:rPr lang="en-US" dirty="0">
                <a:ea typeface="ＭＳ Ｐゴシック" pitchFamily="-106" charset="-128"/>
                <a:cs typeface="ＭＳ Ｐゴシック" pitchFamily="-106" charset="-128"/>
              </a:rPr>
              <a:t>.</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Both come together in Christ.</a:t>
            </a:r>
          </a:p>
          <a:p>
            <a:pPr marL="285750" indent="-285750">
              <a:buFont typeface="Arial" panose="020B0604020202020204" pitchFamily="34" charset="0"/>
              <a:buChar char="•"/>
            </a:pPr>
            <a:r>
              <a:rPr lang="en-US" u="sng" dirty="0">
                <a:ea typeface="ＭＳ Ｐゴシック" pitchFamily="-106" charset="-128"/>
                <a:cs typeface="ＭＳ Ｐゴシック" pitchFamily="-106" charset="-128"/>
              </a:rPr>
              <a:t>A Gift</a:t>
            </a:r>
            <a:r>
              <a:rPr lang="en-US" dirty="0">
                <a:ea typeface="ＭＳ Ｐゴシック" pitchFamily="-106" charset="-128"/>
                <a:cs typeface="ＭＳ Ｐゴシック" pitchFamily="-106" charset="-128"/>
              </a:rPr>
              <a:t>: </a:t>
            </a:r>
            <a:r>
              <a:rPr lang="en-US" i="1" dirty="0">
                <a:ea typeface="ＭＳ Ｐゴシック" pitchFamily="-106" charset="-128"/>
                <a:cs typeface="ＭＳ Ｐゴシック" pitchFamily="-106" charset="-128"/>
              </a:rPr>
              <a:t>God brings the soul out of chaos and into His order.</a:t>
            </a:r>
            <a:endParaRPr lang="en-US" dirty="0">
              <a:ea typeface="ＭＳ Ｐゴシック" pitchFamily="-106" charset="-128"/>
              <a:cs typeface="ＭＳ Ｐゴシック" pitchFamily="-106" charset="-128"/>
            </a:endParaRPr>
          </a:p>
        </p:txBody>
      </p:sp>
      <p:sp>
        <p:nvSpPr>
          <p:cNvPr id="4" name="TextBox 3">
            <a:extLst>
              <a:ext uri="{FF2B5EF4-FFF2-40B4-BE49-F238E27FC236}">
                <a16:creationId xmlns:a16="http://schemas.microsoft.com/office/drawing/2014/main" id="{D834FD90-D728-78E2-D14F-D4A91F2F2B32}"/>
              </a:ext>
            </a:extLst>
          </p:cNvPr>
          <p:cNvSpPr txBox="1"/>
          <p:nvPr/>
        </p:nvSpPr>
        <p:spPr>
          <a:xfrm>
            <a:off x="170151" y="4930935"/>
            <a:ext cx="8577262" cy="1477328"/>
          </a:xfrm>
          <a:prstGeom prst="rect">
            <a:avLst/>
          </a:prstGeom>
          <a:noFill/>
        </p:spPr>
        <p:txBody>
          <a:bodyPr wrap="square" rtlCol="0">
            <a:spAutoFit/>
          </a:bodyPr>
          <a:lstStyle/>
          <a:p>
            <a:r>
              <a:rPr lang="en-US" b="1" u="sng" dirty="0"/>
              <a:t>Jesus gives…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Jesus gives </a:t>
            </a:r>
            <a:r>
              <a:rPr lang="en-US" b="1" dirty="0">
                <a:ea typeface="ＭＳ Ｐゴシック" pitchFamily="-106" charset="-128"/>
                <a:cs typeface="ＭＳ Ｐゴシック" pitchFamily="-106" charset="-128"/>
              </a:rPr>
              <a:t>peace</a:t>
            </a:r>
            <a:r>
              <a:rPr lang="en-US" dirty="0">
                <a:ea typeface="ＭＳ Ｐゴシック" pitchFamily="-106" charset="-128"/>
                <a:cs typeface="ＭＳ Ｐゴシック" pitchFamily="-106" charset="-128"/>
              </a:rPr>
              <a:t> to the troubled.</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Jesus gives </a:t>
            </a:r>
            <a:r>
              <a:rPr lang="en-US" b="1" dirty="0">
                <a:ea typeface="ＭＳ Ｐゴシック" pitchFamily="-106" charset="-128"/>
                <a:cs typeface="ＭＳ Ｐゴシック" pitchFamily="-106" charset="-128"/>
              </a:rPr>
              <a:t>rest</a:t>
            </a:r>
            <a:r>
              <a:rPr lang="en-US" dirty="0">
                <a:ea typeface="ＭＳ Ｐゴシック" pitchFamily="-106" charset="-128"/>
                <a:cs typeface="ＭＳ Ｐゴシック" pitchFamily="-106" charset="-128"/>
              </a:rPr>
              <a:t> to the weary.</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Both come from Him because both are rooted in </a:t>
            </a:r>
            <a:r>
              <a:rPr lang="en-US" b="1" dirty="0">
                <a:ea typeface="ＭＳ Ｐゴシック" pitchFamily="-106" charset="-128"/>
                <a:cs typeface="ＭＳ Ｐゴシック" pitchFamily="-106" charset="-128"/>
              </a:rPr>
              <a:t>His presence</a:t>
            </a:r>
            <a:r>
              <a:rPr lang="en-US" dirty="0">
                <a:ea typeface="ＭＳ Ｐゴシック" pitchFamily="-106" charset="-128"/>
                <a:cs typeface="ＭＳ Ｐゴシック" pitchFamily="-106" charset="-128"/>
              </a:rPr>
              <a:t>.</a:t>
            </a:r>
          </a:p>
          <a:p>
            <a:pPr marL="285750" indent="-285750">
              <a:buFont typeface="Arial" panose="020B0604020202020204" pitchFamily="34" charset="0"/>
              <a:buChar char="•"/>
            </a:pPr>
            <a:r>
              <a:rPr lang="en-US" b="1" i="1" dirty="0">
                <a:ea typeface="ＭＳ Ｐゴシック" pitchFamily="-106" charset="-128"/>
                <a:cs typeface="ＭＳ Ｐゴシック" pitchFamily="-106" charset="-128"/>
              </a:rPr>
              <a:t>Peace is Christ ruling the heart. Rest is Christ calming the heart</a:t>
            </a:r>
            <a:r>
              <a:rPr lang="en-US" i="1" dirty="0">
                <a:ea typeface="ＭＳ Ｐゴシック" pitchFamily="-106" charset="-128"/>
                <a:cs typeface="ＭＳ Ｐゴシック" pitchFamily="-106" charset="-128"/>
              </a:rPr>
              <a:t>.</a:t>
            </a:r>
            <a:endParaRPr lang="en-US" dirty="0">
              <a:ea typeface="ＭＳ Ｐゴシック" pitchFamily="-106" charset="-128"/>
              <a:cs typeface="ＭＳ Ｐゴシック" pitchFamily="-106" charset="-128"/>
            </a:endParaRPr>
          </a:p>
        </p:txBody>
      </p:sp>
    </p:spTree>
    <p:extLst>
      <p:ext uri="{BB962C8B-B14F-4D97-AF65-F5344CB8AC3E}">
        <p14:creationId xmlns:p14="http://schemas.microsoft.com/office/powerpoint/2010/main" val="2708493632"/>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79A2CC-1816-D146-3D3C-F55EB539271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7C864B9-8D97-6DE6-8FE5-482039478020}"/>
              </a:ext>
            </a:extLst>
          </p:cNvPr>
          <p:cNvSpPr txBox="1">
            <a:spLocks/>
          </p:cNvSpPr>
          <p:nvPr/>
        </p:nvSpPr>
        <p:spPr bwMode="auto">
          <a:xfrm>
            <a:off x="204787" y="0"/>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85000" lnSpcReduction="1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Rest is the fruit of peace with God</a:t>
            </a:r>
            <a:br>
              <a:rPr lang="en-US" dirty="0"/>
            </a:br>
            <a:r>
              <a:rPr lang="en-US" sz="3400" dirty="0">
                <a:solidFill>
                  <a:schemeClr val="tx2">
                    <a:lumMod val="60000"/>
                    <a:lumOff val="40000"/>
                  </a:schemeClr>
                </a:solidFill>
              </a:rPr>
              <a:t>Before there can be rest, there must be peace </a:t>
            </a:r>
            <a:endParaRPr lang="en-US" sz="3800" dirty="0">
              <a:solidFill>
                <a:schemeClr val="tx2">
                  <a:lumMod val="60000"/>
                  <a:lumOff val="40000"/>
                </a:schemeClr>
              </a:solidFill>
            </a:endParaRPr>
          </a:p>
        </p:txBody>
      </p:sp>
      <p:sp>
        <p:nvSpPr>
          <p:cNvPr id="3" name="TextBox 2">
            <a:extLst>
              <a:ext uri="{FF2B5EF4-FFF2-40B4-BE49-F238E27FC236}">
                <a16:creationId xmlns:a16="http://schemas.microsoft.com/office/drawing/2014/main" id="{9BE31068-86CE-293F-659E-8E8A2B3423FB}"/>
              </a:ext>
            </a:extLst>
          </p:cNvPr>
          <p:cNvSpPr txBox="1"/>
          <p:nvPr/>
        </p:nvSpPr>
        <p:spPr>
          <a:xfrm>
            <a:off x="192878" y="1308437"/>
            <a:ext cx="8677275" cy="2031325"/>
          </a:xfrm>
          <a:prstGeom prst="rect">
            <a:avLst/>
          </a:prstGeom>
          <a:noFill/>
        </p:spPr>
        <p:txBody>
          <a:bodyPr wrap="square" rtlCol="0">
            <a:spAutoFit/>
          </a:bodyPr>
          <a:lstStyle/>
          <a:p>
            <a:r>
              <a:rPr lang="en-US" b="1" u="sng" dirty="0"/>
              <a:t>Peace</a:t>
            </a:r>
            <a:r>
              <a:rPr lang="en-US" b="1" dirty="0"/>
              <a:t> with God is the </a:t>
            </a:r>
            <a:r>
              <a:rPr lang="en-US" b="1" u="sng" dirty="0"/>
              <a:t>result of being made right with Him</a:t>
            </a:r>
            <a:r>
              <a:rPr lang="en-US" b="1" dirty="0"/>
              <a:t>.</a:t>
            </a:r>
          </a:p>
          <a:p>
            <a:pPr marL="285750" indent="-285750">
              <a:buFont typeface="Arial" panose="020B0604020202020204" pitchFamily="34" charset="0"/>
              <a:buChar char="•"/>
            </a:pPr>
            <a:r>
              <a:rPr lang="en-US" b="1" dirty="0"/>
              <a:t>Romans 5:1 - </a:t>
            </a:r>
            <a:r>
              <a:rPr lang="en-US" i="1" dirty="0">
                <a:ea typeface="ＭＳ Ｐゴシック" pitchFamily="-106" charset="-128"/>
                <a:cs typeface="ＭＳ Ｐゴシック" pitchFamily="-106" charset="-128"/>
              </a:rPr>
              <a:t>“Therefore, since we have been declared righteous by faith, we have peace with God through our Lord Jesus Christ.”</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Peace with God ends hostility.</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It removes guilt.</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It removes fear of judgment.</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Once guilt is gone, rest becomes possible.</a:t>
            </a:r>
            <a:endParaRPr lang="en-US" i="1" dirty="0">
              <a:ea typeface="ＭＳ Ｐゴシック" pitchFamily="-106" charset="-128"/>
              <a:cs typeface="ＭＳ Ｐゴシック" pitchFamily="-106" charset="-128"/>
            </a:endParaRPr>
          </a:p>
        </p:txBody>
      </p:sp>
      <p:sp>
        <p:nvSpPr>
          <p:cNvPr id="2" name="TextBox 1">
            <a:extLst>
              <a:ext uri="{FF2B5EF4-FFF2-40B4-BE49-F238E27FC236}">
                <a16:creationId xmlns:a16="http://schemas.microsoft.com/office/drawing/2014/main" id="{76C7F3FD-A8F0-39F1-C7D6-6FE3376DB417}"/>
              </a:ext>
            </a:extLst>
          </p:cNvPr>
          <p:cNvSpPr txBox="1"/>
          <p:nvPr/>
        </p:nvSpPr>
        <p:spPr>
          <a:xfrm>
            <a:off x="192879" y="3657600"/>
            <a:ext cx="8677275" cy="2308324"/>
          </a:xfrm>
          <a:prstGeom prst="rect">
            <a:avLst/>
          </a:prstGeom>
          <a:noFill/>
        </p:spPr>
        <p:txBody>
          <a:bodyPr wrap="square" rtlCol="0">
            <a:spAutoFit/>
          </a:bodyPr>
          <a:lstStyle/>
          <a:p>
            <a:r>
              <a:rPr lang="en-US" b="1" u="sng" dirty="0">
                <a:ea typeface="ＭＳ Ｐゴシック" pitchFamily="-106" charset="-128"/>
                <a:cs typeface="ＭＳ Ｐゴシック" pitchFamily="-106" charset="-128"/>
              </a:rPr>
              <a:t>Rest</a:t>
            </a:r>
            <a:r>
              <a:rPr lang="en-US" b="1" dirty="0">
                <a:ea typeface="ＭＳ Ｐゴシック" pitchFamily="-106" charset="-128"/>
                <a:cs typeface="ＭＳ Ｐゴシック" pitchFamily="-106" charset="-128"/>
              </a:rPr>
              <a:t> is the inner stillness that comes from </a:t>
            </a:r>
            <a:r>
              <a:rPr lang="en-US" b="1" u="sng" dirty="0">
                <a:ea typeface="ＭＳ Ｐゴシック" pitchFamily="-106" charset="-128"/>
                <a:cs typeface="ＭＳ Ｐゴシック" pitchFamily="-106" charset="-128"/>
              </a:rPr>
              <a:t>knowing</a:t>
            </a:r>
            <a:r>
              <a:rPr lang="en-US" b="1" dirty="0">
                <a:ea typeface="ＭＳ Ｐゴシック" pitchFamily="-106" charset="-128"/>
                <a:cs typeface="ＭＳ Ｐゴシック" pitchFamily="-106" charset="-128"/>
              </a:rPr>
              <a:t> you are no longer an enemy.</a:t>
            </a:r>
          </a:p>
          <a:p>
            <a:pPr marL="285750" indent="-285750">
              <a:buFont typeface="Arial" panose="020B0604020202020204" pitchFamily="34" charset="0"/>
              <a:buChar char="•"/>
            </a:pPr>
            <a:r>
              <a:rPr lang="en-US" b="1" dirty="0"/>
              <a:t>Hebrews 4:3 - </a:t>
            </a:r>
            <a:r>
              <a:rPr lang="en-US" i="1" dirty="0"/>
              <a:t>“For we who have believed enter that rest, as he has said, “</a:t>
            </a:r>
            <a:r>
              <a:rPr lang="en-US" b="1" i="1" dirty="0"/>
              <a:t>As I swore in my anger</a:t>
            </a:r>
            <a:r>
              <a:rPr lang="en-US" i="1" dirty="0"/>
              <a:t>, ‘</a:t>
            </a:r>
            <a:r>
              <a:rPr lang="en-US" b="1" i="1" dirty="0"/>
              <a:t>They will never enter my rest!</a:t>
            </a:r>
            <a:r>
              <a:rPr lang="en-US" i="1" dirty="0"/>
              <a:t>’” And yet God’s works were accomplished from the foundation of the world.” </a:t>
            </a:r>
            <a:endParaRPr lang="en-US" dirty="0"/>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Hebrews says we enter God’s rest </a:t>
            </a:r>
            <a:r>
              <a:rPr lang="en-US" b="1" dirty="0">
                <a:ea typeface="ＭＳ Ｐゴシック" pitchFamily="-106" charset="-128"/>
                <a:cs typeface="ＭＳ Ｐゴシック" pitchFamily="-106" charset="-128"/>
              </a:rPr>
              <a:t>by faith</a:t>
            </a:r>
            <a:r>
              <a:rPr lang="en-US" dirty="0">
                <a:ea typeface="ＭＳ Ｐゴシック" pitchFamily="-106" charset="-128"/>
                <a:cs typeface="ＭＳ Ｐゴシック" pitchFamily="-106" charset="-128"/>
              </a:rPr>
              <a:t> (</a:t>
            </a:r>
            <a:r>
              <a:rPr lang="en-US" b="1" dirty="0">
                <a:ea typeface="ＭＳ Ｐゴシック" pitchFamily="-106" charset="-128"/>
                <a:cs typeface="ＭＳ Ｐゴシック" pitchFamily="-106" charset="-128"/>
              </a:rPr>
              <a:t>Hebrews 4:3</a:t>
            </a:r>
            <a:r>
              <a:rPr lang="en-US" dirty="0">
                <a:ea typeface="ＭＳ Ｐゴシック" pitchFamily="-106" charset="-128"/>
                <a:cs typeface="ＭＳ Ｐゴシック" pitchFamily="-106" charset="-128"/>
              </a:rPr>
              <a:t>).</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This is the same </a:t>
            </a:r>
            <a:r>
              <a:rPr lang="en-US" b="1" dirty="0">
                <a:ea typeface="ＭＳ Ｐゴシック" pitchFamily="-106" charset="-128"/>
                <a:cs typeface="ＭＳ Ｐゴシック" pitchFamily="-106" charset="-128"/>
              </a:rPr>
              <a:t>faith that brings peace </a:t>
            </a:r>
            <a:r>
              <a:rPr lang="en-US" dirty="0">
                <a:ea typeface="ＭＳ Ｐゴシック" pitchFamily="-106" charset="-128"/>
                <a:cs typeface="ＭＳ Ｐゴシック" pitchFamily="-106" charset="-128"/>
              </a:rPr>
              <a:t>(</a:t>
            </a:r>
            <a:r>
              <a:rPr lang="en-US" b="1" dirty="0">
                <a:ea typeface="ＭＳ Ｐゴシック" pitchFamily="-106" charset="-128"/>
                <a:cs typeface="ＭＳ Ｐゴシック" pitchFamily="-106" charset="-128"/>
              </a:rPr>
              <a:t>Romans 5:1</a:t>
            </a:r>
            <a:r>
              <a:rPr lang="en-US" dirty="0">
                <a:ea typeface="ＭＳ Ｐゴシック" pitchFamily="-106" charset="-128"/>
                <a:cs typeface="ＭＳ Ｐゴシック" pitchFamily="-106" charset="-128"/>
              </a:rPr>
              <a:t>).</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So, the two promises share the same doorway.</a:t>
            </a:r>
          </a:p>
        </p:txBody>
      </p:sp>
    </p:spTree>
    <p:extLst>
      <p:ext uri="{BB962C8B-B14F-4D97-AF65-F5344CB8AC3E}">
        <p14:creationId xmlns:p14="http://schemas.microsoft.com/office/powerpoint/2010/main" val="2064101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C3129-C6B1-754A-7A90-80F409DB80B1}"/>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072FEC48-FE4B-A88D-D6B8-0ED093501347}"/>
              </a:ext>
            </a:extLst>
          </p:cNvPr>
          <p:cNvSpPr txBox="1">
            <a:spLocks/>
          </p:cNvSpPr>
          <p:nvPr/>
        </p:nvSpPr>
        <p:spPr bwMode="auto">
          <a:xfrm>
            <a:off x="192879" y="56701"/>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Peace and Rest</a:t>
            </a:r>
            <a:br>
              <a:rPr lang="en-US" dirty="0"/>
            </a:br>
            <a:r>
              <a:rPr lang="en-US" sz="3400" dirty="0">
                <a:solidFill>
                  <a:schemeClr val="tx2">
                    <a:lumMod val="60000"/>
                    <a:lumOff val="40000"/>
                  </a:schemeClr>
                </a:solidFill>
              </a:rPr>
              <a:t>Peace = Relationship; Rest = Experience</a:t>
            </a:r>
            <a:endParaRPr lang="en-US" sz="3800" dirty="0">
              <a:solidFill>
                <a:schemeClr val="tx2">
                  <a:lumMod val="60000"/>
                  <a:lumOff val="40000"/>
                </a:schemeClr>
              </a:solidFill>
            </a:endParaRPr>
          </a:p>
        </p:txBody>
      </p:sp>
      <p:sp>
        <p:nvSpPr>
          <p:cNvPr id="3" name="TextBox 2">
            <a:extLst>
              <a:ext uri="{FF2B5EF4-FFF2-40B4-BE49-F238E27FC236}">
                <a16:creationId xmlns:a16="http://schemas.microsoft.com/office/drawing/2014/main" id="{CAFA589E-A03C-CE55-BD20-EC6DECE3EB40}"/>
              </a:ext>
            </a:extLst>
          </p:cNvPr>
          <p:cNvSpPr txBox="1"/>
          <p:nvPr/>
        </p:nvSpPr>
        <p:spPr>
          <a:xfrm>
            <a:off x="192879" y="1330075"/>
            <a:ext cx="8677275" cy="1200329"/>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Peace describes the relationship; rest describes the experience</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The Old Testament word </a:t>
            </a:r>
            <a:r>
              <a:rPr lang="en-US" i="1" dirty="0">
                <a:ea typeface="ＭＳ Ｐゴシック" pitchFamily="-106" charset="-128"/>
                <a:cs typeface="ＭＳ Ｐゴシック" pitchFamily="-106" charset="-128"/>
              </a:rPr>
              <a:t>shalom</a:t>
            </a:r>
            <a:r>
              <a:rPr lang="en-US" dirty="0">
                <a:ea typeface="ＭＳ Ｐゴシック" pitchFamily="-106" charset="-128"/>
                <a:cs typeface="ＭＳ Ｐゴシック" pitchFamily="-106" charset="-128"/>
              </a:rPr>
              <a:t> means more than calm feelings.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It means wholeness, completeness, and right relationship.</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Rest is what a person feels when they live inside that shalom.</a:t>
            </a:r>
          </a:p>
        </p:txBody>
      </p:sp>
      <p:sp>
        <p:nvSpPr>
          <p:cNvPr id="2" name="TextBox 1">
            <a:extLst>
              <a:ext uri="{FF2B5EF4-FFF2-40B4-BE49-F238E27FC236}">
                <a16:creationId xmlns:a16="http://schemas.microsoft.com/office/drawing/2014/main" id="{921EECAB-76C5-0EE3-88F4-05DEFF07B52F}"/>
              </a:ext>
            </a:extLst>
          </p:cNvPr>
          <p:cNvSpPr txBox="1"/>
          <p:nvPr/>
        </p:nvSpPr>
        <p:spPr>
          <a:xfrm>
            <a:off x="142872" y="2819400"/>
            <a:ext cx="8677275" cy="1477328"/>
          </a:xfrm>
          <a:prstGeom prst="rect">
            <a:avLst/>
          </a:prstGeom>
          <a:noFill/>
        </p:spPr>
        <p:txBody>
          <a:bodyPr wrap="square" rtlCol="0">
            <a:spAutoFit/>
          </a:bodyPr>
          <a:lstStyle/>
          <a:p>
            <a:r>
              <a:rPr lang="en-US" b="1" dirty="0"/>
              <a:t>David show this link clearly…</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Psalm 4:8 - </a:t>
            </a:r>
            <a:r>
              <a:rPr lang="en-US" i="1" dirty="0">
                <a:ea typeface="ＭＳ Ｐゴシック" pitchFamily="-106" charset="-128"/>
                <a:cs typeface="ＭＳ Ｐゴシック" pitchFamily="-106" charset="-128"/>
              </a:rPr>
              <a:t>“I will lie down and sleep peacefully, for you, LORD, make me safe and secure.”</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Peace → produces → rest.</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Because God secures him, David rests.</a:t>
            </a:r>
          </a:p>
        </p:txBody>
      </p:sp>
      <p:sp>
        <p:nvSpPr>
          <p:cNvPr id="4" name="TextBox 3">
            <a:extLst>
              <a:ext uri="{FF2B5EF4-FFF2-40B4-BE49-F238E27FC236}">
                <a16:creationId xmlns:a16="http://schemas.microsoft.com/office/drawing/2014/main" id="{626D6101-761D-12D7-4ABF-4D6572788330}"/>
              </a:ext>
            </a:extLst>
          </p:cNvPr>
          <p:cNvSpPr txBox="1"/>
          <p:nvPr/>
        </p:nvSpPr>
        <p:spPr>
          <a:xfrm>
            <a:off x="192879" y="4579502"/>
            <a:ext cx="8577262" cy="1200329"/>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This pattern repeats over and over…</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Psalm 23:2 - </a:t>
            </a:r>
            <a:r>
              <a:rPr lang="en-US" i="1" dirty="0">
                <a:ea typeface="ＭＳ Ｐゴシック" pitchFamily="-106" charset="-128"/>
                <a:cs typeface="ＭＳ Ｐゴシック" pitchFamily="-106" charset="-128"/>
              </a:rPr>
              <a:t>“He takes me to lush pastures, he leads me to refreshing water.”</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God leads with peace.</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His people rest because He leads.</a:t>
            </a:r>
          </a:p>
        </p:txBody>
      </p:sp>
    </p:spTree>
    <p:extLst>
      <p:ext uri="{BB962C8B-B14F-4D97-AF65-F5344CB8AC3E}">
        <p14:creationId xmlns:p14="http://schemas.microsoft.com/office/powerpoint/2010/main" val="1133847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273D21-E6B3-1B97-D79E-6BF6A333FB65}"/>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0471820-612D-C47F-710F-7E3B4C652063}"/>
              </a:ext>
            </a:extLst>
          </p:cNvPr>
          <p:cNvSpPr txBox="1">
            <a:spLocks/>
          </p:cNvSpPr>
          <p:nvPr/>
        </p:nvSpPr>
        <p:spPr bwMode="auto">
          <a:xfrm>
            <a:off x="204787" y="28992"/>
            <a:ext cx="8565355"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Sabbath Realities</a:t>
            </a:r>
            <a:br>
              <a:rPr lang="en-US" dirty="0"/>
            </a:br>
            <a:r>
              <a:rPr lang="en-US" sz="3400" dirty="0">
                <a:solidFill>
                  <a:schemeClr val="tx2">
                    <a:lumMod val="60000"/>
                    <a:lumOff val="40000"/>
                  </a:schemeClr>
                </a:solidFill>
              </a:rPr>
              <a:t>A picture of peace and rest at the same time</a:t>
            </a:r>
            <a:endParaRPr lang="en-US" sz="3800" dirty="0">
              <a:solidFill>
                <a:schemeClr val="tx2">
                  <a:lumMod val="60000"/>
                  <a:lumOff val="40000"/>
                </a:schemeClr>
              </a:solidFill>
            </a:endParaRPr>
          </a:p>
        </p:txBody>
      </p:sp>
      <p:sp>
        <p:nvSpPr>
          <p:cNvPr id="3" name="TextBox 2">
            <a:extLst>
              <a:ext uri="{FF2B5EF4-FFF2-40B4-BE49-F238E27FC236}">
                <a16:creationId xmlns:a16="http://schemas.microsoft.com/office/drawing/2014/main" id="{640A5AB2-7DA1-E557-7533-16E5028613BD}"/>
              </a:ext>
            </a:extLst>
          </p:cNvPr>
          <p:cNvSpPr txBox="1"/>
          <p:nvPr/>
        </p:nvSpPr>
        <p:spPr>
          <a:xfrm>
            <a:off x="192880" y="1019592"/>
            <a:ext cx="8677275" cy="2031325"/>
          </a:xfrm>
          <a:prstGeom prst="rect">
            <a:avLst/>
          </a:prstGeom>
          <a:noFill/>
        </p:spPr>
        <p:txBody>
          <a:bodyPr wrap="square" rtlCol="0">
            <a:spAutoFit/>
          </a:bodyPr>
          <a:lstStyle/>
          <a:p>
            <a:r>
              <a:rPr lang="en-US" b="1" dirty="0"/>
              <a:t>Rest</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Israel stopped from work.</a:t>
            </a:r>
          </a:p>
          <a:p>
            <a:endParaRPr lang="en-US" dirty="0"/>
          </a:p>
          <a:p>
            <a:r>
              <a:rPr lang="en-US" b="1" dirty="0"/>
              <a:t>Peace</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Israel trusted God to provide even when they weren’t working.</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So, Sabbath wasn’t just “take a day off.”</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It was a weekly reminder that God is enough.</a:t>
            </a:r>
          </a:p>
        </p:txBody>
      </p:sp>
      <p:sp>
        <p:nvSpPr>
          <p:cNvPr id="2" name="TextBox 1">
            <a:extLst>
              <a:ext uri="{FF2B5EF4-FFF2-40B4-BE49-F238E27FC236}">
                <a16:creationId xmlns:a16="http://schemas.microsoft.com/office/drawing/2014/main" id="{34FB803F-6014-0765-996C-180BA417620E}"/>
              </a:ext>
            </a:extLst>
          </p:cNvPr>
          <p:cNvSpPr txBox="1"/>
          <p:nvPr/>
        </p:nvSpPr>
        <p:spPr>
          <a:xfrm>
            <a:off x="192879" y="3325085"/>
            <a:ext cx="8677275" cy="2308324"/>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Hebrews 4:9–10 – </a:t>
            </a:r>
            <a:r>
              <a:rPr lang="en-US" i="1" dirty="0">
                <a:ea typeface="ＭＳ Ｐゴシック" pitchFamily="-106" charset="-128"/>
                <a:cs typeface="ＭＳ Ｐゴシック" pitchFamily="-106" charset="-128"/>
              </a:rPr>
              <a:t>“Consequently, a Sabbath rest remains for the people of God.</a:t>
            </a:r>
          </a:p>
          <a:p>
            <a:r>
              <a:rPr lang="en-US" i="1" dirty="0">
                <a:ea typeface="ＭＳ Ｐゴシック" pitchFamily="-106" charset="-128"/>
                <a:cs typeface="ＭＳ Ｐゴシック" pitchFamily="-106" charset="-128"/>
              </a:rPr>
              <a:t>For the one who enters God’s rest has also rested from his works.”</a:t>
            </a:r>
          </a:p>
          <a:p>
            <a:endParaRPr lang="en-US" i="1" dirty="0">
              <a:ea typeface="ＭＳ Ｐゴシック" pitchFamily="-106" charset="-128"/>
              <a:cs typeface="ＭＳ Ｐゴシック" pitchFamily="-106" charset="-128"/>
            </a:endParaRPr>
          </a:p>
          <a:p>
            <a:r>
              <a:rPr lang="en-US" dirty="0">
                <a:ea typeface="ＭＳ Ｐゴシック" pitchFamily="-106" charset="-128"/>
                <a:cs typeface="ＭＳ Ｐゴシック" pitchFamily="-106" charset="-128"/>
              </a:rPr>
              <a:t>Early Christians taught that Christ is the true Sabbath.</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He is our peace (</a:t>
            </a:r>
            <a:r>
              <a:rPr lang="en-US" b="1" dirty="0">
                <a:ea typeface="ＭＳ Ｐゴシック" pitchFamily="-106" charset="-128"/>
                <a:cs typeface="ＭＳ Ｐゴシック" pitchFamily="-106" charset="-128"/>
              </a:rPr>
              <a:t>Ephesians 2:14</a:t>
            </a:r>
            <a:r>
              <a:rPr lang="en-US" dirty="0">
                <a:ea typeface="ＭＳ Ｐゴシック" pitchFamily="-106" charset="-128"/>
                <a:cs typeface="ＭＳ Ｐゴシック" pitchFamily="-106" charset="-128"/>
              </a:rPr>
              <a:t>).</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And He is our rest (</a:t>
            </a:r>
            <a:r>
              <a:rPr lang="en-US" b="1" dirty="0">
                <a:ea typeface="ＭＳ Ｐゴシック" pitchFamily="-106" charset="-128"/>
                <a:cs typeface="ＭＳ Ｐゴシック" pitchFamily="-106" charset="-128"/>
              </a:rPr>
              <a:t>Matthew 11:28</a:t>
            </a:r>
            <a:r>
              <a:rPr lang="en-US" dirty="0">
                <a:ea typeface="ＭＳ Ｐゴシック" pitchFamily="-106" charset="-128"/>
                <a:cs typeface="ＭＳ Ｐゴシック" pitchFamily="-106" charset="-128"/>
              </a:rPr>
              <a:t>).</a:t>
            </a:r>
          </a:p>
          <a:p>
            <a:pPr lvl="1"/>
            <a:endParaRPr lang="en-US" dirty="0">
              <a:ea typeface="ＭＳ Ｐゴシック" pitchFamily="-106" charset="-128"/>
              <a:cs typeface="ＭＳ Ｐゴシック" pitchFamily="-106" charset="-128"/>
            </a:endParaRPr>
          </a:p>
          <a:p>
            <a:r>
              <a:rPr lang="en-US" b="1" dirty="0">
                <a:ea typeface="ＭＳ Ｐゴシック" pitchFamily="-106" charset="-128"/>
                <a:cs typeface="ＭＳ Ｐゴシック" pitchFamily="-106" charset="-128"/>
              </a:rPr>
              <a:t>So, Christ fulfills both promises.</a:t>
            </a:r>
          </a:p>
        </p:txBody>
      </p:sp>
    </p:spTree>
    <p:extLst>
      <p:ext uri="{BB962C8B-B14F-4D97-AF65-F5344CB8AC3E}">
        <p14:creationId xmlns:p14="http://schemas.microsoft.com/office/powerpoint/2010/main" val="4265741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BFC3E4-5D1E-D51A-A97D-125CB1019258}"/>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2814AAB-6C8C-8F3C-C7C9-9151B56B2DE5}"/>
              </a:ext>
            </a:extLst>
          </p:cNvPr>
          <p:cNvSpPr txBox="1">
            <a:spLocks/>
          </p:cNvSpPr>
          <p:nvPr/>
        </p:nvSpPr>
        <p:spPr bwMode="auto">
          <a:xfrm>
            <a:off x="192880" y="42847"/>
            <a:ext cx="8620990" cy="10690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62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5900" dirty="0"/>
              <a:t>The Protecting Power of Peace</a:t>
            </a:r>
            <a:br>
              <a:rPr lang="en-US" dirty="0"/>
            </a:br>
            <a:r>
              <a:rPr lang="en-US" sz="4400" dirty="0">
                <a:solidFill>
                  <a:schemeClr val="tx2">
                    <a:lumMod val="60000"/>
                    <a:lumOff val="40000"/>
                  </a:schemeClr>
                </a:solidFill>
              </a:rPr>
              <a:t>Peace guards the Heart; Rest settles the Soul</a:t>
            </a:r>
          </a:p>
        </p:txBody>
      </p:sp>
      <p:sp>
        <p:nvSpPr>
          <p:cNvPr id="3" name="TextBox 2">
            <a:extLst>
              <a:ext uri="{FF2B5EF4-FFF2-40B4-BE49-F238E27FC236}">
                <a16:creationId xmlns:a16="http://schemas.microsoft.com/office/drawing/2014/main" id="{71B9F211-453C-E253-42EA-3E6221274772}"/>
              </a:ext>
            </a:extLst>
          </p:cNvPr>
          <p:cNvSpPr txBox="1"/>
          <p:nvPr/>
        </p:nvSpPr>
        <p:spPr>
          <a:xfrm>
            <a:off x="208899" y="1287841"/>
            <a:ext cx="8677275" cy="1200329"/>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Philippians 4:7 - </a:t>
            </a:r>
            <a:r>
              <a:rPr lang="en-US" i="1" dirty="0">
                <a:ea typeface="ＭＳ Ｐゴシック" pitchFamily="-106" charset="-128"/>
                <a:cs typeface="ＭＳ Ｐゴシック" pitchFamily="-106" charset="-128"/>
              </a:rPr>
              <a:t>“And the peace of God that surpasses all understanding will guard your hearts and minds in Christ Jesus.”</a:t>
            </a:r>
            <a:endParaRPr lang="en-US"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Peace guards.</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Rest settles.</a:t>
            </a:r>
          </a:p>
        </p:txBody>
      </p:sp>
      <p:sp>
        <p:nvSpPr>
          <p:cNvPr id="2" name="TextBox 1">
            <a:extLst>
              <a:ext uri="{FF2B5EF4-FFF2-40B4-BE49-F238E27FC236}">
                <a16:creationId xmlns:a16="http://schemas.microsoft.com/office/drawing/2014/main" id="{98D5A57C-E71C-D558-FF67-2809F0F4B808}"/>
              </a:ext>
            </a:extLst>
          </p:cNvPr>
          <p:cNvSpPr txBox="1"/>
          <p:nvPr/>
        </p:nvSpPr>
        <p:spPr>
          <a:xfrm>
            <a:off x="179025" y="3068420"/>
            <a:ext cx="8677275" cy="923330"/>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Hebrews 4:16 - </a:t>
            </a:r>
            <a:r>
              <a:rPr lang="en-US" i="1" dirty="0">
                <a:ea typeface="ＭＳ Ｐゴシック" pitchFamily="-106" charset="-128"/>
                <a:cs typeface="ＭＳ Ｐゴシック" pitchFamily="-106" charset="-128"/>
              </a:rPr>
              <a:t>“Therefore, let us confidently approach the throne of grace.”</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Peace removes fear.</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Rest removes striving.</a:t>
            </a:r>
          </a:p>
        </p:txBody>
      </p:sp>
      <p:sp>
        <p:nvSpPr>
          <p:cNvPr id="4" name="TextBox 3">
            <a:extLst>
              <a:ext uri="{FF2B5EF4-FFF2-40B4-BE49-F238E27FC236}">
                <a16:creationId xmlns:a16="http://schemas.microsoft.com/office/drawing/2014/main" id="{829D8AC9-FF0B-F1BA-1DD6-5B3ACFD444A2}"/>
              </a:ext>
            </a:extLst>
          </p:cNvPr>
          <p:cNvSpPr txBox="1"/>
          <p:nvPr/>
        </p:nvSpPr>
        <p:spPr>
          <a:xfrm>
            <a:off x="208899" y="4572000"/>
            <a:ext cx="8577262" cy="646331"/>
          </a:xfrm>
          <a:prstGeom prst="rect">
            <a:avLst/>
          </a:prstGeom>
          <a:noFill/>
        </p:spPr>
        <p:txBody>
          <a:bodyPr wrap="square" rtlCol="0">
            <a:spAutoFit/>
          </a:bodyPr>
          <a:lstStyle/>
          <a:p>
            <a:pPr marL="285750" indent="-285750">
              <a:buFont typeface="Arial" panose="020B0604020202020204" pitchFamily="34" charset="0"/>
              <a:buChar char="•"/>
            </a:pPr>
            <a:r>
              <a:rPr lang="en-US" b="1" dirty="0">
                <a:ea typeface="ＭＳ Ｐゴシック" pitchFamily="-106" charset="-128"/>
                <a:cs typeface="ＭＳ Ｐゴシック" pitchFamily="-106" charset="-128"/>
              </a:rPr>
              <a:t>When God’s peace stands watch over your heart, your soul can rest.</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Hebrews 4 connects rest with confidence, not anxiety.</a:t>
            </a:r>
          </a:p>
        </p:txBody>
      </p:sp>
    </p:spTree>
    <p:extLst>
      <p:ext uri="{BB962C8B-B14F-4D97-AF65-F5344CB8AC3E}">
        <p14:creationId xmlns:p14="http://schemas.microsoft.com/office/powerpoint/2010/main" val="1412512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1000"/>
                                        <p:tgtEl>
                                          <p:spTgt spid="2"/>
                                        </p:tgtEl>
                                      </p:cBhvr>
                                    </p:animEffect>
                                    <p:anim calcmode="lin" valueType="num">
                                      <p:cBhvr>
                                        <p:cTn id="15" dur="1000" fill="hold"/>
                                        <p:tgtEl>
                                          <p:spTgt spid="2"/>
                                        </p:tgtEl>
                                        <p:attrNameLst>
                                          <p:attrName>ppt_x</p:attrName>
                                        </p:attrNameLst>
                                      </p:cBhvr>
                                      <p:tavLst>
                                        <p:tav tm="0">
                                          <p:val>
                                            <p:strVal val="#ppt_x"/>
                                          </p:val>
                                        </p:tav>
                                        <p:tav tm="100000">
                                          <p:val>
                                            <p:strVal val="#ppt_x"/>
                                          </p:val>
                                        </p:tav>
                                      </p:tavLst>
                                    </p:anim>
                                    <p:anim calcmode="lin" valueType="num">
                                      <p:cBhvr>
                                        <p:cTn id="1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p:bldP spid="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E660A-CE8C-5AFE-1F6C-D331CE63266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765E1D7B-B899-FAE7-1FE6-574565E40C9D}"/>
              </a:ext>
            </a:extLst>
          </p:cNvPr>
          <p:cNvSpPr txBox="1">
            <a:spLocks/>
          </p:cNvSpPr>
          <p:nvPr/>
        </p:nvSpPr>
        <p:spPr bwMode="auto">
          <a:xfrm>
            <a:off x="204786" y="0"/>
            <a:ext cx="8636793"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700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sz="4600" dirty="0"/>
              <a:t>The Healing Power of Peace</a:t>
            </a:r>
            <a:br>
              <a:rPr lang="en-US" dirty="0"/>
            </a:br>
            <a:r>
              <a:rPr lang="en-US" sz="3400" dirty="0">
                <a:solidFill>
                  <a:schemeClr val="tx2">
                    <a:lumMod val="60000"/>
                    <a:lumOff val="40000"/>
                  </a:schemeClr>
                </a:solidFill>
              </a:rPr>
              <a:t>Peace heals relationships; Rest heals the inner person</a:t>
            </a:r>
            <a:endParaRPr lang="en-US" sz="3800" dirty="0">
              <a:solidFill>
                <a:schemeClr val="tx2">
                  <a:lumMod val="60000"/>
                  <a:lumOff val="40000"/>
                </a:schemeClr>
              </a:solidFill>
            </a:endParaRPr>
          </a:p>
        </p:txBody>
      </p:sp>
      <p:sp>
        <p:nvSpPr>
          <p:cNvPr id="3" name="TextBox 2">
            <a:extLst>
              <a:ext uri="{FF2B5EF4-FFF2-40B4-BE49-F238E27FC236}">
                <a16:creationId xmlns:a16="http://schemas.microsoft.com/office/drawing/2014/main" id="{6BCAF604-324F-B3AF-1FF1-A0038D31E4E6}"/>
              </a:ext>
            </a:extLst>
          </p:cNvPr>
          <p:cNvSpPr txBox="1"/>
          <p:nvPr/>
        </p:nvSpPr>
        <p:spPr>
          <a:xfrm>
            <a:off x="192880" y="1219200"/>
            <a:ext cx="8677275" cy="2585323"/>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Colossians 3:15 - </a:t>
            </a:r>
            <a:r>
              <a:rPr lang="en-US" i="1" dirty="0">
                <a:ea typeface="ＭＳ Ｐゴシック" pitchFamily="-106" charset="-128"/>
                <a:cs typeface="ＭＳ Ｐゴシック" pitchFamily="-106" charset="-128"/>
              </a:rPr>
              <a:t>“Let the peace of Christ be in control in your heart.”</a:t>
            </a:r>
          </a:p>
          <a:p>
            <a:endParaRPr lang="en-US" dirty="0"/>
          </a:p>
          <a:p>
            <a:pPr marL="285750" indent="-285750">
              <a:buFont typeface="Arial" panose="020B0604020202020204" pitchFamily="34" charset="0"/>
              <a:buChar char="•"/>
            </a:pPr>
            <a:r>
              <a:rPr lang="en-US" u="sng" dirty="0">
                <a:ea typeface="ＭＳ Ｐゴシック" pitchFamily="-106" charset="-128"/>
                <a:cs typeface="ＭＳ Ｐゴシック" pitchFamily="-106" charset="-128"/>
              </a:rPr>
              <a:t>Peace</a:t>
            </a:r>
            <a:r>
              <a:rPr lang="en-US" dirty="0">
                <a:ea typeface="ＭＳ Ｐゴシック" pitchFamily="-106" charset="-128"/>
                <a:cs typeface="ＭＳ Ｐゴシック" pitchFamily="-106" charset="-128"/>
              </a:rPr>
              <a:t> shapes how we treat others.</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It ends hostility (</a:t>
            </a:r>
            <a:r>
              <a:rPr lang="en-US" b="1" dirty="0">
                <a:ea typeface="ＭＳ Ｐゴシック" pitchFamily="-106" charset="-128"/>
                <a:cs typeface="ＭＳ Ｐゴシック" pitchFamily="-106" charset="-128"/>
              </a:rPr>
              <a:t>Ephesians 2:13–22</a:t>
            </a:r>
            <a:r>
              <a:rPr lang="en-US" dirty="0">
                <a:ea typeface="ＭＳ Ｐゴシック" pitchFamily="-106" charset="-128"/>
                <a:cs typeface="ＭＳ Ｐゴシック" pitchFamily="-106" charset="-128"/>
              </a:rPr>
              <a:t>).</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It creates unity in the church (</a:t>
            </a:r>
            <a:r>
              <a:rPr lang="en-US" b="1" dirty="0">
                <a:ea typeface="ＭＳ Ｐゴシック" pitchFamily="-106" charset="-128"/>
                <a:cs typeface="ＭＳ Ｐゴシック" pitchFamily="-106" charset="-128"/>
              </a:rPr>
              <a:t>Ephesians 4:1-7</a:t>
            </a:r>
            <a:r>
              <a:rPr lang="en-US" dirty="0">
                <a:ea typeface="ＭＳ Ｐゴシック" pitchFamily="-106" charset="-128"/>
                <a:cs typeface="ＭＳ Ｐゴシック" pitchFamily="-106" charset="-128"/>
              </a:rPr>
              <a:t>).</a:t>
            </a:r>
          </a:p>
          <a:p>
            <a:endParaRPr lang="en-US" dirty="0"/>
          </a:p>
          <a:p>
            <a:pPr marL="285750" indent="-285750">
              <a:buFont typeface="Arial" panose="020B0604020202020204" pitchFamily="34" charset="0"/>
              <a:buChar char="•"/>
            </a:pPr>
            <a:r>
              <a:rPr lang="en-US" u="sng" dirty="0">
                <a:ea typeface="ＭＳ Ｐゴシック" pitchFamily="-106" charset="-128"/>
                <a:cs typeface="ＭＳ Ｐゴシック" pitchFamily="-106" charset="-128"/>
              </a:rPr>
              <a:t>Rest</a:t>
            </a:r>
            <a:r>
              <a:rPr lang="en-US" dirty="0">
                <a:ea typeface="ＭＳ Ｐゴシック" pitchFamily="-106" charset="-128"/>
                <a:cs typeface="ＭＳ Ｐゴシック" pitchFamily="-106" charset="-128"/>
              </a:rPr>
              <a:t> shapes how we stand before God.</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It teaches us to trust.</a:t>
            </a:r>
          </a:p>
          <a:p>
            <a:pPr marL="742950" lvl="1" indent="-285750">
              <a:buFont typeface="Arial" panose="020B0604020202020204" pitchFamily="34" charset="0"/>
              <a:buChar char="•"/>
            </a:pPr>
            <a:r>
              <a:rPr lang="en-US" dirty="0">
                <a:ea typeface="ＭＳ Ｐゴシック" pitchFamily="-106" charset="-128"/>
                <a:cs typeface="ＭＳ Ｐゴシック" pitchFamily="-106" charset="-128"/>
              </a:rPr>
              <a:t>It frees us from works-based righteousness.</a:t>
            </a:r>
          </a:p>
        </p:txBody>
      </p:sp>
      <p:sp>
        <p:nvSpPr>
          <p:cNvPr id="6" name="TextBox 5">
            <a:extLst>
              <a:ext uri="{FF2B5EF4-FFF2-40B4-BE49-F238E27FC236}">
                <a16:creationId xmlns:a16="http://schemas.microsoft.com/office/drawing/2014/main" id="{BF683AB5-721E-B703-C79F-5254124DF21D}"/>
              </a:ext>
            </a:extLst>
          </p:cNvPr>
          <p:cNvSpPr txBox="1"/>
          <p:nvPr/>
        </p:nvSpPr>
        <p:spPr>
          <a:xfrm>
            <a:off x="211713" y="4053905"/>
            <a:ext cx="8577262" cy="923330"/>
          </a:xfrm>
          <a:prstGeom prst="rect">
            <a:avLst/>
          </a:prstGeom>
          <a:noFill/>
        </p:spPr>
        <p:txBody>
          <a:bodyPr wrap="square" rtlCol="0">
            <a:spAutoFit/>
          </a:bodyPr>
          <a:lstStyle/>
          <a:p>
            <a:pPr marL="285750" indent="-285750">
              <a:buFont typeface="Arial" panose="020B0604020202020204" pitchFamily="34" charset="0"/>
              <a:buChar char="•"/>
            </a:pPr>
            <a:r>
              <a:rPr lang="en-US" b="1" dirty="0">
                <a:ea typeface="ＭＳ Ｐゴシック" pitchFamily="-106" charset="-128"/>
                <a:cs typeface="ＭＳ Ｐゴシック" pitchFamily="-106" charset="-128"/>
              </a:rPr>
              <a:t>Peace moves outward.</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Rest moves inward.</a:t>
            </a:r>
          </a:p>
          <a:p>
            <a:pPr marL="285750" indent="-285750">
              <a:buFont typeface="Arial" panose="020B0604020202020204" pitchFamily="34" charset="0"/>
              <a:buChar char="•"/>
            </a:pPr>
            <a:r>
              <a:rPr lang="en-US" b="1" dirty="0">
                <a:ea typeface="ＭＳ Ｐゴシック" pitchFamily="-106" charset="-128"/>
                <a:cs typeface="ＭＳ Ｐゴシック" pitchFamily="-106" charset="-128"/>
              </a:rPr>
              <a:t>Both come from God’s presence.</a:t>
            </a:r>
          </a:p>
        </p:txBody>
      </p:sp>
    </p:spTree>
    <p:extLst>
      <p:ext uri="{BB962C8B-B14F-4D97-AF65-F5344CB8AC3E}">
        <p14:creationId xmlns:p14="http://schemas.microsoft.com/office/powerpoint/2010/main" val="2350674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BD9BBD-EBDD-5C7B-27D8-F2744DB12399}"/>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D34A28D3-FA8D-408A-C361-3671CACF6585}"/>
              </a:ext>
            </a:extLst>
          </p:cNvPr>
          <p:cNvSpPr txBox="1">
            <a:spLocks/>
          </p:cNvSpPr>
          <p:nvPr/>
        </p:nvSpPr>
        <p:spPr bwMode="auto">
          <a:xfrm>
            <a:off x="204787" y="0"/>
            <a:ext cx="83820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normAutofit fontScale="92500" lnSpcReduction="20000"/>
          </a:bodyPr>
          <a:lstStyle>
            <a:lvl1pPr algn="l" rtl="0" eaLnBrk="1" fontAlgn="base" hangingPunct="1">
              <a:spcBef>
                <a:spcPct val="0"/>
              </a:spcBef>
              <a:spcAft>
                <a:spcPct val="0"/>
              </a:spcAft>
              <a:defRPr lang="en-US" sz="4000" b="1" kern="1200">
                <a:solidFill>
                  <a:schemeClr val="tx2"/>
                </a:solidFill>
                <a:latin typeface="+mj-lt"/>
                <a:ea typeface="ＭＳ Ｐゴシック" pitchFamily="34" charset="-128"/>
                <a:cs typeface="+mj-cs"/>
              </a:defRPr>
            </a:lvl1pPr>
            <a:lvl2pPr algn="ctr" rtl="0" eaLnBrk="1" fontAlgn="base" hangingPunct="1">
              <a:spcBef>
                <a:spcPct val="0"/>
              </a:spcBef>
              <a:spcAft>
                <a:spcPct val="0"/>
              </a:spcAft>
              <a:defRPr sz="4400" b="1">
                <a:solidFill>
                  <a:schemeClr val="tx2"/>
                </a:solidFill>
                <a:latin typeface="Arial" charset="0"/>
                <a:ea typeface="ＭＳ Ｐゴシック" pitchFamily="34" charset="-128"/>
              </a:defRPr>
            </a:lvl2pPr>
            <a:lvl3pPr algn="ctr" rtl="0" eaLnBrk="1" fontAlgn="base" hangingPunct="1">
              <a:spcBef>
                <a:spcPct val="0"/>
              </a:spcBef>
              <a:spcAft>
                <a:spcPct val="0"/>
              </a:spcAft>
              <a:defRPr sz="4400" b="1">
                <a:solidFill>
                  <a:schemeClr val="tx2"/>
                </a:solidFill>
                <a:latin typeface="Arial" charset="0"/>
                <a:ea typeface="ＭＳ Ｐゴシック" pitchFamily="34" charset="-128"/>
              </a:defRPr>
            </a:lvl3pPr>
            <a:lvl4pPr algn="ctr" rtl="0" eaLnBrk="1" fontAlgn="base" hangingPunct="1">
              <a:spcBef>
                <a:spcPct val="0"/>
              </a:spcBef>
              <a:spcAft>
                <a:spcPct val="0"/>
              </a:spcAft>
              <a:defRPr sz="4400" b="1">
                <a:solidFill>
                  <a:schemeClr val="tx2"/>
                </a:solidFill>
                <a:latin typeface="Arial" charset="0"/>
                <a:ea typeface="ＭＳ Ｐゴシック" pitchFamily="34" charset="-128"/>
              </a:defRPr>
            </a:lvl4pPr>
            <a:lvl5pPr algn="ctr" rtl="0" eaLnBrk="1" fontAlgn="base" hangingPunct="1">
              <a:spcBef>
                <a:spcPct val="0"/>
              </a:spcBef>
              <a:spcAft>
                <a:spcPct val="0"/>
              </a:spcAft>
              <a:defRPr sz="4400" b="1">
                <a:solidFill>
                  <a:schemeClr val="tx2"/>
                </a:solidFill>
                <a:latin typeface="Arial" charset="0"/>
                <a:ea typeface="ＭＳ Ｐゴシック" pitchFamily="34" charset="-128"/>
              </a:defRPr>
            </a:lvl5pPr>
            <a:lvl6pPr marL="457200" algn="ctr" rtl="0" eaLnBrk="1" fontAlgn="base" hangingPunct="1">
              <a:spcBef>
                <a:spcPct val="0"/>
              </a:spcBef>
              <a:spcAft>
                <a:spcPct val="0"/>
              </a:spcAft>
              <a:defRPr sz="4400" b="1">
                <a:solidFill>
                  <a:schemeClr val="tx1"/>
                </a:solidFill>
                <a:latin typeface="Arial" charset="0"/>
              </a:defRPr>
            </a:lvl6pPr>
            <a:lvl7pPr marL="914400" algn="ctr" rtl="0" eaLnBrk="1" fontAlgn="base" hangingPunct="1">
              <a:spcBef>
                <a:spcPct val="0"/>
              </a:spcBef>
              <a:spcAft>
                <a:spcPct val="0"/>
              </a:spcAft>
              <a:defRPr sz="4400" b="1">
                <a:solidFill>
                  <a:schemeClr val="tx1"/>
                </a:solidFill>
                <a:latin typeface="Arial" charset="0"/>
              </a:defRPr>
            </a:lvl7pPr>
            <a:lvl8pPr marL="1371600" algn="ctr" rtl="0" eaLnBrk="1" fontAlgn="base" hangingPunct="1">
              <a:spcBef>
                <a:spcPct val="0"/>
              </a:spcBef>
              <a:spcAft>
                <a:spcPct val="0"/>
              </a:spcAft>
              <a:defRPr sz="4400" b="1">
                <a:solidFill>
                  <a:schemeClr val="tx1"/>
                </a:solidFill>
                <a:latin typeface="Arial" charset="0"/>
              </a:defRPr>
            </a:lvl8pPr>
            <a:lvl9pPr marL="1828800" algn="ctr" rtl="0" eaLnBrk="1" fontAlgn="base" hangingPunct="1">
              <a:spcBef>
                <a:spcPct val="0"/>
              </a:spcBef>
              <a:spcAft>
                <a:spcPct val="0"/>
              </a:spcAft>
              <a:defRPr sz="4400" b="1">
                <a:solidFill>
                  <a:schemeClr val="tx1"/>
                </a:solidFill>
                <a:latin typeface="Arial" charset="0"/>
              </a:defRPr>
            </a:lvl9pPr>
          </a:lstStyle>
          <a:p>
            <a:r>
              <a:rPr lang="en-US" dirty="0"/>
              <a:t>Final Peace; Final Rest</a:t>
            </a:r>
            <a:br>
              <a:rPr lang="en-US" dirty="0"/>
            </a:br>
            <a:r>
              <a:rPr lang="en-US" sz="3400" dirty="0">
                <a:solidFill>
                  <a:schemeClr val="tx2">
                    <a:lumMod val="60000"/>
                    <a:lumOff val="40000"/>
                  </a:schemeClr>
                </a:solidFill>
              </a:rPr>
              <a:t>Both come together at the end… </a:t>
            </a:r>
            <a:endParaRPr lang="en-US" sz="3800" dirty="0">
              <a:solidFill>
                <a:schemeClr val="tx2">
                  <a:lumMod val="60000"/>
                  <a:lumOff val="40000"/>
                </a:schemeClr>
              </a:solidFill>
            </a:endParaRPr>
          </a:p>
        </p:txBody>
      </p:sp>
      <p:sp>
        <p:nvSpPr>
          <p:cNvPr id="3" name="TextBox 2">
            <a:extLst>
              <a:ext uri="{FF2B5EF4-FFF2-40B4-BE49-F238E27FC236}">
                <a16:creationId xmlns:a16="http://schemas.microsoft.com/office/drawing/2014/main" id="{5F5B388E-013F-9833-E087-BCD9AF33168D}"/>
              </a:ext>
            </a:extLst>
          </p:cNvPr>
          <p:cNvSpPr txBox="1"/>
          <p:nvPr/>
        </p:nvSpPr>
        <p:spPr>
          <a:xfrm>
            <a:off x="242886" y="1028884"/>
            <a:ext cx="8677275" cy="2308324"/>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Revelation 14:13 - </a:t>
            </a:r>
            <a:r>
              <a:rPr lang="en-US" i="1" dirty="0">
                <a:ea typeface="ＭＳ Ｐゴシック" pitchFamily="-106" charset="-128"/>
                <a:cs typeface="ＭＳ Ｐゴシック" pitchFamily="-106" charset="-128"/>
              </a:rPr>
              <a:t>“They can </a:t>
            </a:r>
            <a:r>
              <a:rPr lang="en-US" b="1" i="1" dirty="0">
                <a:ea typeface="ＭＳ Ｐゴシック" pitchFamily="-106" charset="-128"/>
                <a:cs typeface="ＭＳ Ｐゴシック" pitchFamily="-106" charset="-128"/>
              </a:rPr>
              <a:t>rest</a:t>
            </a:r>
            <a:r>
              <a:rPr lang="en-US" i="1" dirty="0">
                <a:ea typeface="ＭＳ Ｐゴシック" pitchFamily="-106" charset="-128"/>
                <a:cs typeface="ＭＳ Ｐゴシック" pitchFamily="-106" charset="-128"/>
              </a:rPr>
              <a:t> from their hard work.”</a:t>
            </a:r>
          </a:p>
          <a:p>
            <a:endParaRPr lang="en-US" b="1" dirty="0">
              <a:ea typeface="ＭＳ Ｐゴシック" pitchFamily="-106" charset="-128"/>
              <a:cs typeface="ＭＳ Ｐゴシック" pitchFamily="-106" charset="-128"/>
            </a:endParaRPr>
          </a:p>
          <a:p>
            <a:r>
              <a:rPr lang="en-US" b="1" dirty="0">
                <a:ea typeface="ＭＳ Ｐゴシック" pitchFamily="-106" charset="-128"/>
                <a:cs typeface="ＭＳ Ｐゴシック" pitchFamily="-106" charset="-128"/>
              </a:rPr>
              <a:t>Revelation 21:4 - </a:t>
            </a:r>
            <a:r>
              <a:rPr lang="en-US" i="1" dirty="0">
                <a:ea typeface="ＭＳ Ｐゴシック" pitchFamily="-106" charset="-128"/>
                <a:cs typeface="ＭＳ Ｐゴシック" pitchFamily="-106" charset="-128"/>
              </a:rPr>
              <a:t>“He will wipe away every tear… there will be no more death or mourning or crying or pain.”</a:t>
            </a:r>
          </a:p>
          <a:p>
            <a:endParaRPr lang="en-US" i="1" dirty="0">
              <a:ea typeface="ＭＳ Ｐゴシック" pitchFamily="-106" charset="-128"/>
              <a:cs typeface="ＭＳ Ｐゴシック" pitchFamily="-106" charset="-128"/>
            </a:endParaRP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Rest from labor.</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Peace from suffering.</a:t>
            </a:r>
          </a:p>
          <a:p>
            <a:pPr marL="285750" indent="-285750">
              <a:buFont typeface="Arial" panose="020B0604020202020204" pitchFamily="34" charset="0"/>
              <a:buChar char="•"/>
            </a:pPr>
            <a:r>
              <a:rPr lang="en-US" dirty="0">
                <a:ea typeface="ＭＳ Ｐゴシック" pitchFamily="-106" charset="-128"/>
                <a:cs typeface="ＭＳ Ｐゴシック" pitchFamily="-106" charset="-128"/>
              </a:rPr>
              <a:t>Both are permanent.</a:t>
            </a:r>
          </a:p>
        </p:txBody>
      </p:sp>
      <p:sp>
        <p:nvSpPr>
          <p:cNvPr id="4" name="TextBox 3">
            <a:extLst>
              <a:ext uri="{FF2B5EF4-FFF2-40B4-BE49-F238E27FC236}">
                <a16:creationId xmlns:a16="http://schemas.microsoft.com/office/drawing/2014/main" id="{46A0908E-DA67-5786-16A5-16AE6B0F8CB3}"/>
              </a:ext>
            </a:extLst>
          </p:cNvPr>
          <p:cNvSpPr txBox="1"/>
          <p:nvPr/>
        </p:nvSpPr>
        <p:spPr>
          <a:xfrm>
            <a:off x="242886" y="3520792"/>
            <a:ext cx="8577262" cy="2862322"/>
          </a:xfrm>
          <a:prstGeom prst="rect">
            <a:avLst/>
          </a:prstGeom>
          <a:noFill/>
        </p:spPr>
        <p:txBody>
          <a:bodyPr wrap="square" rtlCol="0">
            <a:spAutoFit/>
          </a:bodyPr>
          <a:lstStyle/>
          <a:p>
            <a:r>
              <a:rPr lang="en-US" b="1" dirty="0">
                <a:ea typeface="ＭＳ Ｐゴシック" pitchFamily="-106" charset="-128"/>
                <a:cs typeface="ＭＳ Ｐゴシック" pitchFamily="-106" charset="-128"/>
              </a:rPr>
              <a:t>Summary</a:t>
            </a:r>
            <a:r>
              <a:rPr lang="en-US" dirty="0">
                <a:ea typeface="ＭＳ Ｐゴシック" pitchFamily="-106" charset="-128"/>
                <a:cs typeface="ＭＳ Ｐゴシック" pitchFamily="-106" charset="-128"/>
              </a:rPr>
              <a:t> </a:t>
            </a:r>
          </a:p>
          <a:p>
            <a:pPr marL="285750" indent="-285750" fontAlgn="ctr">
              <a:buFont typeface="Arial" panose="020B0604020202020204" pitchFamily="34" charset="0"/>
              <a:buChar char="•"/>
            </a:pPr>
            <a:r>
              <a:rPr lang="en-US" b="1" dirty="0">
                <a:ea typeface="ＭＳ Ｐゴシック" pitchFamily="-106" charset="-128"/>
                <a:cs typeface="ＭＳ Ｐゴシック" pitchFamily="-106" charset="-128"/>
              </a:rPr>
              <a:t>Peace</a:t>
            </a:r>
            <a:r>
              <a:rPr lang="en-US" dirty="0">
                <a:ea typeface="ＭＳ Ｐゴシック" pitchFamily="-106" charset="-128"/>
                <a:cs typeface="ＭＳ Ｐゴシック" pitchFamily="-106" charset="-128"/>
              </a:rPr>
              <a:t> is reconciliation with God.</a:t>
            </a:r>
          </a:p>
          <a:p>
            <a:pPr marL="285750" indent="-285750" fontAlgn="ctr">
              <a:buFont typeface="Arial" panose="020B0604020202020204" pitchFamily="34" charset="0"/>
              <a:buChar char="•"/>
            </a:pPr>
            <a:r>
              <a:rPr lang="en-US" b="1" dirty="0">
                <a:ea typeface="ＭＳ Ｐゴシック" pitchFamily="-106" charset="-128"/>
                <a:cs typeface="ＭＳ Ｐゴシック" pitchFamily="-106" charset="-128"/>
              </a:rPr>
              <a:t>Rest</a:t>
            </a:r>
            <a:r>
              <a:rPr lang="en-US" dirty="0">
                <a:ea typeface="ＭＳ Ｐゴシック" pitchFamily="-106" charset="-128"/>
                <a:cs typeface="ＭＳ Ｐゴシック" pitchFamily="-106" charset="-128"/>
              </a:rPr>
              <a:t> is the experience of that reconciliation.</a:t>
            </a:r>
          </a:p>
          <a:p>
            <a:pPr marL="285750" indent="-285750" fontAlgn="ctr">
              <a:buFont typeface="Arial" panose="020B0604020202020204" pitchFamily="34" charset="0"/>
              <a:buChar char="•"/>
            </a:pPr>
            <a:r>
              <a:rPr lang="en-US" b="1" dirty="0">
                <a:ea typeface="ＭＳ Ｐゴシック" pitchFamily="-106" charset="-128"/>
                <a:cs typeface="ＭＳ Ｐゴシック" pitchFamily="-106" charset="-128"/>
              </a:rPr>
              <a:t>Peace</a:t>
            </a:r>
            <a:r>
              <a:rPr lang="en-US" dirty="0">
                <a:ea typeface="ＭＳ Ｐゴシック" pitchFamily="-106" charset="-128"/>
                <a:cs typeface="ＭＳ Ｐゴシック" pitchFamily="-106" charset="-128"/>
              </a:rPr>
              <a:t> ends the war within us.</a:t>
            </a:r>
          </a:p>
          <a:p>
            <a:pPr marL="285750" indent="-285750" fontAlgn="ctr">
              <a:buFont typeface="Arial" panose="020B0604020202020204" pitchFamily="34" charset="0"/>
              <a:buChar char="•"/>
            </a:pPr>
            <a:r>
              <a:rPr lang="en-US" b="1" dirty="0">
                <a:ea typeface="ＭＳ Ｐゴシック" pitchFamily="-106" charset="-128"/>
                <a:cs typeface="ＭＳ Ｐゴシック" pitchFamily="-106" charset="-128"/>
              </a:rPr>
              <a:t>Rest</a:t>
            </a:r>
            <a:r>
              <a:rPr lang="en-US" dirty="0">
                <a:ea typeface="ＭＳ Ｐゴシック" pitchFamily="-106" charset="-128"/>
                <a:cs typeface="ＭＳ Ｐゴシック" pitchFamily="-106" charset="-128"/>
              </a:rPr>
              <a:t> ends the striving within us.</a:t>
            </a:r>
          </a:p>
          <a:p>
            <a:pPr marL="285750" indent="-285750" fontAlgn="ctr">
              <a:buFont typeface="Arial" panose="020B0604020202020204" pitchFamily="34" charset="0"/>
              <a:buChar char="•"/>
            </a:pPr>
            <a:r>
              <a:rPr lang="en-US" b="1" dirty="0">
                <a:ea typeface="ＭＳ Ｐゴシック" pitchFamily="-106" charset="-128"/>
                <a:cs typeface="ＭＳ Ｐゴシック" pitchFamily="-106" charset="-128"/>
              </a:rPr>
              <a:t>Peace</a:t>
            </a:r>
            <a:r>
              <a:rPr lang="en-US" dirty="0">
                <a:ea typeface="ＭＳ Ｐゴシック" pitchFamily="-106" charset="-128"/>
                <a:cs typeface="ＭＳ Ｐゴシック" pitchFamily="-106" charset="-128"/>
              </a:rPr>
              <a:t> is the foundation.</a:t>
            </a:r>
          </a:p>
          <a:p>
            <a:pPr marL="285750" indent="-285750" fontAlgn="ctr">
              <a:buFont typeface="Arial" panose="020B0604020202020204" pitchFamily="34" charset="0"/>
              <a:buChar char="•"/>
            </a:pPr>
            <a:r>
              <a:rPr lang="en-US" b="1" dirty="0">
                <a:ea typeface="ＭＳ Ｐゴシック" pitchFamily="-106" charset="-128"/>
                <a:cs typeface="ＭＳ Ｐゴシック" pitchFamily="-106" charset="-128"/>
              </a:rPr>
              <a:t>Rest</a:t>
            </a:r>
            <a:r>
              <a:rPr lang="en-US" dirty="0">
                <a:ea typeface="ＭＳ Ｐゴシック" pitchFamily="-106" charset="-128"/>
                <a:cs typeface="ＭＳ Ｐゴシック" pitchFamily="-106" charset="-128"/>
              </a:rPr>
              <a:t> is the result.</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Both are fulfilled in Christ.</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Both begin now.</a:t>
            </a:r>
          </a:p>
          <a:p>
            <a:pPr marL="285750" indent="-285750" fontAlgn="ctr">
              <a:buFont typeface="Arial" panose="020B0604020202020204" pitchFamily="34" charset="0"/>
              <a:buChar char="•"/>
            </a:pPr>
            <a:r>
              <a:rPr lang="en-US" dirty="0">
                <a:ea typeface="ＭＳ Ｐゴシック" pitchFamily="-106" charset="-128"/>
                <a:cs typeface="ＭＳ Ｐゴシック" pitchFamily="-106" charset="-128"/>
              </a:rPr>
              <a:t>Both are complete in eternity.</a:t>
            </a:r>
          </a:p>
        </p:txBody>
      </p:sp>
    </p:spTree>
    <p:extLst>
      <p:ext uri="{BB962C8B-B14F-4D97-AF65-F5344CB8AC3E}">
        <p14:creationId xmlns:p14="http://schemas.microsoft.com/office/powerpoint/2010/main" val="39923112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theme/theme1.xml><?xml version="1.0" encoding="utf-8"?>
<a:theme xmlns:a="http://schemas.openxmlformats.org/drawingml/2006/main" name="PPT_Template_2010SummerSchoo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PCRC_Powerpoint_Template_with I-Mark">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emplate>PPT_Template_2010SummerSchool</Template>
  <TotalTime>39265</TotalTime>
  <Words>2141</Words>
  <Application>Microsoft Macintosh PowerPoint</Application>
  <PresentationFormat>On-screen Show (4:3)</PresentationFormat>
  <Paragraphs>168</Paragraphs>
  <Slides>8</Slides>
  <Notes>8</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8</vt:i4>
      </vt:variant>
    </vt:vector>
  </HeadingPairs>
  <TitlesOfParts>
    <vt:vector size="14" baseType="lpstr">
      <vt:lpstr>ＭＳ Ｐゴシック</vt:lpstr>
      <vt:lpstr>Arial</vt:lpstr>
      <vt:lpstr>Arial Narrow</vt:lpstr>
      <vt:lpstr>Calibri</vt:lpstr>
      <vt:lpstr>PPT_Template_2010SummerSchool</vt:lpstr>
      <vt:lpstr>1_UPCRC_Powerpoint_Template_with I-Mark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Pennington</dc:creator>
  <cp:lastModifiedBy>Phil Pennington</cp:lastModifiedBy>
  <cp:revision>1390</cp:revision>
  <cp:lastPrinted>2025-11-25T12:03:34Z</cp:lastPrinted>
  <dcterms:created xsi:type="dcterms:W3CDTF">2010-06-16T02:58:04Z</dcterms:created>
  <dcterms:modified xsi:type="dcterms:W3CDTF">2025-12-03T19:59:52Z</dcterms:modified>
</cp:coreProperties>
</file>