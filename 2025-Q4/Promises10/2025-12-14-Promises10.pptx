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8"/>
  </p:notesMasterIdLst>
  <p:sldIdLst>
    <p:sldId id="395" r:id="rId3"/>
    <p:sldId id="581" r:id="rId4"/>
    <p:sldId id="582" r:id="rId5"/>
    <p:sldId id="583" r:id="rId6"/>
    <p:sldId id="584" r:id="rId7"/>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9" autoAdjust="0"/>
    <p:restoredTop sz="63514" autoAdjust="0"/>
  </p:normalViewPr>
  <p:slideViewPr>
    <p:cSldViewPr>
      <p:cViewPr varScale="1">
        <p:scale>
          <a:sx n="92" d="100"/>
          <a:sy n="92" d="100"/>
        </p:scale>
        <p:origin x="1896"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12/8/25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Promise of God’s Faithfulness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Key Verses</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1 Thessalonians 5:23-24</a:t>
            </a:r>
            <a:r>
              <a:rPr lang="en-US" sz="1200" kern="1200" dirty="0">
                <a:solidFill>
                  <a:schemeClr val="tx1"/>
                </a:solidFill>
                <a:effectLst/>
                <a:latin typeface="+mn-lt"/>
                <a:ea typeface="ＭＳ Ｐゴシック" pitchFamily="-106" charset="-128"/>
                <a:cs typeface="ＭＳ Ｐゴシック" pitchFamily="-106" charset="-128"/>
              </a:rPr>
              <a:t> Now may the God of peace himself make you completely holy and may your spirit and soul and body be kept entirely blameless at the coming of our Lord Jesus Christ. </a:t>
            </a:r>
            <a:r>
              <a:rPr lang="en-US" sz="1200" b="1" kern="1200" dirty="0">
                <a:solidFill>
                  <a:schemeClr val="tx1"/>
                </a:solidFill>
                <a:effectLst/>
                <a:latin typeface="+mn-lt"/>
                <a:ea typeface="ＭＳ Ｐゴシック" pitchFamily="-106" charset="-128"/>
                <a:cs typeface="ＭＳ Ｐゴシック" pitchFamily="-106" charset="-128"/>
              </a:rPr>
              <a:t>24</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u="sng" kern="1200" dirty="0">
                <a:solidFill>
                  <a:schemeClr val="tx1"/>
                </a:solidFill>
                <a:effectLst/>
                <a:latin typeface="+mn-lt"/>
                <a:ea typeface="ＭＳ Ｐゴシック" pitchFamily="-106" charset="-128"/>
                <a:cs typeface="ＭＳ Ｐゴシック" pitchFamily="-106" charset="-128"/>
              </a:rPr>
              <a:t>He who calls you is trustworthy, and he will in fact do this.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200" b="1" kern="1200" dirty="0">
                <a:solidFill>
                  <a:schemeClr val="tx1"/>
                </a:solidFill>
                <a:effectLst/>
                <a:latin typeface="+mn-lt"/>
                <a:ea typeface="ＭＳ Ｐゴシック" pitchFamily="-106" charset="-128"/>
                <a:cs typeface="ＭＳ Ｐゴシック" pitchFamily="-106" charset="-128"/>
              </a:rPr>
              <a:t>2 Timothy 2:10-13</a:t>
            </a:r>
            <a:r>
              <a:rPr lang="en-US" sz="1200" kern="1200" dirty="0">
                <a:solidFill>
                  <a:schemeClr val="tx1"/>
                </a:solidFill>
                <a:effectLst/>
                <a:latin typeface="+mn-lt"/>
                <a:ea typeface="ＭＳ Ｐゴシック" pitchFamily="-106" charset="-128"/>
                <a:cs typeface="ＭＳ Ｐゴシック" pitchFamily="-106" charset="-128"/>
              </a:rPr>
              <a:t> So I endure all things for the sake of those chosen by God, that they too may obtain salvation in Christ Jesus and its eternal glory. </a:t>
            </a:r>
            <a:r>
              <a:rPr lang="en-US" sz="1200" b="1" kern="1200" dirty="0">
                <a:solidFill>
                  <a:schemeClr val="tx1"/>
                </a:solidFill>
                <a:effectLst/>
                <a:latin typeface="+mn-lt"/>
                <a:ea typeface="ＭＳ Ｐゴシック" pitchFamily="-106" charset="-128"/>
                <a:cs typeface="ＭＳ Ｐゴシック" pitchFamily="-106" charset="-128"/>
              </a:rPr>
              <a:t>11</a:t>
            </a:r>
            <a:r>
              <a:rPr lang="en-US" sz="1200" kern="1200" dirty="0">
                <a:solidFill>
                  <a:schemeClr val="tx1"/>
                </a:solidFill>
                <a:effectLst/>
                <a:latin typeface="+mn-lt"/>
                <a:ea typeface="ＭＳ Ｐゴシック" pitchFamily="-106" charset="-128"/>
                <a:cs typeface="ＭＳ Ｐゴシック" pitchFamily="-106" charset="-128"/>
              </a:rPr>
              <a:t> This saying is trustworthy: If we died with him, we will also live with him. </a:t>
            </a:r>
            <a:r>
              <a:rPr lang="en-US" sz="1200" b="1" kern="1200" dirty="0">
                <a:solidFill>
                  <a:schemeClr val="tx1"/>
                </a:solidFill>
                <a:effectLst/>
                <a:latin typeface="+mn-lt"/>
                <a:ea typeface="ＭＳ Ｐゴシック" pitchFamily="-106" charset="-128"/>
                <a:cs typeface="ＭＳ Ｐゴシック" pitchFamily="-106" charset="-128"/>
              </a:rPr>
              <a:t>12</a:t>
            </a:r>
            <a:r>
              <a:rPr lang="en-US" sz="1200" kern="1200" dirty="0">
                <a:solidFill>
                  <a:schemeClr val="tx1"/>
                </a:solidFill>
                <a:effectLst/>
                <a:latin typeface="+mn-lt"/>
                <a:ea typeface="ＭＳ Ｐゴシック" pitchFamily="-106" charset="-128"/>
                <a:cs typeface="ＭＳ Ｐゴシック" pitchFamily="-106" charset="-128"/>
              </a:rPr>
              <a:t> If we endure, we will also reign with him. If we deny him, he will also deny us. </a:t>
            </a:r>
            <a:r>
              <a:rPr lang="en-US" sz="1200" b="1" kern="1200" dirty="0">
                <a:solidFill>
                  <a:schemeClr val="tx1"/>
                </a:solidFill>
                <a:effectLst/>
                <a:latin typeface="+mn-lt"/>
                <a:ea typeface="ＭＳ Ｐゴシック" pitchFamily="-106" charset="-128"/>
                <a:cs typeface="ＭＳ Ｐゴシック" pitchFamily="-106" charset="-128"/>
              </a:rPr>
              <a:t>13</a:t>
            </a:r>
            <a:r>
              <a:rPr lang="en-US" sz="1200" kern="1200" dirty="0">
                <a:solidFill>
                  <a:schemeClr val="tx1"/>
                </a:solidFill>
                <a:effectLst/>
                <a:latin typeface="+mn-lt"/>
                <a:ea typeface="ＭＳ Ｐゴシック" pitchFamily="-106" charset="-128"/>
                <a:cs typeface="ＭＳ Ｐゴシック" pitchFamily="-106" charset="-128"/>
              </a:rPr>
              <a:t> </a:t>
            </a:r>
            <a:r>
              <a:rPr lang="en-US" sz="1200" i="1" u="sng" kern="1200" dirty="0">
                <a:solidFill>
                  <a:schemeClr val="tx1"/>
                </a:solidFill>
                <a:effectLst/>
                <a:latin typeface="+mn-lt"/>
                <a:ea typeface="ＭＳ Ｐゴシック" pitchFamily="-106" charset="-128"/>
                <a:cs typeface="ＭＳ Ｐゴシック" pitchFamily="-106" charset="-128"/>
              </a:rPr>
              <a:t>If we are unfaithful, he remains faithful, since he cannot deny himself</a:t>
            </a:r>
            <a:r>
              <a:rPr lang="en-US" sz="12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Core Theme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God promises to stay faithful to His word and to His people.</a:t>
            </a:r>
          </a:p>
          <a:p>
            <a:r>
              <a:rPr lang="en-US" sz="1400" kern="1200" dirty="0">
                <a:solidFill>
                  <a:schemeClr val="tx1"/>
                </a:solidFill>
                <a:effectLst/>
                <a:latin typeface="+mn-lt"/>
                <a:ea typeface="ＭＳ Ｐゴシック" pitchFamily="-106" charset="-128"/>
                <a:cs typeface="ＭＳ Ｐゴシック" pitchFamily="-106" charset="-128"/>
              </a:rPr>
              <a:t>His faithfulness is part of His character, so it does not change.</a:t>
            </a:r>
          </a:p>
          <a:p>
            <a:endParaRPr lang="en-US" dirty="0"/>
          </a:p>
          <a:p>
            <a:r>
              <a:rPr lang="en-US" sz="1200" b="1" u="sng" kern="1200" dirty="0">
                <a:solidFill>
                  <a:schemeClr val="tx1"/>
                </a:solidFill>
                <a:effectLst/>
                <a:latin typeface="+mn-lt"/>
                <a:ea typeface="ＭＳ Ｐゴシック" pitchFamily="-106" charset="-128"/>
                <a:cs typeface="ＭＳ Ｐゴシック" pitchFamily="-106" charset="-128"/>
              </a:rPr>
              <a:t>Key Points</a:t>
            </a:r>
            <a:endParaRPr lang="en-US" sz="1200" kern="1200" dirty="0">
              <a:solidFill>
                <a:schemeClr val="tx1"/>
              </a:solidFill>
              <a:effectLst/>
              <a:latin typeface="+mn-lt"/>
              <a:ea typeface="ＭＳ Ｐゴシック" pitchFamily="-106" charset="-128"/>
              <a:cs typeface="ＭＳ Ｐゴシック" pitchFamily="-106" charset="-128"/>
            </a:endParaRP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faithfulness is rooted in His character.</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 keeps covenant even when people are inconsistent.</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Jesus fulfills every promise God made.</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New Covenant rests on God’s faithful action.</a:t>
            </a:r>
          </a:p>
          <a:p>
            <a:pPr marL="171450" indent="-171450" rtl="0" fontAlgn="ctr">
              <a:buFont typeface="Arial" panose="020B0604020202020204"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God’s faithfulness gives the believer confidence to live and endure.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fontScale="55000" lnSpcReduction="20000"/>
          </a:bodyPr>
          <a:lstStyle/>
          <a:p>
            <a:r>
              <a:rPr lang="en-US" sz="1600" b="1" kern="1200" dirty="0">
                <a:solidFill>
                  <a:schemeClr val="tx1"/>
                </a:solidFill>
                <a:effectLst/>
                <a:latin typeface="+mn-lt"/>
                <a:ea typeface="ＭＳ Ｐゴシック" pitchFamily="-106" charset="-128"/>
                <a:cs typeface="ＭＳ Ｐゴシック" pitchFamily="-106" charset="-128"/>
              </a:rPr>
              <a:t>God’s Faithfulness in Scripture</a:t>
            </a:r>
            <a:endParaRPr lang="en-US" sz="16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The Bible often describes God as faithful.</a:t>
            </a:r>
          </a:p>
          <a:p>
            <a:r>
              <a:rPr lang="en-US" sz="1400" kern="1200" dirty="0">
                <a:solidFill>
                  <a:schemeClr val="tx1"/>
                </a:solidFill>
                <a:effectLst/>
                <a:latin typeface="+mn-lt"/>
                <a:ea typeface="ＭＳ Ｐゴシック" pitchFamily="-106" charset="-128"/>
                <a:cs typeface="ＭＳ Ｐゴシック" pitchFamily="-106" charset="-128"/>
              </a:rPr>
              <a:t>It’s part of His name and nature.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God’s faithfulness holds the whole story of Scripture together.</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dirty="0"/>
              <a:t>Lamentations 3:22-23 </a:t>
            </a:r>
            <a:r>
              <a:rPr lang="en-US" sz="1400" dirty="0"/>
              <a:t>- The </a:t>
            </a:r>
            <a:r>
              <a:rPr lang="en-US" sz="1400" b="1" dirty="0"/>
              <a:t>steadfast love </a:t>
            </a:r>
            <a:r>
              <a:rPr lang="en-US" sz="1400" dirty="0"/>
              <a:t>of the Lord never ceases; His </a:t>
            </a:r>
            <a:r>
              <a:rPr lang="en-US" sz="1400" b="1" dirty="0"/>
              <a:t>mercies</a:t>
            </a:r>
            <a:r>
              <a:rPr lang="en-US" sz="1400" dirty="0"/>
              <a:t> never come to an end. They are new every morning; </a:t>
            </a:r>
            <a:r>
              <a:rPr lang="en-US" sz="1400" b="1" dirty="0"/>
              <a:t>Great is Thy faithfulness, O Lord,</a:t>
            </a:r>
            <a:r>
              <a:rPr lang="en-US" sz="1400" dirty="0"/>
              <a:t> </a:t>
            </a:r>
            <a:r>
              <a:rPr lang="en-US" sz="1400" b="1" dirty="0"/>
              <a:t>Great is Thy faithfulness!</a:t>
            </a:r>
          </a:p>
          <a:p>
            <a:endParaRPr lang="en-US" sz="1400"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kern="1200" dirty="0">
                <a:solidFill>
                  <a:schemeClr val="tx1"/>
                </a:solidFill>
                <a:effectLst/>
                <a:latin typeface="+mn-lt"/>
                <a:ea typeface="ＭＳ Ｐゴシック" pitchFamily="-106" charset="-128"/>
                <a:cs typeface="ＭＳ Ｐゴシック" pitchFamily="-106" charset="-128"/>
              </a:rPr>
              <a:t>Lamentations 3:22-24</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kern="1200" dirty="0">
                <a:solidFill>
                  <a:schemeClr val="tx1"/>
                </a:solidFill>
                <a:effectLst/>
                <a:latin typeface="+mn-lt"/>
                <a:ea typeface="ＭＳ Ｐゴシック" pitchFamily="-106" charset="-128"/>
                <a:cs typeface="ＭＳ Ｐゴシック" pitchFamily="-106" charset="-128"/>
              </a:rPr>
              <a:t>- </a:t>
            </a:r>
            <a:r>
              <a:rPr lang="en-US" sz="1400" kern="1200" dirty="0">
                <a:solidFill>
                  <a:schemeClr val="tx1"/>
                </a:solidFill>
                <a:effectLst/>
                <a:latin typeface="+mn-lt"/>
                <a:ea typeface="ＭＳ Ｐゴシック" pitchFamily="-106" charset="-128"/>
                <a:cs typeface="ＭＳ Ｐゴシック" pitchFamily="-106" charset="-128"/>
              </a:rPr>
              <a:t>The LORD’s loyal kindness never ceases; his compassions never end. </a:t>
            </a:r>
            <a:r>
              <a:rPr lang="en-US" sz="1400" b="1" kern="1200" dirty="0">
                <a:solidFill>
                  <a:schemeClr val="tx1"/>
                </a:solidFill>
                <a:effectLst/>
                <a:latin typeface="+mn-lt"/>
                <a:ea typeface="ＭＳ Ｐゴシック" pitchFamily="-106" charset="-128"/>
                <a:cs typeface="ＭＳ Ｐゴシック" pitchFamily="-106" charset="-128"/>
              </a:rPr>
              <a:t>23</a:t>
            </a:r>
            <a:r>
              <a:rPr lang="en-US" sz="1400" kern="1200" dirty="0">
                <a:solidFill>
                  <a:schemeClr val="tx1"/>
                </a:solidFill>
                <a:effectLst/>
                <a:latin typeface="+mn-lt"/>
                <a:ea typeface="ＭＳ Ｐゴシック" pitchFamily="-106" charset="-128"/>
                <a:cs typeface="ＭＳ Ｐゴシック" pitchFamily="-106" charset="-128"/>
              </a:rPr>
              <a:t> They are fresh every morning; your faithfulness is abundant! </a:t>
            </a:r>
            <a:r>
              <a:rPr lang="en-US" sz="1400" b="1" kern="1200" dirty="0">
                <a:solidFill>
                  <a:schemeClr val="tx1"/>
                </a:solidFill>
                <a:effectLst/>
                <a:latin typeface="+mn-lt"/>
                <a:ea typeface="ＭＳ Ｐゴシック" pitchFamily="-106" charset="-128"/>
                <a:cs typeface="ＭＳ Ｐゴシック" pitchFamily="-106" charset="-128"/>
              </a:rPr>
              <a:t>24</a:t>
            </a:r>
            <a:r>
              <a:rPr lang="en-US" sz="1400" kern="1200" dirty="0">
                <a:solidFill>
                  <a:schemeClr val="tx1"/>
                </a:solidFill>
                <a:effectLst/>
                <a:latin typeface="+mn-lt"/>
                <a:ea typeface="ＭＳ Ｐゴシック" pitchFamily="-106" charset="-128"/>
                <a:cs typeface="ＭＳ Ｐゴシック" pitchFamily="-106" charset="-128"/>
              </a:rPr>
              <a:t> “My portion is the LORD,” I have said to myself, so I will put my hope in him. (NET)</a:t>
            </a:r>
          </a:p>
          <a:p>
            <a:endParaRPr lang="en-US" sz="1400" b="0" kern="1200" dirty="0">
              <a:solidFill>
                <a:schemeClr val="tx1"/>
              </a:solidFill>
              <a:effectLst/>
              <a:latin typeface="+mn-lt"/>
              <a:ea typeface="ＭＳ Ｐゴシック" pitchFamily="-106" charset="-128"/>
              <a:cs typeface="ＭＳ Ｐゴシック" pitchFamily="-106" charset="-128"/>
            </a:endParaRPr>
          </a:p>
          <a:p>
            <a:r>
              <a:rPr lang="en-US" sz="1600" b="1" kern="1200" dirty="0">
                <a:solidFill>
                  <a:schemeClr val="tx1"/>
                </a:solidFill>
                <a:effectLst/>
                <a:latin typeface="+mn-lt"/>
                <a:ea typeface="ＭＳ Ｐゴシック" pitchFamily="-106" charset="-128"/>
                <a:cs typeface="ＭＳ Ｐゴシック" pitchFamily="-106" charset="-128"/>
              </a:rPr>
              <a:t>His Nature Revealed</a:t>
            </a:r>
          </a:p>
          <a:p>
            <a:endParaRPr lang="en-US" sz="1400" b="1"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u="sng" dirty="0"/>
              <a:t>In Christ, steadfast love (i.e. </a:t>
            </a:r>
            <a:r>
              <a:rPr lang="en-US" sz="1400" i="1" u="sng" dirty="0" err="1"/>
              <a:t>ḥesed</a:t>
            </a:r>
            <a:r>
              <a:rPr lang="en-US" sz="1400" i="1" u="sng" dirty="0"/>
              <a:t>) </a:t>
            </a:r>
            <a:r>
              <a:rPr lang="en-US" sz="1400" u="sng" dirty="0"/>
              <a:t>and covenant faithfulness converge</a:t>
            </a:r>
            <a:r>
              <a:rPr lang="en-US" sz="1400" dirty="0"/>
              <a:t> — God keeping His oaths through the obedient Son.</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dirty="0"/>
              <a:t>The revelation of true </a:t>
            </a:r>
            <a:r>
              <a:rPr lang="en-US" sz="1400" b="1" i="1" dirty="0" err="1"/>
              <a:t>ḥesed</a:t>
            </a:r>
            <a:r>
              <a:rPr lang="en-US" sz="1400" b="1" i="1" dirty="0"/>
              <a:t> (i.e. steadfast love and faithfulness)</a:t>
            </a:r>
            <a:endParaRPr lang="en-US" sz="1400" dirty="0"/>
          </a:p>
          <a:p>
            <a:r>
              <a:rPr lang="en-US" sz="1400" dirty="0"/>
              <a:t>When viewed from the cross:</a:t>
            </a:r>
          </a:p>
          <a:p>
            <a:pPr marL="171421" indent="-171421" fontAlgn="ctr">
              <a:buFont typeface="Arial" panose="020B0604020202020204" pitchFamily="34" charset="0"/>
              <a:buChar char="•"/>
            </a:pPr>
            <a:r>
              <a:rPr lang="en-US" sz="1400" i="1" dirty="0" err="1"/>
              <a:t>ḥesed</a:t>
            </a:r>
            <a:r>
              <a:rPr lang="en-US" sz="1400" dirty="0"/>
              <a:t> = God’s faithful love that fulfills every promise despite human failure.</a:t>
            </a:r>
          </a:p>
          <a:p>
            <a:pPr marL="171421" indent="-171421" fontAlgn="ctr">
              <a:buFont typeface="Arial" panose="020B0604020202020204" pitchFamily="34" charset="0"/>
              <a:buChar char="•"/>
            </a:pPr>
            <a:r>
              <a:rPr lang="en-US" sz="1400" dirty="0"/>
              <a:t>In Christ, that </a:t>
            </a:r>
            <a:r>
              <a:rPr lang="en-US" sz="1400" i="1" dirty="0" err="1"/>
              <a:t>ḥesed</a:t>
            </a:r>
            <a:r>
              <a:rPr lang="en-US" sz="1400" dirty="0"/>
              <a:t> becomes personal — poured into hearts by the spirit (Romans 5:5).</a:t>
            </a:r>
          </a:p>
          <a:p>
            <a:pPr marL="171421" indent="-171421" fontAlgn="ctr">
              <a:buFont typeface="Arial" panose="020B0604020202020204" pitchFamily="34" charset="0"/>
              <a:buChar char="•"/>
            </a:pPr>
            <a:r>
              <a:rPr lang="en-US" sz="1400" dirty="0"/>
              <a:t>The “mystery” hidden for ages (</a:t>
            </a:r>
            <a:r>
              <a:rPr lang="en-US" sz="1400" dirty="0" err="1"/>
              <a:t>Collossians</a:t>
            </a:r>
            <a:r>
              <a:rPr lang="en-US" sz="1400" dirty="0"/>
              <a:t> 1:26–27) is that gentiles and Jews together share this covenant faithfulness through union with Christ.</a:t>
            </a:r>
          </a:p>
          <a:p>
            <a:pPr marL="171421" indent="-171421">
              <a:buFont typeface="Arial" panose="020B0604020202020204" pitchFamily="34" charset="0"/>
              <a:buChar char="•"/>
            </a:pPr>
            <a:r>
              <a:rPr lang="en-US" sz="1400" dirty="0"/>
              <a:t>“Now the main point of what we are saying is this: we have such a high priest, one who sat down at the right hand of the throne of the Majesty in heaven... he is the mediator of a better covenant, enacted on better promises.” — </a:t>
            </a:r>
            <a:r>
              <a:rPr lang="en-US" sz="1400" i="1" dirty="0"/>
              <a:t>Hebrews 8:1,6</a:t>
            </a:r>
            <a:endParaRPr lang="en-US" sz="1400" dirty="0"/>
          </a:p>
          <a:p>
            <a:r>
              <a:rPr lang="en-US" sz="1400" dirty="0"/>
              <a:t> </a:t>
            </a:r>
          </a:p>
          <a:p>
            <a:r>
              <a:rPr lang="en-US" sz="1600" b="1" dirty="0"/>
              <a:t>Summary Thoughts</a:t>
            </a:r>
            <a:endParaRPr lang="en-US" sz="1600" dirty="0"/>
          </a:p>
          <a:p>
            <a:pPr marL="171421" indent="-171421">
              <a:buFont typeface="Arial" panose="020B0604020202020204" pitchFamily="34" charset="0"/>
              <a:buChar char="•"/>
            </a:pPr>
            <a:r>
              <a:rPr lang="en-US" sz="1400" dirty="0"/>
              <a:t>The ancient covenants were </a:t>
            </a:r>
            <a:r>
              <a:rPr lang="en-US" sz="1400" b="1" dirty="0"/>
              <a:t>shadows</a:t>
            </a:r>
            <a:r>
              <a:rPr lang="en-US" sz="1400" dirty="0"/>
              <a:t>; Christ is </a:t>
            </a:r>
            <a:r>
              <a:rPr lang="en-US" sz="1400" b="1" dirty="0"/>
              <a:t>substance</a:t>
            </a:r>
            <a:r>
              <a:rPr lang="en-US" sz="1400" dirty="0"/>
              <a:t>.</a:t>
            </a:r>
          </a:p>
          <a:p>
            <a:pPr marL="171421" indent="-171421">
              <a:buFont typeface="Arial" panose="020B0604020202020204" pitchFamily="34" charset="0"/>
              <a:buChar char="•"/>
            </a:pPr>
            <a:r>
              <a:rPr lang="en-US" sz="1400" dirty="0"/>
              <a:t>Their rituals hinted at what his </a:t>
            </a:r>
            <a:r>
              <a:rPr lang="en-US" sz="1400" i="1" dirty="0" err="1"/>
              <a:t>ḥesed</a:t>
            </a:r>
            <a:r>
              <a:rPr lang="en-US" sz="1400" dirty="0"/>
              <a:t> (God’s steadfast love and faithfulness) would achieve: forgiveness, transformation, and unbreakable fellowship.</a:t>
            </a:r>
          </a:p>
          <a:p>
            <a:pPr marL="171421" indent="-171421">
              <a:buFont typeface="Arial" panose="020B0604020202020204" pitchFamily="34" charset="0"/>
              <a:buChar char="•"/>
            </a:pPr>
            <a:r>
              <a:rPr lang="en-US" sz="1400" dirty="0"/>
              <a:t>So, when we read backward through the new covenant, we see the same God — steadfast, loyal, merciful — fulfilling His own covenant from the inside out.</a:t>
            </a: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sz="1200" b="1"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3795-FC6E-8855-78CE-01DFFDA93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3D3B3-04BE-E143-762D-2A935E1B25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7B7835-DAD0-DBCD-E988-EE8FE1E603A8}"/>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God’s Faithfulness Revealed in Jesus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a:extLst>
              <a:ext uri="{FF2B5EF4-FFF2-40B4-BE49-F238E27FC236}">
                <a16:creationId xmlns:a16="http://schemas.microsoft.com/office/drawing/2014/main" id="{9972BF0A-22D0-AD9E-9211-0A582A750F42}"/>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512422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BAC7F-7047-E8DF-A92C-187D51B31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BBF31-88AE-FE7F-6970-B9DB33BE75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77B0D5-0DEF-AE9D-CF67-637DFC22FD05}"/>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God’s Faithfulness and the New Covenant</a:t>
            </a:r>
          </a:p>
          <a:p>
            <a:endParaRPr lang="en-US" sz="1200" b="1"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Early Christian and Restoration Themes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Early Christian writers saw God’s faithfulness as the ground of Christian hope.</a:t>
            </a:r>
          </a:p>
          <a:p>
            <a:r>
              <a:rPr lang="en-US" sz="1200" kern="1200" dirty="0">
                <a:solidFill>
                  <a:schemeClr val="tx1"/>
                </a:solidFill>
                <a:effectLst/>
                <a:latin typeface="+mn-lt"/>
                <a:ea typeface="ＭＳ Ｐゴシック" pitchFamily="-106" charset="-128"/>
                <a:cs typeface="ＭＳ Ｐゴシック" pitchFamily="-106" charset="-128"/>
              </a:rPr>
              <a:t>They taught that God’s covenant loyalty (hesed) reaches its high point in Jesus.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Restoration teachers often said:</a:t>
            </a:r>
          </a:p>
          <a:p>
            <a:r>
              <a:rPr lang="en-US" sz="1200" b="1" kern="1200" dirty="0">
                <a:solidFill>
                  <a:schemeClr val="tx1"/>
                </a:solidFill>
                <a:effectLst/>
                <a:latin typeface="+mn-lt"/>
                <a:ea typeface="ＭＳ Ｐゴシック" pitchFamily="-106" charset="-128"/>
                <a:cs typeface="ＭＳ Ｐゴシック" pitchFamily="-106" charset="-128"/>
              </a:rPr>
              <a:t>“God commands. God promises. God fulfills.”</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His faithfulness is the bridge between His word and our lives.</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They stressed that God’s faithfulness is not abstract.</a:t>
            </a:r>
          </a:p>
          <a:p>
            <a:r>
              <a:rPr lang="en-US" sz="1200" kern="1200" dirty="0">
                <a:solidFill>
                  <a:schemeClr val="tx1"/>
                </a:solidFill>
                <a:effectLst/>
                <a:latin typeface="+mn-lt"/>
                <a:ea typeface="ＭＳ Ｐゴシック" pitchFamily="-106" charset="-128"/>
                <a:cs typeface="ＭＳ Ｐゴシック" pitchFamily="-106" charset="-128"/>
              </a:rPr>
              <a:t>It shows up in baptism, in the Spirit’s work, in the gathering of the church, and in daily obedience.</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God’s faithfulness is the reason the church endures.</a:t>
            </a:r>
          </a:p>
          <a:p>
            <a:endParaRPr lang="en-US" sz="1200" kern="1200" dirty="0">
              <a:solidFill>
                <a:schemeClr val="tx1"/>
              </a:solidFill>
              <a:effectLst/>
              <a:latin typeface="+mn-lt"/>
              <a:ea typeface="ＭＳ Ｐゴシック" pitchFamily="-106" charset="-128"/>
              <a:cs typeface="ＭＳ Ｐゴシック" pitchFamily="-106" charset="-128"/>
            </a:endParaRP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God’s faithfulness give you confidence in your walk with Him?</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Which part of God’s faithfulness do you struggle to trust?</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does Jesus show God’s faithfulness to you personally?</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What changes when you believe that God finishes what He starts?</a:t>
            </a:r>
          </a:p>
          <a:p>
            <a:pPr rtl="0" fontAlgn="ctr"/>
            <a:r>
              <a:rPr lang="en-US" sz="1200" b="0" i="0" kern="1200" dirty="0">
                <a:solidFill>
                  <a:schemeClr val="tx1"/>
                </a:solidFill>
                <a:effectLst/>
                <a:latin typeface="+mn-lt"/>
                <a:ea typeface="ＭＳ Ｐゴシック" pitchFamily="-106" charset="-128"/>
                <a:cs typeface="ＭＳ Ｐゴシック" pitchFamily="-106" charset="-128"/>
              </a:rPr>
              <a:t>How can we encourage one another to hold to God’s promises?</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sz="1200" kern="1200" dirty="0">
              <a:solidFill>
                <a:schemeClr val="tx1"/>
              </a:solidFill>
              <a:effectLst/>
              <a:latin typeface="+mn-lt"/>
              <a:ea typeface="ＭＳ Ｐゴシック" pitchFamily="-106" charset="-128"/>
              <a:cs typeface="ＭＳ Ｐゴシック" pitchFamily="-106" charset="-128"/>
            </a:endParaRPr>
          </a:p>
        </p:txBody>
      </p:sp>
      <p:sp>
        <p:nvSpPr>
          <p:cNvPr id="4" name="Slide Number Placeholder 3">
            <a:extLst>
              <a:ext uri="{FF2B5EF4-FFF2-40B4-BE49-F238E27FC236}">
                <a16:creationId xmlns:a16="http://schemas.microsoft.com/office/drawing/2014/main" id="{2E08FD56-C739-2B65-2F61-C7F18CE4D84D}"/>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2686110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8296-1D0F-C4C3-3E54-988ACDEF1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E896A-E083-9102-6190-1DEF0C721A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36FB6D-C7DA-7F41-33BA-F52883C94FF1}"/>
              </a:ext>
            </a:extLst>
          </p:cNvPr>
          <p:cNvSpPr>
            <a:spLocks noGrp="1"/>
          </p:cNvSpPr>
          <p:nvPr>
            <p:ph type="body" idx="1"/>
          </p:nvPr>
        </p:nvSpPr>
        <p:spPr/>
        <p:txBody>
          <a:bodyPr>
            <a:normAutofit fontScale="70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God’s Faithfulness and the Life of a Disciple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p:txBody>
      </p:sp>
      <p:sp>
        <p:nvSpPr>
          <p:cNvPr id="4" name="Slide Number Placeholder 3">
            <a:extLst>
              <a:ext uri="{FF2B5EF4-FFF2-40B4-BE49-F238E27FC236}">
                <a16:creationId xmlns:a16="http://schemas.microsoft.com/office/drawing/2014/main" id="{644EE391-F505-7E58-83FC-F8B5C56D7F9F}"/>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3776359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God’s Faithfulness</a:t>
            </a:r>
          </a:p>
          <a:p>
            <a:endParaRPr lang="en-US" sz="2400" dirty="0">
              <a:solidFill>
                <a:schemeClr val="tx2">
                  <a:lumMod val="60000"/>
                  <a:lumOff val="40000"/>
                </a:schemeClr>
              </a:solidFill>
            </a:endParaRPr>
          </a:p>
          <a:p>
            <a:r>
              <a:rPr lang="en-US" dirty="0"/>
              <a:t>“Now may the God of peace himself make you completely holy and may your spirit and soul and body be kept entirely blameless at the coming of our Lord Jesus Christ. He who calls you is trustworthy, and he will in fact do this.” </a:t>
            </a:r>
          </a:p>
          <a:p>
            <a:r>
              <a:rPr lang="en-US" dirty="0"/>
              <a:t>(1 Thessalonians 5:23-24)</a:t>
            </a:r>
          </a:p>
          <a:p>
            <a:endParaRPr lang="en-US" b="0" dirty="0"/>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in Scripture</a:t>
            </a:r>
            <a:br>
              <a:rPr lang="en-US" dirty="0"/>
            </a:br>
            <a:r>
              <a:rPr lang="en-US" sz="3400" dirty="0">
                <a:solidFill>
                  <a:schemeClr val="tx2">
                    <a:lumMod val="60000"/>
                    <a:lumOff val="40000"/>
                  </a:schemeClr>
                </a:solidFill>
              </a:rPr>
              <a:t>God keeps His covenant even when His people fail.</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96E21EF-3DEE-2EB9-2120-682F4B4560B7}"/>
              </a:ext>
            </a:extLst>
          </p:cNvPr>
          <p:cNvSpPr txBox="1"/>
          <p:nvPr/>
        </p:nvSpPr>
        <p:spPr>
          <a:xfrm>
            <a:off x="192880" y="1019592"/>
            <a:ext cx="8677275"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It’s part of His name and nature…</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Nehemiah 1:5 - </a:t>
            </a:r>
            <a:r>
              <a:rPr lang="en-US" i="1" dirty="0">
                <a:ea typeface="ＭＳ Ｐゴシック" pitchFamily="-106" charset="-128"/>
                <a:cs typeface="ＭＳ Ｐゴシック" pitchFamily="-106" charset="-128"/>
              </a:rPr>
              <a:t>“O Lord God of Heaven… the great and awesome God who keeps covenant and loyal love.”</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138:8 - </a:t>
            </a:r>
            <a:r>
              <a:rPr lang="en-US" i="1" dirty="0">
                <a:ea typeface="ＭＳ Ｐゴシック" pitchFamily="-106" charset="-128"/>
                <a:cs typeface="ＭＳ Ｐゴシック" pitchFamily="-106" charset="-128"/>
              </a:rPr>
              <a:t>“Your loyal love, O Lord, endures forever.”</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145:13 - </a:t>
            </a:r>
            <a:r>
              <a:rPr lang="en-US" i="1" dirty="0">
                <a:ea typeface="ＭＳ Ｐゴシック" pitchFamily="-106" charset="-128"/>
                <a:cs typeface="ＭＳ Ｐゴシック" pitchFamily="-106" charset="-128"/>
              </a:rPr>
              <a:t>“The Lord is trustworthy in all he promises.”</a:t>
            </a:r>
          </a:p>
        </p:txBody>
      </p:sp>
      <p:sp>
        <p:nvSpPr>
          <p:cNvPr id="2" name="TextBox 1">
            <a:extLst>
              <a:ext uri="{FF2B5EF4-FFF2-40B4-BE49-F238E27FC236}">
                <a16:creationId xmlns:a16="http://schemas.microsoft.com/office/drawing/2014/main" id="{D3787957-C6F8-2572-ACEE-92B8E91190C3}"/>
              </a:ext>
            </a:extLst>
          </p:cNvPr>
          <p:cNvSpPr txBox="1"/>
          <p:nvPr/>
        </p:nvSpPr>
        <p:spPr>
          <a:xfrm>
            <a:off x="192879" y="2971800"/>
            <a:ext cx="8677275"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Examples – This truth shows-up again and again…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His word to Abraham, even when Abraham stumbled (</a:t>
            </a:r>
            <a:r>
              <a:rPr lang="en-US" b="1" dirty="0">
                <a:ea typeface="ＭＳ Ｐゴシック" pitchFamily="-106" charset="-128"/>
                <a:cs typeface="ＭＳ Ｐゴシック" pitchFamily="-106" charset="-128"/>
              </a:rPr>
              <a:t>Genesis 17</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Israel alive in the wilderness, even when they complained (</a:t>
            </a:r>
            <a:r>
              <a:rPr lang="en-US" b="1" dirty="0">
                <a:ea typeface="ＭＳ Ｐゴシック" pitchFamily="-106" charset="-128"/>
                <a:cs typeface="ＭＳ Ｐゴシック" pitchFamily="-106" charset="-128"/>
              </a:rPr>
              <a:t>Deuteronomy 7:9</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 kept His promise to send the Messiah (</a:t>
            </a:r>
            <a:r>
              <a:rPr lang="en-US" b="1" dirty="0">
                <a:ea typeface="ＭＳ Ｐゴシック" pitchFamily="-106" charset="-128"/>
                <a:cs typeface="ＭＳ Ｐゴシック" pitchFamily="-106" charset="-128"/>
              </a:rPr>
              <a:t>Luke 1:72–73</a:t>
            </a:r>
            <a:r>
              <a:rPr lang="en-US" dirty="0">
                <a:ea typeface="ＭＳ Ｐゴシック" pitchFamily="-106" charset="-128"/>
                <a:cs typeface="ＭＳ Ｐゴシック" pitchFamily="-106" charset="-128"/>
              </a:rPr>
              <a:t>).</a:t>
            </a:r>
          </a:p>
        </p:txBody>
      </p:sp>
      <p:sp>
        <p:nvSpPr>
          <p:cNvPr id="4" name="TextBox 3">
            <a:extLst>
              <a:ext uri="{FF2B5EF4-FFF2-40B4-BE49-F238E27FC236}">
                <a16:creationId xmlns:a16="http://schemas.microsoft.com/office/drawing/2014/main" id="{D834FD90-D728-78E2-D14F-D4A91F2F2B32}"/>
              </a:ext>
            </a:extLst>
          </p:cNvPr>
          <p:cNvSpPr txBox="1"/>
          <p:nvPr/>
        </p:nvSpPr>
        <p:spPr>
          <a:xfrm>
            <a:off x="170151" y="4930935"/>
            <a:ext cx="8577262"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God’s faithfulness holds the whole story of Scripture together.</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Lamentations 3:22-23 - </a:t>
            </a:r>
            <a:r>
              <a:rPr lang="en-US" dirty="0"/>
              <a:t>The </a:t>
            </a:r>
            <a:r>
              <a:rPr lang="en-US" b="1" dirty="0"/>
              <a:t>steadfast love (Hebrew : hesed) </a:t>
            </a:r>
            <a:r>
              <a:rPr lang="en-US" dirty="0"/>
              <a:t>of the Lord never ceases; His </a:t>
            </a:r>
            <a:r>
              <a:rPr lang="en-US" b="1" dirty="0"/>
              <a:t>mercies</a:t>
            </a:r>
            <a:r>
              <a:rPr lang="en-US" dirty="0"/>
              <a:t> never come to an end. They are new every morning; </a:t>
            </a:r>
            <a:r>
              <a:rPr lang="en-US" b="1" dirty="0"/>
              <a:t>Great is Thy faithfulness, O Lord,</a:t>
            </a:r>
            <a:r>
              <a:rPr lang="en-US" dirty="0"/>
              <a:t> </a:t>
            </a:r>
            <a:r>
              <a:rPr lang="en-US" b="1" dirty="0"/>
              <a:t>Great is Thy faithfulness!</a:t>
            </a:r>
            <a:endParaRPr lang="en-US" dirty="0"/>
          </a:p>
          <a:p>
            <a:pPr marL="285750" indent="-285750">
              <a:buFont typeface="Arial" panose="020B0604020202020204" pitchFamily="34" charset="0"/>
              <a:buChar char="•"/>
            </a:pPr>
            <a:endParaRPr lang="en-US" b="1"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7084936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8DC7-F56A-56E5-0931-E85A81D14F7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F6B51BB-1A7E-ED37-07C8-68E73E5D96F7}"/>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Revealed in Jesus</a:t>
            </a:r>
            <a:br>
              <a:rPr lang="en-US" dirty="0"/>
            </a:br>
            <a:r>
              <a:rPr lang="en-US" sz="3400" dirty="0">
                <a:solidFill>
                  <a:schemeClr val="tx2">
                    <a:lumMod val="60000"/>
                    <a:lumOff val="40000"/>
                  </a:schemeClr>
                </a:solidFill>
              </a:rPr>
              <a:t>Proof of God’s steadfast love and faithfulness</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1E791201-23DA-1C71-559B-BD5BEFC8E804}"/>
              </a:ext>
            </a:extLst>
          </p:cNvPr>
          <p:cNvSpPr txBox="1"/>
          <p:nvPr/>
        </p:nvSpPr>
        <p:spPr>
          <a:xfrm>
            <a:off x="192880" y="1111605"/>
            <a:ext cx="8677275" cy="1754326"/>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Jesus is the proof that God keeps His promises.</a:t>
            </a:r>
          </a:p>
          <a:p>
            <a:r>
              <a:rPr lang="en-US" b="1" i="1" dirty="0">
                <a:ea typeface="ＭＳ Ｐゴシック" pitchFamily="-106" charset="-128"/>
                <a:cs typeface="ＭＳ Ｐゴシック" pitchFamily="-106" charset="-128"/>
              </a:rPr>
              <a:t>2 Corinthians 1:20 </a:t>
            </a:r>
            <a:r>
              <a:rPr lang="en-US" i="1" dirty="0">
                <a:ea typeface="ＭＳ Ｐゴシック" pitchFamily="-106" charset="-128"/>
                <a:cs typeface="ＭＳ Ｐゴシック" pitchFamily="-106" charset="-128"/>
              </a:rPr>
              <a:t>- “For every one of God’s promises are ‘Yes’ in him.”</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a Savior.</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forgiveness.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promised a new covenant.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Jesus is the fulfillment of all three.</a:t>
            </a:r>
          </a:p>
        </p:txBody>
      </p:sp>
      <p:sp>
        <p:nvSpPr>
          <p:cNvPr id="2" name="TextBox 1">
            <a:extLst>
              <a:ext uri="{FF2B5EF4-FFF2-40B4-BE49-F238E27FC236}">
                <a16:creationId xmlns:a16="http://schemas.microsoft.com/office/drawing/2014/main" id="{6AA223D1-11EF-E372-85F7-812C5D4CCA29}"/>
              </a:ext>
            </a:extLst>
          </p:cNvPr>
          <p:cNvSpPr txBox="1"/>
          <p:nvPr/>
        </p:nvSpPr>
        <p:spPr>
          <a:xfrm>
            <a:off x="192880" y="2967335"/>
            <a:ext cx="8677275"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Jesus also shows the Father’s faithful heart.</a:t>
            </a:r>
          </a:p>
          <a:p>
            <a:r>
              <a:rPr lang="en-US" b="1" dirty="0">
                <a:ea typeface="ＭＳ Ｐゴシック" pitchFamily="-106" charset="-128"/>
                <a:cs typeface="ＭＳ Ｐゴシック" pitchFamily="-106" charset="-128"/>
              </a:rPr>
              <a:t>Hebrews 13:5 - </a:t>
            </a:r>
            <a:r>
              <a:rPr lang="en-US" i="1" dirty="0">
                <a:ea typeface="ＭＳ Ｐゴシック" pitchFamily="-106" charset="-128"/>
                <a:cs typeface="ＭＳ Ｐゴシック" pitchFamily="-106" charset="-128"/>
              </a:rPr>
              <a:t>“I will never leave you and I will never abandon you.”</a:t>
            </a:r>
          </a:p>
          <a:p>
            <a:r>
              <a:rPr lang="en-US" b="1" dirty="0">
                <a:ea typeface="ＭＳ Ｐゴシック" pitchFamily="-106" charset="-128"/>
                <a:cs typeface="ＭＳ Ｐゴシック" pitchFamily="-106" charset="-128"/>
              </a:rPr>
              <a:t>John 10:8 - </a:t>
            </a:r>
            <a:r>
              <a:rPr lang="en-US" dirty="0">
                <a:ea typeface="ＭＳ Ｐゴシック" pitchFamily="-106" charset="-128"/>
                <a:cs typeface="ＭＳ Ｐゴシック" pitchFamily="-106" charset="-128"/>
              </a:rPr>
              <a:t>Jesus says, </a:t>
            </a:r>
            <a:r>
              <a:rPr lang="en-US" i="1" dirty="0">
                <a:ea typeface="ＭＳ Ｐゴシック" pitchFamily="-106" charset="-128"/>
                <a:cs typeface="ＭＳ Ｐゴシック" pitchFamily="-106" charset="-128"/>
              </a:rPr>
              <a:t>“No one can snatch them from my hand.”</a:t>
            </a:r>
            <a:endParaRPr lang="en-US" b="1" i="1"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4EC0F0C-C52D-37D3-08D3-8FBC052AE236}"/>
              </a:ext>
            </a:extLst>
          </p:cNvPr>
          <p:cNvSpPr txBox="1"/>
          <p:nvPr/>
        </p:nvSpPr>
        <p:spPr>
          <a:xfrm>
            <a:off x="192879" y="4191000"/>
            <a:ext cx="8577262"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God’s faithfulness is seen first in Christ’s cross, and then in His resurrection.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cross shows God keeps His promise to deal with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resurrection shows God keeps His promise to overcome death.</a:t>
            </a:r>
          </a:p>
        </p:txBody>
      </p:sp>
      <p:sp>
        <p:nvSpPr>
          <p:cNvPr id="6" name="TextBox 5">
            <a:extLst>
              <a:ext uri="{FF2B5EF4-FFF2-40B4-BE49-F238E27FC236}">
                <a16:creationId xmlns:a16="http://schemas.microsoft.com/office/drawing/2014/main" id="{3289DBFF-425F-F91C-B414-119E36B40570}"/>
              </a:ext>
            </a:extLst>
          </p:cNvPr>
          <p:cNvSpPr txBox="1"/>
          <p:nvPr/>
        </p:nvSpPr>
        <p:spPr>
          <a:xfrm>
            <a:off x="192879" y="5236516"/>
            <a:ext cx="8577262" cy="1200329"/>
          </a:xfrm>
          <a:prstGeom prst="rect">
            <a:avLst/>
          </a:prstGeom>
          <a:noFill/>
        </p:spPr>
        <p:txBody>
          <a:bodyPr wrap="square" rtlCol="0">
            <a:spAutoFit/>
          </a:bodyPr>
          <a:lstStyle/>
          <a:p>
            <a:r>
              <a:rPr lang="en-US" b="1" u="sng" dirty="0"/>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does historical hind-sight reveal Jesus as the culmination of God’s plan for humanity? </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can we encourage one another to hold to God’s promises?</a:t>
            </a:r>
          </a:p>
        </p:txBody>
      </p:sp>
    </p:spTree>
    <p:extLst>
      <p:ext uri="{BB962C8B-B14F-4D97-AF65-F5344CB8AC3E}">
        <p14:creationId xmlns:p14="http://schemas.microsoft.com/office/powerpoint/2010/main" val="106449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54691-E1C4-0B84-FC4F-B80A41A6DF1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496A5EB-624C-4092-8424-BE60C307F3BC}"/>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and the New Covenant</a:t>
            </a:r>
            <a:br>
              <a:rPr lang="en-US" dirty="0"/>
            </a:br>
            <a:r>
              <a:rPr lang="en-US" sz="3400" dirty="0">
                <a:solidFill>
                  <a:schemeClr val="tx2">
                    <a:lumMod val="60000"/>
                    <a:lumOff val="40000"/>
                  </a:schemeClr>
                </a:solidFill>
              </a:rPr>
              <a:t>He finishes what He starts</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BD6A5990-4C55-27EE-A29F-24D1E5DAD644}"/>
              </a:ext>
            </a:extLst>
          </p:cNvPr>
          <p:cNvSpPr txBox="1"/>
          <p:nvPr/>
        </p:nvSpPr>
        <p:spPr>
          <a:xfrm>
            <a:off x="192880" y="1019592"/>
            <a:ext cx="8677275"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The promise of faithfulness is rooted in the New Covenant.</a:t>
            </a:r>
            <a:endParaRPr lang="en-US" b="1" i="1" u="sng"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Jeremiah 31:33-34 - </a:t>
            </a:r>
            <a:r>
              <a:rPr lang="en-US" i="1" dirty="0">
                <a:ea typeface="ＭＳ Ｐゴシック" pitchFamily="-106" charset="-128"/>
                <a:cs typeface="ＭＳ Ｐゴシック" pitchFamily="-106" charset="-128"/>
              </a:rPr>
              <a:t>“I will put my law within them.  I will forgive their sin, and I will no longer call to mind the wrong they have done.”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faithfulness of God guarantees both forgiveness and inner renewal.</a:t>
            </a:r>
          </a:p>
        </p:txBody>
      </p:sp>
      <p:sp>
        <p:nvSpPr>
          <p:cNvPr id="2" name="TextBox 1">
            <a:extLst>
              <a:ext uri="{FF2B5EF4-FFF2-40B4-BE49-F238E27FC236}">
                <a16:creationId xmlns:a16="http://schemas.microsoft.com/office/drawing/2014/main" id="{9444D08B-A41A-8453-B161-D6207F9E2064}"/>
              </a:ext>
            </a:extLst>
          </p:cNvPr>
          <p:cNvSpPr txBox="1"/>
          <p:nvPr/>
        </p:nvSpPr>
        <p:spPr>
          <a:xfrm>
            <a:off x="192880" y="2425809"/>
            <a:ext cx="8677275"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The Apostles taught the same…</a:t>
            </a:r>
          </a:p>
          <a:p>
            <a:r>
              <a:rPr lang="en-US" b="1" dirty="0">
                <a:ea typeface="ＭＳ Ｐゴシック" pitchFamily="-106" charset="-128"/>
                <a:cs typeface="ＭＳ Ｐゴシック" pitchFamily="-106" charset="-128"/>
              </a:rPr>
              <a:t>Philippians 1:6 – </a:t>
            </a:r>
            <a:r>
              <a:rPr lang="en-US" i="1" dirty="0">
                <a:ea typeface="ＭＳ Ｐゴシック" pitchFamily="-106" charset="-128"/>
                <a:cs typeface="ＭＳ Ｐゴシック" pitchFamily="-106" charset="-128"/>
              </a:rPr>
              <a:t>”He who began a god work in you will perfect it.”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This means God finishes what He starts.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He does not abandon His people halfway.</a:t>
            </a:r>
          </a:p>
        </p:txBody>
      </p:sp>
      <p:sp>
        <p:nvSpPr>
          <p:cNvPr id="4" name="TextBox 3">
            <a:extLst>
              <a:ext uri="{FF2B5EF4-FFF2-40B4-BE49-F238E27FC236}">
                <a16:creationId xmlns:a16="http://schemas.microsoft.com/office/drawing/2014/main" id="{811A6ECD-97D9-5CDC-AECD-7AE1556E228E}"/>
              </a:ext>
            </a:extLst>
          </p:cNvPr>
          <p:cNvSpPr txBox="1"/>
          <p:nvPr/>
        </p:nvSpPr>
        <p:spPr>
          <a:xfrm>
            <a:off x="242886" y="3832026"/>
            <a:ext cx="8577262" cy="1200329"/>
          </a:xfrm>
          <a:prstGeom prst="rect">
            <a:avLst/>
          </a:prstGeom>
          <a:noFill/>
        </p:spPr>
        <p:txBody>
          <a:bodyPr wrap="square" rtlCol="0">
            <a:spAutoFit/>
          </a:bodyPr>
          <a:lstStyle/>
          <a:p>
            <a:r>
              <a:rPr lang="en-US" b="1" u="sng" dirty="0"/>
              <a:t>God commands.  God promises.  God fulfills.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faithfulness bridges His Word and our lives.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faithfulness shows up in baptism, the Spirit’s work, the work of the church.</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God’s faithfulness is the reason the church endures.</a:t>
            </a:r>
          </a:p>
        </p:txBody>
      </p:sp>
      <p:sp>
        <p:nvSpPr>
          <p:cNvPr id="6" name="TextBox 5">
            <a:extLst>
              <a:ext uri="{FF2B5EF4-FFF2-40B4-BE49-F238E27FC236}">
                <a16:creationId xmlns:a16="http://schemas.microsoft.com/office/drawing/2014/main" id="{A70BD446-C5D9-BF18-2978-24EB351E8B4B}"/>
              </a:ext>
            </a:extLst>
          </p:cNvPr>
          <p:cNvSpPr txBox="1"/>
          <p:nvPr/>
        </p:nvSpPr>
        <p:spPr>
          <a:xfrm>
            <a:off x="208250" y="5238243"/>
            <a:ext cx="8577262" cy="1200329"/>
          </a:xfrm>
          <a:prstGeom prst="rect">
            <a:avLst/>
          </a:prstGeom>
          <a:noFill/>
        </p:spPr>
        <p:txBody>
          <a:bodyPr wrap="square" rtlCol="0">
            <a:spAutoFit/>
          </a:bodyPr>
          <a:lstStyle/>
          <a:p>
            <a:r>
              <a:rPr lang="en-US" b="1" u="sng" dirty="0"/>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does God’s faithfulness give you confidence in your walk with Him?</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What changes when you believe that God finishes what He starts?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might God’s faithfulness be obscured or doubted by Christians?</a:t>
            </a:r>
          </a:p>
        </p:txBody>
      </p:sp>
    </p:spTree>
    <p:extLst>
      <p:ext uri="{BB962C8B-B14F-4D97-AF65-F5344CB8AC3E}">
        <p14:creationId xmlns:p14="http://schemas.microsoft.com/office/powerpoint/2010/main" val="419098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E757-7FFF-8BBC-B6EB-ADAE99A676C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153D0D7-DB45-9138-03D5-4D03A2EAEC69}"/>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Faithfulness in Life of Disciples</a:t>
            </a:r>
            <a:br>
              <a:rPr lang="en-US" dirty="0"/>
            </a:br>
            <a:r>
              <a:rPr lang="en-US" sz="3400" dirty="0">
                <a:solidFill>
                  <a:schemeClr val="tx2">
                    <a:lumMod val="60000"/>
                    <a:lumOff val="40000"/>
                  </a:schemeClr>
                </a:solidFill>
              </a:rPr>
              <a:t>Gives the Believer confidence</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B3250C9A-B016-89D4-44F0-FF150D575BC6}"/>
              </a:ext>
            </a:extLst>
          </p:cNvPr>
          <p:cNvSpPr txBox="1"/>
          <p:nvPr/>
        </p:nvSpPr>
        <p:spPr>
          <a:xfrm>
            <a:off x="206734" y="1067631"/>
            <a:ext cx="8677275"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 strengthens us…</a:t>
            </a:r>
          </a:p>
          <a:p>
            <a:r>
              <a:rPr lang="en-US" b="1" i="1" dirty="0">
                <a:ea typeface="ＭＳ Ｐゴシック" pitchFamily="-106" charset="-128"/>
                <a:cs typeface="ＭＳ Ｐゴシック" pitchFamily="-106" charset="-128"/>
              </a:rPr>
              <a:t>2 Thessalonians 3:3 - </a:t>
            </a:r>
            <a:r>
              <a:rPr lang="en-US" i="1" dirty="0">
                <a:ea typeface="ＭＳ Ｐゴシック" pitchFamily="-106" charset="-128"/>
                <a:cs typeface="ＭＳ Ｐゴシック" pitchFamily="-106" charset="-128"/>
              </a:rPr>
              <a:t>“The Lord is faithful, and he will strengthen you and protect you from the evil one.”</a:t>
            </a:r>
          </a:p>
        </p:txBody>
      </p:sp>
      <p:sp>
        <p:nvSpPr>
          <p:cNvPr id="2" name="TextBox 1">
            <a:extLst>
              <a:ext uri="{FF2B5EF4-FFF2-40B4-BE49-F238E27FC236}">
                <a16:creationId xmlns:a16="http://schemas.microsoft.com/office/drawing/2014/main" id="{055AB743-6309-288D-6646-39D09AE7A0B2}"/>
              </a:ext>
            </a:extLst>
          </p:cNvPr>
          <p:cNvSpPr txBox="1"/>
          <p:nvPr/>
        </p:nvSpPr>
        <p:spPr>
          <a:xfrm>
            <a:off x="206734" y="2089315"/>
            <a:ext cx="8677275" cy="646331"/>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God forgives us…</a:t>
            </a:r>
          </a:p>
          <a:p>
            <a:r>
              <a:rPr lang="en-US" b="1" dirty="0">
                <a:ea typeface="ＭＳ Ｐゴシック" pitchFamily="-106" charset="-128"/>
                <a:cs typeface="ＭＳ Ｐゴシック" pitchFamily="-106" charset="-128"/>
              </a:rPr>
              <a:t>1 John 1:9 - </a:t>
            </a:r>
            <a:r>
              <a:rPr lang="en-US" i="1" dirty="0">
                <a:ea typeface="ＭＳ Ｐゴシック" pitchFamily="-106" charset="-128"/>
                <a:cs typeface="ＭＳ Ｐゴシック" pitchFamily="-106" charset="-128"/>
              </a:rPr>
              <a:t>“He is faithful and righteous, forgiving us our sins.”</a:t>
            </a:r>
          </a:p>
        </p:txBody>
      </p:sp>
      <p:sp>
        <p:nvSpPr>
          <p:cNvPr id="4" name="TextBox 3">
            <a:extLst>
              <a:ext uri="{FF2B5EF4-FFF2-40B4-BE49-F238E27FC236}">
                <a16:creationId xmlns:a16="http://schemas.microsoft.com/office/drawing/2014/main" id="{9057D96B-12E8-8E67-3F08-31ADECE89253}"/>
              </a:ext>
            </a:extLst>
          </p:cNvPr>
          <p:cNvSpPr txBox="1"/>
          <p:nvPr/>
        </p:nvSpPr>
        <p:spPr>
          <a:xfrm>
            <a:off x="192879" y="2834000"/>
            <a:ext cx="8577262" cy="923330"/>
          </a:xfrm>
          <a:prstGeom prst="rect">
            <a:avLst/>
          </a:prstGeom>
          <a:noFill/>
        </p:spPr>
        <p:txBody>
          <a:bodyPr wrap="square" rtlCol="0">
            <a:spAutoFit/>
          </a:bodyPr>
          <a:lstStyle/>
          <a:p>
            <a:r>
              <a:rPr lang="en-US" b="1" u="sng" dirty="0"/>
              <a:t>God keeps us…</a:t>
            </a:r>
          </a:p>
          <a:p>
            <a:r>
              <a:rPr lang="en-US" b="1" dirty="0">
                <a:ea typeface="ＭＳ Ｐゴシック" pitchFamily="-106" charset="-128"/>
                <a:cs typeface="ＭＳ Ｐゴシック" pitchFamily="-106" charset="-128"/>
              </a:rPr>
              <a:t>1 Peter 1:5 - </a:t>
            </a:r>
            <a:r>
              <a:rPr lang="en-US" i="1" dirty="0">
                <a:ea typeface="ＭＳ Ｐゴシック" pitchFamily="-106" charset="-128"/>
                <a:cs typeface="ＭＳ Ｐゴシック" pitchFamily="-106" charset="-128"/>
              </a:rPr>
              <a:t>“By God’s power you are protected through faith for a salvation ready to be revealed.”</a:t>
            </a:r>
            <a:endParaRPr lang="en-US" dirty="0">
              <a:ea typeface="ＭＳ Ｐゴシック" pitchFamily="-106" charset="-128"/>
              <a:cs typeface="ＭＳ Ｐゴシック" pitchFamily="-106" charset="-128"/>
            </a:endParaRPr>
          </a:p>
        </p:txBody>
      </p:sp>
      <p:sp>
        <p:nvSpPr>
          <p:cNvPr id="6" name="TextBox 5">
            <a:extLst>
              <a:ext uri="{FF2B5EF4-FFF2-40B4-BE49-F238E27FC236}">
                <a16:creationId xmlns:a16="http://schemas.microsoft.com/office/drawing/2014/main" id="{D6CDF7A8-B3D3-63BA-E507-D0F01DA8D798}"/>
              </a:ext>
            </a:extLst>
          </p:cNvPr>
          <p:cNvSpPr txBox="1"/>
          <p:nvPr/>
        </p:nvSpPr>
        <p:spPr>
          <a:xfrm>
            <a:off x="192879" y="3855684"/>
            <a:ext cx="8577262" cy="1200329"/>
          </a:xfrm>
          <a:prstGeom prst="rect">
            <a:avLst/>
          </a:prstGeom>
          <a:noFill/>
        </p:spPr>
        <p:txBody>
          <a:bodyPr wrap="square" rtlCol="0">
            <a:spAutoFit/>
          </a:bodyPr>
          <a:lstStyle/>
          <a:p>
            <a:r>
              <a:rPr lang="en-US" b="1" u="sng" dirty="0"/>
              <a:t>God stays steady even when we fail…</a:t>
            </a:r>
          </a:p>
          <a:p>
            <a:r>
              <a:rPr lang="en-US" b="1" dirty="0">
                <a:ea typeface="ＭＳ Ｐゴシック" pitchFamily="-106" charset="-128"/>
                <a:cs typeface="ＭＳ Ｐゴシック" pitchFamily="-106" charset="-128"/>
              </a:rPr>
              <a:t>2 Timothy 2:13 - </a:t>
            </a:r>
            <a:r>
              <a:rPr lang="en-US" dirty="0">
                <a:ea typeface="ＭＳ Ｐゴシック" pitchFamily="-106" charset="-128"/>
                <a:cs typeface="ＭＳ Ｐゴシック" pitchFamily="-106" charset="-128"/>
              </a:rPr>
              <a:t>“If we are unfaithful, he remains faithful.”</a:t>
            </a:r>
          </a:p>
          <a:p>
            <a:r>
              <a:rPr lang="en-US" b="1" dirty="0">
                <a:ea typeface="ＭＳ Ｐゴシック" pitchFamily="-106" charset="-128"/>
                <a:cs typeface="ＭＳ Ｐゴシック" pitchFamily="-106" charset="-128"/>
              </a:rPr>
              <a:t>Philippians 1:6 - </a:t>
            </a:r>
            <a:r>
              <a:rPr lang="en-US" i="1" dirty="0">
                <a:ea typeface="ＭＳ Ｐゴシック" pitchFamily="-106" charset="-128"/>
                <a:cs typeface="ＭＳ Ｐゴシック" pitchFamily="-106" charset="-128"/>
              </a:rPr>
              <a:t>“For I am sure of this very thing, that the one who began a good work in you will perfect it until the day of Christ Jesus.”</a:t>
            </a:r>
          </a:p>
        </p:txBody>
      </p:sp>
      <p:sp>
        <p:nvSpPr>
          <p:cNvPr id="7" name="TextBox 6">
            <a:extLst>
              <a:ext uri="{FF2B5EF4-FFF2-40B4-BE49-F238E27FC236}">
                <a16:creationId xmlns:a16="http://schemas.microsoft.com/office/drawing/2014/main" id="{CC81DFB8-57C1-2E22-DBB3-E2909A27F51F}"/>
              </a:ext>
            </a:extLst>
          </p:cNvPr>
          <p:cNvSpPr txBox="1"/>
          <p:nvPr/>
        </p:nvSpPr>
        <p:spPr>
          <a:xfrm>
            <a:off x="206734" y="5154369"/>
            <a:ext cx="8577262" cy="1477328"/>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Contemplations…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God’s faithfulness does not excuse sin.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But it does remind us that God does not quit on His people.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He keeps working, correcting, restoring, and shaping us.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How might people misinterpret God’s faithfulness in theological understanding?</a:t>
            </a:r>
          </a:p>
        </p:txBody>
      </p:sp>
    </p:spTree>
    <p:extLst>
      <p:ext uri="{BB962C8B-B14F-4D97-AF65-F5344CB8AC3E}">
        <p14:creationId xmlns:p14="http://schemas.microsoft.com/office/powerpoint/2010/main" val="378687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6" grpId="0"/>
      <p:bldP spid="7"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PPT_Template_2010SummerSchool</Template>
  <TotalTime>39434</TotalTime>
  <Words>1557</Words>
  <Application>Microsoft Macintosh PowerPoint</Application>
  <PresentationFormat>On-screen Show (4:3)</PresentationFormat>
  <Paragraphs>144</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1407</cp:revision>
  <cp:lastPrinted>2025-12-08T17:37:56Z</cp:lastPrinted>
  <dcterms:created xsi:type="dcterms:W3CDTF">2010-06-16T02:58:04Z</dcterms:created>
  <dcterms:modified xsi:type="dcterms:W3CDTF">2025-12-08T17:38:16Z</dcterms:modified>
</cp:coreProperties>
</file>