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1"/>
  </p:notesMasterIdLst>
  <p:sldIdLst>
    <p:sldId id="395" r:id="rId3"/>
    <p:sldId id="581" r:id="rId4"/>
    <p:sldId id="584" r:id="rId5"/>
    <p:sldId id="585" r:id="rId6"/>
    <p:sldId id="586" r:id="rId7"/>
    <p:sldId id="587" r:id="rId8"/>
    <p:sldId id="588" r:id="rId9"/>
    <p:sldId id="589" r:id="rId10"/>
  </p:sldIdLst>
  <p:sldSz cx="9144000" cy="6858000" type="screen4x3"/>
  <p:notesSz cx="7099300" cy="93853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illip Pennington" initials="PP" lastIdx="2" clrIdx="0">
    <p:extLst>
      <p:ext uri="{19B8F6BF-5375-455C-9EA6-DF929625EA0E}">
        <p15:presenceInfo xmlns:p15="http://schemas.microsoft.com/office/powerpoint/2012/main" userId="7a30b84b863a4f9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62" autoAdjust="0"/>
    <p:restoredTop sz="63512" autoAdjust="0"/>
  </p:normalViewPr>
  <p:slideViewPr>
    <p:cSldViewPr>
      <p:cViewPr varScale="1">
        <p:scale>
          <a:sx n="100" d="100"/>
          <a:sy n="100" d="100"/>
        </p:scale>
        <p:origin x="2400" y="7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3"/>
            <a:ext cx="3076364" cy="469265"/>
          </a:xfrm>
          <a:prstGeom prst="rect">
            <a:avLst/>
          </a:prstGeom>
        </p:spPr>
        <p:txBody>
          <a:bodyPr vert="horz" wrap="square" lIns="94122" tIns="47062" rIns="94122" bIns="47062"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21296" y="3"/>
            <a:ext cx="3076364" cy="469265"/>
          </a:xfrm>
          <a:prstGeom prst="rect">
            <a:avLst/>
          </a:prstGeom>
        </p:spPr>
        <p:txBody>
          <a:bodyPr vert="horz" wrap="square" lIns="94122" tIns="47062" rIns="94122" bIns="47062"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11/23/2025</a:t>
            </a:fld>
            <a:endParaRPr lang="en-US"/>
          </a:p>
        </p:txBody>
      </p:sp>
      <p:sp>
        <p:nvSpPr>
          <p:cNvPr id="4" name="Slide Image Placeholder 3"/>
          <p:cNvSpPr>
            <a:spLocks noGrp="1" noRot="1" noChangeAspect="1"/>
          </p:cNvSpPr>
          <p:nvPr>
            <p:ph type="sldImg" idx="2"/>
          </p:nvPr>
        </p:nvSpPr>
        <p:spPr>
          <a:xfrm>
            <a:off x="1203325" y="704850"/>
            <a:ext cx="4692650" cy="3519488"/>
          </a:xfrm>
          <a:prstGeom prst="rect">
            <a:avLst/>
          </a:prstGeom>
          <a:noFill/>
          <a:ln w="12700">
            <a:solidFill>
              <a:prstClr val="black"/>
            </a:solidFill>
          </a:ln>
        </p:spPr>
        <p:txBody>
          <a:bodyPr vert="horz" wrap="square" lIns="94122" tIns="47062" rIns="94122" bIns="47062"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9931" y="4458018"/>
            <a:ext cx="5679440" cy="4223385"/>
          </a:xfrm>
          <a:prstGeom prst="rect">
            <a:avLst/>
          </a:prstGeom>
        </p:spPr>
        <p:txBody>
          <a:bodyPr vert="horz" wrap="square" lIns="94122" tIns="47062" rIns="94122" bIns="47062"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5" y="8914406"/>
            <a:ext cx="3076364" cy="469265"/>
          </a:xfrm>
          <a:prstGeom prst="rect">
            <a:avLst/>
          </a:prstGeom>
        </p:spPr>
        <p:txBody>
          <a:bodyPr vert="horz" wrap="square" lIns="94122" tIns="47062" rIns="94122" bIns="47062"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21296" y="8914406"/>
            <a:ext cx="3076364" cy="469265"/>
          </a:xfrm>
          <a:prstGeom prst="rect">
            <a:avLst/>
          </a:prstGeom>
        </p:spPr>
        <p:txBody>
          <a:bodyPr vert="horz" wrap="square" lIns="94122" tIns="47062" rIns="94122" bIns="47062"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fontScale="77500" lnSpcReduction="20000"/>
          </a:bodyPr>
          <a:lstStyle/>
          <a:p>
            <a:r>
              <a:rPr lang="en-US" sz="1600" b="1" dirty="0"/>
              <a:t>Promise of the Spirit</a:t>
            </a:r>
            <a:endParaRPr lang="en-US" sz="1600" dirty="0"/>
          </a:p>
          <a:p>
            <a:r>
              <a:rPr lang="en-US" sz="1600" b="1" dirty="0"/>
              <a:t>Key Verses:</a:t>
            </a:r>
            <a:endParaRPr lang="en-US" sz="1600" dirty="0"/>
          </a:p>
          <a:p>
            <a:r>
              <a:rPr lang="en-US" sz="1600" b="1" dirty="0"/>
              <a:t>Joel 2:28–29; Acts 2:38–39</a:t>
            </a:r>
            <a:endParaRPr lang="en-US" sz="1600" dirty="0"/>
          </a:p>
          <a:p>
            <a:r>
              <a:rPr lang="en-US" sz="1600" i="1" dirty="0"/>
              <a:t>God promises His Spirit to dwell with and in His people.</a:t>
            </a:r>
            <a:endParaRPr lang="en-US" sz="1600" dirty="0"/>
          </a:p>
          <a:p>
            <a:r>
              <a:rPr lang="en-US" sz="1600" dirty="0"/>
              <a:t> </a:t>
            </a:r>
          </a:p>
          <a:p>
            <a:r>
              <a:rPr lang="en-US" sz="1600" b="1" dirty="0"/>
              <a:t>Core Theme</a:t>
            </a:r>
            <a:endParaRPr lang="en-US" sz="1600" dirty="0"/>
          </a:p>
          <a:p>
            <a:r>
              <a:rPr lang="en-US" sz="1600" i="1" dirty="0"/>
              <a:t>From the beginning, God’s plan was not only to dwell among His people but within them.</a:t>
            </a:r>
          </a:p>
          <a:p>
            <a:r>
              <a:rPr lang="en-US" sz="1600" i="1" dirty="0"/>
              <a:t>The promise of the Spirit fulfills God’s desire for fellowship, holiness, and empowerment in His people.</a:t>
            </a:r>
          </a:p>
          <a:p>
            <a:endParaRPr lang="en-US" sz="1600" dirty="0"/>
          </a:p>
          <a:p>
            <a:r>
              <a:rPr lang="en-US" sz="1600" b="1" dirty="0"/>
              <a:t>God’s Character in History</a:t>
            </a:r>
            <a:endParaRPr lang="en-US" sz="1600" dirty="0"/>
          </a:p>
          <a:p>
            <a:r>
              <a:rPr lang="en-US" sz="1600" b="1" dirty="0"/>
              <a:t>At Pentecost (Acts 2:1–4, 16–18):</a:t>
            </a:r>
            <a:endParaRPr lang="en-US" sz="1600" dirty="0"/>
          </a:p>
          <a:p>
            <a:r>
              <a:rPr lang="en-US" sz="1600" dirty="0"/>
              <a:t>The Holy Spirit was poured out upon all believers in fulfillment of Joel’s prophecy.</a:t>
            </a:r>
          </a:p>
          <a:p>
            <a:r>
              <a:rPr lang="en-US" sz="1600" dirty="0"/>
              <a:t>Tongues of fire, the sound of a rushing wind, and bold proclamation marked this new era.</a:t>
            </a:r>
          </a:p>
          <a:p>
            <a:r>
              <a:rPr lang="en-US" sz="1600" b="1" dirty="0"/>
              <a:t>Ongoing Work:</a:t>
            </a:r>
            <a:endParaRPr lang="en-US" sz="1600" dirty="0"/>
          </a:p>
          <a:p>
            <a:r>
              <a:rPr lang="en-US" sz="1600" dirty="0"/>
              <a:t>Throughout the book of Acts, the Spirit empowered the church to witness, to perform miracles, to discern truth, and to establish unity among believers.</a:t>
            </a:r>
          </a:p>
          <a:p>
            <a:r>
              <a:rPr lang="en-US" sz="1600" dirty="0"/>
              <a:t>The Spirit’s presence became the sign of belonging to Christ’s body (Acts 10:44–48; 19:1–6).</a:t>
            </a:r>
          </a:p>
          <a:p>
            <a:r>
              <a:rPr lang="en-US" sz="1600" b="1" dirty="0"/>
              <a:t>Summary:</a:t>
            </a:r>
            <a:endParaRPr lang="en-US" sz="1600" dirty="0"/>
          </a:p>
          <a:p>
            <a:r>
              <a:rPr lang="en-US" sz="1600" dirty="0"/>
              <a:t>The outpouring of the Spirit marked the birth of the church and continues to define its mission. The Spirit’s guidance is seen in comfort, conviction, and courage among believers.</a:t>
            </a:r>
          </a:p>
          <a:p>
            <a:endParaRPr lang="en-US" dirty="0"/>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3562420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5C54A-0CA2-D446-FEEE-25092C128F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6C41FF-4EF1-57E1-D01F-1A7F1106F4C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5933434-B584-32FF-5D59-C65D97766B69}"/>
              </a:ext>
            </a:extLst>
          </p:cNvPr>
          <p:cNvSpPr>
            <a:spLocks noGrp="1"/>
          </p:cNvSpPr>
          <p:nvPr>
            <p:ph type="body" idx="1"/>
          </p:nvPr>
        </p:nvSpPr>
        <p:spPr/>
        <p:txBody>
          <a:bodyPr>
            <a:normAutofit fontScale="40000" lnSpcReduction="20000"/>
          </a:bodyPr>
          <a:lstStyle/>
          <a:p>
            <a:r>
              <a:rPr lang="en-US" sz="1400" b="1" i="1" dirty="0"/>
              <a:t>God’s Character Revealed in Jesus</a:t>
            </a:r>
            <a:endParaRPr lang="en-US" sz="1400" dirty="0"/>
          </a:p>
          <a:p>
            <a:r>
              <a:rPr lang="en-US" sz="1400" dirty="0"/>
              <a:t>John 16:7; Acts 1:8. Jesus promised and sent the Spirit to empower His people.</a:t>
            </a:r>
          </a:p>
          <a:p>
            <a:endParaRPr lang="en-US" sz="1400" dirty="0"/>
          </a:p>
          <a:p>
            <a:r>
              <a:rPr lang="en-US" sz="1400" dirty="0"/>
              <a:t>Joh 16:4-15  But these things I have told you, that when the time comes, you may remember that I told you of them. "And these things I did not say to you at the beginning, because I was with you.  (5)  "But now I go away to Him who sent Me, and none of you asks Me, 'Where are You going?'  (6)  But because I have said these things to you, sorrow has filled your heart.  (7</a:t>
            </a:r>
            <a:r>
              <a:rPr lang="en-US" sz="1400" b="1" dirty="0"/>
              <a:t>)  Nevertheless I tell you the truth. It is to your advantage that I go away; for if I do not go away, the Helper will not come to you; but if I depart, I will send Him to you.  (8)  And when He has come, He will convict the world of sin, and of righteousness, and of judgment:  (9)  of sin, because they do not believe in Me;  (10)  of righteousness, because I go to My Father and you see Me no more;  (11)  of judgment, because the ruler of this world is judged.  (12)  "I still have many things to say to you, but you cannot bear them now.  (13)  However, when He, the Spirit of truth, has come, He will guide you into all truth; for He will not speak on His own authority, but whatever He hears He will speak; and He will tell you things to come.  (14)  He will glorify Me, for He will take of what is Mine and declare it to you.</a:t>
            </a:r>
            <a:r>
              <a:rPr lang="en-US" sz="1400" dirty="0"/>
              <a:t>  (15)  All things that the Father has are Mine. Therefore I said that He will take of Mine and declare it to you.</a:t>
            </a:r>
          </a:p>
          <a:p>
            <a:endParaRPr lang="en-US" sz="1400" dirty="0"/>
          </a:p>
          <a:p>
            <a:pPr defTabSz="914246"/>
            <a:r>
              <a:rPr lang="en-US" sz="1400" dirty="0"/>
              <a:t>Act 1:6-11  Therefore, when they had come together, they asked Him, saying, "Lord, will You at this time restore the kingdom to Israel?"  (7)  And He said to them, "It is not for you to know times or seasons which the Father has put in His own authority.  (8)  </a:t>
            </a:r>
            <a:r>
              <a:rPr lang="en-US" sz="1400" b="1" dirty="0"/>
              <a:t>But you shall receive power when the Holy Spirit has come upon you; and you shall be witnesses to Me in Jerusalem, and in all Judea and Samaria, and to the end of the earth."  </a:t>
            </a:r>
            <a:r>
              <a:rPr lang="en-US" sz="1400" dirty="0"/>
              <a:t>(9)  Now when He had spoken these things, while they watched, He was taken up, and a cloud received Him out of their sight.  (10)  And while they looked steadfastly toward heaven as He went up, behold, two men stood by them in white apparel,  (11)  who also said, "Men of Galilee, why do you stand gazing up into heaven? This </a:t>
            </a:r>
            <a:r>
              <a:rPr lang="en-US" sz="1400" i="1" dirty="0"/>
              <a:t>same</a:t>
            </a:r>
            <a:r>
              <a:rPr lang="en-US" sz="1400" dirty="0"/>
              <a:t> Jesus, who was taken up from you into heaven, will so come in like manner as you saw Him go into heaven."</a:t>
            </a:r>
          </a:p>
          <a:p>
            <a:endParaRPr lang="en-US" sz="1400" dirty="0"/>
          </a:p>
          <a:p>
            <a:endParaRPr lang="en-US" sz="1400" dirty="0"/>
          </a:p>
          <a:p>
            <a:r>
              <a:rPr lang="en-US" sz="1400" b="1" i="1" dirty="0"/>
              <a:t>God’s Invitation to Know Him </a:t>
            </a:r>
            <a:endParaRPr lang="en-US" sz="1400" dirty="0"/>
          </a:p>
          <a:p>
            <a:r>
              <a:rPr lang="en-US" sz="1400" dirty="0"/>
              <a:t>Romans 8:9–11; Ephesians 1:13–14. </a:t>
            </a:r>
            <a:r>
              <a:rPr lang="en-US" sz="1400" b="1" dirty="0"/>
              <a:t>The Spirit is God’s seal and guarantee of our inheritance</a:t>
            </a:r>
            <a:r>
              <a:rPr lang="en-US" sz="1400" dirty="0"/>
              <a:t>.</a:t>
            </a:r>
          </a:p>
          <a:p>
            <a:endParaRPr lang="en-US" sz="1400" b="1" i="1" dirty="0"/>
          </a:p>
          <a:p>
            <a:pPr defTabSz="914246"/>
            <a:r>
              <a:rPr lang="en-US" sz="1400" dirty="0"/>
              <a:t>Rom 8:9-11  But you are not in the flesh but in the Spirit, if indeed the Spirit of God dwells in you. Now if anyone does not have the Spirit of Christ, he is not His.  (10)  And if Christ </a:t>
            </a:r>
            <a:r>
              <a:rPr lang="en-US" sz="1400" i="1" dirty="0"/>
              <a:t>is</a:t>
            </a:r>
            <a:r>
              <a:rPr lang="en-US" sz="1400" dirty="0"/>
              <a:t> in you, the body </a:t>
            </a:r>
            <a:r>
              <a:rPr lang="en-US" sz="1400" i="1" dirty="0"/>
              <a:t>is</a:t>
            </a:r>
            <a:r>
              <a:rPr lang="en-US" sz="1400" dirty="0"/>
              <a:t> dead because of sin, but the Spirit </a:t>
            </a:r>
            <a:r>
              <a:rPr lang="en-US" sz="1400" i="1" dirty="0"/>
              <a:t>is</a:t>
            </a:r>
            <a:r>
              <a:rPr lang="en-US" sz="1400" dirty="0"/>
              <a:t> life because of righteousness.  (11)  But if the Spirit of Him who raised Jesus from the dead dwells in you, He who raised Christ from the dead will also give life to your mortal bodies through His Spirit who dwells in you.</a:t>
            </a:r>
          </a:p>
          <a:p>
            <a:endParaRPr lang="en-US" sz="1400" b="1" i="1" dirty="0"/>
          </a:p>
          <a:p>
            <a:pPr defTabSz="914246"/>
            <a:r>
              <a:rPr lang="en-US" sz="1400" dirty="0"/>
              <a:t>Eph 1:13-14  In Him you also </a:t>
            </a:r>
            <a:r>
              <a:rPr lang="en-US" sz="1400" i="1" dirty="0"/>
              <a:t>trusted,</a:t>
            </a:r>
            <a:r>
              <a:rPr lang="en-US" sz="1400" dirty="0"/>
              <a:t> after you heard the word of truth, the gospel of your salvation; in whom also, having believed, you were sealed with the Holy Spirit of promise,  (14)  who is the guarantee of our inheritance until the redemption of the purchased possession, to the praise of His glory.</a:t>
            </a:r>
          </a:p>
          <a:p>
            <a:endParaRPr lang="en-US" sz="1400" b="1" i="1" dirty="0"/>
          </a:p>
          <a:p>
            <a:r>
              <a:rPr lang="en-US" sz="1400" b="1" dirty="0"/>
              <a:t>God’s Character Revealed in Jesus</a:t>
            </a:r>
            <a:endParaRPr lang="en-US" sz="1400" dirty="0"/>
          </a:p>
          <a:p>
            <a:r>
              <a:rPr lang="en-US" sz="1400" b="1" dirty="0"/>
              <a:t>John 16:7 (NASB 1995):</a:t>
            </a:r>
            <a:endParaRPr lang="en-US" sz="1400" dirty="0"/>
          </a:p>
          <a:p>
            <a:r>
              <a:rPr lang="en-US" sz="1400" dirty="0"/>
              <a:t>“But I tell you the truth, it is to your advantage that I go away; for if I do not go away,</a:t>
            </a:r>
          </a:p>
          <a:p>
            <a:r>
              <a:rPr lang="en-US" sz="1400" dirty="0"/>
              <a:t>the Helper will not come to you; but if I go, I will send Him to you.”</a:t>
            </a:r>
          </a:p>
          <a:p>
            <a:r>
              <a:rPr lang="en-US" sz="1400" b="1" dirty="0"/>
              <a:t>Acts 1:8 (NASB 1995):</a:t>
            </a:r>
            <a:endParaRPr lang="en-US" sz="1400" dirty="0"/>
          </a:p>
          <a:p>
            <a:r>
              <a:rPr lang="en-US" sz="1400" dirty="0"/>
              <a:t>“But you will receive power when the Holy Spirit has come upon you;</a:t>
            </a:r>
          </a:p>
          <a:p>
            <a:r>
              <a:rPr lang="en-US" sz="1400" dirty="0"/>
              <a:t>and you shall be My witnesses both in Jerusalem, and in all Judea and Samaria,</a:t>
            </a:r>
          </a:p>
          <a:p>
            <a:r>
              <a:rPr lang="en-US" sz="1400" dirty="0"/>
              <a:t>and even to the remotest part of the earth.”</a:t>
            </a:r>
          </a:p>
          <a:p>
            <a:r>
              <a:rPr lang="en-US" sz="1400" b="1" dirty="0"/>
              <a:t>Summary:</a:t>
            </a:r>
            <a:endParaRPr lang="en-US" sz="1400" dirty="0"/>
          </a:p>
          <a:p>
            <a:r>
              <a:rPr lang="en-US" sz="1400" dirty="0"/>
              <a:t>Jesus not only promised the Spirit but directly sent Him after His ascension.</a:t>
            </a:r>
          </a:p>
          <a:p>
            <a:r>
              <a:rPr lang="en-US" sz="1400" dirty="0"/>
              <a:t>The Spirit continues Christ’s work on earth—teaching, guiding, and empowering His people.</a:t>
            </a:r>
          </a:p>
          <a:p>
            <a:r>
              <a:rPr lang="en-US" sz="1400" dirty="0"/>
              <a:t> </a:t>
            </a:r>
          </a:p>
          <a:p>
            <a:endParaRPr lang="en-US" dirty="0"/>
          </a:p>
        </p:txBody>
      </p:sp>
      <p:sp>
        <p:nvSpPr>
          <p:cNvPr id="4" name="Slide Number Placeholder 3">
            <a:extLst>
              <a:ext uri="{FF2B5EF4-FFF2-40B4-BE49-F238E27FC236}">
                <a16:creationId xmlns:a16="http://schemas.microsoft.com/office/drawing/2014/main" id="{517F07E8-A341-3E69-2E3F-81FD5E2E1368}"/>
              </a:ext>
            </a:extLst>
          </p:cNvPr>
          <p:cNvSpPr>
            <a:spLocks noGrp="1"/>
          </p:cNvSpPr>
          <p:nvPr>
            <p:ph type="sldNum" sz="quarter" idx="10"/>
          </p:nvPr>
        </p:nvSpPr>
        <p:spPr/>
        <p:txBody>
          <a:bodyPr/>
          <a:lstStyle/>
          <a:p>
            <a:pPr>
              <a:defRPr/>
            </a:pPr>
            <a:fld id="{07776858-791E-4C8D-8FA3-473B3AFECFAC}" type="slidenum">
              <a:rPr lang="en-US" smtClean="0"/>
              <a:pPr>
                <a:defRPr/>
              </a:pPr>
              <a:t>2</a:t>
            </a:fld>
            <a:endParaRPr lang="en-US" dirty="0"/>
          </a:p>
        </p:txBody>
      </p:sp>
    </p:spTree>
    <p:extLst>
      <p:ext uri="{BB962C8B-B14F-4D97-AF65-F5344CB8AC3E}">
        <p14:creationId xmlns:p14="http://schemas.microsoft.com/office/powerpoint/2010/main" val="1463107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F1912-9687-B8E9-22F1-A9BE95E6EA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50416F-AB90-DE76-B574-E20335C4431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FF9265C-5430-344F-FAF6-14EE81F2252B}"/>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5F4F9B91-6634-FA98-646B-2250E6822377}"/>
              </a:ext>
            </a:extLst>
          </p:cNvPr>
          <p:cNvSpPr>
            <a:spLocks noGrp="1"/>
          </p:cNvSpPr>
          <p:nvPr>
            <p:ph type="sldNum" sz="quarter" idx="10"/>
          </p:nvPr>
        </p:nvSpPr>
        <p:spPr/>
        <p:txBody>
          <a:bodyPr/>
          <a:lstStyle/>
          <a:p>
            <a:pPr>
              <a:defRPr/>
            </a:pPr>
            <a:fld id="{07776858-791E-4C8D-8FA3-473B3AFECFAC}" type="slidenum">
              <a:rPr lang="en-US" smtClean="0"/>
              <a:pPr>
                <a:defRPr/>
              </a:pPr>
              <a:t>3</a:t>
            </a:fld>
            <a:endParaRPr lang="en-US" dirty="0"/>
          </a:p>
        </p:txBody>
      </p:sp>
    </p:spTree>
    <p:extLst>
      <p:ext uri="{BB962C8B-B14F-4D97-AF65-F5344CB8AC3E}">
        <p14:creationId xmlns:p14="http://schemas.microsoft.com/office/powerpoint/2010/main" val="3986419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53302-01D8-06DB-6DA3-A57159FA38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CF9DED-CDDF-2DF4-0F39-AFB22468ABE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FF56860-7A45-A0E3-3B74-FD86F1FFAC6D}"/>
              </a:ext>
            </a:extLst>
          </p:cNvPr>
          <p:cNvSpPr>
            <a:spLocks noGrp="1"/>
          </p:cNvSpPr>
          <p:nvPr>
            <p:ph type="body" idx="1"/>
          </p:nvPr>
        </p:nvSpPr>
        <p:spPr/>
        <p:txBody>
          <a:bodyPr>
            <a:normAutofit/>
          </a:bodyPr>
          <a:lstStyle/>
          <a:p>
            <a:r>
              <a:rPr lang="en-US" sz="1400" dirty="0"/>
              <a:t>God’s promise of the Spirit is the fulfillment of His plan to dwell among His people.</a:t>
            </a:r>
          </a:p>
          <a:p>
            <a:r>
              <a:rPr lang="en-US" sz="1400" dirty="0"/>
              <a:t>Through the Spirit, believers experience God’s presence, power, and assurance.</a:t>
            </a:r>
          </a:p>
          <a:p>
            <a:r>
              <a:rPr lang="en-US" sz="1400" dirty="0"/>
              <a:t>He is the living connection between the risen Christ and His church—God with us, and God in us.</a:t>
            </a:r>
          </a:p>
          <a:p>
            <a:endParaRPr lang="en-US" dirty="0"/>
          </a:p>
        </p:txBody>
      </p:sp>
      <p:sp>
        <p:nvSpPr>
          <p:cNvPr id="4" name="Slide Number Placeholder 3">
            <a:extLst>
              <a:ext uri="{FF2B5EF4-FFF2-40B4-BE49-F238E27FC236}">
                <a16:creationId xmlns:a16="http://schemas.microsoft.com/office/drawing/2014/main" id="{17E62DF3-0638-0473-FCC4-99503AE43931}"/>
              </a:ext>
            </a:extLst>
          </p:cNvPr>
          <p:cNvSpPr>
            <a:spLocks noGrp="1"/>
          </p:cNvSpPr>
          <p:nvPr>
            <p:ph type="sldNum" sz="quarter" idx="10"/>
          </p:nvPr>
        </p:nvSpPr>
        <p:spPr/>
        <p:txBody>
          <a:bodyPr/>
          <a:lstStyle/>
          <a:p>
            <a:pPr>
              <a:defRPr/>
            </a:pPr>
            <a:fld id="{07776858-791E-4C8D-8FA3-473B3AFECFAC}" type="slidenum">
              <a:rPr lang="en-US" smtClean="0"/>
              <a:pPr>
                <a:defRPr/>
              </a:pPr>
              <a:t>4</a:t>
            </a:fld>
            <a:endParaRPr lang="en-US" dirty="0"/>
          </a:p>
        </p:txBody>
      </p:sp>
    </p:spTree>
    <p:extLst>
      <p:ext uri="{BB962C8B-B14F-4D97-AF65-F5344CB8AC3E}">
        <p14:creationId xmlns:p14="http://schemas.microsoft.com/office/powerpoint/2010/main" val="5545800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FAEA6-993A-EA09-969C-3EFD9ACEF7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BC8378-2780-6A22-0A01-E0BD9575067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E1EC2C2-DFF6-1D39-3A46-9E0D5A9A2EB1}"/>
              </a:ext>
            </a:extLst>
          </p:cNvPr>
          <p:cNvSpPr>
            <a:spLocks noGrp="1"/>
          </p:cNvSpPr>
          <p:nvPr>
            <p:ph type="body" idx="1"/>
          </p:nvPr>
        </p:nvSpPr>
        <p:spPr/>
        <p:txBody>
          <a:bodyPr>
            <a:normAutofit fontScale="32500" lnSpcReduction="20000"/>
          </a:bodyPr>
          <a:lstStyle/>
          <a:p>
            <a:r>
              <a:rPr lang="en-US" sz="1600" b="1" dirty="0"/>
              <a:t>The Apostolic Fathers (AD 90–150)</a:t>
            </a:r>
            <a:endParaRPr lang="en-US" sz="1600" dirty="0"/>
          </a:p>
          <a:p>
            <a:r>
              <a:rPr lang="en-US" sz="1600" dirty="0"/>
              <a:t>These writers were closest in time to the Apostles. They often spoke of the Holy Spirit in practical and moral terms.</a:t>
            </a:r>
          </a:p>
          <a:p>
            <a:r>
              <a:rPr lang="en-US" sz="1600" b="1" dirty="0"/>
              <a:t>The Didache (Teaching of the Twelve Apostles)</a:t>
            </a:r>
            <a:endParaRPr lang="en-US" sz="1600" dirty="0"/>
          </a:p>
          <a:p>
            <a:pPr rtl="0" fontAlgn="ctr"/>
            <a:r>
              <a:rPr lang="en-US" sz="1600" dirty="0"/>
              <a:t>Mentions baptism “in the name of the Father and of the Son and of the Holy Spirit.”</a:t>
            </a:r>
          </a:p>
          <a:p>
            <a:pPr rtl="0" fontAlgn="ctr"/>
            <a:r>
              <a:rPr lang="en-US" sz="1600" dirty="0"/>
              <a:t>The Spirit was tied to </a:t>
            </a:r>
            <a:r>
              <a:rPr lang="en-US" sz="1600" b="1" dirty="0"/>
              <a:t>new life</a:t>
            </a:r>
            <a:r>
              <a:rPr lang="en-US" sz="1600" dirty="0"/>
              <a:t> and </a:t>
            </a:r>
            <a:r>
              <a:rPr lang="en-US" sz="1600" b="1" dirty="0"/>
              <a:t>obedience</a:t>
            </a:r>
            <a:r>
              <a:rPr lang="en-US" sz="1600" dirty="0"/>
              <a:t>.</a:t>
            </a:r>
          </a:p>
          <a:p>
            <a:pPr rtl="0" fontAlgn="ctr"/>
            <a:r>
              <a:rPr lang="en-US" sz="1600" dirty="0"/>
              <a:t>This reflects the same Trinitarian confession seen in Matthew 28:19.</a:t>
            </a:r>
          </a:p>
          <a:p>
            <a:r>
              <a:rPr lang="en-US" sz="1600" b="1" dirty="0"/>
              <a:t>Ignatius of Antioch (c. AD 110)</a:t>
            </a:r>
            <a:endParaRPr lang="en-US" sz="1600" dirty="0"/>
          </a:p>
          <a:p>
            <a:pPr rtl="0" fontAlgn="ctr"/>
            <a:r>
              <a:rPr lang="en-US" sz="1600" dirty="0"/>
              <a:t>Called the Spirit </a:t>
            </a:r>
            <a:r>
              <a:rPr lang="en-US" sz="1600" b="1" dirty="0"/>
              <a:t>“the bond of unity”</a:t>
            </a:r>
            <a:r>
              <a:rPr lang="en-US" sz="1600" dirty="0"/>
              <a:t> between believers and Christ.</a:t>
            </a:r>
          </a:p>
          <a:p>
            <a:pPr rtl="0" fontAlgn="ctr"/>
            <a:r>
              <a:rPr lang="en-US" sz="1600" dirty="0"/>
              <a:t>Taught that the Spirit gives </a:t>
            </a:r>
            <a:r>
              <a:rPr lang="en-US" sz="1600" b="1" dirty="0"/>
              <a:t>discernment and truth</a:t>
            </a:r>
            <a:r>
              <a:rPr lang="en-US" sz="1600" dirty="0"/>
              <a:t> to the church:</a:t>
            </a:r>
            <a:br>
              <a:rPr lang="en-US" sz="1600" dirty="0"/>
            </a:br>
            <a:r>
              <a:rPr lang="en-US" sz="1600" dirty="0"/>
              <a:t>“Do nothing without the bishop and the presbyters; do all things in harmony with God, with the bishop presiding in the place of God, and the presbyters in the place of the apostles, and the deacons… entrusted with the service of Jesus Christ, who was with the Father before the ages, and in the end was revealed.”</a:t>
            </a:r>
            <a:br>
              <a:rPr lang="en-US" sz="1600" dirty="0"/>
            </a:br>
            <a:r>
              <a:rPr lang="en-US" sz="1600" i="1" dirty="0"/>
              <a:t>(Letter to the Magnesians 6)</a:t>
            </a:r>
            <a:br>
              <a:rPr lang="en-US" sz="1600" i="1" dirty="0"/>
            </a:br>
            <a:r>
              <a:rPr lang="en-US" sz="1600" dirty="0"/>
              <a:t>The Spirit’s presence was assumed as the power maintaining order and love in the church.</a:t>
            </a:r>
          </a:p>
          <a:p>
            <a:r>
              <a:rPr lang="en-US" sz="1600" b="1" dirty="0"/>
              <a:t>Polycarp of Smyrna (c. AD 110–140)</a:t>
            </a:r>
            <a:endParaRPr lang="en-US" sz="1600" dirty="0"/>
          </a:p>
          <a:p>
            <a:pPr rtl="0" fontAlgn="ctr"/>
            <a:r>
              <a:rPr lang="en-US" sz="1600" dirty="0"/>
              <a:t>Spoke of the Spirit as </a:t>
            </a:r>
            <a:r>
              <a:rPr lang="en-US" sz="1600" b="1" dirty="0"/>
              <a:t>the source of endurance and holiness</a:t>
            </a:r>
            <a:r>
              <a:rPr lang="en-US" sz="1600" dirty="0"/>
              <a:t>.</a:t>
            </a:r>
            <a:br>
              <a:rPr lang="en-US" sz="1600" dirty="0"/>
            </a:br>
            <a:r>
              <a:rPr lang="en-US" sz="1600" dirty="0"/>
              <a:t>“He who raised up Christ from the dead will raise up us also—if we do His will and walk in His commandments and love what He loved.”</a:t>
            </a:r>
            <a:br>
              <a:rPr lang="en-US" sz="1600" dirty="0"/>
            </a:br>
            <a:r>
              <a:rPr lang="en-US" sz="1600" i="1" dirty="0"/>
              <a:t>(Letter to the Philippians 2)</a:t>
            </a:r>
            <a:br>
              <a:rPr lang="en-US" sz="1600" i="1" dirty="0"/>
            </a:br>
            <a:r>
              <a:rPr lang="en-US" sz="1600" dirty="0"/>
              <a:t>The Spirit empowers obedience and faithfulness under persecution.</a:t>
            </a:r>
          </a:p>
          <a:p>
            <a:endParaRPr lang="en-US" sz="1600" dirty="0"/>
          </a:p>
          <a:p>
            <a:r>
              <a:rPr lang="en-US" sz="1600" b="1" dirty="0"/>
              <a:t>The Apologists (AD 150–200)</a:t>
            </a:r>
            <a:endParaRPr lang="en-US" sz="1600" dirty="0"/>
          </a:p>
          <a:p>
            <a:r>
              <a:rPr lang="en-US" sz="1600" dirty="0"/>
              <a:t>As Christianity faced criticism from pagans and Jews, the apologists explained the Spirit’s divine role in creation and prophecy.</a:t>
            </a:r>
          </a:p>
          <a:p>
            <a:r>
              <a:rPr lang="en-US" sz="1600" b="1" dirty="0"/>
              <a:t>Justin Martyr (c. AD 155)</a:t>
            </a:r>
            <a:endParaRPr lang="en-US" sz="1600" dirty="0"/>
          </a:p>
          <a:p>
            <a:pPr rtl="0" fontAlgn="ctr"/>
            <a:r>
              <a:rPr lang="en-US" sz="1600" dirty="0"/>
              <a:t>Affirmed the Spirit’s </a:t>
            </a:r>
            <a:r>
              <a:rPr lang="en-US" sz="1600" b="1" dirty="0"/>
              <a:t>divinity and prophetic activity</a:t>
            </a:r>
            <a:r>
              <a:rPr lang="en-US" sz="1600" dirty="0"/>
              <a:t>.</a:t>
            </a:r>
            <a:br>
              <a:rPr lang="en-US" sz="1600" dirty="0"/>
            </a:br>
            <a:r>
              <a:rPr lang="en-US" sz="1600" dirty="0"/>
              <a:t>“We worship and adore the Father, the Son, and the prophetic Spirit.”</a:t>
            </a:r>
            <a:br>
              <a:rPr lang="en-US" sz="1600" dirty="0"/>
            </a:br>
            <a:r>
              <a:rPr lang="en-US" sz="1600" i="1" dirty="0"/>
              <a:t>(First Apology 6)</a:t>
            </a:r>
            <a:endParaRPr lang="en-US" sz="1600" dirty="0"/>
          </a:p>
          <a:p>
            <a:pPr rtl="0" fontAlgn="ctr"/>
            <a:r>
              <a:rPr lang="en-US" sz="1600" dirty="0"/>
              <a:t>Saw the Spirit as the </a:t>
            </a:r>
            <a:r>
              <a:rPr lang="en-US" sz="1600" b="1" dirty="0"/>
              <a:t>voice of prophecy</a:t>
            </a:r>
            <a:r>
              <a:rPr lang="en-US" sz="1600" dirty="0"/>
              <a:t> throughout the Old Testament.</a:t>
            </a:r>
          </a:p>
          <a:p>
            <a:pPr rtl="0" fontAlgn="ctr"/>
            <a:r>
              <a:rPr lang="en-US" sz="1600" dirty="0"/>
              <a:t>Said the Spirit inspired all who spoke truth, even before Christ’s incarnation.</a:t>
            </a:r>
          </a:p>
          <a:p>
            <a:r>
              <a:rPr lang="en-US" sz="1600" b="1" dirty="0"/>
              <a:t>Athenagoras of Athens (c. AD 177)</a:t>
            </a:r>
            <a:endParaRPr lang="en-US" sz="1600" dirty="0"/>
          </a:p>
          <a:p>
            <a:pPr rtl="0" fontAlgn="ctr"/>
            <a:r>
              <a:rPr lang="en-US" sz="1600" dirty="0"/>
              <a:t>Wrote that the Spirit </a:t>
            </a:r>
            <a:r>
              <a:rPr lang="en-US" sz="1600" b="1" dirty="0"/>
              <a:t>“moves the prophets”</a:t>
            </a:r>
            <a:r>
              <a:rPr lang="en-US" sz="1600" dirty="0"/>
              <a:t> and reveals the mysteries of God.</a:t>
            </a:r>
          </a:p>
          <a:p>
            <a:pPr rtl="0" fontAlgn="ctr"/>
            <a:r>
              <a:rPr lang="en-US" sz="1600" dirty="0"/>
              <a:t>Explained the Trinity in terms of </a:t>
            </a:r>
            <a:r>
              <a:rPr lang="en-US" sz="1600" b="1" dirty="0"/>
              <a:t>harmony and distinction</a:t>
            </a:r>
            <a:r>
              <a:rPr lang="en-US" sz="1600" dirty="0"/>
              <a:t>, saying the Spirit is not a created force but a divine person proceeding from God.</a:t>
            </a:r>
          </a:p>
          <a:p>
            <a:endParaRPr lang="en-US" sz="1600" dirty="0"/>
          </a:p>
          <a:p>
            <a:r>
              <a:rPr lang="en-US" sz="1600" b="1" dirty="0"/>
              <a:t>The Theologians and Bishops (AD 180–250)</a:t>
            </a:r>
            <a:endParaRPr lang="en-US" sz="1600" dirty="0"/>
          </a:p>
          <a:p>
            <a:r>
              <a:rPr lang="en-US" sz="1600" dirty="0"/>
              <a:t>Here, the teaching on the Holy Spirit became more developed and clearly Trinitarian.</a:t>
            </a:r>
          </a:p>
          <a:p>
            <a:r>
              <a:rPr lang="en-US" sz="1600" b="1" dirty="0"/>
              <a:t>Irenaeus of Lyons (c. AD 180)</a:t>
            </a:r>
            <a:endParaRPr lang="en-US" sz="1600" dirty="0"/>
          </a:p>
          <a:p>
            <a:pPr rtl="0" fontAlgn="ctr"/>
            <a:r>
              <a:rPr lang="en-US" sz="1600" dirty="0"/>
              <a:t>Described the Spirit as the </a:t>
            </a:r>
            <a:r>
              <a:rPr lang="en-US" sz="1600" b="1" dirty="0"/>
              <a:t>“breath of God”</a:t>
            </a:r>
            <a:r>
              <a:rPr lang="en-US" sz="1600" dirty="0"/>
              <a:t> and the </a:t>
            </a:r>
            <a:r>
              <a:rPr lang="en-US" sz="1600" b="1" dirty="0"/>
              <a:t>means of renewal</a:t>
            </a:r>
            <a:r>
              <a:rPr lang="en-US" sz="1600" dirty="0"/>
              <a:t>.</a:t>
            </a:r>
          </a:p>
          <a:p>
            <a:pPr rtl="0" fontAlgn="ctr"/>
            <a:r>
              <a:rPr lang="en-US" sz="1600" dirty="0"/>
              <a:t>Called the Spirit one of the </a:t>
            </a:r>
            <a:r>
              <a:rPr lang="en-US" sz="1600" b="1" dirty="0"/>
              <a:t>“two hands of God”</a:t>
            </a:r>
            <a:r>
              <a:rPr lang="en-US" sz="1600" dirty="0"/>
              <a:t>—the Son and the Spirit—through whom God created and redeems humanity.</a:t>
            </a:r>
            <a:br>
              <a:rPr lang="en-US" sz="1600" dirty="0"/>
            </a:br>
            <a:r>
              <a:rPr lang="en-US" sz="1600" dirty="0"/>
              <a:t>“Where the Church is, there is the Spirit of God; and where the Spirit of God is, there is the Church and all grace.”</a:t>
            </a:r>
            <a:br>
              <a:rPr lang="en-US" sz="1600" dirty="0"/>
            </a:br>
            <a:r>
              <a:rPr lang="en-US" sz="1600" i="1" dirty="0"/>
              <a:t>(Against Heresies 3.24.1)</a:t>
            </a:r>
            <a:endParaRPr lang="en-US" sz="1600" dirty="0"/>
          </a:p>
          <a:p>
            <a:pPr rtl="0" fontAlgn="ctr"/>
            <a:r>
              <a:rPr lang="en-US" sz="1600" dirty="0"/>
              <a:t>Emphasized the Spirit’s role in </a:t>
            </a:r>
            <a:r>
              <a:rPr lang="en-US" sz="1600" b="1" dirty="0"/>
              <a:t>sanctifying</a:t>
            </a:r>
            <a:r>
              <a:rPr lang="en-US" sz="1600" dirty="0"/>
              <a:t> believers and </a:t>
            </a:r>
            <a:r>
              <a:rPr lang="en-US" sz="1600" b="1" dirty="0"/>
              <a:t>uniting</a:t>
            </a:r>
            <a:r>
              <a:rPr lang="en-US" sz="1600" dirty="0"/>
              <a:t> them with Christ.</a:t>
            </a:r>
          </a:p>
          <a:p>
            <a:r>
              <a:rPr lang="en-US" sz="1600" b="1" dirty="0"/>
              <a:t>Tertullian (c. AD 200)</a:t>
            </a:r>
            <a:endParaRPr lang="en-US" sz="1600" dirty="0"/>
          </a:p>
          <a:p>
            <a:pPr rtl="0" fontAlgn="ctr"/>
            <a:r>
              <a:rPr lang="en-US" sz="1600" dirty="0"/>
              <a:t>Was the first to use the Latin term </a:t>
            </a:r>
            <a:r>
              <a:rPr lang="en-US" sz="1600" b="1" dirty="0"/>
              <a:t>“Trinitas” (Trinity)</a:t>
            </a:r>
            <a:r>
              <a:rPr lang="en-US" sz="1600" dirty="0"/>
              <a:t>.</a:t>
            </a:r>
          </a:p>
          <a:p>
            <a:pPr rtl="0" fontAlgn="ctr"/>
            <a:r>
              <a:rPr lang="en-US" sz="1600" dirty="0"/>
              <a:t>Argued the Spirit is </a:t>
            </a:r>
            <a:r>
              <a:rPr lang="en-US" sz="1600" b="1" dirty="0"/>
              <a:t>a distinct person</a:t>
            </a:r>
            <a:r>
              <a:rPr lang="en-US" sz="1600" dirty="0"/>
              <a:t> but of </a:t>
            </a:r>
            <a:r>
              <a:rPr lang="en-US" sz="1600" b="1" dirty="0"/>
              <a:t>one substance</a:t>
            </a:r>
            <a:r>
              <a:rPr lang="en-US" sz="1600" dirty="0"/>
              <a:t> with the Father and the Son.</a:t>
            </a:r>
            <a:br>
              <a:rPr lang="en-US" sz="1600" dirty="0"/>
            </a:br>
            <a:r>
              <a:rPr lang="en-US" sz="1600" dirty="0"/>
              <a:t>“The Spirit is third from God and the Son, as the fruit from the tree, or the stream from the fountain.”</a:t>
            </a:r>
            <a:br>
              <a:rPr lang="en-US" sz="1600" dirty="0"/>
            </a:br>
            <a:r>
              <a:rPr lang="en-US" sz="1600" i="1" dirty="0"/>
              <a:t>(Against </a:t>
            </a:r>
            <a:r>
              <a:rPr lang="en-US" sz="1600" i="1" dirty="0" err="1"/>
              <a:t>Praxeas</a:t>
            </a:r>
            <a:r>
              <a:rPr lang="en-US" sz="1600" i="1" dirty="0"/>
              <a:t> 8)</a:t>
            </a:r>
            <a:endParaRPr lang="en-US" sz="1600" dirty="0"/>
          </a:p>
          <a:p>
            <a:pPr rtl="0" fontAlgn="ctr"/>
            <a:r>
              <a:rPr lang="en-US" sz="1600" dirty="0"/>
              <a:t>Taught that the Spirit distributes spiritual gifts and leads the church into truth.</a:t>
            </a:r>
          </a:p>
          <a:p>
            <a:endParaRPr lang="en-US" sz="1600" dirty="0"/>
          </a:p>
          <a:p>
            <a:r>
              <a:rPr lang="en-US" sz="1600" b="1" dirty="0"/>
              <a:t>The Early 3rd Century (AD 200–250)</a:t>
            </a:r>
            <a:endParaRPr lang="en-US" sz="1600" dirty="0"/>
          </a:p>
          <a:p>
            <a:r>
              <a:rPr lang="en-US" sz="1600" b="1" dirty="0"/>
              <a:t>Origen of Alexandria</a:t>
            </a:r>
            <a:endParaRPr lang="en-US" sz="1600" dirty="0"/>
          </a:p>
          <a:p>
            <a:pPr rtl="0" fontAlgn="ctr"/>
            <a:r>
              <a:rPr lang="en-US" sz="1600" dirty="0"/>
              <a:t>Saw the Spirit as the </a:t>
            </a:r>
            <a:r>
              <a:rPr lang="en-US" sz="1600" b="1" dirty="0"/>
              <a:t>agent of sanctification and knowledge of God</a:t>
            </a:r>
            <a:r>
              <a:rPr lang="en-US" sz="1600" dirty="0"/>
              <a:t>.</a:t>
            </a:r>
            <a:br>
              <a:rPr lang="en-US" sz="1600" dirty="0"/>
            </a:br>
            <a:r>
              <a:rPr lang="en-US" sz="1600" dirty="0"/>
              <a:t>“No one can call Jesus Lord but by the Holy Spirit.”</a:t>
            </a:r>
            <a:br>
              <a:rPr lang="en-US" sz="1600" dirty="0"/>
            </a:br>
            <a:r>
              <a:rPr lang="en-US" sz="1600" i="1" dirty="0"/>
              <a:t>(On First Principles 1.3)</a:t>
            </a:r>
            <a:endParaRPr lang="en-US" sz="1600" dirty="0"/>
          </a:p>
          <a:p>
            <a:pPr rtl="0" fontAlgn="ctr"/>
            <a:r>
              <a:rPr lang="en-US" sz="1600" dirty="0"/>
              <a:t>Described the Spirit’s work as </a:t>
            </a:r>
            <a:r>
              <a:rPr lang="en-US" sz="1600" b="1" dirty="0"/>
              <a:t>enlightening</a:t>
            </a:r>
            <a:r>
              <a:rPr lang="en-US" sz="1600" dirty="0"/>
              <a:t> the mind to understand Scripture.</a:t>
            </a:r>
          </a:p>
          <a:p>
            <a:pPr rtl="0" fontAlgn="ctr"/>
            <a:r>
              <a:rPr lang="en-US" sz="1600" dirty="0"/>
              <a:t>Distinguished the Spirit’s work in the church from the Father’s act of creation and the Son’s act of redemption.</a:t>
            </a:r>
          </a:p>
          <a:p>
            <a:endParaRPr lang="en-US" sz="1600" dirty="0"/>
          </a:p>
          <a:p>
            <a:endParaRPr lang="en-US" dirty="0"/>
          </a:p>
        </p:txBody>
      </p:sp>
      <p:sp>
        <p:nvSpPr>
          <p:cNvPr id="4" name="Slide Number Placeholder 3">
            <a:extLst>
              <a:ext uri="{FF2B5EF4-FFF2-40B4-BE49-F238E27FC236}">
                <a16:creationId xmlns:a16="http://schemas.microsoft.com/office/drawing/2014/main" id="{3DFAFD82-FF00-5AD7-9BB4-858431C4D3A6}"/>
              </a:ext>
            </a:extLst>
          </p:cNvPr>
          <p:cNvSpPr>
            <a:spLocks noGrp="1"/>
          </p:cNvSpPr>
          <p:nvPr>
            <p:ph type="sldNum" sz="quarter" idx="10"/>
          </p:nvPr>
        </p:nvSpPr>
        <p:spPr/>
        <p:txBody>
          <a:bodyPr/>
          <a:lstStyle/>
          <a:p>
            <a:pPr>
              <a:defRPr/>
            </a:pPr>
            <a:fld id="{07776858-791E-4C8D-8FA3-473B3AFECFAC}" type="slidenum">
              <a:rPr lang="en-US" smtClean="0"/>
              <a:pPr>
                <a:defRPr/>
              </a:pPr>
              <a:t>5</a:t>
            </a:fld>
            <a:endParaRPr lang="en-US" dirty="0"/>
          </a:p>
        </p:txBody>
      </p:sp>
    </p:spTree>
    <p:extLst>
      <p:ext uri="{BB962C8B-B14F-4D97-AF65-F5344CB8AC3E}">
        <p14:creationId xmlns:p14="http://schemas.microsoft.com/office/powerpoint/2010/main" val="2653441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7201F-0CC8-8DEE-21A9-DBE3EBDBAB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A144B1-FF8C-9B20-804F-961DE48C189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82F2DD0-96B0-DBC2-2C5A-8279BFDFD5E7}"/>
              </a:ext>
            </a:extLst>
          </p:cNvPr>
          <p:cNvSpPr>
            <a:spLocks noGrp="1"/>
          </p:cNvSpPr>
          <p:nvPr>
            <p:ph type="body" idx="1"/>
          </p:nvPr>
        </p:nvSpPr>
        <p:spPr/>
        <p:txBody>
          <a:bodyPr>
            <a:normAutofit fontScale="62500" lnSpcReduction="20000"/>
          </a:bodyPr>
          <a:lstStyle/>
          <a:p>
            <a:r>
              <a:rPr lang="en-US" sz="1400" b="1" dirty="0"/>
              <a:t>The Context — “Born of Water and the Spirit”</a:t>
            </a:r>
            <a:endParaRPr lang="en-US" sz="1400" dirty="0"/>
          </a:p>
          <a:p>
            <a:endParaRPr lang="en-US" sz="1400" b="1" dirty="0"/>
          </a:p>
          <a:p>
            <a:r>
              <a:rPr lang="en-US" sz="1400" b="1" dirty="0"/>
              <a:t>John 3:5–6 (NASB 1995)</a:t>
            </a:r>
            <a:endParaRPr lang="en-US" sz="1400" dirty="0"/>
          </a:p>
          <a:p>
            <a:pPr marL="171421" indent="-171421">
              <a:buFont typeface="Arial" panose="020B0604020202020204" pitchFamily="34" charset="0"/>
              <a:buChar char="•"/>
            </a:pPr>
            <a:r>
              <a:rPr lang="en-US" sz="1400" dirty="0"/>
              <a:t>“Truly, truly, I say to you, unless one is born of water and the Spirit he cannot enter into the kingdom of God.  That which is born of the flesh is flesh, and that which is born of the Spirit is spirit.”</a:t>
            </a:r>
          </a:p>
          <a:p>
            <a:pPr marL="171421" indent="-171421">
              <a:buFont typeface="Arial" panose="020B0604020202020204" pitchFamily="34" charset="0"/>
              <a:buChar char="•"/>
            </a:pPr>
            <a:r>
              <a:rPr lang="en-US" sz="1400" dirty="0"/>
              <a:t>Nicodemus was a Pharisee, deeply trained in the Law. When Jesus spoke of being “born again,” Nicodemus thought in physical terms. But Jesus pointed to a </a:t>
            </a:r>
            <a:r>
              <a:rPr lang="en-US" sz="1400" b="1" dirty="0"/>
              <a:t>spiritual birth</a:t>
            </a:r>
            <a:r>
              <a:rPr lang="en-US" sz="1400" dirty="0"/>
              <a:t>—a birth brought about by the </a:t>
            </a:r>
            <a:r>
              <a:rPr lang="en-US" sz="1400" b="1" dirty="0"/>
              <a:t>Spirit of God</a:t>
            </a:r>
            <a:r>
              <a:rPr lang="en-US" sz="1400" dirty="0"/>
              <a:t>.</a:t>
            </a:r>
          </a:p>
          <a:p>
            <a:pPr marL="171421" indent="-171421">
              <a:buFont typeface="Arial" panose="020B0604020202020204" pitchFamily="34" charset="0"/>
              <a:buChar char="•"/>
            </a:pPr>
            <a:endParaRPr lang="en-US" sz="1400" dirty="0"/>
          </a:p>
          <a:p>
            <a:r>
              <a:rPr lang="en-US" sz="1400" b="1" dirty="0"/>
              <a:t>The Meaning of “Born Again”</a:t>
            </a:r>
            <a:endParaRPr lang="en-US" sz="1400" dirty="0"/>
          </a:p>
          <a:p>
            <a:pPr marL="628545" lvl="1" indent="-171421">
              <a:buFont typeface="Arial" panose="020B0604020202020204" pitchFamily="34" charset="0"/>
              <a:buChar char="•"/>
            </a:pPr>
            <a:r>
              <a:rPr lang="en-US" sz="1400" dirty="0">
                <a:cs typeface="ＭＳ Ｐゴシック" pitchFamily="-106" charset="-128"/>
              </a:rPr>
              <a:t>The phrase can also be translated </a:t>
            </a:r>
            <a:r>
              <a:rPr lang="en-US" sz="1400" i="1" dirty="0">
                <a:cs typeface="ＭＳ Ｐゴシック" pitchFamily="-106" charset="-128"/>
              </a:rPr>
              <a:t>“born from above.”</a:t>
            </a:r>
            <a:endParaRPr lang="en-US" sz="1400" dirty="0">
              <a:cs typeface="ＭＳ Ｐゴシック" pitchFamily="-106" charset="-128"/>
            </a:endParaRPr>
          </a:p>
          <a:p>
            <a:pPr marL="628545" lvl="1" indent="-171421">
              <a:buFont typeface="Arial" panose="020B0604020202020204" pitchFamily="34" charset="0"/>
              <a:buChar char="•"/>
            </a:pPr>
            <a:r>
              <a:rPr lang="en-US" sz="1400" dirty="0">
                <a:cs typeface="ＭＳ Ｐゴシック" pitchFamily="-106" charset="-128"/>
              </a:rPr>
              <a:t>It means a new origin, a new source of life—life that comes </a:t>
            </a:r>
            <a:r>
              <a:rPr lang="en-US" sz="1400" b="1" dirty="0">
                <a:cs typeface="ＭＳ Ｐゴシック" pitchFamily="-106" charset="-128"/>
              </a:rPr>
              <a:t>from God</a:t>
            </a:r>
            <a:r>
              <a:rPr lang="en-US" sz="1400" dirty="0">
                <a:cs typeface="ＭＳ Ｐゴシック" pitchFamily="-106" charset="-128"/>
              </a:rPr>
              <a:t>, not from human effort or lineage.</a:t>
            </a:r>
          </a:p>
          <a:p>
            <a:pPr marL="171421" indent="-171421">
              <a:buFont typeface="Arial" panose="020B0604020202020204" pitchFamily="34" charset="0"/>
              <a:buChar char="•"/>
            </a:pPr>
            <a:r>
              <a:rPr lang="en-US" sz="1400" b="1" dirty="0"/>
              <a:t>John 1:12–13</a:t>
            </a:r>
            <a:r>
              <a:rPr lang="en-US" sz="1400" dirty="0"/>
              <a:t> says:</a:t>
            </a:r>
          </a:p>
          <a:p>
            <a:pPr marL="628545" lvl="1" indent="-171421">
              <a:buFont typeface="Arial" panose="020B0604020202020204" pitchFamily="34" charset="0"/>
              <a:buChar char="•"/>
            </a:pPr>
            <a:r>
              <a:rPr lang="en-US" sz="1400" dirty="0">
                <a:cs typeface="ＭＳ Ｐゴシック" pitchFamily="-106" charset="-128"/>
              </a:rPr>
              <a:t>“But as many as received Him, to them He gave the right to become children of God, even to those who believe in His name,</a:t>
            </a:r>
          </a:p>
          <a:p>
            <a:pPr marL="628545" lvl="1" indent="-171421">
              <a:buFont typeface="Arial" panose="020B0604020202020204" pitchFamily="34" charset="0"/>
              <a:buChar char="•"/>
            </a:pPr>
            <a:r>
              <a:rPr lang="en-US" sz="1400" dirty="0">
                <a:cs typeface="ＭＳ Ｐゴシック" pitchFamily="-106" charset="-128"/>
              </a:rPr>
              <a:t>who were born, not of blood nor of the will of the flesh nor of the will of man, but of God.”</a:t>
            </a:r>
          </a:p>
          <a:p>
            <a:pPr marL="171421" indent="-171421">
              <a:buFont typeface="Arial" panose="020B0604020202020204" pitchFamily="34" charset="0"/>
              <a:buChar char="•"/>
            </a:pPr>
            <a:r>
              <a:rPr lang="en-US" sz="1400" dirty="0"/>
              <a:t>So, the new birth is:</a:t>
            </a:r>
          </a:p>
          <a:p>
            <a:pPr marL="628545" lvl="1" indent="-171421" fontAlgn="ctr">
              <a:buFont typeface="Arial" panose="020B0604020202020204" pitchFamily="34" charset="0"/>
              <a:buChar char="•"/>
            </a:pPr>
            <a:r>
              <a:rPr lang="en-US" sz="1400" b="1" dirty="0">
                <a:cs typeface="ＭＳ Ｐゴシック" pitchFamily="-106" charset="-128"/>
              </a:rPr>
              <a:t>Initiated by God</a:t>
            </a:r>
            <a:endParaRPr lang="en-US" sz="1400" dirty="0">
              <a:cs typeface="ＭＳ Ｐゴシック" pitchFamily="-106" charset="-128"/>
            </a:endParaRPr>
          </a:p>
          <a:p>
            <a:pPr marL="628545" lvl="1" indent="-171421" fontAlgn="ctr">
              <a:buFont typeface="Arial" panose="020B0604020202020204" pitchFamily="34" charset="0"/>
              <a:buChar char="•"/>
            </a:pPr>
            <a:r>
              <a:rPr lang="en-US" sz="1400" b="1" dirty="0">
                <a:cs typeface="ＭＳ Ｐゴシック" pitchFamily="-106" charset="-128"/>
              </a:rPr>
              <a:t>Effected by the Spirit</a:t>
            </a:r>
            <a:endParaRPr lang="en-US" sz="1400" dirty="0">
              <a:cs typeface="ＭＳ Ｐゴシック" pitchFamily="-106" charset="-128"/>
            </a:endParaRPr>
          </a:p>
          <a:p>
            <a:pPr marL="628545" lvl="1" indent="-171421" fontAlgn="ctr">
              <a:buFont typeface="Arial" panose="020B0604020202020204" pitchFamily="34" charset="0"/>
              <a:buChar char="•"/>
            </a:pPr>
            <a:r>
              <a:rPr lang="en-US" sz="1400" b="1" dirty="0">
                <a:cs typeface="ＭＳ Ｐゴシック" pitchFamily="-106" charset="-128"/>
              </a:rPr>
              <a:t>Resulting in a new nature</a:t>
            </a:r>
            <a:r>
              <a:rPr lang="en-US" sz="1400" dirty="0">
                <a:cs typeface="ＭＳ Ｐゴシック" pitchFamily="-106" charset="-128"/>
              </a:rPr>
              <a:t> capable of knowing and loving God</a:t>
            </a:r>
          </a:p>
          <a:p>
            <a:endParaRPr lang="en-US" sz="1400" dirty="0"/>
          </a:p>
          <a:p>
            <a:r>
              <a:rPr lang="en-US" sz="1400" b="1" dirty="0"/>
              <a:t>Connection to Old Testament Promise</a:t>
            </a:r>
            <a:endParaRPr lang="en-US" sz="1400" dirty="0"/>
          </a:p>
          <a:p>
            <a:r>
              <a:rPr lang="en-US" sz="1400" dirty="0"/>
              <a:t>Jesus expected Nicodemus to recognize His teaching from </a:t>
            </a:r>
            <a:r>
              <a:rPr lang="en-US" sz="1400" b="1" dirty="0"/>
              <a:t>Ezekiel 36:25–27</a:t>
            </a:r>
            <a:r>
              <a:rPr lang="en-US" sz="1400" dirty="0"/>
              <a:t>, which says:</a:t>
            </a:r>
          </a:p>
          <a:p>
            <a:pPr lvl="1"/>
            <a:r>
              <a:rPr lang="en-US" sz="1400" dirty="0">
                <a:cs typeface="ＭＳ Ｐゴシック" pitchFamily="-106" charset="-128"/>
              </a:rPr>
              <a:t>“Then I will sprinkle clean water on you, and you will be clean...</a:t>
            </a:r>
          </a:p>
          <a:p>
            <a:pPr lvl="1"/>
            <a:r>
              <a:rPr lang="en-US" sz="1400" dirty="0">
                <a:cs typeface="ＭＳ Ｐゴシック" pitchFamily="-106" charset="-128"/>
              </a:rPr>
              <a:t>Moreover, I will give you a new heart and put a new spirit within you;</a:t>
            </a:r>
          </a:p>
          <a:p>
            <a:pPr lvl="1"/>
            <a:r>
              <a:rPr lang="en-US" sz="1400" dirty="0">
                <a:cs typeface="ＭＳ Ｐゴシック" pitchFamily="-106" charset="-128"/>
              </a:rPr>
              <a:t>and I will remove the heart of stone from your flesh and give you a heart of flesh.</a:t>
            </a:r>
          </a:p>
          <a:p>
            <a:pPr lvl="1"/>
            <a:r>
              <a:rPr lang="en-US" sz="1400" dirty="0">
                <a:cs typeface="ＭＳ Ｐゴシック" pitchFamily="-106" charset="-128"/>
              </a:rPr>
              <a:t>I will put My Spirit within you and cause you to walk in My statutes.”</a:t>
            </a:r>
          </a:p>
          <a:p>
            <a:r>
              <a:rPr lang="en-US" sz="1400" dirty="0"/>
              <a:t>Here, “water and Spirit” point to cleansing from sin and renewal of the heart—exactly what Jesus described as being “born again.”</a:t>
            </a:r>
          </a:p>
          <a:p>
            <a:r>
              <a:rPr lang="en-US" sz="1400" dirty="0"/>
              <a:t>The </a:t>
            </a:r>
            <a:r>
              <a:rPr lang="en-US" sz="1400" b="1" dirty="0"/>
              <a:t>new covenant</a:t>
            </a:r>
            <a:r>
              <a:rPr lang="en-US" sz="1400" dirty="0"/>
              <a:t> promise was not about external law but </a:t>
            </a:r>
            <a:r>
              <a:rPr lang="en-US" sz="1400" b="1" dirty="0"/>
              <a:t>internal transformation</a:t>
            </a:r>
            <a:r>
              <a:rPr lang="en-US" sz="1400" dirty="0"/>
              <a:t> by the Spirit.</a:t>
            </a:r>
          </a:p>
          <a:p>
            <a:endParaRPr lang="en-US" sz="1400" dirty="0"/>
          </a:p>
          <a:p>
            <a:endParaRPr lang="en-US" sz="1400" dirty="0"/>
          </a:p>
          <a:p>
            <a:endParaRPr lang="en-US" sz="1400" dirty="0"/>
          </a:p>
          <a:p>
            <a:endParaRPr lang="en-US" dirty="0"/>
          </a:p>
        </p:txBody>
      </p:sp>
      <p:sp>
        <p:nvSpPr>
          <p:cNvPr id="4" name="Slide Number Placeholder 3">
            <a:extLst>
              <a:ext uri="{FF2B5EF4-FFF2-40B4-BE49-F238E27FC236}">
                <a16:creationId xmlns:a16="http://schemas.microsoft.com/office/drawing/2014/main" id="{302F731C-CEB1-A539-EDF8-56A18C39C6EF}"/>
              </a:ext>
            </a:extLst>
          </p:cNvPr>
          <p:cNvSpPr>
            <a:spLocks noGrp="1"/>
          </p:cNvSpPr>
          <p:nvPr>
            <p:ph type="sldNum" sz="quarter" idx="10"/>
          </p:nvPr>
        </p:nvSpPr>
        <p:spPr/>
        <p:txBody>
          <a:bodyPr/>
          <a:lstStyle/>
          <a:p>
            <a:pPr>
              <a:defRPr/>
            </a:pPr>
            <a:fld id="{07776858-791E-4C8D-8FA3-473B3AFECFAC}" type="slidenum">
              <a:rPr lang="en-US" smtClean="0"/>
              <a:pPr>
                <a:defRPr/>
              </a:pPr>
              <a:t>6</a:t>
            </a:fld>
            <a:endParaRPr lang="en-US" dirty="0"/>
          </a:p>
        </p:txBody>
      </p:sp>
    </p:spTree>
    <p:extLst>
      <p:ext uri="{BB962C8B-B14F-4D97-AF65-F5344CB8AC3E}">
        <p14:creationId xmlns:p14="http://schemas.microsoft.com/office/powerpoint/2010/main" val="2595293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8F959-1068-0EDC-D10A-8EECC15106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F1F568-605C-BAF2-C073-7D82D67E55D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7F40F34-FD14-91FC-5649-E56D366A4977}"/>
              </a:ext>
            </a:extLst>
          </p:cNvPr>
          <p:cNvSpPr>
            <a:spLocks noGrp="1"/>
          </p:cNvSpPr>
          <p:nvPr>
            <p:ph type="body" idx="1"/>
          </p:nvPr>
        </p:nvSpPr>
        <p:spPr/>
        <p:txBody>
          <a:bodyPr>
            <a:normAutofit fontScale="47500" lnSpcReduction="20000"/>
          </a:bodyPr>
          <a:lstStyle/>
          <a:p>
            <a:pPr defTabSz="914246"/>
            <a:r>
              <a:rPr lang="en-US" sz="1600" b="1" dirty="0"/>
              <a:t>John 3:5-8  </a:t>
            </a:r>
            <a:r>
              <a:rPr lang="en-US" sz="1600" dirty="0"/>
              <a:t>Jesus answered, "Most assuredly, I say to you, unless one is born of water and the Spirit, he cannot enter the kingdom of God.  (6)  That which is born of the flesh is flesh, and that which is born of the Spirit is spirit.  (7)  Do not marvel that I said to you, 'You must be born again.'  (8)  The wind blows where it wishes, and you hear the sound of it, but cannot tell where it comes from and where it goes. So is everyone who is born of the Spirit."</a:t>
            </a:r>
          </a:p>
          <a:p>
            <a:endParaRPr lang="en-US" sz="1600" dirty="0"/>
          </a:p>
          <a:p>
            <a:pPr defTabSz="914246"/>
            <a:r>
              <a:rPr lang="en-US" sz="1600" b="1" dirty="0"/>
              <a:t>John 14:15-18  </a:t>
            </a:r>
            <a:r>
              <a:rPr lang="en-US" sz="1600" dirty="0"/>
              <a:t>"If you love Me, keep My commandments.  (16)  And I will pray the Father, and He will give you another Helper, that He may abide with you forever—  (17)  the Spirit of truth, whom the world cannot receive, because it neither sees Him nor knows Him; but you know Him, for He dwells with you and will be in you.  (18)  I will not leave you orphans; I will come to you.</a:t>
            </a:r>
          </a:p>
          <a:p>
            <a:endParaRPr lang="en-US" sz="1600" dirty="0"/>
          </a:p>
          <a:p>
            <a:pPr defTabSz="914246"/>
            <a:r>
              <a:rPr lang="en-US" sz="1600" b="1" dirty="0"/>
              <a:t>Romans 8:8-11  </a:t>
            </a:r>
            <a:r>
              <a:rPr lang="en-US" sz="1600" dirty="0"/>
              <a:t>So then, those who are in the flesh cannot please God.  (9)  But you are not in the flesh but in the Spirit, if indeed the Spirit of God dwells in you. Now if anyone does not have the Spirit of Christ, he is not His.  (10)  And if Christ </a:t>
            </a:r>
            <a:r>
              <a:rPr lang="en-US" sz="1600" i="1" dirty="0"/>
              <a:t>is</a:t>
            </a:r>
            <a:r>
              <a:rPr lang="en-US" sz="1600" dirty="0"/>
              <a:t> in you, the body </a:t>
            </a:r>
            <a:r>
              <a:rPr lang="en-US" sz="1600" i="1" dirty="0"/>
              <a:t>is</a:t>
            </a:r>
            <a:r>
              <a:rPr lang="en-US" sz="1600" dirty="0"/>
              <a:t> dead because of sin, but the Spirit </a:t>
            </a:r>
            <a:r>
              <a:rPr lang="en-US" sz="1600" i="1" dirty="0"/>
              <a:t>is</a:t>
            </a:r>
            <a:r>
              <a:rPr lang="en-US" sz="1600" dirty="0"/>
              <a:t> life because of righteousness.  (11)  But if the Spirit of Him who raised Jesus from the dead dwells in you, He who raised Christ from the dead will also give life to your mortal bodies through His Spirit who dwells in you.</a:t>
            </a:r>
          </a:p>
          <a:p>
            <a:endParaRPr lang="en-US" sz="1600" dirty="0"/>
          </a:p>
          <a:p>
            <a:pPr defTabSz="914246"/>
            <a:r>
              <a:rPr lang="en-US" sz="1600" b="1" dirty="0"/>
              <a:t>2 Cor 5:7-21</a:t>
            </a:r>
            <a:r>
              <a:rPr lang="en-US" sz="1600" dirty="0"/>
              <a:t>  For we walk by faith, not by sight.  (8)  We are confident, yes, well pleased rather to be absent from the body and to be present with the Lord.  (9)  Therefore we make it our aim, whether present or absent, to be well pleasing to Him.  (10)  For we must all appear before the judgment seat of Christ, that each one may receive the things </a:t>
            </a:r>
            <a:r>
              <a:rPr lang="en-US" sz="1600" i="1" dirty="0"/>
              <a:t>done</a:t>
            </a:r>
            <a:r>
              <a:rPr lang="en-US" sz="1600" dirty="0"/>
              <a:t> in the body, according to what he has done, whether good or bad.  (11)  Knowing, therefore, the terror of the Lord, we persuade men; but we are well known to God, and I also trust are well known in your consciences.  (12)  For we do not commend ourselves again to you, but give you opportunity to boast on our behalf, that you may have </a:t>
            </a:r>
            <a:r>
              <a:rPr lang="en-US" sz="1600" i="1" dirty="0"/>
              <a:t>an answer</a:t>
            </a:r>
            <a:r>
              <a:rPr lang="en-US" sz="1600" dirty="0"/>
              <a:t> for those who boast in appearance and not in heart.  (13)  For if we are beside ourselves, </a:t>
            </a:r>
            <a:r>
              <a:rPr lang="en-US" sz="1600" i="1" dirty="0"/>
              <a:t>it is</a:t>
            </a:r>
            <a:r>
              <a:rPr lang="en-US" sz="1600" dirty="0"/>
              <a:t> for God; or if we are of sound mind, </a:t>
            </a:r>
            <a:r>
              <a:rPr lang="en-US" sz="1600" i="1" dirty="0"/>
              <a:t>it is</a:t>
            </a:r>
            <a:r>
              <a:rPr lang="en-US" sz="1600" dirty="0"/>
              <a:t> for you.  (14)  For the love of Christ compels us, because we judge thus: that if One died for all, then all died;  (15)  and He died for all, that those who live should live no longer for themselves, but for Him who died for them and rose again.  (16)  Therefore, from now on, we regard no one according to the flesh. Even though we have known Christ according to the flesh, yet now we know </a:t>
            </a:r>
            <a:r>
              <a:rPr lang="en-US" sz="1600" i="1" dirty="0"/>
              <a:t>Him thus</a:t>
            </a:r>
            <a:r>
              <a:rPr lang="en-US" sz="1600" dirty="0"/>
              <a:t> no longer.  (17)  </a:t>
            </a:r>
            <a:r>
              <a:rPr lang="en-US" sz="1600" b="1" dirty="0"/>
              <a:t>Therefore, if anyone </a:t>
            </a:r>
            <a:r>
              <a:rPr lang="en-US" sz="1600" b="1" i="1" dirty="0"/>
              <a:t>is</a:t>
            </a:r>
            <a:r>
              <a:rPr lang="en-US" sz="1600" b="1" dirty="0"/>
              <a:t> in Christ, </a:t>
            </a:r>
            <a:r>
              <a:rPr lang="en-US" sz="1600" b="1" i="1" dirty="0"/>
              <a:t>he is</a:t>
            </a:r>
            <a:r>
              <a:rPr lang="en-US" sz="1600" b="1" dirty="0"/>
              <a:t> a new creation; old things have passed away; behold, all things have become new.  </a:t>
            </a:r>
            <a:r>
              <a:rPr lang="en-US" sz="1600" dirty="0"/>
              <a:t>(18)  Now all things </a:t>
            </a:r>
            <a:r>
              <a:rPr lang="en-US" sz="1600" i="1" dirty="0"/>
              <a:t>are</a:t>
            </a:r>
            <a:r>
              <a:rPr lang="en-US" sz="1600" dirty="0"/>
              <a:t> of God, who has reconciled us to Himself through Jesus Christ, and has given us the ministry of reconciliation,  (19)  that is, that God was in Christ reconciling the world to Himself, not imputing their trespasses to them, and has committed to us the word of reconciliation.  (20)  Now then, we are ambassadors for Christ, as though God were pleading through us: we implore </a:t>
            </a:r>
            <a:r>
              <a:rPr lang="en-US" sz="1600" i="1" dirty="0"/>
              <a:t>you</a:t>
            </a:r>
            <a:r>
              <a:rPr lang="en-US" sz="1600" dirty="0"/>
              <a:t> on Christ's behalf, be reconciled to God.  (21)  For He made Him who knew no sin </a:t>
            </a:r>
            <a:r>
              <a:rPr lang="en-US" sz="1600" i="1" dirty="0"/>
              <a:t>to be</a:t>
            </a:r>
            <a:r>
              <a:rPr lang="en-US" sz="1600" dirty="0"/>
              <a:t> sin for us, that we might become the righteousness of God in Him.</a:t>
            </a:r>
          </a:p>
          <a:p>
            <a:endParaRPr lang="en-US" sz="1600" dirty="0"/>
          </a:p>
          <a:p>
            <a:r>
              <a:rPr lang="en-US" sz="1600" b="1" dirty="0"/>
              <a:t>Gal 5:16-26</a:t>
            </a:r>
            <a:r>
              <a:rPr lang="en-US" sz="1600" dirty="0"/>
              <a:t>  I say then: </a:t>
            </a:r>
            <a:r>
              <a:rPr lang="en-US" sz="1600" b="1" dirty="0"/>
              <a:t>Walk in the Spirit</a:t>
            </a:r>
            <a:r>
              <a:rPr lang="en-US" sz="1600" dirty="0"/>
              <a:t>, and you shall not fulfill the lust of the flesh.  (17)  For the flesh lusts against the Spirit, and the Spirit against the flesh; and these are contrary to one another, so that you do not do the things that you wish.  (18)  But if you are led by the Spirit, you are not under the law.  (19)  Now the works of the flesh are evident, which are: adultery, fornication, uncleanness, lewdness,  (20)  idolatry, sorcery, hatred, contentions, jealousies, outbursts of wrath, selfish ambitions, dissensions, heresies,  (21)  envy, murders, drunkenness, revelries, and the like; of which I tell you beforehand, just as I also told you in time past, that those who practice such things will not inherit the kingdom of God.  (22)  </a:t>
            </a:r>
            <a:r>
              <a:rPr lang="en-US" sz="1600" b="1" dirty="0"/>
              <a:t>But the fruit of the Spirit is love, joy, peace, longsuffering, kindness, goodness, faithfulness,  (23)  gentleness, self-control. Against such there is no law.  (24)  And those who are Christ's have crucified the flesh with its passions and desires.  (25)  If we live in the Spirit, let us also walk in the Spirit.  (26)  Let us not become conceited, provoking one another, envying one another.</a:t>
            </a:r>
          </a:p>
          <a:p>
            <a:endParaRPr lang="en-US" dirty="0"/>
          </a:p>
        </p:txBody>
      </p:sp>
      <p:sp>
        <p:nvSpPr>
          <p:cNvPr id="4" name="Slide Number Placeholder 3">
            <a:extLst>
              <a:ext uri="{FF2B5EF4-FFF2-40B4-BE49-F238E27FC236}">
                <a16:creationId xmlns:a16="http://schemas.microsoft.com/office/drawing/2014/main" id="{29693101-868F-5349-D4E1-CF7ED0987EDB}"/>
              </a:ext>
            </a:extLst>
          </p:cNvPr>
          <p:cNvSpPr>
            <a:spLocks noGrp="1"/>
          </p:cNvSpPr>
          <p:nvPr>
            <p:ph type="sldNum" sz="quarter" idx="10"/>
          </p:nvPr>
        </p:nvSpPr>
        <p:spPr/>
        <p:txBody>
          <a:bodyPr/>
          <a:lstStyle/>
          <a:p>
            <a:pPr>
              <a:defRPr/>
            </a:pPr>
            <a:fld id="{07776858-791E-4C8D-8FA3-473B3AFECFAC}" type="slidenum">
              <a:rPr lang="en-US" smtClean="0"/>
              <a:pPr>
                <a:defRPr/>
              </a:pPr>
              <a:t>7</a:t>
            </a:fld>
            <a:endParaRPr lang="en-US" dirty="0"/>
          </a:p>
        </p:txBody>
      </p:sp>
    </p:spTree>
    <p:extLst>
      <p:ext uri="{BB962C8B-B14F-4D97-AF65-F5344CB8AC3E}">
        <p14:creationId xmlns:p14="http://schemas.microsoft.com/office/powerpoint/2010/main" val="9033241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B4527-5672-F0FF-F5FA-4DCA720CA9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61AA0-9033-2039-CC26-D4489506CE8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D97B55A-CF6A-49EE-A714-283D250090EE}"/>
              </a:ext>
            </a:extLst>
          </p:cNvPr>
          <p:cNvSpPr>
            <a:spLocks noGrp="1"/>
          </p:cNvSpPr>
          <p:nvPr>
            <p:ph type="body" idx="1"/>
          </p:nvPr>
        </p:nvSpPr>
        <p:spPr/>
        <p:txBody>
          <a:bodyPr>
            <a:normAutofit fontScale="47500" lnSpcReduction="20000"/>
          </a:bodyPr>
          <a:lstStyle/>
          <a:p>
            <a:pPr defTabSz="914246"/>
            <a:r>
              <a:rPr lang="en-US" sz="1400" dirty="0"/>
              <a:t>Joh 16:7-11  Nevertheless I tell you the truth. It is to your advantage that I go away; for if I do not go away, the Helper will not come to you; but if I depart, I will send Him to you.  (8)  And when He has come, He will convict the world of sin, and of righteousness, and of judgment:  (9)  of sin, because they do not believe in Me;  (10)  of righteousness, because I go to My Father and you see Me no more;  (11)  of judgment, because the ruler of this world is judged.</a:t>
            </a:r>
          </a:p>
          <a:p>
            <a:endParaRPr lang="en-US" sz="1400" dirty="0"/>
          </a:p>
          <a:p>
            <a:r>
              <a:rPr lang="en-US" sz="1400" dirty="0"/>
              <a:t>1Co 12:12-13  For as the body is one and has many members, but all the members of that one body, being many, are one body, so also is Christ.  (13)  For by one Spirit we were all baptized into one body—whether Jews or Greeks, whether slaves or free—and have all been made to drink into one Spirit.</a:t>
            </a:r>
          </a:p>
          <a:p>
            <a:endParaRPr lang="en-US" sz="1400" dirty="0"/>
          </a:p>
          <a:p>
            <a:pPr defTabSz="914246"/>
            <a:r>
              <a:rPr lang="en-US" sz="1400" dirty="0"/>
              <a:t>Eph 1:13-14  In Him you also </a:t>
            </a:r>
            <a:r>
              <a:rPr lang="en-US" sz="1400" i="1" dirty="0"/>
              <a:t>trusted,</a:t>
            </a:r>
            <a:r>
              <a:rPr lang="en-US" sz="1400" dirty="0"/>
              <a:t> after you heard the word of truth, the gospel of your salvation; in whom also, having believed, you were sealed with the Holy Spirit of promise,  (14)  who is the guarantee of our inheritance until the redemption of the purchased possession, to the praise of His glory.</a:t>
            </a:r>
          </a:p>
          <a:p>
            <a:endParaRPr lang="en-US" sz="1400" dirty="0"/>
          </a:p>
          <a:p>
            <a:pPr defTabSz="914246"/>
            <a:r>
              <a:rPr lang="en-US" sz="1400" dirty="0"/>
              <a:t>Gal 5:22-25  But the fruit of the Spirit is love, joy, peace, longsuffering, kindness, goodness, faithfulness,  (23)  gentleness, self-control. Against such there is no law.  (24)  And those </a:t>
            </a:r>
            <a:r>
              <a:rPr lang="en-US" sz="1400" i="1" dirty="0"/>
              <a:t>who are</a:t>
            </a:r>
            <a:r>
              <a:rPr lang="en-US" sz="1400" dirty="0"/>
              <a:t> Christ's have crucified the flesh with its passions and desires.  (25)  If we live in the Spirit, let us also walk in the Spirit.</a:t>
            </a:r>
          </a:p>
          <a:p>
            <a:endParaRPr lang="en-US" sz="1400" dirty="0"/>
          </a:p>
          <a:p>
            <a:r>
              <a:rPr lang="en-US" sz="1400" b="1" dirty="0"/>
              <a:t>Jesus’ Analogy of the Wind</a:t>
            </a:r>
            <a:endParaRPr lang="en-US" sz="1400" dirty="0"/>
          </a:p>
          <a:p>
            <a:r>
              <a:rPr lang="en-US" sz="1400" b="1" dirty="0"/>
              <a:t>John 3:8 (NASB 1995):</a:t>
            </a:r>
            <a:endParaRPr lang="en-US" sz="1400" dirty="0"/>
          </a:p>
          <a:p>
            <a:pPr lvl="1"/>
            <a:r>
              <a:rPr lang="en-US" sz="1400" dirty="0">
                <a:cs typeface="ＭＳ Ｐゴシック" pitchFamily="-106" charset="-128"/>
              </a:rPr>
              <a:t>“The wind blows where it wishes and you hear the sound of it,</a:t>
            </a:r>
          </a:p>
          <a:p>
            <a:pPr lvl="1"/>
            <a:r>
              <a:rPr lang="en-US" sz="1400" dirty="0">
                <a:cs typeface="ＭＳ Ｐゴシック" pitchFamily="-106" charset="-128"/>
              </a:rPr>
              <a:t>but do not know where it comes from and where it is going;</a:t>
            </a:r>
          </a:p>
          <a:p>
            <a:pPr lvl="1"/>
            <a:r>
              <a:rPr lang="en-US" sz="1400" dirty="0">
                <a:cs typeface="ＭＳ Ｐゴシック" pitchFamily="-106" charset="-128"/>
              </a:rPr>
              <a:t>so is everyone who is born of the Spirit.”</a:t>
            </a:r>
          </a:p>
          <a:p>
            <a:pPr marL="171421" indent="-171421">
              <a:buFont typeface="Arial" panose="020B0604020202020204" pitchFamily="34" charset="0"/>
              <a:buChar char="•"/>
            </a:pPr>
            <a:r>
              <a:rPr lang="en-US" sz="1400" dirty="0"/>
              <a:t>The Spirit’s work in regeneration is mysterious yet observable by its effects—just as wind cannot be seen but is known by its movement.</a:t>
            </a:r>
          </a:p>
          <a:p>
            <a:pPr marL="171421" indent="-171421">
              <a:buFont typeface="Arial" panose="020B0604020202020204" pitchFamily="34" charset="0"/>
              <a:buChar char="•"/>
            </a:pPr>
            <a:r>
              <a:rPr lang="en-US" sz="1400" dirty="0"/>
              <a:t>Likewise, those born of the Spirit show evidence: repentance, faith, love, and obedience.</a:t>
            </a:r>
          </a:p>
          <a:p>
            <a:pPr marL="171421" indent="-171421">
              <a:buFont typeface="Arial" panose="020B0604020202020204" pitchFamily="34" charset="0"/>
              <a:buChar char="•"/>
            </a:pPr>
            <a:endParaRPr lang="en-US" sz="1400" dirty="0"/>
          </a:p>
          <a:p>
            <a:r>
              <a:rPr lang="en-US" sz="1400" b="1" dirty="0"/>
              <a:t>The Apostolic Understanding</a:t>
            </a:r>
            <a:endParaRPr lang="en-US" sz="1400" dirty="0"/>
          </a:p>
          <a:p>
            <a:r>
              <a:rPr lang="en-US" sz="1400" dirty="0"/>
              <a:t>The Apostles taught that being “born again” and receiving the Spirit are one event in salvation:</a:t>
            </a:r>
          </a:p>
          <a:p>
            <a:pPr marL="171421" indent="-171421" fontAlgn="ctr">
              <a:buFont typeface="Arial" panose="020B0604020202020204" pitchFamily="34" charset="0"/>
              <a:buChar char="•"/>
            </a:pPr>
            <a:r>
              <a:rPr lang="en-US" sz="1400" b="1" dirty="0"/>
              <a:t>Peter:</a:t>
            </a:r>
            <a:r>
              <a:rPr lang="en-US" sz="1400" dirty="0"/>
              <a:t> “You have been born again… through the living and enduring word of God.” (1 Peter 1:23)</a:t>
            </a:r>
          </a:p>
          <a:p>
            <a:pPr marL="171421" indent="-171421" fontAlgn="ctr">
              <a:buFont typeface="Arial" panose="020B0604020202020204" pitchFamily="34" charset="0"/>
              <a:buChar char="•"/>
            </a:pPr>
            <a:r>
              <a:rPr lang="en-US" sz="1400" b="1" dirty="0"/>
              <a:t>Paul:</a:t>
            </a:r>
            <a:r>
              <a:rPr lang="en-US" sz="1400" dirty="0"/>
              <a:t> “Do you not know that you are a temple of God and that the Spirit of God dwells in you?” (1 Corinthians 3:16)</a:t>
            </a:r>
          </a:p>
          <a:p>
            <a:pPr marL="171421" indent="-171421" fontAlgn="ctr">
              <a:buFont typeface="Arial" panose="020B0604020202020204" pitchFamily="34" charset="0"/>
              <a:buChar char="•"/>
            </a:pPr>
            <a:r>
              <a:rPr lang="en-US" sz="1400" b="1" dirty="0"/>
              <a:t>John:</a:t>
            </a:r>
            <a:r>
              <a:rPr lang="en-US" sz="1400" dirty="0"/>
              <a:t> “By this we know that He abides in us, by the Spirit whom He has given us.” (1 John 3:24)</a:t>
            </a:r>
          </a:p>
          <a:p>
            <a:pPr marL="628545" lvl="1" indent="-171421">
              <a:buFont typeface="Arial" panose="020B0604020202020204" pitchFamily="34" charset="0"/>
              <a:buChar char="•"/>
            </a:pPr>
            <a:r>
              <a:rPr lang="en-US" sz="1400" dirty="0">
                <a:cs typeface="ＭＳ Ｐゴシック" pitchFamily="-106" charset="-128"/>
              </a:rPr>
              <a:t>In all these, rebirth and indwelling are united. The Spirit gives </a:t>
            </a:r>
            <a:r>
              <a:rPr lang="en-US" sz="1400" b="1" dirty="0">
                <a:cs typeface="ＭＳ Ｐゴシック" pitchFamily="-106" charset="-128"/>
              </a:rPr>
              <a:t>new birth</a:t>
            </a:r>
            <a:r>
              <a:rPr lang="en-US" sz="1400" dirty="0">
                <a:cs typeface="ＭＳ Ｐゴシック" pitchFamily="-106" charset="-128"/>
              </a:rPr>
              <a:t> and remains to </a:t>
            </a:r>
            <a:r>
              <a:rPr lang="en-US" sz="1400" b="1" dirty="0">
                <a:cs typeface="ＭＳ Ｐゴシック" pitchFamily="-106" charset="-128"/>
              </a:rPr>
              <a:t>abide</a:t>
            </a:r>
            <a:r>
              <a:rPr lang="en-US" sz="1400" dirty="0">
                <a:cs typeface="ＭＳ Ｐゴシック" pitchFamily="-106" charset="-128"/>
              </a:rPr>
              <a:t> within.</a:t>
            </a:r>
          </a:p>
          <a:p>
            <a:r>
              <a:rPr lang="en-US" sz="1400" dirty="0"/>
              <a:t> </a:t>
            </a:r>
          </a:p>
          <a:p>
            <a:r>
              <a:rPr lang="en-US" sz="1400" b="1" dirty="0"/>
              <a:t>Theological Reflection</a:t>
            </a:r>
            <a:endParaRPr lang="en-US" sz="1400" dirty="0"/>
          </a:p>
          <a:p>
            <a:pPr marL="171421" indent="-171421">
              <a:buFont typeface="Arial" panose="020B0604020202020204" pitchFamily="34" charset="0"/>
              <a:buChar char="•"/>
            </a:pPr>
            <a:r>
              <a:rPr lang="en-US" sz="1400" dirty="0"/>
              <a:t>When Jesus said, </a:t>
            </a:r>
            <a:r>
              <a:rPr lang="en-US" sz="1400" i="1" dirty="0"/>
              <a:t>“You must be born again,”</a:t>
            </a:r>
            <a:r>
              <a:rPr lang="en-US" sz="1400" dirty="0"/>
              <a:t> He was revealing the entrance to the kingdom: </a:t>
            </a:r>
            <a:r>
              <a:rPr lang="en-US" sz="1400" b="1" dirty="0"/>
              <a:t>a life animated by the Holy Spirit.</a:t>
            </a:r>
            <a:endParaRPr lang="en-US" sz="1400" dirty="0"/>
          </a:p>
          <a:p>
            <a:pPr marL="171421" indent="-171421">
              <a:buFont typeface="Arial" panose="020B0604020202020204" pitchFamily="34" charset="0"/>
              <a:buChar char="•"/>
            </a:pPr>
            <a:r>
              <a:rPr lang="en-US" sz="1400" dirty="0"/>
              <a:t>The Spirit’s indwelling presence is both </a:t>
            </a:r>
            <a:r>
              <a:rPr lang="en-US" sz="1400" b="1" dirty="0"/>
              <a:t>the proof</a:t>
            </a:r>
            <a:r>
              <a:rPr lang="en-US" sz="1400" dirty="0"/>
              <a:t> and </a:t>
            </a:r>
            <a:r>
              <a:rPr lang="en-US" sz="1400" b="1" dirty="0"/>
              <a:t>the power</a:t>
            </a:r>
            <a:r>
              <a:rPr lang="en-US" sz="1400" dirty="0"/>
              <a:t> of that new birth.</a:t>
            </a:r>
          </a:p>
          <a:p>
            <a:pPr marL="171421" indent="-171421">
              <a:buFont typeface="Arial" panose="020B0604020202020204" pitchFamily="34" charset="0"/>
              <a:buChar char="•"/>
            </a:pPr>
            <a:r>
              <a:rPr lang="en-US" sz="1400" dirty="0"/>
              <a:t>In short:</a:t>
            </a:r>
          </a:p>
          <a:p>
            <a:pPr lvl="1"/>
            <a:r>
              <a:rPr lang="en-US" sz="1400" b="1" dirty="0">
                <a:cs typeface="ＭＳ Ｐゴシック" pitchFamily="-106" charset="-128"/>
              </a:rPr>
              <a:t>Rebirth is the Spirit’s entrance; indwelling is His residence.</a:t>
            </a:r>
            <a:endParaRPr lang="en-US" sz="1400" dirty="0">
              <a:cs typeface="ＭＳ Ｐゴシック" pitchFamily="-106" charset="-128"/>
            </a:endParaRPr>
          </a:p>
          <a:p>
            <a:endParaRPr lang="en-US" sz="1400" dirty="0"/>
          </a:p>
          <a:p>
            <a:endParaRPr lang="en-US" dirty="0"/>
          </a:p>
        </p:txBody>
      </p:sp>
      <p:sp>
        <p:nvSpPr>
          <p:cNvPr id="4" name="Slide Number Placeholder 3">
            <a:extLst>
              <a:ext uri="{FF2B5EF4-FFF2-40B4-BE49-F238E27FC236}">
                <a16:creationId xmlns:a16="http://schemas.microsoft.com/office/drawing/2014/main" id="{2EF2718D-35EE-F542-A8D3-EF97E2E42CF7}"/>
              </a:ext>
            </a:extLst>
          </p:cNvPr>
          <p:cNvSpPr>
            <a:spLocks noGrp="1"/>
          </p:cNvSpPr>
          <p:nvPr>
            <p:ph type="sldNum" sz="quarter" idx="10"/>
          </p:nvPr>
        </p:nvSpPr>
        <p:spPr/>
        <p:txBody>
          <a:bodyPr/>
          <a:lstStyle/>
          <a:p>
            <a:pPr>
              <a:defRPr/>
            </a:pPr>
            <a:fld id="{07776858-791E-4C8D-8FA3-473B3AFECFAC}" type="slidenum">
              <a:rPr lang="en-US" smtClean="0"/>
              <a:pPr>
                <a:defRPr/>
              </a:pPr>
              <a:t>8</a:t>
            </a:fld>
            <a:endParaRPr lang="en-US" dirty="0"/>
          </a:p>
        </p:txBody>
      </p:sp>
    </p:spTree>
    <p:extLst>
      <p:ext uri="{BB962C8B-B14F-4D97-AF65-F5344CB8AC3E}">
        <p14:creationId xmlns:p14="http://schemas.microsoft.com/office/powerpoint/2010/main" val="42656777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A53F3-F5FA-47DF-8211-8B502AD79E23}"/>
              </a:ext>
            </a:extLst>
          </p:cNvPr>
          <p:cNvSpPr txBox="1">
            <a:spLocks/>
          </p:cNvSpPr>
          <p:nvPr/>
        </p:nvSpPr>
        <p:spPr bwMode="auto">
          <a:xfrm>
            <a:off x="457200" y="419100"/>
            <a:ext cx="82296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47500" lnSpcReduction="20000"/>
          </a:bodyPr>
          <a:lst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6700" dirty="0"/>
              <a:t>The Promises of God</a:t>
            </a:r>
            <a:br>
              <a:rPr lang="en-US" dirty="0"/>
            </a:br>
            <a:endParaRPr lang="en-US" dirty="0"/>
          </a:p>
          <a:p>
            <a:r>
              <a:rPr lang="en-US" i="1" dirty="0"/>
              <a:t>Promise of the Spirit</a:t>
            </a:r>
          </a:p>
          <a:p>
            <a:endParaRPr lang="en-US" sz="2400" dirty="0">
              <a:solidFill>
                <a:schemeClr val="tx2">
                  <a:lumMod val="60000"/>
                  <a:lumOff val="40000"/>
                </a:schemeClr>
              </a:solidFill>
            </a:endParaRPr>
          </a:p>
          <a:p>
            <a:r>
              <a:rPr lang="en-US" dirty="0"/>
              <a:t>"And it shall come to pass </a:t>
            </a:r>
            <a:r>
              <a:rPr lang="en-US"/>
              <a:t>afterward that </a:t>
            </a:r>
            <a:r>
              <a:rPr lang="en-US" dirty="0"/>
              <a:t>I will pour out My Spirit on all flesh; Your sons and your daughters shall prophesy, Your old men shall dream dreams, Your young men shall see visions. And also on My menservants and on My maid-servants I will pour out My Spirit in those days. "And I will show wonders in the heavens and in the earth: Blood and fire and pillars of smoke. The sun shall be turned into darkness, And the moon into blood, Before the coming of the great and awesome day of the LORD. And it shall come to pass That whoever calls on the name of the LORD Shall be saved. For in Mount Zion and in Jerusalem there shall be deliverance, As the LORD has said, Among the remnant whom the LORD calls.</a:t>
            </a:r>
          </a:p>
          <a:p>
            <a:r>
              <a:rPr lang="en-US" dirty="0"/>
              <a:t>(Joel 2:28-32)</a:t>
            </a:r>
          </a:p>
          <a:p>
            <a:endParaRPr lang="en-US" dirty="0">
              <a:solidFill>
                <a:schemeClr val="tx2">
                  <a:lumMod val="60000"/>
                  <a:lumOff val="40000"/>
                </a:schemeClr>
              </a:solidFill>
            </a:endParaRPr>
          </a:p>
          <a:p>
            <a:r>
              <a:rPr lang="en-US" dirty="0">
                <a:solidFill>
                  <a:schemeClr val="tx2">
                    <a:lumMod val="60000"/>
                    <a:lumOff val="40000"/>
                  </a:schemeClr>
                </a:solidFill>
              </a:rPr>
              <a:t>http://tinyurl.com/GodOfPromises</a:t>
            </a:r>
          </a:p>
          <a:p>
            <a:endParaRPr lang="en-US" sz="2400" dirty="0">
              <a:solidFill>
                <a:schemeClr val="tx2">
                  <a:lumMod val="60000"/>
                  <a:lumOff val="40000"/>
                </a:schemeClr>
              </a:solidFill>
            </a:endParaRPr>
          </a:p>
        </p:txBody>
      </p:sp>
    </p:spTree>
    <p:extLst>
      <p:ext uri="{BB962C8B-B14F-4D97-AF65-F5344CB8AC3E}">
        <p14:creationId xmlns:p14="http://schemas.microsoft.com/office/powerpoint/2010/main" val="458658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F1C5C-098A-B7B4-29DA-163600C9EAB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9D62506-1BC3-6C6E-2FAB-806688DE005A}"/>
              </a:ext>
            </a:extLst>
          </p:cNvPr>
          <p:cNvSpPr txBox="1">
            <a:spLocks/>
          </p:cNvSpPr>
          <p:nvPr/>
        </p:nvSpPr>
        <p:spPr bwMode="auto">
          <a:xfrm>
            <a:off x="214312" y="0"/>
            <a:ext cx="8382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85000" lnSpcReduction="1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600" dirty="0"/>
              <a:t>God’s Character Revealed</a:t>
            </a:r>
            <a:br>
              <a:rPr lang="en-US" dirty="0"/>
            </a:br>
            <a:r>
              <a:rPr lang="en-US" sz="2400" dirty="0">
                <a:solidFill>
                  <a:schemeClr val="tx2">
                    <a:lumMod val="60000"/>
                    <a:lumOff val="40000"/>
                  </a:schemeClr>
                </a:solidFill>
              </a:rPr>
              <a:t>God promises to send His Spirit to dwell with and in His people</a:t>
            </a:r>
          </a:p>
        </p:txBody>
      </p:sp>
      <p:sp>
        <p:nvSpPr>
          <p:cNvPr id="3" name="TextBox 2">
            <a:extLst>
              <a:ext uri="{FF2B5EF4-FFF2-40B4-BE49-F238E27FC236}">
                <a16:creationId xmlns:a16="http://schemas.microsoft.com/office/drawing/2014/main" id="{C96E21EF-3DEE-2EB9-2120-682F4B4560B7}"/>
              </a:ext>
            </a:extLst>
          </p:cNvPr>
          <p:cNvSpPr txBox="1"/>
          <p:nvPr/>
        </p:nvSpPr>
        <p:spPr>
          <a:xfrm>
            <a:off x="214312" y="962025"/>
            <a:ext cx="8677275" cy="2862322"/>
          </a:xfrm>
          <a:prstGeom prst="rect">
            <a:avLst/>
          </a:prstGeom>
          <a:noFill/>
        </p:spPr>
        <p:txBody>
          <a:bodyPr wrap="square" rtlCol="0">
            <a:spAutoFit/>
          </a:bodyPr>
          <a:lstStyle/>
          <a:p>
            <a:r>
              <a:rPr lang="en-US" b="1" u="sng" dirty="0"/>
              <a:t>John 14:15-21</a:t>
            </a:r>
            <a:r>
              <a:rPr lang="en-US" dirty="0"/>
              <a:t>  "If you love Me, keep My commandments.  (16)  And I will pray the Father, and </a:t>
            </a:r>
            <a:r>
              <a:rPr lang="en-US" b="1" dirty="0"/>
              <a:t>He will give you another Helper, that He may abide with you forever</a:t>
            </a:r>
            <a:r>
              <a:rPr lang="en-US" dirty="0"/>
              <a:t> —  (17)  </a:t>
            </a:r>
            <a:r>
              <a:rPr lang="en-US" b="1" dirty="0"/>
              <a:t>the Spirit of truth, whom the world cannot receive, because it neither sees Him nor knows Him; but you know Him, for He dwells with you and will be in you.  </a:t>
            </a:r>
            <a:r>
              <a:rPr lang="en-US" dirty="0"/>
              <a:t>(18)  I will not leave you orphans; I will come to you.  (19)  "A little while longer and the world will see Me no more, but you will see Me. Because I live, you will live also.  (20)  At that day you will know that I </a:t>
            </a:r>
            <a:r>
              <a:rPr lang="en-US" i="1" dirty="0"/>
              <a:t>am</a:t>
            </a:r>
            <a:r>
              <a:rPr lang="en-US" dirty="0"/>
              <a:t> in My Father, and you in Me, and I in you.  (21)  He who has My commandments and keeps them, it is he who loves Me. And he who loves Me will be loved by My Father, and I will love him and manifest Myself to him."</a:t>
            </a:r>
          </a:p>
        </p:txBody>
      </p:sp>
      <p:sp>
        <p:nvSpPr>
          <p:cNvPr id="2" name="TextBox 1">
            <a:extLst>
              <a:ext uri="{FF2B5EF4-FFF2-40B4-BE49-F238E27FC236}">
                <a16:creationId xmlns:a16="http://schemas.microsoft.com/office/drawing/2014/main" id="{D3787957-C6F8-2572-ACEE-92B8E91190C3}"/>
              </a:ext>
            </a:extLst>
          </p:cNvPr>
          <p:cNvSpPr txBox="1"/>
          <p:nvPr/>
        </p:nvSpPr>
        <p:spPr>
          <a:xfrm>
            <a:off x="204787" y="3824347"/>
            <a:ext cx="8677275" cy="1754326"/>
          </a:xfrm>
          <a:prstGeom prst="rect">
            <a:avLst/>
          </a:prstGeom>
          <a:noFill/>
        </p:spPr>
        <p:txBody>
          <a:bodyPr wrap="square" rtlCol="0">
            <a:spAutoFit/>
          </a:bodyPr>
          <a:lstStyle/>
          <a:p>
            <a:r>
              <a:rPr lang="en-US" b="1" u="sng" dirty="0"/>
              <a:t>John 16:5-8</a:t>
            </a:r>
            <a:r>
              <a:rPr lang="en-US" dirty="0"/>
              <a:t>  "But now I go away to Him who sent Me, and none of you asks Me, 'Where are You going?'  (6)  But because I have said these things to you, sorrow has filled your heart.  (7)  </a:t>
            </a:r>
            <a:r>
              <a:rPr lang="en-US" b="1" dirty="0"/>
              <a:t>Nevertheless, I tell you the truth. It is to your advantage that I go away; for if I do not go away, the Helper will not come to you; but if I depart, I will send Him to you.  (8)  And when He has come, He will convict the world of sin, and of righteousness, and of judgment…</a:t>
            </a:r>
          </a:p>
        </p:txBody>
      </p:sp>
      <p:sp>
        <p:nvSpPr>
          <p:cNvPr id="4" name="TextBox 3">
            <a:extLst>
              <a:ext uri="{FF2B5EF4-FFF2-40B4-BE49-F238E27FC236}">
                <a16:creationId xmlns:a16="http://schemas.microsoft.com/office/drawing/2014/main" id="{D834FD90-D728-78E2-D14F-D4A91F2F2B32}"/>
              </a:ext>
            </a:extLst>
          </p:cNvPr>
          <p:cNvSpPr txBox="1"/>
          <p:nvPr/>
        </p:nvSpPr>
        <p:spPr>
          <a:xfrm>
            <a:off x="214312" y="5578673"/>
            <a:ext cx="8577262" cy="923330"/>
          </a:xfrm>
          <a:prstGeom prst="rect">
            <a:avLst/>
          </a:prstGeom>
          <a:noFill/>
        </p:spPr>
        <p:txBody>
          <a:bodyPr wrap="square" rtlCol="0">
            <a:spAutoFit/>
          </a:bodyPr>
          <a:lstStyle/>
          <a:p>
            <a:r>
              <a:rPr lang="en-US" i="1" dirty="0"/>
              <a:t>From the beginning, God’s plan was not only to dwell among His people but within them.  The promise of the Spirit fulfills God’s desire for fellowship, holiness, and empowerment in His people.</a:t>
            </a:r>
          </a:p>
        </p:txBody>
      </p:sp>
    </p:spTree>
    <p:extLst>
      <p:ext uri="{BB962C8B-B14F-4D97-AF65-F5344CB8AC3E}">
        <p14:creationId xmlns:p14="http://schemas.microsoft.com/office/powerpoint/2010/main" val="2708493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FB866-E2F2-08AB-28AA-2B685332D20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07F9529-7C04-8F7C-14E0-AE76A6FABF83}"/>
              </a:ext>
            </a:extLst>
          </p:cNvPr>
          <p:cNvSpPr txBox="1">
            <a:spLocks/>
          </p:cNvSpPr>
          <p:nvPr/>
        </p:nvSpPr>
        <p:spPr bwMode="auto">
          <a:xfrm>
            <a:off x="214312" y="0"/>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Holy Spirit Before the Time of Jesus</a:t>
            </a:r>
            <a:br>
              <a:rPr lang="en-US" dirty="0"/>
            </a:br>
            <a:r>
              <a:rPr lang="en-US" sz="2400" dirty="0">
                <a:solidFill>
                  <a:schemeClr val="tx2">
                    <a:lumMod val="60000"/>
                    <a:lumOff val="40000"/>
                  </a:schemeClr>
                </a:solidFill>
              </a:rPr>
              <a:t>T</a:t>
            </a:r>
            <a:r>
              <a:rPr lang="en-US" sz="2500" dirty="0">
                <a:solidFill>
                  <a:schemeClr val="tx2">
                    <a:lumMod val="60000"/>
                    <a:lumOff val="40000"/>
                  </a:schemeClr>
                </a:solidFill>
              </a:rPr>
              <a:t>he Spirit was active but selective</a:t>
            </a:r>
          </a:p>
        </p:txBody>
      </p:sp>
      <p:sp>
        <p:nvSpPr>
          <p:cNvPr id="3" name="TextBox 2">
            <a:extLst>
              <a:ext uri="{FF2B5EF4-FFF2-40B4-BE49-F238E27FC236}">
                <a16:creationId xmlns:a16="http://schemas.microsoft.com/office/drawing/2014/main" id="{44EBC8D3-9151-A0BA-1F2A-AAF3C34828B5}"/>
              </a:ext>
            </a:extLst>
          </p:cNvPr>
          <p:cNvSpPr txBox="1"/>
          <p:nvPr/>
        </p:nvSpPr>
        <p:spPr>
          <a:xfrm>
            <a:off x="214311" y="762000"/>
            <a:ext cx="8853489" cy="3416320"/>
          </a:xfrm>
          <a:prstGeom prst="rect">
            <a:avLst/>
          </a:prstGeom>
          <a:noFill/>
        </p:spPr>
        <p:txBody>
          <a:bodyPr wrap="square" rtlCol="0">
            <a:spAutoFit/>
          </a:bodyPr>
          <a:lstStyle/>
          <a:p>
            <a:r>
              <a:rPr lang="en-US" u="sng" dirty="0"/>
              <a:t>Before Pentecost</a:t>
            </a:r>
            <a:r>
              <a:rPr lang="en-US" dirty="0"/>
              <a:t>, the Spirit was </a:t>
            </a:r>
            <a:r>
              <a:rPr lang="en-US" b="1" dirty="0"/>
              <a:t>active but selective</a:t>
            </a:r>
            <a:r>
              <a:rPr lang="en-US" dirty="0"/>
              <a:t>; coming upon individuals for specific purposes:</a:t>
            </a:r>
          </a:p>
          <a:p>
            <a:pPr marL="285750" indent="-285750" fontAlgn="ctr">
              <a:buFont typeface="Arial" panose="020B0604020202020204" pitchFamily="34" charset="0"/>
              <a:buChar char="•"/>
            </a:pPr>
            <a:r>
              <a:rPr lang="en-US" b="1" dirty="0"/>
              <a:t>Creation:</a:t>
            </a:r>
            <a:r>
              <a:rPr lang="en-US" dirty="0"/>
              <a:t> </a:t>
            </a:r>
            <a:r>
              <a:rPr lang="en-US" i="1" dirty="0"/>
              <a:t>“The Spirit of God was moving over the surface of the waters.” </a:t>
            </a:r>
            <a:r>
              <a:rPr lang="en-US" dirty="0"/>
              <a:t>(Gen 1:2)</a:t>
            </a:r>
          </a:p>
          <a:p>
            <a:pPr marL="285750" indent="-285750" fontAlgn="ctr">
              <a:buFont typeface="Arial" panose="020B0604020202020204" pitchFamily="34" charset="0"/>
              <a:buChar char="•"/>
            </a:pPr>
            <a:r>
              <a:rPr lang="en-US" b="1" dirty="0"/>
              <a:t>Joseph:</a:t>
            </a:r>
            <a:r>
              <a:rPr lang="en-US" dirty="0"/>
              <a:t> Given wisdom and discernment (Genesis 41:38).</a:t>
            </a:r>
          </a:p>
          <a:p>
            <a:pPr marL="285750" indent="-285750" fontAlgn="ctr">
              <a:buFont typeface="Arial" panose="020B0604020202020204" pitchFamily="34" charset="0"/>
              <a:buChar char="•"/>
            </a:pPr>
            <a:r>
              <a:rPr lang="en-US" b="1" dirty="0"/>
              <a:t>Moses and the seventy elders:</a:t>
            </a:r>
            <a:r>
              <a:rPr lang="en-US" dirty="0"/>
              <a:t> Empowered to lead (Numbers 11:25).</a:t>
            </a:r>
          </a:p>
          <a:p>
            <a:pPr marL="285750" indent="-285750" fontAlgn="ctr">
              <a:buFont typeface="Arial" panose="020B0604020202020204" pitchFamily="34" charset="0"/>
              <a:buChar char="•"/>
            </a:pPr>
            <a:r>
              <a:rPr lang="en-US" b="1" dirty="0"/>
              <a:t>Joshua:</a:t>
            </a:r>
            <a:r>
              <a:rPr lang="en-US" dirty="0"/>
              <a:t> Filled with the Spirit for leadership (Deuteronomy 34:9).</a:t>
            </a:r>
          </a:p>
          <a:p>
            <a:pPr marL="285750" indent="-285750" fontAlgn="ctr">
              <a:buFont typeface="Arial" panose="020B0604020202020204" pitchFamily="34" charset="0"/>
              <a:buChar char="•"/>
            </a:pPr>
            <a:r>
              <a:rPr lang="en-US" b="1" dirty="0"/>
              <a:t>Judges:</a:t>
            </a:r>
            <a:r>
              <a:rPr lang="en-US" dirty="0"/>
              <a:t> The Spirit came upon Othniel, Gideon, Samson for deliverance (Judges 3:10; 6:34; 14:6).</a:t>
            </a:r>
          </a:p>
          <a:p>
            <a:pPr marL="285750" indent="-285750" fontAlgn="ctr">
              <a:buFont typeface="Arial" panose="020B0604020202020204" pitchFamily="34" charset="0"/>
              <a:buChar char="•"/>
            </a:pPr>
            <a:r>
              <a:rPr lang="en-US" b="1" dirty="0"/>
              <a:t>Prophets:</a:t>
            </a:r>
            <a:r>
              <a:rPr lang="en-US" dirty="0"/>
              <a:t> The Spirit spoke through them to reveal God’s will (2 Peter 1:21).</a:t>
            </a:r>
          </a:p>
          <a:p>
            <a:r>
              <a:rPr lang="en-US" b="1" dirty="0"/>
              <a:t>Difference:</a:t>
            </a:r>
            <a:endParaRPr lang="en-US" dirty="0"/>
          </a:p>
          <a:p>
            <a:pPr marL="285750" indent="-285750">
              <a:buFont typeface="Arial" panose="020B0604020202020204" pitchFamily="34" charset="0"/>
              <a:buChar char="•"/>
            </a:pPr>
            <a:r>
              <a:rPr lang="en-US" dirty="0"/>
              <a:t>In the Old Testament, the Spirit’s presence was temporary and external.</a:t>
            </a:r>
          </a:p>
          <a:p>
            <a:pPr marL="285750" indent="-285750">
              <a:buFont typeface="Arial" panose="020B0604020202020204" pitchFamily="34" charset="0"/>
              <a:buChar char="•"/>
            </a:pPr>
            <a:r>
              <a:rPr lang="en-US" dirty="0"/>
              <a:t>In the New Covenant, His presence is permanent and internal (John 14:17).</a:t>
            </a:r>
          </a:p>
        </p:txBody>
      </p:sp>
      <p:sp>
        <p:nvSpPr>
          <p:cNvPr id="2" name="TextBox 1">
            <a:extLst>
              <a:ext uri="{FF2B5EF4-FFF2-40B4-BE49-F238E27FC236}">
                <a16:creationId xmlns:a16="http://schemas.microsoft.com/office/drawing/2014/main" id="{15E42A6A-03C5-D98F-DF2D-A0EC6A07CA04}"/>
              </a:ext>
            </a:extLst>
          </p:cNvPr>
          <p:cNvSpPr txBox="1"/>
          <p:nvPr/>
        </p:nvSpPr>
        <p:spPr>
          <a:xfrm>
            <a:off x="214311" y="4267200"/>
            <a:ext cx="8677275" cy="2308324"/>
          </a:xfrm>
          <a:prstGeom prst="rect">
            <a:avLst/>
          </a:prstGeom>
          <a:noFill/>
        </p:spPr>
        <p:txBody>
          <a:bodyPr wrap="square" rtlCol="0">
            <a:spAutoFit/>
          </a:bodyPr>
          <a:lstStyle/>
          <a:p>
            <a:r>
              <a:rPr lang="en-US" u="sng" dirty="0"/>
              <a:t>The prophets foretold</a:t>
            </a:r>
            <a:r>
              <a:rPr lang="en-US" dirty="0"/>
              <a:t> a universal and inward work of the Spirit:</a:t>
            </a:r>
          </a:p>
          <a:p>
            <a:pPr marL="285750" indent="-285750" fontAlgn="ctr">
              <a:buFont typeface="Arial" panose="020B0604020202020204" pitchFamily="34" charset="0"/>
              <a:buChar char="•"/>
            </a:pPr>
            <a:r>
              <a:rPr lang="en-US" b="1" dirty="0"/>
              <a:t>Isaiah 32:15:</a:t>
            </a:r>
            <a:r>
              <a:rPr lang="en-US" dirty="0"/>
              <a:t> </a:t>
            </a:r>
            <a:r>
              <a:rPr lang="en-US" i="1" dirty="0"/>
              <a:t>“Until the Spirit is poured out upon us from on high…”</a:t>
            </a:r>
          </a:p>
          <a:p>
            <a:pPr marL="285750" indent="-285750" fontAlgn="ctr">
              <a:buFont typeface="Arial" panose="020B0604020202020204" pitchFamily="34" charset="0"/>
              <a:buChar char="•"/>
            </a:pPr>
            <a:r>
              <a:rPr lang="en-US" b="1" dirty="0"/>
              <a:t>Ezekiel 36:26–27:</a:t>
            </a:r>
            <a:r>
              <a:rPr lang="en-US" dirty="0"/>
              <a:t> </a:t>
            </a:r>
            <a:r>
              <a:rPr lang="en-US" i="1" dirty="0"/>
              <a:t>“I will put My Spirit within you and cause you to walk in My statutes.”</a:t>
            </a:r>
          </a:p>
          <a:p>
            <a:pPr marL="285750" indent="-285750" fontAlgn="ctr">
              <a:buFont typeface="Arial" panose="020B0604020202020204" pitchFamily="34" charset="0"/>
              <a:buChar char="•"/>
            </a:pPr>
            <a:r>
              <a:rPr lang="en-US" b="1" dirty="0"/>
              <a:t>Zechariah 12:10:</a:t>
            </a:r>
            <a:r>
              <a:rPr lang="en-US" dirty="0"/>
              <a:t> </a:t>
            </a:r>
            <a:r>
              <a:rPr lang="en-US" i="1" dirty="0"/>
              <a:t>“I will pour out on the house of David… the Spirit of grace and supplication.</a:t>
            </a:r>
            <a:r>
              <a:rPr lang="en-US" dirty="0"/>
              <a:t>”</a:t>
            </a:r>
          </a:p>
          <a:p>
            <a:pPr marL="285750" indent="-285750" fontAlgn="ctr">
              <a:buFont typeface="Arial" panose="020B0604020202020204" pitchFamily="34" charset="0"/>
              <a:buChar char="•"/>
            </a:pPr>
            <a:r>
              <a:rPr lang="en-US" b="1" dirty="0"/>
              <a:t>Joel 2:28–29:</a:t>
            </a:r>
            <a:r>
              <a:rPr lang="en-US" dirty="0"/>
              <a:t> The clearest promise; an inclusive outpouring on all people.</a:t>
            </a:r>
          </a:p>
          <a:p>
            <a:pPr marL="742950" lvl="1" indent="-285750">
              <a:buFont typeface="Arial" panose="020B0604020202020204" pitchFamily="34" charset="0"/>
              <a:buChar char="•"/>
            </a:pPr>
            <a:r>
              <a:rPr lang="en-US" u="sng" dirty="0"/>
              <a:t>God promised a new heart, a new spirit, and direct fellowship with Him.</a:t>
            </a:r>
          </a:p>
        </p:txBody>
      </p:sp>
    </p:spTree>
    <p:extLst>
      <p:ext uri="{BB962C8B-B14F-4D97-AF65-F5344CB8AC3E}">
        <p14:creationId xmlns:p14="http://schemas.microsoft.com/office/powerpoint/2010/main" val="3622403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D1323-3C79-DF75-1D5D-599C2476F7F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B6D5E87C-EF2C-DED3-0D11-66ABA02C78E1}"/>
              </a:ext>
            </a:extLst>
          </p:cNvPr>
          <p:cNvSpPr txBox="1">
            <a:spLocks/>
          </p:cNvSpPr>
          <p:nvPr/>
        </p:nvSpPr>
        <p:spPr bwMode="auto">
          <a:xfrm>
            <a:off x="214312" y="0"/>
            <a:ext cx="86677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0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Apostolic Teaching about the Holy Spirit</a:t>
            </a:r>
            <a:br>
              <a:rPr lang="en-US" dirty="0"/>
            </a:br>
            <a:r>
              <a:rPr lang="en-US" sz="2400" dirty="0">
                <a:solidFill>
                  <a:schemeClr val="tx2">
                    <a:lumMod val="60000"/>
                    <a:lumOff val="40000"/>
                  </a:schemeClr>
                </a:solidFill>
              </a:rPr>
              <a:t>God with us, and God in us</a:t>
            </a:r>
          </a:p>
        </p:txBody>
      </p:sp>
      <p:sp>
        <p:nvSpPr>
          <p:cNvPr id="3" name="TextBox 2">
            <a:extLst>
              <a:ext uri="{FF2B5EF4-FFF2-40B4-BE49-F238E27FC236}">
                <a16:creationId xmlns:a16="http://schemas.microsoft.com/office/drawing/2014/main" id="{334BF2E7-A685-71B0-51B0-5D834793ECED}"/>
              </a:ext>
            </a:extLst>
          </p:cNvPr>
          <p:cNvSpPr txBox="1"/>
          <p:nvPr/>
        </p:nvSpPr>
        <p:spPr>
          <a:xfrm>
            <a:off x="214312" y="778132"/>
            <a:ext cx="8677275" cy="2585323"/>
          </a:xfrm>
          <a:prstGeom prst="rect">
            <a:avLst/>
          </a:prstGeom>
          <a:noFill/>
        </p:spPr>
        <p:txBody>
          <a:bodyPr wrap="square" rtlCol="0">
            <a:spAutoFit/>
          </a:bodyPr>
          <a:lstStyle/>
          <a:p>
            <a:r>
              <a:rPr lang="en-US" b="1" dirty="0"/>
              <a:t>The Apostles taught that…</a:t>
            </a:r>
          </a:p>
          <a:p>
            <a:pPr marL="285750" indent="-285750" fontAlgn="ctr">
              <a:buFont typeface="Arial" panose="020B0604020202020204" pitchFamily="34" charset="0"/>
              <a:buChar char="•"/>
            </a:pPr>
            <a:r>
              <a:rPr lang="en-US" dirty="0"/>
              <a:t>The Spirit is </a:t>
            </a:r>
            <a:r>
              <a:rPr lang="en-US" b="1" dirty="0"/>
              <a:t>God’s gift</a:t>
            </a:r>
            <a:r>
              <a:rPr lang="en-US" dirty="0"/>
              <a:t> to all who believe and are baptized (Acts 2:38–39).</a:t>
            </a:r>
          </a:p>
          <a:p>
            <a:pPr marL="285750" indent="-285750" fontAlgn="ctr">
              <a:buFont typeface="Arial" panose="020B0604020202020204" pitchFamily="34" charset="0"/>
              <a:buChar char="•"/>
            </a:pPr>
            <a:r>
              <a:rPr lang="en-US" dirty="0"/>
              <a:t>The Spirit </a:t>
            </a:r>
            <a:r>
              <a:rPr lang="en-US" b="1" dirty="0"/>
              <a:t>dwells in believers</a:t>
            </a:r>
            <a:r>
              <a:rPr lang="en-US" dirty="0"/>
              <a:t> and marks them as belonging to Christ (Romans 8:9).</a:t>
            </a:r>
          </a:p>
          <a:p>
            <a:pPr marL="285750" indent="-285750" fontAlgn="ctr">
              <a:buFont typeface="Arial" panose="020B0604020202020204" pitchFamily="34" charset="0"/>
              <a:buChar char="•"/>
            </a:pPr>
            <a:r>
              <a:rPr lang="en-US" dirty="0"/>
              <a:t>The Spirit </a:t>
            </a:r>
            <a:r>
              <a:rPr lang="en-US" b="1" dirty="0"/>
              <a:t>produces fruit</a:t>
            </a:r>
            <a:r>
              <a:rPr lang="en-US" dirty="0"/>
              <a:t> (Galatians 5:22–23) and </a:t>
            </a:r>
            <a:r>
              <a:rPr lang="en-US" b="1" dirty="0"/>
              <a:t>distributes gifts</a:t>
            </a:r>
            <a:r>
              <a:rPr lang="en-US" dirty="0"/>
              <a:t> (1 Corinthians 12:4–11).</a:t>
            </a:r>
          </a:p>
          <a:p>
            <a:pPr marL="285750" indent="-285750" fontAlgn="ctr">
              <a:buFont typeface="Arial" panose="020B0604020202020204" pitchFamily="34" charset="0"/>
              <a:buChar char="•"/>
            </a:pPr>
            <a:r>
              <a:rPr lang="en-US" dirty="0"/>
              <a:t>The Spirit </a:t>
            </a:r>
            <a:r>
              <a:rPr lang="en-US" b="1" dirty="0"/>
              <a:t>intercedes</a:t>
            </a:r>
            <a:r>
              <a:rPr lang="en-US" dirty="0"/>
              <a:t> for believers (Romans 8:26).</a:t>
            </a:r>
          </a:p>
          <a:p>
            <a:pPr marL="285750" indent="-285750" fontAlgn="ctr">
              <a:buFont typeface="Arial" panose="020B0604020202020204" pitchFamily="34" charset="0"/>
              <a:buChar char="•"/>
            </a:pPr>
            <a:r>
              <a:rPr lang="en-US" dirty="0"/>
              <a:t>The Spirit </a:t>
            </a:r>
            <a:r>
              <a:rPr lang="en-US" b="1" dirty="0"/>
              <a:t>unites</a:t>
            </a:r>
            <a:r>
              <a:rPr lang="en-US" dirty="0"/>
              <a:t> the church as one body (1 Corinthians 12:13).</a:t>
            </a:r>
          </a:p>
          <a:p>
            <a:pPr marL="285750" indent="-285750" fontAlgn="ctr">
              <a:buFont typeface="Arial" panose="020B0604020202020204" pitchFamily="34" charset="0"/>
              <a:buChar char="•"/>
            </a:pPr>
            <a:r>
              <a:rPr lang="en-US" dirty="0"/>
              <a:t>The Spirit </a:t>
            </a:r>
            <a:r>
              <a:rPr lang="en-US" b="1" dirty="0"/>
              <a:t>bears witness</a:t>
            </a:r>
            <a:r>
              <a:rPr lang="en-US" dirty="0"/>
              <a:t> to the truth (1 John 4:13).</a:t>
            </a:r>
          </a:p>
        </p:txBody>
      </p:sp>
      <p:sp>
        <p:nvSpPr>
          <p:cNvPr id="2" name="TextBox 1">
            <a:extLst>
              <a:ext uri="{FF2B5EF4-FFF2-40B4-BE49-F238E27FC236}">
                <a16:creationId xmlns:a16="http://schemas.microsoft.com/office/drawing/2014/main" id="{E74A09D5-3DD9-D61E-268F-C1228C1DD675}"/>
              </a:ext>
            </a:extLst>
          </p:cNvPr>
          <p:cNvSpPr txBox="1"/>
          <p:nvPr/>
        </p:nvSpPr>
        <p:spPr>
          <a:xfrm>
            <a:off x="214312" y="3494546"/>
            <a:ext cx="8677275" cy="2585323"/>
          </a:xfrm>
          <a:prstGeom prst="rect">
            <a:avLst/>
          </a:prstGeom>
          <a:noFill/>
        </p:spPr>
        <p:txBody>
          <a:bodyPr wrap="square" rtlCol="0">
            <a:spAutoFit/>
          </a:bodyPr>
          <a:lstStyle/>
          <a:p>
            <a:r>
              <a:rPr lang="en-US" b="1" dirty="0"/>
              <a:t>How the Apostles Recognized the Spirit’s Work…</a:t>
            </a:r>
            <a:endParaRPr lang="en-US" dirty="0"/>
          </a:p>
          <a:p>
            <a:pPr marL="285750" indent="-285750" fontAlgn="ctr">
              <a:buFont typeface="Arial" panose="020B0604020202020204" pitchFamily="34" charset="0"/>
              <a:buChar char="•"/>
            </a:pPr>
            <a:r>
              <a:rPr lang="en-US" b="1" dirty="0"/>
              <a:t>Speaking in tongues</a:t>
            </a:r>
            <a:r>
              <a:rPr lang="en-US" dirty="0"/>
              <a:t> and </a:t>
            </a:r>
            <a:r>
              <a:rPr lang="en-US" b="1" dirty="0"/>
              <a:t>prophesying</a:t>
            </a:r>
            <a:r>
              <a:rPr lang="en-US" dirty="0"/>
              <a:t> confirmed the Spirit’s presence (Acts 10:44–46; 19:6).</a:t>
            </a:r>
          </a:p>
          <a:p>
            <a:pPr marL="285750" indent="-285750" fontAlgn="ctr">
              <a:buFont typeface="Arial" panose="020B0604020202020204" pitchFamily="34" charset="0"/>
              <a:buChar char="•"/>
            </a:pPr>
            <a:r>
              <a:rPr lang="en-US" b="1" dirty="0"/>
              <a:t>Boldness in witness</a:t>
            </a:r>
            <a:r>
              <a:rPr lang="en-US" dirty="0"/>
              <a:t> and </a:t>
            </a:r>
            <a:r>
              <a:rPr lang="en-US" b="1" dirty="0"/>
              <a:t>holiness of life</a:t>
            </a:r>
            <a:r>
              <a:rPr lang="en-US" dirty="0"/>
              <a:t> were marks of the Spirit’s power (Acts 4:31).</a:t>
            </a:r>
          </a:p>
          <a:p>
            <a:pPr marL="285750" indent="-285750" fontAlgn="ctr">
              <a:buFont typeface="Arial" panose="020B0604020202020204" pitchFamily="34" charset="0"/>
              <a:buChar char="•"/>
            </a:pPr>
            <a:r>
              <a:rPr lang="en-US" b="1" dirty="0"/>
              <a:t>Discernment, peace, and unity</a:t>
            </a:r>
            <a:r>
              <a:rPr lang="en-US" dirty="0"/>
              <a:t> within the church were signs of His leading (Acts 15:28).</a:t>
            </a:r>
          </a:p>
          <a:p>
            <a:pPr marL="285750" indent="-285750" fontAlgn="ctr">
              <a:buFont typeface="Arial" panose="020B0604020202020204" pitchFamily="34" charset="0"/>
              <a:buChar char="•"/>
            </a:pPr>
            <a:r>
              <a:rPr lang="en-US" b="1" dirty="0"/>
              <a:t>The Spirit’s fruit - </a:t>
            </a:r>
            <a:r>
              <a:rPr lang="en-US" dirty="0"/>
              <a:t>love, joy, peace, patience - was evidence of His indwelling (Galatians 5:22–23).</a:t>
            </a:r>
          </a:p>
        </p:txBody>
      </p:sp>
    </p:spTree>
    <p:extLst>
      <p:ext uri="{BB962C8B-B14F-4D97-AF65-F5344CB8AC3E}">
        <p14:creationId xmlns:p14="http://schemas.microsoft.com/office/powerpoint/2010/main" val="1148053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271A5-4627-2F8C-4F7B-C1AF88DB452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371C25A-A9CF-FE6E-912B-7B9F5BB8798F}"/>
              </a:ext>
            </a:extLst>
          </p:cNvPr>
          <p:cNvSpPr txBox="1">
            <a:spLocks/>
          </p:cNvSpPr>
          <p:nvPr/>
        </p:nvSpPr>
        <p:spPr bwMode="auto">
          <a:xfrm>
            <a:off x="233363" y="0"/>
            <a:ext cx="86677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400" dirty="0"/>
              <a:t>How Early Christians Recognized the Spirit’s Work</a:t>
            </a:r>
            <a:br>
              <a:rPr lang="en-US" dirty="0"/>
            </a:br>
            <a:r>
              <a:rPr lang="en-US" sz="2400" dirty="0">
                <a:solidFill>
                  <a:schemeClr val="tx2">
                    <a:lumMod val="60000"/>
                    <a:lumOff val="40000"/>
                  </a:schemeClr>
                </a:solidFill>
              </a:rPr>
              <a:t>They experienced Him as the living presence of God</a:t>
            </a:r>
          </a:p>
        </p:txBody>
      </p:sp>
      <p:sp>
        <p:nvSpPr>
          <p:cNvPr id="3" name="TextBox 2">
            <a:extLst>
              <a:ext uri="{FF2B5EF4-FFF2-40B4-BE49-F238E27FC236}">
                <a16:creationId xmlns:a16="http://schemas.microsoft.com/office/drawing/2014/main" id="{FB11F6EC-3FEA-F535-05DB-D84B65557515}"/>
              </a:ext>
            </a:extLst>
          </p:cNvPr>
          <p:cNvSpPr txBox="1"/>
          <p:nvPr/>
        </p:nvSpPr>
        <p:spPr>
          <a:xfrm>
            <a:off x="190500" y="838200"/>
            <a:ext cx="8677275" cy="1477328"/>
          </a:xfrm>
          <a:prstGeom prst="rect">
            <a:avLst/>
          </a:prstGeom>
          <a:noFill/>
        </p:spPr>
        <p:txBody>
          <a:bodyPr wrap="square" rtlCol="0">
            <a:spAutoFit/>
          </a:bodyPr>
          <a:lstStyle/>
          <a:p>
            <a:pPr fontAlgn="ctr"/>
            <a:r>
              <a:rPr lang="en-US" b="1" dirty="0"/>
              <a:t>Scripture inspiration</a:t>
            </a:r>
            <a:r>
              <a:rPr lang="en-US" dirty="0"/>
              <a:t> (the Spirit spoke through the prophets and apostles).</a:t>
            </a:r>
          </a:p>
          <a:p>
            <a:pPr fontAlgn="ctr"/>
            <a:r>
              <a:rPr lang="en-US" b="1" dirty="0"/>
              <a:t>Holiness of life</a:t>
            </a:r>
            <a:r>
              <a:rPr lang="en-US" dirty="0"/>
              <a:t> (the Spirit transforms believers into Christ’s likeness).</a:t>
            </a:r>
          </a:p>
          <a:p>
            <a:pPr fontAlgn="ctr"/>
            <a:r>
              <a:rPr lang="en-US" b="1" dirty="0"/>
              <a:t>Church unity</a:t>
            </a:r>
            <a:r>
              <a:rPr lang="en-US" dirty="0"/>
              <a:t> (the Spirit maintains one faith and one body).</a:t>
            </a:r>
          </a:p>
          <a:p>
            <a:pPr fontAlgn="ctr"/>
            <a:r>
              <a:rPr lang="en-US" b="1" dirty="0"/>
              <a:t>Witness and martyrdom</a:t>
            </a:r>
            <a:r>
              <a:rPr lang="en-US" dirty="0"/>
              <a:t> (the Spirit gives courage to confess Christ).</a:t>
            </a:r>
          </a:p>
          <a:p>
            <a:pPr fontAlgn="ctr"/>
            <a:r>
              <a:rPr lang="en-US" b="1" dirty="0"/>
              <a:t>Spiritual gifts</a:t>
            </a:r>
            <a:r>
              <a:rPr lang="en-US" dirty="0"/>
              <a:t> (prophecy, healing, discernment continued in some communities).</a:t>
            </a:r>
          </a:p>
        </p:txBody>
      </p:sp>
      <p:graphicFrame>
        <p:nvGraphicFramePr>
          <p:cNvPr id="6" name="Table 5">
            <a:extLst>
              <a:ext uri="{FF2B5EF4-FFF2-40B4-BE49-F238E27FC236}">
                <a16:creationId xmlns:a16="http://schemas.microsoft.com/office/drawing/2014/main" id="{D845CA41-18AE-4230-9303-1B09AE712066}"/>
              </a:ext>
            </a:extLst>
          </p:cNvPr>
          <p:cNvGraphicFramePr>
            <a:graphicFrameLocks noGrp="1"/>
          </p:cNvGraphicFramePr>
          <p:nvPr>
            <p:extLst>
              <p:ext uri="{D42A27DB-BD31-4B8C-83A1-F6EECF244321}">
                <p14:modId xmlns:p14="http://schemas.microsoft.com/office/powerpoint/2010/main" val="4081397390"/>
              </p:ext>
            </p:extLst>
          </p:nvPr>
        </p:nvGraphicFramePr>
        <p:xfrm>
          <a:off x="261937" y="2514600"/>
          <a:ext cx="8534400" cy="3383280"/>
        </p:xfrm>
        <a:graphic>
          <a:graphicData uri="http://schemas.openxmlformats.org/drawingml/2006/table">
            <a:tbl>
              <a:tblPr firstRow="1" bandRow="1">
                <a:tableStyleId>{D113A9D2-9D6B-4929-AA2D-F23B5EE8CBE7}</a:tableStyleId>
              </a:tblPr>
              <a:tblGrid>
                <a:gridCol w="2743200">
                  <a:extLst>
                    <a:ext uri="{9D8B030D-6E8A-4147-A177-3AD203B41FA5}">
                      <a16:colId xmlns:a16="http://schemas.microsoft.com/office/drawing/2014/main" val="61443423"/>
                    </a:ext>
                  </a:extLst>
                </a:gridCol>
                <a:gridCol w="5791200">
                  <a:extLst>
                    <a:ext uri="{9D8B030D-6E8A-4147-A177-3AD203B41FA5}">
                      <a16:colId xmlns:a16="http://schemas.microsoft.com/office/drawing/2014/main" val="3059213115"/>
                    </a:ext>
                  </a:extLst>
                </a:gridCol>
              </a:tblGrid>
              <a:tr h="370840">
                <a:tc>
                  <a:txBody>
                    <a:bodyPr/>
                    <a:lstStyle/>
                    <a:p>
                      <a:pPr marL="0" marR="0" fontAlgn="t">
                        <a:buNone/>
                      </a:pPr>
                      <a:r>
                        <a:rPr lang="en-US" sz="2000" b="1" dirty="0">
                          <a:effectLst/>
                        </a:rPr>
                        <a:t>Theme</a:t>
                      </a:r>
                      <a:endParaRPr lang="en-US" sz="2000" dirty="0">
                        <a:effectLst/>
                        <a:latin typeface="Calibri" panose="020F0502020204030204" pitchFamily="34" charset="0"/>
                      </a:endParaRPr>
                    </a:p>
                  </a:txBody>
                  <a:tcPr marL="50800" marR="50800" marT="50800" marB="50800"/>
                </a:tc>
                <a:tc>
                  <a:txBody>
                    <a:bodyPr/>
                    <a:lstStyle/>
                    <a:p>
                      <a:pPr marL="0" marR="0" fontAlgn="t">
                        <a:buNone/>
                      </a:pPr>
                      <a:r>
                        <a:rPr lang="en-US" sz="2000" b="1" dirty="0">
                          <a:effectLst/>
                        </a:rPr>
                        <a:t>Early Church Understanding</a:t>
                      </a:r>
                      <a:endParaRPr lang="en-US" sz="20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1998505111"/>
                  </a:ext>
                </a:extLst>
              </a:tr>
              <a:tr h="370840">
                <a:tc>
                  <a:txBody>
                    <a:bodyPr/>
                    <a:lstStyle/>
                    <a:p>
                      <a:pPr marL="0" marR="0" fontAlgn="t">
                        <a:buNone/>
                      </a:pPr>
                      <a:r>
                        <a:rPr lang="en-US" sz="1800" b="1">
                          <a:effectLst/>
                        </a:rPr>
                        <a:t>Nature of the Spirit</a:t>
                      </a:r>
                      <a:endParaRPr lang="en-US" sz="1800">
                        <a:effectLst/>
                        <a:latin typeface="Calibri" panose="020F0502020204030204" pitchFamily="34" charset="0"/>
                      </a:endParaRPr>
                    </a:p>
                  </a:txBody>
                  <a:tcPr marL="50800" marR="50800" marT="50800" marB="50800"/>
                </a:tc>
                <a:tc>
                  <a:txBody>
                    <a:bodyPr/>
                    <a:lstStyle/>
                    <a:p>
                      <a:pPr marL="0" marR="0" fontAlgn="t">
                        <a:buNone/>
                      </a:pPr>
                      <a:r>
                        <a:rPr lang="en-US" sz="1800">
                          <a:effectLst/>
                        </a:rPr>
                        <a:t>Divine, not created; one with the Father and the Son.</a:t>
                      </a:r>
                      <a:endParaRPr lang="en-US" sz="1800">
                        <a:effectLst/>
                        <a:latin typeface="Calibri" panose="020F0502020204030204" pitchFamily="34" charset="0"/>
                      </a:endParaRPr>
                    </a:p>
                  </a:txBody>
                  <a:tcPr marL="50800" marR="50800" marT="50800" marB="50800"/>
                </a:tc>
                <a:extLst>
                  <a:ext uri="{0D108BD9-81ED-4DB2-BD59-A6C34878D82A}">
                    <a16:rowId xmlns:a16="http://schemas.microsoft.com/office/drawing/2014/main" val="4037233660"/>
                  </a:ext>
                </a:extLst>
              </a:tr>
              <a:tr h="370840">
                <a:tc>
                  <a:txBody>
                    <a:bodyPr/>
                    <a:lstStyle/>
                    <a:p>
                      <a:pPr marL="0" marR="0" fontAlgn="t">
                        <a:buNone/>
                      </a:pPr>
                      <a:r>
                        <a:rPr lang="en-US" sz="1800" b="1">
                          <a:effectLst/>
                        </a:rPr>
                        <a:t>Work of the Spirit</a:t>
                      </a:r>
                      <a:endParaRPr lang="en-US" sz="1800">
                        <a:effectLst/>
                        <a:latin typeface="Calibri" panose="020F0502020204030204" pitchFamily="34" charset="0"/>
                      </a:endParaRPr>
                    </a:p>
                  </a:txBody>
                  <a:tcPr marL="50800" marR="50800" marT="50800" marB="50800"/>
                </a:tc>
                <a:tc>
                  <a:txBody>
                    <a:bodyPr/>
                    <a:lstStyle/>
                    <a:p>
                      <a:pPr marL="0" marR="0" fontAlgn="t">
                        <a:buNone/>
                      </a:pPr>
                      <a:r>
                        <a:rPr lang="en-US" sz="1800" dirty="0">
                          <a:effectLst/>
                        </a:rPr>
                        <a:t>Inspired the prophets, empowered the church, sanctified believers.</a:t>
                      </a:r>
                      <a:endParaRPr lang="en-US" sz="18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116650424"/>
                  </a:ext>
                </a:extLst>
              </a:tr>
              <a:tr h="370840">
                <a:tc>
                  <a:txBody>
                    <a:bodyPr/>
                    <a:lstStyle/>
                    <a:p>
                      <a:pPr marL="0" marR="0" fontAlgn="t">
                        <a:buNone/>
                      </a:pPr>
                      <a:r>
                        <a:rPr lang="en-US" sz="1800" b="1" dirty="0">
                          <a:effectLst/>
                        </a:rPr>
                        <a:t>Presence</a:t>
                      </a:r>
                      <a:endParaRPr lang="en-US" sz="1800" dirty="0">
                        <a:effectLst/>
                        <a:latin typeface="Calibri" panose="020F0502020204030204" pitchFamily="34" charset="0"/>
                      </a:endParaRPr>
                    </a:p>
                  </a:txBody>
                  <a:tcPr marL="50800" marR="50800" marT="50800" marB="50800"/>
                </a:tc>
                <a:tc>
                  <a:txBody>
                    <a:bodyPr/>
                    <a:lstStyle/>
                    <a:p>
                      <a:pPr marL="0" marR="0" fontAlgn="t">
                        <a:buNone/>
                      </a:pPr>
                      <a:r>
                        <a:rPr lang="en-US" sz="1800">
                          <a:effectLst/>
                        </a:rPr>
                        <a:t>The Spirit dwelt in the church as the living presence of God.</a:t>
                      </a:r>
                      <a:endParaRPr lang="en-US" sz="1800">
                        <a:effectLst/>
                        <a:latin typeface="Calibri" panose="020F0502020204030204" pitchFamily="34" charset="0"/>
                      </a:endParaRPr>
                    </a:p>
                  </a:txBody>
                  <a:tcPr marL="50800" marR="50800" marT="50800" marB="50800"/>
                </a:tc>
                <a:extLst>
                  <a:ext uri="{0D108BD9-81ED-4DB2-BD59-A6C34878D82A}">
                    <a16:rowId xmlns:a16="http://schemas.microsoft.com/office/drawing/2014/main" val="3730858834"/>
                  </a:ext>
                </a:extLst>
              </a:tr>
              <a:tr h="370840">
                <a:tc>
                  <a:txBody>
                    <a:bodyPr/>
                    <a:lstStyle/>
                    <a:p>
                      <a:pPr marL="0" marR="0" fontAlgn="t">
                        <a:buNone/>
                      </a:pPr>
                      <a:r>
                        <a:rPr lang="en-US" sz="1800" b="1" dirty="0">
                          <a:effectLst/>
                        </a:rPr>
                        <a:t>Unity</a:t>
                      </a:r>
                      <a:endParaRPr lang="en-US" sz="1800" dirty="0">
                        <a:effectLst/>
                        <a:latin typeface="Calibri" panose="020F0502020204030204" pitchFamily="34" charset="0"/>
                      </a:endParaRPr>
                    </a:p>
                  </a:txBody>
                  <a:tcPr marL="50800" marR="50800" marT="50800" marB="50800"/>
                </a:tc>
                <a:tc>
                  <a:txBody>
                    <a:bodyPr/>
                    <a:lstStyle/>
                    <a:p>
                      <a:pPr marL="0" marR="0" fontAlgn="t">
                        <a:buNone/>
                      </a:pPr>
                      <a:r>
                        <a:rPr lang="en-US" sz="1800" dirty="0">
                          <a:effectLst/>
                        </a:rPr>
                        <a:t>The Spirit was the bond of unity between believers and Christ.</a:t>
                      </a:r>
                      <a:endParaRPr lang="en-US" sz="18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3935988908"/>
                  </a:ext>
                </a:extLst>
              </a:tr>
              <a:tr h="370840">
                <a:tc>
                  <a:txBody>
                    <a:bodyPr/>
                    <a:lstStyle/>
                    <a:p>
                      <a:pPr marL="0" marR="0" fontAlgn="t">
                        <a:buNone/>
                      </a:pPr>
                      <a:r>
                        <a:rPr lang="en-US" sz="1800" b="1" dirty="0">
                          <a:effectLst/>
                        </a:rPr>
                        <a:t>Trinity</a:t>
                      </a:r>
                      <a:endParaRPr lang="en-US" sz="1800" dirty="0">
                        <a:effectLst/>
                        <a:latin typeface="Calibri" panose="020F0502020204030204" pitchFamily="34" charset="0"/>
                      </a:endParaRPr>
                    </a:p>
                  </a:txBody>
                  <a:tcPr marL="50800" marR="50800" marT="50800" marB="50800"/>
                </a:tc>
                <a:tc>
                  <a:txBody>
                    <a:bodyPr/>
                    <a:lstStyle/>
                    <a:p>
                      <a:pPr marL="0" marR="0" fontAlgn="t">
                        <a:buNone/>
                      </a:pPr>
                      <a:r>
                        <a:rPr lang="en-US" sz="1800" dirty="0">
                          <a:effectLst/>
                        </a:rPr>
                        <a:t>By the 2nd century, the Spirit was clearly confessed as part of the Triune Godhead.</a:t>
                      </a:r>
                      <a:endParaRPr lang="en-US" sz="18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3197941463"/>
                  </a:ext>
                </a:extLst>
              </a:tr>
            </a:tbl>
          </a:graphicData>
        </a:graphic>
      </p:graphicFrame>
    </p:spTree>
    <p:extLst>
      <p:ext uri="{BB962C8B-B14F-4D97-AF65-F5344CB8AC3E}">
        <p14:creationId xmlns:p14="http://schemas.microsoft.com/office/powerpoint/2010/main" val="47615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50E19-399A-C431-536D-B3972ACD8DF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C810B5C-DFCF-0C68-4E3A-CC62C6BE810F}"/>
              </a:ext>
            </a:extLst>
          </p:cNvPr>
          <p:cNvSpPr txBox="1">
            <a:spLocks/>
          </p:cNvSpPr>
          <p:nvPr/>
        </p:nvSpPr>
        <p:spPr bwMode="auto">
          <a:xfrm>
            <a:off x="214312" y="0"/>
            <a:ext cx="8382000" cy="789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0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Context - “Born of Water and the Spirit”</a:t>
            </a:r>
            <a:br>
              <a:rPr lang="en-US" dirty="0"/>
            </a:br>
            <a:r>
              <a:rPr lang="en-US" sz="2400" dirty="0">
                <a:solidFill>
                  <a:schemeClr val="tx2">
                    <a:lumMod val="60000"/>
                    <a:lumOff val="40000"/>
                  </a:schemeClr>
                </a:solidFill>
              </a:rPr>
              <a:t>Born Again – Rebirth and Indwelling</a:t>
            </a:r>
          </a:p>
        </p:txBody>
      </p:sp>
      <p:sp>
        <p:nvSpPr>
          <p:cNvPr id="3" name="TextBox 2">
            <a:extLst>
              <a:ext uri="{FF2B5EF4-FFF2-40B4-BE49-F238E27FC236}">
                <a16:creationId xmlns:a16="http://schemas.microsoft.com/office/drawing/2014/main" id="{8FC04AAF-6F88-C931-345D-70FACDD39990}"/>
              </a:ext>
            </a:extLst>
          </p:cNvPr>
          <p:cNvSpPr txBox="1"/>
          <p:nvPr/>
        </p:nvSpPr>
        <p:spPr>
          <a:xfrm>
            <a:off x="214310" y="685800"/>
            <a:ext cx="8677275" cy="923330"/>
          </a:xfrm>
          <a:prstGeom prst="rect">
            <a:avLst/>
          </a:prstGeom>
          <a:noFill/>
        </p:spPr>
        <p:txBody>
          <a:bodyPr wrap="square" rtlCol="0">
            <a:spAutoFit/>
          </a:bodyPr>
          <a:lstStyle/>
          <a:p>
            <a:r>
              <a:rPr lang="en-US" b="1" dirty="0"/>
              <a:t>John 3:5-6</a:t>
            </a:r>
            <a:r>
              <a:rPr lang="en-US" dirty="0"/>
              <a:t>  Jesus answered, </a:t>
            </a:r>
            <a:r>
              <a:rPr lang="en-US" i="1" dirty="0"/>
              <a:t>"Most assuredly, I say to you, unless one is born of water and the Spirit, he cannot enter the kingdom of God.  (6)  That which is born of the flesh is flesh, and that which is born of the Spirit is spirit.”</a:t>
            </a:r>
          </a:p>
        </p:txBody>
      </p:sp>
      <p:sp>
        <p:nvSpPr>
          <p:cNvPr id="2" name="TextBox 1">
            <a:extLst>
              <a:ext uri="{FF2B5EF4-FFF2-40B4-BE49-F238E27FC236}">
                <a16:creationId xmlns:a16="http://schemas.microsoft.com/office/drawing/2014/main" id="{C94A7FDE-FBFA-9B8F-EC25-CC32C72243AB}"/>
              </a:ext>
            </a:extLst>
          </p:cNvPr>
          <p:cNvSpPr txBox="1"/>
          <p:nvPr/>
        </p:nvSpPr>
        <p:spPr>
          <a:xfrm>
            <a:off x="214310" y="1661220"/>
            <a:ext cx="8677275" cy="3416320"/>
          </a:xfrm>
          <a:prstGeom prst="rect">
            <a:avLst/>
          </a:prstGeom>
          <a:noFill/>
        </p:spPr>
        <p:txBody>
          <a:bodyPr wrap="square" rtlCol="0">
            <a:spAutoFit/>
          </a:bodyPr>
          <a:lstStyle/>
          <a:p>
            <a:r>
              <a:rPr lang="en-US" b="1" dirty="0"/>
              <a:t>The Meaning of “Born Again”</a:t>
            </a:r>
            <a:endParaRPr lang="en-US" dirty="0"/>
          </a:p>
          <a:p>
            <a:pPr marL="285750" indent="-285750">
              <a:buFont typeface="Arial" panose="020B0604020202020204" pitchFamily="34" charset="0"/>
              <a:buChar char="•"/>
            </a:pPr>
            <a:r>
              <a:rPr lang="en-US" dirty="0"/>
              <a:t>The phrase can also be translated </a:t>
            </a:r>
            <a:r>
              <a:rPr lang="en-US" i="1" dirty="0"/>
              <a:t>“born from above.”</a:t>
            </a:r>
            <a:endParaRPr lang="en-US" dirty="0"/>
          </a:p>
          <a:p>
            <a:pPr marL="285750" indent="-285750">
              <a:buFont typeface="Arial" panose="020B0604020202020204" pitchFamily="34" charset="0"/>
              <a:buChar char="•"/>
            </a:pPr>
            <a:r>
              <a:rPr lang="en-US" dirty="0"/>
              <a:t>It means a new origin, a new source of life; life that comes </a:t>
            </a:r>
            <a:r>
              <a:rPr lang="en-US" b="1" dirty="0"/>
              <a:t>from God</a:t>
            </a:r>
            <a:r>
              <a:rPr lang="en-US" dirty="0"/>
              <a:t>, not from human effort or lineage.</a:t>
            </a:r>
          </a:p>
          <a:p>
            <a:r>
              <a:rPr lang="en-US" b="1" dirty="0"/>
              <a:t>John 1:12–13</a:t>
            </a:r>
            <a:r>
              <a:rPr lang="en-US" dirty="0"/>
              <a:t> says:</a:t>
            </a:r>
          </a:p>
          <a:p>
            <a:pPr lvl="1"/>
            <a:r>
              <a:rPr lang="en-US" i="1" dirty="0"/>
              <a:t>“But as many as received Him, to them He gave the right to become children of God, even to those who believe in His name, who were born, not of blood nor of the will of the flesh nor of the will of man, but of God.”</a:t>
            </a:r>
          </a:p>
          <a:p>
            <a:r>
              <a:rPr lang="en-US" dirty="0"/>
              <a:t>So, the new birth is:</a:t>
            </a:r>
          </a:p>
          <a:p>
            <a:pPr marL="285750" indent="-285750" fontAlgn="ctr">
              <a:buFont typeface="Arial" panose="020B0604020202020204" pitchFamily="34" charset="0"/>
              <a:buChar char="•"/>
            </a:pPr>
            <a:r>
              <a:rPr lang="en-US" b="1" dirty="0"/>
              <a:t>Initiated by God</a:t>
            </a:r>
            <a:endParaRPr lang="en-US" dirty="0"/>
          </a:p>
          <a:p>
            <a:pPr marL="285750" indent="-285750" fontAlgn="ctr">
              <a:buFont typeface="Arial" panose="020B0604020202020204" pitchFamily="34" charset="0"/>
              <a:buChar char="•"/>
            </a:pPr>
            <a:r>
              <a:rPr lang="en-US" b="1" dirty="0"/>
              <a:t>Effected by the Spirit</a:t>
            </a:r>
            <a:endParaRPr lang="en-US" dirty="0"/>
          </a:p>
          <a:p>
            <a:pPr marL="285750" indent="-285750" fontAlgn="ctr">
              <a:buFont typeface="Arial" panose="020B0604020202020204" pitchFamily="34" charset="0"/>
              <a:buChar char="•"/>
            </a:pPr>
            <a:r>
              <a:rPr lang="en-US" b="1" dirty="0"/>
              <a:t>Resulting in a new nature</a:t>
            </a:r>
            <a:r>
              <a:rPr lang="en-US" dirty="0"/>
              <a:t> capable of knowing and loving God</a:t>
            </a:r>
          </a:p>
        </p:txBody>
      </p:sp>
      <p:sp>
        <p:nvSpPr>
          <p:cNvPr id="4" name="TextBox 3">
            <a:extLst>
              <a:ext uri="{FF2B5EF4-FFF2-40B4-BE49-F238E27FC236}">
                <a16:creationId xmlns:a16="http://schemas.microsoft.com/office/drawing/2014/main" id="{35F1BEC3-8BB7-D8CE-02AD-143F635FA73A}"/>
              </a:ext>
            </a:extLst>
          </p:cNvPr>
          <p:cNvSpPr txBox="1"/>
          <p:nvPr/>
        </p:nvSpPr>
        <p:spPr>
          <a:xfrm>
            <a:off x="214310" y="5129630"/>
            <a:ext cx="8577262" cy="1477328"/>
          </a:xfrm>
          <a:prstGeom prst="rect">
            <a:avLst/>
          </a:prstGeom>
          <a:noFill/>
        </p:spPr>
        <p:txBody>
          <a:bodyPr wrap="square" rtlCol="0">
            <a:spAutoFit/>
          </a:bodyPr>
          <a:lstStyle/>
          <a:p>
            <a:r>
              <a:rPr lang="en-US" b="1" i="1" dirty="0"/>
              <a:t>Ezekiel 36:25-27</a:t>
            </a:r>
            <a:r>
              <a:rPr lang="en-US" dirty="0"/>
              <a:t>  </a:t>
            </a:r>
            <a:r>
              <a:rPr lang="en-US" i="1" dirty="0"/>
              <a:t>Then I will sprinkle clean water on you, and you shall be clean; I will cleanse you from all your filthiness and from all your idols.  (26)  </a:t>
            </a:r>
            <a:r>
              <a:rPr lang="en-US" b="1" i="1" dirty="0"/>
              <a:t>I will give you a new heart and put a new spirit within you</a:t>
            </a:r>
            <a:r>
              <a:rPr lang="en-US" i="1" dirty="0"/>
              <a:t>; I will take the heart of stone out of your flesh and give you a heart of flesh.  (27)  </a:t>
            </a:r>
            <a:r>
              <a:rPr lang="en-US" b="1" i="1" dirty="0"/>
              <a:t>I will put My Spirit within you </a:t>
            </a:r>
            <a:r>
              <a:rPr lang="en-US" i="1" dirty="0"/>
              <a:t>and cause you to walk in My statutes, and you will keep My judgments and do them.</a:t>
            </a:r>
          </a:p>
        </p:txBody>
      </p:sp>
    </p:spTree>
    <p:extLst>
      <p:ext uri="{BB962C8B-B14F-4D97-AF65-F5344CB8AC3E}">
        <p14:creationId xmlns:p14="http://schemas.microsoft.com/office/powerpoint/2010/main" val="790299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26C1E-F08A-8E8E-EC41-070452124E3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F847077-2978-71DB-E7B3-C7103EAB7758}"/>
              </a:ext>
            </a:extLst>
          </p:cNvPr>
          <p:cNvSpPr txBox="1">
            <a:spLocks/>
          </p:cNvSpPr>
          <p:nvPr/>
        </p:nvSpPr>
        <p:spPr bwMode="auto">
          <a:xfrm>
            <a:off x="214312" y="0"/>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85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Holy Spirit - the Agent of New Birth</a:t>
            </a:r>
            <a:br>
              <a:rPr lang="en-US" dirty="0"/>
            </a:br>
            <a:r>
              <a:rPr lang="en-US" sz="2400" dirty="0">
                <a:solidFill>
                  <a:schemeClr val="tx2">
                    <a:lumMod val="60000"/>
                    <a:lumOff val="40000"/>
                  </a:schemeClr>
                </a:solidFill>
              </a:rPr>
              <a:t>New-Birth / Indwelling – Two Sides of the Same Reality</a:t>
            </a:r>
          </a:p>
        </p:txBody>
      </p:sp>
      <p:sp>
        <p:nvSpPr>
          <p:cNvPr id="3" name="TextBox 2">
            <a:extLst>
              <a:ext uri="{FF2B5EF4-FFF2-40B4-BE49-F238E27FC236}">
                <a16:creationId xmlns:a16="http://schemas.microsoft.com/office/drawing/2014/main" id="{D32B9AA4-CC46-3A29-0763-512064BDC0FA}"/>
              </a:ext>
            </a:extLst>
          </p:cNvPr>
          <p:cNvSpPr txBox="1"/>
          <p:nvPr/>
        </p:nvSpPr>
        <p:spPr>
          <a:xfrm>
            <a:off x="233361" y="3657600"/>
            <a:ext cx="8677275" cy="2862322"/>
          </a:xfrm>
          <a:prstGeom prst="rect">
            <a:avLst/>
          </a:prstGeom>
          <a:noFill/>
        </p:spPr>
        <p:txBody>
          <a:bodyPr wrap="square" rtlCol="0">
            <a:spAutoFit/>
          </a:bodyPr>
          <a:lstStyle/>
          <a:p>
            <a:r>
              <a:rPr lang="en-US" b="1" dirty="0"/>
              <a:t>Titus 3:3-7  </a:t>
            </a:r>
            <a:r>
              <a:rPr lang="en-US" i="1" dirty="0"/>
              <a:t>For we ourselves were also once foolish, disobedient, deceived, serving various lusts and pleasures, living in malice and envy, hateful and hating one another.  (4)  But when the kindness and the love of God our Savior toward man appeared,  (5)  not by works of righteousness which we have done, but according to His mercy He saved us, </a:t>
            </a:r>
            <a:r>
              <a:rPr lang="en-US" b="1" i="1" dirty="0"/>
              <a:t>through the washing of regeneration and renewing of the Holy Spirit</a:t>
            </a:r>
            <a:r>
              <a:rPr lang="en-US" i="1" dirty="0"/>
              <a:t>,  (6)  whom He poured out on us abundantly through Jesus Christ our Savior,  (7)  that having been justified by His grace we should become heirs according to the hope of eternal life.</a:t>
            </a:r>
          </a:p>
          <a:p>
            <a:pPr marL="285750" indent="-285750">
              <a:buFont typeface="Arial" panose="020B0604020202020204" pitchFamily="34" charset="0"/>
              <a:buChar char="•"/>
            </a:pPr>
            <a:r>
              <a:rPr lang="en-US" dirty="0"/>
              <a:t>The </a:t>
            </a:r>
            <a:r>
              <a:rPr lang="en-US" b="1" dirty="0"/>
              <a:t>Spirit both cleanses and renews</a:t>
            </a:r>
            <a:r>
              <a:rPr lang="en-US" dirty="0"/>
              <a:t>; the new birth is the moment the Spirit enters to make one alive to God.</a:t>
            </a:r>
          </a:p>
        </p:txBody>
      </p:sp>
      <p:graphicFrame>
        <p:nvGraphicFramePr>
          <p:cNvPr id="6" name="Table 5">
            <a:extLst>
              <a:ext uri="{FF2B5EF4-FFF2-40B4-BE49-F238E27FC236}">
                <a16:creationId xmlns:a16="http://schemas.microsoft.com/office/drawing/2014/main" id="{D9178BF0-194E-28BB-16E3-EEC7E1DCA3B3}"/>
              </a:ext>
            </a:extLst>
          </p:cNvPr>
          <p:cNvGraphicFramePr>
            <a:graphicFrameLocks noGrp="1"/>
          </p:cNvGraphicFramePr>
          <p:nvPr>
            <p:extLst>
              <p:ext uri="{D42A27DB-BD31-4B8C-83A1-F6EECF244321}">
                <p14:modId xmlns:p14="http://schemas.microsoft.com/office/powerpoint/2010/main" val="3824645949"/>
              </p:ext>
            </p:extLst>
          </p:nvPr>
        </p:nvGraphicFramePr>
        <p:xfrm>
          <a:off x="304799" y="835660"/>
          <a:ext cx="8534400" cy="2631440"/>
        </p:xfrm>
        <a:graphic>
          <a:graphicData uri="http://schemas.openxmlformats.org/drawingml/2006/table">
            <a:tbl>
              <a:tblPr firstRow="1" bandRow="1">
                <a:tableStyleId>{D113A9D2-9D6B-4929-AA2D-F23B5EE8CBE7}</a:tableStyleId>
              </a:tblPr>
              <a:tblGrid>
                <a:gridCol w="2590800">
                  <a:extLst>
                    <a:ext uri="{9D8B030D-6E8A-4147-A177-3AD203B41FA5}">
                      <a16:colId xmlns:a16="http://schemas.microsoft.com/office/drawing/2014/main" val="2807386256"/>
                    </a:ext>
                  </a:extLst>
                </a:gridCol>
                <a:gridCol w="3098800">
                  <a:extLst>
                    <a:ext uri="{9D8B030D-6E8A-4147-A177-3AD203B41FA5}">
                      <a16:colId xmlns:a16="http://schemas.microsoft.com/office/drawing/2014/main" val="4247607311"/>
                    </a:ext>
                  </a:extLst>
                </a:gridCol>
                <a:gridCol w="2844800">
                  <a:extLst>
                    <a:ext uri="{9D8B030D-6E8A-4147-A177-3AD203B41FA5}">
                      <a16:colId xmlns:a16="http://schemas.microsoft.com/office/drawing/2014/main" val="1485982027"/>
                    </a:ext>
                  </a:extLst>
                </a:gridCol>
              </a:tblGrid>
              <a:tr h="370840">
                <a:tc>
                  <a:txBody>
                    <a:bodyPr/>
                    <a:lstStyle/>
                    <a:p>
                      <a:pPr marL="0" marR="0" fontAlgn="t">
                        <a:buNone/>
                      </a:pPr>
                      <a:r>
                        <a:rPr lang="en-US" sz="2000" b="1" dirty="0">
                          <a:effectLst/>
                          <a:latin typeface="Calibri" panose="020F0502020204030204" pitchFamily="34" charset="0"/>
                        </a:rPr>
                        <a:t>Aspect</a:t>
                      </a:r>
                      <a:endParaRPr lang="en-US" sz="2000" dirty="0">
                        <a:effectLst/>
                        <a:latin typeface="Calibri" panose="020F0502020204030204" pitchFamily="34" charset="0"/>
                      </a:endParaRPr>
                    </a:p>
                  </a:txBody>
                  <a:tcPr marL="50800" marR="50800" marT="50800" marB="50800"/>
                </a:tc>
                <a:tc>
                  <a:txBody>
                    <a:bodyPr/>
                    <a:lstStyle/>
                    <a:p>
                      <a:pPr marL="0" marR="0" fontAlgn="t">
                        <a:buNone/>
                      </a:pPr>
                      <a:r>
                        <a:rPr lang="en-US" sz="2000" b="1">
                          <a:effectLst/>
                          <a:latin typeface="Calibri" panose="020F0502020204030204" pitchFamily="34" charset="0"/>
                        </a:rPr>
                        <a:t>Description</a:t>
                      </a:r>
                      <a:endParaRPr lang="en-US" sz="2000">
                        <a:effectLst/>
                        <a:latin typeface="Calibri" panose="020F0502020204030204" pitchFamily="34" charset="0"/>
                      </a:endParaRPr>
                    </a:p>
                  </a:txBody>
                  <a:tcPr marL="50800" marR="50800" marT="50800" marB="50800"/>
                </a:tc>
                <a:tc>
                  <a:txBody>
                    <a:bodyPr/>
                    <a:lstStyle/>
                    <a:p>
                      <a:pPr marL="0" marR="0" fontAlgn="t">
                        <a:buNone/>
                      </a:pPr>
                      <a:r>
                        <a:rPr lang="en-US" sz="2000" b="1" dirty="0">
                          <a:effectLst/>
                          <a:latin typeface="Calibri" panose="020F0502020204030204" pitchFamily="34" charset="0"/>
                        </a:rPr>
                        <a:t>Key Text</a:t>
                      </a:r>
                      <a:endParaRPr lang="en-US" sz="20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745826933"/>
                  </a:ext>
                </a:extLst>
              </a:tr>
              <a:tr h="370840">
                <a:tc>
                  <a:txBody>
                    <a:bodyPr/>
                    <a:lstStyle/>
                    <a:p>
                      <a:pPr marL="0" marR="0" fontAlgn="t">
                        <a:buNone/>
                      </a:pPr>
                      <a:r>
                        <a:rPr lang="en-US" sz="2000" b="1" dirty="0">
                          <a:effectLst/>
                          <a:latin typeface="Calibri" panose="020F0502020204030204" pitchFamily="34" charset="0"/>
                        </a:rPr>
                        <a:t>Rebirth (Regeneration)</a:t>
                      </a:r>
                      <a:endParaRPr lang="en-US" sz="2000" dirty="0">
                        <a:effectLst/>
                        <a:latin typeface="Calibri" panose="020F0502020204030204" pitchFamily="34" charset="0"/>
                      </a:endParaRPr>
                    </a:p>
                  </a:txBody>
                  <a:tcPr marL="50800" marR="50800" marT="50800" marB="50800"/>
                </a:tc>
                <a:tc>
                  <a:txBody>
                    <a:bodyPr/>
                    <a:lstStyle/>
                    <a:p>
                      <a:pPr marL="0" marR="0" fontAlgn="t">
                        <a:buNone/>
                      </a:pPr>
                      <a:r>
                        <a:rPr lang="en-US" sz="1800" dirty="0">
                          <a:effectLst/>
                          <a:latin typeface="Calibri" panose="020F0502020204030204" pitchFamily="34" charset="0"/>
                        </a:rPr>
                        <a:t>The moment when a person is made spiritually alive by the Spirit</a:t>
                      </a:r>
                    </a:p>
                  </a:txBody>
                  <a:tcPr marL="50800" marR="50800" marT="50800" marB="50800"/>
                </a:tc>
                <a:tc>
                  <a:txBody>
                    <a:bodyPr/>
                    <a:lstStyle/>
                    <a:p>
                      <a:pPr marL="0" marR="0" fontAlgn="t">
                        <a:buNone/>
                      </a:pPr>
                      <a:r>
                        <a:rPr lang="en-US" sz="1800">
                          <a:effectLst/>
                          <a:latin typeface="Calibri" panose="020F0502020204030204" pitchFamily="34" charset="0"/>
                        </a:rPr>
                        <a:t>John 3:5–8; Titus 3:5</a:t>
                      </a:r>
                    </a:p>
                  </a:txBody>
                  <a:tcPr marL="50800" marR="50800" marT="50800" marB="50800"/>
                </a:tc>
                <a:extLst>
                  <a:ext uri="{0D108BD9-81ED-4DB2-BD59-A6C34878D82A}">
                    <a16:rowId xmlns:a16="http://schemas.microsoft.com/office/drawing/2014/main" val="2985568024"/>
                  </a:ext>
                </a:extLst>
              </a:tr>
              <a:tr h="370840">
                <a:tc>
                  <a:txBody>
                    <a:bodyPr/>
                    <a:lstStyle/>
                    <a:p>
                      <a:pPr marL="0" marR="0" fontAlgn="t">
                        <a:buNone/>
                      </a:pPr>
                      <a:r>
                        <a:rPr lang="en-US" sz="2000" b="1" dirty="0">
                          <a:effectLst/>
                          <a:latin typeface="Calibri" panose="020F0502020204030204" pitchFamily="34" charset="0"/>
                        </a:rPr>
                        <a:t>Indwelling</a:t>
                      </a:r>
                      <a:endParaRPr lang="en-US" sz="2000" dirty="0">
                        <a:effectLst/>
                        <a:latin typeface="Calibri" panose="020F0502020204030204" pitchFamily="34" charset="0"/>
                      </a:endParaRPr>
                    </a:p>
                  </a:txBody>
                  <a:tcPr marL="50800" marR="50800" marT="50800" marB="50800"/>
                </a:tc>
                <a:tc>
                  <a:txBody>
                    <a:bodyPr/>
                    <a:lstStyle/>
                    <a:p>
                      <a:pPr marL="0" marR="0" fontAlgn="t">
                        <a:buNone/>
                      </a:pPr>
                      <a:r>
                        <a:rPr lang="en-US" sz="1800" dirty="0">
                          <a:effectLst/>
                          <a:latin typeface="Calibri" panose="020F0502020204030204" pitchFamily="34" charset="0"/>
                        </a:rPr>
                        <a:t>The ongoing presence of the Spirit within the believer</a:t>
                      </a:r>
                    </a:p>
                  </a:txBody>
                  <a:tcPr marL="50800" marR="50800" marT="50800" marB="50800"/>
                </a:tc>
                <a:tc>
                  <a:txBody>
                    <a:bodyPr/>
                    <a:lstStyle/>
                    <a:p>
                      <a:pPr marL="0" marR="0" fontAlgn="t">
                        <a:buNone/>
                      </a:pPr>
                      <a:r>
                        <a:rPr lang="en-US" sz="1800">
                          <a:effectLst/>
                          <a:latin typeface="Calibri" panose="020F0502020204030204" pitchFamily="34" charset="0"/>
                        </a:rPr>
                        <a:t>John 14:17; Romans 8:9–11</a:t>
                      </a:r>
                    </a:p>
                  </a:txBody>
                  <a:tcPr marL="50800" marR="50800" marT="50800" marB="50800"/>
                </a:tc>
                <a:extLst>
                  <a:ext uri="{0D108BD9-81ED-4DB2-BD59-A6C34878D82A}">
                    <a16:rowId xmlns:a16="http://schemas.microsoft.com/office/drawing/2014/main" val="2042956988"/>
                  </a:ext>
                </a:extLst>
              </a:tr>
              <a:tr h="370840">
                <a:tc>
                  <a:txBody>
                    <a:bodyPr/>
                    <a:lstStyle/>
                    <a:p>
                      <a:pPr marL="0" marR="0" fontAlgn="t">
                        <a:buNone/>
                      </a:pPr>
                      <a:r>
                        <a:rPr lang="en-US" sz="2000" b="1" dirty="0">
                          <a:effectLst/>
                          <a:latin typeface="Calibri" panose="020F0502020204030204" pitchFamily="34" charset="0"/>
                        </a:rPr>
                        <a:t>Result</a:t>
                      </a:r>
                      <a:endParaRPr lang="en-US" sz="2000" dirty="0">
                        <a:effectLst/>
                        <a:latin typeface="Calibri" panose="020F0502020204030204" pitchFamily="34" charset="0"/>
                      </a:endParaRPr>
                    </a:p>
                  </a:txBody>
                  <a:tcPr marL="50800" marR="50800" marT="50800" marB="50800"/>
                </a:tc>
                <a:tc>
                  <a:txBody>
                    <a:bodyPr/>
                    <a:lstStyle/>
                    <a:p>
                      <a:pPr marL="0" marR="0" fontAlgn="t">
                        <a:buNone/>
                      </a:pPr>
                      <a:r>
                        <a:rPr lang="en-US" sz="1800">
                          <a:effectLst/>
                          <a:latin typeface="Calibri" panose="020F0502020204030204" pitchFamily="34" charset="0"/>
                        </a:rPr>
                        <a:t>New nature, new desires, new life in Christ</a:t>
                      </a:r>
                    </a:p>
                  </a:txBody>
                  <a:tcPr marL="50800" marR="50800" marT="50800" marB="50800"/>
                </a:tc>
                <a:tc>
                  <a:txBody>
                    <a:bodyPr/>
                    <a:lstStyle/>
                    <a:p>
                      <a:pPr marL="0" marR="0" fontAlgn="t">
                        <a:buNone/>
                      </a:pPr>
                      <a:r>
                        <a:rPr lang="en-US" sz="1800" dirty="0">
                          <a:effectLst/>
                          <a:latin typeface="Calibri" panose="020F0502020204030204" pitchFamily="34" charset="0"/>
                        </a:rPr>
                        <a:t>2 Corinthians 5:17; Galatians 5:22–25</a:t>
                      </a:r>
                    </a:p>
                  </a:txBody>
                  <a:tcPr marL="50800" marR="50800" marT="50800" marB="50800"/>
                </a:tc>
                <a:extLst>
                  <a:ext uri="{0D108BD9-81ED-4DB2-BD59-A6C34878D82A}">
                    <a16:rowId xmlns:a16="http://schemas.microsoft.com/office/drawing/2014/main" val="2194382760"/>
                  </a:ext>
                </a:extLst>
              </a:tr>
            </a:tbl>
          </a:graphicData>
        </a:graphic>
      </p:graphicFrame>
    </p:spTree>
    <p:extLst>
      <p:ext uri="{BB962C8B-B14F-4D97-AF65-F5344CB8AC3E}">
        <p14:creationId xmlns:p14="http://schemas.microsoft.com/office/powerpoint/2010/main" val="2714978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3811E-0ED2-D650-4C26-F7EDFB47401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7C1B898-15AE-E8C5-68F1-D4BF3122D157}"/>
              </a:ext>
            </a:extLst>
          </p:cNvPr>
          <p:cNvSpPr txBox="1">
            <a:spLocks/>
          </p:cNvSpPr>
          <p:nvPr/>
        </p:nvSpPr>
        <p:spPr bwMode="auto">
          <a:xfrm>
            <a:off x="214312" y="0"/>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0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Indwelling Spirit – Evidence of New Birth</a:t>
            </a:r>
            <a:br>
              <a:rPr lang="en-US" dirty="0"/>
            </a:br>
            <a:r>
              <a:rPr lang="en-US" sz="2400" dirty="0">
                <a:solidFill>
                  <a:schemeClr val="tx2">
                    <a:lumMod val="60000"/>
                    <a:lumOff val="40000"/>
                  </a:schemeClr>
                </a:solidFill>
              </a:rPr>
              <a:t>A Continuation of the Work of the Holy Spirit</a:t>
            </a:r>
          </a:p>
        </p:txBody>
      </p:sp>
      <p:sp>
        <p:nvSpPr>
          <p:cNvPr id="3" name="TextBox 2">
            <a:extLst>
              <a:ext uri="{FF2B5EF4-FFF2-40B4-BE49-F238E27FC236}">
                <a16:creationId xmlns:a16="http://schemas.microsoft.com/office/drawing/2014/main" id="{B5393104-09BD-58A0-2B0D-48A433279704}"/>
              </a:ext>
            </a:extLst>
          </p:cNvPr>
          <p:cNvSpPr txBox="1"/>
          <p:nvPr/>
        </p:nvSpPr>
        <p:spPr>
          <a:xfrm>
            <a:off x="214312" y="777359"/>
            <a:ext cx="8677275" cy="2031325"/>
          </a:xfrm>
          <a:prstGeom prst="rect">
            <a:avLst/>
          </a:prstGeom>
          <a:noFill/>
        </p:spPr>
        <p:txBody>
          <a:bodyPr wrap="square" rtlCol="0">
            <a:spAutoFit/>
          </a:bodyPr>
          <a:lstStyle/>
          <a:p>
            <a:r>
              <a:rPr lang="en-US" b="1" dirty="0"/>
              <a:t>Romans 8:8-11</a:t>
            </a:r>
            <a:r>
              <a:rPr lang="en-US" dirty="0"/>
              <a:t>  </a:t>
            </a:r>
            <a:r>
              <a:rPr lang="en-US" i="1" dirty="0"/>
              <a:t>So then, those who are in the flesh cannot please God.  (9)  But you are not in the flesh but in the Spirit, if indeed the Spirit of God dwells in you. Now if anyone does not have the Spirit of Christ, he is not His.  (10)  And if Christ is in you, the body is dead because of sin, but the Spirit is life because of righteousness.  (11)  But if the Spirit of Him who raised Jesus from the dead dwells in you, He who raised Christ from the dead will also give life to your mortal bodies through His Spirit who dwells in you. </a:t>
            </a:r>
          </a:p>
        </p:txBody>
      </p:sp>
      <p:sp>
        <p:nvSpPr>
          <p:cNvPr id="2" name="TextBox 1">
            <a:extLst>
              <a:ext uri="{FF2B5EF4-FFF2-40B4-BE49-F238E27FC236}">
                <a16:creationId xmlns:a16="http://schemas.microsoft.com/office/drawing/2014/main" id="{BC857F99-9C4E-DEBE-A041-AFF609CBDEBE}"/>
              </a:ext>
            </a:extLst>
          </p:cNvPr>
          <p:cNvSpPr txBox="1"/>
          <p:nvPr/>
        </p:nvSpPr>
        <p:spPr>
          <a:xfrm>
            <a:off x="214312" y="2895600"/>
            <a:ext cx="8677275" cy="3416320"/>
          </a:xfrm>
          <a:prstGeom prst="rect">
            <a:avLst/>
          </a:prstGeom>
          <a:noFill/>
        </p:spPr>
        <p:txBody>
          <a:bodyPr wrap="square" rtlCol="0">
            <a:spAutoFit/>
          </a:bodyPr>
          <a:lstStyle/>
          <a:p>
            <a:pPr marL="285750" indent="-285750">
              <a:buFont typeface="Arial" panose="020B0604020202020204" pitchFamily="34" charset="0"/>
              <a:buChar char="•"/>
            </a:pPr>
            <a:r>
              <a:rPr lang="en-US" dirty="0"/>
              <a:t>To be “born again” is to </a:t>
            </a:r>
            <a:r>
              <a:rPr lang="en-US" b="1" dirty="0"/>
              <a:t>receive the Spirit’s life</a:t>
            </a:r>
            <a:r>
              <a:rPr lang="en-US" dirty="0"/>
              <a:t>.</a:t>
            </a:r>
          </a:p>
          <a:p>
            <a:pPr marL="285750" indent="-285750">
              <a:buFont typeface="Arial" panose="020B0604020202020204" pitchFamily="34" charset="0"/>
              <a:buChar char="•"/>
            </a:pPr>
            <a:r>
              <a:rPr lang="en-US" dirty="0"/>
              <a:t>To be “indwelt by the Spirit” is to </a:t>
            </a:r>
            <a:r>
              <a:rPr lang="en-US" b="1" dirty="0"/>
              <a:t>continue living in that life</a:t>
            </a:r>
            <a:r>
              <a:rPr lang="en-US" dirty="0"/>
              <a:t>.</a:t>
            </a:r>
          </a:p>
          <a:p>
            <a:pPr marL="285750" indent="-285750">
              <a:buFont typeface="Arial" panose="020B0604020202020204" pitchFamily="34" charset="0"/>
              <a:buChar char="•"/>
            </a:pPr>
            <a:r>
              <a:rPr lang="en-US" dirty="0"/>
              <a:t>You cannot have one without the other.</a:t>
            </a:r>
          </a:p>
          <a:p>
            <a:endParaRPr lang="en-US" dirty="0"/>
          </a:p>
          <a:p>
            <a:r>
              <a:rPr lang="en-US" dirty="0"/>
              <a:t>The Spirit:</a:t>
            </a:r>
          </a:p>
          <a:p>
            <a:pPr marL="285750" indent="-285750" fontAlgn="ctr">
              <a:buFont typeface="Arial" panose="020B0604020202020204" pitchFamily="34" charset="0"/>
              <a:buChar char="•"/>
            </a:pPr>
            <a:r>
              <a:rPr lang="en-US" dirty="0"/>
              <a:t>Awakens us to faith (</a:t>
            </a:r>
            <a:r>
              <a:rPr lang="en-US" b="1" dirty="0"/>
              <a:t>John 16:8–11</a:t>
            </a:r>
            <a:r>
              <a:rPr lang="en-US" dirty="0"/>
              <a:t>)</a:t>
            </a:r>
          </a:p>
          <a:p>
            <a:pPr marL="285750" indent="-285750" fontAlgn="ctr">
              <a:buFont typeface="Arial" panose="020B0604020202020204" pitchFamily="34" charset="0"/>
              <a:buChar char="•"/>
            </a:pPr>
            <a:r>
              <a:rPr lang="en-US" dirty="0"/>
              <a:t>Joins us to Christ (</a:t>
            </a:r>
            <a:r>
              <a:rPr lang="en-US" b="1" dirty="0"/>
              <a:t>1 Corinthians 12:13</a:t>
            </a:r>
            <a:r>
              <a:rPr lang="en-US" dirty="0"/>
              <a:t>)</a:t>
            </a:r>
          </a:p>
          <a:p>
            <a:pPr marL="285750" indent="-285750" fontAlgn="ctr">
              <a:buFont typeface="Arial" panose="020B0604020202020204" pitchFamily="34" charset="0"/>
              <a:buChar char="•"/>
            </a:pPr>
            <a:r>
              <a:rPr lang="en-US" dirty="0"/>
              <a:t>Lives within us as God’s seal (</a:t>
            </a:r>
            <a:r>
              <a:rPr lang="en-US" b="1" dirty="0"/>
              <a:t>Ephesians 1:13–14</a:t>
            </a:r>
            <a:r>
              <a:rPr lang="en-US" dirty="0"/>
              <a:t>)</a:t>
            </a:r>
          </a:p>
          <a:p>
            <a:pPr marL="285750" indent="-285750" fontAlgn="ctr">
              <a:buFont typeface="Arial" panose="020B0604020202020204" pitchFamily="34" charset="0"/>
              <a:buChar char="•"/>
            </a:pPr>
            <a:r>
              <a:rPr lang="en-US" dirty="0"/>
              <a:t>Transforms our character (</a:t>
            </a:r>
            <a:r>
              <a:rPr lang="en-US" b="1" dirty="0"/>
              <a:t>Galatians 5:22–23</a:t>
            </a:r>
            <a:r>
              <a:rPr lang="en-US" dirty="0"/>
              <a:t>)</a:t>
            </a:r>
          </a:p>
          <a:p>
            <a:endParaRPr lang="en-US" dirty="0"/>
          </a:p>
          <a:p>
            <a:r>
              <a:rPr lang="en-US" dirty="0"/>
              <a:t>Thus, the new birth is the </a:t>
            </a:r>
            <a:r>
              <a:rPr lang="en-US" b="1" dirty="0"/>
              <a:t>beginning</a:t>
            </a:r>
            <a:r>
              <a:rPr lang="en-US" dirty="0"/>
              <a:t> of the Spirit’s work; indwelling is the </a:t>
            </a:r>
            <a:r>
              <a:rPr lang="en-US" b="1" dirty="0"/>
              <a:t>continuation</a:t>
            </a:r>
            <a:r>
              <a:rPr lang="en-US" dirty="0"/>
              <a:t> of it.</a:t>
            </a:r>
          </a:p>
        </p:txBody>
      </p:sp>
    </p:spTree>
    <p:extLst>
      <p:ext uri="{BB962C8B-B14F-4D97-AF65-F5344CB8AC3E}">
        <p14:creationId xmlns:p14="http://schemas.microsoft.com/office/powerpoint/2010/main" val="3374933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37459</TotalTime>
  <Words>5768</Words>
  <Application>Microsoft Office PowerPoint</Application>
  <PresentationFormat>On-screen Show (4:3)</PresentationFormat>
  <Paragraphs>257</Paragraphs>
  <Slides>8</Slides>
  <Notes>8</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8</vt:i4>
      </vt:variant>
    </vt:vector>
  </HeadingPairs>
  <TitlesOfParts>
    <vt:vector size="14" baseType="lpstr">
      <vt:lpstr>ＭＳ Ｐゴシック</vt:lpstr>
      <vt:lpstr>Arial</vt:lpstr>
      <vt:lpstr>Arial Narrow</vt:lpstr>
      <vt:lpstr>Calibri</vt:lpstr>
      <vt:lpstr>PPT_Template_2010SummerSchool</vt:lpstr>
      <vt:lpstr>1_UPCRC_Powerpoint_Template_with I-Mark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1358</cp:revision>
  <cp:lastPrinted>2025-11-16T13:41:33Z</cp:lastPrinted>
  <dcterms:created xsi:type="dcterms:W3CDTF">2010-06-16T02:58:04Z</dcterms:created>
  <dcterms:modified xsi:type="dcterms:W3CDTF">2025-11-23T11:51:43Z</dcterms:modified>
</cp:coreProperties>
</file>