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4"/>
  </p:notesMasterIdLst>
  <p:sldIdLst>
    <p:sldId id="256" r:id="rId3"/>
    <p:sldId id="389" r:id="rId4"/>
    <p:sldId id="380" r:id="rId5"/>
    <p:sldId id="382" r:id="rId6"/>
    <p:sldId id="390" r:id="rId7"/>
    <p:sldId id="384" r:id="rId8"/>
    <p:sldId id="385" r:id="rId9"/>
    <p:sldId id="386" r:id="rId10"/>
    <p:sldId id="391" r:id="rId11"/>
    <p:sldId id="392" r:id="rId12"/>
    <p:sldId id="393" r:id="rId13"/>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6" autoAdjust="0"/>
    <p:restoredTop sz="74443" autoAdjust="0"/>
  </p:normalViewPr>
  <p:slideViewPr>
    <p:cSldViewPr>
      <p:cViewPr varScale="1">
        <p:scale>
          <a:sx n="110" d="100"/>
          <a:sy n="110" d="100"/>
        </p:scale>
        <p:origin x="1072" y="16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6/4/26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3636F-46AA-95C1-4F3C-A62B48B02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50710-43B7-0FD8-FC57-CB35D3FC8F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B5076-B1F5-C8ED-6092-8A19B118F77C}"/>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Christians should serve righteousness</a:t>
            </a:r>
          </a:p>
          <a:p>
            <a:endParaRPr lang="en-US" sz="1200" b="1"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Romans 8</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solution.</a:t>
            </a:r>
          </a:p>
          <a:p>
            <a:r>
              <a:rPr lang="en-US" sz="1200" kern="1200" dirty="0">
                <a:solidFill>
                  <a:schemeClr val="tx1"/>
                </a:solidFill>
                <a:effectLst/>
                <a:latin typeface="+mn-lt"/>
                <a:ea typeface="ＭＳ Ｐゴシック" pitchFamily="-106" charset="-128"/>
                <a:cs typeface="ＭＳ Ｐゴシック" pitchFamily="-106" charset="-128"/>
              </a:rPr>
              <a:t>“For the law of the Spirit of life in Christ Jesus has set you free from the law of sin and death.” (Romans 8:2)</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What the Law could not do:</a:t>
            </a:r>
          </a:p>
          <a:p>
            <a:r>
              <a:rPr lang="en-US" sz="1200" kern="1200" dirty="0">
                <a:solidFill>
                  <a:schemeClr val="tx1"/>
                </a:solidFill>
                <a:effectLst/>
                <a:latin typeface="+mn-lt"/>
                <a:ea typeface="ＭＳ Ｐゴシック" pitchFamily="-106" charset="-128"/>
                <a:cs typeface="ＭＳ Ｐゴシック" pitchFamily="-106" charset="-128"/>
              </a:rPr>
              <a:t>“God did…” (Romans 8:3)</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So Romans 7 is not Paul’s description of the normal Christian life as one of perpetual defeat. It is his explanation of why Law cannot produce righteousness. Romans 8 provides the answer: the believer serves righteousness not through the power of Law, but through union with Christ and the indwelling Holy Spirit.</a:t>
            </a:r>
          </a:p>
          <a:p>
            <a:r>
              <a:rPr lang="en-US" sz="1200" kern="1200" dirty="0">
                <a:solidFill>
                  <a:schemeClr val="tx1"/>
                </a:solidFill>
                <a:effectLst/>
                <a:latin typeface="+mn-lt"/>
                <a:ea typeface="ＭＳ Ｐゴシック" pitchFamily="-106" charset="-128"/>
                <a:cs typeface="ＭＳ Ｐゴシック" pitchFamily="-106" charset="-128"/>
              </a:rPr>
              <a:t>The cry of Romans 7:24:</a:t>
            </a:r>
          </a:p>
          <a:p>
            <a:r>
              <a:rPr lang="en-US" sz="1200" kern="1200" dirty="0">
                <a:solidFill>
                  <a:schemeClr val="tx1"/>
                </a:solidFill>
                <a:effectLst/>
                <a:latin typeface="+mn-lt"/>
                <a:ea typeface="ＭＳ Ｐゴシック" pitchFamily="-106" charset="-128"/>
                <a:cs typeface="ＭＳ Ｐゴシック" pitchFamily="-106" charset="-128"/>
              </a:rPr>
              <a:t>	“Who will rescue me?”</a:t>
            </a:r>
          </a:p>
          <a:p>
            <a:r>
              <a:rPr lang="en-US" sz="1200" kern="1200" dirty="0">
                <a:solidFill>
                  <a:schemeClr val="tx1"/>
                </a:solidFill>
                <a:effectLst/>
                <a:latin typeface="+mn-lt"/>
                <a:ea typeface="ＭＳ Ｐゴシック" pitchFamily="-106" charset="-128"/>
                <a:cs typeface="ＭＳ Ｐゴシック" pitchFamily="-106" charset="-128"/>
              </a:rPr>
              <a:t>finds its answer in Romans 8:1-2:</a:t>
            </a:r>
          </a:p>
          <a:p>
            <a:r>
              <a:rPr lang="en-US" sz="1200" kern="1200" dirty="0">
                <a:solidFill>
                  <a:schemeClr val="tx1"/>
                </a:solidFill>
                <a:effectLst/>
                <a:latin typeface="+mn-lt"/>
                <a:ea typeface="ＭＳ Ｐゴシック" pitchFamily="-106" charset="-128"/>
                <a:cs typeface="ＭＳ Ｐゴシック" pitchFamily="-106" charset="-128"/>
              </a:rPr>
              <a:t>	“There is therefore now no condemnation for those who are in Christ Jesus. For the law of the Spirit of life in Christ Jesus has set you free from the law of sin and death.” (NET)</a:t>
            </a:r>
          </a:p>
          <a:p>
            <a:endParaRPr lang="en-US" sz="1400" dirty="0"/>
          </a:p>
        </p:txBody>
      </p:sp>
      <p:sp>
        <p:nvSpPr>
          <p:cNvPr id="4" name="Slide Number Placeholder 3">
            <a:extLst>
              <a:ext uri="{FF2B5EF4-FFF2-40B4-BE49-F238E27FC236}">
                <a16:creationId xmlns:a16="http://schemas.microsoft.com/office/drawing/2014/main" id="{E6BE03F8-851E-2DCB-F2F7-F58C0F6DF3B7}"/>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149799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3989796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Does</a:t>
            </a:r>
            <a:r>
              <a:rPr lang="en-US" sz="1400" baseline="0" dirty="0"/>
              <a:t> the law of sin and death have dominion in our lives?   </a:t>
            </a:r>
          </a:p>
          <a:p>
            <a:endParaRPr lang="en-US" sz="1400" baseline="0" dirty="0"/>
          </a:p>
          <a:p>
            <a:r>
              <a:rPr lang="en-US" sz="1400" baseline="0" dirty="0"/>
              <a:t>“In Christ Jesus”      John 15:1-5</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John 15:1-5</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a:t>
            </a:r>
            <a:r>
              <a:rPr lang="en-US" sz="1400" kern="1200" dirty="0">
                <a:solidFill>
                  <a:schemeClr val="tx1"/>
                </a:solidFill>
                <a:effectLst/>
                <a:latin typeface="+mn-lt"/>
                <a:ea typeface="ＭＳ Ｐゴシック" pitchFamily="-106" charset="-128"/>
                <a:cs typeface="ＭＳ Ｐゴシック" pitchFamily="-106" charset="-128"/>
              </a:rPr>
              <a:t> “I am the true vine and my Father is the gardener. </a:t>
            </a:r>
            <a:r>
              <a:rPr lang="en-US" sz="1400" b="1" kern="1200" dirty="0">
                <a:solidFill>
                  <a:schemeClr val="tx1"/>
                </a:solidFill>
                <a:effectLst/>
                <a:latin typeface="+mn-lt"/>
                <a:ea typeface="ＭＳ Ｐゴシック" pitchFamily="-106" charset="-128"/>
                <a:cs typeface="ＭＳ Ｐゴシック" pitchFamily="-106" charset="-128"/>
              </a:rPr>
              <a:t>2</a:t>
            </a:r>
            <a:r>
              <a:rPr lang="en-US" sz="1400" kern="1200" dirty="0">
                <a:solidFill>
                  <a:schemeClr val="tx1"/>
                </a:solidFill>
                <a:effectLst/>
                <a:latin typeface="+mn-lt"/>
                <a:ea typeface="ＭＳ Ｐゴシック" pitchFamily="-106" charset="-128"/>
                <a:cs typeface="ＭＳ Ｐゴシック" pitchFamily="-106" charset="-128"/>
              </a:rPr>
              <a:t> He takes away every branch that does not bear fruit in me. He prunes every branch that bears fruit so that it will bear more fruit. </a:t>
            </a:r>
            <a:r>
              <a:rPr lang="en-US" sz="1400" b="1" kern="1200" dirty="0">
                <a:solidFill>
                  <a:schemeClr val="tx1"/>
                </a:solidFill>
                <a:effectLst/>
                <a:latin typeface="+mn-lt"/>
                <a:ea typeface="ＭＳ Ｐゴシック" pitchFamily="-106" charset="-128"/>
                <a:cs typeface="ＭＳ Ｐゴシック" pitchFamily="-106" charset="-128"/>
              </a:rPr>
              <a:t>3</a:t>
            </a:r>
            <a:r>
              <a:rPr lang="en-US" sz="1400" kern="1200" dirty="0">
                <a:solidFill>
                  <a:schemeClr val="tx1"/>
                </a:solidFill>
                <a:effectLst/>
                <a:latin typeface="+mn-lt"/>
                <a:ea typeface="ＭＳ Ｐゴシック" pitchFamily="-106" charset="-128"/>
                <a:cs typeface="ＭＳ Ｐゴシック" pitchFamily="-106" charset="-128"/>
              </a:rPr>
              <a:t> You are clean already because of the word that I have spoken to you. </a:t>
            </a:r>
            <a:r>
              <a:rPr lang="en-US" sz="1400" b="1" kern="1200" dirty="0">
                <a:solidFill>
                  <a:schemeClr val="tx1"/>
                </a:solidFill>
                <a:effectLst/>
                <a:latin typeface="+mn-lt"/>
                <a:ea typeface="ＭＳ Ｐゴシック" pitchFamily="-106" charset="-128"/>
                <a:cs typeface="ＭＳ Ｐゴシック" pitchFamily="-106" charset="-128"/>
              </a:rPr>
              <a:t>4</a:t>
            </a:r>
            <a:r>
              <a:rPr lang="en-US" sz="1400" kern="1200" dirty="0">
                <a:solidFill>
                  <a:schemeClr val="tx1"/>
                </a:solidFill>
                <a:effectLst/>
                <a:latin typeface="+mn-lt"/>
                <a:ea typeface="ＭＳ Ｐゴシック" pitchFamily="-106" charset="-128"/>
                <a:cs typeface="ＭＳ Ｐゴシック" pitchFamily="-106" charset="-128"/>
              </a:rPr>
              <a:t> Remain in me, and I will remain in you. Just as the branch cannot bear fruit by itself, unless it remains in the vine, so neither can you unless you remain in me. </a:t>
            </a:r>
            <a:r>
              <a:rPr lang="en-US" sz="1400" b="1" kern="1200" dirty="0">
                <a:solidFill>
                  <a:schemeClr val="tx1"/>
                </a:solidFill>
                <a:effectLst/>
                <a:latin typeface="+mn-lt"/>
                <a:ea typeface="ＭＳ Ｐゴシック" pitchFamily="-106" charset="-128"/>
                <a:cs typeface="ＭＳ Ｐゴシック" pitchFamily="-106" charset="-128"/>
              </a:rPr>
              <a:t>5</a:t>
            </a:r>
            <a:r>
              <a:rPr lang="en-US" sz="1400" kern="1200" dirty="0">
                <a:solidFill>
                  <a:schemeClr val="tx1"/>
                </a:solidFill>
                <a:effectLst/>
                <a:latin typeface="+mn-lt"/>
                <a:ea typeface="ＭＳ Ｐゴシック" pitchFamily="-106" charset="-128"/>
                <a:cs typeface="ＭＳ Ｐゴシック" pitchFamily="-106" charset="-128"/>
              </a:rPr>
              <a:t> “I am the vine; you are the branches. The one who remains in me – and I in him – bears much fruit, because apart from me you can accomplish nothing.</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824394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Galatians 5:16-17</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But I say, live by the Spirit and you will not carry out the desires of the flesh.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For the flesh has desires that are opposed to the Spirit, and the Spirit has desires that are opposed to the flesh, for these are in opposition to each other, so that you cannot do what you want.</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3466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556676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John 16:13-14</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13</a:t>
            </a:r>
            <a:r>
              <a:rPr lang="en-US" sz="1400" kern="1200" dirty="0">
                <a:solidFill>
                  <a:schemeClr val="tx1"/>
                </a:solidFill>
                <a:effectLst/>
                <a:latin typeface="+mn-lt"/>
                <a:ea typeface="ＭＳ Ｐゴシック" pitchFamily="-106" charset="-128"/>
                <a:cs typeface="ＭＳ Ｐゴシック" pitchFamily="-106" charset="-128"/>
              </a:rPr>
              <a:t> But when he, the Spirit of truth, comes, he will guide you into all truth. For he will not speak on his own authority, but will speak whatever he hears, and will tell you what is to come. </a:t>
            </a:r>
            <a:r>
              <a:rPr lang="en-US" sz="1400" b="1" kern="1200" dirty="0">
                <a:solidFill>
                  <a:schemeClr val="tx1"/>
                </a:solidFill>
                <a:effectLst/>
                <a:latin typeface="+mn-lt"/>
                <a:ea typeface="ＭＳ Ｐゴシック" pitchFamily="-106" charset="-128"/>
                <a:cs typeface="ＭＳ Ｐゴシック" pitchFamily="-106" charset="-128"/>
              </a:rPr>
              <a:t>14</a:t>
            </a:r>
            <a:r>
              <a:rPr lang="en-US" sz="1400" kern="1200" dirty="0">
                <a:solidFill>
                  <a:schemeClr val="tx1"/>
                </a:solidFill>
                <a:effectLst/>
                <a:latin typeface="+mn-lt"/>
                <a:ea typeface="ＭＳ Ｐゴシック" pitchFamily="-106" charset="-128"/>
                <a:cs typeface="ＭＳ Ｐゴシック" pitchFamily="-106" charset="-128"/>
              </a:rPr>
              <a:t> He will glorify me, because he will receive from me what is mine and will tell it to you.</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Romans 6:3-5</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3</a:t>
            </a:r>
            <a:r>
              <a:rPr lang="en-US" sz="1400" kern="1200" dirty="0">
                <a:solidFill>
                  <a:schemeClr val="tx1"/>
                </a:solidFill>
                <a:effectLst/>
                <a:latin typeface="+mn-lt"/>
                <a:ea typeface="ＭＳ Ｐゴシック" pitchFamily="-106" charset="-128"/>
                <a:cs typeface="ＭＳ Ｐゴシック" pitchFamily="-106" charset="-128"/>
              </a:rPr>
              <a:t> Or do you not know that as many as were baptized into Christ Jesus were baptized into his death? </a:t>
            </a:r>
            <a:r>
              <a:rPr lang="en-US" sz="1400" b="1" kern="1200" dirty="0">
                <a:solidFill>
                  <a:schemeClr val="tx1"/>
                </a:solidFill>
                <a:effectLst/>
                <a:latin typeface="+mn-lt"/>
                <a:ea typeface="ＭＳ Ｐゴシック" pitchFamily="-106" charset="-128"/>
                <a:cs typeface="ＭＳ Ｐゴシック" pitchFamily="-106" charset="-128"/>
              </a:rPr>
              <a:t>4</a:t>
            </a:r>
            <a:r>
              <a:rPr lang="en-US" sz="1400" kern="1200" dirty="0">
                <a:solidFill>
                  <a:schemeClr val="tx1"/>
                </a:solidFill>
                <a:effectLst/>
                <a:latin typeface="+mn-lt"/>
                <a:ea typeface="ＭＳ Ｐゴシック" pitchFamily="-106" charset="-128"/>
                <a:cs typeface="ＭＳ Ｐゴシック" pitchFamily="-106" charset="-128"/>
              </a:rPr>
              <a:t> Therefore we have been buried with him through baptism into death, in order that just as Christ was raised from the dead through the glory of the Father, so we too may live a new life. </a:t>
            </a:r>
            <a:r>
              <a:rPr lang="en-US" sz="1400" b="1" kern="1200" dirty="0">
                <a:solidFill>
                  <a:schemeClr val="tx1"/>
                </a:solidFill>
                <a:effectLst/>
                <a:latin typeface="+mn-lt"/>
                <a:ea typeface="ＭＳ Ｐゴシック" pitchFamily="-106" charset="-128"/>
                <a:cs typeface="ＭＳ Ｐゴシック" pitchFamily="-106" charset="-128"/>
              </a:rPr>
              <a:t>5</a:t>
            </a:r>
            <a:r>
              <a:rPr lang="en-US" sz="1400" kern="1200" dirty="0">
                <a:solidFill>
                  <a:schemeClr val="tx1"/>
                </a:solidFill>
                <a:effectLst/>
                <a:latin typeface="+mn-lt"/>
                <a:ea typeface="ＭＳ Ｐゴシック" pitchFamily="-106" charset="-128"/>
                <a:cs typeface="ＭＳ Ｐゴシック" pitchFamily="-106" charset="-128"/>
              </a:rPr>
              <a:t> For if we have become united with him in the likeness of his death, we will certainly also be united in the likeness of his resurrection.</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719686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Galatians 3:1-5</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a:t>
            </a:r>
            <a:r>
              <a:rPr lang="en-US" sz="1400" kern="1200" dirty="0">
                <a:solidFill>
                  <a:schemeClr val="tx1"/>
                </a:solidFill>
                <a:effectLst/>
                <a:latin typeface="+mn-lt"/>
                <a:ea typeface="ＭＳ Ｐゴシック" pitchFamily="-106" charset="-128"/>
                <a:cs typeface="ＭＳ Ｐゴシック" pitchFamily="-106" charset="-128"/>
              </a:rPr>
              <a:t> You foolish Galatians! Who has cast a spell on you? Before your eyes Jesus Christ was vividly portrayed as crucified! </a:t>
            </a:r>
            <a:r>
              <a:rPr lang="en-US" sz="1400" b="1" kern="1200" dirty="0">
                <a:solidFill>
                  <a:schemeClr val="tx1"/>
                </a:solidFill>
                <a:effectLst/>
                <a:latin typeface="+mn-lt"/>
                <a:ea typeface="ＭＳ Ｐゴシック" pitchFamily="-106" charset="-128"/>
                <a:cs typeface="ＭＳ Ｐゴシック" pitchFamily="-106" charset="-128"/>
              </a:rPr>
              <a:t>2</a:t>
            </a:r>
            <a:r>
              <a:rPr lang="en-US" sz="1400" kern="1200" dirty="0">
                <a:solidFill>
                  <a:schemeClr val="tx1"/>
                </a:solidFill>
                <a:effectLst/>
                <a:latin typeface="+mn-lt"/>
                <a:ea typeface="ＭＳ Ｐゴシック" pitchFamily="-106" charset="-128"/>
                <a:cs typeface="ＭＳ Ｐゴシック" pitchFamily="-106" charset="-128"/>
              </a:rPr>
              <a:t> The only thing I want to learn from you is this: Did you receive the Spirit by doing the works of the law or by believing what you heard? </a:t>
            </a:r>
            <a:r>
              <a:rPr lang="en-US" sz="1400" b="1" kern="1200" dirty="0">
                <a:solidFill>
                  <a:schemeClr val="tx1"/>
                </a:solidFill>
                <a:effectLst/>
                <a:latin typeface="+mn-lt"/>
                <a:ea typeface="ＭＳ Ｐゴシック" pitchFamily="-106" charset="-128"/>
                <a:cs typeface="ＭＳ Ｐゴシック" pitchFamily="-106" charset="-128"/>
              </a:rPr>
              <a:t>3</a:t>
            </a:r>
            <a:r>
              <a:rPr lang="en-US" sz="1400" kern="1200" dirty="0">
                <a:solidFill>
                  <a:schemeClr val="tx1"/>
                </a:solidFill>
                <a:effectLst/>
                <a:latin typeface="+mn-lt"/>
                <a:ea typeface="ＭＳ Ｐゴシック" pitchFamily="-106" charset="-128"/>
                <a:cs typeface="ＭＳ Ｐゴシック" pitchFamily="-106" charset="-128"/>
              </a:rPr>
              <a:t> Are you so foolish? Although you began with the Spirit, are you now trying to finish by human effort? </a:t>
            </a:r>
            <a:r>
              <a:rPr lang="en-US" sz="1400" b="1" kern="1200" dirty="0">
                <a:solidFill>
                  <a:schemeClr val="tx1"/>
                </a:solidFill>
                <a:effectLst/>
                <a:latin typeface="+mn-lt"/>
                <a:ea typeface="ＭＳ Ｐゴシック" pitchFamily="-106" charset="-128"/>
                <a:cs typeface="ＭＳ Ｐゴシック" pitchFamily="-106" charset="-128"/>
              </a:rPr>
              <a:t>4</a:t>
            </a:r>
            <a:r>
              <a:rPr lang="en-US" sz="1400" kern="1200" dirty="0">
                <a:solidFill>
                  <a:schemeClr val="tx1"/>
                </a:solidFill>
                <a:effectLst/>
                <a:latin typeface="+mn-lt"/>
                <a:ea typeface="ＭＳ Ｐゴシック" pitchFamily="-106" charset="-128"/>
                <a:cs typeface="ＭＳ Ｐゴシック" pitchFamily="-106" charset="-128"/>
              </a:rPr>
              <a:t> Have you suffered so many things for nothing? – if indeed it was for nothing. </a:t>
            </a:r>
            <a:r>
              <a:rPr lang="en-US" sz="1400" b="1" kern="1200" dirty="0">
                <a:solidFill>
                  <a:schemeClr val="tx1"/>
                </a:solidFill>
                <a:effectLst/>
                <a:latin typeface="+mn-lt"/>
                <a:ea typeface="ＭＳ Ｐゴシック" pitchFamily="-106" charset="-128"/>
                <a:cs typeface="ＭＳ Ｐゴシック" pitchFamily="-106" charset="-128"/>
              </a:rPr>
              <a:t>5</a:t>
            </a:r>
            <a:r>
              <a:rPr lang="en-US" sz="1400" kern="1200" dirty="0">
                <a:solidFill>
                  <a:schemeClr val="tx1"/>
                </a:solidFill>
                <a:effectLst/>
                <a:latin typeface="+mn-lt"/>
                <a:ea typeface="ＭＳ Ｐゴシック" pitchFamily="-106" charset="-128"/>
                <a:cs typeface="ＭＳ Ｐゴシック" pitchFamily="-106" charset="-128"/>
              </a:rPr>
              <a:t> Does God then give you the Spirit and work miracles among you by your doing the works of the law or by your believing what you heard?</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Galatians 6:7-8</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7</a:t>
            </a:r>
            <a:r>
              <a:rPr lang="en-US" sz="1400" kern="1200" dirty="0">
                <a:solidFill>
                  <a:schemeClr val="tx1"/>
                </a:solidFill>
                <a:effectLst/>
                <a:latin typeface="+mn-lt"/>
                <a:ea typeface="ＭＳ Ｐゴシック" pitchFamily="-106" charset="-128"/>
                <a:cs typeface="ＭＳ Ｐゴシック" pitchFamily="-106" charset="-128"/>
              </a:rPr>
              <a:t> Do not be deceived. God will not be made a fool. For a person will reap what he sows, </a:t>
            </a:r>
            <a:r>
              <a:rPr lang="en-US" sz="1400" b="1" kern="1200" dirty="0">
                <a:solidFill>
                  <a:schemeClr val="tx1"/>
                </a:solidFill>
                <a:effectLst/>
                <a:latin typeface="+mn-lt"/>
                <a:ea typeface="ＭＳ Ｐゴシック" pitchFamily="-106" charset="-128"/>
                <a:cs typeface="ＭＳ Ｐゴシック" pitchFamily="-106" charset="-128"/>
              </a:rPr>
              <a:t>8</a:t>
            </a:r>
            <a:r>
              <a:rPr lang="en-US" sz="1400" kern="1200" dirty="0">
                <a:solidFill>
                  <a:schemeClr val="tx1"/>
                </a:solidFill>
                <a:effectLst/>
                <a:latin typeface="+mn-lt"/>
                <a:ea typeface="ＭＳ Ｐゴシック" pitchFamily="-106" charset="-128"/>
                <a:cs typeface="ＭＳ Ｐゴシック" pitchFamily="-106" charset="-128"/>
              </a:rPr>
              <a:t> because the person who sows to his own flesh will reap corruption from the flesh, but the one who sows to the Spirit will reap eternal life from the Spirit.</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Ezekiel 18:24</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“But if a righteous man turns away from his righteousness and practices wrongdoing according to all the abominable practices the wicked carry out, will he live? All his righteous acts will not be remembered; because of the unfaithful acts he has done and the sin he has committed, he will die.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Matthew 12:48-50</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48</a:t>
            </a:r>
            <a:r>
              <a:rPr lang="en-US" sz="1400" kern="1200" dirty="0">
                <a:solidFill>
                  <a:schemeClr val="tx1"/>
                </a:solidFill>
                <a:effectLst/>
                <a:latin typeface="+mn-lt"/>
                <a:ea typeface="ＭＳ Ｐゴシック" pitchFamily="-106" charset="-128"/>
                <a:cs typeface="ＭＳ Ｐゴシック" pitchFamily="-106" charset="-128"/>
              </a:rPr>
              <a:t> To the one who had said this, Jesus replied, “Who is my mother and who are my brothers?” </a:t>
            </a:r>
            <a:r>
              <a:rPr lang="en-US" sz="1400" b="1" kern="1200" dirty="0">
                <a:solidFill>
                  <a:schemeClr val="tx1"/>
                </a:solidFill>
                <a:effectLst/>
                <a:latin typeface="+mn-lt"/>
                <a:ea typeface="ＭＳ Ｐゴシック" pitchFamily="-106" charset="-128"/>
                <a:cs typeface="ＭＳ Ｐゴシック" pitchFamily="-106" charset="-128"/>
              </a:rPr>
              <a:t>49</a:t>
            </a:r>
            <a:r>
              <a:rPr lang="en-US" sz="1400" kern="1200" dirty="0">
                <a:solidFill>
                  <a:schemeClr val="tx1"/>
                </a:solidFill>
                <a:effectLst/>
                <a:latin typeface="+mn-lt"/>
                <a:ea typeface="ＭＳ Ｐゴシック" pitchFamily="-106" charset="-128"/>
                <a:cs typeface="ＭＳ Ｐゴシック" pitchFamily="-106" charset="-128"/>
              </a:rPr>
              <a:t> And pointing toward his disciples he said, “Here are my mother and my brothers! </a:t>
            </a:r>
            <a:r>
              <a:rPr lang="en-US" sz="1400" b="1" kern="1200" dirty="0">
                <a:solidFill>
                  <a:schemeClr val="tx1"/>
                </a:solidFill>
                <a:effectLst/>
                <a:latin typeface="+mn-lt"/>
                <a:ea typeface="ＭＳ Ｐゴシック" pitchFamily="-106" charset="-128"/>
                <a:cs typeface="ＭＳ Ｐゴシック" pitchFamily="-106" charset="-128"/>
              </a:rPr>
              <a:t>50</a:t>
            </a:r>
            <a:r>
              <a:rPr lang="en-US" sz="1400" kern="1200" dirty="0">
                <a:solidFill>
                  <a:schemeClr val="tx1"/>
                </a:solidFill>
                <a:effectLst/>
                <a:latin typeface="+mn-lt"/>
                <a:ea typeface="ＭＳ Ｐゴシック" pitchFamily="-106" charset="-128"/>
                <a:cs typeface="ＭＳ Ｐゴシック" pitchFamily="-106" charset="-128"/>
              </a:rPr>
              <a:t> For whoever does the will of my Father in heaven is my brother and sister and mother.”</a:t>
            </a:r>
          </a:p>
          <a:p>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383384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400" b="1" kern="1200" dirty="0">
                <a:solidFill>
                  <a:schemeClr val="tx1"/>
                </a:solidFill>
                <a:effectLst/>
                <a:latin typeface="+mn-lt"/>
                <a:ea typeface="ＭＳ Ｐゴシック" pitchFamily="-106" charset="-128"/>
                <a:cs typeface="ＭＳ Ｐゴシック" pitchFamily="-106" charset="-128"/>
              </a:rPr>
              <a:t>Romans 8:18-25</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For I consider that our present sufferings cannot even be compared to the coming </a:t>
            </a:r>
            <a:r>
              <a:rPr lang="en-US" sz="1400" b="1" kern="1200" dirty="0">
                <a:solidFill>
                  <a:schemeClr val="tx1"/>
                </a:solidFill>
                <a:effectLst/>
                <a:latin typeface="+mn-lt"/>
                <a:ea typeface="ＭＳ Ｐゴシック" pitchFamily="-106" charset="-128"/>
                <a:cs typeface="ＭＳ Ｐゴシック" pitchFamily="-106" charset="-128"/>
              </a:rPr>
              <a:t>glory</a:t>
            </a:r>
            <a:r>
              <a:rPr lang="en-US" sz="1400" kern="1200" dirty="0">
                <a:solidFill>
                  <a:schemeClr val="tx1"/>
                </a:solidFill>
                <a:effectLst/>
                <a:latin typeface="+mn-lt"/>
                <a:ea typeface="ＭＳ Ｐゴシック" pitchFamily="-106" charset="-128"/>
                <a:cs typeface="ＭＳ Ｐゴシック" pitchFamily="-106" charset="-128"/>
              </a:rPr>
              <a:t> that will be revealed to us.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For the creation eagerly waits for the revelation of the sons of God.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For the creation was subjected to futility – not willingly but because of God who subjected it – in hope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that the creation itself will also be set free from the bondage of decay into the glorious freedom of God’s children.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For we know that the whole creation groans and suffers together until now.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Not only this, but we ourselves also, who have the </a:t>
            </a:r>
            <a:r>
              <a:rPr lang="en-US" sz="1400" kern="1200" dirty="0" err="1">
                <a:solidFill>
                  <a:schemeClr val="tx1"/>
                </a:solidFill>
                <a:effectLst/>
                <a:latin typeface="+mn-lt"/>
                <a:ea typeface="ＭＳ Ｐゴシック" pitchFamily="-106" charset="-128"/>
                <a:cs typeface="ＭＳ Ｐゴシック" pitchFamily="-106" charset="-128"/>
              </a:rPr>
              <a:t>firstfruits</a:t>
            </a:r>
            <a:r>
              <a:rPr lang="en-US" sz="1400" kern="1200" dirty="0">
                <a:solidFill>
                  <a:schemeClr val="tx1"/>
                </a:solidFill>
                <a:effectLst/>
                <a:latin typeface="+mn-lt"/>
                <a:ea typeface="ＭＳ Ｐゴシック" pitchFamily="-106" charset="-128"/>
                <a:cs typeface="ＭＳ Ｐゴシック" pitchFamily="-106" charset="-128"/>
              </a:rPr>
              <a:t> of the Spirit, groan inwardly as we eagerly await our adoption, the redemption of our bodies.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For in hope we were saved. Now hope that is seen is not hope, because who hopes for what he sees? </a:t>
            </a:r>
            <a:r>
              <a:rPr lang="en-US" sz="1400" b="1" kern="1200" dirty="0">
                <a:solidFill>
                  <a:schemeClr val="tx1"/>
                </a:solidFill>
                <a:effectLst/>
                <a:latin typeface="+mn-lt"/>
                <a:ea typeface="ＭＳ Ｐゴシック" pitchFamily="-106" charset="-128"/>
                <a:cs typeface="ＭＳ Ｐゴシック" pitchFamily="-106" charset="-128"/>
              </a:rPr>
              <a:t>25</a:t>
            </a:r>
            <a:r>
              <a:rPr lang="en-US" sz="1400" kern="1200" dirty="0">
                <a:solidFill>
                  <a:schemeClr val="tx1"/>
                </a:solidFill>
                <a:effectLst/>
                <a:latin typeface="+mn-lt"/>
                <a:ea typeface="ＭＳ Ｐゴシック" pitchFamily="-106" charset="-128"/>
                <a:cs typeface="ＭＳ Ｐゴシック" pitchFamily="-106" charset="-128"/>
              </a:rPr>
              <a:t> But if we hope for what we do not see, we eagerly wait for it with endurance.</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1 John 3:1-3</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a:t>
            </a:r>
            <a:r>
              <a:rPr lang="en-US" sz="1400" kern="1200" dirty="0">
                <a:solidFill>
                  <a:schemeClr val="tx1"/>
                </a:solidFill>
                <a:effectLst/>
                <a:latin typeface="+mn-lt"/>
                <a:ea typeface="ＭＳ Ｐゴシック" pitchFamily="-106" charset="-128"/>
                <a:cs typeface="ＭＳ Ｐゴシック" pitchFamily="-106" charset="-128"/>
              </a:rPr>
              <a:t> (See what sort of love the Father has given to us: that we should be called God’s children – and indeed we are! For this reason the world does not know us: because it did not know him. </a:t>
            </a:r>
            <a:r>
              <a:rPr lang="en-US" sz="1400" b="1" kern="1200" dirty="0">
                <a:solidFill>
                  <a:schemeClr val="tx1"/>
                </a:solidFill>
                <a:effectLst/>
                <a:latin typeface="+mn-lt"/>
                <a:ea typeface="ＭＳ Ｐゴシック" pitchFamily="-106" charset="-128"/>
                <a:cs typeface="ＭＳ Ｐゴシック" pitchFamily="-106" charset="-128"/>
              </a:rPr>
              <a:t>2</a:t>
            </a:r>
            <a:r>
              <a:rPr lang="en-US" sz="1400" kern="1200" dirty="0">
                <a:solidFill>
                  <a:schemeClr val="tx1"/>
                </a:solidFill>
                <a:effectLst/>
                <a:latin typeface="+mn-lt"/>
                <a:ea typeface="ＭＳ Ｐゴシック" pitchFamily="-106" charset="-128"/>
                <a:cs typeface="ＭＳ Ｐゴシック" pitchFamily="-106" charset="-128"/>
              </a:rPr>
              <a:t> Dear friends, we are God’s children now, and what we will be has not yet been revealed. We know that whenever it is revealed we will be like him, because we will see him just as he is. </a:t>
            </a:r>
            <a:r>
              <a:rPr lang="en-US" sz="1400" b="1" kern="1200" dirty="0">
                <a:solidFill>
                  <a:schemeClr val="tx1"/>
                </a:solidFill>
                <a:effectLst/>
                <a:latin typeface="+mn-lt"/>
                <a:ea typeface="ＭＳ Ｐゴシック" pitchFamily="-106" charset="-128"/>
                <a:cs typeface="ＭＳ Ｐゴシック" pitchFamily="-106" charset="-128"/>
              </a:rPr>
              <a:t>3</a:t>
            </a:r>
            <a:r>
              <a:rPr lang="en-US" sz="1400" kern="1200" dirty="0">
                <a:solidFill>
                  <a:schemeClr val="tx1"/>
                </a:solidFill>
                <a:effectLst/>
                <a:latin typeface="+mn-lt"/>
                <a:ea typeface="ＭＳ Ｐゴシック" pitchFamily="-106" charset="-128"/>
                <a:cs typeface="ＭＳ Ｐゴシック" pitchFamily="-106" charset="-128"/>
              </a:rPr>
              <a:t> And everyone who has this hope focused on him purifies himself, just as Jesus is pure).</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Philippians 3:21</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who will transform these humble bodies of ours into the likeness of his glorious body by means of that power by which he is able to subject all things to himself.</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Galatians 4:6</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6</a:t>
            </a:r>
            <a:r>
              <a:rPr lang="en-US" sz="1400" kern="1200" dirty="0">
                <a:solidFill>
                  <a:schemeClr val="tx1"/>
                </a:solidFill>
                <a:effectLst/>
                <a:latin typeface="+mn-lt"/>
                <a:ea typeface="ＭＳ Ｐゴシック" pitchFamily="-106" charset="-128"/>
                <a:cs typeface="ＭＳ Ｐゴシック" pitchFamily="-106" charset="-128"/>
              </a:rPr>
              <a:t> And because you are sons, God sent the Spirit of his Son into our hearts, who calls “</a:t>
            </a:r>
            <a:r>
              <a:rPr lang="en-US" sz="1400" i="1" kern="1200" dirty="0">
                <a:solidFill>
                  <a:schemeClr val="tx1"/>
                </a:solidFill>
                <a:effectLst/>
                <a:latin typeface="+mn-lt"/>
                <a:ea typeface="ＭＳ Ｐゴシック" pitchFamily="-106" charset="-128"/>
                <a:cs typeface="ＭＳ Ｐゴシック" pitchFamily="-106" charset="-128"/>
              </a:rPr>
              <a:t>Abba!</a:t>
            </a:r>
            <a:r>
              <a:rPr lang="en-US" sz="1400" kern="1200" dirty="0">
                <a:solidFill>
                  <a:schemeClr val="tx1"/>
                </a:solidFill>
                <a:effectLst/>
                <a:latin typeface="+mn-lt"/>
                <a:ea typeface="ＭＳ Ｐゴシック" pitchFamily="-106" charset="-128"/>
                <a:cs typeface="ＭＳ Ｐゴシック" pitchFamily="-106" charset="-128"/>
              </a:rPr>
              <a:t> Father!”</a:t>
            </a:r>
          </a:p>
          <a:p>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3675153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0" kern="1200" dirty="0">
                <a:solidFill>
                  <a:schemeClr val="tx1"/>
                </a:solidFill>
                <a:effectLst/>
                <a:latin typeface="+mn-lt"/>
                <a:ea typeface="ＭＳ Ｐゴシック" pitchFamily="-106" charset="-128"/>
                <a:cs typeface="ＭＳ Ｐゴシック" pitchFamily="-106" charset="-128"/>
              </a:rPr>
              <a:t>P</a:t>
            </a:r>
            <a:r>
              <a:rPr lang="en-US" sz="1200" b="1" kern="1200" dirty="0">
                <a:solidFill>
                  <a:schemeClr val="tx1"/>
                </a:solidFill>
                <a:effectLst/>
                <a:latin typeface="+mn-lt"/>
                <a:ea typeface="ＭＳ Ｐゴシック" pitchFamily="-106" charset="-128"/>
                <a:cs typeface="ＭＳ Ｐゴシック" pitchFamily="-106" charset="-128"/>
              </a:rPr>
              <a:t>hilippians 1:6</a:t>
            </a:r>
            <a:br>
              <a:rPr lang="en-US" sz="1200" kern="1200" dirty="0">
                <a:solidFill>
                  <a:schemeClr val="tx1"/>
                </a:solidFill>
                <a:effectLst/>
                <a:latin typeface="+mn-lt"/>
                <a:ea typeface="ＭＳ Ｐゴシック" pitchFamily="-106" charset="-128"/>
                <a:cs typeface="ＭＳ Ｐゴシック" pitchFamily="-106" charset="-128"/>
              </a:rPr>
            </a:br>
            <a:r>
              <a:rPr lang="en-US" sz="1200" b="1" kern="1200" dirty="0">
                <a:solidFill>
                  <a:schemeClr val="tx1"/>
                </a:solidFill>
                <a:effectLst/>
                <a:latin typeface="+mn-lt"/>
                <a:ea typeface="ＭＳ Ｐゴシック" pitchFamily="-106" charset="-128"/>
                <a:cs typeface="ＭＳ Ｐゴシック" pitchFamily="-106" charset="-128"/>
              </a:rPr>
              <a:t>6</a:t>
            </a:r>
            <a:r>
              <a:rPr lang="en-US" sz="1200" kern="1200" dirty="0">
                <a:solidFill>
                  <a:schemeClr val="tx1"/>
                </a:solidFill>
                <a:effectLst/>
                <a:latin typeface="+mn-lt"/>
                <a:ea typeface="ＭＳ Ｐゴシック" pitchFamily="-106" charset="-128"/>
                <a:cs typeface="ＭＳ Ｐゴシック" pitchFamily="-106" charset="-128"/>
              </a:rPr>
              <a:t> For I am sure of this very thing, that the one who began a good work in you will perfect it until the day of Christ Jesus.</a:t>
            </a:r>
          </a:p>
          <a:p>
            <a:endParaRPr lang="en-US" dirty="0"/>
          </a:p>
          <a:p>
            <a:endParaRPr lang="en-US" dirty="0"/>
          </a:p>
          <a:p>
            <a:r>
              <a:rPr lang="en-US" sz="1200" b="1" kern="1200" dirty="0">
                <a:solidFill>
                  <a:schemeClr val="tx1"/>
                </a:solidFill>
                <a:effectLst/>
                <a:latin typeface="+mn-lt"/>
                <a:ea typeface="ＭＳ Ｐゴシック" pitchFamily="-106" charset="-128"/>
                <a:cs typeface="ＭＳ Ｐゴシック" pitchFamily="-106" charset="-128"/>
              </a:rPr>
              <a:t>Philippians 1:12-29</a:t>
            </a:r>
            <a:br>
              <a:rPr lang="en-US" sz="1200" kern="1200" dirty="0">
                <a:solidFill>
                  <a:schemeClr val="tx1"/>
                </a:solidFill>
                <a:effectLst/>
                <a:latin typeface="+mn-lt"/>
                <a:ea typeface="ＭＳ Ｐゴシック" pitchFamily="-106" charset="-128"/>
                <a:cs typeface="ＭＳ Ｐゴシック" pitchFamily="-106" charset="-128"/>
              </a:rPr>
            </a:br>
            <a:r>
              <a:rPr lang="en-US" sz="1200" b="1" kern="1200" dirty="0">
                <a:solidFill>
                  <a:schemeClr val="tx1"/>
                </a:solidFill>
                <a:effectLst/>
                <a:latin typeface="+mn-lt"/>
                <a:ea typeface="ＭＳ Ｐゴシック" pitchFamily="-106" charset="-128"/>
                <a:cs typeface="ＭＳ Ｐゴシック" pitchFamily="-106" charset="-128"/>
              </a:rPr>
              <a:t>12</a:t>
            </a:r>
            <a:r>
              <a:rPr lang="en-US" sz="1200" kern="1200" dirty="0">
                <a:solidFill>
                  <a:schemeClr val="tx1"/>
                </a:solidFill>
                <a:effectLst/>
                <a:latin typeface="+mn-lt"/>
                <a:ea typeface="ＭＳ Ｐゴシック" pitchFamily="-106" charset="-128"/>
                <a:cs typeface="ＭＳ Ｐゴシック" pitchFamily="-106" charset="-128"/>
              </a:rPr>
              <a:t> I want you to know, brothers and sisters, that my situation has actually turned out to advance the gospel: </a:t>
            </a:r>
            <a:r>
              <a:rPr lang="en-US" sz="1200" b="1" kern="1200" dirty="0">
                <a:solidFill>
                  <a:schemeClr val="tx1"/>
                </a:solidFill>
                <a:effectLst/>
                <a:latin typeface="+mn-lt"/>
                <a:ea typeface="ＭＳ Ｐゴシック" pitchFamily="-106" charset="-128"/>
                <a:cs typeface="ＭＳ Ｐゴシック" pitchFamily="-106" charset="-128"/>
              </a:rPr>
              <a:t>13</a:t>
            </a:r>
            <a:r>
              <a:rPr lang="en-US" sz="1200" kern="1200" dirty="0">
                <a:solidFill>
                  <a:schemeClr val="tx1"/>
                </a:solidFill>
                <a:effectLst/>
                <a:latin typeface="+mn-lt"/>
                <a:ea typeface="ＭＳ Ｐゴシック" pitchFamily="-106" charset="-128"/>
                <a:cs typeface="ＭＳ Ｐゴシック" pitchFamily="-106" charset="-128"/>
              </a:rPr>
              <a:t> The whole imperial guard and everyone else knows that I am in prison for the sake of Christ, </a:t>
            </a:r>
            <a:r>
              <a:rPr lang="en-US" sz="1200" b="1" kern="1200" dirty="0">
                <a:solidFill>
                  <a:schemeClr val="tx1"/>
                </a:solidFill>
                <a:effectLst/>
                <a:latin typeface="+mn-lt"/>
                <a:ea typeface="ＭＳ Ｐゴシック" pitchFamily="-106" charset="-128"/>
                <a:cs typeface="ＭＳ Ｐゴシック" pitchFamily="-106" charset="-128"/>
              </a:rPr>
              <a:t>14</a:t>
            </a:r>
            <a:r>
              <a:rPr lang="en-US" sz="1200" kern="1200" dirty="0">
                <a:solidFill>
                  <a:schemeClr val="tx1"/>
                </a:solidFill>
                <a:effectLst/>
                <a:latin typeface="+mn-lt"/>
                <a:ea typeface="ＭＳ Ｐゴシック" pitchFamily="-106" charset="-128"/>
                <a:cs typeface="ＭＳ Ｐゴシック" pitchFamily="-106" charset="-128"/>
              </a:rPr>
              <a:t> and most of the brothers and sisters, having confidence in the Lord because of my imprisonment, now more than ever dare to speak the word fearlessly. </a:t>
            </a:r>
            <a:r>
              <a:rPr lang="en-US" sz="1200" b="1" kern="1200" dirty="0">
                <a:solidFill>
                  <a:schemeClr val="tx1"/>
                </a:solidFill>
                <a:effectLst/>
                <a:latin typeface="+mn-lt"/>
                <a:ea typeface="ＭＳ Ｐゴシック" pitchFamily="-106" charset="-128"/>
                <a:cs typeface="ＭＳ Ｐゴシック" pitchFamily="-106" charset="-128"/>
              </a:rPr>
              <a:t>15</a:t>
            </a:r>
            <a:r>
              <a:rPr lang="en-US" sz="1200" kern="1200" dirty="0">
                <a:solidFill>
                  <a:schemeClr val="tx1"/>
                </a:solidFill>
                <a:effectLst/>
                <a:latin typeface="+mn-lt"/>
                <a:ea typeface="ＭＳ Ｐゴシック" pitchFamily="-106" charset="-128"/>
                <a:cs typeface="ＭＳ Ｐゴシック" pitchFamily="-106" charset="-128"/>
              </a:rPr>
              <a:t> Some, to be sure, are preaching Christ from envy and rivalry, but others from goodwill. </a:t>
            </a:r>
            <a:r>
              <a:rPr lang="en-US" sz="1200" b="1" kern="1200" dirty="0">
                <a:solidFill>
                  <a:schemeClr val="tx1"/>
                </a:solidFill>
                <a:effectLst/>
                <a:latin typeface="+mn-lt"/>
                <a:ea typeface="ＭＳ Ｐゴシック" pitchFamily="-106" charset="-128"/>
                <a:cs typeface="ＭＳ Ｐゴシック" pitchFamily="-106" charset="-128"/>
              </a:rPr>
              <a:t>16</a:t>
            </a:r>
            <a:r>
              <a:rPr lang="en-US" sz="1200" kern="1200" dirty="0">
                <a:solidFill>
                  <a:schemeClr val="tx1"/>
                </a:solidFill>
                <a:effectLst/>
                <a:latin typeface="+mn-lt"/>
                <a:ea typeface="ＭＳ Ｐゴシック" pitchFamily="-106" charset="-128"/>
                <a:cs typeface="ＭＳ Ｐゴシック" pitchFamily="-106" charset="-128"/>
              </a:rPr>
              <a:t> The latter do so from love because they know that I am placed here for the defense of the gospel. </a:t>
            </a:r>
            <a:r>
              <a:rPr lang="en-US" sz="1200" b="1" kern="1200" dirty="0">
                <a:solidFill>
                  <a:schemeClr val="tx1"/>
                </a:solidFill>
                <a:effectLst/>
                <a:latin typeface="+mn-lt"/>
                <a:ea typeface="ＭＳ Ｐゴシック" pitchFamily="-106" charset="-128"/>
                <a:cs typeface="ＭＳ Ｐゴシック" pitchFamily="-106" charset="-128"/>
              </a:rPr>
              <a:t>17</a:t>
            </a:r>
            <a:r>
              <a:rPr lang="en-US" sz="1200" kern="1200" dirty="0">
                <a:solidFill>
                  <a:schemeClr val="tx1"/>
                </a:solidFill>
                <a:effectLst/>
                <a:latin typeface="+mn-lt"/>
                <a:ea typeface="ＭＳ Ｐゴシック" pitchFamily="-106" charset="-128"/>
                <a:cs typeface="ＭＳ Ｐゴシック" pitchFamily="-106" charset="-128"/>
              </a:rPr>
              <a:t> The former proclaim Christ from selfish ambition, not sincerely, because they think they can cause trouble for me in my imprisonment. </a:t>
            </a:r>
            <a:r>
              <a:rPr lang="en-US" sz="1200" b="1" kern="1200" dirty="0">
                <a:solidFill>
                  <a:schemeClr val="tx1"/>
                </a:solidFill>
                <a:effectLst/>
                <a:latin typeface="+mn-lt"/>
                <a:ea typeface="ＭＳ Ｐゴシック" pitchFamily="-106" charset="-128"/>
                <a:cs typeface="ＭＳ Ｐゴシック" pitchFamily="-106" charset="-128"/>
              </a:rPr>
              <a:t>18</a:t>
            </a:r>
            <a:r>
              <a:rPr lang="en-US" sz="1200" kern="1200" dirty="0">
                <a:solidFill>
                  <a:schemeClr val="tx1"/>
                </a:solidFill>
                <a:effectLst/>
                <a:latin typeface="+mn-lt"/>
                <a:ea typeface="ＭＳ Ｐゴシック" pitchFamily="-106" charset="-128"/>
                <a:cs typeface="ＭＳ Ｐゴシック" pitchFamily="-106" charset="-128"/>
              </a:rPr>
              <a:t> What is the result? Only that in every way, whether in pretense or in truth, Christ is being proclaimed, and in this I rejoice. Yes, and I will continue to rejoice, </a:t>
            </a:r>
            <a:r>
              <a:rPr lang="en-US" sz="1200" b="1" kern="1200" dirty="0">
                <a:solidFill>
                  <a:schemeClr val="tx1"/>
                </a:solidFill>
                <a:effectLst/>
                <a:latin typeface="+mn-lt"/>
                <a:ea typeface="ＭＳ Ｐゴシック" pitchFamily="-106" charset="-128"/>
                <a:cs typeface="ＭＳ Ｐゴシック" pitchFamily="-106" charset="-128"/>
              </a:rPr>
              <a:t>19</a:t>
            </a:r>
            <a:r>
              <a:rPr lang="en-US" sz="1200" kern="1200" dirty="0">
                <a:solidFill>
                  <a:schemeClr val="tx1"/>
                </a:solidFill>
                <a:effectLst/>
                <a:latin typeface="+mn-lt"/>
                <a:ea typeface="ＭＳ Ｐゴシック" pitchFamily="-106" charset="-128"/>
                <a:cs typeface="ＭＳ Ｐゴシック" pitchFamily="-106" charset="-128"/>
              </a:rPr>
              <a:t> for I know that this will turn out for my deliverance through your prayers and the help of the Spirit of Jesus Christ. </a:t>
            </a:r>
            <a:r>
              <a:rPr lang="en-US" sz="1200" b="1" kern="1200" dirty="0">
                <a:solidFill>
                  <a:schemeClr val="tx1"/>
                </a:solidFill>
                <a:effectLst/>
                <a:latin typeface="+mn-lt"/>
                <a:ea typeface="ＭＳ Ｐゴシック" pitchFamily="-106" charset="-128"/>
                <a:cs typeface="ＭＳ Ｐゴシック" pitchFamily="-106" charset="-128"/>
              </a:rPr>
              <a:t>20</a:t>
            </a:r>
            <a:r>
              <a:rPr lang="en-US" sz="1200" kern="1200" dirty="0">
                <a:solidFill>
                  <a:schemeClr val="tx1"/>
                </a:solidFill>
                <a:effectLst/>
                <a:latin typeface="+mn-lt"/>
                <a:ea typeface="ＭＳ Ｐゴシック" pitchFamily="-106" charset="-128"/>
                <a:cs typeface="ＭＳ Ｐゴシック" pitchFamily="-106" charset="-128"/>
              </a:rPr>
              <a:t> My confident hope is that I will in no way be ashamed but that with complete boldness, even now as always, Christ will be exalted in my body, whether I live or die. </a:t>
            </a:r>
            <a:r>
              <a:rPr lang="en-US" sz="1200" b="1" kern="1200" dirty="0">
                <a:solidFill>
                  <a:schemeClr val="tx1"/>
                </a:solidFill>
                <a:effectLst/>
                <a:latin typeface="+mn-lt"/>
                <a:ea typeface="ＭＳ Ｐゴシック" pitchFamily="-106" charset="-128"/>
                <a:cs typeface="ＭＳ Ｐゴシック" pitchFamily="-106" charset="-128"/>
              </a:rPr>
              <a:t>21</a:t>
            </a:r>
            <a:r>
              <a:rPr lang="en-US" sz="1200" kern="1200" dirty="0">
                <a:solidFill>
                  <a:schemeClr val="tx1"/>
                </a:solidFill>
                <a:effectLst/>
                <a:latin typeface="+mn-lt"/>
                <a:ea typeface="ＭＳ Ｐゴシック" pitchFamily="-106" charset="-128"/>
                <a:cs typeface="ＭＳ Ｐゴシック" pitchFamily="-106" charset="-128"/>
              </a:rPr>
              <a:t> For to me, living is Christ and dying is gain. </a:t>
            </a:r>
            <a:r>
              <a:rPr lang="en-US" sz="1200" b="1" kern="1200" dirty="0">
                <a:solidFill>
                  <a:schemeClr val="tx1"/>
                </a:solidFill>
                <a:effectLst/>
                <a:latin typeface="+mn-lt"/>
                <a:ea typeface="ＭＳ Ｐゴシック" pitchFamily="-106" charset="-128"/>
                <a:cs typeface="ＭＳ Ｐゴシック" pitchFamily="-106" charset="-128"/>
              </a:rPr>
              <a:t>22</a:t>
            </a:r>
            <a:r>
              <a:rPr lang="en-US" sz="1200" kern="1200" dirty="0">
                <a:solidFill>
                  <a:schemeClr val="tx1"/>
                </a:solidFill>
                <a:effectLst/>
                <a:latin typeface="+mn-lt"/>
                <a:ea typeface="ＭＳ Ｐゴシック" pitchFamily="-106" charset="-128"/>
                <a:cs typeface="ＭＳ Ｐゴシック" pitchFamily="-106" charset="-128"/>
              </a:rPr>
              <a:t> Now if I am to go on living in the body, this will mean productive work for me, yet I don’t know which I prefer: </a:t>
            </a:r>
            <a:r>
              <a:rPr lang="en-US" sz="1200" b="1" kern="1200" dirty="0">
                <a:solidFill>
                  <a:schemeClr val="tx1"/>
                </a:solidFill>
                <a:effectLst/>
                <a:latin typeface="+mn-lt"/>
                <a:ea typeface="ＭＳ Ｐゴシック" pitchFamily="-106" charset="-128"/>
                <a:cs typeface="ＭＳ Ｐゴシック" pitchFamily="-106" charset="-128"/>
              </a:rPr>
              <a:t>23</a:t>
            </a:r>
            <a:r>
              <a:rPr lang="en-US" sz="1200" kern="1200" dirty="0">
                <a:solidFill>
                  <a:schemeClr val="tx1"/>
                </a:solidFill>
                <a:effectLst/>
                <a:latin typeface="+mn-lt"/>
                <a:ea typeface="ＭＳ Ｐゴシック" pitchFamily="-106" charset="-128"/>
                <a:cs typeface="ＭＳ Ｐゴシック" pitchFamily="-106" charset="-128"/>
              </a:rPr>
              <a:t> I feel torn between the two, because I have a desire to depart and be with Christ, which is better by far, </a:t>
            </a:r>
            <a:r>
              <a:rPr lang="en-US" sz="1200" b="1" kern="1200" dirty="0">
                <a:solidFill>
                  <a:schemeClr val="tx1"/>
                </a:solidFill>
                <a:effectLst/>
                <a:latin typeface="+mn-lt"/>
                <a:ea typeface="ＭＳ Ｐゴシック" pitchFamily="-106" charset="-128"/>
                <a:cs typeface="ＭＳ Ｐゴシック" pitchFamily="-106" charset="-128"/>
              </a:rPr>
              <a:t>24</a:t>
            </a:r>
            <a:r>
              <a:rPr lang="en-US" sz="1200" kern="1200" dirty="0">
                <a:solidFill>
                  <a:schemeClr val="tx1"/>
                </a:solidFill>
                <a:effectLst/>
                <a:latin typeface="+mn-lt"/>
                <a:ea typeface="ＭＳ Ｐゴシック" pitchFamily="-106" charset="-128"/>
                <a:cs typeface="ＭＳ Ｐゴシック" pitchFamily="-106" charset="-128"/>
              </a:rPr>
              <a:t> but it is more vital for your sake that I remain in the body. </a:t>
            </a:r>
            <a:r>
              <a:rPr lang="en-US" sz="1200" b="1" kern="1200" dirty="0">
                <a:solidFill>
                  <a:schemeClr val="tx1"/>
                </a:solidFill>
                <a:effectLst/>
                <a:latin typeface="+mn-lt"/>
                <a:ea typeface="ＭＳ Ｐゴシック" pitchFamily="-106" charset="-128"/>
                <a:cs typeface="ＭＳ Ｐゴシック" pitchFamily="-106" charset="-128"/>
              </a:rPr>
              <a:t>25</a:t>
            </a:r>
            <a:r>
              <a:rPr lang="en-US" sz="1200" kern="1200" dirty="0">
                <a:solidFill>
                  <a:schemeClr val="tx1"/>
                </a:solidFill>
                <a:effectLst/>
                <a:latin typeface="+mn-lt"/>
                <a:ea typeface="ＭＳ Ｐゴシック" pitchFamily="-106" charset="-128"/>
                <a:cs typeface="ＭＳ Ｐゴシック" pitchFamily="-106" charset="-128"/>
              </a:rPr>
              <a:t> And since I am sure of this, I know that I will remain and continue with all of you for the sake of your progress and joy in the faith, </a:t>
            </a:r>
            <a:r>
              <a:rPr lang="en-US" sz="1200" b="1" kern="1200" dirty="0">
                <a:solidFill>
                  <a:schemeClr val="tx1"/>
                </a:solidFill>
                <a:effectLst/>
                <a:latin typeface="+mn-lt"/>
                <a:ea typeface="ＭＳ Ｐゴシック" pitchFamily="-106" charset="-128"/>
                <a:cs typeface="ＭＳ Ｐゴシック" pitchFamily="-106" charset="-128"/>
              </a:rPr>
              <a:t>26</a:t>
            </a:r>
            <a:r>
              <a:rPr lang="en-US" sz="1200" kern="1200" dirty="0">
                <a:solidFill>
                  <a:schemeClr val="tx1"/>
                </a:solidFill>
                <a:effectLst/>
                <a:latin typeface="+mn-lt"/>
                <a:ea typeface="ＭＳ Ｐゴシック" pitchFamily="-106" charset="-128"/>
                <a:cs typeface="ＭＳ Ｐゴシック" pitchFamily="-106" charset="-128"/>
              </a:rPr>
              <a:t> so that what you can be proud of may increase because of me in Christ Jesus, when I come back to you. </a:t>
            </a:r>
            <a:r>
              <a:rPr lang="en-US" sz="1200" b="1" kern="1200" dirty="0">
                <a:solidFill>
                  <a:schemeClr val="tx1"/>
                </a:solidFill>
                <a:effectLst/>
                <a:latin typeface="+mn-lt"/>
                <a:ea typeface="ＭＳ Ｐゴシック" pitchFamily="-106" charset="-128"/>
                <a:cs typeface="ＭＳ Ｐゴシック" pitchFamily="-106" charset="-128"/>
              </a:rPr>
              <a:t>27</a:t>
            </a:r>
            <a:r>
              <a:rPr lang="en-US" sz="1200" kern="1200" dirty="0">
                <a:solidFill>
                  <a:schemeClr val="tx1"/>
                </a:solidFill>
                <a:effectLst/>
                <a:latin typeface="+mn-lt"/>
                <a:ea typeface="ＭＳ Ｐゴシック" pitchFamily="-106" charset="-128"/>
                <a:cs typeface="ＭＳ Ｐゴシック" pitchFamily="-106" charset="-128"/>
              </a:rPr>
              <a:t> Only conduct yourselves in a manner worthy of the gospel of Christ so that – whether I come and see you or whether I remain absent – I should hear that you are standing firm in one spirit, with one mind, by contending side by side for the faith of the gospel, </a:t>
            </a:r>
            <a:r>
              <a:rPr lang="en-US" sz="1200" b="1" kern="1200" dirty="0">
                <a:solidFill>
                  <a:schemeClr val="tx1"/>
                </a:solidFill>
                <a:effectLst/>
                <a:latin typeface="+mn-lt"/>
                <a:ea typeface="ＭＳ Ｐゴシック" pitchFamily="-106" charset="-128"/>
                <a:cs typeface="ＭＳ Ｐゴシック" pitchFamily="-106" charset="-128"/>
              </a:rPr>
              <a:t>28</a:t>
            </a:r>
            <a:r>
              <a:rPr lang="en-US" sz="1200" kern="1200" dirty="0">
                <a:solidFill>
                  <a:schemeClr val="tx1"/>
                </a:solidFill>
                <a:effectLst/>
                <a:latin typeface="+mn-lt"/>
                <a:ea typeface="ＭＳ Ｐゴシック" pitchFamily="-106" charset="-128"/>
                <a:cs typeface="ＭＳ Ｐゴシック" pitchFamily="-106" charset="-128"/>
              </a:rPr>
              <a:t> and by not being intimidated in any way by your opponents. This is a sign of their destruction, but of your salvation – a sign which is from God. </a:t>
            </a:r>
            <a:r>
              <a:rPr lang="en-US" sz="1200" b="1" kern="1200" dirty="0">
                <a:solidFill>
                  <a:schemeClr val="tx1"/>
                </a:solidFill>
                <a:effectLst/>
                <a:latin typeface="+mn-lt"/>
                <a:ea typeface="ＭＳ Ｐゴシック" pitchFamily="-106" charset="-128"/>
                <a:cs typeface="ＭＳ Ｐゴシック" pitchFamily="-106" charset="-128"/>
              </a:rPr>
              <a:t>29</a:t>
            </a:r>
            <a:r>
              <a:rPr lang="en-US" sz="1200" kern="1200" dirty="0">
                <a:solidFill>
                  <a:schemeClr val="tx1"/>
                </a:solidFill>
                <a:effectLst/>
                <a:latin typeface="+mn-lt"/>
                <a:ea typeface="ＭＳ Ｐゴシック" pitchFamily="-106" charset="-128"/>
                <a:cs typeface="ＭＳ Ｐゴシック" pitchFamily="-106" charset="-128"/>
              </a:rPr>
              <a:t> For it has been granted to you not only to believe in Christ but also to suffer for him,</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2 Thessalonians 2:13-14</a:t>
            </a:r>
            <a:br>
              <a:rPr lang="en-US" sz="1200" kern="1200" dirty="0">
                <a:solidFill>
                  <a:schemeClr val="tx1"/>
                </a:solidFill>
                <a:effectLst/>
                <a:latin typeface="+mn-lt"/>
                <a:ea typeface="ＭＳ Ｐゴシック" pitchFamily="-106" charset="-128"/>
                <a:cs typeface="ＭＳ Ｐゴシック" pitchFamily="-106" charset="-128"/>
              </a:rPr>
            </a:br>
            <a:r>
              <a:rPr lang="en-US" sz="1200" b="1" kern="1200" dirty="0">
                <a:solidFill>
                  <a:schemeClr val="tx1"/>
                </a:solidFill>
                <a:effectLst/>
                <a:latin typeface="+mn-lt"/>
                <a:ea typeface="ＭＳ Ｐゴシック" pitchFamily="-106" charset="-128"/>
                <a:cs typeface="ＭＳ Ｐゴシック" pitchFamily="-106" charset="-128"/>
              </a:rPr>
              <a:t>13</a:t>
            </a:r>
            <a:r>
              <a:rPr lang="en-US" sz="1200" kern="1200" dirty="0">
                <a:solidFill>
                  <a:schemeClr val="tx1"/>
                </a:solidFill>
                <a:effectLst/>
                <a:latin typeface="+mn-lt"/>
                <a:ea typeface="ＭＳ Ｐゴシック" pitchFamily="-106" charset="-128"/>
                <a:cs typeface="ＭＳ Ｐゴシック" pitchFamily="-106" charset="-128"/>
              </a:rPr>
              <a:t> But we ought to thank God always for you, brothers and sisters loved by the Lord, because God chose you from the beginning for salvation through sanctification by the Spirit and faith in the truth. </a:t>
            </a:r>
            <a:r>
              <a:rPr lang="en-US" sz="1200" b="1" kern="1200" dirty="0">
                <a:solidFill>
                  <a:schemeClr val="tx1"/>
                </a:solidFill>
                <a:effectLst/>
                <a:latin typeface="+mn-lt"/>
                <a:ea typeface="ＭＳ Ｐゴシック" pitchFamily="-106" charset="-128"/>
                <a:cs typeface="ＭＳ Ｐゴシック" pitchFamily="-106" charset="-128"/>
              </a:rPr>
              <a:t>14</a:t>
            </a:r>
            <a:r>
              <a:rPr lang="en-US" sz="1200" kern="1200" dirty="0">
                <a:solidFill>
                  <a:schemeClr val="tx1"/>
                </a:solidFill>
                <a:effectLst/>
                <a:latin typeface="+mn-lt"/>
                <a:ea typeface="ＭＳ Ｐゴシック" pitchFamily="-106" charset="-128"/>
                <a:cs typeface="ＭＳ Ｐゴシック" pitchFamily="-106" charset="-128"/>
              </a:rPr>
              <a:t> He called you to this salvation through our gospel, so that you may possess the glory of our Lord Jesus Christ.</a:t>
            </a: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065147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Galatians 3:26-27</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26</a:t>
            </a:r>
            <a:r>
              <a:rPr lang="en-US" sz="1400" kern="1200" dirty="0">
                <a:solidFill>
                  <a:schemeClr val="tx1"/>
                </a:solidFill>
                <a:effectLst/>
                <a:latin typeface="+mn-lt"/>
                <a:ea typeface="ＭＳ Ｐゴシック" pitchFamily="-106" charset="-128"/>
                <a:cs typeface="ＭＳ Ｐゴシック" pitchFamily="-106" charset="-128"/>
              </a:rPr>
              <a:t> For in Christ Jesus you are all sons of God through faith. </a:t>
            </a:r>
            <a:r>
              <a:rPr lang="en-US" sz="1400" b="1" kern="1200" dirty="0">
                <a:solidFill>
                  <a:schemeClr val="tx1"/>
                </a:solidFill>
                <a:effectLst/>
                <a:latin typeface="+mn-lt"/>
                <a:ea typeface="ＭＳ Ｐゴシック" pitchFamily="-106" charset="-128"/>
                <a:cs typeface="ＭＳ Ｐゴシック" pitchFamily="-106" charset="-128"/>
              </a:rPr>
              <a:t>27</a:t>
            </a:r>
            <a:r>
              <a:rPr lang="en-US" sz="1400" kern="1200" dirty="0">
                <a:solidFill>
                  <a:schemeClr val="tx1"/>
                </a:solidFill>
                <a:effectLst/>
                <a:latin typeface="+mn-lt"/>
                <a:ea typeface="ＭＳ Ｐゴシック" pitchFamily="-106" charset="-128"/>
                <a:cs typeface="ＭＳ Ｐゴシック" pitchFamily="-106" charset="-128"/>
              </a:rPr>
              <a:t> For all of you who were baptized into Christ have clothed yourselves with Christ.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Jude 1:21</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maintain yourselves in the love of God, while anticipating the mercy of our Lord Jesus Christ that brings eternal life.</a:t>
            </a:r>
          </a:p>
          <a:p>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317650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omeGospe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TeachTheWor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143000"/>
            <a:ext cx="7772400" cy="1470025"/>
          </a:xfrm>
        </p:spPr>
        <p:txBody>
          <a:bodyPr/>
          <a:lstStyle/>
          <a:p>
            <a:pPr eaLnBrk="1" hangingPunct="1"/>
            <a:r>
              <a:rPr lang="en-US" sz="6000" dirty="0"/>
              <a:t>Romans</a:t>
            </a:r>
            <a:endParaRPr sz="6000" dirty="0"/>
          </a:p>
        </p:txBody>
      </p:sp>
      <p:sp>
        <p:nvSpPr>
          <p:cNvPr id="6147" name="Subtitle 2"/>
          <p:cNvSpPr>
            <a:spLocks noGrp="1"/>
          </p:cNvSpPr>
          <p:nvPr>
            <p:ph type="subTitle" idx="1"/>
          </p:nvPr>
        </p:nvSpPr>
        <p:spPr>
          <a:xfrm>
            <a:off x="1371600" y="2757552"/>
            <a:ext cx="6400800" cy="2974848"/>
          </a:xfrm>
        </p:spPr>
        <p:txBody>
          <a:bodyPr/>
          <a:lstStyle/>
          <a:p>
            <a:pPr eaLnBrk="1" hangingPunct="1"/>
            <a:r>
              <a:rPr lang="en-US" dirty="0"/>
              <a:t>Assurances of Christian Faith</a:t>
            </a:r>
          </a:p>
          <a:p>
            <a:pPr eaLnBrk="1" hangingPunct="1"/>
            <a:r>
              <a:rPr lang="en-US" dirty="0"/>
              <a:t>Chapter 8</a:t>
            </a:r>
          </a:p>
          <a:p>
            <a:pPr eaLnBrk="1" hangingPunct="1"/>
            <a:endParaRPr lang="en-US" dirty="0"/>
          </a:p>
          <a:p>
            <a:pPr eaLnBrk="1" hangingPunct="1"/>
            <a:r>
              <a:rPr lang="en-US" dirty="0">
                <a:hlinkClick r:id="rId3"/>
              </a:rPr>
              <a:t>https://tinyurl.com/RomeGospel</a:t>
            </a:r>
            <a:endParaRPr lang="en-US" dirty="0"/>
          </a:p>
          <a:p>
            <a:pPr eaLnBrk="1" hangingPunct="1"/>
            <a:r>
              <a:rPr lang="en-US" dirty="0">
                <a:hlinkClick r:id="rId4"/>
              </a:rPr>
              <a:t>https://tinyurl.com/TeachTheWord</a:t>
            </a:r>
            <a:endParaRPr lang="en-US" dirty="0"/>
          </a:p>
          <a:p>
            <a:pPr eaLnBrk="1" hangingPunct="1"/>
            <a:endParaRPr lang="en-US" dirty="0"/>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85D49-0B09-4AE3-7D77-3A482F532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41B82-BEF9-F033-9CF4-AC66BB889C91}"/>
              </a:ext>
            </a:extLst>
          </p:cNvPr>
          <p:cNvSpPr>
            <a:spLocks noGrp="1"/>
          </p:cNvSpPr>
          <p:nvPr>
            <p:ph type="title"/>
          </p:nvPr>
        </p:nvSpPr>
        <p:spPr>
          <a:xfrm>
            <a:off x="304800" y="0"/>
            <a:ext cx="8763000" cy="990600"/>
          </a:xfrm>
        </p:spPr>
        <p:txBody>
          <a:bodyPr>
            <a:normAutofit fontScale="90000"/>
          </a:bodyPr>
          <a:lstStyle/>
          <a:p>
            <a:pPr algn="l"/>
            <a:r>
              <a:rPr lang="en-US" dirty="0"/>
              <a:t>Paul’s Argument so Far…</a:t>
            </a:r>
            <a:br>
              <a:rPr lang="en-US" dirty="0"/>
            </a:br>
            <a:r>
              <a:rPr lang="en-US" sz="2400" dirty="0">
                <a:solidFill>
                  <a:schemeClr val="tx2">
                    <a:lumMod val="60000"/>
                    <a:lumOff val="40000"/>
                  </a:schemeClr>
                </a:solidFill>
              </a:rPr>
              <a:t>From Sin and Death to Righteousness and Life</a:t>
            </a:r>
          </a:p>
        </p:txBody>
      </p:sp>
      <p:sp>
        <p:nvSpPr>
          <p:cNvPr id="4" name="TextBox 3">
            <a:extLst>
              <a:ext uri="{FF2B5EF4-FFF2-40B4-BE49-F238E27FC236}">
                <a16:creationId xmlns:a16="http://schemas.microsoft.com/office/drawing/2014/main" id="{D46FD41B-AF47-79F6-5575-DB84262C58E0}"/>
              </a:ext>
            </a:extLst>
          </p:cNvPr>
          <p:cNvSpPr txBox="1"/>
          <p:nvPr/>
        </p:nvSpPr>
        <p:spPr>
          <a:xfrm>
            <a:off x="264339" y="1148742"/>
            <a:ext cx="8382000" cy="2031325"/>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Romans 6</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believer has died with Christ.</a:t>
            </a:r>
          </a:p>
          <a:p>
            <a:r>
              <a:rPr lang="en-US" dirty="0">
                <a:ea typeface="ＭＳ Ｐゴシック" pitchFamily="-106" charset="-128"/>
                <a:cs typeface="ＭＳ Ｐゴシック" pitchFamily="-106" charset="-128"/>
              </a:rPr>
              <a:t>Therefore:</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Sin should not reign.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Christians should serve in righteousness.</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Not through the power of the Law.</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But through union with Christ and the indwelling Spirit.</a:t>
            </a:r>
          </a:p>
        </p:txBody>
      </p:sp>
      <p:sp>
        <p:nvSpPr>
          <p:cNvPr id="7" name="TextBox 6">
            <a:extLst>
              <a:ext uri="{FF2B5EF4-FFF2-40B4-BE49-F238E27FC236}">
                <a16:creationId xmlns:a16="http://schemas.microsoft.com/office/drawing/2014/main" id="{93A42D91-F442-9257-6B79-AD288374C852}"/>
              </a:ext>
            </a:extLst>
          </p:cNvPr>
          <p:cNvSpPr txBox="1"/>
          <p:nvPr/>
        </p:nvSpPr>
        <p:spPr>
          <a:xfrm>
            <a:off x="264339" y="3337726"/>
            <a:ext cx="8382000" cy="120032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Romans 7</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Why can’t the Law accomplish that?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Because the Law cannot overcome the power of sin.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Law exposes the </a:t>
            </a:r>
            <a:r>
              <a:rPr lang="en-US" b="1" dirty="0">
                <a:ea typeface="ＭＳ Ｐゴシック" pitchFamily="-106" charset="-128"/>
                <a:cs typeface="ＭＳ Ｐゴシック" pitchFamily="-106" charset="-128"/>
              </a:rPr>
              <a:t>problem</a:t>
            </a:r>
            <a:r>
              <a:rPr lang="en-US" dirty="0">
                <a:ea typeface="ＭＳ Ｐゴシック" pitchFamily="-106" charset="-128"/>
                <a:cs typeface="ＭＳ Ｐゴシック" pitchFamily="-106" charset="-128"/>
              </a:rPr>
              <a:t> but cannot solve it.  </a:t>
            </a:r>
            <a:r>
              <a:rPr lang="en-US" i="1" dirty="0">
                <a:ea typeface="ＭＳ Ｐゴシック" pitchFamily="-106" charset="-128"/>
                <a:cs typeface="ＭＳ Ｐゴシック" pitchFamily="-106" charset="-128"/>
              </a:rPr>
              <a:t>(“Who will rescue me!”)</a:t>
            </a:r>
            <a:endParaRPr lang="en-US" i="1" dirty="0"/>
          </a:p>
        </p:txBody>
      </p:sp>
      <p:sp>
        <p:nvSpPr>
          <p:cNvPr id="9" name="TextBox 8">
            <a:extLst>
              <a:ext uri="{FF2B5EF4-FFF2-40B4-BE49-F238E27FC236}">
                <a16:creationId xmlns:a16="http://schemas.microsoft.com/office/drawing/2014/main" id="{3CFDF2BE-F1E1-7250-AC12-32C7FC3C11E2}"/>
              </a:ext>
            </a:extLst>
          </p:cNvPr>
          <p:cNvSpPr txBox="1"/>
          <p:nvPr/>
        </p:nvSpPr>
        <p:spPr>
          <a:xfrm>
            <a:off x="264339" y="4695715"/>
            <a:ext cx="8382000" cy="1477328"/>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Romans 8</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a:t>
            </a:r>
            <a:r>
              <a:rPr lang="en-US" b="1" dirty="0">
                <a:ea typeface="ＭＳ Ｐゴシック" pitchFamily="-106" charset="-128"/>
                <a:cs typeface="ＭＳ Ｐゴシック" pitchFamily="-106" charset="-128"/>
              </a:rPr>
              <a:t>solution</a:t>
            </a:r>
            <a:r>
              <a:rPr lang="en-US" dirty="0">
                <a:ea typeface="ＭＳ Ｐゴシック" pitchFamily="-106" charset="-128"/>
                <a:cs typeface="ＭＳ Ｐゴシック" pitchFamily="-106" charset="-128"/>
              </a:rPr>
              <a:t>. (Romans 8:2 </a:t>
            </a:r>
            <a:r>
              <a:rPr lang="en-US" i="1" dirty="0">
                <a:ea typeface="ＭＳ Ｐゴシック" pitchFamily="-106" charset="-128"/>
                <a:cs typeface="ＭＳ Ｐゴシック" pitchFamily="-106" charset="-128"/>
              </a:rPr>
              <a:t>“Set Free…”</a:t>
            </a:r>
            <a:r>
              <a:rPr lang="en-US" dirty="0">
                <a:ea typeface="ＭＳ Ｐゴシック" pitchFamily="-106" charset="-128"/>
                <a:cs typeface="ＭＳ Ｐゴシック" pitchFamily="-106" charset="-128"/>
              </a:rPr>
              <a:t>; Romans 8:3  </a:t>
            </a:r>
            <a:r>
              <a:rPr lang="en-US" i="1" dirty="0">
                <a:ea typeface="ＭＳ Ｐゴシック" pitchFamily="-106" charset="-128"/>
                <a:cs typeface="ＭＳ Ｐゴシック" pitchFamily="-106" charset="-128"/>
              </a:rPr>
              <a:t>“God Did It…”</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Spirit provides what the Law never could:</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New life; New power; New desires; Victory over sin </a:t>
            </a:r>
          </a:p>
          <a:p>
            <a:pPr marL="285750" indent="-285750" fontAlgn="ctr">
              <a:buFont typeface="Arial" panose="020B0604020202020204" pitchFamily="34" charset="0"/>
              <a:buChar char="•"/>
            </a:pPr>
            <a:r>
              <a:rPr lang="en-US" i="1" dirty="0">
                <a:ea typeface="ＭＳ Ｐゴシック" pitchFamily="-106" charset="-128"/>
                <a:cs typeface="ＭＳ Ｐゴシック" pitchFamily="-106" charset="-128"/>
              </a:rPr>
              <a:t>“There is therefore now no condemnation for those who are in Christ Jesus…”</a:t>
            </a:r>
          </a:p>
        </p:txBody>
      </p:sp>
    </p:spTree>
    <p:extLst>
      <p:ext uri="{BB962C8B-B14F-4D97-AF65-F5344CB8AC3E}">
        <p14:creationId xmlns:p14="http://schemas.microsoft.com/office/powerpoint/2010/main" val="72537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Law in Context</a:t>
            </a:r>
            <a:br>
              <a:rPr lang="en-US" dirty="0"/>
            </a:br>
            <a:r>
              <a:rPr lang="en-US" sz="2400" dirty="0">
                <a:solidFill>
                  <a:schemeClr val="tx2">
                    <a:lumMod val="60000"/>
                    <a:lumOff val="40000"/>
                  </a:schemeClr>
                </a:solidFill>
              </a:rPr>
              <a:t>The Spiritual Life Revealed by Contrast to the Law</a:t>
            </a:r>
          </a:p>
        </p:txBody>
      </p:sp>
      <p:sp>
        <p:nvSpPr>
          <p:cNvPr id="7" name="TextBox 6"/>
          <p:cNvSpPr txBox="1"/>
          <p:nvPr/>
        </p:nvSpPr>
        <p:spPr>
          <a:xfrm>
            <a:off x="439152" y="1349514"/>
            <a:ext cx="8229597" cy="707886"/>
          </a:xfrm>
          <a:prstGeom prst="rect">
            <a:avLst/>
          </a:prstGeom>
          <a:noFill/>
        </p:spPr>
        <p:txBody>
          <a:bodyPr wrap="square" rtlCol="0">
            <a:spAutoFit/>
          </a:bodyPr>
          <a:lstStyle/>
          <a:p>
            <a:r>
              <a:rPr lang="en-US" sz="2000" i="1" dirty="0"/>
              <a:t>“For the law of the life-giving Spirit in Christ Jesus has set you free from the law of sin and death.”   </a:t>
            </a:r>
            <a:r>
              <a:rPr lang="en-US" sz="2000" b="1" i="1" dirty="0"/>
              <a:t>Romans 8:2</a:t>
            </a:r>
            <a:endParaRPr lang="en-US" sz="2000" i="1" dirty="0"/>
          </a:p>
        </p:txBody>
      </p:sp>
      <p:graphicFrame>
        <p:nvGraphicFramePr>
          <p:cNvPr id="4" name="Table 3"/>
          <p:cNvGraphicFramePr>
            <a:graphicFrameLocks noGrp="1"/>
          </p:cNvGraphicFramePr>
          <p:nvPr>
            <p:extLst>
              <p:ext uri="{D42A27DB-BD31-4B8C-83A1-F6EECF244321}">
                <p14:modId xmlns:p14="http://schemas.microsoft.com/office/powerpoint/2010/main" val="855349936"/>
              </p:ext>
            </p:extLst>
          </p:nvPr>
        </p:nvGraphicFramePr>
        <p:xfrm>
          <a:off x="477252" y="2362200"/>
          <a:ext cx="8229598" cy="3672840"/>
        </p:xfrm>
        <a:graphic>
          <a:graphicData uri="http://schemas.openxmlformats.org/drawingml/2006/table">
            <a:tbl>
              <a:tblPr firstRow="1" bandRow="1">
                <a:tableStyleId>{5C22544A-7EE6-4342-B048-85BDC9FD1C3A}</a:tableStyleId>
              </a:tblPr>
              <a:tblGrid>
                <a:gridCol w="4114799">
                  <a:extLst>
                    <a:ext uri="{9D8B030D-6E8A-4147-A177-3AD203B41FA5}">
                      <a16:colId xmlns:a16="http://schemas.microsoft.com/office/drawing/2014/main" val="20000"/>
                    </a:ext>
                  </a:extLst>
                </a:gridCol>
                <a:gridCol w="4114799">
                  <a:extLst>
                    <a:ext uri="{9D8B030D-6E8A-4147-A177-3AD203B41FA5}">
                      <a16:colId xmlns:a16="http://schemas.microsoft.com/office/drawing/2014/main" val="20001"/>
                    </a:ext>
                  </a:extLst>
                </a:gridCol>
              </a:tblGrid>
              <a:tr h="438150">
                <a:tc>
                  <a:txBody>
                    <a:bodyPr/>
                    <a:lstStyle/>
                    <a:p>
                      <a:r>
                        <a:rPr lang="en-US" dirty="0"/>
                        <a:t>Life</a:t>
                      </a:r>
                      <a:r>
                        <a:rPr lang="en-US" baseline="0" dirty="0"/>
                        <a:t> by the Letter</a:t>
                      </a:r>
                      <a:endParaRPr lang="en-US" dirty="0"/>
                    </a:p>
                  </a:txBody>
                  <a:tcPr/>
                </a:tc>
                <a:tc>
                  <a:txBody>
                    <a:bodyPr/>
                    <a:lstStyle/>
                    <a:p>
                      <a:r>
                        <a:rPr lang="en-US" dirty="0"/>
                        <a:t>Life by the Spirit</a:t>
                      </a:r>
                    </a:p>
                  </a:txBody>
                  <a:tcPr/>
                </a:tc>
                <a:extLst>
                  <a:ext uri="{0D108BD9-81ED-4DB2-BD59-A6C34878D82A}">
                    <a16:rowId xmlns:a16="http://schemas.microsoft.com/office/drawing/2014/main" val="10000"/>
                  </a:ext>
                </a:extLst>
              </a:tr>
              <a:tr h="438150">
                <a:tc>
                  <a:txBody>
                    <a:bodyPr/>
                    <a:lstStyle/>
                    <a:p>
                      <a:r>
                        <a:rPr lang="en-US" dirty="0"/>
                        <a:t>Depends on</a:t>
                      </a:r>
                      <a:r>
                        <a:rPr lang="en-US" baseline="0" dirty="0"/>
                        <a:t> the flesh (Rom. 8:3)</a:t>
                      </a:r>
                      <a:endParaRPr lang="en-US" dirty="0"/>
                    </a:p>
                  </a:txBody>
                  <a:tcPr/>
                </a:tc>
                <a:tc>
                  <a:txBody>
                    <a:bodyPr/>
                    <a:lstStyle/>
                    <a:p>
                      <a:r>
                        <a:rPr lang="en-US" dirty="0"/>
                        <a:t>Depends</a:t>
                      </a:r>
                      <a:r>
                        <a:rPr lang="en-US" baseline="0" dirty="0"/>
                        <a:t> upon God’s power (Luke 23:49; Acts 1:8)</a:t>
                      </a:r>
                      <a:endParaRPr lang="en-US" dirty="0"/>
                    </a:p>
                  </a:txBody>
                  <a:tcPr/>
                </a:tc>
                <a:extLst>
                  <a:ext uri="{0D108BD9-81ED-4DB2-BD59-A6C34878D82A}">
                    <a16:rowId xmlns:a16="http://schemas.microsoft.com/office/drawing/2014/main" val="10001"/>
                  </a:ext>
                </a:extLst>
              </a:tr>
              <a:tr h="438150">
                <a:tc>
                  <a:txBody>
                    <a:bodyPr/>
                    <a:lstStyle/>
                    <a:p>
                      <a:r>
                        <a:rPr lang="en-US" dirty="0"/>
                        <a:t>Produces rebellion</a:t>
                      </a:r>
                      <a:r>
                        <a:rPr lang="en-US" baseline="0" dirty="0"/>
                        <a:t> (Rom. 7:8)</a:t>
                      </a:r>
                      <a:endParaRPr lang="en-US" dirty="0"/>
                    </a:p>
                  </a:txBody>
                  <a:tcPr/>
                </a:tc>
                <a:tc>
                  <a:txBody>
                    <a:bodyPr/>
                    <a:lstStyle/>
                    <a:p>
                      <a:r>
                        <a:rPr lang="en-US" dirty="0"/>
                        <a:t>Produces God’s desires (Phil. 2:13)</a:t>
                      </a:r>
                    </a:p>
                  </a:txBody>
                  <a:tcPr/>
                </a:tc>
                <a:extLst>
                  <a:ext uri="{0D108BD9-81ED-4DB2-BD59-A6C34878D82A}">
                    <a16:rowId xmlns:a16="http://schemas.microsoft.com/office/drawing/2014/main" val="10002"/>
                  </a:ext>
                </a:extLst>
              </a:tr>
              <a:tr h="438150">
                <a:tc>
                  <a:txBody>
                    <a:bodyPr/>
                    <a:lstStyle/>
                    <a:p>
                      <a:r>
                        <a:rPr lang="en-US" dirty="0"/>
                        <a:t>Results</a:t>
                      </a:r>
                      <a:r>
                        <a:rPr lang="en-US" baseline="0" dirty="0"/>
                        <a:t> in more sin (Rom. 5:20)</a:t>
                      </a:r>
                      <a:endParaRPr lang="en-US" dirty="0"/>
                    </a:p>
                  </a:txBody>
                  <a:tcPr/>
                </a:tc>
                <a:tc>
                  <a:txBody>
                    <a:bodyPr/>
                    <a:lstStyle/>
                    <a:p>
                      <a:r>
                        <a:rPr lang="en-US" dirty="0"/>
                        <a:t>Results in righteousness</a:t>
                      </a:r>
                      <a:r>
                        <a:rPr lang="en-US" baseline="0" dirty="0"/>
                        <a:t> (Rom. 8:4)</a:t>
                      </a:r>
                      <a:endParaRPr lang="en-US" dirty="0"/>
                    </a:p>
                  </a:txBody>
                  <a:tcPr/>
                </a:tc>
                <a:extLst>
                  <a:ext uri="{0D108BD9-81ED-4DB2-BD59-A6C34878D82A}">
                    <a16:rowId xmlns:a16="http://schemas.microsoft.com/office/drawing/2014/main" val="10003"/>
                  </a:ext>
                </a:extLst>
              </a:tr>
              <a:tr h="438150">
                <a:tc>
                  <a:txBody>
                    <a:bodyPr/>
                    <a:lstStyle/>
                    <a:p>
                      <a:r>
                        <a:rPr lang="en-US" dirty="0"/>
                        <a:t>Brings wrath (Rom.</a:t>
                      </a:r>
                      <a:r>
                        <a:rPr lang="en-US" baseline="0" dirty="0"/>
                        <a:t> 4:15)</a:t>
                      </a:r>
                      <a:endParaRPr lang="en-US" dirty="0"/>
                    </a:p>
                  </a:txBody>
                  <a:tcPr/>
                </a:tc>
                <a:tc>
                  <a:txBody>
                    <a:bodyPr/>
                    <a:lstStyle/>
                    <a:p>
                      <a:r>
                        <a:rPr lang="en-US" dirty="0"/>
                        <a:t>Brings joy, peace, production (Gal. 5:22-23)</a:t>
                      </a:r>
                    </a:p>
                  </a:txBody>
                  <a:tcPr/>
                </a:tc>
                <a:extLst>
                  <a:ext uri="{0D108BD9-81ED-4DB2-BD59-A6C34878D82A}">
                    <a16:rowId xmlns:a16="http://schemas.microsoft.com/office/drawing/2014/main" val="10004"/>
                  </a:ext>
                </a:extLst>
              </a:tr>
              <a:tr h="438150">
                <a:tc>
                  <a:txBody>
                    <a:bodyPr/>
                    <a:lstStyle/>
                    <a:p>
                      <a:r>
                        <a:rPr lang="en-US" dirty="0"/>
                        <a:t>Not of faith (Gal. 3:12)</a:t>
                      </a:r>
                    </a:p>
                  </a:txBody>
                  <a:tcPr/>
                </a:tc>
                <a:tc>
                  <a:txBody>
                    <a:bodyPr/>
                    <a:lstStyle/>
                    <a:p>
                      <a:r>
                        <a:rPr lang="en-US" dirty="0"/>
                        <a:t>By obedience of faith (Rom. 1:5; Gal. 5:5; 2 Cor. 5:7)</a:t>
                      </a:r>
                    </a:p>
                  </a:txBody>
                  <a:tcPr/>
                </a:tc>
                <a:extLst>
                  <a:ext uri="{0D108BD9-81ED-4DB2-BD59-A6C34878D82A}">
                    <a16:rowId xmlns:a16="http://schemas.microsoft.com/office/drawing/2014/main" val="10005"/>
                  </a:ext>
                </a:extLst>
              </a:tr>
              <a:tr h="438150">
                <a:tc>
                  <a:txBody>
                    <a:bodyPr/>
                    <a:lstStyle/>
                    <a:p>
                      <a:r>
                        <a:rPr lang="en-US" dirty="0"/>
                        <a:t>Kills (2 Cor. 3:4-6; Gal. 3:21)</a:t>
                      </a:r>
                    </a:p>
                  </a:txBody>
                  <a:tcPr/>
                </a:tc>
                <a:tc>
                  <a:txBody>
                    <a:bodyPr/>
                    <a:lstStyle/>
                    <a:p>
                      <a:r>
                        <a:rPr lang="en-US" dirty="0"/>
                        <a:t>Gives life (Phil.</a:t>
                      </a:r>
                      <a:r>
                        <a:rPr lang="en-US" baseline="0" dirty="0"/>
                        <a:t> 2:12-13)</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2723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Law of the Spirit</a:t>
            </a:r>
            <a:br>
              <a:rPr lang="en-US" dirty="0"/>
            </a:br>
            <a:r>
              <a:rPr lang="en-US" sz="2400" dirty="0">
                <a:solidFill>
                  <a:schemeClr val="tx2">
                    <a:lumMod val="60000"/>
                    <a:lumOff val="40000"/>
                  </a:schemeClr>
                </a:solidFill>
              </a:rPr>
              <a:t>A fulfillment of the will and purpose of God</a:t>
            </a:r>
          </a:p>
        </p:txBody>
      </p:sp>
      <p:sp>
        <p:nvSpPr>
          <p:cNvPr id="5" name="TextBox 4"/>
          <p:cNvSpPr txBox="1"/>
          <p:nvPr/>
        </p:nvSpPr>
        <p:spPr>
          <a:xfrm>
            <a:off x="457200" y="2713729"/>
            <a:ext cx="8001000" cy="707886"/>
          </a:xfrm>
          <a:prstGeom prst="rect">
            <a:avLst/>
          </a:prstGeom>
          <a:noFill/>
        </p:spPr>
        <p:txBody>
          <a:bodyPr wrap="square" rtlCol="0">
            <a:spAutoFit/>
          </a:bodyPr>
          <a:lstStyle/>
          <a:p>
            <a:r>
              <a:rPr lang="en-US" sz="2000" i="1" dirty="0"/>
              <a:t>“</a:t>
            </a:r>
            <a:r>
              <a:rPr lang="en-US" sz="2000" b="1" i="1" dirty="0"/>
              <a:t>For sin shall not have </a:t>
            </a:r>
            <a:r>
              <a:rPr lang="en-US" sz="2000" b="1" i="1" u="sng" dirty="0"/>
              <a:t>dominion</a:t>
            </a:r>
            <a:r>
              <a:rPr lang="en-US" sz="2000" b="1" i="1" dirty="0"/>
              <a:t> over you, for you are not under law but under grace.</a:t>
            </a:r>
            <a:r>
              <a:rPr lang="en-US" sz="2000" i="1" dirty="0"/>
              <a:t>”   Romans 6:14</a:t>
            </a:r>
          </a:p>
        </p:txBody>
      </p:sp>
      <p:sp>
        <p:nvSpPr>
          <p:cNvPr id="7" name="TextBox 6"/>
          <p:cNvSpPr txBox="1"/>
          <p:nvPr/>
        </p:nvSpPr>
        <p:spPr>
          <a:xfrm>
            <a:off x="424774" y="1308670"/>
            <a:ext cx="8001000" cy="1323439"/>
          </a:xfrm>
          <a:prstGeom prst="rect">
            <a:avLst/>
          </a:prstGeom>
          <a:noFill/>
        </p:spPr>
        <p:txBody>
          <a:bodyPr wrap="square" rtlCol="0">
            <a:spAutoFit/>
          </a:bodyPr>
          <a:lstStyle/>
          <a:p>
            <a:r>
              <a:rPr lang="en-US" sz="2000" i="1" dirty="0"/>
              <a:t>“There is therefore </a:t>
            </a:r>
            <a:r>
              <a:rPr lang="en-US" sz="2000" b="1" i="1" dirty="0"/>
              <a:t>now no condemnation </a:t>
            </a:r>
            <a:r>
              <a:rPr lang="en-US" sz="2000" i="1" dirty="0"/>
              <a:t>to those who are in Christ Jesus, who do not walk according to the flesh, but according to the Spirit.  </a:t>
            </a:r>
            <a:r>
              <a:rPr lang="en-US" sz="2000" b="1" i="1" dirty="0"/>
              <a:t>For the </a:t>
            </a:r>
            <a:r>
              <a:rPr lang="en-US" sz="2000" b="1" i="1" u="sng" dirty="0"/>
              <a:t>law of the Spirit</a:t>
            </a:r>
            <a:r>
              <a:rPr lang="en-US" sz="2000" b="1" i="1" dirty="0"/>
              <a:t> of life </a:t>
            </a:r>
            <a:r>
              <a:rPr lang="en-US" sz="2000" b="1" i="1" u="sng" dirty="0"/>
              <a:t>in Christ Jesus </a:t>
            </a:r>
            <a:r>
              <a:rPr lang="en-US" sz="2000" b="1" i="1" dirty="0"/>
              <a:t>has made me </a:t>
            </a:r>
            <a:r>
              <a:rPr lang="en-US" sz="2000" b="1" i="1" u="sng" dirty="0"/>
              <a:t>free</a:t>
            </a:r>
            <a:r>
              <a:rPr lang="en-US" sz="2000" b="1" i="1" dirty="0"/>
              <a:t> from the law of sin and death</a:t>
            </a:r>
            <a:r>
              <a:rPr lang="en-US" sz="2000" i="1" dirty="0"/>
              <a:t>.”    Romans 8:1-2</a:t>
            </a:r>
          </a:p>
        </p:txBody>
      </p:sp>
      <p:sp>
        <p:nvSpPr>
          <p:cNvPr id="8" name="TextBox 7"/>
          <p:cNvSpPr txBox="1"/>
          <p:nvPr/>
        </p:nvSpPr>
        <p:spPr>
          <a:xfrm>
            <a:off x="457200" y="3503235"/>
            <a:ext cx="8001000" cy="1015663"/>
          </a:xfrm>
          <a:prstGeom prst="rect">
            <a:avLst/>
          </a:prstGeom>
          <a:noFill/>
        </p:spPr>
        <p:txBody>
          <a:bodyPr wrap="square" rtlCol="0">
            <a:spAutoFit/>
          </a:bodyPr>
          <a:lstStyle/>
          <a:p>
            <a:r>
              <a:rPr lang="en-US" sz="2000" dirty="0"/>
              <a:t>For the Christian, chapter 8…</a:t>
            </a:r>
          </a:p>
          <a:p>
            <a:pPr marL="342900" indent="-342900">
              <a:buFont typeface="Arial" panose="020B0604020202020204" pitchFamily="34" charset="0"/>
              <a:buChar char="•"/>
            </a:pPr>
            <a:r>
              <a:rPr lang="en-US" sz="2000" dirty="0"/>
              <a:t>Begins with “now no condemnation”</a:t>
            </a:r>
          </a:p>
          <a:p>
            <a:pPr marL="342900" indent="-342900">
              <a:buFont typeface="Arial" panose="020B0604020202020204" pitchFamily="34" charset="0"/>
              <a:buChar char="•"/>
            </a:pPr>
            <a:r>
              <a:rPr lang="en-US" sz="2000" dirty="0"/>
              <a:t>Ends with “no separation”   (compare John 15:1-5)</a:t>
            </a:r>
          </a:p>
        </p:txBody>
      </p:sp>
      <p:sp>
        <p:nvSpPr>
          <p:cNvPr id="9" name="TextBox 8"/>
          <p:cNvSpPr txBox="1"/>
          <p:nvPr/>
        </p:nvSpPr>
        <p:spPr>
          <a:xfrm>
            <a:off x="462063" y="4636186"/>
            <a:ext cx="8001000" cy="1938992"/>
          </a:xfrm>
          <a:prstGeom prst="rect">
            <a:avLst/>
          </a:prstGeom>
          <a:noFill/>
        </p:spPr>
        <p:txBody>
          <a:bodyPr wrap="square" rtlCol="0">
            <a:spAutoFit/>
          </a:bodyPr>
          <a:lstStyle/>
          <a:p>
            <a:r>
              <a:rPr lang="en-US" sz="2000" dirty="0"/>
              <a:t>Romans 8:5-27</a:t>
            </a:r>
          </a:p>
          <a:p>
            <a:pPr marL="342900" indent="-342900">
              <a:buFont typeface="Arial" panose="020B0604020202020204" pitchFamily="34" charset="0"/>
              <a:buChar char="•"/>
            </a:pPr>
            <a:r>
              <a:rPr lang="en-US" sz="2000" dirty="0"/>
              <a:t>Develops a wide-range of truth regarding the Holy Spirit indwelling the believer.</a:t>
            </a:r>
          </a:p>
          <a:p>
            <a:pPr marL="342900" indent="-342900">
              <a:buFont typeface="Arial" panose="020B0604020202020204" pitchFamily="34" charset="0"/>
              <a:buChar char="•"/>
            </a:pPr>
            <a:r>
              <a:rPr lang="en-US" sz="2000" dirty="0"/>
              <a:t>Compare to experience of David (Psalm 51) and others regarding presence of Holy Spirit.</a:t>
            </a:r>
          </a:p>
          <a:p>
            <a:pPr marL="342900" indent="-342900">
              <a:buFont typeface="Arial" panose="020B0604020202020204" pitchFamily="34" charset="0"/>
              <a:buChar char="•"/>
            </a:pPr>
            <a:r>
              <a:rPr lang="en-US" sz="2000" dirty="0"/>
              <a:t>A sort-of “seal of authentication” or “title of ownership of”.</a:t>
            </a:r>
          </a:p>
        </p:txBody>
      </p:sp>
    </p:spTree>
    <p:extLst>
      <p:ext uri="{BB962C8B-B14F-4D97-AF65-F5344CB8AC3E}">
        <p14:creationId xmlns:p14="http://schemas.microsoft.com/office/powerpoint/2010/main" val="211560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600" dirty="0"/>
              <a:t>The Righteous Requirements of the Law</a:t>
            </a:r>
            <a:br>
              <a:rPr lang="en-US" dirty="0"/>
            </a:br>
            <a:r>
              <a:rPr lang="en-US" sz="2400" dirty="0">
                <a:solidFill>
                  <a:schemeClr val="tx2">
                    <a:lumMod val="60000"/>
                    <a:lumOff val="40000"/>
                  </a:schemeClr>
                </a:solidFill>
              </a:rPr>
              <a:t>How fulfilled?</a:t>
            </a:r>
          </a:p>
        </p:txBody>
      </p:sp>
      <p:sp>
        <p:nvSpPr>
          <p:cNvPr id="5" name="TextBox 4"/>
          <p:cNvSpPr txBox="1"/>
          <p:nvPr/>
        </p:nvSpPr>
        <p:spPr>
          <a:xfrm>
            <a:off x="424774" y="3733800"/>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Summary of chapters 6 and 7.</a:t>
            </a:r>
          </a:p>
          <a:p>
            <a:pPr marL="342900" indent="-342900">
              <a:buFont typeface="Arial" panose="020B0604020202020204" pitchFamily="34" charset="0"/>
              <a:buChar char="•"/>
            </a:pPr>
            <a:r>
              <a:rPr lang="en-US" sz="2000" dirty="0"/>
              <a:t>“That” – purpose clause</a:t>
            </a:r>
          </a:p>
          <a:p>
            <a:pPr marL="342900" indent="-342900">
              <a:buFont typeface="Arial" panose="020B0604020202020204" pitchFamily="34" charset="0"/>
              <a:buChar char="•"/>
            </a:pPr>
            <a:r>
              <a:rPr lang="en-US" sz="2000" dirty="0"/>
              <a:t>“</a:t>
            </a:r>
            <a:r>
              <a:rPr lang="en-US" sz="2000" b="1" dirty="0"/>
              <a:t>in</a:t>
            </a:r>
            <a:r>
              <a:rPr lang="en-US" sz="2000" dirty="0"/>
              <a:t> us” – not “</a:t>
            </a:r>
            <a:r>
              <a:rPr lang="en-US" sz="2000" b="1" dirty="0"/>
              <a:t>by</a:t>
            </a:r>
            <a:r>
              <a:rPr lang="en-US" sz="2000" dirty="0"/>
              <a:t> us”</a:t>
            </a:r>
          </a:p>
          <a:p>
            <a:pPr marL="342900" indent="-342900">
              <a:buFont typeface="Arial" panose="020B0604020202020204" pitchFamily="34" charset="0"/>
              <a:buChar char="•"/>
            </a:pPr>
            <a:r>
              <a:rPr lang="en-US" sz="2000" dirty="0"/>
              <a:t>“who walk … according to the Spirit”  [not by our own efforts]</a:t>
            </a:r>
          </a:p>
          <a:p>
            <a:pPr marL="342900" indent="-342900">
              <a:buFont typeface="Arial" panose="020B0604020202020204" pitchFamily="34" charset="0"/>
              <a:buChar char="•"/>
            </a:pPr>
            <a:r>
              <a:rPr lang="en-US" sz="2000" dirty="0"/>
              <a:t>A statement of </a:t>
            </a:r>
            <a:r>
              <a:rPr lang="en-US" sz="2000" u="sng" dirty="0"/>
              <a:t>fact</a:t>
            </a:r>
            <a:r>
              <a:rPr lang="en-US" sz="2000" dirty="0"/>
              <a:t> here; </a:t>
            </a:r>
            <a:r>
              <a:rPr lang="en-US" sz="2000" u="sng" dirty="0"/>
              <a:t>imperative</a:t>
            </a:r>
            <a:r>
              <a:rPr lang="en-US" sz="2000" dirty="0"/>
              <a:t> statement in Gal 5:16-17</a:t>
            </a:r>
          </a:p>
          <a:p>
            <a:pPr marL="342900" indent="-342900">
              <a:buFont typeface="Arial" panose="020B0604020202020204" pitchFamily="34" charset="0"/>
              <a:buChar char="•"/>
            </a:pPr>
            <a:r>
              <a:rPr lang="en-US" sz="2000" dirty="0"/>
              <a:t>The flesh (our selves) will always fail.</a:t>
            </a:r>
          </a:p>
          <a:p>
            <a:pPr marL="342900" indent="-342900">
              <a:buFont typeface="Arial" panose="020B0604020202020204" pitchFamily="34" charset="0"/>
              <a:buChar char="•"/>
            </a:pPr>
            <a:r>
              <a:rPr lang="en-US" sz="2000" dirty="0"/>
              <a:t>Christ’s purpose was not only to defeat sin (as a </a:t>
            </a:r>
            <a:r>
              <a:rPr lang="en-US" sz="2000" u="sng" dirty="0"/>
              <a:t>man</a:t>
            </a:r>
            <a:r>
              <a:rPr lang="en-US" sz="2000" dirty="0"/>
              <a:t>) but also to overcome the sin </a:t>
            </a:r>
            <a:r>
              <a:rPr lang="en-US" sz="2000" u="sng" dirty="0"/>
              <a:t>nature</a:t>
            </a:r>
            <a:r>
              <a:rPr lang="en-US" sz="2000" dirty="0"/>
              <a:t> of </a:t>
            </a:r>
            <a:r>
              <a:rPr lang="en-US" sz="2000" u="sng" dirty="0"/>
              <a:t>man</a:t>
            </a:r>
            <a:r>
              <a:rPr lang="en-US" sz="2000" dirty="0"/>
              <a:t>.</a:t>
            </a:r>
          </a:p>
        </p:txBody>
      </p:sp>
      <p:sp>
        <p:nvSpPr>
          <p:cNvPr id="7" name="TextBox 6"/>
          <p:cNvSpPr txBox="1"/>
          <p:nvPr/>
        </p:nvSpPr>
        <p:spPr>
          <a:xfrm>
            <a:off x="424774" y="1308670"/>
            <a:ext cx="8001000" cy="1631216"/>
          </a:xfrm>
          <a:prstGeom prst="rect">
            <a:avLst/>
          </a:prstGeom>
          <a:noFill/>
        </p:spPr>
        <p:txBody>
          <a:bodyPr wrap="square" rtlCol="0">
            <a:spAutoFit/>
          </a:bodyPr>
          <a:lstStyle/>
          <a:p>
            <a:r>
              <a:rPr lang="en-US" sz="2000" i="1" dirty="0"/>
              <a:t>“For </a:t>
            </a:r>
            <a:r>
              <a:rPr lang="en-US" sz="2000" b="1" i="1" dirty="0"/>
              <a:t>what the </a:t>
            </a:r>
            <a:r>
              <a:rPr lang="en-US" sz="2000" b="1" i="1" u="sng" dirty="0"/>
              <a:t>law could not do </a:t>
            </a:r>
            <a:r>
              <a:rPr lang="en-US" sz="2000" i="1" dirty="0"/>
              <a:t>in that it was weak through the flesh, </a:t>
            </a:r>
            <a:r>
              <a:rPr lang="en-US" sz="2000" b="1" i="1" u="sng" dirty="0"/>
              <a:t>God did </a:t>
            </a:r>
            <a:r>
              <a:rPr lang="en-US" sz="2000" i="1" dirty="0"/>
              <a:t>by sending His own Son in the likeness of sinful flesh, on account of sin: He condemned sin in the flesh, </a:t>
            </a:r>
            <a:r>
              <a:rPr lang="en-US" sz="2000" b="1" i="1" u="sng" dirty="0"/>
              <a:t>that</a:t>
            </a:r>
            <a:r>
              <a:rPr lang="en-US" sz="2000" b="1" i="1" dirty="0"/>
              <a:t> the righteous requirement of the law might be </a:t>
            </a:r>
            <a:r>
              <a:rPr lang="en-US" sz="2000" b="1" i="1" u="sng" dirty="0"/>
              <a:t>fulfilled in us</a:t>
            </a:r>
            <a:r>
              <a:rPr lang="en-US" sz="2000" i="1" u="sng" dirty="0"/>
              <a:t> </a:t>
            </a:r>
            <a:r>
              <a:rPr lang="en-US" sz="2000" i="1" dirty="0"/>
              <a:t>who </a:t>
            </a:r>
            <a:r>
              <a:rPr lang="en-US" sz="2000" b="1" i="1" dirty="0"/>
              <a:t>do not </a:t>
            </a:r>
            <a:r>
              <a:rPr lang="en-US" sz="2000" b="1" i="1" u="sng" dirty="0"/>
              <a:t>walk</a:t>
            </a:r>
            <a:r>
              <a:rPr lang="en-US" sz="2000" b="1" i="1" dirty="0"/>
              <a:t> according to the flesh but </a:t>
            </a:r>
            <a:r>
              <a:rPr lang="en-US" sz="2000" b="1" i="1" u="sng" dirty="0"/>
              <a:t>according to the Spirit</a:t>
            </a:r>
            <a:r>
              <a:rPr lang="en-US" sz="2000" i="1" dirty="0"/>
              <a:t>.”  Romans 8:3-4</a:t>
            </a:r>
          </a:p>
        </p:txBody>
      </p:sp>
      <p:sp>
        <p:nvSpPr>
          <p:cNvPr id="9" name="TextBox 8"/>
          <p:cNvSpPr txBox="1"/>
          <p:nvPr/>
        </p:nvSpPr>
        <p:spPr>
          <a:xfrm>
            <a:off x="424774" y="3103935"/>
            <a:ext cx="8001000" cy="400110"/>
          </a:xfrm>
          <a:prstGeom prst="rect">
            <a:avLst/>
          </a:prstGeom>
          <a:noFill/>
        </p:spPr>
        <p:txBody>
          <a:bodyPr wrap="square" rtlCol="0">
            <a:spAutoFit/>
          </a:bodyPr>
          <a:lstStyle/>
          <a:p>
            <a:r>
              <a:rPr lang="en-US" sz="2000" dirty="0"/>
              <a:t>How are the “righteous requirements” of the law fulfilled? </a:t>
            </a:r>
          </a:p>
        </p:txBody>
      </p:sp>
    </p:spTree>
    <p:extLst>
      <p:ext uri="{BB962C8B-B14F-4D97-AF65-F5344CB8AC3E}">
        <p14:creationId xmlns:p14="http://schemas.microsoft.com/office/powerpoint/2010/main" val="261806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Indwelling Spirit</a:t>
            </a:r>
            <a:br>
              <a:rPr lang="en-US" dirty="0"/>
            </a:br>
            <a:r>
              <a:rPr lang="en-US" sz="2400" dirty="0">
                <a:solidFill>
                  <a:schemeClr val="tx2">
                    <a:lumMod val="60000"/>
                    <a:lumOff val="40000"/>
                  </a:schemeClr>
                </a:solidFill>
              </a:rPr>
              <a:t>A phenomenal gift</a:t>
            </a:r>
          </a:p>
        </p:txBody>
      </p:sp>
      <p:sp>
        <p:nvSpPr>
          <p:cNvPr id="7" name="TextBox 6"/>
          <p:cNvSpPr txBox="1"/>
          <p:nvPr/>
        </p:nvSpPr>
        <p:spPr>
          <a:xfrm>
            <a:off x="424774" y="1238815"/>
            <a:ext cx="8001000" cy="2246769"/>
          </a:xfrm>
          <a:prstGeom prst="rect">
            <a:avLst/>
          </a:prstGeom>
          <a:noFill/>
        </p:spPr>
        <p:txBody>
          <a:bodyPr wrap="square" rtlCol="0">
            <a:spAutoFit/>
          </a:bodyPr>
          <a:lstStyle/>
          <a:p>
            <a:r>
              <a:rPr lang="en-US" sz="2000" i="1" dirty="0"/>
              <a:t>“For </a:t>
            </a:r>
            <a:r>
              <a:rPr lang="en-US" sz="2000" b="1" i="1" dirty="0"/>
              <a:t>those who live </a:t>
            </a:r>
            <a:r>
              <a:rPr lang="en-US" sz="2000" i="1" dirty="0"/>
              <a:t>according to the </a:t>
            </a:r>
            <a:r>
              <a:rPr lang="en-US" sz="2000" b="1" i="1" u="sng" dirty="0"/>
              <a:t>flesh</a:t>
            </a:r>
            <a:r>
              <a:rPr lang="en-US" sz="2000" i="1" dirty="0"/>
              <a:t> set </a:t>
            </a:r>
            <a:r>
              <a:rPr lang="en-US" sz="2000" b="1" i="1" dirty="0"/>
              <a:t>their minds </a:t>
            </a:r>
            <a:r>
              <a:rPr lang="en-US" sz="2000" i="1" dirty="0"/>
              <a:t>on the things of the flesh, but </a:t>
            </a:r>
            <a:r>
              <a:rPr lang="en-US" sz="2000" b="1" i="1" dirty="0"/>
              <a:t>those who live </a:t>
            </a:r>
            <a:r>
              <a:rPr lang="en-US" sz="2000" i="1" dirty="0"/>
              <a:t>according to the </a:t>
            </a:r>
            <a:r>
              <a:rPr lang="en-US" sz="2000" b="1" i="1" u="sng" dirty="0"/>
              <a:t>Spirit</a:t>
            </a:r>
            <a:r>
              <a:rPr lang="en-US" sz="2000" i="1" dirty="0"/>
              <a:t>, the things of the Spirit.  For to be </a:t>
            </a:r>
            <a:r>
              <a:rPr lang="en-US" sz="2000" b="1" i="1" dirty="0"/>
              <a:t>carnally</a:t>
            </a:r>
            <a:r>
              <a:rPr lang="en-US" sz="2000" i="1" dirty="0"/>
              <a:t> </a:t>
            </a:r>
            <a:r>
              <a:rPr lang="en-US" sz="2000" b="1" i="1" dirty="0"/>
              <a:t>minded</a:t>
            </a:r>
            <a:r>
              <a:rPr lang="en-US" sz="2000" i="1" dirty="0"/>
              <a:t> is death, but to be </a:t>
            </a:r>
            <a:r>
              <a:rPr lang="en-US" sz="2000" b="1" i="1" dirty="0"/>
              <a:t>spiritually</a:t>
            </a:r>
            <a:r>
              <a:rPr lang="en-US" sz="2000" i="1" dirty="0"/>
              <a:t> </a:t>
            </a:r>
            <a:r>
              <a:rPr lang="en-US" sz="2000" b="1" i="1" dirty="0"/>
              <a:t>minded</a:t>
            </a:r>
            <a:r>
              <a:rPr lang="en-US" sz="2000" i="1" dirty="0"/>
              <a:t> is life and peace.  Because the carnal mind is enmity against God; for it is not subject to the law of God, nor indeed can be.  So then, </a:t>
            </a:r>
            <a:r>
              <a:rPr lang="en-US" sz="2000" i="1" u="sng" dirty="0"/>
              <a:t>those who</a:t>
            </a:r>
            <a:r>
              <a:rPr lang="en-US" sz="2000" i="1" dirty="0"/>
              <a:t> are in the flesh </a:t>
            </a:r>
            <a:r>
              <a:rPr lang="en-US" sz="2000" i="1" u="sng" dirty="0"/>
              <a:t>cannot</a:t>
            </a:r>
            <a:r>
              <a:rPr lang="en-US" sz="2000" i="1" dirty="0"/>
              <a:t> please God.”  Romans 8:5-8</a:t>
            </a:r>
          </a:p>
        </p:txBody>
      </p:sp>
      <p:sp>
        <p:nvSpPr>
          <p:cNvPr id="6" name="TextBox 5"/>
          <p:cNvSpPr txBox="1"/>
          <p:nvPr/>
        </p:nvSpPr>
        <p:spPr>
          <a:xfrm>
            <a:off x="424774" y="3581400"/>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“flesh” == human resources</a:t>
            </a:r>
          </a:p>
          <a:p>
            <a:pPr marL="342900" indent="-342900">
              <a:buFont typeface="Arial" panose="020B0604020202020204" pitchFamily="34" charset="0"/>
              <a:buChar char="•"/>
            </a:pPr>
            <a:r>
              <a:rPr lang="en-US" sz="2000" u="sng" dirty="0"/>
              <a:t>Contrast is between believers!</a:t>
            </a:r>
            <a:r>
              <a:rPr lang="en-US" sz="2000" dirty="0"/>
              <a:t>   “those who… set their </a:t>
            </a:r>
            <a:r>
              <a:rPr lang="en-US" sz="2000" u="sng" dirty="0"/>
              <a:t>minds</a:t>
            </a:r>
            <a:r>
              <a:rPr lang="en-US" sz="2000" dirty="0"/>
              <a:t>…”</a:t>
            </a:r>
          </a:p>
          <a:p>
            <a:pPr marL="342900" indent="-342900">
              <a:buFont typeface="Arial" panose="020B0604020202020204" pitchFamily="34" charset="0"/>
              <a:buChar char="•"/>
            </a:pPr>
            <a:r>
              <a:rPr lang="en-US" sz="2000" dirty="0"/>
              <a:t>Emphasizes the impossibility of living under any resources other than the Spirit.  E.g. Positive thinking; works; self-denial</a:t>
            </a:r>
          </a:p>
          <a:p>
            <a:pPr marL="342900" indent="-342900">
              <a:buFont typeface="Arial" panose="020B0604020202020204" pitchFamily="34" charset="0"/>
              <a:buChar char="•"/>
            </a:pPr>
            <a:r>
              <a:rPr lang="en-US" sz="2000" dirty="0"/>
              <a:t>Sincerity is not the issue.  It is your mind.   Is it focused on the things of the world or on the things of the Spirit…?</a:t>
            </a:r>
          </a:p>
          <a:p>
            <a:pPr marL="342900" indent="-342900">
              <a:buFont typeface="Arial" panose="020B0604020202020204" pitchFamily="34" charset="0"/>
              <a:buChar char="•"/>
            </a:pPr>
            <a:r>
              <a:rPr lang="en-US" sz="2000" dirty="0"/>
              <a:t>We can’t live for God by human effort!   “to be carnally minded is </a:t>
            </a:r>
            <a:r>
              <a:rPr lang="en-US" sz="2000" u="sng" dirty="0"/>
              <a:t>death</a:t>
            </a:r>
            <a:r>
              <a:rPr lang="en-US" sz="2000" dirty="0"/>
              <a:t>”   (Hebrews 9:14)</a:t>
            </a:r>
          </a:p>
        </p:txBody>
      </p:sp>
    </p:spTree>
    <p:extLst>
      <p:ext uri="{BB962C8B-B14F-4D97-AF65-F5344CB8AC3E}">
        <p14:creationId xmlns:p14="http://schemas.microsoft.com/office/powerpoint/2010/main" val="165910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Dual Nature of the Believer</a:t>
            </a:r>
            <a:br>
              <a:rPr lang="en-US" dirty="0"/>
            </a:br>
            <a:r>
              <a:rPr lang="en-US" sz="2400" dirty="0">
                <a:solidFill>
                  <a:schemeClr val="tx2">
                    <a:lumMod val="60000"/>
                    <a:lumOff val="40000"/>
                  </a:schemeClr>
                </a:solidFill>
              </a:rPr>
              <a:t>Dead in the body; Alive in the Spirit</a:t>
            </a:r>
          </a:p>
        </p:txBody>
      </p:sp>
      <p:sp>
        <p:nvSpPr>
          <p:cNvPr id="7" name="TextBox 6"/>
          <p:cNvSpPr txBox="1"/>
          <p:nvPr/>
        </p:nvSpPr>
        <p:spPr>
          <a:xfrm>
            <a:off x="457200" y="1171756"/>
            <a:ext cx="8001000" cy="2554545"/>
          </a:xfrm>
          <a:prstGeom prst="rect">
            <a:avLst/>
          </a:prstGeom>
          <a:noFill/>
        </p:spPr>
        <p:txBody>
          <a:bodyPr wrap="square" rtlCol="0">
            <a:spAutoFit/>
          </a:bodyPr>
          <a:lstStyle/>
          <a:p>
            <a:r>
              <a:rPr lang="en-US" sz="2000" i="1" dirty="0"/>
              <a:t>“</a:t>
            </a:r>
            <a:r>
              <a:rPr lang="en-US" sz="2000" b="1" i="1" dirty="0"/>
              <a:t>But</a:t>
            </a:r>
            <a:r>
              <a:rPr lang="en-US" sz="2000" i="1" dirty="0"/>
              <a:t> you are not in the flesh </a:t>
            </a:r>
            <a:r>
              <a:rPr lang="en-US" sz="2000" b="1" i="1" dirty="0"/>
              <a:t>but</a:t>
            </a:r>
            <a:r>
              <a:rPr lang="en-US" sz="2000" i="1" dirty="0"/>
              <a:t> in the Spirit, </a:t>
            </a:r>
            <a:r>
              <a:rPr lang="en-US" sz="2000" b="1" i="1" dirty="0"/>
              <a:t>if</a:t>
            </a:r>
            <a:r>
              <a:rPr lang="en-US" sz="2000" i="1" dirty="0"/>
              <a:t> indeed the </a:t>
            </a:r>
            <a:r>
              <a:rPr lang="en-US" sz="2000" b="1" i="1" dirty="0"/>
              <a:t>Spirit of God</a:t>
            </a:r>
            <a:r>
              <a:rPr lang="en-US" sz="2000" i="1" dirty="0"/>
              <a:t> dwells in you.  Now if anyone does not have the </a:t>
            </a:r>
            <a:r>
              <a:rPr lang="en-US" sz="2000" b="1" i="1" dirty="0"/>
              <a:t>Spirit of Christ</a:t>
            </a:r>
            <a:r>
              <a:rPr lang="en-US" sz="2000" i="1" dirty="0"/>
              <a:t>, he is not His.  And if Christ is in you, the </a:t>
            </a:r>
            <a:r>
              <a:rPr lang="en-US" sz="2000" b="1" i="1" u="sng" dirty="0"/>
              <a:t>body</a:t>
            </a:r>
            <a:r>
              <a:rPr lang="en-US" sz="2000" i="1" dirty="0"/>
              <a:t> is </a:t>
            </a:r>
            <a:r>
              <a:rPr lang="en-US" sz="2000" b="1" i="1" u="sng" dirty="0"/>
              <a:t>dead</a:t>
            </a:r>
            <a:r>
              <a:rPr lang="en-US" sz="2000" i="1" dirty="0"/>
              <a:t> because of </a:t>
            </a:r>
            <a:r>
              <a:rPr lang="en-US" sz="2000" b="1" i="1" u="sng" dirty="0"/>
              <a:t>sin</a:t>
            </a:r>
            <a:r>
              <a:rPr lang="en-US" sz="2000" i="1" dirty="0"/>
              <a:t>, but the </a:t>
            </a:r>
            <a:r>
              <a:rPr lang="en-US" sz="2000" b="1" i="1" u="sng" dirty="0"/>
              <a:t>Spirit</a:t>
            </a:r>
            <a:r>
              <a:rPr lang="en-US" sz="2000" i="1" dirty="0"/>
              <a:t> is </a:t>
            </a:r>
            <a:r>
              <a:rPr lang="en-US" sz="2000" b="1" i="1" u="sng" dirty="0"/>
              <a:t>life</a:t>
            </a:r>
            <a:r>
              <a:rPr lang="en-US" sz="2000" i="1" dirty="0"/>
              <a:t> because of </a:t>
            </a:r>
            <a:r>
              <a:rPr lang="en-US" sz="2000" b="1" i="1" u="sng" dirty="0"/>
              <a:t>righteousness</a:t>
            </a:r>
            <a:r>
              <a:rPr lang="en-US" sz="2000" i="1" dirty="0"/>
              <a:t>.   But if the </a:t>
            </a:r>
            <a:r>
              <a:rPr lang="en-US" sz="2000" b="1" i="1" dirty="0"/>
              <a:t>Spirit of Him </a:t>
            </a:r>
            <a:r>
              <a:rPr lang="en-US" sz="2000" i="1" dirty="0"/>
              <a:t>who raised Jesus from the dead </a:t>
            </a:r>
            <a:r>
              <a:rPr lang="en-US" sz="2000" b="1" i="1" dirty="0"/>
              <a:t>dwells in you</a:t>
            </a:r>
            <a:r>
              <a:rPr lang="en-US" sz="2000" i="1" dirty="0"/>
              <a:t>, </a:t>
            </a:r>
            <a:r>
              <a:rPr lang="en-US" sz="2000" b="1" i="1" dirty="0"/>
              <a:t>He who raised Christ from the dead will also give life to your mortal bodies through His Spirit who dwells in you</a:t>
            </a:r>
            <a:r>
              <a:rPr lang="en-US" sz="2000" i="1" dirty="0"/>
              <a:t>.”  </a:t>
            </a:r>
          </a:p>
          <a:p>
            <a:r>
              <a:rPr lang="en-US" sz="2000" i="1" dirty="0"/>
              <a:t>Romans 8:9-11</a:t>
            </a:r>
          </a:p>
        </p:txBody>
      </p:sp>
      <p:sp>
        <p:nvSpPr>
          <p:cNvPr id="6" name="TextBox 5"/>
          <p:cNvSpPr txBox="1"/>
          <p:nvPr/>
        </p:nvSpPr>
        <p:spPr>
          <a:xfrm>
            <a:off x="478277" y="3810000"/>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i="1" dirty="0"/>
              <a:t>“But” == However</a:t>
            </a:r>
          </a:p>
          <a:p>
            <a:pPr marL="342900" indent="-342900">
              <a:buFont typeface="Arial" panose="020B0604020202020204" pitchFamily="34" charset="0"/>
              <a:buChar char="•"/>
            </a:pPr>
            <a:r>
              <a:rPr lang="en-US" sz="2000" i="1" dirty="0"/>
              <a:t>“Spirit of God” == Holy Spirit  (whose mission is?  John 16:13-14)</a:t>
            </a:r>
          </a:p>
          <a:p>
            <a:pPr marL="342900" indent="-342900">
              <a:buFont typeface="Arial" panose="020B0604020202020204" pitchFamily="34" charset="0"/>
              <a:buChar char="•"/>
            </a:pPr>
            <a:r>
              <a:rPr lang="en-US" sz="2000" i="1" dirty="0"/>
              <a:t>Every believer has the indwelling Holy Spirit…  but…</a:t>
            </a:r>
          </a:p>
          <a:p>
            <a:pPr marL="800100" lvl="1" indent="-342900">
              <a:buFont typeface="Arial" panose="020B0604020202020204" pitchFamily="34" charset="0"/>
              <a:buChar char="•"/>
            </a:pPr>
            <a:r>
              <a:rPr lang="en-US" sz="2000" i="1" dirty="0"/>
              <a:t>But, is He in control of your life?</a:t>
            </a:r>
          </a:p>
          <a:p>
            <a:pPr marL="800100" lvl="1" indent="-342900">
              <a:buFont typeface="Arial" panose="020B0604020202020204" pitchFamily="34" charset="0"/>
              <a:buChar char="•"/>
            </a:pPr>
            <a:r>
              <a:rPr lang="en-US" sz="2000" i="1" dirty="0"/>
              <a:t>Do you have the Spirit of Christ in you?</a:t>
            </a:r>
          </a:p>
          <a:p>
            <a:pPr marL="800100" lvl="1" indent="-342900">
              <a:buFont typeface="Arial" panose="020B0604020202020204" pitchFamily="34" charset="0"/>
              <a:buChar char="•"/>
            </a:pPr>
            <a:r>
              <a:rPr lang="en-US" sz="2000" i="1" dirty="0"/>
              <a:t>Are you in the power of His presence?</a:t>
            </a:r>
          </a:p>
          <a:p>
            <a:pPr marL="800100" lvl="1" indent="-342900">
              <a:buFont typeface="Arial" panose="020B0604020202020204" pitchFamily="34" charset="0"/>
              <a:buChar char="•"/>
            </a:pPr>
            <a:r>
              <a:rPr lang="en-US" sz="2000" i="1" dirty="0"/>
              <a:t>Do you take advantage of it?  </a:t>
            </a:r>
          </a:p>
          <a:p>
            <a:pPr marL="342900" indent="-342900">
              <a:buFont typeface="Arial" panose="020B0604020202020204" pitchFamily="34" charset="0"/>
              <a:buChar char="•"/>
            </a:pPr>
            <a:r>
              <a:rPr lang="en-US" sz="2000" i="1" dirty="0"/>
              <a:t>Romans 6:3-5</a:t>
            </a:r>
          </a:p>
        </p:txBody>
      </p:sp>
    </p:spTree>
    <p:extLst>
      <p:ext uri="{BB962C8B-B14F-4D97-AF65-F5344CB8AC3E}">
        <p14:creationId xmlns:p14="http://schemas.microsoft.com/office/powerpoint/2010/main" val="55671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8277" y="304800"/>
            <a:ext cx="8001000" cy="3170099"/>
          </a:xfrm>
          <a:prstGeom prst="rect">
            <a:avLst/>
          </a:prstGeom>
          <a:noFill/>
        </p:spPr>
        <p:txBody>
          <a:bodyPr wrap="square" rtlCol="0">
            <a:spAutoFit/>
          </a:bodyPr>
          <a:lstStyle/>
          <a:p>
            <a:r>
              <a:rPr lang="en-US" sz="2000" i="1" dirty="0"/>
              <a:t>“Therefore, brethren, </a:t>
            </a:r>
            <a:r>
              <a:rPr lang="en-US" sz="2000" b="1" i="1" u="sng" dirty="0"/>
              <a:t>we are debtors </a:t>
            </a:r>
            <a:r>
              <a:rPr lang="en-US" sz="2000" i="1" dirty="0"/>
              <a:t>– not to the flesh, to live according to the flesh.  For </a:t>
            </a:r>
            <a:r>
              <a:rPr lang="en-US" sz="2000" b="1" i="1" dirty="0"/>
              <a:t>if you live according to the flesh you will </a:t>
            </a:r>
            <a:r>
              <a:rPr lang="en-US" sz="2000" b="1" i="1" u="sng" dirty="0"/>
              <a:t>die</a:t>
            </a:r>
            <a:r>
              <a:rPr lang="en-US" sz="2000" i="1" dirty="0"/>
              <a:t>; but </a:t>
            </a:r>
            <a:r>
              <a:rPr lang="en-US" sz="2000" b="1" i="1" dirty="0"/>
              <a:t>if by the Spirit </a:t>
            </a:r>
            <a:r>
              <a:rPr lang="en-US" sz="2000" i="1" dirty="0"/>
              <a:t>you put to death the deeds of the body, </a:t>
            </a:r>
            <a:r>
              <a:rPr lang="en-US" sz="2000" b="1" i="1" dirty="0"/>
              <a:t>you will </a:t>
            </a:r>
            <a:r>
              <a:rPr lang="en-US" sz="2000" b="1" i="1" u="sng" dirty="0"/>
              <a:t>live</a:t>
            </a:r>
            <a:r>
              <a:rPr lang="en-US" sz="2000" i="1" dirty="0"/>
              <a:t>.  For as many </a:t>
            </a:r>
            <a:r>
              <a:rPr lang="en-US" sz="2000" b="1" i="1" dirty="0"/>
              <a:t>as are </a:t>
            </a:r>
            <a:r>
              <a:rPr lang="en-US" sz="2000" b="1" i="1" u="sng" dirty="0"/>
              <a:t>led</a:t>
            </a:r>
            <a:r>
              <a:rPr lang="en-US" sz="2000" b="1" i="1" dirty="0"/>
              <a:t> by the Spirit of God</a:t>
            </a:r>
            <a:r>
              <a:rPr lang="en-US" sz="2000" i="1" dirty="0"/>
              <a:t>, these are sons of God.  For you did not receive the spirit of bondage again to fear, </a:t>
            </a:r>
            <a:r>
              <a:rPr lang="en-US" sz="2000" b="1" i="1" dirty="0"/>
              <a:t>but you </a:t>
            </a:r>
            <a:r>
              <a:rPr lang="en-US" sz="2000" b="1" i="1" u="sng" dirty="0"/>
              <a:t>received</a:t>
            </a:r>
            <a:r>
              <a:rPr lang="en-US" sz="2000" b="1" i="1" dirty="0"/>
              <a:t> the Spirit of adoption </a:t>
            </a:r>
            <a:r>
              <a:rPr lang="en-US" sz="2000" i="1" dirty="0"/>
              <a:t>by whom we cry out, “Abba, Father.”  The </a:t>
            </a:r>
            <a:r>
              <a:rPr lang="en-US" sz="2000" b="1" i="1" u="sng" dirty="0"/>
              <a:t>Spirit Himself bears witness </a:t>
            </a:r>
            <a:r>
              <a:rPr lang="en-US" sz="2000" i="1" dirty="0"/>
              <a:t>with our spirit that </a:t>
            </a:r>
            <a:r>
              <a:rPr lang="en-US" sz="2000" b="1" i="1" dirty="0"/>
              <a:t>we are children of God</a:t>
            </a:r>
            <a:r>
              <a:rPr lang="en-US" sz="2000" i="1" dirty="0"/>
              <a:t>, and if children, then heirs – </a:t>
            </a:r>
            <a:r>
              <a:rPr lang="en-US" sz="2000" b="1" i="1" dirty="0"/>
              <a:t>heirs of God</a:t>
            </a:r>
            <a:r>
              <a:rPr lang="en-US" sz="2000" i="1" dirty="0"/>
              <a:t> and joint heirs with Christ, if indeed we suffer with Him, that we may also be glorified together.”  Romans 8:12-17</a:t>
            </a:r>
          </a:p>
        </p:txBody>
      </p:sp>
      <p:sp>
        <p:nvSpPr>
          <p:cNvPr id="6" name="TextBox 5"/>
          <p:cNvSpPr txBox="1"/>
          <p:nvPr/>
        </p:nvSpPr>
        <p:spPr>
          <a:xfrm>
            <a:off x="478277" y="3564587"/>
            <a:ext cx="8001000" cy="400110"/>
          </a:xfrm>
          <a:prstGeom prst="rect">
            <a:avLst/>
          </a:prstGeom>
          <a:noFill/>
        </p:spPr>
        <p:txBody>
          <a:bodyPr wrap="square" rtlCol="0">
            <a:spAutoFit/>
          </a:bodyPr>
          <a:lstStyle/>
          <a:p>
            <a:r>
              <a:rPr lang="en-US" sz="2000" dirty="0"/>
              <a:t>What is meant by “we are debtors”…?   To whom/what?</a:t>
            </a:r>
          </a:p>
        </p:txBody>
      </p:sp>
      <p:sp>
        <p:nvSpPr>
          <p:cNvPr id="8" name="TextBox 7"/>
          <p:cNvSpPr txBox="1"/>
          <p:nvPr/>
        </p:nvSpPr>
        <p:spPr>
          <a:xfrm>
            <a:off x="479897" y="3894517"/>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We have a moral obligation to live after the Spirit.</a:t>
            </a:r>
          </a:p>
          <a:p>
            <a:pPr marL="342900" indent="-342900">
              <a:buFont typeface="Arial" panose="020B0604020202020204" pitchFamily="34" charset="0"/>
              <a:buChar char="•"/>
            </a:pPr>
            <a:r>
              <a:rPr lang="en-US" sz="2000" dirty="0"/>
              <a:t>We have NO obligation to live after the flesh.</a:t>
            </a:r>
          </a:p>
          <a:p>
            <a:pPr marL="342900" indent="-342900">
              <a:buFont typeface="Arial" panose="020B0604020202020204" pitchFamily="34" charset="0"/>
              <a:buChar char="•"/>
            </a:pPr>
            <a:r>
              <a:rPr lang="en-US" sz="2000" dirty="0"/>
              <a:t>We received the Holy Spirit as a token of son-ship – not bondage.</a:t>
            </a:r>
          </a:p>
        </p:txBody>
      </p:sp>
      <p:sp>
        <p:nvSpPr>
          <p:cNvPr id="9" name="TextBox 8"/>
          <p:cNvSpPr txBox="1"/>
          <p:nvPr/>
        </p:nvSpPr>
        <p:spPr>
          <a:xfrm>
            <a:off x="465305" y="4907081"/>
            <a:ext cx="8001000" cy="400110"/>
          </a:xfrm>
          <a:prstGeom prst="rect">
            <a:avLst/>
          </a:prstGeom>
          <a:noFill/>
        </p:spPr>
        <p:txBody>
          <a:bodyPr wrap="square" rtlCol="0">
            <a:spAutoFit/>
          </a:bodyPr>
          <a:lstStyle/>
          <a:p>
            <a:r>
              <a:rPr lang="en-US" sz="2000" dirty="0"/>
              <a:t>Are Christians capable of dying spiritually?</a:t>
            </a:r>
          </a:p>
        </p:txBody>
      </p:sp>
      <p:sp>
        <p:nvSpPr>
          <p:cNvPr id="10" name="TextBox 9"/>
          <p:cNvSpPr txBox="1"/>
          <p:nvPr/>
        </p:nvSpPr>
        <p:spPr>
          <a:xfrm>
            <a:off x="458821" y="5222179"/>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“die” here cannot mean physical death since we all thus die.</a:t>
            </a:r>
          </a:p>
          <a:p>
            <a:pPr marL="342900" indent="-342900">
              <a:buFont typeface="Arial" panose="020B0604020202020204" pitchFamily="34" charset="0"/>
              <a:buChar char="•"/>
            </a:pPr>
            <a:r>
              <a:rPr lang="en-US" sz="2000" dirty="0"/>
              <a:t>Refer to </a:t>
            </a:r>
            <a:r>
              <a:rPr lang="en-US" sz="2000" dirty="0" err="1"/>
              <a:t>Galations</a:t>
            </a:r>
            <a:r>
              <a:rPr lang="en-US" sz="2000" dirty="0"/>
              <a:t> 3:1-5; 6:7-8</a:t>
            </a:r>
          </a:p>
          <a:p>
            <a:pPr marL="342900" indent="-342900">
              <a:buFont typeface="Arial" panose="020B0604020202020204" pitchFamily="34" charset="0"/>
              <a:buChar char="•"/>
            </a:pPr>
            <a:r>
              <a:rPr lang="en-US" sz="2000" dirty="0"/>
              <a:t>Refer to Ezekiel 18:24  (Matthew 12:48-50)</a:t>
            </a:r>
          </a:p>
        </p:txBody>
      </p:sp>
      <p:sp>
        <p:nvSpPr>
          <p:cNvPr id="11" name="TextBox 10"/>
          <p:cNvSpPr txBox="1"/>
          <p:nvPr/>
        </p:nvSpPr>
        <p:spPr>
          <a:xfrm>
            <a:off x="455578" y="6269145"/>
            <a:ext cx="8001000" cy="400110"/>
          </a:xfrm>
          <a:prstGeom prst="rect">
            <a:avLst/>
          </a:prstGeom>
          <a:noFill/>
        </p:spPr>
        <p:txBody>
          <a:bodyPr wrap="square" rtlCol="0">
            <a:spAutoFit/>
          </a:bodyPr>
          <a:lstStyle/>
          <a:p>
            <a:r>
              <a:rPr lang="en-US" sz="2000" dirty="0"/>
              <a:t>Within this context, what assurances does the Christian have?</a:t>
            </a:r>
          </a:p>
        </p:txBody>
      </p:sp>
    </p:spTree>
    <p:extLst>
      <p:ext uri="{BB962C8B-B14F-4D97-AF65-F5344CB8AC3E}">
        <p14:creationId xmlns:p14="http://schemas.microsoft.com/office/powerpoint/2010/main" val="419475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8277" y="304800"/>
            <a:ext cx="8001000" cy="4708981"/>
          </a:xfrm>
          <a:prstGeom prst="rect">
            <a:avLst/>
          </a:prstGeom>
          <a:noFill/>
        </p:spPr>
        <p:txBody>
          <a:bodyPr wrap="square" rtlCol="0">
            <a:spAutoFit/>
          </a:bodyPr>
          <a:lstStyle/>
          <a:p>
            <a:r>
              <a:rPr lang="en-US" sz="2000" i="1" dirty="0"/>
              <a:t>“For I consider that the </a:t>
            </a:r>
            <a:r>
              <a:rPr lang="en-US" sz="2000" b="1" i="1" u="sng" dirty="0"/>
              <a:t>sufferings</a:t>
            </a:r>
            <a:r>
              <a:rPr lang="en-US" sz="2000" b="1" i="1" dirty="0"/>
              <a:t> of this present time </a:t>
            </a:r>
            <a:r>
              <a:rPr lang="en-US" sz="2000" i="1" dirty="0"/>
              <a:t>are not worthy to be compared with the </a:t>
            </a:r>
            <a:r>
              <a:rPr lang="en-US" sz="2000" b="1" i="1" u="sng" dirty="0"/>
              <a:t>glory</a:t>
            </a:r>
            <a:r>
              <a:rPr lang="en-US" sz="2000" i="1" dirty="0"/>
              <a:t> </a:t>
            </a:r>
            <a:r>
              <a:rPr lang="en-US" sz="2000" b="1" i="1" dirty="0"/>
              <a:t>which shall be revealed in us</a:t>
            </a:r>
            <a:r>
              <a:rPr lang="en-US" sz="2000" i="1" dirty="0"/>
              <a:t>.  For the earnest expectation of </a:t>
            </a:r>
            <a:r>
              <a:rPr lang="en-US" sz="2000" b="1" i="1" u="sng" dirty="0"/>
              <a:t>the creation eagerly waits </a:t>
            </a:r>
            <a:r>
              <a:rPr lang="en-US" sz="2000" i="1" dirty="0"/>
              <a:t>for the </a:t>
            </a:r>
            <a:r>
              <a:rPr lang="en-US" sz="2000" b="1" i="1" u="sng" dirty="0"/>
              <a:t>revealing of the sons of God</a:t>
            </a:r>
            <a:r>
              <a:rPr lang="en-US" sz="2000" i="1" dirty="0"/>
              <a:t>.  For the creation was subjected to futility, not willingly, but because of Him who subjected it in hope; because the </a:t>
            </a:r>
            <a:r>
              <a:rPr lang="en-US" sz="2000" b="1" i="1" dirty="0"/>
              <a:t>creation itself also will be delivered from the bondage of corruption </a:t>
            </a:r>
            <a:r>
              <a:rPr lang="en-US" sz="2000" i="1" dirty="0"/>
              <a:t>into the glorious liberty of the children of God.  For we know that </a:t>
            </a:r>
            <a:r>
              <a:rPr lang="en-US" sz="2000" b="1" i="1" u="sng" dirty="0"/>
              <a:t>the whole creation groans </a:t>
            </a:r>
            <a:r>
              <a:rPr lang="en-US" sz="2000" i="1" dirty="0"/>
              <a:t>and labors with birth pangs together until now.  </a:t>
            </a:r>
            <a:r>
              <a:rPr lang="en-US" sz="2000" b="1" i="1" dirty="0"/>
              <a:t>Not only that, but we also who have the first-fruits of the Spirit, even </a:t>
            </a:r>
            <a:r>
              <a:rPr lang="en-US" sz="2000" b="1" i="1" u="sng" dirty="0"/>
              <a:t>we ourselves groan </a:t>
            </a:r>
            <a:r>
              <a:rPr lang="en-US" sz="2000" b="1" i="1" dirty="0"/>
              <a:t>within ourselves, eagerly waiting for the </a:t>
            </a:r>
            <a:r>
              <a:rPr lang="en-US" sz="2000" b="1" i="1" u="sng" dirty="0"/>
              <a:t>adoption</a:t>
            </a:r>
            <a:r>
              <a:rPr lang="en-US" sz="2000" b="1" i="1" dirty="0"/>
              <a:t>, the </a:t>
            </a:r>
            <a:r>
              <a:rPr lang="en-US" sz="2000" b="1" i="1" u="sng" dirty="0"/>
              <a:t>redemption of our body</a:t>
            </a:r>
            <a:r>
              <a:rPr lang="en-US" sz="2000" b="1" i="1" dirty="0"/>
              <a:t>.  </a:t>
            </a:r>
            <a:r>
              <a:rPr lang="en-US" sz="2000" i="1" dirty="0"/>
              <a:t>For we were saved in this hope, but hope that is seen is not hope; for why does one still hope for what he sees?  But if we hope for what we do not see, </a:t>
            </a:r>
            <a:r>
              <a:rPr lang="en-US" sz="2000" b="1" i="1" u="sng" dirty="0"/>
              <a:t>we eagerly wait for it </a:t>
            </a:r>
            <a:r>
              <a:rPr lang="en-US" sz="2000" i="1" dirty="0"/>
              <a:t>with </a:t>
            </a:r>
            <a:r>
              <a:rPr lang="en-US" sz="2000" b="1" i="1" u="sng" dirty="0"/>
              <a:t>perseverance</a:t>
            </a:r>
            <a:r>
              <a:rPr lang="en-US" sz="2000" i="1" dirty="0"/>
              <a:t>.”    Romans 8:18-25</a:t>
            </a:r>
          </a:p>
        </p:txBody>
      </p:sp>
      <p:sp>
        <p:nvSpPr>
          <p:cNvPr id="6" name="TextBox 5"/>
          <p:cNvSpPr txBox="1"/>
          <p:nvPr/>
        </p:nvSpPr>
        <p:spPr>
          <a:xfrm>
            <a:off x="440984" y="5013781"/>
            <a:ext cx="8001000" cy="400110"/>
          </a:xfrm>
          <a:prstGeom prst="rect">
            <a:avLst/>
          </a:prstGeom>
          <a:noFill/>
        </p:spPr>
        <p:txBody>
          <a:bodyPr wrap="square" rtlCol="0">
            <a:spAutoFit/>
          </a:bodyPr>
          <a:lstStyle/>
          <a:p>
            <a:r>
              <a:rPr lang="en-US" sz="2000" dirty="0"/>
              <a:t>What is the glory of 8:18…?</a:t>
            </a:r>
          </a:p>
        </p:txBody>
      </p:sp>
      <p:sp>
        <p:nvSpPr>
          <p:cNvPr id="8" name="TextBox 7"/>
          <p:cNvSpPr txBox="1"/>
          <p:nvPr/>
        </p:nvSpPr>
        <p:spPr>
          <a:xfrm>
            <a:off x="439365" y="5400921"/>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1 John 3:1-3   Phil. 3:21   </a:t>
            </a:r>
          </a:p>
        </p:txBody>
      </p:sp>
      <p:sp>
        <p:nvSpPr>
          <p:cNvPr id="9" name="TextBox 8"/>
          <p:cNvSpPr txBox="1"/>
          <p:nvPr/>
        </p:nvSpPr>
        <p:spPr>
          <a:xfrm>
            <a:off x="439365" y="5810318"/>
            <a:ext cx="8001000" cy="400110"/>
          </a:xfrm>
          <a:prstGeom prst="rect">
            <a:avLst/>
          </a:prstGeom>
          <a:noFill/>
        </p:spPr>
        <p:txBody>
          <a:bodyPr wrap="square" rtlCol="0">
            <a:spAutoFit/>
          </a:bodyPr>
          <a:lstStyle/>
          <a:p>
            <a:r>
              <a:rPr lang="en-US" sz="2000" dirty="0"/>
              <a:t>Is the “creation” material?   Why personified here?   Waiting for what? </a:t>
            </a:r>
          </a:p>
        </p:txBody>
      </p:sp>
      <p:sp>
        <p:nvSpPr>
          <p:cNvPr id="11" name="TextBox 10"/>
          <p:cNvSpPr txBox="1"/>
          <p:nvPr/>
        </p:nvSpPr>
        <p:spPr>
          <a:xfrm>
            <a:off x="439365" y="6261870"/>
            <a:ext cx="8001000" cy="400110"/>
          </a:xfrm>
          <a:prstGeom prst="rect">
            <a:avLst/>
          </a:prstGeom>
          <a:noFill/>
        </p:spPr>
        <p:txBody>
          <a:bodyPr wrap="square" rtlCol="0">
            <a:spAutoFit/>
          </a:bodyPr>
          <a:lstStyle/>
          <a:p>
            <a:r>
              <a:rPr lang="en-US" sz="2000" dirty="0"/>
              <a:t>What do we, along with the creation, eagerly await?   </a:t>
            </a:r>
            <a:r>
              <a:rPr lang="en-US" sz="2000" dirty="0" err="1"/>
              <a:t>Galations</a:t>
            </a:r>
            <a:r>
              <a:rPr lang="en-US" sz="2000" dirty="0"/>
              <a:t> 4:6</a:t>
            </a:r>
          </a:p>
        </p:txBody>
      </p:sp>
    </p:spTree>
    <p:extLst>
      <p:ext uri="{BB962C8B-B14F-4D97-AF65-F5344CB8AC3E}">
        <p14:creationId xmlns:p14="http://schemas.microsoft.com/office/powerpoint/2010/main" val="28742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0716" y="176800"/>
            <a:ext cx="8001000" cy="4093428"/>
          </a:xfrm>
          <a:prstGeom prst="rect">
            <a:avLst/>
          </a:prstGeom>
          <a:noFill/>
        </p:spPr>
        <p:txBody>
          <a:bodyPr wrap="square" rtlCol="0">
            <a:spAutoFit/>
          </a:bodyPr>
          <a:lstStyle/>
          <a:p>
            <a:r>
              <a:rPr lang="en-US" sz="2000" i="1" dirty="0"/>
              <a:t>“Likewise the </a:t>
            </a:r>
            <a:r>
              <a:rPr lang="en-US" sz="2000" b="1" i="1" u="sng" dirty="0"/>
              <a:t>Spirit also helps </a:t>
            </a:r>
            <a:r>
              <a:rPr lang="en-US" sz="2000" i="1" dirty="0"/>
              <a:t>in our weaknesses.   For we do not know what we should pray for as we ought, but the </a:t>
            </a:r>
            <a:r>
              <a:rPr lang="en-US" sz="2000" b="1" i="1" u="sng" dirty="0"/>
              <a:t>Spirit Himself makes intercession for us</a:t>
            </a:r>
            <a:r>
              <a:rPr lang="en-US" sz="2000" i="1" dirty="0"/>
              <a:t> with groanings which cannot be uttered.   Now He who searches the hearts knows what the mind of the Spirit is, because </a:t>
            </a:r>
            <a:r>
              <a:rPr lang="en-US" sz="2000" b="1" i="1" u="sng" dirty="0"/>
              <a:t>He makes intercession </a:t>
            </a:r>
            <a:r>
              <a:rPr lang="en-US" sz="2000" i="1" dirty="0"/>
              <a:t>for the saints </a:t>
            </a:r>
            <a:r>
              <a:rPr lang="en-US" sz="2000" b="1" i="1" u="sng" dirty="0"/>
              <a:t>according to the will of God</a:t>
            </a:r>
            <a:r>
              <a:rPr lang="en-US" sz="2000" i="1" dirty="0"/>
              <a:t>.”    </a:t>
            </a:r>
          </a:p>
          <a:p>
            <a:r>
              <a:rPr lang="en-US" sz="2000" i="1" dirty="0"/>
              <a:t>“And we know that all things work together for good to </a:t>
            </a:r>
            <a:r>
              <a:rPr lang="en-US" sz="2000" b="1" i="1" u="sng" dirty="0"/>
              <a:t>those who love God</a:t>
            </a:r>
            <a:r>
              <a:rPr lang="en-US" sz="2000" i="1" dirty="0"/>
              <a:t>, to </a:t>
            </a:r>
            <a:r>
              <a:rPr lang="en-US" sz="2000" b="1" i="1" u="sng" dirty="0"/>
              <a:t>those who </a:t>
            </a:r>
            <a:r>
              <a:rPr lang="en-US" sz="2000" i="1" dirty="0"/>
              <a:t>are called </a:t>
            </a:r>
            <a:r>
              <a:rPr lang="en-US" sz="2000" b="1" i="1" u="sng" dirty="0"/>
              <a:t>according to His purpose</a:t>
            </a:r>
            <a:r>
              <a:rPr lang="en-US" sz="2000" i="1" dirty="0"/>
              <a:t>.  For </a:t>
            </a:r>
            <a:r>
              <a:rPr lang="en-US" sz="2000" b="1" i="1" u="sng" dirty="0"/>
              <a:t>whom</a:t>
            </a:r>
            <a:r>
              <a:rPr lang="en-US" sz="2000" i="1" dirty="0"/>
              <a:t> </a:t>
            </a:r>
            <a:r>
              <a:rPr lang="en-US" sz="2000" b="1" i="1" u="sng" dirty="0"/>
              <a:t>He foreknew</a:t>
            </a:r>
            <a:r>
              <a:rPr lang="en-US" sz="2000" i="1" dirty="0"/>
              <a:t>, He also </a:t>
            </a:r>
            <a:r>
              <a:rPr lang="en-US" sz="2000" b="1" u="sng" dirty="0"/>
              <a:t>predestined</a:t>
            </a:r>
            <a:r>
              <a:rPr lang="en-US" sz="2000" i="1" dirty="0"/>
              <a:t> to be </a:t>
            </a:r>
            <a:r>
              <a:rPr lang="en-US" sz="2000" b="1" i="1" u="sng" dirty="0"/>
              <a:t>conformed to the image of His Son</a:t>
            </a:r>
            <a:r>
              <a:rPr lang="en-US" sz="2000" i="1" dirty="0"/>
              <a:t>, that He might be the firstborn among many brethren.  Moreover who He predestined, these </a:t>
            </a:r>
            <a:r>
              <a:rPr lang="en-US" sz="2000" b="1" i="1" u="sng" dirty="0"/>
              <a:t>He also called</a:t>
            </a:r>
            <a:r>
              <a:rPr lang="en-US" sz="2000" i="1" dirty="0"/>
              <a:t>; whom He called, these </a:t>
            </a:r>
            <a:r>
              <a:rPr lang="en-US" sz="2000" b="1" i="1" u="sng" dirty="0"/>
              <a:t>He also justified</a:t>
            </a:r>
            <a:r>
              <a:rPr lang="en-US" sz="2000" i="1" dirty="0"/>
              <a:t>; and whom He justified, these </a:t>
            </a:r>
            <a:r>
              <a:rPr lang="en-US" sz="2000" b="1" i="1" u="sng" dirty="0"/>
              <a:t>He also glorified</a:t>
            </a:r>
            <a:r>
              <a:rPr lang="en-US" sz="2000" i="1" dirty="0"/>
              <a:t>.”  Romans 8:26-30</a:t>
            </a:r>
          </a:p>
        </p:txBody>
      </p:sp>
      <p:sp>
        <p:nvSpPr>
          <p:cNvPr id="6" name="TextBox 5"/>
          <p:cNvSpPr txBox="1"/>
          <p:nvPr/>
        </p:nvSpPr>
        <p:spPr>
          <a:xfrm>
            <a:off x="416667" y="4284801"/>
            <a:ext cx="8001000" cy="400110"/>
          </a:xfrm>
          <a:prstGeom prst="rect">
            <a:avLst/>
          </a:prstGeom>
          <a:noFill/>
        </p:spPr>
        <p:txBody>
          <a:bodyPr wrap="square" rtlCol="0">
            <a:spAutoFit/>
          </a:bodyPr>
          <a:lstStyle/>
          <a:p>
            <a:r>
              <a:rPr lang="en-US" sz="2000" dirty="0"/>
              <a:t>Is God ever surprised by events?   If not, why not?</a:t>
            </a:r>
          </a:p>
        </p:txBody>
      </p:sp>
      <p:sp>
        <p:nvSpPr>
          <p:cNvPr id="8" name="TextBox 7"/>
          <p:cNvSpPr txBox="1"/>
          <p:nvPr/>
        </p:nvSpPr>
        <p:spPr>
          <a:xfrm>
            <a:off x="423153" y="4615090"/>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Phil. 1:6   </a:t>
            </a:r>
          </a:p>
        </p:txBody>
      </p:sp>
      <p:sp>
        <p:nvSpPr>
          <p:cNvPr id="9" name="TextBox 8"/>
          <p:cNvSpPr txBox="1"/>
          <p:nvPr/>
        </p:nvSpPr>
        <p:spPr>
          <a:xfrm>
            <a:off x="426392" y="5010823"/>
            <a:ext cx="8001000" cy="707886"/>
          </a:xfrm>
          <a:prstGeom prst="rect">
            <a:avLst/>
          </a:prstGeom>
          <a:noFill/>
        </p:spPr>
        <p:txBody>
          <a:bodyPr wrap="square" rtlCol="0">
            <a:spAutoFit/>
          </a:bodyPr>
          <a:lstStyle/>
          <a:p>
            <a:r>
              <a:rPr lang="en-US" sz="2000" dirty="0"/>
              <a:t>Does this passage teach predestination of individual souls to eternal glory?   Colossians 1:12-29  “called”; how? 2 Thessalonians 2:13-14</a:t>
            </a:r>
          </a:p>
        </p:txBody>
      </p:sp>
      <p:sp>
        <p:nvSpPr>
          <p:cNvPr id="11" name="TextBox 10"/>
          <p:cNvSpPr txBox="1"/>
          <p:nvPr/>
        </p:nvSpPr>
        <p:spPr>
          <a:xfrm>
            <a:off x="450716" y="5714331"/>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Refers to what God purposed before creation.  E.g. That those who love Him (i.e. a class of people) would be ordained to spiritual union and fellowship with Him.  They would look like His Son.</a:t>
            </a:r>
          </a:p>
        </p:txBody>
      </p:sp>
    </p:spTree>
    <p:extLst>
      <p:ext uri="{BB962C8B-B14F-4D97-AF65-F5344CB8AC3E}">
        <p14:creationId xmlns:p14="http://schemas.microsoft.com/office/powerpoint/2010/main" val="22011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0716" y="176800"/>
            <a:ext cx="8001000" cy="5016758"/>
          </a:xfrm>
          <a:prstGeom prst="rect">
            <a:avLst/>
          </a:prstGeom>
          <a:noFill/>
        </p:spPr>
        <p:txBody>
          <a:bodyPr wrap="square" rtlCol="0">
            <a:spAutoFit/>
          </a:bodyPr>
          <a:lstStyle/>
          <a:p>
            <a:r>
              <a:rPr lang="en-US" sz="2000" i="1" dirty="0"/>
              <a:t>“What then shall we say to these things?  </a:t>
            </a:r>
            <a:r>
              <a:rPr lang="en-US" sz="2000" b="1" i="1" u="sng" dirty="0"/>
              <a:t>If God is for us, who can be against us? </a:t>
            </a:r>
            <a:r>
              <a:rPr lang="en-US" sz="2000" i="1" dirty="0"/>
              <a:t> He who did not spare His own Son, but delivered Him up for us all, how shall He not with Him also freely give us all things?  </a:t>
            </a:r>
            <a:r>
              <a:rPr lang="en-US" sz="2000" b="1" i="1" dirty="0"/>
              <a:t>Who shall bring a charge against God’s elect?  </a:t>
            </a:r>
            <a:r>
              <a:rPr lang="en-US" sz="2000" i="1" dirty="0"/>
              <a:t>It is God who justifies.  </a:t>
            </a:r>
            <a:r>
              <a:rPr lang="en-US" sz="2000" b="1" i="1" dirty="0"/>
              <a:t>Who is he who condemns?  </a:t>
            </a:r>
            <a:r>
              <a:rPr lang="en-US" sz="2000" i="1" dirty="0"/>
              <a:t>It is Christ who died, and furthermore is also risen, who is even at the right hand of God, who also makes intercession for us.  </a:t>
            </a:r>
            <a:r>
              <a:rPr lang="en-US" sz="2000" b="1" i="1" dirty="0"/>
              <a:t>Who shall separate us from the </a:t>
            </a:r>
            <a:r>
              <a:rPr lang="en-US" sz="2000" b="1" i="1" u="sng" dirty="0"/>
              <a:t>love of Christ</a:t>
            </a:r>
            <a:r>
              <a:rPr lang="en-US" sz="2000" b="1" i="1" dirty="0"/>
              <a:t>? </a:t>
            </a:r>
            <a:r>
              <a:rPr lang="en-US" sz="2000" i="1" dirty="0"/>
              <a:t> Shall tribulation, or distress, or persecution, or famine, or nakedness, or peril, or sword?  As it is written: ‘For Your sake we are killed all day long; We are accounted as sheep for the slaughter.’  Yet in all these things we are more than conquerors through Him who loved us.  For I am persuaded that neither death nor life, nor angels nor principalities, nor powers, nor things present nor things to come, nor height nor depth, nor any other created thing, shall be able to separate us from </a:t>
            </a:r>
            <a:r>
              <a:rPr lang="en-US" sz="2000" b="1" i="1" u="sng" dirty="0"/>
              <a:t>the love of God which is in Christ Jesus our Lord</a:t>
            </a:r>
            <a:r>
              <a:rPr lang="en-US" sz="2000" i="1" dirty="0"/>
              <a:t>.”  Romans 8:31-39</a:t>
            </a:r>
          </a:p>
        </p:txBody>
      </p:sp>
      <p:sp>
        <p:nvSpPr>
          <p:cNvPr id="9" name="TextBox 8"/>
          <p:cNvSpPr txBox="1"/>
          <p:nvPr/>
        </p:nvSpPr>
        <p:spPr>
          <a:xfrm>
            <a:off x="450716" y="5193558"/>
            <a:ext cx="8001000" cy="707886"/>
          </a:xfrm>
          <a:prstGeom prst="rect">
            <a:avLst/>
          </a:prstGeom>
          <a:noFill/>
        </p:spPr>
        <p:txBody>
          <a:bodyPr wrap="square" rtlCol="0">
            <a:spAutoFit/>
          </a:bodyPr>
          <a:lstStyle/>
          <a:p>
            <a:r>
              <a:rPr lang="en-US" sz="2000" dirty="0"/>
              <a:t>What is the sense of “the love of God” herein?  Contrast with John 3:16.</a:t>
            </a:r>
          </a:p>
        </p:txBody>
      </p:sp>
      <p:sp>
        <p:nvSpPr>
          <p:cNvPr id="11" name="TextBox 10"/>
          <p:cNvSpPr txBox="1"/>
          <p:nvPr/>
        </p:nvSpPr>
        <p:spPr>
          <a:xfrm>
            <a:off x="450716" y="5901444"/>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t>Galations</a:t>
            </a:r>
            <a:r>
              <a:rPr lang="en-US" sz="2000" dirty="0"/>
              <a:t> 3:26-27;  Jude 21</a:t>
            </a:r>
          </a:p>
        </p:txBody>
      </p:sp>
    </p:spTree>
    <p:extLst>
      <p:ext uri="{BB962C8B-B14F-4D97-AF65-F5344CB8AC3E}">
        <p14:creationId xmlns:p14="http://schemas.microsoft.com/office/powerpoint/2010/main" val="114079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17304</TotalTime>
  <Words>3900</Words>
  <Application>Microsoft Macintosh PowerPoint</Application>
  <PresentationFormat>On-screen Show (4:3)</PresentationFormat>
  <Paragraphs>169</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ＭＳ Ｐゴシック</vt:lpstr>
      <vt:lpstr>Arial</vt:lpstr>
      <vt:lpstr>Arial Narrow</vt:lpstr>
      <vt:lpstr>Calibri</vt:lpstr>
      <vt:lpstr>PPT_Template_2010SummerSchool</vt:lpstr>
      <vt:lpstr>1_UPCRC_Powerpoint_Template_with I-Mark</vt:lpstr>
      <vt:lpstr>Romans</vt:lpstr>
      <vt:lpstr>Paul’s Argument so Far… From Sin and Death to Righteousness and Life</vt:lpstr>
      <vt:lpstr>The Law in Context The Spiritual Life Revealed by Contrast to the Law</vt:lpstr>
      <vt:lpstr>The Law of the Spirit A fulfillment of the will and purpose of God</vt:lpstr>
      <vt:lpstr>The Righteous Requirements of the Law How fulfilled?</vt:lpstr>
      <vt:lpstr>The Indwelling Spirit A phenomenal gift</vt:lpstr>
      <vt:lpstr>The Dual Nature of the Believer Dead in the body; Alive in the Spirit</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752</cp:revision>
  <cp:lastPrinted>2012-04-01T14:05:10Z</cp:lastPrinted>
  <dcterms:created xsi:type="dcterms:W3CDTF">2010-06-16T02:58:04Z</dcterms:created>
  <dcterms:modified xsi:type="dcterms:W3CDTF">2026-06-05T01:31:19Z</dcterms:modified>
</cp:coreProperties>
</file>