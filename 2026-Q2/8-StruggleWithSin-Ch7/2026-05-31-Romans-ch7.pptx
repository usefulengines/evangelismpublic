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256" r:id="rId3"/>
    <p:sldId id="387" r:id="rId4"/>
    <p:sldId id="377" r:id="rId5"/>
    <p:sldId id="379" r:id="rId6"/>
    <p:sldId id="388" r:id="rId7"/>
    <p:sldId id="383" r:id="rId8"/>
    <p:sldId id="389" r:id="rId9"/>
    <p:sldId id="380" r:id="rId10"/>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autoAdjust="0"/>
    <p:restoredTop sz="74970" autoAdjust="0"/>
  </p:normalViewPr>
  <p:slideViewPr>
    <p:cSldViewPr>
      <p:cViewPr varScale="1">
        <p:scale>
          <a:sx n="106" d="100"/>
          <a:sy n="106" d="100"/>
        </p:scale>
        <p:origin x="1376"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5/30/26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016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23009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400" kern="1200" dirty="0">
                <a:solidFill>
                  <a:schemeClr val="tx1"/>
                </a:solidFill>
                <a:effectLst/>
                <a:latin typeface="+mn-lt"/>
                <a:ea typeface="ＭＳ Ｐゴシック" pitchFamily="-106" charset="-128"/>
                <a:cs typeface="ＭＳ Ｐゴシック" pitchFamily="-106" charset="-128"/>
              </a:rPr>
              <a:t>Psalm 119 and Matthew 5–7 affirm the goodness and righteousness reflected in God’s commands. </a:t>
            </a:r>
            <a:endParaRPr lang="en-US" sz="1400" b="1"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 In the illustration of the husband and wife, what is Paul’s single point? (Romans 7:1-4)</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Paul’s point is simple:</a:t>
            </a:r>
          </a:p>
          <a:p>
            <a:pPr lvl="1"/>
            <a:r>
              <a:rPr lang="en-US" sz="1400" b="1" kern="1200" dirty="0">
                <a:solidFill>
                  <a:schemeClr val="tx1"/>
                </a:solidFill>
                <a:effectLst/>
                <a:latin typeface="+mn-lt"/>
                <a:ea typeface="ＭＳ Ｐゴシック" pitchFamily="-106" charset="-128"/>
                <a:cs typeface="ＭＳ Ｐゴシック" pitchFamily="-106" charset="-128"/>
              </a:rPr>
              <a:t>Death ends the legal authority of a covenant relationship.</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A wife is bound to her husband while he lives. If he dies, she is released from that legal bond and is free to belong to another.</a:t>
            </a:r>
          </a:p>
          <a:p>
            <a:pPr lvl="1"/>
            <a:r>
              <a:rPr lang="en-US" sz="1400" kern="1200" dirty="0">
                <a:solidFill>
                  <a:schemeClr val="tx1"/>
                </a:solidFill>
                <a:effectLst/>
                <a:latin typeface="+mn-lt"/>
                <a:ea typeface="ＭＳ Ｐゴシック" pitchFamily="-106" charset="-128"/>
                <a:cs typeface="ＭＳ Ｐゴシック" pitchFamily="-106" charset="-128"/>
              </a:rPr>
              <a:t>Paul applies this principle spiritually:</a:t>
            </a:r>
          </a:p>
          <a:p>
            <a:pPr lvl="1"/>
            <a:r>
              <a:rPr lang="en-US" sz="1400" kern="1200" dirty="0">
                <a:solidFill>
                  <a:schemeClr val="tx1"/>
                </a:solidFill>
                <a:effectLst/>
                <a:latin typeface="+mn-lt"/>
                <a:ea typeface="ＭＳ Ｐゴシック" pitchFamily="-106" charset="-128"/>
                <a:cs typeface="ＭＳ Ｐゴシック" pitchFamily="-106" charset="-128"/>
              </a:rPr>
              <a:t>“Therefore, my brothers and sisters, you also died to the law through the body of Christ, so that you could belong to another, namely to Him who was raised from the dead…” (Romans 7:4, NET)</a:t>
            </a:r>
          </a:p>
          <a:p>
            <a:r>
              <a:rPr lang="en-US" sz="1400" kern="1200" dirty="0">
                <a:solidFill>
                  <a:schemeClr val="tx1"/>
                </a:solidFill>
                <a:effectLst/>
                <a:latin typeface="+mn-lt"/>
                <a:ea typeface="ＭＳ Ｐゴシック" pitchFamily="-106" charset="-128"/>
                <a:cs typeface="ＭＳ Ｐゴシック" pitchFamily="-106" charset="-128"/>
              </a:rPr>
              <a:t>The focus is not marriage itself. The focus is that </a:t>
            </a:r>
            <a:r>
              <a:rPr lang="en-US" sz="1400" b="1" kern="1200" dirty="0">
                <a:solidFill>
                  <a:schemeClr val="tx1"/>
                </a:solidFill>
                <a:effectLst/>
                <a:latin typeface="+mn-lt"/>
                <a:ea typeface="ＭＳ Ｐゴシック" pitchFamily="-106" charset="-128"/>
                <a:cs typeface="ＭＳ Ｐゴシック" pitchFamily="-106" charset="-128"/>
              </a:rPr>
              <a:t>death releases a person from the jurisdiction of a law covenant.</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2. How does this illustration reflect upon Romans 6:2-6?</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Romans 6 teaches that believers have been united with Christ in His death.</a:t>
            </a:r>
          </a:p>
          <a:p>
            <a:pPr lvl="1" rtl="0" fontAlgn="ctr"/>
            <a:r>
              <a:rPr lang="en-US" sz="1400" kern="1200" dirty="0">
                <a:solidFill>
                  <a:schemeClr val="tx1"/>
                </a:solidFill>
                <a:effectLst/>
                <a:latin typeface="+mn-lt"/>
                <a:ea typeface="ＭＳ Ｐゴシック" pitchFamily="-106" charset="-128"/>
                <a:cs typeface="ＭＳ Ｐゴシック" pitchFamily="-106" charset="-128"/>
              </a:rPr>
              <a:t>We died with Christ.</a:t>
            </a:r>
          </a:p>
          <a:p>
            <a:pPr lvl="1" rtl="0" fontAlgn="ctr"/>
            <a:r>
              <a:rPr lang="en-US" sz="1400" kern="1200" dirty="0">
                <a:solidFill>
                  <a:schemeClr val="tx1"/>
                </a:solidFill>
                <a:effectLst/>
                <a:latin typeface="+mn-lt"/>
                <a:ea typeface="ＭＳ Ｐゴシック" pitchFamily="-106" charset="-128"/>
                <a:cs typeface="ＭＳ Ｐゴシック" pitchFamily="-106" charset="-128"/>
              </a:rPr>
              <a:t>We were buried with Christ.</a:t>
            </a:r>
          </a:p>
          <a:p>
            <a:pPr lvl="1" rtl="0" fontAlgn="ctr"/>
            <a:r>
              <a:rPr lang="en-US" sz="1400" kern="1200" dirty="0">
                <a:solidFill>
                  <a:schemeClr val="tx1"/>
                </a:solidFill>
                <a:effectLst/>
                <a:latin typeface="+mn-lt"/>
                <a:ea typeface="ＭＳ Ｐゴシック" pitchFamily="-106" charset="-128"/>
                <a:cs typeface="ＭＳ Ｐゴシック" pitchFamily="-106" charset="-128"/>
              </a:rPr>
              <a:t>We were raised with Christ.</a:t>
            </a:r>
          </a:p>
          <a:p>
            <a:r>
              <a:rPr lang="en-US" sz="1400" kern="1200" dirty="0">
                <a:solidFill>
                  <a:schemeClr val="tx1"/>
                </a:solidFill>
                <a:effectLst/>
                <a:latin typeface="+mn-lt"/>
                <a:ea typeface="ＭＳ Ｐゴシック" pitchFamily="-106" charset="-128"/>
                <a:cs typeface="ＭＳ Ｐゴシック" pitchFamily="-106" charset="-128"/>
              </a:rPr>
              <a:t>Romans 7 builds on that truth.</a:t>
            </a:r>
          </a:p>
          <a:p>
            <a:r>
              <a:rPr lang="en-US" sz="1400" kern="1200" dirty="0">
                <a:solidFill>
                  <a:schemeClr val="tx1"/>
                </a:solidFill>
                <a:effectLst/>
                <a:latin typeface="+mn-lt"/>
                <a:ea typeface="ＭＳ Ｐゴシック" pitchFamily="-106" charset="-128"/>
                <a:cs typeface="ＭＳ Ｐゴシック" pitchFamily="-106" charset="-128"/>
              </a:rPr>
              <a:t>Because we died with Christ, our former relationship to law as a covenant of condemnation has ended.</a:t>
            </a:r>
          </a:p>
          <a:p>
            <a:r>
              <a:rPr lang="en-US" sz="1400" kern="1200" dirty="0">
                <a:solidFill>
                  <a:schemeClr val="tx1"/>
                </a:solidFill>
                <a:effectLst/>
                <a:latin typeface="+mn-lt"/>
                <a:ea typeface="ＭＳ Ｐゴシック" pitchFamily="-106" charset="-128"/>
                <a:cs typeface="ＭＳ Ｐゴシック" pitchFamily="-106" charset="-128"/>
              </a:rPr>
              <a:t>The death of Romans 6 becomes the basis for the release of Romans 7.</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3. What are the demands of law?</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Law demands:</a:t>
            </a:r>
          </a:p>
          <a:p>
            <a:pPr lvl="1" rtl="0" fontAlgn="ctr"/>
            <a:r>
              <a:rPr lang="en-US" sz="1400" kern="1200" dirty="0">
                <a:solidFill>
                  <a:schemeClr val="tx1"/>
                </a:solidFill>
                <a:effectLst/>
                <a:latin typeface="+mn-lt"/>
                <a:ea typeface="ＭＳ Ｐゴシック" pitchFamily="-106" charset="-128"/>
                <a:cs typeface="ＭＳ Ｐゴシック" pitchFamily="-106" charset="-128"/>
              </a:rPr>
              <a:t>Perfect obedience.</a:t>
            </a:r>
          </a:p>
          <a:p>
            <a:pPr lvl="1" rtl="0" fontAlgn="ctr"/>
            <a:r>
              <a:rPr lang="en-US" sz="1400" kern="1200" dirty="0">
                <a:solidFill>
                  <a:schemeClr val="tx1"/>
                </a:solidFill>
                <a:effectLst/>
                <a:latin typeface="+mn-lt"/>
                <a:ea typeface="ＭＳ Ｐゴシック" pitchFamily="-106" charset="-128"/>
                <a:cs typeface="ＭＳ Ｐゴシック" pitchFamily="-106" charset="-128"/>
              </a:rPr>
              <a:t>Continuous obedience.</a:t>
            </a:r>
          </a:p>
          <a:p>
            <a:pPr lvl="1" rtl="0" fontAlgn="ctr"/>
            <a:r>
              <a:rPr lang="en-US" sz="1400" kern="1200" dirty="0">
                <a:solidFill>
                  <a:schemeClr val="tx1"/>
                </a:solidFill>
                <a:effectLst/>
                <a:latin typeface="+mn-lt"/>
                <a:ea typeface="ＭＳ Ｐゴシック" pitchFamily="-106" charset="-128"/>
                <a:cs typeface="ＭＳ Ｐゴシック" pitchFamily="-106" charset="-128"/>
              </a:rPr>
              <a:t>Personal obedience.</a:t>
            </a:r>
          </a:p>
          <a:p>
            <a:r>
              <a:rPr lang="en-US" sz="1400" kern="1200" dirty="0">
                <a:solidFill>
                  <a:schemeClr val="tx1"/>
                </a:solidFill>
                <a:effectLst/>
                <a:latin typeface="+mn-lt"/>
                <a:ea typeface="ＭＳ Ｐゴシック" pitchFamily="-106" charset="-128"/>
                <a:cs typeface="ＭＳ Ｐゴシック" pitchFamily="-106" charset="-128"/>
              </a:rPr>
              <a:t>James writes:</a:t>
            </a:r>
          </a:p>
          <a:p>
            <a:r>
              <a:rPr lang="en-US" sz="1400" kern="1200" dirty="0">
                <a:solidFill>
                  <a:schemeClr val="tx1"/>
                </a:solidFill>
                <a:effectLst/>
                <a:latin typeface="+mn-lt"/>
                <a:ea typeface="ＭＳ Ｐゴシック" pitchFamily="-106" charset="-128"/>
                <a:cs typeface="ＭＳ Ｐゴシック" pitchFamily="-106" charset="-128"/>
              </a:rPr>
              <a:t>	“For the one who obeys the whole law but fails in one point has become guilty of all of it.” (James 2:10)</a:t>
            </a:r>
          </a:p>
          <a:p>
            <a:r>
              <a:rPr lang="en-US" sz="1400" kern="1200" dirty="0">
                <a:solidFill>
                  <a:schemeClr val="tx1"/>
                </a:solidFill>
                <a:effectLst/>
                <a:latin typeface="+mn-lt"/>
                <a:ea typeface="ＭＳ Ｐゴシック" pitchFamily="-106" charset="-128"/>
                <a:cs typeface="ＭＳ Ｐゴシック" pitchFamily="-106" charset="-128"/>
              </a:rPr>
              <a:t>Law does not offer grace.</a:t>
            </a:r>
          </a:p>
          <a:p>
            <a:r>
              <a:rPr lang="en-US" sz="1400" kern="1200" dirty="0">
                <a:solidFill>
                  <a:schemeClr val="tx1"/>
                </a:solidFill>
                <a:effectLst/>
                <a:latin typeface="+mn-lt"/>
                <a:ea typeface="ＭＳ Ｐゴシック" pitchFamily="-106" charset="-128"/>
                <a:cs typeface="ＭＳ Ｐゴシック" pitchFamily="-106" charset="-128"/>
              </a:rPr>
              <a:t>Law identifies sin, exposes sin, and condemns sin.</a:t>
            </a:r>
          </a:p>
          <a:p>
            <a:r>
              <a:rPr lang="en-US" sz="1400" kern="1200" dirty="0">
                <a:solidFill>
                  <a:schemeClr val="tx1"/>
                </a:solidFill>
                <a:effectLst/>
                <a:latin typeface="+mn-lt"/>
                <a:ea typeface="ＭＳ Ｐゴシック" pitchFamily="-106" charset="-128"/>
                <a:cs typeface="ＭＳ Ｐゴシック" pitchFamily="-106" charset="-128"/>
              </a:rPr>
              <a:t>Romans 3:20 says:</a:t>
            </a:r>
          </a:p>
          <a:p>
            <a:r>
              <a:rPr lang="en-US" sz="1400" kern="1200" dirty="0">
                <a:solidFill>
                  <a:schemeClr val="tx1"/>
                </a:solidFill>
                <a:effectLst/>
                <a:latin typeface="+mn-lt"/>
                <a:ea typeface="ＭＳ Ｐゴシック" pitchFamily="-106" charset="-128"/>
                <a:cs typeface="ＭＳ Ｐゴシック" pitchFamily="-106" charset="-128"/>
              </a:rPr>
              <a:t>	“For through the law comes the knowledge of sin.”</a:t>
            </a:r>
          </a:p>
          <a:p>
            <a:r>
              <a:rPr lang="en-US" sz="1400" kern="1200" dirty="0">
                <a:solidFill>
                  <a:schemeClr val="tx1"/>
                </a:solidFill>
                <a:effectLst/>
                <a:latin typeface="+mn-lt"/>
                <a:ea typeface="ＭＳ Ｐゴシック" pitchFamily="-106" charset="-128"/>
                <a:cs typeface="ＭＳ Ｐゴシック" pitchFamily="-106" charset="-128"/>
              </a:rPr>
              <a:t>The Law is a mirror, not a savior.</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4. Did moral law exist before the Mosaic Covenant?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Yes. Sin existed before Sinai.</a:t>
            </a:r>
          </a:p>
          <a:p>
            <a:r>
              <a:rPr lang="en-US" sz="1400" kern="1200" dirty="0">
                <a:solidFill>
                  <a:schemeClr val="tx1"/>
                </a:solidFill>
                <a:effectLst/>
                <a:latin typeface="+mn-lt"/>
                <a:ea typeface="ＭＳ Ｐゴシック" pitchFamily="-106" charset="-128"/>
                <a:cs typeface="ＭＳ Ｐゴシック" pitchFamily="-106" charset="-128"/>
              </a:rPr>
              <a:t>Examples include:</a:t>
            </a:r>
          </a:p>
          <a:p>
            <a:pPr lvl="1" rtl="0" fontAlgn="ctr"/>
            <a:r>
              <a:rPr lang="en-US" sz="1400" kern="1200" dirty="0">
                <a:solidFill>
                  <a:schemeClr val="tx1"/>
                </a:solidFill>
                <a:effectLst/>
                <a:latin typeface="+mn-lt"/>
                <a:ea typeface="ＭＳ Ｐゴシック" pitchFamily="-106" charset="-128"/>
                <a:cs typeface="ＭＳ Ｐゴシック" pitchFamily="-106" charset="-128"/>
              </a:rPr>
              <a:t>Cain’s murder (Genesis 4)</a:t>
            </a:r>
          </a:p>
          <a:p>
            <a:pPr lvl="1" rtl="0" fontAlgn="ctr"/>
            <a:r>
              <a:rPr lang="en-US" sz="1400" kern="1200" dirty="0">
                <a:solidFill>
                  <a:schemeClr val="tx1"/>
                </a:solidFill>
                <a:effectLst/>
                <a:latin typeface="+mn-lt"/>
                <a:ea typeface="ＭＳ Ｐゴシック" pitchFamily="-106" charset="-128"/>
                <a:cs typeface="ＭＳ Ｐゴシック" pitchFamily="-106" charset="-128"/>
              </a:rPr>
              <a:t>The violence before the Flood (Genesis 6)</a:t>
            </a:r>
          </a:p>
          <a:p>
            <a:pPr lvl="1" rtl="0" fontAlgn="ctr"/>
            <a:r>
              <a:rPr lang="en-US" sz="1400" kern="1200" dirty="0">
                <a:solidFill>
                  <a:schemeClr val="tx1"/>
                </a:solidFill>
                <a:effectLst/>
                <a:latin typeface="+mn-lt"/>
                <a:ea typeface="ＭＳ Ｐゴシック" pitchFamily="-106" charset="-128"/>
                <a:cs typeface="ＭＳ Ｐゴシック" pitchFamily="-106" charset="-128"/>
              </a:rPr>
              <a:t>Sodom’s wickedness (Genesis 19)</a:t>
            </a:r>
          </a:p>
          <a:p>
            <a:pPr lvl="1" rtl="0" fontAlgn="ctr"/>
            <a:r>
              <a:rPr lang="en-US" sz="1400" kern="1200" dirty="0">
                <a:solidFill>
                  <a:schemeClr val="tx1"/>
                </a:solidFill>
                <a:effectLst/>
                <a:latin typeface="+mn-lt"/>
                <a:ea typeface="ＭＳ Ｐゴシック" pitchFamily="-106" charset="-128"/>
                <a:cs typeface="ＭＳ Ｐゴシック" pitchFamily="-106" charset="-128"/>
              </a:rPr>
              <a:t>Joseph calling adultery “sin against God” (Genesis 39:9)</a:t>
            </a:r>
          </a:p>
          <a:p>
            <a:r>
              <a:rPr lang="en-US" sz="1400" kern="1200" dirty="0">
                <a:solidFill>
                  <a:schemeClr val="tx1"/>
                </a:solidFill>
                <a:effectLst/>
                <a:latin typeface="+mn-lt"/>
                <a:ea typeface="ＭＳ Ｐゴシック" pitchFamily="-106" charset="-128"/>
                <a:cs typeface="ＭＳ Ｐゴシック" pitchFamily="-106" charset="-128"/>
              </a:rPr>
              <a:t>Paul addresses this in Romans 5:13-14.</a:t>
            </a:r>
          </a:p>
          <a:p>
            <a:r>
              <a:rPr lang="en-US" sz="1400" kern="1200" dirty="0">
                <a:solidFill>
                  <a:schemeClr val="tx1"/>
                </a:solidFill>
                <a:effectLst/>
                <a:latin typeface="+mn-lt"/>
                <a:ea typeface="ＭＳ Ｐゴシック" pitchFamily="-106" charset="-128"/>
                <a:cs typeface="ＭＳ Ｐゴシック" pitchFamily="-106" charset="-128"/>
              </a:rPr>
              <a:t>	People sinned before Moses because God’s moral standards existed before the Mosaic Law.</a:t>
            </a:r>
          </a:p>
          <a:p>
            <a:r>
              <a:rPr lang="en-US" sz="1400" kern="1200" dirty="0">
                <a:solidFill>
                  <a:schemeClr val="tx1"/>
                </a:solidFill>
                <a:effectLst/>
                <a:latin typeface="+mn-lt"/>
                <a:ea typeface="ＭＳ Ｐゴシック" pitchFamily="-106" charset="-128"/>
                <a:cs typeface="ＭＳ Ｐゴシック" pitchFamily="-106" charset="-128"/>
              </a:rPr>
              <a:t>The Mosaic Covenant did not create morality.</a:t>
            </a:r>
          </a:p>
          <a:p>
            <a:r>
              <a:rPr lang="en-US" sz="1400" kern="1200" dirty="0">
                <a:solidFill>
                  <a:schemeClr val="tx1"/>
                </a:solidFill>
                <a:effectLst/>
                <a:latin typeface="+mn-lt"/>
                <a:ea typeface="ＭＳ Ｐゴシック" pitchFamily="-106" charset="-128"/>
                <a:cs typeface="ＭＳ Ｐゴシック" pitchFamily="-106" charset="-128"/>
              </a:rPr>
              <a:t>It codified and revealed God’s righteous standards in a covenant form for Israel.</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5. Does a person have to die to some law before they can come under the Law of Christ?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Yes.</a:t>
            </a:r>
          </a:p>
          <a:p>
            <a:r>
              <a:rPr lang="en-US" sz="1400" kern="1200" dirty="0">
                <a:solidFill>
                  <a:schemeClr val="tx1"/>
                </a:solidFill>
                <a:effectLst/>
                <a:latin typeface="+mn-lt"/>
                <a:ea typeface="ＭＳ Ｐゴシック" pitchFamily="-106" charset="-128"/>
                <a:cs typeface="ＭＳ Ｐゴシック" pitchFamily="-106" charset="-128"/>
              </a:rPr>
              <a:t>	Paul teaches that believers die to their former covenantal relationship before entering a new relationship with Christ.</a:t>
            </a:r>
          </a:p>
          <a:p>
            <a:r>
              <a:rPr lang="en-US" sz="1400" kern="1200" dirty="0">
                <a:solidFill>
                  <a:schemeClr val="tx1"/>
                </a:solidFill>
                <a:effectLst/>
                <a:latin typeface="+mn-lt"/>
                <a:ea typeface="ＭＳ Ｐゴシック" pitchFamily="-106" charset="-128"/>
                <a:cs typeface="ＭＳ Ｐゴシック" pitchFamily="-106" charset="-128"/>
              </a:rPr>
              <a:t>No one can be simultaneously under the old covenant and the new covenant as governing systems.</a:t>
            </a:r>
          </a:p>
          <a:p>
            <a:r>
              <a:rPr lang="en-US" sz="1400" kern="1200" dirty="0">
                <a:solidFill>
                  <a:schemeClr val="tx1"/>
                </a:solidFill>
                <a:effectLst/>
                <a:latin typeface="+mn-lt"/>
                <a:ea typeface="ＭＳ Ｐゴシック" pitchFamily="-106" charset="-128"/>
                <a:cs typeface="ＭＳ Ｐゴシック" pitchFamily="-106" charset="-128"/>
              </a:rPr>
              <a:t>The believer dies with Christ and is united to Christ.</a:t>
            </a:r>
          </a:p>
          <a:p>
            <a:r>
              <a:rPr lang="en-US" sz="1400" kern="1200" dirty="0">
                <a:solidFill>
                  <a:schemeClr val="tx1"/>
                </a:solidFill>
                <a:effectLst/>
                <a:latin typeface="+mn-lt"/>
                <a:ea typeface="ＭＳ Ｐゴシック" pitchFamily="-106" charset="-128"/>
                <a:cs typeface="ＭＳ Ｐゴシック" pitchFamily="-106" charset="-128"/>
              </a:rPr>
              <a:t>This allows him to serve:</a:t>
            </a:r>
          </a:p>
          <a:p>
            <a:r>
              <a:rPr lang="en-US" sz="1400" kern="1200" dirty="0">
                <a:solidFill>
                  <a:schemeClr val="tx1"/>
                </a:solidFill>
                <a:effectLst/>
                <a:latin typeface="+mn-lt"/>
                <a:ea typeface="ＭＳ Ｐゴシック" pitchFamily="-106" charset="-128"/>
                <a:cs typeface="ＭＳ Ｐゴシック" pitchFamily="-106" charset="-128"/>
              </a:rPr>
              <a:t>	“in the newness of the Spirit and not in the oldness of the letter” (Romans 7:6).</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6. After the cross, what law did Jews die to?</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Jewish believers died to the </a:t>
            </a:r>
            <a:r>
              <a:rPr lang="en-US" sz="1400" b="1" kern="1200" dirty="0">
                <a:solidFill>
                  <a:schemeClr val="tx1"/>
                </a:solidFill>
                <a:effectLst/>
                <a:latin typeface="+mn-lt"/>
                <a:ea typeface="ＭＳ Ｐゴシック" pitchFamily="-106" charset="-128"/>
                <a:cs typeface="ＭＳ Ｐゴシック" pitchFamily="-106" charset="-128"/>
              </a:rPr>
              <a:t>Mosaic Law Covenant</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This includes:</a:t>
            </a:r>
          </a:p>
          <a:p>
            <a:pPr lvl="1" rtl="0" fontAlgn="ctr"/>
            <a:r>
              <a:rPr lang="en-US" sz="1400" kern="1200" dirty="0">
                <a:solidFill>
                  <a:schemeClr val="tx1"/>
                </a:solidFill>
                <a:effectLst/>
                <a:latin typeface="+mn-lt"/>
                <a:ea typeface="ＭＳ Ｐゴシック" pitchFamily="-106" charset="-128"/>
                <a:cs typeface="ＭＳ Ｐゴシック" pitchFamily="-106" charset="-128"/>
              </a:rPr>
              <a:t>The Ten Commandments as covenant stipulations.</a:t>
            </a:r>
          </a:p>
          <a:p>
            <a:pPr lvl="1" rtl="0" fontAlgn="ctr"/>
            <a:r>
              <a:rPr lang="en-US" sz="1400" kern="1200" dirty="0">
                <a:solidFill>
                  <a:schemeClr val="tx1"/>
                </a:solidFill>
                <a:effectLst/>
                <a:latin typeface="+mn-lt"/>
                <a:ea typeface="ＭＳ Ｐゴシック" pitchFamily="-106" charset="-128"/>
                <a:cs typeface="ＭＳ Ｐゴシック" pitchFamily="-106" charset="-128"/>
              </a:rPr>
              <a:t>Ceremonial regulations.</a:t>
            </a:r>
          </a:p>
          <a:p>
            <a:pPr lvl="1" rtl="0" fontAlgn="ctr"/>
            <a:r>
              <a:rPr lang="en-US" sz="1400" kern="1200" dirty="0">
                <a:solidFill>
                  <a:schemeClr val="tx1"/>
                </a:solidFill>
                <a:effectLst/>
                <a:latin typeface="+mn-lt"/>
                <a:ea typeface="ＭＳ Ｐゴシック" pitchFamily="-106" charset="-128"/>
                <a:cs typeface="ＭＳ Ｐゴシック" pitchFamily="-106" charset="-128"/>
              </a:rPr>
              <a:t>Civil regulations governing Israel.</a:t>
            </a:r>
          </a:p>
          <a:p>
            <a:r>
              <a:rPr lang="en-US" sz="1400" kern="1200" dirty="0">
                <a:solidFill>
                  <a:schemeClr val="tx1"/>
                </a:solidFill>
                <a:effectLst/>
                <a:latin typeface="+mn-lt"/>
                <a:ea typeface="ＭＳ Ｐゴシック" pitchFamily="-106" charset="-128"/>
                <a:cs typeface="ＭＳ Ｐゴシック" pitchFamily="-106" charset="-128"/>
              </a:rPr>
              <a:t>Paul specifically says:</a:t>
            </a:r>
          </a:p>
          <a:p>
            <a:r>
              <a:rPr lang="en-US" sz="1400" kern="1200" dirty="0">
                <a:solidFill>
                  <a:schemeClr val="tx1"/>
                </a:solidFill>
                <a:effectLst/>
                <a:latin typeface="+mn-lt"/>
                <a:ea typeface="ＭＳ Ｐゴシック" pitchFamily="-106" charset="-128"/>
                <a:cs typeface="ＭＳ Ｐゴシック" pitchFamily="-106" charset="-128"/>
              </a:rPr>
              <a:t>	“you also died to the law through the body of Christ” (Romans 7:4).</a:t>
            </a:r>
          </a:p>
          <a:p>
            <a:r>
              <a:rPr lang="en-US" sz="1400" kern="1200" dirty="0">
                <a:solidFill>
                  <a:schemeClr val="tx1"/>
                </a:solidFill>
                <a:effectLst/>
                <a:latin typeface="+mn-lt"/>
                <a:ea typeface="ＭＳ Ｐゴシック" pitchFamily="-106" charset="-128"/>
                <a:cs typeface="ＭＳ Ｐゴシック" pitchFamily="-106" charset="-128"/>
              </a:rPr>
              <a:t>Since Romans is written largely to Jews familiar with Moses, “the law” here primarily refers to the Mosaic covenant.</a:t>
            </a:r>
          </a:p>
          <a:p>
            <a:r>
              <a:rPr lang="en-US" sz="1400" kern="1200" dirty="0">
                <a:solidFill>
                  <a:schemeClr val="tx1"/>
                </a:solidFill>
                <a:effectLst/>
                <a:latin typeface="+mn-lt"/>
                <a:ea typeface="ＭＳ Ｐゴシック" pitchFamily="-106" charset="-128"/>
                <a:cs typeface="ＭＳ Ｐゴシック" pitchFamily="-106" charset="-128"/>
              </a:rPr>
              <a:t>Acts 15 and Galatians show the apostles refusing to place Gentiles under that covenant.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7. What law did Gentiles die to?</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Gentiles were never under the Mosaic Covenant.</a:t>
            </a:r>
          </a:p>
          <a:p>
            <a:r>
              <a:rPr lang="en-US" sz="1400" kern="1200" dirty="0">
                <a:solidFill>
                  <a:schemeClr val="tx1"/>
                </a:solidFill>
                <a:effectLst/>
                <a:latin typeface="+mn-lt"/>
                <a:ea typeface="ＭＳ Ｐゴシック" pitchFamily="-106" charset="-128"/>
                <a:cs typeface="ＭＳ Ｐゴシック" pitchFamily="-106" charset="-128"/>
              </a:rPr>
              <a:t>However, they were under:</a:t>
            </a:r>
          </a:p>
          <a:p>
            <a:pPr lvl="1" rtl="0" fontAlgn="ctr"/>
            <a:r>
              <a:rPr lang="en-US" sz="1400" kern="1200" dirty="0">
                <a:solidFill>
                  <a:schemeClr val="tx1"/>
                </a:solidFill>
                <a:effectLst/>
                <a:latin typeface="+mn-lt"/>
                <a:ea typeface="ＭＳ Ｐゴシック" pitchFamily="-106" charset="-128"/>
                <a:cs typeface="ＭＳ Ｐゴシック" pitchFamily="-106" charset="-128"/>
              </a:rPr>
              <a:t>The law written on the heart (Romans 2:14-15).</a:t>
            </a:r>
          </a:p>
          <a:p>
            <a:pPr lvl="1" rtl="0" fontAlgn="ctr"/>
            <a:r>
              <a:rPr lang="en-US" sz="1400" kern="1200" dirty="0">
                <a:solidFill>
                  <a:schemeClr val="tx1"/>
                </a:solidFill>
                <a:effectLst/>
                <a:latin typeface="+mn-lt"/>
                <a:ea typeface="ＭＳ Ｐゴシック" pitchFamily="-106" charset="-128"/>
                <a:cs typeface="ＭＳ Ｐゴシック" pitchFamily="-106" charset="-128"/>
              </a:rPr>
              <a:t>The universal moral accountability of God’s righteousness.</a:t>
            </a:r>
          </a:p>
          <a:p>
            <a:pPr lvl="1" rtl="0" fontAlgn="ctr"/>
            <a:r>
              <a:rPr lang="en-US" sz="1400" kern="1200" dirty="0">
                <a:solidFill>
                  <a:schemeClr val="tx1"/>
                </a:solidFill>
                <a:effectLst/>
                <a:latin typeface="+mn-lt"/>
                <a:ea typeface="ＭＳ Ｐゴシック" pitchFamily="-106" charset="-128"/>
                <a:cs typeface="ＭＳ Ｐゴシック" pitchFamily="-106" charset="-128"/>
              </a:rPr>
              <a:t>The condemnation that comes from sin.</a:t>
            </a:r>
          </a:p>
          <a:p>
            <a:pPr lvl="1"/>
            <a:r>
              <a:rPr lang="en-US" sz="1400" kern="1200" dirty="0">
                <a:solidFill>
                  <a:schemeClr val="tx1"/>
                </a:solidFill>
                <a:effectLst/>
                <a:latin typeface="+mn-lt"/>
                <a:ea typeface="ＭＳ Ｐゴシック" pitchFamily="-106" charset="-128"/>
                <a:cs typeface="ＭＳ Ｐゴシック" pitchFamily="-106" charset="-128"/>
              </a:rPr>
              <a:t>In a broader sense, they died to their former standing under condemnation and became united to Christ.</a:t>
            </a:r>
          </a:p>
          <a:p>
            <a:r>
              <a:rPr lang="en-US" sz="1400" kern="1200" dirty="0">
                <a:solidFill>
                  <a:schemeClr val="tx1"/>
                </a:solidFill>
                <a:effectLst/>
                <a:latin typeface="+mn-lt"/>
                <a:ea typeface="ＭＳ Ｐゴシック" pitchFamily="-106" charset="-128"/>
                <a:cs typeface="ＭＳ Ｐゴシック" pitchFamily="-106" charset="-128"/>
              </a:rPr>
              <a:t>Both Jew and Gentile arrive at the same place:</a:t>
            </a:r>
          </a:p>
          <a:p>
            <a:pPr lvl="1" rtl="0" fontAlgn="ctr"/>
            <a:r>
              <a:rPr lang="en-US" sz="1400" kern="1200" dirty="0">
                <a:solidFill>
                  <a:schemeClr val="tx1"/>
                </a:solidFill>
                <a:effectLst/>
                <a:latin typeface="+mn-lt"/>
                <a:ea typeface="ＭＳ Ｐゴシック" pitchFamily="-106" charset="-128"/>
                <a:cs typeface="ＭＳ Ｐゴシック" pitchFamily="-106" charset="-128"/>
              </a:rPr>
              <a:t>Not justified by law (Romans 3:20).</a:t>
            </a:r>
          </a:p>
          <a:p>
            <a:pPr lvl="1" rtl="0" fontAlgn="ctr"/>
            <a:r>
              <a:rPr lang="en-US" sz="1400" kern="1200" dirty="0">
                <a:solidFill>
                  <a:schemeClr val="tx1"/>
                </a:solidFill>
                <a:effectLst/>
                <a:latin typeface="+mn-lt"/>
                <a:ea typeface="ＭＳ Ｐゴシック" pitchFamily="-106" charset="-128"/>
                <a:cs typeface="ＭＳ Ｐゴシック" pitchFamily="-106" charset="-128"/>
              </a:rPr>
              <a:t>Justified by faith (Romans 3:28).</a:t>
            </a:r>
          </a:p>
          <a:p>
            <a:pPr lvl="1" rtl="0" fontAlgn="ctr"/>
            <a:r>
              <a:rPr lang="en-US" sz="1400" kern="1200" dirty="0">
                <a:solidFill>
                  <a:schemeClr val="tx1"/>
                </a:solidFill>
                <a:effectLst/>
                <a:latin typeface="+mn-lt"/>
                <a:ea typeface="ＭＳ Ｐゴシック" pitchFamily="-106" charset="-128"/>
                <a:cs typeface="ＭＳ Ｐゴシック" pitchFamily="-106" charset="-128"/>
              </a:rPr>
              <a:t>United in Christ.</a:t>
            </a:r>
          </a:p>
          <a:p>
            <a:pPr lvl="1" rtl="0" fontAlgn="ctr"/>
            <a:r>
              <a:rPr lang="en-US" sz="1400" kern="1200" dirty="0">
                <a:solidFill>
                  <a:schemeClr val="tx1"/>
                </a:solidFill>
                <a:effectLst/>
                <a:latin typeface="+mn-lt"/>
                <a:ea typeface="ＭＳ Ｐゴシック" pitchFamily="-106" charset="-128"/>
                <a:cs typeface="ＭＳ Ｐゴシック" pitchFamily="-106" charset="-128"/>
              </a:rPr>
              <a:t>Living under the Law of Christ (Galatians 6:2; 1 Corinthians 9:21).</a:t>
            </a:r>
          </a:p>
          <a:p>
            <a:pPr lvl="1"/>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951398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FEC22-A766-3AB7-B871-FD1379451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800B5-AE36-42D6-8B16-8043FA784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E99B9-D71D-7873-AECA-38BA8BC0A442}"/>
              </a:ext>
            </a:extLst>
          </p:cNvPr>
          <p:cNvSpPr>
            <a:spLocks noGrp="1"/>
          </p:cNvSpPr>
          <p:nvPr>
            <p:ph type="body" idx="1"/>
          </p:nvPr>
        </p:nvSpPr>
        <p:spPr/>
        <p:txBody>
          <a:bodyPr>
            <a:normAutofit fontScale="47500" lnSpcReduction="20000"/>
          </a:bodyPr>
          <a:lstStyle/>
          <a:p>
            <a:r>
              <a:rPr lang="en-US" sz="1400" kern="1200" dirty="0">
                <a:solidFill>
                  <a:schemeClr val="tx1"/>
                </a:solidFill>
                <a:effectLst/>
                <a:latin typeface="+mn-lt"/>
                <a:ea typeface="ＭＳ Ｐゴシック" pitchFamily="-106" charset="-128"/>
                <a:cs typeface="ＭＳ Ｐゴシック" pitchFamily="-106" charset="-128"/>
              </a:rPr>
              <a:t>This does not mean God’s moral character changes. Psalm 119 and Matthew 5–7 affirm the goodness and righteousness reflected in God’s commands. What changes is the believer’s relationship to those commands. We are no longer seeking righteousness through the Law. We have received righteousness through Christ and now obey from a transformed heart through the Spirit.</a:t>
            </a:r>
          </a:p>
          <a:p>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73884FF2-9616-E1FC-DD71-759FF6610BA3}"/>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37027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400" i="1" dirty="0"/>
              <a:t>Romans 7:13-24</a:t>
            </a:r>
          </a:p>
          <a:p>
            <a:pPr marL="342900" indent="-342900">
              <a:buFont typeface="Arial" panose="020B0604020202020204" pitchFamily="34" charset="0"/>
              <a:buChar char="•"/>
            </a:pPr>
            <a:r>
              <a:rPr lang="en-US" sz="1400" dirty="0"/>
              <a:t>Is sin a condition?  Or, is sin a deviation from the Holy will of God?  </a:t>
            </a:r>
          </a:p>
          <a:p>
            <a:pPr marL="342900" indent="-342900">
              <a:buFont typeface="Arial" panose="020B0604020202020204" pitchFamily="34" charset="0"/>
              <a:buChar char="•"/>
            </a:pPr>
            <a:r>
              <a:rPr lang="en-US" sz="1400" dirty="0"/>
              <a:t>What gives sin it’s power or ability to inflict death?  (1 Cor. 15:56)</a:t>
            </a:r>
          </a:p>
          <a:p>
            <a:pPr marL="342900" indent="-342900">
              <a:buFont typeface="Arial" panose="020B0604020202020204" pitchFamily="34" charset="0"/>
              <a:buChar char="•"/>
            </a:pPr>
            <a:r>
              <a:rPr lang="en-US" sz="1400" dirty="0"/>
              <a:t>Is the law spiritual? </a:t>
            </a:r>
          </a:p>
          <a:p>
            <a:pPr marL="342900" indent="-342900">
              <a:buFont typeface="Arial" panose="020B0604020202020204" pitchFamily="34" charset="0"/>
              <a:buChar char="•"/>
            </a:pPr>
            <a:r>
              <a:rPr lang="en-US" sz="1400" dirty="0"/>
              <a:t>What are the different laws in his members?</a:t>
            </a:r>
          </a:p>
          <a:p>
            <a:pPr marL="342900" indent="-342900">
              <a:buFont typeface="Arial" panose="020B0604020202020204" pitchFamily="34" charset="0"/>
              <a:buChar char="•"/>
            </a:pPr>
            <a:r>
              <a:rPr lang="en-US" sz="1400" dirty="0"/>
              <a:t>When he says:  “It is no longer I who do it…” is he rejecting responsibility for his sins?  </a:t>
            </a:r>
          </a:p>
          <a:p>
            <a:pPr marL="342900" indent="-342900">
              <a:buFont typeface="Arial" panose="020B0604020202020204" pitchFamily="34" charset="0"/>
              <a:buChar char="•"/>
            </a:pPr>
            <a:r>
              <a:rPr lang="en-US" sz="1400" dirty="0"/>
              <a:t>Is the “wretched man” a Christian or not?</a:t>
            </a:r>
          </a:p>
          <a:p>
            <a:pPr marL="342900" indent="-342900">
              <a:buFont typeface="Arial" panose="020B0604020202020204" pitchFamily="34" charset="0"/>
              <a:buChar char="•"/>
            </a:pPr>
            <a:r>
              <a:rPr lang="en-US" sz="1400" dirty="0"/>
              <a:t>Is the wretched man incapable of doing any good?</a:t>
            </a:r>
          </a:p>
          <a:p>
            <a:pPr marL="342900" indent="-342900">
              <a:buFont typeface="Arial" panose="020B0604020202020204" pitchFamily="34" charset="0"/>
              <a:buChar char="•"/>
            </a:pPr>
            <a:r>
              <a:rPr lang="en-US" sz="1400" dirty="0"/>
              <a:t>Is the wretched man a captive to the law of sin and death?</a:t>
            </a:r>
          </a:p>
          <a:p>
            <a:pPr marL="342900" indent="-342900">
              <a:buFont typeface="Arial" panose="020B0604020202020204" pitchFamily="34" charset="0"/>
              <a:buChar char="•"/>
            </a:pPr>
            <a:r>
              <a:rPr lang="en-US" sz="1400" dirty="0"/>
              <a:t>Does the wretched man live in a body of death?</a:t>
            </a:r>
          </a:p>
          <a:p>
            <a:pPr marL="342900" indent="-342900">
              <a:buFont typeface="Arial" panose="020B0604020202020204" pitchFamily="34" charset="0"/>
              <a:buChar char="•"/>
            </a:pPr>
            <a:r>
              <a:rPr lang="en-US" sz="1400" dirty="0"/>
              <a:t>How does all of this fit in with Paul’s argument that the Christian (logically) should serve righteousness?</a:t>
            </a:r>
          </a:p>
          <a:p>
            <a:endParaRPr lang="en-US" dirty="0"/>
          </a:p>
          <a:p>
            <a:r>
              <a:rPr lang="en-US" sz="1200" b="1" kern="1200" dirty="0">
                <a:solidFill>
                  <a:schemeClr val="tx1"/>
                </a:solidFill>
                <a:effectLst/>
                <a:latin typeface="+mn-lt"/>
                <a:ea typeface="ＭＳ Ｐゴシック" pitchFamily="-106" charset="-128"/>
                <a:cs typeface="ＭＳ Ｐゴシック" pitchFamily="-106" charset="-128"/>
              </a:rPr>
              <a:t>Is sin a condition, or is sin a deviation from the holy will of God?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Bible speaks of sin in both ways.</a:t>
            </a:r>
          </a:p>
          <a:p>
            <a:r>
              <a:rPr lang="en-US" sz="1200" kern="1200" dirty="0">
                <a:solidFill>
                  <a:schemeClr val="tx1"/>
                </a:solidFill>
                <a:effectLst/>
                <a:latin typeface="+mn-lt"/>
                <a:ea typeface="ＭＳ Ｐゴシック" pitchFamily="-106" charset="-128"/>
                <a:cs typeface="ＭＳ Ｐゴシック" pitchFamily="-106" charset="-128"/>
              </a:rPr>
              <a:t>Sin is an </a:t>
            </a:r>
            <a:r>
              <a:rPr lang="en-US" sz="1200" b="1" kern="1200" dirty="0">
                <a:solidFill>
                  <a:schemeClr val="tx1"/>
                </a:solidFill>
                <a:effectLst/>
                <a:latin typeface="+mn-lt"/>
                <a:ea typeface="ＭＳ Ｐゴシック" pitchFamily="-106" charset="-128"/>
                <a:cs typeface="ＭＳ Ｐゴシック" pitchFamily="-106" charset="-128"/>
              </a:rPr>
              <a:t>act</a:t>
            </a:r>
            <a:r>
              <a:rPr lang="en-US" sz="1200" kern="1200" dirty="0">
                <a:solidFill>
                  <a:schemeClr val="tx1"/>
                </a:solidFill>
                <a:effectLst/>
                <a:latin typeface="+mn-lt"/>
                <a:ea typeface="ＭＳ Ｐゴシック" pitchFamily="-106" charset="-128"/>
                <a:cs typeface="ＭＳ Ｐゴシック" pitchFamily="-106" charset="-128"/>
              </a:rPr>
              <a:t> of transgressing God’s will:</a:t>
            </a:r>
          </a:p>
          <a:p>
            <a:r>
              <a:rPr lang="en-US" sz="1200" kern="1200" dirty="0">
                <a:solidFill>
                  <a:schemeClr val="tx1"/>
                </a:solidFill>
                <a:effectLst/>
                <a:latin typeface="+mn-lt"/>
                <a:ea typeface="ＭＳ Ｐゴシック" pitchFamily="-106" charset="-128"/>
                <a:cs typeface="ＭＳ Ｐゴシック" pitchFamily="-106" charset="-128"/>
              </a:rPr>
              <a:t>“Everyone who practices sin also practices lawlessness; indeed, sin is lawlessness.” (1 John 3:4)</a:t>
            </a:r>
          </a:p>
          <a:p>
            <a:r>
              <a:rPr lang="en-US" sz="1200" kern="1200" dirty="0">
                <a:solidFill>
                  <a:schemeClr val="tx1"/>
                </a:solidFill>
                <a:effectLst/>
                <a:latin typeface="+mn-lt"/>
                <a:ea typeface="ＭＳ Ｐゴシック" pitchFamily="-106" charset="-128"/>
                <a:cs typeface="ＭＳ Ｐゴシック" pitchFamily="-106" charset="-128"/>
              </a:rPr>
              <a:t>But Paul also speaks of Sin as a </a:t>
            </a:r>
            <a:r>
              <a:rPr lang="en-US" sz="1200" b="1" kern="1200" dirty="0">
                <a:solidFill>
                  <a:schemeClr val="tx1"/>
                </a:solidFill>
                <a:effectLst/>
                <a:latin typeface="+mn-lt"/>
                <a:ea typeface="ＭＳ Ｐゴシック" pitchFamily="-106" charset="-128"/>
                <a:cs typeface="ＭＳ Ｐゴシック" pitchFamily="-106" charset="-128"/>
              </a:rPr>
              <a:t>power</a:t>
            </a:r>
            <a:r>
              <a:rPr lang="en-US" sz="1200" kern="1200" dirty="0">
                <a:solidFill>
                  <a:schemeClr val="tx1"/>
                </a:solidFill>
                <a:effectLst/>
                <a:latin typeface="+mn-lt"/>
                <a:ea typeface="ＭＳ Ｐゴシック" pitchFamily="-106" charset="-128"/>
                <a:cs typeface="ＭＳ Ｐゴシック" pitchFamily="-106" charset="-128"/>
              </a:rPr>
              <a:t> or </a:t>
            </a:r>
            <a:r>
              <a:rPr lang="en-US" sz="1200" b="1" kern="1200" dirty="0">
                <a:solidFill>
                  <a:schemeClr val="tx1"/>
                </a:solidFill>
                <a:effectLst/>
                <a:latin typeface="+mn-lt"/>
                <a:ea typeface="ＭＳ Ｐゴシック" pitchFamily="-106" charset="-128"/>
                <a:cs typeface="ＭＳ Ｐゴシック" pitchFamily="-106" charset="-128"/>
              </a:rPr>
              <a:t>principle</a:t>
            </a:r>
            <a:r>
              <a:rPr lang="en-US" sz="1200" kern="1200" dirty="0">
                <a:solidFill>
                  <a:schemeClr val="tx1"/>
                </a:solidFill>
                <a:effectLst/>
                <a:latin typeface="+mn-lt"/>
                <a:ea typeface="ＭＳ Ｐゴシック" pitchFamily="-106" charset="-128"/>
                <a:cs typeface="ＭＳ Ｐゴシック" pitchFamily="-106" charset="-128"/>
              </a:rPr>
              <a:t> that operates within fallen humanity.</a:t>
            </a:r>
          </a:p>
          <a:p>
            <a:r>
              <a:rPr lang="en-US" sz="1200" kern="1200" dirty="0">
                <a:solidFill>
                  <a:schemeClr val="tx1"/>
                </a:solidFill>
                <a:effectLst/>
                <a:latin typeface="+mn-lt"/>
                <a:ea typeface="ＭＳ Ｐゴシック" pitchFamily="-106" charset="-128"/>
                <a:cs typeface="ＭＳ Ｐゴシック" pitchFamily="-106" charset="-128"/>
              </a:rPr>
              <a:t>In Romans 7, sin is personified:</a:t>
            </a:r>
          </a:p>
          <a:p>
            <a:pPr rtl="0" fontAlgn="ctr"/>
            <a:r>
              <a:rPr lang="en-US" sz="1200" kern="1200" dirty="0">
                <a:solidFill>
                  <a:schemeClr val="tx1"/>
                </a:solidFill>
                <a:effectLst/>
                <a:latin typeface="+mn-lt"/>
                <a:ea typeface="ＭＳ Ｐゴシック" pitchFamily="-106" charset="-128"/>
                <a:cs typeface="ＭＳ Ｐゴシック" pitchFamily="-106" charset="-128"/>
              </a:rPr>
              <a:t>Sin deceives (7:11)</a:t>
            </a:r>
          </a:p>
          <a:p>
            <a:pPr rtl="0" fontAlgn="ctr"/>
            <a:r>
              <a:rPr lang="en-US" sz="1200" kern="1200" dirty="0">
                <a:solidFill>
                  <a:schemeClr val="tx1"/>
                </a:solidFill>
                <a:effectLst/>
                <a:latin typeface="+mn-lt"/>
                <a:ea typeface="ＭＳ Ｐゴシック" pitchFamily="-106" charset="-128"/>
                <a:cs typeface="ＭＳ Ｐゴシック" pitchFamily="-106" charset="-128"/>
              </a:rPr>
              <a:t>Sin kills (7:11)</a:t>
            </a:r>
          </a:p>
          <a:p>
            <a:pPr rtl="0" fontAlgn="ctr"/>
            <a:r>
              <a:rPr lang="en-US" sz="1200" kern="1200" dirty="0">
                <a:solidFill>
                  <a:schemeClr val="tx1"/>
                </a:solidFill>
                <a:effectLst/>
                <a:latin typeface="+mn-lt"/>
                <a:ea typeface="ＭＳ Ｐゴシック" pitchFamily="-106" charset="-128"/>
                <a:cs typeface="ＭＳ Ｐゴシック" pitchFamily="-106" charset="-128"/>
              </a:rPr>
              <a:t>Sin dwells in me (7:17, 20)</a:t>
            </a:r>
          </a:p>
          <a:p>
            <a:pPr rtl="0" fontAlgn="ctr"/>
            <a:r>
              <a:rPr lang="en-US" sz="1200" kern="1200" dirty="0">
                <a:solidFill>
                  <a:schemeClr val="tx1"/>
                </a:solidFill>
                <a:effectLst/>
                <a:latin typeface="+mn-lt"/>
                <a:ea typeface="ＭＳ Ｐゴシック" pitchFamily="-106" charset="-128"/>
                <a:cs typeface="ＭＳ Ｐゴシック" pitchFamily="-106" charset="-128"/>
              </a:rPr>
              <a:t>Sin produces coveting (7:8)</a:t>
            </a:r>
          </a:p>
          <a:p>
            <a:r>
              <a:rPr lang="en-US" sz="1200" kern="1200" dirty="0">
                <a:solidFill>
                  <a:schemeClr val="tx1"/>
                </a:solidFill>
                <a:effectLst/>
                <a:latin typeface="+mn-lt"/>
                <a:ea typeface="ＭＳ Ｐゴシック" pitchFamily="-106" charset="-128"/>
                <a:cs typeface="ＭＳ Ｐゴシック" pitchFamily="-106" charset="-128"/>
              </a:rPr>
              <a:t>So sin is both:</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Individual acts against God’s will.</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A corrupting power that resides in fallen humanity.</a:t>
            </a:r>
          </a:p>
          <a:p>
            <a:r>
              <a:rPr lang="en-US" sz="1200" b="1" kern="1200" dirty="0">
                <a:solidFill>
                  <a:schemeClr val="tx1"/>
                </a:solidFill>
                <a:effectLst/>
                <a:latin typeface="+mn-lt"/>
                <a:ea typeface="ＭＳ Ｐゴシック" pitchFamily="-106" charset="-128"/>
                <a:cs typeface="ＭＳ Ｐゴシック" pitchFamily="-106" charset="-128"/>
              </a:rPr>
              <a:t>What gives sin its power to inflict death? (1 Corinthians 15:56)</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Paul writes:</a:t>
            </a:r>
          </a:p>
          <a:p>
            <a:r>
              <a:rPr lang="en-US" sz="1200" kern="1200" dirty="0">
                <a:solidFill>
                  <a:schemeClr val="tx1"/>
                </a:solidFill>
                <a:effectLst/>
                <a:latin typeface="+mn-lt"/>
                <a:ea typeface="ＭＳ Ｐゴシック" pitchFamily="-106" charset="-128"/>
                <a:cs typeface="ＭＳ Ｐゴシック" pitchFamily="-106" charset="-128"/>
              </a:rPr>
              <a:t>“The sting of death is sin, and the power of sin is the law.”</a:t>
            </a:r>
          </a:p>
          <a:p>
            <a:r>
              <a:rPr lang="en-US" sz="1200" kern="1200" dirty="0">
                <a:solidFill>
                  <a:schemeClr val="tx1"/>
                </a:solidFill>
                <a:effectLst/>
                <a:latin typeface="+mn-lt"/>
                <a:ea typeface="ＭＳ Ｐゴシック" pitchFamily="-106" charset="-128"/>
                <a:cs typeface="ＭＳ Ｐゴシック" pitchFamily="-106" charset="-128"/>
              </a:rPr>
              <a:t>The Law does not create sin.</a:t>
            </a:r>
          </a:p>
          <a:p>
            <a:r>
              <a:rPr lang="en-US" sz="1200" kern="1200" dirty="0">
                <a:solidFill>
                  <a:schemeClr val="tx1"/>
                </a:solidFill>
                <a:effectLst/>
                <a:latin typeface="+mn-lt"/>
                <a:ea typeface="ＭＳ Ｐゴシック" pitchFamily="-106" charset="-128"/>
                <a:cs typeface="ＭＳ Ｐゴシック" pitchFamily="-106" charset="-128"/>
              </a:rPr>
              <a:t>The Law exposes sin, defines sin, and brings accountability.</a:t>
            </a:r>
          </a:p>
          <a:p>
            <a:r>
              <a:rPr lang="en-US" sz="1200" kern="1200" dirty="0">
                <a:solidFill>
                  <a:schemeClr val="tx1"/>
                </a:solidFill>
                <a:effectLst/>
                <a:latin typeface="+mn-lt"/>
                <a:ea typeface="ＭＳ Ｐゴシック" pitchFamily="-106" charset="-128"/>
                <a:cs typeface="ＭＳ Ｐゴシック" pitchFamily="-106" charset="-128"/>
              </a:rPr>
              <a:t>Without God’s command:</a:t>
            </a:r>
          </a:p>
          <a:p>
            <a:pPr rtl="0" fontAlgn="ctr"/>
            <a:r>
              <a:rPr lang="en-US" sz="1200" kern="1200" dirty="0">
                <a:solidFill>
                  <a:schemeClr val="tx1"/>
                </a:solidFill>
                <a:effectLst/>
                <a:latin typeface="+mn-lt"/>
                <a:ea typeface="ＭＳ Ｐゴシック" pitchFamily="-106" charset="-128"/>
                <a:cs typeface="ＭＳ Ｐゴシック" pitchFamily="-106" charset="-128"/>
              </a:rPr>
              <a:t>Coveting remains hidden.</a:t>
            </a:r>
          </a:p>
          <a:p>
            <a:pPr rtl="0" fontAlgn="ctr"/>
            <a:r>
              <a:rPr lang="en-US" sz="1200" kern="1200" dirty="0">
                <a:solidFill>
                  <a:schemeClr val="tx1"/>
                </a:solidFill>
                <a:effectLst/>
                <a:latin typeface="+mn-lt"/>
                <a:ea typeface="ＭＳ Ｐゴシック" pitchFamily="-106" charset="-128"/>
                <a:cs typeface="ＭＳ Ｐゴシック" pitchFamily="-106" charset="-128"/>
              </a:rPr>
              <a:t>Rebellion remains concealed.</a:t>
            </a:r>
          </a:p>
          <a:p>
            <a:pPr rtl="0" fontAlgn="ctr"/>
            <a:r>
              <a:rPr lang="en-US" sz="1200" kern="1200" dirty="0">
                <a:solidFill>
                  <a:schemeClr val="tx1"/>
                </a:solidFill>
                <a:effectLst/>
                <a:latin typeface="+mn-lt"/>
                <a:ea typeface="ＭＳ Ｐゴシック" pitchFamily="-106" charset="-128"/>
                <a:cs typeface="ＭＳ Ｐゴシック" pitchFamily="-106" charset="-128"/>
              </a:rPr>
              <a:t>Guilt remains less obvious.</a:t>
            </a:r>
          </a:p>
          <a:p>
            <a:r>
              <a:rPr lang="en-US" sz="1200" kern="1200" dirty="0">
                <a:solidFill>
                  <a:schemeClr val="tx1"/>
                </a:solidFill>
                <a:effectLst/>
                <a:latin typeface="+mn-lt"/>
                <a:ea typeface="ＭＳ Ｐゴシック" pitchFamily="-106" charset="-128"/>
                <a:cs typeface="ＭＳ Ｐゴシック" pitchFamily="-106" charset="-128"/>
              </a:rPr>
              <a:t>The Law shines light on sin.</a:t>
            </a:r>
          </a:p>
          <a:p>
            <a:r>
              <a:rPr lang="en-US" sz="1200" kern="1200" dirty="0">
                <a:solidFill>
                  <a:schemeClr val="tx1"/>
                </a:solidFill>
                <a:effectLst/>
                <a:latin typeface="+mn-lt"/>
                <a:ea typeface="ＭＳ Ｐゴシック" pitchFamily="-106" charset="-128"/>
                <a:cs typeface="ＭＳ Ｐゴシック" pitchFamily="-106" charset="-128"/>
              </a:rPr>
              <a:t>Sin then exploits the commandment and produces condemnation.</a:t>
            </a:r>
          </a:p>
          <a:p>
            <a:r>
              <a:rPr lang="en-US" sz="1200" kern="1200" dirty="0">
                <a:solidFill>
                  <a:schemeClr val="tx1"/>
                </a:solidFill>
                <a:effectLst/>
                <a:latin typeface="+mn-lt"/>
                <a:ea typeface="ＭＳ Ｐゴシック" pitchFamily="-106" charset="-128"/>
                <a:cs typeface="ＭＳ Ｐゴシック" pitchFamily="-106" charset="-128"/>
              </a:rPr>
              <a:t>That is why Paul says:</a:t>
            </a:r>
          </a:p>
          <a:p>
            <a:r>
              <a:rPr lang="en-US" sz="1200" kern="1200" dirty="0">
                <a:solidFill>
                  <a:schemeClr val="tx1"/>
                </a:solidFill>
                <a:effectLst/>
                <a:latin typeface="+mn-lt"/>
                <a:ea typeface="ＭＳ Ｐゴシック" pitchFamily="-106" charset="-128"/>
                <a:cs typeface="ＭＳ Ｐゴシック" pitchFamily="-106" charset="-128"/>
              </a:rPr>
              <a:t>“Sin, seizing the opportunity through the commandment…” (Romans 7:11)</a:t>
            </a:r>
          </a:p>
          <a:p>
            <a:r>
              <a:rPr lang="en-US" sz="1200" b="1" kern="1200" dirty="0">
                <a:solidFill>
                  <a:schemeClr val="tx1"/>
                </a:solidFill>
                <a:effectLst/>
                <a:latin typeface="+mn-lt"/>
                <a:ea typeface="ＭＳ Ｐゴシック" pitchFamily="-106" charset="-128"/>
                <a:cs typeface="ＭＳ Ｐゴシック" pitchFamily="-106" charset="-128"/>
              </a:rPr>
              <a:t>Is the Law spiritual?</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Yes.</a:t>
            </a:r>
          </a:p>
          <a:p>
            <a:r>
              <a:rPr lang="en-US" sz="1200" kern="1200" dirty="0">
                <a:solidFill>
                  <a:schemeClr val="tx1"/>
                </a:solidFill>
                <a:effectLst/>
                <a:latin typeface="+mn-lt"/>
                <a:ea typeface="ＭＳ Ｐゴシック" pitchFamily="-106" charset="-128"/>
                <a:cs typeface="ＭＳ Ｐゴシック" pitchFamily="-106" charset="-128"/>
              </a:rPr>
              <a:t>Paul explicitly says:</a:t>
            </a:r>
          </a:p>
          <a:p>
            <a:r>
              <a:rPr lang="en-US" sz="1200" kern="1200" dirty="0">
                <a:solidFill>
                  <a:schemeClr val="tx1"/>
                </a:solidFill>
                <a:effectLst/>
                <a:latin typeface="+mn-lt"/>
                <a:ea typeface="ＭＳ Ｐゴシック" pitchFamily="-106" charset="-128"/>
                <a:cs typeface="ＭＳ Ｐゴシック" pitchFamily="-106" charset="-128"/>
              </a:rPr>
              <a:t>“For we know that the law is spiritual…” (Romans 7:14)</a:t>
            </a:r>
          </a:p>
          <a:p>
            <a:r>
              <a:rPr lang="en-US" sz="1200" kern="1200" dirty="0">
                <a:solidFill>
                  <a:schemeClr val="tx1"/>
                </a:solidFill>
                <a:effectLst/>
                <a:latin typeface="+mn-lt"/>
                <a:ea typeface="ＭＳ Ｐゴシック" pitchFamily="-106" charset="-128"/>
                <a:cs typeface="ＭＳ Ｐゴシック" pitchFamily="-106" charset="-128"/>
              </a:rPr>
              <a:t>The problem is not the Law.</a:t>
            </a:r>
          </a:p>
          <a:p>
            <a:r>
              <a:rPr lang="en-US" sz="1200" kern="1200" dirty="0">
                <a:solidFill>
                  <a:schemeClr val="tx1"/>
                </a:solidFill>
                <a:effectLst/>
                <a:latin typeface="+mn-lt"/>
                <a:ea typeface="ＭＳ Ｐゴシック" pitchFamily="-106" charset="-128"/>
                <a:cs typeface="ＭＳ Ｐゴシック" pitchFamily="-106" charset="-128"/>
              </a:rPr>
              <a:t>The Law comes from God.</a:t>
            </a:r>
          </a:p>
          <a:p>
            <a:r>
              <a:rPr lang="en-US" sz="1200" kern="1200" dirty="0">
                <a:solidFill>
                  <a:schemeClr val="tx1"/>
                </a:solidFill>
                <a:effectLst/>
                <a:latin typeface="+mn-lt"/>
                <a:ea typeface="ＭＳ Ｐゴシック" pitchFamily="-106" charset="-128"/>
                <a:cs typeface="ＭＳ Ｐゴシック" pitchFamily="-106" charset="-128"/>
              </a:rPr>
              <a:t>The problem is fallen humanity.</a:t>
            </a:r>
          </a:p>
          <a:p>
            <a:r>
              <a:rPr lang="en-US" sz="1200" kern="1200" dirty="0">
                <a:solidFill>
                  <a:schemeClr val="tx1"/>
                </a:solidFill>
                <a:effectLst/>
                <a:latin typeface="+mn-lt"/>
                <a:ea typeface="ＭＳ Ｐゴシック" pitchFamily="-106" charset="-128"/>
                <a:cs typeface="ＭＳ Ｐゴシック" pitchFamily="-106" charset="-128"/>
              </a:rPr>
              <a:t>The Law is holy.</a:t>
            </a:r>
          </a:p>
          <a:p>
            <a:r>
              <a:rPr lang="en-US" sz="1200" kern="1200" dirty="0">
                <a:solidFill>
                  <a:schemeClr val="tx1"/>
                </a:solidFill>
                <a:effectLst/>
                <a:latin typeface="+mn-lt"/>
                <a:ea typeface="ＭＳ Ｐゴシック" pitchFamily="-106" charset="-128"/>
                <a:cs typeface="ＭＳ Ｐゴシック" pitchFamily="-106" charset="-128"/>
              </a:rPr>
              <a:t>Man is sinful.</a:t>
            </a:r>
          </a:p>
          <a:p>
            <a:r>
              <a:rPr lang="en-US" sz="1200" kern="1200" dirty="0">
                <a:solidFill>
                  <a:schemeClr val="tx1"/>
                </a:solidFill>
                <a:effectLst/>
                <a:latin typeface="+mn-lt"/>
                <a:ea typeface="ＭＳ Ｐゴシック" pitchFamily="-106" charset="-128"/>
                <a:cs typeface="ＭＳ Ｐゴシック" pitchFamily="-106" charset="-128"/>
              </a:rPr>
              <a:t>The Law reveals the disease but cannot cure it.</a:t>
            </a:r>
          </a:p>
          <a:p>
            <a:r>
              <a:rPr lang="en-US" sz="1200" b="1" kern="1200" dirty="0">
                <a:solidFill>
                  <a:schemeClr val="tx1"/>
                </a:solidFill>
                <a:effectLst/>
                <a:latin typeface="+mn-lt"/>
                <a:ea typeface="ＭＳ Ｐゴシック" pitchFamily="-106" charset="-128"/>
                <a:cs typeface="ＭＳ Ｐゴシック" pitchFamily="-106" charset="-128"/>
              </a:rPr>
              <a:t>What are the different laws in his members?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Paul uses “law” in several different senses.</a:t>
            </a:r>
          </a:p>
          <a:p>
            <a:r>
              <a:rPr lang="en-US" sz="1200" b="1" kern="1200" dirty="0">
                <a:solidFill>
                  <a:schemeClr val="tx1"/>
                </a:solidFill>
                <a:effectLst/>
                <a:latin typeface="+mn-lt"/>
                <a:ea typeface="ＭＳ Ｐゴシック" pitchFamily="-106" charset="-128"/>
                <a:cs typeface="ＭＳ Ｐゴシック" pitchFamily="-106" charset="-128"/>
              </a:rPr>
              <a:t>1. The Law of God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God’s revealed will.</a:t>
            </a:r>
          </a:p>
          <a:p>
            <a:r>
              <a:rPr lang="en-US" sz="1200" kern="1200" dirty="0">
                <a:solidFill>
                  <a:schemeClr val="tx1"/>
                </a:solidFill>
                <a:effectLst/>
                <a:latin typeface="+mn-lt"/>
                <a:ea typeface="ＭＳ Ｐゴシック" pitchFamily="-106" charset="-128"/>
                <a:cs typeface="ＭＳ Ｐゴシック" pitchFamily="-106" charset="-128"/>
              </a:rPr>
              <a:t>“I delight in the law of God in my inner being.” (7:22)</a:t>
            </a:r>
          </a:p>
          <a:p>
            <a:r>
              <a:rPr lang="en-US" sz="1200" b="1" kern="1200" dirty="0">
                <a:solidFill>
                  <a:schemeClr val="tx1"/>
                </a:solidFill>
                <a:effectLst/>
                <a:latin typeface="+mn-lt"/>
                <a:ea typeface="ＭＳ Ｐゴシック" pitchFamily="-106" charset="-128"/>
                <a:cs typeface="ＭＳ Ｐゴシック" pitchFamily="-106" charset="-128"/>
              </a:rPr>
              <a:t>2. The Law of Sin</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principle of rebellion operating in fallen flesh.</a:t>
            </a:r>
          </a:p>
          <a:p>
            <a:r>
              <a:rPr lang="en-US" sz="1200" kern="1200" dirty="0">
                <a:solidFill>
                  <a:schemeClr val="tx1"/>
                </a:solidFill>
                <a:effectLst/>
                <a:latin typeface="+mn-lt"/>
                <a:ea typeface="ＭＳ Ｐゴシック" pitchFamily="-106" charset="-128"/>
                <a:cs typeface="ＭＳ Ｐゴシック" pitchFamily="-106" charset="-128"/>
              </a:rPr>
              <a:t>“I see a different law in my members…” (7:23)</a:t>
            </a:r>
          </a:p>
          <a:p>
            <a:r>
              <a:rPr lang="en-US" sz="1200" b="1" kern="1200" dirty="0">
                <a:solidFill>
                  <a:schemeClr val="tx1"/>
                </a:solidFill>
                <a:effectLst/>
                <a:latin typeface="+mn-lt"/>
                <a:ea typeface="ＭＳ Ｐゴシック" pitchFamily="-106" charset="-128"/>
                <a:cs typeface="ＭＳ Ｐゴシック" pitchFamily="-106" charset="-128"/>
              </a:rPr>
              <a:t>3. The Law of the Mind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inward desire to agree with God’s will.</a:t>
            </a:r>
          </a:p>
          <a:p>
            <a:r>
              <a:rPr lang="en-US" sz="1200" kern="1200" dirty="0">
                <a:solidFill>
                  <a:schemeClr val="tx1"/>
                </a:solidFill>
                <a:effectLst/>
                <a:latin typeface="+mn-lt"/>
                <a:ea typeface="ＭＳ Ｐゴシック" pitchFamily="-106" charset="-128"/>
                <a:cs typeface="ＭＳ Ｐゴシック" pitchFamily="-106" charset="-128"/>
              </a:rPr>
              <a:t>“waging war against the law of my mind…” (7:23)</a:t>
            </a:r>
          </a:p>
          <a:p>
            <a:r>
              <a:rPr lang="en-US" sz="1200" kern="1200" dirty="0">
                <a:solidFill>
                  <a:schemeClr val="tx1"/>
                </a:solidFill>
                <a:effectLst/>
                <a:latin typeface="+mn-lt"/>
                <a:ea typeface="ＭＳ Ｐゴシック" pitchFamily="-106" charset="-128"/>
                <a:cs typeface="ＭＳ Ｐゴシック" pitchFamily="-106" charset="-128"/>
              </a:rPr>
              <a:t>These are not separate legal codes.</a:t>
            </a:r>
          </a:p>
          <a:p>
            <a:r>
              <a:rPr lang="en-US" sz="1200" kern="1200" dirty="0">
                <a:solidFill>
                  <a:schemeClr val="tx1"/>
                </a:solidFill>
                <a:effectLst/>
                <a:latin typeface="+mn-lt"/>
                <a:ea typeface="ＭＳ Ｐゴシック" pitchFamily="-106" charset="-128"/>
                <a:cs typeface="ＭＳ Ｐゴシック" pitchFamily="-106" charset="-128"/>
              </a:rPr>
              <a:t>They are competing governing principles.</a:t>
            </a:r>
          </a:p>
          <a:p>
            <a:r>
              <a:rPr lang="en-US" sz="1200" b="1" kern="1200" dirty="0">
                <a:solidFill>
                  <a:schemeClr val="tx1"/>
                </a:solidFill>
                <a:effectLst/>
                <a:latin typeface="+mn-lt"/>
                <a:ea typeface="ＭＳ Ｐゴシック" pitchFamily="-106" charset="-128"/>
                <a:cs typeface="ＭＳ Ｐゴシック" pitchFamily="-106" charset="-128"/>
              </a:rPr>
              <a:t>When Paul says, “It is no longer I who do it,” is he rejecting responsibility?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No.</a:t>
            </a:r>
          </a:p>
          <a:p>
            <a:r>
              <a:rPr lang="en-US" sz="1200" kern="1200" dirty="0">
                <a:solidFill>
                  <a:schemeClr val="tx1"/>
                </a:solidFill>
                <a:effectLst/>
                <a:latin typeface="+mn-lt"/>
                <a:ea typeface="ＭＳ Ｐゴシック" pitchFamily="-106" charset="-128"/>
                <a:cs typeface="ＭＳ Ｐゴシック" pitchFamily="-106" charset="-128"/>
              </a:rPr>
              <a:t>Paul is not saying:</a:t>
            </a:r>
          </a:p>
          <a:p>
            <a:r>
              <a:rPr lang="en-US" sz="1200" kern="1200" dirty="0">
                <a:solidFill>
                  <a:schemeClr val="tx1"/>
                </a:solidFill>
                <a:effectLst/>
                <a:latin typeface="+mn-lt"/>
                <a:ea typeface="ＭＳ Ｐゴシック" pitchFamily="-106" charset="-128"/>
                <a:cs typeface="ＭＳ Ｐゴシック" pitchFamily="-106" charset="-128"/>
              </a:rPr>
              <a:t>“The devil made me do it.”</a:t>
            </a:r>
          </a:p>
          <a:p>
            <a:r>
              <a:rPr lang="en-US" sz="1200" kern="1200" dirty="0">
                <a:solidFill>
                  <a:schemeClr val="tx1"/>
                </a:solidFill>
                <a:effectLst/>
                <a:latin typeface="+mn-lt"/>
                <a:ea typeface="ＭＳ Ｐゴシック" pitchFamily="-106" charset="-128"/>
                <a:cs typeface="ＭＳ Ｐゴシック" pitchFamily="-106" charset="-128"/>
              </a:rPr>
              <a:t>Nor is he saying:</a:t>
            </a:r>
          </a:p>
          <a:p>
            <a:r>
              <a:rPr lang="en-US" sz="1200" kern="1200" dirty="0">
                <a:solidFill>
                  <a:schemeClr val="tx1"/>
                </a:solidFill>
                <a:effectLst/>
                <a:latin typeface="+mn-lt"/>
                <a:ea typeface="ＭＳ Ｐゴシック" pitchFamily="-106" charset="-128"/>
                <a:cs typeface="ＭＳ Ｐゴシック" pitchFamily="-106" charset="-128"/>
              </a:rPr>
              <a:t>“I am innocent.”</a:t>
            </a:r>
          </a:p>
          <a:p>
            <a:r>
              <a:rPr lang="en-US" sz="1200" kern="1200" dirty="0">
                <a:solidFill>
                  <a:schemeClr val="tx1"/>
                </a:solidFill>
                <a:effectLst/>
                <a:latin typeface="+mn-lt"/>
                <a:ea typeface="ＭＳ Ｐゴシック" pitchFamily="-106" charset="-128"/>
                <a:cs typeface="ＭＳ Ｐゴシック" pitchFamily="-106" charset="-128"/>
              </a:rPr>
              <a:t>Instead, he is distinguishing between:</a:t>
            </a:r>
          </a:p>
          <a:p>
            <a:pPr rtl="0" fontAlgn="ctr"/>
            <a:r>
              <a:rPr lang="en-US" sz="1200" kern="1200" dirty="0">
                <a:solidFill>
                  <a:schemeClr val="tx1"/>
                </a:solidFill>
                <a:effectLst/>
                <a:latin typeface="+mn-lt"/>
                <a:ea typeface="ＭＳ Ｐゴシック" pitchFamily="-106" charset="-128"/>
                <a:cs typeface="ＭＳ Ｐゴシック" pitchFamily="-106" charset="-128"/>
              </a:rPr>
              <a:t>His renewed desire to serve God.</a:t>
            </a:r>
          </a:p>
          <a:p>
            <a:pPr rtl="0" fontAlgn="ctr"/>
            <a:r>
              <a:rPr lang="en-US" sz="1200" kern="1200" dirty="0">
                <a:solidFill>
                  <a:schemeClr val="tx1"/>
                </a:solidFill>
                <a:effectLst/>
                <a:latin typeface="+mn-lt"/>
                <a:ea typeface="ＭＳ Ｐゴシック" pitchFamily="-106" charset="-128"/>
                <a:cs typeface="ＭＳ Ｐゴシック" pitchFamily="-106" charset="-128"/>
              </a:rPr>
              <a:t>The sinful impulses still operating in the flesh.</a:t>
            </a:r>
          </a:p>
          <a:p>
            <a:r>
              <a:rPr lang="en-US" sz="1200" kern="1200" dirty="0">
                <a:solidFill>
                  <a:schemeClr val="tx1"/>
                </a:solidFill>
                <a:effectLst/>
                <a:latin typeface="+mn-lt"/>
                <a:ea typeface="ＭＳ Ｐゴシック" pitchFamily="-106" charset="-128"/>
                <a:cs typeface="ＭＳ Ｐゴシック" pitchFamily="-106" charset="-128"/>
              </a:rPr>
              <a:t>Notice that he repeatedly confesses the sin as his own experience.</a:t>
            </a:r>
          </a:p>
          <a:p>
            <a:r>
              <a:rPr lang="en-US" sz="1200" kern="1200" dirty="0">
                <a:solidFill>
                  <a:schemeClr val="tx1"/>
                </a:solidFill>
                <a:effectLst/>
                <a:latin typeface="+mn-lt"/>
                <a:ea typeface="ＭＳ Ｐゴシック" pitchFamily="-106" charset="-128"/>
                <a:cs typeface="ＭＳ Ｐゴシック" pitchFamily="-106" charset="-128"/>
              </a:rPr>
              <a:t>He is explaining the source of the conflict, not denying accountability.</a:t>
            </a:r>
          </a:p>
          <a:p>
            <a:r>
              <a:rPr lang="en-US" sz="1200" b="1" kern="1200" dirty="0">
                <a:solidFill>
                  <a:schemeClr val="tx1"/>
                </a:solidFill>
                <a:effectLst/>
                <a:latin typeface="+mn-lt"/>
                <a:ea typeface="ＭＳ Ｐゴシック" pitchFamily="-106" charset="-128"/>
                <a:cs typeface="ＭＳ Ｐゴシック" pitchFamily="-106" charset="-128"/>
              </a:rPr>
              <a:t>Is the “wretched man” a Christian?</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Faithful Christians have disagreed for centuries.</a:t>
            </a:r>
          </a:p>
          <a:p>
            <a:r>
              <a:rPr lang="en-US" sz="1200" b="1" kern="1200" dirty="0">
                <a:solidFill>
                  <a:schemeClr val="tx1"/>
                </a:solidFill>
                <a:effectLst/>
                <a:latin typeface="+mn-lt"/>
                <a:ea typeface="ＭＳ Ｐゴシック" pitchFamily="-106" charset="-128"/>
                <a:cs typeface="ＭＳ Ｐゴシック" pitchFamily="-106" charset="-128"/>
              </a:rPr>
              <a:t>Reasons some say yes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kern="1200" dirty="0">
                <a:solidFill>
                  <a:schemeClr val="tx1"/>
                </a:solidFill>
                <a:effectLst/>
                <a:latin typeface="+mn-lt"/>
                <a:ea typeface="ＭＳ Ｐゴシック" pitchFamily="-106" charset="-128"/>
                <a:cs typeface="ＭＳ Ｐゴシック" pitchFamily="-106" charset="-128"/>
              </a:rPr>
              <a:t>He delights in God’s law (7:22).</a:t>
            </a:r>
          </a:p>
          <a:p>
            <a:pPr rtl="0" fontAlgn="ctr"/>
            <a:r>
              <a:rPr lang="en-US" sz="1200" kern="1200" dirty="0">
                <a:solidFill>
                  <a:schemeClr val="tx1"/>
                </a:solidFill>
                <a:effectLst/>
                <a:latin typeface="+mn-lt"/>
                <a:ea typeface="ＭＳ Ｐゴシック" pitchFamily="-106" charset="-128"/>
                <a:cs typeface="ＭＳ Ｐゴシック" pitchFamily="-106" charset="-128"/>
              </a:rPr>
              <a:t>He serves God’s law with his mind (7:25).</a:t>
            </a:r>
          </a:p>
          <a:p>
            <a:pPr rtl="0" fontAlgn="ctr"/>
            <a:r>
              <a:rPr lang="en-US" sz="1200" kern="1200" dirty="0">
                <a:solidFill>
                  <a:schemeClr val="tx1"/>
                </a:solidFill>
                <a:effectLst/>
                <a:latin typeface="+mn-lt"/>
                <a:ea typeface="ＭＳ Ｐゴシック" pitchFamily="-106" charset="-128"/>
                <a:cs typeface="ＭＳ Ｐゴシック" pitchFamily="-106" charset="-128"/>
              </a:rPr>
              <a:t>The struggle resembles the believer’s battle against temptation.</a:t>
            </a:r>
          </a:p>
          <a:p>
            <a:r>
              <a:rPr lang="en-US" sz="1200" b="1" kern="1200" dirty="0">
                <a:solidFill>
                  <a:schemeClr val="tx1"/>
                </a:solidFill>
                <a:effectLst/>
                <a:latin typeface="+mn-lt"/>
                <a:ea typeface="ＭＳ Ｐゴシック" pitchFamily="-106" charset="-128"/>
                <a:cs typeface="ＭＳ Ｐゴシック" pitchFamily="-106" charset="-128"/>
              </a:rPr>
              <a:t>Reasons some say no</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kern="1200" dirty="0">
                <a:solidFill>
                  <a:schemeClr val="tx1"/>
                </a:solidFill>
                <a:effectLst/>
                <a:latin typeface="+mn-lt"/>
                <a:ea typeface="ＭＳ Ｐゴシック" pitchFamily="-106" charset="-128"/>
                <a:cs typeface="ＭＳ Ｐゴシック" pitchFamily="-106" charset="-128"/>
              </a:rPr>
              <a:t>He is described as:</a:t>
            </a:r>
          </a:p>
          <a:p>
            <a:pPr lvl="1" rtl="0" fontAlgn="ctr"/>
            <a:r>
              <a:rPr lang="en-US" sz="1200" kern="1200" dirty="0">
                <a:solidFill>
                  <a:schemeClr val="tx1"/>
                </a:solidFill>
                <a:effectLst/>
                <a:latin typeface="+mn-lt"/>
                <a:ea typeface="ＭＳ Ｐゴシック" pitchFamily="-106" charset="-128"/>
                <a:cs typeface="+mn-cs"/>
              </a:rPr>
              <a:t>“sold into bondage to sin” (7:14)</a:t>
            </a:r>
          </a:p>
          <a:p>
            <a:pPr lvl="1" rtl="0" fontAlgn="ctr"/>
            <a:r>
              <a:rPr lang="en-US" sz="1200" kern="1200" dirty="0">
                <a:solidFill>
                  <a:schemeClr val="tx1"/>
                </a:solidFill>
                <a:effectLst/>
                <a:latin typeface="+mn-lt"/>
                <a:ea typeface="ＭＳ Ｐゴシック" pitchFamily="-106" charset="-128"/>
                <a:cs typeface="+mn-cs"/>
              </a:rPr>
              <a:t>“captive to the law of sin” (7:23)</a:t>
            </a:r>
          </a:p>
          <a:p>
            <a:r>
              <a:rPr lang="en-US" sz="1200" kern="1200" dirty="0">
                <a:solidFill>
                  <a:schemeClr val="tx1"/>
                </a:solidFill>
                <a:effectLst/>
                <a:latin typeface="+mn-lt"/>
                <a:ea typeface="ＭＳ Ｐゴシック" pitchFamily="-106" charset="-128"/>
                <a:cs typeface="ＭＳ Ｐゴシック" pitchFamily="-106" charset="-128"/>
              </a:rPr>
              <a:t>Those descriptions seem difficult to reconcile with Romans 6, where believers have been freed from sin’s dominion.</a:t>
            </a:r>
          </a:p>
          <a:p>
            <a:r>
              <a:rPr lang="en-US" sz="1200" kern="1200" dirty="0">
                <a:solidFill>
                  <a:schemeClr val="tx1"/>
                </a:solidFill>
                <a:effectLst/>
                <a:latin typeface="+mn-lt"/>
                <a:ea typeface="ＭＳ Ｐゴシック" pitchFamily="-106" charset="-128"/>
                <a:cs typeface="ＭＳ Ｐゴシック" pitchFamily="-106" charset="-128"/>
              </a:rPr>
              <a:t>I tend to see Romans 7:13-24 as describing a person under Law apart from the full victory described in Christ. Paul is demonstrating the inability of Law to produce righteousness. Romans 8 then provides the answer.</a:t>
            </a:r>
          </a:p>
          <a:p>
            <a:r>
              <a:rPr lang="en-US" sz="1200" b="1" kern="1200" dirty="0">
                <a:solidFill>
                  <a:schemeClr val="tx1"/>
                </a:solidFill>
                <a:effectLst/>
                <a:latin typeface="+mn-lt"/>
                <a:ea typeface="ＭＳ Ｐゴシック" pitchFamily="-106" charset="-128"/>
                <a:cs typeface="ＭＳ Ｐゴシック" pitchFamily="-106" charset="-128"/>
              </a:rPr>
              <a:t>Is the wretched man incapable of doing any good?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Not entirely.</a:t>
            </a:r>
          </a:p>
          <a:p>
            <a:r>
              <a:rPr lang="en-US" sz="1200" kern="1200" dirty="0">
                <a:solidFill>
                  <a:schemeClr val="tx1"/>
                </a:solidFill>
                <a:effectLst/>
                <a:latin typeface="+mn-lt"/>
                <a:ea typeface="ＭＳ Ｐゴシック" pitchFamily="-106" charset="-128"/>
                <a:cs typeface="ＭＳ Ｐゴシック" pitchFamily="-106" charset="-128"/>
              </a:rPr>
              <a:t>He desires good.</a:t>
            </a:r>
          </a:p>
          <a:p>
            <a:r>
              <a:rPr lang="en-US" sz="1200" kern="1200" dirty="0">
                <a:solidFill>
                  <a:schemeClr val="tx1"/>
                </a:solidFill>
                <a:effectLst/>
                <a:latin typeface="+mn-lt"/>
                <a:ea typeface="ＭＳ Ｐゴシック" pitchFamily="-106" charset="-128"/>
                <a:cs typeface="ＭＳ Ｐゴシック" pitchFamily="-106" charset="-128"/>
              </a:rPr>
              <a:t>He recognizes good.</a:t>
            </a:r>
          </a:p>
          <a:p>
            <a:r>
              <a:rPr lang="en-US" sz="1200" kern="1200" dirty="0">
                <a:solidFill>
                  <a:schemeClr val="tx1"/>
                </a:solidFill>
                <a:effectLst/>
                <a:latin typeface="+mn-lt"/>
                <a:ea typeface="ＭＳ Ｐゴシック" pitchFamily="-106" charset="-128"/>
                <a:cs typeface="ＭＳ Ｐゴシック" pitchFamily="-106" charset="-128"/>
              </a:rPr>
              <a:t>He approves of good.</a:t>
            </a:r>
          </a:p>
          <a:p>
            <a:r>
              <a:rPr lang="en-US" sz="1200" kern="1200" dirty="0">
                <a:solidFill>
                  <a:schemeClr val="tx1"/>
                </a:solidFill>
                <a:effectLst/>
                <a:latin typeface="+mn-lt"/>
                <a:ea typeface="ＭＳ Ｐゴシック" pitchFamily="-106" charset="-128"/>
                <a:cs typeface="ＭＳ Ｐゴシック" pitchFamily="-106" charset="-128"/>
              </a:rPr>
              <a:t>But he lacks the power to consistently perform it.</a:t>
            </a:r>
          </a:p>
          <a:p>
            <a:r>
              <a:rPr lang="en-US" sz="1200" kern="1200" dirty="0">
                <a:solidFill>
                  <a:schemeClr val="tx1"/>
                </a:solidFill>
                <a:effectLst/>
                <a:latin typeface="+mn-lt"/>
                <a:ea typeface="ＭＳ Ｐゴシック" pitchFamily="-106" charset="-128"/>
                <a:cs typeface="ＭＳ Ｐゴシック" pitchFamily="-106" charset="-128"/>
              </a:rPr>
              <a:t>The problem is not knowledge.</a:t>
            </a:r>
          </a:p>
          <a:p>
            <a:r>
              <a:rPr lang="en-US" sz="1200" kern="1200" dirty="0">
                <a:solidFill>
                  <a:schemeClr val="tx1"/>
                </a:solidFill>
                <a:effectLst/>
                <a:latin typeface="+mn-lt"/>
                <a:ea typeface="ＭＳ Ｐゴシック" pitchFamily="-106" charset="-128"/>
                <a:cs typeface="ＭＳ Ｐゴシック" pitchFamily="-106" charset="-128"/>
              </a:rPr>
              <a:t>The problem is inability.</a:t>
            </a:r>
          </a:p>
          <a:p>
            <a:r>
              <a:rPr lang="en-US" sz="1200" kern="1200" dirty="0">
                <a:solidFill>
                  <a:schemeClr val="tx1"/>
                </a:solidFill>
                <a:effectLst/>
                <a:latin typeface="+mn-lt"/>
                <a:ea typeface="ＭＳ Ｐゴシック" pitchFamily="-106" charset="-128"/>
                <a:cs typeface="ＭＳ Ｐゴシック" pitchFamily="-106" charset="-128"/>
              </a:rPr>
              <a:t>The Law can inform the conscience but cannot transform the heart.</a:t>
            </a:r>
          </a:p>
          <a:p>
            <a:r>
              <a:rPr lang="en-US" sz="1400" b="1" kern="1200" dirty="0">
                <a:solidFill>
                  <a:schemeClr val="tx1"/>
                </a:solidFill>
                <a:effectLst/>
                <a:latin typeface="+mn-lt"/>
                <a:ea typeface="ＭＳ Ｐゴシック" pitchFamily="-106" charset="-128"/>
                <a:cs typeface="ＭＳ Ｐゴシック" pitchFamily="-106" charset="-128"/>
              </a:rPr>
              <a:t>Is the wretched man captive to the law of sin and death?</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According to Romans 7:23, yes.</a:t>
            </a:r>
          </a:p>
          <a:p>
            <a:r>
              <a:rPr lang="en-US" sz="1400" kern="1200" dirty="0">
                <a:solidFill>
                  <a:schemeClr val="tx1"/>
                </a:solidFill>
                <a:effectLst/>
                <a:latin typeface="+mn-lt"/>
                <a:ea typeface="ＭＳ Ｐゴシック" pitchFamily="-106" charset="-128"/>
                <a:cs typeface="ＭＳ Ｐゴシック" pitchFamily="-106" charset="-128"/>
              </a:rPr>
              <a:t>That is exactly why he cries out:</a:t>
            </a:r>
          </a:p>
          <a:p>
            <a:r>
              <a:rPr lang="en-US" sz="1400" kern="1200" dirty="0">
                <a:solidFill>
                  <a:schemeClr val="tx1"/>
                </a:solidFill>
                <a:effectLst/>
                <a:latin typeface="+mn-lt"/>
                <a:ea typeface="ＭＳ Ｐゴシック" pitchFamily="-106" charset="-128"/>
                <a:cs typeface="ＭＳ Ｐゴシック" pitchFamily="-106" charset="-128"/>
              </a:rPr>
              <a:t>“Wretched man that I am! Who will rescue me from this body of death?” (7:24)</a:t>
            </a:r>
          </a:p>
          <a:p>
            <a:r>
              <a:rPr lang="en-US" sz="1400" kern="1200" dirty="0">
                <a:solidFill>
                  <a:schemeClr val="tx1"/>
                </a:solidFill>
                <a:effectLst/>
                <a:latin typeface="+mn-lt"/>
                <a:ea typeface="ＭＳ Ｐゴシック" pitchFamily="-106" charset="-128"/>
                <a:cs typeface="ＭＳ Ｐゴシック" pitchFamily="-106" charset="-128"/>
              </a:rPr>
              <a:t>The rescue has not yet been explained.</a:t>
            </a:r>
          </a:p>
          <a:p>
            <a:r>
              <a:rPr lang="en-US" sz="1400" kern="1200" dirty="0">
                <a:solidFill>
                  <a:schemeClr val="tx1"/>
                </a:solidFill>
                <a:effectLst/>
                <a:latin typeface="+mn-lt"/>
                <a:ea typeface="ＭＳ Ｐゴシック" pitchFamily="-106" charset="-128"/>
                <a:cs typeface="ＭＳ Ｐゴシック" pitchFamily="-106" charset="-128"/>
              </a:rPr>
              <a:t>The answer arrives immediately in Christ.</a:t>
            </a:r>
          </a:p>
          <a:p>
            <a:r>
              <a:rPr lang="en-US" sz="1400" b="1" kern="1200" dirty="0">
                <a:solidFill>
                  <a:schemeClr val="tx1"/>
                </a:solidFill>
                <a:effectLst/>
                <a:latin typeface="+mn-lt"/>
                <a:ea typeface="ＭＳ Ｐゴシック" pitchFamily="-106" charset="-128"/>
                <a:cs typeface="ＭＳ Ｐゴシック" pitchFamily="-106" charset="-128"/>
              </a:rPr>
              <a:t>Does the wretched man live in a body of death?</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Yes.</a:t>
            </a:r>
          </a:p>
          <a:p>
            <a:r>
              <a:rPr lang="en-US" sz="1400" kern="1200" dirty="0">
                <a:solidFill>
                  <a:schemeClr val="tx1"/>
                </a:solidFill>
                <a:effectLst/>
                <a:latin typeface="+mn-lt"/>
                <a:ea typeface="ＭＳ Ｐゴシック" pitchFamily="-106" charset="-128"/>
                <a:cs typeface="ＭＳ Ｐゴシック" pitchFamily="-106" charset="-128"/>
              </a:rPr>
              <a:t>The phrase points to mortal, fallen human existence.</a:t>
            </a:r>
          </a:p>
          <a:p>
            <a:r>
              <a:rPr lang="en-US" sz="1400" kern="1200" dirty="0">
                <a:solidFill>
                  <a:schemeClr val="tx1"/>
                </a:solidFill>
                <a:effectLst/>
                <a:latin typeface="+mn-lt"/>
                <a:ea typeface="ＭＳ Ｐゴシック" pitchFamily="-106" charset="-128"/>
                <a:cs typeface="ＭＳ Ｐゴシック" pitchFamily="-106" charset="-128"/>
              </a:rPr>
              <a:t>The body itself is not evil.</a:t>
            </a:r>
          </a:p>
          <a:p>
            <a:r>
              <a:rPr lang="en-US" sz="1400" kern="1200" dirty="0">
                <a:solidFill>
                  <a:schemeClr val="tx1"/>
                </a:solidFill>
                <a:effectLst/>
                <a:latin typeface="+mn-lt"/>
                <a:ea typeface="ＭＳ Ｐゴシック" pitchFamily="-106" charset="-128"/>
                <a:cs typeface="ＭＳ Ｐゴシック" pitchFamily="-106" charset="-128"/>
              </a:rPr>
              <a:t>But it is the arena in which sin operates and through which death reigns.</a:t>
            </a:r>
          </a:p>
          <a:p>
            <a:r>
              <a:rPr lang="en-US" sz="1400" kern="1200" dirty="0">
                <a:solidFill>
                  <a:schemeClr val="tx1"/>
                </a:solidFill>
                <a:effectLst/>
                <a:latin typeface="+mn-lt"/>
                <a:ea typeface="ＭＳ Ｐゴシック" pitchFamily="-106" charset="-128"/>
                <a:cs typeface="ＭＳ Ｐゴシック" pitchFamily="-106" charset="-128"/>
              </a:rPr>
              <a:t>Romans 8 will later speak of the redemption of the body.</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324720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636F-46AA-95C1-4F3C-A62B48B02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50710-43B7-0FD8-FC57-CB35D3FC8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B5076-B1F5-C8ED-6092-8A19B118F77C}"/>
              </a:ext>
            </a:extLst>
          </p:cNvPr>
          <p:cNvSpPr>
            <a:spLocks noGrp="1"/>
          </p:cNvSpPr>
          <p:nvPr>
            <p:ph type="body" idx="1"/>
          </p:nvPr>
        </p:nvSpPr>
        <p:spPr/>
        <p:txBody>
          <a:bodyPr>
            <a:normAutofit fontScale="550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Romans 8</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solution.</a:t>
            </a:r>
          </a:p>
          <a:p>
            <a:r>
              <a:rPr lang="en-US" sz="1200" kern="1200" dirty="0">
                <a:solidFill>
                  <a:schemeClr val="tx1"/>
                </a:solidFill>
                <a:effectLst/>
                <a:latin typeface="+mn-lt"/>
                <a:ea typeface="ＭＳ Ｐゴシック" pitchFamily="-106" charset="-128"/>
                <a:cs typeface="ＭＳ Ｐゴシック" pitchFamily="-106" charset="-128"/>
              </a:rPr>
              <a:t>“For the law of the Spirit of life in Christ Jesus has set you free from the law of sin and death.” (Romans 8:2)</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What the Law could not do:</a:t>
            </a:r>
          </a:p>
          <a:p>
            <a:r>
              <a:rPr lang="en-US" sz="1200" kern="1200" dirty="0">
                <a:solidFill>
                  <a:schemeClr val="tx1"/>
                </a:solidFill>
                <a:effectLst/>
                <a:latin typeface="+mn-lt"/>
                <a:ea typeface="ＭＳ Ｐゴシック" pitchFamily="-106" charset="-128"/>
                <a:cs typeface="ＭＳ Ｐゴシック" pitchFamily="-106" charset="-128"/>
              </a:rPr>
              <a:t>“God did…” (Romans 8:3)</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So Romans 7 is not Paul’s description of the normal Christian life as one of perpetual defeat. It is his explanation of why Law cannot produce righteousness. Romans 8 provides the answer: the believer serves righteousness not through the power of Law, but through union with Christ and the indwelling Holy Spirit.</a:t>
            </a:r>
          </a:p>
          <a:p>
            <a:r>
              <a:rPr lang="en-US" sz="1200" kern="1200" dirty="0">
                <a:solidFill>
                  <a:schemeClr val="tx1"/>
                </a:solidFill>
                <a:effectLst/>
                <a:latin typeface="+mn-lt"/>
                <a:ea typeface="ＭＳ Ｐゴシック" pitchFamily="-106" charset="-128"/>
                <a:cs typeface="ＭＳ Ｐゴシック" pitchFamily="-106" charset="-128"/>
              </a:rPr>
              <a:t>The cry of Romans 7:24:</a:t>
            </a:r>
          </a:p>
          <a:p>
            <a:r>
              <a:rPr lang="en-US" sz="1200" kern="1200" dirty="0">
                <a:solidFill>
                  <a:schemeClr val="tx1"/>
                </a:solidFill>
                <a:effectLst/>
                <a:latin typeface="+mn-lt"/>
                <a:ea typeface="ＭＳ Ｐゴシック" pitchFamily="-106" charset="-128"/>
                <a:cs typeface="ＭＳ Ｐゴシック" pitchFamily="-106" charset="-128"/>
              </a:rPr>
              <a:t>	“Who will rescue me?”</a:t>
            </a:r>
          </a:p>
          <a:p>
            <a:r>
              <a:rPr lang="en-US" sz="1200" kern="1200" dirty="0">
                <a:solidFill>
                  <a:schemeClr val="tx1"/>
                </a:solidFill>
                <a:effectLst/>
                <a:latin typeface="+mn-lt"/>
                <a:ea typeface="ＭＳ Ｐゴシック" pitchFamily="-106" charset="-128"/>
                <a:cs typeface="ＭＳ Ｐゴシック" pitchFamily="-106" charset="-128"/>
              </a:rPr>
              <a:t>finds its answer in Romans 8:1-2:</a:t>
            </a:r>
          </a:p>
          <a:p>
            <a:r>
              <a:rPr lang="en-US" sz="1200" kern="1200" dirty="0">
                <a:solidFill>
                  <a:schemeClr val="tx1"/>
                </a:solidFill>
                <a:effectLst/>
                <a:latin typeface="+mn-lt"/>
                <a:ea typeface="ＭＳ Ｐゴシック" pitchFamily="-106" charset="-128"/>
                <a:cs typeface="ＭＳ Ｐゴシック" pitchFamily="-106" charset="-128"/>
              </a:rPr>
              <a:t>	“There is therefore now no condemnation for those who are in Christ Jesus. For the law of the Spirit of life in Christ Jesus has set you free from the law of sin and death.” (NET)</a:t>
            </a:r>
          </a:p>
          <a:p>
            <a:endParaRPr lang="en-US" sz="1400" dirty="0"/>
          </a:p>
        </p:txBody>
      </p:sp>
      <p:sp>
        <p:nvSpPr>
          <p:cNvPr id="4" name="Slide Number Placeholder 3">
            <a:extLst>
              <a:ext uri="{FF2B5EF4-FFF2-40B4-BE49-F238E27FC236}">
                <a16:creationId xmlns:a16="http://schemas.microsoft.com/office/drawing/2014/main" id="{E6BE03F8-851E-2DCB-F2F7-F58C0F6DF3B7}"/>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2149799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3989796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omeGospe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TeachTheWor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143000"/>
            <a:ext cx="7772400" cy="1470025"/>
          </a:xfrm>
        </p:spPr>
        <p:txBody>
          <a:bodyPr/>
          <a:lstStyle/>
          <a:p>
            <a:pPr eaLnBrk="1" hangingPunct="1"/>
            <a:r>
              <a:rPr lang="en-US" sz="6000" dirty="0"/>
              <a:t>Romans</a:t>
            </a:r>
            <a:endParaRPr sz="6000" dirty="0"/>
          </a:p>
        </p:txBody>
      </p:sp>
      <p:sp>
        <p:nvSpPr>
          <p:cNvPr id="6147" name="Subtitle 2"/>
          <p:cNvSpPr>
            <a:spLocks noGrp="1"/>
          </p:cNvSpPr>
          <p:nvPr>
            <p:ph type="subTitle" idx="1"/>
          </p:nvPr>
        </p:nvSpPr>
        <p:spPr>
          <a:xfrm>
            <a:off x="1371600" y="2757552"/>
            <a:ext cx="6400800" cy="2974848"/>
          </a:xfrm>
        </p:spPr>
        <p:txBody>
          <a:bodyPr/>
          <a:lstStyle/>
          <a:p>
            <a:pPr eaLnBrk="1" hangingPunct="1"/>
            <a:r>
              <a:rPr lang="en-US" dirty="0"/>
              <a:t>Freedom from Old Law</a:t>
            </a:r>
          </a:p>
          <a:p>
            <a:pPr eaLnBrk="1" hangingPunct="1"/>
            <a:r>
              <a:rPr lang="en-US" dirty="0"/>
              <a:t>Chapter 7</a:t>
            </a:r>
          </a:p>
          <a:p>
            <a:pPr eaLnBrk="1" hangingPunct="1"/>
            <a:endParaRPr lang="en-US" dirty="0"/>
          </a:p>
          <a:p>
            <a:pPr eaLnBrk="1" hangingPunct="1"/>
            <a:r>
              <a:rPr lang="en-US" dirty="0">
                <a:hlinkClick r:id="rId3"/>
              </a:rPr>
              <a:t>https://tinyurl.com/RomeGospel</a:t>
            </a:r>
            <a:endParaRPr lang="en-US" dirty="0"/>
          </a:p>
          <a:p>
            <a:pPr eaLnBrk="1" hangingPunct="1"/>
            <a:r>
              <a:rPr lang="en-US" dirty="0">
                <a:hlinkClick r:id="rId4"/>
              </a:rPr>
              <a:t>https://tinyurl.com/TeachTheWord</a:t>
            </a:r>
            <a:endParaRPr lang="en-US" dirty="0"/>
          </a:p>
          <a:p>
            <a:pPr eaLnBrk="1" hangingPunct="1"/>
            <a:endParaRPr lang="en-US" dirty="0"/>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(GOD’s great solution – the </a:t>
            </a:r>
            <a:r>
              <a:rPr lang="en-US" sz="2000" b="1" i="1" dirty="0"/>
              <a:t>Father</a:t>
            </a:r>
            <a:r>
              <a:rPr lang="en-US" sz="2000" i="1" dirty="0"/>
              <a:t> provides) </a:t>
            </a:r>
          </a:p>
          <a:p>
            <a:pPr marL="342900" indent="-342900">
              <a:buFont typeface="Arial" pitchFamily="34" charset="0"/>
              <a:buChar char="•"/>
            </a:pPr>
            <a:r>
              <a:rPr lang="en-US" sz="2000" i="1" dirty="0"/>
              <a:t>4-5 Salvation (GOD’s great gift – the </a:t>
            </a:r>
            <a:r>
              <a:rPr lang="en-US" sz="2000" b="1" i="1" dirty="0"/>
              <a:t>Son</a:t>
            </a:r>
            <a:r>
              <a:rPr lang="en-US" sz="2000" i="1" dirty="0"/>
              <a:t> provides)</a:t>
            </a:r>
          </a:p>
          <a:p>
            <a:pPr marL="342900" indent="-342900">
              <a:buFont typeface="Arial" pitchFamily="34" charset="0"/>
              <a:buChar char="•"/>
            </a:pPr>
            <a:r>
              <a:rPr lang="en-US" sz="2000" i="1" dirty="0"/>
              <a:t>6-8 Sanctification (GOD’s great work – the </a:t>
            </a:r>
            <a:r>
              <a:rPr lang="en-US" sz="2000" b="1" i="1" dirty="0"/>
              <a:t>Spirit</a:t>
            </a:r>
            <a:r>
              <a:rPr lang="en-US" sz="2000" i="1" dirty="0"/>
              <a:t> provides)</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1419932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fontScale="90000"/>
          </a:bodyPr>
          <a:lstStyle/>
          <a:p>
            <a:pPr algn="l"/>
            <a:r>
              <a:rPr lang="en-US" dirty="0"/>
              <a:t>The Law in Context</a:t>
            </a:r>
            <a:br>
              <a:rPr lang="en-US" dirty="0"/>
            </a:br>
            <a:r>
              <a:rPr lang="en-US" sz="2400" dirty="0">
                <a:solidFill>
                  <a:schemeClr val="tx2">
                    <a:lumMod val="60000"/>
                    <a:lumOff val="40000"/>
                  </a:schemeClr>
                </a:solidFill>
              </a:rPr>
              <a:t>A reflection of human behavior (sin nature of man)</a:t>
            </a:r>
          </a:p>
        </p:txBody>
      </p:sp>
      <p:sp>
        <p:nvSpPr>
          <p:cNvPr id="3" name="TextBox 2"/>
          <p:cNvSpPr txBox="1"/>
          <p:nvPr/>
        </p:nvSpPr>
        <p:spPr>
          <a:xfrm>
            <a:off x="425116" y="2148933"/>
            <a:ext cx="8001000" cy="707886"/>
          </a:xfrm>
          <a:prstGeom prst="rect">
            <a:avLst/>
          </a:prstGeom>
          <a:noFill/>
        </p:spPr>
        <p:txBody>
          <a:bodyPr wrap="square" rtlCol="0">
            <a:spAutoFit/>
          </a:bodyPr>
          <a:lstStyle/>
          <a:p>
            <a:r>
              <a:rPr lang="en-US" sz="2000" b="1" i="1" dirty="0"/>
              <a:t>“The heart is deceitful above all things, and desperately wicked; who can know it?”    </a:t>
            </a:r>
            <a:r>
              <a:rPr lang="en-US" sz="2000" i="1" dirty="0"/>
              <a:t>Jeremiah 17:9</a:t>
            </a:r>
          </a:p>
        </p:txBody>
      </p:sp>
      <p:sp>
        <p:nvSpPr>
          <p:cNvPr id="6" name="TextBox 5"/>
          <p:cNvSpPr txBox="1"/>
          <p:nvPr/>
        </p:nvSpPr>
        <p:spPr>
          <a:xfrm>
            <a:off x="425116" y="1003167"/>
            <a:ext cx="8001000" cy="1015663"/>
          </a:xfrm>
          <a:prstGeom prst="rect">
            <a:avLst/>
          </a:prstGeom>
          <a:noFill/>
        </p:spPr>
        <p:txBody>
          <a:bodyPr wrap="square" rtlCol="0">
            <a:spAutoFit/>
          </a:bodyPr>
          <a:lstStyle/>
          <a:p>
            <a:r>
              <a:rPr lang="en-US" sz="2000" i="1" dirty="0"/>
              <a:t>“For </a:t>
            </a:r>
            <a:r>
              <a:rPr lang="en-US" sz="2000" b="1" i="1" dirty="0"/>
              <a:t>whatever things were written before were written for our learning</a:t>
            </a:r>
            <a:r>
              <a:rPr lang="en-US" sz="2000" i="1" dirty="0"/>
              <a:t>, that we through the patience and comfort of the Scriptures might have hope.”    Romans 15:4   </a:t>
            </a:r>
          </a:p>
        </p:txBody>
      </p:sp>
      <p:sp>
        <p:nvSpPr>
          <p:cNvPr id="7" name="TextBox 6"/>
          <p:cNvSpPr txBox="1"/>
          <p:nvPr/>
        </p:nvSpPr>
        <p:spPr>
          <a:xfrm>
            <a:off x="425116" y="2986922"/>
            <a:ext cx="8001000" cy="707886"/>
          </a:xfrm>
          <a:prstGeom prst="rect">
            <a:avLst/>
          </a:prstGeom>
          <a:noFill/>
        </p:spPr>
        <p:txBody>
          <a:bodyPr wrap="square" rtlCol="0">
            <a:spAutoFit/>
          </a:bodyPr>
          <a:lstStyle/>
          <a:p>
            <a:r>
              <a:rPr lang="en-US" sz="2000" i="1" dirty="0"/>
              <a:t>“Therefore by the deeds of the law no flesh will be justified in His sight, for </a:t>
            </a:r>
            <a:r>
              <a:rPr lang="en-US" sz="2000" b="1" i="1" dirty="0"/>
              <a:t>by the law is the knowledge of sin</a:t>
            </a:r>
            <a:r>
              <a:rPr lang="en-US" sz="2000" i="1" dirty="0"/>
              <a:t>.”    Romans 3:20</a:t>
            </a:r>
          </a:p>
        </p:txBody>
      </p:sp>
      <p:sp>
        <p:nvSpPr>
          <p:cNvPr id="8" name="TextBox 7"/>
          <p:cNvSpPr txBox="1"/>
          <p:nvPr/>
        </p:nvSpPr>
        <p:spPr>
          <a:xfrm>
            <a:off x="425116" y="3824911"/>
            <a:ext cx="8001000" cy="707886"/>
          </a:xfrm>
          <a:prstGeom prst="rect">
            <a:avLst/>
          </a:prstGeom>
          <a:noFill/>
        </p:spPr>
        <p:txBody>
          <a:bodyPr wrap="square" rtlCol="0">
            <a:spAutoFit/>
          </a:bodyPr>
          <a:lstStyle/>
          <a:p>
            <a:r>
              <a:rPr lang="en-US" sz="2000" i="1" dirty="0"/>
              <a:t>“Therefore we conclude that a man is </a:t>
            </a:r>
            <a:r>
              <a:rPr lang="en-US" sz="2000" b="1" i="1" dirty="0"/>
              <a:t>justified by faith apart of the deeds of the law</a:t>
            </a:r>
            <a:r>
              <a:rPr lang="en-US" sz="2000" i="1" dirty="0"/>
              <a:t>.”    Romans 3:28</a:t>
            </a:r>
          </a:p>
        </p:txBody>
      </p:sp>
      <p:sp>
        <p:nvSpPr>
          <p:cNvPr id="9" name="TextBox 8"/>
          <p:cNvSpPr txBox="1"/>
          <p:nvPr/>
        </p:nvSpPr>
        <p:spPr>
          <a:xfrm>
            <a:off x="425116" y="5500890"/>
            <a:ext cx="8001000" cy="707886"/>
          </a:xfrm>
          <a:prstGeom prst="rect">
            <a:avLst/>
          </a:prstGeom>
          <a:noFill/>
        </p:spPr>
        <p:txBody>
          <a:bodyPr wrap="square" rtlCol="0">
            <a:spAutoFit/>
          </a:bodyPr>
          <a:lstStyle/>
          <a:p>
            <a:r>
              <a:rPr lang="en-US" sz="2000" i="1" dirty="0"/>
              <a:t>“For if the </a:t>
            </a:r>
            <a:r>
              <a:rPr lang="en-US" sz="2000" b="1" i="1" dirty="0"/>
              <a:t>ministry of condemnation </a:t>
            </a:r>
            <a:r>
              <a:rPr lang="en-US" sz="2000" i="1" dirty="0"/>
              <a:t>had glory, the ministry of righteousness exceeds much more in glory.”    2 Cor. 3:9</a:t>
            </a:r>
          </a:p>
        </p:txBody>
      </p:sp>
      <p:sp>
        <p:nvSpPr>
          <p:cNvPr id="10" name="TextBox 9"/>
          <p:cNvSpPr txBox="1"/>
          <p:nvPr/>
        </p:nvSpPr>
        <p:spPr>
          <a:xfrm>
            <a:off x="425116" y="4662900"/>
            <a:ext cx="8001000" cy="707886"/>
          </a:xfrm>
          <a:prstGeom prst="rect">
            <a:avLst/>
          </a:prstGeom>
          <a:noFill/>
        </p:spPr>
        <p:txBody>
          <a:bodyPr wrap="square" rtlCol="0">
            <a:spAutoFit/>
          </a:bodyPr>
          <a:lstStyle/>
          <a:p>
            <a:r>
              <a:rPr lang="en-US" sz="2000" i="1" dirty="0"/>
              <a:t>“Moreover the </a:t>
            </a:r>
            <a:r>
              <a:rPr lang="en-US" sz="2000" b="1" i="1" dirty="0"/>
              <a:t>law entered that the offense might abound</a:t>
            </a:r>
            <a:r>
              <a:rPr lang="en-US" sz="2000" i="1" dirty="0"/>
              <a:t>.  But where sin abounded, grace abounded much more.”    Romans 3:28</a:t>
            </a:r>
          </a:p>
        </p:txBody>
      </p:sp>
    </p:spTree>
    <p:extLst>
      <p:ext uri="{BB962C8B-B14F-4D97-AF65-F5344CB8AC3E}">
        <p14:creationId xmlns:p14="http://schemas.microsoft.com/office/powerpoint/2010/main" val="71826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15663"/>
          </a:xfrm>
        </p:spPr>
        <p:txBody>
          <a:bodyPr>
            <a:normAutofit fontScale="90000"/>
          </a:bodyPr>
          <a:lstStyle/>
          <a:p>
            <a:pPr algn="l"/>
            <a:r>
              <a:rPr lang="en-US" dirty="0"/>
              <a:t>The Law in Context</a:t>
            </a:r>
            <a:br>
              <a:rPr lang="en-US" dirty="0"/>
            </a:br>
            <a:r>
              <a:rPr lang="en-US" sz="2400" dirty="0">
                <a:solidFill>
                  <a:schemeClr val="tx2">
                    <a:lumMod val="60000"/>
                    <a:lumOff val="40000"/>
                  </a:schemeClr>
                </a:solidFill>
              </a:rPr>
              <a:t>A reflection of the will and purpose of God</a:t>
            </a:r>
          </a:p>
        </p:txBody>
      </p:sp>
      <p:sp>
        <p:nvSpPr>
          <p:cNvPr id="6" name="TextBox 5"/>
          <p:cNvSpPr txBox="1"/>
          <p:nvPr/>
        </p:nvSpPr>
        <p:spPr>
          <a:xfrm>
            <a:off x="441158" y="3429000"/>
            <a:ext cx="8001000" cy="3170099"/>
          </a:xfrm>
          <a:prstGeom prst="rect">
            <a:avLst/>
          </a:prstGeom>
          <a:noFill/>
        </p:spPr>
        <p:txBody>
          <a:bodyPr wrap="square" rtlCol="0">
            <a:spAutoFit/>
          </a:bodyPr>
          <a:lstStyle/>
          <a:p>
            <a:r>
              <a:rPr lang="en-US" sz="2000" b="1" i="1" dirty="0"/>
              <a:t>Romans 7:1-4</a:t>
            </a:r>
          </a:p>
          <a:p>
            <a:pPr marL="342900" indent="-342900">
              <a:buFont typeface="Arial" panose="020B0604020202020204" pitchFamily="34" charset="0"/>
              <a:buChar char="•"/>
            </a:pPr>
            <a:r>
              <a:rPr lang="en-US" sz="2000" dirty="0"/>
              <a:t>In the illustration of the husband and wife, what is Paul’s single point?</a:t>
            </a:r>
          </a:p>
          <a:p>
            <a:pPr marL="342900" indent="-342900">
              <a:buFont typeface="Arial" panose="020B0604020202020204" pitchFamily="34" charset="0"/>
              <a:buChar char="•"/>
            </a:pPr>
            <a:r>
              <a:rPr lang="en-US" sz="2000" dirty="0"/>
              <a:t>How does this illustration reflect upon versus 6:2-6?</a:t>
            </a:r>
          </a:p>
          <a:p>
            <a:pPr marL="342900" indent="-342900">
              <a:buFont typeface="Arial" panose="020B0604020202020204" pitchFamily="34" charset="0"/>
              <a:buChar char="•"/>
            </a:pPr>
            <a:r>
              <a:rPr lang="en-US" sz="2000" dirty="0"/>
              <a:t>What are the demands of law?</a:t>
            </a:r>
          </a:p>
          <a:p>
            <a:pPr marL="342900" indent="-342900">
              <a:buFont typeface="Arial" panose="020B0604020202020204" pitchFamily="34" charset="0"/>
              <a:buChar char="•"/>
            </a:pPr>
            <a:r>
              <a:rPr lang="en-US" sz="2000" dirty="0"/>
              <a:t>Did moral law exist before the Mosaic covenant?</a:t>
            </a:r>
          </a:p>
          <a:p>
            <a:pPr marL="342900" indent="-342900">
              <a:buFont typeface="Arial" panose="020B0604020202020204" pitchFamily="34" charset="0"/>
              <a:buChar char="•"/>
            </a:pPr>
            <a:r>
              <a:rPr lang="en-US" sz="2000" dirty="0"/>
              <a:t>Does a person have to die to some law before they can come under the Law of Christ?</a:t>
            </a:r>
          </a:p>
          <a:p>
            <a:pPr marL="342900" indent="-342900">
              <a:buFont typeface="Arial" panose="020B0604020202020204" pitchFamily="34" charset="0"/>
              <a:buChar char="•"/>
            </a:pPr>
            <a:r>
              <a:rPr lang="en-US" sz="2000" dirty="0"/>
              <a:t>After the cross, what law did Jews die to?</a:t>
            </a:r>
            <a:endParaRPr lang="en-US" sz="2000" i="1" dirty="0"/>
          </a:p>
          <a:p>
            <a:pPr marL="342900" indent="-342900">
              <a:buFont typeface="Arial" panose="020B0604020202020204" pitchFamily="34" charset="0"/>
              <a:buChar char="•"/>
            </a:pPr>
            <a:r>
              <a:rPr lang="en-US" sz="2000" dirty="0"/>
              <a:t>What law did gentiles die to?</a:t>
            </a:r>
          </a:p>
        </p:txBody>
      </p:sp>
      <p:sp>
        <p:nvSpPr>
          <p:cNvPr id="7" name="TextBox 6"/>
          <p:cNvSpPr txBox="1"/>
          <p:nvPr/>
        </p:nvSpPr>
        <p:spPr>
          <a:xfrm>
            <a:off x="441158" y="1231450"/>
            <a:ext cx="8001000" cy="707886"/>
          </a:xfrm>
          <a:prstGeom prst="rect">
            <a:avLst/>
          </a:prstGeom>
          <a:noFill/>
        </p:spPr>
        <p:txBody>
          <a:bodyPr wrap="square" rtlCol="0">
            <a:spAutoFit/>
          </a:bodyPr>
          <a:lstStyle/>
          <a:p>
            <a:r>
              <a:rPr lang="en-US" sz="2000" b="1" i="1" dirty="0"/>
              <a:t>Psalm 119</a:t>
            </a:r>
            <a:r>
              <a:rPr lang="en-US" sz="2000" i="1" dirty="0"/>
              <a:t> – The Word of God revealed under the Mosaic Law.</a:t>
            </a:r>
          </a:p>
          <a:p>
            <a:r>
              <a:rPr lang="en-US" sz="2000" b="1" i="1" dirty="0"/>
              <a:t>Matthew 5-7 </a:t>
            </a:r>
            <a:r>
              <a:rPr lang="en-US" sz="2000" i="1" dirty="0"/>
              <a:t>– The Living Word of God revealed in Jesus the Christ.</a:t>
            </a:r>
          </a:p>
        </p:txBody>
      </p:sp>
      <p:sp>
        <p:nvSpPr>
          <p:cNvPr id="4" name="TextBox 3">
            <a:extLst>
              <a:ext uri="{FF2B5EF4-FFF2-40B4-BE49-F238E27FC236}">
                <a16:creationId xmlns:a16="http://schemas.microsoft.com/office/drawing/2014/main" id="{7CBA1FF5-C31E-A3A8-05E6-766196AA3262}"/>
              </a:ext>
            </a:extLst>
          </p:cNvPr>
          <p:cNvSpPr txBox="1"/>
          <p:nvPr/>
        </p:nvSpPr>
        <p:spPr>
          <a:xfrm>
            <a:off x="425116" y="2176336"/>
            <a:ext cx="8001000" cy="1015663"/>
          </a:xfrm>
          <a:prstGeom prst="rect">
            <a:avLst/>
          </a:prstGeom>
          <a:noFill/>
        </p:spPr>
        <p:txBody>
          <a:bodyPr wrap="square" rtlCol="0">
            <a:spAutoFit/>
          </a:bodyPr>
          <a:lstStyle/>
          <a:p>
            <a:r>
              <a:rPr lang="en-US" sz="2000" b="1" dirty="0"/>
              <a:t>The Burden of the Law (refer to Exodus 20)</a:t>
            </a:r>
          </a:p>
          <a:p>
            <a:pPr marL="342900" indent="-342900">
              <a:buFont typeface="Arial" panose="020B0604020202020204" pitchFamily="34" charset="0"/>
              <a:buChar char="•"/>
            </a:pPr>
            <a:r>
              <a:rPr lang="en-US" sz="2000" i="1" dirty="0"/>
              <a:t>Acts 7:53; Stephen before the Sanhedrin</a:t>
            </a:r>
          </a:p>
          <a:p>
            <a:pPr marL="342900" indent="-342900">
              <a:buFont typeface="Arial" panose="020B0604020202020204" pitchFamily="34" charset="0"/>
              <a:buChar char="•"/>
            </a:pPr>
            <a:r>
              <a:rPr lang="en-US" sz="2000" i="1" dirty="0"/>
              <a:t>Acts 15:10; Peter refers to it as a yoke that none can bear</a:t>
            </a:r>
          </a:p>
        </p:txBody>
      </p:sp>
    </p:spTree>
    <p:extLst>
      <p:ext uri="{BB962C8B-B14F-4D97-AF65-F5344CB8AC3E}">
        <p14:creationId xmlns:p14="http://schemas.microsoft.com/office/powerpoint/2010/main" val="103330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9DF13-F7CF-1D28-08B2-ECC9584E5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6C099-BD97-22BC-1E9F-7AA4531AF458}"/>
              </a:ext>
            </a:extLst>
          </p:cNvPr>
          <p:cNvSpPr>
            <a:spLocks noGrp="1"/>
          </p:cNvSpPr>
          <p:nvPr>
            <p:ph type="title"/>
          </p:nvPr>
        </p:nvSpPr>
        <p:spPr>
          <a:xfrm>
            <a:off x="304800" y="0"/>
            <a:ext cx="8382000" cy="1143000"/>
          </a:xfrm>
        </p:spPr>
        <p:txBody>
          <a:bodyPr>
            <a:normAutofit/>
          </a:bodyPr>
          <a:lstStyle/>
          <a:p>
            <a:pPr algn="l"/>
            <a:r>
              <a:rPr lang="en-US" dirty="0"/>
              <a:t>Pulling the Passages Together</a:t>
            </a:r>
            <a:br>
              <a:rPr lang="en-US" dirty="0"/>
            </a:br>
            <a:r>
              <a:rPr lang="en-US" sz="2400" dirty="0">
                <a:solidFill>
                  <a:schemeClr val="tx2">
                    <a:lumMod val="60000"/>
                    <a:lumOff val="40000"/>
                  </a:schemeClr>
                </a:solidFill>
              </a:rPr>
              <a:t>Notice the flow of Paul’s argument</a:t>
            </a:r>
          </a:p>
        </p:txBody>
      </p:sp>
      <p:sp>
        <p:nvSpPr>
          <p:cNvPr id="6" name="TextBox 5">
            <a:extLst>
              <a:ext uri="{FF2B5EF4-FFF2-40B4-BE49-F238E27FC236}">
                <a16:creationId xmlns:a16="http://schemas.microsoft.com/office/drawing/2014/main" id="{D45356B8-1D1E-1255-97E5-062C0F241842}"/>
              </a:ext>
            </a:extLst>
          </p:cNvPr>
          <p:cNvSpPr txBox="1"/>
          <p:nvPr/>
        </p:nvSpPr>
        <p:spPr>
          <a:xfrm>
            <a:off x="304800" y="1143000"/>
            <a:ext cx="8534400" cy="3785652"/>
          </a:xfrm>
          <a:prstGeom prst="rect">
            <a:avLst/>
          </a:prstGeom>
          <a:noFill/>
        </p:spPr>
        <p:txBody>
          <a:bodyPr wrap="square" rtlCol="0">
            <a:spAutoFit/>
          </a:bodyPr>
          <a:lstStyle/>
          <a:p>
            <a:pPr marL="457200" indent="-457200" fontAlgn="ctr">
              <a:buFont typeface="+mj-lt"/>
              <a:buAutoNum type="arabicPeriod"/>
            </a:pPr>
            <a:r>
              <a:rPr lang="en-US" sz="2000" b="1" dirty="0">
                <a:ea typeface="ＭＳ Ｐゴシック" pitchFamily="-106" charset="-128"/>
                <a:cs typeface="ＭＳ Ｐゴシック" pitchFamily="-106" charset="-128"/>
              </a:rPr>
              <a:t>The heart is sinful</a:t>
            </a:r>
            <a:r>
              <a:rPr lang="en-US" sz="2000" dirty="0">
                <a:ea typeface="ＭＳ Ｐゴシック" pitchFamily="-106" charset="-128"/>
                <a:cs typeface="ＭＳ Ｐゴシック" pitchFamily="-106" charset="-128"/>
              </a:rPr>
              <a:t> (Jeremiah 17:9).</a:t>
            </a:r>
          </a:p>
          <a:p>
            <a:pPr marL="457200" indent="-457200" fontAlgn="ctr">
              <a:buFont typeface="+mj-lt"/>
              <a:buAutoNum type="arabicPeriod"/>
            </a:pPr>
            <a:r>
              <a:rPr lang="en-US" sz="2000" b="1" dirty="0">
                <a:ea typeface="ＭＳ Ｐゴシック" pitchFamily="-106" charset="-128"/>
                <a:cs typeface="ＭＳ Ｐゴシック" pitchFamily="-106" charset="-128"/>
              </a:rPr>
              <a:t>The Law reveals sin</a:t>
            </a:r>
            <a:r>
              <a:rPr lang="en-US" sz="2000" dirty="0">
                <a:ea typeface="ＭＳ Ｐゴシック" pitchFamily="-106" charset="-128"/>
                <a:cs typeface="ＭＳ Ｐゴシック" pitchFamily="-106" charset="-128"/>
              </a:rPr>
              <a:t> (Romans 3:20).</a:t>
            </a:r>
          </a:p>
          <a:p>
            <a:pPr marL="457200" indent="-457200" fontAlgn="ctr">
              <a:buFont typeface="+mj-lt"/>
              <a:buAutoNum type="arabicPeriod"/>
            </a:pPr>
            <a:r>
              <a:rPr lang="en-US" sz="2000" b="1" dirty="0">
                <a:ea typeface="ＭＳ Ｐゴシック" pitchFamily="-106" charset="-128"/>
                <a:cs typeface="ＭＳ Ｐゴシック" pitchFamily="-106" charset="-128"/>
              </a:rPr>
              <a:t>The Law cannot justify</a:t>
            </a:r>
            <a:r>
              <a:rPr lang="en-US" sz="2000" dirty="0">
                <a:ea typeface="ＭＳ Ｐゴシック" pitchFamily="-106" charset="-128"/>
                <a:cs typeface="ＭＳ Ｐゴシック" pitchFamily="-106" charset="-128"/>
              </a:rPr>
              <a:t> (Romans 3:20).</a:t>
            </a:r>
          </a:p>
          <a:p>
            <a:pPr marL="457200" indent="-457200" fontAlgn="ctr">
              <a:buFont typeface="+mj-lt"/>
              <a:buAutoNum type="arabicPeriod"/>
            </a:pPr>
            <a:r>
              <a:rPr lang="en-US" sz="2000" b="1" dirty="0">
                <a:ea typeface="ＭＳ Ｐゴシック" pitchFamily="-106" charset="-128"/>
                <a:cs typeface="ＭＳ Ｐゴシック" pitchFamily="-106" charset="-128"/>
              </a:rPr>
              <a:t>Justification comes through faith</a:t>
            </a:r>
            <a:r>
              <a:rPr lang="en-US" sz="2000" dirty="0">
                <a:ea typeface="ＭＳ Ｐゴシック" pitchFamily="-106" charset="-128"/>
                <a:cs typeface="ＭＳ Ｐゴシック" pitchFamily="-106" charset="-128"/>
              </a:rPr>
              <a:t> (Romans 3:28).</a:t>
            </a:r>
          </a:p>
          <a:p>
            <a:pPr marL="457200" indent="-457200" fontAlgn="ctr">
              <a:buFont typeface="+mj-lt"/>
              <a:buAutoNum type="arabicPeriod"/>
            </a:pPr>
            <a:r>
              <a:rPr lang="en-US" sz="2000" b="1" dirty="0">
                <a:ea typeface="ＭＳ Ｐゴシック" pitchFamily="-106" charset="-128"/>
                <a:cs typeface="ＭＳ Ｐゴシック" pitchFamily="-106" charset="-128"/>
              </a:rPr>
              <a:t>Grace exceeds the condemnation revealed by Law</a:t>
            </a:r>
            <a:r>
              <a:rPr lang="en-US" sz="2000" dirty="0">
                <a:ea typeface="ＭＳ Ｐゴシック" pitchFamily="-106" charset="-128"/>
                <a:cs typeface="ＭＳ Ｐゴシック" pitchFamily="-106" charset="-128"/>
              </a:rPr>
              <a:t> (Romans 5:20).</a:t>
            </a:r>
          </a:p>
          <a:p>
            <a:pPr marL="457200" indent="-457200" fontAlgn="ctr">
              <a:buFont typeface="+mj-lt"/>
              <a:buAutoNum type="arabicPeriod"/>
            </a:pPr>
            <a:r>
              <a:rPr lang="en-US" sz="2000" b="1" dirty="0">
                <a:ea typeface="ＭＳ Ｐゴシック" pitchFamily="-106" charset="-128"/>
                <a:cs typeface="ＭＳ Ｐゴシック" pitchFamily="-106" charset="-128"/>
              </a:rPr>
              <a:t>Believers die with Christ</a:t>
            </a:r>
            <a:r>
              <a:rPr lang="en-US" sz="2000" dirty="0">
                <a:ea typeface="ＭＳ Ｐゴシック" pitchFamily="-106" charset="-128"/>
                <a:cs typeface="ＭＳ Ｐゴシック" pitchFamily="-106" charset="-128"/>
              </a:rPr>
              <a:t> (Romans 6).</a:t>
            </a:r>
          </a:p>
          <a:p>
            <a:pPr marL="457200" indent="-457200" fontAlgn="ctr">
              <a:buFont typeface="+mj-lt"/>
              <a:buAutoNum type="arabicPeriod"/>
            </a:pPr>
            <a:r>
              <a:rPr lang="en-US" sz="2000" b="1" dirty="0">
                <a:ea typeface="ＭＳ Ｐゴシック" pitchFamily="-106" charset="-128"/>
                <a:cs typeface="ＭＳ Ｐゴシック" pitchFamily="-106" charset="-128"/>
              </a:rPr>
              <a:t>Death releases them from the jurisdiction of the Law Covenant</a:t>
            </a:r>
            <a:r>
              <a:rPr lang="en-US" sz="2000" dirty="0">
                <a:ea typeface="ＭＳ Ｐゴシック" pitchFamily="-106" charset="-128"/>
                <a:cs typeface="ＭＳ Ｐゴシック" pitchFamily="-106" charset="-128"/>
              </a:rPr>
              <a:t> (Romans 7:1-4).</a:t>
            </a:r>
          </a:p>
          <a:p>
            <a:pPr marL="457200" indent="-457200" fontAlgn="ctr">
              <a:buFont typeface="+mj-lt"/>
              <a:buAutoNum type="arabicPeriod"/>
            </a:pPr>
            <a:r>
              <a:rPr lang="en-US" sz="2000" b="1" dirty="0">
                <a:ea typeface="ＭＳ Ｐゴシック" pitchFamily="-106" charset="-128"/>
                <a:cs typeface="ＭＳ Ｐゴシック" pitchFamily="-106" charset="-128"/>
              </a:rPr>
              <a:t>They now belong to Christ and serve in the Spirit</a:t>
            </a:r>
            <a:r>
              <a:rPr lang="en-US" sz="2000" dirty="0">
                <a:ea typeface="ＭＳ Ｐゴシック" pitchFamily="-106" charset="-128"/>
                <a:cs typeface="ＭＳ Ｐゴシック" pitchFamily="-106" charset="-128"/>
              </a:rPr>
              <a:t> (Romans 7:6).</a:t>
            </a:r>
          </a:p>
          <a:p>
            <a:pPr marL="457200" indent="-457200" fontAlgn="ctr">
              <a:buFont typeface="+mj-lt"/>
              <a:buAutoNum type="arabicPeriod"/>
            </a:pPr>
            <a:r>
              <a:rPr lang="en-US" sz="2000" b="1" dirty="0">
                <a:ea typeface="ＭＳ Ｐゴシック" pitchFamily="-106" charset="-128"/>
                <a:cs typeface="ＭＳ Ｐゴシック" pitchFamily="-106" charset="-128"/>
              </a:rPr>
              <a:t>Sin no longer reigns because they are under grace, not under law</a:t>
            </a:r>
            <a:r>
              <a:rPr lang="en-US" sz="2000" dirty="0">
                <a:ea typeface="ＭＳ Ｐゴシック" pitchFamily="-106" charset="-128"/>
                <a:cs typeface="ＭＳ Ｐゴシック" pitchFamily="-106" charset="-128"/>
              </a:rPr>
              <a:t> (Romans 6:14).</a:t>
            </a:r>
          </a:p>
        </p:txBody>
      </p:sp>
      <p:sp>
        <p:nvSpPr>
          <p:cNvPr id="4" name="TextBox 3">
            <a:extLst>
              <a:ext uri="{FF2B5EF4-FFF2-40B4-BE49-F238E27FC236}">
                <a16:creationId xmlns:a16="http://schemas.microsoft.com/office/drawing/2014/main" id="{E1B58808-DA8D-7233-8643-FD05D0118B6E}"/>
              </a:ext>
            </a:extLst>
          </p:cNvPr>
          <p:cNvSpPr txBox="1"/>
          <p:nvPr/>
        </p:nvSpPr>
        <p:spPr>
          <a:xfrm>
            <a:off x="308810" y="4984800"/>
            <a:ext cx="8377989"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That is why Paul can say both:</a:t>
            </a:r>
          </a:p>
          <a:p>
            <a:pPr marL="342900" indent="-342900">
              <a:buFont typeface="Arial" panose="020B0604020202020204" pitchFamily="34" charset="0"/>
              <a:buChar char="•"/>
            </a:pPr>
            <a:r>
              <a:rPr lang="en-US" sz="2000" i="1" dirty="0">
                <a:ea typeface="ＭＳ Ｐゴシック" pitchFamily="-106" charset="-128"/>
                <a:cs typeface="ＭＳ Ｐゴシック" pitchFamily="-106" charset="-128"/>
              </a:rPr>
              <a:t>“The law is holy, and the commandment is holy and righteous and good.” </a:t>
            </a:r>
            <a:r>
              <a:rPr lang="en-US" sz="2000" dirty="0">
                <a:ea typeface="ＭＳ Ｐゴシック" pitchFamily="-106" charset="-128"/>
                <a:cs typeface="ＭＳ Ｐゴシック" pitchFamily="-106" charset="-128"/>
              </a:rPr>
              <a:t>(Romans 7:12)</a:t>
            </a:r>
          </a:p>
          <a:p>
            <a:r>
              <a:rPr lang="en-US" sz="2000" b="1" dirty="0">
                <a:ea typeface="ＭＳ Ｐゴシック" pitchFamily="-106" charset="-128"/>
                <a:cs typeface="ＭＳ Ｐゴシック" pitchFamily="-106" charset="-128"/>
              </a:rPr>
              <a:t>and</a:t>
            </a:r>
          </a:p>
          <a:p>
            <a:pPr marL="342900" indent="-342900">
              <a:buFont typeface="Arial" panose="020B0604020202020204" pitchFamily="34" charset="0"/>
              <a:buChar char="•"/>
            </a:pPr>
            <a:r>
              <a:rPr lang="en-US" sz="2000" i="1" dirty="0">
                <a:ea typeface="ＭＳ Ｐゴシック" pitchFamily="-106" charset="-128"/>
                <a:cs typeface="ＭＳ Ｐゴシック" pitchFamily="-106" charset="-128"/>
              </a:rPr>
              <a:t>“You are not under law but under grace.” </a:t>
            </a:r>
            <a:r>
              <a:rPr lang="en-US" sz="2000" dirty="0">
                <a:ea typeface="ＭＳ Ｐゴシック" pitchFamily="-106" charset="-128"/>
                <a:cs typeface="ＭＳ Ｐゴシック" pitchFamily="-106" charset="-128"/>
              </a:rPr>
              <a:t>(Romans 6:14)</a:t>
            </a:r>
          </a:p>
        </p:txBody>
      </p:sp>
    </p:spTree>
    <p:extLst>
      <p:ext uri="{BB962C8B-B14F-4D97-AF65-F5344CB8AC3E}">
        <p14:creationId xmlns:p14="http://schemas.microsoft.com/office/powerpoint/2010/main" val="124027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841" y="0"/>
            <a:ext cx="8365959" cy="814106"/>
          </a:xfrm>
        </p:spPr>
        <p:txBody>
          <a:bodyPr>
            <a:normAutofit fontScale="90000"/>
          </a:bodyPr>
          <a:lstStyle/>
          <a:p>
            <a:pPr algn="l"/>
            <a:r>
              <a:rPr lang="en-US" dirty="0"/>
              <a:t>The Dual Nature of Man</a:t>
            </a:r>
            <a:br>
              <a:rPr lang="en-US" dirty="0"/>
            </a:br>
            <a:r>
              <a:rPr lang="en-US" sz="2400" dirty="0">
                <a:solidFill>
                  <a:schemeClr val="tx2">
                    <a:lumMod val="60000"/>
                    <a:lumOff val="40000"/>
                  </a:schemeClr>
                </a:solidFill>
              </a:rPr>
              <a:t>The “Flesh” versus the “Spirit”</a:t>
            </a:r>
          </a:p>
        </p:txBody>
      </p:sp>
      <p:sp>
        <p:nvSpPr>
          <p:cNvPr id="8" name="TextBox 7"/>
          <p:cNvSpPr txBox="1"/>
          <p:nvPr/>
        </p:nvSpPr>
        <p:spPr>
          <a:xfrm>
            <a:off x="320841" y="874455"/>
            <a:ext cx="8649668" cy="2246769"/>
          </a:xfrm>
          <a:prstGeom prst="rect">
            <a:avLst/>
          </a:prstGeom>
          <a:noFill/>
        </p:spPr>
        <p:txBody>
          <a:bodyPr wrap="square" rtlCol="0">
            <a:spAutoFit/>
          </a:bodyPr>
          <a:lstStyle/>
          <a:p>
            <a:pPr marL="342900" indent="-342900">
              <a:buFont typeface="Arial" panose="020B0604020202020204" pitchFamily="34" charset="0"/>
              <a:buChar char="•"/>
            </a:pPr>
            <a:r>
              <a:rPr lang="en-US" sz="2000" dirty="0"/>
              <a:t>The Law isn’t evil; Paul knows that for he serves it with his mind; he serves it as his standard of righteousness.</a:t>
            </a:r>
          </a:p>
          <a:p>
            <a:pPr marL="342900" indent="-342900">
              <a:buFont typeface="Arial" panose="020B0604020202020204" pitchFamily="34" charset="0"/>
              <a:buChar char="•"/>
            </a:pPr>
            <a:r>
              <a:rPr lang="en-US" sz="2000" dirty="0"/>
              <a:t>The problem is, in his flesh, he doesn’t live-up to the law and thus is the servant of sin.  His virtues and good desires don’t count.  His sins are imputed to him both judicially and practically.</a:t>
            </a:r>
          </a:p>
          <a:p>
            <a:pPr marL="342900" indent="-342900">
              <a:buFont typeface="Arial" panose="020B0604020202020204" pitchFamily="34" charset="0"/>
              <a:buChar char="•"/>
            </a:pPr>
            <a:r>
              <a:rPr lang="en-US" sz="2000" dirty="0"/>
              <a:t>Standing in his human nature (in the flesh), he is unable to live-up to what his mind freely recognizes and wants.</a:t>
            </a:r>
          </a:p>
        </p:txBody>
      </p:sp>
      <p:sp>
        <p:nvSpPr>
          <p:cNvPr id="3" name="TextBox 2">
            <a:extLst>
              <a:ext uri="{FF2B5EF4-FFF2-40B4-BE49-F238E27FC236}">
                <a16:creationId xmlns:a16="http://schemas.microsoft.com/office/drawing/2014/main" id="{709BFE17-F810-2E9B-459B-3168D02117E3}"/>
              </a:ext>
            </a:extLst>
          </p:cNvPr>
          <p:cNvSpPr txBox="1"/>
          <p:nvPr/>
        </p:nvSpPr>
        <p:spPr>
          <a:xfrm>
            <a:off x="320841" y="3199307"/>
            <a:ext cx="8546924" cy="1015663"/>
          </a:xfrm>
          <a:prstGeom prst="rect">
            <a:avLst/>
          </a:prstGeom>
          <a:noFill/>
        </p:spPr>
        <p:txBody>
          <a:bodyPr wrap="square" rtlCol="0">
            <a:spAutoFit/>
          </a:bodyPr>
          <a:lstStyle/>
          <a:p>
            <a:r>
              <a:rPr lang="en-US" sz="2000" i="1" dirty="0"/>
              <a:t>“</a:t>
            </a:r>
            <a:r>
              <a:rPr lang="en-US" sz="2000" b="1" i="1" dirty="0"/>
              <a:t>Wretched man that I am! </a:t>
            </a:r>
            <a:r>
              <a:rPr lang="en-US" sz="2000" i="1" dirty="0"/>
              <a:t>Who will rescue me from this body of death? Thanks be to God through Jesus Christ our Lord! So then, </a:t>
            </a:r>
            <a:r>
              <a:rPr lang="en-US" sz="2000" b="1" i="1" dirty="0"/>
              <a:t>I myself serve the law of God </a:t>
            </a:r>
            <a:r>
              <a:rPr lang="en-US" sz="2000" b="1" i="1" u="sng" dirty="0"/>
              <a:t>with my mind</a:t>
            </a:r>
            <a:r>
              <a:rPr lang="en-US" sz="2000" b="1" i="1" dirty="0"/>
              <a:t>, but </a:t>
            </a:r>
            <a:r>
              <a:rPr lang="en-US" sz="2000" b="1" i="1" u="sng" dirty="0"/>
              <a:t>with my flesh </a:t>
            </a:r>
            <a:r>
              <a:rPr lang="en-US" sz="2000" b="1" i="1" dirty="0"/>
              <a:t>I serve the law of sin</a:t>
            </a:r>
            <a:r>
              <a:rPr lang="en-US" sz="2000" i="1" dirty="0"/>
              <a:t>.” </a:t>
            </a:r>
          </a:p>
        </p:txBody>
      </p:sp>
      <p:sp>
        <p:nvSpPr>
          <p:cNvPr id="4" name="TextBox 3">
            <a:extLst>
              <a:ext uri="{FF2B5EF4-FFF2-40B4-BE49-F238E27FC236}">
                <a16:creationId xmlns:a16="http://schemas.microsoft.com/office/drawing/2014/main" id="{613A8925-F622-92CA-42EB-AE40B9213DE6}"/>
              </a:ext>
            </a:extLst>
          </p:cNvPr>
          <p:cNvSpPr txBox="1"/>
          <p:nvPr/>
        </p:nvSpPr>
        <p:spPr>
          <a:xfrm>
            <a:off x="320841" y="4771246"/>
            <a:ext cx="8538904" cy="1631216"/>
          </a:xfrm>
          <a:prstGeom prst="rect">
            <a:avLst/>
          </a:prstGeom>
          <a:noFill/>
        </p:spPr>
        <p:txBody>
          <a:bodyPr wrap="square" rtlCol="0">
            <a:spAutoFit/>
          </a:bodyPr>
          <a:lstStyle/>
          <a:p>
            <a:r>
              <a:rPr lang="en-US" sz="2000" b="1" dirty="0"/>
              <a:t>Purpose of the Law</a:t>
            </a:r>
          </a:p>
          <a:p>
            <a:pPr marL="457200" indent="-457200">
              <a:buAutoNum type="arabicPeriod"/>
            </a:pPr>
            <a:r>
              <a:rPr lang="en-US" sz="2000" dirty="0"/>
              <a:t>To expose our sin nature.   Romans 7:7</a:t>
            </a:r>
          </a:p>
          <a:p>
            <a:pPr marL="457200" indent="-457200">
              <a:buAutoNum type="arabicPeriod"/>
            </a:pPr>
            <a:r>
              <a:rPr lang="en-US" sz="2000" dirty="0"/>
              <a:t>To incite our sin nature to sin more.   Romans 7:8-23</a:t>
            </a:r>
          </a:p>
          <a:p>
            <a:pPr marL="457200" indent="-457200">
              <a:buAutoNum type="arabicPeriod"/>
            </a:pPr>
            <a:r>
              <a:rPr lang="en-US" sz="2000" dirty="0"/>
              <a:t>To drive us to despair of self-effort.  Romans 7:24-25</a:t>
            </a:r>
          </a:p>
          <a:p>
            <a:pPr marL="457200" indent="-457200">
              <a:buAutoNum type="arabicPeriod"/>
            </a:pPr>
            <a:r>
              <a:rPr lang="en-US" sz="2000" dirty="0"/>
              <a:t>To drive us to dependence upon the Holy Spirit alone.  Romans 8:1-4</a:t>
            </a:r>
          </a:p>
        </p:txBody>
      </p:sp>
      <p:sp>
        <p:nvSpPr>
          <p:cNvPr id="7" name="TextBox 6">
            <a:extLst>
              <a:ext uri="{FF2B5EF4-FFF2-40B4-BE49-F238E27FC236}">
                <a16:creationId xmlns:a16="http://schemas.microsoft.com/office/drawing/2014/main" id="{053913E9-2979-54A8-AFE0-E42C8C189EFD}"/>
              </a:ext>
            </a:extLst>
          </p:cNvPr>
          <p:cNvSpPr txBox="1"/>
          <p:nvPr/>
        </p:nvSpPr>
        <p:spPr>
          <a:xfrm>
            <a:off x="320841" y="4293053"/>
            <a:ext cx="8546924" cy="400110"/>
          </a:xfrm>
          <a:prstGeom prst="rect">
            <a:avLst/>
          </a:prstGeom>
          <a:noFill/>
        </p:spPr>
        <p:txBody>
          <a:bodyPr wrap="square">
            <a:spAutoFit/>
          </a:bodyPr>
          <a:lstStyle/>
          <a:p>
            <a:pPr marL="0" marR="0" algn="l">
              <a:buNone/>
            </a:pPr>
            <a:r>
              <a:rPr lang="en-US" sz="2000" i="1" dirty="0"/>
              <a:t>“The </a:t>
            </a:r>
            <a:r>
              <a:rPr lang="en-US" sz="2000" i="1" u="sng" dirty="0"/>
              <a:t>sting of death is sin</a:t>
            </a:r>
            <a:r>
              <a:rPr lang="en-US" sz="2000" i="1" dirty="0"/>
              <a:t>, and the </a:t>
            </a:r>
            <a:r>
              <a:rPr lang="en-US" sz="2000" i="1" u="sng" dirty="0"/>
              <a:t>power of sin is the law</a:t>
            </a:r>
            <a:r>
              <a:rPr lang="en-US" sz="2000" i="1" dirty="0"/>
              <a:t>.” 1 Cor. 15:56</a:t>
            </a:r>
          </a:p>
        </p:txBody>
      </p:sp>
    </p:spTree>
    <p:extLst>
      <p:ext uri="{BB962C8B-B14F-4D97-AF65-F5344CB8AC3E}">
        <p14:creationId xmlns:p14="http://schemas.microsoft.com/office/powerpoint/2010/main" val="18110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5D49-0B09-4AE3-7D77-3A482F532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41B82-BEF9-F033-9CF4-AC66BB889C91}"/>
              </a:ext>
            </a:extLst>
          </p:cNvPr>
          <p:cNvSpPr>
            <a:spLocks noGrp="1"/>
          </p:cNvSpPr>
          <p:nvPr>
            <p:ph type="title"/>
          </p:nvPr>
        </p:nvSpPr>
        <p:spPr>
          <a:xfrm>
            <a:off x="304800" y="0"/>
            <a:ext cx="8534400" cy="990600"/>
          </a:xfrm>
        </p:spPr>
        <p:txBody>
          <a:bodyPr>
            <a:normAutofit fontScale="90000"/>
          </a:bodyPr>
          <a:lstStyle/>
          <a:p>
            <a:pPr algn="l"/>
            <a:r>
              <a:rPr lang="en-US" dirty="0"/>
              <a:t>Paul’s Argument so Far…</a:t>
            </a:r>
            <a:br>
              <a:rPr lang="en-US" dirty="0"/>
            </a:br>
            <a:r>
              <a:rPr lang="en-US" sz="2400" dirty="0">
                <a:solidFill>
                  <a:schemeClr val="tx2">
                    <a:lumMod val="60000"/>
                    <a:lumOff val="40000"/>
                  </a:schemeClr>
                </a:solidFill>
              </a:rPr>
              <a:t>Romans 7 is not Paul’s final conclusion</a:t>
            </a:r>
          </a:p>
        </p:txBody>
      </p:sp>
      <p:sp>
        <p:nvSpPr>
          <p:cNvPr id="3" name="TextBox 2">
            <a:extLst>
              <a:ext uri="{FF2B5EF4-FFF2-40B4-BE49-F238E27FC236}">
                <a16:creationId xmlns:a16="http://schemas.microsoft.com/office/drawing/2014/main" id="{6CC789B4-DC23-4C5C-50A8-2D405E0A34F5}"/>
              </a:ext>
            </a:extLst>
          </p:cNvPr>
          <p:cNvSpPr txBox="1"/>
          <p:nvPr/>
        </p:nvSpPr>
        <p:spPr>
          <a:xfrm>
            <a:off x="280736" y="1066800"/>
            <a:ext cx="8382000"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How does all this fit with Paul’s argument that Christians should serve righteousness?</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This is the key question.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is part of an argument.</a:t>
            </a:r>
          </a:p>
        </p:txBody>
      </p:sp>
      <p:sp>
        <p:nvSpPr>
          <p:cNvPr id="4" name="TextBox 3">
            <a:extLst>
              <a:ext uri="{FF2B5EF4-FFF2-40B4-BE49-F238E27FC236}">
                <a16:creationId xmlns:a16="http://schemas.microsoft.com/office/drawing/2014/main" id="{D46FD41B-AF47-79F6-5575-DB84262C58E0}"/>
              </a:ext>
            </a:extLst>
          </p:cNvPr>
          <p:cNvSpPr txBox="1"/>
          <p:nvPr/>
        </p:nvSpPr>
        <p:spPr>
          <a:xfrm>
            <a:off x="280736" y="2331608"/>
            <a:ext cx="8382000" cy="1477328"/>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6</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believer has died with Christ.</a:t>
            </a:r>
          </a:p>
          <a:p>
            <a:r>
              <a:rPr lang="en-US" dirty="0">
                <a:ea typeface="ＭＳ Ｐゴシック" pitchFamily="-106" charset="-128"/>
                <a:cs typeface="ＭＳ Ｐゴシック" pitchFamily="-106" charset="-128"/>
              </a:rPr>
              <a:t>Therefore:</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Sin should not reign.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Christians should serve righteousness.</a:t>
            </a:r>
          </a:p>
        </p:txBody>
      </p:sp>
      <p:sp>
        <p:nvSpPr>
          <p:cNvPr id="7" name="TextBox 6">
            <a:extLst>
              <a:ext uri="{FF2B5EF4-FFF2-40B4-BE49-F238E27FC236}">
                <a16:creationId xmlns:a16="http://schemas.microsoft.com/office/drawing/2014/main" id="{93A42D91-F442-9257-6B79-AD288374C852}"/>
              </a:ext>
            </a:extLst>
          </p:cNvPr>
          <p:cNvSpPr txBox="1"/>
          <p:nvPr/>
        </p:nvSpPr>
        <p:spPr>
          <a:xfrm>
            <a:off x="280736" y="3873415"/>
            <a:ext cx="8382000"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7</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Why can’t the Law accomplish that?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Because the Law cannot overcome the power of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Law exposes the </a:t>
            </a:r>
            <a:r>
              <a:rPr lang="en-US" b="1" dirty="0">
                <a:ea typeface="ＭＳ Ｐゴシック" pitchFamily="-106" charset="-128"/>
                <a:cs typeface="ＭＳ Ｐゴシック" pitchFamily="-106" charset="-128"/>
              </a:rPr>
              <a:t>problem</a:t>
            </a:r>
            <a:r>
              <a:rPr lang="en-US" dirty="0">
                <a:ea typeface="ＭＳ Ｐゴシック" pitchFamily="-106" charset="-128"/>
                <a:cs typeface="ＭＳ Ｐゴシック" pitchFamily="-106" charset="-128"/>
              </a:rPr>
              <a:t> but cannot solve it.  </a:t>
            </a:r>
            <a:r>
              <a:rPr lang="en-US" i="1" dirty="0">
                <a:ea typeface="ＭＳ Ｐゴシック" pitchFamily="-106" charset="-128"/>
                <a:cs typeface="ＭＳ Ｐゴシック" pitchFamily="-106" charset="-128"/>
              </a:rPr>
              <a:t>(“Who will rescue me!”)</a:t>
            </a:r>
            <a:endParaRPr lang="en-US" i="1" dirty="0"/>
          </a:p>
        </p:txBody>
      </p:sp>
      <p:sp>
        <p:nvSpPr>
          <p:cNvPr id="9" name="TextBox 8">
            <a:extLst>
              <a:ext uri="{FF2B5EF4-FFF2-40B4-BE49-F238E27FC236}">
                <a16:creationId xmlns:a16="http://schemas.microsoft.com/office/drawing/2014/main" id="{3CFDF2BE-F1E1-7250-AC12-32C7FC3C11E2}"/>
              </a:ext>
            </a:extLst>
          </p:cNvPr>
          <p:cNvSpPr txBox="1"/>
          <p:nvPr/>
        </p:nvSpPr>
        <p:spPr>
          <a:xfrm>
            <a:off x="280736" y="5138223"/>
            <a:ext cx="8382000" cy="1477328"/>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Romans 8</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a:t>
            </a:r>
            <a:r>
              <a:rPr lang="en-US" b="1" dirty="0">
                <a:ea typeface="ＭＳ Ｐゴシック" pitchFamily="-106" charset="-128"/>
                <a:cs typeface="ＭＳ Ｐゴシック" pitchFamily="-106" charset="-128"/>
              </a:rPr>
              <a:t>solution</a:t>
            </a:r>
            <a:r>
              <a:rPr lang="en-US" dirty="0">
                <a:ea typeface="ＭＳ Ｐゴシック" pitchFamily="-106" charset="-128"/>
                <a:cs typeface="ＭＳ Ｐゴシック" pitchFamily="-106" charset="-128"/>
              </a:rPr>
              <a:t>. (Romans 8:2 </a:t>
            </a:r>
            <a:r>
              <a:rPr lang="en-US" i="1" dirty="0">
                <a:ea typeface="ＭＳ Ｐゴシック" pitchFamily="-106" charset="-128"/>
                <a:cs typeface="ＭＳ Ｐゴシック" pitchFamily="-106" charset="-128"/>
              </a:rPr>
              <a:t>“Set Free…”</a:t>
            </a:r>
            <a:r>
              <a:rPr lang="en-US" dirty="0">
                <a:ea typeface="ＭＳ Ｐゴシック" pitchFamily="-106" charset="-128"/>
                <a:cs typeface="ＭＳ Ｐゴシック" pitchFamily="-106" charset="-128"/>
              </a:rPr>
              <a:t>; Romans 8:3  </a:t>
            </a:r>
            <a:r>
              <a:rPr lang="en-US" i="1" dirty="0">
                <a:ea typeface="ＭＳ Ｐゴシック" pitchFamily="-106" charset="-128"/>
                <a:cs typeface="ＭＳ Ｐゴシック" pitchFamily="-106" charset="-128"/>
              </a:rPr>
              <a:t>“God Did It…”</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Spirit provides what the Law never could:</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New life; New power; New desires; Victory over sin </a:t>
            </a:r>
          </a:p>
          <a:p>
            <a:pPr marL="285750" indent="-285750" fontAlgn="ctr">
              <a:buFont typeface="Arial" panose="020B0604020202020204" pitchFamily="34" charset="0"/>
              <a:buChar char="•"/>
            </a:pPr>
            <a:r>
              <a:rPr lang="en-US" i="1" dirty="0">
                <a:ea typeface="ＭＳ Ｐゴシック" pitchFamily="-106" charset="-128"/>
                <a:cs typeface="ＭＳ Ｐゴシック" pitchFamily="-106" charset="-128"/>
              </a:rPr>
              <a:t>“There is therefore now no condemnation for those who are in Christ Jesus…”</a:t>
            </a:r>
          </a:p>
        </p:txBody>
      </p:sp>
    </p:spTree>
    <p:extLst>
      <p:ext uri="{BB962C8B-B14F-4D97-AF65-F5344CB8AC3E}">
        <p14:creationId xmlns:p14="http://schemas.microsoft.com/office/powerpoint/2010/main" val="72537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Law in Context</a:t>
            </a:r>
            <a:br>
              <a:rPr lang="en-US" dirty="0"/>
            </a:br>
            <a:r>
              <a:rPr lang="en-US" sz="2400" dirty="0">
                <a:solidFill>
                  <a:schemeClr val="tx2">
                    <a:lumMod val="60000"/>
                    <a:lumOff val="40000"/>
                  </a:schemeClr>
                </a:solidFill>
              </a:rPr>
              <a:t>The Spiritual Life Revealed by Contrast to the Law</a:t>
            </a:r>
          </a:p>
        </p:txBody>
      </p:sp>
      <p:sp>
        <p:nvSpPr>
          <p:cNvPr id="7" name="TextBox 6"/>
          <p:cNvSpPr txBox="1"/>
          <p:nvPr/>
        </p:nvSpPr>
        <p:spPr>
          <a:xfrm>
            <a:off x="439152" y="1349514"/>
            <a:ext cx="8229597" cy="707886"/>
          </a:xfrm>
          <a:prstGeom prst="rect">
            <a:avLst/>
          </a:prstGeom>
          <a:noFill/>
        </p:spPr>
        <p:txBody>
          <a:bodyPr wrap="square" rtlCol="0">
            <a:spAutoFit/>
          </a:bodyPr>
          <a:lstStyle/>
          <a:p>
            <a:r>
              <a:rPr lang="en-US" sz="2000" i="1" dirty="0"/>
              <a:t>“For the law of the life-giving Spirit in Christ Jesus has set you free from the law of sin and death.”   </a:t>
            </a:r>
            <a:r>
              <a:rPr lang="en-US" sz="2000" b="1" i="1" dirty="0"/>
              <a:t>Romans 8:2</a:t>
            </a:r>
            <a:endParaRPr lang="en-US" sz="2000" i="1" dirty="0"/>
          </a:p>
        </p:txBody>
      </p:sp>
      <p:graphicFrame>
        <p:nvGraphicFramePr>
          <p:cNvPr id="4" name="Table 3"/>
          <p:cNvGraphicFramePr>
            <a:graphicFrameLocks noGrp="1"/>
          </p:cNvGraphicFramePr>
          <p:nvPr>
            <p:extLst>
              <p:ext uri="{D42A27DB-BD31-4B8C-83A1-F6EECF244321}">
                <p14:modId xmlns:p14="http://schemas.microsoft.com/office/powerpoint/2010/main" val="855349936"/>
              </p:ext>
            </p:extLst>
          </p:nvPr>
        </p:nvGraphicFramePr>
        <p:xfrm>
          <a:off x="477252" y="2362200"/>
          <a:ext cx="8229598" cy="3672840"/>
        </p:xfrm>
        <a:graphic>
          <a:graphicData uri="http://schemas.openxmlformats.org/drawingml/2006/table">
            <a:tbl>
              <a:tblPr firstRow="1" bandRow="1">
                <a:tableStyleId>{5C22544A-7EE6-4342-B048-85BDC9FD1C3A}</a:tableStyleId>
              </a:tblPr>
              <a:tblGrid>
                <a:gridCol w="4114799">
                  <a:extLst>
                    <a:ext uri="{9D8B030D-6E8A-4147-A177-3AD203B41FA5}">
                      <a16:colId xmlns:a16="http://schemas.microsoft.com/office/drawing/2014/main" val="20000"/>
                    </a:ext>
                  </a:extLst>
                </a:gridCol>
                <a:gridCol w="4114799">
                  <a:extLst>
                    <a:ext uri="{9D8B030D-6E8A-4147-A177-3AD203B41FA5}">
                      <a16:colId xmlns:a16="http://schemas.microsoft.com/office/drawing/2014/main" val="20001"/>
                    </a:ext>
                  </a:extLst>
                </a:gridCol>
              </a:tblGrid>
              <a:tr h="438150">
                <a:tc>
                  <a:txBody>
                    <a:bodyPr/>
                    <a:lstStyle/>
                    <a:p>
                      <a:r>
                        <a:rPr lang="en-US" dirty="0"/>
                        <a:t>Life</a:t>
                      </a:r>
                      <a:r>
                        <a:rPr lang="en-US" baseline="0" dirty="0"/>
                        <a:t> by the Letter</a:t>
                      </a:r>
                      <a:endParaRPr lang="en-US" dirty="0"/>
                    </a:p>
                  </a:txBody>
                  <a:tcPr/>
                </a:tc>
                <a:tc>
                  <a:txBody>
                    <a:bodyPr/>
                    <a:lstStyle/>
                    <a:p>
                      <a:r>
                        <a:rPr lang="en-US" dirty="0"/>
                        <a:t>Life by the Spirit</a:t>
                      </a:r>
                    </a:p>
                  </a:txBody>
                  <a:tcPr/>
                </a:tc>
                <a:extLst>
                  <a:ext uri="{0D108BD9-81ED-4DB2-BD59-A6C34878D82A}">
                    <a16:rowId xmlns:a16="http://schemas.microsoft.com/office/drawing/2014/main" val="10000"/>
                  </a:ext>
                </a:extLst>
              </a:tr>
              <a:tr h="438150">
                <a:tc>
                  <a:txBody>
                    <a:bodyPr/>
                    <a:lstStyle/>
                    <a:p>
                      <a:r>
                        <a:rPr lang="en-US" dirty="0"/>
                        <a:t>Depends on</a:t>
                      </a:r>
                      <a:r>
                        <a:rPr lang="en-US" baseline="0" dirty="0"/>
                        <a:t> the flesh (Rom. 8:3)</a:t>
                      </a:r>
                      <a:endParaRPr lang="en-US" dirty="0"/>
                    </a:p>
                  </a:txBody>
                  <a:tcPr/>
                </a:tc>
                <a:tc>
                  <a:txBody>
                    <a:bodyPr/>
                    <a:lstStyle/>
                    <a:p>
                      <a:r>
                        <a:rPr lang="en-US" dirty="0"/>
                        <a:t>Depends</a:t>
                      </a:r>
                      <a:r>
                        <a:rPr lang="en-US" baseline="0" dirty="0"/>
                        <a:t> upon God’s power (Luke 23:49; Acts 1:8)</a:t>
                      </a:r>
                      <a:endParaRPr lang="en-US" dirty="0"/>
                    </a:p>
                  </a:txBody>
                  <a:tcPr/>
                </a:tc>
                <a:extLst>
                  <a:ext uri="{0D108BD9-81ED-4DB2-BD59-A6C34878D82A}">
                    <a16:rowId xmlns:a16="http://schemas.microsoft.com/office/drawing/2014/main" val="10001"/>
                  </a:ext>
                </a:extLst>
              </a:tr>
              <a:tr h="438150">
                <a:tc>
                  <a:txBody>
                    <a:bodyPr/>
                    <a:lstStyle/>
                    <a:p>
                      <a:r>
                        <a:rPr lang="en-US" dirty="0"/>
                        <a:t>Produces rebellion</a:t>
                      </a:r>
                      <a:r>
                        <a:rPr lang="en-US" baseline="0" dirty="0"/>
                        <a:t> (Rom. 7:8)</a:t>
                      </a:r>
                      <a:endParaRPr lang="en-US" dirty="0"/>
                    </a:p>
                  </a:txBody>
                  <a:tcPr/>
                </a:tc>
                <a:tc>
                  <a:txBody>
                    <a:bodyPr/>
                    <a:lstStyle/>
                    <a:p>
                      <a:r>
                        <a:rPr lang="en-US" dirty="0"/>
                        <a:t>Produces God’s desires (Phil. 2:13)</a:t>
                      </a:r>
                    </a:p>
                  </a:txBody>
                  <a:tcPr/>
                </a:tc>
                <a:extLst>
                  <a:ext uri="{0D108BD9-81ED-4DB2-BD59-A6C34878D82A}">
                    <a16:rowId xmlns:a16="http://schemas.microsoft.com/office/drawing/2014/main" val="10002"/>
                  </a:ext>
                </a:extLst>
              </a:tr>
              <a:tr h="438150">
                <a:tc>
                  <a:txBody>
                    <a:bodyPr/>
                    <a:lstStyle/>
                    <a:p>
                      <a:r>
                        <a:rPr lang="en-US" dirty="0"/>
                        <a:t>Results</a:t>
                      </a:r>
                      <a:r>
                        <a:rPr lang="en-US" baseline="0" dirty="0"/>
                        <a:t> in more sin (Rom. 5:20)</a:t>
                      </a:r>
                      <a:endParaRPr lang="en-US" dirty="0"/>
                    </a:p>
                  </a:txBody>
                  <a:tcPr/>
                </a:tc>
                <a:tc>
                  <a:txBody>
                    <a:bodyPr/>
                    <a:lstStyle/>
                    <a:p>
                      <a:r>
                        <a:rPr lang="en-US" dirty="0"/>
                        <a:t>Results in righteousness</a:t>
                      </a:r>
                      <a:r>
                        <a:rPr lang="en-US" baseline="0" dirty="0"/>
                        <a:t> (Rom. 8:4)</a:t>
                      </a:r>
                      <a:endParaRPr lang="en-US" dirty="0"/>
                    </a:p>
                  </a:txBody>
                  <a:tcPr/>
                </a:tc>
                <a:extLst>
                  <a:ext uri="{0D108BD9-81ED-4DB2-BD59-A6C34878D82A}">
                    <a16:rowId xmlns:a16="http://schemas.microsoft.com/office/drawing/2014/main" val="10003"/>
                  </a:ext>
                </a:extLst>
              </a:tr>
              <a:tr h="438150">
                <a:tc>
                  <a:txBody>
                    <a:bodyPr/>
                    <a:lstStyle/>
                    <a:p>
                      <a:r>
                        <a:rPr lang="en-US" dirty="0"/>
                        <a:t>Brings wrath (Rom.</a:t>
                      </a:r>
                      <a:r>
                        <a:rPr lang="en-US" baseline="0" dirty="0"/>
                        <a:t> 4:15)</a:t>
                      </a:r>
                      <a:endParaRPr lang="en-US" dirty="0"/>
                    </a:p>
                  </a:txBody>
                  <a:tcPr/>
                </a:tc>
                <a:tc>
                  <a:txBody>
                    <a:bodyPr/>
                    <a:lstStyle/>
                    <a:p>
                      <a:r>
                        <a:rPr lang="en-US" dirty="0"/>
                        <a:t>Brings joy, peace, production (Gal. 5:22-23)</a:t>
                      </a:r>
                    </a:p>
                  </a:txBody>
                  <a:tcPr/>
                </a:tc>
                <a:extLst>
                  <a:ext uri="{0D108BD9-81ED-4DB2-BD59-A6C34878D82A}">
                    <a16:rowId xmlns:a16="http://schemas.microsoft.com/office/drawing/2014/main" val="10004"/>
                  </a:ext>
                </a:extLst>
              </a:tr>
              <a:tr h="438150">
                <a:tc>
                  <a:txBody>
                    <a:bodyPr/>
                    <a:lstStyle/>
                    <a:p>
                      <a:r>
                        <a:rPr lang="en-US" dirty="0"/>
                        <a:t>Not of faith (Gal. 3:12)</a:t>
                      </a:r>
                    </a:p>
                  </a:txBody>
                  <a:tcPr/>
                </a:tc>
                <a:tc>
                  <a:txBody>
                    <a:bodyPr/>
                    <a:lstStyle/>
                    <a:p>
                      <a:r>
                        <a:rPr lang="en-US" dirty="0"/>
                        <a:t>By obedience of faith (Rom. 1:5; Gal. 5:5; 2 Cor. 5:7)</a:t>
                      </a:r>
                    </a:p>
                  </a:txBody>
                  <a:tcPr/>
                </a:tc>
                <a:extLst>
                  <a:ext uri="{0D108BD9-81ED-4DB2-BD59-A6C34878D82A}">
                    <a16:rowId xmlns:a16="http://schemas.microsoft.com/office/drawing/2014/main" val="10005"/>
                  </a:ext>
                </a:extLst>
              </a:tr>
              <a:tr h="438150">
                <a:tc>
                  <a:txBody>
                    <a:bodyPr/>
                    <a:lstStyle/>
                    <a:p>
                      <a:r>
                        <a:rPr lang="en-US" dirty="0"/>
                        <a:t>Kills (2 Cor. 3:4-6; Gal. 3:21)</a:t>
                      </a:r>
                    </a:p>
                  </a:txBody>
                  <a:tcPr/>
                </a:tc>
                <a:tc>
                  <a:txBody>
                    <a:bodyPr/>
                    <a:lstStyle/>
                    <a:p>
                      <a:r>
                        <a:rPr lang="en-US" dirty="0"/>
                        <a:t>Gives life (Phil.</a:t>
                      </a:r>
                      <a:r>
                        <a:rPr lang="en-US" baseline="0" dirty="0"/>
                        <a:t> 2:12-13)</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2723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17211</TotalTime>
  <Words>3026</Words>
  <Application>Microsoft Macintosh PowerPoint</Application>
  <PresentationFormat>On-screen Show (4:3)</PresentationFormat>
  <Paragraphs>302</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ＭＳ Ｐゴシック</vt:lpstr>
      <vt:lpstr>Arial</vt:lpstr>
      <vt:lpstr>Arial Narrow</vt:lpstr>
      <vt:lpstr>Calibri</vt:lpstr>
      <vt:lpstr>PPT_Template_2010SummerSchool</vt:lpstr>
      <vt:lpstr>1_UPCRC_Powerpoint_Template_with I-Mark</vt:lpstr>
      <vt:lpstr>Romans</vt:lpstr>
      <vt:lpstr>PowerPoint Presentation</vt:lpstr>
      <vt:lpstr>The Law in Context A reflection of human behavior (sin nature of man)</vt:lpstr>
      <vt:lpstr>The Law in Context A reflection of the will and purpose of God</vt:lpstr>
      <vt:lpstr>Pulling the Passages Together Notice the flow of Paul’s argument</vt:lpstr>
      <vt:lpstr>The Dual Nature of Man The “Flesh” versus the “Spirit”</vt:lpstr>
      <vt:lpstr>Paul’s Argument so Far… Romans 7 is not Paul’s final conclusion</vt:lpstr>
      <vt:lpstr>The Law in Context The Spiritual Life Revealed by Contrast to the Law</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742</cp:revision>
  <cp:lastPrinted>2012-04-01T14:05:10Z</cp:lastPrinted>
  <dcterms:created xsi:type="dcterms:W3CDTF">2010-06-16T02:58:04Z</dcterms:created>
  <dcterms:modified xsi:type="dcterms:W3CDTF">2026-05-30T16:51:38Z</dcterms:modified>
</cp:coreProperties>
</file>