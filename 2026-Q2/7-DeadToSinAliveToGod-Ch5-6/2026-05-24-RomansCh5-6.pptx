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3"/>
  </p:notesMasterIdLst>
  <p:sldIdLst>
    <p:sldId id="256" r:id="rId3"/>
    <p:sldId id="367" r:id="rId4"/>
    <p:sldId id="369" r:id="rId5"/>
    <p:sldId id="370" r:id="rId6"/>
    <p:sldId id="371" r:id="rId7"/>
    <p:sldId id="372" r:id="rId8"/>
    <p:sldId id="373" r:id="rId9"/>
    <p:sldId id="374" r:id="rId10"/>
    <p:sldId id="361" r:id="rId11"/>
    <p:sldId id="375" r:id="rId12"/>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2" autoAdjust="0"/>
    <p:restoredTop sz="83705" autoAdjust="0"/>
  </p:normalViewPr>
  <p:slideViewPr>
    <p:cSldViewPr>
      <p:cViewPr varScale="1">
        <p:scale>
          <a:sx n="124" d="100"/>
          <a:sy n="124" d="100"/>
        </p:scale>
        <p:origin x="1008" y="1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5/12/26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lvl="1" inden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4072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lvl="1" inden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2091177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685800" lvl="1" indent="-228600">
              <a:buAutoNum type="arabicPeriod"/>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3732284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lvl="1" inden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4078613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lvl="1" inden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813567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09364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457200" lvl="1" inden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47122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3305755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How is the Baptism into Christ akin to entering into a Covenant Relationship with Jesus the Christ?</a:t>
            </a:r>
          </a:p>
          <a:p>
            <a:endParaRPr lang="en-US" sz="1400" b="1" dirty="0"/>
          </a:p>
          <a:p>
            <a:r>
              <a:rPr lang="en-US" sz="1400" b="1" dirty="0"/>
              <a:t>How is this baptism different from any other (Acts 19:1-6).</a:t>
            </a:r>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2316745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990600"/>
            <a:ext cx="7772400" cy="1470025"/>
          </a:xfrm>
        </p:spPr>
        <p:txBody>
          <a:bodyPr/>
          <a:lstStyle/>
          <a:p>
            <a:pPr eaLnBrk="1" hangingPunct="1"/>
            <a:r>
              <a:rPr lang="en-US" sz="5400" dirty="0"/>
              <a:t>Romans</a:t>
            </a:r>
            <a:endParaRPr sz="5400" dirty="0"/>
          </a:p>
        </p:txBody>
      </p:sp>
      <p:sp>
        <p:nvSpPr>
          <p:cNvPr id="6147" name="Subtitle 2"/>
          <p:cNvSpPr>
            <a:spLocks noGrp="1"/>
          </p:cNvSpPr>
          <p:nvPr>
            <p:ph type="subTitle" idx="1"/>
          </p:nvPr>
        </p:nvSpPr>
        <p:spPr>
          <a:xfrm>
            <a:off x="1371600" y="2873376"/>
            <a:ext cx="6400800" cy="3070224"/>
          </a:xfrm>
        </p:spPr>
        <p:txBody>
          <a:bodyPr/>
          <a:lstStyle/>
          <a:p>
            <a:r>
              <a:rPr lang="en-US" dirty="0"/>
              <a:t>The Free Gift (review)</a:t>
            </a:r>
          </a:p>
          <a:p>
            <a:r>
              <a:rPr lang="en-US" dirty="0"/>
              <a:t>Chapter 5:12-21</a:t>
            </a:r>
          </a:p>
          <a:p>
            <a:endParaRPr lang="en-US" dirty="0"/>
          </a:p>
          <a:p>
            <a:pPr eaLnBrk="1" hangingPunct="1"/>
            <a:r>
              <a:rPr lang="en-US" dirty="0"/>
              <a:t>Whom Do You Now Serve?</a:t>
            </a:r>
          </a:p>
          <a:p>
            <a:pPr eaLnBrk="1" hangingPunct="1"/>
            <a:r>
              <a:rPr lang="en-US" dirty="0"/>
              <a:t>Chapter 6</a:t>
            </a:r>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a:bodyPr>
          <a:lstStyle/>
          <a:p>
            <a:r>
              <a:rPr lang="en-US" dirty="0"/>
              <a:t>A Context Check</a:t>
            </a:r>
            <a:br>
              <a:rPr lang="en-US" dirty="0"/>
            </a:br>
            <a:r>
              <a:rPr lang="en-US" sz="2400" dirty="0">
                <a:solidFill>
                  <a:schemeClr val="tx2">
                    <a:lumMod val="60000"/>
                    <a:lumOff val="40000"/>
                  </a:schemeClr>
                </a:solidFill>
              </a:rPr>
              <a:t>Summary of Paul’s Key Points</a:t>
            </a:r>
          </a:p>
        </p:txBody>
      </p:sp>
      <p:sp>
        <p:nvSpPr>
          <p:cNvPr id="6" name="TextBox 5"/>
          <p:cNvSpPr txBox="1"/>
          <p:nvPr/>
        </p:nvSpPr>
        <p:spPr>
          <a:xfrm>
            <a:off x="381000" y="1295400"/>
            <a:ext cx="8001000" cy="5016758"/>
          </a:xfrm>
          <a:prstGeom prst="rect">
            <a:avLst/>
          </a:prstGeom>
          <a:noFill/>
        </p:spPr>
        <p:txBody>
          <a:bodyPr wrap="square" rtlCol="0">
            <a:spAutoFit/>
          </a:bodyPr>
          <a:lstStyle/>
          <a:p>
            <a:r>
              <a:rPr lang="en-US" sz="2000" b="1" dirty="0"/>
              <a:t>What Paul has shown us thus far:</a:t>
            </a:r>
          </a:p>
          <a:p>
            <a:endParaRPr lang="en-US" sz="2000" b="1" dirty="0"/>
          </a:p>
          <a:p>
            <a:pPr marL="342900" indent="-342900">
              <a:buFont typeface="Arial" panose="020B0604020202020204" pitchFamily="34" charset="0"/>
              <a:buChar char="•"/>
            </a:pPr>
            <a:r>
              <a:rPr lang="en-US" sz="2000" dirty="0"/>
              <a:t>Man, standing on his own record, has failed miserably. (</a:t>
            </a:r>
            <a:r>
              <a:rPr lang="en-US" sz="2000" dirty="0" err="1"/>
              <a:t>ch</a:t>
            </a:r>
            <a:r>
              <a:rPr lang="en-US" sz="2000" dirty="0"/>
              <a:t> 1-3)</a:t>
            </a:r>
          </a:p>
          <a:p>
            <a:pPr marL="342900" indent="-342900">
              <a:buFont typeface="Arial" panose="020B0604020202020204" pitchFamily="34" charset="0"/>
              <a:buChar char="•"/>
            </a:pPr>
            <a:r>
              <a:rPr lang="en-US" sz="2000" dirty="0"/>
              <a:t>Man, may obtain acquittal (imputed righteousness) independent of his moral excellence or performance. (v 3:24)</a:t>
            </a:r>
          </a:p>
          <a:p>
            <a:pPr marL="342900" indent="-342900">
              <a:buFont typeface="Arial" panose="020B0604020202020204" pitchFamily="34" charset="0"/>
              <a:buChar char="•"/>
            </a:pPr>
            <a:r>
              <a:rPr lang="en-US" sz="2000" dirty="0"/>
              <a:t>What then was the purpose of the Law (v 3:31)?  A summary discourse is thus in order.  (</a:t>
            </a:r>
            <a:r>
              <a:rPr lang="en-US" sz="2000" dirty="0" err="1"/>
              <a:t>ch</a:t>
            </a:r>
            <a:r>
              <a:rPr lang="en-US" sz="2000" dirty="0"/>
              <a:t> 4)</a:t>
            </a:r>
          </a:p>
          <a:p>
            <a:pPr marL="342900" indent="-342900">
              <a:buFont typeface="Arial" panose="020B0604020202020204" pitchFamily="34" charset="0"/>
              <a:buChar char="•"/>
            </a:pPr>
            <a:r>
              <a:rPr lang="en-US" sz="2000" dirty="0"/>
              <a:t>Man, justified by Grace through Faith in Christ, is given every spiritual blessing.  (</a:t>
            </a:r>
            <a:r>
              <a:rPr lang="en-US" sz="2000" dirty="0" err="1"/>
              <a:t>ch</a:t>
            </a:r>
            <a:r>
              <a:rPr lang="en-US" sz="2000" dirty="0"/>
              <a:t> 5:1-11)</a:t>
            </a:r>
          </a:p>
          <a:p>
            <a:pPr marL="342900" indent="-342900">
              <a:buFont typeface="Arial" panose="020B0604020202020204" pitchFamily="34" charset="0"/>
              <a:buChar char="•"/>
            </a:pPr>
            <a:r>
              <a:rPr lang="en-US" sz="2000" dirty="0"/>
              <a:t>Mankind has gone the way of Adam, and thus sin has reigned.  Spiritual death is the result of that way.  (</a:t>
            </a:r>
            <a:r>
              <a:rPr lang="en-US" sz="2000" dirty="0" err="1"/>
              <a:t>ch</a:t>
            </a:r>
            <a:r>
              <a:rPr lang="en-US" sz="2000" dirty="0"/>
              <a:t> 5:12-14)</a:t>
            </a:r>
          </a:p>
          <a:p>
            <a:pPr marL="342900" indent="-342900">
              <a:buFont typeface="Arial" panose="020B0604020202020204" pitchFamily="34" charset="0"/>
              <a:buChar char="•"/>
            </a:pPr>
            <a:r>
              <a:rPr lang="en-US" sz="2000" dirty="0"/>
              <a:t>Mankind has now been offered the free gift of righteousness within God’s Grace by way of Jesus Christ’s remarkable atonement.  This gift serves to demonstrate how much more powerful is God’s Grace over the power of sin.  Eternal life is the result of that way.  (</a:t>
            </a:r>
            <a:r>
              <a:rPr lang="en-US" sz="2000" dirty="0" err="1"/>
              <a:t>ch</a:t>
            </a:r>
            <a:r>
              <a:rPr lang="en-US" sz="2000" dirty="0"/>
              <a:t> 5:15-21) </a:t>
            </a:r>
          </a:p>
        </p:txBody>
      </p:sp>
    </p:spTree>
    <p:extLst>
      <p:ext uri="{BB962C8B-B14F-4D97-AF65-F5344CB8AC3E}">
        <p14:creationId xmlns:p14="http://schemas.microsoft.com/office/powerpoint/2010/main" val="1115001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990600"/>
          </a:xfrm>
        </p:spPr>
        <p:txBody>
          <a:bodyPr>
            <a:normAutofit fontScale="90000"/>
          </a:bodyPr>
          <a:lstStyle/>
          <a:p>
            <a:r>
              <a:rPr lang="en-US" dirty="0"/>
              <a:t>Blessings by Type Contrast</a:t>
            </a:r>
            <a:br>
              <a:rPr lang="en-US" dirty="0"/>
            </a:br>
            <a:r>
              <a:rPr lang="en-US" sz="2400" dirty="0">
                <a:solidFill>
                  <a:schemeClr val="tx2">
                    <a:lumMod val="60000"/>
                    <a:lumOff val="40000"/>
                  </a:schemeClr>
                </a:solidFill>
              </a:rPr>
              <a:t>Adam’s Record versus Christ’s Record</a:t>
            </a:r>
          </a:p>
        </p:txBody>
      </p:sp>
      <p:graphicFrame>
        <p:nvGraphicFramePr>
          <p:cNvPr id="3" name="Table 2"/>
          <p:cNvGraphicFramePr>
            <a:graphicFrameLocks noGrp="1"/>
          </p:cNvGraphicFramePr>
          <p:nvPr>
            <p:extLst>
              <p:ext uri="{D42A27DB-BD31-4B8C-83A1-F6EECF244321}">
                <p14:modId xmlns:p14="http://schemas.microsoft.com/office/powerpoint/2010/main" val="3508058972"/>
              </p:ext>
            </p:extLst>
          </p:nvPr>
        </p:nvGraphicFramePr>
        <p:xfrm>
          <a:off x="304800" y="1143000"/>
          <a:ext cx="8610600" cy="1567542"/>
        </p:xfrm>
        <a:graphic>
          <a:graphicData uri="http://schemas.openxmlformats.org/drawingml/2006/table">
            <a:tbl>
              <a:tblPr firstRow="1" bandRow="1">
                <a:tableStyleId>{5C22544A-7EE6-4342-B048-85BDC9FD1C3A}</a:tableStyleId>
              </a:tblPr>
              <a:tblGrid>
                <a:gridCol w="43434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783771">
                <a:tc>
                  <a:txBody>
                    <a:bodyPr/>
                    <a:lstStyle/>
                    <a:p>
                      <a:r>
                        <a:rPr lang="en-US" dirty="0"/>
                        <a:t>Adam</a:t>
                      </a:r>
                    </a:p>
                    <a:p>
                      <a:r>
                        <a:rPr lang="en-US" baseline="0" dirty="0"/>
                        <a:t>(our representative</a:t>
                      </a:r>
                      <a:r>
                        <a:rPr lang="en-US" dirty="0"/>
                        <a:t>)</a:t>
                      </a:r>
                    </a:p>
                  </a:txBody>
                  <a:tcPr/>
                </a:tc>
                <a:tc>
                  <a:txBody>
                    <a:bodyPr/>
                    <a:lstStyle/>
                    <a:p>
                      <a:r>
                        <a:rPr lang="en-US" dirty="0"/>
                        <a:t>Christ</a:t>
                      </a:r>
                    </a:p>
                    <a:p>
                      <a:r>
                        <a:rPr lang="en-US" dirty="0"/>
                        <a:t>(our</a:t>
                      </a:r>
                      <a:r>
                        <a:rPr lang="en-US" baseline="0" dirty="0"/>
                        <a:t> representative</a:t>
                      </a:r>
                      <a:r>
                        <a:rPr lang="en-US" dirty="0"/>
                        <a:t>)</a:t>
                      </a:r>
                    </a:p>
                  </a:txBody>
                  <a:tcPr/>
                </a:tc>
                <a:extLst>
                  <a:ext uri="{0D108BD9-81ED-4DB2-BD59-A6C34878D82A}">
                    <a16:rowId xmlns:a16="http://schemas.microsoft.com/office/drawing/2014/main" val="10000"/>
                  </a:ext>
                </a:extLst>
              </a:tr>
              <a:tr h="783771">
                <a:tc>
                  <a:txBody>
                    <a:bodyPr/>
                    <a:lstStyle/>
                    <a:p>
                      <a:r>
                        <a:rPr lang="en-US" b="1" dirty="0"/>
                        <a:t>One</a:t>
                      </a:r>
                      <a:r>
                        <a:rPr lang="en-US" b="1" baseline="0" dirty="0"/>
                        <a:t> man’s offense</a:t>
                      </a:r>
                      <a:r>
                        <a:rPr lang="en-US" b="1" dirty="0"/>
                        <a:t> (v15)</a:t>
                      </a:r>
                    </a:p>
                    <a:p>
                      <a:pPr marL="285750" indent="-285750">
                        <a:buFont typeface="Arial" panose="020B0604020202020204" pitchFamily="34" charset="0"/>
                        <a:buChar char="•"/>
                      </a:pPr>
                      <a:r>
                        <a:rPr lang="en-US" b="1" i="1" dirty="0"/>
                        <a:t>Many died</a:t>
                      </a:r>
                    </a:p>
                  </a:txBody>
                  <a:tcPr/>
                </a:tc>
                <a:tc>
                  <a:txBody>
                    <a:bodyPr/>
                    <a:lstStyle/>
                    <a:p>
                      <a:r>
                        <a:rPr lang="en-US" b="1" baseline="0" dirty="0"/>
                        <a:t>One man’s free gift</a:t>
                      </a:r>
                    </a:p>
                    <a:p>
                      <a:pPr marL="285750" indent="-285750">
                        <a:buFont typeface="Arial" panose="020B0604020202020204" pitchFamily="34" charset="0"/>
                        <a:buChar char="•"/>
                      </a:pPr>
                      <a:r>
                        <a:rPr lang="en-US" b="1" i="1" baseline="0" dirty="0"/>
                        <a:t>Righteousness to many</a:t>
                      </a:r>
                      <a:endParaRPr lang="en-US" b="1" i="1" dirty="0"/>
                    </a:p>
                  </a:txBody>
                  <a:tcPr/>
                </a:tc>
                <a:extLst>
                  <a:ext uri="{0D108BD9-81ED-4DB2-BD59-A6C34878D82A}">
                    <a16:rowId xmlns:a16="http://schemas.microsoft.com/office/drawing/2014/main" val="10001"/>
                  </a:ext>
                </a:extLst>
              </a:tr>
            </a:tbl>
          </a:graphicData>
        </a:graphic>
      </p:graphicFrame>
      <p:sp>
        <p:nvSpPr>
          <p:cNvPr id="4" name="TextBox 3"/>
          <p:cNvSpPr txBox="1"/>
          <p:nvPr/>
        </p:nvSpPr>
        <p:spPr>
          <a:xfrm>
            <a:off x="571500" y="3124200"/>
            <a:ext cx="8001000" cy="1015663"/>
          </a:xfrm>
          <a:prstGeom prst="rect">
            <a:avLst/>
          </a:prstGeom>
          <a:noFill/>
        </p:spPr>
        <p:txBody>
          <a:bodyPr wrap="square" rtlCol="0">
            <a:spAutoFit/>
          </a:bodyPr>
          <a:lstStyle/>
          <a:p>
            <a:r>
              <a:rPr lang="en-US" sz="2000" i="1" dirty="0"/>
              <a:t>“But the free gift is not like the offense. For if by the one man’s offense many died, much more the grace of God and the gift by the grace of the one Man, Jesus Christ, abounded to many.”  (Rom. 5:15)</a:t>
            </a:r>
          </a:p>
        </p:txBody>
      </p:sp>
    </p:spTree>
    <p:extLst>
      <p:ext uri="{BB962C8B-B14F-4D97-AF65-F5344CB8AC3E}">
        <p14:creationId xmlns:p14="http://schemas.microsoft.com/office/powerpoint/2010/main" val="2166743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990600"/>
          </a:xfrm>
        </p:spPr>
        <p:txBody>
          <a:bodyPr>
            <a:normAutofit fontScale="90000"/>
          </a:bodyPr>
          <a:lstStyle/>
          <a:p>
            <a:r>
              <a:rPr lang="en-US" dirty="0"/>
              <a:t>Blessings by Type Contrast</a:t>
            </a:r>
            <a:br>
              <a:rPr lang="en-US" dirty="0"/>
            </a:br>
            <a:r>
              <a:rPr lang="en-US" sz="2400" dirty="0">
                <a:solidFill>
                  <a:schemeClr val="tx2">
                    <a:lumMod val="60000"/>
                    <a:lumOff val="40000"/>
                  </a:schemeClr>
                </a:solidFill>
              </a:rPr>
              <a:t>Adam’s Record versus Christ’s Record</a:t>
            </a:r>
          </a:p>
        </p:txBody>
      </p:sp>
      <p:graphicFrame>
        <p:nvGraphicFramePr>
          <p:cNvPr id="3" name="Table 2"/>
          <p:cNvGraphicFramePr>
            <a:graphicFrameLocks noGrp="1"/>
          </p:cNvGraphicFramePr>
          <p:nvPr>
            <p:extLst>
              <p:ext uri="{D42A27DB-BD31-4B8C-83A1-F6EECF244321}">
                <p14:modId xmlns:p14="http://schemas.microsoft.com/office/powerpoint/2010/main" val="1191312068"/>
              </p:ext>
            </p:extLst>
          </p:nvPr>
        </p:nvGraphicFramePr>
        <p:xfrm>
          <a:off x="364787" y="1066800"/>
          <a:ext cx="8610600" cy="2351313"/>
        </p:xfrm>
        <a:graphic>
          <a:graphicData uri="http://schemas.openxmlformats.org/drawingml/2006/table">
            <a:tbl>
              <a:tblPr firstRow="1" bandRow="1">
                <a:tableStyleId>{5C22544A-7EE6-4342-B048-85BDC9FD1C3A}</a:tableStyleId>
              </a:tblPr>
              <a:tblGrid>
                <a:gridCol w="4283413">
                  <a:extLst>
                    <a:ext uri="{9D8B030D-6E8A-4147-A177-3AD203B41FA5}">
                      <a16:colId xmlns:a16="http://schemas.microsoft.com/office/drawing/2014/main" val="20000"/>
                    </a:ext>
                  </a:extLst>
                </a:gridCol>
                <a:gridCol w="4327187">
                  <a:extLst>
                    <a:ext uri="{9D8B030D-6E8A-4147-A177-3AD203B41FA5}">
                      <a16:colId xmlns:a16="http://schemas.microsoft.com/office/drawing/2014/main" val="20001"/>
                    </a:ext>
                  </a:extLst>
                </a:gridCol>
              </a:tblGrid>
              <a:tr h="783771">
                <a:tc>
                  <a:txBody>
                    <a:bodyPr/>
                    <a:lstStyle/>
                    <a:p>
                      <a:r>
                        <a:rPr lang="en-US" dirty="0"/>
                        <a:t>Adam</a:t>
                      </a:r>
                    </a:p>
                    <a:p>
                      <a:r>
                        <a:rPr lang="en-US" baseline="0" dirty="0"/>
                        <a:t>(our representative</a:t>
                      </a:r>
                      <a:r>
                        <a:rPr lang="en-US" dirty="0"/>
                        <a:t>)</a:t>
                      </a:r>
                    </a:p>
                  </a:txBody>
                  <a:tcPr/>
                </a:tc>
                <a:tc>
                  <a:txBody>
                    <a:bodyPr/>
                    <a:lstStyle/>
                    <a:p>
                      <a:r>
                        <a:rPr lang="en-US" dirty="0"/>
                        <a:t>Christ</a:t>
                      </a:r>
                    </a:p>
                    <a:p>
                      <a:r>
                        <a:rPr lang="en-US" dirty="0"/>
                        <a:t>(our</a:t>
                      </a:r>
                      <a:r>
                        <a:rPr lang="en-US" baseline="0" dirty="0"/>
                        <a:t> representative</a:t>
                      </a:r>
                      <a:r>
                        <a:rPr lang="en-US" dirty="0"/>
                        <a:t>)</a:t>
                      </a:r>
                    </a:p>
                  </a:txBody>
                  <a:tcPr/>
                </a:tc>
                <a:extLst>
                  <a:ext uri="{0D108BD9-81ED-4DB2-BD59-A6C34878D82A}">
                    <a16:rowId xmlns:a16="http://schemas.microsoft.com/office/drawing/2014/main" val="10000"/>
                  </a:ext>
                </a:extLst>
              </a:tr>
              <a:tr h="783771">
                <a:tc>
                  <a:txBody>
                    <a:bodyPr/>
                    <a:lstStyle/>
                    <a:p>
                      <a:r>
                        <a:rPr lang="en-US" b="0" dirty="0"/>
                        <a:t>One</a:t>
                      </a:r>
                      <a:r>
                        <a:rPr lang="en-US" b="0" baseline="0" dirty="0"/>
                        <a:t> man’s offense</a:t>
                      </a:r>
                      <a:r>
                        <a:rPr lang="en-US" b="0" dirty="0"/>
                        <a:t> (v15)</a:t>
                      </a:r>
                    </a:p>
                    <a:p>
                      <a:pPr marL="285750" indent="-285750">
                        <a:buFont typeface="Arial" panose="020B0604020202020204" pitchFamily="34" charset="0"/>
                        <a:buChar char="•"/>
                      </a:pPr>
                      <a:r>
                        <a:rPr lang="en-US" b="0" i="1" dirty="0"/>
                        <a:t>Many died</a:t>
                      </a:r>
                    </a:p>
                  </a:txBody>
                  <a:tcPr/>
                </a:tc>
                <a:tc>
                  <a:txBody>
                    <a:bodyPr/>
                    <a:lstStyle/>
                    <a:p>
                      <a:r>
                        <a:rPr lang="en-US" b="0" baseline="0" dirty="0"/>
                        <a:t>One man’s free gift</a:t>
                      </a:r>
                    </a:p>
                    <a:p>
                      <a:pPr marL="285750" indent="-285750">
                        <a:buFont typeface="Arial" panose="020B0604020202020204" pitchFamily="34" charset="0"/>
                        <a:buChar char="•"/>
                      </a:pPr>
                      <a:r>
                        <a:rPr lang="en-US" b="0" i="1" baseline="0" dirty="0"/>
                        <a:t>Righteousness to many</a:t>
                      </a:r>
                      <a:endParaRPr lang="en-US" b="0" i="1" dirty="0"/>
                    </a:p>
                  </a:txBody>
                  <a:tcPr/>
                </a:tc>
                <a:extLst>
                  <a:ext uri="{0D108BD9-81ED-4DB2-BD59-A6C34878D82A}">
                    <a16:rowId xmlns:a16="http://schemas.microsoft.com/office/drawing/2014/main" val="10001"/>
                  </a:ext>
                </a:extLst>
              </a:tr>
              <a:tr h="783771">
                <a:tc>
                  <a:txBody>
                    <a:bodyPr/>
                    <a:lstStyle/>
                    <a:p>
                      <a:r>
                        <a:rPr lang="en-US" b="1" dirty="0"/>
                        <a:t> That</a:t>
                      </a:r>
                      <a:r>
                        <a:rPr lang="en-US" b="1" baseline="0" dirty="0"/>
                        <a:t> which thus came </a:t>
                      </a:r>
                      <a:r>
                        <a:rPr lang="en-US" b="1" dirty="0"/>
                        <a:t>(v16)</a:t>
                      </a:r>
                    </a:p>
                    <a:p>
                      <a:pPr marL="285750" indent="-285750">
                        <a:buFont typeface="Arial" panose="020B0604020202020204" pitchFamily="34" charset="0"/>
                        <a:buChar char="•"/>
                      </a:pPr>
                      <a:r>
                        <a:rPr lang="en-US" b="1" i="1" dirty="0"/>
                        <a:t>Judgment,</a:t>
                      </a:r>
                      <a:r>
                        <a:rPr lang="en-US" b="1" i="1" baseline="0" dirty="0"/>
                        <a:t> condemnation</a:t>
                      </a:r>
                      <a:endParaRPr lang="en-US" b="1" i="1" dirty="0"/>
                    </a:p>
                  </a:txBody>
                  <a:tcPr/>
                </a:tc>
                <a:tc>
                  <a:txBody>
                    <a:bodyPr/>
                    <a:lstStyle/>
                    <a:p>
                      <a:r>
                        <a:rPr lang="en-US" b="1" baseline="0" dirty="0"/>
                        <a:t>That which thus came</a:t>
                      </a:r>
                      <a:endParaRPr lang="en-US" b="1" dirty="0"/>
                    </a:p>
                    <a:p>
                      <a:pPr marL="285750" indent="-285750">
                        <a:buFont typeface="Arial" panose="020B0604020202020204" pitchFamily="34" charset="0"/>
                        <a:buChar char="•"/>
                      </a:pPr>
                      <a:r>
                        <a:rPr lang="en-US" b="1" i="1" baseline="0" dirty="0"/>
                        <a:t>Gift of justification</a:t>
                      </a:r>
                      <a:endParaRPr lang="en-US" b="1" i="1" dirty="0"/>
                    </a:p>
                  </a:txBody>
                  <a:tcPr/>
                </a:tc>
                <a:extLst>
                  <a:ext uri="{0D108BD9-81ED-4DB2-BD59-A6C34878D82A}">
                    <a16:rowId xmlns:a16="http://schemas.microsoft.com/office/drawing/2014/main" val="10002"/>
                  </a:ext>
                </a:extLst>
              </a:tr>
            </a:tbl>
          </a:graphicData>
        </a:graphic>
      </p:graphicFrame>
      <p:sp>
        <p:nvSpPr>
          <p:cNvPr id="4" name="TextBox 3"/>
          <p:cNvSpPr txBox="1"/>
          <p:nvPr/>
        </p:nvSpPr>
        <p:spPr>
          <a:xfrm>
            <a:off x="571500" y="3810000"/>
            <a:ext cx="8001000" cy="1323439"/>
          </a:xfrm>
          <a:prstGeom prst="rect">
            <a:avLst/>
          </a:prstGeom>
          <a:noFill/>
        </p:spPr>
        <p:txBody>
          <a:bodyPr wrap="square" rtlCol="0">
            <a:spAutoFit/>
          </a:bodyPr>
          <a:lstStyle/>
          <a:p>
            <a:r>
              <a:rPr lang="en-US" sz="2000" i="1" dirty="0"/>
              <a:t>“And the gift is not like that which came through the one who sinned. For the judgment which came from one offense resulted in condemnation, but the free gift which came from many offenses resulted in justification.”  (Rom. 5:16)</a:t>
            </a:r>
          </a:p>
        </p:txBody>
      </p:sp>
    </p:spTree>
    <p:extLst>
      <p:ext uri="{BB962C8B-B14F-4D97-AF65-F5344CB8AC3E}">
        <p14:creationId xmlns:p14="http://schemas.microsoft.com/office/powerpoint/2010/main" val="142794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990600"/>
          </a:xfrm>
        </p:spPr>
        <p:txBody>
          <a:bodyPr>
            <a:normAutofit fontScale="90000"/>
          </a:bodyPr>
          <a:lstStyle/>
          <a:p>
            <a:r>
              <a:rPr lang="en-US" dirty="0"/>
              <a:t>Blessings by Type Contrast</a:t>
            </a:r>
            <a:br>
              <a:rPr lang="en-US" dirty="0"/>
            </a:br>
            <a:r>
              <a:rPr lang="en-US" sz="2400" dirty="0">
                <a:solidFill>
                  <a:schemeClr val="tx2">
                    <a:lumMod val="60000"/>
                    <a:lumOff val="40000"/>
                  </a:schemeClr>
                </a:solidFill>
              </a:rPr>
              <a:t>Adam’s Record versus Christ’s Record</a:t>
            </a:r>
          </a:p>
        </p:txBody>
      </p:sp>
      <p:graphicFrame>
        <p:nvGraphicFramePr>
          <p:cNvPr id="3" name="Table 2"/>
          <p:cNvGraphicFramePr>
            <a:graphicFrameLocks noGrp="1"/>
          </p:cNvGraphicFramePr>
          <p:nvPr>
            <p:extLst>
              <p:ext uri="{D42A27DB-BD31-4B8C-83A1-F6EECF244321}">
                <p14:modId xmlns:p14="http://schemas.microsoft.com/office/powerpoint/2010/main" val="2668685253"/>
              </p:ext>
            </p:extLst>
          </p:nvPr>
        </p:nvGraphicFramePr>
        <p:xfrm>
          <a:off x="304800" y="1066800"/>
          <a:ext cx="8610600" cy="3135084"/>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783771">
                <a:tc>
                  <a:txBody>
                    <a:bodyPr/>
                    <a:lstStyle/>
                    <a:p>
                      <a:r>
                        <a:rPr lang="en-US" dirty="0"/>
                        <a:t>Adam</a:t>
                      </a:r>
                    </a:p>
                    <a:p>
                      <a:r>
                        <a:rPr lang="en-US" baseline="0" dirty="0"/>
                        <a:t>(our representative</a:t>
                      </a:r>
                      <a:r>
                        <a:rPr lang="en-US" dirty="0"/>
                        <a:t>)</a:t>
                      </a:r>
                    </a:p>
                  </a:txBody>
                  <a:tcPr/>
                </a:tc>
                <a:tc>
                  <a:txBody>
                    <a:bodyPr/>
                    <a:lstStyle/>
                    <a:p>
                      <a:r>
                        <a:rPr lang="en-US" dirty="0"/>
                        <a:t>Christ</a:t>
                      </a:r>
                    </a:p>
                    <a:p>
                      <a:r>
                        <a:rPr lang="en-US" dirty="0"/>
                        <a:t>(our</a:t>
                      </a:r>
                      <a:r>
                        <a:rPr lang="en-US" baseline="0" dirty="0"/>
                        <a:t> representative</a:t>
                      </a:r>
                      <a:r>
                        <a:rPr lang="en-US" dirty="0"/>
                        <a:t>)</a:t>
                      </a:r>
                    </a:p>
                  </a:txBody>
                  <a:tcPr/>
                </a:tc>
                <a:extLst>
                  <a:ext uri="{0D108BD9-81ED-4DB2-BD59-A6C34878D82A}">
                    <a16:rowId xmlns:a16="http://schemas.microsoft.com/office/drawing/2014/main" val="10000"/>
                  </a:ext>
                </a:extLst>
              </a:tr>
              <a:tr h="783771">
                <a:tc>
                  <a:txBody>
                    <a:bodyPr/>
                    <a:lstStyle/>
                    <a:p>
                      <a:r>
                        <a:rPr lang="en-US" b="0" dirty="0"/>
                        <a:t>One</a:t>
                      </a:r>
                      <a:r>
                        <a:rPr lang="en-US" b="0" baseline="0" dirty="0"/>
                        <a:t> man’s offense</a:t>
                      </a:r>
                      <a:r>
                        <a:rPr lang="en-US" b="0" dirty="0"/>
                        <a:t> (v15)</a:t>
                      </a:r>
                    </a:p>
                    <a:p>
                      <a:pPr marL="285750" indent="-285750">
                        <a:buFont typeface="Arial" panose="020B0604020202020204" pitchFamily="34" charset="0"/>
                        <a:buChar char="•"/>
                      </a:pPr>
                      <a:r>
                        <a:rPr lang="en-US" b="0" i="1" dirty="0"/>
                        <a:t>Many died</a:t>
                      </a:r>
                    </a:p>
                  </a:txBody>
                  <a:tcPr/>
                </a:tc>
                <a:tc>
                  <a:txBody>
                    <a:bodyPr/>
                    <a:lstStyle/>
                    <a:p>
                      <a:r>
                        <a:rPr lang="en-US" b="0" baseline="0" dirty="0"/>
                        <a:t>One man’s free gift</a:t>
                      </a:r>
                    </a:p>
                    <a:p>
                      <a:pPr marL="285750" indent="-285750">
                        <a:buFont typeface="Arial" panose="020B0604020202020204" pitchFamily="34" charset="0"/>
                        <a:buChar char="•"/>
                      </a:pPr>
                      <a:r>
                        <a:rPr lang="en-US" b="0" i="1" baseline="0" dirty="0"/>
                        <a:t>Righteousness to many</a:t>
                      </a:r>
                      <a:endParaRPr lang="en-US" b="0" i="1" dirty="0"/>
                    </a:p>
                  </a:txBody>
                  <a:tcPr/>
                </a:tc>
                <a:extLst>
                  <a:ext uri="{0D108BD9-81ED-4DB2-BD59-A6C34878D82A}">
                    <a16:rowId xmlns:a16="http://schemas.microsoft.com/office/drawing/2014/main" val="10001"/>
                  </a:ext>
                </a:extLst>
              </a:tr>
              <a:tr h="783771">
                <a:tc>
                  <a:txBody>
                    <a:bodyPr/>
                    <a:lstStyle/>
                    <a:p>
                      <a:r>
                        <a:rPr lang="en-US" b="0" dirty="0"/>
                        <a:t> That</a:t>
                      </a:r>
                      <a:r>
                        <a:rPr lang="en-US" b="0" baseline="0" dirty="0"/>
                        <a:t> which thus came </a:t>
                      </a:r>
                      <a:r>
                        <a:rPr lang="en-US" b="0" dirty="0"/>
                        <a:t>(v16)</a:t>
                      </a:r>
                    </a:p>
                    <a:p>
                      <a:pPr marL="285750" indent="-285750">
                        <a:buFont typeface="Arial" panose="020B0604020202020204" pitchFamily="34" charset="0"/>
                        <a:buChar char="•"/>
                      </a:pPr>
                      <a:r>
                        <a:rPr lang="en-US" b="0" i="1" dirty="0"/>
                        <a:t>Judgment,</a:t>
                      </a:r>
                      <a:r>
                        <a:rPr lang="en-US" b="0" i="1" baseline="0" dirty="0"/>
                        <a:t> condemnation</a:t>
                      </a:r>
                      <a:endParaRPr lang="en-US" b="0" i="1" dirty="0"/>
                    </a:p>
                  </a:txBody>
                  <a:tcPr/>
                </a:tc>
                <a:tc>
                  <a:txBody>
                    <a:bodyPr/>
                    <a:lstStyle/>
                    <a:p>
                      <a:r>
                        <a:rPr lang="en-US" b="0" baseline="0" dirty="0"/>
                        <a:t>That which thus came</a:t>
                      </a:r>
                      <a:endParaRPr lang="en-US" b="0" dirty="0"/>
                    </a:p>
                    <a:p>
                      <a:pPr marL="285750" indent="-285750">
                        <a:buFont typeface="Arial" panose="020B0604020202020204" pitchFamily="34" charset="0"/>
                        <a:buChar char="•"/>
                      </a:pPr>
                      <a:r>
                        <a:rPr lang="en-US" b="0" i="1" baseline="0" dirty="0"/>
                        <a:t>Gift of justification</a:t>
                      </a:r>
                      <a:endParaRPr lang="en-US" b="0" i="1" dirty="0"/>
                    </a:p>
                  </a:txBody>
                  <a:tcPr/>
                </a:tc>
                <a:extLst>
                  <a:ext uri="{0D108BD9-81ED-4DB2-BD59-A6C34878D82A}">
                    <a16:rowId xmlns:a16="http://schemas.microsoft.com/office/drawing/2014/main" val="10002"/>
                  </a:ext>
                </a:extLst>
              </a:tr>
              <a:tr h="783771">
                <a:tc>
                  <a:txBody>
                    <a:bodyPr/>
                    <a:lstStyle/>
                    <a:p>
                      <a:r>
                        <a:rPr lang="en-US" b="1" dirty="0"/>
                        <a:t>Through</a:t>
                      </a:r>
                      <a:r>
                        <a:rPr lang="en-US" b="1" baseline="0" dirty="0"/>
                        <a:t> one man</a:t>
                      </a:r>
                      <a:r>
                        <a:rPr lang="en-US" b="1" dirty="0"/>
                        <a:t> (v17)</a:t>
                      </a:r>
                    </a:p>
                    <a:p>
                      <a:pPr marL="285750" indent="-285750">
                        <a:buFont typeface="Arial" panose="020B0604020202020204" pitchFamily="34" charset="0"/>
                        <a:buChar char="•"/>
                      </a:pPr>
                      <a:r>
                        <a:rPr lang="en-US" b="1" i="1" dirty="0"/>
                        <a:t>Death</a:t>
                      </a:r>
                      <a:r>
                        <a:rPr lang="en-US" b="1" i="1" baseline="0" dirty="0"/>
                        <a:t> reigns</a:t>
                      </a:r>
                      <a:endParaRPr lang="en-US" b="1" i="1" dirty="0"/>
                    </a:p>
                  </a:txBody>
                  <a:tcPr/>
                </a:tc>
                <a:tc>
                  <a:txBody>
                    <a:bodyPr/>
                    <a:lstStyle/>
                    <a:p>
                      <a:r>
                        <a:rPr lang="en-US" b="1" baseline="0" dirty="0"/>
                        <a:t>Through one man</a:t>
                      </a:r>
                    </a:p>
                    <a:p>
                      <a:pPr marL="285750" indent="-285750">
                        <a:buFont typeface="Arial" panose="020B0604020202020204" pitchFamily="34" charset="0"/>
                        <a:buChar char="•"/>
                      </a:pPr>
                      <a:r>
                        <a:rPr lang="en-US" b="1" i="1" baseline="0" dirty="0"/>
                        <a:t>Believers reign in life</a:t>
                      </a:r>
                      <a:endParaRPr lang="en-US" b="1" i="1" dirty="0"/>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571500" y="4572000"/>
            <a:ext cx="8001000" cy="1323439"/>
          </a:xfrm>
          <a:prstGeom prst="rect">
            <a:avLst/>
          </a:prstGeom>
          <a:noFill/>
        </p:spPr>
        <p:txBody>
          <a:bodyPr wrap="square" rtlCol="0">
            <a:spAutoFit/>
          </a:bodyPr>
          <a:lstStyle/>
          <a:p>
            <a:r>
              <a:rPr lang="en-US" sz="2000" i="1" dirty="0"/>
              <a:t>“For if by the one man’s offense death reigned through the one, much more those who receive abundance of grace and of the gift of righteousness will reign in life through the One, Jesus Christ.”  </a:t>
            </a:r>
          </a:p>
          <a:p>
            <a:r>
              <a:rPr lang="en-US" sz="2000" i="1" dirty="0"/>
              <a:t>(Rom. 5:17)</a:t>
            </a:r>
          </a:p>
        </p:txBody>
      </p:sp>
    </p:spTree>
    <p:extLst>
      <p:ext uri="{BB962C8B-B14F-4D97-AF65-F5344CB8AC3E}">
        <p14:creationId xmlns:p14="http://schemas.microsoft.com/office/powerpoint/2010/main" val="1107400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990600"/>
          </a:xfrm>
        </p:spPr>
        <p:txBody>
          <a:bodyPr>
            <a:normAutofit fontScale="90000"/>
          </a:bodyPr>
          <a:lstStyle/>
          <a:p>
            <a:r>
              <a:rPr lang="en-US" dirty="0"/>
              <a:t>Blessings by Type Contrast</a:t>
            </a:r>
            <a:br>
              <a:rPr lang="en-US" dirty="0"/>
            </a:br>
            <a:r>
              <a:rPr lang="en-US" sz="2400" dirty="0">
                <a:solidFill>
                  <a:schemeClr val="tx2">
                    <a:lumMod val="60000"/>
                    <a:lumOff val="40000"/>
                  </a:schemeClr>
                </a:solidFill>
              </a:rPr>
              <a:t>Adam’s Record versus Christ’s Record</a:t>
            </a:r>
          </a:p>
        </p:txBody>
      </p:sp>
      <p:graphicFrame>
        <p:nvGraphicFramePr>
          <p:cNvPr id="3" name="Table 2"/>
          <p:cNvGraphicFramePr>
            <a:graphicFrameLocks noGrp="1"/>
          </p:cNvGraphicFramePr>
          <p:nvPr>
            <p:extLst>
              <p:ext uri="{D42A27DB-BD31-4B8C-83A1-F6EECF244321}">
                <p14:modId xmlns:p14="http://schemas.microsoft.com/office/powerpoint/2010/main" val="2868568720"/>
              </p:ext>
            </p:extLst>
          </p:nvPr>
        </p:nvGraphicFramePr>
        <p:xfrm>
          <a:off x="304800" y="1066800"/>
          <a:ext cx="8610600" cy="3918855"/>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783771">
                <a:tc>
                  <a:txBody>
                    <a:bodyPr/>
                    <a:lstStyle/>
                    <a:p>
                      <a:r>
                        <a:rPr lang="en-US" dirty="0"/>
                        <a:t>Adam</a:t>
                      </a:r>
                    </a:p>
                    <a:p>
                      <a:r>
                        <a:rPr lang="en-US" baseline="0" dirty="0"/>
                        <a:t>(our representative</a:t>
                      </a:r>
                      <a:r>
                        <a:rPr lang="en-US" dirty="0"/>
                        <a:t>)</a:t>
                      </a:r>
                    </a:p>
                  </a:txBody>
                  <a:tcPr/>
                </a:tc>
                <a:tc>
                  <a:txBody>
                    <a:bodyPr/>
                    <a:lstStyle/>
                    <a:p>
                      <a:r>
                        <a:rPr lang="en-US" dirty="0"/>
                        <a:t>Christ</a:t>
                      </a:r>
                    </a:p>
                    <a:p>
                      <a:r>
                        <a:rPr lang="en-US" dirty="0"/>
                        <a:t>(our</a:t>
                      </a:r>
                      <a:r>
                        <a:rPr lang="en-US" baseline="0" dirty="0"/>
                        <a:t> representative</a:t>
                      </a:r>
                      <a:r>
                        <a:rPr lang="en-US" dirty="0"/>
                        <a:t>)</a:t>
                      </a:r>
                    </a:p>
                  </a:txBody>
                  <a:tcPr/>
                </a:tc>
                <a:extLst>
                  <a:ext uri="{0D108BD9-81ED-4DB2-BD59-A6C34878D82A}">
                    <a16:rowId xmlns:a16="http://schemas.microsoft.com/office/drawing/2014/main" val="10000"/>
                  </a:ext>
                </a:extLst>
              </a:tr>
              <a:tr h="783771">
                <a:tc>
                  <a:txBody>
                    <a:bodyPr/>
                    <a:lstStyle/>
                    <a:p>
                      <a:r>
                        <a:rPr lang="en-US" b="0" dirty="0"/>
                        <a:t>One</a:t>
                      </a:r>
                      <a:r>
                        <a:rPr lang="en-US" b="0" baseline="0" dirty="0"/>
                        <a:t> man’s offense</a:t>
                      </a:r>
                      <a:r>
                        <a:rPr lang="en-US" b="0" dirty="0"/>
                        <a:t> (v15)</a:t>
                      </a:r>
                    </a:p>
                    <a:p>
                      <a:pPr marL="285750" indent="-285750">
                        <a:buFont typeface="Arial" panose="020B0604020202020204" pitchFamily="34" charset="0"/>
                        <a:buChar char="•"/>
                      </a:pPr>
                      <a:r>
                        <a:rPr lang="en-US" b="0" i="1" dirty="0"/>
                        <a:t>Many died</a:t>
                      </a:r>
                    </a:p>
                  </a:txBody>
                  <a:tcPr/>
                </a:tc>
                <a:tc>
                  <a:txBody>
                    <a:bodyPr/>
                    <a:lstStyle/>
                    <a:p>
                      <a:r>
                        <a:rPr lang="en-US" b="0" baseline="0" dirty="0"/>
                        <a:t>One man’s free gift</a:t>
                      </a:r>
                    </a:p>
                    <a:p>
                      <a:pPr marL="285750" indent="-285750">
                        <a:buFont typeface="Arial" panose="020B0604020202020204" pitchFamily="34" charset="0"/>
                        <a:buChar char="•"/>
                      </a:pPr>
                      <a:r>
                        <a:rPr lang="en-US" b="0" i="1" baseline="0" dirty="0"/>
                        <a:t>Righteousness to many</a:t>
                      </a:r>
                      <a:endParaRPr lang="en-US" b="0" i="1" dirty="0"/>
                    </a:p>
                  </a:txBody>
                  <a:tcPr/>
                </a:tc>
                <a:extLst>
                  <a:ext uri="{0D108BD9-81ED-4DB2-BD59-A6C34878D82A}">
                    <a16:rowId xmlns:a16="http://schemas.microsoft.com/office/drawing/2014/main" val="10001"/>
                  </a:ext>
                </a:extLst>
              </a:tr>
              <a:tr h="783771">
                <a:tc>
                  <a:txBody>
                    <a:bodyPr/>
                    <a:lstStyle/>
                    <a:p>
                      <a:r>
                        <a:rPr lang="en-US" b="0" dirty="0"/>
                        <a:t> That</a:t>
                      </a:r>
                      <a:r>
                        <a:rPr lang="en-US" b="0" baseline="0" dirty="0"/>
                        <a:t> which thus came </a:t>
                      </a:r>
                      <a:r>
                        <a:rPr lang="en-US" b="0" dirty="0"/>
                        <a:t>(v16)</a:t>
                      </a:r>
                    </a:p>
                    <a:p>
                      <a:pPr marL="285750" indent="-285750">
                        <a:buFont typeface="Arial" panose="020B0604020202020204" pitchFamily="34" charset="0"/>
                        <a:buChar char="•"/>
                      </a:pPr>
                      <a:r>
                        <a:rPr lang="en-US" b="0" i="1" dirty="0"/>
                        <a:t>Judgment,</a:t>
                      </a:r>
                      <a:r>
                        <a:rPr lang="en-US" b="0" i="1" baseline="0" dirty="0"/>
                        <a:t> condemnation</a:t>
                      </a:r>
                      <a:endParaRPr lang="en-US" b="0" i="1" dirty="0"/>
                    </a:p>
                  </a:txBody>
                  <a:tcPr/>
                </a:tc>
                <a:tc>
                  <a:txBody>
                    <a:bodyPr/>
                    <a:lstStyle/>
                    <a:p>
                      <a:r>
                        <a:rPr lang="en-US" b="0" baseline="0" dirty="0"/>
                        <a:t>That which thus came</a:t>
                      </a:r>
                      <a:endParaRPr lang="en-US" b="0" dirty="0"/>
                    </a:p>
                    <a:p>
                      <a:pPr marL="285750" indent="-285750">
                        <a:buFont typeface="Arial" panose="020B0604020202020204" pitchFamily="34" charset="0"/>
                        <a:buChar char="•"/>
                      </a:pPr>
                      <a:r>
                        <a:rPr lang="en-US" b="0" i="1" baseline="0" dirty="0"/>
                        <a:t>Gift of justification</a:t>
                      </a:r>
                      <a:endParaRPr lang="en-US" b="0" i="1" dirty="0"/>
                    </a:p>
                  </a:txBody>
                  <a:tcPr/>
                </a:tc>
                <a:extLst>
                  <a:ext uri="{0D108BD9-81ED-4DB2-BD59-A6C34878D82A}">
                    <a16:rowId xmlns:a16="http://schemas.microsoft.com/office/drawing/2014/main" val="10002"/>
                  </a:ext>
                </a:extLst>
              </a:tr>
              <a:tr h="783771">
                <a:tc>
                  <a:txBody>
                    <a:bodyPr/>
                    <a:lstStyle/>
                    <a:p>
                      <a:r>
                        <a:rPr lang="en-US" b="0" dirty="0"/>
                        <a:t>Through</a:t>
                      </a:r>
                      <a:r>
                        <a:rPr lang="en-US" b="0" baseline="0" dirty="0"/>
                        <a:t> one man</a:t>
                      </a:r>
                      <a:r>
                        <a:rPr lang="en-US" b="0" dirty="0"/>
                        <a:t> (v17)</a:t>
                      </a:r>
                    </a:p>
                    <a:p>
                      <a:pPr marL="285750" indent="-285750">
                        <a:buFont typeface="Arial" panose="020B0604020202020204" pitchFamily="34" charset="0"/>
                        <a:buChar char="•"/>
                      </a:pPr>
                      <a:r>
                        <a:rPr lang="en-US" b="0" i="1" dirty="0"/>
                        <a:t>Death</a:t>
                      </a:r>
                      <a:r>
                        <a:rPr lang="en-US" b="0" i="1" baseline="0" dirty="0"/>
                        <a:t> reigns</a:t>
                      </a:r>
                      <a:endParaRPr lang="en-US" b="0" i="1" dirty="0"/>
                    </a:p>
                  </a:txBody>
                  <a:tcPr/>
                </a:tc>
                <a:tc>
                  <a:txBody>
                    <a:bodyPr/>
                    <a:lstStyle/>
                    <a:p>
                      <a:r>
                        <a:rPr lang="en-US" b="0" baseline="0" dirty="0"/>
                        <a:t>Through one man</a:t>
                      </a:r>
                    </a:p>
                    <a:p>
                      <a:pPr marL="285750" indent="-285750">
                        <a:buFont typeface="Arial" panose="020B0604020202020204" pitchFamily="34" charset="0"/>
                        <a:buChar char="•"/>
                      </a:pPr>
                      <a:r>
                        <a:rPr lang="en-US" b="0" i="1" baseline="0" dirty="0"/>
                        <a:t>Believers reign in life</a:t>
                      </a:r>
                      <a:endParaRPr lang="en-US" b="0" i="1" dirty="0"/>
                    </a:p>
                  </a:txBody>
                  <a:tcPr/>
                </a:tc>
                <a:extLst>
                  <a:ext uri="{0D108BD9-81ED-4DB2-BD59-A6C34878D82A}">
                    <a16:rowId xmlns:a16="http://schemas.microsoft.com/office/drawing/2014/main" val="10003"/>
                  </a:ext>
                </a:extLst>
              </a:tr>
              <a:tr h="783771">
                <a:tc>
                  <a:txBody>
                    <a:bodyPr/>
                    <a:lstStyle/>
                    <a:p>
                      <a:r>
                        <a:rPr lang="en-US" b="1" dirty="0"/>
                        <a:t>One</a:t>
                      </a:r>
                      <a:r>
                        <a:rPr lang="en-US" b="1" baseline="0" dirty="0"/>
                        <a:t> man’s offense</a:t>
                      </a:r>
                      <a:r>
                        <a:rPr lang="en-US" b="1" dirty="0"/>
                        <a:t> (v18)</a:t>
                      </a:r>
                    </a:p>
                    <a:p>
                      <a:pPr marL="285750" indent="-285750">
                        <a:buFont typeface="Arial" panose="020B0604020202020204" pitchFamily="34" charset="0"/>
                        <a:buChar char="•"/>
                      </a:pPr>
                      <a:r>
                        <a:rPr lang="en-US" b="1" i="1" dirty="0"/>
                        <a:t>Condemnation</a:t>
                      </a:r>
                      <a:r>
                        <a:rPr lang="en-US" b="1" i="1" baseline="0" dirty="0"/>
                        <a:t> to all</a:t>
                      </a:r>
                      <a:endParaRPr lang="en-US" b="1" i="1" dirty="0"/>
                    </a:p>
                  </a:txBody>
                  <a:tcPr/>
                </a:tc>
                <a:tc>
                  <a:txBody>
                    <a:bodyPr/>
                    <a:lstStyle/>
                    <a:p>
                      <a:r>
                        <a:rPr lang="en-US" b="1" baseline="0" dirty="0"/>
                        <a:t>Righteousness of One</a:t>
                      </a:r>
                    </a:p>
                    <a:p>
                      <a:pPr marL="285750" indent="-285750">
                        <a:buFont typeface="Arial" panose="020B0604020202020204" pitchFamily="34" charset="0"/>
                        <a:buChar char="•"/>
                      </a:pPr>
                      <a:r>
                        <a:rPr lang="en-US" b="1" i="1" baseline="0" dirty="0"/>
                        <a:t>Justification offered all</a:t>
                      </a:r>
                      <a:endParaRPr lang="en-US" b="1" i="1" dirty="0"/>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571500" y="5181600"/>
            <a:ext cx="8001000" cy="1323439"/>
          </a:xfrm>
          <a:prstGeom prst="rect">
            <a:avLst/>
          </a:prstGeom>
          <a:noFill/>
        </p:spPr>
        <p:txBody>
          <a:bodyPr wrap="square" rtlCol="0">
            <a:spAutoFit/>
          </a:bodyPr>
          <a:lstStyle/>
          <a:p>
            <a:r>
              <a:rPr lang="en-US" sz="2000" i="1" dirty="0"/>
              <a:t>“Therefore, as through one man’s offense judgment came to all men, resulting in condemnation, even so through one Man’s righteous act the free gift came to all men, resulting in justification of life.”  </a:t>
            </a:r>
          </a:p>
          <a:p>
            <a:r>
              <a:rPr lang="en-US" sz="2000" i="1" dirty="0"/>
              <a:t>(Rom. 5:18)</a:t>
            </a:r>
          </a:p>
        </p:txBody>
      </p:sp>
    </p:spTree>
    <p:extLst>
      <p:ext uri="{BB962C8B-B14F-4D97-AF65-F5344CB8AC3E}">
        <p14:creationId xmlns:p14="http://schemas.microsoft.com/office/powerpoint/2010/main" val="2990574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990600"/>
          </a:xfrm>
        </p:spPr>
        <p:txBody>
          <a:bodyPr>
            <a:normAutofit fontScale="90000"/>
          </a:bodyPr>
          <a:lstStyle/>
          <a:p>
            <a:r>
              <a:rPr lang="en-US" dirty="0"/>
              <a:t>Blessings by Type Contrast</a:t>
            </a:r>
            <a:br>
              <a:rPr lang="en-US" dirty="0"/>
            </a:br>
            <a:r>
              <a:rPr lang="en-US" sz="2400" dirty="0">
                <a:solidFill>
                  <a:schemeClr val="tx2">
                    <a:lumMod val="60000"/>
                    <a:lumOff val="40000"/>
                  </a:schemeClr>
                </a:solidFill>
              </a:rPr>
              <a:t>Adam’s Record versus Christ’s Record</a:t>
            </a:r>
          </a:p>
        </p:txBody>
      </p:sp>
      <p:graphicFrame>
        <p:nvGraphicFramePr>
          <p:cNvPr id="3" name="Table 2"/>
          <p:cNvGraphicFramePr>
            <a:graphicFrameLocks noGrp="1"/>
          </p:cNvGraphicFramePr>
          <p:nvPr>
            <p:extLst>
              <p:ext uri="{D42A27DB-BD31-4B8C-83A1-F6EECF244321}">
                <p14:modId xmlns:p14="http://schemas.microsoft.com/office/powerpoint/2010/main" val="1501758168"/>
              </p:ext>
            </p:extLst>
          </p:nvPr>
        </p:nvGraphicFramePr>
        <p:xfrm>
          <a:off x="304800" y="1066800"/>
          <a:ext cx="8610600" cy="3918855"/>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783771">
                <a:tc>
                  <a:txBody>
                    <a:bodyPr/>
                    <a:lstStyle/>
                    <a:p>
                      <a:r>
                        <a:rPr lang="en-US" dirty="0"/>
                        <a:t>Adam</a:t>
                      </a:r>
                    </a:p>
                    <a:p>
                      <a:r>
                        <a:rPr lang="en-US" baseline="0" dirty="0"/>
                        <a:t>(our representative</a:t>
                      </a:r>
                      <a:r>
                        <a:rPr lang="en-US" dirty="0"/>
                        <a:t>)</a:t>
                      </a:r>
                    </a:p>
                  </a:txBody>
                  <a:tcPr/>
                </a:tc>
                <a:tc>
                  <a:txBody>
                    <a:bodyPr/>
                    <a:lstStyle/>
                    <a:p>
                      <a:r>
                        <a:rPr lang="en-US" dirty="0"/>
                        <a:t>Christ</a:t>
                      </a:r>
                    </a:p>
                    <a:p>
                      <a:r>
                        <a:rPr lang="en-US" dirty="0"/>
                        <a:t>(our</a:t>
                      </a:r>
                      <a:r>
                        <a:rPr lang="en-US" baseline="0" dirty="0"/>
                        <a:t> representative</a:t>
                      </a:r>
                      <a:r>
                        <a:rPr lang="en-US" dirty="0"/>
                        <a:t>)</a:t>
                      </a:r>
                    </a:p>
                  </a:txBody>
                  <a:tcPr/>
                </a:tc>
                <a:extLst>
                  <a:ext uri="{0D108BD9-81ED-4DB2-BD59-A6C34878D82A}">
                    <a16:rowId xmlns:a16="http://schemas.microsoft.com/office/drawing/2014/main" val="10000"/>
                  </a:ext>
                </a:extLst>
              </a:tr>
              <a:tr h="783771">
                <a:tc>
                  <a:txBody>
                    <a:bodyPr/>
                    <a:lstStyle/>
                    <a:p>
                      <a:r>
                        <a:rPr lang="en-US" b="0" dirty="0"/>
                        <a:t> That</a:t>
                      </a:r>
                      <a:r>
                        <a:rPr lang="en-US" b="0" baseline="0" dirty="0"/>
                        <a:t> which thus came </a:t>
                      </a:r>
                      <a:r>
                        <a:rPr lang="en-US" b="0" dirty="0"/>
                        <a:t>(v16)</a:t>
                      </a:r>
                    </a:p>
                    <a:p>
                      <a:pPr marL="285750" indent="-285750">
                        <a:buFont typeface="Arial" panose="020B0604020202020204" pitchFamily="34" charset="0"/>
                        <a:buChar char="•"/>
                      </a:pPr>
                      <a:r>
                        <a:rPr lang="en-US" b="0" i="1" dirty="0"/>
                        <a:t>Judgment,</a:t>
                      </a:r>
                      <a:r>
                        <a:rPr lang="en-US" b="0" i="1" baseline="0" dirty="0"/>
                        <a:t> condemnation</a:t>
                      </a:r>
                      <a:endParaRPr lang="en-US" b="0" i="1" dirty="0"/>
                    </a:p>
                  </a:txBody>
                  <a:tcPr/>
                </a:tc>
                <a:tc>
                  <a:txBody>
                    <a:bodyPr/>
                    <a:lstStyle/>
                    <a:p>
                      <a:r>
                        <a:rPr lang="en-US" b="0" baseline="0" dirty="0"/>
                        <a:t>That which thus came</a:t>
                      </a:r>
                      <a:endParaRPr lang="en-US" b="0" dirty="0"/>
                    </a:p>
                    <a:p>
                      <a:pPr marL="285750" indent="-285750">
                        <a:buFont typeface="Arial" panose="020B0604020202020204" pitchFamily="34" charset="0"/>
                        <a:buChar char="•"/>
                      </a:pPr>
                      <a:r>
                        <a:rPr lang="en-US" b="0" i="1" baseline="0" dirty="0"/>
                        <a:t>Gift of justification</a:t>
                      </a:r>
                      <a:endParaRPr lang="en-US" b="0" i="1" dirty="0"/>
                    </a:p>
                  </a:txBody>
                  <a:tcPr/>
                </a:tc>
                <a:extLst>
                  <a:ext uri="{0D108BD9-81ED-4DB2-BD59-A6C34878D82A}">
                    <a16:rowId xmlns:a16="http://schemas.microsoft.com/office/drawing/2014/main" val="10001"/>
                  </a:ext>
                </a:extLst>
              </a:tr>
              <a:tr h="783771">
                <a:tc>
                  <a:txBody>
                    <a:bodyPr/>
                    <a:lstStyle/>
                    <a:p>
                      <a:r>
                        <a:rPr lang="en-US" b="0" dirty="0"/>
                        <a:t>Through</a:t>
                      </a:r>
                      <a:r>
                        <a:rPr lang="en-US" b="0" baseline="0" dirty="0"/>
                        <a:t> one man</a:t>
                      </a:r>
                      <a:r>
                        <a:rPr lang="en-US" b="0" dirty="0"/>
                        <a:t> (v17)</a:t>
                      </a:r>
                    </a:p>
                    <a:p>
                      <a:pPr marL="285750" indent="-285750">
                        <a:buFont typeface="Arial" panose="020B0604020202020204" pitchFamily="34" charset="0"/>
                        <a:buChar char="•"/>
                      </a:pPr>
                      <a:r>
                        <a:rPr lang="en-US" b="0" i="1" dirty="0"/>
                        <a:t>Death</a:t>
                      </a:r>
                      <a:r>
                        <a:rPr lang="en-US" b="0" i="1" baseline="0" dirty="0"/>
                        <a:t> reigns</a:t>
                      </a:r>
                      <a:endParaRPr lang="en-US" b="0" i="1" dirty="0"/>
                    </a:p>
                  </a:txBody>
                  <a:tcPr/>
                </a:tc>
                <a:tc>
                  <a:txBody>
                    <a:bodyPr/>
                    <a:lstStyle/>
                    <a:p>
                      <a:r>
                        <a:rPr lang="en-US" b="0" baseline="0" dirty="0"/>
                        <a:t>Through one man</a:t>
                      </a:r>
                    </a:p>
                    <a:p>
                      <a:pPr marL="285750" indent="-285750">
                        <a:buFont typeface="Arial" panose="020B0604020202020204" pitchFamily="34" charset="0"/>
                        <a:buChar char="•"/>
                      </a:pPr>
                      <a:r>
                        <a:rPr lang="en-US" b="0" i="1" baseline="0" dirty="0"/>
                        <a:t>Believers reign in life</a:t>
                      </a:r>
                      <a:endParaRPr lang="en-US" b="0" i="1" dirty="0"/>
                    </a:p>
                  </a:txBody>
                  <a:tcPr/>
                </a:tc>
                <a:extLst>
                  <a:ext uri="{0D108BD9-81ED-4DB2-BD59-A6C34878D82A}">
                    <a16:rowId xmlns:a16="http://schemas.microsoft.com/office/drawing/2014/main" val="10002"/>
                  </a:ext>
                </a:extLst>
              </a:tr>
              <a:tr h="783771">
                <a:tc>
                  <a:txBody>
                    <a:bodyPr/>
                    <a:lstStyle/>
                    <a:p>
                      <a:r>
                        <a:rPr lang="en-US" b="0" dirty="0"/>
                        <a:t>One</a:t>
                      </a:r>
                      <a:r>
                        <a:rPr lang="en-US" b="0" baseline="0" dirty="0"/>
                        <a:t> man’s offense</a:t>
                      </a:r>
                      <a:r>
                        <a:rPr lang="en-US" b="0" dirty="0"/>
                        <a:t> (v18)</a:t>
                      </a:r>
                    </a:p>
                    <a:p>
                      <a:pPr marL="285750" indent="-285750">
                        <a:buFont typeface="Arial" panose="020B0604020202020204" pitchFamily="34" charset="0"/>
                        <a:buChar char="•"/>
                      </a:pPr>
                      <a:r>
                        <a:rPr lang="en-US" b="0" i="1" dirty="0"/>
                        <a:t>Condemnation</a:t>
                      </a:r>
                      <a:r>
                        <a:rPr lang="en-US" b="0" i="1" baseline="0" dirty="0"/>
                        <a:t> to all</a:t>
                      </a:r>
                      <a:endParaRPr lang="en-US" b="0" i="1" dirty="0"/>
                    </a:p>
                  </a:txBody>
                  <a:tcPr/>
                </a:tc>
                <a:tc>
                  <a:txBody>
                    <a:bodyPr/>
                    <a:lstStyle/>
                    <a:p>
                      <a:r>
                        <a:rPr lang="en-US" b="0" baseline="0" dirty="0"/>
                        <a:t>Righteousness of One</a:t>
                      </a:r>
                    </a:p>
                    <a:p>
                      <a:pPr marL="285750" indent="-285750">
                        <a:buFont typeface="Arial" panose="020B0604020202020204" pitchFamily="34" charset="0"/>
                        <a:buChar char="•"/>
                      </a:pPr>
                      <a:r>
                        <a:rPr lang="en-US" b="0" i="1" baseline="0" dirty="0"/>
                        <a:t>Justification offered all</a:t>
                      </a:r>
                      <a:endParaRPr lang="en-US" b="0" i="1" dirty="0"/>
                    </a:p>
                  </a:txBody>
                  <a:tcPr/>
                </a:tc>
                <a:extLst>
                  <a:ext uri="{0D108BD9-81ED-4DB2-BD59-A6C34878D82A}">
                    <a16:rowId xmlns:a16="http://schemas.microsoft.com/office/drawing/2014/main" val="10003"/>
                  </a:ext>
                </a:extLst>
              </a:tr>
              <a:tr h="783771">
                <a:tc>
                  <a:txBody>
                    <a:bodyPr/>
                    <a:lstStyle/>
                    <a:p>
                      <a:r>
                        <a:rPr lang="en-US" b="1" dirty="0"/>
                        <a:t>Disobedience of one (v19)</a:t>
                      </a:r>
                    </a:p>
                    <a:p>
                      <a:pPr marL="285750" indent="-285750">
                        <a:buFont typeface="Arial" panose="020B0604020202020204" pitchFamily="34" charset="0"/>
                        <a:buChar char="•"/>
                      </a:pPr>
                      <a:r>
                        <a:rPr lang="en-US" b="1" i="1" dirty="0"/>
                        <a:t>Many made</a:t>
                      </a:r>
                      <a:r>
                        <a:rPr lang="en-US" b="1" i="1" baseline="0" dirty="0"/>
                        <a:t> sinners</a:t>
                      </a:r>
                      <a:endParaRPr lang="en-US" b="1" i="1" dirty="0"/>
                    </a:p>
                  </a:txBody>
                  <a:tcPr/>
                </a:tc>
                <a:tc>
                  <a:txBody>
                    <a:bodyPr/>
                    <a:lstStyle/>
                    <a:p>
                      <a:r>
                        <a:rPr lang="en-US" b="1" baseline="0" dirty="0"/>
                        <a:t>Obedience of one</a:t>
                      </a:r>
                    </a:p>
                    <a:p>
                      <a:pPr marL="285750" indent="-285750">
                        <a:buFont typeface="Arial" panose="020B0604020202020204" pitchFamily="34" charset="0"/>
                        <a:buChar char="•"/>
                      </a:pPr>
                      <a:r>
                        <a:rPr lang="en-US" b="1" i="1" baseline="0" dirty="0"/>
                        <a:t>Many made righteous</a:t>
                      </a:r>
                      <a:endParaRPr lang="en-US" b="1" i="1" dirty="0"/>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571500" y="5257800"/>
            <a:ext cx="8001000" cy="1015663"/>
          </a:xfrm>
          <a:prstGeom prst="rect">
            <a:avLst/>
          </a:prstGeom>
          <a:noFill/>
        </p:spPr>
        <p:txBody>
          <a:bodyPr wrap="square" rtlCol="0">
            <a:spAutoFit/>
          </a:bodyPr>
          <a:lstStyle/>
          <a:p>
            <a:r>
              <a:rPr lang="en-US" sz="2000" i="1" dirty="0"/>
              <a:t>“For as by one man’s disobedience many were made sinners, so also by one Man’s obedience many will be made righteous.”  </a:t>
            </a:r>
          </a:p>
          <a:p>
            <a:r>
              <a:rPr lang="en-US" sz="2000" i="1" dirty="0"/>
              <a:t>(Rom. 5:19)</a:t>
            </a:r>
          </a:p>
        </p:txBody>
      </p:sp>
    </p:spTree>
    <p:extLst>
      <p:ext uri="{BB962C8B-B14F-4D97-AF65-F5344CB8AC3E}">
        <p14:creationId xmlns:p14="http://schemas.microsoft.com/office/powerpoint/2010/main" val="3843391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9183"/>
            <a:ext cx="8382000" cy="685800"/>
          </a:xfrm>
        </p:spPr>
        <p:txBody>
          <a:bodyPr>
            <a:normAutofit fontScale="90000"/>
          </a:bodyPr>
          <a:lstStyle/>
          <a:p>
            <a:r>
              <a:rPr lang="en-US" dirty="0"/>
              <a:t>Blessings by Type Contrast</a:t>
            </a:r>
            <a:br>
              <a:rPr lang="en-US" dirty="0"/>
            </a:br>
            <a:r>
              <a:rPr lang="en-US" sz="2400" dirty="0">
                <a:solidFill>
                  <a:schemeClr val="tx2">
                    <a:lumMod val="60000"/>
                    <a:lumOff val="40000"/>
                  </a:schemeClr>
                </a:solidFill>
              </a:rPr>
              <a:t>Adam’s Record versus Christ’s Record</a:t>
            </a:r>
          </a:p>
        </p:txBody>
      </p:sp>
      <p:graphicFrame>
        <p:nvGraphicFramePr>
          <p:cNvPr id="3" name="Table 2"/>
          <p:cNvGraphicFramePr>
            <a:graphicFrameLocks noGrp="1"/>
          </p:cNvGraphicFramePr>
          <p:nvPr>
            <p:extLst>
              <p:ext uri="{D42A27DB-BD31-4B8C-83A1-F6EECF244321}">
                <p14:modId xmlns:p14="http://schemas.microsoft.com/office/powerpoint/2010/main" val="3719028331"/>
              </p:ext>
            </p:extLst>
          </p:nvPr>
        </p:nvGraphicFramePr>
        <p:xfrm>
          <a:off x="376136" y="893093"/>
          <a:ext cx="8610600" cy="3918855"/>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783771">
                <a:tc>
                  <a:txBody>
                    <a:bodyPr/>
                    <a:lstStyle/>
                    <a:p>
                      <a:r>
                        <a:rPr lang="en-US" dirty="0"/>
                        <a:t>Adam</a:t>
                      </a:r>
                    </a:p>
                    <a:p>
                      <a:r>
                        <a:rPr lang="en-US" baseline="0" dirty="0"/>
                        <a:t>(our representative</a:t>
                      </a:r>
                      <a:r>
                        <a:rPr lang="en-US" dirty="0"/>
                        <a:t>)</a:t>
                      </a:r>
                    </a:p>
                  </a:txBody>
                  <a:tcPr/>
                </a:tc>
                <a:tc>
                  <a:txBody>
                    <a:bodyPr/>
                    <a:lstStyle/>
                    <a:p>
                      <a:r>
                        <a:rPr lang="en-US" dirty="0"/>
                        <a:t>Christ</a:t>
                      </a:r>
                    </a:p>
                    <a:p>
                      <a:r>
                        <a:rPr lang="en-US" dirty="0"/>
                        <a:t>(our</a:t>
                      </a:r>
                      <a:r>
                        <a:rPr lang="en-US" baseline="0" dirty="0"/>
                        <a:t> representative</a:t>
                      </a:r>
                      <a:r>
                        <a:rPr lang="en-US" dirty="0"/>
                        <a:t>)</a:t>
                      </a:r>
                    </a:p>
                  </a:txBody>
                  <a:tcPr/>
                </a:tc>
                <a:extLst>
                  <a:ext uri="{0D108BD9-81ED-4DB2-BD59-A6C34878D82A}">
                    <a16:rowId xmlns:a16="http://schemas.microsoft.com/office/drawing/2014/main" val="10000"/>
                  </a:ext>
                </a:extLst>
              </a:tr>
              <a:tr h="783771">
                <a:tc>
                  <a:txBody>
                    <a:bodyPr/>
                    <a:lstStyle/>
                    <a:p>
                      <a:r>
                        <a:rPr lang="en-US" b="0" dirty="0"/>
                        <a:t>Through</a:t>
                      </a:r>
                      <a:r>
                        <a:rPr lang="en-US" b="0" baseline="0" dirty="0"/>
                        <a:t> one man</a:t>
                      </a:r>
                      <a:r>
                        <a:rPr lang="en-US" b="0" dirty="0"/>
                        <a:t> (v17)</a:t>
                      </a:r>
                    </a:p>
                    <a:p>
                      <a:pPr marL="285750" indent="-285750">
                        <a:buFont typeface="Arial" panose="020B0604020202020204" pitchFamily="34" charset="0"/>
                        <a:buChar char="•"/>
                      </a:pPr>
                      <a:r>
                        <a:rPr lang="en-US" b="0" i="1" dirty="0"/>
                        <a:t>Death</a:t>
                      </a:r>
                      <a:r>
                        <a:rPr lang="en-US" b="0" i="1" baseline="0" dirty="0"/>
                        <a:t> reigns</a:t>
                      </a:r>
                      <a:endParaRPr lang="en-US" b="0" i="1" dirty="0"/>
                    </a:p>
                  </a:txBody>
                  <a:tcPr/>
                </a:tc>
                <a:tc>
                  <a:txBody>
                    <a:bodyPr/>
                    <a:lstStyle/>
                    <a:p>
                      <a:r>
                        <a:rPr lang="en-US" b="0" baseline="0" dirty="0"/>
                        <a:t>Through one man</a:t>
                      </a:r>
                    </a:p>
                    <a:p>
                      <a:pPr marL="285750" indent="-285750">
                        <a:buFont typeface="Arial" panose="020B0604020202020204" pitchFamily="34" charset="0"/>
                        <a:buChar char="•"/>
                      </a:pPr>
                      <a:r>
                        <a:rPr lang="en-US" b="0" i="1" baseline="0" dirty="0"/>
                        <a:t>Believers reign in life</a:t>
                      </a:r>
                      <a:endParaRPr lang="en-US" b="0" i="1" dirty="0"/>
                    </a:p>
                  </a:txBody>
                  <a:tcPr/>
                </a:tc>
                <a:extLst>
                  <a:ext uri="{0D108BD9-81ED-4DB2-BD59-A6C34878D82A}">
                    <a16:rowId xmlns:a16="http://schemas.microsoft.com/office/drawing/2014/main" val="10001"/>
                  </a:ext>
                </a:extLst>
              </a:tr>
              <a:tr h="783771">
                <a:tc>
                  <a:txBody>
                    <a:bodyPr/>
                    <a:lstStyle/>
                    <a:p>
                      <a:r>
                        <a:rPr lang="en-US" b="0" dirty="0"/>
                        <a:t>One</a:t>
                      </a:r>
                      <a:r>
                        <a:rPr lang="en-US" b="0" baseline="0" dirty="0"/>
                        <a:t> man’s offense</a:t>
                      </a:r>
                      <a:r>
                        <a:rPr lang="en-US" b="0" dirty="0"/>
                        <a:t> (v18)</a:t>
                      </a:r>
                    </a:p>
                    <a:p>
                      <a:pPr marL="285750" indent="-285750">
                        <a:buFont typeface="Arial" panose="020B0604020202020204" pitchFamily="34" charset="0"/>
                        <a:buChar char="•"/>
                      </a:pPr>
                      <a:r>
                        <a:rPr lang="en-US" b="0" i="1" dirty="0"/>
                        <a:t>Condemnation</a:t>
                      </a:r>
                      <a:r>
                        <a:rPr lang="en-US" b="0" i="1" baseline="0" dirty="0"/>
                        <a:t> to all</a:t>
                      </a:r>
                      <a:endParaRPr lang="en-US" b="0" i="1" dirty="0"/>
                    </a:p>
                  </a:txBody>
                  <a:tcPr/>
                </a:tc>
                <a:tc>
                  <a:txBody>
                    <a:bodyPr/>
                    <a:lstStyle/>
                    <a:p>
                      <a:r>
                        <a:rPr lang="en-US" b="0" baseline="0" dirty="0"/>
                        <a:t>Righteousness of One</a:t>
                      </a:r>
                    </a:p>
                    <a:p>
                      <a:pPr marL="285750" indent="-285750">
                        <a:buFont typeface="Arial" panose="020B0604020202020204" pitchFamily="34" charset="0"/>
                        <a:buChar char="•"/>
                      </a:pPr>
                      <a:r>
                        <a:rPr lang="en-US" b="0" i="1" baseline="0" dirty="0"/>
                        <a:t>Justification offered all</a:t>
                      </a:r>
                      <a:endParaRPr lang="en-US" b="0" i="1" dirty="0"/>
                    </a:p>
                  </a:txBody>
                  <a:tcPr/>
                </a:tc>
                <a:extLst>
                  <a:ext uri="{0D108BD9-81ED-4DB2-BD59-A6C34878D82A}">
                    <a16:rowId xmlns:a16="http://schemas.microsoft.com/office/drawing/2014/main" val="10002"/>
                  </a:ext>
                </a:extLst>
              </a:tr>
              <a:tr h="783771">
                <a:tc>
                  <a:txBody>
                    <a:bodyPr/>
                    <a:lstStyle/>
                    <a:p>
                      <a:r>
                        <a:rPr lang="en-US" b="0" dirty="0"/>
                        <a:t>Disobedience of one (v19)</a:t>
                      </a:r>
                    </a:p>
                    <a:p>
                      <a:pPr marL="285750" indent="-285750">
                        <a:buFont typeface="Arial" panose="020B0604020202020204" pitchFamily="34" charset="0"/>
                        <a:buChar char="•"/>
                      </a:pPr>
                      <a:r>
                        <a:rPr lang="en-US" b="0" i="1" dirty="0"/>
                        <a:t>Many made</a:t>
                      </a:r>
                      <a:r>
                        <a:rPr lang="en-US" b="0" i="1" baseline="0" dirty="0"/>
                        <a:t> sinners</a:t>
                      </a:r>
                      <a:endParaRPr lang="en-US" b="0" i="1" dirty="0"/>
                    </a:p>
                  </a:txBody>
                  <a:tcPr/>
                </a:tc>
                <a:tc>
                  <a:txBody>
                    <a:bodyPr/>
                    <a:lstStyle/>
                    <a:p>
                      <a:r>
                        <a:rPr lang="en-US" b="0" baseline="0" dirty="0"/>
                        <a:t>Obedience of one</a:t>
                      </a:r>
                    </a:p>
                    <a:p>
                      <a:pPr marL="285750" indent="-285750">
                        <a:buFont typeface="Arial" panose="020B0604020202020204" pitchFamily="34" charset="0"/>
                        <a:buChar char="•"/>
                      </a:pPr>
                      <a:r>
                        <a:rPr lang="en-US" b="0" i="1" baseline="0" dirty="0"/>
                        <a:t>Many made righteous</a:t>
                      </a:r>
                      <a:endParaRPr lang="en-US" b="0" i="1" dirty="0"/>
                    </a:p>
                  </a:txBody>
                  <a:tcPr/>
                </a:tc>
                <a:extLst>
                  <a:ext uri="{0D108BD9-81ED-4DB2-BD59-A6C34878D82A}">
                    <a16:rowId xmlns:a16="http://schemas.microsoft.com/office/drawing/2014/main" val="10003"/>
                  </a:ext>
                </a:extLst>
              </a:tr>
              <a:tr h="783771">
                <a:tc>
                  <a:txBody>
                    <a:bodyPr/>
                    <a:lstStyle/>
                    <a:p>
                      <a:r>
                        <a:rPr lang="en-US" b="1" baseline="0" dirty="0"/>
                        <a:t>Ultimate result </a:t>
                      </a:r>
                      <a:r>
                        <a:rPr lang="en-US" b="1" dirty="0"/>
                        <a:t>(v21)</a:t>
                      </a:r>
                    </a:p>
                    <a:p>
                      <a:pPr marL="285750" indent="-285750">
                        <a:buFont typeface="Arial" panose="020B0604020202020204" pitchFamily="34" charset="0"/>
                        <a:buChar char="•"/>
                      </a:pPr>
                      <a:r>
                        <a:rPr lang="en-US" b="1" i="1" dirty="0"/>
                        <a:t>Sin</a:t>
                      </a:r>
                      <a:r>
                        <a:rPr lang="en-US" b="1" i="1" baseline="0" dirty="0"/>
                        <a:t> reigns in death</a:t>
                      </a:r>
                      <a:endParaRPr lang="en-US" b="1" i="1" dirty="0"/>
                    </a:p>
                  </a:txBody>
                  <a:tcPr/>
                </a:tc>
                <a:tc>
                  <a:txBody>
                    <a:bodyPr/>
                    <a:lstStyle/>
                    <a:p>
                      <a:r>
                        <a:rPr lang="en-US" b="1" baseline="0" dirty="0"/>
                        <a:t>Ultimate result</a:t>
                      </a:r>
                    </a:p>
                    <a:p>
                      <a:pPr marL="285750" indent="-285750">
                        <a:buFont typeface="Arial" panose="020B0604020202020204" pitchFamily="34" charset="0"/>
                        <a:buChar char="•"/>
                      </a:pPr>
                      <a:r>
                        <a:rPr lang="en-US" b="1" i="1" baseline="0" dirty="0"/>
                        <a:t>Grace reigns in eternal life</a:t>
                      </a:r>
                      <a:endParaRPr lang="en-US" b="1" i="1" dirty="0"/>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571500" y="4953000"/>
            <a:ext cx="8001000" cy="1323439"/>
          </a:xfrm>
          <a:prstGeom prst="rect">
            <a:avLst/>
          </a:prstGeom>
          <a:noFill/>
        </p:spPr>
        <p:txBody>
          <a:bodyPr wrap="square" rtlCol="0">
            <a:spAutoFit/>
          </a:bodyPr>
          <a:lstStyle/>
          <a:p>
            <a:r>
              <a:rPr lang="en-US" sz="2000" i="1" dirty="0"/>
              <a:t>“Moreover, the law entered that the offense might abound. But where sin abounded, grace abounded much more, so that as sin reigned in death, even so grace might reign through righteousness to eternal life through Jesus Christ our Lord.”   (Rom. 5:20-21)</a:t>
            </a:r>
          </a:p>
        </p:txBody>
      </p:sp>
    </p:spTree>
    <p:extLst>
      <p:ext uri="{BB962C8B-B14F-4D97-AF65-F5344CB8AC3E}">
        <p14:creationId xmlns:p14="http://schemas.microsoft.com/office/powerpoint/2010/main" val="984563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1143000"/>
          </a:xfrm>
        </p:spPr>
        <p:txBody>
          <a:bodyPr>
            <a:normAutofit/>
          </a:bodyPr>
          <a:lstStyle/>
          <a:p>
            <a:r>
              <a:rPr lang="en-US" dirty="0"/>
              <a:t>More Blessings?</a:t>
            </a:r>
            <a:br>
              <a:rPr lang="en-US" dirty="0"/>
            </a:br>
            <a:r>
              <a:rPr lang="en-US" sz="2400" dirty="0">
                <a:solidFill>
                  <a:schemeClr val="tx2">
                    <a:lumMod val="60000"/>
                    <a:lumOff val="40000"/>
                  </a:schemeClr>
                </a:solidFill>
              </a:rPr>
              <a:t>What next? </a:t>
            </a:r>
          </a:p>
        </p:txBody>
      </p:sp>
      <p:sp>
        <p:nvSpPr>
          <p:cNvPr id="4" name="TextBox 3"/>
          <p:cNvSpPr txBox="1"/>
          <p:nvPr/>
        </p:nvSpPr>
        <p:spPr>
          <a:xfrm>
            <a:off x="387220" y="1348930"/>
            <a:ext cx="8001000" cy="1323439"/>
          </a:xfrm>
          <a:prstGeom prst="rect">
            <a:avLst/>
          </a:prstGeom>
          <a:noFill/>
        </p:spPr>
        <p:txBody>
          <a:bodyPr wrap="square" rtlCol="0">
            <a:spAutoFit/>
          </a:bodyPr>
          <a:lstStyle/>
          <a:p>
            <a:r>
              <a:rPr lang="en-US" sz="2000" i="1" dirty="0"/>
              <a:t>“</a:t>
            </a:r>
            <a:r>
              <a:rPr lang="en-US" sz="2000" b="1" i="1" dirty="0"/>
              <a:t>Justification</a:t>
            </a:r>
            <a:r>
              <a:rPr lang="en-US" sz="2000" i="1" dirty="0"/>
              <a:t>”</a:t>
            </a:r>
          </a:p>
          <a:p>
            <a:pPr marL="342900" indent="-342900">
              <a:buFont typeface="Arial" panose="020B0604020202020204" pitchFamily="34" charset="0"/>
              <a:buChar char="•"/>
            </a:pPr>
            <a:r>
              <a:rPr lang="en-US" sz="2000" b="1" i="1" dirty="0"/>
              <a:t>Declares</a:t>
            </a:r>
            <a:r>
              <a:rPr lang="en-US" sz="2000" i="1" dirty="0"/>
              <a:t> within God’s Holy Court that a sinner has been </a:t>
            </a:r>
            <a:r>
              <a:rPr lang="en-US" sz="2000" b="1" i="1" dirty="0"/>
              <a:t>imputed</a:t>
            </a:r>
            <a:r>
              <a:rPr lang="en-US" sz="2000" i="1" dirty="0"/>
              <a:t> righteousness (by Faith through Grace, as it has always been).</a:t>
            </a:r>
          </a:p>
          <a:p>
            <a:pPr marL="342900" indent="-342900">
              <a:buFont typeface="Arial" panose="020B0604020202020204" pitchFamily="34" charset="0"/>
              <a:buChar char="•"/>
            </a:pPr>
            <a:r>
              <a:rPr lang="en-US" sz="2000" b="1" i="1" dirty="0"/>
              <a:t>But has the sinner’s heart changed?  </a:t>
            </a:r>
          </a:p>
        </p:txBody>
      </p:sp>
      <p:sp>
        <p:nvSpPr>
          <p:cNvPr id="7" name="TextBox 6"/>
          <p:cNvSpPr txBox="1"/>
          <p:nvPr/>
        </p:nvSpPr>
        <p:spPr>
          <a:xfrm>
            <a:off x="387220" y="3124200"/>
            <a:ext cx="8001000" cy="2554545"/>
          </a:xfrm>
          <a:prstGeom prst="rect">
            <a:avLst/>
          </a:prstGeom>
          <a:noFill/>
        </p:spPr>
        <p:txBody>
          <a:bodyPr wrap="square" rtlCol="0">
            <a:spAutoFit/>
          </a:bodyPr>
          <a:lstStyle/>
          <a:p>
            <a:r>
              <a:rPr lang="en-US" sz="2000" i="1" dirty="0"/>
              <a:t>“</a:t>
            </a:r>
            <a:r>
              <a:rPr lang="en-US" sz="2000" b="1" i="1" dirty="0"/>
              <a:t>Sanctification</a:t>
            </a:r>
            <a:r>
              <a:rPr lang="en-US" sz="2000" i="1" dirty="0"/>
              <a:t>”  Romans 6 thru Romans 8</a:t>
            </a:r>
          </a:p>
          <a:p>
            <a:pPr marL="342900" indent="-342900">
              <a:buFont typeface="Arial" panose="020B0604020202020204" pitchFamily="34" charset="0"/>
              <a:buChar char="•"/>
            </a:pPr>
            <a:r>
              <a:rPr lang="en-US" sz="2000" dirty="0"/>
              <a:t>The believer is now free from the </a:t>
            </a:r>
            <a:r>
              <a:rPr lang="en-US" sz="2000" b="1" i="1" dirty="0"/>
              <a:t>penalty</a:t>
            </a:r>
            <a:r>
              <a:rPr lang="en-US" sz="2000" dirty="0"/>
              <a:t> of sin (i.e. spiritual death), but what about from the </a:t>
            </a:r>
            <a:r>
              <a:rPr lang="en-US" sz="2000" b="1" i="1" dirty="0"/>
              <a:t>power</a:t>
            </a:r>
            <a:r>
              <a:rPr lang="en-US" sz="2000" dirty="0"/>
              <a:t> of sin?</a:t>
            </a:r>
          </a:p>
          <a:p>
            <a:pPr marL="342900" indent="-342900">
              <a:buFont typeface="Arial" panose="020B0604020202020204" pitchFamily="34" charset="0"/>
              <a:buChar char="•"/>
            </a:pPr>
            <a:r>
              <a:rPr lang="en-US" sz="2000" dirty="0"/>
              <a:t>God has a plan within the context of Salvation whereby He not only </a:t>
            </a:r>
            <a:r>
              <a:rPr lang="en-US" sz="2000" b="1" dirty="0"/>
              <a:t>declares</a:t>
            </a:r>
            <a:r>
              <a:rPr lang="en-US" sz="2000" dirty="0"/>
              <a:t> a sinner righteous, but He is also going to </a:t>
            </a:r>
            <a:r>
              <a:rPr lang="en-US" sz="2000" b="1" dirty="0"/>
              <a:t>make</a:t>
            </a:r>
            <a:r>
              <a:rPr lang="en-US" sz="2000" dirty="0"/>
              <a:t> a sinner righteous.</a:t>
            </a:r>
          </a:p>
          <a:p>
            <a:pPr marL="342900" indent="-342900">
              <a:buFont typeface="Arial" panose="020B0604020202020204" pitchFamily="34" charset="0"/>
              <a:buChar char="•"/>
            </a:pPr>
            <a:r>
              <a:rPr lang="en-US" sz="2000" dirty="0"/>
              <a:t>A way that a sinner may grow in grace and thus become “set apart” for God.  (v6:14)</a:t>
            </a:r>
          </a:p>
        </p:txBody>
      </p:sp>
    </p:spTree>
    <p:extLst>
      <p:ext uri="{BB962C8B-B14F-4D97-AF65-F5344CB8AC3E}">
        <p14:creationId xmlns:p14="http://schemas.microsoft.com/office/powerpoint/2010/main" val="1328931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United with the One, Jesus Christ</a:t>
            </a:r>
            <a:br>
              <a:rPr lang="en-US" dirty="0"/>
            </a:br>
            <a:r>
              <a:rPr lang="en-US" sz="2400" dirty="0">
                <a:solidFill>
                  <a:schemeClr val="tx2">
                    <a:lumMod val="60000"/>
                    <a:lumOff val="40000"/>
                  </a:schemeClr>
                </a:solidFill>
              </a:rPr>
              <a:t>How are we changed?  </a:t>
            </a:r>
          </a:p>
        </p:txBody>
      </p:sp>
      <p:sp>
        <p:nvSpPr>
          <p:cNvPr id="3" name="TextBox 2"/>
          <p:cNvSpPr txBox="1"/>
          <p:nvPr/>
        </p:nvSpPr>
        <p:spPr>
          <a:xfrm>
            <a:off x="533400" y="1066800"/>
            <a:ext cx="8001000" cy="3170099"/>
          </a:xfrm>
          <a:prstGeom prst="rect">
            <a:avLst/>
          </a:prstGeom>
          <a:noFill/>
        </p:spPr>
        <p:txBody>
          <a:bodyPr wrap="square" rtlCol="0">
            <a:spAutoFit/>
          </a:bodyPr>
          <a:lstStyle/>
          <a:p>
            <a:r>
              <a:rPr lang="en-US" sz="2000" i="1" dirty="0"/>
              <a:t>“What shall we say then?  Shall we continue in sin that grace may abound?  Certainly not!  How shall we who </a:t>
            </a:r>
            <a:r>
              <a:rPr lang="en-US" sz="2000" b="1" i="1" dirty="0"/>
              <a:t>died to sin </a:t>
            </a:r>
            <a:r>
              <a:rPr lang="en-US" sz="2000" i="1" dirty="0"/>
              <a:t>live any longer in it?  Or, do you not know that as many of us as were </a:t>
            </a:r>
            <a:r>
              <a:rPr lang="en-US" sz="2000" b="1" i="1" dirty="0"/>
              <a:t>baptized into Christ Jesus </a:t>
            </a:r>
            <a:r>
              <a:rPr lang="en-US" sz="2000" i="1" dirty="0"/>
              <a:t>were </a:t>
            </a:r>
            <a:r>
              <a:rPr lang="en-US" sz="2000" b="1" i="1" dirty="0"/>
              <a:t>baptized into His death</a:t>
            </a:r>
            <a:r>
              <a:rPr lang="en-US" sz="2000" i="1" dirty="0"/>
              <a:t>?  Therefore we were </a:t>
            </a:r>
            <a:r>
              <a:rPr lang="en-US" sz="2000" b="1" i="1" dirty="0"/>
              <a:t>buried</a:t>
            </a:r>
            <a:r>
              <a:rPr lang="en-US" sz="2000" i="1" dirty="0"/>
              <a:t> with Him through </a:t>
            </a:r>
            <a:r>
              <a:rPr lang="en-US" sz="2000" b="1" i="1" dirty="0"/>
              <a:t>baptism into death</a:t>
            </a:r>
            <a:r>
              <a:rPr lang="en-US" sz="2000" i="1" dirty="0"/>
              <a:t>, that just as Christ was </a:t>
            </a:r>
            <a:r>
              <a:rPr lang="en-US" sz="2000" b="1" i="1" dirty="0"/>
              <a:t>raised from the dead </a:t>
            </a:r>
            <a:r>
              <a:rPr lang="en-US" sz="2000" i="1" dirty="0"/>
              <a:t>by the glory of the Father, even so we also should walk in </a:t>
            </a:r>
            <a:r>
              <a:rPr lang="en-US" sz="2000" b="1" i="1" dirty="0"/>
              <a:t>newness of life</a:t>
            </a:r>
            <a:r>
              <a:rPr lang="en-US" sz="2000" i="1" dirty="0"/>
              <a:t>.”  </a:t>
            </a:r>
          </a:p>
          <a:p>
            <a:r>
              <a:rPr lang="en-US" sz="2000" i="1" dirty="0"/>
              <a:t>For if we have been </a:t>
            </a:r>
            <a:r>
              <a:rPr lang="en-US" sz="2000" b="1" i="1" dirty="0"/>
              <a:t>united together </a:t>
            </a:r>
            <a:r>
              <a:rPr lang="en-US" sz="2000" i="1" dirty="0"/>
              <a:t>in the </a:t>
            </a:r>
            <a:r>
              <a:rPr lang="en-US" sz="2000" b="1" i="1" dirty="0"/>
              <a:t>likeness of His death</a:t>
            </a:r>
            <a:r>
              <a:rPr lang="en-US" sz="2000" i="1" dirty="0"/>
              <a:t>, certainly we also shall be in the </a:t>
            </a:r>
            <a:r>
              <a:rPr lang="en-US" sz="2000" b="1" i="1" dirty="0"/>
              <a:t>likeness of His resurrection</a:t>
            </a:r>
            <a:r>
              <a:rPr lang="en-US" sz="2000" i="1" dirty="0"/>
              <a:t>,…”</a:t>
            </a:r>
          </a:p>
          <a:p>
            <a:r>
              <a:rPr lang="en-US" sz="2000" i="1" dirty="0"/>
              <a:t>Romans 6:1-5</a:t>
            </a:r>
          </a:p>
        </p:txBody>
      </p:sp>
      <p:sp>
        <p:nvSpPr>
          <p:cNvPr id="4" name="TextBox 3"/>
          <p:cNvSpPr txBox="1"/>
          <p:nvPr/>
        </p:nvSpPr>
        <p:spPr>
          <a:xfrm>
            <a:off x="533400" y="4249869"/>
            <a:ext cx="8001000" cy="2554545"/>
          </a:xfrm>
          <a:prstGeom prst="rect">
            <a:avLst/>
          </a:prstGeom>
          <a:noFill/>
        </p:spPr>
        <p:txBody>
          <a:bodyPr wrap="square" rtlCol="0">
            <a:spAutoFit/>
          </a:bodyPr>
          <a:lstStyle/>
          <a:p>
            <a:pPr marL="342900" indent="-342900">
              <a:buFont typeface="Arial" panose="020B0604020202020204" pitchFamily="34" charset="0"/>
              <a:buChar char="•"/>
            </a:pPr>
            <a:r>
              <a:rPr lang="en-US" sz="2000" i="1" dirty="0"/>
              <a:t>Does Paul assume that his readers were baptized into Christ?  Does he also assume this to have been something of significance?</a:t>
            </a:r>
          </a:p>
          <a:p>
            <a:pPr marL="342900" indent="-342900">
              <a:buFont typeface="Arial" panose="020B0604020202020204" pitchFamily="34" charset="0"/>
              <a:buChar char="•"/>
            </a:pPr>
            <a:r>
              <a:rPr lang="en-US" sz="2000" i="1" dirty="0"/>
              <a:t>In this passage, is Paul teaching that baptism is essential for union with Christ?</a:t>
            </a:r>
          </a:p>
          <a:p>
            <a:pPr marL="342900" indent="-342900">
              <a:buFont typeface="Arial" panose="020B0604020202020204" pitchFamily="34" charset="0"/>
              <a:buChar char="•"/>
            </a:pPr>
            <a:r>
              <a:rPr lang="en-US" sz="2000" i="1" dirty="0"/>
              <a:t>Why does Paul mention baptism here?  Is there a significance relative to the previous passage contrasting the power of sin versus the power of grace?</a:t>
            </a:r>
          </a:p>
        </p:txBody>
      </p:sp>
    </p:spTree>
    <p:extLst>
      <p:ext uri="{BB962C8B-B14F-4D97-AF65-F5344CB8AC3E}">
        <p14:creationId xmlns:p14="http://schemas.microsoft.com/office/powerpoint/2010/main" val="382041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15676</TotalTime>
  <Words>1229</Words>
  <Application>Microsoft Macintosh PowerPoint</Application>
  <PresentationFormat>On-screen Show (4:3)</PresentationFormat>
  <Paragraphs>154</Paragraphs>
  <Slides>10</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Arial</vt:lpstr>
      <vt:lpstr>Arial Narrow</vt:lpstr>
      <vt:lpstr>Calibri</vt:lpstr>
      <vt:lpstr>PPT_Template_2010SummerSchool</vt:lpstr>
      <vt:lpstr>1_UPCRC_Powerpoint_Template_with I-Mark</vt:lpstr>
      <vt:lpstr>Romans</vt:lpstr>
      <vt:lpstr>A Context Check Summary of Paul’s Key Points</vt:lpstr>
      <vt:lpstr>Blessings by Type Contrast Adam’s Record versus Christ’s Record</vt:lpstr>
      <vt:lpstr>Blessings by Type Contrast Adam’s Record versus Christ’s Record</vt:lpstr>
      <vt:lpstr>Blessings by Type Contrast Adam’s Record versus Christ’s Record</vt:lpstr>
      <vt:lpstr>Blessings by Type Contrast Adam’s Record versus Christ’s Record</vt:lpstr>
      <vt:lpstr>Blessings by Type Contrast Adam’s Record versus Christ’s Record</vt:lpstr>
      <vt:lpstr>Blessings by Type Contrast Adam’s Record versus Christ’s Record</vt:lpstr>
      <vt:lpstr>More Blessings? What next? </vt:lpstr>
      <vt:lpstr>United with the One, Jesus Christ How are we changed?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684</cp:revision>
  <cp:lastPrinted>2026-05-12T11:13:17Z</cp:lastPrinted>
  <dcterms:created xsi:type="dcterms:W3CDTF">2010-06-16T02:58:04Z</dcterms:created>
  <dcterms:modified xsi:type="dcterms:W3CDTF">2026-05-12T11:13:45Z</dcterms:modified>
</cp:coreProperties>
</file>