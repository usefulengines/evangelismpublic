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3"/>
  </p:notesMasterIdLst>
  <p:sldIdLst>
    <p:sldId id="256" r:id="rId3"/>
    <p:sldId id="352" r:id="rId4"/>
    <p:sldId id="339" r:id="rId5"/>
    <p:sldId id="342" r:id="rId6"/>
    <p:sldId id="353" r:id="rId7"/>
    <p:sldId id="349" r:id="rId8"/>
    <p:sldId id="354" r:id="rId9"/>
    <p:sldId id="355" r:id="rId10"/>
    <p:sldId id="550" r:id="rId11"/>
    <p:sldId id="558" r:id="rId12"/>
  </p:sldIdLst>
  <p:sldSz cx="9144000" cy="6858000" type="screen4x3"/>
  <p:notesSz cx="7099300" cy="121285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230" autoAdjust="0"/>
    <p:restoredTop sz="50282" autoAdjust="0"/>
  </p:normalViewPr>
  <p:slideViewPr>
    <p:cSldViewPr>
      <p:cViewPr varScale="1">
        <p:scale>
          <a:sx n="73" d="100"/>
          <a:sy n="73" d="100"/>
        </p:scale>
        <p:origin x="1578" y="6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1"/>
            <a:ext cx="3076364" cy="606425"/>
          </a:xfrm>
          <a:prstGeom prst="rect">
            <a:avLst/>
          </a:prstGeom>
        </p:spPr>
        <p:txBody>
          <a:bodyPr vert="horz" wrap="square" lIns="81036" tIns="40518" rIns="81036" bIns="40518" numCol="1" anchor="t" anchorCtr="0" compatLnSpc="1">
            <a:prstTxWarp prst="textNoShape">
              <a:avLst/>
            </a:prstTxWarp>
          </a:bodyPr>
          <a:lstStyle>
            <a:lvl1pPr>
              <a:defRPr sz="10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21297" y="1"/>
            <a:ext cx="3076364" cy="606425"/>
          </a:xfrm>
          <a:prstGeom prst="rect">
            <a:avLst/>
          </a:prstGeom>
        </p:spPr>
        <p:txBody>
          <a:bodyPr vert="horz" wrap="square" lIns="81036" tIns="40518" rIns="81036" bIns="40518" numCol="1" anchor="t" anchorCtr="0" compatLnSpc="1">
            <a:prstTxWarp prst="textNoShape">
              <a:avLst/>
            </a:prstTxWarp>
          </a:bodyPr>
          <a:lstStyle>
            <a:lvl1pPr algn="r">
              <a:defRPr sz="1000">
                <a:latin typeface="Arial" pitchFamily="34" charset="0"/>
                <a:ea typeface="ＭＳ Ｐゴシック" pitchFamily="-106" charset="-128"/>
              </a:defRPr>
            </a:lvl1pPr>
          </a:lstStyle>
          <a:p>
            <a:pPr>
              <a:defRPr/>
            </a:pPr>
            <a:fld id="{37B93000-4848-40F5-8AEF-44DFB12065B3}" type="datetime1">
              <a:rPr lang="en-US"/>
              <a:pPr>
                <a:defRPr/>
              </a:pPr>
              <a:t>5/4/2026</a:t>
            </a:fld>
            <a:endParaRPr lang="en-US"/>
          </a:p>
        </p:txBody>
      </p:sp>
      <p:sp>
        <p:nvSpPr>
          <p:cNvPr id="4" name="Slide Image Placeholder 3"/>
          <p:cNvSpPr>
            <a:spLocks noGrp="1" noRot="1" noChangeAspect="1"/>
          </p:cNvSpPr>
          <p:nvPr>
            <p:ph type="sldImg" idx="2"/>
          </p:nvPr>
        </p:nvSpPr>
        <p:spPr>
          <a:xfrm>
            <a:off x="517525" y="911225"/>
            <a:ext cx="6064250" cy="4548188"/>
          </a:xfrm>
          <a:prstGeom prst="rect">
            <a:avLst/>
          </a:prstGeom>
          <a:noFill/>
          <a:ln w="12700">
            <a:solidFill>
              <a:prstClr val="black"/>
            </a:solidFill>
          </a:ln>
        </p:spPr>
        <p:txBody>
          <a:bodyPr vert="horz" wrap="square" lIns="81036" tIns="40518" rIns="81036" bIns="40518"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9931" y="5761039"/>
            <a:ext cx="5679440" cy="5457825"/>
          </a:xfrm>
          <a:prstGeom prst="rect">
            <a:avLst/>
          </a:prstGeom>
        </p:spPr>
        <p:txBody>
          <a:bodyPr vert="horz" wrap="square" lIns="81036" tIns="40518" rIns="81036" bIns="40518"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3" y="11519971"/>
            <a:ext cx="3076364" cy="606425"/>
          </a:xfrm>
          <a:prstGeom prst="rect">
            <a:avLst/>
          </a:prstGeom>
        </p:spPr>
        <p:txBody>
          <a:bodyPr vert="horz" wrap="square" lIns="81036" tIns="40518" rIns="81036" bIns="40518" numCol="1" anchor="b" anchorCtr="0" compatLnSpc="1">
            <a:prstTxWarp prst="textNoShape">
              <a:avLst/>
            </a:prstTxWarp>
          </a:bodyPr>
          <a:lstStyle>
            <a:lvl1pPr>
              <a:defRPr sz="10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21297" y="11519971"/>
            <a:ext cx="3076364" cy="606425"/>
          </a:xfrm>
          <a:prstGeom prst="rect">
            <a:avLst/>
          </a:prstGeom>
        </p:spPr>
        <p:txBody>
          <a:bodyPr vert="horz" wrap="square" lIns="81036" tIns="40518" rIns="81036" bIns="40518" numCol="1" anchor="b" anchorCtr="0" compatLnSpc="1">
            <a:prstTxWarp prst="textNoShape">
              <a:avLst/>
            </a:prstTxWarp>
          </a:bodyPr>
          <a:lstStyle>
            <a:lvl1pPr algn="r">
              <a:defRPr sz="10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pPr marL="147631" indent="-147631">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endParaRPr lang="en-US" baseline="0" dirty="0"/>
          </a:p>
          <a:p>
            <a:r>
              <a:rPr lang="en-US" sz="1400" b="1" dirty="0"/>
              <a:t>The Pagan Man - They Became Fools…</a:t>
            </a:r>
          </a:p>
          <a:p>
            <a:endParaRPr lang="en-US" sz="1400" dirty="0"/>
          </a:p>
          <a:p>
            <a:r>
              <a:rPr lang="en-US" sz="1400" dirty="0"/>
              <a:t>Man’s refusal to acknowledge and glorify God leads to a downward path:</a:t>
            </a:r>
          </a:p>
          <a:p>
            <a:pPr marL="147642" indent="-147642">
              <a:buFont typeface="Arial" pitchFamily="34" charset="0"/>
              <a:buChar char="•"/>
            </a:pPr>
            <a:r>
              <a:rPr lang="en-US" sz="1400" dirty="0"/>
              <a:t>First, worthless thinking;</a:t>
            </a:r>
          </a:p>
          <a:p>
            <a:pPr marL="147642" indent="-147642">
              <a:buFont typeface="Arial" pitchFamily="34" charset="0"/>
              <a:buChar char="•"/>
            </a:pPr>
            <a:r>
              <a:rPr lang="en-US" sz="1400" dirty="0"/>
              <a:t>Next, moral insensitivity; and</a:t>
            </a:r>
          </a:p>
          <a:p>
            <a:pPr marL="147642" indent="-147642">
              <a:buFont typeface="Arial" pitchFamily="34" charset="0"/>
              <a:buChar char="•"/>
            </a:pPr>
            <a:r>
              <a:rPr lang="en-US" sz="1400" dirty="0"/>
              <a:t>Then, religious stupidity as seen in idol-worship!</a:t>
            </a:r>
          </a:p>
          <a:p>
            <a:endParaRPr lang="en-US" sz="1400" dirty="0"/>
          </a:p>
          <a:p>
            <a:r>
              <a:rPr lang="en-US" sz="1400" dirty="0"/>
              <a:t>The witness to God in nature is so clear and so constant that ignoring it is indefensible.</a:t>
            </a:r>
          </a:p>
          <a:p>
            <a:pPr marL="147642" indent="-147642">
              <a:buFont typeface="Arial" pitchFamily="34" charset="0"/>
              <a:buChar char="•"/>
            </a:pPr>
            <a:r>
              <a:rPr lang="en-US" sz="1400" b="1" dirty="0"/>
              <a:t>The pagan man’s condemnation is based not on their rejecting Christ of whom they have not heard,</a:t>
            </a:r>
          </a:p>
          <a:p>
            <a:pPr marL="147642" indent="-147642">
              <a:buFont typeface="Arial" pitchFamily="34" charset="0"/>
              <a:buChar char="•"/>
            </a:pPr>
            <a:r>
              <a:rPr lang="en-US" sz="1400" b="1" dirty="0"/>
              <a:t>But sinning against the Light that they do have</a:t>
            </a:r>
            <a:r>
              <a:rPr lang="en-US" sz="1400" dirty="0"/>
              <a:t>. </a:t>
            </a:r>
            <a:r>
              <a:rPr lang="en-US" sz="1400" i="1" dirty="0"/>
              <a:t>  2 Corinthians 8:12</a:t>
            </a:r>
          </a:p>
          <a:p>
            <a:endParaRPr lang="en-US" sz="1400" dirty="0"/>
          </a:p>
          <a:p>
            <a:r>
              <a:rPr lang="en-US" sz="1400" dirty="0"/>
              <a:t>NOTE:   God’s prior judgments of mankind (i.e. condemnations) reveal that He judged them apart from the Law and according to the eternal principles of His Revealed Truth (e.g. Sodom and Gomorrah, Noah’s Flood).    </a:t>
            </a:r>
          </a:p>
          <a:p>
            <a:endParaRPr lang="en-US" sz="1400" dirty="0"/>
          </a:p>
          <a:p>
            <a:r>
              <a:rPr lang="en-US" sz="1400" b="1" dirty="0"/>
              <a:t>The Moral Man – Seven Principles of God’s Righteous Judgment</a:t>
            </a:r>
          </a:p>
          <a:p>
            <a:endParaRPr lang="en-US" sz="1400" b="1" dirty="0"/>
          </a:p>
          <a:p>
            <a:pPr defTabSz="787426">
              <a:defRPr/>
            </a:pPr>
            <a:r>
              <a:rPr lang="en-US" sz="1400" b="1" dirty="0"/>
              <a:t>****   The First Law of Holes…  stop digging</a:t>
            </a:r>
            <a:r>
              <a:rPr lang="en-US" sz="1400" dirty="0"/>
              <a:t>!  ****</a:t>
            </a:r>
          </a:p>
          <a:p>
            <a:endParaRPr lang="en-US" sz="1400" b="1" dirty="0"/>
          </a:p>
          <a:p>
            <a:r>
              <a:rPr lang="en-US" sz="1400" b="1" dirty="0"/>
              <a:t>Let us not confuse Romans 2 with Revelation 20…  at Judgment Day, there will be no reasoning nor preaching; only condemnation; based upon the Principles of God’s Judgment.</a:t>
            </a:r>
          </a:p>
          <a:p>
            <a:endParaRPr lang="en-US" sz="1400" dirty="0"/>
          </a:p>
          <a:p>
            <a:r>
              <a:rPr lang="en-US" sz="1400" b="1" dirty="0"/>
              <a:t>The Agent of divine judgment is Jesus Christ.   John 5:22, 27;    Acts 17:31</a:t>
            </a:r>
          </a:p>
          <a:p>
            <a:pPr defTabSz="787426">
              <a:defRPr/>
            </a:pPr>
            <a:endParaRPr lang="en-US" sz="1400" b="1" dirty="0"/>
          </a:p>
          <a:p>
            <a:pPr defTabSz="787426">
              <a:defRPr/>
            </a:pPr>
            <a:r>
              <a:rPr lang="en-US" sz="1400" b="1" dirty="0"/>
              <a:t>Judgment</a:t>
            </a:r>
          </a:p>
          <a:p>
            <a:pPr defTabSz="787426">
              <a:defRPr/>
            </a:pPr>
            <a:endParaRPr lang="en-US" sz="1400" i="1" dirty="0"/>
          </a:p>
          <a:p>
            <a:pPr marL="147642" indent="-147642" defTabSz="787426">
              <a:buFont typeface="Arial" pitchFamily="34" charset="0"/>
              <a:buChar char="•"/>
              <a:defRPr/>
            </a:pPr>
            <a:r>
              <a:rPr lang="en-US" sz="1400" dirty="0"/>
              <a:t>The Same Measuring Stick (we all know and use the same stick):     </a:t>
            </a:r>
          </a:p>
          <a:p>
            <a:pPr marL="541356" lvl="1" indent="-147642" defTabSz="787426">
              <a:buFont typeface="Arial" pitchFamily="34" charset="0"/>
              <a:buChar char="•"/>
              <a:defRPr/>
            </a:pPr>
            <a:r>
              <a:rPr lang="en-US" sz="1400" i="1" dirty="0"/>
              <a:t>Romans 2:1-2   </a:t>
            </a:r>
          </a:p>
          <a:p>
            <a:pPr marL="541356" lvl="1" indent="-147642" defTabSz="787426">
              <a:buFont typeface="Arial" pitchFamily="34" charset="0"/>
              <a:buChar char="•"/>
              <a:defRPr/>
            </a:pPr>
            <a:r>
              <a:rPr lang="en-US" sz="1400" i="1" dirty="0"/>
              <a:t>Matthew 7:1-2     (passing judgment should give us pause…)</a:t>
            </a:r>
          </a:p>
          <a:p>
            <a:pPr marL="147642" indent="-147642" defTabSz="787426">
              <a:buFont typeface="Arial" pitchFamily="34" charset="0"/>
              <a:buChar char="•"/>
              <a:defRPr/>
            </a:pPr>
            <a:r>
              <a:rPr lang="en-US" sz="1400" i="1" dirty="0"/>
              <a:t>Does not imply “do not pass judgment – i.e. discernment”</a:t>
            </a:r>
          </a:p>
          <a:p>
            <a:pPr marL="541356" lvl="1" indent="-147642" defTabSz="787426">
              <a:buFont typeface="Arial" pitchFamily="34" charset="0"/>
              <a:buChar char="•"/>
              <a:defRPr/>
            </a:pPr>
            <a:r>
              <a:rPr lang="en-US" sz="1400" i="1" dirty="0"/>
              <a:t>1 Corinthians 2:14-16 – the spiritual man makes judgment about all things</a:t>
            </a:r>
          </a:p>
          <a:p>
            <a:pPr marL="147642" indent="-147642" defTabSz="787426">
              <a:buFont typeface="Arial" pitchFamily="34" charset="0"/>
              <a:buChar char="•"/>
              <a:defRPr/>
            </a:pPr>
            <a:r>
              <a:rPr lang="en-US" sz="1400" dirty="0"/>
              <a:t>Different judgments</a:t>
            </a:r>
          </a:p>
          <a:p>
            <a:pPr marL="541356" lvl="1" indent="-147642" defTabSz="787426">
              <a:buFont typeface="Arial" pitchFamily="34" charset="0"/>
              <a:buChar char="•"/>
              <a:defRPr/>
            </a:pPr>
            <a:r>
              <a:rPr lang="en-US" sz="1400" dirty="0"/>
              <a:t>Examples of prior Judgments (with condemnation) by God:   Ezekiel 16:48-50 (Sodom and Gomorrah – pride </a:t>
            </a:r>
            <a:r>
              <a:rPr lang="en-US" sz="1400" b="1" dirty="0"/>
              <a:t>and</a:t>
            </a:r>
            <a:r>
              <a:rPr lang="en-US" sz="1400" dirty="0"/>
              <a:t> sexual perversion; see also Luke 17:28-30)</a:t>
            </a:r>
          </a:p>
          <a:p>
            <a:pPr marL="541356" lvl="1" indent="-147642" defTabSz="787426">
              <a:buFont typeface="Arial" pitchFamily="34" charset="0"/>
              <a:buChar char="•"/>
              <a:defRPr/>
            </a:pPr>
            <a:r>
              <a:rPr lang="en-US" sz="1400" dirty="0"/>
              <a:t>At the end:    </a:t>
            </a:r>
            <a:r>
              <a:rPr lang="en-US" sz="1400" i="1" dirty="0"/>
              <a:t>Revelation 20:13-15    (“…treasuring up for yourself wrath…”   Romans 2:5)</a:t>
            </a:r>
          </a:p>
          <a:p>
            <a:pPr marL="541356" lvl="1" indent="-147642" defTabSz="787426">
              <a:buFont typeface="Arial" pitchFamily="34" charset="0"/>
              <a:buChar char="•"/>
              <a:defRPr/>
            </a:pPr>
            <a:r>
              <a:rPr lang="en-US" sz="1400" i="1" dirty="0"/>
              <a:t>Even the Christian:   1 Cor. 3:11-15   (but not condemned…! John 5:24; Romans 8:1)</a:t>
            </a:r>
          </a:p>
          <a:p>
            <a:pPr marL="1082711" lvl="2" indent="-295284">
              <a:buFont typeface="Arial" pitchFamily="34" charset="0"/>
              <a:buChar char="•"/>
            </a:pPr>
            <a:endParaRPr lang="en-US" sz="1400" dirty="0"/>
          </a:p>
          <a:p>
            <a:pPr marL="787426" lvl="2"/>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1479160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400" b="1" dirty="0"/>
              <a:t>What is the greatest thought that ever entered the mind of Man?</a:t>
            </a:r>
          </a:p>
          <a:p>
            <a:endParaRPr lang="en-US" sz="1400" dirty="0"/>
          </a:p>
          <a:p>
            <a:pPr defTabSz="787426">
              <a:defRPr/>
            </a:pPr>
            <a:r>
              <a:rPr lang="en-US" sz="1400" b="1" dirty="0"/>
              <a:t>         “My responsibility to my Maker!”   Daniel Webster</a:t>
            </a:r>
          </a:p>
          <a:p>
            <a:pPr defTabSz="787426">
              <a:defRPr/>
            </a:pPr>
            <a:endParaRPr lang="en-US" sz="1400" b="1" dirty="0"/>
          </a:p>
          <a:p>
            <a:pPr defTabSz="787426">
              <a:defRPr/>
            </a:pPr>
            <a:r>
              <a:rPr lang="en-US" sz="1400" b="1" dirty="0"/>
              <a:t>Men recognize a void in themselves…, and sometimes seek to fill that void with religion.  </a:t>
            </a:r>
          </a:p>
          <a:p>
            <a:pPr defTabSz="787426">
              <a:defRPr/>
            </a:pPr>
            <a:endParaRPr lang="en-US" sz="1400" b="1" dirty="0"/>
          </a:p>
          <a:p>
            <a:pPr defTabSz="787426">
              <a:defRPr/>
            </a:pPr>
            <a:r>
              <a:rPr lang="en-US" sz="1400" b="1" dirty="0"/>
              <a:t>(basically a selfish drive) (we’ll see that even in man’s best effort, his corporate attempt; religion; that man is not good…)</a:t>
            </a:r>
          </a:p>
          <a:p>
            <a:endParaRPr lang="en-US" sz="1400" dirty="0"/>
          </a:p>
          <a:p>
            <a:r>
              <a:rPr lang="en-US" sz="1400" i="1" dirty="0"/>
              <a:t>The Righteousness of God Revealed</a:t>
            </a:r>
          </a:p>
          <a:p>
            <a:pPr marL="147642" indent="-147642">
              <a:buFont typeface="Arial" pitchFamily="34" charset="0"/>
              <a:buChar char="•"/>
            </a:pPr>
            <a:r>
              <a:rPr lang="en-US" sz="1400" dirty="0"/>
              <a:t>God created man “in His own image.”</a:t>
            </a:r>
          </a:p>
          <a:p>
            <a:pPr marL="541356" lvl="1" indent="-147642">
              <a:buFont typeface="Arial" pitchFamily="34" charset="0"/>
              <a:buChar char="•"/>
            </a:pPr>
            <a:r>
              <a:rPr lang="en-US" sz="1400" dirty="0"/>
              <a:t>Since we are persons, so is God</a:t>
            </a:r>
          </a:p>
          <a:p>
            <a:pPr marL="541356" lvl="1" indent="-147642">
              <a:buFont typeface="Arial" pitchFamily="34" charset="0"/>
              <a:buChar char="•"/>
            </a:pPr>
            <a:r>
              <a:rPr lang="en-US" sz="1400" dirty="0"/>
              <a:t>Since we have personal feelings, so has God</a:t>
            </a:r>
          </a:p>
          <a:p>
            <a:pPr marL="541356" lvl="1" indent="-147642">
              <a:buFont typeface="Arial" pitchFamily="34" charset="0"/>
              <a:buChar char="•"/>
            </a:pPr>
            <a:r>
              <a:rPr lang="en-US" sz="1400" dirty="0"/>
              <a:t>We all recognize the need for universal judgment!   (we’ve all just judged pagan man in our reading of chapter 1…!)</a:t>
            </a:r>
          </a:p>
          <a:p>
            <a:pPr marL="541356" lvl="1" indent="-147642">
              <a:buFont typeface="Arial" pitchFamily="34" charset="0"/>
              <a:buChar char="•"/>
            </a:pPr>
            <a:r>
              <a:rPr lang="en-US" sz="1400" b="1" dirty="0"/>
              <a:t>Implications?</a:t>
            </a:r>
          </a:p>
          <a:p>
            <a:pPr marL="935068" lvl="2" indent="-147642">
              <a:buFont typeface="Arial" pitchFamily="34" charset="0"/>
              <a:buChar char="•"/>
            </a:pPr>
            <a:r>
              <a:rPr lang="en-US" sz="1400" dirty="0"/>
              <a:t>If God be God, He must be the judge of all.  (We’ve all agreed, v. 2:1-2, that universal judgment is warranted.)</a:t>
            </a:r>
          </a:p>
          <a:p>
            <a:pPr marL="935068" lvl="2" indent="-147642">
              <a:buFont typeface="Arial" pitchFamily="34" charset="0"/>
              <a:buChar char="•"/>
            </a:pPr>
            <a:r>
              <a:rPr lang="en-US" sz="1400" dirty="0"/>
              <a:t>We must meet God as He is, not as we wish Him to be.   </a:t>
            </a:r>
          </a:p>
          <a:p>
            <a:pPr marL="935068" lvl="2" indent="-147642">
              <a:buFont typeface="Arial" pitchFamily="34" charset="0"/>
              <a:buChar char="•"/>
            </a:pPr>
            <a:r>
              <a:rPr lang="en-US" sz="1400" dirty="0"/>
              <a:t>We need to really understand how He sees things…  not as how we imagine Him to be.</a:t>
            </a:r>
          </a:p>
          <a:p>
            <a:pPr marL="935068" lvl="2" indent="-147642">
              <a:buFont typeface="Arial" pitchFamily="34" charset="0"/>
              <a:buChar char="•"/>
            </a:pPr>
            <a:r>
              <a:rPr lang="en-US" sz="1400" b="1" dirty="0"/>
              <a:t>We don’t want to hug our own delusions to our own damnation.</a:t>
            </a:r>
          </a:p>
          <a:p>
            <a:endParaRPr lang="en-US" sz="1400" dirty="0"/>
          </a:p>
          <a:p>
            <a:r>
              <a:rPr lang="en-US" sz="1400" b="1" dirty="0"/>
              <a:t>Needs Analysis…?   A basis for Religion…   (the implications of our condition requires a solution)</a:t>
            </a:r>
          </a:p>
          <a:p>
            <a:endParaRPr lang="en-US" sz="1400" dirty="0"/>
          </a:p>
          <a:p>
            <a:pPr marL="393713" lvl="1"/>
            <a:r>
              <a:rPr lang="en-US" sz="1400" dirty="0"/>
              <a:t>S.P.I.N.</a:t>
            </a:r>
          </a:p>
          <a:p>
            <a:pPr marL="393713" lvl="1"/>
            <a:endParaRPr lang="en-US" sz="1400" dirty="0"/>
          </a:p>
          <a:p>
            <a:pPr marL="393713" lvl="1"/>
            <a:r>
              <a:rPr lang="en-US" sz="1400" dirty="0"/>
              <a:t>Situation – is self-evident</a:t>
            </a:r>
          </a:p>
          <a:p>
            <a:pPr marL="393713" lvl="1"/>
            <a:r>
              <a:rPr lang="en-US" sz="1400" dirty="0"/>
              <a:t>Problems – are experienced universally</a:t>
            </a:r>
          </a:p>
          <a:p>
            <a:pPr marL="393713" lvl="1"/>
            <a:r>
              <a:rPr lang="en-US" sz="1400" dirty="0"/>
              <a:t>Implications – are recognized by all</a:t>
            </a:r>
          </a:p>
          <a:p>
            <a:pPr marL="393713" lvl="1"/>
            <a:r>
              <a:rPr lang="en-US" sz="1400" dirty="0"/>
              <a:t>Needs Analysis – solutions are sought by all and translated by intent.</a:t>
            </a:r>
          </a:p>
          <a:p>
            <a:endParaRPr lang="en-US" sz="1400"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defTabSz="787426">
              <a:defRPr/>
            </a:pPr>
            <a:r>
              <a:rPr lang="en-US" sz="1400" b="1" dirty="0"/>
              <a:t>Read 2:17 thru 3:8</a:t>
            </a:r>
          </a:p>
          <a:p>
            <a:endParaRPr lang="en-US" sz="1400" dirty="0"/>
          </a:p>
          <a:p>
            <a:r>
              <a:rPr lang="en-US" sz="1400" dirty="0"/>
              <a:t>Were the Jewish people “better” (e.g. culturally) than others?</a:t>
            </a:r>
          </a:p>
          <a:p>
            <a:endParaRPr lang="en-US" sz="1400" dirty="0"/>
          </a:p>
          <a:p>
            <a:pPr marL="147642" indent="-147642">
              <a:buFont typeface="Arial" pitchFamily="34" charset="0"/>
              <a:buChar char="•"/>
            </a:pPr>
            <a:r>
              <a:rPr lang="en-US" sz="1400" dirty="0"/>
              <a:t>Arguably “yes”…   compare OT laws about health and living systems vs. others (e.g. hygiene, food restrictions, “keepers of God’s Laws”)</a:t>
            </a:r>
          </a:p>
          <a:p>
            <a:pPr marL="147642" indent="-147642">
              <a:buFont typeface="Arial" pitchFamily="34" charset="0"/>
              <a:buChar char="•"/>
            </a:pPr>
            <a:r>
              <a:rPr lang="en-US" sz="1400" dirty="0"/>
              <a:t>Jews had set aside the “hope of the Messiah” as the Light (even unto Gentiles) and assumed themselves to be the Light.</a:t>
            </a:r>
          </a:p>
          <a:p>
            <a:pPr marL="147642" indent="-147642">
              <a:buFont typeface="Arial" pitchFamily="34" charset="0"/>
              <a:buChar char="•"/>
            </a:pPr>
            <a:r>
              <a:rPr lang="en-US" sz="1400" dirty="0"/>
              <a:t>i.e. arrogant conceit</a:t>
            </a:r>
          </a:p>
          <a:p>
            <a:pPr marL="147642" indent="-147642">
              <a:buFont typeface="Arial" pitchFamily="34" charset="0"/>
              <a:buChar char="•"/>
            </a:pPr>
            <a:r>
              <a:rPr lang="en-US" sz="1400" dirty="0"/>
              <a:t>They had the “form of the Law”, an adaptation of the “original Law”</a:t>
            </a:r>
          </a:p>
          <a:p>
            <a:pPr marL="147642" indent="-147642">
              <a:buFont typeface="Arial" pitchFamily="34" charset="0"/>
              <a:buChar char="•"/>
            </a:pPr>
            <a:r>
              <a:rPr lang="en-US" sz="1400" dirty="0"/>
              <a:t>Paul uses the very Law the Jew trusts in to “root him out”….</a:t>
            </a:r>
          </a:p>
          <a:p>
            <a:pPr marL="147642" indent="-147642">
              <a:buFont typeface="Arial" pitchFamily="34" charset="0"/>
              <a:buChar char="•"/>
            </a:pPr>
            <a:endParaRPr lang="en-US" sz="1400" dirty="0"/>
          </a:p>
          <a:p>
            <a:r>
              <a:rPr lang="en-US" sz="1400" dirty="0"/>
              <a:t>Note:  Historically, the Church had begun in the Jewish community; most of the early Christians (in the years after </a:t>
            </a:r>
            <a:r>
              <a:rPr lang="en-US" sz="1400" dirty="0" err="1"/>
              <a:t>pentecost</a:t>
            </a:r>
            <a:r>
              <a:rPr lang="en-US" sz="1400" dirty="0"/>
              <a:t>) were Jews.   But, here we are 30-40 years since then and the Church had largely become a Gentile phenomenon.   Paul (as he traveled and preached in the synagogues) undoubtedly faced a hostile, taunting, perhaps demeaning audience of Jews.   Hence, his focus on a Jewish centered argument from that perspective.</a:t>
            </a:r>
          </a:p>
          <a:p>
            <a:endParaRPr lang="en-US" sz="1400" dirty="0"/>
          </a:p>
          <a:p>
            <a:r>
              <a:rPr lang="en-US" sz="1400" dirty="0"/>
              <a:t>Sub-argument (circumcision is of the heart – </a:t>
            </a:r>
            <a:r>
              <a:rPr lang="en-US" sz="1400" b="1" dirty="0" err="1"/>
              <a:t>Deut</a:t>
            </a:r>
            <a:r>
              <a:rPr lang="en-US" sz="1400" b="1" dirty="0"/>
              <a:t> 10:16</a:t>
            </a:r>
            <a:r>
              <a:rPr lang="en-US" sz="1400" dirty="0"/>
              <a:t>):</a:t>
            </a:r>
          </a:p>
          <a:p>
            <a:pPr marL="147642" indent="-147642">
              <a:buFont typeface="Arial" pitchFamily="34" charset="0"/>
              <a:buChar char="•"/>
            </a:pPr>
            <a:r>
              <a:rPr lang="en-US" sz="1400" dirty="0"/>
              <a:t>The Jew (</a:t>
            </a:r>
            <a:r>
              <a:rPr lang="en-US" sz="1400" i="1" dirty="0"/>
              <a:t>being</a:t>
            </a:r>
            <a:r>
              <a:rPr lang="en-US" sz="1400" dirty="0"/>
              <a:t> circumcised under the law) would not receive covering under the law </a:t>
            </a:r>
            <a:r>
              <a:rPr lang="en-US" sz="1400" i="1" dirty="0"/>
              <a:t>without</a:t>
            </a:r>
            <a:r>
              <a:rPr lang="en-US" sz="1400" dirty="0"/>
              <a:t> obedience…</a:t>
            </a:r>
          </a:p>
          <a:p>
            <a:pPr marL="147642" indent="-147642">
              <a:buFont typeface="Arial" pitchFamily="34" charset="0"/>
              <a:buChar char="•"/>
            </a:pPr>
            <a:r>
              <a:rPr lang="en-US" sz="1400" dirty="0"/>
              <a:t>And, the Gentile (</a:t>
            </a:r>
            <a:r>
              <a:rPr lang="en-US" sz="1400" i="1" dirty="0"/>
              <a:t>not</a:t>
            </a:r>
            <a:r>
              <a:rPr lang="en-US" sz="1400" dirty="0"/>
              <a:t> </a:t>
            </a:r>
            <a:r>
              <a:rPr lang="en-US" sz="1400" i="1" dirty="0"/>
              <a:t>being</a:t>
            </a:r>
            <a:r>
              <a:rPr lang="en-US" sz="1400" dirty="0"/>
              <a:t> circumcised under the law) could receive covering under the law </a:t>
            </a:r>
            <a:r>
              <a:rPr lang="en-US" sz="1400" i="1" dirty="0"/>
              <a:t>with</a:t>
            </a:r>
            <a:r>
              <a:rPr lang="en-US" sz="1400" dirty="0"/>
              <a:t> obedience (argument from v. 2:13)…</a:t>
            </a:r>
          </a:p>
          <a:p>
            <a:pPr marL="147642" indent="-147642">
              <a:buFont typeface="Arial" pitchFamily="34" charset="0"/>
              <a:buChar char="•"/>
            </a:pPr>
            <a:r>
              <a:rPr lang="en-US" sz="1400" dirty="0"/>
              <a:t>Therefore, the Jew would argue (tauntingly)…   </a:t>
            </a:r>
            <a:r>
              <a:rPr lang="en-US" sz="1400" b="1" dirty="0"/>
              <a:t>Romans 3:1-8</a:t>
            </a:r>
          </a:p>
          <a:p>
            <a:pPr marL="541356" lvl="1" indent="-147642">
              <a:buFont typeface="Arial" pitchFamily="34" charset="0"/>
              <a:buChar char="•"/>
            </a:pPr>
            <a:r>
              <a:rPr lang="en-US" sz="1400" dirty="0"/>
              <a:t>What advantage is there in being a Jew…?   If we are made right with God by His Grace alone, then…</a:t>
            </a:r>
          </a:p>
          <a:p>
            <a:pPr marL="541356" lvl="1" indent="-147642">
              <a:buFont typeface="Arial" pitchFamily="34" charset="0"/>
              <a:buChar char="•"/>
            </a:pPr>
            <a:r>
              <a:rPr lang="en-US" sz="1400" dirty="0"/>
              <a:t>Isn’t it the case then that our unrighteousness further increase God’s glory…?</a:t>
            </a:r>
          </a:p>
          <a:p>
            <a:pPr marL="541356" lvl="1" indent="-147642" defTabSz="787426">
              <a:buFont typeface="Arial" pitchFamily="34" charset="0"/>
              <a:buChar char="•"/>
              <a:defRPr/>
            </a:pPr>
            <a:r>
              <a:rPr lang="en-US" sz="1400" b="1" i="1" dirty="0"/>
              <a:t>Discuss Job 38:1-3; Job 40:2; Job 40:8</a:t>
            </a:r>
          </a:p>
          <a:p>
            <a:pPr marL="541356" lvl="1" indent="-147642">
              <a:buFont typeface="Arial" pitchFamily="34" charset="0"/>
              <a:buChar char="•"/>
            </a:pPr>
            <a:r>
              <a:rPr lang="en-US" sz="1400" dirty="0"/>
              <a:t>Discuss Psalm 51:4</a:t>
            </a:r>
          </a:p>
          <a:p>
            <a:pPr marL="541356" lvl="1" indent="-147642">
              <a:buFont typeface="Arial" pitchFamily="34" charset="0"/>
              <a:buChar char="•"/>
            </a:pPr>
            <a:r>
              <a:rPr lang="en-US" sz="1400" dirty="0"/>
              <a:t>(similar argument today – is baptism really necessary then? )</a:t>
            </a:r>
          </a:p>
          <a:p>
            <a:endParaRPr lang="en-US" sz="1400" dirty="0"/>
          </a:p>
          <a:p>
            <a:pPr defTabSz="787426">
              <a:defRPr/>
            </a:pPr>
            <a:r>
              <a:rPr lang="en-US" sz="1400" b="1" dirty="0"/>
              <a:t>The Starting Place of Faith (God’s Truth is not determined by our assessment of it…):</a:t>
            </a:r>
          </a:p>
          <a:p>
            <a:pPr defTabSz="787426">
              <a:defRPr/>
            </a:pPr>
            <a:endParaRPr lang="en-US" sz="1400" b="1" dirty="0"/>
          </a:p>
          <a:p>
            <a:pPr marL="147642" indent="-147642" defTabSz="787426">
              <a:buFont typeface="Arial" pitchFamily="34" charset="0"/>
              <a:buChar char="•"/>
              <a:defRPr/>
            </a:pPr>
            <a:r>
              <a:rPr lang="en-US" sz="1400" i="1" dirty="0"/>
              <a:t>3:3      “Let God be true and every man a liar…”     </a:t>
            </a:r>
          </a:p>
          <a:p>
            <a:pPr marL="541356" lvl="1" indent="-147642" defTabSz="787426">
              <a:buFont typeface="Arial" pitchFamily="34" charset="0"/>
              <a:buChar char="•"/>
              <a:defRPr/>
            </a:pPr>
            <a:r>
              <a:rPr lang="en-US" sz="1400" i="1" dirty="0"/>
              <a:t>We all know about truth because we all comprehend what a lie is…  (the negative reveals the positive)</a:t>
            </a:r>
          </a:p>
          <a:p>
            <a:pPr marL="393713" lvl="1" defTabSz="787426">
              <a:defRPr/>
            </a:pPr>
            <a:endParaRPr lang="en-US" sz="1400" i="1" dirty="0"/>
          </a:p>
          <a:p>
            <a:pPr marL="147642" indent="-147642" defTabSz="787426">
              <a:buFont typeface="Arial" pitchFamily="34" charset="0"/>
              <a:buChar char="•"/>
              <a:defRPr/>
            </a:pPr>
            <a:r>
              <a:rPr lang="en-US" sz="1400" i="1" dirty="0"/>
              <a:t>3:4      Men are judging God…!     (Psalm 51:4)    Man says…  “God doesn’t have the right to judge me..!   I am as he has made me…”   Discuss Job 40:8</a:t>
            </a:r>
          </a:p>
          <a:p>
            <a:pPr defTabSz="787426">
              <a:defRPr/>
            </a:pPr>
            <a:endParaRPr lang="en-US" sz="1400" i="1" dirty="0"/>
          </a:p>
          <a:p>
            <a:pPr marL="147642" indent="-147642" defTabSz="787426">
              <a:buFont typeface="Arial" pitchFamily="34" charset="0"/>
              <a:buChar char="•"/>
              <a:defRPr/>
            </a:pPr>
            <a:r>
              <a:rPr lang="en-US" sz="1400" i="1" dirty="0"/>
              <a:t>3:5-9    Paul assents to their argument and then demonstrates how the argument can’t be true because it contradicts God’s own nature…   (How can a perfectly just God not apply justice?)</a:t>
            </a:r>
            <a:endParaRPr lang="en-US" sz="1400" dirty="0"/>
          </a:p>
          <a:p>
            <a:pPr marL="147642" indent="-147642" defTabSz="787426">
              <a:buFont typeface="Arial" pitchFamily="34" charset="0"/>
              <a:buChar char="•"/>
              <a:defRPr/>
            </a:pPr>
            <a:r>
              <a:rPr lang="en-US" sz="1400" dirty="0"/>
              <a:t>Sin is born of motivation….!   Who is really good?</a:t>
            </a:r>
          </a:p>
          <a:p>
            <a:endParaRPr lang="en-US" sz="1400" dirty="0"/>
          </a:p>
          <a:p>
            <a:endParaRPr lang="en-US" sz="1400" dirty="0"/>
          </a:p>
          <a:p>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defTabSz="787426">
              <a:defRPr/>
            </a:pPr>
            <a:r>
              <a:rPr lang="en-US" sz="1400" b="1" dirty="0"/>
              <a:t>Romans, chapter 3, illustrates that even the Religious Man is impoverished…   none can keep the </a:t>
            </a:r>
            <a:r>
              <a:rPr lang="en-US" sz="1400" b="1" u="sng" dirty="0"/>
              <a:t>theoretical sanctification of the Law</a:t>
            </a:r>
            <a:r>
              <a:rPr lang="en-US" sz="1400" b="1" dirty="0"/>
              <a:t>.</a:t>
            </a:r>
          </a:p>
          <a:p>
            <a:pPr defTabSz="787426">
              <a:defRPr/>
            </a:pPr>
            <a:endParaRPr lang="en-US" sz="1400" dirty="0"/>
          </a:p>
          <a:p>
            <a:pPr marL="0" lvl="1" defTabSz="787426">
              <a:defRPr/>
            </a:pPr>
            <a:r>
              <a:rPr lang="en-US" sz="1400" b="1" dirty="0"/>
              <a:t>The Religious Man looks to the practice of religion for justification.   He recognizes the Sin Nature of Man and seeks to “work” his way to a “right” relationship with his god.  </a:t>
            </a:r>
            <a:endParaRPr lang="en-US" sz="1400" dirty="0"/>
          </a:p>
          <a:p>
            <a:endParaRPr lang="en-US" sz="1400" dirty="0"/>
          </a:p>
          <a:p>
            <a:r>
              <a:rPr lang="en-US" sz="1400" b="1" dirty="0"/>
              <a:t>The Law (i.e. religion – even the best corporate attempt) offers a </a:t>
            </a:r>
            <a:r>
              <a:rPr lang="en-US" sz="1400" b="1" u="sng" dirty="0"/>
              <a:t>theoretical</a:t>
            </a:r>
            <a:r>
              <a:rPr lang="en-US" sz="1400" b="1" dirty="0"/>
              <a:t> promise of Justification…</a:t>
            </a:r>
          </a:p>
          <a:p>
            <a:endParaRPr lang="en-US" sz="1400" dirty="0"/>
          </a:p>
          <a:p>
            <a:pPr marL="393713" lvl="1"/>
            <a:r>
              <a:rPr lang="en-US" sz="1400" dirty="0"/>
              <a:t>2:6-7  “...who will render to each one according to his deeds: </a:t>
            </a:r>
            <a:r>
              <a:rPr lang="en-US" sz="1400" i="1" dirty="0"/>
              <a:t>eternal life to those who by patient continuance in doing good seek for glory, honor, and immortality</a:t>
            </a:r>
            <a:r>
              <a:rPr lang="en-US" sz="1400" dirty="0"/>
              <a:t>…”</a:t>
            </a:r>
          </a:p>
          <a:p>
            <a:pPr marL="393713" lvl="1"/>
            <a:r>
              <a:rPr lang="en-US" sz="1400" dirty="0"/>
              <a:t>2:13   “…for not the hearers of the law are just in the sight of God, </a:t>
            </a:r>
            <a:r>
              <a:rPr lang="en-US" sz="1400" i="1" dirty="0"/>
              <a:t>but the doers of the law will be justified</a:t>
            </a:r>
            <a:r>
              <a:rPr lang="en-US" sz="1400" dirty="0"/>
              <a:t>…”</a:t>
            </a:r>
          </a:p>
          <a:p>
            <a:endParaRPr lang="en-US" sz="1400" dirty="0"/>
          </a:p>
          <a:p>
            <a:r>
              <a:rPr lang="en-US" sz="1400" b="1" dirty="0"/>
              <a:t>The Law will offer salvation to you…   but it will simply draw you out…  to the realization of sin…   and it will lead you to condemnation…   to give up your excuses…   and accept your condition in humility…   your realization of guilt…   v20</a:t>
            </a:r>
          </a:p>
          <a:p>
            <a:pPr marL="0" lvl="1" defTabSz="810419"/>
            <a:endParaRPr lang="en-US" sz="1400" dirty="0"/>
          </a:p>
          <a:p>
            <a:pPr marL="0" lvl="1" defTabSz="810419">
              <a:defRPr/>
            </a:pPr>
            <a:r>
              <a:rPr lang="en-US" sz="1400" i="1" dirty="0"/>
              <a:t>We thus see that </a:t>
            </a:r>
            <a:r>
              <a:rPr lang="en-US" sz="1400" b="1" i="1" dirty="0"/>
              <a:t>Religion</a:t>
            </a:r>
            <a:r>
              <a:rPr lang="en-US" sz="1400" i="1" dirty="0"/>
              <a:t> (even that of the righteous </a:t>
            </a:r>
            <a:r>
              <a:rPr lang="en-US" sz="1400" b="1" i="1" dirty="0"/>
              <a:t>Law</a:t>
            </a:r>
            <a:r>
              <a:rPr lang="en-US" sz="1400" i="1" dirty="0"/>
              <a:t>) thus reveals the </a:t>
            </a:r>
            <a:r>
              <a:rPr lang="en-US" sz="1400" b="1" i="1" dirty="0"/>
              <a:t>failure of man’s best corporate effort to attain to God’s righteousness</a:t>
            </a:r>
            <a:r>
              <a:rPr lang="en-US" sz="1400" i="1" dirty="0"/>
              <a:t>..!    </a:t>
            </a:r>
          </a:p>
          <a:p>
            <a:pPr marL="0" lvl="1" defTabSz="810419"/>
            <a:endParaRPr lang="en-US" sz="1400" dirty="0"/>
          </a:p>
          <a:p>
            <a:pPr defTabSz="787426">
              <a:defRPr/>
            </a:pPr>
            <a:r>
              <a:rPr lang="en-US" sz="1400" b="1" dirty="0"/>
              <a:t>Read 3:9</a:t>
            </a:r>
          </a:p>
          <a:p>
            <a:endParaRPr lang="en-US" sz="1400" b="1" dirty="0"/>
          </a:p>
          <a:p>
            <a:r>
              <a:rPr lang="en-US" sz="1400" b="1" dirty="0"/>
              <a:t>Transition Point – Paul again turns the argument onto the Jury (i.e. you and I)…   He has baited us again!</a:t>
            </a:r>
          </a:p>
          <a:p>
            <a:endParaRPr lang="en-US" sz="1400" dirty="0"/>
          </a:p>
          <a:p>
            <a:pPr marL="393713" lvl="1"/>
            <a:r>
              <a:rPr lang="en-US" sz="1400" dirty="0"/>
              <a:t>3:9…   “What then?”   another transition point in Paul’s theological argument.   He has entrapped us again!</a:t>
            </a:r>
          </a:p>
          <a:p>
            <a:endParaRPr lang="en-US" sz="1400" dirty="0"/>
          </a:p>
          <a:p>
            <a:r>
              <a:rPr lang="en-US" sz="1400" b="1" dirty="0"/>
              <a:t>The Law (i.e. religion – even the best corporate attempt) offers a theoretical promise of Justification…</a:t>
            </a:r>
          </a:p>
          <a:p>
            <a:endParaRPr lang="en-US" sz="1400" dirty="0"/>
          </a:p>
          <a:p>
            <a:pPr marL="393713" lvl="1"/>
            <a:r>
              <a:rPr lang="en-US" sz="1400" dirty="0"/>
              <a:t>2:6-7  “...who will render to each one according to his deeds: </a:t>
            </a:r>
            <a:r>
              <a:rPr lang="en-US" sz="1400" i="1" dirty="0"/>
              <a:t>eternal life to those who by patient continuance in doing good seek for glory, honor, and immortality</a:t>
            </a:r>
            <a:r>
              <a:rPr lang="en-US" sz="1400" dirty="0"/>
              <a:t>…”</a:t>
            </a:r>
          </a:p>
          <a:p>
            <a:pPr marL="393713" lvl="1"/>
            <a:r>
              <a:rPr lang="en-US" sz="1400" dirty="0"/>
              <a:t>2:13   “…for not the hearers of the law are just in the sight of God, </a:t>
            </a:r>
            <a:r>
              <a:rPr lang="en-US" sz="1400" i="1" dirty="0"/>
              <a:t>but the doers of the law will be justified</a:t>
            </a:r>
            <a:r>
              <a:rPr lang="en-US" sz="1400" dirty="0"/>
              <a:t>…”</a:t>
            </a:r>
          </a:p>
          <a:p>
            <a:pPr marL="393713" lvl="1"/>
            <a:endParaRPr lang="en-US" sz="1400" dirty="0"/>
          </a:p>
          <a:p>
            <a:endParaRPr lang="en-US" sz="1400" dirty="0"/>
          </a:p>
          <a:p>
            <a:r>
              <a:rPr lang="en-US" sz="1400" dirty="0"/>
              <a:t>We all here recognize and agree that our best attempts to attain self-righteousness do not attain to God’s Truth…   our motivations bely our sin condition!</a:t>
            </a:r>
          </a:p>
          <a:p>
            <a:endParaRPr lang="en-US" sz="1400" dirty="0"/>
          </a:p>
          <a:p>
            <a:r>
              <a:rPr lang="en-US" sz="1400" dirty="0"/>
              <a:t>Paul intends to convict his audience…   to enable them to realize that they themselves are under the judgment of sin…</a:t>
            </a:r>
          </a:p>
          <a:p>
            <a:endParaRPr lang="en-US" sz="1400" dirty="0"/>
          </a:p>
          <a:p>
            <a:r>
              <a:rPr lang="en-US" sz="1400" dirty="0"/>
              <a:t>He proved the pagan man to be under sin…</a:t>
            </a:r>
          </a:p>
          <a:p>
            <a:endParaRPr lang="en-US" sz="1400" dirty="0"/>
          </a:p>
          <a:p>
            <a:r>
              <a:rPr lang="en-US" sz="1400" dirty="0"/>
              <a:t>He proved the moral man cannot overcome sin…</a:t>
            </a:r>
          </a:p>
          <a:p>
            <a:endParaRPr lang="en-US" sz="1400" dirty="0"/>
          </a:p>
          <a:p>
            <a:r>
              <a:rPr lang="en-US" sz="1400" dirty="0"/>
              <a:t>He proved that the religious (self-righteous) man is condemned by the Law…</a:t>
            </a:r>
          </a:p>
          <a:p>
            <a:endParaRPr lang="en-US" sz="1400" dirty="0"/>
          </a:p>
          <a:p>
            <a:r>
              <a:rPr lang="en-US" sz="1400" dirty="0"/>
              <a:t>Sin is born of motivation…!    Who is really good?   Man seeks glory…   and ends with selfish pride and self-righteousness.</a:t>
            </a:r>
          </a:p>
          <a:p>
            <a:pPr marL="0" lvl="1" defTabSz="810419"/>
            <a:endParaRPr lang="en-US" sz="1400" dirty="0"/>
          </a:p>
          <a:p>
            <a:pPr marL="0" lvl="1" defTabSz="810419"/>
            <a:endParaRPr lang="en-US" sz="1400" dirty="0"/>
          </a:p>
          <a:p>
            <a:pPr marL="0" lvl="1" defTabSz="810419"/>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1529984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defTabSz="787426">
              <a:defRPr/>
            </a:pPr>
            <a:r>
              <a:rPr lang="en-US" sz="1400" i="1" dirty="0"/>
              <a:t>They (i.e. world religions) can’t all be true!</a:t>
            </a:r>
          </a:p>
          <a:p>
            <a:endParaRPr lang="en-US" sz="1400" b="1" dirty="0"/>
          </a:p>
          <a:p>
            <a:r>
              <a:rPr lang="en-US" sz="1400" b="1" dirty="0"/>
              <a:t>Comparing competing world-views</a:t>
            </a:r>
          </a:p>
          <a:p>
            <a:endParaRPr lang="en-US" sz="1400" dirty="0"/>
          </a:p>
          <a:p>
            <a:pPr lvl="1"/>
            <a:r>
              <a:rPr lang="en-US" sz="1400" dirty="0"/>
              <a:t>Reference:   “Understanding the Times, The Collision of Today’s Competing Worldviews”, David A. </a:t>
            </a:r>
            <a:r>
              <a:rPr lang="en-US" sz="1400" dirty="0" err="1"/>
              <a:t>Noebel</a:t>
            </a:r>
            <a:endParaRPr lang="en-US" sz="1400" dirty="0"/>
          </a:p>
          <a:p>
            <a:endParaRPr lang="en-US" sz="1400" dirty="0"/>
          </a:p>
          <a:p>
            <a:pPr marL="0" lvl="1" defTabSz="810419"/>
            <a:r>
              <a:rPr lang="en-US" sz="1400" b="1" dirty="0"/>
              <a:t>The Religious Man looks to the practice of religion for righteousness.   He develops exhaustive belief systems.   He recognizes the Sin Nature of Man and seeks to “work” his way to a “right” relationship with his god.  </a:t>
            </a:r>
          </a:p>
          <a:p>
            <a:pPr marL="0" lvl="1" defTabSz="810419"/>
            <a:endParaRPr lang="en-US" sz="1400" dirty="0"/>
          </a:p>
          <a:p>
            <a:pPr marL="393713" lvl="2" defTabSz="810419"/>
            <a:r>
              <a:rPr lang="en-US" sz="1400" dirty="0"/>
              <a:t>God reveals Himself to mankind via his special revelation of sin under the Law (i.e. via the prototypical Jew) and points mankind instead to redemption by grace within Christ.</a:t>
            </a:r>
          </a:p>
          <a:p>
            <a:pPr marL="0" lvl="1" defTabSz="810419"/>
            <a:endParaRPr lang="en-US" sz="1400" dirty="0"/>
          </a:p>
          <a:p>
            <a:pPr marL="0" lvl="1" defTabSz="810419"/>
            <a:r>
              <a:rPr lang="en-US" sz="1400" i="1" dirty="0"/>
              <a:t>Man says…</a:t>
            </a:r>
          </a:p>
          <a:p>
            <a:pPr lvl="1"/>
            <a:endParaRPr lang="en-US" sz="1400" dirty="0"/>
          </a:p>
          <a:p>
            <a:pPr lvl="1"/>
            <a:r>
              <a:rPr lang="en-US" sz="1400" dirty="0"/>
              <a:t>Humanism – man is the measure of all things.</a:t>
            </a:r>
          </a:p>
          <a:p>
            <a:pPr lvl="1"/>
            <a:r>
              <a:rPr lang="en-US" sz="1400" dirty="0"/>
              <a:t>Atheism – god doesn’t exist.</a:t>
            </a:r>
          </a:p>
          <a:p>
            <a:pPr lvl="1"/>
            <a:r>
              <a:rPr lang="en-US" sz="1400" dirty="0"/>
              <a:t>Pantheism – creation itself is the measure of all things.</a:t>
            </a:r>
          </a:p>
          <a:p>
            <a:pPr lvl="1"/>
            <a:endParaRPr lang="en-US" sz="1400" dirty="0"/>
          </a:p>
          <a:p>
            <a:r>
              <a:rPr lang="en-US" sz="1400" i="1" dirty="0"/>
              <a:t>God says…</a:t>
            </a:r>
          </a:p>
          <a:p>
            <a:endParaRPr lang="en-US" sz="1400" dirty="0"/>
          </a:p>
          <a:p>
            <a:pPr lvl="1"/>
            <a:r>
              <a:rPr lang="en-US" sz="1400" i="1" dirty="0"/>
              <a:t>Hebrews 1:1    “God, who are various times and in various ways spoke in time past to the fathers by the prophets, has in these last days spoken to us by His Son, whom He has appointed heir of all things, through whom also He made the worlds; who being the brightness of His glory and the express image of His person, and upholding all things by the word of His power, when He had by Himself purged our sins, sat down at the right hand of the Majesty on high,…”</a:t>
            </a:r>
          </a:p>
          <a:p>
            <a:pPr lvl="1"/>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27657531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a:p>
            <a:r>
              <a:rPr lang="en-US" sz="1400" b="1" dirty="0"/>
              <a:t>FIRST, Read Galatians 3:19-29</a:t>
            </a:r>
          </a:p>
          <a:p>
            <a:endParaRPr lang="en-US" sz="1400" b="1" dirty="0"/>
          </a:p>
          <a:p>
            <a:endParaRPr lang="en-US" sz="1400" b="1" dirty="0"/>
          </a:p>
          <a:p>
            <a:r>
              <a:rPr lang="en-US" sz="1400" b="1" dirty="0"/>
              <a:t>The Promises of GOD are the currency upon which man-kind’s ultimate hope and destiny rest.  Discuss how GOD made promises to Abraham, Moses and the Israelites, and to us (</a:t>
            </a:r>
            <a:r>
              <a:rPr lang="en-US" sz="1400" b="1" dirty="0" err="1"/>
              <a:t>Jer</a:t>
            </a:r>
            <a:r>
              <a:rPr lang="en-US" sz="1400" b="1" dirty="0"/>
              <a:t> 31:31).</a:t>
            </a:r>
          </a:p>
          <a:p>
            <a:endParaRPr lang="en-US" sz="1400" b="1" dirty="0"/>
          </a:p>
          <a:p>
            <a:r>
              <a:rPr lang="en-US" sz="1400" b="1" dirty="0"/>
              <a:t>What should our response be?</a:t>
            </a:r>
          </a:p>
          <a:p>
            <a:endParaRPr lang="en-US" sz="1400" b="1" dirty="0"/>
          </a:p>
          <a:p>
            <a:r>
              <a:rPr lang="en-US" sz="1400" b="1" dirty="0"/>
              <a:t>Needs Analysis:  Mankind NEEDS a Savior!</a:t>
            </a:r>
          </a:p>
          <a:p>
            <a:endParaRPr lang="en-US" b="1"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19933430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endParaRPr lang="en-US" dirty="0"/>
          </a:p>
          <a:p>
            <a:r>
              <a:rPr lang="en-US" sz="1400" b="1" dirty="0"/>
              <a:t>FIRST - Read Romans 3:21-26</a:t>
            </a:r>
          </a:p>
          <a:p>
            <a:endParaRPr lang="en-US" sz="1400" dirty="0"/>
          </a:p>
          <a:p>
            <a:r>
              <a:rPr lang="en-US" sz="1400" b="1" dirty="0"/>
              <a:t>THE QUESTION:</a:t>
            </a:r>
          </a:p>
          <a:p>
            <a:pPr marL="147642" indent="-147642">
              <a:buFont typeface="Arial" pitchFamily="34" charset="0"/>
              <a:buChar char="•"/>
            </a:pPr>
            <a:r>
              <a:rPr lang="en-US" sz="1400" dirty="0"/>
              <a:t>How can a perfectly </a:t>
            </a:r>
            <a:r>
              <a:rPr lang="en-US" sz="1400" b="1" dirty="0"/>
              <a:t>just</a:t>
            </a:r>
            <a:r>
              <a:rPr lang="en-US" sz="1400" dirty="0"/>
              <a:t> God forgive sins? </a:t>
            </a:r>
          </a:p>
          <a:p>
            <a:pPr marL="147642" indent="-147642">
              <a:buFont typeface="Arial" pitchFamily="34" charset="0"/>
              <a:buChar char="•"/>
            </a:pPr>
            <a:r>
              <a:rPr lang="en-US" sz="1400" dirty="0"/>
              <a:t>How can </a:t>
            </a:r>
            <a:r>
              <a:rPr lang="en-US" sz="1400" b="1" dirty="0"/>
              <a:t>sinful</a:t>
            </a:r>
            <a:r>
              <a:rPr lang="en-US" sz="1400" dirty="0"/>
              <a:t> man find favor with a </a:t>
            </a:r>
            <a:r>
              <a:rPr lang="en-US" sz="1400" b="1" dirty="0"/>
              <a:t>righteous</a:t>
            </a:r>
            <a:r>
              <a:rPr lang="en-US" sz="1400" dirty="0"/>
              <a:t> God?</a:t>
            </a:r>
          </a:p>
          <a:p>
            <a:pPr marL="147642" indent="-147642">
              <a:buFont typeface="Arial" pitchFamily="34" charset="0"/>
              <a:buChar char="•"/>
            </a:pPr>
            <a:endParaRPr lang="en-US" sz="1400" dirty="0"/>
          </a:p>
          <a:p>
            <a:r>
              <a:rPr lang="en-US" sz="1400" b="1" dirty="0"/>
              <a:t>THE ANALOGY:</a:t>
            </a:r>
          </a:p>
          <a:p>
            <a:pPr marL="147642" indent="-147642">
              <a:buFont typeface="Arial" pitchFamily="34" charset="0"/>
              <a:buChar char="•"/>
            </a:pPr>
            <a:r>
              <a:rPr lang="en-US" sz="1400" dirty="0"/>
              <a:t>God (the Son) presides as the Judge of mankind (pagan, moral, and spiritual men).   John 5:22</a:t>
            </a:r>
          </a:p>
          <a:p>
            <a:pPr marL="147642" indent="-147642">
              <a:buFont typeface="Arial" pitchFamily="34" charset="0"/>
              <a:buChar char="•"/>
            </a:pPr>
            <a:r>
              <a:rPr lang="en-US" sz="1400" dirty="0"/>
              <a:t>The Son steps down from the Judgment seat and assumes the seat of the plaintiff (mankind).   Isaiah 53:11</a:t>
            </a:r>
          </a:p>
          <a:p>
            <a:pPr marL="147642" indent="-147642">
              <a:buFont typeface="Arial" pitchFamily="34" charset="0"/>
              <a:buChar char="•"/>
            </a:pPr>
            <a:r>
              <a:rPr lang="en-US" sz="1400" dirty="0"/>
              <a:t>The Son himself assumes the just penalty of sin for all of sinful mankind.    </a:t>
            </a:r>
          </a:p>
          <a:p>
            <a:pPr marL="147642" indent="-147642">
              <a:buFont typeface="Arial" pitchFamily="34" charset="0"/>
              <a:buChar char="•"/>
            </a:pPr>
            <a:r>
              <a:rPr lang="en-US" sz="1400" dirty="0"/>
              <a:t>The Father is satisfied with the just payment for sin. </a:t>
            </a:r>
          </a:p>
          <a:p>
            <a:pPr marL="147642" indent="-147642" defTabSz="787426">
              <a:buFont typeface="Arial" pitchFamily="34" charset="0"/>
              <a:buChar char="•"/>
              <a:defRPr/>
            </a:pPr>
            <a:r>
              <a:rPr lang="en-US" sz="1400" dirty="0"/>
              <a:t>The Father demonstrates mercy by extending the righteousness of one man to cover many.      2 Cor. 5:21</a:t>
            </a:r>
          </a:p>
          <a:p>
            <a:endParaRPr lang="en-US" sz="1400" dirty="0"/>
          </a:p>
          <a:p>
            <a:r>
              <a:rPr lang="en-US" sz="1400" b="1" dirty="0"/>
              <a:t>God demonstrates His perfect justice at the same time that he demonstrates His perfect mercy…  in the act of delivering justice, he also justifies.</a:t>
            </a:r>
          </a:p>
          <a:p>
            <a:endParaRPr lang="en-US" sz="1400" dirty="0"/>
          </a:p>
          <a:p>
            <a:r>
              <a:rPr lang="en-US" sz="1400" dirty="0"/>
              <a:t>Eph. 2:8   “For by grace you have been saved through faith, and that not of yourselves; it is the gift of God, not of works, lest anyone should boast.</a:t>
            </a:r>
          </a:p>
          <a:p>
            <a:endParaRPr lang="en-US" sz="1400" dirty="0"/>
          </a:p>
          <a:p>
            <a:r>
              <a:rPr lang="en-US" sz="1400" b="1" dirty="0"/>
              <a:t>Hallelujah!   What a Savior!</a:t>
            </a:r>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9513454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B07C6-FFED-E767-EE62-0614B34627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65B067-D7B4-2577-F62E-403EDE70E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F27493-A020-323A-83AD-FA56C7A744F7}"/>
              </a:ext>
            </a:extLst>
          </p:cNvPr>
          <p:cNvSpPr>
            <a:spLocks noGrp="1"/>
          </p:cNvSpPr>
          <p:nvPr>
            <p:ph type="body" idx="1"/>
          </p:nvPr>
        </p:nvSpPr>
        <p:spPr/>
        <p:txBody>
          <a:bodyPr>
            <a:normAutofit/>
          </a:bodyPr>
          <a:lstStyle/>
          <a:p>
            <a:r>
              <a:rPr lang="en-US" sz="1400" b="1" dirty="0"/>
              <a:t>PSALMS</a:t>
            </a:r>
          </a:p>
          <a:p>
            <a:endParaRPr lang="en-US" sz="1400" dirty="0"/>
          </a:p>
          <a:p>
            <a:r>
              <a:rPr lang="en-US" sz="1400" b="1" dirty="0"/>
              <a:t>Destiny (Where are we going?)</a:t>
            </a:r>
            <a:endParaRPr lang="en-US" sz="1400" dirty="0"/>
          </a:p>
          <a:p>
            <a:pPr>
              <a:buFont typeface="Arial" panose="020B0604020202020204" pitchFamily="34" charset="0"/>
              <a:buChar char="•"/>
            </a:pPr>
            <a:r>
              <a:rPr lang="en-US" sz="1400" b="1" dirty="0"/>
              <a:t>Psalm 16:9–11</a:t>
            </a:r>
            <a:r>
              <a:rPr lang="en-US" sz="1400" dirty="0"/>
              <a:t>: Expresses confidence that God will not abandon His faithful ones to the grave and promises eternal joy in God’s presence.</a:t>
            </a:r>
          </a:p>
          <a:p>
            <a:pPr>
              <a:buFont typeface="Arial" panose="020B0604020202020204" pitchFamily="34" charset="0"/>
              <a:buChar char="•"/>
            </a:pPr>
            <a:r>
              <a:rPr lang="en-US" sz="1400" b="1" dirty="0"/>
              <a:t>Psalm 23:6</a:t>
            </a:r>
            <a:r>
              <a:rPr lang="en-US" sz="1400" dirty="0"/>
              <a:t>: Ends with the assurance of dwelling in the house of the LORD forever, hinting at a blessed eternal destiny.</a:t>
            </a:r>
          </a:p>
          <a:p>
            <a:pPr>
              <a:buFont typeface="Arial" panose="020B0604020202020204" pitchFamily="34" charset="0"/>
              <a:buChar char="•"/>
            </a:pPr>
            <a:r>
              <a:rPr lang="en-US" sz="1400" b="1" dirty="0"/>
              <a:t>Psalm 37:37–38</a:t>
            </a:r>
            <a:r>
              <a:rPr lang="en-US" sz="1400" dirty="0"/>
              <a:t>: Contrasts the peaceful future of the righteous with the tragic end of the wicked, indicating that moral choices affect one’s ultimate outcome.</a:t>
            </a:r>
          </a:p>
          <a:p>
            <a:pPr>
              <a:buFont typeface="Arial" panose="020B0604020202020204" pitchFamily="34" charset="0"/>
              <a:buChar char="•"/>
            </a:pPr>
            <a:r>
              <a:rPr lang="en-US" sz="1400" b="1" dirty="0"/>
              <a:t>Psalm 49:15</a:t>
            </a:r>
            <a:r>
              <a:rPr lang="en-US" sz="1400" dirty="0"/>
              <a:t>: Declares that God will redeem the faithful from the realm of the dead, offering hope beyond physical death.</a:t>
            </a:r>
          </a:p>
          <a:p>
            <a:pPr>
              <a:buFont typeface="Arial" panose="020B0604020202020204" pitchFamily="34" charset="0"/>
              <a:buChar char="•"/>
            </a:pPr>
            <a:r>
              <a:rPr lang="en-US" sz="1400" b="1" dirty="0"/>
              <a:t>Psalm 73:24</a:t>
            </a:r>
            <a:r>
              <a:rPr lang="en-US" sz="1400" dirty="0"/>
              <a:t>: Confidently states that God will guide believers on earth and ultimately receive them into glory, pointing to a future with Him.</a:t>
            </a:r>
          </a:p>
          <a:p>
            <a:endParaRPr lang="en-US" dirty="0"/>
          </a:p>
        </p:txBody>
      </p:sp>
      <p:sp>
        <p:nvSpPr>
          <p:cNvPr id="4" name="Slide Number Placeholder 3">
            <a:extLst>
              <a:ext uri="{FF2B5EF4-FFF2-40B4-BE49-F238E27FC236}">
                <a16:creationId xmlns:a16="http://schemas.microsoft.com/office/drawing/2014/main" id="{B9229544-C6C2-5F33-D7BA-CFF1F9234F7F}"/>
              </a:ext>
            </a:extLst>
          </p:cNvPr>
          <p:cNvSpPr>
            <a:spLocks noGrp="1"/>
          </p:cNvSpPr>
          <p:nvPr>
            <p:ph type="sldNum" sz="quarter" idx="5"/>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7165696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E57DA-CC5B-35FF-C383-2FA06D35EA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69B728-4D72-F305-12F3-F4DB3FAFFF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AEE64C-A24E-F0EB-31B1-B84FC566013B}"/>
              </a:ext>
            </a:extLst>
          </p:cNvPr>
          <p:cNvSpPr>
            <a:spLocks noGrp="1"/>
          </p:cNvSpPr>
          <p:nvPr>
            <p:ph type="body" idx="1"/>
          </p:nvPr>
        </p:nvSpPr>
        <p:spPr/>
        <p:txBody>
          <a:bodyPr>
            <a:normAutofit/>
          </a:bodyPr>
          <a:lstStyle/>
          <a:p>
            <a:r>
              <a:rPr lang="en-US" sz="1400" b="1" dirty="0"/>
              <a:t>NT</a:t>
            </a:r>
          </a:p>
          <a:p>
            <a:endParaRPr lang="en-US" sz="1400" dirty="0"/>
          </a:p>
          <a:p>
            <a:r>
              <a:rPr lang="en-US" sz="1400" b="1" dirty="0"/>
              <a:t>Destiny (Where are we going?)</a:t>
            </a:r>
            <a:endParaRPr lang="en-US" sz="1400" dirty="0"/>
          </a:p>
          <a:p>
            <a:endParaRPr lang="en-US" sz="1400" dirty="0"/>
          </a:p>
          <a:p>
            <a:r>
              <a:rPr lang="en-US" sz="1400" dirty="0"/>
              <a:t>-  </a:t>
            </a:r>
            <a:r>
              <a:rPr lang="en-US" sz="1400" b="1" dirty="0"/>
              <a:t>Matthew 25:31–46 </a:t>
            </a:r>
            <a:r>
              <a:rPr lang="en-US" sz="1400" dirty="0"/>
              <a:t>(Parable of the Sheep and the Goats) : Jesus teaches about a future judgment where people’s eternal destinies are determined by their response to Him and how they treated others.  </a:t>
            </a:r>
          </a:p>
          <a:p>
            <a:r>
              <a:rPr lang="en-US" sz="1400" dirty="0"/>
              <a:t>-  </a:t>
            </a:r>
            <a:r>
              <a:rPr lang="en-US" sz="1400" b="1" dirty="0"/>
              <a:t>Luke 23:43 </a:t>
            </a:r>
            <a:r>
              <a:rPr lang="en-US" sz="1400" dirty="0"/>
              <a:t>: In conversation with the repentant thief on the cross, Jesus promises, “Today you will be with me in Paradise,” indicating a future beyond earthly life for those who turn to Him.  </a:t>
            </a:r>
          </a:p>
          <a:p>
            <a:pPr marL="147642" indent="-147642">
              <a:buFontTx/>
              <a:buChar char="-"/>
            </a:pPr>
            <a:r>
              <a:rPr lang="en-US" sz="1400" b="1" dirty="0"/>
              <a:t>John 14:1–3 </a:t>
            </a:r>
            <a:r>
              <a:rPr lang="en-US" sz="1400" dirty="0"/>
              <a:t>: Jesus comforts His disciples by saying He will prepare a place for them in His Father’s house, assuring them of an eternal home and hope beyond death.</a:t>
            </a:r>
          </a:p>
          <a:p>
            <a:r>
              <a:rPr lang="en-US" sz="1400" dirty="0"/>
              <a:t>-  </a:t>
            </a:r>
            <a:r>
              <a:rPr lang="en-US" sz="1400" b="1" dirty="0"/>
              <a:t>1 Corinthians 15:20–22, 51–58 </a:t>
            </a:r>
            <a:r>
              <a:rPr lang="en-US" sz="1400" dirty="0"/>
              <a:t>: Discusses the resurrection of the dead and the imperishable body believers will inherit, affirming eternal life beyond death.  </a:t>
            </a:r>
          </a:p>
          <a:p>
            <a:r>
              <a:rPr lang="en-US" sz="1400" dirty="0"/>
              <a:t>-  </a:t>
            </a:r>
            <a:r>
              <a:rPr lang="en-US" sz="1400" b="1" dirty="0"/>
              <a:t>Philippians 3:20–21 </a:t>
            </a:r>
            <a:r>
              <a:rPr lang="en-US" sz="1400" dirty="0"/>
              <a:t>: Reminds believers that their true citizenship is in heaven, where Christ will transform their bodies to be like His glorious body.  </a:t>
            </a:r>
          </a:p>
          <a:p>
            <a:r>
              <a:rPr lang="en-US" sz="1400" dirty="0"/>
              <a:t>-  </a:t>
            </a:r>
            <a:r>
              <a:rPr lang="en-US" sz="1400" b="1" dirty="0"/>
              <a:t>Revelation 21–22 </a:t>
            </a:r>
            <a:r>
              <a:rPr lang="en-US" sz="1400" dirty="0"/>
              <a:t>: Foresees a new heaven and new earth where God’s people live forever in His presence, free from death, mourning, and pain.</a:t>
            </a:r>
          </a:p>
        </p:txBody>
      </p:sp>
      <p:sp>
        <p:nvSpPr>
          <p:cNvPr id="4" name="Slide Number Placeholder 3">
            <a:extLst>
              <a:ext uri="{FF2B5EF4-FFF2-40B4-BE49-F238E27FC236}">
                <a16:creationId xmlns:a16="http://schemas.microsoft.com/office/drawing/2014/main" id="{5ED84AC9-0194-E418-EC64-04A6EE057B6D}"/>
              </a:ext>
            </a:extLst>
          </p:cNvPr>
          <p:cNvSpPr>
            <a:spLocks noGrp="1"/>
          </p:cNvSpPr>
          <p:nvPr>
            <p:ph type="sldNum" sz="quarter" idx="5"/>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1692202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685800" y="1482181"/>
            <a:ext cx="7772400" cy="1470025"/>
          </a:xfrm>
        </p:spPr>
        <p:txBody>
          <a:bodyPr/>
          <a:lstStyle/>
          <a:p>
            <a:pPr eaLnBrk="1" hangingPunct="1"/>
            <a:r>
              <a:rPr lang="en-US" sz="6000" dirty="0"/>
              <a:t>Romans</a:t>
            </a:r>
            <a:endParaRPr sz="6000" dirty="0"/>
          </a:p>
        </p:txBody>
      </p:sp>
      <p:sp>
        <p:nvSpPr>
          <p:cNvPr id="6147" name="Subtitle 2"/>
          <p:cNvSpPr>
            <a:spLocks noGrp="1"/>
          </p:cNvSpPr>
          <p:nvPr>
            <p:ph type="subTitle" idx="1"/>
          </p:nvPr>
        </p:nvSpPr>
        <p:spPr>
          <a:xfrm>
            <a:off x="1447800" y="3029495"/>
            <a:ext cx="6400800" cy="1752600"/>
          </a:xfrm>
        </p:spPr>
        <p:txBody>
          <a:bodyPr/>
          <a:lstStyle/>
          <a:p>
            <a:pPr eaLnBrk="1" hangingPunct="1"/>
            <a:r>
              <a:rPr lang="en-US" dirty="0"/>
              <a:t>God’s Judgment of </a:t>
            </a:r>
          </a:p>
          <a:p>
            <a:pPr eaLnBrk="1" hangingPunct="1"/>
            <a:r>
              <a:rPr lang="en-US" dirty="0"/>
              <a:t>The Religious Man</a:t>
            </a:r>
          </a:p>
          <a:p>
            <a:pPr eaLnBrk="1" hangingPunct="1"/>
            <a:r>
              <a:rPr lang="en-US" dirty="0"/>
              <a:t>Ch. 3</a:t>
            </a:r>
          </a:p>
          <a:p>
            <a:pPr eaLnBrk="1" hangingPunct="1"/>
            <a:endParaRPr lang="en-US" dirty="0"/>
          </a:p>
        </p:txBody>
      </p:sp>
      <p:sp>
        <p:nvSpPr>
          <p:cNvPr id="2" name="TextBox 1">
            <a:extLst>
              <a:ext uri="{FF2B5EF4-FFF2-40B4-BE49-F238E27FC236}">
                <a16:creationId xmlns:a16="http://schemas.microsoft.com/office/drawing/2014/main" id="{079DC8F4-1FC6-0254-E488-A9BC99CE4940}"/>
              </a:ext>
            </a:extLst>
          </p:cNvPr>
          <p:cNvSpPr txBox="1"/>
          <p:nvPr/>
        </p:nvSpPr>
        <p:spPr>
          <a:xfrm>
            <a:off x="2362200" y="5375819"/>
            <a:ext cx="4572000" cy="46166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r>
              <a:rPr lang="en-US" sz="2400" dirty="0"/>
              <a:t>https://tinyurl.com/RomeGospel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2</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Predicament of Mankind</a:t>
            </a:r>
            <a:br>
              <a:rPr lang="en-US" dirty="0"/>
            </a:br>
            <a:r>
              <a:rPr lang="en-US" sz="2400" dirty="0">
                <a:solidFill>
                  <a:schemeClr val="tx2">
                    <a:lumMod val="60000"/>
                    <a:lumOff val="40000"/>
                  </a:schemeClr>
                </a:solidFill>
              </a:rPr>
              <a:t>“The wrath of God is revealed…” “…For all have sinned…”</a:t>
            </a:r>
          </a:p>
        </p:txBody>
      </p:sp>
      <p:sp>
        <p:nvSpPr>
          <p:cNvPr id="6" name="TextBox 5"/>
          <p:cNvSpPr txBox="1"/>
          <p:nvPr/>
        </p:nvSpPr>
        <p:spPr>
          <a:xfrm>
            <a:off x="529296" y="1158766"/>
            <a:ext cx="8001000" cy="1323439"/>
          </a:xfrm>
          <a:prstGeom prst="rect">
            <a:avLst/>
          </a:prstGeom>
          <a:noFill/>
        </p:spPr>
        <p:txBody>
          <a:bodyPr wrap="square" rtlCol="0">
            <a:spAutoFit/>
          </a:bodyPr>
          <a:lstStyle/>
          <a:p>
            <a:r>
              <a:rPr lang="en-US" sz="2000" b="1" i="1" dirty="0"/>
              <a:t>Romans 1 : The “Pagan Man” </a:t>
            </a:r>
          </a:p>
          <a:p>
            <a:pPr marL="342900" lvl="0" indent="-342900">
              <a:buFont typeface="Arial" pitchFamily="34" charset="0"/>
              <a:buChar char="•"/>
            </a:pPr>
            <a:r>
              <a:rPr lang="en-US" sz="2000" i="1" dirty="0"/>
              <a:t>For </a:t>
            </a:r>
            <a:r>
              <a:rPr lang="en-US" sz="2000" b="1" i="1" dirty="0"/>
              <a:t>Suppressing</a:t>
            </a:r>
            <a:r>
              <a:rPr lang="en-US" sz="2000" i="1" dirty="0"/>
              <a:t> God’s Truth (v.18)</a:t>
            </a:r>
          </a:p>
          <a:p>
            <a:pPr marL="342900" lvl="0" indent="-342900">
              <a:buFont typeface="Arial" pitchFamily="34" charset="0"/>
              <a:buChar char="•"/>
            </a:pPr>
            <a:r>
              <a:rPr lang="en-US" sz="2000" i="1" dirty="0"/>
              <a:t>For </a:t>
            </a:r>
            <a:r>
              <a:rPr lang="en-US" sz="2000" b="1" i="1" dirty="0"/>
              <a:t>Ignoring</a:t>
            </a:r>
            <a:r>
              <a:rPr lang="en-US" sz="2000" i="1" dirty="0"/>
              <a:t> God’s Revelation (v.19-20)</a:t>
            </a:r>
          </a:p>
          <a:p>
            <a:pPr marL="342900" lvl="0" indent="-342900">
              <a:buFont typeface="Arial" pitchFamily="34" charset="0"/>
              <a:buChar char="•"/>
            </a:pPr>
            <a:r>
              <a:rPr lang="en-US" sz="2000" i="1" dirty="0"/>
              <a:t>For </a:t>
            </a:r>
            <a:r>
              <a:rPr lang="en-US" sz="2000" b="1" i="1" dirty="0"/>
              <a:t>Perverting</a:t>
            </a:r>
            <a:r>
              <a:rPr lang="en-US" sz="2000" i="1" dirty="0"/>
              <a:t> God’s Glory (v.21-23)</a:t>
            </a:r>
          </a:p>
        </p:txBody>
      </p:sp>
      <p:sp>
        <p:nvSpPr>
          <p:cNvPr id="7" name="TextBox 6"/>
          <p:cNvSpPr txBox="1"/>
          <p:nvPr/>
        </p:nvSpPr>
        <p:spPr>
          <a:xfrm>
            <a:off x="529296" y="2603935"/>
            <a:ext cx="8001000" cy="2554545"/>
          </a:xfrm>
          <a:prstGeom prst="rect">
            <a:avLst/>
          </a:prstGeom>
          <a:noFill/>
        </p:spPr>
        <p:txBody>
          <a:bodyPr wrap="square" rtlCol="0">
            <a:spAutoFit/>
          </a:bodyPr>
          <a:lstStyle/>
          <a:p>
            <a:r>
              <a:rPr lang="en-US" sz="2000" b="1" i="1" dirty="0"/>
              <a:t>Romans 2 : The “Moral Man”</a:t>
            </a:r>
          </a:p>
          <a:p>
            <a:pPr marL="342900" indent="-342900">
              <a:buFont typeface="Arial" pitchFamily="34" charset="0"/>
              <a:buChar char="•"/>
            </a:pPr>
            <a:r>
              <a:rPr lang="en-US" sz="2000" i="1" dirty="0"/>
              <a:t>According to </a:t>
            </a:r>
            <a:r>
              <a:rPr lang="en-US" sz="2000" b="1" i="1" dirty="0"/>
              <a:t>Truth </a:t>
            </a:r>
            <a:r>
              <a:rPr lang="en-US" sz="2000" i="1" dirty="0"/>
              <a:t>(v. 2)</a:t>
            </a:r>
            <a:endParaRPr lang="en-US" sz="2000" b="1" i="1" dirty="0"/>
          </a:p>
          <a:p>
            <a:pPr marL="342900" indent="-342900">
              <a:buFont typeface="Arial" pitchFamily="34" charset="0"/>
              <a:buChar char="•"/>
            </a:pPr>
            <a:r>
              <a:rPr lang="en-US" sz="2000" i="1" dirty="0"/>
              <a:t>According to </a:t>
            </a:r>
            <a:r>
              <a:rPr lang="en-US" sz="2000" b="1" i="1" dirty="0"/>
              <a:t>Accumulated Guilt </a:t>
            </a:r>
            <a:r>
              <a:rPr lang="en-US" sz="2000" i="1" dirty="0"/>
              <a:t>(v. 5)</a:t>
            </a:r>
            <a:endParaRPr lang="en-US" sz="2000" b="1" i="1" dirty="0"/>
          </a:p>
          <a:p>
            <a:pPr marL="342900" indent="-342900">
              <a:buFont typeface="Arial" pitchFamily="34" charset="0"/>
              <a:buChar char="•"/>
            </a:pPr>
            <a:r>
              <a:rPr lang="en-US" sz="2000" i="1" dirty="0"/>
              <a:t>According to </a:t>
            </a:r>
            <a:r>
              <a:rPr lang="en-US" sz="2000" b="1" i="1" dirty="0"/>
              <a:t>Works </a:t>
            </a:r>
            <a:r>
              <a:rPr lang="en-US" sz="2000" i="1" dirty="0"/>
              <a:t>(v. 6)</a:t>
            </a:r>
          </a:p>
          <a:p>
            <a:pPr marL="342900" indent="-342900">
              <a:buFont typeface="Arial" pitchFamily="34" charset="0"/>
              <a:buChar char="•"/>
            </a:pPr>
            <a:r>
              <a:rPr lang="en-US" sz="2000" i="1" dirty="0"/>
              <a:t>Without </a:t>
            </a:r>
            <a:r>
              <a:rPr lang="en-US" sz="2000" b="1" i="1" dirty="0"/>
              <a:t>Respect of Persons </a:t>
            </a:r>
            <a:r>
              <a:rPr lang="en-US" sz="2000" i="1" dirty="0"/>
              <a:t>(v. 11)</a:t>
            </a:r>
          </a:p>
          <a:p>
            <a:pPr marL="342900" indent="-342900">
              <a:buFont typeface="Arial" pitchFamily="34" charset="0"/>
              <a:buChar char="•"/>
            </a:pPr>
            <a:r>
              <a:rPr lang="en-US" sz="2000" i="1" dirty="0"/>
              <a:t>According to </a:t>
            </a:r>
            <a:r>
              <a:rPr lang="en-US" sz="2000" b="1" i="1" dirty="0"/>
              <a:t>Obedience </a:t>
            </a:r>
            <a:r>
              <a:rPr lang="en-US" sz="2000" i="1" dirty="0"/>
              <a:t>(v. 13)</a:t>
            </a:r>
          </a:p>
          <a:p>
            <a:pPr marL="342900" indent="-342900">
              <a:buFont typeface="Arial" pitchFamily="34" charset="0"/>
              <a:buChar char="•"/>
            </a:pPr>
            <a:r>
              <a:rPr lang="en-US" sz="2000" i="1" dirty="0"/>
              <a:t>According to </a:t>
            </a:r>
            <a:r>
              <a:rPr lang="en-US" sz="2000" b="1" i="1" dirty="0"/>
              <a:t>Secrets of the Heart </a:t>
            </a:r>
            <a:r>
              <a:rPr lang="en-US" sz="2000" i="1" dirty="0"/>
              <a:t>(v. 16)</a:t>
            </a:r>
          </a:p>
          <a:p>
            <a:pPr marL="342900" indent="-342900">
              <a:buFont typeface="Arial" pitchFamily="34" charset="0"/>
              <a:buChar char="•"/>
            </a:pPr>
            <a:r>
              <a:rPr lang="en-US" sz="2000" i="1" dirty="0"/>
              <a:t>According to </a:t>
            </a:r>
            <a:r>
              <a:rPr lang="en-US" sz="2000" b="1" i="1" dirty="0"/>
              <a:t>Reality </a:t>
            </a:r>
            <a:r>
              <a:rPr lang="en-US" sz="2000" i="1" dirty="0"/>
              <a:t>(v. 17-29)</a:t>
            </a:r>
          </a:p>
        </p:txBody>
      </p:sp>
      <p:sp>
        <p:nvSpPr>
          <p:cNvPr id="9" name="TextBox 8"/>
          <p:cNvSpPr txBox="1"/>
          <p:nvPr/>
        </p:nvSpPr>
        <p:spPr>
          <a:xfrm>
            <a:off x="571500" y="5268306"/>
            <a:ext cx="8001000" cy="1323439"/>
          </a:xfrm>
          <a:prstGeom prst="rect">
            <a:avLst/>
          </a:prstGeom>
          <a:noFill/>
        </p:spPr>
        <p:txBody>
          <a:bodyPr wrap="square" rtlCol="0">
            <a:spAutoFit/>
          </a:bodyPr>
          <a:lstStyle/>
          <a:p>
            <a:r>
              <a:rPr lang="en-US" sz="2000" b="1" i="1" dirty="0"/>
              <a:t>Romans 3 : The “Religious Man”</a:t>
            </a:r>
          </a:p>
          <a:p>
            <a:pPr marL="342900" indent="-342900">
              <a:buFont typeface="Arial" pitchFamily="34" charset="0"/>
              <a:buChar char="•"/>
            </a:pPr>
            <a:r>
              <a:rPr lang="en-US" sz="2000" i="1" dirty="0"/>
              <a:t>Our</a:t>
            </a:r>
            <a:r>
              <a:rPr lang="en-US" sz="2000" b="1" i="1" dirty="0"/>
              <a:t> Conscience</a:t>
            </a:r>
            <a:r>
              <a:rPr lang="en-US" sz="2000" i="1" dirty="0"/>
              <a:t> is an </a:t>
            </a:r>
            <a:r>
              <a:rPr lang="en-US" sz="2000" b="1" i="1" dirty="0"/>
              <a:t>Indicator</a:t>
            </a:r>
            <a:r>
              <a:rPr lang="en-US" sz="2000" i="1" dirty="0"/>
              <a:t> of a </a:t>
            </a:r>
            <a:r>
              <a:rPr lang="en-US" sz="2000" b="1" i="1" dirty="0"/>
              <a:t>Need for Righteousness </a:t>
            </a:r>
            <a:r>
              <a:rPr lang="en-US" sz="2000" i="1" dirty="0"/>
              <a:t>and a basis for </a:t>
            </a:r>
            <a:r>
              <a:rPr lang="en-US" sz="2000" b="1" i="1" dirty="0"/>
              <a:t>Religion </a:t>
            </a:r>
            <a:r>
              <a:rPr lang="en-US" sz="2000" i="1" dirty="0"/>
              <a:t>(v. 2:14-15)</a:t>
            </a:r>
          </a:p>
          <a:p>
            <a:pPr marL="342900" indent="-342900">
              <a:buFont typeface="Arial" pitchFamily="34" charset="0"/>
              <a:buChar char="•"/>
            </a:pPr>
            <a:r>
              <a:rPr lang="en-US" sz="2000" i="1" dirty="0"/>
              <a:t>God recognizes </a:t>
            </a:r>
            <a:r>
              <a:rPr lang="en-US" sz="2000" b="1" i="1" dirty="0"/>
              <a:t>Obedience</a:t>
            </a:r>
            <a:r>
              <a:rPr lang="en-US" sz="2000" i="1" dirty="0"/>
              <a:t> from the </a:t>
            </a:r>
            <a:r>
              <a:rPr lang="en-US" sz="2000" b="1" i="1" dirty="0"/>
              <a:t>Heart</a:t>
            </a:r>
            <a:r>
              <a:rPr lang="en-US" sz="2000" i="1" dirty="0"/>
              <a:t>  (v. 2:29) </a:t>
            </a:r>
          </a:p>
        </p:txBody>
      </p:sp>
    </p:spTree>
    <p:extLst>
      <p:ext uri="{BB962C8B-B14F-4D97-AF65-F5344CB8AC3E}">
        <p14:creationId xmlns:p14="http://schemas.microsoft.com/office/powerpoint/2010/main" val="2944406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3</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Moral Man / The Religious Man</a:t>
            </a:r>
            <a:br>
              <a:rPr lang="en-US" dirty="0"/>
            </a:br>
            <a:r>
              <a:rPr lang="en-US" sz="2400" dirty="0">
                <a:solidFill>
                  <a:schemeClr val="tx2">
                    <a:lumMod val="60000"/>
                    <a:lumOff val="40000"/>
                  </a:schemeClr>
                </a:solidFill>
              </a:rPr>
              <a:t>Conscience, A Basis for Religion, 2:14-15</a:t>
            </a:r>
          </a:p>
        </p:txBody>
      </p:sp>
      <p:sp>
        <p:nvSpPr>
          <p:cNvPr id="6" name="TextBox 5"/>
          <p:cNvSpPr txBox="1"/>
          <p:nvPr/>
        </p:nvSpPr>
        <p:spPr>
          <a:xfrm>
            <a:off x="533400" y="1198098"/>
            <a:ext cx="8001000" cy="1015663"/>
          </a:xfrm>
          <a:prstGeom prst="rect">
            <a:avLst/>
          </a:prstGeom>
          <a:noFill/>
        </p:spPr>
        <p:txBody>
          <a:bodyPr wrap="square" rtlCol="0">
            <a:spAutoFit/>
          </a:bodyPr>
          <a:lstStyle/>
          <a:p>
            <a:r>
              <a:rPr lang="en-US" sz="2000" b="1" i="1" dirty="0"/>
              <a:t>Conscience</a:t>
            </a:r>
            <a:r>
              <a:rPr lang="en-US" sz="2000" i="1" dirty="0"/>
              <a:t> is an important part of human nature…</a:t>
            </a:r>
          </a:p>
          <a:p>
            <a:pPr marL="342900" indent="-342900">
              <a:buFont typeface="Arial" pitchFamily="34" charset="0"/>
              <a:buChar char="•"/>
            </a:pPr>
            <a:r>
              <a:rPr lang="en-US" sz="2000" i="1" dirty="0"/>
              <a:t>But, not an absolutely trustworthy </a:t>
            </a:r>
            <a:r>
              <a:rPr lang="en-US" sz="2000" b="1" i="1" dirty="0"/>
              <a:t>indicator</a:t>
            </a:r>
            <a:r>
              <a:rPr lang="en-US" sz="2000" i="1" dirty="0"/>
              <a:t> </a:t>
            </a:r>
            <a:r>
              <a:rPr lang="en-US" sz="2000" b="1" i="1" dirty="0"/>
              <a:t>of what is right</a:t>
            </a:r>
            <a:r>
              <a:rPr lang="en-US" sz="2000" i="1" dirty="0"/>
              <a:t>.</a:t>
            </a:r>
          </a:p>
          <a:p>
            <a:pPr marL="342900" indent="-342900">
              <a:buFont typeface="Arial" pitchFamily="34" charset="0"/>
              <a:buChar char="•"/>
            </a:pPr>
            <a:r>
              <a:rPr lang="en-US" sz="2000" i="1" dirty="0"/>
              <a:t>Romans 2:14,15 are an explanation of verses 2:12,13</a:t>
            </a:r>
          </a:p>
        </p:txBody>
      </p:sp>
      <p:sp>
        <p:nvSpPr>
          <p:cNvPr id="7" name="TextBox 6"/>
          <p:cNvSpPr txBox="1"/>
          <p:nvPr/>
        </p:nvSpPr>
        <p:spPr>
          <a:xfrm>
            <a:off x="571500" y="2362200"/>
            <a:ext cx="8191500" cy="1015663"/>
          </a:xfrm>
          <a:prstGeom prst="rect">
            <a:avLst/>
          </a:prstGeom>
          <a:noFill/>
        </p:spPr>
        <p:txBody>
          <a:bodyPr wrap="square" rtlCol="0">
            <a:spAutoFit/>
          </a:bodyPr>
          <a:lstStyle/>
          <a:p>
            <a:r>
              <a:rPr lang="en-US" sz="2000" i="1" dirty="0"/>
              <a:t>One’s conscience can be…</a:t>
            </a:r>
          </a:p>
          <a:p>
            <a:pPr marL="342900" indent="-342900">
              <a:buFont typeface="Arial" pitchFamily="34" charset="0"/>
              <a:buChar char="•"/>
            </a:pPr>
            <a:r>
              <a:rPr lang="en-US" sz="2000" i="1" dirty="0"/>
              <a:t>“good”  -  Acts 23:1;  1 Timothy 1:5,19</a:t>
            </a:r>
          </a:p>
          <a:p>
            <a:pPr marL="342900" indent="-342900">
              <a:buFont typeface="Arial" pitchFamily="34" charset="0"/>
              <a:buChar char="•"/>
            </a:pPr>
            <a:r>
              <a:rPr lang="en-US" sz="2000" i="1" dirty="0"/>
              <a:t>“clear”  -  Acts 24:16;  1 Timothy 3:9; 2 Timothy 1:3; Hebrews 13:18</a:t>
            </a:r>
          </a:p>
        </p:txBody>
      </p:sp>
      <p:sp>
        <p:nvSpPr>
          <p:cNvPr id="9" name="TextBox 8"/>
          <p:cNvSpPr txBox="1"/>
          <p:nvPr/>
        </p:nvSpPr>
        <p:spPr>
          <a:xfrm>
            <a:off x="571500" y="3581400"/>
            <a:ext cx="8001000" cy="1631216"/>
          </a:xfrm>
          <a:prstGeom prst="rect">
            <a:avLst/>
          </a:prstGeom>
          <a:noFill/>
        </p:spPr>
        <p:txBody>
          <a:bodyPr wrap="square" rtlCol="0">
            <a:spAutoFit/>
          </a:bodyPr>
          <a:lstStyle/>
          <a:p>
            <a:r>
              <a:rPr lang="en-US" sz="2000" i="1" dirty="0"/>
              <a:t>But, it can also be…</a:t>
            </a:r>
          </a:p>
          <a:p>
            <a:pPr marL="342900" indent="-342900">
              <a:buFont typeface="Arial" pitchFamily="34" charset="0"/>
              <a:buChar char="•"/>
            </a:pPr>
            <a:r>
              <a:rPr lang="en-US" sz="2000" i="1" dirty="0"/>
              <a:t>“guilty”  -  Hebrews 10:22</a:t>
            </a:r>
          </a:p>
          <a:p>
            <a:pPr marL="342900" indent="-342900">
              <a:buFont typeface="Arial" pitchFamily="34" charset="0"/>
              <a:buChar char="•"/>
            </a:pPr>
            <a:r>
              <a:rPr lang="en-US" sz="2000" i="1" dirty="0"/>
              <a:t>“corrupted”  -  Titus 1:15</a:t>
            </a:r>
          </a:p>
          <a:p>
            <a:pPr marL="342900" indent="-342900">
              <a:buFont typeface="Arial" pitchFamily="34" charset="0"/>
              <a:buChar char="•"/>
            </a:pPr>
            <a:r>
              <a:rPr lang="en-US" sz="2000" i="1" dirty="0"/>
              <a:t>“weak”  -   1 Corinthians 8:7,10,12</a:t>
            </a:r>
          </a:p>
          <a:p>
            <a:pPr marL="342900" indent="-342900">
              <a:buFont typeface="Arial" pitchFamily="34" charset="0"/>
              <a:buChar char="•"/>
            </a:pPr>
            <a:r>
              <a:rPr lang="en-US" sz="2000" i="1" dirty="0"/>
              <a:t>“seared”  -  1 Timothy 4:2 </a:t>
            </a:r>
          </a:p>
        </p:txBody>
      </p:sp>
      <p:sp>
        <p:nvSpPr>
          <p:cNvPr id="8" name="TextBox 7"/>
          <p:cNvSpPr txBox="1"/>
          <p:nvPr/>
        </p:nvSpPr>
        <p:spPr>
          <a:xfrm>
            <a:off x="494422" y="5410200"/>
            <a:ext cx="8191500" cy="707886"/>
          </a:xfrm>
          <a:prstGeom prst="rect">
            <a:avLst/>
          </a:prstGeom>
          <a:noFill/>
        </p:spPr>
        <p:txBody>
          <a:bodyPr wrap="square" rtlCol="0">
            <a:spAutoFit/>
          </a:bodyPr>
          <a:lstStyle/>
          <a:p>
            <a:r>
              <a:rPr lang="en-US" sz="2000" i="1" dirty="0"/>
              <a:t>By way of the blood of Jesus Christ, our </a:t>
            </a:r>
            <a:r>
              <a:rPr lang="en-US" sz="2000" b="1" i="1" dirty="0"/>
              <a:t>conscience</a:t>
            </a:r>
            <a:r>
              <a:rPr lang="en-US" sz="2000" i="1" dirty="0"/>
              <a:t> may be…</a:t>
            </a:r>
          </a:p>
          <a:p>
            <a:pPr marL="342900" indent="-342900">
              <a:buFont typeface="Arial" pitchFamily="34" charset="0"/>
              <a:buChar char="•"/>
            </a:pPr>
            <a:r>
              <a:rPr lang="en-US" sz="2000" i="1" dirty="0"/>
              <a:t>“</a:t>
            </a:r>
            <a:r>
              <a:rPr lang="en-US" sz="2000" b="1" i="1" dirty="0"/>
              <a:t>cleansed</a:t>
            </a:r>
            <a:r>
              <a:rPr lang="en-US" sz="2000" i="1" dirty="0"/>
              <a:t>”  -  Hebrews 9:14</a:t>
            </a:r>
          </a:p>
        </p:txBody>
      </p:sp>
    </p:spTree>
    <p:extLst>
      <p:ext uri="{BB962C8B-B14F-4D97-AF65-F5344CB8AC3E}">
        <p14:creationId xmlns:p14="http://schemas.microsoft.com/office/powerpoint/2010/main" val="790547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4</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Religious Man</a:t>
            </a:r>
            <a:br>
              <a:rPr lang="en-US" dirty="0"/>
            </a:br>
            <a:r>
              <a:rPr lang="en-US" sz="2400" dirty="0">
                <a:solidFill>
                  <a:schemeClr val="tx2">
                    <a:lumMod val="60000"/>
                    <a:lumOff val="40000"/>
                  </a:schemeClr>
                </a:solidFill>
              </a:rPr>
              <a:t>Man’s Attempt to Cover Himself</a:t>
            </a:r>
          </a:p>
        </p:txBody>
      </p:sp>
      <p:sp>
        <p:nvSpPr>
          <p:cNvPr id="6" name="TextBox 5"/>
          <p:cNvSpPr txBox="1"/>
          <p:nvPr/>
        </p:nvSpPr>
        <p:spPr>
          <a:xfrm>
            <a:off x="402768" y="1295400"/>
            <a:ext cx="8001000" cy="1015663"/>
          </a:xfrm>
          <a:prstGeom prst="rect">
            <a:avLst/>
          </a:prstGeom>
          <a:noFill/>
        </p:spPr>
        <p:txBody>
          <a:bodyPr wrap="square" rtlCol="0">
            <a:spAutoFit/>
          </a:bodyPr>
          <a:lstStyle/>
          <a:p>
            <a:r>
              <a:rPr lang="en-US" sz="2000" b="1" i="1" dirty="0"/>
              <a:t>Romans 2:17-29; 3:1-8</a:t>
            </a:r>
          </a:p>
          <a:p>
            <a:pPr marL="342900" indent="-342900">
              <a:buFont typeface="Arial" pitchFamily="34" charset="0"/>
              <a:buChar char="•"/>
            </a:pPr>
            <a:r>
              <a:rPr lang="en-US" sz="2000" i="1" dirty="0"/>
              <a:t>Specifically addressing the </a:t>
            </a:r>
            <a:r>
              <a:rPr lang="en-US" sz="2000" b="1" i="1" dirty="0"/>
              <a:t>Jew</a:t>
            </a:r>
            <a:r>
              <a:rPr lang="en-US" sz="2000" i="1" dirty="0"/>
              <a:t>; </a:t>
            </a:r>
            <a:r>
              <a:rPr lang="en-US" sz="2000" b="1" i="1" dirty="0"/>
              <a:t>exemplar of the religious person</a:t>
            </a:r>
            <a:r>
              <a:rPr lang="en-US" sz="2000" i="1" dirty="0"/>
              <a:t>; who is </a:t>
            </a:r>
            <a:r>
              <a:rPr lang="en-US" sz="2000" b="1" i="1" dirty="0"/>
              <a:t>proud of the law, but not keeping it</a:t>
            </a:r>
            <a:r>
              <a:rPr lang="en-US" sz="2000" i="1" dirty="0"/>
              <a:t>.</a:t>
            </a:r>
          </a:p>
        </p:txBody>
      </p:sp>
      <p:sp>
        <p:nvSpPr>
          <p:cNvPr id="2" name="TextBox 1"/>
          <p:cNvSpPr txBox="1"/>
          <p:nvPr/>
        </p:nvSpPr>
        <p:spPr>
          <a:xfrm>
            <a:off x="408214" y="2347411"/>
            <a:ext cx="8001000" cy="1938992"/>
          </a:xfrm>
          <a:prstGeom prst="rect">
            <a:avLst/>
          </a:prstGeom>
          <a:noFill/>
        </p:spPr>
        <p:txBody>
          <a:bodyPr wrap="square" rtlCol="0">
            <a:spAutoFit/>
          </a:bodyPr>
          <a:lstStyle/>
          <a:p>
            <a:r>
              <a:rPr lang="en-US" sz="2000" i="1" dirty="0"/>
              <a:t>Basis of Jewish Pride </a:t>
            </a:r>
          </a:p>
          <a:p>
            <a:pPr marL="342900" indent="-342900">
              <a:buFont typeface="Arial" pitchFamily="34" charset="0"/>
              <a:buChar char="•"/>
            </a:pPr>
            <a:r>
              <a:rPr lang="en-US" sz="2000" i="1" dirty="0"/>
              <a:t>Being called a Jew (v. 17)</a:t>
            </a:r>
          </a:p>
          <a:p>
            <a:pPr marL="342900" indent="-342900">
              <a:buFont typeface="Arial" pitchFamily="34" charset="0"/>
              <a:buChar char="•"/>
            </a:pPr>
            <a:r>
              <a:rPr lang="en-US" sz="2000" i="1" dirty="0"/>
              <a:t>Relied on the Law, “rest” (v. 17)</a:t>
            </a:r>
          </a:p>
          <a:p>
            <a:pPr marL="342900" indent="-342900">
              <a:buFont typeface="Arial" pitchFamily="34" charset="0"/>
              <a:buChar char="•"/>
            </a:pPr>
            <a:r>
              <a:rPr lang="en-US" sz="2000" i="1" dirty="0"/>
              <a:t>Boasting of God (superior attitude, v.19)</a:t>
            </a:r>
          </a:p>
          <a:p>
            <a:pPr marL="342900" indent="-342900">
              <a:buFont typeface="Arial" pitchFamily="34" charset="0"/>
              <a:buChar char="•"/>
            </a:pPr>
            <a:r>
              <a:rPr lang="en-US" sz="2000" i="1" dirty="0"/>
              <a:t>Knowing God’s Will (v. 20)</a:t>
            </a:r>
          </a:p>
          <a:p>
            <a:pPr marL="342900" indent="-342900">
              <a:buFont typeface="Arial" pitchFamily="34" charset="0"/>
              <a:buChar char="•"/>
            </a:pPr>
            <a:r>
              <a:rPr lang="en-US" sz="2000" i="1" dirty="0"/>
              <a:t>Being instructors of the Law (v. 21)</a:t>
            </a:r>
          </a:p>
        </p:txBody>
      </p:sp>
      <p:sp>
        <p:nvSpPr>
          <p:cNvPr id="3" name="TextBox 2"/>
          <p:cNvSpPr txBox="1"/>
          <p:nvPr/>
        </p:nvSpPr>
        <p:spPr>
          <a:xfrm>
            <a:off x="391886" y="4446813"/>
            <a:ext cx="8126186" cy="1015663"/>
          </a:xfrm>
          <a:prstGeom prst="rect">
            <a:avLst/>
          </a:prstGeom>
          <a:noFill/>
        </p:spPr>
        <p:txBody>
          <a:bodyPr wrap="square" rtlCol="0">
            <a:spAutoFit/>
          </a:bodyPr>
          <a:lstStyle/>
          <a:p>
            <a:r>
              <a:rPr lang="en-US" sz="2000" i="1" dirty="0"/>
              <a:t>But, all men could see their self-righteous hypocrisy</a:t>
            </a:r>
          </a:p>
          <a:p>
            <a:pPr marL="285750" indent="-285750">
              <a:buFont typeface="Arial" pitchFamily="34" charset="0"/>
              <a:buChar char="•"/>
            </a:pPr>
            <a:r>
              <a:rPr lang="en-US" sz="2000" i="1" dirty="0"/>
              <a:t>“</a:t>
            </a:r>
            <a:r>
              <a:rPr lang="en-US" sz="2000" b="1" i="1" dirty="0"/>
              <a:t>For ‘the name of God is blasphemed among the Gentiles because of you’…”  </a:t>
            </a:r>
            <a:r>
              <a:rPr lang="en-US" sz="2000" i="1" dirty="0"/>
              <a:t>Isaiah 52:5;  Ezekiel 36:22</a:t>
            </a:r>
          </a:p>
        </p:txBody>
      </p:sp>
      <p:sp>
        <p:nvSpPr>
          <p:cNvPr id="8" name="TextBox 7"/>
          <p:cNvSpPr txBox="1"/>
          <p:nvPr/>
        </p:nvSpPr>
        <p:spPr>
          <a:xfrm>
            <a:off x="454479" y="5590229"/>
            <a:ext cx="8001000" cy="1015663"/>
          </a:xfrm>
          <a:prstGeom prst="rect">
            <a:avLst/>
          </a:prstGeom>
          <a:noFill/>
        </p:spPr>
        <p:txBody>
          <a:bodyPr wrap="square" rtlCol="0">
            <a:spAutoFit/>
          </a:bodyPr>
          <a:lstStyle/>
          <a:p>
            <a:r>
              <a:rPr lang="en-US" sz="2000" b="1" i="1" dirty="0"/>
              <a:t>Reality</a:t>
            </a:r>
            <a:r>
              <a:rPr lang="en-US" sz="2000" i="1" dirty="0"/>
              <a:t> </a:t>
            </a:r>
            <a:r>
              <a:rPr lang="en-US" sz="2000" b="1" i="1" dirty="0"/>
              <a:t>counts</a:t>
            </a:r>
            <a:r>
              <a:rPr lang="en-US" sz="2000" i="1" dirty="0"/>
              <a:t> </a:t>
            </a:r>
            <a:r>
              <a:rPr lang="en-US" sz="2000" b="1" i="1" dirty="0"/>
              <a:t>with God</a:t>
            </a:r>
            <a:r>
              <a:rPr lang="en-US" sz="2000" i="1" dirty="0"/>
              <a:t>…!  </a:t>
            </a:r>
          </a:p>
          <a:p>
            <a:r>
              <a:rPr lang="en-US" sz="2000" i="1" dirty="0"/>
              <a:t>“…but </a:t>
            </a:r>
            <a:r>
              <a:rPr lang="en-US" sz="2000" b="1" i="1" dirty="0"/>
              <a:t>he is a Jew who is one inwardly</a:t>
            </a:r>
            <a:r>
              <a:rPr lang="en-US" sz="2000" i="1" dirty="0"/>
              <a:t>; and circumcision is that of the </a:t>
            </a:r>
            <a:r>
              <a:rPr lang="en-US" sz="2000" b="1" i="1" u="sng" dirty="0"/>
              <a:t>heart</a:t>
            </a:r>
            <a:r>
              <a:rPr lang="en-US" sz="2000" i="1" dirty="0"/>
              <a:t>, in the Spirit, not in the letter...”    (v. 2:29) (Deut. 10:16-17)</a:t>
            </a:r>
          </a:p>
        </p:txBody>
      </p:sp>
    </p:spTree>
    <p:extLst>
      <p:ext uri="{BB962C8B-B14F-4D97-AF65-F5344CB8AC3E}">
        <p14:creationId xmlns:p14="http://schemas.microsoft.com/office/powerpoint/2010/main" val="260554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Religious Man</a:t>
            </a:r>
            <a:br>
              <a:rPr lang="en-US" dirty="0"/>
            </a:br>
            <a:r>
              <a:rPr lang="en-US" sz="2400" dirty="0">
                <a:solidFill>
                  <a:schemeClr val="tx2">
                    <a:lumMod val="60000"/>
                    <a:lumOff val="40000"/>
                  </a:schemeClr>
                </a:solidFill>
              </a:rPr>
              <a:t>The Law Reveals our Condition</a:t>
            </a:r>
          </a:p>
        </p:txBody>
      </p:sp>
      <p:sp>
        <p:nvSpPr>
          <p:cNvPr id="3" name="TextBox 2"/>
          <p:cNvSpPr txBox="1"/>
          <p:nvPr/>
        </p:nvSpPr>
        <p:spPr>
          <a:xfrm>
            <a:off x="516134" y="4665834"/>
            <a:ext cx="8001000" cy="1938992"/>
          </a:xfrm>
          <a:prstGeom prst="rect">
            <a:avLst/>
          </a:prstGeom>
          <a:noFill/>
        </p:spPr>
        <p:txBody>
          <a:bodyPr wrap="square" rtlCol="0">
            <a:spAutoFit/>
          </a:bodyPr>
          <a:lstStyle/>
          <a:p>
            <a:pPr marL="0" lvl="1"/>
            <a:r>
              <a:rPr lang="en-US" sz="2000" i="1" dirty="0"/>
              <a:t>“Now we know that whatever </a:t>
            </a:r>
            <a:r>
              <a:rPr lang="en-US" sz="2000" b="1" i="1" dirty="0"/>
              <a:t>the law says</a:t>
            </a:r>
            <a:r>
              <a:rPr lang="en-US" sz="2000" i="1" dirty="0"/>
              <a:t>, it says to those who are under the law, </a:t>
            </a:r>
            <a:r>
              <a:rPr lang="en-US" sz="2000" b="1" i="1" dirty="0"/>
              <a:t>that every mouth may be stopped, and all the world may become guilty before God</a:t>
            </a:r>
            <a:r>
              <a:rPr lang="en-US" sz="2000" i="1" dirty="0"/>
              <a:t>.   Therefore, by the deeds of the law </a:t>
            </a:r>
            <a:r>
              <a:rPr lang="en-US" sz="2000" b="1" i="1" dirty="0"/>
              <a:t>no flesh will be justified</a:t>
            </a:r>
            <a:r>
              <a:rPr lang="en-US" sz="2000" i="1" dirty="0"/>
              <a:t> in His sight, </a:t>
            </a:r>
            <a:r>
              <a:rPr lang="en-US" sz="2000" b="1" i="1" dirty="0"/>
              <a:t>for by the law is the knowledge of sin</a:t>
            </a:r>
            <a:r>
              <a:rPr lang="en-US" sz="2000" i="1" dirty="0"/>
              <a:t>.”  </a:t>
            </a:r>
          </a:p>
          <a:p>
            <a:pPr marL="0" lvl="1"/>
            <a:r>
              <a:rPr lang="en-US" sz="2000" i="1" dirty="0"/>
              <a:t>Romans 3:19-20</a:t>
            </a:r>
          </a:p>
        </p:txBody>
      </p:sp>
      <p:sp>
        <p:nvSpPr>
          <p:cNvPr id="4" name="TextBox 3"/>
          <p:cNvSpPr txBox="1"/>
          <p:nvPr/>
        </p:nvSpPr>
        <p:spPr>
          <a:xfrm>
            <a:off x="531900" y="3243743"/>
            <a:ext cx="8001000" cy="1323439"/>
          </a:xfrm>
          <a:prstGeom prst="rect">
            <a:avLst/>
          </a:prstGeom>
          <a:noFill/>
        </p:spPr>
        <p:txBody>
          <a:bodyPr wrap="square" rtlCol="0">
            <a:spAutoFit/>
          </a:bodyPr>
          <a:lstStyle/>
          <a:p>
            <a:r>
              <a:rPr lang="en-US" sz="2000" i="1" dirty="0"/>
              <a:t>“Hear my prayer, O LORD, Give ear to my supplications!   In Your faithfulness answer me.   And </a:t>
            </a:r>
            <a:r>
              <a:rPr lang="en-US" sz="2000" b="1" i="1" dirty="0"/>
              <a:t>in Your righteousness</a:t>
            </a:r>
            <a:r>
              <a:rPr lang="en-US" sz="2000" i="1" dirty="0"/>
              <a:t>.  </a:t>
            </a:r>
            <a:r>
              <a:rPr lang="en-US" sz="2000" b="1" i="1" dirty="0"/>
              <a:t>Do not enter into judgment  with Your servant</a:t>
            </a:r>
            <a:r>
              <a:rPr lang="en-US" sz="2000" i="1" dirty="0"/>
              <a:t>, For </a:t>
            </a:r>
            <a:r>
              <a:rPr lang="en-US" sz="2000" b="1" i="1" dirty="0"/>
              <a:t>in Your sight no one living is righteous</a:t>
            </a:r>
            <a:r>
              <a:rPr lang="en-US" sz="2000" i="1" dirty="0"/>
              <a:t>.”   Psalm 143:1-2</a:t>
            </a:r>
          </a:p>
        </p:txBody>
      </p:sp>
      <p:sp>
        <p:nvSpPr>
          <p:cNvPr id="5" name="TextBox 4"/>
          <p:cNvSpPr txBox="1"/>
          <p:nvPr/>
        </p:nvSpPr>
        <p:spPr>
          <a:xfrm>
            <a:off x="516134" y="1316824"/>
            <a:ext cx="8001000" cy="707886"/>
          </a:xfrm>
          <a:prstGeom prst="rect">
            <a:avLst/>
          </a:prstGeom>
          <a:noFill/>
        </p:spPr>
        <p:txBody>
          <a:bodyPr wrap="square" rtlCol="0">
            <a:spAutoFit/>
          </a:bodyPr>
          <a:lstStyle/>
          <a:p>
            <a:r>
              <a:rPr lang="en-US" sz="2000" b="1" i="1" dirty="0"/>
              <a:t>“Would you indeed annul My judgment?  Would you condemn Me that you may be justified?”   Job 40:8</a:t>
            </a:r>
            <a:endParaRPr lang="en-US" sz="2000" i="1" dirty="0"/>
          </a:p>
        </p:txBody>
      </p:sp>
      <p:sp>
        <p:nvSpPr>
          <p:cNvPr id="6" name="TextBox 5"/>
          <p:cNvSpPr txBox="1"/>
          <p:nvPr/>
        </p:nvSpPr>
        <p:spPr>
          <a:xfrm>
            <a:off x="500368" y="2116887"/>
            <a:ext cx="8001000" cy="1015663"/>
          </a:xfrm>
          <a:prstGeom prst="rect">
            <a:avLst/>
          </a:prstGeom>
          <a:noFill/>
        </p:spPr>
        <p:txBody>
          <a:bodyPr wrap="square" rtlCol="0">
            <a:spAutoFit/>
          </a:bodyPr>
          <a:lstStyle/>
          <a:p>
            <a:r>
              <a:rPr lang="en-US" sz="2000" i="1" dirty="0"/>
              <a:t>“There is </a:t>
            </a:r>
            <a:r>
              <a:rPr lang="en-US" sz="2000" b="1" i="1" dirty="0"/>
              <a:t>none righteous</a:t>
            </a:r>
            <a:r>
              <a:rPr lang="en-US" sz="2000" i="1" dirty="0"/>
              <a:t>, no, not one; </a:t>
            </a:r>
          </a:p>
          <a:p>
            <a:r>
              <a:rPr lang="en-US" sz="2000" i="1" dirty="0"/>
              <a:t>There is </a:t>
            </a:r>
            <a:r>
              <a:rPr lang="en-US" sz="2000" b="1" i="1" dirty="0"/>
              <a:t>none</a:t>
            </a:r>
            <a:r>
              <a:rPr lang="en-US" sz="2000" i="1" dirty="0"/>
              <a:t> who understands; </a:t>
            </a:r>
          </a:p>
          <a:p>
            <a:r>
              <a:rPr lang="en-US" sz="2000" i="1" dirty="0"/>
              <a:t>There is </a:t>
            </a:r>
            <a:r>
              <a:rPr lang="en-US" sz="2000" b="1" i="1" dirty="0"/>
              <a:t>none</a:t>
            </a:r>
            <a:r>
              <a:rPr lang="en-US" sz="2000" i="1" dirty="0"/>
              <a:t> who seeks after God.”  Romans 3:10-11</a:t>
            </a:r>
          </a:p>
        </p:txBody>
      </p:sp>
    </p:spTree>
    <p:extLst>
      <p:ext uri="{BB962C8B-B14F-4D97-AF65-F5344CB8AC3E}">
        <p14:creationId xmlns:p14="http://schemas.microsoft.com/office/powerpoint/2010/main" val="3875986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207616256"/>
              </p:ext>
            </p:extLst>
          </p:nvPr>
        </p:nvGraphicFramePr>
        <p:xfrm>
          <a:off x="-2" y="0"/>
          <a:ext cx="9144002" cy="6842760"/>
        </p:xfrm>
        <a:graphic>
          <a:graphicData uri="http://schemas.openxmlformats.org/drawingml/2006/table">
            <a:tbl>
              <a:tblPr firstRow="1" bandRow="1">
                <a:tableStyleId>{5C22544A-7EE6-4342-B048-85BDC9FD1C3A}</a:tableStyleId>
              </a:tblPr>
              <a:tblGrid>
                <a:gridCol w="1306286">
                  <a:extLst>
                    <a:ext uri="{9D8B030D-6E8A-4147-A177-3AD203B41FA5}">
                      <a16:colId xmlns:a16="http://schemas.microsoft.com/office/drawing/2014/main" val="20000"/>
                    </a:ext>
                  </a:extLst>
                </a:gridCol>
                <a:gridCol w="1306286">
                  <a:extLst>
                    <a:ext uri="{9D8B030D-6E8A-4147-A177-3AD203B41FA5}">
                      <a16:colId xmlns:a16="http://schemas.microsoft.com/office/drawing/2014/main" val="20001"/>
                    </a:ext>
                  </a:extLst>
                </a:gridCol>
                <a:gridCol w="1306286">
                  <a:extLst>
                    <a:ext uri="{9D8B030D-6E8A-4147-A177-3AD203B41FA5}">
                      <a16:colId xmlns:a16="http://schemas.microsoft.com/office/drawing/2014/main" val="20002"/>
                    </a:ext>
                  </a:extLst>
                </a:gridCol>
                <a:gridCol w="1306286">
                  <a:extLst>
                    <a:ext uri="{9D8B030D-6E8A-4147-A177-3AD203B41FA5}">
                      <a16:colId xmlns:a16="http://schemas.microsoft.com/office/drawing/2014/main" val="20003"/>
                    </a:ext>
                  </a:extLst>
                </a:gridCol>
                <a:gridCol w="1306286">
                  <a:extLst>
                    <a:ext uri="{9D8B030D-6E8A-4147-A177-3AD203B41FA5}">
                      <a16:colId xmlns:a16="http://schemas.microsoft.com/office/drawing/2014/main" val="20004"/>
                    </a:ext>
                  </a:extLst>
                </a:gridCol>
                <a:gridCol w="1306286">
                  <a:extLst>
                    <a:ext uri="{9D8B030D-6E8A-4147-A177-3AD203B41FA5}">
                      <a16:colId xmlns:a16="http://schemas.microsoft.com/office/drawing/2014/main" val="20005"/>
                    </a:ext>
                  </a:extLst>
                </a:gridCol>
                <a:gridCol w="1306286">
                  <a:extLst>
                    <a:ext uri="{9D8B030D-6E8A-4147-A177-3AD203B41FA5}">
                      <a16:colId xmlns:a16="http://schemas.microsoft.com/office/drawing/2014/main" val="20006"/>
                    </a:ext>
                  </a:extLst>
                </a:gridCol>
              </a:tblGrid>
              <a:tr h="838200">
                <a:tc>
                  <a:txBody>
                    <a:bodyPr/>
                    <a:lstStyle/>
                    <a:p>
                      <a:endParaRPr lang="en-US" sz="1600" dirty="0"/>
                    </a:p>
                  </a:txBody>
                  <a:tcPr/>
                </a:tc>
                <a:tc>
                  <a:txBody>
                    <a:bodyPr/>
                    <a:lstStyle/>
                    <a:p>
                      <a:r>
                        <a:rPr lang="en-US" sz="1600" dirty="0"/>
                        <a:t>Christianity</a:t>
                      </a:r>
                    </a:p>
                  </a:txBody>
                  <a:tcPr/>
                </a:tc>
                <a:tc>
                  <a:txBody>
                    <a:bodyPr/>
                    <a:lstStyle/>
                    <a:p>
                      <a:r>
                        <a:rPr lang="en-US" sz="1600" dirty="0"/>
                        <a:t>Islam</a:t>
                      </a:r>
                    </a:p>
                  </a:txBody>
                  <a:tcPr/>
                </a:tc>
                <a:tc>
                  <a:txBody>
                    <a:bodyPr/>
                    <a:lstStyle/>
                    <a:p>
                      <a:r>
                        <a:rPr lang="en-US" sz="1600" dirty="0"/>
                        <a:t>Secular</a:t>
                      </a:r>
                    </a:p>
                    <a:p>
                      <a:r>
                        <a:rPr lang="en-US" sz="1600" dirty="0"/>
                        <a:t>Humanism</a:t>
                      </a:r>
                    </a:p>
                  </a:txBody>
                  <a:tcPr/>
                </a:tc>
                <a:tc>
                  <a:txBody>
                    <a:bodyPr/>
                    <a:lstStyle/>
                    <a:p>
                      <a:r>
                        <a:rPr lang="en-US" sz="1600" dirty="0"/>
                        <a:t>Marxism-Leninism</a:t>
                      </a:r>
                    </a:p>
                  </a:txBody>
                  <a:tcPr/>
                </a:tc>
                <a:tc>
                  <a:txBody>
                    <a:bodyPr/>
                    <a:lstStyle/>
                    <a:p>
                      <a:r>
                        <a:rPr lang="en-US" sz="1600" dirty="0"/>
                        <a:t>Cosmic Humanism</a:t>
                      </a:r>
                    </a:p>
                  </a:txBody>
                  <a:tcPr/>
                </a:tc>
                <a:tc>
                  <a:txBody>
                    <a:bodyPr/>
                    <a:lstStyle/>
                    <a:p>
                      <a:r>
                        <a:rPr lang="en-US" sz="1600" dirty="0"/>
                        <a:t>Post-Modernism</a:t>
                      </a:r>
                    </a:p>
                  </a:txBody>
                  <a:tcPr/>
                </a:tc>
                <a:extLst>
                  <a:ext uri="{0D108BD9-81ED-4DB2-BD59-A6C34878D82A}">
                    <a16:rowId xmlns:a16="http://schemas.microsoft.com/office/drawing/2014/main" val="10000"/>
                  </a:ext>
                </a:extLst>
              </a:tr>
              <a:tr h="450804">
                <a:tc>
                  <a:txBody>
                    <a:bodyPr/>
                    <a:lstStyle/>
                    <a:p>
                      <a:r>
                        <a:rPr lang="en-US" sz="1600" b="1" dirty="0"/>
                        <a:t>Foundation</a:t>
                      </a:r>
                    </a:p>
                  </a:txBody>
                  <a:tcPr/>
                </a:tc>
                <a:tc>
                  <a:txBody>
                    <a:bodyPr/>
                    <a:lstStyle/>
                    <a:p>
                      <a:r>
                        <a:rPr lang="en-US" sz="1600" dirty="0"/>
                        <a:t>Bible</a:t>
                      </a:r>
                    </a:p>
                  </a:txBody>
                  <a:tcPr/>
                </a:tc>
                <a:tc>
                  <a:txBody>
                    <a:bodyPr/>
                    <a:lstStyle/>
                    <a:p>
                      <a:r>
                        <a:rPr lang="en-US" sz="1600" dirty="0"/>
                        <a:t>Qur’an, Hadith, </a:t>
                      </a:r>
                      <a:r>
                        <a:rPr lang="en-US" sz="1600" dirty="0" err="1"/>
                        <a:t>Sunnah</a:t>
                      </a:r>
                      <a:endParaRPr lang="en-US" sz="1600" dirty="0"/>
                    </a:p>
                  </a:txBody>
                  <a:tcPr/>
                </a:tc>
                <a:tc>
                  <a:txBody>
                    <a:bodyPr/>
                    <a:lstStyle/>
                    <a:p>
                      <a:r>
                        <a:rPr lang="en-US" sz="1600" dirty="0"/>
                        <a:t>Humanist Manifestos I, II, III</a:t>
                      </a:r>
                    </a:p>
                  </a:txBody>
                  <a:tcPr/>
                </a:tc>
                <a:tc>
                  <a:txBody>
                    <a:bodyPr/>
                    <a:lstStyle/>
                    <a:p>
                      <a:r>
                        <a:rPr lang="en-US" sz="1600" dirty="0"/>
                        <a:t>Marx,</a:t>
                      </a:r>
                      <a:r>
                        <a:rPr lang="en-US" sz="1600" baseline="0" dirty="0"/>
                        <a:t> Engels, Lenin, Mao</a:t>
                      </a:r>
                      <a:endParaRPr lang="en-US" sz="1600" dirty="0"/>
                    </a:p>
                  </a:txBody>
                  <a:tcPr/>
                </a:tc>
                <a:tc>
                  <a:txBody>
                    <a:bodyPr/>
                    <a:lstStyle/>
                    <a:p>
                      <a:r>
                        <a:rPr lang="en-US" sz="1600" dirty="0" err="1"/>
                        <a:t>MacLaine</a:t>
                      </a:r>
                      <a:r>
                        <a:rPr lang="en-US" sz="1600" dirty="0"/>
                        <a:t>, Spangler, Chopra</a:t>
                      </a:r>
                    </a:p>
                  </a:txBody>
                  <a:tcPr/>
                </a:tc>
                <a:tc>
                  <a:txBody>
                    <a:bodyPr/>
                    <a:lstStyle/>
                    <a:p>
                      <a:r>
                        <a:rPr lang="en-US" sz="1600" dirty="0" err="1"/>
                        <a:t>Neitzsche</a:t>
                      </a:r>
                      <a:r>
                        <a:rPr lang="en-US" sz="1600" dirty="0"/>
                        <a:t>, Foucault, Derrida</a:t>
                      </a:r>
                    </a:p>
                  </a:txBody>
                  <a:tcPr/>
                </a:tc>
                <a:extLst>
                  <a:ext uri="{0D108BD9-81ED-4DB2-BD59-A6C34878D82A}">
                    <a16:rowId xmlns:a16="http://schemas.microsoft.com/office/drawing/2014/main" val="10001"/>
                  </a:ext>
                </a:extLst>
              </a:tr>
              <a:tr h="450804">
                <a:tc>
                  <a:txBody>
                    <a:bodyPr/>
                    <a:lstStyle/>
                    <a:p>
                      <a:r>
                        <a:rPr lang="en-US" sz="1600" b="1" dirty="0"/>
                        <a:t>Theology</a:t>
                      </a:r>
                    </a:p>
                  </a:txBody>
                  <a:tcPr/>
                </a:tc>
                <a:tc>
                  <a:txBody>
                    <a:bodyPr/>
                    <a:lstStyle/>
                    <a:p>
                      <a:r>
                        <a:rPr lang="en-US" sz="1600" dirty="0"/>
                        <a:t>Theism</a:t>
                      </a:r>
                    </a:p>
                    <a:p>
                      <a:r>
                        <a:rPr lang="en-US" sz="1600" dirty="0"/>
                        <a:t>(Trinitarian)</a:t>
                      </a:r>
                    </a:p>
                  </a:txBody>
                  <a:tcPr/>
                </a:tc>
                <a:tc>
                  <a:txBody>
                    <a:bodyPr/>
                    <a:lstStyle/>
                    <a:p>
                      <a:r>
                        <a:rPr lang="en-US" sz="1600" dirty="0"/>
                        <a:t>Theism</a:t>
                      </a:r>
                    </a:p>
                    <a:p>
                      <a:r>
                        <a:rPr lang="en-US" sz="1600" dirty="0"/>
                        <a:t>(Unitarian)</a:t>
                      </a:r>
                    </a:p>
                  </a:txBody>
                  <a:tcPr/>
                </a:tc>
                <a:tc>
                  <a:txBody>
                    <a:bodyPr/>
                    <a:lstStyle/>
                    <a:p>
                      <a:r>
                        <a:rPr lang="en-US" sz="1600" dirty="0"/>
                        <a:t>Atheism</a:t>
                      </a:r>
                    </a:p>
                  </a:txBody>
                  <a:tcPr/>
                </a:tc>
                <a:tc>
                  <a:txBody>
                    <a:bodyPr/>
                    <a:lstStyle/>
                    <a:p>
                      <a:r>
                        <a:rPr lang="en-US" sz="1600" dirty="0"/>
                        <a:t>Atheism</a:t>
                      </a:r>
                    </a:p>
                  </a:txBody>
                  <a:tcPr/>
                </a:tc>
                <a:tc>
                  <a:txBody>
                    <a:bodyPr/>
                    <a:lstStyle/>
                    <a:p>
                      <a:r>
                        <a:rPr lang="en-US" sz="1600" dirty="0"/>
                        <a:t>Pantheism</a:t>
                      </a:r>
                    </a:p>
                  </a:txBody>
                  <a:tcPr/>
                </a:tc>
                <a:tc>
                  <a:txBody>
                    <a:bodyPr/>
                    <a:lstStyle/>
                    <a:p>
                      <a:r>
                        <a:rPr lang="en-US" sz="1600" dirty="0"/>
                        <a:t>Atheism</a:t>
                      </a:r>
                    </a:p>
                  </a:txBody>
                  <a:tcPr/>
                </a:tc>
                <a:extLst>
                  <a:ext uri="{0D108BD9-81ED-4DB2-BD59-A6C34878D82A}">
                    <a16:rowId xmlns:a16="http://schemas.microsoft.com/office/drawing/2014/main" val="10002"/>
                  </a:ext>
                </a:extLst>
              </a:tr>
              <a:tr h="450804">
                <a:tc>
                  <a:txBody>
                    <a:bodyPr/>
                    <a:lstStyle/>
                    <a:p>
                      <a:r>
                        <a:rPr lang="en-US" sz="1600" b="1" dirty="0"/>
                        <a:t>Philosophy</a:t>
                      </a:r>
                    </a:p>
                  </a:txBody>
                  <a:tcPr/>
                </a:tc>
                <a:tc>
                  <a:txBody>
                    <a:bodyPr/>
                    <a:lstStyle/>
                    <a:p>
                      <a:r>
                        <a:rPr lang="en-US" sz="1600" dirty="0"/>
                        <a:t>Super-naturalism</a:t>
                      </a:r>
                    </a:p>
                  </a:txBody>
                  <a:tcPr/>
                </a:tc>
                <a:tc>
                  <a:txBody>
                    <a:bodyPr/>
                    <a:lstStyle/>
                    <a:p>
                      <a:r>
                        <a:rPr lang="en-US" sz="1600" dirty="0"/>
                        <a:t>Super-naturalism </a:t>
                      </a:r>
                    </a:p>
                  </a:txBody>
                  <a:tcPr/>
                </a:tc>
                <a:tc>
                  <a:txBody>
                    <a:bodyPr/>
                    <a:lstStyle/>
                    <a:p>
                      <a:r>
                        <a:rPr lang="en-US" sz="1600" dirty="0"/>
                        <a:t>Naturalism</a:t>
                      </a:r>
                    </a:p>
                  </a:txBody>
                  <a:tcPr/>
                </a:tc>
                <a:tc>
                  <a:txBody>
                    <a:bodyPr/>
                    <a:lstStyle/>
                    <a:p>
                      <a:r>
                        <a:rPr lang="en-US" sz="1600" dirty="0"/>
                        <a:t>Dialectical Materialism</a:t>
                      </a:r>
                    </a:p>
                  </a:txBody>
                  <a:tcPr/>
                </a:tc>
                <a:tc>
                  <a:txBody>
                    <a:bodyPr/>
                    <a:lstStyle/>
                    <a:p>
                      <a:r>
                        <a:rPr lang="en-US" sz="1600" dirty="0"/>
                        <a:t>Non-Naturalism</a:t>
                      </a:r>
                    </a:p>
                  </a:txBody>
                  <a:tcPr/>
                </a:tc>
                <a:tc>
                  <a:txBody>
                    <a:bodyPr/>
                    <a:lstStyle/>
                    <a:p>
                      <a:r>
                        <a:rPr lang="en-US" sz="1600" dirty="0"/>
                        <a:t>Anti-Realism</a:t>
                      </a:r>
                    </a:p>
                  </a:txBody>
                  <a:tcPr/>
                </a:tc>
                <a:extLst>
                  <a:ext uri="{0D108BD9-81ED-4DB2-BD59-A6C34878D82A}">
                    <a16:rowId xmlns:a16="http://schemas.microsoft.com/office/drawing/2014/main" val="10003"/>
                  </a:ext>
                </a:extLst>
              </a:tr>
              <a:tr h="450804">
                <a:tc>
                  <a:txBody>
                    <a:bodyPr/>
                    <a:lstStyle/>
                    <a:p>
                      <a:r>
                        <a:rPr lang="en-US" sz="1600" b="1" dirty="0"/>
                        <a:t>Ethics</a:t>
                      </a:r>
                    </a:p>
                  </a:txBody>
                  <a:tcPr/>
                </a:tc>
                <a:tc>
                  <a:txBody>
                    <a:bodyPr/>
                    <a:lstStyle/>
                    <a:p>
                      <a:r>
                        <a:rPr lang="en-US" sz="1600" dirty="0"/>
                        <a:t>Moral Absolutes</a:t>
                      </a:r>
                    </a:p>
                  </a:txBody>
                  <a:tcPr/>
                </a:tc>
                <a:tc>
                  <a:txBody>
                    <a:bodyPr/>
                    <a:lstStyle/>
                    <a:p>
                      <a:r>
                        <a:rPr lang="en-US" sz="1600" dirty="0"/>
                        <a:t>Moral Absolutes</a:t>
                      </a:r>
                    </a:p>
                  </a:txBody>
                  <a:tcPr/>
                </a:tc>
                <a:tc>
                  <a:txBody>
                    <a:bodyPr/>
                    <a:lstStyle/>
                    <a:p>
                      <a:r>
                        <a:rPr lang="en-US" sz="1600" dirty="0"/>
                        <a:t>Moral</a:t>
                      </a:r>
                      <a:r>
                        <a:rPr lang="en-US" sz="1600" baseline="0" dirty="0"/>
                        <a:t> Relativism</a:t>
                      </a:r>
                      <a:endParaRPr lang="en-US" sz="1600" dirty="0"/>
                    </a:p>
                  </a:txBody>
                  <a:tcPr/>
                </a:tc>
                <a:tc>
                  <a:txBody>
                    <a:bodyPr/>
                    <a:lstStyle/>
                    <a:p>
                      <a:r>
                        <a:rPr lang="en-US" sz="1600" dirty="0"/>
                        <a:t>Proletariat Morality</a:t>
                      </a:r>
                    </a:p>
                  </a:txBody>
                  <a:tcPr/>
                </a:tc>
                <a:tc>
                  <a:txBody>
                    <a:bodyPr/>
                    <a:lstStyle/>
                    <a:p>
                      <a:r>
                        <a:rPr lang="en-US" sz="1600" dirty="0"/>
                        <a:t>Moral Relativism (Karma)</a:t>
                      </a:r>
                    </a:p>
                  </a:txBody>
                  <a:tcPr/>
                </a:tc>
                <a:tc>
                  <a:txBody>
                    <a:bodyPr/>
                    <a:lstStyle/>
                    <a:p>
                      <a:r>
                        <a:rPr lang="en-US" sz="1600" dirty="0"/>
                        <a:t>Cultural Relativism</a:t>
                      </a:r>
                    </a:p>
                  </a:txBody>
                  <a:tcPr/>
                </a:tc>
                <a:extLst>
                  <a:ext uri="{0D108BD9-81ED-4DB2-BD59-A6C34878D82A}">
                    <a16:rowId xmlns:a16="http://schemas.microsoft.com/office/drawing/2014/main" val="10004"/>
                  </a:ext>
                </a:extLst>
              </a:tr>
              <a:tr h="450804">
                <a:tc>
                  <a:txBody>
                    <a:bodyPr/>
                    <a:lstStyle/>
                    <a:p>
                      <a:r>
                        <a:rPr lang="en-US" sz="1600" b="1" dirty="0"/>
                        <a:t>Biology</a:t>
                      </a:r>
                    </a:p>
                  </a:txBody>
                  <a:tcPr/>
                </a:tc>
                <a:tc>
                  <a:txBody>
                    <a:bodyPr/>
                    <a:lstStyle/>
                    <a:p>
                      <a:r>
                        <a:rPr lang="en-US" sz="1600" dirty="0"/>
                        <a:t>Creationism</a:t>
                      </a:r>
                    </a:p>
                  </a:txBody>
                  <a:tcPr/>
                </a:tc>
                <a:tc>
                  <a:txBody>
                    <a:bodyPr/>
                    <a:lstStyle/>
                    <a:p>
                      <a:r>
                        <a:rPr lang="en-US" sz="1600" dirty="0"/>
                        <a:t>Creationism</a:t>
                      </a:r>
                    </a:p>
                  </a:txBody>
                  <a:tcPr/>
                </a:tc>
                <a:tc>
                  <a:txBody>
                    <a:bodyPr/>
                    <a:lstStyle/>
                    <a:p>
                      <a:r>
                        <a:rPr lang="en-US" sz="1600" dirty="0"/>
                        <a:t>Neo-Darwinian</a:t>
                      </a:r>
                      <a:r>
                        <a:rPr lang="en-US" sz="1600" baseline="0" dirty="0"/>
                        <a:t> Evolution</a:t>
                      </a:r>
                      <a:endParaRPr lang="en-US" sz="1600" dirty="0"/>
                    </a:p>
                  </a:txBody>
                  <a:tcPr/>
                </a:tc>
                <a:tc>
                  <a:txBody>
                    <a:bodyPr/>
                    <a:lstStyle/>
                    <a:p>
                      <a:r>
                        <a:rPr lang="en-US" sz="1600" dirty="0"/>
                        <a:t>Punctuated</a:t>
                      </a:r>
                      <a:r>
                        <a:rPr lang="en-US" sz="1600" baseline="0" dirty="0"/>
                        <a:t> Evolution</a:t>
                      </a:r>
                      <a:endParaRPr lang="en-US" sz="1600" dirty="0"/>
                    </a:p>
                  </a:txBody>
                  <a:tcPr/>
                </a:tc>
                <a:tc>
                  <a:txBody>
                    <a:bodyPr/>
                    <a:lstStyle/>
                    <a:p>
                      <a:r>
                        <a:rPr lang="en-US" sz="1600" dirty="0"/>
                        <a:t>Cosmic Evolution</a:t>
                      </a:r>
                    </a:p>
                  </a:txBody>
                  <a:tcPr/>
                </a:tc>
                <a:tc>
                  <a:txBody>
                    <a:bodyPr/>
                    <a:lstStyle/>
                    <a:p>
                      <a:r>
                        <a:rPr lang="en-US" sz="1600" dirty="0"/>
                        <a:t>Punctuated Evolution</a:t>
                      </a:r>
                    </a:p>
                  </a:txBody>
                  <a:tcPr/>
                </a:tc>
                <a:extLst>
                  <a:ext uri="{0D108BD9-81ED-4DB2-BD59-A6C34878D82A}">
                    <a16:rowId xmlns:a16="http://schemas.microsoft.com/office/drawing/2014/main" val="10005"/>
                  </a:ext>
                </a:extLst>
              </a:tr>
              <a:tr h="450804">
                <a:tc>
                  <a:txBody>
                    <a:bodyPr/>
                    <a:lstStyle/>
                    <a:p>
                      <a:r>
                        <a:rPr lang="en-US" sz="1600" b="1" dirty="0"/>
                        <a:t>Sociology</a:t>
                      </a:r>
                    </a:p>
                  </a:txBody>
                  <a:tcPr/>
                </a:tc>
                <a:tc>
                  <a:txBody>
                    <a:bodyPr/>
                    <a:lstStyle/>
                    <a:p>
                      <a:r>
                        <a:rPr lang="en-US" sz="1600" dirty="0"/>
                        <a:t>Traditional Family,</a:t>
                      </a:r>
                    </a:p>
                    <a:p>
                      <a:r>
                        <a:rPr lang="en-US" sz="1600" dirty="0"/>
                        <a:t>Church,</a:t>
                      </a:r>
                    </a:p>
                    <a:p>
                      <a:r>
                        <a:rPr lang="en-US" sz="1600" dirty="0"/>
                        <a:t>State</a:t>
                      </a:r>
                    </a:p>
                  </a:txBody>
                  <a:tcPr/>
                </a:tc>
                <a:tc>
                  <a:txBody>
                    <a:bodyPr/>
                    <a:lstStyle/>
                    <a:p>
                      <a:r>
                        <a:rPr lang="en-US" sz="1600" dirty="0"/>
                        <a:t>Polygamy,</a:t>
                      </a:r>
                    </a:p>
                    <a:p>
                      <a:r>
                        <a:rPr lang="en-US" sz="1600" dirty="0"/>
                        <a:t>Mosque,</a:t>
                      </a:r>
                    </a:p>
                    <a:p>
                      <a:r>
                        <a:rPr lang="en-US" sz="1600" dirty="0"/>
                        <a:t>Islamic State</a:t>
                      </a:r>
                    </a:p>
                  </a:txBody>
                  <a:tcPr/>
                </a:tc>
                <a:tc>
                  <a:txBody>
                    <a:bodyPr/>
                    <a:lstStyle/>
                    <a:p>
                      <a:r>
                        <a:rPr lang="en-US" sz="1600" dirty="0"/>
                        <a:t>Non-Traditional</a:t>
                      </a:r>
                      <a:r>
                        <a:rPr lang="en-US" sz="1600" baseline="0" dirty="0"/>
                        <a:t> Family, Church, State</a:t>
                      </a:r>
                      <a:endParaRPr lang="en-US" sz="1600" dirty="0"/>
                    </a:p>
                  </a:txBody>
                  <a:tcPr/>
                </a:tc>
                <a:tc>
                  <a:txBody>
                    <a:bodyPr/>
                    <a:lstStyle/>
                    <a:p>
                      <a:r>
                        <a:rPr lang="en-US" sz="1600" dirty="0"/>
                        <a:t>Classless Society</a:t>
                      </a:r>
                    </a:p>
                  </a:txBody>
                  <a:tcPr/>
                </a:tc>
                <a:tc>
                  <a:txBody>
                    <a:bodyPr/>
                    <a:lstStyle/>
                    <a:p>
                      <a:r>
                        <a:rPr lang="en-US" sz="1600" dirty="0"/>
                        <a:t>Non-Traditional</a:t>
                      </a:r>
                      <a:r>
                        <a:rPr lang="en-US" sz="1600" baseline="0" dirty="0"/>
                        <a:t> Family,</a:t>
                      </a:r>
                    </a:p>
                    <a:p>
                      <a:r>
                        <a:rPr lang="en-US" sz="1600" baseline="0" dirty="0"/>
                        <a:t>Church,</a:t>
                      </a:r>
                    </a:p>
                    <a:p>
                      <a:r>
                        <a:rPr lang="en-US" sz="1600" baseline="0" dirty="0"/>
                        <a:t>State</a:t>
                      </a:r>
                      <a:endParaRPr lang="en-US" sz="1600" dirty="0"/>
                    </a:p>
                  </a:txBody>
                  <a:tcPr/>
                </a:tc>
                <a:tc>
                  <a:txBody>
                    <a:bodyPr/>
                    <a:lstStyle/>
                    <a:p>
                      <a:r>
                        <a:rPr lang="en-US" sz="1600" dirty="0"/>
                        <a:t>Sexual Egalitarianism</a:t>
                      </a:r>
                    </a:p>
                  </a:txBody>
                  <a:tcPr/>
                </a:tc>
                <a:extLst>
                  <a:ext uri="{0D108BD9-81ED-4DB2-BD59-A6C34878D82A}">
                    <a16:rowId xmlns:a16="http://schemas.microsoft.com/office/drawing/2014/main" val="10006"/>
                  </a:ext>
                </a:extLst>
              </a:tr>
              <a:tr h="450804">
                <a:tc>
                  <a:txBody>
                    <a:bodyPr/>
                    <a:lstStyle/>
                    <a:p>
                      <a:r>
                        <a:rPr lang="en-US" sz="1600" b="1" dirty="0"/>
                        <a:t>Politics</a:t>
                      </a:r>
                    </a:p>
                  </a:txBody>
                  <a:tcPr/>
                </a:tc>
                <a:tc>
                  <a:txBody>
                    <a:bodyPr/>
                    <a:lstStyle/>
                    <a:p>
                      <a:r>
                        <a:rPr lang="en-US" sz="1600" dirty="0"/>
                        <a:t>Justice,</a:t>
                      </a:r>
                    </a:p>
                    <a:p>
                      <a:r>
                        <a:rPr lang="en-US" sz="1600" dirty="0"/>
                        <a:t>Freedom,</a:t>
                      </a:r>
                    </a:p>
                    <a:p>
                      <a:r>
                        <a:rPr lang="en-US" sz="1600" dirty="0"/>
                        <a:t>Order</a:t>
                      </a:r>
                    </a:p>
                  </a:txBody>
                  <a:tcPr/>
                </a:tc>
                <a:tc>
                  <a:txBody>
                    <a:bodyPr/>
                    <a:lstStyle/>
                    <a:p>
                      <a:r>
                        <a:rPr lang="en-US" sz="1600" dirty="0"/>
                        <a:t>Islamic Theocracy</a:t>
                      </a:r>
                    </a:p>
                  </a:txBody>
                  <a:tcPr/>
                </a:tc>
                <a:tc>
                  <a:txBody>
                    <a:bodyPr/>
                    <a:lstStyle/>
                    <a:p>
                      <a:r>
                        <a:rPr lang="en-US" sz="1600" dirty="0"/>
                        <a:t>Liberalism,</a:t>
                      </a:r>
                    </a:p>
                    <a:p>
                      <a:r>
                        <a:rPr lang="en-US" sz="1600" baseline="0" dirty="0"/>
                        <a:t>Secular World Gov.</a:t>
                      </a:r>
                      <a:endParaRPr lang="en-US" sz="1600" dirty="0"/>
                    </a:p>
                  </a:txBody>
                  <a:tcPr/>
                </a:tc>
                <a:tc>
                  <a:txBody>
                    <a:bodyPr/>
                    <a:lstStyle/>
                    <a:p>
                      <a:r>
                        <a:rPr lang="en-US" sz="1600" dirty="0" err="1"/>
                        <a:t>Statism</a:t>
                      </a:r>
                      <a:r>
                        <a:rPr lang="en-US" sz="1600" dirty="0"/>
                        <a:t>,</a:t>
                      </a:r>
                      <a:r>
                        <a:rPr lang="en-US" sz="1600" baseline="0" dirty="0"/>
                        <a:t> Communist World Gov.</a:t>
                      </a:r>
                      <a:endParaRPr lang="en-US" sz="1600" dirty="0"/>
                    </a:p>
                  </a:txBody>
                  <a:tcPr/>
                </a:tc>
                <a:tc>
                  <a:txBody>
                    <a:bodyPr/>
                    <a:lstStyle/>
                    <a:p>
                      <a:r>
                        <a:rPr lang="en-US" sz="1600" dirty="0"/>
                        <a:t>Self-</a:t>
                      </a:r>
                      <a:r>
                        <a:rPr lang="en-US" sz="1600" dirty="0" err="1"/>
                        <a:t>Government</a:t>
                      </a:r>
                      <a:r>
                        <a:rPr lang="en-US" sz="1600" baseline="0" dirty="0" err="1"/>
                        <a:t>New</a:t>
                      </a:r>
                      <a:r>
                        <a:rPr lang="en-US" sz="1600" baseline="0" dirty="0"/>
                        <a:t> World Order</a:t>
                      </a:r>
                      <a:endParaRPr lang="en-US" sz="1600" dirty="0"/>
                    </a:p>
                  </a:txBody>
                  <a:tcPr/>
                </a:tc>
                <a:tc>
                  <a:txBody>
                    <a:bodyPr/>
                    <a:lstStyle/>
                    <a:p>
                      <a:r>
                        <a:rPr lang="en-US" sz="1600" dirty="0"/>
                        <a:t>Leftism</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797460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7</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Righteousness of God Revealed</a:t>
            </a:r>
            <a:br>
              <a:rPr lang="en-US" dirty="0"/>
            </a:br>
            <a:r>
              <a:rPr lang="en-US" sz="2600" dirty="0">
                <a:solidFill>
                  <a:schemeClr val="tx2">
                    <a:lumMod val="60000"/>
                    <a:lumOff val="40000"/>
                  </a:schemeClr>
                </a:solidFill>
              </a:rPr>
              <a:t>How the LORD delights in keeping his promises…!</a:t>
            </a:r>
          </a:p>
        </p:txBody>
      </p:sp>
      <p:sp>
        <p:nvSpPr>
          <p:cNvPr id="7" name="TextBox 6"/>
          <p:cNvSpPr txBox="1"/>
          <p:nvPr/>
        </p:nvSpPr>
        <p:spPr>
          <a:xfrm>
            <a:off x="408213" y="1447800"/>
            <a:ext cx="8360230" cy="1938992"/>
          </a:xfrm>
          <a:prstGeom prst="rect">
            <a:avLst/>
          </a:prstGeom>
          <a:noFill/>
        </p:spPr>
        <p:txBody>
          <a:bodyPr wrap="square" rtlCol="0">
            <a:spAutoFit/>
          </a:bodyPr>
          <a:lstStyle/>
          <a:p>
            <a:r>
              <a:rPr lang="en-US" sz="2000" i="1" dirty="0"/>
              <a:t>“’Behold, the days are coming,’ says the LORD, ‘That </a:t>
            </a:r>
            <a:r>
              <a:rPr lang="en-US" sz="2000" b="1" i="1" dirty="0"/>
              <a:t>I will raise </a:t>
            </a:r>
            <a:r>
              <a:rPr lang="en-US" sz="2000" i="1" dirty="0"/>
              <a:t>to David </a:t>
            </a:r>
            <a:r>
              <a:rPr lang="en-US" sz="2000" b="1" i="1" dirty="0"/>
              <a:t>a Branch of righteousness</a:t>
            </a:r>
            <a:r>
              <a:rPr lang="en-US" sz="2000" i="1" dirty="0"/>
              <a:t>; A King shall reign and prosper, And </a:t>
            </a:r>
            <a:r>
              <a:rPr lang="en-US" sz="2000" b="1" i="1" dirty="0"/>
              <a:t>execute judgment and righteousness </a:t>
            </a:r>
            <a:r>
              <a:rPr lang="en-US" sz="2000" i="1" dirty="0"/>
              <a:t>in the earth.   In His days Judah will be saved.   And Israel will dwell safely; Now this is </a:t>
            </a:r>
            <a:r>
              <a:rPr lang="en-US" sz="2000" b="1" i="1" dirty="0"/>
              <a:t>His name </a:t>
            </a:r>
            <a:r>
              <a:rPr lang="en-US" sz="2000" i="1" dirty="0"/>
              <a:t>by which He will be called:  </a:t>
            </a:r>
            <a:r>
              <a:rPr lang="en-US" sz="2000" b="1" i="1" dirty="0"/>
              <a:t>THE LORD OUR RIGHTEOUSNESS</a:t>
            </a:r>
            <a:r>
              <a:rPr lang="en-US" sz="2000" i="1" dirty="0"/>
              <a:t>. ‘”  Jeremiah 23:5-6</a:t>
            </a:r>
          </a:p>
        </p:txBody>
      </p:sp>
      <p:sp>
        <p:nvSpPr>
          <p:cNvPr id="9" name="TextBox 8"/>
          <p:cNvSpPr txBox="1"/>
          <p:nvPr/>
        </p:nvSpPr>
        <p:spPr>
          <a:xfrm>
            <a:off x="418864" y="3733800"/>
            <a:ext cx="8243207" cy="1015663"/>
          </a:xfrm>
          <a:prstGeom prst="rect">
            <a:avLst/>
          </a:prstGeom>
          <a:noFill/>
        </p:spPr>
        <p:txBody>
          <a:bodyPr wrap="square" rtlCol="0">
            <a:spAutoFit/>
          </a:bodyPr>
          <a:lstStyle/>
          <a:p>
            <a:r>
              <a:rPr lang="en-US" sz="2000" i="1" dirty="0"/>
              <a:t>“He shall see the labor of His soul, and be satisfied.   By His knowledge </a:t>
            </a:r>
            <a:r>
              <a:rPr lang="en-US" sz="2000" b="1" i="1" dirty="0"/>
              <a:t>My righteous Servant shall justify many, For He shall bear their iniquities</a:t>
            </a:r>
            <a:r>
              <a:rPr lang="en-US" sz="2000" i="1" dirty="0"/>
              <a:t>.”   Isaiah 53:11</a:t>
            </a:r>
          </a:p>
        </p:txBody>
      </p:sp>
      <p:sp>
        <p:nvSpPr>
          <p:cNvPr id="8" name="TextBox 7"/>
          <p:cNvSpPr txBox="1"/>
          <p:nvPr/>
        </p:nvSpPr>
        <p:spPr>
          <a:xfrm>
            <a:off x="428298" y="5119385"/>
            <a:ext cx="8191500" cy="707886"/>
          </a:xfrm>
          <a:prstGeom prst="rect">
            <a:avLst/>
          </a:prstGeom>
          <a:noFill/>
        </p:spPr>
        <p:txBody>
          <a:bodyPr wrap="square" rtlCol="0">
            <a:spAutoFit/>
          </a:bodyPr>
          <a:lstStyle/>
          <a:p>
            <a:r>
              <a:rPr lang="en-US" sz="2000" i="1" dirty="0"/>
              <a:t>“</a:t>
            </a:r>
            <a:r>
              <a:rPr lang="en-US" sz="2000" b="1" i="1" dirty="0"/>
              <a:t>For He made Him who knew no sin to be sin for us, that we might become the righteousness of God in Him</a:t>
            </a:r>
            <a:r>
              <a:rPr lang="en-US" sz="2000" i="1" dirty="0"/>
              <a:t>.”    2 Corinthians 5:21</a:t>
            </a:r>
          </a:p>
        </p:txBody>
      </p:sp>
    </p:spTree>
    <p:extLst>
      <p:ext uri="{BB962C8B-B14F-4D97-AF65-F5344CB8AC3E}">
        <p14:creationId xmlns:p14="http://schemas.microsoft.com/office/powerpoint/2010/main" val="355677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350" y="228600"/>
            <a:ext cx="8229600" cy="1143000"/>
          </a:xfrm>
        </p:spPr>
        <p:txBody>
          <a:bodyPr>
            <a:normAutofit/>
          </a:bodyPr>
          <a:lstStyle/>
          <a:p>
            <a:r>
              <a:rPr lang="en-US" dirty="0"/>
              <a:t>The Grace of God Revealed</a:t>
            </a:r>
            <a:br>
              <a:rPr lang="en-US" dirty="0"/>
            </a:br>
            <a:r>
              <a:rPr lang="en-US" sz="2400" dirty="0">
                <a:solidFill>
                  <a:schemeClr val="tx2">
                    <a:lumMod val="60000"/>
                    <a:lumOff val="40000"/>
                  </a:schemeClr>
                </a:solidFill>
              </a:rPr>
              <a:t>How </a:t>
            </a:r>
            <a:r>
              <a:rPr lang="en-US" sz="2400" i="1" dirty="0">
                <a:solidFill>
                  <a:schemeClr val="tx2">
                    <a:lumMod val="60000"/>
                    <a:lumOff val="40000"/>
                  </a:schemeClr>
                </a:solidFill>
              </a:rPr>
              <a:t>the</a:t>
            </a:r>
            <a:r>
              <a:rPr lang="en-US" sz="2400" dirty="0">
                <a:solidFill>
                  <a:schemeClr val="tx2">
                    <a:lumMod val="60000"/>
                    <a:lumOff val="40000"/>
                  </a:schemeClr>
                </a:solidFill>
              </a:rPr>
              <a:t> perfectly just LORD </a:t>
            </a:r>
            <a:r>
              <a:rPr lang="en-US" sz="2400" i="1" dirty="0">
                <a:solidFill>
                  <a:schemeClr val="tx2">
                    <a:lumMod val="60000"/>
                    <a:lumOff val="40000"/>
                  </a:schemeClr>
                </a:solidFill>
              </a:rPr>
              <a:t>has</a:t>
            </a:r>
            <a:r>
              <a:rPr lang="en-US" sz="2400" dirty="0">
                <a:solidFill>
                  <a:schemeClr val="tx2">
                    <a:lumMod val="60000"/>
                    <a:lumOff val="40000"/>
                  </a:schemeClr>
                </a:solidFill>
              </a:rPr>
              <a:t> forgiven sin…!</a:t>
            </a:r>
          </a:p>
        </p:txBody>
      </p:sp>
      <p:sp>
        <p:nvSpPr>
          <p:cNvPr id="4" name="TextBox 3"/>
          <p:cNvSpPr txBox="1"/>
          <p:nvPr/>
        </p:nvSpPr>
        <p:spPr>
          <a:xfrm>
            <a:off x="571500" y="1600200"/>
            <a:ext cx="8001000" cy="2677656"/>
          </a:xfrm>
          <a:prstGeom prst="rect">
            <a:avLst/>
          </a:prstGeom>
          <a:noFill/>
        </p:spPr>
        <p:txBody>
          <a:bodyPr wrap="square" rtlCol="0">
            <a:spAutoFit/>
          </a:bodyPr>
          <a:lstStyle/>
          <a:p>
            <a:r>
              <a:rPr lang="en-US" sz="2800" i="1" dirty="0"/>
              <a:t>“Blessed is he whose transgression is </a:t>
            </a:r>
            <a:r>
              <a:rPr lang="en-US" sz="2800" b="1" i="1" dirty="0"/>
              <a:t>forgiven</a:t>
            </a:r>
            <a:r>
              <a:rPr lang="en-US" sz="2800" i="1" dirty="0"/>
              <a:t>, </a:t>
            </a:r>
          </a:p>
          <a:p>
            <a:r>
              <a:rPr lang="en-US" sz="2800" i="1" dirty="0"/>
              <a:t>	whose sin is </a:t>
            </a:r>
            <a:r>
              <a:rPr lang="en-US" sz="2800" b="1" i="1" dirty="0"/>
              <a:t>covered</a:t>
            </a:r>
            <a:r>
              <a:rPr lang="en-US" sz="2800" i="1" dirty="0"/>
              <a:t>,</a:t>
            </a:r>
          </a:p>
          <a:p>
            <a:r>
              <a:rPr lang="en-US" sz="2800" i="1" dirty="0"/>
              <a:t>Blessed is the man to whom </a:t>
            </a:r>
          </a:p>
          <a:p>
            <a:r>
              <a:rPr lang="en-US" sz="2800" i="1" dirty="0"/>
              <a:t>	the </a:t>
            </a:r>
            <a:r>
              <a:rPr lang="en-US" sz="2800" b="1" i="1" dirty="0"/>
              <a:t>LORD</a:t>
            </a:r>
            <a:r>
              <a:rPr lang="en-US" sz="2800" i="1" dirty="0"/>
              <a:t> does </a:t>
            </a:r>
            <a:r>
              <a:rPr lang="en-US" sz="2800" b="1" i="1" dirty="0"/>
              <a:t>not</a:t>
            </a:r>
            <a:r>
              <a:rPr lang="en-US" sz="2800" i="1" dirty="0"/>
              <a:t> </a:t>
            </a:r>
            <a:r>
              <a:rPr lang="en-US" sz="2800" b="1" i="1" dirty="0"/>
              <a:t>impute</a:t>
            </a:r>
            <a:r>
              <a:rPr lang="en-US" sz="2800" i="1" dirty="0"/>
              <a:t> </a:t>
            </a:r>
            <a:r>
              <a:rPr lang="en-US" sz="2800" b="1" i="1" dirty="0"/>
              <a:t>iniquity</a:t>
            </a:r>
            <a:r>
              <a:rPr lang="en-US" sz="2800" i="1" dirty="0"/>
              <a:t>, </a:t>
            </a:r>
          </a:p>
          <a:p>
            <a:r>
              <a:rPr lang="en-US" sz="2800" i="1" dirty="0"/>
              <a:t>And in whose spirit there is </a:t>
            </a:r>
            <a:r>
              <a:rPr lang="en-US" sz="2800" b="1" i="1" dirty="0"/>
              <a:t>no</a:t>
            </a:r>
            <a:r>
              <a:rPr lang="en-US" sz="2800" i="1" dirty="0"/>
              <a:t> </a:t>
            </a:r>
            <a:r>
              <a:rPr lang="en-US" sz="2800" b="1" i="1" dirty="0"/>
              <a:t>deceit</a:t>
            </a:r>
            <a:r>
              <a:rPr lang="en-US" sz="2800" i="1" dirty="0"/>
              <a:t>.”   </a:t>
            </a:r>
          </a:p>
          <a:p>
            <a:pPr marL="800100" lvl="1" indent="-342900">
              <a:buFont typeface="Arial" pitchFamily="34" charset="0"/>
              <a:buChar char="•"/>
            </a:pPr>
            <a:r>
              <a:rPr lang="en-US" sz="2800" b="1" i="1" dirty="0"/>
              <a:t>Psalm 32:1-2</a:t>
            </a:r>
            <a:r>
              <a:rPr lang="en-US" sz="2800" i="1" dirty="0"/>
              <a:t>; </a:t>
            </a:r>
            <a:r>
              <a:rPr lang="en-US" sz="2800" b="1" i="1" dirty="0"/>
              <a:t>Romans 4:7-8</a:t>
            </a:r>
            <a:endParaRPr lang="en-US" sz="2400" b="1" i="1" dirty="0"/>
          </a:p>
        </p:txBody>
      </p:sp>
      <p:sp>
        <p:nvSpPr>
          <p:cNvPr id="5" name="TextBox 4"/>
          <p:cNvSpPr txBox="1"/>
          <p:nvPr/>
        </p:nvSpPr>
        <p:spPr>
          <a:xfrm>
            <a:off x="536666" y="4953000"/>
            <a:ext cx="8191500" cy="954107"/>
          </a:xfrm>
          <a:prstGeom prst="rect">
            <a:avLst/>
          </a:prstGeom>
          <a:noFill/>
        </p:spPr>
        <p:txBody>
          <a:bodyPr wrap="square" rtlCol="0">
            <a:spAutoFit/>
          </a:bodyPr>
          <a:lstStyle/>
          <a:p>
            <a:r>
              <a:rPr lang="en-US" sz="2800" i="1" dirty="0"/>
              <a:t>“…that </a:t>
            </a:r>
            <a:r>
              <a:rPr lang="en-US" sz="2800" b="1" i="1" dirty="0"/>
              <a:t>He</a:t>
            </a:r>
            <a:r>
              <a:rPr lang="en-US" sz="2800" i="1" dirty="0"/>
              <a:t> might </a:t>
            </a:r>
            <a:r>
              <a:rPr lang="en-US" sz="2800" b="1" i="1" dirty="0"/>
              <a:t>be just and the justifier </a:t>
            </a:r>
            <a:r>
              <a:rPr lang="en-US" sz="2800" i="1" dirty="0"/>
              <a:t>of the one who has faith in Jesus.”    Romans 3:26</a:t>
            </a:r>
          </a:p>
        </p:txBody>
      </p:sp>
    </p:spTree>
    <p:extLst>
      <p:ext uri="{BB962C8B-B14F-4D97-AF65-F5344CB8AC3E}">
        <p14:creationId xmlns:p14="http://schemas.microsoft.com/office/powerpoint/2010/main" val="2637189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F2629A3-CC4F-7644-E3BD-81E167B7E1E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4C8D139-928E-62AB-DDE2-934013BCED91}"/>
              </a:ext>
            </a:extLst>
          </p:cNvPr>
          <p:cNvSpPr>
            <a:spLocks noGrp="1"/>
          </p:cNvSpPr>
          <p:nvPr>
            <p:ph type="title"/>
          </p:nvPr>
        </p:nvSpPr>
        <p:spPr>
          <a:xfrm>
            <a:off x="228600" y="7088"/>
            <a:ext cx="8839200" cy="914400"/>
          </a:xfrm>
        </p:spPr>
        <p:txBody>
          <a:bodyPr>
            <a:normAutofit/>
          </a:bodyPr>
          <a:lstStyle/>
          <a:p>
            <a:pPr algn="l"/>
            <a:r>
              <a:rPr lang="en-US" sz="3600" dirty="0"/>
              <a:t>Destiny (Where are we going?)</a:t>
            </a:r>
            <a:br>
              <a:rPr lang="en-US" sz="3600" dirty="0"/>
            </a:br>
            <a:r>
              <a:rPr lang="en-US" sz="1800" dirty="0">
                <a:solidFill>
                  <a:schemeClr val="tx2">
                    <a:lumMod val="60000"/>
                    <a:lumOff val="40000"/>
                  </a:schemeClr>
                </a:solidFill>
              </a:rPr>
              <a:t>Faithfulness to GOD Leads to a Hopeful Eternal Future</a:t>
            </a:r>
          </a:p>
        </p:txBody>
      </p:sp>
      <p:sp>
        <p:nvSpPr>
          <p:cNvPr id="7" name="TextBox 6">
            <a:extLst>
              <a:ext uri="{FF2B5EF4-FFF2-40B4-BE49-F238E27FC236}">
                <a16:creationId xmlns:a16="http://schemas.microsoft.com/office/drawing/2014/main" id="{903BF122-E5E0-AB1B-C7A9-2BFB904C3AF9}"/>
              </a:ext>
            </a:extLst>
          </p:cNvPr>
          <p:cNvSpPr txBox="1"/>
          <p:nvPr/>
        </p:nvSpPr>
        <p:spPr>
          <a:xfrm>
            <a:off x="228600" y="1143000"/>
            <a:ext cx="8686800" cy="4801314"/>
          </a:xfrm>
          <a:prstGeom prst="rect">
            <a:avLst/>
          </a:prstGeom>
          <a:noFill/>
        </p:spPr>
        <p:txBody>
          <a:bodyPr wrap="square">
            <a:spAutoFit/>
          </a:bodyPr>
          <a:lstStyle/>
          <a:p>
            <a:r>
              <a:rPr lang="en-US" b="1" i="1" dirty="0">
                <a:latin typeface="+mn-lt"/>
              </a:rPr>
              <a:t>Psalm 16:9-11</a:t>
            </a:r>
            <a:r>
              <a:rPr lang="en-US" i="1" dirty="0">
                <a:latin typeface="+mn-lt"/>
              </a:rPr>
              <a:t>  Therefore my heart is glad, and my glory rejoices; My flesh also will rest in hope. For You will not leave my soul in </a:t>
            </a:r>
            <a:r>
              <a:rPr lang="en-US" i="1" dirty="0" err="1">
                <a:latin typeface="+mn-lt"/>
              </a:rPr>
              <a:t>Sheol</a:t>
            </a:r>
            <a:r>
              <a:rPr lang="en-US" i="1" dirty="0">
                <a:latin typeface="+mn-lt"/>
              </a:rPr>
              <a:t>, Nor will You allow Your Holy One to see corruption. </a:t>
            </a:r>
            <a:r>
              <a:rPr lang="en-US" i="1" u="sng" dirty="0">
                <a:latin typeface="+mn-lt"/>
              </a:rPr>
              <a:t>You will show me the path of life; In Your presence is fullness of joy; At Your right hand are pleasures forevermore</a:t>
            </a:r>
            <a:r>
              <a:rPr lang="en-US" i="1" dirty="0">
                <a:latin typeface="+mn-lt"/>
              </a:rPr>
              <a:t>.</a:t>
            </a:r>
          </a:p>
          <a:p>
            <a:endParaRPr lang="en-US" b="1" i="1" dirty="0">
              <a:latin typeface="+mn-lt"/>
            </a:endParaRPr>
          </a:p>
          <a:p>
            <a:r>
              <a:rPr lang="en-US" b="1" i="1" dirty="0">
                <a:latin typeface="+mn-lt"/>
              </a:rPr>
              <a:t>Psalm 23:6  </a:t>
            </a:r>
            <a:r>
              <a:rPr lang="en-US" i="1" u="sng" dirty="0">
                <a:latin typeface="+mn-lt"/>
              </a:rPr>
              <a:t>Surely goodness and mercy shall follow me All the days of my life</a:t>
            </a:r>
            <a:r>
              <a:rPr lang="en-US" i="1" dirty="0">
                <a:latin typeface="+mn-lt"/>
              </a:rPr>
              <a:t>; And I will dwell in the house of the LORD Forever. </a:t>
            </a:r>
          </a:p>
          <a:p>
            <a:endParaRPr lang="en-US" b="1" i="1" dirty="0">
              <a:latin typeface="+mn-lt"/>
            </a:endParaRPr>
          </a:p>
          <a:p>
            <a:r>
              <a:rPr lang="en-US" b="1" i="1" dirty="0">
                <a:latin typeface="+mn-lt"/>
              </a:rPr>
              <a:t>Psalm 37:37-38  </a:t>
            </a:r>
            <a:r>
              <a:rPr lang="en-US" i="1" dirty="0">
                <a:latin typeface="+mn-lt"/>
              </a:rPr>
              <a:t>Mark the blameless man, and observe the upright; </a:t>
            </a:r>
            <a:r>
              <a:rPr lang="en-US" i="1" u="sng" dirty="0">
                <a:latin typeface="+mn-lt"/>
              </a:rPr>
              <a:t>For the future of that man is peace</a:t>
            </a:r>
            <a:r>
              <a:rPr lang="en-US" i="1" dirty="0">
                <a:latin typeface="+mn-lt"/>
              </a:rPr>
              <a:t>. But the transgressors shall be destroyed together; The future of the wicked shall be cut off. </a:t>
            </a:r>
          </a:p>
          <a:p>
            <a:endParaRPr lang="en-US" i="1" dirty="0">
              <a:latin typeface="+mn-lt"/>
            </a:endParaRPr>
          </a:p>
          <a:p>
            <a:r>
              <a:rPr lang="en-US" b="1" i="1" dirty="0">
                <a:latin typeface="+mn-lt"/>
              </a:rPr>
              <a:t>Psalm 49:15  </a:t>
            </a:r>
            <a:r>
              <a:rPr lang="en-US" i="1" dirty="0">
                <a:latin typeface="+mn-lt"/>
              </a:rPr>
              <a:t>But God will redeem my soul from the power of the grave, </a:t>
            </a:r>
            <a:r>
              <a:rPr lang="en-US" i="1" u="sng" dirty="0">
                <a:latin typeface="+mn-lt"/>
              </a:rPr>
              <a:t>For He shall receive me</a:t>
            </a:r>
            <a:r>
              <a:rPr lang="en-US" i="1" dirty="0">
                <a:latin typeface="+mn-lt"/>
              </a:rPr>
              <a:t>. </a:t>
            </a:r>
          </a:p>
          <a:p>
            <a:endParaRPr lang="en-US" i="1" dirty="0">
              <a:latin typeface="+mn-lt"/>
            </a:endParaRPr>
          </a:p>
          <a:p>
            <a:r>
              <a:rPr lang="en-US" b="1" i="1" dirty="0">
                <a:latin typeface="+mn-lt"/>
              </a:rPr>
              <a:t>Psalm 73:24  </a:t>
            </a:r>
            <a:r>
              <a:rPr lang="en-US" i="1" dirty="0">
                <a:latin typeface="+mn-lt"/>
              </a:rPr>
              <a:t>You will guide me with Your counsel, </a:t>
            </a:r>
            <a:r>
              <a:rPr lang="en-US" i="1" u="sng" dirty="0">
                <a:latin typeface="+mn-lt"/>
              </a:rPr>
              <a:t>And afterward receive me to glory</a:t>
            </a:r>
            <a:r>
              <a:rPr lang="en-US" i="1" dirty="0">
                <a:latin typeface="+mn-lt"/>
              </a:rPr>
              <a:t>. </a:t>
            </a:r>
          </a:p>
        </p:txBody>
      </p:sp>
    </p:spTree>
    <p:extLst>
      <p:ext uri="{BB962C8B-B14F-4D97-AF65-F5344CB8AC3E}">
        <p14:creationId xmlns:p14="http://schemas.microsoft.com/office/powerpoint/2010/main" val="4221649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30103-32C4-C611-44C8-D67FA6C8B0E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22E44BA-3BB9-5806-7DAE-E9DB535B29CB}"/>
              </a:ext>
            </a:extLst>
          </p:cNvPr>
          <p:cNvSpPr>
            <a:spLocks noGrp="1"/>
          </p:cNvSpPr>
          <p:nvPr>
            <p:ph type="title"/>
          </p:nvPr>
        </p:nvSpPr>
        <p:spPr>
          <a:xfrm>
            <a:off x="228600" y="7088"/>
            <a:ext cx="8839200" cy="914400"/>
          </a:xfrm>
        </p:spPr>
        <p:txBody>
          <a:bodyPr>
            <a:normAutofit/>
          </a:bodyPr>
          <a:lstStyle/>
          <a:p>
            <a:pPr algn="l"/>
            <a:r>
              <a:rPr lang="en-US" sz="3600" dirty="0"/>
              <a:t>Destiny (Where are we going?)</a:t>
            </a:r>
            <a:br>
              <a:rPr lang="en-US" sz="3600" dirty="0"/>
            </a:br>
            <a:r>
              <a:rPr lang="en-US" sz="1800" dirty="0">
                <a:solidFill>
                  <a:schemeClr val="tx2">
                    <a:lumMod val="60000"/>
                    <a:lumOff val="40000"/>
                  </a:schemeClr>
                </a:solidFill>
              </a:rPr>
              <a:t>Faithfulness to GOD Leads to a Hopeful Eternal Future</a:t>
            </a:r>
          </a:p>
        </p:txBody>
      </p:sp>
      <p:sp>
        <p:nvSpPr>
          <p:cNvPr id="7" name="TextBox 6">
            <a:extLst>
              <a:ext uri="{FF2B5EF4-FFF2-40B4-BE49-F238E27FC236}">
                <a16:creationId xmlns:a16="http://schemas.microsoft.com/office/drawing/2014/main" id="{C93C3ED6-0573-6DB6-C55E-80A067085784}"/>
              </a:ext>
            </a:extLst>
          </p:cNvPr>
          <p:cNvSpPr txBox="1"/>
          <p:nvPr/>
        </p:nvSpPr>
        <p:spPr>
          <a:xfrm>
            <a:off x="228600" y="936728"/>
            <a:ext cx="8686800" cy="5909310"/>
          </a:xfrm>
          <a:prstGeom prst="rect">
            <a:avLst/>
          </a:prstGeom>
          <a:noFill/>
        </p:spPr>
        <p:txBody>
          <a:bodyPr wrap="square">
            <a:spAutoFit/>
          </a:bodyPr>
          <a:lstStyle/>
          <a:p>
            <a:r>
              <a:rPr lang="en-US" b="1" i="1" dirty="0">
                <a:latin typeface="+mn-lt"/>
              </a:rPr>
              <a:t>Matthew 25:31-46  </a:t>
            </a:r>
            <a:r>
              <a:rPr lang="en-US" i="1" dirty="0">
                <a:latin typeface="+mn-lt"/>
              </a:rPr>
              <a:t>(</a:t>
            </a:r>
            <a:r>
              <a:rPr lang="en-US" i="1" u="sng" dirty="0">
                <a:latin typeface="+mn-lt"/>
              </a:rPr>
              <a:t>Parable of the Sheep and the Goats </a:t>
            </a:r>
            <a:r>
              <a:rPr lang="en-US" i="1" dirty="0">
                <a:latin typeface="+mn-lt"/>
              </a:rPr>
              <a:t>: Jesus teaches about a future judgement where people’s eternal destinies are determined by their response to Him and how they treated others.)</a:t>
            </a:r>
          </a:p>
          <a:p>
            <a:endParaRPr lang="en-US" i="1" dirty="0">
              <a:latin typeface="+mn-lt"/>
            </a:endParaRPr>
          </a:p>
          <a:p>
            <a:r>
              <a:rPr lang="en-US" b="1" i="1" dirty="0">
                <a:latin typeface="+mn-lt"/>
              </a:rPr>
              <a:t>Luke 23:43  </a:t>
            </a:r>
            <a:r>
              <a:rPr lang="en-US" i="1" dirty="0">
                <a:latin typeface="+mn-lt"/>
              </a:rPr>
              <a:t>And Jesus said to him, "Assuredly, I say to you, </a:t>
            </a:r>
            <a:r>
              <a:rPr lang="en-US" i="1" u="sng" dirty="0">
                <a:latin typeface="+mn-lt"/>
              </a:rPr>
              <a:t>today you will be with Me</a:t>
            </a:r>
            <a:r>
              <a:rPr lang="en-US" i="1" dirty="0">
                <a:latin typeface="+mn-lt"/>
              </a:rPr>
              <a:t> in Paradise." </a:t>
            </a:r>
          </a:p>
          <a:p>
            <a:endParaRPr lang="en-US" i="1" dirty="0">
              <a:latin typeface="+mn-lt"/>
            </a:endParaRPr>
          </a:p>
          <a:p>
            <a:r>
              <a:rPr lang="en-US" b="1" i="1" dirty="0">
                <a:latin typeface="+mn-lt"/>
              </a:rPr>
              <a:t>John 14:1-3  </a:t>
            </a:r>
            <a:r>
              <a:rPr lang="en-US" i="1" dirty="0">
                <a:latin typeface="+mn-lt"/>
              </a:rPr>
              <a:t>Let not your heart be troubled; you believe in God, believe also in Me. In My Father's house are many mansions; if it were not so, I would have told you. </a:t>
            </a:r>
            <a:r>
              <a:rPr lang="en-US" i="1" u="sng" dirty="0">
                <a:latin typeface="+mn-lt"/>
              </a:rPr>
              <a:t>I go to prepare a place for you</a:t>
            </a:r>
            <a:r>
              <a:rPr lang="en-US" i="1" dirty="0">
                <a:latin typeface="+mn-lt"/>
              </a:rPr>
              <a:t>. And if I go and prepare a place for you, I will come again and receive you to Myself; that where I am, there you may be also. </a:t>
            </a:r>
          </a:p>
          <a:p>
            <a:endParaRPr lang="en-US" i="1" dirty="0">
              <a:latin typeface="+mn-lt"/>
            </a:endParaRPr>
          </a:p>
          <a:p>
            <a:r>
              <a:rPr lang="en-US" b="1" i="1" dirty="0">
                <a:latin typeface="+mn-lt"/>
              </a:rPr>
              <a:t>1 Corinthians 15:20-22, 51-58  </a:t>
            </a:r>
            <a:r>
              <a:rPr lang="en-US" i="1" dirty="0">
                <a:latin typeface="+mn-lt"/>
              </a:rPr>
              <a:t>(Paul discusses the resurrection of the dead the imperishable body believers will inherit, </a:t>
            </a:r>
            <a:r>
              <a:rPr lang="en-US" i="1" u="sng" dirty="0">
                <a:latin typeface="+mn-lt"/>
              </a:rPr>
              <a:t>affirming eternal life beyond death</a:t>
            </a:r>
            <a:r>
              <a:rPr lang="en-US" i="1" dirty="0">
                <a:latin typeface="+mn-lt"/>
              </a:rPr>
              <a:t>.)</a:t>
            </a:r>
          </a:p>
          <a:p>
            <a:endParaRPr lang="en-US" i="1" dirty="0">
              <a:latin typeface="+mn-lt"/>
            </a:endParaRPr>
          </a:p>
          <a:p>
            <a:r>
              <a:rPr lang="en-US" b="1" i="1" dirty="0">
                <a:latin typeface="+mn-lt"/>
              </a:rPr>
              <a:t>Philippians 3:20-21  </a:t>
            </a:r>
            <a:r>
              <a:rPr lang="en-US" i="1" dirty="0">
                <a:latin typeface="+mn-lt"/>
              </a:rPr>
              <a:t>For </a:t>
            </a:r>
            <a:r>
              <a:rPr lang="en-US" i="1" u="sng" dirty="0">
                <a:latin typeface="+mn-lt"/>
              </a:rPr>
              <a:t>our citizenship is in heaven</a:t>
            </a:r>
            <a:r>
              <a:rPr lang="en-US" i="1" dirty="0">
                <a:latin typeface="+mn-lt"/>
              </a:rPr>
              <a:t>, from which we also eagerly wait for the Savior, the Lord Jesus Christ, who will transform our lowly body that it may be conformed to His glorious body, according to the working by which He is able even to subdue all things to Himself. </a:t>
            </a:r>
          </a:p>
          <a:p>
            <a:endParaRPr lang="en-US" i="1" dirty="0">
              <a:latin typeface="+mn-lt"/>
            </a:endParaRPr>
          </a:p>
          <a:p>
            <a:r>
              <a:rPr lang="en-US" b="1" i="1" dirty="0">
                <a:latin typeface="+mn-lt"/>
              </a:rPr>
              <a:t>Revelation 21-22  </a:t>
            </a:r>
            <a:r>
              <a:rPr lang="en-US" i="1" dirty="0">
                <a:latin typeface="+mn-lt"/>
              </a:rPr>
              <a:t>(Foresees a new heaven and new earth for God’s people.)</a:t>
            </a:r>
          </a:p>
        </p:txBody>
      </p:sp>
    </p:spTree>
    <p:extLst>
      <p:ext uri="{BB962C8B-B14F-4D97-AF65-F5344CB8AC3E}">
        <p14:creationId xmlns:p14="http://schemas.microsoft.com/office/powerpoint/2010/main" val="1770860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10" end="10"/>
                                            </p:txEl>
                                          </p:spTgt>
                                        </p:tgtEl>
                                        <p:attrNameLst>
                                          <p:attrName>style.visibility</p:attrName>
                                        </p:attrNameLst>
                                      </p:cBhvr>
                                      <p:to>
                                        <p:strVal val="visible"/>
                                      </p:to>
                                    </p:set>
                                    <p:animEffect transition="in" filter="fade">
                                      <p:cBhvr>
                                        <p:cTn id="42" dur="1000"/>
                                        <p:tgtEl>
                                          <p:spTgt spid="7">
                                            <p:txEl>
                                              <p:pRg st="10" end="10"/>
                                            </p:txEl>
                                          </p:spTgt>
                                        </p:tgtEl>
                                      </p:cBhvr>
                                    </p:animEffect>
                                    <p:anim calcmode="lin" valueType="num">
                                      <p:cBhvr>
                                        <p:cTn id="43"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11905</TotalTime>
  <Words>3776</Words>
  <Application>Microsoft Office PowerPoint</Application>
  <PresentationFormat>On-screen Show (4:3)</PresentationFormat>
  <Paragraphs>365</Paragraphs>
  <Slides>10</Slides>
  <Notes>10</Notes>
  <HiddenSlides>1</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10</vt:i4>
      </vt:variant>
    </vt:vector>
  </HeadingPairs>
  <TitlesOfParts>
    <vt:vector size="15" baseType="lpstr">
      <vt:lpstr>Arial</vt:lpstr>
      <vt:lpstr>Arial Narrow</vt:lpstr>
      <vt:lpstr>Calibri</vt:lpstr>
      <vt:lpstr>PPT_Template_2010SummerSchool</vt:lpstr>
      <vt:lpstr>1_UPCRC_Powerpoint_Template_with I-Mark</vt:lpstr>
      <vt:lpstr>Romans</vt:lpstr>
      <vt:lpstr>PowerPoint Presentation</vt:lpstr>
      <vt:lpstr>PowerPoint Presentation</vt:lpstr>
      <vt:lpstr>PowerPoint Presentation</vt:lpstr>
      <vt:lpstr>The Religious Man The Law Reveals our Condition</vt:lpstr>
      <vt:lpstr>PowerPoint Presentation</vt:lpstr>
      <vt:lpstr>PowerPoint Presentation</vt:lpstr>
      <vt:lpstr>The Grace of God Revealed How the perfectly just LORD has forgiven sin…!</vt:lpstr>
      <vt:lpstr>Destiny (Where are we going?) Faithfulness to GOD Leads to a Hopeful Eternal Future</vt:lpstr>
      <vt:lpstr>Destiny (Where are we going?) Faithfulness to GOD Leads to a Hopeful Eternal Future</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610</cp:revision>
  <cp:lastPrinted>2026-04-26T12:13:44Z</cp:lastPrinted>
  <dcterms:created xsi:type="dcterms:W3CDTF">2010-06-16T02:58:04Z</dcterms:created>
  <dcterms:modified xsi:type="dcterms:W3CDTF">2026-05-05T00:38:50Z</dcterms:modified>
</cp:coreProperties>
</file>