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514" r:id="rId4"/>
    <p:sldId id="513" r:id="rId5"/>
    <p:sldId id="297" r:id="rId6"/>
    <p:sldId id="298" r:id="rId7"/>
    <p:sldId id="334" r:id="rId8"/>
    <p:sldId id="335" r:id="rId9"/>
    <p:sldId id="336" r:id="rId10"/>
    <p:sldId id="501" r:id="rId11"/>
    <p:sldId id="512" r:id="rId12"/>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230" autoAdjust="0"/>
    <p:restoredTop sz="60992" autoAdjust="0"/>
  </p:normalViewPr>
  <p:slideViewPr>
    <p:cSldViewPr>
      <p:cViewPr varScale="1">
        <p:scale>
          <a:sx n="94" d="100"/>
          <a:sy n="94" d="100"/>
        </p:scale>
        <p:origin x="594" y="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A178B4-99EE-4C5A-89CF-740C2409C7A4}"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1A0D7494-777A-43EF-AFD6-484B51C19A2E}">
      <dgm:prSet phldrT="[Text]"/>
      <dgm:spPr/>
      <dgm:t>
        <a:bodyPr/>
        <a:lstStyle/>
        <a:p>
          <a:r>
            <a:rPr lang="en-US" dirty="0"/>
            <a:t>Gospel</a:t>
          </a:r>
        </a:p>
      </dgm:t>
    </dgm:pt>
    <dgm:pt modelId="{A4C2BF97-4CBA-4D8C-813B-840966CE84A6}" type="parTrans" cxnId="{C1B954D8-BFF7-47E3-B923-A951C99EE91F}">
      <dgm:prSet/>
      <dgm:spPr/>
      <dgm:t>
        <a:bodyPr/>
        <a:lstStyle/>
        <a:p>
          <a:endParaRPr lang="en-US"/>
        </a:p>
      </dgm:t>
    </dgm:pt>
    <dgm:pt modelId="{7A03912A-C290-4349-83E9-D6D6F913746C}" type="sibTrans" cxnId="{C1B954D8-BFF7-47E3-B923-A951C99EE91F}">
      <dgm:prSet/>
      <dgm:spPr/>
      <dgm:t>
        <a:bodyPr/>
        <a:lstStyle/>
        <a:p>
          <a:endParaRPr lang="en-US"/>
        </a:p>
      </dgm:t>
    </dgm:pt>
    <dgm:pt modelId="{D5F48856-C147-47C6-9AB9-F0404DC4082D}">
      <dgm:prSet phldrT="[Text]"/>
      <dgm:spPr/>
      <dgm:t>
        <a:bodyPr/>
        <a:lstStyle/>
        <a:p>
          <a:r>
            <a:rPr lang="en-US" dirty="0"/>
            <a:t>Law</a:t>
          </a:r>
        </a:p>
      </dgm:t>
    </dgm:pt>
    <dgm:pt modelId="{50C71532-EA26-41B1-86C6-CF5C873FBA16}" type="parTrans" cxnId="{913C9ACE-0A9C-4A68-B835-9A0CD3998826}">
      <dgm:prSet/>
      <dgm:spPr/>
      <dgm:t>
        <a:bodyPr/>
        <a:lstStyle/>
        <a:p>
          <a:endParaRPr lang="en-US"/>
        </a:p>
      </dgm:t>
    </dgm:pt>
    <dgm:pt modelId="{6CD72E92-648C-4010-9E3B-390CB5639C89}" type="sibTrans" cxnId="{913C9ACE-0A9C-4A68-B835-9A0CD3998826}">
      <dgm:prSet/>
      <dgm:spPr/>
      <dgm:t>
        <a:bodyPr/>
        <a:lstStyle/>
        <a:p>
          <a:endParaRPr lang="en-US"/>
        </a:p>
      </dgm:t>
    </dgm:pt>
    <dgm:pt modelId="{B085D4B9-2837-4E5F-893C-4ED413EC1222}" type="pres">
      <dgm:prSet presAssocID="{81A178B4-99EE-4C5A-89CF-740C2409C7A4}" presName="compositeShape" presStyleCnt="0">
        <dgm:presLayoutVars>
          <dgm:chMax val="2"/>
          <dgm:dir/>
          <dgm:resizeHandles val="exact"/>
        </dgm:presLayoutVars>
      </dgm:prSet>
      <dgm:spPr/>
    </dgm:pt>
    <dgm:pt modelId="{4BB8DF28-8A07-4454-AE1B-858AD75E68D9}" type="pres">
      <dgm:prSet presAssocID="{81A178B4-99EE-4C5A-89CF-740C2409C7A4}" presName="divider" presStyleLbl="fgShp" presStyleIdx="0" presStyleCnt="1"/>
      <dgm:spPr/>
    </dgm:pt>
    <dgm:pt modelId="{5ED03076-13BC-4996-A0D4-D015E1150D51}" type="pres">
      <dgm:prSet presAssocID="{1A0D7494-777A-43EF-AFD6-484B51C19A2E}" presName="downArrow" presStyleLbl="node1" presStyleIdx="0" presStyleCnt="2"/>
      <dgm:spPr/>
    </dgm:pt>
    <dgm:pt modelId="{276D9D2B-FA7D-4F7B-B6F4-B8CB233A0A89}" type="pres">
      <dgm:prSet presAssocID="{1A0D7494-777A-43EF-AFD6-484B51C19A2E}" presName="downArrowText" presStyleLbl="revTx" presStyleIdx="0" presStyleCnt="2">
        <dgm:presLayoutVars>
          <dgm:bulletEnabled val="1"/>
        </dgm:presLayoutVars>
      </dgm:prSet>
      <dgm:spPr/>
    </dgm:pt>
    <dgm:pt modelId="{97626F1F-AE0A-493B-B957-194A0AE7CA5A}" type="pres">
      <dgm:prSet presAssocID="{D5F48856-C147-47C6-9AB9-F0404DC4082D}" presName="upArrow" presStyleLbl="node1" presStyleIdx="1" presStyleCnt="2"/>
      <dgm:spPr/>
    </dgm:pt>
    <dgm:pt modelId="{91C267F5-EA39-4A7A-9573-365FB1833CD7}" type="pres">
      <dgm:prSet presAssocID="{D5F48856-C147-47C6-9AB9-F0404DC4082D}" presName="upArrowText" presStyleLbl="revTx" presStyleIdx="1" presStyleCnt="2">
        <dgm:presLayoutVars>
          <dgm:bulletEnabled val="1"/>
        </dgm:presLayoutVars>
      </dgm:prSet>
      <dgm:spPr/>
    </dgm:pt>
  </dgm:ptLst>
  <dgm:cxnLst>
    <dgm:cxn modelId="{7D090921-3A4A-4B08-AC80-4533F845C75F}" type="presOf" srcId="{81A178B4-99EE-4C5A-89CF-740C2409C7A4}" destId="{B085D4B9-2837-4E5F-893C-4ED413EC1222}" srcOrd="0" destOrd="0" presId="urn:microsoft.com/office/officeart/2005/8/layout/arrow3"/>
    <dgm:cxn modelId="{8E852029-3CC2-47F8-97DA-CBA5563B70A2}" type="presOf" srcId="{D5F48856-C147-47C6-9AB9-F0404DC4082D}" destId="{91C267F5-EA39-4A7A-9573-365FB1833CD7}" srcOrd="0" destOrd="0" presId="urn:microsoft.com/office/officeart/2005/8/layout/arrow3"/>
    <dgm:cxn modelId="{F6265952-392D-41A7-8B2F-9D7A09C3A9E7}" type="presOf" srcId="{1A0D7494-777A-43EF-AFD6-484B51C19A2E}" destId="{276D9D2B-FA7D-4F7B-B6F4-B8CB233A0A89}" srcOrd="0" destOrd="0" presId="urn:microsoft.com/office/officeart/2005/8/layout/arrow3"/>
    <dgm:cxn modelId="{913C9ACE-0A9C-4A68-B835-9A0CD3998826}" srcId="{81A178B4-99EE-4C5A-89CF-740C2409C7A4}" destId="{D5F48856-C147-47C6-9AB9-F0404DC4082D}" srcOrd="1" destOrd="0" parTransId="{50C71532-EA26-41B1-86C6-CF5C873FBA16}" sibTransId="{6CD72E92-648C-4010-9E3B-390CB5639C89}"/>
    <dgm:cxn modelId="{C1B954D8-BFF7-47E3-B923-A951C99EE91F}" srcId="{81A178B4-99EE-4C5A-89CF-740C2409C7A4}" destId="{1A0D7494-777A-43EF-AFD6-484B51C19A2E}" srcOrd="0" destOrd="0" parTransId="{A4C2BF97-4CBA-4D8C-813B-840966CE84A6}" sibTransId="{7A03912A-C290-4349-83E9-D6D6F913746C}"/>
    <dgm:cxn modelId="{FBB2D813-4AA9-4917-AE3D-EBFD3F434EA9}" type="presParOf" srcId="{B085D4B9-2837-4E5F-893C-4ED413EC1222}" destId="{4BB8DF28-8A07-4454-AE1B-858AD75E68D9}" srcOrd="0" destOrd="0" presId="urn:microsoft.com/office/officeart/2005/8/layout/arrow3"/>
    <dgm:cxn modelId="{CA9B8FEC-C6CA-4B6E-93B3-B6D7FD514A65}" type="presParOf" srcId="{B085D4B9-2837-4E5F-893C-4ED413EC1222}" destId="{5ED03076-13BC-4996-A0D4-D015E1150D51}" srcOrd="1" destOrd="0" presId="urn:microsoft.com/office/officeart/2005/8/layout/arrow3"/>
    <dgm:cxn modelId="{7023A2E7-B1FA-401B-83BA-2225B2E81D0A}" type="presParOf" srcId="{B085D4B9-2837-4E5F-893C-4ED413EC1222}" destId="{276D9D2B-FA7D-4F7B-B6F4-B8CB233A0A89}" srcOrd="2" destOrd="0" presId="urn:microsoft.com/office/officeart/2005/8/layout/arrow3"/>
    <dgm:cxn modelId="{CFB7CA3E-2069-4EDF-9193-B248026F242C}" type="presParOf" srcId="{B085D4B9-2837-4E5F-893C-4ED413EC1222}" destId="{97626F1F-AE0A-493B-B957-194A0AE7CA5A}" srcOrd="3" destOrd="0" presId="urn:microsoft.com/office/officeart/2005/8/layout/arrow3"/>
    <dgm:cxn modelId="{FB2DB9BD-1989-46E4-BFB7-C0B271AC3143}" type="presParOf" srcId="{B085D4B9-2837-4E5F-893C-4ED413EC1222}" destId="{91C267F5-EA39-4A7A-9573-365FB1833CD7}"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A178B4-99EE-4C5A-89CF-740C2409C7A4}"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1A0D7494-777A-43EF-AFD6-484B51C19A2E}">
      <dgm:prSet phldrT="[Text]"/>
      <dgm:spPr/>
      <dgm:t>
        <a:bodyPr/>
        <a:lstStyle/>
        <a:p>
          <a:r>
            <a:rPr lang="en-US" dirty="0"/>
            <a:t>Sacred</a:t>
          </a:r>
        </a:p>
      </dgm:t>
    </dgm:pt>
    <dgm:pt modelId="{A4C2BF97-4CBA-4D8C-813B-840966CE84A6}" type="parTrans" cxnId="{C1B954D8-BFF7-47E3-B923-A951C99EE91F}">
      <dgm:prSet/>
      <dgm:spPr/>
      <dgm:t>
        <a:bodyPr/>
        <a:lstStyle/>
        <a:p>
          <a:endParaRPr lang="en-US"/>
        </a:p>
      </dgm:t>
    </dgm:pt>
    <dgm:pt modelId="{7A03912A-C290-4349-83E9-D6D6F913746C}" type="sibTrans" cxnId="{C1B954D8-BFF7-47E3-B923-A951C99EE91F}">
      <dgm:prSet/>
      <dgm:spPr/>
      <dgm:t>
        <a:bodyPr/>
        <a:lstStyle/>
        <a:p>
          <a:endParaRPr lang="en-US"/>
        </a:p>
      </dgm:t>
    </dgm:pt>
    <dgm:pt modelId="{D5F48856-C147-47C6-9AB9-F0404DC4082D}">
      <dgm:prSet phldrT="[Text]"/>
      <dgm:spPr/>
      <dgm:t>
        <a:bodyPr/>
        <a:lstStyle/>
        <a:p>
          <a:r>
            <a:rPr lang="en-US" dirty="0"/>
            <a:t>Secular</a:t>
          </a:r>
        </a:p>
      </dgm:t>
    </dgm:pt>
    <dgm:pt modelId="{50C71532-EA26-41B1-86C6-CF5C873FBA16}" type="parTrans" cxnId="{913C9ACE-0A9C-4A68-B835-9A0CD3998826}">
      <dgm:prSet/>
      <dgm:spPr/>
      <dgm:t>
        <a:bodyPr/>
        <a:lstStyle/>
        <a:p>
          <a:endParaRPr lang="en-US"/>
        </a:p>
      </dgm:t>
    </dgm:pt>
    <dgm:pt modelId="{6CD72E92-648C-4010-9E3B-390CB5639C89}" type="sibTrans" cxnId="{913C9ACE-0A9C-4A68-B835-9A0CD3998826}">
      <dgm:prSet/>
      <dgm:spPr/>
      <dgm:t>
        <a:bodyPr/>
        <a:lstStyle/>
        <a:p>
          <a:endParaRPr lang="en-US"/>
        </a:p>
      </dgm:t>
    </dgm:pt>
    <dgm:pt modelId="{B085D4B9-2837-4E5F-893C-4ED413EC1222}" type="pres">
      <dgm:prSet presAssocID="{81A178B4-99EE-4C5A-89CF-740C2409C7A4}" presName="compositeShape" presStyleCnt="0">
        <dgm:presLayoutVars>
          <dgm:chMax val="2"/>
          <dgm:dir/>
          <dgm:resizeHandles val="exact"/>
        </dgm:presLayoutVars>
      </dgm:prSet>
      <dgm:spPr/>
    </dgm:pt>
    <dgm:pt modelId="{4BB8DF28-8A07-4454-AE1B-858AD75E68D9}" type="pres">
      <dgm:prSet presAssocID="{81A178B4-99EE-4C5A-89CF-740C2409C7A4}" presName="divider" presStyleLbl="fgShp" presStyleIdx="0" presStyleCnt="1"/>
      <dgm:spPr/>
    </dgm:pt>
    <dgm:pt modelId="{5ED03076-13BC-4996-A0D4-D015E1150D51}" type="pres">
      <dgm:prSet presAssocID="{1A0D7494-777A-43EF-AFD6-484B51C19A2E}" presName="downArrow" presStyleLbl="node1" presStyleIdx="0" presStyleCnt="2"/>
      <dgm:spPr/>
    </dgm:pt>
    <dgm:pt modelId="{276D9D2B-FA7D-4F7B-B6F4-B8CB233A0A89}" type="pres">
      <dgm:prSet presAssocID="{1A0D7494-777A-43EF-AFD6-484B51C19A2E}" presName="downArrowText" presStyleLbl="revTx" presStyleIdx="0" presStyleCnt="2">
        <dgm:presLayoutVars>
          <dgm:bulletEnabled val="1"/>
        </dgm:presLayoutVars>
      </dgm:prSet>
      <dgm:spPr/>
    </dgm:pt>
    <dgm:pt modelId="{97626F1F-AE0A-493B-B957-194A0AE7CA5A}" type="pres">
      <dgm:prSet presAssocID="{D5F48856-C147-47C6-9AB9-F0404DC4082D}" presName="upArrow" presStyleLbl="node1" presStyleIdx="1" presStyleCnt="2"/>
      <dgm:spPr/>
    </dgm:pt>
    <dgm:pt modelId="{91C267F5-EA39-4A7A-9573-365FB1833CD7}" type="pres">
      <dgm:prSet presAssocID="{D5F48856-C147-47C6-9AB9-F0404DC4082D}" presName="upArrowText" presStyleLbl="revTx" presStyleIdx="1" presStyleCnt="2">
        <dgm:presLayoutVars>
          <dgm:bulletEnabled val="1"/>
        </dgm:presLayoutVars>
      </dgm:prSet>
      <dgm:spPr/>
    </dgm:pt>
  </dgm:ptLst>
  <dgm:cxnLst>
    <dgm:cxn modelId="{65133074-905E-4170-8DF5-AF21D5E94FFB}" type="presOf" srcId="{D5F48856-C147-47C6-9AB9-F0404DC4082D}" destId="{91C267F5-EA39-4A7A-9573-365FB1833CD7}" srcOrd="0" destOrd="0" presId="urn:microsoft.com/office/officeart/2005/8/layout/arrow3"/>
    <dgm:cxn modelId="{913C9ACE-0A9C-4A68-B835-9A0CD3998826}" srcId="{81A178B4-99EE-4C5A-89CF-740C2409C7A4}" destId="{D5F48856-C147-47C6-9AB9-F0404DC4082D}" srcOrd="1" destOrd="0" parTransId="{50C71532-EA26-41B1-86C6-CF5C873FBA16}" sibTransId="{6CD72E92-648C-4010-9E3B-390CB5639C89}"/>
    <dgm:cxn modelId="{AE8452D4-9B46-4D47-8EA6-1B2ADA65D0F1}" type="presOf" srcId="{81A178B4-99EE-4C5A-89CF-740C2409C7A4}" destId="{B085D4B9-2837-4E5F-893C-4ED413EC1222}" srcOrd="0" destOrd="0" presId="urn:microsoft.com/office/officeart/2005/8/layout/arrow3"/>
    <dgm:cxn modelId="{C1B954D8-BFF7-47E3-B923-A951C99EE91F}" srcId="{81A178B4-99EE-4C5A-89CF-740C2409C7A4}" destId="{1A0D7494-777A-43EF-AFD6-484B51C19A2E}" srcOrd="0" destOrd="0" parTransId="{A4C2BF97-4CBA-4D8C-813B-840966CE84A6}" sibTransId="{7A03912A-C290-4349-83E9-D6D6F913746C}"/>
    <dgm:cxn modelId="{5A259FDE-EB22-437F-8D15-17DA7F025230}" type="presOf" srcId="{1A0D7494-777A-43EF-AFD6-484B51C19A2E}" destId="{276D9D2B-FA7D-4F7B-B6F4-B8CB233A0A89}" srcOrd="0" destOrd="0" presId="urn:microsoft.com/office/officeart/2005/8/layout/arrow3"/>
    <dgm:cxn modelId="{CCEF9F08-BC6E-4353-A6E0-097043EB5998}" type="presParOf" srcId="{B085D4B9-2837-4E5F-893C-4ED413EC1222}" destId="{4BB8DF28-8A07-4454-AE1B-858AD75E68D9}" srcOrd="0" destOrd="0" presId="urn:microsoft.com/office/officeart/2005/8/layout/arrow3"/>
    <dgm:cxn modelId="{36517E29-5E3C-4DED-99D5-C108B1F91C49}" type="presParOf" srcId="{B085D4B9-2837-4E5F-893C-4ED413EC1222}" destId="{5ED03076-13BC-4996-A0D4-D015E1150D51}" srcOrd="1" destOrd="0" presId="urn:microsoft.com/office/officeart/2005/8/layout/arrow3"/>
    <dgm:cxn modelId="{FB022748-83AB-48CA-B2EC-9E52486DB63F}" type="presParOf" srcId="{B085D4B9-2837-4E5F-893C-4ED413EC1222}" destId="{276D9D2B-FA7D-4F7B-B6F4-B8CB233A0A89}" srcOrd="2" destOrd="0" presId="urn:microsoft.com/office/officeart/2005/8/layout/arrow3"/>
    <dgm:cxn modelId="{005CE72C-6269-4134-81CC-4173B93EEF46}" type="presParOf" srcId="{B085D4B9-2837-4E5F-893C-4ED413EC1222}" destId="{97626F1F-AE0A-493B-B957-194A0AE7CA5A}" srcOrd="3" destOrd="0" presId="urn:microsoft.com/office/officeart/2005/8/layout/arrow3"/>
    <dgm:cxn modelId="{3D242F84-4C04-456C-B6E9-5D95CA5DFF92}" type="presParOf" srcId="{B085D4B9-2837-4E5F-893C-4ED413EC1222}" destId="{91C267F5-EA39-4A7A-9573-365FB1833CD7}" srcOrd="4" destOrd="0" presId="urn:microsoft.com/office/officeart/2005/8/layout/arrow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8DF28-8A07-4454-AE1B-858AD75E68D9}">
      <dsp:nvSpPr>
        <dsp:cNvPr id="0" name=""/>
        <dsp:cNvSpPr/>
      </dsp:nvSpPr>
      <dsp:spPr>
        <a:xfrm rot="21300000">
          <a:off x="16812" y="1231484"/>
          <a:ext cx="6671975" cy="677105"/>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03076-13BC-4996-A0D4-D015E1150D51}">
      <dsp:nvSpPr>
        <dsp:cNvPr id="0" name=""/>
        <dsp:cNvSpPr/>
      </dsp:nvSpPr>
      <dsp:spPr>
        <a:xfrm>
          <a:off x="804672" y="157003"/>
          <a:ext cx="2011680" cy="1256030"/>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6D9D2B-FA7D-4F7B-B6F4-B8CB233A0A89}">
      <dsp:nvSpPr>
        <dsp:cNvPr id="0" name=""/>
        <dsp:cNvSpPr/>
      </dsp:nvSpPr>
      <dsp:spPr>
        <a:xfrm>
          <a:off x="3553968" y="0"/>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Gospel</a:t>
          </a:r>
        </a:p>
      </dsp:txBody>
      <dsp:txXfrm>
        <a:off x="3553968" y="0"/>
        <a:ext cx="2145792" cy="1318831"/>
      </dsp:txXfrm>
    </dsp:sp>
    <dsp:sp modelId="{97626F1F-AE0A-493B-B957-194A0AE7CA5A}">
      <dsp:nvSpPr>
        <dsp:cNvPr id="0" name=""/>
        <dsp:cNvSpPr/>
      </dsp:nvSpPr>
      <dsp:spPr>
        <a:xfrm>
          <a:off x="3889248" y="1727041"/>
          <a:ext cx="2011680" cy="1256030"/>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C267F5-EA39-4A7A-9573-365FB1833CD7}">
      <dsp:nvSpPr>
        <dsp:cNvPr id="0" name=""/>
        <dsp:cNvSpPr/>
      </dsp:nvSpPr>
      <dsp:spPr>
        <a:xfrm>
          <a:off x="1005840" y="1821243"/>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Law</a:t>
          </a:r>
        </a:p>
      </dsp:txBody>
      <dsp:txXfrm>
        <a:off x="1005840" y="1821243"/>
        <a:ext cx="2145792" cy="13188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8DF28-8A07-4454-AE1B-858AD75E68D9}">
      <dsp:nvSpPr>
        <dsp:cNvPr id="0" name=""/>
        <dsp:cNvSpPr/>
      </dsp:nvSpPr>
      <dsp:spPr>
        <a:xfrm rot="21300000">
          <a:off x="16812" y="1231484"/>
          <a:ext cx="6671975" cy="677105"/>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03076-13BC-4996-A0D4-D015E1150D51}">
      <dsp:nvSpPr>
        <dsp:cNvPr id="0" name=""/>
        <dsp:cNvSpPr/>
      </dsp:nvSpPr>
      <dsp:spPr>
        <a:xfrm>
          <a:off x="804672" y="157003"/>
          <a:ext cx="2011680" cy="1256030"/>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6D9D2B-FA7D-4F7B-B6F4-B8CB233A0A89}">
      <dsp:nvSpPr>
        <dsp:cNvPr id="0" name=""/>
        <dsp:cNvSpPr/>
      </dsp:nvSpPr>
      <dsp:spPr>
        <a:xfrm>
          <a:off x="3553968" y="0"/>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en-US" sz="3700" kern="1200" dirty="0"/>
            <a:t>Sacred</a:t>
          </a:r>
        </a:p>
      </dsp:txBody>
      <dsp:txXfrm>
        <a:off x="3553968" y="0"/>
        <a:ext cx="2145792" cy="1318831"/>
      </dsp:txXfrm>
    </dsp:sp>
    <dsp:sp modelId="{97626F1F-AE0A-493B-B957-194A0AE7CA5A}">
      <dsp:nvSpPr>
        <dsp:cNvPr id="0" name=""/>
        <dsp:cNvSpPr/>
      </dsp:nvSpPr>
      <dsp:spPr>
        <a:xfrm>
          <a:off x="3889248" y="1727041"/>
          <a:ext cx="2011680" cy="1256030"/>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C267F5-EA39-4A7A-9573-365FB1833CD7}">
      <dsp:nvSpPr>
        <dsp:cNvPr id="0" name=""/>
        <dsp:cNvSpPr/>
      </dsp:nvSpPr>
      <dsp:spPr>
        <a:xfrm>
          <a:off x="1005840" y="1821243"/>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en-US" sz="3700" kern="1200" dirty="0"/>
            <a:t>Secular</a:t>
          </a:r>
        </a:p>
      </dsp:txBody>
      <dsp:txXfrm>
        <a:off x="1005840" y="1821243"/>
        <a:ext cx="2145792" cy="1318831"/>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iscoverhistoricjesus.com/oldest-gospel-of-john-fragment/"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library.biblicalarchaeology.org/sidebar/earliest-new-testament-fragment/"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37" lvl="0" indent="-171437">
              <a:buFont typeface="Arial" pitchFamily="34" charset="0"/>
              <a:buChar char="•"/>
            </a:pPr>
            <a:r>
              <a:rPr lang="en-US" sz="1400" baseline="0" dirty="0"/>
              <a:t>Consider the effects of grace vs works theology.   Contrast with early Christian believes and practices.</a:t>
            </a:r>
          </a:p>
          <a:p>
            <a:pPr marL="171437" lvl="0" indent="-171437">
              <a:buFont typeface="Arial" pitchFamily="34" charset="0"/>
              <a:buChar char="•"/>
            </a:pPr>
            <a:r>
              <a:rPr lang="en-US" sz="1400" baseline="0" dirty="0"/>
              <a:t>Consider that the letter reflects Paul’s premise that the Roman Church is mature, established, and practicing within the Kingdom of God already.   What does this imply relative to other Pauline letters?</a:t>
            </a:r>
          </a:p>
          <a:p>
            <a:pPr marL="171437" lvl="0" indent="-171437">
              <a:buFont typeface="Arial" pitchFamily="34" charset="0"/>
              <a:buChar char="•"/>
            </a:pPr>
            <a:r>
              <a:rPr lang="en-US" sz="1400" baseline="0" dirty="0"/>
              <a:t>Consider the premise that “Faith calls for Action”.   For Example, why did Luther reject James’ letter but embrace Romans so deliberately?</a:t>
            </a:r>
          </a:p>
          <a:p>
            <a:pPr marL="171437" lvl="0" indent="-171437">
              <a:buFont typeface="Arial" pitchFamily="34" charset="0"/>
              <a:buChar char="•"/>
            </a:pPr>
            <a:r>
              <a:rPr lang="en-US" sz="1400" baseline="0" dirty="0"/>
              <a:t>False teaching…  why did Jesus and His Apostles spend so much energy addressing this issue?    </a:t>
            </a:r>
          </a:p>
          <a:p>
            <a:pPr marL="628637" lvl="1" indent="-171437">
              <a:buFont typeface="Arial" pitchFamily="34" charset="0"/>
              <a:buChar char="•"/>
            </a:pPr>
            <a:r>
              <a:rPr lang="en-US" sz="1400" baseline="0" dirty="0"/>
              <a:t>I John 1:18-28</a:t>
            </a:r>
          </a:p>
          <a:p>
            <a:pPr marL="628637" lvl="1" indent="-171437">
              <a:buFont typeface="Arial" pitchFamily="34" charset="0"/>
              <a:buChar char="•"/>
            </a:pPr>
            <a:endParaRPr lang="en-US" baseline="0" dirty="0"/>
          </a:p>
          <a:p>
            <a:pPr marL="628637" lvl="1"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r>
              <a:rPr lang="en-US" sz="1400" dirty="0">
                <a:hlinkClick r:id="rId3"/>
              </a:rPr>
              <a:t>Oldest Gospel of John fragment - Discover Historic Jesus</a:t>
            </a:r>
            <a:endParaRPr lang="en-US" sz="1400" dirty="0"/>
          </a:p>
          <a:p>
            <a:endParaRPr lang="en-US" sz="1400" dirty="0"/>
          </a:p>
          <a:p>
            <a:r>
              <a:rPr lang="en-US" sz="1400" dirty="0"/>
              <a:t>discoverhistoricjesus.com/oldest-gospel-of-john-fragment/</a:t>
            </a:r>
          </a:p>
          <a:p>
            <a:endParaRPr lang="en-US" sz="1400" dirty="0"/>
          </a:p>
          <a:p>
            <a:r>
              <a:rPr lang="en-US" sz="1400" dirty="0">
                <a:hlinkClick r:id="rId4"/>
              </a:rPr>
              <a:t>Earliest New Testament Fragment - The BAS Library</a:t>
            </a:r>
            <a:endParaRPr lang="en-US" sz="1400" dirty="0"/>
          </a:p>
          <a:p>
            <a:endParaRPr lang="en-US" sz="1400" dirty="0"/>
          </a:p>
          <a:p>
            <a:r>
              <a:rPr lang="en-US" sz="1400" dirty="0"/>
              <a:t>library.biblicalarchaeology.org/sidebar/earliest-new-testament-fragment/</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5091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40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dirty="0"/>
              <a:t>John 18:31-38  </a:t>
            </a:r>
            <a:r>
              <a:rPr lang="en-US" sz="1400" b="0" i="0" u="none" strike="noStrike" kern="1200" baseline="0" dirty="0">
                <a:solidFill>
                  <a:schemeClr val="tx1"/>
                </a:solidFill>
                <a:latin typeface="+mn-lt"/>
                <a:ea typeface="ＭＳ Ｐゴシック" pitchFamily="-106" charset="-128"/>
                <a:cs typeface="ＭＳ Ｐゴシック" pitchFamily="-106" charset="-128"/>
              </a:rPr>
              <a:t>Pilate told them, “Take him yourselves and pass judgment on him according to your own law!” The Jewish leaders replied, “We cannot legally put anyone to death.”  (32)  (This happened to fulfill the word Jesus had spoken when he indicated what kind of death he was going to die.)</a:t>
            </a:r>
            <a:r>
              <a:rPr lang="en-US" sz="1400" dirty="0"/>
              <a:t>  (33) So Pilate went back into the governor’s residence, summoned Jesus, and asked him, “Are you the king of the Jews?”  (34)  Jesus replied, “Are you saying this on your own initiative, or have others told you about me?”  (35)  Pilate answered, “I am not a Jew, am I? Your own people and your chief priests handed you over to me. What have you done?”  (36)  Jesus replied, “My kingdom is not from this world. If my kingdom were from this world, my servants would be fighting to keep me from being handed over to the Jewish authorities. But as it is, my kingdom is not from here.”  (37)  Then Pilate said, “So you are a king!” </a:t>
            </a:r>
            <a:r>
              <a:rPr lang="en-US" sz="1400" b="1" dirty="0"/>
              <a:t>Jesus replied, “You say that I am a king. For this reason I was born, and for this reason I came into the world – to testify to the truth. </a:t>
            </a:r>
            <a:r>
              <a:rPr lang="en-US" sz="1400" b="1" i="1" u="sng" dirty="0"/>
              <a:t>Everyone who belongs to the truth listens to my voice</a:t>
            </a:r>
            <a:r>
              <a:rPr lang="en-US" sz="1400" b="1" i="1" dirty="0"/>
              <a:t>.”  </a:t>
            </a:r>
            <a:r>
              <a:rPr lang="en-US" sz="1400" dirty="0"/>
              <a:t>(38)  Pilate asked, “What is truth?” When he had said this he went back outside to the Jewish leaders and announced, “I find no basis for an accusation against him.</a:t>
            </a:r>
          </a:p>
          <a:p>
            <a:endParaRPr lang="en-US" sz="1400" dirty="0"/>
          </a:p>
          <a:p>
            <a:endParaRPr lang="en-US" sz="1400" dirty="0"/>
          </a:p>
          <a:p>
            <a:r>
              <a:rPr lang="en-US" sz="1400" b="1" dirty="0"/>
              <a:t>Prior generations of Christians were tasked not only with evangelizing the World, but also with preservation of the Gospel even under extreme circumstances.</a:t>
            </a:r>
          </a:p>
          <a:p>
            <a:endParaRPr lang="en-US" sz="1400" b="1" dirty="0"/>
          </a:p>
          <a:p>
            <a:r>
              <a:rPr lang="en-US" sz="1400" b="1" dirty="0"/>
              <a:t>Our generation is tasked with what?</a:t>
            </a:r>
          </a:p>
          <a:p>
            <a:endParaRPr lang="en-US" b="1" dirty="0"/>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47840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400" baseline="0" dirty="0"/>
              <a:t>Why would Jesus state that the reason he was here was </a:t>
            </a:r>
            <a:r>
              <a:rPr lang="en-US" sz="1400" b="1" baseline="0" dirty="0"/>
              <a:t>because of Truth</a:t>
            </a:r>
            <a:r>
              <a:rPr lang="en-US" sz="1400" baseline="0" dirty="0"/>
              <a:t>?    </a:t>
            </a:r>
            <a:r>
              <a:rPr lang="en-US" sz="1400" b="1" baseline="0" dirty="0"/>
              <a:t>John 18:37</a:t>
            </a:r>
          </a:p>
          <a:p>
            <a:endParaRPr lang="en-US" sz="1400" baseline="0" dirty="0"/>
          </a:p>
          <a:p>
            <a:pPr marL="171450" indent="-171450">
              <a:buFont typeface="Arial" panose="020B0604020202020204" pitchFamily="34" charset="0"/>
              <a:buChar char="•"/>
            </a:pPr>
            <a:r>
              <a:rPr lang="en-US" sz="1400" baseline="0" dirty="0"/>
              <a:t>Begin with a discussion of the nature of Truth</a:t>
            </a:r>
          </a:p>
          <a:p>
            <a:pPr marL="628650" lvl="1" indent="-171450">
              <a:buFont typeface="Arial" panose="020B0604020202020204" pitchFamily="34" charset="0"/>
              <a:buChar char="•"/>
            </a:pPr>
            <a:r>
              <a:rPr lang="en-US" sz="1400" baseline="0" dirty="0"/>
              <a:t>John 18:31-38</a:t>
            </a:r>
          </a:p>
          <a:p>
            <a:pPr marL="628650" lvl="1" indent="-171450">
              <a:buFont typeface="Arial" panose="020B0604020202020204" pitchFamily="34" charset="0"/>
              <a:buChar char="•"/>
            </a:pPr>
            <a:r>
              <a:rPr lang="en-US" sz="1400" b="1" baseline="0" dirty="0"/>
              <a:t>Why would Jesus state “Truth” as the cause for which He had “come into the world”…?</a:t>
            </a:r>
          </a:p>
          <a:p>
            <a:pPr marL="1085850" lvl="2" indent="-171450">
              <a:buFont typeface="Arial" panose="020B0604020202020204" pitchFamily="34" charset="0"/>
              <a:buChar char="•"/>
            </a:pPr>
            <a:r>
              <a:rPr lang="en-US" sz="1400" baseline="0" dirty="0"/>
              <a:t>Religious truth?   Reality?   Intellectual?   Universal?</a:t>
            </a:r>
          </a:p>
          <a:p>
            <a:pPr marL="171450" lvl="0" indent="-171450">
              <a:buFont typeface="Arial" panose="020B0604020202020204" pitchFamily="34" charset="0"/>
              <a:buChar char="•"/>
            </a:pPr>
            <a:r>
              <a:rPr lang="en-US" sz="1400" baseline="0" dirty="0"/>
              <a:t>Nature of truth</a:t>
            </a:r>
          </a:p>
          <a:p>
            <a:pPr marL="628650" lvl="1" indent="-171450">
              <a:buFont typeface="Arial" panose="020B0604020202020204" pitchFamily="34" charset="0"/>
              <a:buChar char="•"/>
            </a:pPr>
            <a:r>
              <a:rPr lang="en-US" sz="1400" b="1" baseline="0" dirty="0"/>
              <a:t>How do we know that we know something?</a:t>
            </a:r>
          </a:p>
          <a:p>
            <a:pPr marL="1085850" lvl="2" indent="-171450">
              <a:buFont typeface="Arial" panose="020B0604020202020204" pitchFamily="34" charset="0"/>
              <a:buChar char="•"/>
            </a:pPr>
            <a:r>
              <a:rPr lang="en-US" sz="1400" baseline="0" dirty="0"/>
              <a:t>Facts, evidences, and interpretation.</a:t>
            </a:r>
          </a:p>
          <a:p>
            <a:pPr marL="1085850" lvl="2" indent="-171450">
              <a:buFont typeface="Arial" panose="020B0604020202020204" pitchFamily="34" charset="0"/>
              <a:buChar char="•"/>
            </a:pPr>
            <a:r>
              <a:rPr lang="en-US" sz="1400" baseline="0" dirty="0"/>
              <a:t>Knowledge without experience (e.g. 2+2=4).</a:t>
            </a:r>
          </a:p>
          <a:p>
            <a:pPr marL="1085850" lvl="2" indent="-171450">
              <a:buFont typeface="Arial" panose="020B0604020202020204" pitchFamily="34" charset="0"/>
              <a:buChar char="•"/>
            </a:pPr>
            <a:r>
              <a:rPr lang="en-US" sz="1400" baseline="0" dirty="0"/>
              <a:t>Knowledge from experience (e.g. we can walk outside, look, and verify that my car is a black Honda Element).</a:t>
            </a:r>
          </a:p>
          <a:p>
            <a:pPr marL="1085850" lvl="2" indent="-171450">
              <a:buFont typeface="Arial" panose="020B0604020202020204" pitchFamily="34" charset="0"/>
              <a:buChar char="•"/>
            </a:pPr>
            <a:r>
              <a:rPr lang="en-US" sz="1400" baseline="0" dirty="0"/>
              <a:t>But, how can we “experience” an abstract concept that we all acknowledge as existing and “true” (e.g. 2+2=4)…?</a:t>
            </a:r>
          </a:p>
          <a:p>
            <a:pPr marL="628650" lvl="1" indent="-171450">
              <a:buFont typeface="Arial" panose="020B0604020202020204" pitchFamily="34" charset="0"/>
              <a:buChar char="•"/>
            </a:pPr>
            <a:r>
              <a:rPr lang="en-US" sz="1400" b="1" baseline="0" dirty="0"/>
              <a:t>Law of non-contradiction </a:t>
            </a:r>
            <a:r>
              <a:rPr lang="en-US" sz="1400" baseline="0" dirty="0"/>
              <a:t>(e.g.  No such thing as a round square).   This is the basis for all logical thinking.</a:t>
            </a:r>
          </a:p>
          <a:p>
            <a:pPr marL="628650" lvl="1" indent="-171450">
              <a:buFont typeface="Arial" panose="020B0604020202020204" pitchFamily="34" charset="0"/>
              <a:buChar char="•"/>
            </a:pPr>
            <a:r>
              <a:rPr lang="en-US" sz="1400" b="1" baseline="0" dirty="0"/>
              <a:t>Correspondence</a:t>
            </a:r>
            <a:r>
              <a:rPr lang="en-US" sz="1400" baseline="0" dirty="0"/>
              <a:t> – How any proposition corresponds to reality?</a:t>
            </a:r>
          </a:p>
          <a:p>
            <a:pPr marL="628650" lvl="1" indent="-171450">
              <a:buFont typeface="Arial" panose="020B0604020202020204" pitchFamily="34" charset="0"/>
              <a:buChar char="•"/>
            </a:pPr>
            <a:r>
              <a:rPr lang="en-US" sz="1400" b="1" baseline="0" dirty="0"/>
              <a:t>Correlation</a:t>
            </a:r>
            <a:r>
              <a:rPr lang="en-US" sz="1400" baseline="0" dirty="0"/>
              <a:t> – How do all the facts correlate?</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900050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400" b="1" dirty="0"/>
              <a:t>THE</a:t>
            </a:r>
            <a:r>
              <a:rPr lang="en-US" sz="1400" b="1" baseline="0" dirty="0"/>
              <a:t> QUESTIONS:</a:t>
            </a:r>
            <a:endParaRPr lang="en-US" sz="1400" b="1" dirty="0"/>
          </a:p>
          <a:p>
            <a:pPr marL="171450" indent="-171450">
              <a:buFont typeface="Arial" pitchFamily="34" charset="0"/>
              <a:buChar char="•"/>
            </a:pPr>
            <a:r>
              <a:rPr lang="en-US" sz="1400" dirty="0"/>
              <a:t>How can a perfectly </a:t>
            </a:r>
            <a:r>
              <a:rPr lang="en-US" sz="1400" b="1" dirty="0"/>
              <a:t>just</a:t>
            </a:r>
            <a:r>
              <a:rPr lang="en-US" sz="1400" dirty="0"/>
              <a:t> God forgive</a:t>
            </a:r>
            <a:r>
              <a:rPr lang="en-US" sz="1400" baseline="0" dirty="0"/>
              <a:t> sins? </a:t>
            </a:r>
          </a:p>
          <a:p>
            <a:pPr marL="171450" indent="-171450">
              <a:buFont typeface="Arial" pitchFamily="34" charset="0"/>
              <a:buChar char="•"/>
            </a:pPr>
            <a:r>
              <a:rPr lang="en-US" sz="1400" baseline="0" dirty="0"/>
              <a:t>How can </a:t>
            </a:r>
            <a:r>
              <a:rPr lang="en-US" sz="1400" b="1" baseline="0" dirty="0"/>
              <a:t>sinful</a:t>
            </a:r>
            <a:r>
              <a:rPr lang="en-US" sz="1400" baseline="0" dirty="0"/>
              <a:t> man find favor with a </a:t>
            </a:r>
            <a:r>
              <a:rPr lang="en-US" sz="1400" b="1" baseline="0" dirty="0"/>
              <a:t>righteous</a:t>
            </a:r>
            <a:r>
              <a:rPr lang="en-US" sz="1400" baseline="0" dirty="0"/>
              <a:t> God?</a:t>
            </a:r>
          </a:p>
          <a:p>
            <a:pPr marL="171450" indent="-171450">
              <a:buFont typeface="Arial" pitchFamily="34" charset="0"/>
              <a:buChar char="•"/>
            </a:pPr>
            <a:r>
              <a:rPr lang="en-US" sz="1400" baseline="0" dirty="0"/>
              <a:t>Why does a </a:t>
            </a:r>
            <a:r>
              <a:rPr lang="en-US" sz="1400" b="1" baseline="0" dirty="0"/>
              <a:t>just</a:t>
            </a:r>
            <a:r>
              <a:rPr lang="en-US" sz="1400" baseline="0" dirty="0"/>
              <a:t> God allow </a:t>
            </a:r>
            <a:r>
              <a:rPr lang="en-US" sz="1400" b="1" baseline="0" dirty="0"/>
              <a:t>evil</a:t>
            </a:r>
            <a:r>
              <a:rPr lang="en-US" sz="1400" baseline="0" dirty="0"/>
              <a:t> to persist?</a:t>
            </a:r>
          </a:p>
          <a:p>
            <a:pPr marL="171450" indent="-171450">
              <a:buFont typeface="Arial" pitchFamily="34" charset="0"/>
              <a:buChar char="•"/>
            </a:pPr>
            <a:r>
              <a:rPr lang="en-US" sz="1400" baseline="0" dirty="0"/>
              <a:t>Others…?</a:t>
            </a:r>
            <a:endParaRPr lang="en-US" sz="1400" dirty="0"/>
          </a:p>
          <a:p>
            <a:endParaRPr lang="en-US" sz="1400" dirty="0"/>
          </a:p>
          <a:p>
            <a:r>
              <a:rPr lang="en-US" sz="1400" dirty="0"/>
              <a:t>GRACE:</a:t>
            </a:r>
            <a:r>
              <a:rPr lang="en-US" sz="1400" baseline="0" dirty="0"/>
              <a:t>   A term easily spoken but profound in meaning.</a:t>
            </a:r>
          </a:p>
          <a:p>
            <a:r>
              <a:rPr lang="en-US" sz="1400" baseline="0" dirty="0"/>
              <a:t>Eph. 2:8   “For by </a:t>
            </a:r>
            <a:r>
              <a:rPr lang="en-US" sz="1400" b="1" baseline="0" dirty="0"/>
              <a:t>grace</a:t>
            </a:r>
            <a:r>
              <a:rPr lang="en-US" sz="1400" baseline="0" dirty="0"/>
              <a:t> you have been saved through faith, and that not of yourselves; it is the gift of God, not of works, lest anyone should boast.</a:t>
            </a:r>
          </a:p>
          <a:p>
            <a:endParaRPr lang="en-US" sz="1400" baseline="0" dirty="0"/>
          </a:p>
          <a:p>
            <a:r>
              <a:rPr lang="en-US" sz="1400" baseline="0" dirty="0"/>
              <a:t>Romans is the definitive Gospel according to Paul.  The impact on History via the letter to the Roman Christians is profound:</a:t>
            </a:r>
          </a:p>
          <a:p>
            <a:pPr marL="0" indent="0">
              <a:buFontTx/>
              <a:buNone/>
            </a:pPr>
            <a:endParaRPr lang="en-US" sz="1400" baseline="0" dirty="0"/>
          </a:p>
          <a:p>
            <a:pPr marL="0" indent="0">
              <a:buFontTx/>
              <a:buNone/>
            </a:pPr>
            <a:r>
              <a:rPr lang="en-US" sz="1400" baseline="0" dirty="0"/>
              <a:t>Romans displays:</a:t>
            </a:r>
          </a:p>
          <a:p>
            <a:pPr marL="171450" indent="-171450">
              <a:buFontTx/>
              <a:buChar char="-"/>
            </a:pPr>
            <a:r>
              <a:rPr lang="en-US" sz="1400" baseline="0" dirty="0"/>
              <a:t>God’s righteousness</a:t>
            </a:r>
          </a:p>
          <a:p>
            <a:pPr marL="171450" indent="-171450">
              <a:buFontTx/>
              <a:buChar char="-"/>
            </a:pPr>
            <a:r>
              <a:rPr lang="en-US" sz="1400" baseline="0" dirty="0"/>
              <a:t>Our iniquity, and </a:t>
            </a:r>
          </a:p>
          <a:p>
            <a:pPr marL="171450" indent="-171450">
              <a:buFontTx/>
              <a:buChar char="-"/>
            </a:pPr>
            <a:r>
              <a:rPr lang="en-US" sz="1400" baseline="0" dirty="0"/>
              <a:t>God’s remedy through Grace</a:t>
            </a:r>
          </a:p>
          <a:p>
            <a:pPr marL="171450" indent="-171450">
              <a:buFontTx/>
              <a:buChar char="-"/>
            </a:pPr>
            <a:r>
              <a:rPr lang="en-US" sz="1400" baseline="0" dirty="0"/>
              <a:t>The connection between Grace and Faith</a:t>
            </a:r>
          </a:p>
          <a:p>
            <a:pPr marL="0" indent="0">
              <a:buFontTx/>
              <a:buNone/>
            </a:pPr>
            <a:endParaRPr lang="en-US" sz="1400" baseline="0" dirty="0"/>
          </a:p>
          <a:p>
            <a:pPr marL="0" indent="0">
              <a:buFontTx/>
              <a:buNone/>
            </a:pPr>
            <a:r>
              <a:rPr lang="en-US" sz="1400" baseline="0" dirty="0"/>
              <a:t>A type of Faith that calls for action.   Demonstrated obedience in response to God’s Grace.  A Righteousness imputed (2 Cor. 5:21).</a:t>
            </a:r>
          </a:p>
          <a:p>
            <a:pPr marL="0" indent="0">
              <a:buFontTx/>
              <a:buNone/>
            </a:pPr>
            <a:endParaRPr lang="en-US" sz="1400" baseline="0" dirty="0"/>
          </a:p>
          <a:p>
            <a:pPr marL="0" indent="0">
              <a:buFontTx/>
              <a:buNone/>
            </a:pPr>
            <a:r>
              <a:rPr lang="en-US" sz="1400" baseline="0" dirty="0"/>
              <a:t>Psalms 32:1-2</a:t>
            </a:r>
          </a:p>
          <a:p>
            <a:pPr marL="285750" indent="-285750">
              <a:buFont typeface="Arial" panose="020B0604020202020204" pitchFamily="34" charset="0"/>
              <a:buChar char="•"/>
            </a:pPr>
            <a:r>
              <a:rPr lang="en-US" sz="1400" baseline="0" dirty="0"/>
              <a:t>“no deceit”…   honest with others and with oneself.</a:t>
            </a:r>
          </a:p>
          <a:p>
            <a:pPr marL="285750" indent="-285750">
              <a:buFont typeface="Arial" panose="020B0604020202020204" pitchFamily="34" charset="0"/>
              <a:buChar char="•"/>
            </a:pPr>
            <a:r>
              <a:rPr lang="en-US" sz="1400" baseline="0" dirty="0"/>
              <a:t>“not impute iniquity”….   Convey righteousness.</a:t>
            </a:r>
          </a:p>
          <a:p>
            <a:pPr marL="0" indent="0">
              <a:buFontTx/>
              <a:buNone/>
            </a:pPr>
            <a:endParaRPr lang="en-US" sz="1400" baseline="0" dirty="0"/>
          </a:p>
          <a:p>
            <a:pPr marL="0" indent="0">
              <a:buFontTx/>
              <a:buNone/>
            </a:pPr>
            <a:endParaRPr lang="en-US" sz="1400"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Paul’s letters</a:t>
            </a:r>
            <a:r>
              <a:rPr lang="en-US" baseline="0" dirty="0"/>
              <a:t> tend to demonstrate a pattern of thought…   1 Cor. 13</a:t>
            </a:r>
          </a:p>
          <a:p>
            <a:endParaRPr lang="en-US" baseline="0" dirty="0"/>
          </a:p>
          <a:p>
            <a:r>
              <a:rPr lang="en-US" baseline="0" dirty="0"/>
              <a:t>Chapters 1-3 – Establishing the Situation, Problem, and Implications, leading to a Needs Analysis.</a:t>
            </a:r>
          </a:p>
          <a:p>
            <a:endParaRPr lang="en-US" baseline="0" dirty="0"/>
          </a:p>
          <a:p>
            <a:pPr marL="628650" lvl="1" indent="-171450">
              <a:buFont typeface="Arial" panose="020B0604020202020204" pitchFamily="34" charset="0"/>
              <a:buChar char="•"/>
            </a:pPr>
            <a:r>
              <a:rPr lang="en-US" baseline="0" dirty="0"/>
              <a:t>The three types of Man</a:t>
            </a:r>
          </a:p>
          <a:p>
            <a:pPr marL="1085850" lvl="2" indent="-171450">
              <a:buFont typeface="Arial" panose="020B0604020202020204" pitchFamily="34" charset="0"/>
              <a:buChar char="•"/>
            </a:pPr>
            <a:r>
              <a:rPr lang="en-US" dirty="0"/>
              <a:t>The Natural Man</a:t>
            </a:r>
          </a:p>
          <a:p>
            <a:pPr marL="1085850" lvl="2" indent="-171450">
              <a:buFont typeface="Arial" panose="020B0604020202020204" pitchFamily="34" charset="0"/>
              <a:buChar char="•"/>
            </a:pPr>
            <a:r>
              <a:rPr lang="en-US" dirty="0"/>
              <a:t>The Moral Man</a:t>
            </a:r>
          </a:p>
          <a:p>
            <a:pPr marL="1085850" lvl="2" indent="-171450">
              <a:buFont typeface="Arial" panose="020B0604020202020204" pitchFamily="34" charset="0"/>
              <a:buChar char="•"/>
            </a:pPr>
            <a:r>
              <a:rPr lang="en-US" dirty="0"/>
              <a:t>The Spiritual</a:t>
            </a:r>
            <a:r>
              <a:rPr lang="en-US" baseline="0" dirty="0"/>
              <a:t> Man</a:t>
            </a:r>
          </a:p>
          <a:p>
            <a:pPr marL="628650" lvl="1" indent="-171450">
              <a:buFont typeface="Arial" panose="020B0604020202020204" pitchFamily="34" charset="0"/>
              <a:buChar char="•"/>
            </a:pPr>
            <a:r>
              <a:rPr lang="en-US" baseline="0" dirty="0"/>
              <a:t>The Elements of Reality</a:t>
            </a:r>
          </a:p>
          <a:p>
            <a:pPr marL="1085850" lvl="2" indent="-171450">
              <a:buFont typeface="Arial" panose="020B0604020202020204" pitchFamily="34" charset="0"/>
              <a:buChar char="•"/>
            </a:pPr>
            <a:r>
              <a:rPr lang="en-US" baseline="0" dirty="0"/>
              <a:t>Origins</a:t>
            </a:r>
          </a:p>
          <a:p>
            <a:pPr marL="1085850" lvl="2" indent="-171450">
              <a:buFont typeface="Arial" panose="020B0604020202020204" pitchFamily="34" charset="0"/>
              <a:buChar char="•"/>
            </a:pPr>
            <a:r>
              <a:rPr lang="en-US" baseline="0" dirty="0"/>
              <a:t>Meaning</a:t>
            </a:r>
          </a:p>
          <a:p>
            <a:pPr marL="1085850" lvl="2" indent="-171450">
              <a:buFont typeface="Arial" panose="020B0604020202020204" pitchFamily="34" charset="0"/>
              <a:buChar char="•"/>
            </a:pPr>
            <a:r>
              <a:rPr lang="en-US" baseline="0" dirty="0"/>
              <a:t>Morality</a:t>
            </a:r>
          </a:p>
          <a:p>
            <a:pPr marL="1085850" lvl="2" indent="-171450">
              <a:buFont typeface="Arial" panose="020B0604020202020204" pitchFamily="34" charset="0"/>
              <a:buChar char="•"/>
            </a:pPr>
            <a:r>
              <a:rPr lang="en-US" baseline="0" dirty="0"/>
              <a:t>Destiny</a:t>
            </a:r>
          </a:p>
          <a:p>
            <a:pPr marL="628650" lvl="1" indent="-171450">
              <a:buFont typeface="Arial" panose="020B0604020202020204" pitchFamily="34" charset="0"/>
              <a:buChar char="•"/>
            </a:pPr>
            <a:r>
              <a:rPr lang="en-US" baseline="0" dirty="0"/>
              <a:t>We are all part of a fallen race</a:t>
            </a:r>
          </a:p>
          <a:p>
            <a:pPr marL="1085850" lvl="2" indent="-171450">
              <a:buFont typeface="Arial" panose="020B0604020202020204" pitchFamily="34" charset="0"/>
              <a:buChar char="•"/>
            </a:pPr>
            <a:r>
              <a:rPr lang="en-US" baseline="0" dirty="0"/>
              <a:t>CH1:   Pagan or Natural Man – Evidence from Creation enough!   Guilty!</a:t>
            </a:r>
          </a:p>
          <a:p>
            <a:pPr marL="1085850" lvl="2" indent="-171450">
              <a:buFont typeface="Arial" panose="020B0604020202020204" pitchFamily="34" charset="0"/>
              <a:buChar char="•"/>
            </a:pPr>
            <a:r>
              <a:rPr lang="en-US" baseline="0" dirty="0"/>
              <a:t>CH2:   Moral Man – Doesn’t live-up to his own conscience!   Guilty!</a:t>
            </a:r>
          </a:p>
          <a:p>
            <a:pPr marL="1085850" lvl="2" indent="-171450">
              <a:buFont typeface="Arial" panose="020B0604020202020204" pitchFamily="34" charset="0"/>
              <a:buChar char="•"/>
            </a:pPr>
            <a:r>
              <a:rPr lang="en-US" baseline="0" dirty="0"/>
              <a:t>CH3:   Spiritual Man – Commitment and sincerity are flawed!   Guilty!</a:t>
            </a:r>
          </a:p>
          <a:p>
            <a:pPr marL="0" indent="0">
              <a:buFont typeface="Arial" pitchFamily="34" charset="0"/>
              <a:buNone/>
            </a:pPr>
            <a:endParaRPr lang="en-US" sz="1200" i="1" dirty="0"/>
          </a:p>
          <a:p>
            <a:pPr marL="0" indent="0">
              <a:buFont typeface="Arial" pitchFamily="34" charset="0"/>
              <a:buNone/>
            </a:pPr>
            <a:r>
              <a:rPr lang="en-US" sz="1200" i="1" dirty="0"/>
              <a:t>God’s greatest</a:t>
            </a:r>
            <a:r>
              <a:rPr lang="en-US" sz="1200" i="1" baseline="0" dirty="0"/>
              <a:t> problem:</a:t>
            </a:r>
          </a:p>
          <a:p>
            <a:pPr marL="628650" lvl="1" indent="-171450">
              <a:buFont typeface="Arial" panose="020B0604020202020204" pitchFamily="34" charset="0"/>
              <a:buChar char="•"/>
            </a:pPr>
            <a:r>
              <a:rPr lang="en-US" sz="1200" i="1" dirty="0"/>
              <a:t>To compromise His hatred of sin would be to compromise</a:t>
            </a:r>
            <a:r>
              <a:rPr lang="en-US" sz="1200" i="1" baseline="0" dirty="0"/>
              <a:t> His character.</a:t>
            </a:r>
          </a:p>
          <a:p>
            <a:pPr marL="628650" lvl="1" indent="-171450">
              <a:buFont typeface="Arial" panose="020B0604020202020204" pitchFamily="34" charset="0"/>
              <a:buChar char="•"/>
            </a:pPr>
            <a:r>
              <a:rPr lang="en-US" sz="1200" i="1" baseline="0" dirty="0"/>
              <a:t>How does a Just God justify sinful man?</a:t>
            </a:r>
          </a:p>
          <a:p>
            <a:pPr marL="628650" lvl="1" indent="-171450">
              <a:buFont typeface="Arial" panose="020B0604020202020204" pitchFamily="34" charset="0"/>
              <a:buChar char="•"/>
            </a:pPr>
            <a:r>
              <a:rPr lang="en-US" sz="1200" i="1" baseline="0" dirty="0"/>
              <a:t>How can God permit man to enjoy the destiny originally prepared for him?</a:t>
            </a:r>
          </a:p>
          <a:p>
            <a:pPr marL="457200" lvl="1" indent="0">
              <a:buFont typeface="Arial" panose="020B0604020202020204" pitchFamily="34" charset="0"/>
              <a:buNone/>
            </a:pPr>
            <a:endParaRPr lang="en-US" sz="1200" i="1" baseline="0" dirty="0"/>
          </a:p>
          <a:p>
            <a:pPr marL="457200" lvl="1" indent="0">
              <a:buFont typeface="Arial" panose="020B0604020202020204" pitchFamily="34" charset="0"/>
              <a:buNone/>
            </a:pPr>
            <a:endParaRPr lang="en-US" sz="1200" i="1" dirty="0"/>
          </a:p>
          <a:p>
            <a:pPr marL="0" lv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400" dirty="0"/>
              <a:t>Verses 1-6 </a:t>
            </a:r>
          </a:p>
          <a:p>
            <a:pPr marL="171450" indent="-171450">
              <a:buFont typeface="Arial" pitchFamily="34" charset="0"/>
              <a:buChar char="•"/>
            </a:pPr>
            <a:r>
              <a:rPr lang="en-US" sz="1400" dirty="0"/>
              <a:t>v2 - Gospel of God; see 1 Cor. 15:1-4; </a:t>
            </a:r>
            <a:r>
              <a:rPr lang="en-US" sz="1400" b="1" dirty="0"/>
              <a:t>establishing link to OT </a:t>
            </a:r>
            <a:r>
              <a:rPr lang="en-US" sz="1400" dirty="0"/>
              <a:t>;</a:t>
            </a:r>
            <a:r>
              <a:rPr lang="en-US" sz="1400" baseline="0" dirty="0"/>
              <a:t> Gospel is of a </a:t>
            </a:r>
            <a:r>
              <a:rPr lang="en-US" sz="1400" b="1" baseline="0" dirty="0"/>
              <a:t>Person - Jesus</a:t>
            </a:r>
            <a:endParaRPr lang="en-US" sz="1400" b="1" dirty="0"/>
          </a:p>
          <a:p>
            <a:pPr marL="171450" indent="-171450">
              <a:buFont typeface="Arial" pitchFamily="34" charset="0"/>
              <a:buChar char="•"/>
            </a:pPr>
            <a:r>
              <a:rPr lang="en-US" sz="1400" dirty="0"/>
              <a:t>v3 – Prophetic validation of Him; see 2</a:t>
            </a:r>
            <a:r>
              <a:rPr lang="en-US" sz="1400" baseline="0" dirty="0"/>
              <a:t> Peter 1:19-21; made of the seed of David (flesh); declared to be the Son (power)</a:t>
            </a:r>
          </a:p>
          <a:p>
            <a:pPr marL="171450" indent="-171450">
              <a:buFont typeface="Arial" pitchFamily="34" charset="0"/>
              <a:buChar char="•"/>
            </a:pPr>
            <a:r>
              <a:rPr lang="en-US" sz="1400" baseline="0" dirty="0"/>
              <a:t>v4 – </a:t>
            </a:r>
            <a:r>
              <a:rPr lang="en-US" sz="1400" b="1" baseline="0" dirty="0"/>
              <a:t>Confirmed to be the Messiah </a:t>
            </a:r>
            <a:r>
              <a:rPr lang="en-US" sz="1400" baseline="0" dirty="0"/>
              <a:t>by predicted and factual Resurrection from death; see </a:t>
            </a:r>
            <a:r>
              <a:rPr lang="en-US" sz="1400" b="1" baseline="0" dirty="0"/>
              <a:t>Acts 2:22-36</a:t>
            </a:r>
          </a:p>
          <a:p>
            <a:pPr marL="171450" indent="-171450">
              <a:buFont typeface="Arial" pitchFamily="34" charset="0"/>
              <a:buChar char="•"/>
            </a:pPr>
            <a:r>
              <a:rPr lang="en-US" sz="1400" baseline="0" dirty="0"/>
              <a:t>v5 – Through Him; for His name; see Acts 2:21,22,32,36   </a:t>
            </a:r>
            <a:r>
              <a:rPr lang="en-US" sz="1400" b="1" baseline="0" dirty="0"/>
              <a:t>Acts 4:12</a:t>
            </a:r>
          </a:p>
          <a:p>
            <a:pPr marL="171450" indent="-171450">
              <a:buFont typeface="Arial" pitchFamily="34" charset="0"/>
              <a:buChar char="•"/>
            </a:pPr>
            <a:r>
              <a:rPr lang="en-US" sz="1400" baseline="0" dirty="0"/>
              <a:t>v6 – Called ; see </a:t>
            </a:r>
            <a:r>
              <a:rPr lang="en-US" sz="1400" b="1" baseline="0" dirty="0"/>
              <a:t>Gal. 3:24-29</a:t>
            </a:r>
          </a:p>
          <a:p>
            <a:pPr marL="0" indent="0">
              <a:buFont typeface="Arial" pitchFamily="34" charset="0"/>
              <a:buNone/>
            </a:pPr>
            <a:r>
              <a:rPr lang="en-US" sz="1400" baseline="0" dirty="0"/>
              <a:t>Verses 7-15</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baseline="0" dirty="0"/>
              <a:t>v7 – Saints “holy”;  see Gal. 3:24-29</a:t>
            </a:r>
          </a:p>
          <a:p>
            <a:pPr marL="171450" indent="-171450">
              <a:buFont typeface="Arial" pitchFamily="34" charset="0"/>
              <a:buChar char="•"/>
            </a:pPr>
            <a:r>
              <a:rPr lang="en-US" sz="1400" baseline="0" dirty="0"/>
              <a:t>v8 – Must’ve thrilled the hearer in Rome; they’ve heard of our </a:t>
            </a:r>
            <a:r>
              <a:rPr lang="en-US" sz="1400" b="1" baseline="0" dirty="0"/>
              <a:t>Faith</a:t>
            </a:r>
            <a:r>
              <a:rPr lang="en-US" sz="1400" baseline="0" dirty="0"/>
              <a:t> (what sets Christianity apart?)</a:t>
            </a:r>
          </a:p>
          <a:p>
            <a:pPr marL="171450" indent="-171450">
              <a:buFont typeface="Arial" pitchFamily="34" charset="0"/>
              <a:buChar char="•"/>
            </a:pPr>
            <a:r>
              <a:rPr lang="en-US" sz="1400" baseline="0" dirty="0"/>
              <a:t>v9 – Not saying this lightly; </a:t>
            </a:r>
            <a:r>
              <a:rPr lang="en-US" sz="1400" b="1" baseline="0" dirty="0"/>
              <a:t>serving with his spirit – a fulltime thing</a:t>
            </a:r>
            <a:r>
              <a:rPr lang="en-US" sz="1400" baseline="0" dirty="0"/>
              <a:t>; being real/honest; coming from the depths of his spirit</a:t>
            </a:r>
          </a:p>
          <a:p>
            <a:pPr marL="171450" indent="-171450">
              <a:buFont typeface="Arial" pitchFamily="34" charset="0"/>
              <a:buChar char="•"/>
            </a:pPr>
            <a:r>
              <a:rPr lang="en-US" sz="1400" baseline="0" dirty="0"/>
              <a:t>v10 – Expressing his desire to come there an become a part of their lives</a:t>
            </a:r>
          </a:p>
          <a:p>
            <a:pPr marL="171450" indent="-171450">
              <a:buFont typeface="Arial" pitchFamily="34" charset="0"/>
              <a:buChar char="•"/>
            </a:pPr>
            <a:r>
              <a:rPr lang="en-US" sz="1400" baseline="0" dirty="0"/>
              <a:t>v11,12 – Share in the ministry; </a:t>
            </a:r>
            <a:r>
              <a:rPr lang="en-US" sz="1400" b="1" baseline="0" dirty="0"/>
              <a:t>gift of encouragement </a:t>
            </a:r>
            <a:r>
              <a:rPr lang="en-US" sz="1400" baseline="0" dirty="0"/>
              <a:t>together</a:t>
            </a:r>
          </a:p>
          <a:p>
            <a:pPr marL="171450" indent="-171450">
              <a:buFont typeface="Arial" pitchFamily="34" charset="0"/>
              <a:buChar char="•"/>
            </a:pPr>
            <a:r>
              <a:rPr lang="en-US" sz="1400" baseline="0" dirty="0"/>
              <a:t>v13 – Planned to go; anxious to be a part of their work; </a:t>
            </a:r>
            <a:r>
              <a:rPr lang="en-US" sz="1400" b="1" baseline="0" dirty="0"/>
              <a:t>produce a harvest</a:t>
            </a:r>
          </a:p>
          <a:p>
            <a:pPr marL="171450" indent="-171450">
              <a:buFont typeface="Arial" pitchFamily="34" charset="0"/>
              <a:buChar char="•"/>
            </a:pPr>
            <a:r>
              <a:rPr lang="en-US" sz="1400" baseline="0" dirty="0"/>
              <a:t>v14 – Greeks=civilized; barbarians=non-Greeks (cultures) :   </a:t>
            </a:r>
            <a:r>
              <a:rPr lang="en-US" sz="1400" b="1" baseline="0" dirty="0"/>
              <a:t>Acts 3:28    (Jesus changed the intrinsic value of mankind!)</a:t>
            </a:r>
          </a:p>
          <a:p>
            <a:pPr marL="171450" indent="-171450">
              <a:buFont typeface="Arial" pitchFamily="34" charset="0"/>
              <a:buChar char="•"/>
            </a:pPr>
            <a:r>
              <a:rPr lang="en-US" sz="1400" baseline="0" dirty="0"/>
              <a:t>v15 – With everything in me, I’m ready to preach the Gospel to those in Rome</a:t>
            </a:r>
          </a:p>
          <a:p>
            <a:pPr marL="0" indent="0">
              <a:buFont typeface="Arial" pitchFamily="34" charset="0"/>
              <a:buNone/>
            </a:pPr>
            <a:r>
              <a:rPr lang="en-US" sz="1400" baseline="0" dirty="0"/>
              <a:t>Verses 16-17</a:t>
            </a:r>
          </a:p>
          <a:p>
            <a:pPr marL="171450" indent="-171450">
              <a:buFont typeface="Arial" pitchFamily="34" charset="0"/>
              <a:buChar char="•"/>
            </a:pPr>
            <a:r>
              <a:rPr lang="en-US" sz="1400" b="1" baseline="0" dirty="0"/>
              <a:t>Not ashamed of the Gospel</a:t>
            </a:r>
            <a:r>
              <a:rPr lang="en-US" sz="1400" baseline="0" dirty="0"/>
              <a:t>; Paul will stand-up this Gospel against any Religion (e.g. Jewish), it will stand the test.  Paul will answer those Jewish critics who say “the righteousness of this Gospel doesn’t compare to the righteousness demanded by the Law”.   See Heb. 8:12-13, righteous).</a:t>
            </a:r>
          </a:p>
          <a:p>
            <a:pPr marL="171450" indent="-171450">
              <a:buFont typeface="Arial" pitchFamily="34" charset="0"/>
              <a:buChar char="•"/>
            </a:pPr>
            <a:r>
              <a:rPr lang="en-US" sz="1400" b="1" baseline="0" dirty="0"/>
              <a:t>Power of God </a:t>
            </a:r>
            <a:r>
              <a:rPr lang="en-US" sz="1400" baseline="0" dirty="0"/>
              <a:t>for everyone who believes; Speaks to God’s strategy, or plan, of </a:t>
            </a:r>
            <a:r>
              <a:rPr lang="en-US" sz="1400" b="1" baseline="0" dirty="0"/>
              <a:t>redemption for all of mankind</a:t>
            </a:r>
          </a:p>
          <a:p>
            <a:pPr marL="171450" indent="-171450">
              <a:buFont typeface="Arial" pitchFamily="34" charset="0"/>
              <a:buChar char="•"/>
            </a:pPr>
            <a:r>
              <a:rPr lang="en-US" sz="1400" baseline="0" dirty="0"/>
              <a:t>It reveals the </a:t>
            </a:r>
            <a:r>
              <a:rPr lang="en-US" sz="1400" b="1" baseline="0" dirty="0"/>
              <a:t>righteousness of God</a:t>
            </a:r>
            <a:r>
              <a:rPr lang="en-US" sz="1400" baseline="0" dirty="0"/>
              <a:t>; see </a:t>
            </a:r>
            <a:r>
              <a:rPr lang="en-US" sz="1400" b="1" baseline="0" dirty="0"/>
              <a:t>1 Cor. 2:7-10</a:t>
            </a:r>
          </a:p>
          <a:p>
            <a:pPr marL="171450" indent="-171450">
              <a:buFont typeface="Arial" pitchFamily="34" charset="0"/>
              <a:buChar char="•"/>
            </a:pPr>
            <a:r>
              <a:rPr lang="en-US" sz="1400" baseline="0" dirty="0"/>
              <a:t>What is meant by “</a:t>
            </a:r>
            <a:r>
              <a:rPr lang="en-US" sz="1400" b="1" baseline="0" dirty="0"/>
              <a:t>From Faith to Faith</a:t>
            </a:r>
            <a:r>
              <a:rPr lang="en-US" sz="1400" baseline="0" dirty="0"/>
              <a:t>…”? </a:t>
            </a:r>
          </a:p>
          <a:p>
            <a:pPr marL="628650" lvl="1" indent="-171450">
              <a:buFont typeface="Arial" pitchFamily="34" charset="0"/>
              <a:buChar char="•"/>
            </a:pPr>
            <a:r>
              <a:rPr lang="en-US" sz="1400" baseline="0" dirty="0"/>
              <a:t>The Faith of those from the previous Covenants to the Faith of those within the New Covenant.</a:t>
            </a:r>
          </a:p>
          <a:p>
            <a:pPr marL="628650" lvl="1" indent="-171450">
              <a:buFont typeface="Arial" pitchFamily="34" charset="0"/>
              <a:buChar char="•"/>
            </a:pPr>
            <a:r>
              <a:rPr lang="en-US" sz="1400" baseline="0" dirty="0"/>
              <a:t>From a Faith that appropriated righteousness (i.e. to those that did what was right) to a Faith that receives the Gift of righteousness (i.e. to those that are declared </a:t>
            </a:r>
          </a:p>
          <a:p>
            <a:pPr marL="628650" lvl="1" indent="-171450">
              <a:buFont typeface="Arial" pitchFamily="34" charset="0"/>
              <a:buChar char="•"/>
            </a:pPr>
            <a:r>
              <a:rPr lang="en-US" sz="1400" baseline="0" dirty="0"/>
              <a:t>From a Faith that made people walk like Saints to a Faith that calls them Saints before they’ve even walked like one.</a:t>
            </a:r>
          </a:p>
          <a:p>
            <a:pPr marL="628650" lvl="1" indent="-171450">
              <a:buFont typeface="Arial" pitchFamily="34" charset="0"/>
              <a:buChar char="•"/>
            </a:pPr>
            <a:r>
              <a:rPr lang="en-US" sz="1400" baseline="0" dirty="0"/>
              <a:t>Others?</a:t>
            </a:r>
          </a:p>
          <a:p>
            <a:pPr marL="171450" lvl="0" indent="-171450">
              <a:buFont typeface="Arial" pitchFamily="34" charset="0"/>
              <a:buChar char="•"/>
            </a:pPr>
            <a:r>
              <a:rPr lang="en-US" sz="1400" baseline="0" dirty="0"/>
              <a:t>There is a righteousness preached in the Old Law, but the righteousness preached via the Gospel is greater.</a:t>
            </a:r>
          </a:p>
          <a:p>
            <a:pPr marL="628650" lvl="1" indent="-171450">
              <a:buFont typeface="Arial" pitchFamily="34" charset="0"/>
              <a:buChar char="•"/>
            </a:pPr>
            <a:endParaRPr lang="en-US" sz="1400" baseline="0" dirty="0"/>
          </a:p>
          <a:p>
            <a:pPr marL="0" indent="0">
              <a:buFont typeface="Arial" pitchFamily="34" charset="0"/>
              <a:buNone/>
            </a:pPr>
            <a:r>
              <a:rPr lang="en-US" sz="1400" baseline="0" dirty="0"/>
              <a:t>In Paul’s day, the </a:t>
            </a:r>
            <a:r>
              <a:rPr lang="en-US" sz="1400" baseline="0" dirty="0" err="1"/>
              <a:t>Judaizers</a:t>
            </a:r>
            <a:r>
              <a:rPr lang="en-US" sz="1400" baseline="0" dirty="0"/>
              <a:t> sought to diminish the Gospel by claiming the Gospel to be less righteous than the Law.   In a similar way today, the post-modern culture seeks to diminish the Gospel by relegating it to the realm of non-rational, unscientific, personal preference.  </a:t>
            </a:r>
            <a:r>
              <a:rPr lang="en-US" sz="1400" b="1" baseline="0" dirty="0"/>
              <a:t>Discuss the modern dilemma of the sacred versus secular dichotomy.</a:t>
            </a:r>
          </a:p>
          <a:p>
            <a:pPr marL="0" indent="0">
              <a:buFont typeface="Arial" pitchFamily="34" charset="0"/>
              <a:buNone/>
            </a:pPr>
            <a:endParaRPr lang="en-US" sz="1400" baseline="0" dirty="0"/>
          </a:p>
          <a:p>
            <a:pPr marL="0" indent="0">
              <a:buFont typeface="Arial" pitchFamily="34" charset="0"/>
              <a:buNone/>
            </a:pPr>
            <a:r>
              <a:rPr lang="en-US" sz="1400" baseline="0" dirty="0"/>
              <a:t>Why is the sacred/secular dichotomy so pervasive?   What is needed?    </a:t>
            </a:r>
            <a:r>
              <a:rPr lang="en-US" sz="1400" b="1" baseline="0" dirty="0"/>
              <a:t>Luke 10:42</a:t>
            </a:r>
            <a:endParaRPr lang="en-US" sz="1400" baseline="0" dirty="0"/>
          </a:p>
          <a:p>
            <a:pPr marL="0" indent="0">
              <a:buFont typeface="Arial" pitchFamily="34" charset="0"/>
              <a:buNone/>
            </a:pPr>
            <a:endParaRPr lang="en-US" sz="1400" baseline="0" dirty="0"/>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Rom 12:1-8  </a:t>
            </a:r>
            <a:r>
              <a:rPr lang="en-US" sz="1400" b="0" i="0" u="none" strike="noStrike" kern="1200" baseline="0" dirty="0">
                <a:solidFill>
                  <a:schemeClr val="tx1"/>
                </a:solidFill>
                <a:latin typeface="+mn-lt"/>
                <a:ea typeface="ＭＳ Ｐゴシック" pitchFamily="-106" charset="-128"/>
                <a:cs typeface="ＭＳ Ｐゴシック" pitchFamily="-106" charset="-128"/>
              </a:rPr>
              <a:t>Therefore I exhort you, brothers and sisters, by the mercies of God, to </a:t>
            </a:r>
            <a:r>
              <a:rPr lang="en-US" sz="1400" b="1" i="0" u="none" strike="noStrike" kern="1200" baseline="0" dirty="0">
                <a:solidFill>
                  <a:schemeClr val="tx1"/>
                </a:solidFill>
                <a:latin typeface="+mn-lt"/>
                <a:ea typeface="ＭＳ Ｐゴシック" pitchFamily="-106" charset="-128"/>
                <a:cs typeface="ＭＳ Ｐゴシック" pitchFamily="-106" charset="-128"/>
              </a:rPr>
              <a:t>present your bodies as a sacrifice – alive, holy, and pleasing to God – which is your reasonable service.</a:t>
            </a:r>
            <a:r>
              <a:rPr lang="en-US" sz="1400" b="0" i="0" u="none" strike="noStrike" kern="1200" baseline="0" dirty="0">
                <a:solidFill>
                  <a:schemeClr val="tx1"/>
                </a:solidFill>
                <a:latin typeface="+mn-lt"/>
                <a:ea typeface="ＭＳ Ｐゴシック" pitchFamily="-106" charset="-128"/>
                <a:cs typeface="ＭＳ Ｐゴシック" pitchFamily="-106" charset="-128"/>
              </a:rPr>
              <a:t>  (2)  </a:t>
            </a:r>
            <a:r>
              <a:rPr lang="en-US" sz="1400" b="1" i="0" u="none" strike="noStrike" kern="1200" baseline="0" dirty="0">
                <a:solidFill>
                  <a:schemeClr val="tx1"/>
                </a:solidFill>
                <a:latin typeface="+mn-lt"/>
                <a:ea typeface="ＭＳ Ｐゴシック" pitchFamily="-106" charset="-128"/>
                <a:cs typeface="ＭＳ Ｐゴシック" pitchFamily="-106" charset="-128"/>
              </a:rPr>
              <a:t>Do not be conformed to this present world, but be transformed by the renewing of your mind, so that you may test and approve what is the will of God – what is good and well-pleasing and perfect.</a:t>
            </a:r>
            <a:r>
              <a:rPr lang="en-US" sz="1400" b="0" i="0" u="none" strike="noStrike" kern="1200" baseline="0" dirty="0">
                <a:solidFill>
                  <a:schemeClr val="tx1"/>
                </a:solidFill>
                <a:latin typeface="+mn-lt"/>
                <a:ea typeface="ＭＳ Ｐゴシック" pitchFamily="-106" charset="-128"/>
                <a:cs typeface="ＭＳ Ｐゴシック" pitchFamily="-106" charset="-128"/>
              </a:rPr>
              <a:t>  (3)  For by the grace given to me I say to every one of you not to think more highly of yourself than you ought to think, but to think with sober discernment, as God has distributed to each of you a measure of faith.  (4)  For just as in one body we have many members, and not all the members serve the same function,  (5)  so we who are many are one body in Christ, and individually we are members who belong to one another.  (6)  And we have different gifts according to the grace given to us. If the gift is prophecy, that individual must use it in proportion to his faith.  (7)  If it is service, he must serve; if it is teaching, he must teach;  (8)  if it is exhortation, he must exhort; if it is contributing, he must do so with sincerity; if it is leadership, he must do so with diligence; if it is showing mercy, he must do so with cheerfulness.</a:t>
            </a:r>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lvl="0" indent="0">
              <a:buFont typeface="Arial" panose="020B0604020202020204" pitchFamily="34" charset="0"/>
              <a:buNone/>
            </a:pPr>
            <a:r>
              <a:rPr lang="en-US" sz="1400" b="1" dirty="0"/>
              <a:t>What does God want?</a:t>
            </a:r>
            <a:br>
              <a:rPr lang="en-US" sz="1400" b="1" dirty="0"/>
            </a:br>
            <a:r>
              <a:rPr lang="en-US" sz="1400" dirty="0">
                <a:solidFill>
                  <a:schemeClr val="tx2">
                    <a:lumMod val="60000"/>
                    <a:lumOff val="40000"/>
                  </a:schemeClr>
                </a:solidFill>
              </a:rPr>
              <a:t>Mankind’s </a:t>
            </a:r>
            <a:r>
              <a:rPr lang="en-US" sz="1400" i="1" dirty="0">
                <a:solidFill>
                  <a:schemeClr val="tx2">
                    <a:lumMod val="60000"/>
                    <a:lumOff val="40000"/>
                  </a:schemeClr>
                </a:solidFill>
              </a:rPr>
              <a:t>Righteousness</a:t>
            </a:r>
            <a:r>
              <a:rPr lang="en-US" sz="1400" dirty="0">
                <a:solidFill>
                  <a:schemeClr val="tx2">
                    <a:lumMod val="60000"/>
                    <a:lumOff val="40000"/>
                  </a:schemeClr>
                </a:solidFill>
              </a:rPr>
              <a:t> vs God’s </a:t>
            </a:r>
            <a:r>
              <a:rPr lang="en-US" sz="1400" i="1" dirty="0">
                <a:solidFill>
                  <a:schemeClr val="tx2">
                    <a:lumMod val="60000"/>
                    <a:lumOff val="40000"/>
                  </a:schemeClr>
                </a:solidFill>
              </a:rPr>
              <a:t>Righteousness</a:t>
            </a:r>
          </a:p>
          <a:p>
            <a:pPr marL="0" lvl="0" indent="0">
              <a:buFont typeface="Arial" panose="020B0604020202020204" pitchFamily="34" charset="0"/>
              <a:buNone/>
            </a:pPr>
            <a:endParaRPr lang="en-US" sz="1400" baseline="0" dirty="0"/>
          </a:p>
          <a:p>
            <a:pPr marL="285750" indent="-285750">
              <a:buFont typeface="Arial" panose="020B0604020202020204" pitchFamily="34" charset="0"/>
              <a:buChar char="•"/>
            </a:pPr>
            <a:r>
              <a:rPr lang="en-US" sz="1400" i="1" dirty="0"/>
              <a:t>For I desire mercy </a:t>
            </a:r>
            <a:r>
              <a:rPr lang="en-US" sz="1400" dirty="0"/>
              <a:t>and not sacrifice, and the </a:t>
            </a:r>
            <a:r>
              <a:rPr lang="en-US" sz="1400" i="1" dirty="0"/>
              <a:t>knowledge of God</a:t>
            </a:r>
            <a:r>
              <a:rPr lang="en-US" sz="1400" dirty="0"/>
              <a:t> more than burnt offerings.  (Hosea 6:6)</a:t>
            </a:r>
          </a:p>
          <a:p>
            <a:endParaRPr lang="en-US" sz="1400" dirty="0"/>
          </a:p>
          <a:p>
            <a:pPr marL="285750" indent="-285750">
              <a:buFont typeface="Arial" panose="020B0604020202020204" pitchFamily="34" charset="0"/>
              <a:buChar char="•"/>
            </a:pPr>
            <a:r>
              <a:rPr lang="en-US" sz="1400" dirty="0"/>
              <a:t>Thus says the LORD: "Let not the wise man glory in his wisdom, Let not the mighty man glory in his might, Nor let the rich man glory in his riches; </a:t>
            </a:r>
            <a:r>
              <a:rPr lang="en-US" sz="1400" i="1" dirty="0"/>
              <a:t>But let him who glories glory in this, That he understands and knows Me</a:t>
            </a:r>
            <a:r>
              <a:rPr lang="en-US" sz="1400" dirty="0"/>
              <a:t>, That I am the LORD, exercising lovingkindness, judgment, and righteousness in the earth. For in these I delight," says the LORD. (Jeremiah 9:23-24)</a:t>
            </a:r>
          </a:p>
          <a:p>
            <a:endParaRPr lang="en-US" sz="1400" dirty="0"/>
          </a:p>
          <a:p>
            <a:pPr marL="285750" indent="-285750">
              <a:buFont typeface="Arial" panose="020B0604020202020204" pitchFamily="34" charset="0"/>
              <a:buChar char="•"/>
            </a:pPr>
            <a:r>
              <a:rPr lang="en-US" sz="1400" dirty="0"/>
              <a:t>"Has the LORD as great delight in burnt offerings and sacrifices, As in obeying the voice of the LORD? Behold, </a:t>
            </a:r>
            <a:r>
              <a:rPr lang="en-US" sz="1400" i="1" dirty="0"/>
              <a:t>to obey is better than sacrifice</a:t>
            </a:r>
            <a:r>
              <a:rPr lang="en-US" sz="1400" dirty="0"/>
              <a:t>, And to heed than the fat of rams. (1 Samuel 15:22)</a:t>
            </a:r>
          </a:p>
          <a:p>
            <a:endParaRPr lang="en-US" sz="1400" dirty="0"/>
          </a:p>
          <a:p>
            <a:pPr marL="285750" indent="-285750">
              <a:buFont typeface="Arial" panose="020B0604020202020204" pitchFamily="34" charset="0"/>
              <a:buChar char="•"/>
            </a:pPr>
            <a:r>
              <a:rPr lang="en-US" sz="1400" dirty="0"/>
              <a:t>He has shown you, O man, what is good; </a:t>
            </a:r>
            <a:r>
              <a:rPr lang="en-US" sz="1400" i="1" dirty="0"/>
              <a:t>And what does the LORD require of you</a:t>
            </a:r>
            <a:r>
              <a:rPr lang="en-US" sz="1400" dirty="0"/>
              <a:t> but to do justly, To love mercy, And to walk humbly with your God? (Micah 6:8)</a:t>
            </a:r>
          </a:p>
          <a:p>
            <a:pPr marL="0" lvl="0" indent="0">
              <a:buFont typeface="Arial" panose="020B0604020202020204" pitchFamily="34" charset="0"/>
              <a:buNone/>
            </a:pPr>
            <a:endParaRPr lang="en-US" sz="1400"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64484-E0CE-7E19-B40C-EB98B1029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D148F-F93C-C971-60BB-9F0CF584E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0C613-4146-91EC-7499-538BD0E0BF47}"/>
              </a:ext>
            </a:extLst>
          </p:cNvPr>
          <p:cNvSpPr>
            <a:spLocks noGrp="1"/>
          </p:cNvSpPr>
          <p:nvPr>
            <p:ph type="body" idx="1"/>
          </p:nvPr>
        </p:nvSpPr>
        <p:spPr/>
        <p:txBody>
          <a:bodyPr>
            <a:normAutofit/>
          </a:bodyPr>
          <a:lstStyle/>
          <a:p>
            <a:endParaRPr lang="en-US" dirty="0"/>
          </a:p>
          <a:p>
            <a:r>
              <a:rPr lang="en-US" dirty="0"/>
              <a:t>God’s Problem and Man’s Need</a:t>
            </a:r>
          </a:p>
          <a:p>
            <a:pPr marL="228600" indent="-228600">
              <a:buAutoNum type="arabicPeriod"/>
            </a:pPr>
            <a:r>
              <a:rPr lang="en-US" dirty="0"/>
              <a:t>Situation</a:t>
            </a:r>
          </a:p>
          <a:p>
            <a:pPr marL="228600" indent="-228600">
              <a:buAutoNum type="arabicPeriod"/>
            </a:pPr>
            <a:r>
              <a:rPr lang="en-US" dirty="0"/>
              <a:t>Problems</a:t>
            </a:r>
          </a:p>
          <a:p>
            <a:pPr marL="228600" indent="-228600">
              <a:buAutoNum type="arabicPeriod"/>
            </a:pPr>
            <a:r>
              <a:rPr lang="en-US" dirty="0"/>
              <a:t>Implications</a:t>
            </a:r>
          </a:p>
          <a:p>
            <a:pPr marL="228600" indent="-228600">
              <a:buAutoNum type="arabicPeriod"/>
            </a:pPr>
            <a:r>
              <a:rPr lang="en-US" dirty="0"/>
              <a:t>Needs Analysis</a:t>
            </a:r>
          </a:p>
          <a:p>
            <a:endParaRPr lang="en-US" dirty="0"/>
          </a:p>
        </p:txBody>
      </p:sp>
      <p:sp>
        <p:nvSpPr>
          <p:cNvPr id="4" name="Slide Number Placeholder 3">
            <a:extLst>
              <a:ext uri="{FF2B5EF4-FFF2-40B4-BE49-F238E27FC236}">
                <a16:creationId xmlns:a16="http://schemas.microsoft.com/office/drawing/2014/main" id="{9D2C0407-5DC2-6D62-2C1D-35FBD9C6E4B5}"/>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99385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Psalms provide a theological and practical framework for evaluating and rejecting false worldviews. They consistently direct attention to God’s supremacy, the reliability of His Word, and the futility of trusting in human constructs. </a:t>
            </a:r>
          </a:p>
          <a:p>
            <a:endParaRPr lang="en-US" dirty="0">
              <a:sym typeface="Wingdings" panose="05000000000000000000" pitchFamily="2" charset="2"/>
            </a:endParaRPr>
          </a:p>
          <a:p>
            <a:r>
              <a:rPr lang="en-US" dirty="0"/>
              <a:t>Several psalms encourage discernment, critique of false beliefs, and affirm the supremacy of God’s truth over human philosophies. </a:t>
            </a:r>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412934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discoverhistoricjesus.com/oldest-gospel-of-john-fragment"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sz="6600" dirty="0"/>
              <a:t>Romans</a:t>
            </a:r>
            <a:endParaRPr sz="6600" dirty="0"/>
          </a:p>
        </p:txBody>
      </p:sp>
      <p:sp>
        <p:nvSpPr>
          <p:cNvPr id="6147" name="Subtitle 2"/>
          <p:cNvSpPr>
            <a:spLocks noGrp="1"/>
          </p:cNvSpPr>
          <p:nvPr>
            <p:ph type="subTitle" idx="1"/>
          </p:nvPr>
        </p:nvSpPr>
        <p:spPr/>
        <p:txBody>
          <a:bodyPr/>
          <a:lstStyle/>
          <a:p>
            <a:pPr eaLnBrk="1" hangingPunct="1"/>
            <a:r>
              <a:rPr lang="en-US" dirty="0"/>
              <a:t>Introduction</a:t>
            </a:r>
          </a:p>
          <a:p>
            <a:pPr eaLnBrk="1" hangingPunct="1"/>
            <a:r>
              <a:rPr lang="en-US" dirty="0"/>
              <a:t>1:1-17</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6FD337-BE09-0721-24B2-02CA72FDAC9F}"/>
              </a:ext>
            </a:extLst>
          </p:cNvPr>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pic>
        <p:nvPicPr>
          <p:cNvPr id="2050" name="Picture 2">
            <a:extLst>
              <a:ext uri="{FF2B5EF4-FFF2-40B4-BE49-F238E27FC236}">
                <a16:creationId xmlns:a16="http://schemas.microsoft.com/office/drawing/2014/main" id="{D9DBAB29-A81E-2385-E77C-FD7F3B492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2718"/>
            <a:ext cx="9144000" cy="653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99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pyrus 56">
            <a:extLst>
              <a:ext uri="{FF2B5EF4-FFF2-40B4-BE49-F238E27FC236}">
                <a16:creationId xmlns:a16="http://schemas.microsoft.com/office/drawing/2014/main" id="{249F457F-E272-F6FF-C5D9-07FC4741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571625"/>
            <a:ext cx="2562225" cy="37147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06F818-E238-709A-9E66-C92A6C77FE2C}"/>
              </a:ext>
            </a:extLst>
          </p:cNvPr>
          <p:cNvSpPr txBox="1"/>
          <p:nvPr/>
        </p:nvSpPr>
        <p:spPr>
          <a:xfrm>
            <a:off x="152400" y="201414"/>
            <a:ext cx="6019800" cy="5940088"/>
          </a:xfrm>
          <a:prstGeom prst="rect">
            <a:avLst/>
          </a:prstGeom>
          <a:noFill/>
        </p:spPr>
        <p:txBody>
          <a:bodyPr wrap="square">
            <a:spAutoFit/>
          </a:bodyPr>
          <a:lstStyle/>
          <a:p>
            <a:pPr marL="254000" marR="254000">
              <a:buNone/>
            </a:pPr>
            <a:r>
              <a:rPr lang="en-US" sz="2200" b="1" i="0" dirty="0">
                <a:solidFill>
                  <a:srgbClr val="000000"/>
                </a:solidFill>
                <a:effectLst/>
                <a:latin typeface="trebuchet ms" panose="020B0603020202020204" pitchFamily="34" charset="0"/>
              </a:rPr>
              <a:t>Papyrus 52: A Fragment of John’s Gospel</a:t>
            </a:r>
          </a:p>
          <a:p>
            <a:pPr marL="254000" marR="254000" algn="ctr">
              <a:buNone/>
            </a:pPr>
            <a:endParaRPr lang="en-US" dirty="0">
              <a:solidFill>
                <a:srgbClr val="000000"/>
              </a:solidFill>
              <a:latin typeface="trebuchet ms" panose="020B0603020202020204" pitchFamily="34" charset="0"/>
            </a:endParaRPr>
          </a:p>
          <a:p>
            <a:pPr marL="254000" marR="254000">
              <a:buNone/>
            </a:pPr>
            <a:r>
              <a:rPr lang="en-US" sz="2000" dirty="0"/>
              <a:t>This small fragment of John's Gospel, less than nine centimeters high and containing on one side part of verses </a:t>
            </a:r>
            <a:r>
              <a:rPr lang="en-US" sz="2000" b="1" dirty="0"/>
              <a:t>18:31-33 </a:t>
            </a:r>
            <a:r>
              <a:rPr lang="en-US" sz="2000" dirty="0"/>
              <a:t>and on the other part of verses </a:t>
            </a:r>
            <a:r>
              <a:rPr lang="en-US" sz="2000" b="1" dirty="0"/>
              <a:t>18:37-38.</a:t>
            </a:r>
            <a:r>
              <a:rPr lang="en-US" sz="2000" dirty="0"/>
              <a:t>  It is one of the collection of Greek papyri in the John Rylands Library, Manchester, UK.</a:t>
            </a:r>
          </a:p>
          <a:p>
            <a:pPr marL="254000" marR="254000">
              <a:buNone/>
            </a:pPr>
            <a:endParaRPr lang="en-US" sz="2000" b="0" i="0" dirty="0">
              <a:solidFill>
                <a:srgbClr val="000000"/>
              </a:solidFill>
              <a:effectLst/>
              <a:latin typeface="trebuchet ms" panose="020B0603020202020204" pitchFamily="34" charset="0"/>
            </a:endParaRPr>
          </a:p>
          <a:p>
            <a:pPr marL="254000" marR="254000">
              <a:buNone/>
            </a:pPr>
            <a:r>
              <a:rPr lang="en-US" sz="2000" dirty="0"/>
              <a:t>The importance of this fragment is quite out of proportion to its size, since it may, with some confidence, be dated in the first half of the second century (~125 AD, +/- 25).  Thus, it ranks as the </a:t>
            </a:r>
            <a:r>
              <a:rPr lang="en-US" sz="2000" b="1" dirty="0"/>
              <a:t>earliest known fragment of the New Testament in any language</a:t>
            </a:r>
            <a:r>
              <a:rPr lang="en-US" sz="2000" dirty="0"/>
              <a:t>.  It provides us with invaluable evidence of the spread of Christianity in areas distant from the land of its origin and of the preservation of precious eye-witness accounts of God’s spoken Word. </a:t>
            </a:r>
            <a:endParaRPr lang="en-US" sz="2000" b="0" i="0" dirty="0">
              <a:solidFill>
                <a:srgbClr val="000000"/>
              </a:solidFill>
              <a:effectLst/>
              <a:latin typeface="trebuchet ms" panose="020B0603020202020204" pitchFamily="34" charset="0"/>
            </a:endParaRPr>
          </a:p>
        </p:txBody>
      </p:sp>
      <p:sp>
        <p:nvSpPr>
          <p:cNvPr id="8" name="TextBox 7">
            <a:extLst>
              <a:ext uri="{FF2B5EF4-FFF2-40B4-BE49-F238E27FC236}">
                <a16:creationId xmlns:a16="http://schemas.microsoft.com/office/drawing/2014/main" id="{84ED99C5-99C6-D8CF-73CE-938B7288D4AE}"/>
              </a:ext>
            </a:extLst>
          </p:cNvPr>
          <p:cNvSpPr txBox="1"/>
          <p:nvPr/>
        </p:nvSpPr>
        <p:spPr>
          <a:xfrm>
            <a:off x="495300" y="6292334"/>
            <a:ext cx="6743700" cy="369332"/>
          </a:xfrm>
          <a:prstGeom prst="rect">
            <a:avLst/>
          </a:prstGeom>
          <a:noFill/>
        </p:spPr>
        <p:txBody>
          <a:bodyPr wrap="square">
            <a:spAutoFit/>
          </a:bodyPr>
          <a:lstStyle/>
          <a:p>
            <a:r>
              <a:rPr lang="en-US" dirty="0">
                <a:hlinkClick r:id="rId4"/>
              </a:rPr>
              <a:t>https://discoverhistoricjesus.com/oldest-gospel-of-john-fragment</a:t>
            </a:r>
            <a:endParaRPr lang="en-US" dirty="0"/>
          </a:p>
        </p:txBody>
      </p:sp>
      <p:sp>
        <p:nvSpPr>
          <p:cNvPr id="9" name="TextBox 8">
            <a:extLst>
              <a:ext uri="{FF2B5EF4-FFF2-40B4-BE49-F238E27FC236}">
                <a16:creationId xmlns:a16="http://schemas.microsoft.com/office/drawing/2014/main" id="{CC2D02AB-5B46-A760-4C2A-4A500A475DFA}"/>
              </a:ext>
            </a:extLst>
          </p:cNvPr>
          <p:cNvSpPr txBox="1"/>
          <p:nvPr/>
        </p:nvSpPr>
        <p:spPr>
          <a:xfrm>
            <a:off x="6111240" y="1257042"/>
            <a:ext cx="2589170" cy="430887"/>
          </a:xfrm>
          <a:prstGeom prst="rect">
            <a:avLst/>
          </a:prstGeom>
          <a:noFill/>
        </p:spPr>
        <p:txBody>
          <a:bodyPr wrap="none" rtlCol="0">
            <a:spAutoFit/>
          </a:bodyPr>
          <a:lstStyle/>
          <a:p>
            <a:r>
              <a:rPr lang="en-US" sz="2200" b="1" dirty="0"/>
              <a:t>What does it say?</a:t>
            </a:r>
          </a:p>
        </p:txBody>
      </p:sp>
    </p:spTree>
    <p:extLst>
      <p:ext uri="{BB962C8B-B14F-4D97-AF65-F5344CB8AC3E}">
        <p14:creationId xmlns:p14="http://schemas.microsoft.com/office/powerpoint/2010/main" val="944636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Fine Print</a:t>
            </a:r>
            <a:br>
              <a:rPr lang="en-US" dirty="0"/>
            </a:br>
            <a:r>
              <a:rPr lang="en-US" sz="2400" dirty="0">
                <a:solidFill>
                  <a:schemeClr val="tx2">
                    <a:lumMod val="60000"/>
                    <a:lumOff val="40000"/>
                  </a:schemeClr>
                </a:solidFill>
              </a:rPr>
              <a:t>Our responsibility…</a:t>
            </a:r>
          </a:p>
        </p:txBody>
      </p:sp>
      <p:sp>
        <p:nvSpPr>
          <p:cNvPr id="3" name="TextBox 2"/>
          <p:cNvSpPr txBox="1"/>
          <p:nvPr/>
        </p:nvSpPr>
        <p:spPr>
          <a:xfrm>
            <a:off x="472440" y="1137920"/>
            <a:ext cx="8001000" cy="5632311"/>
          </a:xfrm>
          <a:prstGeom prst="rect">
            <a:avLst/>
          </a:prstGeom>
          <a:noFill/>
        </p:spPr>
        <p:txBody>
          <a:bodyPr wrap="square" rtlCol="0">
            <a:spAutoFit/>
          </a:bodyPr>
          <a:lstStyle/>
          <a:p>
            <a:r>
              <a:rPr lang="en-US" sz="2000" i="1" dirty="0"/>
              <a:t>“These [</a:t>
            </a:r>
            <a:r>
              <a:rPr lang="en-US" sz="2000" b="1" i="1" dirty="0" err="1"/>
              <a:t>Bereans</a:t>
            </a:r>
            <a:r>
              <a:rPr lang="en-US" sz="2000" i="1" dirty="0"/>
              <a:t>] were more fair-minded than those in Thessalonica, in that they received the word with all readiness, and </a:t>
            </a:r>
            <a:r>
              <a:rPr lang="en-US" sz="2000" b="1" i="1" dirty="0"/>
              <a:t>searched the Scriptures</a:t>
            </a:r>
            <a:r>
              <a:rPr lang="en-US" sz="2000" i="1" dirty="0"/>
              <a:t> </a:t>
            </a:r>
            <a:r>
              <a:rPr lang="en-US" sz="2000" b="1" i="1" dirty="0"/>
              <a:t>daily to find out whether these things were so</a:t>
            </a:r>
            <a:r>
              <a:rPr lang="en-US" sz="2000" i="1" dirty="0"/>
              <a:t>.”  </a:t>
            </a:r>
          </a:p>
          <a:p>
            <a:r>
              <a:rPr lang="en-US" sz="2000" i="1" dirty="0"/>
              <a:t>Acts 17:11</a:t>
            </a:r>
          </a:p>
          <a:p>
            <a:endParaRPr lang="en-US" sz="2000" i="1" dirty="0"/>
          </a:p>
          <a:p>
            <a:r>
              <a:rPr lang="en-US" sz="2000" i="1" dirty="0"/>
              <a:t>“But sanctify the Lord God in your hearts, and </a:t>
            </a:r>
            <a:r>
              <a:rPr lang="en-US" sz="2000" b="1" i="1" dirty="0"/>
              <a:t>always be ready to give a defense</a:t>
            </a:r>
            <a:r>
              <a:rPr lang="en-US" sz="2000" i="1" dirty="0"/>
              <a:t> to everyone who asks you a reason for the hope that is in you, with meekness and fear;”   </a:t>
            </a:r>
          </a:p>
          <a:p>
            <a:r>
              <a:rPr lang="en-US" sz="2000" i="1" dirty="0"/>
              <a:t>1 Peter 3:15</a:t>
            </a:r>
          </a:p>
          <a:p>
            <a:endParaRPr lang="en-US" sz="2000" dirty="0"/>
          </a:p>
          <a:p>
            <a:r>
              <a:rPr lang="en-US" sz="2000" i="1" dirty="0"/>
              <a:t>“Be </a:t>
            </a:r>
            <a:r>
              <a:rPr lang="en-US" sz="2000" b="1" i="1" dirty="0"/>
              <a:t>diligent</a:t>
            </a:r>
            <a:r>
              <a:rPr lang="en-US" sz="2000" i="1" dirty="0"/>
              <a:t> to </a:t>
            </a:r>
            <a:r>
              <a:rPr lang="en-US" sz="2000" b="1" i="1" dirty="0"/>
              <a:t>present yourself </a:t>
            </a:r>
            <a:r>
              <a:rPr lang="en-US" sz="2000" i="1" dirty="0"/>
              <a:t>approved to God, a </a:t>
            </a:r>
            <a:r>
              <a:rPr lang="en-US" sz="2000" b="1" i="1" dirty="0"/>
              <a:t>worker</a:t>
            </a:r>
            <a:r>
              <a:rPr lang="en-US" sz="2000" i="1" dirty="0"/>
              <a:t> who does not need to be ashamed, </a:t>
            </a:r>
            <a:r>
              <a:rPr lang="en-US" sz="2000" b="1" i="1" dirty="0"/>
              <a:t>rightly dividing the word of truth</a:t>
            </a:r>
            <a:r>
              <a:rPr lang="en-US" sz="2000" i="1" dirty="0"/>
              <a:t>.”   </a:t>
            </a:r>
          </a:p>
          <a:p>
            <a:r>
              <a:rPr lang="en-US" sz="2000" i="1" dirty="0"/>
              <a:t>2 Timothy 2:15</a:t>
            </a:r>
          </a:p>
          <a:p>
            <a:endParaRPr lang="en-US" sz="2000" i="1" dirty="0"/>
          </a:p>
          <a:p>
            <a:r>
              <a:rPr lang="en-US" sz="2000" i="1" dirty="0"/>
              <a:t>“</a:t>
            </a:r>
            <a:r>
              <a:rPr lang="en-US" sz="2000" b="1" i="1" dirty="0"/>
              <a:t>Beware lest anyone cheat you </a:t>
            </a:r>
            <a:r>
              <a:rPr lang="en-US" sz="2000" i="1" dirty="0"/>
              <a:t>through philosophy and empty deceit, according to the tradition of men, according to the basic principles of the world, and </a:t>
            </a:r>
            <a:r>
              <a:rPr lang="en-US" sz="2000" b="1" i="1" dirty="0"/>
              <a:t>not according to Christ</a:t>
            </a:r>
            <a:r>
              <a:rPr lang="en-US" sz="2000" i="1" dirty="0"/>
              <a:t>.”   </a:t>
            </a:r>
          </a:p>
          <a:p>
            <a:r>
              <a:rPr lang="en-US" sz="2000" i="1" dirty="0"/>
              <a:t>Colossians 2:8</a:t>
            </a:r>
          </a:p>
        </p:txBody>
      </p:sp>
    </p:spTree>
    <p:extLst>
      <p:ext uri="{BB962C8B-B14F-4D97-AF65-F5344CB8AC3E}">
        <p14:creationId xmlns:p14="http://schemas.microsoft.com/office/powerpoint/2010/main" val="290895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1000"/>
                                        <p:tgtEl>
                                          <p:spTgt spid="3">
                                            <p:txEl>
                                              <p:pRg st="9" end="9"/>
                                            </p:txEl>
                                          </p:spTgt>
                                        </p:tgtEl>
                                      </p:cBhvr>
                                    </p:animEffect>
                                    <p:anim calcmode="lin" valueType="num">
                                      <p:cBhvr>
                                        <p:cTn id="2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pPr algn="l"/>
            <a:r>
              <a:rPr lang="en-US"/>
              <a:t>The Grace </a:t>
            </a:r>
            <a:r>
              <a:rPr lang="en-US" dirty="0"/>
              <a:t>of God Revealed</a:t>
            </a:r>
            <a:br>
              <a:rPr lang="en-US" dirty="0"/>
            </a:br>
            <a:r>
              <a:rPr lang="en-US" sz="2400" dirty="0">
                <a:solidFill>
                  <a:schemeClr val="tx2">
                    <a:lumMod val="60000"/>
                    <a:lumOff val="40000"/>
                  </a:schemeClr>
                </a:solidFill>
              </a:rPr>
              <a:t>The Theme </a:t>
            </a:r>
          </a:p>
        </p:txBody>
      </p:sp>
      <p:sp>
        <p:nvSpPr>
          <p:cNvPr id="4" name="TextBox 3"/>
          <p:cNvSpPr txBox="1"/>
          <p:nvPr/>
        </p:nvSpPr>
        <p:spPr>
          <a:xfrm>
            <a:off x="514350" y="1828800"/>
            <a:ext cx="8001000" cy="3108543"/>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r>
              <a:rPr lang="en-US" sz="2800" i="1" dirty="0"/>
              <a:t> </a:t>
            </a:r>
          </a:p>
          <a:p>
            <a:r>
              <a:rPr lang="en-US" sz="2800" i="1" dirty="0"/>
              <a:t>(Psalm 32:1-2) </a:t>
            </a:r>
            <a:endParaRPr lang="en-US" sz="2000" i="1" dirty="0"/>
          </a:p>
        </p:txBody>
      </p:sp>
    </p:spTree>
    <p:extLst>
      <p:ext uri="{BB962C8B-B14F-4D97-AF65-F5344CB8AC3E}">
        <p14:creationId xmlns:p14="http://schemas.microsoft.com/office/powerpoint/2010/main" val="49009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An Outline</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a:t>
            </a:r>
          </a:p>
          <a:p>
            <a:pPr marL="342900" indent="-342900">
              <a:buFont typeface="Arial" pitchFamily="34" charset="0"/>
              <a:buChar char="•"/>
            </a:pPr>
            <a:r>
              <a:rPr lang="en-US" sz="2000" i="1" dirty="0"/>
              <a:t>4-5 Salvation</a:t>
            </a:r>
          </a:p>
          <a:p>
            <a:pPr marL="342900" indent="-342900">
              <a:buFont typeface="Arial" pitchFamily="34" charset="0"/>
              <a:buChar char="•"/>
            </a:pPr>
            <a:r>
              <a:rPr lang="en-US" sz="2000" i="1" dirty="0"/>
              <a:t>6-8 Sanctification</a:t>
            </a:r>
          </a:p>
        </p:txBody>
      </p:sp>
      <p:sp>
        <p:nvSpPr>
          <p:cNvPr id="7" name="TextBox 6"/>
          <p:cNvSpPr txBox="1"/>
          <p:nvPr/>
        </p:nvSpPr>
        <p:spPr>
          <a:xfrm>
            <a:off x="523777" y="3048000"/>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631216"/>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Kingdom Servants</a:t>
            </a:r>
          </a:p>
          <a:p>
            <a:pPr marL="342900" indent="-342900">
              <a:buFont typeface="Arial" pitchFamily="34" charset="0"/>
              <a:buChar char="•"/>
            </a:pPr>
            <a:r>
              <a:rPr lang="en-US" sz="2000" i="1" dirty="0"/>
              <a:t>The Just shall </a:t>
            </a:r>
            <a:r>
              <a:rPr lang="en-US" sz="2000" b="1" i="1" dirty="0"/>
              <a:t>live</a:t>
            </a:r>
            <a:r>
              <a:rPr lang="en-US" sz="2000" i="1" dirty="0"/>
              <a:t> by Faith…</a:t>
            </a:r>
          </a:p>
          <a:p>
            <a:endParaRPr lang="en-US" sz="2000" i="1" dirty="0"/>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Introduction</a:t>
            </a:r>
            <a:br>
              <a:rPr lang="en-US" dirty="0"/>
            </a:br>
            <a:r>
              <a:rPr lang="en-US" sz="2400" dirty="0">
                <a:solidFill>
                  <a:schemeClr val="tx2">
                    <a:lumMod val="60000"/>
                    <a:lumOff val="40000"/>
                  </a:schemeClr>
                </a:solidFill>
              </a:rPr>
              <a:t>Chapter 1:1-17</a:t>
            </a:r>
          </a:p>
        </p:txBody>
      </p:sp>
      <p:sp>
        <p:nvSpPr>
          <p:cNvPr id="6" name="TextBox 5"/>
          <p:cNvSpPr txBox="1"/>
          <p:nvPr/>
        </p:nvSpPr>
        <p:spPr>
          <a:xfrm>
            <a:off x="521208" y="1447800"/>
            <a:ext cx="1612392" cy="400110"/>
          </a:xfrm>
          <a:prstGeom prst="rect">
            <a:avLst/>
          </a:prstGeom>
          <a:noFill/>
        </p:spPr>
        <p:txBody>
          <a:bodyPr wrap="square" rtlCol="0">
            <a:spAutoFit/>
          </a:bodyPr>
          <a:lstStyle/>
          <a:p>
            <a:r>
              <a:rPr lang="en-US" sz="2000" i="1" dirty="0"/>
              <a:t>Verses 1-6</a:t>
            </a:r>
          </a:p>
        </p:txBody>
      </p:sp>
      <p:sp>
        <p:nvSpPr>
          <p:cNvPr id="7" name="TextBox 6"/>
          <p:cNvSpPr txBox="1"/>
          <p:nvPr/>
        </p:nvSpPr>
        <p:spPr>
          <a:xfrm>
            <a:off x="521208" y="2080517"/>
            <a:ext cx="1612392" cy="400110"/>
          </a:xfrm>
          <a:prstGeom prst="rect">
            <a:avLst/>
          </a:prstGeom>
          <a:noFill/>
        </p:spPr>
        <p:txBody>
          <a:bodyPr wrap="square" rtlCol="0">
            <a:spAutoFit/>
          </a:bodyPr>
          <a:lstStyle/>
          <a:p>
            <a:r>
              <a:rPr lang="en-US" sz="2000" i="1" dirty="0"/>
              <a:t>Verses 7-15</a:t>
            </a:r>
          </a:p>
        </p:txBody>
      </p:sp>
      <p:sp>
        <p:nvSpPr>
          <p:cNvPr id="9" name="TextBox 8"/>
          <p:cNvSpPr txBox="1"/>
          <p:nvPr/>
        </p:nvSpPr>
        <p:spPr>
          <a:xfrm>
            <a:off x="521208" y="2667000"/>
            <a:ext cx="1764792" cy="400110"/>
          </a:xfrm>
          <a:prstGeom prst="rect">
            <a:avLst/>
          </a:prstGeom>
          <a:noFill/>
        </p:spPr>
        <p:txBody>
          <a:bodyPr wrap="square" rtlCol="0">
            <a:spAutoFit/>
          </a:bodyPr>
          <a:lstStyle/>
          <a:p>
            <a:r>
              <a:rPr lang="en-US" sz="2000" i="1" dirty="0"/>
              <a:t>Verses 16-17</a:t>
            </a:r>
          </a:p>
        </p:txBody>
      </p:sp>
      <p:graphicFrame>
        <p:nvGraphicFramePr>
          <p:cNvPr id="2" name="Diagram 1"/>
          <p:cNvGraphicFramePr/>
          <p:nvPr>
            <p:extLst>
              <p:ext uri="{D42A27DB-BD31-4B8C-83A1-F6EECF244321}">
                <p14:modId xmlns:p14="http://schemas.microsoft.com/office/powerpoint/2010/main" val="2873831869"/>
              </p:ext>
            </p:extLst>
          </p:nvPr>
        </p:nvGraphicFramePr>
        <p:xfrm>
          <a:off x="1295400" y="3276600"/>
          <a:ext cx="6705600" cy="3140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4181528218"/>
              </p:ext>
            </p:extLst>
          </p:nvPr>
        </p:nvGraphicFramePr>
        <p:xfrm>
          <a:off x="1283804" y="3276600"/>
          <a:ext cx="6705600" cy="31400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1E583675-8321-7BAC-B0D6-8E0E4BA8A61D}"/>
              </a:ext>
            </a:extLst>
          </p:cNvPr>
          <p:cNvSpPr txBox="1"/>
          <p:nvPr/>
        </p:nvSpPr>
        <p:spPr>
          <a:xfrm>
            <a:off x="3962400" y="1424821"/>
            <a:ext cx="4572000" cy="1200329"/>
          </a:xfrm>
          <a:prstGeom prst="rect">
            <a:avLst/>
          </a:prstGeom>
          <a:noFill/>
        </p:spPr>
        <p:txBody>
          <a:bodyPr wrap="square">
            <a:spAutoFit/>
          </a:bodyPr>
          <a:lstStyle/>
          <a:p>
            <a:r>
              <a:rPr lang="en-US" sz="2400" baseline="0" dirty="0"/>
              <a:t>Why is the sacred/secular dichotomy so pervasive?   </a:t>
            </a:r>
          </a:p>
          <a:p>
            <a:r>
              <a:rPr lang="en-US" sz="2400" baseline="0" dirty="0"/>
              <a:t>What is needed? </a:t>
            </a:r>
            <a:endParaRPr lang="en-US" sz="2400" dirty="0"/>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42" presetClass="entr" presetSubtype="0"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Graphic spid="2" grpId="0">
        <p:bldAsOne/>
      </p:bldGraphic>
      <p:bldGraphic spid="2" grpId="1">
        <p:bldAsOne/>
      </p:bldGraphic>
      <p:bldGraphic spid="10" grpId="0">
        <p:bldAsOne/>
      </p:bldGraphic>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Just Shall Live by Faith</a:t>
            </a:r>
            <a:br>
              <a:rPr lang="en-US" dirty="0"/>
            </a:br>
            <a:r>
              <a:rPr lang="en-US" sz="2400" dirty="0">
                <a:solidFill>
                  <a:schemeClr val="tx2">
                    <a:lumMod val="60000"/>
                    <a:lumOff val="40000"/>
                  </a:schemeClr>
                </a:solidFill>
              </a:rPr>
              <a:t>Habakkuk 2:4</a:t>
            </a:r>
          </a:p>
        </p:txBody>
      </p:sp>
      <p:sp>
        <p:nvSpPr>
          <p:cNvPr id="6" name="TextBox 5"/>
          <p:cNvSpPr txBox="1"/>
          <p:nvPr/>
        </p:nvSpPr>
        <p:spPr>
          <a:xfrm>
            <a:off x="390418" y="1447800"/>
            <a:ext cx="2450592" cy="1015663"/>
          </a:xfrm>
          <a:prstGeom prst="rect">
            <a:avLst/>
          </a:prstGeom>
          <a:noFill/>
        </p:spPr>
        <p:txBody>
          <a:bodyPr wrap="square" rtlCol="0">
            <a:spAutoFit/>
          </a:bodyPr>
          <a:lstStyle/>
          <a:p>
            <a:r>
              <a:rPr lang="en-US" sz="2000" i="1" dirty="0"/>
              <a:t>The </a:t>
            </a:r>
            <a:r>
              <a:rPr lang="en-US" sz="2000" b="1" i="1" dirty="0"/>
              <a:t>Just</a:t>
            </a:r>
            <a:r>
              <a:rPr lang="en-US" sz="2000" i="1" dirty="0"/>
              <a:t>…</a:t>
            </a:r>
          </a:p>
          <a:p>
            <a:pPr marL="342900" indent="-342900">
              <a:buFont typeface="Arial" pitchFamily="34" charset="0"/>
              <a:buChar char="•"/>
            </a:pPr>
            <a:r>
              <a:rPr lang="en-US" sz="2000" i="1" dirty="0"/>
              <a:t>Who?</a:t>
            </a:r>
          </a:p>
          <a:p>
            <a:pPr marL="342900" indent="-342900">
              <a:buFont typeface="Arial" pitchFamily="34" charset="0"/>
              <a:buChar char="•"/>
            </a:pPr>
            <a:r>
              <a:rPr lang="en-US" sz="2000" i="1" dirty="0"/>
              <a:t>Romans 1:17</a:t>
            </a:r>
          </a:p>
        </p:txBody>
      </p:sp>
      <p:sp>
        <p:nvSpPr>
          <p:cNvPr id="7" name="TextBox 6"/>
          <p:cNvSpPr txBox="1"/>
          <p:nvPr/>
        </p:nvSpPr>
        <p:spPr>
          <a:xfrm>
            <a:off x="390418" y="2933700"/>
            <a:ext cx="2450592" cy="1015663"/>
          </a:xfrm>
          <a:prstGeom prst="rect">
            <a:avLst/>
          </a:prstGeom>
          <a:noFill/>
        </p:spPr>
        <p:txBody>
          <a:bodyPr wrap="square" rtlCol="0">
            <a:spAutoFit/>
          </a:bodyPr>
          <a:lstStyle/>
          <a:p>
            <a:r>
              <a:rPr lang="en-US" sz="2000" i="1" dirty="0"/>
              <a:t>…Shall </a:t>
            </a:r>
            <a:r>
              <a:rPr lang="en-US" sz="2000" b="1" i="1" dirty="0"/>
              <a:t>Live</a:t>
            </a:r>
            <a:r>
              <a:rPr lang="en-US" sz="2000" i="1" dirty="0"/>
              <a:t>…</a:t>
            </a:r>
          </a:p>
          <a:p>
            <a:pPr marL="342900" indent="-342900">
              <a:buFont typeface="Arial" pitchFamily="34" charset="0"/>
              <a:buChar char="•"/>
            </a:pPr>
            <a:r>
              <a:rPr lang="en-US" sz="2000" i="1" dirty="0"/>
              <a:t>How?</a:t>
            </a:r>
          </a:p>
          <a:p>
            <a:pPr marL="342900" indent="-342900">
              <a:buFont typeface="Arial" pitchFamily="34" charset="0"/>
              <a:buChar char="•"/>
            </a:pPr>
            <a:r>
              <a:rPr lang="en-US" sz="2000" i="1" dirty="0"/>
              <a:t>Galatians 3:11</a:t>
            </a:r>
          </a:p>
        </p:txBody>
      </p:sp>
      <p:sp>
        <p:nvSpPr>
          <p:cNvPr id="8" name="TextBox 7"/>
          <p:cNvSpPr txBox="1"/>
          <p:nvPr/>
        </p:nvSpPr>
        <p:spPr>
          <a:xfrm>
            <a:off x="390418" y="4419600"/>
            <a:ext cx="2450592" cy="1015663"/>
          </a:xfrm>
          <a:prstGeom prst="rect">
            <a:avLst/>
          </a:prstGeom>
          <a:noFill/>
        </p:spPr>
        <p:txBody>
          <a:bodyPr wrap="square" rtlCol="0">
            <a:spAutoFit/>
          </a:bodyPr>
          <a:lstStyle/>
          <a:p>
            <a:r>
              <a:rPr lang="en-US" sz="2000" i="1" dirty="0"/>
              <a:t>…By </a:t>
            </a:r>
            <a:r>
              <a:rPr lang="en-US" sz="2000" b="1" i="1" dirty="0"/>
              <a:t>Faith</a:t>
            </a:r>
            <a:r>
              <a:rPr lang="en-US" sz="2000" i="1" dirty="0"/>
              <a:t>.</a:t>
            </a:r>
          </a:p>
          <a:p>
            <a:pPr marL="342900" indent="-342900">
              <a:buFont typeface="Arial" pitchFamily="34" charset="0"/>
              <a:buChar char="•"/>
            </a:pPr>
            <a:r>
              <a:rPr lang="en-US" sz="2000" i="1" dirty="0"/>
              <a:t>What?</a:t>
            </a:r>
          </a:p>
          <a:p>
            <a:pPr marL="342900" indent="-342900">
              <a:buFont typeface="Arial" pitchFamily="34" charset="0"/>
              <a:buChar char="•"/>
            </a:pPr>
            <a:r>
              <a:rPr lang="en-US" sz="2000" i="1" dirty="0"/>
              <a:t>Hebrews 10:38</a:t>
            </a:r>
          </a:p>
        </p:txBody>
      </p:sp>
      <p:sp>
        <p:nvSpPr>
          <p:cNvPr id="3" name="TextBox 2">
            <a:extLst>
              <a:ext uri="{FF2B5EF4-FFF2-40B4-BE49-F238E27FC236}">
                <a16:creationId xmlns:a16="http://schemas.microsoft.com/office/drawing/2014/main" id="{C1EC4AC7-D94F-22D6-9082-5ECF8A50CA4C}"/>
              </a:ext>
            </a:extLst>
          </p:cNvPr>
          <p:cNvSpPr txBox="1"/>
          <p:nvPr/>
        </p:nvSpPr>
        <p:spPr>
          <a:xfrm>
            <a:off x="3573272" y="990600"/>
            <a:ext cx="5029200" cy="5632311"/>
          </a:xfrm>
          <a:prstGeom prst="rect">
            <a:avLst/>
          </a:prstGeom>
          <a:noFill/>
        </p:spPr>
        <p:txBody>
          <a:bodyPr wrap="square">
            <a:spAutoFit/>
          </a:bodyPr>
          <a:lstStyle/>
          <a:p>
            <a:r>
              <a:rPr lang="en-US" sz="2000" baseline="0" dirty="0"/>
              <a:t>What is the meaning of this phrase relative to the Patriarchal, the Mosaic, and the Christian eras?</a:t>
            </a:r>
          </a:p>
          <a:p>
            <a:endParaRPr lang="en-US" sz="2000" dirty="0"/>
          </a:p>
          <a:p>
            <a:pPr marL="342900" indent="-342900">
              <a:buFont typeface="Arial" panose="020B0604020202020204" pitchFamily="34" charset="0"/>
              <a:buChar char="•"/>
            </a:pPr>
            <a:r>
              <a:rPr lang="en-US" sz="2000" dirty="0"/>
              <a:t>Within each era, the believer’s relationship to God is based upon God’s </a:t>
            </a:r>
            <a:r>
              <a:rPr lang="en-US" sz="2000" u="sng" dirty="0"/>
              <a:t>promises</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Within each era, sin is dealt with in accordance with God’s instruction, </a:t>
            </a:r>
            <a:r>
              <a:rPr lang="en-US" sz="2000" u="sng" dirty="0"/>
              <a:t>the believer simply obeys and accepts by faith</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u="sng" dirty="0"/>
              <a:t>Righteousness of God is revealed from Faith to Faith</a:t>
            </a:r>
            <a:r>
              <a:rPr lang="en-US" sz="2000" dirty="0"/>
              <a:t>…  </a:t>
            </a:r>
            <a:r>
              <a:rPr lang="en-US" sz="2000" b="1" dirty="0"/>
              <a:t>2 Cor. 5:21 </a:t>
            </a:r>
            <a:r>
              <a:rPr lang="en-US" sz="2000" dirty="0"/>
              <a:t>”For He made Him who know no sin to be sin for us, that we might become the righteousness of God in Him.”</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780E-16BB-83ED-5052-FB094C4CE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9038C-A589-6823-2EB8-B4E49682D967}"/>
              </a:ext>
            </a:extLst>
          </p:cNvPr>
          <p:cNvSpPr>
            <a:spLocks noGrp="1"/>
          </p:cNvSpPr>
          <p:nvPr>
            <p:ph type="title"/>
          </p:nvPr>
        </p:nvSpPr>
        <p:spPr>
          <a:xfrm>
            <a:off x="457200" y="0"/>
            <a:ext cx="8229600" cy="914400"/>
          </a:xfrm>
        </p:spPr>
        <p:txBody>
          <a:bodyPr>
            <a:normAutofit fontScale="90000"/>
          </a:bodyPr>
          <a:lstStyle/>
          <a:p>
            <a:pPr algn="l"/>
            <a:r>
              <a:rPr lang="en-US" sz="3600" dirty="0"/>
              <a:t>Romans 1-4…</a:t>
            </a:r>
            <a:br>
              <a:rPr lang="en-US" dirty="0"/>
            </a:br>
            <a:r>
              <a:rPr lang="en-US" sz="2400" dirty="0">
                <a:solidFill>
                  <a:schemeClr val="tx2">
                    <a:lumMod val="60000"/>
                    <a:lumOff val="40000"/>
                  </a:schemeClr>
                </a:solidFill>
              </a:rPr>
              <a:t>Truth, The Nature of Mankind, and Worldviews</a:t>
            </a:r>
          </a:p>
        </p:txBody>
      </p:sp>
      <p:sp>
        <p:nvSpPr>
          <p:cNvPr id="5" name="Scroll: Horizontal 3">
            <a:extLst>
              <a:ext uri="{FF2B5EF4-FFF2-40B4-BE49-F238E27FC236}">
                <a16:creationId xmlns:a16="http://schemas.microsoft.com/office/drawing/2014/main" id="{E1785E24-9EC4-E403-5A7A-5B947EB38332}"/>
              </a:ext>
            </a:extLst>
          </p:cNvPr>
          <p:cNvSpPr/>
          <p:nvPr/>
        </p:nvSpPr>
        <p:spPr>
          <a:xfrm>
            <a:off x="457200" y="229618"/>
            <a:ext cx="8307977"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Truth</a:t>
            </a:r>
            <a:r>
              <a:rPr lang="en-US" dirty="0"/>
              <a:t> is objective, knowable, and </a:t>
            </a:r>
            <a:r>
              <a:rPr lang="en-US" u="sng" dirty="0"/>
              <a:t>personified</a:t>
            </a:r>
            <a:r>
              <a:rPr lang="en-US" dirty="0"/>
              <a:t> in Jesus of Nazareth. (John 14:6-11; John 18:37; Acts 2:22)</a:t>
            </a:r>
          </a:p>
          <a:p>
            <a:endParaRPr lang="en-US" dirty="0"/>
          </a:p>
          <a:p>
            <a:pPr marL="285750" indent="-285750">
              <a:buFont typeface="Arial" panose="020B0604020202020204" pitchFamily="34" charset="0"/>
              <a:buChar char="•"/>
            </a:pPr>
            <a:r>
              <a:rPr lang="en-US" dirty="0"/>
              <a:t>The </a:t>
            </a:r>
            <a:r>
              <a:rPr lang="en-US" b="1" dirty="0"/>
              <a:t>Natural Man</a:t>
            </a:r>
            <a:r>
              <a:rPr lang="en-US" dirty="0"/>
              <a:t> recognizes God’s creativity and intelligence in the created order; </a:t>
            </a:r>
            <a:r>
              <a:rPr lang="en-US" i="1" dirty="0"/>
              <a:t>but suppresses the truth in unrighteousness</a:t>
            </a:r>
            <a:r>
              <a:rPr lang="en-US" dirty="0"/>
              <a:t>. (Romans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Moral Man</a:t>
            </a:r>
            <a:r>
              <a:rPr lang="en-US" dirty="0"/>
              <a:t> recognizes how things ought to be; </a:t>
            </a:r>
            <a:r>
              <a:rPr lang="en-US" i="1" dirty="0"/>
              <a:t>but falls short of God’s goodness revealed via his own conscience and rationality</a:t>
            </a:r>
            <a:r>
              <a:rPr lang="en-US" dirty="0"/>
              <a:t>. (Romans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Religious Man</a:t>
            </a:r>
            <a:r>
              <a:rPr lang="en-US" dirty="0"/>
              <a:t> recognizes that God exists, and that God has expectations; </a:t>
            </a:r>
            <a:r>
              <a:rPr lang="en-US" i="1" dirty="0"/>
              <a:t>but succumbs to selfish pride, artificial authority, arrogance, and hypocrisy</a:t>
            </a:r>
            <a:r>
              <a:rPr lang="en-US" dirty="0"/>
              <a:t>. (Romans 3)</a:t>
            </a:r>
          </a:p>
          <a:p>
            <a:endParaRPr lang="en-US" dirty="0"/>
          </a:p>
          <a:p>
            <a:pPr marL="285750" indent="-285750">
              <a:buFont typeface="Arial" panose="020B0604020202020204" pitchFamily="34" charset="0"/>
              <a:buChar char="•"/>
            </a:pPr>
            <a:r>
              <a:rPr lang="en-US" dirty="0"/>
              <a:t>The </a:t>
            </a:r>
            <a:r>
              <a:rPr lang="en-US" b="1" dirty="0"/>
              <a:t>Just Man </a:t>
            </a:r>
            <a:r>
              <a:rPr lang="en-US" dirty="0"/>
              <a:t>relies upon God’s promise, lives by faith; </a:t>
            </a:r>
            <a:r>
              <a:rPr lang="en-US" i="1" dirty="0"/>
              <a:t>and receives the blessing of imputed righteousness. </a:t>
            </a:r>
            <a:r>
              <a:rPr lang="en-US" dirty="0"/>
              <a:t>(Romans 4)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3049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anim calcmode="lin" valueType="num">
                                      <p:cBhvr>
                                        <p:cTn id="2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1000"/>
                                        <p:tgtEl>
                                          <p:spTgt spid="5">
                                            <p:txEl>
                                              <p:pRg st="6" end="6"/>
                                            </p:txEl>
                                          </p:spTgt>
                                        </p:tgtEl>
                                      </p:cBhvr>
                                    </p:animEffect>
                                    <p:anim calcmode="lin" valueType="num">
                                      <p:cBhvr>
                                        <p:cTn id="2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1000"/>
                                        <p:tgtEl>
                                          <p:spTgt spid="5">
                                            <p:txEl>
                                              <p:pRg st="8" end="8"/>
                                            </p:txEl>
                                          </p:spTgt>
                                        </p:tgtEl>
                                      </p:cBhvr>
                                    </p:animEffect>
                                    <p:anim calcmode="lin" valueType="num">
                                      <p:cBhvr>
                                        <p:cTn id="36"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D499-F812-C9C4-FF64-ABCE967760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5DE22-BA56-B287-C684-7111FDDBE367}"/>
              </a:ext>
            </a:extLst>
          </p:cNvPr>
          <p:cNvSpPr>
            <a:spLocks noGrp="1"/>
          </p:cNvSpPr>
          <p:nvPr>
            <p:ph idx="1"/>
          </p:nvPr>
        </p:nvSpPr>
        <p:spPr>
          <a:xfrm>
            <a:off x="457200" y="4114800"/>
            <a:ext cx="8229600" cy="2514601"/>
          </a:xfrm>
        </p:spPr>
        <p:txBody>
          <a:bodyPr/>
          <a:lstStyle/>
          <a:p>
            <a:pPr marL="285750" indent="-285750">
              <a:buFont typeface="Arial" panose="020B0604020202020204" pitchFamily="34" charset="0"/>
              <a:buChar char="•"/>
            </a:pPr>
            <a:r>
              <a:rPr lang="en-US" sz="2000" b="1" dirty="0">
                <a:latin typeface="+mn-lt"/>
              </a:rPr>
              <a:t>Materialism</a:t>
            </a:r>
            <a:r>
              <a:rPr lang="en-US" sz="2000" dirty="0">
                <a:latin typeface="+mn-lt"/>
              </a:rPr>
              <a:t> – Matter is all that there is; the ultimate reality.</a:t>
            </a:r>
          </a:p>
          <a:p>
            <a:pPr marL="285750" indent="-285750">
              <a:buFont typeface="Arial" panose="020B0604020202020204" pitchFamily="34" charset="0"/>
              <a:buChar char="•"/>
            </a:pPr>
            <a:r>
              <a:rPr lang="en-US" sz="2000" b="1" dirty="0">
                <a:latin typeface="+mn-lt"/>
              </a:rPr>
              <a:t>Rationalism</a:t>
            </a:r>
            <a:r>
              <a:rPr lang="en-US" sz="2000" dirty="0">
                <a:latin typeface="+mn-lt"/>
              </a:rPr>
              <a:t> – Human Reason is the standard of all truth.</a:t>
            </a:r>
          </a:p>
          <a:p>
            <a:pPr marL="285750" indent="-285750">
              <a:buFont typeface="Arial" panose="020B0604020202020204" pitchFamily="34" charset="0"/>
              <a:buChar char="•"/>
            </a:pPr>
            <a:r>
              <a:rPr lang="en-US" sz="2000" b="1" dirty="0">
                <a:latin typeface="+mn-lt"/>
              </a:rPr>
              <a:t>Empiricism</a:t>
            </a:r>
            <a:r>
              <a:rPr lang="en-US" sz="2000" dirty="0">
                <a:latin typeface="+mn-lt"/>
              </a:rPr>
              <a:t> – Claims that the ultimate foundation of knowledge is sensation or experience.</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mankind</a:t>
            </a:r>
            <a:r>
              <a:rPr lang="en-US" sz="2000" i="1" dirty="0">
                <a:latin typeface="+mn-lt"/>
              </a:rPr>
              <a:t>?</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God</a:t>
            </a:r>
            <a:r>
              <a:rPr lang="en-US" sz="2000" i="1" dirty="0">
                <a:latin typeface="+mn-lt"/>
              </a:rPr>
              <a:t>?</a:t>
            </a:r>
          </a:p>
          <a:p>
            <a:pPr marL="0" indent="0">
              <a:buNone/>
            </a:pPr>
            <a:endParaRPr lang="en-US" sz="2000" dirty="0">
              <a:latin typeface="+mn-lt"/>
            </a:endParaRPr>
          </a:p>
          <a:p>
            <a:pPr marL="0" indent="0">
              <a:buNone/>
            </a:pPr>
            <a:endParaRPr lang="en-US" sz="2000" dirty="0"/>
          </a:p>
          <a:p>
            <a:pPr marL="285750" indent="-285750">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E6B200FC-7017-CB9C-143D-A0F515149F60}"/>
              </a:ext>
            </a:extLst>
          </p:cNvPr>
          <p:cNvSpPr>
            <a:spLocks noGrp="1"/>
          </p:cNvSpPr>
          <p:nvPr>
            <p:ph type="title"/>
          </p:nvPr>
        </p:nvSpPr>
        <p:spPr>
          <a:xfrm>
            <a:off x="457200" y="0"/>
            <a:ext cx="8458200" cy="914400"/>
          </a:xfrm>
        </p:spPr>
        <p:txBody>
          <a:bodyPr>
            <a:normAutofit fontScale="90000"/>
          </a:bodyPr>
          <a:lstStyle/>
          <a:p>
            <a:pPr algn="l"/>
            <a:r>
              <a:rPr lang="en-US" sz="3600" dirty="0"/>
              <a:t>Mankind’s ‘Righteousness’ as a Worldview</a:t>
            </a:r>
            <a:br>
              <a:rPr lang="en-US" dirty="0"/>
            </a:br>
            <a:r>
              <a:rPr lang="en-US" sz="2400" dirty="0">
                <a:solidFill>
                  <a:schemeClr val="tx2">
                    <a:lumMod val="60000"/>
                    <a:lumOff val="40000"/>
                  </a:schemeClr>
                </a:solidFill>
              </a:rPr>
              <a:t>Origins </a:t>
            </a:r>
            <a:r>
              <a:rPr lang="en-US" sz="2400" dirty="0">
                <a:solidFill>
                  <a:schemeClr val="tx2">
                    <a:lumMod val="60000"/>
                    <a:lumOff val="40000"/>
                  </a:schemeClr>
                </a:solidFill>
                <a:sym typeface="Wingdings" pitchFamily="2" charset="2"/>
              </a:rPr>
              <a:t> Meaning  Morality  Destiny</a:t>
            </a:r>
            <a:endParaRPr lang="en-US" sz="2400" dirty="0">
              <a:solidFill>
                <a:schemeClr val="tx2">
                  <a:lumMod val="60000"/>
                  <a:lumOff val="40000"/>
                </a:schemeClr>
              </a:solidFill>
            </a:endParaRPr>
          </a:p>
        </p:txBody>
      </p:sp>
      <p:sp>
        <p:nvSpPr>
          <p:cNvPr id="2" name="Scroll: Horizontal 3">
            <a:extLst>
              <a:ext uri="{FF2B5EF4-FFF2-40B4-BE49-F238E27FC236}">
                <a16:creationId xmlns:a16="http://schemas.microsoft.com/office/drawing/2014/main" id="{AD11DD13-62F7-C565-1C22-BBA78E1C2FE4}"/>
              </a:ext>
            </a:extLst>
          </p:cNvPr>
          <p:cNvSpPr/>
          <p:nvPr/>
        </p:nvSpPr>
        <p:spPr>
          <a:xfrm>
            <a:off x="466200" y="761999"/>
            <a:ext cx="8220600" cy="3352801"/>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i="1" u="sng" dirty="0"/>
              <a:t>What is man that You are mindful of him</a:t>
            </a:r>
            <a:r>
              <a:rPr lang="en-US" sz="1600" i="1" dirty="0"/>
              <a:t>, And the son of man that You visit him? For You have made him a little lower than the angels, And You have crowned him with glory and honor.</a:t>
            </a:r>
            <a:r>
              <a:rPr lang="en-US" sz="1600" dirty="0"/>
              <a:t> </a:t>
            </a:r>
            <a:r>
              <a:rPr lang="en-US" sz="1600" i="1" dirty="0"/>
              <a:t>You have made him to have dominion over the works of Your hands; </a:t>
            </a:r>
            <a:r>
              <a:rPr lang="en-US" sz="1600" i="1" u="sng" dirty="0"/>
              <a:t>You have put all things under his feet</a:t>
            </a:r>
            <a:r>
              <a:rPr lang="en-US" sz="1600" i="1" dirty="0"/>
              <a:t>… (Psalms 8:4-6)</a:t>
            </a:r>
          </a:p>
          <a:p>
            <a:endParaRPr lang="en-US" sz="1600" i="1" dirty="0"/>
          </a:p>
          <a:p>
            <a:r>
              <a:rPr lang="en-US" sz="1600" i="1" dirty="0"/>
              <a:t>For I bear them witness that they [Israel] have a zeal for God, but not according to knowledge. For they being ignorant of God's righteousness, and </a:t>
            </a:r>
            <a:r>
              <a:rPr lang="en-US" sz="1600" i="1" u="sng" dirty="0"/>
              <a:t>seeking to establish their own righteousness, have not submitted to the righteousness of God. For Christ is the end of the law for righteousness to everyone who believes</a:t>
            </a:r>
            <a:r>
              <a:rPr lang="en-US" sz="1600" i="1" dirty="0"/>
              <a:t>. </a:t>
            </a:r>
            <a:r>
              <a:rPr lang="en-US" sz="1600"/>
              <a:t>(Romans </a:t>
            </a:r>
            <a:r>
              <a:rPr lang="en-US" sz="1600" dirty="0"/>
              <a:t>10:2-4)</a:t>
            </a:r>
          </a:p>
        </p:txBody>
      </p:sp>
    </p:spTree>
    <p:extLst>
      <p:ext uri="{BB962C8B-B14F-4D97-AF65-F5344CB8AC3E}">
        <p14:creationId xmlns:p14="http://schemas.microsoft.com/office/powerpoint/2010/main" val="208026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10694</TotalTime>
  <Words>2980</Words>
  <Application>Microsoft Office PowerPoint</Application>
  <PresentationFormat>On-screen Show (4:3)</PresentationFormat>
  <Paragraphs>232</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Arial Narrow</vt:lpstr>
      <vt:lpstr>Calibri</vt:lpstr>
      <vt:lpstr>trebuchet ms</vt:lpstr>
      <vt:lpstr>Wingdings</vt:lpstr>
      <vt:lpstr>PPT_Template_2010SummerSchool</vt:lpstr>
      <vt:lpstr>1_UPCRC_Powerpoint_Template_with I-Mark</vt:lpstr>
      <vt:lpstr>Romans</vt:lpstr>
      <vt:lpstr>PowerPoint Presentation</vt:lpstr>
      <vt:lpstr>PowerPoint Presentation</vt:lpstr>
      <vt:lpstr>The Fine Print Our responsibility…</vt:lpstr>
      <vt:lpstr>The Grace of God Revealed The Theme </vt:lpstr>
      <vt:lpstr>PowerPoint Presentation</vt:lpstr>
      <vt:lpstr>PowerPoint Presentation</vt:lpstr>
      <vt:lpstr>PowerPoint Presentation</vt:lpstr>
      <vt:lpstr>Romans 1-4… Truth, The Nature of Mankind, and Worldviews</vt:lpstr>
      <vt:lpstr>Mankind’s ‘Righteousness’ as a Worldview Origins  Meaning  Morality  Destiny</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465</cp:revision>
  <cp:lastPrinted>2014-08-10T14:16:02Z</cp:lastPrinted>
  <dcterms:created xsi:type="dcterms:W3CDTF">2010-06-16T02:58:04Z</dcterms:created>
  <dcterms:modified xsi:type="dcterms:W3CDTF">2026-04-02T18:36:49Z</dcterms:modified>
</cp:coreProperties>
</file>