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68" r:id="rId1"/>
    <p:sldMasterId id="2147484131" r:id="rId2"/>
  </p:sldMasterIdLst>
  <p:notesMasterIdLst>
    <p:notesMasterId r:id="rId12"/>
  </p:notesMasterIdLst>
  <p:sldIdLst>
    <p:sldId id="256" r:id="rId3"/>
    <p:sldId id="389" r:id="rId4"/>
    <p:sldId id="394" r:id="rId5"/>
    <p:sldId id="393" r:id="rId6"/>
    <p:sldId id="386" r:id="rId7"/>
    <p:sldId id="388" r:id="rId8"/>
    <p:sldId id="397" r:id="rId9"/>
    <p:sldId id="395" r:id="rId10"/>
    <p:sldId id="396" r:id="rId11"/>
  </p:sldIdLst>
  <p:sldSz cx="9144000" cy="6858000" type="screen4x3"/>
  <p:notesSz cx="7077075" cy="9393238"/>
  <p:defaultTex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871" autoAdjust="0"/>
    <p:restoredTop sz="67098" autoAdjust="0"/>
  </p:normalViewPr>
  <p:slideViewPr>
    <p:cSldViewPr>
      <p:cViewPr varScale="1">
        <p:scale>
          <a:sx n="97" d="100"/>
          <a:sy n="97" d="100"/>
        </p:scale>
        <p:origin x="744" y="96"/>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66733" cy="469662"/>
          </a:xfrm>
          <a:prstGeom prst="rect">
            <a:avLst/>
          </a:prstGeom>
        </p:spPr>
        <p:txBody>
          <a:bodyPr vert="horz" wrap="square" lIns="94103" tIns="47052" rIns="94103" bIns="47052" numCol="1" anchor="t"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3" name="Date Placeholder 2"/>
          <p:cNvSpPr>
            <a:spLocks noGrp="1"/>
          </p:cNvSpPr>
          <p:nvPr>
            <p:ph type="dt" idx="1"/>
          </p:nvPr>
        </p:nvSpPr>
        <p:spPr>
          <a:xfrm>
            <a:off x="4008706" y="0"/>
            <a:ext cx="3066733" cy="469662"/>
          </a:xfrm>
          <a:prstGeom prst="rect">
            <a:avLst/>
          </a:prstGeom>
        </p:spPr>
        <p:txBody>
          <a:bodyPr vert="horz" wrap="square" lIns="94103" tIns="47052" rIns="94103" bIns="47052" numCol="1" anchor="t"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37B93000-4848-40F5-8AEF-44DFB12065B3}" type="datetime1">
              <a:rPr lang="en-US"/>
              <a:pPr>
                <a:defRPr/>
              </a:pPr>
              <a:t>6/20/2026</a:t>
            </a:fld>
            <a:endParaRPr lang="en-US"/>
          </a:p>
        </p:txBody>
      </p:sp>
      <p:sp>
        <p:nvSpPr>
          <p:cNvPr id="4" name="Slide Image Placeholder 3"/>
          <p:cNvSpPr>
            <a:spLocks noGrp="1" noRot="1" noChangeAspect="1"/>
          </p:cNvSpPr>
          <p:nvPr>
            <p:ph type="sldImg" idx="2"/>
          </p:nvPr>
        </p:nvSpPr>
        <p:spPr>
          <a:xfrm>
            <a:off x="1190625" y="704850"/>
            <a:ext cx="4695825" cy="3522663"/>
          </a:xfrm>
          <a:prstGeom prst="rect">
            <a:avLst/>
          </a:prstGeom>
          <a:noFill/>
          <a:ln w="12700">
            <a:solidFill>
              <a:prstClr val="black"/>
            </a:solidFill>
          </a:ln>
        </p:spPr>
        <p:txBody>
          <a:bodyPr vert="horz" wrap="square" lIns="94103" tIns="47052" rIns="94103" bIns="47052" numCol="1" anchor="ctr" anchorCtr="0" compatLnSpc="1">
            <a:prstTxWarp prst="textNoShape">
              <a:avLst/>
            </a:prstTxWarp>
          </a:bodyPr>
          <a:lstStyle/>
          <a:p>
            <a:pPr lvl="0"/>
            <a:endParaRPr lang="en-US" noProof="0"/>
          </a:p>
        </p:txBody>
      </p:sp>
      <p:sp>
        <p:nvSpPr>
          <p:cNvPr id="5" name="Notes Placeholder 4"/>
          <p:cNvSpPr>
            <a:spLocks noGrp="1"/>
          </p:cNvSpPr>
          <p:nvPr>
            <p:ph type="body" sz="quarter" idx="3"/>
          </p:nvPr>
        </p:nvSpPr>
        <p:spPr>
          <a:xfrm>
            <a:off x="707708" y="4461788"/>
            <a:ext cx="5661660" cy="4226957"/>
          </a:xfrm>
          <a:prstGeom prst="rect">
            <a:avLst/>
          </a:prstGeom>
        </p:spPr>
        <p:txBody>
          <a:bodyPr vert="horz" wrap="square" lIns="94103" tIns="47052" rIns="94103" bIns="47052"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1" y="8921946"/>
            <a:ext cx="3066733" cy="469662"/>
          </a:xfrm>
          <a:prstGeom prst="rect">
            <a:avLst/>
          </a:prstGeom>
        </p:spPr>
        <p:txBody>
          <a:bodyPr vert="horz" wrap="square" lIns="94103" tIns="47052" rIns="94103" bIns="47052" numCol="1" anchor="b"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7" name="Slide Number Placeholder 6"/>
          <p:cNvSpPr>
            <a:spLocks noGrp="1"/>
          </p:cNvSpPr>
          <p:nvPr>
            <p:ph type="sldNum" sz="quarter" idx="5"/>
          </p:nvPr>
        </p:nvSpPr>
        <p:spPr>
          <a:xfrm>
            <a:off x="4008706" y="8921946"/>
            <a:ext cx="3066733" cy="469662"/>
          </a:xfrm>
          <a:prstGeom prst="rect">
            <a:avLst/>
          </a:prstGeom>
        </p:spPr>
        <p:txBody>
          <a:bodyPr vert="horz" wrap="square" lIns="94103" tIns="47052" rIns="94103" bIns="47052" numCol="1" anchor="b"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07776858-791E-4C8D-8FA3-473B3AFECFAC}" type="slidenum">
              <a:rPr lang="en-US"/>
              <a:pPr>
                <a:defRPr/>
              </a:pPr>
              <a:t>‹#›</a:t>
            </a:fld>
            <a:endParaRPr lang="en-US"/>
          </a:p>
        </p:txBody>
      </p:sp>
    </p:spTree>
    <p:extLst>
      <p:ext uri="{BB962C8B-B14F-4D97-AF65-F5344CB8AC3E}">
        <p14:creationId xmlns:p14="http://schemas.microsoft.com/office/powerpoint/2010/main" val="41183750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pitchFamily="-106" charset="-128"/>
        <a:cs typeface="ＭＳ Ｐゴシック" pitchFamily="-106" charset="-128"/>
      </a:defRPr>
    </a:lvl1pPr>
    <a:lvl2pPr marL="4572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1</a:t>
            </a:fld>
            <a:endParaRPr lang="en-US"/>
          </a:p>
        </p:txBody>
      </p:sp>
    </p:spTree>
    <p:extLst>
      <p:ext uri="{BB962C8B-B14F-4D97-AF65-F5344CB8AC3E}">
        <p14:creationId xmlns:p14="http://schemas.microsoft.com/office/powerpoint/2010/main" val="16548471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b="1" kern="1200" dirty="0">
                <a:solidFill>
                  <a:schemeClr val="tx1"/>
                </a:solidFill>
                <a:effectLst/>
                <a:latin typeface="+mn-lt"/>
                <a:ea typeface="ＭＳ Ｐゴシック" pitchFamily="-106" charset="-128"/>
                <a:cs typeface="ＭＳ Ｐゴシック" pitchFamily="-106" charset="-128"/>
              </a:rPr>
              <a:t>Romans 8-11 is one continuous argument</a:t>
            </a:r>
            <a:r>
              <a:rPr lang="en-US" sz="1200" kern="1200" dirty="0">
                <a:solidFill>
                  <a:schemeClr val="tx1"/>
                </a:solidFill>
                <a:effectLst/>
                <a:latin typeface="+mn-lt"/>
                <a:ea typeface="ＭＳ Ｐゴシック" pitchFamily="-106" charset="-128"/>
                <a:cs typeface="ＭＳ Ｐゴシック" pitchFamily="-106" charset="-128"/>
              </a:rPr>
              <a:t>. Unfortunately, chapter divisions often cause readers to isolate Romans 9 from Romans 8 and 10-11. When read together, Paul's emphasis becomes clearer.</a:t>
            </a:r>
          </a:p>
          <a:p>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The question Paul is answering is:</a:t>
            </a:r>
          </a:p>
          <a:p>
            <a:r>
              <a:rPr lang="en-US" sz="1200" b="1" kern="1200" dirty="0">
                <a:solidFill>
                  <a:schemeClr val="tx1"/>
                </a:solidFill>
                <a:effectLst/>
                <a:latin typeface="+mn-lt"/>
                <a:ea typeface="ＭＳ Ｐゴシック" pitchFamily="-106" charset="-128"/>
                <a:cs typeface="ＭＳ Ｐゴシック" pitchFamily="-106" charset="-128"/>
              </a:rPr>
              <a:t>If God chose Israel, why have so many Israelites rejected the Messiah? Has God's word failed?</a:t>
            </a:r>
            <a:endParaRPr lang="en-US" sz="1200" kern="1200" dirty="0">
              <a:solidFill>
                <a:schemeClr val="tx1"/>
              </a:solidFill>
              <a:effectLst/>
              <a:latin typeface="+mn-lt"/>
              <a:ea typeface="ＭＳ Ｐゴシック" pitchFamily="-106" charset="-128"/>
              <a:cs typeface="ＭＳ Ｐゴシック" pitchFamily="-106" charset="-128"/>
            </a:endParaRPr>
          </a:p>
          <a:p>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His answer is:</a:t>
            </a:r>
          </a:p>
          <a:p>
            <a:r>
              <a:rPr lang="en-US" sz="1200" b="1" kern="1200" dirty="0">
                <a:solidFill>
                  <a:schemeClr val="tx1"/>
                </a:solidFill>
                <a:effectLst/>
                <a:latin typeface="+mn-lt"/>
                <a:ea typeface="ＭＳ Ｐゴシック" pitchFamily="-106" charset="-128"/>
                <a:cs typeface="ＭＳ Ｐゴシック" pitchFamily="-106" charset="-128"/>
              </a:rPr>
              <a:t>No. God's purpose has never depended upon ethnic descent, human privilege, or human achievement. God remains sovereignly faithful to His promises, and He is accomplishing His redemptive plan exactly as intended.</a:t>
            </a:r>
            <a:endParaRPr lang="en-US" sz="1200" kern="1200" dirty="0">
              <a:solidFill>
                <a:schemeClr val="tx1"/>
              </a:solidFill>
              <a:effectLst/>
              <a:latin typeface="+mn-lt"/>
              <a:ea typeface="ＭＳ Ｐゴシック" pitchFamily="-106" charset="-128"/>
              <a:cs typeface="ＭＳ Ｐゴシック" pitchFamily="-106" charset="-128"/>
            </a:endParaRPr>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2</a:t>
            </a:fld>
            <a:endParaRPr lang="en-US"/>
          </a:p>
        </p:txBody>
      </p:sp>
    </p:spTree>
    <p:extLst>
      <p:ext uri="{BB962C8B-B14F-4D97-AF65-F5344CB8AC3E}">
        <p14:creationId xmlns:p14="http://schemas.microsoft.com/office/powerpoint/2010/main" val="32401618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55301-24DE-3BD1-3692-7A8319C367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7AA34D-87EC-2220-12E1-F4F4E2BD5F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9B370F-90EB-0ED7-1129-58CCB9739D44}"/>
              </a:ext>
            </a:extLst>
          </p:cNvPr>
          <p:cNvSpPr>
            <a:spLocks noGrp="1"/>
          </p:cNvSpPr>
          <p:nvPr>
            <p:ph type="body" idx="1"/>
          </p:nvPr>
        </p:nvSpPr>
        <p:spPr/>
        <p:txBody>
          <a:bodyPr>
            <a:normAutofit lnSpcReduction="10000"/>
          </a:bodyPr>
          <a:lstStyle/>
          <a:p>
            <a:r>
              <a:rPr lang="en-US" sz="1200" b="1" kern="1200" dirty="0">
                <a:solidFill>
                  <a:schemeClr val="tx1"/>
                </a:solidFill>
                <a:effectLst/>
                <a:latin typeface="+mn-lt"/>
                <a:ea typeface="ＭＳ Ｐゴシック" pitchFamily="-106" charset="-128"/>
                <a:cs typeface="ＭＳ Ｐゴシック" pitchFamily="-106" charset="-128"/>
              </a:rPr>
              <a:t>Bringing This Back to Romans 8</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Romans 8:28-30 is not saying:</a:t>
            </a:r>
          </a:p>
          <a:p>
            <a:pPr lvl="1"/>
            <a:r>
              <a:rPr lang="en-US" sz="1200" kern="1200" dirty="0">
                <a:solidFill>
                  <a:schemeClr val="tx1"/>
                </a:solidFill>
                <a:effectLst/>
                <a:latin typeface="+mn-lt"/>
                <a:ea typeface="ＭＳ Ｐゴシック" pitchFamily="-106" charset="-128"/>
                <a:cs typeface="ＭＳ Ｐゴシック" pitchFamily="-106" charset="-128"/>
              </a:rPr>
              <a:t>"Man contributes nothing."</a:t>
            </a:r>
          </a:p>
          <a:p>
            <a:r>
              <a:rPr lang="en-US" sz="1200" kern="1200" dirty="0">
                <a:solidFill>
                  <a:schemeClr val="tx1"/>
                </a:solidFill>
                <a:effectLst/>
                <a:latin typeface="+mn-lt"/>
                <a:ea typeface="ＭＳ Ｐゴシック" pitchFamily="-106" charset="-128"/>
                <a:cs typeface="ＭＳ Ｐゴシック" pitchFamily="-106" charset="-128"/>
              </a:rPr>
              <a:t>Nor is it saying:</a:t>
            </a:r>
          </a:p>
          <a:p>
            <a:pPr lvl="1"/>
            <a:r>
              <a:rPr lang="en-US" sz="1200" kern="1200" dirty="0">
                <a:solidFill>
                  <a:schemeClr val="tx1"/>
                </a:solidFill>
                <a:effectLst/>
                <a:latin typeface="+mn-lt"/>
                <a:ea typeface="ＭＳ Ｐゴシック" pitchFamily="-106" charset="-128"/>
                <a:cs typeface="ＭＳ Ｐゴシック" pitchFamily="-106" charset="-128"/>
              </a:rPr>
              <a:t>"Man saves himself."</a:t>
            </a:r>
          </a:p>
          <a:p>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Paul's emphasis is that God is ultimately responsible for bringing His people to glory.</a:t>
            </a:r>
          </a:p>
          <a:p>
            <a:pPr marL="171450" indent="-171450">
              <a:buFont typeface="Arial" panose="020B0604020202020204" pitchFamily="34" charset="0"/>
              <a:buChar char="•"/>
            </a:pPr>
            <a:r>
              <a:rPr lang="en-US" sz="1200" kern="1200" dirty="0">
                <a:solidFill>
                  <a:schemeClr val="tx1"/>
                </a:solidFill>
                <a:effectLst/>
                <a:latin typeface="+mn-lt"/>
                <a:ea typeface="ＭＳ Ｐゴシック" pitchFamily="-106" charset="-128"/>
                <a:cs typeface="ＭＳ Ｐゴシック" pitchFamily="-106" charset="-128"/>
              </a:rPr>
              <a:t>The believer genuinely loves God (v. 28).</a:t>
            </a:r>
          </a:p>
          <a:p>
            <a:pPr marL="171450" indent="-171450">
              <a:buFont typeface="Arial" panose="020B0604020202020204" pitchFamily="34" charset="0"/>
              <a:buChar char="•"/>
            </a:pPr>
            <a:r>
              <a:rPr lang="en-US" sz="1200" kern="1200" dirty="0">
                <a:solidFill>
                  <a:schemeClr val="tx1"/>
                </a:solidFill>
                <a:effectLst/>
                <a:latin typeface="+mn-lt"/>
                <a:ea typeface="ＭＳ Ｐゴシック" pitchFamily="-106" charset="-128"/>
                <a:cs typeface="ＭＳ Ｐゴシック" pitchFamily="-106" charset="-128"/>
              </a:rPr>
              <a:t>The believer genuinely walks according to the Spirit (v. 4).</a:t>
            </a:r>
          </a:p>
          <a:p>
            <a:pPr marL="171450" indent="-171450">
              <a:buFont typeface="Arial" panose="020B0604020202020204" pitchFamily="34" charset="0"/>
              <a:buChar char="•"/>
            </a:pPr>
            <a:r>
              <a:rPr lang="en-US" sz="1200" kern="1200" dirty="0">
                <a:solidFill>
                  <a:schemeClr val="tx1"/>
                </a:solidFill>
                <a:effectLst/>
                <a:latin typeface="+mn-lt"/>
                <a:ea typeface="ＭＳ Ｐゴシック" pitchFamily="-106" charset="-128"/>
                <a:cs typeface="ＭＳ Ｐゴシック" pitchFamily="-106" charset="-128"/>
              </a:rPr>
              <a:t>The believer genuinely puts sin to death (v. 13).</a:t>
            </a:r>
          </a:p>
          <a:p>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Yet underneath all of these actions is God's prior and continuing work.</a:t>
            </a:r>
          </a:p>
          <a:p>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The earliest Christians would likely have answered this way:</a:t>
            </a:r>
          </a:p>
          <a:p>
            <a:pPr marL="171450" indent="-171450">
              <a:buFont typeface="Arial" panose="020B0604020202020204" pitchFamily="34" charset="0"/>
              <a:buChar char="•"/>
            </a:pPr>
            <a:r>
              <a:rPr lang="en-US" sz="1200" b="1" kern="1200" dirty="0">
                <a:solidFill>
                  <a:schemeClr val="tx1"/>
                </a:solidFill>
                <a:effectLst/>
                <a:latin typeface="+mn-lt"/>
                <a:ea typeface="ＭＳ Ｐゴシック" pitchFamily="-106" charset="-128"/>
                <a:cs typeface="ＭＳ Ｐゴシック" pitchFamily="-106" charset="-128"/>
              </a:rPr>
              <a:t>Can a human turn toward God by the exercise of his will?</a:t>
            </a:r>
            <a:r>
              <a:rPr lang="en-US" sz="1200" kern="1200" dirty="0">
                <a:solidFill>
                  <a:schemeClr val="tx1"/>
                </a:solidFill>
                <a:effectLst/>
                <a:latin typeface="+mn-lt"/>
                <a:ea typeface="ＭＳ Ｐゴシック" pitchFamily="-106" charset="-128"/>
                <a:cs typeface="ＭＳ Ｐゴシック" pitchFamily="-106" charset="-128"/>
              </a:rPr>
              <a:t> Yes, because God created man with moral agency and calls him to respond.</a:t>
            </a:r>
          </a:p>
          <a:p>
            <a:pPr marL="171450" indent="-171450">
              <a:buFont typeface="Arial" panose="020B0604020202020204" pitchFamily="34" charset="0"/>
              <a:buChar char="•"/>
            </a:pPr>
            <a:r>
              <a:rPr lang="en-US" sz="1200" b="1" kern="1200" dirty="0">
                <a:solidFill>
                  <a:schemeClr val="tx1"/>
                </a:solidFill>
                <a:effectLst/>
                <a:latin typeface="+mn-lt"/>
                <a:ea typeface="ＭＳ Ｐゴシック" pitchFamily="-106" charset="-128"/>
                <a:cs typeface="ＭＳ Ｐゴシック" pitchFamily="-106" charset="-128"/>
              </a:rPr>
              <a:t>Can a human contribute to the basis of his own justification?</a:t>
            </a:r>
            <a:r>
              <a:rPr lang="en-US" sz="1200" kern="1200" dirty="0">
                <a:solidFill>
                  <a:schemeClr val="tx1"/>
                </a:solidFill>
                <a:effectLst/>
                <a:latin typeface="+mn-lt"/>
                <a:ea typeface="ＭＳ Ｐゴシック" pitchFamily="-106" charset="-128"/>
                <a:cs typeface="ＭＳ Ｐゴシック" pitchFamily="-106" charset="-128"/>
              </a:rPr>
              <a:t> No. Salvation is grounded in Christ's work, not man's merit.</a:t>
            </a:r>
          </a:p>
          <a:p>
            <a:pPr marL="171450" indent="-171450">
              <a:buFont typeface="Arial" panose="020B0604020202020204" pitchFamily="34" charset="0"/>
              <a:buChar char="•"/>
            </a:pPr>
            <a:r>
              <a:rPr lang="en-US" sz="1200" b="1" kern="1200" dirty="0">
                <a:solidFill>
                  <a:schemeClr val="tx1"/>
                </a:solidFill>
                <a:effectLst/>
                <a:latin typeface="+mn-lt"/>
                <a:ea typeface="ＭＳ Ｐゴシック" pitchFamily="-106" charset="-128"/>
                <a:cs typeface="ＭＳ Ｐゴシック" pitchFamily="-106" charset="-128"/>
              </a:rPr>
              <a:t>Who is ultimately in control of salvation?</a:t>
            </a:r>
            <a:r>
              <a:rPr lang="en-US" sz="1200" kern="1200" dirty="0">
                <a:solidFill>
                  <a:schemeClr val="tx1"/>
                </a:solidFill>
                <a:effectLst/>
                <a:latin typeface="+mn-lt"/>
                <a:ea typeface="ＭＳ Ｐゴシック" pitchFamily="-106" charset="-128"/>
                <a:cs typeface="ＭＳ Ｐゴシック" pitchFamily="-106" charset="-128"/>
              </a:rPr>
              <a:t> God. Yet God works through, rather than against, the human will He created.</a:t>
            </a:r>
          </a:p>
          <a:p>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That understanding is very close to how Irenaeus, Justin Martyr, Clement, and the other pre-200 writers typically spoke about grace, faith, obedience, and salvation.</a:t>
            </a:r>
          </a:p>
          <a:p>
            <a:endParaRPr lang="en-US" dirty="0"/>
          </a:p>
        </p:txBody>
      </p:sp>
      <p:sp>
        <p:nvSpPr>
          <p:cNvPr id="4" name="Slide Number Placeholder 3">
            <a:extLst>
              <a:ext uri="{FF2B5EF4-FFF2-40B4-BE49-F238E27FC236}">
                <a16:creationId xmlns:a16="http://schemas.microsoft.com/office/drawing/2014/main" id="{3130469E-542B-4AFE-DD53-73D1A0DC0822}"/>
              </a:ext>
            </a:extLst>
          </p:cNvPr>
          <p:cNvSpPr>
            <a:spLocks noGrp="1"/>
          </p:cNvSpPr>
          <p:nvPr>
            <p:ph type="sldNum" sz="quarter" idx="10"/>
          </p:nvPr>
        </p:nvSpPr>
        <p:spPr/>
        <p:txBody>
          <a:bodyPr/>
          <a:lstStyle/>
          <a:p>
            <a:pPr>
              <a:defRPr/>
            </a:pPr>
            <a:fld id="{07776858-791E-4C8D-8FA3-473B3AFECFAC}" type="slidenum">
              <a:rPr lang="en-US" smtClean="0"/>
              <a:pPr>
                <a:defRPr/>
              </a:pPr>
              <a:t>3</a:t>
            </a:fld>
            <a:endParaRPr lang="en-US"/>
          </a:p>
        </p:txBody>
      </p:sp>
    </p:spTree>
    <p:extLst>
      <p:ext uri="{BB962C8B-B14F-4D97-AF65-F5344CB8AC3E}">
        <p14:creationId xmlns:p14="http://schemas.microsoft.com/office/powerpoint/2010/main" val="31279347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3114B-654F-892D-4761-4F9E4A88AC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3F4753-5F2C-080A-DC80-172615607A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4C299B-9D30-22A1-BE08-AF9B57B86F96}"/>
              </a:ext>
            </a:extLst>
          </p:cNvPr>
          <p:cNvSpPr>
            <a:spLocks noGrp="1"/>
          </p:cNvSpPr>
          <p:nvPr>
            <p:ph type="body" idx="1"/>
          </p:nvPr>
        </p:nvSpPr>
        <p:spPr/>
        <p:txBody>
          <a:bodyPr>
            <a:normAutofit fontScale="47500" lnSpcReduction="20000"/>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b="1" kern="1200" dirty="0">
                <a:solidFill>
                  <a:schemeClr val="tx1"/>
                </a:solidFill>
                <a:effectLst/>
                <a:latin typeface="+mn-lt"/>
                <a:ea typeface="ＭＳ Ｐゴシック" pitchFamily="-106" charset="-128"/>
                <a:cs typeface="ＭＳ Ｐゴシック" pitchFamily="-106" charset="-128"/>
              </a:rPr>
              <a:t>The Will of Man and the Sovereignty of God - working together</a:t>
            </a:r>
          </a:p>
          <a:p>
            <a:endParaRPr lang="en-US" sz="1400" b="1" kern="1200" dirty="0">
              <a:solidFill>
                <a:schemeClr val="tx1"/>
              </a:solidFill>
              <a:effectLst/>
              <a:latin typeface="+mn-lt"/>
              <a:ea typeface="ＭＳ Ｐゴシック" pitchFamily="-106" charset="-128"/>
              <a:cs typeface="ＭＳ Ｐゴシック" pitchFamily="-106" charset="-128"/>
            </a:endParaRPr>
          </a:p>
          <a:p>
            <a:r>
              <a:rPr lang="en-US" sz="1400" b="1" kern="1200" dirty="0">
                <a:solidFill>
                  <a:schemeClr val="tx1"/>
                </a:solidFill>
                <a:effectLst/>
                <a:latin typeface="+mn-lt"/>
                <a:ea typeface="ＭＳ Ｐゴシック" pitchFamily="-106" charset="-128"/>
                <a:cs typeface="ＭＳ Ｐゴシック" pitchFamily="-106" charset="-128"/>
              </a:rPr>
              <a:t>Double </a:t>
            </a:r>
            <a:r>
              <a:rPr lang="en-US" sz="1400" b="1" kern="1200" dirty="0" err="1">
                <a:solidFill>
                  <a:schemeClr val="tx1"/>
                </a:solidFill>
                <a:effectLst/>
                <a:latin typeface="+mn-lt"/>
                <a:ea typeface="ＭＳ Ｐゴシック" pitchFamily="-106" charset="-128"/>
                <a:cs typeface="ＭＳ Ｐゴシック" pitchFamily="-106" charset="-128"/>
              </a:rPr>
              <a:t>PreDestination</a:t>
            </a:r>
            <a:r>
              <a:rPr lang="en-US" sz="1400" b="1" kern="1200" dirty="0">
                <a:solidFill>
                  <a:schemeClr val="tx1"/>
                </a:solidFill>
                <a:effectLst/>
                <a:latin typeface="+mn-lt"/>
                <a:ea typeface="ＭＳ Ｐゴシック" pitchFamily="-106" charset="-128"/>
                <a:cs typeface="ＭＳ Ｐゴシック" pitchFamily="-106" charset="-128"/>
              </a:rPr>
              <a:t>:</a:t>
            </a:r>
          </a:p>
          <a:p>
            <a:pPr marL="171450" indent="-171450" rtl="0" fontAlgn="ctr">
              <a:buFont typeface="Arial" panose="020B0604020202020204" pitchFamily="34" charset="0"/>
              <a:buChar char="•"/>
            </a:pPr>
            <a:r>
              <a:rPr lang="en-US" sz="1400" b="0" i="0" kern="1200" dirty="0">
                <a:solidFill>
                  <a:schemeClr val="tx1"/>
                </a:solidFill>
                <a:effectLst/>
                <a:latin typeface="+mn-lt"/>
                <a:ea typeface="ＭＳ Ｐゴシック" pitchFamily="-106" charset="-128"/>
                <a:cs typeface="ＭＳ Ｐゴシック" pitchFamily="-106" charset="-128"/>
              </a:rPr>
              <a:t>Belief equals predestination to salvation.</a:t>
            </a:r>
          </a:p>
          <a:p>
            <a:pPr marL="171450" indent="-171450" rtl="0" fontAlgn="ctr">
              <a:buFont typeface="Arial" panose="020B0604020202020204" pitchFamily="34" charset="0"/>
              <a:buChar char="•"/>
            </a:pPr>
            <a:r>
              <a:rPr lang="en-US" sz="1400" b="0" i="0" kern="1200" dirty="0">
                <a:solidFill>
                  <a:schemeClr val="tx1"/>
                </a:solidFill>
                <a:effectLst/>
                <a:latin typeface="+mn-lt"/>
                <a:ea typeface="ＭＳ Ｐゴシック" pitchFamily="-106" charset="-128"/>
                <a:cs typeface="ＭＳ Ｐゴシック" pitchFamily="-106" charset="-128"/>
              </a:rPr>
              <a:t>Disbelief equals predestination to stumble further.</a:t>
            </a: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400" kern="1200" dirty="0">
                <a:solidFill>
                  <a:schemeClr val="tx1"/>
                </a:solidFill>
                <a:effectLst/>
                <a:latin typeface="+mn-lt"/>
                <a:ea typeface="ＭＳ Ｐゴシック" pitchFamily="-106" charset="-128"/>
                <a:cs typeface="ＭＳ Ｐゴシック" pitchFamily="-106" charset="-128"/>
              </a:rPr>
              <a:t>Jesus said to them, “</a:t>
            </a:r>
            <a:r>
              <a:rPr lang="en-US" sz="1400" b="1" kern="1200" dirty="0">
                <a:solidFill>
                  <a:schemeClr val="tx1"/>
                </a:solidFill>
                <a:effectLst/>
                <a:latin typeface="+mn-lt"/>
                <a:ea typeface="ＭＳ Ｐゴシック" pitchFamily="-106" charset="-128"/>
                <a:cs typeface="ＭＳ Ｐゴシック" pitchFamily="-106" charset="-128"/>
              </a:rPr>
              <a:t>I am the bread of life. The one who comes to me will never go hungry, and the one who believes in me will never be thirsty.</a:t>
            </a:r>
            <a:r>
              <a:rPr lang="en-US" sz="1400" kern="1200" dirty="0">
                <a:solidFill>
                  <a:schemeClr val="tx1"/>
                </a:solidFill>
                <a:effectLst/>
                <a:latin typeface="+mn-lt"/>
                <a:ea typeface="ＭＳ Ｐゴシック" pitchFamily="-106" charset="-128"/>
                <a:cs typeface="ＭＳ Ｐゴシック" pitchFamily="-106" charset="-128"/>
              </a:rPr>
              <a:t> But I told you that you have seen me and still do not believe. Everyone whom the Father gives me will come to me, and the one who comes to me I will never send away.</a:t>
            </a:r>
          </a:p>
          <a:p>
            <a:r>
              <a:rPr lang="en-US" sz="1400" b="1" kern="1200" dirty="0">
                <a:solidFill>
                  <a:schemeClr val="tx1"/>
                </a:solidFill>
                <a:effectLst/>
                <a:latin typeface="+mn-lt"/>
                <a:ea typeface="ＭＳ Ｐゴシック" pitchFamily="-106" charset="-128"/>
                <a:cs typeface="ＭＳ Ｐゴシック" pitchFamily="-106" charset="-128"/>
              </a:rPr>
              <a:t>(Joh 6:35-37)</a:t>
            </a: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400" kern="1200" dirty="0">
                <a:solidFill>
                  <a:schemeClr val="tx1"/>
                </a:solidFill>
                <a:effectLst/>
                <a:latin typeface="+mn-lt"/>
                <a:ea typeface="ＭＳ Ｐゴシック" pitchFamily="-106" charset="-128"/>
                <a:cs typeface="ＭＳ Ｐゴシック" pitchFamily="-106" charset="-128"/>
              </a:rPr>
              <a:t>My sheep listen to my voice, and I know them, and they follow me. I give them eternal life, and they will never perish; </a:t>
            </a:r>
            <a:r>
              <a:rPr lang="en-US" sz="1400" b="1" kern="1200" dirty="0">
                <a:solidFill>
                  <a:schemeClr val="tx1"/>
                </a:solidFill>
                <a:effectLst/>
                <a:latin typeface="+mn-lt"/>
                <a:ea typeface="ＭＳ Ｐゴシック" pitchFamily="-106" charset="-128"/>
                <a:cs typeface="ＭＳ Ｐゴシック" pitchFamily="-106" charset="-128"/>
              </a:rPr>
              <a:t>no one will snatch them from my hand</a:t>
            </a:r>
            <a:r>
              <a:rPr lang="en-US" sz="1400" kern="1200" dirty="0">
                <a:solidFill>
                  <a:schemeClr val="tx1"/>
                </a:solidFill>
                <a:effectLst/>
                <a:latin typeface="+mn-lt"/>
                <a:ea typeface="ＭＳ Ｐゴシック" pitchFamily="-106" charset="-128"/>
                <a:cs typeface="ＭＳ Ｐゴシック" pitchFamily="-106" charset="-128"/>
              </a:rPr>
              <a:t>. My Father, who has given them to me, is greater than all, and no one can snatch them from my Father’s hand.</a:t>
            </a:r>
          </a:p>
          <a:p>
            <a:r>
              <a:rPr lang="en-US" sz="1400" b="1" kern="1200" dirty="0">
                <a:solidFill>
                  <a:schemeClr val="tx1"/>
                </a:solidFill>
                <a:effectLst/>
                <a:latin typeface="+mn-lt"/>
                <a:ea typeface="ＭＳ Ｐゴシック" pitchFamily="-106" charset="-128"/>
                <a:cs typeface="ＭＳ Ｐゴシック" pitchFamily="-106" charset="-128"/>
              </a:rPr>
              <a:t>(Joh 10:27-29)</a:t>
            </a: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400" kern="1200" dirty="0">
                <a:solidFill>
                  <a:schemeClr val="tx1"/>
                </a:solidFill>
                <a:effectLst/>
                <a:latin typeface="+mn-lt"/>
                <a:ea typeface="ＭＳ Ｐゴシック" pitchFamily="-106" charset="-128"/>
                <a:cs typeface="ＭＳ Ｐゴシック" pitchFamily="-106" charset="-128"/>
              </a:rPr>
              <a:t>For it says in scripture, “Look, I lay in Zion a stone, a chosen and precious cornerstone, and whoever believes in him will never be put to shame.” </a:t>
            </a:r>
            <a:r>
              <a:rPr lang="en-US" sz="1400" b="1" kern="1200" dirty="0">
                <a:solidFill>
                  <a:schemeClr val="tx1"/>
                </a:solidFill>
                <a:effectLst/>
                <a:latin typeface="+mn-lt"/>
                <a:ea typeface="ＭＳ Ｐゴシック" pitchFamily="-106" charset="-128"/>
                <a:cs typeface="ＭＳ Ｐゴシック" pitchFamily="-106" charset="-128"/>
              </a:rPr>
              <a:t>So you who believe see his value, but for those who do not believe, the stone that the builders rejected has become the cornerstone , and a stumbling-stone and a rock to trip over</a:t>
            </a:r>
            <a:r>
              <a:rPr lang="en-US" sz="1400" kern="1200" dirty="0">
                <a:solidFill>
                  <a:schemeClr val="tx1"/>
                </a:solidFill>
                <a:effectLst/>
                <a:latin typeface="+mn-lt"/>
                <a:ea typeface="ＭＳ Ｐゴシック" pitchFamily="-106" charset="-128"/>
                <a:cs typeface="ＭＳ Ｐゴシック" pitchFamily="-106" charset="-128"/>
              </a:rPr>
              <a:t>. They stumble because they disobey the word, as they were destined to do. But you are a chosen race, a royal priesthood, a holy nation, a people of his own, so that you may proclaim the virtues of the one who called you out of darkness into his marvelous light. You once were not a people, but now you are God’s people. You were shown no mercy, but now you have received mercy.</a:t>
            </a:r>
          </a:p>
          <a:p>
            <a:r>
              <a:rPr lang="en-US" sz="1400" b="1" kern="1200" dirty="0">
                <a:solidFill>
                  <a:schemeClr val="tx1"/>
                </a:solidFill>
                <a:effectLst/>
                <a:latin typeface="+mn-lt"/>
                <a:ea typeface="ＭＳ Ｐゴシック" pitchFamily="-106" charset="-128"/>
                <a:cs typeface="ＭＳ Ｐゴシック" pitchFamily="-106" charset="-128"/>
              </a:rPr>
              <a:t>(1Pe 2:6-10)</a:t>
            </a: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400" kern="1200" dirty="0">
                <a:solidFill>
                  <a:schemeClr val="tx1"/>
                </a:solidFill>
                <a:effectLst/>
                <a:latin typeface="+mn-lt"/>
                <a:ea typeface="ＭＳ Ｐゴシック" pitchFamily="-106" charset="-128"/>
                <a:cs typeface="ＭＳ Ｐゴシック" pitchFamily="-106" charset="-128"/>
              </a:rPr>
              <a:t>****</a:t>
            </a:r>
          </a:p>
          <a:p>
            <a:r>
              <a:rPr lang="en-US" sz="1400" kern="1200" dirty="0">
                <a:solidFill>
                  <a:schemeClr val="tx1"/>
                </a:solidFill>
                <a:effectLst/>
                <a:latin typeface="+mn-lt"/>
                <a:ea typeface="ＭＳ Ｐゴシック" pitchFamily="-106" charset="-128"/>
                <a:cs typeface="ＭＳ Ｐゴシック" pitchFamily="-106" charset="-128"/>
              </a:rPr>
              <a:t>So then, my dear friends, just as you have always obeyed, not only in my presence but even more in my absence, </a:t>
            </a:r>
            <a:r>
              <a:rPr lang="en-US" sz="1400" b="1" kern="1200" dirty="0">
                <a:solidFill>
                  <a:schemeClr val="tx1"/>
                </a:solidFill>
                <a:effectLst/>
                <a:latin typeface="+mn-lt"/>
                <a:ea typeface="ＭＳ Ｐゴシック" pitchFamily="-106" charset="-128"/>
                <a:cs typeface="ＭＳ Ｐゴシック" pitchFamily="-106" charset="-128"/>
              </a:rPr>
              <a:t>continue working out your salvation with awe and reverence</a:t>
            </a:r>
            <a:r>
              <a:rPr lang="en-US" sz="1400" kern="1200" dirty="0">
                <a:solidFill>
                  <a:schemeClr val="tx1"/>
                </a:solidFill>
                <a:effectLst/>
                <a:latin typeface="+mn-lt"/>
                <a:ea typeface="ＭＳ Ｐゴシック" pitchFamily="-106" charset="-128"/>
                <a:cs typeface="ＭＳ Ｐゴシック" pitchFamily="-106" charset="-128"/>
              </a:rPr>
              <a:t>, </a:t>
            </a:r>
            <a:r>
              <a:rPr lang="en-US" sz="1400" b="1" kern="1200" dirty="0">
                <a:solidFill>
                  <a:schemeClr val="tx1"/>
                </a:solidFill>
                <a:effectLst/>
                <a:latin typeface="+mn-lt"/>
                <a:ea typeface="ＭＳ Ｐゴシック" pitchFamily="-106" charset="-128"/>
                <a:cs typeface="ＭＳ Ｐゴシック" pitchFamily="-106" charset="-128"/>
              </a:rPr>
              <a:t>for the one bringing forth in you both the desire and the effort – for the sake of his good pleasure – is God.</a:t>
            </a:r>
          </a:p>
          <a:p>
            <a:r>
              <a:rPr lang="en-US" sz="1400" kern="1200" dirty="0">
                <a:solidFill>
                  <a:schemeClr val="tx1"/>
                </a:solidFill>
                <a:effectLst/>
                <a:latin typeface="+mn-lt"/>
                <a:ea typeface="ＭＳ Ｐゴシック" pitchFamily="-106" charset="-128"/>
                <a:cs typeface="ＭＳ Ｐゴシック" pitchFamily="-106" charset="-128"/>
              </a:rPr>
              <a:t>(</a:t>
            </a:r>
            <a:r>
              <a:rPr lang="en-US" sz="1400" kern="1200" dirty="0" err="1">
                <a:solidFill>
                  <a:schemeClr val="tx1"/>
                </a:solidFill>
                <a:effectLst/>
                <a:latin typeface="+mn-lt"/>
                <a:ea typeface="ＭＳ Ｐゴシック" pitchFamily="-106" charset="-128"/>
                <a:cs typeface="ＭＳ Ｐゴシック" pitchFamily="-106" charset="-128"/>
              </a:rPr>
              <a:t>Php</a:t>
            </a:r>
            <a:r>
              <a:rPr lang="en-US" sz="1400" kern="1200" dirty="0">
                <a:solidFill>
                  <a:schemeClr val="tx1"/>
                </a:solidFill>
                <a:effectLst/>
                <a:latin typeface="+mn-lt"/>
                <a:ea typeface="ＭＳ Ｐゴシック" pitchFamily="-106" charset="-128"/>
                <a:cs typeface="ＭＳ Ｐゴシック" pitchFamily="-106" charset="-128"/>
              </a:rPr>
              <a:t> 2:12-13) </a:t>
            </a: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400" kern="1200" dirty="0">
                <a:solidFill>
                  <a:schemeClr val="tx1"/>
                </a:solidFill>
                <a:effectLst/>
                <a:latin typeface="+mn-lt"/>
                <a:ea typeface="ＭＳ Ｐゴシック" pitchFamily="-106" charset="-128"/>
                <a:cs typeface="ＭＳ Ｐゴシック" pitchFamily="-106" charset="-128"/>
              </a:rPr>
              <a:t>For I am sure of this very thing, </a:t>
            </a:r>
            <a:r>
              <a:rPr lang="en-US" sz="1400" b="1" kern="1200" dirty="0">
                <a:solidFill>
                  <a:schemeClr val="tx1"/>
                </a:solidFill>
                <a:effectLst/>
                <a:latin typeface="+mn-lt"/>
                <a:ea typeface="ＭＳ Ｐゴシック" pitchFamily="-106" charset="-128"/>
                <a:cs typeface="ＭＳ Ｐゴシック" pitchFamily="-106" charset="-128"/>
              </a:rPr>
              <a:t>that the one who began a good work in you will perfect it until the day of Christ Jesus</a:t>
            </a:r>
            <a:r>
              <a:rPr lang="en-US" sz="1400" kern="1200" dirty="0">
                <a:solidFill>
                  <a:schemeClr val="tx1"/>
                </a:solidFill>
                <a:effectLst/>
                <a:latin typeface="+mn-lt"/>
                <a:ea typeface="ＭＳ Ｐゴシック" pitchFamily="-106" charset="-128"/>
                <a:cs typeface="ＭＳ Ｐゴシック" pitchFamily="-106" charset="-128"/>
              </a:rPr>
              <a:t>.</a:t>
            </a:r>
          </a:p>
          <a:p>
            <a:r>
              <a:rPr lang="en-US" sz="1400" kern="1200" dirty="0">
                <a:solidFill>
                  <a:schemeClr val="tx1"/>
                </a:solidFill>
                <a:effectLst/>
                <a:latin typeface="+mn-lt"/>
                <a:ea typeface="ＭＳ Ｐゴシック" pitchFamily="-106" charset="-128"/>
                <a:cs typeface="ＭＳ Ｐゴシック" pitchFamily="-106" charset="-128"/>
              </a:rPr>
              <a:t>(</a:t>
            </a:r>
            <a:r>
              <a:rPr lang="en-US" sz="1400" kern="1200" dirty="0" err="1">
                <a:solidFill>
                  <a:schemeClr val="tx1"/>
                </a:solidFill>
                <a:effectLst/>
                <a:latin typeface="+mn-lt"/>
                <a:ea typeface="ＭＳ Ｐゴシック" pitchFamily="-106" charset="-128"/>
                <a:cs typeface="ＭＳ Ｐゴシック" pitchFamily="-106" charset="-128"/>
              </a:rPr>
              <a:t>Php</a:t>
            </a:r>
            <a:r>
              <a:rPr lang="en-US" sz="1400" kern="1200" dirty="0">
                <a:solidFill>
                  <a:schemeClr val="tx1"/>
                </a:solidFill>
                <a:effectLst/>
                <a:latin typeface="+mn-lt"/>
                <a:ea typeface="ＭＳ Ｐゴシック" pitchFamily="-106" charset="-128"/>
                <a:cs typeface="ＭＳ Ｐゴシック" pitchFamily="-106" charset="-128"/>
              </a:rPr>
              <a:t> 1:6 </a:t>
            </a: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400" b="1" kern="1200" dirty="0">
                <a:solidFill>
                  <a:schemeClr val="tx1"/>
                </a:solidFill>
                <a:effectLst/>
                <a:latin typeface="+mn-lt"/>
                <a:ea typeface="ＭＳ Ｐゴシック" pitchFamily="-106" charset="-128"/>
                <a:cs typeface="ＭＳ Ｐゴシック" pitchFamily="-106" charset="-128"/>
              </a:rPr>
              <a:t>For we are his creative work, having been created in Christ Jesus for good works that God prepared beforehand so we can do them</a:t>
            </a:r>
            <a:r>
              <a:rPr lang="en-US" sz="1400" kern="1200" dirty="0">
                <a:solidFill>
                  <a:schemeClr val="tx1"/>
                </a:solidFill>
                <a:effectLst/>
                <a:latin typeface="+mn-lt"/>
                <a:ea typeface="ＭＳ Ｐゴシック" pitchFamily="-106" charset="-128"/>
                <a:cs typeface="ＭＳ Ｐゴシック" pitchFamily="-106" charset="-128"/>
              </a:rPr>
              <a:t>.</a:t>
            </a:r>
          </a:p>
          <a:p>
            <a:r>
              <a:rPr lang="en-US" sz="1400" kern="1200" dirty="0">
                <a:solidFill>
                  <a:schemeClr val="tx1"/>
                </a:solidFill>
                <a:effectLst/>
                <a:latin typeface="+mn-lt"/>
                <a:ea typeface="ＭＳ Ｐゴシック" pitchFamily="-106" charset="-128"/>
                <a:cs typeface="ＭＳ Ｐゴシック" pitchFamily="-106" charset="-128"/>
              </a:rPr>
              <a:t>(Eph 2:10)</a:t>
            </a:r>
          </a:p>
          <a:p>
            <a:r>
              <a:rPr lang="en-US" sz="1400" kern="1200" dirty="0">
                <a:solidFill>
                  <a:schemeClr val="tx1"/>
                </a:solidFill>
                <a:effectLst/>
                <a:latin typeface="+mn-lt"/>
                <a:ea typeface="ＭＳ Ｐゴシック" pitchFamily="-106" charset="-128"/>
                <a:cs typeface="ＭＳ Ｐゴシック" pitchFamily="-106" charset="-128"/>
              </a:rPr>
              <a:t>*****</a:t>
            </a:r>
          </a:p>
          <a:p>
            <a:endParaRPr lang="en-US" dirty="0"/>
          </a:p>
        </p:txBody>
      </p:sp>
      <p:sp>
        <p:nvSpPr>
          <p:cNvPr id="4" name="Slide Number Placeholder 3">
            <a:extLst>
              <a:ext uri="{FF2B5EF4-FFF2-40B4-BE49-F238E27FC236}">
                <a16:creationId xmlns:a16="http://schemas.microsoft.com/office/drawing/2014/main" id="{BBDCE01E-5C3A-F4C5-A974-1C849420CECD}"/>
              </a:ext>
            </a:extLst>
          </p:cNvPr>
          <p:cNvSpPr>
            <a:spLocks noGrp="1"/>
          </p:cNvSpPr>
          <p:nvPr>
            <p:ph type="sldNum" sz="quarter" idx="10"/>
          </p:nvPr>
        </p:nvSpPr>
        <p:spPr/>
        <p:txBody>
          <a:bodyPr/>
          <a:lstStyle/>
          <a:p>
            <a:pPr>
              <a:defRPr/>
            </a:pPr>
            <a:fld id="{07776858-791E-4C8D-8FA3-473B3AFECFAC}" type="slidenum">
              <a:rPr lang="en-US" smtClean="0"/>
              <a:pPr>
                <a:defRPr/>
              </a:pPr>
              <a:t>4</a:t>
            </a:fld>
            <a:endParaRPr lang="en-US"/>
          </a:p>
        </p:txBody>
      </p:sp>
    </p:spTree>
    <p:extLst>
      <p:ext uri="{BB962C8B-B14F-4D97-AF65-F5344CB8AC3E}">
        <p14:creationId xmlns:p14="http://schemas.microsoft.com/office/powerpoint/2010/main" val="15659582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0000" lnSpcReduction="20000"/>
          </a:bodyPr>
          <a:lstStyle/>
          <a:p>
            <a:r>
              <a:rPr lang="en-US" sz="1400" b="1" kern="1200" dirty="0">
                <a:solidFill>
                  <a:schemeClr val="tx1"/>
                </a:solidFill>
                <a:effectLst/>
                <a:latin typeface="+mn-lt"/>
                <a:ea typeface="ＭＳ Ｐゴシック" pitchFamily="-106" charset="-128"/>
                <a:cs typeface="ＭＳ Ｐゴシック" pitchFamily="-106" charset="-128"/>
              </a:rPr>
              <a:t>Romans 9: Has God's Word Failed?</a:t>
            </a:r>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Paul begins:  "It is not as though the word of God has failed." (Romans 9:6)</a:t>
            </a:r>
          </a:p>
          <a:p>
            <a:pPr lvl="1"/>
            <a:r>
              <a:rPr lang="en-US" sz="1400" kern="1200" dirty="0">
                <a:solidFill>
                  <a:schemeClr val="tx1"/>
                </a:solidFill>
                <a:effectLst/>
                <a:latin typeface="+mn-lt"/>
                <a:ea typeface="ＭＳ Ｐゴシック" pitchFamily="-106" charset="-128"/>
                <a:cs typeface="ＭＳ Ｐゴシック" pitchFamily="-106" charset="-128"/>
              </a:rPr>
              <a:t>This is the controlling thesis of chapters 9-11.</a:t>
            </a:r>
          </a:p>
          <a:p>
            <a:r>
              <a:rPr lang="en-US" sz="1400" kern="1200" dirty="0">
                <a:solidFill>
                  <a:schemeClr val="tx1"/>
                </a:solidFill>
                <a:effectLst/>
                <a:latin typeface="+mn-lt"/>
                <a:ea typeface="ＭＳ Ｐゴシック" pitchFamily="-106" charset="-128"/>
                <a:cs typeface="ＭＳ Ｐゴシック" pitchFamily="-106" charset="-128"/>
              </a:rPr>
              <a:t>Israel's unbelief appears to challenge God's promises.</a:t>
            </a:r>
          </a:p>
          <a:p>
            <a:pPr lvl="1"/>
            <a:r>
              <a:rPr lang="en-US" sz="1400" kern="1200" dirty="0">
                <a:solidFill>
                  <a:schemeClr val="tx1"/>
                </a:solidFill>
                <a:effectLst/>
                <a:latin typeface="+mn-lt"/>
                <a:ea typeface="ＭＳ Ｐゴシック" pitchFamily="-106" charset="-128"/>
                <a:cs typeface="ＭＳ Ｐゴシック" pitchFamily="-106" charset="-128"/>
              </a:rPr>
              <a:t>Paul says it does not.</a:t>
            </a:r>
          </a:p>
          <a:p>
            <a:pPr lvl="1"/>
            <a:r>
              <a:rPr lang="en-US" sz="1400" kern="1200" dirty="0">
                <a:solidFill>
                  <a:schemeClr val="tx1"/>
                </a:solidFill>
                <a:effectLst/>
                <a:latin typeface="+mn-lt"/>
                <a:ea typeface="ＭＳ Ｐゴシック" pitchFamily="-106" charset="-128"/>
                <a:cs typeface="ＭＳ Ｐゴシック" pitchFamily="-106" charset="-128"/>
              </a:rPr>
              <a:t>Why?</a:t>
            </a:r>
          </a:p>
          <a:p>
            <a:r>
              <a:rPr lang="en-US" sz="1400" u="sng" kern="1200" dirty="0">
                <a:solidFill>
                  <a:schemeClr val="tx1"/>
                </a:solidFill>
                <a:effectLst/>
                <a:latin typeface="+mn-lt"/>
                <a:ea typeface="ＭＳ Ｐゴシック" pitchFamily="-106" charset="-128"/>
                <a:cs typeface="ＭＳ Ｐゴシック" pitchFamily="-106" charset="-128"/>
              </a:rPr>
              <a:t>Because God's covenant purposes were never based merely on physical descent.</a:t>
            </a: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400" b="1" kern="1200" dirty="0">
                <a:solidFill>
                  <a:schemeClr val="tx1"/>
                </a:solidFill>
                <a:effectLst/>
                <a:latin typeface="+mn-lt"/>
                <a:ea typeface="ＭＳ Ｐゴシック" pitchFamily="-106" charset="-128"/>
                <a:cs typeface="ＭＳ Ｐゴシック" pitchFamily="-106" charset="-128"/>
              </a:rPr>
              <a:t>Isaac over Ishmael</a:t>
            </a:r>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Both are Abraham's sons.</a:t>
            </a:r>
          </a:p>
          <a:p>
            <a:pPr lvl="1"/>
            <a:r>
              <a:rPr lang="en-US" sz="1400" kern="1200" dirty="0">
                <a:solidFill>
                  <a:schemeClr val="tx1"/>
                </a:solidFill>
                <a:effectLst/>
                <a:latin typeface="+mn-lt"/>
                <a:ea typeface="ＭＳ Ｐゴシック" pitchFamily="-106" charset="-128"/>
                <a:cs typeface="ＭＳ Ｐゴシック" pitchFamily="-106" charset="-128"/>
              </a:rPr>
              <a:t>Yet God chose Isaac.</a:t>
            </a:r>
          </a:p>
          <a:p>
            <a:r>
              <a:rPr lang="en-US" sz="1400" kern="1200" dirty="0">
                <a:solidFill>
                  <a:schemeClr val="tx1"/>
                </a:solidFill>
                <a:effectLst/>
                <a:latin typeface="+mn-lt"/>
                <a:ea typeface="ＭＳ Ｐゴシック" pitchFamily="-106" charset="-128"/>
                <a:cs typeface="ＭＳ Ｐゴシック" pitchFamily="-106" charset="-128"/>
              </a:rPr>
              <a:t>Why?</a:t>
            </a:r>
          </a:p>
          <a:p>
            <a:pPr lvl="1"/>
            <a:r>
              <a:rPr lang="en-US" sz="1400" kern="1200" dirty="0">
                <a:solidFill>
                  <a:schemeClr val="tx1"/>
                </a:solidFill>
                <a:effectLst/>
                <a:latin typeface="+mn-lt"/>
                <a:ea typeface="ＭＳ Ｐゴシック" pitchFamily="-106" charset="-128"/>
                <a:cs typeface="ＭＳ Ｐゴシック" pitchFamily="-106" charset="-128"/>
              </a:rPr>
              <a:t>To demonstrate:</a:t>
            </a:r>
          </a:p>
          <a:p>
            <a:pPr lvl="1"/>
            <a:r>
              <a:rPr lang="en-US" sz="1400" u="sng" kern="1200" dirty="0">
                <a:solidFill>
                  <a:schemeClr val="tx1"/>
                </a:solidFill>
                <a:effectLst/>
                <a:latin typeface="+mn-lt"/>
                <a:ea typeface="ＭＳ Ｐゴシック" pitchFamily="-106" charset="-128"/>
                <a:cs typeface="ＭＳ Ｐゴシック" pitchFamily="-106" charset="-128"/>
              </a:rPr>
              <a:t>God's purpose existed before human achievement.</a:t>
            </a: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400" b="1" kern="1200" dirty="0">
                <a:solidFill>
                  <a:schemeClr val="tx1"/>
                </a:solidFill>
                <a:effectLst/>
                <a:latin typeface="+mn-lt"/>
                <a:ea typeface="ＭＳ Ｐゴシック" pitchFamily="-106" charset="-128"/>
                <a:cs typeface="ＭＳ Ｐゴシック" pitchFamily="-106" charset="-128"/>
              </a:rPr>
              <a:t>Jacob over Esau</a:t>
            </a:r>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Paul intensifies the example.</a:t>
            </a:r>
          </a:p>
          <a:p>
            <a:pPr lvl="1"/>
            <a:r>
              <a:rPr lang="en-US" sz="1400" kern="1200" dirty="0">
                <a:solidFill>
                  <a:schemeClr val="tx1"/>
                </a:solidFill>
                <a:effectLst/>
                <a:latin typeface="+mn-lt"/>
                <a:ea typeface="ＭＳ Ｐゴシック" pitchFamily="-106" charset="-128"/>
                <a:cs typeface="ＭＳ Ｐゴシック" pitchFamily="-106" charset="-128"/>
              </a:rPr>
              <a:t>Before either child was born:</a:t>
            </a:r>
          </a:p>
          <a:p>
            <a:pPr lvl="1"/>
            <a:r>
              <a:rPr lang="en-US" sz="1400" kern="1200" dirty="0">
                <a:solidFill>
                  <a:schemeClr val="tx1"/>
                </a:solidFill>
                <a:effectLst/>
                <a:latin typeface="+mn-lt"/>
                <a:ea typeface="ＭＳ Ｐゴシック" pitchFamily="-106" charset="-128"/>
                <a:cs typeface="ＭＳ Ｐゴシック" pitchFamily="-106" charset="-128"/>
              </a:rPr>
              <a:t>"in order that God's purpose according to election might stand..." (Romans 9:11)</a:t>
            </a:r>
          </a:p>
          <a:p>
            <a:r>
              <a:rPr lang="en-US" sz="1400" kern="1200" dirty="0">
                <a:solidFill>
                  <a:schemeClr val="tx1"/>
                </a:solidFill>
                <a:effectLst/>
                <a:latin typeface="+mn-lt"/>
                <a:ea typeface="ＭＳ Ｐゴシック" pitchFamily="-106" charset="-128"/>
                <a:cs typeface="ＭＳ Ｐゴシック" pitchFamily="-106" charset="-128"/>
              </a:rPr>
              <a:t>The point is not that Jacob was morally superior.</a:t>
            </a:r>
          </a:p>
          <a:p>
            <a:r>
              <a:rPr lang="en-US" sz="1400" kern="1200" dirty="0">
                <a:solidFill>
                  <a:schemeClr val="tx1"/>
                </a:solidFill>
                <a:effectLst/>
                <a:latin typeface="+mn-lt"/>
                <a:ea typeface="ＭＳ Ｐゴシック" pitchFamily="-106" charset="-128"/>
                <a:cs typeface="ＭＳ Ｐゴシック" pitchFamily="-106" charset="-128"/>
              </a:rPr>
              <a:t>Neither had done good or evil.</a:t>
            </a:r>
          </a:p>
          <a:p>
            <a:r>
              <a:rPr lang="en-US" sz="1400" u="sng" kern="1200" dirty="0">
                <a:solidFill>
                  <a:schemeClr val="tx1"/>
                </a:solidFill>
                <a:effectLst/>
                <a:latin typeface="+mn-lt"/>
                <a:ea typeface="ＭＳ Ｐゴシック" pitchFamily="-106" charset="-128"/>
                <a:cs typeface="ＭＳ Ｐゴシック" pitchFamily="-106" charset="-128"/>
              </a:rPr>
              <a:t>God's redemptive purpose moved forward through Jacob.</a:t>
            </a:r>
          </a:p>
          <a:p>
            <a:pPr lvl="1"/>
            <a:r>
              <a:rPr lang="en-US" sz="1400" kern="1200" dirty="0">
                <a:solidFill>
                  <a:schemeClr val="tx1"/>
                </a:solidFill>
                <a:effectLst/>
                <a:latin typeface="+mn-lt"/>
                <a:ea typeface="ＭＳ Ｐゴシック" pitchFamily="-106" charset="-128"/>
                <a:cs typeface="ＭＳ Ｐゴシック" pitchFamily="-106" charset="-128"/>
              </a:rPr>
              <a:t>Notice that Paul is speaking about the historical covenant line through which the Messiah would come.</a:t>
            </a:r>
          </a:p>
          <a:p>
            <a:pPr lvl="1"/>
            <a:r>
              <a:rPr lang="en-US" sz="1400" kern="1200" dirty="0">
                <a:solidFill>
                  <a:schemeClr val="tx1"/>
                </a:solidFill>
                <a:effectLst/>
                <a:latin typeface="+mn-lt"/>
                <a:ea typeface="ＭＳ Ｐゴシック" pitchFamily="-106" charset="-128"/>
                <a:cs typeface="ＭＳ Ｐゴシック" pitchFamily="-106" charset="-128"/>
              </a:rPr>
              <a:t>The immediate context concerns Israel's role in salvation history.</a:t>
            </a: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400" b="1" kern="1200" dirty="0">
                <a:solidFill>
                  <a:schemeClr val="tx1"/>
                </a:solidFill>
                <a:effectLst/>
                <a:latin typeface="+mn-lt"/>
                <a:ea typeface="ＭＳ Ｐゴシック" pitchFamily="-106" charset="-128"/>
                <a:cs typeface="ＭＳ Ｐゴシック" pitchFamily="-106" charset="-128"/>
              </a:rPr>
              <a:t>Pharaoh</a:t>
            </a:r>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Paul then uses Pharaoh.</a:t>
            </a:r>
          </a:p>
          <a:p>
            <a:pPr lvl="1"/>
            <a:r>
              <a:rPr lang="en-US" sz="1400" kern="1200" dirty="0">
                <a:solidFill>
                  <a:schemeClr val="tx1"/>
                </a:solidFill>
                <a:effectLst/>
                <a:latin typeface="+mn-lt"/>
                <a:ea typeface="ＭＳ Ｐゴシック" pitchFamily="-106" charset="-128"/>
                <a:cs typeface="ＭＳ Ｐゴシック" pitchFamily="-106" charset="-128"/>
              </a:rPr>
              <a:t>God raised Pharaoh up to demonstrate His power.</a:t>
            </a:r>
          </a:p>
          <a:p>
            <a:pPr lvl="1"/>
            <a:r>
              <a:rPr lang="en-US" sz="1400" kern="1200" dirty="0">
                <a:solidFill>
                  <a:schemeClr val="tx1"/>
                </a:solidFill>
                <a:effectLst/>
                <a:latin typeface="+mn-lt"/>
                <a:ea typeface="ＭＳ Ｐゴシック" pitchFamily="-106" charset="-128"/>
                <a:cs typeface="ＭＳ Ｐゴシック" pitchFamily="-106" charset="-128"/>
              </a:rPr>
              <a:t>Pharaoh became an instrument in God's larger plan.</a:t>
            </a:r>
          </a:p>
          <a:p>
            <a:r>
              <a:rPr lang="en-US" sz="1400" u="sng" kern="1200" dirty="0">
                <a:solidFill>
                  <a:schemeClr val="tx1"/>
                </a:solidFill>
                <a:effectLst/>
                <a:latin typeface="+mn-lt"/>
                <a:ea typeface="ＭＳ Ｐゴシック" pitchFamily="-106" charset="-128"/>
                <a:cs typeface="ＭＳ Ｐゴシック" pitchFamily="-106" charset="-128"/>
              </a:rPr>
              <a:t>Again, the point is God's sovereignty over history.</a:t>
            </a: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400" b="1" kern="1200" dirty="0">
                <a:solidFill>
                  <a:schemeClr val="tx1"/>
                </a:solidFill>
                <a:effectLst/>
                <a:latin typeface="+mn-lt"/>
                <a:ea typeface="ＭＳ Ｐゴシック" pitchFamily="-106" charset="-128"/>
                <a:cs typeface="ＭＳ Ｐゴシック" pitchFamily="-106" charset="-128"/>
              </a:rPr>
              <a:t>The Potter and the Clay</a:t>
            </a:r>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This is often read as an abstract discussion of individual predestination.</a:t>
            </a:r>
          </a:p>
          <a:p>
            <a:r>
              <a:rPr lang="en-US" sz="1400" kern="1200" dirty="0">
                <a:solidFill>
                  <a:schemeClr val="tx1"/>
                </a:solidFill>
                <a:effectLst/>
                <a:latin typeface="+mn-lt"/>
                <a:ea typeface="ＭＳ Ｐゴシック" pitchFamily="-106" charset="-128"/>
                <a:cs typeface="ＭＳ Ｐゴシック" pitchFamily="-106" charset="-128"/>
              </a:rPr>
              <a:t>Yet Paul is drawing heavily from Jeremiah 18.</a:t>
            </a:r>
          </a:p>
          <a:p>
            <a:pPr lvl="1"/>
            <a:r>
              <a:rPr lang="en-US" sz="1400" kern="1200" dirty="0">
                <a:solidFill>
                  <a:schemeClr val="tx1"/>
                </a:solidFill>
                <a:effectLst/>
                <a:latin typeface="+mn-lt"/>
                <a:ea typeface="ＭＳ Ｐゴシック" pitchFamily="-106" charset="-128"/>
                <a:cs typeface="ＭＳ Ｐゴシック" pitchFamily="-106" charset="-128"/>
              </a:rPr>
              <a:t>In Jeremiah, the clay represents nations.</a:t>
            </a:r>
          </a:p>
          <a:p>
            <a:pPr lvl="1"/>
            <a:r>
              <a:rPr lang="en-US" sz="1400" kern="1200" dirty="0">
                <a:solidFill>
                  <a:schemeClr val="tx1"/>
                </a:solidFill>
                <a:effectLst/>
                <a:latin typeface="+mn-lt"/>
                <a:ea typeface="ＭＳ Ｐゴシック" pitchFamily="-106" charset="-128"/>
                <a:cs typeface="ＭＳ Ｐゴシック" pitchFamily="-106" charset="-128"/>
              </a:rPr>
              <a:t>God has authority over nations and peoples.</a:t>
            </a:r>
          </a:p>
          <a:p>
            <a:r>
              <a:rPr lang="en-US" sz="1400" kern="1200" dirty="0">
                <a:solidFill>
                  <a:schemeClr val="tx1"/>
                </a:solidFill>
                <a:effectLst/>
                <a:latin typeface="+mn-lt"/>
                <a:ea typeface="ＭＳ Ｐゴシック" pitchFamily="-106" charset="-128"/>
                <a:cs typeface="ＭＳ Ｐゴシック" pitchFamily="-106" charset="-128"/>
              </a:rPr>
              <a:t>Paul's point:</a:t>
            </a:r>
          </a:p>
          <a:p>
            <a:pPr lvl="1"/>
            <a:r>
              <a:rPr lang="en-US" sz="1400" i="0" u="sng" kern="1200" dirty="0">
                <a:solidFill>
                  <a:schemeClr val="tx1"/>
                </a:solidFill>
                <a:effectLst/>
                <a:latin typeface="+mn-lt"/>
                <a:ea typeface="ＭＳ Ｐゴシック" pitchFamily="-106" charset="-128"/>
                <a:cs typeface="ＭＳ Ｐゴシック" pitchFamily="-106" charset="-128"/>
              </a:rPr>
              <a:t>The Creator has the right to direct history according to His purposes.</a:t>
            </a:r>
          </a:p>
          <a:p>
            <a:pPr lvl="1"/>
            <a:r>
              <a:rPr lang="en-US" sz="1400" i="0" u="sng" kern="1200" dirty="0">
                <a:solidFill>
                  <a:schemeClr val="tx1"/>
                </a:solidFill>
                <a:effectLst/>
                <a:latin typeface="+mn-lt"/>
                <a:ea typeface="ＭＳ Ｐゴシック" pitchFamily="-106" charset="-128"/>
                <a:cs typeface="ＭＳ Ｐゴシック" pitchFamily="-106" charset="-128"/>
              </a:rPr>
              <a:t>Israel cannot accuse God of injustice simply because He includes Gentiles in His plan.</a:t>
            </a:r>
          </a:p>
          <a:p>
            <a:r>
              <a:rPr lang="en-US" sz="1400" kern="1200" dirty="0">
                <a:solidFill>
                  <a:schemeClr val="tx1"/>
                </a:solidFill>
                <a:effectLst/>
                <a:latin typeface="+mn-lt"/>
                <a:ea typeface="ＭＳ Ｐゴシック" pitchFamily="-106" charset="-128"/>
                <a:cs typeface="ＭＳ Ｐゴシック" pitchFamily="-106" charset="-128"/>
              </a:rPr>
              <a:t> </a:t>
            </a:r>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5</a:t>
            </a:fld>
            <a:endParaRPr lang="en-US"/>
          </a:p>
        </p:txBody>
      </p:sp>
    </p:spTree>
    <p:extLst>
      <p:ext uri="{BB962C8B-B14F-4D97-AF65-F5344CB8AC3E}">
        <p14:creationId xmlns:p14="http://schemas.microsoft.com/office/powerpoint/2010/main" val="6095658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400" b="1" kern="1200" dirty="0">
                <a:solidFill>
                  <a:schemeClr val="tx1"/>
                </a:solidFill>
                <a:effectLst/>
                <a:latin typeface="+mn-lt"/>
                <a:ea typeface="ＭＳ Ｐゴシック" pitchFamily="-106" charset="-128"/>
                <a:cs typeface="ＭＳ Ｐゴシック" pitchFamily="-106" charset="-128"/>
              </a:rPr>
              <a:t>Israel's Hardening</a:t>
            </a:r>
            <a:endParaRPr lang="en-US" sz="1400" kern="1200" dirty="0">
              <a:solidFill>
                <a:schemeClr val="tx1"/>
              </a:solidFill>
              <a:effectLst/>
              <a:latin typeface="+mn-lt"/>
              <a:ea typeface="ＭＳ Ｐゴシック" pitchFamily="-106" charset="-128"/>
              <a:cs typeface="ＭＳ Ｐゴシック" pitchFamily="-106" charset="-128"/>
            </a:endParaRPr>
          </a:p>
          <a:p>
            <a:pPr marL="285750" indent="-2857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Paul teaches that Israel's rejection has a purpose.</a:t>
            </a:r>
          </a:p>
          <a:p>
            <a:pPr marL="285750" indent="-2857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Their stumbling opened the door for Gentile inclusion.</a:t>
            </a:r>
          </a:p>
          <a:p>
            <a:pPr marL="285750" indent="-2857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Gentile salvation is then intended to provoke Israel to jealousy.</a:t>
            </a:r>
          </a:p>
          <a:p>
            <a:pPr marL="285750" indent="-2857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God uses both Jewish rejection and Gentile inclusion to advance His larger plan.</a:t>
            </a:r>
          </a:p>
          <a:p>
            <a:endParaRPr lang="en-US" sz="1400" i="0" u="sng" dirty="0"/>
          </a:p>
          <a:p>
            <a:endParaRPr lang="en-US" sz="1400" i="0" u="sng" dirty="0"/>
          </a:p>
          <a:p>
            <a:r>
              <a:rPr lang="en-US" sz="1400" i="0" u="sng" dirty="0"/>
              <a:t>1Pe 2:4-10  </a:t>
            </a:r>
            <a:r>
              <a:rPr lang="en-US" sz="1400" dirty="0"/>
              <a:t>So as you come to him, a living stone rejected by men but chosen and precious in God’s sight,  (5)  you yourselves, as living stones, are built up as a spiritual house to be a holy priesthood and to offer spiritual sacrifices that are acceptable to God through Jesus Christ.  (6)  For it says in scripture, “Look, I lay in Zion a stone, a chosen and precious cornerstone, and whoever believes in him will never be put to shame.”  (7)  </a:t>
            </a:r>
            <a:r>
              <a:rPr lang="en-US" sz="1400" b="1" dirty="0"/>
              <a:t>So you who believe see his value, but for those who do not believe, the stone that the builders rejected has become the cornerstone ,  (8)  and a stumbling-stone and a rock to trip over. They stumble because they disobey the word, as they were destined to do</a:t>
            </a:r>
            <a:r>
              <a:rPr lang="en-US" sz="1400" dirty="0"/>
              <a:t>.  (9)  But you are a chosen race, a royal priesthood, a holy nation, a people of his own, so that you may proclaim the virtues of the one who called you out of darkness into his marvelous light.  (10)  You once were not a people, but now you are God’s people. You were shown no mercy, but now you have received mercy.</a:t>
            </a:r>
          </a:p>
          <a:p>
            <a:endParaRPr lang="en-US" sz="1400" dirty="0"/>
          </a:p>
          <a:p>
            <a:r>
              <a:rPr lang="en-US" sz="1400" i="1" dirty="0"/>
              <a:t>Genesis 15:6 </a:t>
            </a:r>
          </a:p>
          <a:p>
            <a:pPr marL="342900" indent="-342900">
              <a:buFont typeface="Arial" panose="020B0604020202020204" pitchFamily="34" charset="0"/>
              <a:buChar char="•"/>
            </a:pPr>
            <a:r>
              <a:rPr lang="en-US" sz="1400" i="1" dirty="0"/>
              <a:t>Abraham was </a:t>
            </a:r>
            <a:r>
              <a:rPr lang="en-US" sz="1400" b="1" i="1" dirty="0"/>
              <a:t>reckoned</a:t>
            </a:r>
            <a:r>
              <a:rPr lang="en-US" sz="1400" i="1" dirty="0"/>
              <a:t> to righteousness </a:t>
            </a:r>
            <a:r>
              <a:rPr lang="en-US" sz="1400" b="1" i="1" dirty="0"/>
              <a:t>by his faith </a:t>
            </a:r>
            <a:r>
              <a:rPr lang="en-US" sz="1400" i="1" dirty="0"/>
              <a:t>when he was still a Gentile, two chapters before the covenant sign of circumcision was placed upon his flesh and 400+ years before the Mosaic Law.</a:t>
            </a:r>
          </a:p>
          <a:p>
            <a:pPr marL="342900" indent="-342900">
              <a:buFont typeface="Arial" panose="020B0604020202020204" pitchFamily="34" charset="0"/>
              <a:buChar char="•"/>
            </a:pPr>
            <a:r>
              <a:rPr lang="en-US" sz="1400" i="1" dirty="0"/>
              <a:t>At the time Abraham was “saved” he wasn’t “Jewish”. (Rom 4:9-12)</a:t>
            </a:r>
          </a:p>
          <a:p>
            <a:pPr marL="342900" indent="-342900">
              <a:buFont typeface="Arial" panose="020B0604020202020204" pitchFamily="34" charset="0"/>
              <a:buChar char="•"/>
            </a:pPr>
            <a:r>
              <a:rPr lang="en-US" sz="1400" i="1" dirty="0"/>
              <a:t>Abraham </a:t>
            </a:r>
            <a:r>
              <a:rPr lang="en-US" sz="1400" b="1" i="1" dirty="0"/>
              <a:t>did no works </a:t>
            </a:r>
            <a:r>
              <a:rPr lang="en-US" sz="1400" i="1" dirty="0"/>
              <a:t>to acquire righteousness, it was by a gift of grace.  (Romans 4:4)</a:t>
            </a:r>
          </a:p>
          <a:p>
            <a:endParaRPr lang="en-US" sz="1400" dirty="0"/>
          </a:p>
          <a:p>
            <a:r>
              <a:rPr lang="en-US" sz="1400" i="1" dirty="0"/>
              <a:t>The Lord delights in keeping His promises…</a:t>
            </a:r>
          </a:p>
          <a:p>
            <a:pPr marL="342900" indent="-342900">
              <a:buFont typeface="Arial" panose="020B0604020202020204" pitchFamily="34" charset="0"/>
              <a:buChar char="•"/>
            </a:pPr>
            <a:r>
              <a:rPr lang="en-US" sz="1400" i="1" dirty="0"/>
              <a:t>Galatians 3:15-29</a:t>
            </a:r>
          </a:p>
          <a:p>
            <a:endParaRPr lang="en-US" sz="1400" dirty="0"/>
          </a:p>
          <a:p>
            <a:r>
              <a:rPr lang="en-US" sz="1400" b="1" i="1" dirty="0"/>
              <a:t>Jacob’s heirs include “all believers”…</a:t>
            </a:r>
          </a:p>
          <a:p>
            <a:pPr marL="342900" indent="-342900">
              <a:buFont typeface="Arial" panose="020B0604020202020204" pitchFamily="34" charset="0"/>
              <a:buChar char="•"/>
            </a:pPr>
            <a:r>
              <a:rPr lang="en-US" sz="1400" i="1" dirty="0"/>
              <a:t>Promises extended first to the Jew (Romans 1:16) then to the Gentile – but only to those who believe by faith as Abraham did.</a:t>
            </a:r>
          </a:p>
          <a:p>
            <a:pPr marL="342900" indent="-342900">
              <a:buFont typeface="Arial" panose="020B0604020202020204" pitchFamily="34" charset="0"/>
              <a:buChar char="•"/>
            </a:pPr>
            <a:r>
              <a:rPr lang="en-US" sz="1400" i="1" dirty="0"/>
              <a:t>The Israelite without faith was never regarded as a partaker of the promises.  Galatians 3:16-18</a:t>
            </a:r>
          </a:p>
          <a:p>
            <a:pPr marL="342900" indent="-342900">
              <a:buFont typeface="Arial" panose="020B0604020202020204" pitchFamily="34" charset="0"/>
              <a:buChar char="•"/>
            </a:pPr>
            <a:r>
              <a:rPr lang="en-US" sz="1400" i="1" dirty="0"/>
              <a:t>John 8:31-47; Deuteronomy 18:15-19;  Acts 3:21-23</a:t>
            </a:r>
          </a:p>
          <a:p>
            <a:endParaRPr lang="en-US" sz="1400" dirty="0"/>
          </a:p>
          <a:p>
            <a:pPr marL="0" indent="0">
              <a:buFont typeface="Arial" pitchFamily="34" charset="0"/>
              <a:buNone/>
            </a:pPr>
            <a:r>
              <a:rPr lang="en-US" sz="1400" b="1" baseline="0" dirty="0"/>
              <a:t>The Promises of GOD are the currency upon which man-kind’s ultimate hope and destiny rest.  Discuss how GOD made promises to Abraham, Moses and the Israelites, and to us (Jer 31:31).</a:t>
            </a:r>
          </a:p>
          <a:p>
            <a:pPr marL="0" marR="0" indent="0" algn="l" defTabSz="914400" rtl="0" eaLnBrk="0" fontAlgn="base" latinLnBrk="0" hangingPunct="0">
              <a:lnSpc>
                <a:spcPct val="100000"/>
              </a:lnSpc>
              <a:spcBef>
                <a:spcPct val="30000"/>
              </a:spcBef>
              <a:spcAft>
                <a:spcPct val="0"/>
              </a:spcAft>
              <a:buClrTx/>
              <a:buSzTx/>
              <a:buFont typeface="Arial" pitchFamily="34" charset="0"/>
              <a:buNone/>
              <a:tabLst/>
              <a:defRPr/>
            </a:pPr>
            <a:endParaRPr lang="en-US" sz="1400" b="1" baseline="0" dirty="0"/>
          </a:p>
          <a:p>
            <a:r>
              <a:rPr lang="en-US" sz="1400" b="1" kern="1200" dirty="0">
                <a:solidFill>
                  <a:schemeClr val="tx1"/>
                </a:solidFill>
                <a:effectLst/>
                <a:latin typeface="+mn-lt"/>
                <a:ea typeface="ＭＳ Ｐゴシック" pitchFamily="-106" charset="-128"/>
                <a:cs typeface="ＭＳ Ｐゴシック" pitchFamily="-106" charset="-128"/>
              </a:rPr>
              <a:t>Galatians 3:15-18</a:t>
            </a:r>
            <a:br>
              <a:rPr lang="en-US" sz="1400" kern="1200" dirty="0">
                <a:solidFill>
                  <a:schemeClr val="tx1"/>
                </a:solidFill>
                <a:effectLst/>
                <a:latin typeface="+mn-lt"/>
                <a:ea typeface="ＭＳ Ｐゴシック" pitchFamily="-106" charset="-128"/>
                <a:cs typeface="ＭＳ Ｐゴシック" pitchFamily="-106" charset="-128"/>
              </a:rPr>
            </a:br>
            <a:r>
              <a:rPr lang="en-US" sz="1400" b="1" kern="1200" dirty="0">
                <a:solidFill>
                  <a:schemeClr val="tx1"/>
                </a:solidFill>
                <a:effectLst/>
                <a:latin typeface="+mn-lt"/>
                <a:ea typeface="ＭＳ Ｐゴシック" pitchFamily="-106" charset="-128"/>
                <a:cs typeface="ＭＳ Ｐゴシック" pitchFamily="-106" charset="-128"/>
              </a:rPr>
              <a:t>15</a:t>
            </a:r>
            <a:r>
              <a:rPr lang="en-US" sz="1400" kern="1200" dirty="0">
                <a:solidFill>
                  <a:schemeClr val="tx1"/>
                </a:solidFill>
                <a:effectLst/>
                <a:latin typeface="+mn-lt"/>
                <a:ea typeface="ＭＳ Ｐゴシック" pitchFamily="-106" charset="-128"/>
                <a:cs typeface="ＭＳ Ｐゴシック" pitchFamily="-106" charset="-128"/>
              </a:rPr>
              <a:t> Brothers and sisters, I offer an example from everyday life: When a covenant has been ratified, even though it is only a human contract, no one can set it aside or add anything to it. </a:t>
            </a:r>
            <a:r>
              <a:rPr lang="en-US" sz="1400" b="1" kern="1200" dirty="0">
                <a:solidFill>
                  <a:schemeClr val="tx1"/>
                </a:solidFill>
                <a:effectLst/>
                <a:latin typeface="+mn-lt"/>
                <a:ea typeface="ＭＳ Ｐゴシック" pitchFamily="-106" charset="-128"/>
                <a:cs typeface="ＭＳ Ｐゴシック" pitchFamily="-106" charset="-128"/>
              </a:rPr>
              <a:t>16</a:t>
            </a:r>
            <a:r>
              <a:rPr lang="en-US" sz="1400" kern="1200" dirty="0">
                <a:solidFill>
                  <a:schemeClr val="tx1"/>
                </a:solidFill>
                <a:effectLst/>
                <a:latin typeface="+mn-lt"/>
                <a:ea typeface="ＭＳ Ｐゴシック" pitchFamily="-106" charset="-128"/>
                <a:cs typeface="ＭＳ Ｐゴシック" pitchFamily="-106" charset="-128"/>
              </a:rPr>
              <a:t> Now the promises were spoken to Abraham and to his descendant. Scripture does not say, “and to the descendants,” referring to many, but “</a:t>
            </a:r>
            <a:r>
              <a:rPr lang="en-US" sz="1400" b="1" i="1" kern="1200" dirty="0">
                <a:solidFill>
                  <a:schemeClr val="tx1"/>
                </a:solidFill>
                <a:effectLst/>
                <a:latin typeface="+mn-lt"/>
                <a:ea typeface="ＭＳ Ｐゴシック" pitchFamily="-106" charset="-128"/>
                <a:cs typeface="ＭＳ Ｐゴシック" pitchFamily="-106" charset="-128"/>
              </a:rPr>
              <a:t>and to your descendant</a:t>
            </a:r>
            <a:r>
              <a:rPr lang="en-US" sz="1400" kern="1200" dirty="0">
                <a:solidFill>
                  <a:schemeClr val="tx1"/>
                </a:solidFill>
                <a:effectLst/>
                <a:latin typeface="+mn-lt"/>
                <a:ea typeface="ＭＳ Ｐゴシック" pitchFamily="-106" charset="-128"/>
                <a:cs typeface="ＭＳ Ｐゴシック" pitchFamily="-106" charset="-128"/>
              </a:rPr>
              <a:t>,” referring to one, who is Christ. </a:t>
            </a:r>
            <a:r>
              <a:rPr lang="en-US" sz="1400" b="1" kern="1200" dirty="0">
                <a:solidFill>
                  <a:schemeClr val="tx1"/>
                </a:solidFill>
                <a:effectLst/>
                <a:latin typeface="+mn-lt"/>
                <a:ea typeface="ＭＳ Ｐゴシック" pitchFamily="-106" charset="-128"/>
                <a:cs typeface="ＭＳ Ｐゴシック" pitchFamily="-106" charset="-128"/>
              </a:rPr>
              <a:t>17</a:t>
            </a:r>
            <a:r>
              <a:rPr lang="en-US" sz="1400" kern="1200" dirty="0">
                <a:solidFill>
                  <a:schemeClr val="tx1"/>
                </a:solidFill>
                <a:effectLst/>
                <a:latin typeface="+mn-lt"/>
                <a:ea typeface="ＭＳ Ｐゴシック" pitchFamily="-106" charset="-128"/>
                <a:cs typeface="ＭＳ Ｐゴシック" pitchFamily="-106" charset="-128"/>
              </a:rPr>
              <a:t> What I am saying is this: The law that came four hundred thirty years later does not cancel a covenant previously ratified by God, so as to invalidate the promise. </a:t>
            </a:r>
            <a:r>
              <a:rPr lang="en-US" sz="1400" b="1" kern="1200" dirty="0">
                <a:solidFill>
                  <a:schemeClr val="tx1"/>
                </a:solidFill>
                <a:effectLst/>
                <a:latin typeface="+mn-lt"/>
                <a:ea typeface="ＭＳ Ｐゴシック" pitchFamily="-106" charset="-128"/>
                <a:cs typeface="ＭＳ Ｐゴシック" pitchFamily="-106" charset="-128"/>
              </a:rPr>
              <a:t>18</a:t>
            </a:r>
            <a:r>
              <a:rPr lang="en-US" sz="1400" kern="1200" dirty="0">
                <a:solidFill>
                  <a:schemeClr val="tx1"/>
                </a:solidFill>
                <a:effectLst/>
                <a:latin typeface="+mn-lt"/>
                <a:ea typeface="ＭＳ Ｐゴシック" pitchFamily="-106" charset="-128"/>
                <a:cs typeface="ＭＳ Ｐゴシック" pitchFamily="-106" charset="-128"/>
              </a:rPr>
              <a:t> For if the inheritance is based on the law, it is no longer based on the promise, but God graciously gave it to Abraham through the promise.</a:t>
            </a:r>
          </a:p>
          <a:p>
            <a:pPr marL="0" indent="0">
              <a:buFont typeface="Arial" pitchFamily="34" charset="0"/>
              <a:buNone/>
            </a:pPr>
            <a:endParaRPr lang="en-US" sz="1400" b="1" baseline="0" dirty="0"/>
          </a:p>
          <a:p>
            <a:r>
              <a:rPr lang="en-US" sz="1400" b="1" kern="1200" dirty="0">
                <a:solidFill>
                  <a:schemeClr val="tx1"/>
                </a:solidFill>
                <a:effectLst/>
                <a:latin typeface="+mn-lt"/>
                <a:ea typeface="ＭＳ Ｐゴシック" pitchFamily="-106" charset="-128"/>
                <a:cs typeface="ＭＳ Ｐゴシック" pitchFamily="-106" charset="-128"/>
              </a:rPr>
              <a:t>Galatians 3:19-29</a:t>
            </a:r>
            <a:br>
              <a:rPr lang="en-US" sz="1400" kern="1200" dirty="0">
                <a:solidFill>
                  <a:schemeClr val="tx1"/>
                </a:solidFill>
                <a:effectLst/>
                <a:latin typeface="+mn-lt"/>
                <a:ea typeface="ＭＳ Ｐゴシック" pitchFamily="-106" charset="-128"/>
                <a:cs typeface="ＭＳ Ｐゴシック" pitchFamily="-106" charset="-128"/>
              </a:rPr>
            </a:br>
            <a:r>
              <a:rPr lang="en-US" sz="1400" b="1" kern="1200" dirty="0">
                <a:solidFill>
                  <a:schemeClr val="tx1"/>
                </a:solidFill>
                <a:effectLst/>
                <a:latin typeface="+mn-lt"/>
                <a:ea typeface="ＭＳ Ｐゴシック" pitchFamily="-106" charset="-128"/>
                <a:cs typeface="ＭＳ Ｐゴシック" pitchFamily="-106" charset="-128"/>
              </a:rPr>
              <a:t>19</a:t>
            </a:r>
            <a:r>
              <a:rPr lang="en-US" sz="1400" kern="1200" dirty="0">
                <a:solidFill>
                  <a:schemeClr val="tx1"/>
                </a:solidFill>
                <a:effectLst/>
                <a:latin typeface="+mn-lt"/>
                <a:ea typeface="ＭＳ Ｐゴシック" pitchFamily="-106" charset="-128"/>
                <a:cs typeface="ＭＳ Ｐゴシック" pitchFamily="-106" charset="-128"/>
              </a:rPr>
              <a:t> Why then was the law given? It was added because of transgressions, until the arrival of the descendant to whom the promise had been made. It was administered through angels by an intermediary. </a:t>
            </a:r>
            <a:r>
              <a:rPr lang="en-US" sz="1400" b="1" kern="1200" dirty="0">
                <a:solidFill>
                  <a:schemeClr val="tx1"/>
                </a:solidFill>
                <a:effectLst/>
                <a:latin typeface="+mn-lt"/>
                <a:ea typeface="ＭＳ Ｐゴシック" pitchFamily="-106" charset="-128"/>
                <a:cs typeface="ＭＳ Ｐゴシック" pitchFamily="-106" charset="-128"/>
              </a:rPr>
              <a:t>20</a:t>
            </a:r>
            <a:r>
              <a:rPr lang="en-US" sz="1400" kern="1200" dirty="0">
                <a:solidFill>
                  <a:schemeClr val="tx1"/>
                </a:solidFill>
                <a:effectLst/>
                <a:latin typeface="+mn-lt"/>
                <a:ea typeface="ＭＳ Ｐゴシック" pitchFamily="-106" charset="-128"/>
                <a:cs typeface="ＭＳ Ｐゴシック" pitchFamily="-106" charset="-128"/>
              </a:rPr>
              <a:t> Now an intermediary is not for one party alone, but God is one. </a:t>
            </a:r>
            <a:r>
              <a:rPr lang="en-US" sz="1400" b="1" kern="1200" dirty="0">
                <a:solidFill>
                  <a:schemeClr val="tx1"/>
                </a:solidFill>
                <a:effectLst/>
                <a:latin typeface="+mn-lt"/>
                <a:ea typeface="ＭＳ Ｐゴシック" pitchFamily="-106" charset="-128"/>
                <a:cs typeface="ＭＳ Ｐゴシック" pitchFamily="-106" charset="-128"/>
              </a:rPr>
              <a:t>21</a:t>
            </a:r>
            <a:r>
              <a:rPr lang="en-US" sz="1400" kern="1200" dirty="0">
                <a:solidFill>
                  <a:schemeClr val="tx1"/>
                </a:solidFill>
                <a:effectLst/>
                <a:latin typeface="+mn-lt"/>
                <a:ea typeface="ＭＳ Ｐゴシック" pitchFamily="-106" charset="-128"/>
                <a:cs typeface="ＭＳ Ｐゴシック" pitchFamily="-106" charset="-128"/>
              </a:rPr>
              <a:t> Is the law therefore opposed to the promises of God? Absolutely not! For if a law had been given that was able to give life, then righteousness would certainly have come by the law. </a:t>
            </a:r>
            <a:r>
              <a:rPr lang="en-US" sz="1400" b="1" kern="1200" dirty="0">
                <a:solidFill>
                  <a:schemeClr val="tx1"/>
                </a:solidFill>
                <a:effectLst/>
                <a:latin typeface="+mn-lt"/>
                <a:ea typeface="ＭＳ Ｐゴシック" pitchFamily="-106" charset="-128"/>
                <a:cs typeface="ＭＳ Ｐゴシック" pitchFamily="-106" charset="-128"/>
              </a:rPr>
              <a:t>22</a:t>
            </a:r>
            <a:r>
              <a:rPr lang="en-US" sz="1400" kern="1200" dirty="0">
                <a:solidFill>
                  <a:schemeClr val="tx1"/>
                </a:solidFill>
                <a:effectLst/>
                <a:latin typeface="+mn-lt"/>
                <a:ea typeface="ＭＳ Ｐゴシック" pitchFamily="-106" charset="-128"/>
                <a:cs typeface="ＭＳ Ｐゴシック" pitchFamily="-106" charset="-128"/>
              </a:rPr>
              <a:t> But the scripture imprisoned everything under sin so that the promise could be given – because of the faithfulness of Jesus Christ – to those who believe. </a:t>
            </a:r>
            <a:r>
              <a:rPr lang="en-US" sz="1400" b="1" kern="1200" dirty="0">
                <a:solidFill>
                  <a:schemeClr val="tx1"/>
                </a:solidFill>
                <a:effectLst/>
                <a:latin typeface="+mn-lt"/>
                <a:ea typeface="ＭＳ Ｐゴシック" pitchFamily="-106" charset="-128"/>
                <a:cs typeface="ＭＳ Ｐゴシック" pitchFamily="-106" charset="-128"/>
              </a:rPr>
              <a:t>23</a:t>
            </a:r>
            <a:r>
              <a:rPr lang="en-US" sz="1400" kern="1200" dirty="0">
                <a:solidFill>
                  <a:schemeClr val="tx1"/>
                </a:solidFill>
                <a:effectLst/>
                <a:latin typeface="+mn-lt"/>
                <a:ea typeface="ＭＳ Ｐゴシック" pitchFamily="-106" charset="-128"/>
                <a:cs typeface="ＭＳ Ｐゴシック" pitchFamily="-106" charset="-128"/>
              </a:rPr>
              <a:t> Now before faith came we were held in custody under the law, being kept as prisoners until the coming faith would be revealed. </a:t>
            </a:r>
            <a:r>
              <a:rPr lang="en-US" sz="1400" b="1" kern="1200" dirty="0">
                <a:solidFill>
                  <a:schemeClr val="tx1"/>
                </a:solidFill>
                <a:effectLst/>
                <a:latin typeface="+mn-lt"/>
                <a:ea typeface="ＭＳ Ｐゴシック" pitchFamily="-106" charset="-128"/>
                <a:cs typeface="ＭＳ Ｐゴシック" pitchFamily="-106" charset="-128"/>
              </a:rPr>
              <a:t>24</a:t>
            </a:r>
            <a:r>
              <a:rPr lang="en-US" sz="1400" kern="1200" dirty="0">
                <a:solidFill>
                  <a:schemeClr val="tx1"/>
                </a:solidFill>
                <a:effectLst/>
                <a:latin typeface="+mn-lt"/>
                <a:ea typeface="ＭＳ Ｐゴシック" pitchFamily="-106" charset="-128"/>
                <a:cs typeface="ＭＳ Ｐゴシック" pitchFamily="-106" charset="-128"/>
              </a:rPr>
              <a:t> Thus the law had become our guardian until Christ, so that we could be declared righteous by faith. </a:t>
            </a:r>
            <a:r>
              <a:rPr lang="en-US" sz="1400" b="1" kern="1200" dirty="0">
                <a:solidFill>
                  <a:schemeClr val="tx1"/>
                </a:solidFill>
                <a:effectLst/>
                <a:latin typeface="+mn-lt"/>
                <a:ea typeface="ＭＳ Ｐゴシック" pitchFamily="-106" charset="-128"/>
                <a:cs typeface="ＭＳ Ｐゴシック" pitchFamily="-106" charset="-128"/>
              </a:rPr>
              <a:t>25</a:t>
            </a:r>
            <a:r>
              <a:rPr lang="en-US" sz="1400" kern="1200" dirty="0">
                <a:solidFill>
                  <a:schemeClr val="tx1"/>
                </a:solidFill>
                <a:effectLst/>
                <a:latin typeface="+mn-lt"/>
                <a:ea typeface="ＭＳ Ｐゴシック" pitchFamily="-106" charset="-128"/>
                <a:cs typeface="ＭＳ Ｐゴシック" pitchFamily="-106" charset="-128"/>
              </a:rPr>
              <a:t> But now that faith has come, we are no longer under a guardian. </a:t>
            </a:r>
            <a:r>
              <a:rPr lang="en-US" sz="1400" b="1" kern="1200" dirty="0">
                <a:solidFill>
                  <a:schemeClr val="tx1"/>
                </a:solidFill>
                <a:effectLst/>
                <a:latin typeface="+mn-lt"/>
                <a:ea typeface="ＭＳ Ｐゴシック" pitchFamily="-106" charset="-128"/>
                <a:cs typeface="ＭＳ Ｐゴシック" pitchFamily="-106" charset="-128"/>
              </a:rPr>
              <a:t>26</a:t>
            </a:r>
            <a:r>
              <a:rPr lang="en-US" sz="1400" kern="1200" dirty="0">
                <a:solidFill>
                  <a:schemeClr val="tx1"/>
                </a:solidFill>
                <a:effectLst/>
                <a:latin typeface="+mn-lt"/>
                <a:ea typeface="ＭＳ Ｐゴシック" pitchFamily="-106" charset="-128"/>
                <a:cs typeface="ＭＳ Ｐゴシック" pitchFamily="-106" charset="-128"/>
              </a:rPr>
              <a:t> For in Christ Jesus you are all sons of God through faith. </a:t>
            </a:r>
            <a:r>
              <a:rPr lang="en-US" sz="1400" b="1" kern="1200" dirty="0">
                <a:solidFill>
                  <a:schemeClr val="tx1"/>
                </a:solidFill>
                <a:effectLst/>
                <a:latin typeface="+mn-lt"/>
                <a:ea typeface="ＭＳ Ｐゴシック" pitchFamily="-106" charset="-128"/>
                <a:cs typeface="ＭＳ Ｐゴシック" pitchFamily="-106" charset="-128"/>
              </a:rPr>
              <a:t>27</a:t>
            </a:r>
            <a:r>
              <a:rPr lang="en-US" sz="1400" kern="1200" dirty="0">
                <a:solidFill>
                  <a:schemeClr val="tx1"/>
                </a:solidFill>
                <a:effectLst/>
                <a:latin typeface="+mn-lt"/>
                <a:ea typeface="ＭＳ Ｐゴシック" pitchFamily="-106" charset="-128"/>
                <a:cs typeface="ＭＳ Ｐゴシック" pitchFamily="-106" charset="-128"/>
              </a:rPr>
              <a:t> For all of you who were baptized into Christ have clothed yourselves with Christ. </a:t>
            </a:r>
            <a:r>
              <a:rPr lang="en-US" sz="1400" b="1" kern="1200" dirty="0">
                <a:solidFill>
                  <a:schemeClr val="tx1"/>
                </a:solidFill>
                <a:effectLst/>
                <a:latin typeface="+mn-lt"/>
                <a:ea typeface="ＭＳ Ｐゴシック" pitchFamily="-106" charset="-128"/>
                <a:cs typeface="ＭＳ Ｐゴシック" pitchFamily="-106" charset="-128"/>
              </a:rPr>
              <a:t>28</a:t>
            </a:r>
            <a:r>
              <a:rPr lang="en-US" sz="1400" kern="1200" dirty="0">
                <a:solidFill>
                  <a:schemeClr val="tx1"/>
                </a:solidFill>
                <a:effectLst/>
                <a:latin typeface="+mn-lt"/>
                <a:ea typeface="ＭＳ Ｐゴシック" pitchFamily="-106" charset="-128"/>
                <a:cs typeface="ＭＳ Ｐゴシック" pitchFamily="-106" charset="-128"/>
              </a:rPr>
              <a:t> There is neither Jew nor Greek, there is neither slave nor free, there is neither male nor female – for all of you are one in Christ Jesus. </a:t>
            </a:r>
            <a:r>
              <a:rPr lang="en-US" sz="1400" b="1" kern="1200" dirty="0">
                <a:solidFill>
                  <a:schemeClr val="tx1"/>
                </a:solidFill>
                <a:effectLst/>
                <a:latin typeface="+mn-lt"/>
                <a:ea typeface="ＭＳ Ｐゴシック" pitchFamily="-106" charset="-128"/>
                <a:cs typeface="ＭＳ Ｐゴシック" pitchFamily="-106" charset="-128"/>
              </a:rPr>
              <a:t>29</a:t>
            </a:r>
            <a:r>
              <a:rPr lang="en-US" sz="1400" kern="1200" dirty="0">
                <a:solidFill>
                  <a:schemeClr val="tx1"/>
                </a:solidFill>
                <a:effectLst/>
                <a:latin typeface="+mn-lt"/>
                <a:ea typeface="ＭＳ Ｐゴシック" pitchFamily="-106" charset="-128"/>
                <a:cs typeface="ＭＳ Ｐゴシック" pitchFamily="-106" charset="-128"/>
              </a:rPr>
              <a:t> And if you belong to Christ, then you are Abraham’s descendants, heirs according to the promise.</a:t>
            </a:r>
          </a:p>
          <a:p>
            <a:pPr marL="0" indent="0">
              <a:buFont typeface="Arial" pitchFamily="34" charset="0"/>
              <a:buNone/>
            </a:pPr>
            <a:endParaRPr lang="en-US" sz="1400" b="1" baseline="0" dirty="0"/>
          </a:p>
          <a:p>
            <a:r>
              <a:rPr lang="en-US" sz="1400" b="1" kern="1200" dirty="0">
                <a:solidFill>
                  <a:schemeClr val="tx1"/>
                </a:solidFill>
                <a:effectLst/>
                <a:latin typeface="+mn-lt"/>
                <a:ea typeface="ＭＳ Ｐゴシック" pitchFamily="-106" charset="-128"/>
                <a:cs typeface="ＭＳ Ｐゴシック" pitchFamily="-106" charset="-128"/>
              </a:rPr>
              <a:t>Deuteronomy 18:15-19</a:t>
            </a:r>
            <a:br>
              <a:rPr lang="en-US" sz="1400" kern="1200" dirty="0">
                <a:solidFill>
                  <a:schemeClr val="tx1"/>
                </a:solidFill>
                <a:effectLst/>
                <a:latin typeface="+mn-lt"/>
                <a:ea typeface="ＭＳ Ｐゴシック" pitchFamily="-106" charset="-128"/>
                <a:cs typeface="ＭＳ Ｐゴシック" pitchFamily="-106" charset="-128"/>
              </a:rPr>
            </a:br>
            <a:r>
              <a:rPr lang="en-US" sz="1400" b="1" kern="1200" dirty="0">
                <a:solidFill>
                  <a:schemeClr val="tx1"/>
                </a:solidFill>
                <a:effectLst/>
                <a:latin typeface="+mn-lt"/>
                <a:ea typeface="ＭＳ Ｐゴシック" pitchFamily="-106" charset="-128"/>
                <a:cs typeface="ＭＳ Ｐゴシック" pitchFamily="-106" charset="-128"/>
              </a:rPr>
              <a:t>15</a:t>
            </a:r>
            <a:r>
              <a:rPr lang="en-US" sz="1400" kern="1200" dirty="0">
                <a:solidFill>
                  <a:schemeClr val="tx1"/>
                </a:solidFill>
                <a:effectLst/>
                <a:latin typeface="+mn-lt"/>
                <a:ea typeface="ＭＳ Ｐゴシック" pitchFamily="-106" charset="-128"/>
                <a:cs typeface="ＭＳ Ｐゴシック" pitchFamily="-106" charset="-128"/>
              </a:rPr>
              <a:t> The LORD your God will raise up for you a prophet like me from among you – from your fellow Israelites; you must listen to him. </a:t>
            </a:r>
            <a:r>
              <a:rPr lang="en-US" sz="1400" b="1" kern="1200" dirty="0">
                <a:solidFill>
                  <a:schemeClr val="tx1"/>
                </a:solidFill>
                <a:effectLst/>
                <a:latin typeface="+mn-lt"/>
                <a:ea typeface="ＭＳ Ｐゴシック" pitchFamily="-106" charset="-128"/>
                <a:cs typeface="ＭＳ Ｐゴシック" pitchFamily="-106" charset="-128"/>
              </a:rPr>
              <a:t>16</a:t>
            </a:r>
            <a:r>
              <a:rPr lang="en-US" sz="1400" kern="1200" dirty="0">
                <a:solidFill>
                  <a:schemeClr val="tx1"/>
                </a:solidFill>
                <a:effectLst/>
                <a:latin typeface="+mn-lt"/>
                <a:ea typeface="ＭＳ Ｐゴシック" pitchFamily="-106" charset="-128"/>
                <a:cs typeface="ＭＳ Ｐゴシック" pitchFamily="-106" charset="-128"/>
              </a:rPr>
              <a:t> This accords with what happened at Horeb in the day of the assembly. You asked the LORD your God: “Please do not make us hear the voice of the LORD our God any more or see this great fire any more lest we die.” </a:t>
            </a:r>
            <a:r>
              <a:rPr lang="en-US" sz="1400" b="1" kern="1200" dirty="0">
                <a:solidFill>
                  <a:schemeClr val="tx1"/>
                </a:solidFill>
                <a:effectLst/>
                <a:latin typeface="+mn-lt"/>
                <a:ea typeface="ＭＳ Ｐゴシック" pitchFamily="-106" charset="-128"/>
                <a:cs typeface="ＭＳ Ｐゴシック" pitchFamily="-106" charset="-128"/>
              </a:rPr>
              <a:t>17</a:t>
            </a:r>
            <a:r>
              <a:rPr lang="en-US" sz="1400" kern="1200" dirty="0">
                <a:solidFill>
                  <a:schemeClr val="tx1"/>
                </a:solidFill>
                <a:effectLst/>
                <a:latin typeface="+mn-lt"/>
                <a:ea typeface="ＭＳ Ｐゴシック" pitchFamily="-106" charset="-128"/>
                <a:cs typeface="ＭＳ Ｐゴシック" pitchFamily="-106" charset="-128"/>
              </a:rPr>
              <a:t> The LORD then said to me, “What they have said is good. </a:t>
            </a:r>
            <a:r>
              <a:rPr lang="en-US" sz="1400" b="1" kern="1200" dirty="0">
                <a:solidFill>
                  <a:schemeClr val="tx1"/>
                </a:solidFill>
                <a:effectLst/>
                <a:latin typeface="+mn-lt"/>
                <a:ea typeface="ＭＳ Ｐゴシック" pitchFamily="-106" charset="-128"/>
                <a:cs typeface="ＭＳ Ｐゴシック" pitchFamily="-106" charset="-128"/>
              </a:rPr>
              <a:t>18</a:t>
            </a:r>
            <a:r>
              <a:rPr lang="en-US" sz="1400" kern="1200" dirty="0">
                <a:solidFill>
                  <a:schemeClr val="tx1"/>
                </a:solidFill>
                <a:effectLst/>
                <a:latin typeface="+mn-lt"/>
                <a:ea typeface="ＭＳ Ｐゴシック" pitchFamily="-106" charset="-128"/>
                <a:cs typeface="ＭＳ Ｐゴシック" pitchFamily="-106" charset="-128"/>
              </a:rPr>
              <a:t> I will raise up a prophet like you for them from among their fellow Israelites. I will put my words in his mouth and he will speak to them whatever I command. </a:t>
            </a:r>
            <a:r>
              <a:rPr lang="en-US" sz="1400" b="1" kern="1200" dirty="0">
                <a:solidFill>
                  <a:schemeClr val="tx1"/>
                </a:solidFill>
                <a:effectLst/>
                <a:latin typeface="+mn-lt"/>
                <a:ea typeface="ＭＳ Ｐゴシック" pitchFamily="-106" charset="-128"/>
                <a:cs typeface="ＭＳ Ｐゴシック" pitchFamily="-106" charset="-128"/>
              </a:rPr>
              <a:t>19</a:t>
            </a:r>
            <a:r>
              <a:rPr lang="en-US" sz="1400" kern="1200" dirty="0">
                <a:solidFill>
                  <a:schemeClr val="tx1"/>
                </a:solidFill>
                <a:effectLst/>
                <a:latin typeface="+mn-lt"/>
                <a:ea typeface="ＭＳ Ｐゴシック" pitchFamily="-106" charset="-128"/>
                <a:cs typeface="ＭＳ Ｐゴシック" pitchFamily="-106" charset="-128"/>
              </a:rPr>
              <a:t> I will personally hold responsible anyone who then pays no attention to the words that prophet speaks in my name.</a:t>
            </a:r>
          </a:p>
          <a:p>
            <a:pPr marL="0" indent="0">
              <a:buFont typeface="Arial" pitchFamily="34" charset="0"/>
              <a:buNone/>
            </a:pPr>
            <a:endParaRPr lang="en-US" sz="1400" b="1" baseline="0" dirty="0"/>
          </a:p>
          <a:p>
            <a:r>
              <a:rPr lang="en-US" sz="1400" b="1" kern="1200" dirty="0">
                <a:solidFill>
                  <a:schemeClr val="tx1"/>
                </a:solidFill>
                <a:effectLst/>
                <a:latin typeface="+mn-lt"/>
                <a:ea typeface="ＭＳ Ｐゴシック" pitchFamily="-106" charset="-128"/>
                <a:cs typeface="ＭＳ Ｐゴシック" pitchFamily="-106" charset="-128"/>
              </a:rPr>
              <a:t>Acts 3:21-23</a:t>
            </a:r>
            <a:br>
              <a:rPr lang="en-US" sz="1400" kern="1200" dirty="0">
                <a:solidFill>
                  <a:schemeClr val="tx1"/>
                </a:solidFill>
                <a:effectLst/>
                <a:latin typeface="+mn-lt"/>
                <a:ea typeface="ＭＳ Ｐゴシック" pitchFamily="-106" charset="-128"/>
                <a:cs typeface="ＭＳ Ｐゴシック" pitchFamily="-106" charset="-128"/>
              </a:rPr>
            </a:br>
            <a:r>
              <a:rPr lang="en-US" sz="1400" b="1" kern="1200" dirty="0">
                <a:solidFill>
                  <a:schemeClr val="tx1"/>
                </a:solidFill>
                <a:effectLst/>
                <a:latin typeface="+mn-lt"/>
                <a:ea typeface="ＭＳ Ｐゴシック" pitchFamily="-106" charset="-128"/>
                <a:cs typeface="ＭＳ Ｐゴシック" pitchFamily="-106" charset="-128"/>
              </a:rPr>
              <a:t>21</a:t>
            </a:r>
            <a:r>
              <a:rPr lang="en-US" sz="1400" kern="1200" dirty="0">
                <a:solidFill>
                  <a:schemeClr val="tx1"/>
                </a:solidFill>
                <a:effectLst/>
                <a:latin typeface="+mn-lt"/>
                <a:ea typeface="ＭＳ Ｐゴシック" pitchFamily="-106" charset="-128"/>
                <a:cs typeface="ＭＳ Ｐゴシック" pitchFamily="-106" charset="-128"/>
              </a:rPr>
              <a:t> This one heaven must receive until the time all things are restored, which God declared from times long ago through his holy prophets. </a:t>
            </a:r>
            <a:r>
              <a:rPr lang="en-US" sz="1400" b="1" kern="1200" dirty="0">
                <a:solidFill>
                  <a:schemeClr val="tx1"/>
                </a:solidFill>
                <a:effectLst/>
                <a:latin typeface="+mn-lt"/>
                <a:ea typeface="ＭＳ Ｐゴシック" pitchFamily="-106" charset="-128"/>
                <a:cs typeface="ＭＳ Ｐゴシック" pitchFamily="-106" charset="-128"/>
              </a:rPr>
              <a:t>22</a:t>
            </a:r>
            <a:r>
              <a:rPr lang="en-US" sz="1400" kern="1200" dirty="0">
                <a:solidFill>
                  <a:schemeClr val="tx1"/>
                </a:solidFill>
                <a:effectLst/>
                <a:latin typeface="+mn-lt"/>
                <a:ea typeface="ＭＳ Ｐゴシック" pitchFamily="-106" charset="-128"/>
                <a:cs typeface="ＭＳ Ｐゴシック" pitchFamily="-106" charset="-128"/>
              </a:rPr>
              <a:t> Moses said, ‘</a:t>
            </a:r>
            <a:r>
              <a:rPr lang="en-US" sz="1400" b="1" i="1" kern="1200" dirty="0">
                <a:solidFill>
                  <a:schemeClr val="tx1"/>
                </a:solidFill>
                <a:effectLst/>
                <a:latin typeface="+mn-lt"/>
                <a:ea typeface="ＭＳ Ｐゴシック" pitchFamily="-106" charset="-128"/>
                <a:cs typeface="ＭＳ Ｐゴシック" pitchFamily="-106" charset="-128"/>
              </a:rPr>
              <a:t>The Lord your God will raise up for you a prophet like me from among your brothers</a:t>
            </a:r>
            <a:r>
              <a:rPr lang="en-US" sz="1400" i="1" kern="1200" dirty="0">
                <a:solidFill>
                  <a:schemeClr val="tx1"/>
                </a:solidFill>
                <a:effectLst/>
                <a:latin typeface="+mn-lt"/>
                <a:ea typeface="ＭＳ Ｐゴシック" pitchFamily="-106" charset="-128"/>
                <a:cs typeface="ＭＳ Ｐゴシック" pitchFamily="-106" charset="-128"/>
              </a:rPr>
              <a:t>. </a:t>
            </a:r>
            <a:r>
              <a:rPr lang="en-US" sz="1400" b="1" i="1" kern="1200" dirty="0">
                <a:solidFill>
                  <a:schemeClr val="tx1"/>
                </a:solidFill>
                <a:effectLst/>
                <a:latin typeface="+mn-lt"/>
                <a:ea typeface="ＭＳ Ｐゴシック" pitchFamily="-106" charset="-128"/>
                <a:cs typeface="ＭＳ Ｐゴシック" pitchFamily="-106" charset="-128"/>
              </a:rPr>
              <a:t>You must obey him in everything he tells you</a:t>
            </a:r>
            <a:r>
              <a:rPr lang="en-US" sz="1400" kern="1200" dirty="0">
                <a:solidFill>
                  <a:schemeClr val="tx1"/>
                </a:solidFill>
                <a:effectLst/>
                <a:latin typeface="+mn-lt"/>
                <a:ea typeface="ＭＳ Ｐゴシック" pitchFamily="-106" charset="-128"/>
                <a:cs typeface="ＭＳ Ｐゴシック" pitchFamily="-106" charset="-128"/>
              </a:rPr>
              <a:t>. </a:t>
            </a:r>
            <a:r>
              <a:rPr lang="en-US" sz="1400" b="1" kern="1200" dirty="0">
                <a:solidFill>
                  <a:schemeClr val="tx1"/>
                </a:solidFill>
                <a:effectLst/>
                <a:latin typeface="+mn-lt"/>
                <a:ea typeface="ＭＳ Ｐゴシック" pitchFamily="-106" charset="-128"/>
                <a:cs typeface="ＭＳ Ｐゴシック" pitchFamily="-106" charset="-128"/>
              </a:rPr>
              <a:t>23</a:t>
            </a:r>
            <a:r>
              <a:rPr lang="en-US" sz="1400" kern="1200" dirty="0">
                <a:solidFill>
                  <a:schemeClr val="tx1"/>
                </a:solidFill>
                <a:effectLst/>
                <a:latin typeface="+mn-lt"/>
                <a:ea typeface="ＭＳ Ｐゴシック" pitchFamily="-106" charset="-128"/>
                <a:cs typeface="ＭＳ Ｐゴシック" pitchFamily="-106" charset="-128"/>
              </a:rPr>
              <a:t> </a:t>
            </a:r>
            <a:r>
              <a:rPr lang="en-US" sz="1400" b="1" i="1" kern="1200" dirty="0">
                <a:solidFill>
                  <a:schemeClr val="tx1"/>
                </a:solidFill>
                <a:effectLst/>
                <a:latin typeface="+mn-lt"/>
                <a:ea typeface="ＭＳ Ｐゴシック" pitchFamily="-106" charset="-128"/>
                <a:cs typeface="ＭＳ Ｐゴシック" pitchFamily="-106" charset="-128"/>
              </a:rPr>
              <a:t>Every person who does not obey that prophet will be destroyed and thus removed from the people</a:t>
            </a:r>
            <a:r>
              <a:rPr lang="en-US" sz="1400" kern="1200" dirty="0">
                <a:solidFill>
                  <a:schemeClr val="tx1"/>
                </a:solidFill>
                <a:effectLst/>
                <a:latin typeface="+mn-lt"/>
                <a:ea typeface="ＭＳ Ｐゴシック" pitchFamily="-106" charset="-128"/>
                <a:cs typeface="ＭＳ Ｐゴシック" pitchFamily="-106" charset="-128"/>
              </a:rPr>
              <a:t>.’</a:t>
            </a:r>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6</a:t>
            </a:fld>
            <a:endParaRPr lang="en-US"/>
          </a:p>
        </p:txBody>
      </p:sp>
    </p:spTree>
    <p:extLst>
      <p:ext uri="{BB962C8B-B14F-4D97-AF65-F5344CB8AC3E}">
        <p14:creationId xmlns:p14="http://schemas.microsoft.com/office/powerpoint/2010/main" val="274336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E3A0D-B008-EFE3-8636-4DA4269B18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D08E2F-0629-8F01-5BA5-7CA56AC284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1839C3-AE42-B244-D211-335817A42587}"/>
              </a:ext>
            </a:extLst>
          </p:cNvPr>
          <p:cNvSpPr>
            <a:spLocks noGrp="1"/>
          </p:cNvSpPr>
          <p:nvPr>
            <p:ph type="body" idx="1"/>
          </p:nvPr>
        </p:nvSpPr>
        <p:spPr/>
        <p:txBody>
          <a:bodyPr>
            <a:normAutofit/>
          </a:bodyPr>
          <a:lstStyle/>
          <a:p>
            <a:r>
              <a:rPr lang="en-US" sz="1400" dirty="0"/>
              <a:t>Israel's problem is not lack of opportunity.</a:t>
            </a:r>
          </a:p>
          <a:p>
            <a:pPr marL="342900" indent="-342900">
              <a:buFont typeface="Arial" panose="020B0604020202020204" pitchFamily="34" charset="0"/>
              <a:buChar char="•"/>
            </a:pPr>
            <a:r>
              <a:rPr lang="en-US" sz="1400" dirty="0"/>
              <a:t>Israel heard.</a:t>
            </a:r>
          </a:p>
          <a:p>
            <a:pPr marL="342900" indent="-342900">
              <a:buFont typeface="Arial" panose="020B0604020202020204" pitchFamily="34" charset="0"/>
              <a:buChar char="•"/>
            </a:pPr>
            <a:r>
              <a:rPr lang="en-US" sz="1400" dirty="0"/>
              <a:t>Israel understood.</a:t>
            </a:r>
          </a:p>
          <a:p>
            <a:pPr marL="342900" indent="-342900">
              <a:buFont typeface="Arial" panose="020B0604020202020204" pitchFamily="34" charset="0"/>
              <a:buChar char="•"/>
            </a:pPr>
            <a:r>
              <a:rPr lang="en-US" sz="1400" dirty="0"/>
              <a:t>Israel largely refused.</a:t>
            </a:r>
          </a:p>
          <a:p>
            <a:endParaRPr lang="en-US" sz="1400" dirty="0"/>
          </a:p>
          <a:p>
            <a:r>
              <a:rPr lang="en-US" sz="1400" dirty="0"/>
              <a:t>Paul does not blame God for Israel's unbelief.</a:t>
            </a:r>
          </a:p>
          <a:p>
            <a:pPr marL="342900" indent="-342900">
              <a:buFont typeface="Arial" panose="020B0604020202020204" pitchFamily="34" charset="0"/>
              <a:buChar char="•"/>
            </a:pPr>
            <a:r>
              <a:rPr lang="en-US" sz="1400" dirty="0"/>
              <a:t>He blames Israel.</a:t>
            </a:r>
          </a:p>
          <a:p>
            <a:pPr marL="342900" indent="-342900">
              <a:buFont typeface="Arial" panose="020B0604020202020204" pitchFamily="34" charset="0"/>
              <a:buChar char="•"/>
            </a:pPr>
            <a:r>
              <a:rPr lang="en-US" sz="1400" dirty="0"/>
              <a:t>This chapter prevents us from reading Romans 9 as strict fatalism.</a:t>
            </a:r>
          </a:p>
          <a:p>
            <a:pPr marL="0" indent="0">
              <a:buFont typeface="Arial" pitchFamily="34" charset="0"/>
              <a:buNone/>
            </a:pPr>
            <a:endParaRPr lang="en-US" sz="1400" b="1" baseline="0" dirty="0"/>
          </a:p>
          <a:p>
            <a:r>
              <a:rPr lang="en-US" sz="1400" b="1" kern="1200" dirty="0">
                <a:solidFill>
                  <a:schemeClr val="tx1"/>
                </a:solidFill>
                <a:effectLst/>
                <a:latin typeface="+mn-lt"/>
                <a:ea typeface="ＭＳ Ｐゴシック" pitchFamily="-106" charset="-128"/>
                <a:cs typeface="ＭＳ Ｐゴシック" pitchFamily="-106" charset="-128"/>
              </a:rPr>
              <a:t>The Remnant</a:t>
            </a:r>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Just as in Elijah's day, God preserved a faithful remnant.</a:t>
            </a:r>
          </a:p>
          <a:p>
            <a:r>
              <a:rPr lang="en-US" sz="1400" kern="1200" dirty="0">
                <a:solidFill>
                  <a:schemeClr val="tx1"/>
                </a:solidFill>
                <a:effectLst/>
                <a:latin typeface="+mn-lt"/>
                <a:ea typeface="ＭＳ Ｐゴシック" pitchFamily="-106" charset="-128"/>
                <a:cs typeface="ＭＳ Ｐゴシック" pitchFamily="-106" charset="-128"/>
              </a:rPr>
              <a:t>God's promises continue through believing Jews.</a:t>
            </a: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400" b="1" kern="1200" dirty="0">
                <a:solidFill>
                  <a:schemeClr val="tx1"/>
                </a:solidFill>
                <a:effectLst/>
                <a:latin typeface="+mn-lt"/>
                <a:ea typeface="ＭＳ Ｐゴシック" pitchFamily="-106" charset="-128"/>
                <a:cs typeface="ＭＳ Ｐゴシック" pitchFamily="-106" charset="-128"/>
              </a:rPr>
              <a:t>The Olive Tree</a:t>
            </a:r>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This is one of the most important images in the entire section.</a:t>
            </a:r>
          </a:p>
          <a:p>
            <a:r>
              <a:rPr lang="en-US" sz="1400" kern="1200" dirty="0">
                <a:solidFill>
                  <a:schemeClr val="tx1"/>
                </a:solidFill>
                <a:effectLst/>
                <a:latin typeface="+mn-lt"/>
                <a:ea typeface="ＭＳ Ｐゴシック" pitchFamily="-106" charset="-128"/>
                <a:cs typeface="ＭＳ Ｐゴシック" pitchFamily="-106" charset="-128"/>
              </a:rPr>
              <a:t>The tree represents God's covenant people.</a:t>
            </a:r>
          </a:p>
          <a:p>
            <a:pPr marL="285750" indent="-2857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Some Jewish branches were broken off.</a:t>
            </a:r>
          </a:p>
          <a:p>
            <a:pPr marL="285750" indent="-2857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Why? Unbelief.</a:t>
            </a:r>
          </a:p>
          <a:p>
            <a:r>
              <a:rPr lang="en-US" sz="1400" kern="1200" dirty="0">
                <a:solidFill>
                  <a:schemeClr val="tx1"/>
                </a:solidFill>
                <a:effectLst/>
                <a:latin typeface="+mn-lt"/>
                <a:ea typeface="ＭＳ Ｐゴシック" pitchFamily="-106" charset="-128"/>
                <a:cs typeface="ＭＳ Ｐゴシック" pitchFamily="-106" charset="-128"/>
              </a:rPr>
              <a:t>Gentile branches were grafted in.</a:t>
            </a:r>
          </a:p>
          <a:p>
            <a:pPr marL="285750" indent="-2857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Why?</a:t>
            </a:r>
          </a:p>
          <a:p>
            <a:pPr marL="285750" indent="-2857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Faith.</a:t>
            </a:r>
          </a:p>
          <a:p>
            <a:r>
              <a:rPr lang="en-US" sz="1400" kern="1200" dirty="0">
                <a:solidFill>
                  <a:schemeClr val="tx1"/>
                </a:solidFill>
                <a:effectLst/>
                <a:latin typeface="+mn-lt"/>
                <a:ea typeface="ＭＳ Ｐゴシック" pitchFamily="-106" charset="-128"/>
                <a:cs typeface="ＭＳ Ｐゴシック" pitchFamily="-106" charset="-128"/>
              </a:rPr>
              <a:t>Notice Paul's explanation:</a:t>
            </a:r>
          </a:p>
          <a:p>
            <a:pPr marL="285750" indent="-2857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"They were broken off because of unbelief, but you stand by faith." (11:20)</a:t>
            </a:r>
          </a:p>
          <a:p>
            <a:r>
              <a:rPr lang="en-US" sz="1400" kern="1200" dirty="0">
                <a:solidFill>
                  <a:schemeClr val="tx1"/>
                </a:solidFill>
                <a:effectLst/>
                <a:latin typeface="+mn-lt"/>
                <a:ea typeface="ＭＳ Ｐゴシック" pitchFamily="-106" charset="-128"/>
                <a:cs typeface="ＭＳ Ｐゴシック" pitchFamily="-106" charset="-128"/>
              </a:rPr>
              <a:t>The distinction is faith versus unbelief.</a:t>
            </a:r>
          </a:p>
          <a:p>
            <a:r>
              <a:rPr lang="en-US" sz="1400" kern="1200" dirty="0">
                <a:solidFill>
                  <a:schemeClr val="tx1"/>
                </a:solidFill>
                <a:effectLst/>
                <a:latin typeface="+mn-lt"/>
                <a:ea typeface="ＭＳ Ｐゴシック" pitchFamily="-106" charset="-128"/>
                <a:cs typeface="ＭＳ Ｐゴシック" pitchFamily="-106" charset="-128"/>
              </a:rPr>
              <a:t>Not ethnicity.</a:t>
            </a: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400" b="1" kern="1200" dirty="0">
                <a:solidFill>
                  <a:schemeClr val="tx1"/>
                </a:solidFill>
                <a:effectLst/>
                <a:latin typeface="+mn-lt"/>
                <a:ea typeface="ＭＳ Ｐゴシック" pitchFamily="-106" charset="-128"/>
                <a:cs typeface="ＭＳ Ｐゴシック" pitchFamily="-106" charset="-128"/>
              </a:rPr>
              <a:t>Israel's Hardening</a:t>
            </a:r>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Paul teaches that Israel's rejection has a purpose.</a:t>
            </a:r>
          </a:p>
          <a:p>
            <a:r>
              <a:rPr lang="en-US" sz="1400" kern="1200" dirty="0">
                <a:solidFill>
                  <a:schemeClr val="tx1"/>
                </a:solidFill>
                <a:effectLst/>
                <a:latin typeface="+mn-lt"/>
                <a:ea typeface="ＭＳ Ｐゴシック" pitchFamily="-106" charset="-128"/>
                <a:cs typeface="ＭＳ Ｐゴシック" pitchFamily="-106" charset="-128"/>
              </a:rPr>
              <a:t>Their stumbling opened the door for Gentile inclusion.</a:t>
            </a:r>
          </a:p>
          <a:p>
            <a:r>
              <a:rPr lang="en-US" sz="1400" kern="1200" dirty="0">
                <a:solidFill>
                  <a:schemeClr val="tx1"/>
                </a:solidFill>
                <a:effectLst/>
                <a:latin typeface="+mn-lt"/>
                <a:ea typeface="ＭＳ Ｐゴシック" pitchFamily="-106" charset="-128"/>
                <a:cs typeface="ＭＳ Ｐゴシック" pitchFamily="-106" charset="-128"/>
              </a:rPr>
              <a:t>Gentile salvation is then intended to provoke Israel to jealousy.</a:t>
            </a:r>
          </a:p>
          <a:p>
            <a:r>
              <a:rPr lang="en-US" sz="1400" kern="1200" dirty="0">
                <a:solidFill>
                  <a:schemeClr val="tx1"/>
                </a:solidFill>
                <a:effectLst/>
                <a:latin typeface="+mn-lt"/>
                <a:ea typeface="ＭＳ Ｐゴシック" pitchFamily="-106" charset="-128"/>
                <a:cs typeface="ＭＳ Ｐゴシック" pitchFamily="-106" charset="-128"/>
              </a:rPr>
              <a:t>God uses both Jewish rejection and Gentile inclusion to advance His larger plan.</a:t>
            </a:r>
          </a:p>
          <a:p>
            <a:pPr marL="0" indent="0">
              <a:buFont typeface="Arial" pitchFamily="34" charset="0"/>
              <a:buNone/>
            </a:pPr>
            <a:endParaRPr lang="en-US" b="1" baseline="0" dirty="0"/>
          </a:p>
          <a:p>
            <a:r>
              <a:rPr lang="en-US" sz="1200" b="1" kern="1200" dirty="0">
                <a:solidFill>
                  <a:schemeClr val="tx1"/>
                </a:solidFill>
                <a:effectLst/>
                <a:latin typeface="+mn-lt"/>
                <a:ea typeface="ＭＳ Ｐゴシック" pitchFamily="-106" charset="-128"/>
                <a:cs typeface="ＭＳ Ｐゴシック" pitchFamily="-106" charset="-128"/>
              </a:rPr>
              <a:t>What Is Paul Teaching About Human Will?</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Yet Paul never removes human responsibility.</a:t>
            </a:r>
          </a:p>
          <a:p>
            <a:r>
              <a:rPr lang="en-US" sz="1200" kern="1200" dirty="0">
                <a:solidFill>
                  <a:schemeClr val="tx1"/>
                </a:solidFill>
                <a:effectLst/>
                <a:latin typeface="+mn-lt"/>
                <a:ea typeface="ＭＳ Ｐゴシック" pitchFamily="-106" charset="-128"/>
                <a:cs typeface="ＭＳ Ｐゴシック" pitchFamily="-106" charset="-128"/>
              </a:rPr>
              <a:t>Throughout chapters 10 and 11:</a:t>
            </a:r>
          </a:p>
          <a:p>
            <a:pPr marL="171450" indent="-171450" rtl="0" fontAlgn="ctr">
              <a:buFont typeface="Arial" panose="020B0604020202020204" pitchFamily="34" charset="0"/>
              <a:buChar char="•"/>
            </a:pPr>
            <a:r>
              <a:rPr lang="en-US" sz="1200" kern="1200" dirty="0">
                <a:solidFill>
                  <a:schemeClr val="tx1"/>
                </a:solidFill>
                <a:effectLst/>
                <a:latin typeface="+mn-lt"/>
                <a:ea typeface="ＭＳ Ｐゴシック" pitchFamily="-106" charset="-128"/>
                <a:cs typeface="ＭＳ Ｐゴシック" pitchFamily="-106" charset="-128"/>
              </a:rPr>
              <a:t>People believe.</a:t>
            </a:r>
          </a:p>
          <a:p>
            <a:pPr marL="171450" indent="-171450" rtl="0" fontAlgn="ctr">
              <a:buFont typeface="Arial" panose="020B0604020202020204" pitchFamily="34" charset="0"/>
              <a:buChar char="•"/>
            </a:pPr>
            <a:r>
              <a:rPr lang="en-US" sz="1200" kern="1200" dirty="0">
                <a:solidFill>
                  <a:schemeClr val="tx1"/>
                </a:solidFill>
                <a:effectLst/>
                <a:latin typeface="+mn-lt"/>
                <a:ea typeface="ＭＳ Ｐゴシック" pitchFamily="-106" charset="-128"/>
                <a:cs typeface="ＭＳ Ｐゴシック" pitchFamily="-106" charset="-128"/>
              </a:rPr>
              <a:t>People refuse.</a:t>
            </a:r>
          </a:p>
          <a:p>
            <a:pPr marL="171450" indent="-171450" rtl="0" fontAlgn="ctr">
              <a:buFont typeface="Arial" panose="020B0604020202020204" pitchFamily="34" charset="0"/>
              <a:buChar char="•"/>
            </a:pPr>
            <a:r>
              <a:rPr lang="en-US" sz="1200" kern="1200" dirty="0">
                <a:solidFill>
                  <a:schemeClr val="tx1"/>
                </a:solidFill>
                <a:effectLst/>
                <a:latin typeface="+mn-lt"/>
                <a:ea typeface="ＭＳ Ｐゴシック" pitchFamily="-106" charset="-128"/>
                <a:cs typeface="ＭＳ Ｐゴシック" pitchFamily="-106" charset="-128"/>
              </a:rPr>
              <a:t>People obey.</a:t>
            </a:r>
          </a:p>
          <a:p>
            <a:pPr marL="171450" indent="-171450" rtl="0" fontAlgn="ctr">
              <a:buFont typeface="Arial" panose="020B0604020202020204" pitchFamily="34" charset="0"/>
              <a:buChar char="•"/>
            </a:pPr>
            <a:r>
              <a:rPr lang="en-US" sz="1200" kern="1200" dirty="0">
                <a:solidFill>
                  <a:schemeClr val="tx1"/>
                </a:solidFill>
                <a:effectLst/>
                <a:latin typeface="+mn-lt"/>
                <a:ea typeface="ＭＳ Ｐゴシック" pitchFamily="-106" charset="-128"/>
                <a:cs typeface="ＭＳ Ｐゴシック" pitchFamily="-106" charset="-128"/>
              </a:rPr>
              <a:t>People disobey.</a:t>
            </a:r>
          </a:p>
          <a:p>
            <a:pPr marL="171450" indent="-171450" rtl="0" fontAlgn="ctr">
              <a:buFont typeface="Arial" panose="020B0604020202020204" pitchFamily="34" charset="0"/>
              <a:buChar char="•"/>
            </a:pPr>
            <a:r>
              <a:rPr lang="en-US" sz="1200" kern="1200" dirty="0">
                <a:solidFill>
                  <a:schemeClr val="tx1"/>
                </a:solidFill>
                <a:effectLst/>
                <a:latin typeface="+mn-lt"/>
                <a:ea typeface="ＭＳ Ｐゴシック" pitchFamily="-106" charset="-128"/>
                <a:cs typeface="ＭＳ Ｐゴシック" pitchFamily="-106" charset="-128"/>
              </a:rPr>
              <a:t>People are hardened.</a:t>
            </a:r>
          </a:p>
          <a:p>
            <a:pPr marL="171450" indent="-171450" rtl="0" fontAlgn="ctr">
              <a:buFont typeface="Arial" panose="020B0604020202020204" pitchFamily="34" charset="0"/>
              <a:buChar char="•"/>
            </a:pPr>
            <a:r>
              <a:rPr lang="en-US" sz="1200" kern="1200" dirty="0">
                <a:solidFill>
                  <a:schemeClr val="tx1"/>
                </a:solidFill>
                <a:effectLst/>
                <a:latin typeface="+mn-lt"/>
                <a:ea typeface="ＭＳ Ｐゴシック" pitchFamily="-106" charset="-128"/>
                <a:cs typeface="ＭＳ Ｐゴシック" pitchFamily="-106" charset="-128"/>
              </a:rPr>
              <a:t>People can be grafted back in through faith.</a:t>
            </a:r>
          </a:p>
          <a:p>
            <a:r>
              <a:rPr lang="en-US" sz="1200" kern="1200" dirty="0">
                <a:solidFill>
                  <a:schemeClr val="tx1"/>
                </a:solidFill>
                <a:effectLst/>
                <a:latin typeface="+mn-lt"/>
                <a:ea typeface="ＭＳ Ｐゴシック" pitchFamily="-106" charset="-128"/>
                <a:cs typeface="ＭＳ Ｐゴシック" pitchFamily="-106" charset="-128"/>
              </a:rPr>
              <a:t>Notice Romans 11:23:</a:t>
            </a:r>
          </a:p>
          <a:p>
            <a:pPr marL="171450" indent="-171450">
              <a:buFont typeface="Arial" panose="020B0604020202020204" pitchFamily="34" charset="0"/>
              <a:buChar char="•"/>
            </a:pPr>
            <a:r>
              <a:rPr lang="en-US" sz="1200" kern="1200" dirty="0">
                <a:solidFill>
                  <a:schemeClr val="tx1"/>
                </a:solidFill>
                <a:effectLst/>
                <a:latin typeface="+mn-lt"/>
                <a:ea typeface="ＭＳ Ｐゴシック" pitchFamily="-106" charset="-128"/>
                <a:cs typeface="ＭＳ Ｐゴシック" pitchFamily="-106" charset="-128"/>
              </a:rPr>
              <a:t>"And even they — if they do not continue in their unbelief — will be grafted in."</a:t>
            </a:r>
          </a:p>
          <a:p>
            <a:pPr marL="171450" indent="-171450">
              <a:buFont typeface="Arial" panose="020B0604020202020204" pitchFamily="34" charset="0"/>
              <a:buChar char="•"/>
            </a:pPr>
            <a:r>
              <a:rPr lang="en-US" sz="1200" kern="1200" dirty="0">
                <a:solidFill>
                  <a:schemeClr val="tx1"/>
                </a:solidFill>
                <a:effectLst/>
                <a:latin typeface="+mn-lt"/>
                <a:ea typeface="ＭＳ Ｐゴシック" pitchFamily="-106" charset="-128"/>
                <a:cs typeface="ＭＳ Ｐゴシック" pitchFamily="-106" charset="-128"/>
              </a:rPr>
              <a:t>Paul still speaks as though response matters.</a:t>
            </a:r>
            <a:endParaRPr lang="en-US" b="1" baseline="0" dirty="0"/>
          </a:p>
          <a:p>
            <a:pPr marL="0" indent="0">
              <a:buFont typeface="Arial" pitchFamily="34" charset="0"/>
              <a:buNone/>
            </a:pPr>
            <a:endParaRPr lang="en-US" b="1" baseline="0" dirty="0"/>
          </a:p>
          <a:p>
            <a:r>
              <a:rPr lang="en-US" sz="1200" b="1" kern="1200" dirty="0">
                <a:solidFill>
                  <a:schemeClr val="tx1"/>
                </a:solidFill>
                <a:effectLst/>
                <a:latin typeface="+mn-lt"/>
                <a:ea typeface="ＭＳ Ｐゴシック" pitchFamily="-106" charset="-128"/>
                <a:cs typeface="ＭＳ Ｐゴシック" pitchFamily="-106" charset="-128"/>
              </a:rPr>
              <a:t>What Is Paul Teaching About Sovereignty?</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The dominant theme of Romans 9-11 is unquestionably God's sovereignty.</a:t>
            </a:r>
          </a:p>
          <a:p>
            <a:r>
              <a:rPr lang="en-US" sz="1200" kern="1200" dirty="0">
                <a:solidFill>
                  <a:schemeClr val="tx1"/>
                </a:solidFill>
                <a:effectLst/>
                <a:latin typeface="+mn-lt"/>
                <a:ea typeface="ＭＳ Ｐゴシック" pitchFamily="-106" charset="-128"/>
                <a:cs typeface="ＭＳ Ｐゴシック" pitchFamily="-106" charset="-128"/>
              </a:rPr>
              <a:t>Paul repeatedly emphasizes:</a:t>
            </a:r>
          </a:p>
          <a:p>
            <a:pPr marL="171450" indent="-171450" rtl="0" fontAlgn="ctr">
              <a:buFont typeface="Arial" panose="020B0604020202020204" pitchFamily="34" charset="0"/>
              <a:buChar char="•"/>
            </a:pPr>
            <a:r>
              <a:rPr lang="en-US" sz="1200" kern="1200" dirty="0">
                <a:solidFill>
                  <a:schemeClr val="tx1"/>
                </a:solidFill>
                <a:effectLst/>
                <a:latin typeface="+mn-lt"/>
                <a:ea typeface="ＭＳ Ｐゴシック" pitchFamily="-106" charset="-128"/>
                <a:cs typeface="ＭＳ Ｐゴシック" pitchFamily="-106" charset="-128"/>
              </a:rPr>
              <a:t>God's election</a:t>
            </a:r>
          </a:p>
          <a:p>
            <a:pPr marL="171450" indent="-171450" rtl="0" fontAlgn="ctr">
              <a:buFont typeface="Arial" panose="020B0604020202020204" pitchFamily="34" charset="0"/>
              <a:buChar char="•"/>
            </a:pPr>
            <a:r>
              <a:rPr lang="en-US" sz="1200" kern="1200" dirty="0">
                <a:solidFill>
                  <a:schemeClr val="tx1"/>
                </a:solidFill>
                <a:effectLst/>
                <a:latin typeface="+mn-lt"/>
                <a:ea typeface="ＭＳ Ｐゴシック" pitchFamily="-106" charset="-128"/>
                <a:cs typeface="ＭＳ Ｐゴシック" pitchFamily="-106" charset="-128"/>
              </a:rPr>
              <a:t>God's purpose</a:t>
            </a:r>
          </a:p>
          <a:p>
            <a:pPr marL="171450" indent="-171450" rtl="0" fontAlgn="ctr">
              <a:buFont typeface="Arial" panose="020B0604020202020204" pitchFamily="34" charset="0"/>
              <a:buChar char="•"/>
            </a:pPr>
            <a:r>
              <a:rPr lang="en-US" sz="1200" kern="1200" dirty="0">
                <a:solidFill>
                  <a:schemeClr val="tx1"/>
                </a:solidFill>
                <a:effectLst/>
                <a:latin typeface="+mn-lt"/>
                <a:ea typeface="ＭＳ Ｐゴシック" pitchFamily="-106" charset="-128"/>
                <a:cs typeface="ＭＳ Ｐゴシック" pitchFamily="-106" charset="-128"/>
              </a:rPr>
              <a:t>God's mercy</a:t>
            </a:r>
          </a:p>
          <a:p>
            <a:pPr marL="171450" indent="-171450" rtl="0" fontAlgn="ctr">
              <a:buFont typeface="Arial" panose="020B0604020202020204" pitchFamily="34" charset="0"/>
              <a:buChar char="•"/>
            </a:pPr>
            <a:r>
              <a:rPr lang="en-US" sz="1200" kern="1200" dirty="0">
                <a:solidFill>
                  <a:schemeClr val="tx1"/>
                </a:solidFill>
                <a:effectLst/>
                <a:latin typeface="+mn-lt"/>
                <a:ea typeface="ＭＳ Ｐゴシック" pitchFamily="-106" charset="-128"/>
                <a:cs typeface="ＭＳ Ｐゴシック" pitchFamily="-106" charset="-128"/>
              </a:rPr>
              <a:t>God's faithfulness</a:t>
            </a:r>
          </a:p>
          <a:p>
            <a:pPr marL="171450" indent="-171450" rtl="0" fontAlgn="ctr">
              <a:buFont typeface="Arial" panose="020B0604020202020204" pitchFamily="34" charset="0"/>
              <a:buChar char="•"/>
            </a:pPr>
            <a:r>
              <a:rPr lang="en-US" sz="1200" kern="1200" dirty="0">
                <a:solidFill>
                  <a:schemeClr val="tx1"/>
                </a:solidFill>
                <a:effectLst/>
                <a:latin typeface="+mn-lt"/>
                <a:ea typeface="ＭＳ Ｐゴシック" pitchFamily="-106" charset="-128"/>
                <a:cs typeface="ＭＳ Ｐゴシック" pitchFamily="-106" charset="-128"/>
              </a:rPr>
              <a:t>God's control of history</a:t>
            </a:r>
          </a:p>
          <a:p>
            <a:r>
              <a:rPr lang="en-US" sz="1200" kern="1200" dirty="0">
                <a:solidFill>
                  <a:schemeClr val="tx1"/>
                </a:solidFill>
                <a:effectLst/>
                <a:latin typeface="+mn-lt"/>
                <a:ea typeface="ＭＳ Ｐゴシック" pitchFamily="-106" charset="-128"/>
                <a:cs typeface="ＭＳ Ｐゴシック" pitchFamily="-106" charset="-128"/>
              </a:rPr>
              <a:t>The entire section culminates with:</a:t>
            </a:r>
          </a:p>
          <a:p>
            <a:pPr marL="171450" indent="-171450">
              <a:buFont typeface="Arial" panose="020B0604020202020204" pitchFamily="34" charset="0"/>
              <a:buChar char="•"/>
            </a:pPr>
            <a:r>
              <a:rPr lang="en-US" sz="1200" kern="1200" dirty="0">
                <a:solidFill>
                  <a:schemeClr val="tx1"/>
                </a:solidFill>
                <a:effectLst/>
                <a:latin typeface="+mn-lt"/>
                <a:ea typeface="ＭＳ Ｐゴシック" pitchFamily="-106" charset="-128"/>
                <a:cs typeface="ＭＳ Ｐゴシック" pitchFamily="-106" charset="-128"/>
              </a:rPr>
              <a:t>"For from him and through him and to him are all things." (11:36)</a:t>
            </a:r>
          </a:p>
          <a:p>
            <a:pPr marL="171450" indent="-171450">
              <a:buFont typeface="Arial" panose="020B0604020202020204" pitchFamily="34" charset="0"/>
              <a:buChar char="•"/>
            </a:pPr>
            <a:r>
              <a:rPr lang="en-US" sz="1200" kern="1200" dirty="0">
                <a:solidFill>
                  <a:schemeClr val="tx1"/>
                </a:solidFill>
                <a:effectLst/>
                <a:latin typeface="+mn-lt"/>
                <a:ea typeface="ＭＳ Ｐゴシック" pitchFamily="-106" charset="-128"/>
                <a:cs typeface="ＭＳ Ｐゴシック" pitchFamily="-106" charset="-128"/>
              </a:rPr>
              <a:t>This is one of the strongest declarations of divine sovereignty in the Bible.</a:t>
            </a:r>
          </a:p>
          <a:p>
            <a:pPr marL="171450" indent="-171450">
              <a:buFont typeface="Arial" panose="020B0604020202020204" pitchFamily="34" charset="0"/>
              <a:buChar char="•"/>
            </a:pPr>
            <a:endParaRPr lang="en-US" b="1" baseline="0" dirty="0"/>
          </a:p>
          <a:p>
            <a:r>
              <a:rPr lang="en-US" sz="1200" kern="1200" dirty="0">
                <a:solidFill>
                  <a:schemeClr val="tx1"/>
                </a:solidFill>
                <a:effectLst/>
                <a:latin typeface="+mn-lt"/>
                <a:ea typeface="ＭＳ Ｐゴシック" pitchFamily="-106" charset="-128"/>
                <a:cs typeface="ＭＳ Ｐゴシック" pitchFamily="-106" charset="-128"/>
              </a:rPr>
              <a:t> </a:t>
            </a:r>
          </a:p>
          <a:p>
            <a:pPr marL="0" indent="0">
              <a:buFont typeface="Arial" pitchFamily="34" charset="0"/>
              <a:buNone/>
            </a:pPr>
            <a:endParaRPr lang="en-US" b="1" baseline="0" dirty="0"/>
          </a:p>
          <a:p>
            <a:pPr marL="0" indent="0">
              <a:buFont typeface="Arial" pitchFamily="34" charset="0"/>
              <a:buNone/>
            </a:pPr>
            <a:endParaRPr lang="en-US" b="1" baseline="0" dirty="0"/>
          </a:p>
        </p:txBody>
      </p:sp>
      <p:sp>
        <p:nvSpPr>
          <p:cNvPr id="4" name="Slide Number Placeholder 3">
            <a:extLst>
              <a:ext uri="{FF2B5EF4-FFF2-40B4-BE49-F238E27FC236}">
                <a16:creationId xmlns:a16="http://schemas.microsoft.com/office/drawing/2014/main" id="{1FAD5C7A-DFBE-3BFE-1839-E31019C9D525}"/>
              </a:ext>
            </a:extLst>
          </p:cNvPr>
          <p:cNvSpPr>
            <a:spLocks noGrp="1"/>
          </p:cNvSpPr>
          <p:nvPr>
            <p:ph type="sldNum" sz="quarter" idx="10"/>
          </p:nvPr>
        </p:nvSpPr>
        <p:spPr/>
        <p:txBody>
          <a:bodyPr/>
          <a:lstStyle/>
          <a:p>
            <a:pPr>
              <a:defRPr/>
            </a:pPr>
            <a:fld id="{07776858-791E-4C8D-8FA3-473B3AFECFAC}" type="slidenum">
              <a:rPr lang="en-US" smtClean="0"/>
              <a:pPr>
                <a:defRPr/>
              </a:pPr>
              <a:t>7</a:t>
            </a:fld>
            <a:endParaRPr lang="en-US"/>
          </a:p>
        </p:txBody>
      </p:sp>
    </p:spTree>
    <p:extLst>
      <p:ext uri="{BB962C8B-B14F-4D97-AF65-F5344CB8AC3E}">
        <p14:creationId xmlns:p14="http://schemas.microsoft.com/office/powerpoint/2010/main" val="17978766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6908C-142C-9243-428A-D068385F25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041575-2229-CCCA-3015-5E5B2FBB6F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AF6419-A04C-54C8-277B-E008CE0BD5C8}"/>
              </a:ext>
            </a:extLst>
          </p:cNvPr>
          <p:cNvSpPr>
            <a:spLocks noGrp="1"/>
          </p:cNvSpPr>
          <p:nvPr>
            <p:ph type="body" idx="1"/>
          </p:nvPr>
        </p:nvSpPr>
        <p:spPr/>
        <p:txBody>
          <a:bodyPr>
            <a:normAutofit fontScale="77500" lnSpcReduction="20000"/>
          </a:bodyPr>
          <a:lstStyle/>
          <a:p>
            <a:r>
              <a:rPr lang="en-US" dirty="0"/>
              <a:t>There are no </a:t>
            </a:r>
            <a:r>
              <a:rPr lang="en-US" b="1" dirty="0"/>
              <a:t>explicit</a:t>
            </a:r>
            <a:r>
              <a:rPr lang="en-US" dirty="0"/>
              <a:t> conditions</a:t>
            </a:r>
            <a:r>
              <a:rPr lang="en-US" baseline="0" dirty="0"/>
              <a:t> on these statements, right?    Are there </a:t>
            </a:r>
            <a:r>
              <a:rPr lang="en-US" b="1" baseline="0" dirty="0"/>
              <a:t>implicit</a:t>
            </a:r>
            <a:r>
              <a:rPr lang="en-US" baseline="0" dirty="0"/>
              <a:t> conditions within the context of the scriptural text itself?</a:t>
            </a:r>
          </a:p>
          <a:p>
            <a:endParaRPr lang="en-US" baseline="0" dirty="0"/>
          </a:p>
          <a:p>
            <a:r>
              <a:rPr lang="en-US" baseline="0" dirty="0"/>
              <a:t>Is there </a:t>
            </a:r>
            <a:r>
              <a:rPr lang="en-US" b="1" baseline="0" dirty="0"/>
              <a:t>unconditional justification </a:t>
            </a:r>
            <a:r>
              <a:rPr lang="en-US" baseline="0" dirty="0"/>
              <a:t>for mankind in regards to Christ?</a:t>
            </a:r>
          </a:p>
          <a:p>
            <a:endParaRPr lang="en-US" baseline="0" dirty="0"/>
          </a:p>
          <a:p>
            <a:r>
              <a:rPr lang="en-US" baseline="0" dirty="0"/>
              <a:t>Is there </a:t>
            </a:r>
            <a:r>
              <a:rPr lang="en-US" b="1" baseline="0" dirty="0"/>
              <a:t>unconditional condemnation </a:t>
            </a:r>
            <a:r>
              <a:rPr lang="en-US" baseline="0" dirty="0"/>
              <a:t>for mankind in regards to Adam?</a:t>
            </a:r>
          </a:p>
          <a:p>
            <a:endParaRPr lang="en-US" baseline="0" dirty="0"/>
          </a:p>
          <a:p>
            <a:endParaRPr lang="en-US" baseline="0" dirty="0"/>
          </a:p>
          <a:p>
            <a:r>
              <a:rPr lang="en-US" u="sng" baseline="0" dirty="0"/>
              <a:t>Rom 11:11-15</a:t>
            </a:r>
            <a:r>
              <a:rPr lang="en-US" baseline="0" dirty="0"/>
              <a:t>  I ask then, they did not stumble into an irrevocable fall, did they? Absolutely not! But by their transgression salvation has come to the Gentiles, to make Israel jealous.  (12)  </a:t>
            </a:r>
            <a:r>
              <a:rPr lang="en-US" b="1" baseline="0" dirty="0"/>
              <a:t>Now if their transgression means riches for the world and their defeat means riches for the Gentiles, how much more will their full restoration bring?  </a:t>
            </a:r>
            <a:r>
              <a:rPr lang="en-US" baseline="0" dirty="0"/>
              <a:t>(13)  Now I am speaking to you Gentiles. Seeing that I am an apostle to the Gentiles, I magnify my ministry,  (14)  if somehow I could provoke my people to jealousy and save some of them.  (15)  For if their rejection is the reconciliation of the world, what will their acceptance be but life from the dead?</a:t>
            </a:r>
          </a:p>
          <a:p>
            <a:endParaRPr lang="en-US" baseline="0" dirty="0"/>
          </a:p>
          <a:p>
            <a:r>
              <a:rPr lang="en-US" u="sng" baseline="0" dirty="0"/>
              <a:t>Rom 11:25-33</a:t>
            </a:r>
            <a:r>
              <a:rPr lang="en-US" baseline="0" dirty="0"/>
              <a:t>  For I do not want you to be ignorant of this mystery, brothers and sisters, so that you may not be conceited: A partial hardening has happened to Israel until the full number of the Gentiles has come in.  (26)  And so all Israel will be saved, as it is written: “The Deliverer will come out of Zion; he will remove ungodliness from Jacob.  (27)  And this is my covenant with them, when I take away their sins.”  (28)  In regard to the gospel they are enemies for your sake, but in regard to election they are dearly loved for the sake of the fathers.  (29)  For the gifts and the call of God are irrevocable.  </a:t>
            </a:r>
            <a:r>
              <a:rPr lang="en-US" b="1" baseline="0" dirty="0"/>
              <a:t>(30)  Just as you were formerly disobedient to God, but have now received mercy due to their disobedience,  (31)  so they too have now been disobedient in order that, by the mercy shown to you, they too may now receive mercy.  </a:t>
            </a:r>
            <a:r>
              <a:rPr lang="en-US" baseline="0" dirty="0"/>
              <a:t>(32)  For God has consigned all people to disobedience so that he may show mercy to them all.  (33)  Oh, the depth of the riches and wisdom and knowledge of God! How unsearchable are his judgments and how unfathomable his ways!</a:t>
            </a:r>
          </a:p>
          <a:p>
            <a:endParaRPr lang="en-US" baseline="0" dirty="0"/>
          </a:p>
          <a:p>
            <a:r>
              <a:rPr lang="en-US" b="0" u="sng" baseline="0" dirty="0"/>
              <a:t>Rom 5:19</a:t>
            </a:r>
            <a:r>
              <a:rPr lang="en-US" b="1" baseline="0" dirty="0"/>
              <a:t>  For just as through the disobedience of the one man many were made sinners, so also through the obedience of one man many will be made righteous.</a:t>
            </a:r>
          </a:p>
        </p:txBody>
      </p:sp>
      <p:sp>
        <p:nvSpPr>
          <p:cNvPr id="4" name="Slide Number Placeholder 3">
            <a:extLst>
              <a:ext uri="{FF2B5EF4-FFF2-40B4-BE49-F238E27FC236}">
                <a16:creationId xmlns:a16="http://schemas.microsoft.com/office/drawing/2014/main" id="{6593898E-B31F-9FA7-64B5-4214C4AEE8D0}"/>
              </a:ext>
            </a:extLst>
          </p:cNvPr>
          <p:cNvSpPr>
            <a:spLocks noGrp="1"/>
          </p:cNvSpPr>
          <p:nvPr>
            <p:ph type="sldNum" sz="quarter" idx="10"/>
          </p:nvPr>
        </p:nvSpPr>
        <p:spPr/>
        <p:txBody>
          <a:bodyPr/>
          <a:lstStyle/>
          <a:p>
            <a:pPr>
              <a:defRPr/>
            </a:pPr>
            <a:fld id="{07776858-791E-4C8D-8FA3-473B3AFECFAC}" type="slidenum">
              <a:rPr lang="en-US" smtClean="0"/>
              <a:pPr>
                <a:defRPr/>
              </a:pPr>
              <a:t>8</a:t>
            </a:fld>
            <a:endParaRPr lang="en-US"/>
          </a:p>
        </p:txBody>
      </p:sp>
    </p:spTree>
    <p:extLst>
      <p:ext uri="{BB962C8B-B14F-4D97-AF65-F5344CB8AC3E}">
        <p14:creationId xmlns:p14="http://schemas.microsoft.com/office/powerpoint/2010/main" val="4034894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699E2-19D3-7E16-6AEC-25F413EC56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27E3B-A5CF-0FC5-E1AB-863D03314B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AC2870-34A0-0BDC-C209-56BAE47C0052}"/>
              </a:ext>
            </a:extLst>
          </p:cNvPr>
          <p:cNvSpPr>
            <a:spLocks noGrp="1"/>
          </p:cNvSpPr>
          <p:nvPr>
            <p:ph type="body" idx="1"/>
          </p:nvPr>
        </p:nvSpPr>
        <p:spPr/>
        <p:txBody>
          <a:bodyPr>
            <a:normAutofit fontScale="77500" lnSpcReduction="20000"/>
          </a:bodyPr>
          <a:lstStyle/>
          <a:p>
            <a:r>
              <a:rPr lang="en-US" sz="1400" b="1" dirty="0"/>
              <a:t>Here are interpretations</a:t>
            </a:r>
            <a:r>
              <a:rPr lang="en-US" sz="1400" b="1" baseline="0" dirty="0"/>
              <a:t> of the text given recognition of </a:t>
            </a:r>
            <a:r>
              <a:rPr lang="en-US" sz="1400" b="1" u="sng" baseline="0" dirty="0"/>
              <a:t>implicit</a:t>
            </a:r>
            <a:r>
              <a:rPr lang="en-US" sz="1400" b="1" baseline="0" dirty="0"/>
              <a:t> conditions</a:t>
            </a:r>
            <a:r>
              <a:rPr lang="en-US" sz="1400" baseline="0" dirty="0"/>
              <a:t>.   </a:t>
            </a:r>
            <a:r>
              <a:rPr lang="en-US" sz="1400" i="1" baseline="0" dirty="0"/>
              <a:t>How can we know that these conditions are truly implied?</a:t>
            </a:r>
          </a:p>
          <a:p>
            <a:endParaRPr lang="en-US" sz="1400" baseline="0" dirty="0"/>
          </a:p>
          <a:p>
            <a:r>
              <a:rPr lang="en-US" sz="1400" dirty="0"/>
              <a:t>The </a:t>
            </a:r>
            <a:r>
              <a:rPr lang="en-US" sz="1400" b="1" dirty="0"/>
              <a:t>conditions of faith are an already-held</a:t>
            </a:r>
            <a:r>
              <a:rPr lang="en-US" sz="1400" b="1" baseline="0" dirty="0"/>
              <a:t> position</a:t>
            </a:r>
            <a:r>
              <a:rPr lang="en-US" sz="1400" baseline="0" dirty="0"/>
              <a:t>, not based upon the lexical content of these passages (see Romans 5:12-21).</a:t>
            </a:r>
            <a:endParaRPr lang="en-US" sz="1400" dirty="0"/>
          </a:p>
          <a:p>
            <a:endParaRPr lang="en-US" sz="1400" dirty="0"/>
          </a:p>
          <a:p>
            <a:r>
              <a:rPr lang="en-US" sz="1400" u="sng" dirty="0"/>
              <a:t>Rom 5:12-21</a:t>
            </a:r>
            <a:r>
              <a:rPr lang="en-US" sz="1400" dirty="0"/>
              <a:t>  So then, just as sin entered the world through one man and death through sin, and so death spread to all people because all sinned –  (13)  for before the law was given, sin was in the world, but there is no accounting for sin when there is no law.  (14)  Yet death reigned from Adam until Moses even over those who did not sin in the same way that Adam (who is a type of the coming one) transgressed.  (15)  But the gracious gift is not like the transgression. For if the many died through the transgression of the one man, how much more did the grace of God and the gift by the grace of the one man Jesus Christ multiply to the many!  (16)  And the gift is not like the one who sinned. For judgment, resulting from the one transgression, led to condemnation, but the gracious gift from the many failures led to justification.  (17)  For if, by the transgression of the one man, death reigned through the one, how much more will those who receive the abundance of grace and of the gift of righteousness reign in life through the one, Jesus Christ!  (18)  Consequently, just as condemnation for all people came through one transgression, so too through the one righteous act came righteousness leading to life for all people.  (19)  For just as through the disobedience of the one man many were made sinners, so also through the obedience of one man many will be made righteous.  (20)  Now the law came in so that the transgression may increase, but where sin increased, grace multiplied all the more,  (21)  so that just as sin reigned in death, so also grace will reign through righteousness to eternal life through Jesus Christ our Lord.  </a:t>
            </a:r>
          </a:p>
          <a:p>
            <a:endParaRPr lang="en-US" sz="1400" dirty="0"/>
          </a:p>
          <a:p>
            <a:r>
              <a:rPr lang="en-US" sz="1400" b="1" kern="1200" dirty="0">
                <a:solidFill>
                  <a:schemeClr val="tx1"/>
                </a:solidFill>
                <a:effectLst/>
                <a:latin typeface="+mn-lt"/>
                <a:ea typeface="ＭＳ Ｐゴシック" pitchFamily="-106" charset="-128"/>
                <a:cs typeface="ＭＳ Ｐゴシック" pitchFamily="-106" charset="-128"/>
              </a:rPr>
              <a:t>The Main Point</a:t>
            </a:r>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If we step back and look at Romans 8-11 as a whole, Paul's primary concern is not:</a:t>
            </a: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"Can an individual determine his eternal destiny by free will?"</a:t>
            </a:r>
          </a:p>
          <a:p>
            <a:r>
              <a:rPr lang="en-US" sz="1400" kern="1200" dirty="0">
                <a:solidFill>
                  <a:schemeClr val="tx1"/>
                </a:solidFill>
                <a:effectLst/>
                <a:latin typeface="+mn-lt"/>
                <a:ea typeface="ＭＳ Ｐゴシック" pitchFamily="-106" charset="-128"/>
                <a:cs typeface="ＭＳ Ｐゴシック" pitchFamily="-106" charset="-128"/>
              </a:rPr>
              <a:t>Nor is it:</a:t>
            </a: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"Are individuals predestined to heaven or hell regardless of faith?"</a:t>
            </a:r>
          </a:p>
          <a:p>
            <a:r>
              <a:rPr lang="en-US" sz="1400" kern="1200" dirty="0">
                <a:solidFill>
                  <a:schemeClr val="tx1"/>
                </a:solidFill>
                <a:effectLst/>
                <a:latin typeface="+mn-lt"/>
                <a:ea typeface="ＭＳ Ｐゴシック" pitchFamily="-106" charset="-128"/>
                <a:cs typeface="ＭＳ Ｐゴシック" pitchFamily="-106" charset="-128"/>
              </a:rPr>
              <a:t>His primary concern is:</a:t>
            </a:r>
          </a:p>
          <a:p>
            <a:pPr marL="171450" indent="-171450">
              <a:buFont typeface="Arial" panose="020B0604020202020204" pitchFamily="34" charset="0"/>
              <a:buChar char="•"/>
            </a:pPr>
            <a:r>
              <a:rPr lang="en-US" sz="1400" b="1" kern="1200" dirty="0">
                <a:solidFill>
                  <a:schemeClr val="tx1"/>
                </a:solidFill>
                <a:effectLst/>
                <a:latin typeface="+mn-lt"/>
                <a:ea typeface="ＭＳ Ｐゴシック" pitchFamily="-106" charset="-128"/>
                <a:cs typeface="ＭＳ Ｐゴシック" pitchFamily="-106" charset="-128"/>
              </a:rPr>
              <a:t>Can God's redemptive purpose fail because Israel largely rejected Christ?</a:t>
            </a:r>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His answer is:</a:t>
            </a:r>
          </a:p>
          <a:p>
            <a:pPr marL="171450" indent="-171450">
              <a:buFont typeface="Arial" panose="020B0604020202020204" pitchFamily="34" charset="0"/>
              <a:buChar char="•"/>
            </a:pPr>
            <a:r>
              <a:rPr lang="en-US" sz="1400" b="1" kern="1200" dirty="0">
                <a:solidFill>
                  <a:schemeClr val="tx1"/>
                </a:solidFill>
                <a:effectLst/>
                <a:latin typeface="+mn-lt"/>
                <a:ea typeface="ＭＳ Ｐゴシック" pitchFamily="-106" charset="-128"/>
                <a:cs typeface="ＭＳ Ｐゴシック" pitchFamily="-106" charset="-128"/>
              </a:rPr>
              <a:t>No.</a:t>
            </a:r>
          </a:p>
          <a:p>
            <a:pPr marL="0" indent="0">
              <a:buFont typeface="Arial" panose="020B0604020202020204" pitchFamily="34" charset="0"/>
              <a:buNone/>
            </a:pPr>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b="1" kern="1200" dirty="0">
                <a:solidFill>
                  <a:schemeClr val="tx1"/>
                </a:solidFill>
                <a:effectLst/>
                <a:latin typeface="+mn-lt"/>
                <a:ea typeface="ＭＳ Ｐゴシック" pitchFamily="-106" charset="-128"/>
                <a:cs typeface="ＭＳ Ｐゴシック" pitchFamily="-106" charset="-128"/>
              </a:rPr>
              <a:t>God remains sovereign.</a:t>
            </a: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God's promises remain intact.</a:t>
            </a: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God is using:</a:t>
            </a:r>
          </a:p>
          <a:p>
            <a:pPr marL="171450" indent="-1714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Jewish belief,</a:t>
            </a:r>
          </a:p>
          <a:p>
            <a:pPr marL="171450" indent="-1714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Jewish unbelief,</a:t>
            </a:r>
          </a:p>
          <a:p>
            <a:pPr marL="171450" indent="-1714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Gentile faith,</a:t>
            </a:r>
          </a:p>
          <a:p>
            <a:pPr marL="171450" indent="-1714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Gentile inclusion,</a:t>
            </a: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to accomplish His purpose in Christ.</a:t>
            </a:r>
          </a:p>
          <a:p>
            <a:r>
              <a:rPr lang="en-US" sz="1400" kern="1200" dirty="0">
                <a:solidFill>
                  <a:schemeClr val="tx1"/>
                </a:solidFill>
                <a:effectLst/>
                <a:latin typeface="+mn-lt"/>
                <a:ea typeface="ＭＳ Ｐゴシック" pitchFamily="-106" charset="-128"/>
                <a:cs typeface="ＭＳ Ｐゴシック" pitchFamily="-106" charset="-128"/>
              </a:rPr>
              <a:t>Thus Romans 8-11 is fundamentally a defense of </a:t>
            </a:r>
            <a:r>
              <a:rPr lang="en-US" sz="1400" b="1" kern="1200" dirty="0">
                <a:solidFill>
                  <a:schemeClr val="tx1"/>
                </a:solidFill>
                <a:effectLst/>
                <a:latin typeface="+mn-lt"/>
                <a:ea typeface="ＭＳ Ｐゴシック" pitchFamily="-106" charset="-128"/>
                <a:cs typeface="ＭＳ Ｐゴシック" pitchFamily="-106" charset="-128"/>
              </a:rPr>
              <a:t>the faithfulness and sovereignty of God in salvation history</a:t>
            </a:r>
            <a:r>
              <a:rPr lang="en-US" sz="1400" kern="1200" dirty="0">
                <a:solidFill>
                  <a:schemeClr val="tx1"/>
                </a:solidFill>
                <a:effectLst/>
                <a:latin typeface="+mn-lt"/>
                <a:ea typeface="ＭＳ Ｐゴシック" pitchFamily="-106" charset="-128"/>
                <a:cs typeface="ＭＳ Ｐゴシック" pitchFamily="-106" charset="-128"/>
              </a:rPr>
              <a:t>. Human response remains real and morally significant, but the controlling theme is that God's plan does not depend on human success, human ancestry, or human merit. God's purpose stands, and He is working through the free actions, failures, faith, and unbelief of both Jews and Gentiles to bring about the salvation He promised from the beginning.</a:t>
            </a:r>
          </a:p>
          <a:p>
            <a:r>
              <a:rPr lang="en-US" sz="1400" kern="1200" dirty="0">
                <a:solidFill>
                  <a:schemeClr val="tx1"/>
                </a:solidFill>
                <a:effectLst/>
                <a:latin typeface="+mn-lt"/>
                <a:ea typeface="ＭＳ Ｐゴシック" pitchFamily="-106" charset="-128"/>
                <a:cs typeface="ＭＳ Ｐゴシック" pitchFamily="-106" charset="-128"/>
              </a:rPr>
              <a:t> </a:t>
            </a:r>
          </a:p>
          <a:p>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b="1" kern="1200" dirty="0">
                <a:solidFill>
                  <a:schemeClr val="tx1"/>
                </a:solidFill>
                <a:effectLst/>
                <a:latin typeface="+mn-lt"/>
                <a:ea typeface="ＭＳ Ｐゴシック" pitchFamily="-106" charset="-128"/>
                <a:cs typeface="ＭＳ Ｐゴシック" pitchFamily="-106" charset="-128"/>
              </a:rPr>
              <a:t>The Restoration Movement's soteriology (theory on salvation) can be summarized as follows:</a:t>
            </a:r>
          </a:p>
          <a:p>
            <a:r>
              <a:rPr lang="en-US" sz="1400" b="1" kern="1200" dirty="0">
                <a:solidFill>
                  <a:schemeClr val="tx1"/>
                </a:solidFill>
                <a:effectLst/>
                <a:latin typeface="+mn-lt"/>
                <a:ea typeface="ＭＳ Ｐゴシック" pitchFamily="-106" charset="-128"/>
                <a:cs typeface="ＭＳ Ｐゴシック" pitchFamily="-106" charset="-128"/>
              </a:rPr>
              <a:t>God</a:t>
            </a:r>
            <a:endParaRPr lang="en-US" sz="1400" kern="1200" dirty="0">
              <a:solidFill>
                <a:schemeClr val="tx1"/>
              </a:solidFill>
              <a:effectLst/>
              <a:latin typeface="+mn-lt"/>
              <a:ea typeface="ＭＳ Ｐゴシック" pitchFamily="-106" charset="-128"/>
              <a:cs typeface="ＭＳ Ｐゴシック" pitchFamily="-106" charset="-128"/>
            </a:endParaRPr>
          </a:p>
          <a:p>
            <a:pPr marL="285750" indent="-2857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Loves all people.</a:t>
            </a:r>
          </a:p>
          <a:p>
            <a:pPr marL="285750" indent="-2857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Desires all to be saved.</a:t>
            </a:r>
          </a:p>
          <a:p>
            <a:pPr marL="285750" indent="-2857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Sent Christ for the whole world.</a:t>
            </a:r>
          </a:p>
          <a:p>
            <a:r>
              <a:rPr lang="en-US" sz="1400" b="1" kern="1200" dirty="0">
                <a:solidFill>
                  <a:schemeClr val="tx1"/>
                </a:solidFill>
                <a:effectLst/>
                <a:latin typeface="+mn-lt"/>
                <a:ea typeface="ＭＳ Ｐゴシック" pitchFamily="-106" charset="-128"/>
                <a:cs typeface="ＭＳ Ｐゴシック" pitchFamily="-106" charset="-128"/>
              </a:rPr>
              <a:t>Christ</a:t>
            </a:r>
            <a:endParaRPr lang="en-US" sz="1400" kern="1200" dirty="0">
              <a:solidFill>
                <a:schemeClr val="tx1"/>
              </a:solidFill>
              <a:effectLst/>
              <a:latin typeface="+mn-lt"/>
              <a:ea typeface="ＭＳ Ｐゴシック" pitchFamily="-106" charset="-128"/>
              <a:cs typeface="ＭＳ Ｐゴシック" pitchFamily="-106" charset="-128"/>
            </a:endParaRPr>
          </a:p>
          <a:p>
            <a:pPr marL="285750" indent="-2857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Made a complete once-for-all atonement (i.e. abolished the power of) for sin.</a:t>
            </a:r>
          </a:p>
          <a:p>
            <a:pPr marL="285750" indent="-2857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Is the sole basis of salvation.</a:t>
            </a:r>
          </a:p>
          <a:p>
            <a:r>
              <a:rPr lang="en-US" sz="1400" b="1" kern="1200" dirty="0">
                <a:solidFill>
                  <a:schemeClr val="tx1"/>
                </a:solidFill>
                <a:effectLst/>
                <a:latin typeface="+mn-lt"/>
                <a:ea typeface="ＭＳ Ｐゴシック" pitchFamily="-106" charset="-128"/>
                <a:cs typeface="ＭＳ Ｐゴシック" pitchFamily="-106" charset="-128"/>
              </a:rPr>
              <a:t>Man</a:t>
            </a:r>
            <a:endParaRPr lang="en-US" sz="1400" kern="1200" dirty="0">
              <a:solidFill>
                <a:schemeClr val="tx1"/>
              </a:solidFill>
              <a:effectLst/>
              <a:latin typeface="+mn-lt"/>
              <a:ea typeface="ＭＳ Ｐゴシック" pitchFamily="-106" charset="-128"/>
              <a:cs typeface="ＭＳ Ｐゴシック" pitchFamily="-106" charset="-128"/>
            </a:endParaRPr>
          </a:p>
          <a:p>
            <a:pPr marL="285750" indent="-2857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Is fallen and sinful.</a:t>
            </a:r>
          </a:p>
          <a:p>
            <a:pPr marL="285750" indent="-2857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Retains the ability to respond to God's gospel.</a:t>
            </a:r>
          </a:p>
          <a:p>
            <a:r>
              <a:rPr lang="en-US" sz="1400" b="1" kern="1200" dirty="0">
                <a:solidFill>
                  <a:schemeClr val="tx1"/>
                </a:solidFill>
                <a:effectLst/>
                <a:latin typeface="+mn-lt"/>
                <a:ea typeface="ＭＳ Ｐゴシック" pitchFamily="-106" charset="-128"/>
                <a:cs typeface="ＭＳ Ｐゴシック" pitchFamily="-106" charset="-128"/>
              </a:rPr>
              <a:t>Holy Spirit</a:t>
            </a:r>
            <a:endParaRPr lang="en-US" sz="1400" kern="1200" dirty="0">
              <a:solidFill>
                <a:schemeClr val="tx1"/>
              </a:solidFill>
              <a:effectLst/>
              <a:latin typeface="+mn-lt"/>
              <a:ea typeface="ＭＳ Ｐゴシック" pitchFamily="-106" charset="-128"/>
              <a:cs typeface="ＭＳ Ｐゴシック" pitchFamily="-106" charset="-128"/>
            </a:endParaRPr>
          </a:p>
          <a:p>
            <a:pPr marL="285750" indent="-2857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Works primarily through the inspired Word.</a:t>
            </a:r>
          </a:p>
          <a:p>
            <a:pPr marL="285750" indent="-2857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Calls people through the gospel message.</a:t>
            </a:r>
          </a:p>
          <a:p>
            <a:r>
              <a:rPr lang="en-US" sz="1400" b="1" kern="1200" dirty="0">
                <a:solidFill>
                  <a:schemeClr val="tx1"/>
                </a:solidFill>
                <a:effectLst/>
                <a:latin typeface="+mn-lt"/>
                <a:ea typeface="ＭＳ Ｐゴシック" pitchFamily="-106" charset="-128"/>
                <a:cs typeface="ＭＳ Ｐゴシック" pitchFamily="-106" charset="-128"/>
              </a:rPr>
              <a:t>Conversion</a:t>
            </a:r>
            <a:endParaRPr lang="en-US" sz="1400" kern="1200" dirty="0">
              <a:solidFill>
                <a:schemeClr val="tx1"/>
              </a:solidFill>
              <a:effectLst/>
              <a:latin typeface="+mn-lt"/>
              <a:ea typeface="ＭＳ Ｐゴシック" pitchFamily="-106" charset="-128"/>
              <a:cs typeface="ＭＳ Ｐゴシック" pitchFamily="-106" charset="-128"/>
            </a:endParaRPr>
          </a:p>
          <a:p>
            <a:pPr marL="285750" indent="-2857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Hearing</a:t>
            </a:r>
          </a:p>
          <a:p>
            <a:pPr marL="285750" indent="-2857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Faith</a:t>
            </a:r>
          </a:p>
          <a:p>
            <a:pPr marL="285750" indent="-2857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Repentance</a:t>
            </a:r>
          </a:p>
          <a:p>
            <a:pPr marL="285750" indent="-2857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Confession</a:t>
            </a:r>
          </a:p>
          <a:p>
            <a:pPr marL="285750" indent="-2857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Baptism</a:t>
            </a:r>
          </a:p>
          <a:p>
            <a:r>
              <a:rPr lang="en-US" sz="1400" b="1" kern="1200" dirty="0">
                <a:solidFill>
                  <a:schemeClr val="tx1"/>
                </a:solidFill>
                <a:effectLst/>
                <a:latin typeface="+mn-lt"/>
                <a:ea typeface="ＭＳ Ｐゴシック" pitchFamily="-106" charset="-128"/>
                <a:cs typeface="ＭＳ Ｐゴシック" pitchFamily="-106" charset="-128"/>
              </a:rPr>
              <a:t>Salvation</a:t>
            </a:r>
            <a:endParaRPr lang="en-US" sz="1400" kern="1200" dirty="0">
              <a:solidFill>
                <a:schemeClr val="tx1"/>
              </a:solidFill>
              <a:effectLst/>
              <a:latin typeface="+mn-lt"/>
              <a:ea typeface="ＭＳ Ｐゴシック" pitchFamily="-106" charset="-128"/>
              <a:cs typeface="ＭＳ Ｐゴシック" pitchFamily="-106" charset="-128"/>
            </a:endParaRPr>
          </a:p>
          <a:p>
            <a:pPr marL="285750" indent="-2857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Entirely dependent upon God's grace.</a:t>
            </a:r>
          </a:p>
          <a:p>
            <a:pPr marL="285750" indent="-2857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Received through obedient faith.</a:t>
            </a:r>
          </a:p>
          <a:p>
            <a:pPr marL="285750" indent="-2857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Not earned by works.</a:t>
            </a:r>
          </a:p>
          <a:p>
            <a:r>
              <a:rPr lang="en-US" sz="1400" b="1" kern="1200" dirty="0">
                <a:solidFill>
                  <a:schemeClr val="tx1"/>
                </a:solidFill>
                <a:effectLst/>
                <a:latin typeface="+mn-lt"/>
                <a:ea typeface="ＭＳ Ｐゴシック" pitchFamily="-106" charset="-128"/>
                <a:cs typeface="ＭＳ Ｐゴシック" pitchFamily="-106" charset="-128"/>
              </a:rPr>
              <a:t>Sanctification</a:t>
            </a:r>
            <a:endParaRPr lang="en-US" sz="1400" kern="1200" dirty="0">
              <a:solidFill>
                <a:schemeClr val="tx1"/>
              </a:solidFill>
              <a:effectLst/>
              <a:latin typeface="+mn-lt"/>
              <a:ea typeface="ＭＳ Ｐゴシック" pitchFamily="-106" charset="-128"/>
              <a:cs typeface="ＭＳ Ｐゴシック" pitchFamily="-106" charset="-128"/>
            </a:endParaRPr>
          </a:p>
          <a:p>
            <a:pPr marL="285750" indent="-2857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Continues throughout the Christian life.</a:t>
            </a:r>
          </a:p>
          <a:p>
            <a:pPr marL="285750" indent="-2857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Requires ongoing faithfulness and growth.</a:t>
            </a:r>
          </a:p>
          <a:p>
            <a:pPr rtl="0" fontAlgn="ctr"/>
            <a:endParaRPr lang="en-US" sz="1400" kern="1200" dirty="0">
              <a:solidFill>
                <a:schemeClr val="tx1"/>
              </a:solidFill>
              <a:effectLst/>
              <a:latin typeface="+mn-lt"/>
              <a:ea typeface="ＭＳ Ｐゴシック" pitchFamily="-106" charset="-128"/>
              <a:cs typeface="ＭＳ Ｐゴシック" pitchFamily="-106" charset="-128"/>
            </a:endParaRPr>
          </a:p>
          <a:p>
            <a:pPr rtl="0" fontAlgn="ctr"/>
            <a:r>
              <a:rPr lang="en-US" sz="1400" kern="1200" dirty="0">
                <a:solidFill>
                  <a:schemeClr val="tx1"/>
                </a:solidFill>
                <a:effectLst/>
                <a:latin typeface="+mn-lt"/>
                <a:ea typeface="ＭＳ Ｐゴシック" pitchFamily="-106" charset="-128"/>
                <a:cs typeface="ＭＳ Ｐゴシック" pitchFamily="-106" charset="-128"/>
              </a:rPr>
              <a:t>The central conviction is that God genuinely offers salvation to all people through the gospel, and that every person is responsible to respond in faith and obedience to that offer.</a:t>
            </a:r>
          </a:p>
          <a:p>
            <a:endParaRPr lang="en-US" sz="1400" dirty="0"/>
          </a:p>
        </p:txBody>
      </p:sp>
      <p:sp>
        <p:nvSpPr>
          <p:cNvPr id="4" name="Slide Number Placeholder 3">
            <a:extLst>
              <a:ext uri="{FF2B5EF4-FFF2-40B4-BE49-F238E27FC236}">
                <a16:creationId xmlns:a16="http://schemas.microsoft.com/office/drawing/2014/main" id="{4742D1DD-66E0-69CF-4935-7A9C7F05ED3B}"/>
              </a:ext>
            </a:extLst>
          </p:cNvPr>
          <p:cNvSpPr>
            <a:spLocks noGrp="1"/>
          </p:cNvSpPr>
          <p:nvPr>
            <p:ph type="sldNum" sz="quarter" idx="10"/>
          </p:nvPr>
        </p:nvSpPr>
        <p:spPr/>
        <p:txBody>
          <a:bodyPr/>
          <a:lstStyle/>
          <a:p>
            <a:pPr>
              <a:defRPr/>
            </a:pPr>
            <a:fld id="{07776858-791E-4C8D-8FA3-473B3AFECFAC}" type="slidenum">
              <a:rPr lang="en-US" smtClean="0"/>
              <a:pPr>
                <a:defRPr/>
              </a:pPr>
              <a:t>9</a:t>
            </a:fld>
            <a:endParaRPr lang="en-US"/>
          </a:p>
        </p:txBody>
      </p:sp>
    </p:spTree>
    <p:extLst>
      <p:ext uri="{BB962C8B-B14F-4D97-AF65-F5344CB8AC3E}">
        <p14:creationId xmlns:p14="http://schemas.microsoft.com/office/powerpoint/2010/main" val="6976729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lang="en-US" sz="4400" b="1" kern="1200" dirty="0">
                <a:solidFill>
                  <a:schemeClr val="tx2"/>
                </a:solidFill>
                <a:latin typeface="+mj-lt"/>
                <a:ea typeface="ＭＳ Ｐゴシック" pitchFamily="34" charset="-128"/>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4243918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p:cNvSpPr>
            <a:spLocks noGrp="1"/>
          </p:cNvSpPr>
          <p:nvPr>
            <p:ph type="sldNum" sz="quarter" idx="11"/>
          </p:nvPr>
        </p:nvSpPr>
        <p:spPr/>
        <p:txBody>
          <a:bodyPr/>
          <a:lstStyle>
            <a:lvl1pPr algn="ctr">
              <a:defRPr sz="1400">
                <a:solidFill>
                  <a:schemeClr val="tx2"/>
                </a:solidFill>
                <a:latin typeface="Arial" pitchFamily="34" charset="0"/>
              </a:defRPr>
            </a:lvl1pPr>
          </a:lstStyle>
          <a:p>
            <a:pPr>
              <a:defRPr/>
            </a:pPr>
            <a:fld id="{90314B7E-EB23-4DAB-A3F0-0F7BBB6CDA33}" type="slidenum">
              <a:rPr lang="en-US"/>
              <a:pPr>
                <a:defRPr/>
              </a:pPr>
              <a:t>‹#›</a:t>
            </a:fld>
            <a:endParaRPr lang="en-US" dirty="0"/>
          </a:p>
        </p:txBody>
      </p:sp>
    </p:spTree>
    <p:extLst>
      <p:ext uri="{BB962C8B-B14F-4D97-AF65-F5344CB8AC3E}">
        <p14:creationId xmlns:p14="http://schemas.microsoft.com/office/powerpoint/2010/main" val="534741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dirty="0"/>
              <a:t>Click to edit Master title style</a:t>
            </a:r>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p:cNvSpPr>
            <a:spLocks noGrp="1"/>
          </p:cNvSpPr>
          <p:nvPr>
            <p:ph type="sldNum" sz="quarter" idx="11"/>
          </p:nvPr>
        </p:nvSpPr>
        <p:spPr/>
        <p:txBody>
          <a:bodyPr/>
          <a:lstStyle>
            <a:lvl1pPr algn="r">
              <a:defRPr sz="1400">
                <a:solidFill>
                  <a:schemeClr val="tx2"/>
                </a:solidFill>
                <a:latin typeface="Arial" pitchFamily="34" charset="0"/>
              </a:defRPr>
            </a:lvl1pPr>
          </a:lstStyle>
          <a:p>
            <a:pPr>
              <a:defRPr/>
            </a:pPr>
            <a:fld id="{9325C3C2-9E54-411C-9683-C950CD1738F8}" type="slidenum">
              <a:rPr lang="en-US"/>
              <a:pPr>
                <a:defRPr/>
              </a:pPr>
              <a:t>‹#›</a:t>
            </a:fld>
            <a:endParaRPr lang="en-US" dirty="0"/>
          </a:p>
        </p:txBody>
      </p:sp>
    </p:spTree>
    <p:extLst>
      <p:ext uri="{BB962C8B-B14F-4D97-AF65-F5344CB8AC3E}">
        <p14:creationId xmlns:p14="http://schemas.microsoft.com/office/powerpoint/2010/main" val="36237346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7"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lide Number Placeholder 5"/>
          <p:cNvSpPr>
            <a:spLocks noGrp="1"/>
          </p:cNvSpPr>
          <p:nvPr>
            <p:ph type="sldNum" sz="quarter" idx="4"/>
          </p:nvPr>
        </p:nvSpPr>
        <p:spPr>
          <a:xfrm>
            <a:off x="4267200" y="6416675"/>
            <a:ext cx="685800" cy="365125"/>
          </a:xfrm>
          <a:prstGeom prst="rect">
            <a:avLst/>
          </a:prstGeom>
        </p:spPr>
        <p:txBody>
          <a:bodyPr anchor="b"/>
          <a:lstStyle>
            <a:lvl1pPr algn="ctr">
              <a:defRPr sz="1400">
                <a:solidFill>
                  <a:schemeClr val="tx2"/>
                </a:solidFill>
                <a:latin typeface="Arial" pitchFamily="34" charset="0"/>
              </a:defRPr>
            </a:lvl1pPr>
          </a:lstStyle>
          <a:p>
            <a:pPr>
              <a:defRPr/>
            </a:pPr>
            <a:fld id="{2D225349-B1F9-464A-9CC5-D5DDA255FDAC}"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4149" r:id="rId1"/>
    <p:sldLayoutId id="2147484150" r:id="rId2"/>
  </p:sldLayoutIdLst>
  <p:hf hdr="0"/>
  <p:txStyles>
    <p:title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lide Number Placeholder 5"/>
          <p:cNvSpPr>
            <a:spLocks noGrp="1"/>
          </p:cNvSpPr>
          <p:nvPr>
            <p:ph type="sldNum" sz="quarter" idx="4"/>
          </p:nvPr>
        </p:nvSpPr>
        <p:spPr>
          <a:xfrm>
            <a:off x="8077200" y="6416675"/>
            <a:ext cx="652463" cy="365125"/>
          </a:xfrm>
          <a:prstGeom prst="rect">
            <a:avLst/>
          </a:prstGeom>
        </p:spPr>
        <p:txBody>
          <a:bodyPr anchor="b"/>
          <a:lstStyle>
            <a:lvl1pPr algn="r">
              <a:defRPr sz="1400">
                <a:solidFill>
                  <a:schemeClr val="tx2"/>
                </a:solidFill>
                <a:latin typeface="Arial" pitchFamily="34" charset="0"/>
              </a:defRPr>
            </a:lvl1pPr>
          </a:lstStyle>
          <a:p>
            <a:pPr>
              <a:defRPr/>
            </a:pPr>
            <a:fld id="{D1036DDD-C097-4A4A-B40F-B92C82C562D7}"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4151" r:id="rId1"/>
  </p:sldLayoutIdLst>
  <p:hf hdr="0"/>
  <p:txStyles>
    <p:titleStyle>
      <a:lvl1pPr algn="ctr" rtl="0" eaLnBrk="0" fontAlgn="base" hangingPunct="0">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0" fontAlgn="base" hangingPunct="0">
        <a:spcBef>
          <a:spcPct val="0"/>
        </a:spcBef>
        <a:spcAft>
          <a:spcPct val="0"/>
        </a:spcAft>
        <a:defRPr sz="4400" b="1">
          <a:solidFill>
            <a:schemeClr val="tx2"/>
          </a:solidFill>
          <a:latin typeface="Arial" charset="0"/>
          <a:ea typeface="ＭＳ Ｐゴシック" pitchFamily="34" charset="-128"/>
        </a:defRPr>
      </a:lvl2pPr>
      <a:lvl3pPr algn="ctr" rtl="0" eaLnBrk="0" fontAlgn="base" hangingPunct="0">
        <a:spcBef>
          <a:spcPct val="0"/>
        </a:spcBef>
        <a:spcAft>
          <a:spcPct val="0"/>
        </a:spcAft>
        <a:defRPr sz="4400" b="1">
          <a:solidFill>
            <a:schemeClr val="tx2"/>
          </a:solidFill>
          <a:latin typeface="Arial" charset="0"/>
          <a:ea typeface="ＭＳ Ｐゴシック" pitchFamily="34" charset="-128"/>
        </a:defRPr>
      </a:lvl3pPr>
      <a:lvl4pPr algn="ctr" rtl="0" eaLnBrk="0" fontAlgn="base" hangingPunct="0">
        <a:spcBef>
          <a:spcPct val="0"/>
        </a:spcBef>
        <a:spcAft>
          <a:spcPct val="0"/>
        </a:spcAft>
        <a:defRPr sz="4400" b="1">
          <a:solidFill>
            <a:schemeClr val="tx2"/>
          </a:solidFill>
          <a:latin typeface="Arial" charset="0"/>
          <a:ea typeface="ＭＳ Ｐゴシック" pitchFamily="34" charset="-128"/>
        </a:defRPr>
      </a:lvl4pPr>
      <a:lvl5pPr algn="ctr" rtl="0" eaLnBrk="0" fontAlgn="base" hangingPunct="0">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tinyurl.com/RomeGospel"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tinyurl.com/TeachTheWord"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ctrTitle"/>
          </p:nvPr>
        </p:nvSpPr>
        <p:spPr>
          <a:xfrm>
            <a:off x="685800" y="457200"/>
            <a:ext cx="7772400" cy="1470025"/>
          </a:xfrm>
        </p:spPr>
        <p:txBody>
          <a:bodyPr/>
          <a:lstStyle/>
          <a:p>
            <a:pPr eaLnBrk="1" hangingPunct="1"/>
            <a:r>
              <a:rPr lang="en-US" sz="6600" dirty="0"/>
              <a:t>Romans</a:t>
            </a:r>
            <a:endParaRPr dirty="0"/>
          </a:p>
        </p:txBody>
      </p:sp>
      <p:sp>
        <p:nvSpPr>
          <p:cNvPr id="6147" name="Subtitle 2"/>
          <p:cNvSpPr>
            <a:spLocks noGrp="1"/>
          </p:cNvSpPr>
          <p:nvPr>
            <p:ph type="subTitle" idx="1"/>
          </p:nvPr>
        </p:nvSpPr>
        <p:spPr>
          <a:xfrm>
            <a:off x="533400" y="1927225"/>
            <a:ext cx="8229600" cy="3787776"/>
          </a:xfrm>
        </p:spPr>
        <p:txBody>
          <a:bodyPr/>
          <a:lstStyle/>
          <a:p>
            <a:pPr eaLnBrk="1" hangingPunct="1"/>
            <a:r>
              <a:rPr lang="en-US" dirty="0"/>
              <a:t>What is God’s purpose with Israel?</a:t>
            </a:r>
          </a:p>
          <a:p>
            <a:pPr eaLnBrk="1" hangingPunct="1"/>
            <a:r>
              <a:rPr lang="en-US" dirty="0"/>
              <a:t>Have God’s Promises Failed?</a:t>
            </a:r>
          </a:p>
          <a:p>
            <a:pPr eaLnBrk="1" hangingPunct="1"/>
            <a:r>
              <a:rPr lang="en-US" dirty="0"/>
              <a:t>God’s Sovereignty vs. Human Responsibility?</a:t>
            </a:r>
          </a:p>
          <a:p>
            <a:pPr eaLnBrk="1" hangingPunct="1"/>
            <a:r>
              <a:rPr lang="en-US" dirty="0"/>
              <a:t>Chapter 8-11</a:t>
            </a:r>
          </a:p>
          <a:p>
            <a:r>
              <a:rPr lang="en-US" dirty="0">
                <a:hlinkClick r:id="rId3"/>
              </a:rPr>
              <a:t>https://tinyurl.com/RomeGospel</a:t>
            </a:r>
            <a:endParaRPr lang="en-US" dirty="0"/>
          </a:p>
          <a:p>
            <a:r>
              <a:rPr lang="en-US" dirty="0">
                <a:hlinkClick r:id="rId4"/>
              </a:rPr>
              <a:t>https://tinyurl.com/TeachTheWord</a:t>
            </a:r>
            <a:endParaRPr lang="en-US" dirty="0"/>
          </a:p>
          <a:p>
            <a:pPr eaLnBrk="1" hangingPunct="1"/>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bwMode="auto">
          <a:xfrm>
            <a:off x="3810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Faith, Hope, and Love</a:t>
            </a:r>
            <a:br>
              <a:rPr lang="en-US" dirty="0"/>
            </a:br>
            <a:r>
              <a:rPr lang="en-US" sz="2400" dirty="0">
                <a:solidFill>
                  <a:schemeClr val="tx2">
                    <a:lumMod val="60000"/>
                    <a:lumOff val="40000"/>
                  </a:schemeClr>
                </a:solidFill>
              </a:rPr>
              <a:t>The Outline - Review</a:t>
            </a:r>
          </a:p>
        </p:txBody>
      </p:sp>
      <p:sp>
        <p:nvSpPr>
          <p:cNvPr id="6" name="TextBox 5"/>
          <p:cNvSpPr txBox="1"/>
          <p:nvPr/>
        </p:nvSpPr>
        <p:spPr>
          <a:xfrm>
            <a:off x="521208" y="1447800"/>
            <a:ext cx="8001000" cy="1323439"/>
          </a:xfrm>
          <a:prstGeom prst="rect">
            <a:avLst/>
          </a:prstGeom>
          <a:noFill/>
        </p:spPr>
        <p:txBody>
          <a:bodyPr wrap="square" rtlCol="0">
            <a:spAutoFit/>
          </a:bodyPr>
          <a:lstStyle/>
          <a:p>
            <a:r>
              <a:rPr lang="en-US" sz="2000" b="1" i="1" dirty="0"/>
              <a:t>FAITH</a:t>
            </a:r>
            <a:r>
              <a:rPr lang="en-US" sz="2000" i="1" dirty="0"/>
              <a:t>, chapters 1-8</a:t>
            </a:r>
          </a:p>
          <a:p>
            <a:pPr marL="342900" indent="-342900">
              <a:buFont typeface="Arial" pitchFamily="34" charset="0"/>
              <a:buChar char="•"/>
            </a:pPr>
            <a:r>
              <a:rPr lang="en-US" sz="2000" i="1" dirty="0"/>
              <a:t>1-3 Sin (GOD’s great solution – the </a:t>
            </a:r>
            <a:r>
              <a:rPr lang="en-US" sz="2000" b="1" i="1" dirty="0"/>
              <a:t>Father</a:t>
            </a:r>
            <a:r>
              <a:rPr lang="en-US" sz="2000" i="1" dirty="0"/>
              <a:t> provides) </a:t>
            </a:r>
          </a:p>
          <a:p>
            <a:pPr marL="342900" indent="-342900">
              <a:buFont typeface="Arial" pitchFamily="34" charset="0"/>
              <a:buChar char="•"/>
            </a:pPr>
            <a:r>
              <a:rPr lang="en-US" sz="2000" i="1" dirty="0"/>
              <a:t>4-5 Salvation (GOD’s great gift – the </a:t>
            </a:r>
            <a:r>
              <a:rPr lang="en-US" sz="2000" b="1" i="1" dirty="0"/>
              <a:t>Son</a:t>
            </a:r>
            <a:r>
              <a:rPr lang="en-US" sz="2000" i="1" dirty="0"/>
              <a:t> provides)</a:t>
            </a:r>
          </a:p>
          <a:p>
            <a:pPr marL="342900" indent="-342900">
              <a:buFont typeface="Arial" pitchFamily="34" charset="0"/>
              <a:buChar char="•"/>
            </a:pPr>
            <a:r>
              <a:rPr lang="en-US" sz="2000" i="1" dirty="0"/>
              <a:t>6-8 Sanctification (GOD’s great work – the </a:t>
            </a:r>
            <a:r>
              <a:rPr lang="en-US" sz="2000" b="1" i="1" dirty="0"/>
              <a:t>Spirit</a:t>
            </a:r>
            <a:r>
              <a:rPr lang="en-US" sz="2000" i="1" dirty="0"/>
              <a:t> provides)</a:t>
            </a:r>
          </a:p>
        </p:txBody>
      </p:sp>
      <p:sp>
        <p:nvSpPr>
          <p:cNvPr id="7" name="TextBox 6"/>
          <p:cNvSpPr txBox="1"/>
          <p:nvPr/>
        </p:nvSpPr>
        <p:spPr>
          <a:xfrm>
            <a:off x="519031" y="3137595"/>
            <a:ext cx="8001000" cy="1323439"/>
          </a:xfrm>
          <a:prstGeom prst="rect">
            <a:avLst/>
          </a:prstGeom>
          <a:noFill/>
        </p:spPr>
        <p:txBody>
          <a:bodyPr wrap="square" rtlCol="0">
            <a:spAutoFit/>
          </a:bodyPr>
          <a:lstStyle/>
          <a:p>
            <a:r>
              <a:rPr lang="en-US" sz="2000" b="1" i="1" dirty="0"/>
              <a:t>HOPE</a:t>
            </a:r>
            <a:r>
              <a:rPr lang="en-US" sz="2000" i="1" dirty="0"/>
              <a:t>, chapters 9-11</a:t>
            </a:r>
          </a:p>
          <a:p>
            <a:pPr marL="342900" indent="-342900">
              <a:buFont typeface="Arial" pitchFamily="34" charset="0"/>
              <a:buChar char="•"/>
            </a:pPr>
            <a:r>
              <a:rPr lang="en-US" sz="2000" i="1" dirty="0"/>
              <a:t>9 Israel – Past</a:t>
            </a:r>
          </a:p>
          <a:p>
            <a:pPr marL="342900" indent="-342900">
              <a:buFont typeface="Arial" pitchFamily="34" charset="0"/>
              <a:buChar char="•"/>
            </a:pPr>
            <a:r>
              <a:rPr lang="en-US" sz="2000" i="1" dirty="0"/>
              <a:t>10 Israel – Present</a:t>
            </a:r>
          </a:p>
          <a:p>
            <a:pPr marL="342900" indent="-342900">
              <a:buFont typeface="Arial" pitchFamily="34" charset="0"/>
              <a:buChar char="•"/>
            </a:pPr>
            <a:r>
              <a:rPr lang="en-US" sz="2000" i="1" dirty="0"/>
              <a:t>11 Israel - Future</a:t>
            </a:r>
          </a:p>
        </p:txBody>
      </p:sp>
      <p:sp>
        <p:nvSpPr>
          <p:cNvPr id="8" name="TextBox 7"/>
          <p:cNvSpPr txBox="1"/>
          <p:nvPr/>
        </p:nvSpPr>
        <p:spPr>
          <a:xfrm>
            <a:off x="571500" y="4724400"/>
            <a:ext cx="8001000" cy="1323439"/>
          </a:xfrm>
          <a:prstGeom prst="rect">
            <a:avLst/>
          </a:prstGeom>
          <a:noFill/>
        </p:spPr>
        <p:txBody>
          <a:bodyPr wrap="square" rtlCol="0">
            <a:spAutoFit/>
          </a:bodyPr>
          <a:lstStyle/>
          <a:p>
            <a:r>
              <a:rPr lang="en-US" sz="2000" b="1" i="1" dirty="0"/>
              <a:t>LOVE</a:t>
            </a:r>
            <a:r>
              <a:rPr lang="en-US" sz="2000" i="1" dirty="0"/>
              <a:t>, chapters 12-16</a:t>
            </a:r>
          </a:p>
          <a:p>
            <a:pPr marL="342900" indent="-342900">
              <a:buFont typeface="Arial" pitchFamily="34" charset="0"/>
              <a:buChar char="•"/>
            </a:pPr>
            <a:r>
              <a:rPr lang="en-US" sz="2000" i="1" dirty="0"/>
              <a:t>Practical Christian Living</a:t>
            </a:r>
          </a:p>
          <a:p>
            <a:pPr marL="342900" indent="-342900">
              <a:buFont typeface="Arial" pitchFamily="34" charset="0"/>
              <a:buChar char="•"/>
            </a:pPr>
            <a:r>
              <a:rPr lang="en-US" sz="2000" i="1" dirty="0"/>
              <a:t>The </a:t>
            </a:r>
            <a:r>
              <a:rPr lang="en-US" sz="2000" b="1" i="1" dirty="0"/>
              <a:t>Just</a:t>
            </a:r>
            <a:r>
              <a:rPr lang="en-US" sz="2000" i="1" dirty="0"/>
              <a:t> shall </a:t>
            </a:r>
            <a:r>
              <a:rPr lang="en-US" sz="2000" b="1" i="1" dirty="0"/>
              <a:t>live</a:t>
            </a:r>
            <a:r>
              <a:rPr lang="en-US" sz="2000" i="1" dirty="0"/>
              <a:t> by </a:t>
            </a:r>
            <a:r>
              <a:rPr lang="en-US" sz="2000" b="1" i="1" dirty="0"/>
              <a:t>Faith</a:t>
            </a:r>
            <a:r>
              <a:rPr lang="en-US" sz="2000" i="1" dirty="0"/>
              <a:t>…</a:t>
            </a:r>
          </a:p>
          <a:p>
            <a:endParaRPr lang="en-US" sz="2000" i="1" dirty="0"/>
          </a:p>
        </p:txBody>
      </p:sp>
    </p:spTree>
    <p:extLst>
      <p:ext uri="{BB962C8B-B14F-4D97-AF65-F5344CB8AC3E}">
        <p14:creationId xmlns:p14="http://schemas.microsoft.com/office/powerpoint/2010/main" val="14199327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E5C25-4F58-DD38-CBE5-FB659D4FB8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5C4067-83CF-AC63-0174-C181130731E2}"/>
              </a:ext>
            </a:extLst>
          </p:cNvPr>
          <p:cNvSpPr>
            <a:spLocks noGrp="1"/>
          </p:cNvSpPr>
          <p:nvPr>
            <p:ph type="title"/>
          </p:nvPr>
        </p:nvSpPr>
        <p:spPr>
          <a:xfrm>
            <a:off x="381000" y="0"/>
            <a:ext cx="8382000" cy="977938"/>
          </a:xfrm>
        </p:spPr>
        <p:txBody>
          <a:bodyPr>
            <a:normAutofit fontScale="90000"/>
          </a:bodyPr>
          <a:lstStyle/>
          <a:p>
            <a:r>
              <a:rPr lang="en-US" dirty="0"/>
              <a:t>The Character of God Revealed</a:t>
            </a:r>
            <a:br>
              <a:rPr lang="en-US" dirty="0"/>
            </a:br>
            <a:r>
              <a:rPr lang="en-US" sz="2400" dirty="0">
                <a:solidFill>
                  <a:schemeClr val="tx2">
                    <a:lumMod val="60000"/>
                    <a:lumOff val="40000"/>
                  </a:schemeClr>
                </a:solidFill>
              </a:rPr>
              <a:t>Who is ultimately in control of my salvation? </a:t>
            </a:r>
          </a:p>
        </p:txBody>
      </p:sp>
      <p:sp>
        <p:nvSpPr>
          <p:cNvPr id="4" name="TextBox 3">
            <a:extLst>
              <a:ext uri="{FF2B5EF4-FFF2-40B4-BE49-F238E27FC236}">
                <a16:creationId xmlns:a16="http://schemas.microsoft.com/office/drawing/2014/main" id="{A3FEA15A-D291-ED4C-C8F1-EC2936867842}"/>
              </a:ext>
            </a:extLst>
          </p:cNvPr>
          <p:cNvSpPr txBox="1"/>
          <p:nvPr/>
        </p:nvSpPr>
        <p:spPr>
          <a:xfrm>
            <a:off x="381000" y="1078468"/>
            <a:ext cx="8382000" cy="1323439"/>
          </a:xfrm>
          <a:prstGeom prst="rect">
            <a:avLst/>
          </a:prstGeom>
          <a:noFill/>
        </p:spPr>
        <p:txBody>
          <a:bodyPr wrap="square" rtlCol="0">
            <a:spAutoFit/>
          </a:bodyPr>
          <a:lstStyle/>
          <a:p>
            <a:r>
              <a:rPr lang="en-US" sz="2000" i="1" dirty="0"/>
              <a:t>“</a:t>
            </a:r>
            <a:r>
              <a:rPr lang="en-US" sz="2000" b="1" i="1" dirty="0"/>
              <a:t>Justification</a:t>
            </a:r>
            <a:r>
              <a:rPr lang="en-US" sz="2000" i="1" dirty="0"/>
              <a:t>” (Romans 3 – 5)</a:t>
            </a:r>
          </a:p>
          <a:p>
            <a:pPr marL="342900" indent="-342900">
              <a:buFont typeface="Arial" panose="020B0604020202020204" pitchFamily="34" charset="0"/>
              <a:buChar char="•"/>
            </a:pPr>
            <a:r>
              <a:rPr lang="en-US" sz="2000" b="1" i="1" dirty="0"/>
              <a:t>Declares</a:t>
            </a:r>
            <a:r>
              <a:rPr lang="en-US" sz="2000" i="1" dirty="0"/>
              <a:t> within God’s Holy Court that a sinner has been </a:t>
            </a:r>
            <a:r>
              <a:rPr lang="en-US" sz="2000" b="1" i="1" dirty="0"/>
              <a:t>imputed</a:t>
            </a:r>
            <a:r>
              <a:rPr lang="en-US" sz="2000" i="1" dirty="0"/>
              <a:t> righteousness (by Faith through Grace, as it has always been).</a:t>
            </a:r>
          </a:p>
          <a:p>
            <a:pPr marL="342900" indent="-342900">
              <a:buFont typeface="Arial" panose="020B0604020202020204" pitchFamily="34" charset="0"/>
              <a:buChar char="•"/>
            </a:pPr>
            <a:r>
              <a:rPr lang="en-US" sz="2000" b="1" i="1" dirty="0"/>
              <a:t>But has the sinner’s heart changed?  </a:t>
            </a:r>
          </a:p>
        </p:txBody>
      </p:sp>
      <p:sp>
        <p:nvSpPr>
          <p:cNvPr id="7" name="TextBox 6">
            <a:extLst>
              <a:ext uri="{FF2B5EF4-FFF2-40B4-BE49-F238E27FC236}">
                <a16:creationId xmlns:a16="http://schemas.microsoft.com/office/drawing/2014/main" id="{F53C1FFB-3664-DD9B-B3C6-47E142034065}"/>
              </a:ext>
            </a:extLst>
          </p:cNvPr>
          <p:cNvSpPr txBox="1"/>
          <p:nvPr/>
        </p:nvSpPr>
        <p:spPr>
          <a:xfrm>
            <a:off x="402771" y="2502437"/>
            <a:ext cx="8001000" cy="2554545"/>
          </a:xfrm>
          <a:prstGeom prst="rect">
            <a:avLst/>
          </a:prstGeom>
          <a:noFill/>
        </p:spPr>
        <p:txBody>
          <a:bodyPr wrap="square" rtlCol="0">
            <a:spAutoFit/>
          </a:bodyPr>
          <a:lstStyle/>
          <a:p>
            <a:r>
              <a:rPr lang="en-US" sz="2000" i="1" dirty="0"/>
              <a:t>“</a:t>
            </a:r>
            <a:r>
              <a:rPr lang="en-US" sz="2000" b="1" i="1" dirty="0"/>
              <a:t>Sanctification</a:t>
            </a:r>
            <a:r>
              <a:rPr lang="en-US" sz="2000" i="1" dirty="0"/>
              <a:t>”  Romans 6 thru Romans 8</a:t>
            </a:r>
          </a:p>
          <a:p>
            <a:pPr marL="342900" indent="-342900">
              <a:buFont typeface="Arial" panose="020B0604020202020204" pitchFamily="34" charset="0"/>
              <a:buChar char="•"/>
            </a:pPr>
            <a:r>
              <a:rPr lang="en-US" sz="2000" dirty="0"/>
              <a:t>The believer is now free from the </a:t>
            </a:r>
            <a:r>
              <a:rPr lang="en-US" sz="2000" b="1" i="1" dirty="0"/>
              <a:t>penalty</a:t>
            </a:r>
            <a:r>
              <a:rPr lang="en-US" sz="2000" dirty="0"/>
              <a:t> of sin (i.e. spiritual death), but what about from the </a:t>
            </a:r>
            <a:r>
              <a:rPr lang="en-US" sz="2000" b="1" i="1" dirty="0"/>
              <a:t>power</a:t>
            </a:r>
            <a:r>
              <a:rPr lang="en-US" sz="2000" dirty="0"/>
              <a:t> of sin?</a:t>
            </a:r>
          </a:p>
          <a:p>
            <a:pPr marL="342900" indent="-342900">
              <a:buFont typeface="Arial" panose="020B0604020202020204" pitchFamily="34" charset="0"/>
              <a:buChar char="•"/>
            </a:pPr>
            <a:r>
              <a:rPr lang="en-US" sz="2000" dirty="0"/>
              <a:t>God has a plan within the context of Salvation whereby He not only </a:t>
            </a:r>
            <a:r>
              <a:rPr lang="en-US" sz="2000" b="1" dirty="0"/>
              <a:t>declares</a:t>
            </a:r>
            <a:r>
              <a:rPr lang="en-US" sz="2000" dirty="0"/>
              <a:t> a sinner righteous, but He is also going to </a:t>
            </a:r>
            <a:r>
              <a:rPr lang="en-US" sz="2000" b="1" dirty="0"/>
              <a:t>make</a:t>
            </a:r>
            <a:r>
              <a:rPr lang="en-US" sz="2000" dirty="0"/>
              <a:t> a sinner righteous.</a:t>
            </a:r>
          </a:p>
          <a:p>
            <a:pPr marL="342900" indent="-342900">
              <a:buFont typeface="Arial" panose="020B0604020202020204" pitchFamily="34" charset="0"/>
              <a:buChar char="•"/>
            </a:pPr>
            <a:r>
              <a:rPr lang="en-US" sz="2000" dirty="0"/>
              <a:t>A way that a sinner may grow in grace and thus become “set apart” for God.  (v6:14)</a:t>
            </a:r>
          </a:p>
        </p:txBody>
      </p:sp>
      <p:sp>
        <p:nvSpPr>
          <p:cNvPr id="3" name="TextBox 2">
            <a:extLst>
              <a:ext uri="{FF2B5EF4-FFF2-40B4-BE49-F238E27FC236}">
                <a16:creationId xmlns:a16="http://schemas.microsoft.com/office/drawing/2014/main" id="{AF505AD2-383A-7746-B04D-93CD51599FE3}"/>
              </a:ext>
            </a:extLst>
          </p:cNvPr>
          <p:cNvSpPr txBox="1"/>
          <p:nvPr/>
        </p:nvSpPr>
        <p:spPr>
          <a:xfrm>
            <a:off x="381000" y="5086479"/>
            <a:ext cx="8360229" cy="1477328"/>
          </a:xfrm>
          <a:prstGeom prst="rect">
            <a:avLst/>
          </a:prstGeom>
          <a:noFill/>
        </p:spPr>
        <p:txBody>
          <a:bodyPr wrap="square" rtlCol="0">
            <a:spAutoFit/>
          </a:bodyPr>
          <a:lstStyle/>
          <a:p>
            <a:r>
              <a:rPr lang="en-US" b="1" dirty="0"/>
              <a:t>The Will of Man and the Sovereignty of God - Working Together</a:t>
            </a:r>
          </a:p>
          <a:p>
            <a:r>
              <a:rPr lang="en-US" i="1" dirty="0"/>
              <a:t>So then, my dear friends, just as you have always obeyed, not only in my presence but even more in my absence, </a:t>
            </a:r>
            <a:r>
              <a:rPr lang="en-US" b="1" i="1" dirty="0"/>
              <a:t>continue working out your salvation with awe and reverence</a:t>
            </a:r>
            <a:r>
              <a:rPr lang="en-US" i="1" dirty="0"/>
              <a:t>, for </a:t>
            </a:r>
            <a:r>
              <a:rPr lang="en-US" b="1" i="1" dirty="0"/>
              <a:t>the one bringing forth in you both the desire and the effort</a:t>
            </a:r>
            <a:r>
              <a:rPr lang="en-US" i="1" dirty="0"/>
              <a:t> – for the sake of his good pleasure – </a:t>
            </a:r>
            <a:r>
              <a:rPr lang="en-US" b="1" i="1" dirty="0"/>
              <a:t>is God</a:t>
            </a:r>
            <a:r>
              <a:rPr lang="en-US" i="1" dirty="0"/>
              <a:t>.</a:t>
            </a:r>
            <a:r>
              <a:rPr lang="en-US" dirty="0"/>
              <a:t>(Philippians 2:12-13)</a:t>
            </a:r>
          </a:p>
        </p:txBody>
      </p:sp>
    </p:spTree>
    <p:extLst>
      <p:ext uri="{BB962C8B-B14F-4D97-AF65-F5344CB8AC3E}">
        <p14:creationId xmlns:p14="http://schemas.microsoft.com/office/powerpoint/2010/main" val="416999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A4223-15CE-6B2B-EE49-167736EBB4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1B1049-D3CC-C27B-06D4-667088A5F887}"/>
              </a:ext>
            </a:extLst>
          </p:cNvPr>
          <p:cNvSpPr>
            <a:spLocks noGrp="1"/>
          </p:cNvSpPr>
          <p:nvPr>
            <p:ph type="title"/>
          </p:nvPr>
        </p:nvSpPr>
        <p:spPr>
          <a:xfrm>
            <a:off x="152400" y="0"/>
            <a:ext cx="8915400" cy="914400"/>
          </a:xfrm>
        </p:spPr>
        <p:txBody>
          <a:bodyPr>
            <a:normAutofit fontScale="90000"/>
          </a:bodyPr>
          <a:lstStyle/>
          <a:p>
            <a:pPr algn="l"/>
            <a:r>
              <a:rPr lang="en-US" sz="3600" dirty="0"/>
              <a:t>God’s Sovereignty vs. Human Responsibility</a:t>
            </a:r>
            <a:br>
              <a:rPr lang="en-US" dirty="0"/>
            </a:br>
            <a:r>
              <a:rPr lang="en-US" sz="2400" dirty="0">
                <a:solidFill>
                  <a:schemeClr val="tx2">
                    <a:lumMod val="60000"/>
                    <a:lumOff val="40000"/>
                  </a:schemeClr>
                </a:solidFill>
              </a:rPr>
              <a:t>God’s Purposes Will not Fail</a:t>
            </a:r>
          </a:p>
        </p:txBody>
      </p:sp>
      <p:sp>
        <p:nvSpPr>
          <p:cNvPr id="3" name="TextBox 2">
            <a:extLst>
              <a:ext uri="{FF2B5EF4-FFF2-40B4-BE49-F238E27FC236}">
                <a16:creationId xmlns:a16="http://schemas.microsoft.com/office/drawing/2014/main" id="{8C6422BC-75EC-9987-E553-27A0F5A81AB0}"/>
              </a:ext>
            </a:extLst>
          </p:cNvPr>
          <p:cNvSpPr txBox="1"/>
          <p:nvPr/>
        </p:nvSpPr>
        <p:spPr>
          <a:xfrm>
            <a:off x="154577" y="1066800"/>
            <a:ext cx="8665029" cy="1938992"/>
          </a:xfrm>
          <a:prstGeom prst="rect">
            <a:avLst/>
          </a:prstGeom>
          <a:noFill/>
        </p:spPr>
        <p:txBody>
          <a:bodyPr wrap="square" rtlCol="0">
            <a:spAutoFit/>
          </a:bodyPr>
          <a:lstStyle/>
          <a:p>
            <a:r>
              <a:rPr lang="en-US" sz="2000" b="1" i="1" dirty="0"/>
              <a:t>Romans 8:26-30  </a:t>
            </a:r>
            <a:r>
              <a:rPr lang="en-US" sz="2000" i="1" dirty="0"/>
              <a:t>“And we know that all things work together for good to </a:t>
            </a:r>
            <a:r>
              <a:rPr lang="en-US" sz="2000" b="1" i="1" u="sng" dirty="0"/>
              <a:t>those who love God</a:t>
            </a:r>
            <a:r>
              <a:rPr lang="en-US" sz="2000" i="1" dirty="0"/>
              <a:t>, to </a:t>
            </a:r>
            <a:r>
              <a:rPr lang="en-US" sz="2000" b="1" i="1" u="sng" dirty="0"/>
              <a:t>those who </a:t>
            </a:r>
            <a:r>
              <a:rPr lang="en-US" sz="2000" i="1" dirty="0"/>
              <a:t>are called </a:t>
            </a:r>
            <a:r>
              <a:rPr lang="en-US" sz="2000" b="1" i="1" u="sng" dirty="0"/>
              <a:t>according to His purpose</a:t>
            </a:r>
            <a:r>
              <a:rPr lang="en-US" sz="2000" i="1" dirty="0"/>
              <a:t>.  For </a:t>
            </a:r>
            <a:r>
              <a:rPr lang="en-US" sz="2000" b="1" i="1" u="sng" dirty="0"/>
              <a:t>whom</a:t>
            </a:r>
            <a:r>
              <a:rPr lang="en-US" sz="2000" i="1" dirty="0"/>
              <a:t> </a:t>
            </a:r>
            <a:r>
              <a:rPr lang="en-US" sz="2000" b="1" i="1" u="sng" dirty="0"/>
              <a:t>He foreknew</a:t>
            </a:r>
            <a:r>
              <a:rPr lang="en-US" sz="2000" i="1" dirty="0"/>
              <a:t>, He also </a:t>
            </a:r>
            <a:r>
              <a:rPr lang="en-US" sz="2000" b="1" u="sng" dirty="0"/>
              <a:t>predestined</a:t>
            </a:r>
            <a:r>
              <a:rPr lang="en-US" sz="2000" i="1" dirty="0"/>
              <a:t> to be </a:t>
            </a:r>
            <a:r>
              <a:rPr lang="en-US" sz="2000" b="1" i="1" u="sng" dirty="0"/>
              <a:t>conformed to the image of His Son</a:t>
            </a:r>
            <a:r>
              <a:rPr lang="en-US" sz="2000" i="1" dirty="0"/>
              <a:t>, that He might be the firstborn among many brethren.  Moreover who He predestined, these </a:t>
            </a:r>
            <a:r>
              <a:rPr lang="en-US" sz="2000" b="1" i="1" u="sng" dirty="0"/>
              <a:t>He also called</a:t>
            </a:r>
            <a:r>
              <a:rPr lang="en-US" sz="2000" i="1" dirty="0"/>
              <a:t>; whom He called, these </a:t>
            </a:r>
            <a:r>
              <a:rPr lang="en-US" sz="2000" b="1" i="1" u="sng" dirty="0"/>
              <a:t>He also justified</a:t>
            </a:r>
            <a:r>
              <a:rPr lang="en-US" sz="2000" i="1" dirty="0"/>
              <a:t>; and whom He justified, these </a:t>
            </a:r>
            <a:r>
              <a:rPr lang="en-US" sz="2000" b="1" i="1" u="sng" dirty="0"/>
              <a:t>He also glorified</a:t>
            </a:r>
            <a:r>
              <a:rPr lang="en-US" sz="2000" i="1" dirty="0"/>
              <a:t>.”</a:t>
            </a:r>
          </a:p>
        </p:txBody>
      </p:sp>
      <p:sp>
        <p:nvSpPr>
          <p:cNvPr id="4" name="TextBox 3">
            <a:extLst>
              <a:ext uri="{FF2B5EF4-FFF2-40B4-BE49-F238E27FC236}">
                <a16:creationId xmlns:a16="http://schemas.microsoft.com/office/drawing/2014/main" id="{C063F511-FBD5-9228-9615-DD610075DFF2}"/>
              </a:ext>
            </a:extLst>
          </p:cNvPr>
          <p:cNvSpPr txBox="1"/>
          <p:nvPr/>
        </p:nvSpPr>
        <p:spPr>
          <a:xfrm>
            <a:off x="228600" y="3186495"/>
            <a:ext cx="8588828" cy="3447098"/>
          </a:xfrm>
          <a:prstGeom prst="rect">
            <a:avLst/>
          </a:prstGeom>
          <a:noFill/>
        </p:spPr>
        <p:txBody>
          <a:bodyPr wrap="square" rtlCol="0">
            <a:spAutoFit/>
          </a:bodyPr>
          <a:lstStyle/>
          <a:p>
            <a:r>
              <a:rPr lang="en-US" sz="2000" dirty="0"/>
              <a:t>Paul ends chapter 8 with one of the strongest statements of covenant relationship assurance in Scripture…</a:t>
            </a:r>
          </a:p>
          <a:p>
            <a:r>
              <a:rPr lang="en-US" sz="2000" i="1" dirty="0"/>
              <a:t>	"Those whom he foreknew he also predestined..." </a:t>
            </a:r>
            <a:r>
              <a:rPr lang="en-US" sz="2000" dirty="0"/>
              <a:t>(Romans 8:29)</a:t>
            </a:r>
          </a:p>
          <a:p>
            <a:pPr marL="285750" indent="-285750">
              <a:buFont typeface="Arial" panose="020B0604020202020204" pitchFamily="34" charset="0"/>
              <a:buChar char="•"/>
            </a:pPr>
            <a:r>
              <a:rPr lang="en-US" sz="2000" dirty="0"/>
              <a:t>The emphasis is not on how people become Christians.</a:t>
            </a:r>
          </a:p>
          <a:p>
            <a:pPr marL="285750" indent="-285750">
              <a:buFont typeface="Arial" panose="020B0604020202020204" pitchFamily="34" charset="0"/>
              <a:buChar char="•"/>
            </a:pPr>
            <a:r>
              <a:rPr lang="en-US" sz="2000" dirty="0"/>
              <a:t>The emphasis is on God's ability to bring His people safely to glory.</a:t>
            </a:r>
          </a:p>
          <a:p>
            <a:pPr marL="285750" indent="-285750">
              <a:buFont typeface="Arial" panose="020B0604020202020204" pitchFamily="34" charset="0"/>
              <a:buChar char="•"/>
            </a:pPr>
            <a:r>
              <a:rPr lang="en-US" sz="2000" dirty="0"/>
              <a:t>The chain runs from foreknowledge to glorification.</a:t>
            </a:r>
          </a:p>
          <a:p>
            <a:pPr marL="285750" indent="-285750">
              <a:buFont typeface="Arial" panose="020B0604020202020204" pitchFamily="34" charset="0"/>
              <a:buChar char="•"/>
            </a:pPr>
            <a:r>
              <a:rPr lang="en-US" sz="2000" dirty="0"/>
              <a:t>God is the active subject throughout.</a:t>
            </a:r>
          </a:p>
          <a:p>
            <a:r>
              <a:rPr lang="en-US" sz="2000" dirty="0"/>
              <a:t>Paul's conclusion:</a:t>
            </a:r>
          </a:p>
          <a:p>
            <a:pPr marL="285750" indent="-285750">
              <a:buFont typeface="Arial" panose="020B0604020202020204" pitchFamily="34" charset="0"/>
              <a:buChar char="•"/>
            </a:pPr>
            <a:r>
              <a:rPr lang="en-US" sz="2000" dirty="0"/>
              <a:t>Nothing can separate God's people from His love.</a:t>
            </a:r>
          </a:p>
          <a:p>
            <a:pPr marL="285750" indent="-285750">
              <a:buFont typeface="Arial" panose="020B0604020202020204" pitchFamily="34" charset="0"/>
              <a:buChar char="•"/>
            </a:pPr>
            <a:r>
              <a:rPr lang="en-US" sz="2000" dirty="0"/>
              <a:t>This naturally raises a question.</a:t>
            </a:r>
          </a:p>
          <a:p>
            <a:pPr marL="742950" lvl="1" indent="-285750">
              <a:buFont typeface="Arial" panose="020B0604020202020204" pitchFamily="34" charset="0"/>
              <a:buChar char="•"/>
            </a:pPr>
            <a:r>
              <a:rPr lang="en-US" sz="2000" dirty="0"/>
              <a:t>If God is so faithful, what about Israel?</a:t>
            </a:r>
          </a:p>
        </p:txBody>
      </p:sp>
    </p:spTree>
    <p:extLst>
      <p:ext uri="{BB962C8B-B14F-4D97-AF65-F5344CB8AC3E}">
        <p14:creationId xmlns:p14="http://schemas.microsoft.com/office/powerpoint/2010/main" val="3266817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6320" y="20097"/>
            <a:ext cx="8229600" cy="914400"/>
          </a:xfrm>
        </p:spPr>
        <p:txBody>
          <a:bodyPr>
            <a:normAutofit fontScale="90000"/>
          </a:bodyPr>
          <a:lstStyle/>
          <a:p>
            <a:pPr algn="l"/>
            <a:r>
              <a:rPr lang="en-US" dirty="0"/>
              <a:t>Did God’s Promises Fail?</a:t>
            </a:r>
            <a:br>
              <a:rPr lang="en-US" dirty="0"/>
            </a:br>
            <a:r>
              <a:rPr lang="en-US" sz="2400" dirty="0">
                <a:solidFill>
                  <a:schemeClr val="tx2">
                    <a:lumMod val="60000"/>
                    <a:lumOff val="40000"/>
                  </a:schemeClr>
                </a:solidFill>
              </a:rPr>
              <a:t>How does Paul deal with the “failure” of God’s promises?</a:t>
            </a:r>
          </a:p>
        </p:txBody>
      </p:sp>
      <p:sp>
        <p:nvSpPr>
          <p:cNvPr id="6" name="TextBox 5"/>
          <p:cNvSpPr txBox="1"/>
          <p:nvPr/>
        </p:nvSpPr>
        <p:spPr>
          <a:xfrm>
            <a:off x="304800" y="1066800"/>
            <a:ext cx="8534400" cy="2246769"/>
          </a:xfrm>
          <a:prstGeom prst="rect">
            <a:avLst/>
          </a:prstGeom>
          <a:noFill/>
        </p:spPr>
        <p:txBody>
          <a:bodyPr wrap="square" rtlCol="0">
            <a:spAutoFit/>
          </a:bodyPr>
          <a:lstStyle/>
          <a:p>
            <a:r>
              <a:rPr lang="en-US" sz="2000" i="1" dirty="0"/>
              <a:t>“(6) </a:t>
            </a:r>
            <a:r>
              <a:rPr lang="en-US" sz="2000" b="1" i="1" dirty="0"/>
              <a:t>It is not as though the word of God had failed</a:t>
            </a:r>
            <a:r>
              <a:rPr lang="en-US" sz="2000" i="1" dirty="0"/>
              <a:t>. For not all those who are descended from Israel are truly Israel,  (7)  nor are all the children Abraham’s true descendants; rather “through Isaac will your descendants be counted.”  (8)  </a:t>
            </a:r>
            <a:r>
              <a:rPr lang="en-US" sz="2000" b="1" i="1" dirty="0"/>
              <a:t>This means it is not the children of the flesh who are the children of God; rather, the children of promise are counted as descendants</a:t>
            </a:r>
            <a:r>
              <a:rPr lang="en-US" sz="2000" i="1" dirty="0"/>
              <a:t>.  (9)  For this is what the promise declared: “About a year from now I will return and Sarah will have a son.”  Romans 9:6-9</a:t>
            </a:r>
            <a:endParaRPr lang="en-US" sz="2000" b="1" i="1" dirty="0"/>
          </a:p>
        </p:txBody>
      </p:sp>
      <p:sp>
        <p:nvSpPr>
          <p:cNvPr id="5" name="TextBox 4"/>
          <p:cNvSpPr txBox="1"/>
          <p:nvPr/>
        </p:nvSpPr>
        <p:spPr>
          <a:xfrm>
            <a:off x="304800" y="3408903"/>
            <a:ext cx="8534400" cy="3170099"/>
          </a:xfrm>
          <a:prstGeom prst="rect">
            <a:avLst/>
          </a:prstGeom>
          <a:noFill/>
        </p:spPr>
        <p:txBody>
          <a:bodyPr wrap="square" rtlCol="0">
            <a:spAutoFit/>
          </a:bodyPr>
          <a:lstStyle/>
          <a:p>
            <a:r>
              <a:rPr lang="en-US" sz="2000" i="1" dirty="0"/>
              <a:t>The Problem (chapter 9)…</a:t>
            </a:r>
          </a:p>
          <a:p>
            <a:pPr marL="342900" indent="-342900">
              <a:buFont typeface="Arial" panose="020B0604020202020204" pitchFamily="34" charset="0"/>
              <a:buChar char="•"/>
            </a:pPr>
            <a:r>
              <a:rPr lang="en-US" sz="2000" dirty="0"/>
              <a:t>God made </a:t>
            </a:r>
            <a:r>
              <a:rPr lang="en-US" sz="2000" u="sng" dirty="0"/>
              <a:t>promises</a:t>
            </a:r>
            <a:r>
              <a:rPr lang="en-US" sz="2000" dirty="0"/>
              <a:t> to physical Jews and, according to Paul’s teaching, the bulk of all Jews were unblessed.  </a:t>
            </a:r>
            <a:r>
              <a:rPr lang="en-US" sz="2000" i="1" dirty="0"/>
              <a:t>How do you reconcile God’s faithfulness to those to whom he gave promises when the bulk of them were cut off from those blessings?</a:t>
            </a:r>
          </a:p>
          <a:p>
            <a:pPr marL="342900" indent="-342900">
              <a:buFont typeface="Arial" panose="020B0604020202020204" pitchFamily="34" charset="0"/>
              <a:buChar char="•"/>
            </a:pPr>
            <a:r>
              <a:rPr lang="en-US" sz="2000" u="sng" dirty="0"/>
              <a:t>Paul insists that the real Israel to whom the promises were to be fulfilled was not synonymous with the whole nation of Israel.</a:t>
            </a:r>
          </a:p>
          <a:p>
            <a:pPr marL="342900" indent="-342900">
              <a:buFont typeface="Arial" panose="020B0604020202020204" pitchFamily="34" charset="0"/>
              <a:buChar char="•"/>
            </a:pPr>
            <a:r>
              <a:rPr lang="en-US" sz="2000" dirty="0"/>
              <a:t>Paul claims that the real heirs are children of faith (i.e. the believers) and promise (i.e. as Isaac was) and so the rejection of the unbelievers is not a breach of promise on God’s part.   </a:t>
            </a:r>
          </a:p>
        </p:txBody>
      </p:sp>
    </p:spTree>
    <p:extLst>
      <p:ext uri="{BB962C8B-B14F-4D97-AF65-F5344CB8AC3E}">
        <p14:creationId xmlns:p14="http://schemas.microsoft.com/office/powerpoint/2010/main" val="1164924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229600" cy="801945"/>
          </a:xfrm>
        </p:spPr>
        <p:txBody>
          <a:bodyPr>
            <a:normAutofit fontScale="90000"/>
          </a:bodyPr>
          <a:lstStyle/>
          <a:p>
            <a:pPr algn="l"/>
            <a:r>
              <a:rPr lang="en-US" dirty="0"/>
              <a:t>What shall we say then?</a:t>
            </a:r>
            <a:br>
              <a:rPr lang="en-US" dirty="0"/>
            </a:br>
            <a:r>
              <a:rPr lang="en-US" sz="2400" dirty="0">
                <a:solidFill>
                  <a:schemeClr val="tx2">
                    <a:lumMod val="60000"/>
                    <a:lumOff val="40000"/>
                  </a:schemeClr>
                </a:solidFill>
              </a:rPr>
              <a:t>Perhaps just what the eye-witnesses said…</a:t>
            </a:r>
          </a:p>
        </p:txBody>
      </p:sp>
      <p:sp>
        <p:nvSpPr>
          <p:cNvPr id="6" name="TextBox 5"/>
          <p:cNvSpPr txBox="1"/>
          <p:nvPr/>
        </p:nvSpPr>
        <p:spPr>
          <a:xfrm>
            <a:off x="284816" y="874455"/>
            <a:ext cx="8306525" cy="2554545"/>
          </a:xfrm>
          <a:prstGeom prst="rect">
            <a:avLst/>
          </a:prstGeom>
          <a:noFill/>
        </p:spPr>
        <p:txBody>
          <a:bodyPr wrap="square" rtlCol="0">
            <a:spAutoFit/>
          </a:bodyPr>
          <a:lstStyle/>
          <a:p>
            <a:r>
              <a:rPr lang="en-US" sz="2000" i="1" dirty="0"/>
              <a:t>“What shall we say then?  That Gentiles, who did not pursue righteousness, have attained to righteousness, even the righteousness of faith; but Israel, pursuing the law of righteousness, has not attained to the law of righteousness.  Why?  </a:t>
            </a:r>
            <a:r>
              <a:rPr lang="en-US" sz="2000" b="1" i="1" dirty="0"/>
              <a:t>Because they did not seek it by faith, but as it were, by the works of the law</a:t>
            </a:r>
            <a:r>
              <a:rPr lang="en-US" sz="2000" i="1" dirty="0"/>
              <a:t>.  For they stumbled at that stumbling stone.   As it is written:  ‘</a:t>
            </a:r>
            <a:r>
              <a:rPr lang="en-US" sz="2000" b="1" i="1" dirty="0"/>
              <a:t>Behold, I lay in Zion a stumbling stone and rock of offense, And whoever believes on Him will not be put to shame.</a:t>
            </a:r>
            <a:r>
              <a:rPr lang="en-US" sz="2000" i="1" dirty="0"/>
              <a:t>’”  </a:t>
            </a:r>
            <a:r>
              <a:rPr lang="en-US" sz="2000" b="1" i="1" dirty="0"/>
              <a:t>Romans 9:30-33</a:t>
            </a:r>
          </a:p>
        </p:txBody>
      </p:sp>
      <p:sp>
        <p:nvSpPr>
          <p:cNvPr id="5" name="TextBox 4"/>
          <p:cNvSpPr txBox="1"/>
          <p:nvPr/>
        </p:nvSpPr>
        <p:spPr>
          <a:xfrm>
            <a:off x="280629" y="3463332"/>
            <a:ext cx="8229599" cy="1323439"/>
          </a:xfrm>
          <a:prstGeom prst="rect">
            <a:avLst/>
          </a:prstGeom>
          <a:noFill/>
        </p:spPr>
        <p:txBody>
          <a:bodyPr wrap="square" rtlCol="0">
            <a:spAutoFit/>
          </a:bodyPr>
          <a:lstStyle/>
          <a:p>
            <a:r>
              <a:rPr lang="en-US" sz="2000" i="1" dirty="0"/>
              <a:t>“This is the ‘stone which was rejected by you builders, which has become the chief cornerstone.’  </a:t>
            </a:r>
            <a:r>
              <a:rPr lang="en-US" sz="2000" b="1" i="1" dirty="0"/>
              <a:t>Nor is there salvation in any other, for there is no other name under heaven given among men by which we must be saved</a:t>
            </a:r>
            <a:r>
              <a:rPr lang="en-US" sz="2000" i="1" dirty="0"/>
              <a:t>.”  </a:t>
            </a:r>
            <a:r>
              <a:rPr lang="en-US" sz="2000" b="1" i="1" dirty="0"/>
              <a:t>Acts 4:11-12</a:t>
            </a:r>
            <a:r>
              <a:rPr lang="en-US" sz="2000" i="1" dirty="0"/>
              <a:t>   </a:t>
            </a:r>
          </a:p>
        </p:txBody>
      </p:sp>
      <p:sp>
        <p:nvSpPr>
          <p:cNvPr id="4" name="TextBox 3">
            <a:extLst>
              <a:ext uri="{FF2B5EF4-FFF2-40B4-BE49-F238E27FC236}">
                <a16:creationId xmlns:a16="http://schemas.microsoft.com/office/drawing/2014/main" id="{1D86DA75-2DCB-4C70-E359-4D95CB3ED55E}"/>
              </a:ext>
            </a:extLst>
          </p:cNvPr>
          <p:cNvSpPr txBox="1"/>
          <p:nvPr/>
        </p:nvSpPr>
        <p:spPr>
          <a:xfrm>
            <a:off x="266337" y="4856272"/>
            <a:ext cx="8611326" cy="1938992"/>
          </a:xfrm>
          <a:prstGeom prst="rect">
            <a:avLst/>
          </a:prstGeom>
          <a:noFill/>
        </p:spPr>
        <p:txBody>
          <a:bodyPr wrap="square">
            <a:spAutoFit/>
          </a:bodyPr>
          <a:lstStyle/>
          <a:p>
            <a:r>
              <a:rPr lang="en-US" sz="2000" i="1" dirty="0"/>
              <a:t>“For it says in scripture, ‘Look, I lay in Zion a stone, a chosen and precious cornerstone, and whoever believes in him will never be put to shame.’ </a:t>
            </a:r>
            <a:r>
              <a:rPr lang="en-US" sz="2000" b="1" i="1" dirty="0"/>
              <a:t>So </a:t>
            </a:r>
            <a:r>
              <a:rPr lang="en-US" sz="2000" b="1" i="1" u="sng" dirty="0"/>
              <a:t>you who believe </a:t>
            </a:r>
            <a:r>
              <a:rPr lang="en-US" sz="2000" b="1" i="1" dirty="0"/>
              <a:t>see his value, but </a:t>
            </a:r>
            <a:r>
              <a:rPr lang="en-US" sz="2000" b="1" i="1" u="sng" dirty="0"/>
              <a:t>for those who do not believe</a:t>
            </a:r>
            <a:r>
              <a:rPr lang="en-US" sz="2000" b="1" i="1" dirty="0"/>
              <a:t>, the stone that the builders rejected has become the cornerstone, and a stumbling-stone and a rock to trip over.</a:t>
            </a:r>
            <a:r>
              <a:rPr lang="en-US" sz="2000" i="1" dirty="0"/>
              <a:t> They stumble because they disobey the word, as </a:t>
            </a:r>
            <a:r>
              <a:rPr lang="en-US" sz="2000" b="1" i="1" u="sng" dirty="0"/>
              <a:t>they were destined</a:t>
            </a:r>
            <a:r>
              <a:rPr lang="en-US" sz="2000" b="1" i="1" dirty="0"/>
              <a:t> </a:t>
            </a:r>
            <a:r>
              <a:rPr lang="en-US" sz="2000" i="1" dirty="0"/>
              <a:t>to do.” </a:t>
            </a:r>
            <a:r>
              <a:rPr lang="en-US" sz="2000" b="1" i="1" dirty="0"/>
              <a:t>1 Peter 2:6-8</a:t>
            </a:r>
          </a:p>
        </p:txBody>
      </p:sp>
    </p:spTree>
    <p:extLst>
      <p:ext uri="{BB962C8B-B14F-4D97-AF65-F5344CB8AC3E}">
        <p14:creationId xmlns:p14="http://schemas.microsoft.com/office/powerpoint/2010/main" val="4279704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B73B4-7238-60A3-7777-247975B84561}"/>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8CEA31A3-CDD3-F82F-E59D-E355BA15056F}"/>
              </a:ext>
            </a:extLst>
          </p:cNvPr>
          <p:cNvSpPr txBox="1">
            <a:spLocks/>
          </p:cNvSpPr>
          <p:nvPr/>
        </p:nvSpPr>
        <p:spPr bwMode="auto">
          <a:xfrm>
            <a:off x="381000" y="0"/>
            <a:ext cx="83820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25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Human Responsibility</a:t>
            </a:r>
            <a:br>
              <a:rPr lang="en-US" dirty="0"/>
            </a:br>
            <a:r>
              <a:rPr lang="en-US" sz="2600" dirty="0">
                <a:solidFill>
                  <a:schemeClr val="tx2">
                    <a:lumMod val="60000"/>
                    <a:lumOff val="40000"/>
                  </a:schemeClr>
                </a:solidFill>
              </a:rPr>
              <a:t>With Divine Sovereignty </a:t>
            </a:r>
          </a:p>
        </p:txBody>
      </p:sp>
      <p:sp>
        <p:nvSpPr>
          <p:cNvPr id="7" name="TextBox 6">
            <a:extLst>
              <a:ext uri="{FF2B5EF4-FFF2-40B4-BE49-F238E27FC236}">
                <a16:creationId xmlns:a16="http://schemas.microsoft.com/office/drawing/2014/main" id="{8308ECBA-DCFA-F9B9-65BC-E24431D0D876}"/>
              </a:ext>
            </a:extLst>
          </p:cNvPr>
          <p:cNvSpPr txBox="1"/>
          <p:nvPr/>
        </p:nvSpPr>
        <p:spPr>
          <a:xfrm>
            <a:off x="381000" y="914400"/>
            <a:ext cx="8554122" cy="2246769"/>
          </a:xfrm>
          <a:prstGeom prst="rect">
            <a:avLst/>
          </a:prstGeom>
          <a:noFill/>
        </p:spPr>
        <p:txBody>
          <a:bodyPr wrap="square" rtlCol="0">
            <a:spAutoFit/>
          </a:bodyPr>
          <a:lstStyle/>
          <a:p>
            <a:r>
              <a:rPr lang="en-US" sz="2000" dirty="0"/>
              <a:t>After emphasizing God's sovereignty in chapter 9, Paul immediately emphasizes </a:t>
            </a:r>
            <a:r>
              <a:rPr lang="en-US" sz="2000" u="sng" dirty="0"/>
              <a:t>human responsibility</a:t>
            </a:r>
            <a:r>
              <a:rPr lang="en-US" sz="2000" dirty="0"/>
              <a:t>. Notice how many times he speaks of choice, faith, hearing, and </a:t>
            </a:r>
            <a:r>
              <a:rPr lang="en-US" sz="2000" u="sng" dirty="0"/>
              <a:t>responding</a:t>
            </a:r>
            <a:r>
              <a:rPr lang="en-US" sz="2000" dirty="0"/>
              <a:t>.</a:t>
            </a:r>
          </a:p>
          <a:p>
            <a:pPr marL="342900" indent="-342900">
              <a:buFont typeface="Arial" panose="020B0604020202020204" pitchFamily="34" charset="0"/>
              <a:buChar char="•"/>
            </a:pPr>
            <a:r>
              <a:rPr lang="en-US" sz="2000" i="1" dirty="0"/>
              <a:t>"If you confess with your mouth..." (10:9)</a:t>
            </a:r>
          </a:p>
          <a:p>
            <a:pPr marL="342900" indent="-342900">
              <a:buFont typeface="Arial" panose="020B0604020202020204" pitchFamily="34" charset="0"/>
              <a:buChar char="•"/>
            </a:pPr>
            <a:r>
              <a:rPr lang="en-US" sz="2000" i="1" dirty="0"/>
              <a:t>"Everyone who calls upon the name of the Lord shall be saved." (10:13)</a:t>
            </a:r>
          </a:p>
          <a:p>
            <a:pPr marL="342900" indent="-342900">
              <a:buFont typeface="Arial" panose="020B0604020202020204" pitchFamily="34" charset="0"/>
              <a:buChar char="•"/>
            </a:pPr>
            <a:r>
              <a:rPr lang="en-US" sz="2000" i="1" dirty="0"/>
              <a:t>"Faith comes from hearing..." (10:17)</a:t>
            </a:r>
          </a:p>
        </p:txBody>
      </p:sp>
      <p:sp>
        <p:nvSpPr>
          <p:cNvPr id="2" name="TextBox 1">
            <a:extLst>
              <a:ext uri="{FF2B5EF4-FFF2-40B4-BE49-F238E27FC236}">
                <a16:creationId xmlns:a16="http://schemas.microsoft.com/office/drawing/2014/main" id="{4E3EE36C-3F16-2C8E-F3AA-F63718BE51D3}"/>
              </a:ext>
            </a:extLst>
          </p:cNvPr>
          <p:cNvSpPr txBox="1"/>
          <p:nvPr/>
        </p:nvSpPr>
        <p:spPr>
          <a:xfrm>
            <a:off x="381000" y="3161169"/>
            <a:ext cx="8554122" cy="3477875"/>
          </a:xfrm>
          <a:prstGeom prst="rect">
            <a:avLst/>
          </a:prstGeom>
          <a:noFill/>
        </p:spPr>
        <p:txBody>
          <a:bodyPr wrap="square" rtlCol="0">
            <a:spAutoFit/>
          </a:bodyPr>
          <a:lstStyle/>
          <a:p>
            <a:r>
              <a:rPr lang="en-US" sz="2000" b="1" dirty="0"/>
              <a:t>The Future of Israel</a:t>
            </a:r>
            <a:endParaRPr lang="en-US" sz="2000" dirty="0"/>
          </a:p>
          <a:p>
            <a:r>
              <a:rPr lang="en-US" sz="2000" dirty="0"/>
              <a:t>Paul asks:</a:t>
            </a:r>
          </a:p>
          <a:p>
            <a:pPr marL="342900" indent="-342900">
              <a:buFont typeface="Arial" panose="020B0604020202020204" pitchFamily="34" charset="0"/>
              <a:buChar char="•"/>
            </a:pPr>
            <a:r>
              <a:rPr lang="en-US" sz="2000" i="1" dirty="0"/>
              <a:t>"God has not rejected his people, has he?" </a:t>
            </a:r>
            <a:r>
              <a:rPr lang="en-US" sz="2000" dirty="0"/>
              <a:t>(11:1)</a:t>
            </a:r>
          </a:p>
          <a:p>
            <a:r>
              <a:rPr lang="en-US" sz="2000" dirty="0"/>
              <a:t>Answer:</a:t>
            </a:r>
          </a:p>
          <a:p>
            <a:pPr marL="342900" indent="-342900">
              <a:buFont typeface="Arial" panose="020B0604020202020204" pitchFamily="34" charset="0"/>
              <a:buChar char="•"/>
            </a:pPr>
            <a:r>
              <a:rPr lang="en-US" sz="2000" i="1" dirty="0"/>
              <a:t>"Absolutely not!"</a:t>
            </a:r>
          </a:p>
          <a:p>
            <a:r>
              <a:rPr lang="en-US" sz="2000" dirty="0"/>
              <a:t>Paul presents three major ideas.</a:t>
            </a:r>
          </a:p>
          <a:p>
            <a:pPr marL="342900" indent="-342900">
              <a:buFont typeface="Arial" panose="020B0604020202020204" pitchFamily="34" charset="0"/>
              <a:buChar char="•"/>
            </a:pPr>
            <a:r>
              <a:rPr lang="en-US" sz="2000" dirty="0"/>
              <a:t>The Remnant</a:t>
            </a:r>
          </a:p>
          <a:p>
            <a:pPr marL="342900" indent="-342900">
              <a:buFont typeface="Arial" panose="020B0604020202020204" pitchFamily="34" charset="0"/>
              <a:buChar char="•"/>
            </a:pPr>
            <a:r>
              <a:rPr lang="en-US" sz="2000" dirty="0"/>
              <a:t>The Olive Tree</a:t>
            </a:r>
          </a:p>
          <a:p>
            <a:pPr marL="342900" indent="-342900">
              <a:buFont typeface="Arial" panose="020B0604020202020204" pitchFamily="34" charset="0"/>
              <a:buChar char="•"/>
            </a:pPr>
            <a:r>
              <a:rPr lang="en-US" sz="2000" dirty="0"/>
              <a:t>Israel's Hardening</a:t>
            </a:r>
          </a:p>
          <a:p>
            <a:r>
              <a:rPr lang="en-US" sz="2000" dirty="0"/>
              <a:t>Paul concludes with a statement on Divine Sovereignty:</a:t>
            </a:r>
          </a:p>
          <a:p>
            <a:pPr marL="285750" indent="-285750">
              <a:buFont typeface="Arial" panose="020B0604020202020204" pitchFamily="34" charset="0"/>
              <a:buChar char="•"/>
            </a:pPr>
            <a:r>
              <a:rPr lang="en-US" sz="2000" i="1" dirty="0"/>
              <a:t>"For from him and through him and to him are all things." (11:36)</a:t>
            </a:r>
          </a:p>
        </p:txBody>
      </p:sp>
    </p:spTree>
    <p:extLst>
      <p:ext uri="{BB962C8B-B14F-4D97-AF65-F5344CB8AC3E}">
        <p14:creationId xmlns:p14="http://schemas.microsoft.com/office/powerpoint/2010/main" val="1374915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BF1B7-7BF8-CDE1-DA2F-EE7FD6D640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C8AD57-035C-9A2C-D3B8-66E099CB8459}"/>
              </a:ext>
            </a:extLst>
          </p:cNvPr>
          <p:cNvSpPr>
            <a:spLocks noGrp="1"/>
          </p:cNvSpPr>
          <p:nvPr>
            <p:ph type="title"/>
          </p:nvPr>
        </p:nvSpPr>
        <p:spPr/>
        <p:txBody>
          <a:bodyPr/>
          <a:lstStyle/>
          <a:p>
            <a:r>
              <a:rPr lang="en-US" dirty="0"/>
              <a:t>Context by Implicit Condition (1)</a:t>
            </a:r>
            <a:br>
              <a:rPr lang="en-US" dirty="0"/>
            </a:br>
            <a:r>
              <a:rPr lang="en-US" sz="2400" dirty="0">
                <a:solidFill>
                  <a:schemeClr val="tx2">
                    <a:lumMod val="60000"/>
                    <a:lumOff val="40000"/>
                  </a:schemeClr>
                </a:solidFill>
              </a:rPr>
              <a:t>How did Paul write this letter?</a:t>
            </a:r>
          </a:p>
        </p:txBody>
      </p:sp>
      <p:sp>
        <p:nvSpPr>
          <p:cNvPr id="3" name="Content Placeholder 2">
            <a:extLst>
              <a:ext uri="{FF2B5EF4-FFF2-40B4-BE49-F238E27FC236}">
                <a16:creationId xmlns:a16="http://schemas.microsoft.com/office/drawing/2014/main" id="{E7057F04-C6D4-D385-EF95-BC6942852943}"/>
              </a:ext>
            </a:extLst>
          </p:cNvPr>
          <p:cNvSpPr>
            <a:spLocks noGrp="1"/>
          </p:cNvSpPr>
          <p:nvPr>
            <p:ph idx="1"/>
          </p:nvPr>
        </p:nvSpPr>
        <p:spPr>
          <a:xfrm>
            <a:off x="457200" y="1371600"/>
            <a:ext cx="8229600" cy="4800600"/>
          </a:xfrm>
        </p:spPr>
        <p:txBody>
          <a:bodyPr/>
          <a:lstStyle/>
          <a:p>
            <a:pPr marL="0" indent="0">
              <a:buNone/>
            </a:pPr>
            <a:r>
              <a:rPr lang="en-US" dirty="0">
                <a:latin typeface="Segoe UI" panose="020B0502040204020203" pitchFamily="34" charset="0"/>
                <a:cs typeface="Segoe UI" panose="020B0502040204020203" pitchFamily="34" charset="0"/>
              </a:rPr>
              <a:t>Example understanding that we </a:t>
            </a:r>
            <a:r>
              <a:rPr lang="en-US" b="1" i="1" u="sng" dirty="0">
                <a:latin typeface="Segoe UI" panose="020B0502040204020203" pitchFamily="34" charset="0"/>
                <a:cs typeface="Segoe UI" panose="020B0502040204020203" pitchFamily="34" charset="0"/>
              </a:rPr>
              <a:t>could</a:t>
            </a:r>
            <a:r>
              <a:rPr lang="en-US" dirty="0">
                <a:latin typeface="Segoe UI" panose="020B0502040204020203" pitchFamily="34" charset="0"/>
                <a:cs typeface="Segoe UI" panose="020B0502040204020203" pitchFamily="34" charset="0"/>
              </a:rPr>
              <a:t> take-away…</a:t>
            </a:r>
          </a:p>
          <a:p>
            <a:pPr marL="0" indent="0">
              <a:buNone/>
            </a:pPr>
            <a:endParaRPr lang="en-US" dirty="0"/>
          </a:p>
          <a:p>
            <a:pPr marL="514350" indent="-514350">
              <a:buFont typeface="+mj-lt"/>
              <a:buAutoNum type="arabicPeriod"/>
            </a:pPr>
            <a:r>
              <a:rPr lang="en-US" dirty="0">
                <a:latin typeface="Segoe UI" panose="020B0502040204020203" pitchFamily="34" charset="0"/>
                <a:cs typeface="Segoe UI" panose="020B0502040204020203" pitchFamily="34" charset="0"/>
              </a:rPr>
              <a:t>By the fall of the Jew the world was made rich.  (Romans 11:12)</a:t>
            </a:r>
          </a:p>
          <a:p>
            <a:pPr marL="514350" indent="-514350">
              <a:buFont typeface="+mj-lt"/>
              <a:buAutoNum type="arabicPeriod"/>
            </a:pPr>
            <a:r>
              <a:rPr lang="en-US" dirty="0">
                <a:latin typeface="Segoe UI" panose="020B0502040204020203" pitchFamily="34" charset="0"/>
                <a:cs typeface="Segoe UI" panose="020B0502040204020203" pitchFamily="34" charset="0"/>
              </a:rPr>
              <a:t>By the disobedience of the Jew the Gentile received mercy.  (Romans 11:30)</a:t>
            </a:r>
          </a:p>
          <a:p>
            <a:pPr marL="514350" indent="-514350">
              <a:buFont typeface="+mj-lt"/>
              <a:buAutoNum type="arabicPeriod"/>
            </a:pPr>
            <a:r>
              <a:rPr lang="en-US" dirty="0">
                <a:latin typeface="Segoe UI" panose="020B0502040204020203" pitchFamily="34" charset="0"/>
                <a:cs typeface="Segoe UI" panose="020B0502040204020203" pitchFamily="34" charset="0"/>
              </a:rPr>
              <a:t>By the Sin of Adam mankind was made sinners.  (Romans 5:19)</a:t>
            </a:r>
          </a:p>
          <a:p>
            <a:pPr marL="514350" indent="-514350">
              <a:buFont typeface="+mj-lt"/>
              <a:buAutoNum type="arabicPeriod"/>
            </a:pPr>
            <a:r>
              <a:rPr lang="en-US" dirty="0">
                <a:latin typeface="Segoe UI" panose="020B0502040204020203" pitchFamily="34" charset="0"/>
                <a:cs typeface="Segoe UI" panose="020B0502040204020203" pitchFamily="34" charset="0"/>
              </a:rPr>
              <a:t>By the Righteousness of Christ mankind was made righteous.  (Romans 5:19)</a:t>
            </a:r>
          </a:p>
        </p:txBody>
      </p:sp>
    </p:spTree>
    <p:extLst>
      <p:ext uri="{BB962C8B-B14F-4D97-AF65-F5344CB8AC3E}">
        <p14:creationId xmlns:p14="http://schemas.microsoft.com/office/powerpoint/2010/main" val="23066183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0A42D6-B59D-B577-AC79-C505FE0F62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F7FAB6-94FF-95CD-55CC-4D8BD6CD523B}"/>
              </a:ext>
            </a:extLst>
          </p:cNvPr>
          <p:cNvSpPr>
            <a:spLocks noGrp="1"/>
          </p:cNvSpPr>
          <p:nvPr>
            <p:ph type="title"/>
          </p:nvPr>
        </p:nvSpPr>
        <p:spPr/>
        <p:txBody>
          <a:bodyPr/>
          <a:lstStyle/>
          <a:p>
            <a:r>
              <a:rPr lang="en-US" dirty="0"/>
              <a:t>Context by Implicit Condition (2)</a:t>
            </a:r>
            <a:br>
              <a:rPr lang="en-US" dirty="0"/>
            </a:br>
            <a:r>
              <a:rPr lang="en-US" sz="2400" dirty="0">
                <a:solidFill>
                  <a:schemeClr val="tx2">
                    <a:lumMod val="60000"/>
                    <a:lumOff val="40000"/>
                  </a:schemeClr>
                </a:solidFill>
              </a:rPr>
              <a:t>How did Paul write this letter?</a:t>
            </a:r>
          </a:p>
        </p:txBody>
      </p:sp>
      <p:sp>
        <p:nvSpPr>
          <p:cNvPr id="3" name="Content Placeholder 2">
            <a:extLst>
              <a:ext uri="{FF2B5EF4-FFF2-40B4-BE49-F238E27FC236}">
                <a16:creationId xmlns:a16="http://schemas.microsoft.com/office/drawing/2014/main" id="{4F91D6C4-C8B6-E8C9-BE8E-72FFAAE72D84}"/>
              </a:ext>
            </a:extLst>
          </p:cNvPr>
          <p:cNvSpPr>
            <a:spLocks noGrp="1"/>
          </p:cNvSpPr>
          <p:nvPr>
            <p:ph idx="1"/>
          </p:nvPr>
        </p:nvSpPr>
        <p:spPr>
          <a:xfrm>
            <a:off x="457200" y="1447800"/>
            <a:ext cx="8229600" cy="4343400"/>
          </a:xfrm>
        </p:spPr>
        <p:txBody>
          <a:bodyPr/>
          <a:lstStyle/>
          <a:p>
            <a:pPr marL="0" indent="0">
              <a:buNone/>
            </a:pPr>
            <a:r>
              <a:rPr lang="en-US" sz="2400" dirty="0">
                <a:latin typeface="Segoe UI" panose="020B0502040204020203" pitchFamily="34" charset="0"/>
                <a:cs typeface="Segoe UI" panose="020B0502040204020203" pitchFamily="34" charset="0"/>
              </a:rPr>
              <a:t>Example understanding that we </a:t>
            </a:r>
            <a:r>
              <a:rPr lang="en-US" sz="2400" i="1" dirty="0">
                <a:latin typeface="Segoe UI" panose="020B0502040204020203" pitchFamily="34" charset="0"/>
                <a:cs typeface="Segoe UI" panose="020B0502040204020203" pitchFamily="34" charset="0"/>
              </a:rPr>
              <a:t>ought to </a:t>
            </a:r>
            <a:r>
              <a:rPr lang="en-US" sz="2400" dirty="0">
                <a:latin typeface="Segoe UI" panose="020B0502040204020203" pitchFamily="34" charset="0"/>
                <a:cs typeface="Segoe UI" panose="020B0502040204020203" pitchFamily="34" charset="0"/>
              </a:rPr>
              <a:t>take-away…</a:t>
            </a:r>
          </a:p>
          <a:p>
            <a:pPr marL="0" indent="0">
              <a:buNone/>
            </a:pPr>
            <a:endParaRPr lang="en-US" sz="2400" dirty="0">
              <a:latin typeface="Segoe UI" panose="020B0502040204020203" pitchFamily="34" charset="0"/>
              <a:cs typeface="Segoe UI" panose="020B0502040204020203" pitchFamily="34" charset="0"/>
            </a:endParaRPr>
          </a:p>
          <a:p>
            <a:pPr marL="514350" indent="-514350">
              <a:buFont typeface="+mj-lt"/>
              <a:buAutoNum type="arabicPeriod"/>
            </a:pPr>
            <a:r>
              <a:rPr lang="en-US" sz="2400" dirty="0">
                <a:latin typeface="Segoe UI" panose="020B0502040204020203" pitchFamily="34" charset="0"/>
                <a:cs typeface="Segoe UI" panose="020B0502040204020203" pitchFamily="34" charset="0"/>
              </a:rPr>
              <a:t>By the fall of the Jew the world is made rich </a:t>
            </a:r>
            <a:r>
              <a:rPr lang="en-US" sz="2400" b="1" i="1" u="sng" dirty="0">
                <a:latin typeface="Segoe UI" panose="020B0502040204020203" pitchFamily="34" charset="0"/>
                <a:cs typeface="Segoe UI" panose="020B0502040204020203" pitchFamily="34" charset="0"/>
              </a:rPr>
              <a:t>IF</a:t>
            </a:r>
            <a:r>
              <a:rPr lang="en-US" sz="2400" i="1" u="sng" dirty="0">
                <a:latin typeface="Segoe UI" panose="020B0502040204020203" pitchFamily="34" charset="0"/>
                <a:cs typeface="Segoe UI" panose="020B0502040204020203" pitchFamily="34" charset="0"/>
              </a:rPr>
              <a:t> it turns to Christ in Faith</a:t>
            </a:r>
            <a:r>
              <a:rPr lang="en-US" sz="2400" dirty="0">
                <a:latin typeface="Segoe UI" panose="020B0502040204020203" pitchFamily="34" charset="0"/>
                <a:cs typeface="Segoe UI" panose="020B0502040204020203" pitchFamily="34" charset="0"/>
              </a:rPr>
              <a:t>.  (Romans 11:12)</a:t>
            </a:r>
          </a:p>
          <a:p>
            <a:pPr marL="514350" indent="-514350">
              <a:buFont typeface="+mj-lt"/>
              <a:buAutoNum type="arabicPeriod"/>
            </a:pPr>
            <a:r>
              <a:rPr lang="en-US" sz="2400" dirty="0">
                <a:latin typeface="Segoe UI" panose="020B0502040204020203" pitchFamily="34" charset="0"/>
                <a:cs typeface="Segoe UI" panose="020B0502040204020203" pitchFamily="34" charset="0"/>
              </a:rPr>
              <a:t>By the disobedience of the Jew the Gentile receives mercy </a:t>
            </a:r>
            <a:r>
              <a:rPr lang="en-US" sz="2400" b="1" i="1" u="sng" dirty="0">
                <a:latin typeface="Segoe UI" panose="020B0502040204020203" pitchFamily="34" charset="0"/>
                <a:cs typeface="Segoe UI" panose="020B0502040204020203" pitchFamily="34" charset="0"/>
              </a:rPr>
              <a:t>IF</a:t>
            </a:r>
            <a:r>
              <a:rPr lang="en-US" sz="2400" i="1" u="sng" dirty="0">
                <a:latin typeface="Segoe UI" panose="020B0502040204020203" pitchFamily="34" charset="0"/>
                <a:cs typeface="Segoe UI" panose="020B0502040204020203" pitchFamily="34" charset="0"/>
              </a:rPr>
              <a:t> they come to Christ by Faith</a:t>
            </a:r>
            <a:r>
              <a:rPr lang="en-US" sz="2400" dirty="0">
                <a:latin typeface="Segoe UI" panose="020B0502040204020203" pitchFamily="34" charset="0"/>
                <a:cs typeface="Segoe UI" panose="020B0502040204020203" pitchFamily="34" charset="0"/>
              </a:rPr>
              <a:t>.  (Romans 11:30)</a:t>
            </a:r>
          </a:p>
          <a:p>
            <a:pPr marL="514350" indent="-514350">
              <a:buFont typeface="+mj-lt"/>
              <a:buAutoNum type="arabicPeriod"/>
            </a:pPr>
            <a:r>
              <a:rPr lang="en-US" sz="2400" dirty="0">
                <a:latin typeface="Segoe UI" panose="020B0502040204020203" pitchFamily="34" charset="0"/>
                <a:cs typeface="Segoe UI" panose="020B0502040204020203" pitchFamily="34" charset="0"/>
              </a:rPr>
              <a:t>By the Sin of Adam mankind is made sinners </a:t>
            </a:r>
            <a:r>
              <a:rPr lang="en-US" sz="2400" b="1" i="1" u="sng" dirty="0">
                <a:latin typeface="Segoe UI" panose="020B0502040204020203" pitchFamily="34" charset="0"/>
                <a:cs typeface="Segoe UI" panose="020B0502040204020203" pitchFamily="34" charset="0"/>
              </a:rPr>
              <a:t>IF</a:t>
            </a:r>
            <a:r>
              <a:rPr lang="en-US" sz="2400" i="1" u="sng" dirty="0">
                <a:latin typeface="Segoe UI" panose="020B0502040204020203" pitchFamily="34" charset="0"/>
                <a:cs typeface="Segoe UI" panose="020B0502040204020203" pitchFamily="34" charset="0"/>
              </a:rPr>
              <a:t> they go the way of Adam</a:t>
            </a:r>
            <a:r>
              <a:rPr lang="en-US" sz="2400" dirty="0">
                <a:latin typeface="Segoe UI" panose="020B0502040204020203" pitchFamily="34" charset="0"/>
                <a:cs typeface="Segoe UI" panose="020B0502040204020203" pitchFamily="34" charset="0"/>
              </a:rPr>
              <a:t>.  (Romans 5:19)</a:t>
            </a:r>
          </a:p>
          <a:p>
            <a:pPr marL="514350" indent="-514350">
              <a:buFont typeface="+mj-lt"/>
              <a:buAutoNum type="arabicPeriod"/>
            </a:pPr>
            <a:r>
              <a:rPr lang="en-US" sz="2400" dirty="0">
                <a:latin typeface="Segoe UI" panose="020B0502040204020203" pitchFamily="34" charset="0"/>
                <a:cs typeface="Segoe UI" panose="020B0502040204020203" pitchFamily="34" charset="0"/>
              </a:rPr>
              <a:t>By the Righteousness of Christ mankind is made righteous </a:t>
            </a:r>
            <a:r>
              <a:rPr lang="en-US" sz="2400" b="1" i="1" u="sng" dirty="0">
                <a:latin typeface="Segoe UI" panose="020B0502040204020203" pitchFamily="34" charset="0"/>
                <a:cs typeface="Segoe UI" panose="020B0502040204020203" pitchFamily="34" charset="0"/>
              </a:rPr>
              <a:t>IF</a:t>
            </a:r>
            <a:r>
              <a:rPr lang="en-US" sz="2400" i="1" u="sng" dirty="0">
                <a:latin typeface="Segoe UI" panose="020B0502040204020203" pitchFamily="34" charset="0"/>
                <a:cs typeface="Segoe UI" panose="020B0502040204020203" pitchFamily="34" charset="0"/>
              </a:rPr>
              <a:t> it turns to Him in Faith</a:t>
            </a:r>
            <a:r>
              <a:rPr lang="en-US" sz="2400" dirty="0">
                <a:latin typeface="Segoe UI" panose="020B0502040204020203" pitchFamily="34" charset="0"/>
                <a:cs typeface="Segoe UI" panose="020B0502040204020203" pitchFamily="34" charset="0"/>
              </a:rPr>
              <a:t>.  (Romans 5:19)</a:t>
            </a:r>
          </a:p>
        </p:txBody>
      </p:sp>
    </p:spTree>
    <p:extLst>
      <p:ext uri="{BB962C8B-B14F-4D97-AF65-F5344CB8AC3E}">
        <p14:creationId xmlns:p14="http://schemas.microsoft.com/office/powerpoint/2010/main" val="2224337686"/>
      </p:ext>
    </p:extLst>
  </p:cSld>
  <p:clrMapOvr>
    <a:masterClrMapping/>
  </p:clrMapOvr>
</p:sld>
</file>

<file path=ppt/theme/theme1.xml><?xml version="1.0" encoding="utf-8"?>
<a:theme xmlns:a="http://schemas.openxmlformats.org/drawingml/2006/main" name="PPT_Template_2010SummerSchoo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UPCRC_Powerpoint_Template_with I-Mar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PPT_Template_2010SummerSchool</Template>
  <TotalTime>20389</TotalTime>
  <Words>5081</Words>
  <Application>Microsoft Office PowerPoint</Application>
  <PresentationFormat>On-screen Show (4:3)</PresentationFormat>
  <Paragraphs>338</Paragraphs>
  <Slides>9</Slides>
  <Notes>9</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9</vt:i4>
      </vt:variant>
    </vt:vector>
  </HeadingPairs>
  <TitlesOfParts>
    <vt:vector size="15" baseType="lpstr">
      <vt:lpstr>Arial</vt:lpstr>
      <vt:lpstr>Arial Narrow</vt:lpstr>
      <vt:lpstr>Calibri</vt:lpstr>
      <vt:lpstr>Segoe UI</vt:lpstr>
      <vt:lpstr>PPT_Template_2010SummerSchool</vt:lpstr>
      <vt:lpstr>1_UPCRC_Powerpoint_Template_with I-Mark</vt:lpstr>
      <vt:lpstr>Romans</vt:lpstr>
      <vt:lpstr>PowerPoint Presentation</vt:lpstr>
      <vt:lpstr>The Character of God Revealed Who is ultimately in control of my salvation? </vt:lpstr>
      <vt:lpstr>God’s Sovereignty vs. Human Responsibility God’s Purposes Will not Fail</vt:lpstr>
      <vt:lpstr>Did God’s Promises Fail? How does Paul deal with the “failure” of God’s promises?</vt:lpstr>
      <vt:lpstr>What shall we say then? Perhaps just what the eye-witnesses said…</vt:lpstr>
      <vt:lpstr>PowerPoint Presentation</vt:lpstr>
      <vt:lpstr>Context by Implicit Condition (1) How did Paul write this letter?</vt:lpstr>
      <vt:lpstr>Context by Implicit Condition (2) How did Paul write this letter?</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Phil Pennington</dc:creator>
  <cp:lastModifiedBy>Phil Pennington</cp:lastModifiedBy>
  <cp:revision>824</cp:revision>
  <cp:lastPrinted>2012-04-01T14:05:10Z</cp:lastPrinted>
  <dcterms:created xsi:type="dcterms:W3CDTF">2010-06-16T02:58:04Z</dcterms:created>
  <dcterms:modified xsi:type="dcterms:W3CDTF">2026-06-20T23:54:43Z</dcterms:modified>
</cp:coreProperties>
</file>