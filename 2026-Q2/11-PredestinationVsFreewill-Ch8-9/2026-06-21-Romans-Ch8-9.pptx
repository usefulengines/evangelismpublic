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8"/>
  </p:notesMasterIdLst>
  <p:sldIdLst>
    <p:sldId id="256" r:id="rId3"/>
    <p:sldId id="389" r:id="rId4"/>
    <p:sldId id="383" r:id="rId5"/>
    <p:sldId id="385" r:id="rId6"/>
    <p:sldId id="381" r:id="rId7"/>
    <p:sldId id="387" r:id="rId8"/>
    <p:sldId id="386" r:id="rId9"/>
    <p:sldId id="384" r:id="rId10"/>
    <p:sldId id="388" r:id="rId11"/>
    <p:sldId id="390" r:id="rId12"/>
    <p:sldId id="391" r:id="rId13"/>
    <p:sldId id="363" r:id="rId14"/>
    <p:sldId id="364" r:id="rId15"/>
    <p:sldId id="361" r:id="rId16"/>
    <p:sldId id="375" r:id="rId17"/>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71" autoAdjust="0"/>
    <p:restoredTop sz="76164" autoAdjust="0"/>
  </p:normalViewPr>
  <p:slideViewPr>
    <p:cSldViewPr>
      <p:cViewPr varScale="1">
        <p:scale>
          <a:sx n="95" d="100"/>
          <a:sy n="95" d="100"/>
        </p:scale>
        <p:origin x="2456" y="1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6/19/26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24016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219894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400" b="1" baseline="0" dirty="0"/>
              <a:t>Read 2:17 thru 3:8</a:t>
            </a:r>
            <a:endParaRPr lang="en-US" sz="1400" b="1" dirty="0"/>
          </a:p>
          <a:p>
            <a:pPr marL="0" indent="0">
              <a:buFont typeface="Arial" pitchFamily="34" charset="0"/>
              <a:buNone/>
            </a:pPr>
            <a:endParaRPr lang="en-US" sz="1400" dirty="0"/>
          </a:p>
          <a:p>
            <a:pPr marL="0" indent="0">
              <a:buFont typeface="Arial" pitchFamily="34" charset="0"/>
              <a:buNone/>
            </a:pPr>
            <a:r>
              <a:rPr lang="en-US" sz="1400" dirty="0"/>
              <a:t>Were</a:t>
            </a:r>
            <a:r>
              <a:rPr lang="en-US" sz="1400" baseline="0" dirty="0"/>
              <a:t> the Jewish people “better” (e.g. culturally) than others?</a:t>
            </a:r>
          </a:p>
          <a:p>
            <a:pPr marL="0" indent="0">
              <a:buFont typeface="Arial" pitchFamily="34" charset="0"/>
              <a:buNone/>
            </a:pPr>
            <a:endParaRPr lang="en-US" sz="1400" baseline="0" dirty="0"/>
          </a:p>
          <a:p>
            <a:pPr marL="171450" indent="-171450">
              <a:buFont typeface="Arial" pitchFamily="34" charset="0"/>
              <a:buChar char="•"/>
            </a:pPr>
            <a:r>
              <a:rPr lang="en-US" sz="1400" baseline="0" dirty="0"/>
              <a:t>Arguably “yes”…   compare OT laws about health and living systems vs. others (e.g. hygiene, food restrictions, “keepers of God’s Laws”)</a:t>
            </a:r>
          </a:p>
          <a:p>
            <a:pPr marL="171450" indent="-171450">
              <a:buFont typeface="Arial" pitchFamily="34" charset="0"/>
              <a:buChar char="•"/>
            </a:pPr>
            <a:r>
              <a:rPr lang="en-US" sz="1400" baseline="0" dirty="0"/>
              <a:t>Jews had set aside the “hope of the Messiah” as the Light (even unto Gentiles) and assumed themselves to be the Light.</a:t>
            </a:r>
          </a:p>
          <a:p>
            <a:pPr marL="171450" indent="-171450">
              <a:buFont typeface="Arial" pitchFamily="34" charset="0"/>
              <a:buChar char="•"/>
            </a:pPr>
            <a:r>
              <a:rPr lang="en-US" sz="1400" baseline="0" dirty="0"/>
              <a:t>i.e. arrogant conceit</a:t>
            </a:r>
          </a:p>
          <a:p>
            <a:pPr marL="171450" indent="-171450">
              <a:buFont typeface="Arial" pitchFamily="34" charset="0"/>
              <a:buChar char="•"/>
            </a:pPr>
            <a:r>
              <a:rPr lang="en-US" sz="1400" baseline="0" dirty="0"/>
              <a:t>They had the “form of the Law”, an adaptation of the “original Law”</a:t>
            </a:r>
          </a:p>
          <a:p>
            <a:pPr marL="171450" indent="-171450">
              <a:buFont typeface="Arial" pitchFamily="34" charset="0"/>
              <a:buChar char="•"/>
            </a:pPr>
            <a:r>
              <a:rPr lang="en-US" sz="1400" baseline="0" dirty="0"/>
              <a:t>Paul uses the very Law the Jew trusts in to “root him out”….</a:t>
            </a:r>
          </a:p>
          <a:p>
            <a:pPr marL="171450" indent="-171450">
              <a:buFont typeface="Arial" pitchFamily="34" charset="0"/>
              <a:buChar char="•"/>
            </a:pPr>
            <a:endParaRPr lang="en-US" sz="1400" baseline="0" dirty="0"/>
          </a:p>
          <a:p>
            <a:pPr marL="0" indent="0">
              <a:buFont typeface="Arial" pitchFamily="34" charset="0"/>
              <a:buNone/>
            </a:pPr>
            <a:r>
              <a:rPr lang="en-US" sz="1400" baseline="0" dirty="0"/>
              <a:t>Note:  Historically, the Church had begun in the Jewish community; most of the early Christians (in the years after </a:t>
            </a:r>
            <a:r>
              <a:rPr lang="en-US" sz="1400" baseline="0" dirty="0" err="1"/>
              <a:t>pentecost</a:t>
            </a:r>
            <a:r>
              <a:rPr lang="en-US" sz="1400" baseline="0" dirty="0"/>
              <a:t>) were Jews.   But, here we are 30-40 years since then and the Church had largely become a Gentile phenomenon.   Paul (as he traveled and preached in the synagogues) undoubtedly faced a hostile, taunting, perhaps demeaning audience of Jews.   Hence, his focus on a Jewish centered argument from that perspective.</a:t>
            </a:r>
          </a:p>
          <a:p>
            <a:pPr marL="0" indent="0">
              <a:buFont typeface="Arial" pitchFamily="34" charset="0"/>
              <a:buNone/>
            </a:pPr>
            <a:endParaRPr lang="en-US" sz="1400" baseline="0" dirty="0"/>
          </a:p>
          <a:p>
            <a:pPr marL="0" indent="0">
              <a:buFont typeface="Arial" pitchFamily="34" charset="0"/>
              <a:buNone/>
            </a:pPr>
            <a:r>
              <a:rPr lang="en-US" sz="1400" baseline="0" dirty="0"/>
              <a:t>Sub-argument (circumcision is of the heart – </a:t>
            </a:r>
            <a:r>
              <a:rPr lang="en-US" sz="1400" b="1" baseline="0" dirty="0" err="1"/>
              <a:t>Deut</a:t>
            </a:r>
            <a:r>
              <a:rPr lang="en-US" sz="1400" b="1" baseline="0" dirty="0"/>
              <a:t> 10:16</a:t>
            </a:r>
            <a:r>
              <a:rPr lang="en-US" sz="1400" baseline="0" dirty="0"/>
              <a:t>):</a:t>
            </a:r>
          </a:p>
          <a:p>
            <a:pPr marL="171450" indent="-171450">
              <a:buFont typeface="Arial" pitchFamily="34" charset="0"/>
              <a:buChar char="•"/>
            </a:pPr>
            <a:r>
              <a:rPr lang="en-US" sz="1400" baseline="0" dirty="0"/>
              <a:t>The Jew (</a:t>
            </a:r>
            <a:r>
              <a:rPr lang="en-US" sz="1400" i="1" baseline="0" dirty="0"/>
              <a:t>being</a:t>
            </a:r>
            <a:r>
              <a:rPr lang="en-US" sz="1400" baseline="0" dirty="0"/>
              <a:t> circumcised under the law) would not receive covering under the law </a:t>
            </a:r>
            <a:r>
              <a:rPr lang="en-US" sz="1400" i="1" baseline="0" dirty="0"/>
              <a:t>without</a:t>
            </a:r>
            <a:r>
              <a:rPr lang="en-US" sz="1400" baseline="0" dirty="0"/>
              <a:t> obedience…</a:t>
            </a:r>
          </a:p>
          <a:p>
            <a:pPr marL="171450" indent="-171450">
              <a:buFont typeface="Arial" pitchFamily="34" charset="0"/>
              <a:buChar char="•"/>
            </a:pPr>
            <a:r>
              <a:rPr lang="en-US" sz="1400" baseline="0" dirty="0"/>
              <a:t>And, the Gentile (</a:t>
            </a:r>
            <a:r>
              <a:rPr lang="en-US" sz="1400" i="1" baseline="0" dirty="0"/>
              <a:t>not</a:t>
            </a:r>
            <a:r>
              <a:rPr lang="en-US" sz="1400" baseline="0" dirty="0"/>
              <a:t> </a:t>
            </a:r>
            <a:r>
              <a:rPr lang="en-US" sz="1400" i="1" baseline="0" dirty="0"/>
              <a:t>being</a:t>
            </a:r>
            <a:r>
              <a:rPr lang="en-US" sz="1400" baseline="0" dirty="0"/>
              <a:t> circumcised under the law) could receive covering under the law </a:t>
            </a:r>
            <a:r>
              <a:rPr lang="en-US" sz="1400" i="1" baseline="0" dirty="0"/>
              <a:t>with</a:t>
            </a:r>
            <a:r>
              <a:rPr lang="en-US" sz="1400" baseline="0" dirty="0"/>
              <a:t> obedience (argument from v. 2:13)…</a:t>
            </a:r>
          </a:p>
          <a:p>
            <a:pPr marL="171450" indent="-171450">
              <a:buFont typeface="Arial" pitchFamily="34" charset="0"/>
              <a:buChar char="•"/>
            </a:pPr>
            <a:r>
              <a:rPr lang="en-US" sz="1400" baseline="0" dirty="0"/>
              <a:t>Therefore, the Jew would argue (tauntingly)…   </a:t>
            </a:r>
            <a:r>
              <a:rPr lang="en-US" sz="1400" b="1" baseline="0" dirty="0"/>
              <a:t>Romans 3:1-8</a:t>
            </a:r>
          </a:p>
          <a:p>
            <a:pPr marL="628650" lvl="1" indent="-171450">
              <a:buFont typeface="Arial" pitchFamily="34" charset="0"/>
              <a:buChar char="•"/>
            </a:pPr>
            <a:r>
              <a:rPr lang="en-US" sz="1400" baseline="0" dirty="0"/>
              <a:t>What advantage is there in being a Jew…?   If we are made right with God by His Grace alone, then…</a:t>
            </a:r>
          </a:p>
          <a:p>
            <a:pPr marL="628650" lvl="1" indent="-171450">
              <a:buFont typeface="Arial" pitchFamily="34" charset="0"/>
              <a:buChar char="•"/>
            </a:pPr>
            <a:r>
              <a:rPr lang="en-US" sz="1400" baseline="0" dirty="0"/>
              <a:t>Isn’t it the case then that our unrighteousness further increase God’s glory…?</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b="1" i="1" baseline="0" dirty="0"/>
              <a:t>Discuss Job 38:1-3; Job 40:2; Job 40:8</a:t>
            </a:r>
          </a:p>
          <a:p>
            <a:pPr marL="628650" lvl="1" indent="-171450">
              <a:buFont typeface="Arial" pitchFamily="34" charset="0"/>
              <a:buChar char="•"/>
            </a:pPr>
            <a:r>
              <a:rPr lang="en-US" sz="1400" baseline="0" dirty="0"/>
              <a:t>Discuss Psalm 51:4</a:t>
            </a:r>
          </a:p>
          <a:p>
            <a:pPr marL="628650" lvl="1" indent="-171450">
              <a:buFont typeface="Arial" pitchFamily="34" charset="0"/>
              <a:buChar char="•"/>
            </a:pPr>
            <a:r>
              <a:rPr lang="en-US" sz="1400" baseline="0" dirty="0"/>
              <a:t>(similar argument today – is baptism really necessary then? )</a:t>
            </a:r>
          </a:p>
          <a:p>
            <a:pPr marL="0" indent="0">
              <a:buFont typeface="Arial" pitchFamily="34" charset="0"/>
              <a:buNone/>
            </a:pPr>
            <a:endParaRPr lang="en-US" sz="1400"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400" b="1" i="0" baseline="0" dirty="0"/>
              <a:t>The Starting Place of Faith (God’s Truth is not determined by our assessment of it…):</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b="1"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3:3      “Let God be true and every man a liar…”     </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We all know about truth because we all comprehend what a lie is…  (the negative reveals the positive)</a:t>
            </a:r>
          </a:p>
          <a:p>
            <a:pPr marL="457200" marR="0" lvl="1"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3:4      Men are judging God…!     (Psalm 51:4)    Man says…  “God doesn’t have the right to judge me..!   I am as he has made me…”   Discuss Job 40:8</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3:5-9    Paul assents to their argument and then demonstrates how the argument can’t be true because it contradicts God’s own nature…   (How can a perfectly just God not apply justice?)</a:t>
            </a:r>
            <a:endParaRPr lang="en-US" sz="1400"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baseline="0" dirty="0"/>
              <a:t>Sin is born of motivation….!   Who is really good?</a:t>
            </a:r>
          </a:p>
          <a:p>
            <a:pPr marL="0" indent="0">
              <a:buFont typeface="Arial" pitchFamily="34" charset="0"/>
              <a:buNone/>
            </a:pPr>
            <a:endParaRPr lang="en-US" sz="1400" baseline="0" dirty="0"/>
          </a:p>
          <a:p>
            <a:r>
              <a:rPr lang="en-US" sz="1400" b="1" kern="1200" dirty="0">
                <a:solidFill>
                  <a:schemeClr val="tx1"/>
                </a:solidFill>
                <a:effectLst/>
                <a:latin typeface="+mn-lt"/>
                <a:ea typeface="ＭＳ Ｐゴシック" pitchFamily="-106" charset="-128"/>
                <a:cs typeface="ＭＳ Ｐゴシック" pitchFamily="-106" charset="-128"/>
              </a:rPr>
              <a:t>Isaiah 52:5</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5</a:t>
            </a:r>
            <a:r>
              <a:rPr lang="en-US" sz="1400" kern="1200" dirty="0">
                <a:solidFill>
                  <a:schemeClr val="tx1"/>
                </a:solidFill>
                <a:effectLst/>
                <a:latin typeface="+mn-lt"/>
                <a:ea typeface="ＭＳ Ｐゴシック" pitchFamily="-106" charset="-128"/>
                <a:cs typeface="ＭＳ Ｐゴシック" pitchFamily="-106" charset="-128"/>
              </a:rPr>
              <a:t> And now, what do we have here?” says the LORD. “Indeed my people have been carried away for nothing, those who rule over them taunt,” says the LORD, “and my name is constantly slandered all day long.</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Ezekiel 36:16-36</a:t>
            </a:r>
            <a:br>
              <a:rPr lang="en-US" sz="1400" kern="1200" dirty="0">
                <a:solidFill>
                  <a:schemeClr val="tx1"/>
                </a:solidFill>
                <a:effectLst/>
                <a:latin typeface="+mn-lt"/>
                <a:ea typeface="ＭＳ Ｐゴシック" pitchFamily="-106" charset="-128"/>
                <a:cs typeface="ＭＳ Ｐゴシック" pitchFamily="-106" charset="-128"/>
              </a:rPr>
            </a:b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The LORD’s message came to me: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“Son of man, when the house of Israel was living on their own land, they defiled it by their behavior and their deeds. In my sight their behavior was like the uncleanness of a woman having her monthly period.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So I poured my anger on them because of the blood they shed on the land and because of the idols with which they defiled it.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I scattered them among the nations; they were dispersed throughout foreign countries. In accordance with their behavior and their deeds I judged them.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But when they arrived in the nations where they went, they profaned my holy name. It was said of them, ‘These are the people of the LORD, yet they have departed from his land.’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I was concerned for my holy reputation which the house of Israel profaned among the nations where they went.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“Therefore say to the house of Israel, ‘This is what the Sovereign LORD says: It is not for your sake that I am about to act, O house of Israel, but for the sake of my holy reputation which you profaned among the nations where you went.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I will magnify my great name that has been profaned among the nations, that you have profaned among them. The nations will know that I am the LORD, declares the Sovereign LORD, when I magnify myself among you in their sight.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“‘I will take you from the nations and gather you from all the countries; then I will bring you to your land. </a:t>
            </a:r>
            <a:r>
              <a:rPr lang="en-US" sz="1400" b="1" kern="1200" dirty="0">
                <a:solidFill>
                  <a:schemeClr val="tx1"/>
                </a:solidFill>
                <a:effectLst/>
                <a:latin typeface="+mn-lt"/>
                <a:ea typeface="ＭＳ Ｐゴシック" pitchFamily="-106" charset="-128"/>
                <a:cs typeface="ＭＳ Ｐゴシック" pitchFamily="-106" charset="-128"/>
              </a:rPr>
              <a:t>25</a:t>
            </a:r>
            <a:r>
              <a:rPr lang="en-US" sz="1400" kern="1200" dirty="0">
                <a:solidFill>
                  <a:schemeClr val="tx1"/>
                </a:solidFill>
                <a:effectLst/>
                <a:latin typeface="+mn-lt"/>
                <a:ea typeface="ＭＳ Ｐゴシック" pitchFamily="-106" charset="-128"/>
                <a:cs typeface="ＭＳ Ｐゴシック" pitchFamily="-106" charset="-128"/>
              </a:rPr>
              <a:t> I will sprinkle you with pure water and you will be clean from all your impurities. I will purify you from all your idols. </a:t>
            </a:r>
            <a:r>
              <a:rPr lang="en-US" sz="1400" b="1" kern="1200" dirty="0">
                <a:solidFill>
                  <a:schemeClr val="tx1"/>
                </a:solidFill>
                <a:effectLst/>
                <a:latin typeface="+mn-lt"/>
                <a:ea typeface="ＭＳ Ｐゴシック" pitchFamily="-106" charset="-128"/>
                <a:cs typeface="ＭＳ Ｐゴシック" pitchFamily="-106" charset="-128"/>
              </a:rPr>
              <a:t>26</a:t>
            </a:r>
            <a:r>
              <a:rPr lang="en-US" sz="1400" kern="1200" dirty="0">
                <a:solidFill>
                  <a:schemeClr val="tx1"/>
                </a:solidFill>
                <a:effectLst/>
                <a:latin typeface="+mn-lt"/>
                <a:ea typeface="ＭＳ Ｐゴシック" pitchFamily="-106" charset="-128"/>
                <a:cs typeface="ＭＳ Ｐゴシック" pitchFamily="-106" charset="-128"/>
              </a:rPr>
              <a:t> I will give you a new heart, and I will put a new spirit within you. I will remove the heart of stone from your body and give you a heart of flesh. </a:t>
            </a:r>
            <a:r>
              <a:rPr lang="en-US" sz="1400" b="1" kern="1200" dirty="0">
                <a:solidFill>
                  <a:schemeClr val="tx1"/>
                </a:solidFill>
                <a:effectLst/>
                <a:latin typeface="+mn-lt"/>
                <a:ea typeface="ＭＳ Ｐゴシック" pitchFamily="-106" charset="-128"/>
                <a:cs typeface="ＭＳ Ｐゴシック" pitchFamily="-106" charset="-128"/>
              </a:rPr>
              <a:t>27</a:t>
            </a:r>
            <a:r>
              <a:rPr lang="en-US" sz="1400" kern="1200" dirty="0">
                <a:solidFill>
                  <a:schemeClr val="tx1"/>
                </a:solidFill>
                <a:effectLst/>
                <a:latin typeface="+mn-lt"/>
                <a:ea typeface="ＭＳ Ｐゴシック" pitchFamily="-106" charset="-128"/>
                <a:cs typeface="ＭＳ Ｐゴシック" pitchFamily="-106" charset="-128"/>
              </a:rPr>
              <a:t> I will put my Spirit within you; I will take the initiative and you will obey my statutes and carefully observe my regulations. </a:t>
            </a:r>
            <a:r>
              <a:rPr lang="en-US" sz="1400" b="1" kern="1200" dirty="0">
                <a:solidFill>
                  <a:schemeClr val="tx1"/>
                </a:solidFill>
                <a:effectLst/>
                <a:latin typeface="+mn-lt"/>
                <a:ea typeface="ＭＳ Ｐゴシック" pitchFamily="-106" charset="-128"/>
                <a:cs typeface="ＭＳ Ｐゴシック" pitchFamily="-106" charset="-128"/>
              </a:rPr>
              <a:t>28</a:t>
            </a:r>
            <a:r>
              <a:rPr lang="en-US" sz="1400" kern="1200" dirty="0">
                <a:solidFill>
                  <a:schemeClr val="tx1"/>
                </a:solidFill>
                <a:effectLst/>
                <a:latin typeface="+mn-lt"/>
                <a:ea typeface="ＭＳ Ｐゴシック" pitchFamily="-106" charset="-128"/>
                <a:cs typeface="ＭＳ Ｐゴシック" pitchFamily="-106" charset="-128"/>
              </a:rPr>
              <a:t> Then you will live in the land I gave to your fathers; you will be my people, and I will be your God. </a:t>
            </a:r>
            <a:r>
              <a:rPr lang="en-US" sz="1400" b="1" kern="1200" dirty="0">
                <a:solidFill>
                  <a:schemeClr val="tx1"/>
                </a:solidFill>
                <a:effectLst/>
                <a:latin typeface="+mn-lt"/>
                <a:ea typeface="ＭＳ Ｐゴシック" pitchFamily="-106" charset="-128"/>
                <a:cs typeface="ＭＳ Ｐゴシック" pitchFamily="-106" charset="-128"/>
              </a:rPr>
              <a:t>29</a:t>
            </a:r>
            <a:r>
              <a:rPr lang="en-US" sz="1400" kern="1200" dirty="0">
                <a:solidFill>
                  <a:schemeClr val="tx1"/>
                </a:solidFill>
                <a:effectLst/>
                <a:latin typeface="+mn-lt"/>
                <a:ea typeface="ＭＳ Ｐゴシック" pitchFamily="-106" charset="-128"/>
                <a:cs typeface="ＭＳ Ｐゴシック" pitchFamily="-106" charset="-128"/>
              </a:rPr>
              <a:t> I will save you from all your uncleanness. I will call for the grain and multiply it; I will not bring a famine on you. </a:t>
            </a:r>
            <a:r>
              <a:rPr lang="en-US" sz="1400" b="1" kern="1200" dirty="0">
                <a:solidFill>
                  <a:schemeClr val="tx1"/>
                </a:solidFill>
                <a:effectLst/>
                <a:latin typeface="+mn-lt"/>
                <a:ea typeface="ＭＳ Ｐゴシック" pitchFamily="-106" charset="-128"/>
                <a:cs typeface="ＭＳ Ｐゴシック" pitchFamily="-106" charset="-128"/>
              </a:rPr>
              <a:t>30</a:t>
            </a:r>
            <a:r>
              <a:rPr lang="en-US" sz="1400" kern="1200" dirty="0">
                <a:solidFill>
                  <a:schemeClr val="tx1"/>
                </a:solidFill>
                <a:effectLst/>
                <a:latin typeface="+mn-lt"/>
                <a:ea typeface="ＭＳ Ｐゴシック" pitchFamily="-106" charset="-128"/>
                <a:cs typeface="ＭＳ Ｐゴシック" pitchFamily="-106" charset="-128"/>
              </a:rPr>
              <a:t> I will multiply the fruit of the trees and the produce of the fields, so that you will never again suffer the disgrace of famine among the nations. </a:t>
            </a:r>
            <a:r>
              <a:rPr lang="en-US" sz="1400" b="1" kern="1200" dirty="0">
                <a:solidFill>
                  <a:schemeClr val="tx1"/>
                </a:solidFill>
                <a:effectLst/>
                <a:latin typeface="+mn-lt"/>
                <a:ea typeface="ＭＳ Ｐゴシック" pitchFamily="-106" charset="-128"/>
                <a:cs typeface="ＭＳ Ｐゴシック" pitchFamily="-106" charset="-128"/>
              </a:rPr>
              <a:t>31</a:t>
            </a:r>
            <a:r>
              <a:rPr lang="en-US" sz="1400" kern="1200" dirty="0">
                <a:solidFill>
                  <a:schemeClr val="tx1"/>
                </a:solidFill>
                <a:effectLst/>
                <a:latin typeface="+mn-lt"/>
                <a:ea typeface="ＭＳ Ｐゴシック" pitchFamily="-106" charset="-128"/>
                <a:cs typeface="ＭＳ Ｐゴシック" pitchFamily="-106" charset="-128"/>
              </a:rPr>
              <a:t> Then you will remember your evil behavior and your deeds which were not good; you will loathe yourselves on account of your sins and your abominable deeds. </a:t>
            </a:r>
            <a:r>
              <a:rPr lang="en-US" sz="1400" b="1" kern="1200" dirty="0">
                <a:solidFill>
                  <a:schemeClr val="tx1"/>
                </a:solidFill>
                <a:effectLst/>
                <a:latin typeface="+mn-lt"/>
                <a:ea typeface="ＭＳ Ｐゴシック" pitchFamily="-106" charset="-128"/>
                <a:cs typeface="ＭＳ Ｐゴシック" pitchFamily="-106" charset="-128"/>
              </a:rPr>
              <a:t>32</a:t>
            </a:r>
            <a:r>
              <a:rPr lang="en-US" sz="1400" kern="1200" dirty="0">
                <a:solidFill>
                  <a:schemeClr val="tx1"/>
                </a:solidFill>
                <a:effectLst/>
                <a:latin typeface="+mn-lt"/>
                <a:ea typeface="ＭＳ Ｐゴシック" pitchFamily="-106" charset="-128"/>
                <a:cs typeface="ＭＳ Ｐゴシック" pitchFamily="-106" charset="-128"/>
              </a:rPr>
              <a:t> Understand that it is not for your sake I am about to act, declares the Sovereign LORD. Be ashamed and embarrassed by your behavior, O house of Israel. </a:t>
            </a:r>
            <a:r>
              <a:rPr lang="en-US" sz="1400" b="1" kern="1200" dirty="0">
                <a:solidFill>
                  <a:schemeClr val="tx1"/>
                </a:solidFill>
                <a:effectLst/>
                <a:latin typeface="+mn-lt"/>
                <a:ea typeface="ＭＳ Ｐゴシック" pitchFamily="-106" charset="-128"/>
                <a:cs typeface="ＭＳ Ｐゴシック" pitchFamily="-106" charset="-128"/>
              </a:rPr>
              <a:t>33</a:t>
            </a:r>
            <a:r>
              <a:rPr lang="en-US" sz="1400" kern="1200" dirty="0">
                <a:solidFill>
                  <a:schemeClr val="tx1"/>
                </a:solidFill>
                <a:effectLst/>
                <a:latin typeface="+mn-lt"/>
                <a:ea typeface="ＭＳ Ｐゴシック" pitchFamily="-106" charset="-128"/>
                <a:cs typeface="ＭＳ Ｐゴシック" pitchFamily="-106" charset="-128"/>
              </a:rPr>
              <a:t> “‘This is what the Sovereign LORD says: In the day I cleanse you from all your sins, I will populate the cities and the ruins will be rebuilt. </a:t>
            </a:r>
            <a:r>
              <a:rPr lang="en-US" sz="1400" b="1" kern="1200" dirty="0">
                <a:solidFill>
                  <a:schemeClr val="tx1"/>
                </a:solidFill>
                <a:effectLst/>
                <a:latin typeface="+mn-lt"/>
                <a:ea typeface="ＭＳ Ｐゴシック" pitchFamily="-106" charset="-128"/>
                <a:cs typeface="ＭＳ Ｐゴシック" pitchFamily="-106" charset="-128"/>
              </a:rPr>
              <a:t>34</a:t>
            </a:r>
            <a:r>
              <a:rPr lang="en-US" sz="1400" kern="1200" dirty="0">
                <a:solidFill>
                  <a:schemeClr val="tx1"/>
                </a:solidFill>
                <a:effectLst/>
                <a:latin typeface="+mn-lt"/>
                <a:ea typeface="ＭＳ Ｐゴシック" pitchFamily="-106" charset="-128"/>
                <a:cs typeface="ＭＳ Ｐゴシック" pitchFamily="-106" charset="-128"/>
              </a:rPr>
              <a:t> The desolate land will be plowed, instead of being desolate in the sight of everyone who passes by. </a:t>
            </a:r>
            <a:r>
              <a:rPr lang="en-US" sz="1400" b="1" kern="1200" dirty="0">
                <a:solidFill>
                  <a:schemeClr val="tx1"/>
                </a:solidFill>
                <a:effectLst/>
                <a:latin typeface="+mn-lt"/>
                <a:ea typeface="ＭＳ Ｐゴシック" pitchFamily="-106" charset="-128"/>
                <a:cs typeface="ＭＳ Ｐゴシック" pitchFamily="-106" charset="-128"/>
              </a:rPr>
              <a:t>35</a:t>
            </a:r>
            <a:r>
              <a:rPr lang="en-US" sz="1400" kern="1200" dirty="0">
                <a:solidFill>
                  <a:schemeClr val="tx1"/>
                </a:solidFill>
                <a:effectLst/>
                <a:latin typeface="+mn-lt"/>
                <a:ea typeface="ＭＳ Ｐゴシック" pitchFamily="-106" charset="-128"/>
                <a:cs typeface="ＭＳ Ｐゴシック" pitchFamily="-106" charset="-128"/>
              </a:rPr>
              <a:t> They will say, “This desolate land has become like the garden of Eden; the ruined, desolate, and destroyed cities are now fortified and inhabited.” </a:t>
            </a:r>
            <a:r>
              <a:rPr lang="en-US" sz="1400" b="1" kern="1200" dirty="0">
                <a:solidFill>
                  <a:schemeClr val="tx1"/>
                </a:solidFill>
                <a:effectLst/>
                <a:latin typeface="+mn-lt"/>
                <a:ea typeface="ＭＳ Ｐゴシック" pitchFamily="-106" charset="-128"/>
                <a:cs typeface="ＭＳ Ｐゴシック" pitchFamily="-106" charset="-128"/>
              </a:rPr>
              <a:t>36</a:t>
            </a:r>
            <a:r>
              <a:rPr lang="en-US" sz="1400" kern="1200" dirty="0">
                <a:solidFill>
                  <a:schemeClr val="tx1"/>
                </a:solidFill>
                <a:effectLst/>
                <a:latin typeface="+mn-lt"/>
                <a:ea typeface="ＭＳ Ｐゴシック" pitchFamily="-106" charset="-128"/>
                <a:cs typeface="ＭＳ Ｐゴシック" pitchFamily="-106" charset="-128"/>
              </a:rPr>
              <a:t> Then the nations which remain around you will know that I, the LORD, have rebuilt the ruins and replanted what was desolate. I, the LORD, have spoken – and I will do it!’</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Deuteronomy 10:16-17</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Therefore, cleanse your heart and stop being so stubborn!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For the LORD your God is God of gods and Lord of lords, the great, mighty, and awesome God who is unbiased and takes no bribe,</a:t>
            </a:r>
          </a:p>
          <a:p>
            <a:pPr marL="0" indent="0">
              <a:buFont typeface="Arial" pitchFamily="34" charset="0"/>
              <a:buNone/>
            </a:pPr>
            <a:endParaRPr lang="en-US" sz="1400" baseline="0" dirty="0"/>
          </a:p>
          <a:p>
            <a:pPr marL="0" indent="0">
              <a:buFont typeface="Arial" pitchFamily="34" charset="0"/>
              <a:buNone/>
            </a:pPr>
            <a:endParaRPr lang="en-US" sz="1400" baseline="0" dirty="0"/>
          </a:p>
          <a:p>
            <a:pPr marL="0"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76939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35804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216509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609565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indent="0">
              <a:buFont typeface="Arial" pitchFamily="34" charset="0"/>
              <a:buNone/>
            </a:pPr>
            <a:r>
              <a:rPr lang="en-US" sz="1400" b="1" baseline="0" dirty="0"/>
              <a:t>The Promises of GOD are the currency upon which man-kind’s ultimate hope and destiny rest.  Discuss how GOD made promises to Abraham, Moses and the Israelites, and to us (</a:t>
            </a:r>
            <a:r>
              <a:rPr lang="en-US" sz="1400" b="1" baseline="0" dirty="0" err="1"/>
              <a:t>Jer</a:t>
            </a:r>
            <a:r>
              <a:rPr lang="en-US" sz="1400" b="1" baseline="0" dirty="0"/>
              <a:t> 31:31).</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Galatians 3:15-18</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Brothers and sisters, I offer an example from everyday life: When a covenant has been ratified, even though it is only a human contract, no one can set it aside or add anything to it.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Now the promises were spoken to Abraham and to his descendant. Scripture does not say, “and to the descendants,” referring to many, but “</a:t>
            </a:r>
            <a:r>
              <a:rPr lang="en-US" sz="1400" b="1" i="1" kern="1200" dirty="0">
                <a:solidFill>
                  <a:schemeClr val="tx1"/>
                </a:solidFill>
                <a:effectLst/>
                <a:latin typeface="+mn-lt"/>
                <a:ea typeface="ＭＳ Ｐゴシック" pitchFamily="-106" charset="-128"/>
                <a:cs typeface="ＭＳ Ｐゴシック" pitchFamily="-106" charset="-128"/>
              </a:rPr>
              <a:t>and to your descendant</a:t>
            </a:r>
            <a:r>
              <a:rPr lang="en-US" sz="1400" kern="1200" dirty="0">
                <a:solidFill>
                  <a:schemeClr val="tx1"/>
                </a:solidFill>
                <a:effectLst/>
                <a:latin typeface="+mn-lt"/>
                <a:ea typeface="ＭＳ Ｐゴシック" pitchFamily="-106" charset="-128"/>
                <a:cs typeface="ＭＳ Ｐゴシック" pitchFamily="-106" charset="-128"/>
              </a:rPr>
              <a:t>,” referring to one, who is Christ.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What I am saying is this: The law that came four hundred thirty years later does not cancel a covenant previously ratified by God, so as to invalidate the promise.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For if the inheritance is based on the law, it is no longer based on the promise, but God graciously gave it to Abraham through the promise.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Galatians 3:19-29</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Why then was the law given? It was added because of transgressions, until the arrival of the descendant to whom the promise had been made. It was administered through angels by an intermediary.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Now an intermediary is not for one party alone, but God is one.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Is the law therefore opposed to the promises of God? Absolutely not! For if a law had been given that was able to give life, then righteousness would certainly have come by the law.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But the scripture imprisoned everything under sin so that the promise could be given – because of the faithfulness of Jesus Christ – to those who believe.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Now before faith came we were held in custody under the law, being kept as prisoners until the coming faith would be revealed.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Thus the law had become our guardian until Christ, so that we could be declared righteous by faith. </a:t>
            </a:r>
            <a:r>
              <a:rPr lang="en-US" sz="1400" b="1" kern="1200" dirty="0">
                <a:solidFill>
                  <a:schemeClr val="tx1"/>
                </a:solidFill>
                <a:effectLst/>
                <a:latin typeface="+mn-lt"/>
                <a:ea typeface="ＭＳ Ｐゴシック" pitchFamily="-106" charset="-128"/>
                <a:cs typeface="ＭＳ Ｐゴシック" pitchFamily="-106" charset="-128"/>
              </a:rPr>
              <a:t>25</a:t>
            </a:r>
            <a:r>
              <a:rPr lang="en-US" sz="1400" kern="1200" dirty="0">
                <a:solidFill>
                  <a:schemeClr val="tx1"/>
                </a:solidFill>
                <a:effectLst/>
                <a:latin typeface="+mn-lt"/>
                <a:ea typeface="ＭＳ Ｐゴシック" pitchFamily="-106" charset="-128"/>
                <a:cs typeface="ＭＳ Ｐゴシック" pitchFamily="-106" charset="-128"/>
              </a:rPr>
              <a:t> But now that faith has come, we are no longer under a guardian. </a:t>
            </a:r>
            <a:r>
              <a:rPr lang="en-US" sz="1400" b="1" kern="1200" dirty="0">
                <a:solidFill>
                  <a:schemeClr val="tx1"/>
                </a:solidFill>
                <a:effectLst/>
                <a:latin typeface="+mn-lt"/>
                <a:ea typeface="ＭＳ Ｐゴシック" pitchFamily="-106" charset="-128"/>
                <a:cs typeface="ＭＳ Ｐゴシック" pitchFamily="-106" charset="-128"/>
              </a:rPr>
              <a:t>26</a:t>
            </a:r>
            <a:r>
              <a:rPr lang="en-US" sz="1400" kern="1200" dirty="0">
                <a:solidFill>
                  <a:schemeClr val="tx1"/>
                </a:solidFill>
                <a:effectLst/>
                <a:latin typeface="+mn-lt"/>
                <a:ea typeface="ＭＳ Ｐゴシック" pitchFamily="-106" charset="-128"/>
                <a:cs typeface="ＭＳ Ｐゴシック" pitchFamily="-106" charset="-128"/>
              </a:rPr>
              <a:t> For in Christ Jesus you are all sons of God through faith. </a:t>
            </a:r>
            <a:r>
              <a:rPr lang="en-US" sz="1400" b="1" kern="1200" dirty="0">
                <a:solidFill>
                  <a:schemeClr val="tx1"/>
                </a:solidFill>
                <a:effectLst/>
                <a:latin typeface="+mn-lt"/>
                <a:ea typeface="ＭＳ Ｐゴシック" pitchFamily="-106" charset="-128"/>
                <a:cs typeface="ＭＳ Ｐゴシック" pitchFamily="-106" charset="-128"/>
              </a:rPr>
              <a:t>27</a:t>
            </a:r>
            <a:r>
              <a:rPr lang="en-US" sz="1400" kern="1200" dirty="0">
                <a:solidFill>
                  <a:schemeClr val="tx1"/>
                </a:solidFill>
                <a:effectLst/>
                <a:latin typeface="+mn-lt"/>
                <a:ea typeface="ＭＳ Ｐゴシック" pitchFamily="-106" charset="-128"/>
                <a:cs typeface="ＭＳ Ｐゴシック" pitchFamily="-106" charset="-128"/>
              </a:rPr>
              <a:t> For all of you who were baptized into Christ have clothed yourselves with Christ. </a:t>
            </a:r>
            <a:r>
              <a:rPr lang="en-US" sz="1400" b="1" kern="1200" dirty="0">
                <a:solidFill>
                  <a:schemeClr val="tx1"/>
                </a:solidFill>
                <a:effectLst/>
                <a:latin typeface="+mn-lt"/>
                <a:ea typeface="ＭＳ Ｐゴシック" pitchFamily="-106" charset="-128"/>
                <a:cs typeface="ＭＳ Ｐゴシック" pitchFamily="-106" charset="-128"/>
              </a:rPr>
              <a:t>28</a:t>
            </a:r>
            <a:r>
              <a:rPr lang="en-US" sz="1400" kern="1200" dirty="0">
                <a:solidFill>
                  <a:schemeClr val="tx1"/>
                </a:solidFill>
                <a:effectLst/>
                <a:latin typeface="+mn-lt"/>
                <a:ea typeface="ＭＳ Ｐゴシック" pitchFamily="-106" charset="-128"/>
                <a:cs typeface="ＭＳ Ｐゴシック" pitchFamily="-106" charset="-128"/>
              </a:rPr>
              <a:t> There is neither Jew nor Greek, there is neither slave nor free, there is neither male nor female – for all of you are one in Christ Jesus. </a:t>
            </a:r>
            <a:r>
              <a:rPr lang="en-US" sz="1400" b="1" kern="1200" dirty="0">
                <a:solidFill>
                  <a:schemeClr val="tx1"/>
                </a:solidFill>
                <a:effectLst/>
                <a:latin typeface="+mn-lt"/>
                <a:ea typeface="ＭＳ Ｐゴシック" pitchFamily="-106" charset="-128"/>
                <a:cs typeface="ＭＳ Ｐゴシック" pitchFamily="-106" charset="-128"/>
              </a:rPr>
              <a:t>29</a:t>
            </a:r>
            <a:r>
              <a:rPr lang="en-US" sz="1400" kern="1200" dirty="0">
                <a:solidFill>
                  <a:schemeClr val="tx1"/>
                </a:solidFill>
                <a:effectLst/>
                <a:latin typeface="+mn-lt"/>
                <a:ea typeface="ＭＳ Ｐゴシック" pitchFamily="-106" charset="-128"/>
                <a:cs typeface="ＭＳ Ｐゴシック" pitchFamily="-106" charset="-128"/>
              </a:rPr>
              <a:t> And if you belong to Christ, then you are Abraham’s descendants, heirs according to the promise.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Deuteronomy 18:15-19</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The LORD your God will raise up for you a prophet like me from among you – from your fellow Israelites; you must listen to him.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This accords with what happened at Horeb in the day of the assembly. You asked the LORD your God: “Please do not make us hear the voice of the LORD our God any more or see this great fire any more lest we die.”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The LORD then said to me, “What they have said is good.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I will raise up a prophet like you for them from among their fellow Israelites. I will put my words in his mouth and he will speak to them whatever I command.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I will personally hold responsible anyone who then pays no attention to the words that prophet speaks in my name.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Acts 3:21-23</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This one heaven must receive until the time all things are restored, which God declared from times long ago through his holy prophets.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Moses said, ‘</a:t>
            </a:r>
            <a:r>
              <a:rPr lang="en-US" sz="1400" b="1" i="1" kern="1200" dirty="0">
                <a:solidFill>
                  <a:schemeClr val="tx1"/>
                </a:solidFill>
                <a:effectLst/>
                <a:latin typeface="+mn-lt"/>
                <a:ea typeface="ＭＳ Ｐゴシック" pitchFamily="-106" charset="-128"/>
                <a:cs typeface="ＭＳ Ｐゴシック" pitchFamily="-106" charset="-128"/>
              </a:rPr>
              <a:t>The Lord your God will raise up for you a prophet like me from among your brothers</a:t>
            </a:r>
            <a:r>
              <a:rPr lang="en-US" sz="1400" i="1"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You must obey him in everything he tells you</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Every person who does not obey that prophet will be destroyed and thus removed from the people</a:t>
            </a:r>
            <a:r>
              <a:rPr lang="en-US" sz="1400" kern="1200" dirty="0">
                <a:solidFill>
                  <a:schemeClr val="tx1"/>
                </a:solidFill>
                <a:effectLst/>
                <a:latin typeface="+mn-lt"/>
                <a:ea typeface="ＭＳ Ｐゴシック" pitchFamily="-106" charset="-128"/>
                <a:cs typeface="ＭＳ Ｐゴシック" pitchFamily="-106" charset="-128"/>
              </a:rPr>
              <a:t>.’</a:t>
            </a:r>
          </a:p>
          <a:p>
            <a:pPr marL="0" indent="0">
              <a:buFont typeface="Arial" pitchFamily="34" charset="0"/>
              <a:buNone/>
            </a:pPr>
            <a:endParaRPr lang="en-US" b="1"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4272493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7433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1065147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There are no explicit conditions</a:t>
            </a:r>
            <a:r>
              <a:rPr lang="en-US" baseline="0" dirty="0"/>
              <a:t> on these statements, right?    Are there implicit conditions within the context of the text itself?</a:t>
            </a:r>
          </a:p>
          <a:p>
            <a:endParaRPr lang="en-US" baseline="0" dirty="0"/>
          </a:p>
          <a:p>
            <a:r>
              <a:rPr lang="en-US" baseline="0" dirty="0"/>
              <a:t>Is there unconditional justification for mankind in regards to Christ?</a:t>
            </a:r>
          </a:p>
          <a:p>
            <a:endParaRPr lang="en-US" baseline="0" dirty="0"/>
          </a:p>
          <a:p>
            <a:r>
              <a:rPr lang="en-US" baseline="0" dirty="0"/>
              <a:t>Is there unconditional condemnation for mankind in regards to Adam?</a:t>
            </a:r>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980481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Here are interpretations</a:t>
            </a:r>
            <a:r>
              <a:rPr lang="en-US" baseline="0" dirty="0"/>
              <a:t> of the text given recognition of implicit conditions.   How can we know that these conditions are truly implied?</a:t>
            </a:r>
          </a:p>
          <a:p>
            <a:endParaRPr lang="en-US" baseline="0" dirty="0"/>
          </a:p>
          <a:p>
            <a:r>
              <a:rPr lang="en-US" dirty="0"/>
              <a:t>The conditions of faith are an already-held</a:t>
            </a:r>
            <a:r>
              <a:rPr lang="en-US" baseline="0" dirty="0"/>
              <a:t> position, not based upon the lexical content of this passage (Romans 5:12-21).</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3523545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14</a:t>
            </a:fld>
            <a:endParaRPr lang="en-US"/>
          </a:p>
        </p:txBody>
      </p:sp>
    </p:spTree>
    <p:extLst>
      <p:ext uri="{BB962C8B-B14F-4D97-AF65-F5344CB8AC3E}">
        <p14:creationId xmlns:p14="http://schemas.microsoft.com/office/powerpoint/2010/main" val="3305755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15</a:t>
            </a:fld>
            <a:endParaRPr lang="en-US"/>
          </a:p>
        </p:txBody>
      </p:sp>
    </p:spTree>
    <p:extLst>
      <p:ext uri="{BB962C8B-B14F-4D97-AF65-F5344CB8AC3E}">
        <p14:creationId xmlns:p14="http://schemas.microsoft.com/office/powerpoint/2010/main" val="2316745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omeGospe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TeachTheWor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990600"/>
            <a:ext cx="7772400" cy="1470025"/>
          </a:xfrm>
        </p:spPr>
        <p:txBody>
          <a:bodyPr/>
          <a:lstStyle/>
          <a:p>
            <a:pPr eaLnBrk="1" hangingPunct="1"/>
            <a:r>
              <a:rPr lang="en-US" sz="6600" dirty="0"/>
              <a:t>Romans</a:t>
            </a:r>
            <a:endParaRPr dirty="0"/>
          </a:p>
        </p:txBody>
      </p:sp>
      <p:sp>
        <p:nvSpPr>
          <p:cNvPr id="6147" name="Subtitle 2"/>
          <p:cNvSpPr>
            <a:spLocks noGrp="1"/>
          </p:cNvSpPr>
          <p:nvPr>
            <p:ph type="subTitle" idx="1"/>
          </p:nvPr>
        </p:nvSpPr>
        <p:spPr>
          <a:xfrm>
            <a:off x="1371600" y="2503488"/>
            <a:ext cx="6400800" cy="3787776"/>
          </a:xfrm>
        </p:spPr>
        <p:txBody>
          <a:bodyPr/>
          <a:lstStyle/>
          <a:p>
            <a:pPr eaLnBrk="1" hangingPunct="1"/>
            <a:r>
              <a:rPr lang="en-US" dirty="0"/>
              <a:t>Have God’s Promises Failed?</a:t>
            </a:r>
          </a:p>
          <a:p>
            <a:pPr eaLnBrk="1" hangingPunct="1"/>
            <a:r>
              <a:rPr lang="en-US" dirty="0"/>
              <a:t>What about Israel?</a:t>
            </a:r>
          </a:p>
          <a:p>
            <a:pPr eaLnBrk="1" hangingPunct="1"/>
            <a:r>
              <a:rPr lang="en-US" dirty="0"/>
              <a:t>Chapter 9</a:t>
            </a:r>
          </a:p>
          <a:p>
            <a:pPr eaLnBrk="1" hangingPunct="1"/>
            <a:endParaRPr lang="en-US" dirty="0"/>
          </a:p>
          <a:p>
            <a:r>
              <a:rPr lang="en-US" dirty="0">
                <a:hlinkClick r:id="rId3"/>
              </a:rPr>
              <a:t>https://tinyurl.com/RomeGospel</a:t>
            </a:r>
            <a:endParaRPr lang="en-US" dirty="0"/>
          </a:p>
          <a:p>
            <a:r>
              <a:rPr lang="en-US" dirty="0">
                <a:hlinkClick r:id="rId4"/>
              </a:rPr>
              <a:t>https://tinyurl.com/TeachTheWord</a:t>
            </a:r>
            <a:endParaRPr lang="en-US" dirty="0"/>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The Outline - Review</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(GOD’s great solution – the </a:t>
            </a:r>
            <a:r>
              <a:rPr lang="en-US" sz="2000" b="1" i="1" dirty="0"/>
              <a:t>Father</a:t>
            </a:r>
            <a:r>
              <a:rPr lang="en-US" sz="2000" i="1" dirty="0"/>
              <a:t> provides) </a:t>
            </a:r>
          </a:p>
          <a:p>
            <a:pPr marL="342900" indent="-342900">
              <a:buFont typeface="Arial" pitchFamily="34" charset="0"/>
              <a:buChar char="•"/>
            </a:pPr>
            <a:r>
              <a:rPr lang="en-US" sz="2000" i="1" dirty="0"/>
              <a:t>4-5 Salvation (GOD’s great gift – the </a:t>
            </a:r>
            <a:r>
              <a:rPr lang="en-US" sz="2000" b="1" i="1" dirty="0"/>
              <a:t>Son</a:t>
            </a:r>
            <a:r>
              <a:rPr lang="en-US" sz="2000" i="1" dirty="0"/>
              <a:t> provides)</a:t>
            </a:r>
          </a:p>
          <a:p>
            <a:pPr marL="342900" indent="-342900">
              <a:buFont typeface="Arial" pitchFamily="34" charset="0"/>
              <a:buChar char="•"/>
            </a:pPr>
            <a:r>
              <a:rPr lang="en-US" sz="2000" i="1" dirty="0"/>
              <a:t>6-8 Sanctification (GOD’s great work – the </a:t>
            </a:r>
            <a:r>
              <a:rPr lang="en-US" sz="2000" b="1" i="1" dirty="0"/>
              <a:t>Spirit</a:t>
            </a:r>
            <a:r>
              <a:rPr lang="en-US" sz="2000" i="1" dirty="0"/>
              <a:t> provides)</a:t>
            </a:r>
          </a:p>
        </p:txBody>
      </p:sp>
      <p:sp>
        <p:nvSpPr>
          <p:cNvPr id="7" name="TextBox 6"/>
          <p:cNvSpPr txBox="1"/>
          <p:nvPr/>
        </p:nvSpPr>
        <p:spPr>
          <a:xfrm>
            <a:off x="519031" y="3137595"/>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323439"/>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The </a:t>
            </a:r>
            <a:r>
              <a:rPr lang="en-US" sz="2000" b="1" i="1" dirty="0"/>
              <a:t>Just</a:t>
            </a:r>
            <a:r>
              <a:rPr lang="en-US" sz="2000" i="1" dirty="0"/>
              <a:t> shall </a:t>
            </a:r>
            <a:r>
              <a:rPr lang="en-US" sz="2000" b="1" i="1" dirty="0"/>
              <a:t>live</a:t>
            </a:r>
            <a:r>
              <a:rPr lang="en-US" sz="2000" i="1" dirty="0"/>
              <a:t> by </a:t>
            </a:r>
            <a:r>
              <a:rPr lang="en-US" sz="2000" b="1" i="1" dirty="0"/>
              <a:t>Faith</a:t>
            </a:r>
            <a:r>
              <a:rPr lang="en-US" sz="2000" i="1" dirty="0"/>
              <a:t>…</a:t>
            </a:r>
          </a:p>
          <a:p>
            <a:endParaRPr lang="en-US" sz="2000" i="1" dirty="0"/>
          </a:p>
        </p:txBody>
      </p:sp>
    </p:spTree>
    <p:extLst>
      <p:ext uri="{BB962C8B-B14F-4D97-AF65-F5344CB8AC3E}">
        <p14:creationId xmlns:p14="http://schemas.microsoft.com/office/powerpoint/2010/main" val="1419932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What about the Jew? </a:t>
            </a:r>
            <a:br>
              <a:rPr lang="en-US" dirty="0"/>
            </a:br>
            <a:r>
              <a:rPr lang="en-US" sz="2400" dirty="0">
                <a:solidFill>
                  <a:schemeClr val="tx2">
                    <a:lumMod val="60000"/>
                    <a:lumOff val="40000"/>
                  </a:schemeClr>
                </a:solidFill>
              </a:rPr>
              <a:t>How are we to relate?</a:t>
            </a:r>
          </a:p>
        </p:txBody>
      </p:sp>
      <p:sp>
        <p:nvSpPr>
          <p:cNvPr id="6" name="TextBox 5"/>
          <p:cNvSpPr txBox="1"/>
          <p:nvPr/>
        </p:nvSpPr>
        <p:spPr>
          <a:xfrm>
            <a:off x="455579" y="1295400"/>
            <a:ext cx="8001000" cy="1631216"/>
          </a:xfrm>
          <a:prstGeom prst="rect">
            <a:avLst/>
          </a:prstGeom>
          <a:noFill/>
        </p:spPr>
        <p:txBody>
          <a:bodyPr wrap="square" rtlCol="0">
            <a:spAutoFit/>
          </a:bodyPr>
          <a:lstStyle/>
          <a:p>
            <a:r>
              <a:rPr lang="en-US" sz="2000" i="1" dirty="0"/>
              <a:t>“What advantage then has the Jew, or what is the profit of circumcision?  Much in every way!  Chiefly because to them were committed the oracles of God.  For what if some did not believe?   Shall their unbelief make the faith of God without effect?”    </a:t>
            </a:r>
          </a:p>
          <a:p>
            <a:r>
              <a:rPr lang="en-US" sz="2000" b="1" i="1" dirty="0"/>
              <a:t>Romans 3:1-3</a:t>
            </a:r>
          </a:p>
        </p:txBody>
      </p:sp>
      <p:sp>
        <p:nvSpPr>
          <p:cNvPr id="8" name="TextBox 7"/>
          <p:cNvSpPr txBox="1"/>
          <p:nvPr/>
        </p:nvSpPr>
        <p:spPr>
          <a:xfrm>
            <a:off x="437745" y="3114644"/>
            <a:ext cx="8001000" cy="1631216"/>
          </a:xfrm>
          <a:prstGeom prst="rect">
            <a:avLst/>
          </a:prstGeom>
          <a:noFill/>
        </p:spPr>
        <p:txBody>
          <a:bodyPr wrap="square" rtlCol="0">
            <a:spAutoFit/>
          </a:bodyPr>
          <a:lstStyle/>
          <a:p>
            <a:r>
              <a:rPr lang="en-US" sz="2000" i="1" dirty="0"/>
              <a:t>How are the Gentiles to relate to the Jews?  </a:t>
            </a:r>
          </a:p>
          <a:p>
            <a:pPr marL="342900" indent="-342900">
              <a:buFont typeface="Arial" panose="020B0604020202020204" pitchFamily="34" charset="0"/>
              <a:buChar char="•"/>
            </a:pPr>
            <a:r>
              <a:rPr lang="en-US" sz="2000" dirty="0"/>
              <a:t>This same question was prominent in </a:t>
            </a:r>
            <a:r>
              <a:rPr lang="en-US" sz="2000" b="1" u="sng" dirty="0"/>
              <a:t>Acts 15 </a:t>
            </a:r>
            <a:r>
              <a:rPr lang="en-US" sz="2000" dirty="0"/>
              <a:t>and will be answered in Romans chapters 9, 10, and 11.</a:t>
            </a:r>
          </a:p>
          <a:p>
            <a:pPr marL="342900" indent="-342900">
              <a:buFont typeface="Arial" panose="020B0604020202020204" pitchFamily="34" charset="0"/>
              <a:buChar char="•"/>
            </a:pPr>
            <a:r>
              <a:rPr lang="en-US" sz="2000" dirty="0"/>
              <a:t>The issue behind all of this is a demonstration by God to the world that He keeps His promises.</a:t>
            </a:r>
          </a:p>
        </p:txBody>
      </p:sp>
      <p:sp>
        <p:nvSpPr>
          <p:cNvPr id="5" name="TextBox 4"/>
          <p:cNvSpPr txBox="1"/>
          <p:nvPr/>
        </p:nvSpPr>
        <p:spPr>
          <a:xfrm>
            <a:off x="437745" y="4937131"/>
            <a:ext cx="8001000" cy="1631216"/>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p:txBody>
      </p:sp>
    </p:spTree>
    <p:extLst>
      <p:ext uri="{BB962C8B-B14F-4D97-AF65-F5344CB8AC3E}">
        <p14:creationId xmlns:p14="http://schemas.microsoft.com/office/powerpoint/2010/main" val="241000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anim calcmode="lin" valueType="num">
                                      <p:cBhvr>
                                        <p:cTn id="1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1000"/>
                                        <p:tgtEl>
                                          <p:spTgt spid="8">
                                            <p:txEl>
                                              <p:pRg st="1" end="1"/>
                                            </p:txEl>
                                          </p:spTgt>
                                        </p:tgtEl>
                                      </p:cBhvr>
                                    </p:animEffect>
                                    <p:anim calcmode="lin" valueType="num">
                                      <p:cBhvr>
                                        <p:cTn id="1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1000"/>
                                        <p:tgtEl>
                                          <p:spTgt spid="8">
                                            <p:txEl>
                                              <p:pRg st="2" end="2"/>
                                            </p:txEl>
                                          </p:spTgt>
                                        </p:tgtEl>
                                      </p:cBhvr>
                                    </p:animEffect>
                                    <p:anim calcmode="lin" valueType="num">
                                      <p:cBhvr>
                                        <p:cTn id="2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Advantages of the Jews </a:t>
            </a:r>
            <a:br>
              <a:rPr lang="en-US" dirty="0"/>
            </a:br>
            <a:r>
              <a:rPr lang="en-US" sz="2400" dirty="0">
                <a:solidFill>
                  <a:schemeClr val="tx2">
                    <a:lumMod val="60000"/>
                    <a:lumOff val="40000"/>
                  </a:schemeClr>
                </a:solidFill>
              </a:rPr>
              <a:t>What Paul has already said about the prototypical Jew</a:t>
            </a:r>
          </a:p>
        </p:txBody>
      </p:sp>
      <p:sp>
        <p:nvSpPr>
          <p:cNvPr id="6" name="TextBox 5"/>
          <p:cNvSpPr txBox="1"/>
          <p:nvPr/>
        </p:nvSpPr>
        <p:spPr>
          <a:xfrm>
            <a:off x="402768" y="1295400"/>
            <a:ext cx="8001000" cy="1015663"/>
          </a:xfrm>
          <a:prstGeom prst="rect">
            <a:avLst/>
          </a:prstGeom>
          <a:noFill/>
        </p:spPr>
        <p:txBody>
          <a:bodyPr wrap="square" rtlCol="0">
            <a:spAutoFit/>
          </a:bodyPr>
          <a:lstStyle/>
          <a:p>
            <a:r>
              <a:rPr lang="en-US" sz="2000" b="1" i="1" dirty="0"/>
              <a:t>Romans 2:17-29; 3:1-8</a:t>
            </a:r>
          </a:p>
          <a:p>
            <a:pPr marL="342900" indent="-342900">
              <a:buFont typeface="Arial" pitchFamily="34" charset="0"/>
              <a:buChar char="•"/>
            </a:pPr>
            <a:r>
              <a:rPr lang="en-US" sz="2000" i="1" dirty="0"/>
              <a:t>Specifically addressing the </a:t>
            </a:r>
            <a:r>
              <a:rPr lang="en-US" sz="2000" b="1" i="1" dirty="0"/>
              <a:t>Jew</a:t>
            </a:r>
            <a:r>
              <a:rPr lang="en-US" sz="2000" i="1" dirty="0"/>
              <a:t>; </a:t>
            </a:r>
            <a:r>
              <a:rPr lang="en-US" sz="2000" b="1" i="1" dirty="0"/>
              <a:t>exemplar of the religious person</a:t>
            </a:r>
            <a:r>
              <a:rPr lang="en-US" sz="2000" i="1" dirty="0"/>
              <a:t>; who is </a:t>
            </a:r>
            <a:r>
              <a:rPr lang="en-US" sz="2000" b="1" i="1" dirty="0"/>
              <a:t>proud of the law, but not keeping it</a:t>
            </a:r>
            <a:r>
              <a:rPr lang="en-US" sz="2000" i="1" dirty="0"/>
              <a:t>.</a:t>
            </a:r>
          </a:p>
        </p:txBody>
      </p:sp>
      <p:sp>
        <p:nvSpPr>
          <p:cNvPr id="2" name="TextBox 1"/>
          <p:cNvSpPr txBox="1"/>
          <p:nvPr/>
        </p:nvSpPr>
        <p:spPr>
          <a:xfrm>
            <a:off x="408214" y="2347411"/>
            <a:ext cx="8001000" cy="1938992"/>
          </a:xfrm>
          <a:prstGeom prst="rect">
            <a:avLst/>
          </a:prstGeom>
          <a:noFill/>
        </p:spPr>
        <p:txBody>
          <a:bodyPr wrap="square" rtlCol="0">
            <a:spAutoFit/>
          </a:bodyPr>
          <a:lstStyle/>
          <a:p>
            <a:r>
              <a:rPr lang="en-US" sz="2000" i="1" dirty="0"/>
              <a:t>Basis of Jewish Pride </a:t>
            </a:r>
          </a:p>
          <a:p>
            <a:pPr marL="342900" indent="-342900">
              <a:buFont typeface="Arial" pitchFamily="34" charset="0"/>
              <a:buChar char="•"/>
            </a:pPr>
            <a:r>
              <a:rPr lang="en-US" sz="2000" i="1" dirty="0"/>
              <a:t>Being called a Jew (2:17)</a:t>
            </a:r>
          </a:p>
          <a:p>
            <a:pPr marL="342900" indent="-342900">
              <a:buFont typeface="Arial" pitchFamily="34" charset="0"/>
              <a:buChar char="•"/>
            </a:pPr>
            <a:r>
              <a:rPr lang="en-US" sz="2000" i="1" dirty="0"/>
              <a:t>Relied on the Law, “rest” (2:17)</a:t>
            </a:r>
          </a:p>
          <a:p>
            <a:pPr marL="342900" indent="-342900">
              <a:buFont typeface="Arial" pitchFamily="34" charset="0"/>
              <a:buChar char="•"/>
            </a:pPr>
            <a:r>
              <a:rPr lang="en-US" sz="2000" i="1" dirty="0"/>
              <a:t>Boasting of God (superior attitude, 2:19)</a:t>
            </a:r>
          </a:p>
          <a:p>
            <a:pPr marL="342900" indent="-342900">
              <a:buFont typeface="Arial" pitchFamily="34" charset="0"/>
              <a:buChar char="•"/>
            </a:pPr>
            <a:r>
              <a:rPr lang="en-US" sz="2000" i="1" dirty="0"/>
              <a:t>Knowing God’s Will (2:20)</a:t>
            </a:r>
          </a:p>
          <a:p>
            <a:pPr marL="342900" indent="-342900">
              <a:buFont typeface="Arial" pitchFamily="34" charset="0"/>
              <a:buChar char="•"/>
            </a:pPr>
            <a:r>
              <a:rPr lang="en-US" sz="2000" i="1" dirty="0"/>
              <a:t>Being instructors of the Law (2:21)</a:t>
            </a:r>
          </a:p>
        </p:txBody>
      </p:sp>
      <p:sp>
        <p:nvSpPr>
          <p:cNvPr id="3" name="TextBox 2"/>
          <p:cNvSpPr txBox="1"/>
          <p:nvPr/>
        </p:nvSpPr>
        <p:spPr>
          <a:xfrm>
            <a:off x="391886" y="4446813"/>
            <a:ext cx="8126186" cy="1015663"/>
          </a:xfrm>
          <a:prstGeom prst="rect">
            <a:avLst/>
          </a:prstGeom>
          <a:noFill/>
        </p:spPr>
        <p:txBody>
          <a:bodyPr wrap="square" rtlCol="0">
            <a:spAutoFit/>
          </a:bodyPr>
          <a:lstStyle/>
          <a:p>
            <a:r>
              <a:rPr lang="en-US" sz="2000" i="1" dirty="0"/>
              <a:t>But, all men could see their self-righteous hypocrisy</a:t>
            </a:r>
          </a:p>
          <a:p>
            <a:pPr marL="285750" indent="-285750">
              <a:buFont typeface="Arial" pitchFamily="34" charset="0"/>
              <a:buChar char="•"/>
            </a:pPr>
            <a:r>
              <a:rPr lang="en-US" sz="2000" i="1" dirty="0"/>
              <a:t>“</a:t>
            </a:r>
            <a:r>
              <a:rPr lang="en-US" sz="2000" b="1" i="1" dirty="0"/>
              <a:t>For ‘the name of God is blasphemed among the Gentiles because of you’…”  </a:t>
            </a:r>
            <a:r>
              <a:rPr lang="en-US" sz="2000" i="1" dirty="0"/>
              <a:t>Isaiah 52:5;  Ezekiel 36:16-36</a:t>
            </a:r>
          </a:p>
        </p:txBody>
      </p:sp>
      <p:sp>
        <p:nvSpPr>
          <p:cNvPr id="8" name="TextBox 7"/>
          <p:cNvSpPr txBox="1"/>
          <p:nvPr/>
        </p:nvSpPr>
        <p:spPr>
          <a:xfrm>
            <a:off x="454479" y="5590229"/>
            <a:ext cx="8001000" cy="1015663"/>
          </a:xfrm>
          <a:prstGeom prst="rect">
            <a:avLst/>
          </a:prstGeom>
          <a:noFill/>
        </p:spPr>
        <p:txBody>
          <a:bodyPr wrap="square" rtlCol="0">
            <a:spAutoFit/>
          </a:bodyPr>
          <a:lstStyle/>
          <a:p>
            <a:r>
              <a:rPr lang="en-US" sz="2000" b="1" i="1" dirty="0"/>
              <a:t>Reality</a:t>
            </a:r>
            <a:r>
              <a:rPr lang="en-US" sz="2000" i="1" dirty="0"/>
              <a:t> </a:t>
            </a:r>
            <a:r>
              <a:rPr lang="en-US" sz="2000" b="1" i="1" dirty="0"/>
              <a:t>counts</a:t>
            </a:r>
            <a:r>
              <a:rPr lang="en-US" sz="2000" i="1" dirty="0"/>
              <a:t> </a:t>
            </a:r>
            <a:r>
              <a:rPr lang="en-US" sz="2000" b="1" i="1" dirty="0"/>
              <a:t>with God</a:t>
            </a:r>
            <a:r>
              <a:rPr lang="en-US" sz="2000" i="1" dirty="0"/>
              <a:t>…!  </a:t>
            </a:r>
          </a:p>
          <a:p>
            <a:r>
              <a:rPr lang="en-US" sz="2000" i="1" dirty="0"/>
              <a:t>“…but </a:t>
            </a:r>
            <a:r>
              <a:rPr lang="en-US" sz="2000" b="1" i="1" dirty="0"/>
              <a:t>he is a Jew who is one inwardly</a:t>
            </a:r>
            <a:r>
              <a:rPr lang="en-US" sz="2000" i="1" dirty="0"/>
              <a:t>; and circumcision is that of the </a:t>
            </a:r>
            <a:r>
              <a:rPr lang="en-US" sz="2000" b="1" i="1" u="sng" dirty="0"/>
              <a:t>heart</a:t>
            </a:r>
            <a:r>
              <a:rPr lang="en-US" sz="2000" i="1" dirty="0"/>
              <a:t>, in the Spirit, not in the letter...”    (v. 2:29) (Deut. 10:16-17)</a:t>
            </a:r>
          </a:p>
        </p:txBody>
      </p:sp>
    </p:spTree>
    <p:extLst>
      <p:ext uri="{BB962C8B-B14F-4D97-AF65-F5344CB8AC3E}">
        <p14:creationId xmlns:p14="http://schemas.microsoft.com/office/powerpoint/2010/main" val="180636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dirty="0"/>
              <a:t>Advantages of the Jews (9:3-5)</a:t>
            </a:r>
            <a:endParaRPr lang="en-US" sz="2400" dirty="0">
              <a:solidFill>
                <a:schemeClr val="tx2">
                  <a:lumMod val="60000"/>
                  <a:lumOff val="40000"/>
                </a:schemeClr>
              </a:solidFill>
            </a:endParaRPr>
          </a:p>
        </p:txBody>
      </p:sp>
      <p:sp>
        <p:nvSpPr>
          <p:cNvPr id="8" name="TextBox 7"/>
          <p:cNvSpPr txBox="1"/>
          <p:nvPr/>
        </p:nvSpPr>
        <p:spPr>
          <a:xfrm>
            <a:off x="457200" y="685800"/>
            <a:ext cx="8305800" cy="5940088"/>
          </a:xfrm>
          <a:prstGeom prst="rect">
            <a:avLst/>
          </a:prstGeom>
          <a:noFill/>
        </p:spPr>
        <p:txBody>
          <a:bodyPr wrap="square" rtlCol="0">
            <a:spAutoFit/>
          </a:bodyPr>
          <a:lstStyle/>
          <a:p>
            <a:pPr marL="457200" indent="-457200">
              <a:buFont typeface="+mj-lt"/>
              <a:buAutoNum type="arabicPeriod"/>
            </a:pPr>
            <a:r>
              <a:rPr lang="en-US" sz="2000" b="1" dirty="0"/>
              <a:t>Received the Words</a:t>
            </a:r>
            <a:r>
              <a:rPr lang="en-US" sz="2000" dirty="0"/>
              <a:t> </a:t>
            </a:r>
            <a:r>
              <a:rPr lang="en-US" sz="2000" b="1" dirty="0"/>
              <a:t>of God   </a:t>
            </a:r>
            <a:r>
              <a:rPr lang="en-US" sz="2000" dirty="0"/>
              <a:t>(Romans 3:1-2).</a:t>
            </a:r>
          </a:p>
          <a:p>
            <a:pPr marL="457200" indent="-457200">
              <a:buFont typeface="+mj-lt"/>
              <a:buAutoNum type="arabicPeriod"/>
            </a:pPr>
            <a:r>
              <a:rPr lang="en-US" sz="2000" b="1" dirty="0"/>
              <a:t>Called</a:t>
            </a:r>
            <a:r>
              <a:rPr lang="en-US" sz="2000" dirty="0"/>
              <a:t> “</a:t>
            </a:r>
            <a:r>
              <a:rPr lang="en-US" sz="2000" b="1" dirty="0"/>
              <a:t>Israelites</a:t>
            </a:r>
            <a:r>
              <a:rPr lang="en-US" sz="2000" dirty="0"/>
              <a:t>” </a:t>
            </a:r>
            <a:r>
              <a:rPr lang="en-US" sz="2000" dirty="0">
                <a:sym typeface="Wingdings" panose="05000000000000000000" pitchFamily="2" charset="2"/>
              </a:rPr>
              <a:t> “Princes of God”  (Genesis 32:28)</a:t>
            </a:r>
          </a:p>
          <a:p>
            <a:pPr marL="914400" lvl="1" indent="-457200">
              <a:buFont typeface="+mj-lt"/>
              <a:buAutoNum type="arabicPeriod"/>
            </a:pPr>
            <a:r>
              <a:rPr lang="en-US" sz="2000" dirty="0">
                <a:sym typeface="Wingdings" panose="05000000000000000000" pitchFamily="2" charset="2"/>
              </a:rPr>
              <a:t>Why chosen?  As a witness of His reality.</a:t>
            </a:r>
          </a:p>
          <a:p>
            <a:pPr marL="914400" lvl="1" indent="-457200">
              <a:buFont typeface="+mj-lt"/>
              <a:buAutoNum type="arabicPeriod"/>
            </a:pPr>
            <a:r>
              <a:rPr lang="en-US" sz="2000" dirty="0">
                <a:sym typeface="Wingdings" panose="05000000000000000000" pitchFamily="2" charset="2"/>
              </a:rPr>
              <a:t>All nations had excluded knowledge of God  (Rom. 1:18-26)</a:t>
            </a:r>
          </a:p>
          <a:p>
            <a:pPr marL="914400" lvl="1" indent="-457200">
              <a:buFont typeface="+mj-lt"/>
              <a:buAutoNum type="arabicPeriod"/>
            </a:pPr>
            <a:r>
              <a:rPr lang="en-US" sz="2000" dirty="0">
                <a:sym typeface="Wingdings" panose="05000000000000000000" pitchFamily="2" charset="2"/>
              </a:rPr>
              <a:t>God called a Sumerian named Abram – for His purposes </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Adoption</a:t>
            </a:r>
            <a:r>
              <a:rPr lang="en-US" sz="2000" dirty="0">
                <a:sym typeface="Wingdings" panose="05000000000000000000" pitchFamily="2" charset="2"/>
              </a:rPr>
              <a:t>” as sons   (Deut. 7:6-9)</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Glory</a:t>
            </a:r>
            <a:r>
              <a:rPr lang="en-US" sz="2000" dirty="0">
                <a:sym typeface="Wingdings" panose="05000000000000000000" pitchFamily="2" charset="2"/>
              </a:rPr>
              <a:t>”; “Shekinah”  (Exodus 24:16-17; 29:43; 40:34-38)</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Covenants</a:t>
            </a:r>
            <a:r>
              <a:rPr lang="en-US" sz="2000" dirty="0">
                <a:sym typeface="Wingdings" panose="05000000000000000000" pitchFamily="2" charset="2"/>
              </a:rPr>
              <a:t>” (Conditional?  Unconditional?)</a:t>
            </a:r>
          </a:p>
          <a:p>
            <a:pPr marL="914400" lvl="1" indent="-457200">
              <a:buFont typeface="+mj-lt"/>
              <a:buAutoNum type="arabicPeriod"/>
            </a:pPr>
            <a:r>
              <a:rPr lang="en-US" sz="2000" i="1" dirty="0">
                <a:sym typeface="Wingdings" panose="05000000000000000000" pitchFamily="2" charset="2"/>
              </a:rPr>
              <a:t>Abrahamic</a:t>
            </a:r>
            <a:r>
              <a:rPr lang="en-US" sz="2000" dirty="0">
                <a:sym typeface="Wingdings" panose="05000000000000000000" pitchFamily="2" charset="2"/>
              </a:rPr>
              <a:t>  (Genesis 12:1-3; 15:6-21) </a:t>
            </a:r>
          </a:p>
          <a:p>
            <a:pPr marL="1371600" lvl="2" indent="-457200">
              <a:buFont typeface="+mj-lt"/>
              <a:buAutoNum type="arabicPeriod"/>
            </a:pPr>
            <a:r>
              <a:rPr lang="en-US" sz="2000" dirty="0">
                <a:sym typeface="Wingdings" panose="05000000000000000000" pitchFamily="2" charset="2"/>
              </a:rPr>
              <a:t>God’s plan for mankind follows from this covenant – Gal 3:8</a:t>
            </a:r>
          </a:p>
          <a:p>
            <a:pPr marL="1371600" lvl="2" indent="-457200">
              <a:buFont typeface="+mj-lt"/>
              <a:buAutoNum type="arabicPeriod"/>
            </a:pPr>
            <a:r>
              <a:rPr lang="en-US" sz="2000" dirty="0">
                <a:sym typeface="Wingdings" panose="05000000000000000000" pitchFamily="2" charset="2"/>
              </a:rPr>
              <a:t>Eternal – Gen. 17:7;  I Chron. 16:17;</a:t>
            </a:r>
          </a:p>
          <a:p>
            <a:pPr marL="1371600" lvl="2" indent="-457200">
              <a:buFont typeface="+mj-lt"/>
              <a:buAutoNum type="arabicPeriod"/>
            </a:pPr>
            <a:r>
              <a:rPr lang="en-US" sz="2000" dirty="0">
                <a:sym typeface="Wingdings" panose="05000000000000000000" pitchFamily="2" charset="2"/>
              </a:rPr>
              <a:t>Re-confirmed – Gen. 22:15-18; Gen. 26:2-5; Heb. 6:13-20  </a:t>
            </a:r>
          </a:p>
          <a:p>
            <a:pPr marL="914400" lvl="1" indent="-457200">
              <a:buFont typeface="+mj-lt"/>
              <a:buAutoNum type="arabicPeriod"/>
            </a:pPr>
            <a:r>
              <a:rPr lang="en-US" sz="2000" i="1" dirty="0">
                <a:sym typeface="Wingdings" panose="05000000000000000000" pitchFamily="2" charset="2"/>
              </a:rPr>
              <a:t>Land</a:t>
            </a:r>
            <a:r>
              <a:rPr lang="en-US" sz="2000" dirty="0">
                <a:sym typeface="Wingdings" panose="05000000000000000000" pitchFamily="2" charset="2"/>
              </a:rPr>
              <a:t>  (Genesis 12:7; 13:12-17; 15:9-21; 35:9-12)</a:t>
            </a:r>
          </a:p>
          <a:p>
            <a:pPr marL="914400" lvl="1" indent="-457200">
              <a:buFont typeface="+mj-lt"/>
              <a:buAutoNum type="arabicPeriod"/>
            </a:pPr>
            <a:r>
              <a:rPr lang="en-US" sz="2000" i="1" dirty="0">
                <a:sym typeface="Wingdings" panose="05000000000000000000" pitchFamily="2" charset="2"/>
              </a:rPr>
              <a:t>Mosaic</a:t>
            </a:r>
            <a:r>
              <a:rPr lang="en-US" sz="2000" dirty="0">
                <a:sym typeface="Wingdings" panose="05000000000000000000" pitchFamily="2" charset="2"/>
              </a:rPr>
              <a:t> (was a </a:t>
            </a:r>
            <a:r>
              <a:rPr lang="en-US" sz="2000" u="sng" dirty="0">
                <a:sym typeface="Wingdings" panose="05000000000000000000" pitchFamily="2" charset="2"/>
              </a:rPr>
              <a:t>conditional</a:t>
            </a:r>
            <a:r>
              <a:rPr lang="en-US" sz="2000" dirty="0">
                <a:sym typeface="Wingdings" panose="05000000000000000000" pitchFamily="2" charset="2"/>
              </a:rPr>
              <a:t> covenant)</a:t>
            </a:r>
          </a:p>
          <a:p>
            <a:pPr marL="1371600" lvl="2" indent="-457200">
              <a:buFont typeface="+mj-lt"/>
              <a:buAutoNum type="arabicPeriod"/>
            </a:pPr>
            <a:r>
              <a:rPr lang="en-US" sz="2000" dirty="0">
                <a:sym typeface="Wingdings" panose="05000000000000000000" pitchFamily="2" charset="2"/>
              </a:rPr>
              <a:t>Deut. 28:63-68; 30:1-3  Lev. 26:40-45  </a:t>
            </a:r>
          </a:p>
          <a:p>
            <a:pPr marL="914400" lvl="1" indent="-457200">
              <a:buFont typeface="+mj-lt"/>
              <a:buAutoNum type="arabicPeriod"/>
            </a:pPr>
            <a:r>
              <a:rPr lang="en-US" sz="2000" i="1" dirty="0"/>
              <a:t>Davidic</a:t>
            </a:r>
            <a:r>
              <a:rPr lang="en-US" sz="2000" dirty="0"/>
              <a:t> (Gen. 49:10; 2 Samuel 7:11-16; 1 Chron. 17:11-14)</a:t>
            </a:r>
          </a:p>
          <a:p>
            <a:pPr marL="1371600" lvl="2" indent="-457200">
              <a:buFont typeface="+mj-lt"/>
              <a:buAutoNum type="arabicPeriod"/>
            </a:pPr>
            <a:r>
              <a:rPr lang="en-US" sz="2000" dirty="0" err="1"/>
              <a:t>Jeconiah</a:t>
            </a:r>
            <a:r>
              <a:rPr lang="en-US" sz="2000" dirty="0"/>
              <a:t> was the last of David’s line to rule (Jer. 22:30)</a:t>
            </a:r>
          </a:p>
          <a:p>
            <a:pPr marL="1371600" lvl="2" indent="-457200">
              <a:buFont typeface="+mj-lt"/>
              <a:buAutoNum type="arabicPeriod"/>
            </a:pPr>
            <a:r>
              <a:rPr lang="en-US" sz="2000" dirty="0"/>
              <a:t>Confirmed of Jesus to Mary by Gabriel (Luke 1:30-33)</a:t>
            </a:r>
          </a:p>
          <a:p>
            <a:pPr marL="1371600" lvl="2" indent="-457200">
              <a:buFont typeface="+mj-lt"/>
              <a:buAutoNum type="arabicPeriod"/>
            </a:pPr>
            <a:r>
              <a:rPr lang="en-US" sz="2000" dirty="0"/>
              <a:t>Recognized by Church Council (Acts 15:16-18)</a:t>
            </a:r>
          </a:p>
        </p:txBody>
      </p:sp>
    </p:spTree>
    <p:extLst>
      <p:ext uri="{BB962C8B-B14F-4D97-AF65-F5344CB8AC3E}">
        <p14:creationId xmlns:p14="http://schemas.microsoft.com/office/powerpoint/2010/main" val="368739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1000"/>
                                        <p:tgtEl>
                                          <p:spTgt spid="8">
                                            <p:txEl>
                                              <p:pRg st="3" end="3"/>
                                            </p:txEl>
                                          </p:spTgt>
                                        </p:tgtEl>
                                      </p:cBhvr>
                                    </p:animEffect>
                                    <p:anim calcmode="lin" valueType="num">
                                      <p:cBhvr>
                                        <p:cTn id="2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1000"/>
                                        <p:tgtEl>
                                          <p:spTgt spid="8">
                                            <p:txEl>
                                              <p:pRg st="4" end="4"/>
                                            </p:txEl>
                                          </p:spTgt>
                                        </p:tgtEl>
                                      </p:cBhvr>
                                    </p:animEffect>
                                    <p:anim calcmode="lin" valueType="num">
                                      <p:cBhvr>
                                        <p:cTn id="2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1000"/>
                                        <p:tgtEl>
                                          <p:spTgt spid="8">
                                            <p:txEl>
                                              <p:pRg st="5" end="5"/>
                                            </p:txEl>
                                          </p:spTgt>
                                        </p:tgtEl>
                                      </p:cBhvr>
                                    </p:animEffect>
                                    <p:anim calcmode="lin" valueType="num">
                                      <p:cBhvr>
                                        <p:cTn id="3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1000"/>
                                        <p:tgtEl>
                                          <p:spTgt spid="8">
                                            <p:txEl>
                                              <p:pRg st="6" end="6"/>
                                            </p:txEl>
                                          </p:spTgt>
                                        </p:tgtEl>
                                      </p:cBhvr>
                                    </p:animEffect>
                                    <p:anim calcmode="lin" valueType="num">
                                      <p:cBhvr>
                                        <p:cTn id="3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1000"/>
                                        <p:tgtEl>
                                          <p:spTgt spid="8">
                                            <p:txEl>
                                              <p:pRg st="7" end="7"/>
                                            </p:txEl>
                                          </p:spTgt>
                                        </p:tgtEl>
                                      </p:cBhvr>
                                    </p:animEffect>
                                    <p:anim calcmode="lin" valueType="num">
                                      <p:cBhvr>
                                        <p:cTn id="4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1000"/>
                                        <p:tgtEl>
                                          <p:spTgt spid="8">
                                            <p:txEl>
                                              <p:pRg st="8" end="8"/>
                                            </p:txEl>
                                          </p:spTgt>
                                        </p:tgtEl>
                                      </p:cBhvr>
                                    </p:animEffect>
                                    <p:anim calcmode="lin" valueType="num">
                                      <p:cBhvr>
                                        <p:cTn id="48"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fade">
                                      <p:cBhvr>
                                        <p:cTn id="52" dur="1000"/>
                                        <p:tgtEl>
                                          <p:spTgt spid="8">
                                            <p:txEl>
                                              <p:pRg st="9" end="9"/>
                                            </p:txEl>
                                          </p:spTgt>
                                        </p:tgtEl>
                                      </p:cBhvr>
                                    </p:animEffect>
                                    <p:anim calcmode="lin" valueType="num">
                                      <p:cBhvr>
                                        <p:cTn id="53"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8">
                                            <p:txEl>
                                              <p:pRg st="10" end="10"/>
                                            </p:txEl>
                                          </p:spTgt>
                                        </p:tgtEl>
                                        <p:attrNameLst>
                                          <p:attrName>style.visibility</p:attrName>
                                        </p:attrNameLst>
                                      </p:cBhvr>
                                      <p:to>
                                        <p:strVal val="visible"/>
                                      </p:to>
                                    </p:set>
                                    <p:animEffect transition="in" filter="fade">
                                      <p:cBhvr>
                                        <p:cTn id="57" dur="1000"/>
                                        <p:tgtEl>
                                          <p:spTgt spid="8">
                                            <p:txEl>
                                              <p:pRg st="10" end="10"/>
                                            </p:txEl>
                                          </p:spTgt>
                                        </p:tgtEl>
                                      </p:cBhvr>
                                    </p:animEffect>
                                    <p:anim calcmode="lin" valueType="num">
                                      <p:cBhvr>
                                        <p:cTn id="58"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8">
                                            <p:txEl>
                                              <p:pRg st="11" end="11"/>
                                            </p:txEl>
                                          </p:spTgt>
                                        </p:tgtEl>
                                        <p:attrNameLst>
                                          <p:attrName>style.visibility</p:attrName>
                                        </p:attrNameLst>
                                      </p:cBhvr>
                                      <p:to>
                                        <p:strVal val="visible"/>
                                      </p:to>
                                    </p:set>
                                    <p:animEffect transition="in" filter="fade">
                                      <p:cBhvr>
                                        <p:cTn id="62" dur="1000"/>
                                        <p:tgtEl>
                                          <p:spTgt spid="8">
                                            <p:txEl>
                                              <p:pRg st="11" end="11"/>
                                            </p:txEl>
                                          </p:spTgt>
                                        </p:tgtEl>
                                      </p:cBhvr>
                                    </p:animEffect>
                                    <p:anim calcmode="lin" valueType="num">
                                      <p:cBhvr>
                                        <p:cTn id="63"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8">
                                            <p:txEl>
                                              <p:pRg st="11" end="11"/>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8">
                                            <p:txEl>
                                              <p:pRg st="12" end="12"/>
                                            </p:txEl>
                                          </p:spTgt>
                                        </p:tgtEl>
                                        <p:attrNameLst>
                                          <p:attrName>style.visibility</p:attrName>
                                        </p:attrNameLst>
                                      </p:cBhvr>
                                      <p:to>
                                        <p:strVal val="visible"/>
                                      </p:to>
                                    </p:set>
                                    <p:animEffect transition="in" filter="fade">
                                      <p:cBhvr>
                                        <p:cTn id="67" dur="1000"/>
                                        <p:tgtEl>
                                          <p:spTgt spid="8">
                                            <p:txEl>
                                              <p:pRg st="12" end="12"/>
                                            </p:txEl>
                                          </p:spTgt>
                                        </p:tgtEl>
                                      </p:cBhvr>
                                    </p:animEffect>
                                    <p:anim calcmode="lin" valueType="num">
                                      <p:cBhvr>
                                        <p:cTn id="68"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69" dur="1000" fill="hold"/>
                                        <p:tgtEl>
                                          <p:spTgt spid="8">
                                            <p:txEl>
                                              <p:pRg st="12" end="12"/>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8">
                                            <p:txEl>
                                              <p:pRg st="13" end="13"/>
                                            </p:txEl>
                                          </p:spTgt>
                                        </p:tgtEl>
                                        <p:attrNameLst>
                                          <p:attrName>style.visibility</p:attrName>
                                        </p:attrNameLst>
                                      </p:cBhvr>
                                      <p:to>
                                        <p:strVal val="visible"/>
                                      </p:to>
                                    </p:set>
                                    <p:animEffect transition="in" filter="fade">
                                      <p:cBhvr>
                                        <p:cTn id="72" dur="1000"/>
                                        <p:tgtEl>
                                          <p:spTgt spid="8">
                                            <p:txEl>
                                              <p:pRg st="13" end="13"/>
                                            </p:txEl>
                                          </p:spTgt>
                                        </p:tgtEl>
                                      </p:cBhvr>
                                    </p:animEffect>
                                    <p:anim calcmode="lin" valueType="num">
                                      <p:cBhvr>
                                        <p:cTn id="73" dur="1000" fill="hold"/>
                                        <p:tgtEl>
                                          <p:spTgt spid="8">
                                            <p:txEl>
                                              <p:pRg st="13" end="13"/>
                                            </p:txEl>
                                          </p:spTgt>
                                        </p:tgtEl>
                                        <p:attrNameLst>
                                          <p:attrName>ppt_x</p:attrName>
                                        </p:attrNameLst>
                                      </p:cBhvr>
                                      <p:tavLst>
                                        <p:tav tm="0">
                                          <p:val>
                                            <p:strVal val="#ppt_x"/>
                                          </p:val>
                                        </p:tav>
                                        <p:tav tm="100000">
                                          <p:val>
                                            <p:strVal val="#ppt_x"/>
                                          </p:val>
                                        </p:tav>
                                      </p:tavLst>
                                    </p:anim>
                                    <p:anim calcmode="lin" valueType="num">
                                      <p:cBhvr>
                                        <p:cTn id="74" dur="1000" fill="hold"/>
                                        <p:tgtEl>
                                          <p:spTgt spid="8">
                                            <p:txEl>
                                              <p:pRg st="13" end="13"/>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8">
                                            <p:txEl>
                                              <p:pRg st="14" end="14"/>
                                            </p:txEl>
                                          </p:spTgt>
                                        </p:tgtEl>
                                        <p:attrNameLst>
                                          <p:attrName>style.visibility</p:attrName>
                                        </p:attrNameLst>
                                      </p:cBhvr>
                                      <p:to>
                                        <p:strVal val="visible"/>
                                      </p:to>
                                    </p:set>
                                    <p:animEffect transition="in" filter="fade">
                                      <p:cBhvr>
                                        <p:cTn id="77" dur="1000"/>
                                        <p:tgtEl>
                                          <p:spTgt spid="8">
                                            <p:txEl>
                                              <p:pRg st="14" end="14"/>
                                            </p:txEl>
                                          </p:spTgt>
                                        </p:tgtEl>
                                      </p:cBhvr>
                                    </p:animEffect>
                                    <p:anim calcmode="lin" valueType="num">
                                      <p:cBhvr>
                                        <p:cTn id="78" dur="1000" fill="hold"/>
                                        <p:tgtEl>
                                          <p:spTgt spid="8">
                                            <p:txEl>
                                              <p:pRg st="14" end="14"/>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14" end="14"/>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8">
                                            <p:txEl>
                                              <p:pRg st="15" end="15"/>
                                            </p:txEl>
                                          </p:spTgt>
                                        </p:tgtEl>
                                        <p:attrNameLst>
                                          <p:attrName>style.visibility</p:attrName>
                                        </p:attrNameLst>
                                      </p:cBhvr>
                                      <p:to>
                                        <p:strVal val="visible"/>
                                      </p:to>
                                    </p:set>
                                    <p:animEffect transition="in" filter="fade">
                                      <p:cBhvr>
                                        <p:cTn id="82" dur="1000"/>
                                        <p:tgtEl>
                                          <p:spTgt spid="8">
                                            <p:txEl>
                                              <p:pRg st="15" end="15"/>
                                            </p:txEl>
                                          </p:spTgt>
                                        </p:tgtEl>
                                      </p:cBhvr>
                                    </p:animEffect>
                                    <p:anim calcmode="lin" valueType="num">
                                      <p:cBhvr>
                                        <p:cTn id="83" dur="1000" fill="hold"/>
                                        <p:tgtEl>
                                          <p:spTgt spid="8">
                                            <p:txEl>
                                              <p:pRg st="15" end="15"/>
                                            </p:txEl>
                                          </p:spTgt>
                                        </p:tgtEl>
                                        <p:attrNameLst>
                                          <p:attrName>ppt_x</p:attrName>
                                        </p:attrNameLst>
                                      </p:cBhvr>
                                      <p:tavLst>
                                        <p:tav tm="0">
                                          <p:val>
                                            <p:strVal val="#ppt_x"/>
                                          </p:val>
                                        </p:tav>
                                        <p:tav tm="100000">
                                          <p:val>
                                            <p:strVal val="#ppt_x"/>
                                          </p:val>
                                        </p:tav>
                                      </p:tavLst>
                                    </p:anim>
                                    <p:anim calcmode="lin" valueType="num">
                                      <p:cBhvr>
                                        <p:cTn id="84" dur="1000" fill="hold"/>
                                        <p:tgtEl>
                                          <p:spTgt spid="8">
                                            <p:txEl>
                                              <p:pRg st="15" end="15"/>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8">
                                            <p:txEl>
                                              <p:pRg st="16" end="16"/>
                                            </p:txEl>
                                          </p:spTgt>
                                        </p:tgtEl>
                                        <p:attrNameLst>
                                          <p:attrName>style.visibility</p:attrName>
                                        </p:attrNameLst>
                                      </p:cBhvr>
                                      <p:to>
                                        <p:strVal val="visible"/>
                                      </p:to>
                                    </p:set>
                                    <p:animEffect transition="in" filter="fade">
                                      <p:cBhvr>
                                        <p:cTn id="87" dur="1000"/>
                                        <p:tgtEl>
                                          <p:spTgt spid="8">
                                            <p:txEl>
                                              <p:pRg st="16" end="16"/>
                                            </p:txEl>
                                          </p:spTgt>
                                        </p:tgtEl>
                                      </p:cBhvr>
                                    </p:animEffect>
                                    <p:anim calcmode="lin" valueType="num">
                                      <p:cBhvr>
                                        <p:cTn id="88" dur="1000" fill="hold"/>
                                        <p:tgtEl>
                                          <p:spTgt spid="8">
                                            <p:txEl>
                                              <p:pRg st="16" end="16"/>
                                            </p:txEl>
                                          </p:spTgt>
                                        </p:tgtEl>
                                        <p:attrNameLst>
                                          <p:attrName>ppt_x</p:attrName>
                                        </p:attrNameLst>
                                      </p:cBhvr>
                                      <p:tavLst>
                                        <p:tav tm="0">
                                          <p:val>
                                            <p:strVal val="#ppt_x"/>
                                          </p:val>
                                        </p:tav>
                                        <p:tav tm="100000">
                                          <p:val>
                                            <p:strVal val="#ppt_x"/>
                                          </p:val>
                                        </p:tav>
                                      </p:tavLst>
                                    </p:anim>
                                    <p:anim calcmode="lin" valueType="num">
                                      <p:cBhvr>
                                        <p:cTn id="89" dur="1000" fill="hold"/>
                                        <p:tgtEl>
                                          <p:spTgt spid="8">
                                            <p:txEl>
                                              <p:pRg st="16" end="16"/>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8">
                                            <p:txEl>
                                              <p:pRg st="17" end="17"/>
                                            </p:txEl>
                                          </p:spTgt>
                                        </p:tgtEl>
                                        <p:attrNameLst>
                                          <p:attrName>style.visibility</p:attrName>
                                        </p:attrNameLst>
                                      </p:cBhvr>
                                      <p:to>
                                        <p:strVal val="visible"/>
                                      </p:to>
                                    </p:set>
                                    <p:animEffect transition="in" filter="fade">
                                      <p:cBhvr>
                                        <p:cTn id="92" dur="1000"/>
                                        <p:tgtEl>
                                          <p:spTgt spid="8">
                                            <p:txEl>
                                              <p:pRg st="17" end="17"/>
                                            </p:txEl>
                                          </p:spTgt>
                                        </p:tgtEl>
                                      </p:cBhvr>
                                    </p:animEffect>
                                    <p:anim calcmode="lin" valueType="num">
                                      <p:cBhvr>
                                        <p:cTn id="93" dur="1000" fill="hold"/>
                                        <p:tgtEl>
                                          <p:spTgt spid="8">
                                            <p:txEl>
                                              <p:pRg st="17" end="17"/>
                                            </p:txEl>
                                          </p:spTgt>
                                        </p:tgtEl>
                                        <p:attrNameLst>
                                          <p:attrName>ppt_x</p:attrName>
                                        </p:attrNameLst>
                                      </p:cBhvr>
                                      <p:tavLst>
                                        <p:tav tm="0">
                                          <p:val>
                                            <p:strVal val="#ppt_x"/>
                                          </p:val>
                                        </p:tav>
                                        <p:tav tm="100000">
                                          <p:val>
                                            <p:strVal val="#ppt_x"/>
                                          </p:val>
                                        </p:tav>
                                      </p:tavLst>
                                    </p:anim>
                                    <p:anim calcmode="lin" valueType="num">
                                      <p:cBhvr>
                                        <p:cTn id="94" dur="1000" fill="hold"/>
                                        <p:tgtEl>
                                          <p:spTgt spid="8">
                                            <p:txEl>
                                              <p:pRg st="17" end="17"/>
                                            </p:txEl>
                                          </p:spTgt>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8">
                                            <p:txEl>
                                              <p:pRg st="18" end="18"/>
                                            </p:txEl>
                                          </p:spTgt>
                                        </p:tgtEl>
                                        <p:attrNameLst>
                                          <p:attrName>style.visibility</p:attrName>
                                        </p:attrNameLst>
                                      </p:cBhvr>
                                      <p:to>
                                        <p:strVal val="visible"/>
                                      </p:to>
                                    </p:set>
                                    <p:animEffect transition="in" filter="fade">
                                      <p:cBhvr>
                                        <p:cTn id="97" dur="1000"/>
                                        <p:tgtEl>
                                          <p:spTgt spid="8">
                                            <p:txEl>
                                              <p:pRg st="18" end="18"/>
                                            </p:txEl>
                                          </p:spTgt>
                                        </p:tgtEl>
                                      </p:cBhvr>
                                    </p:animEffect>
                                    <p:anim calcmode="lin" valueType="num">
                                      <p:cBhvr>
                                        <p:cTn id="98" dur="1000" fill="hold"/>
                                        <p:tgtEl>
                                          <p:spTgt spid="8">
                                            <p:txEl>
                                              <p:pRg st="18" end="18"/>
                                            </p:txEl>
                                          </p:spTgt>
                                        </p:tgtEl>
                                        <p:attrNameLst>
                                          <p:attrName>ppt_x</p:attrName>
                                        </p:attrNameLst>
                                      </p:cBhvr>
                                      <p:tavLst>
                                        <p:tav tm="0">
                                          <p:val>
                                            <p:strVal val="#ppt_x"/>
                                          </p:val>
                                        </p:tav>
                                        <p:tav tm="100000">
                                          <p:val>
                                            <p:strVal val="#ppt_x"/>
                                          </p:val>
                                        </p:tav>
                                      </p:tavLst>
                                    </p:anim>
                                    <p:anim calcmode="lin" valueType="num">
                                      <p:cBhvr>
                                        <p:cTn id="99" dur="1000" fill="hold"/>
                                        <p:tgtEl>
                                          <p:spTgt spid="8">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dirty="0"/>
              <a:t>Advantages of the Jews (9:3-5)</a:t>
            </a:r>
            <a:endParaRPr lang="en-US" sz="2400" dirty="0">
              <a:solidFill>
                <a:schemeClr val="tx2">
                  <a:lumMod val="60000"/>
                  <a:lumOff val="40000"/>
                </a:schemeClr>
              </a:solidFill>
            </a:endParaRPr>
          </a:p>
        </p:txBody>
      </p:sp>
      <p:sp>
        <p:nvSpPr>
          <p:cNvPr id="8" name="TextBox 7"/>
          <p:cNvSpPr txBox="1"/>
          <p:nvPr/>
        </p:nvSpPr>
        <p:spPr>
          <a:xfrm>
            <a:off x="457200" y="914400"/>
            <a:ext cx="8305800" cy="1631216"/>
          </a:xfrm>
          <a:prstGeom prst="rect">
            <a:avLst/>
          </a:prstGeom>
          <a:noFill/>
        </p:spPr>
        <p:txBody>
          <a:bodyPr wrap="square" rtlCol="0">
            <a:spAutoFit/>
          </a:bodyPr>
          <a:lstStyle/>
          <a:p>
            <a:pPr marL="457200" indent="-457200">
              <a:buAutoNum type="arabicPeriod" startAt="6"/>
            </a:pPr>
            <a:r>
              <a:rPr lang="en-US" sz="2000" b="1" dirty="0"/>
              <a:t>Giving of the Law</a:t>
            </a:r>
            <a:r>
              <a:rPr lang="en-US" sz="2000" dirty="0"/>
              <a:t>  (Rom. 7; Gal. 3:17-18)</a:t>
            </a:r>
          </a:p>
          <a:p>
            <a:pPr marL="457200" indent="-457200">
              <a:buAutoNum type="arabicPeriod" startAt="6"/>
            </a:pPr>
            <a:r>
              <a:rPr lang="en-US" sz="2000" b="1" dirty="0"/>
              <a:t>Service</a:t>
            </a:r>
            <a:r>
              <a:rPr lang="en-US" sz="2000" dirty="0"/>
              <a:t> of God  (e.g. temple services)</a:t>
            </a:r>
          </a:p>
          <a:p>
            <a:pPr marL="457200" indent="-457200">
              <a:buAutoNum type="arabicPeriod" startAt="6"/>
            </a:pPr>
            <a:r>
              <a:rPr lang="en-US" sz="2000" b="1" dirty="0"/>
              <a:t>Special Promises</a:t>
            </a:r>
          </a:p>
          <a:p>
            <a:pPr marL="457200" indent="-457200">
              <a:buAutoNum type="arabicPeriod" startAt="6"/>
            </a:pPr>
            <a:r>
              <a:rPr lang="en-US" sz="2000" b="1" dirty="0"/>
              <a:t>Fathers of the Faith  </a:t>
            </a:r>
            <a:r>
              <a:rPr lang="en-US" sz="2000" dirty="0"/>
              <a:t>(e.g. Abraham, Isaac, and Jacob)</a:t>
            </a:r>
          </a:p>
          <a:p>
            <a:pPr marL="457200" indent="-457200">
              <a:buAutoNum type="arabicPeriod" startAt="6"/>
            </a:pPr>
            <a:r>
              <a:rPr lang="en-US" sz="2000" b="1" dirty="0"/>
              <a:t>The Messiah </a:t>
            </a:r>
          </a:p>
        </p:txBody>
      </p:sp>
      <p:sp>
        <p:nvSpPr>
          <p:cNvPr id="4" name="TextBox 3"/>
          <p:cNvSpPr txBox="1"/>
          <p:nvPr/>
        </p:nvSpPr>
        <p:spPr>
          <a:xfrm>
            <a:off x="457200" y="2895600"/>
            <a:ext cx="8001000" cy="1815882"/>
          </a:xfrm>
          <a:prstGeom prst="rect">
            <a:avLst/>
          </a:prstGeom>
          <a:noFill/>
        </p:spPr>
        <p:txBody>
          <a:bodyPr wrap="square" rtlCol="0">
            <a:spAutoFit/>
          </a:bodyPr>
          <a:lstStyle/>
          <a:p>
            <a:r>
              <a:rPr lang="en-US" sz="2800" i="1" dirty="0"/>
              <a:t>The Everlasting Covenant…</a:t>
            </a:r>
          </a:p>
          <a:p>
            <a:pPr marL="342900" indent="-342900">
              <a:buFont typeface="Arial" panose="020B0604020202020204" pitchFamily="34" charset="0"/>
              <a:buChar char="•"/>
            </a:pPr>
            <a:r>
              <a:rPr lang="en-US" sz="2800" i="1" dirty="0"/>
              <a:t>Jeremiah 31:31-34 </a:t>
            </a:r>
          </a:p>
          <a:p>
            <a:pPr marL="342900" indent="-342900">
              <a:buFont typeface="Arial" panose="020B0604020202020204" pitchFamily="34" charset="0"/>
              <a:buChar char="•"/>
            </a:pPr>
            <a:r>
              <a:rPr lang="en-US" sz="2800" i="1" dirty="0"/>
              <a:t>Hebrews 8:6-13</a:t>
            </a:r>
          </a:p>
          <a:p>
            <a:pPr marL="342900" indent="-342900">
              <a:buFont typeface="Arial" panose="020B0604020202020204" pitchFamily="34" charset="0"/>
              <a:buChar char="•"/>
            </a:pPr>
            <a:r>
              <a:rPr lang="en-US" sz="2800" i="1" dirty="0"/>
              <a:t>Was this promise made to the Jews only?</a:t>
            </a:r>
          </a:p>
        </p:txBody>
      </p:sp>
    </p:spTree>
    <p:extLst>
      <p:ext uri="{BB962C8B-B14F-4D97-AF65-F5344CB8AC3E}">
        <p14:creationId xmlns:p14="http://schemas.microsoft.com/office/powerpoint/2010/main" val="299294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1000"/>
                                        <p:tgtEl>
                                          <p:spTgt spid="8">
                                            <p:txEl>
                                              <p:pRg st="3" end="3"/>
                                            </p:txEl>
                                          </p:spTgt>
                                        </p:tgtEl>
                                      </p:cBhvr>
                                    </p:animEffect>
                                    <p:anim calcmode="lin" valueType="num">
                                      <p:cBhvr>
                                        <p:cTn id="2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1000"/>
                                        <p:tgtEl>
                                          <p:spTgt spid="8">
                                            <p:txEl>
                                              <p:pRg st="4" end="4"/>
                                            </p:txEl>
                                          </p:spTgt>
                                        </p:tgtEl>
                                      </p:cBhvr>
                                    </p:animEffect>
                                    <p:anim calcmode="lin" valueType="num">
                                      <p:cBhvr>
                                        <p:cTn id="2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Did God’s Promises Fail?</a:t>
            </a:r>
            <a:br>
              <a:rPr lang="en-US" dirty="0"/>
            </a:br>
            <a:r>
              <a:rPr lang="en-US" sz="2400" dirty="0">
                <a:solidFill>
                  <a:schemeClr val="tx2">
                    <a:lumMod val="60000"/>
                    <a:lumOff val="40000"/>
                  </a:schemeClr>
                </a:solidFill>
              </a:rPr>
              <a:t>How does Paul deal with the “failure” of God’s promises?</a:t>
            </a:r>
          </a:p>
        </p:txBody>
      </p:sp>
      <p:sp>
        <p:nvSpPr>
          <p:cNvPr id="6" name="TextBox 5"/>
          <p:cNvSpPr txBox="1"/>
          <p:nvPr/>
        </p:nvSpPr>
        <p:spPr>
          <a:xfrm>
            <a:off x="455579" y="1152525"/>
            <a:ext cx="8001000" cy="2246769"/>
          </a:xfrm>
          <a:prstGeom prst="rect">
            <a:avLst/>
          </a:prstGeom>
          <a:noFill/>
        </p:spPr>
        <p:txBody>
          <a:bodyPr wrap="square" rtlCol="0">
            <a:spAutoFit/>
          </a:bodyPr>
          <a:lstStyle/>
          <a:p>
            <a:r>
              <a:rPr lang="en-US" sz="2000" i="1" dirty="0"/>
              <a:t>“But it is not that the word of God has taken no effect.  </a:t>
            </a:r>
            <a:r>
              <a:rPr lang="en-US" sz="2000" i="1" u="sng" dirty="0"/>
              <a:t>For they are not all Israel who are of Israel, nor are they all children because they are the seed of Abraham; but, ‘In Isaac your seed shall be called.’  </a:t>
            </a:r>
            <a:r>
              <a:rPr lang="en-US" sz="2000" i="1" dirty="0"/>
              <a:t>That is, those who are the children of the flesh, these are not the children of God; </a:t>
            </a:r>
            <a:r>
              <a:rPr lang="en-US" sz="2000" i="1" u="sng" dirty="0"/>
              <a:t>but the children of the promise are counted as the seed</a:t>
            </a:r>
            <a:r>
              <a:rPr lang="en-US" sz="2000" i="1" dirty="0"/>
              <a:t>.  For this is the word of promise: ‘At this time I will come and Sarah shall have a son.’”    </a:t>
            </a:r>
            <a:r>
              <a:rPr lang="en-US" sz="2000" b="1" i="1" dirty="0"/>
              <a:t>Romans 9:6-9</a:t>
            </a:r>
          </a:p>
        </p:txBody>
      </p:sp>
      <p:sp>
        <p:nvSpPr>
          <p:cNvPr id="5" name="TextBox 4"/>
          <p:cNvSpPr txBox="1"/>
          <p:nvPr/>
        </p:nvSpPr>
        <p:spPr>
          <a:xfrm>
            <a:off x="455579" y="3427869"/>
            <a:ext cx="8001000" cy="3170099"/>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a:p>
            <a:pPr marL="342900" indent="-342900">
              <a:buFont typeface="Arial" panose="020B0604020202020204" pitchFamily="34" charset="0"/>
              <a:buChar char="•"/>
            </a:pPr>
            <a:r>
              <a:rPr lang="en-US" sz="2000" u="sng" dirty="0"/>
              <a:t>Paul insists that the real Israel to whom the promises were to be fulfilled was not synonymous with the whole nation of Israel.</a:t>
            </a:r>
          </a:p>
          <a:p>
            <a:pPr marL="342900" indent="-342900">
              <a:buFont typeface="Arial" panose="020B0604020202020204" pitchFamily="34" charset="0"/>
              <a:buChar char="•"/>
            </a:pPr>
            <a:r>
              <a:rPr lang="en-US" sz="2000" dirty="0"/>
              <a:t>Paul claims that the real heirs are children of faith (i.e. the believers) and promise (i.e. as Isaac was) and so the rejection of the unbelievers is not a breach of promise on God’s part.   </a:t>
            </a:r>
          </a:p>
        </p:txBody>
      </p:sp>
    </p:spTree>
    <p:extLst>
      <p:ext uri="{BB962C8B-B14F-4D97-AF65-F5344CB8AC3E}">
        <p14:creationId xmlns:p14="http://schemas.microsoft.com/office/powerpoint/2010/main" val="116492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Promises </a:t>
            </a:r>
            <a:br>
              <a:rPr lang="en-US" dirty="0"/>
            </a:br>
            <a:r>
              <a:rPr lang="en-US" sz="2600" dirty="0">
                <a:solidFill>
                  <a:schemeClr val="tx2">
                    <a:lumMod val="60000"/>
                    <a:lumOff val="40000"/>
                  </a:schemeClr>
                </a:solidFill>
              </a:rPr>
              <a:t>How the LORD delights in keeping his promises…!</a:t>
            </a:r>
          </a:p>
        </p:txBody>
      </p:sp>
      <p:sp>
        <p:nvSpPr>
          <p:cNvPr id="7" name="TextBox 6"/>
          <p:cNvSpPr txBox="1"/>
          <p:nvPr/>
        </p:nvSpPr>
        <p:spPr>
          <a:xfrm>
            <a:off x="361278" y="1170791"/>
            <a:ext cx="8360230" cy="2246769"/>
          </a:xfrm>
          <a:prstGeom prst="rect">
            <a:avLst/>
          </a:prstGeom>
          <a:noFill/>
        </p:spPr>
        <p:txBody>
          <a:bodyPr wrap="square" rtlCol="0">
            <a:spAutoFit/>
          </a:bodyPr>
          <a:lstStyle/>
          <a:p>
            <a:r>
              <a:rPr lang="en-US" sz="2000" i="1" dirty="0"/>
              <a:t>Genesis 15:6 </a:t>
            </a:r>
          </a:p>
          <a:p>
            <a:pPr marL="342900" indent="-342900">
              <a:buFont typeface="Arial" panose="020B0604020202020204" pitchFamily="34" charset="0"/>
              <a:buChar char="•"/>
            </a:pPr>
            <a:r>
              <a:rPr lang="en-US" sz="2000" i="1" dirty="0"/>
              <a:t>Abraham was </a:t>
            </a:r>
            <a:r>
              <a:rPr lang="en-US" sz="2000" b="1" i="1" dirty="0"/>
              <a:t>reckoned</a:t>
            </a:r>
            <a:r>
              <a:rPr lang="en-US" sz="2000" i="1" dirty="0"/>
              <a:t> to righteousness </a:t>
            </a:r>
            <a:r>
              <a:rPr lang="en-US" sz="2000" b="1" i="1" dirty="0"/>
              <a:t>by his faith </a:t>
            </a:r>
            <a:r>
              <a:rPr lang="en-US" sz="2000" i="1" dirty="0"/>
              <a:t>when he was still a Gentile, two chapters before the covenant sign of circumcision was placed upon his flesh and 400+ years before the Mosaic Law.</a:t>
            </a:r>
          </a:p>
          <a:p>
            <a:pPr marL="342900" indent="-342900">
              <a:buFont typeface="Arial" panose="020B0604020202020204" pitchFamily="34" charset="0"/>
              <a:buChar char="•"/>
            </a:pPr>
            <a:r>
              <a:rPr lang="en-US" sz="2000" i="1" dirty="0"/>
              <a:t>At the time Abraham was “saved” he wasn’t “Jewish”. (Rom 4:9-12)</a:t>
            </a:r>
          </a:p>
          <a:p>
            <a:pPr marL="342900" indent="-342900">
              <a:buFont typeface="Arial" panose="020B0604020202020204" pitchFamily="34" charset="0"/>
              <a:buChar char="•"/>
            </a:pPr>
            <a:r>
              <a:rPr lang="en-US" sz="2000" i="1" dirty="0"/>
              <a:t>Abraham </a:t>
            </a:r>
            <a:r>
              <a:rPr lang="en-US" sz="2000" b="1" i="1" dirty="0"/>
              <a:t>did no works </a:t>
            </a:r>
            <a:r>
              <a:rPr lang="en-US" sz="2000" i="1" dirty="0"/>
              <a:t>to acquire righteousness, it was by a gift of grace.  (Romans 4:4)</a:t>
            </a:r>
          </a:p>
        </p:txBody>
      </p:sp>
      <p:sp>
        <p:nvSpPr>
          <p:cNvPr id="6" name="TextBox 5"/>
          <p:cNvSpPr txBox="1"/>
          <p:nvPr/>
        </p:nvSpPr>
        <p:spPr>
          <a:xfrm>
            <a:off x="398033" y="3542794"/>
            <a:ext cx="8001000" cy="707886"/>
          </a:xfrm>
          <a:prstGeom prst="rect">
            <a:avLst/>
          </a:prstGeom>
          <a:noFill/>
        </p:spPr>
        <p:txBody>
          <a:bodyPr wrap="square" rtlCol="0">
            <a:spAutoFit/>
          </a:bodyPr>
          <a:lstStyle/>
          <a:p>
            <a:r>
              <a:rPr lang="en-US" sz="2000" i="1" dirty="0"/>
              <a:t>The Lord delights in keeping His promises…</a:t>
            </a:r>
          </a:p>
          <a:p>
            <a:pPr marL="342900" indent="-342900">
              <a:buFont typeface="Arial" panose="020B0604020202020204" pitchFamily="34" charset="0"/>
              <a:buChar char="•"/>
            </a:pPr>
            <a:r>
              <a:rPr lang="en-US" sz="2000" i="1" dirty="0"/>
              <a:t>Galatians 3:15-29</a:t>
            </a:r>
          </a:p>
        </p:txBody>
      </p:sp>
      <p:sp>
        <p:nvSpPr>
          <p:cNvPr id="8" name="TextBox 7"/>
          <p:cNvSpPr txBox="1"/>
          <p:nvPr/>
        </p:nvSpPr>
        <p:spPr>
          <a:xfrm>
            <a:off x="398033" y="4477683"/>
            <a:ext cx="8001000" cy="1938992"/>
          </a:xfrm>
          <a:prstGeom prst="rect">
            <a:avLst/>
          </a:prstGeom>
          <a:noFill/>
        </p:spPr>
        <p:txBody>
          <a:bodyPr wrap="square" rtlCol="0">
            <a:spAutoFit/>
          </a:bodyPr>
          <a:lstStyle/>
          <a:p>
            <a:r>
              <a:rPr lang="en-US" sz="2000" b="1" i="1" dirty="0"/>
              <a:t>Jacob’s heirs include “all believers”…</a:t>
            </a:r>
          </a:p>
          <a:p>
            <a:pPr marL="342900" indent="-342900">
              <a:buFont typeface="Arial" panose="020B0604020202020204" pitchFamily="34" charset="0"/>
              <a:buChar char="•"/>
            </a:pPr>
            <a:r>
              <a:rPr lang="en-US" sz="2000" i="1" dirty="0"/>
              <a:t>Promises extended first to the Jew (Romans 1:16) then to the Gentile – but only to those who believe by faith as Abraham did.</a:t>
            </a:r>
          </a:p>
          <a:p>
            <a:pPr marL="342900" indent="-342900">
              <a:buFont typeface="Arial" panose="020B0604020202020204" pitchFamily="34" charset="0"/>
              <a:buChar char="•"/>
            </a:pPr>
            <a:r>
              <a:rPr lang="en-US" sz="2000" i="1" dirty="0"/>
              <a:t>The Israelite without faith was never regarded as a partaker of the promises.  Galatians 3:16-18</a:t>
            </a:r>
          </a:p>
          <a:p>
            <a:pPr marL="342900" indent="-342900">
              <a:buFont typeface="Arial" panose="020B0604020202020204" pitchFamily="34" charset="0"/>
              <a:buChar char="•"/>
            </a:pPr>
            <a:r>
              <a:rPr lang="en-US" sz="2000" i="1" dirty="0"/>
              <a:t>John 8:31-47; Deuteronomy 18:15-19;  Acts 3:21-23</a:t>
            </a:r>
          </a:p>
        </p:txBody>
      </p:sp>
    </p:spTree>
    <p:extLst>
      <p:ext uri="{BB962C8B-B14F-4D97-AF65-F5344CB8AC3E}">
        <p14:creationId xmlns:p14="http://schemas.microsoft.com/office/powerpoint/2010/main" val="121083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What shall we say then?</a:t>
            </a:r>
            <a:br>
              <a:rPr lang="en-US" dirty="0"/>
            </a:br>
            <a:r>
              <a:rPr lang="en-US" sz="2400">
                <a:solidFill>
                  <a:schemeClr val="tx2">
                    <a:lumMod val="60000"/>
                    <a:lumOff val="40000"/>
                  </a:schemeClr>
                </a:solidFill>
              </a:rPr>
              <a:t>Perhaps just what </a:t>
            </a:r>
            <a:r>
              <a:rPr lang="en-US" sz="2400" dirty="0">
                <a:solidFill>
                  <a:schemeClr val="tx2">
                    <a:lumMod val="60000"/>
                    <a:lumOff val="40000"/>
                  </a:schemeClr>
                </a:solidFill>
              </a:rPr>
              <a:t>the eye-witnesses said…</a:t>
            </a:r>
          </a:p>
        </p:txBody>
      </p:sp>
      <p:sp>
        <p:nvSpPr>
          <p:cNvPr id="6" name="TextBox 5"/>
          <p:cNvSpPr txBox="1"/>
          <p:nvPr/>
        </p:nvSpPr>
        <p:spPr>
          <a:xfrm>
            <a:off x="456475" y="1313527"/>
            <a:ext cx="8001000" cy="2554545"/>
          </a:xfrm>
          <a:prstGeom prst="rect">
            <a:avLst/>
          </a:prstGeom>
          <a:noFill/>
        </p:spPr>
        <p:txBody>
          <a:bodyPr wrap="square" rtlCol="0">
            <a:spAutoFit/>
          </a:bodyPr>
          <a:lstStyle/>
          <a:p>
            <a:r>
              <a:rPr lang="en-US" sz="2000" i="1" dirty="0"/>
              <a:t>“What shall we say then?  That Gentiles, who did not pursue righteousness, have attained to righteousness, even the righteousness of faith; but Israel, pursuing the law of righteousness, has not attained to the law of righteousness.  Why?  </a:t>
            </a:r>
            <a:r>
              <a:rPr lang="en-US" sz="2000" b="1" i="1" dirty="0"/>
              <a:t>Because they did not seek it by faith, but as it were, by the works of the law</a:t>
            </a:r>
            <a:r>
              <a:rPr lang="en-US" sz="2000" i="1" dirty="0"/>
              <a:t>.  For they stumbled at that stumbling stone.   As it is written:  ‘</a:t>
            </a:r>
            <a:r>
              <a:rPr lang="en-US" sz="2000" b="1" i="1" dirty="0"/>
              <a:t>Behold, I lay in Zion a stumbling stone and rock of offense, And whoever believes on Him will not be put to shame.</a:t>
            </a:r>
            <a:r>
              <a:rPr lang="en-US" sz="2000" i="1" dirty="0"/>
              <a:t>’”  </a:t>
            </a:r>
            <a:r>
              <a:rPr lang="en-US" sz="2000" b="1" i="1" dirty="0"/>
              <a:t>Romans 9:30-33</a:t>
            </a:r>
          </a:p>
        </p:txBody>
      </p:sp>
      <p:sp>
        <p:nvSpPr>
          <p:cNvPr id="5" name="TextBox 4"/>
          <p:cNvSpPr txBox="1"/>
          <p:nvPr/>
        </p:nvSpPr>
        <p:spPr>
          <a:xfrm>
            <a:off x="456475" y="4038600"/>
            <a:ext cx="8001000" cy="1323439"/>
          </a:xfrm>
          <a:prstGeom prst="rect">
            <a:avLst/>
          </a:prstGeom>
          <a:noFill/>
        </p:spPr>
        <p:txBody>
          <a:bodyPr wrap="square" rtlCol="0">
            <a:spAutoFit/>
          </a:bodyPr>
          <a:lstStyle/>
          <a:p>
            <a:r>
              <a:rPr lang="en-US" sz="2000" i="1" dirty="0"/>
              <a:t>“This is the ‘stone which was rejected by you builders, which has become the chief cornerstone.’  </a:t>
            </a:r>
            <a:r>
              <a:rPr lang="en-US" sz="2000" b="1" i="1" dirty="0"/>
              <a:t>Nor is there salvation in any other, for there is no other name under heaven given among men by which we must be saved</a:t>
            </a:r>
            <a:r>
              <a:rPr lang="en-US" sz="2000" i="1" dirty="0"/>
              <a:t>.”  </a:t>
            </a:r>
            <a:r>
              <a:rPr lang="en-US" sz="2000" b="1" i="1" dirty="0"/>
              <a:t>Acts 4:11-12</a:t>
            </a:r>
            <a:r>
              <a:rPr lang="en-US" sz="2000" i="1" dirty="0"/>
              <a:t>   </a:t>
            </a:r>
          </a:p>
        </p:txBody>
      </p:sp>
    </p:spTree>
    <p:extLst>
      <p:ext uri="{BB962C8B-B14F-4D97-AF65-F5344CB8AC3E}">
        <p14:creationId xmlns:p14="http://schemas.microsoft.com/office/powerpoint/2010/main" val="42797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EA12-B4D3-FF73-6D3A-4B154729DC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440C64-7654-D967-978A-90DB8653A12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30326F6-7D14-A2D0-2273-89A41D38BB6F}"/>
              </a:ext>
            </a:extLst>
          </p:cNvPr>
          <p:cNvSpPr>
            <a:spLocks noGrp="1"/>
          </p:cNvSpPr>
          <p:nvPr>
            <p:ph type="sldNum" sz="quarter" idx="11"/>
          </p:nvPr>
        </p:nvSpPr>
        <p:spPr/>
        <p:txBody>
          <a:bodyPr/>
          <a:lstStyle/>
          <a:p>
            <a:pPr>
              <a:defRPr/>
            </a:pPr>
            <a:fld id="{90314B7E-EB23-4DAB-A3F0-0F7BBB6CDA33}" type="slidenum">
              <a:rPr lang="en-US" smtClean="0"/>
              <a:pPr>
                <a:defRPr/>
              </a:pPr>
              <a:t>10</a:t>
            </a:fld>
            <a:endParaRPr lang="en-US" dirty="0"/>
          </a:p>
        </p:txBody>
      </p:sp>
    </p:spTree>
    <p:extLst>
      <p:ext uri="{BB962C8B-B14F-4D97-AF65-F5344CB8AC3E}">
        <p14:creationId xmlns:p14="http://schemas.microsoft.com/office/powerpoint/2010/main" val="1117825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0716" y="176800"/>
            <a:ext cx="8001000" cy="4093428"/>
          </a:xfrm>
          <a:prstGeom prst="rect">
            <a:avLst/>
          </a:prstGeom>
          <a:noFill/>
        </p:spPr>
        <p:txBody>
          <a:bodyPr wrap="square" rtlCol="0">
            <a:spAutoFit/>
          </a:bodyPr>
          <a:lstStyle/>
          <a:p>
            <a:r>
              <a:rPr lang="en-US" sz="2000" i="1" dirty="0"/>
              <a:t>“Likewise the </a:t>
            </a:r>
            <a:r>
              <a:rPr lang="en-US" sz="2000" b="1" i="1" u="sng" dirty="0"/>
              <a:t>Spirit also helps </a:t>
            </a:r>
            <a:r>
              <a:rPr lang="en-US" sz="2000" i="1" dirty="0"/>
              <a:t>in our weaknesses.   For we do not know what we should pray for as we ought, but the </a:t>
            </a:r>
            <a:r>
              <a:rPr lang="en-US" sz="2000" b="1" i="1" u="sng" dirty="0"/>
              <a:t>Spirit Himself makes intercession for us</a:t>
            </a:r>
            <a:r>
              <a:rPr lang="en-US" sz="2000" i="1" dirty="0"/>
              <a:t> with groanings which cannot be uttered.   Now He who searches the hearts knows what the mind of the Spirit is, because </a:t>
            </a:r>
            <a:r>
              <a:rPr lang="en-US" sz="2000" b="1" i="1" u="sng" dirty="0"/>
              <a:t>He makes intercession </a:t>
            </a:r>
            <a:r>
              <a:rPr lang="en-US" sz="2000" i="1" dirty="0"/>
              <a:t>for the saints </a:t>
            </a:r>
            <a:r>
              <a:rPr lang="en-US" sz="2000" b="1" i="1" u="sng" dirty="0"/>
              <a:t>according to the will of God</a:t>
            </a:r>
            <a:r>
              <a:rPr lang="en-US" sz="2000" i="1" dirty="0"/>
              <a:t>.”    </a:t>
            </a:r>
          </a:p>
          <a:p>
            <a:r>
              <a:rPr lang="en-US" sz="2000" i="1" dirty="0"/>
              <a:t>“And we know that all things work together for good to </a:t>
            </a:r>
            <a:r>
              <a:rPr lang="en-US" sz="2000" b="1" i="1" u="sng" dirty="0"/>
              <a:t>those who love God</a:t>
            </a:r>
            <a:r>
              <a:rPr lang="en-US" sz="2000" i="1" dirty="0"/>
              <a:t>, to </a:t>
            </a:r>
            <a:r>
              <a:rPr lang="en-US" sz="2000" b="1" i="1" u="sng" dirty="0"/>
              <a:t>those who </a:t>
            </a:r>
            <a:r>
              <a:rPr lang="en-US" sz="2000" i="1" dirty="0"/>
              <a:t>are called </a:t>
            </a:r>
            <a:r>
              <a:rPr lang="en-US" sz="2000" b="1" i="1" u="sng" dirty="0"/>
              <a:t>according to His purpose</a:t>
            </a:r>
            <a:r>
              <a:rPr lang="en-US" sz="2000" i="1" dirty="0"/>
              <a:t>.  For </a:t>
            </a:r>
            <a:r>
              <a:rPr lang="en-US" sz="2000" b="1" i="1" u="sng" dirty="0"/>
              <a:t>whom</a:t>
            </a:r>
            <a:r>
              <a:rPr lang="en-US" sz="2000" i="1" dirty="0"/>
              <a:t> </a:t>
            </a:r>
            <a:r>
              <a:rPr lang="en-US" sz="2000" b="1" i="1" u="sng" dirty="0"/>
              <a:t>He foreknew</a:t>
            </a:r>
            <a:r>
              <a:rPr lang="en-US" sz="2000" i="1" dirty="0"/>
              <a:t>, He also </a:t>
            </a:r>
            <a:r>
              <a:rPr lang="en-US" sz="2000" b="1" u="sng" dirty="0"/>
              <a:t>predestined</a:t>
            </a:r>
            <a:r>
              <a:rPr lang="en-US" sz="2000" i="1" dirty="0"/>
              <a:t> to be </a:t>
            </a:r>
            <a:r>
              <a:rPr lang="en-US" sz="2000" b="1" i="1" u="sng" dirty="0"/>
              <a:t>conformed to the image of His Son</a:t>
            </a:r>
            <a:r>
              <a:rPr lang="en-US" sz="2000" i="1" dirty="0"/>
              <a:t>, that He might be the firstborn among many brethren.  Moreover who He predestined, these </a:t>
            </a:r>
            <a:r>
              <a:rPr lang="en-US" sz="2000" b="1" i="1" u="sng" dirty="0"/>
              <a:t>He also called</a:t>
            </a:r>
            <a:r>
              <a:rPr lang="en-US" sz="2000" i="1" dirty="0"/>
              <a:t>; whom He called, these </a:t>
            </a:r>
            <a:r>
              <a:rPr lang="en-US" sz="2000" b="1" i="1" u="sng" dirty="0"/>
              <a:t>He also justified</a:t>
            </a:r>
            <a:r>
              <a:rPr lang="en-US" sz="2000" i="1" dirty="0"/>
              <a:t>; and whom He justified, these </a:t>
            </a:r>
            <a:r>
              <a:rPr lang="en-US" sz="2000" b="1" i="1" u="sng" dirty="0"/>
              <a:t>He also glorified</a:t>
            </a:r>
            <a:r>
              <a:rPr lang="en-US" sz="2000" i="1" dirty="0"/>
              <a:t>.”  Romans 8:26-30</a:t>
            </a:r>
          </a:p>
        </p:txBody>
      </p:sp>
      <p:sp>
        <p:nvSpPr>
          <p:cNvPr id="6" name="TextBox 5"/>
          <p:cNvSpPr txBox="1"/>
          <p:nvPr/>
        </p:nvSpPr>
        <p:spPr>
          <a:xfrm>
            <a:off x="416667" y="4284801"/>
            <a:ext cx="8001000" cy="400110"/>
          </a:xfrm>
          <a:prstGeom prst="rect">
            <a:avLst/>
          </a:prstGeom>
          <a:noFill/>
        </p:spPr>
        <p:txBody>
          <a:bodyPr wrap="square" rtlCol="0">
            <a:spAutoFit/>
          </a:bodyPr>
          <a:lstStyle/>
          <a:p>
            <a:r>
              <a:rPr lang="en-US" sz="2000" dirty="0"/>
              <a:t>Is God ever surprised by events?   If not, why not?</a:t>
            </a:r>
          </a:p>
        </p:txBody>
      </p:sp>
      <p:sp>
        <p:nvSpPr>
          <p:cNvPr id="8" name="TextBox 7"/>
          <p:cNvSpPr txBox="1"/>
          <p:nvPr/>
        </p:nvSpPr>
        <p:spPr>
          <a:xfrm>
            <a:off x="423153" y="4615090"/>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Phil. 1:6   </a:t>
            </a:r>
          </a:p>
        </p:txBody>
      </p:sp>
      <p:sp>
        <p:nvSpPr>
          <p:cNvPr id="9" name="TextBox 8"/>
          <p:cNvSpPr txBox="1"/>
          <p:nvPr/>
        </p:nvSpPr>
        <p:spPr>
          <a:xfrm>
            <a:off x="426392" y="5010823"/>
            <a:ext cx="8001000" cy="707886"/>
          </a:xfrm>
          <a:prstGeom prst="rect">
            <a:avLst/>
          </a:prstGeom>
          <a:noFill/>
        </p:spPr>
        <p:txBody>
          <a:bodyPr wrap="square" rtlCol="0">
            <a:spAutoFit/>
          </a:bodyPr>
          <a:lstStyle/>
          <a:p>
            <a:r>
              <a:rPr lang="en-US" sz="2000" dirty="0"/>
              <a:t>Does this passage teach predestination of individual souls to eternal glory?   Colossians 1:12-29  “called”; how? 2 Thessalonians 2:13-14</a:t>
            </a:r>
          </a:p>
        </p:txBody>
      </p:sp>
      <p:sp>
        <p:nvSpPr>
          <p:cNvPr id="11" name="TextBox 10"/>
          <p:cNvSpPr txBox="1"/>
          <p:nvPr/>
        </p:nvSpPr>
        <p:spPr>
          <a:xfrm>
            <a:off x="450716" y="5714331"/>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Refers to what God purposed before creation.  E.g. That those who love Him (i.e. a class of people) would be ordained to spiritual union and fellowship with Him.  They would look like His Son.</a:t>
            </a:r>
          </a:p>
        </p:txBody>
      </p:sp>
    </p:spTree>
    <p:extLst>
      <p:ext uri="{BB962C8B-B14F-4D97-AF65-F5344CB8AC3E}">
        <p14:creationId xmlns:p14="http://schemas.microsoft.com/office/powerpoint/2010/main" val="22011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by Implicit Condition (1)</a:t>
            </a:r>
            <a:br>
              <a:rPr lang="en-US" dirty="0"/>
            </a:br>
            <a:r>
              <a:rPr lang="en-US" sz="2400" dirty="0">
                <a:solidFill>
                  <a:schemeClr val="tx2">
                    <a:lumMod val="60000"/>
                    <a:lumOff val="40000"/>
                  </a:schemeClr>
                </a:solidFill>
              </a:rPr>
              <a:t>How did Paul write this letter?</a:t>
            </a:r>
          </a:p>
        </p:txBody>
      </p:sp>
      <p:sp>
        <p:nvSpPr>
          <p:cNvPr id="3" name="Content Placeholder 2"/>
          <p:cNvSpPr>
            <a:spLocks noGrp="1"/>
          </p:cNvSpPr>
          <p:nvPr>
            <p:ph idx="1"/>
          </p:nvPr>
        </p:nvSpPr>
        <p:spPr>
          <a:xfrm>
            <a:off x="457200" y="1371600"/>
            <a:ext cx="8229600" cy="4800600"/>
          </a:xfrm>
        </p:spPr>
        <p:txBody>
          <a:bodyPr/>
          <a:lstStyle/>
          <a:p>
            <a:pPr marL="0" indent="0">
              <a:buNone/>
            </a:pPr>
            <a:r>
              <a:rPr lang="en-US" dirty="0">
                <a:latin typeface="Segoe UI" panose="020B0502040204020203" pitchFamily="34" charset="0"/>
                <a:cs typeface="Segoe UI" panose="020B0502040204020203" pitchFamily="34" charset="0"/>
              </a:rPr>
              <a:t>Example understanding that we </a:t>
            </a:r>
            <a:r>
              <a:rPr lang="en-US" i="1" dirty="0">
                <a:latin typeface="Segoe UI" panose="020B0502040204020203" pitchFamily="34" charset="0"/>
                <a:cs typeface="Segoe UI" panose="020B0502040204020203" pitchFamily="34" charset="0"/>
              </a:rPr>
              <a:t>could</a:t>
            </a:r>
            <a:r>
              <a:rPr lang="en-US" dirty="0">
                <a:latin typeface="Segoe UI" panose="020B0502040204020203" pitchFamily="34" charset="0"/>
                <a:cs typeface="Segoe UI" panose="020B0502040204020203" pitchFamily="34" charset="0"/>
              </a:rPr>
              <a:t> take-away…</a:t>
            </a:r>
          </a:p>
          <a:p>
            <a:pPr marL="0" indent="0">
              <a:buNone/>
            </a:pPr>
            <a:endParaRPr lang="en-US" dirty="0"/>
          </a:p>
          <a:p>
            <a:pPr marL="514350" indent="-514350">
              <a:buFont typeface="+mj-lt"/>
              <a:buAutoNum type="arabicPeriod"/>
            </a:pPr>
            <a:r>
              <a:rPr lang="en-US" dirty="0">
                <a:latin typeface="Segoe UI" panose="020B0502040204020203" pitchFamily="34" charset="0"/>
                <a:cs typeface="Segoe UI" panose="020B0502040204020203" pitchFamily="34" charset="0"/>
              </a:rPr>
              <a:t>By the fall of the Jew the world was made rich.  (Romans 11:12)</a:t>
            </a:r>
          </a:p>
          <a:p>
            <a:pPr marL="514350" indent="-514350">
              <a:buFont typeface="+mj-lt"/>
              <a:buAutoNum type="arabicPeriod"/>
            </a:pPr>
            <a:r>
              <a:rPr lang="en-US" dirty="0">
                <a:latin typeface="Segoe UI" panose="020B0502040204020203" pitchFamily="34" charset="0"/>
                <a:cs typeface="Segoe UI" panose="020B0502040204020203" pitchFamily="34" charset="0"/>
              </a:rPr>
              <a:t>By the disobedience of the Jew the Gentile received mercy.  (Romans 11:30)</a:t>
            </a:r>
          </a:p>
          <a:p>
            <a:pPr marL="514350" indent="-514350">
              <a:buFont typeface="+mj-lt"/>
              <a:buAutoNum type="arabicPeriod"/>
            </a:pPr>
            <a:r>
              <a:rPr lang="en-US" dirty="0">
                <a:latin typeface="Segoe UI" panose="020B0502040204020203" pitchFamily="34" charset="0"/>
                <a:cs typeface="Segoe UI" panose="020B0502040204020203" pitchFamily="34" charset="0"/>
              </a:rPr>
              <a:t>By the Sin of Adam mankind was made sinners.  (Romans 5:19)</a:t>
            </a:r>
          </a:p>
          <a:p>
            <a:pPr marL="514350" indent="-514350">
              <a:buFont typeface="+mj-lt"/>
              <a:buAutoNum type="arabicPeriod"/>
            </a:pPr>
            <a:r>
              <a:rPr lang="en-US" dirty="0">
                <a:latin typeface="Segoe UI" panose="020B0502040204020203" pitchFamily="34" charset="0"/>
                <a:cs typeface="Segoe UI" panose="020B0502040204020203" pitchFamily="34" charset="0"/>
              </a:rPr>
              <a:t>By the Righteousness of Christ mankind was made righteous.  (Romans 5:19)</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12</a:t>
            </a:fld>
            <a:endParaRPr lang="en-US" dirty="0"/>
          </a:p>
        </p:txBody>
      </p:sp>
    </p:spTree>
    <p:extLst>
      <p:ext uri="{BB962C8B-B14F-4D97-AF65-F5344CB8AC3E}">
        <p14:creationId xmlns:p14="http://schemas.microsoft.com/office/powerpoint/2010/main" val="217210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by Implicit Condition (2)</a:t>
            </a:r>
            <a:br>
              <a:rPr lang="en-US" dirty="0"/>
            </a:br>
            <a:r>
              <a:rPr lang="en-US" sz="2400" dirty="0">
                <a:solidFill>
                  <a:schemeClr val="tx2">
                    <a:lumMod val="60000"/>
                    <a:lumOff val="40000"/>
                  </a:schemeClr>
                </a:solidFill>
              </a:rPr>
              <a:t>How did Paul write this letter?</a:t>
            </a:r>
          </a:p>
        </p:txBody>
      </p:sp>
      <p:sp>
        <p:nvSpPr>
          <p:cNvPr id="3" name="Content Placeholder 2"/>
          <p:cNvSpPr>
            <a:spLocks noGrp="1"/>
          </p:cNvSpPr>
          <p:nvPr>
            <p:ph idx="1"/>
          </p:nvPr>
        </p:nvSpPr>
        <p:spPr>
          <a:xfrm>
            <a:off x="457200" y="1447800"/>
            <a:ext cx="8229600" cy="4343400"/>
          </a:xfrm>
        </p:spPr>
        <p:txBody>
          <a:bodyPr/>
          <a:lstStyle/>
          <a:p>
            <a:pPr marL="0" indent="0">
              <a:buNone/>
            </a:pPr>
            <a:r>
              <a:rPr lang="en-US" sz="2400" dirty="0">
                <a:latin typeface="Segoe UI" panose="020B0502040204020203" pitchFamily="34" charset="0"/>
                <a:cs typeface="Segoe UI" panose="020B0502040204020203" pitchFamily="34" charset="0"/>
              </a:rPr>
              <a:t>Example understanding that we </a:t>
            </a:r>
            <a:r>
              <a:rPr lang="en-US" sz="2400" i="1" dirty="0">
                <a:latin typeface="Segoe UI" panose="020B0502040204020203" pitchFamily="34" charset="0"/>
                <a:cs typeface="Segoe UI" panose="020B0502040204020203" pitchFamily="34" charset="0"/>
              </a:rPr>
              <a:t>ought to </a:t>
            </a:r>
            <a:r>
              <a:rPr lang="en-US" sz="2400" dirty="0">
                <a:latin typeface="Segoe UI" panose="020B0502040204020203" pitchFamily="34" charset="0"/>
                <a:cs typeface="Segoe UI" panose="020B0502040204020203" pitchFamily="34" charset="0"/>
              </a:rPr>
              <a:t>take-away…</a:t>
            </a:r>
          </a:p>
          <a:p>
            <a:pPr marL="0" indent="0">
              <a:buNone/>
            </a:pPr>
            <a:endParaRPr lang="en-US" sz="2400" dirty="0">
              <a:latin typeface="Segoe UI" panose="020B0502040204020203" pitchFamily="34" charset="0"/>
              <a:cs typeface="Segoe UI" panose="020B0502040204020203" pitchFamily="34" charset="0"/>
            </a:endParaRP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fall of the Jew the world is made rich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it turns to Christ in Faith</a:t>
            </a:r>
            <a:r>
              <a:rPr lang="en-US" sz="2400" dirty="0">
                <a:latin typeface="Segoe UI" panose="020B0502040204020203" pitchFamily="34" charset="0"/>
                <a:cs typeface="Segoe UI" panose="020B0502040204020203" pitchFamily="34" charset="0"/>
              </a:rPr>
              <a:t>.  (Romans 11:12)</a:t>
            </a: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disobedience of the Jew the Gentile receives mercy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they come to Christ by Faith</a:t>
            </a:r>
            <a:r>
              <a:rPr lang="en-US" sz="2400" dirty="0">
                <a:latin typeface="Segoe UI" panose="020B0502040204020203" pitchFamily="34" charset="0"/>
                <a:cs typeface="Segoe UI" panose="020B0502040204020203" pitchFamily="34" charset="0"/>
              </a:rPr>
              <a:t>.  (Romans 11:30)</a:t>
            </a: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Sin of Adam mankind is made sinners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they go the way of Adam</a:t>
            </a:r>
            <a:r>
              <a:rPr lang="en-US" sz="2400" dirty="0">
                <a:latin typeface="Segoe UI" panose="020B0502040204020203" pitchFamily="34" charset="0"/>
                <a:cs typeface="Segoe UI" panose="020B0502040204020203" pitchFamily="34" charset="0"/>
              </a:rPr>
              <a:t>.  (Romans 5:19)</a:t>
            </a: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Righteousness of Christ mankind is made righteous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it turns to Him in Faith</a:t>
            </a:r>
            <a:r>
              <a:rPr lang="en-US" sz="2400" dirty="0">
                <a:latin typeface="Segoe UI" panose="020B0502040204020203" pitchFamily="34" charset="0"/>
                <a:cs typeface="Segoe UI" panose="020B0502040204020203" pitchFamily="34" charset="0"/>
              </a:rPr>
              <a:t>.  (Romans 5:19)</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13</a:t>
            </a:fld>
            <a:endParaRPr lang="en-US" dirty="0"/>
          </a:p>
        </p:txBody>
      </p:sp>
    </p:spTree>
    <p:extLst>
      <p:ext uri="{BB962C8B-B14F-4D97-AF65-F5344CB8AC3E}">
        <p14:creationId xmlns:p14="http://schemas.microsoft.com/office/powerpoint/2010/main" val="37522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More Blessings?</a:t>
            </a:r>
            <a:br>
              <a:rPr lang="en-US" dirty="0"/>
            </a:br>
            <a:r>
              <a:rPr lang="en-US" sz="2400" dirty="0">
                <a:solidFill>
                  <a:schemeClr val="tx2">
                    <a:lumMod val="60000"/>
                    <a:lumOff val="40000"/>
                  </a:schemeClr>
                </a:solidFill>
              </a:rPr>
              <a:t>What next? </a:t>
            </a:r>
          </a:p>
        </p:txBody>
      </p:sp>
      <p:sp>
        <p:nvSpPr>
          <p:cNvPr id="4" name="TextBox 3"/>
          <p:cNvSpPr txBox="1"/>
          <p:nvPr/>
        </p:nvSpPr>
        <p:spPr>
          <a:xfrm>
            <a:off x="387220" y="1348930"/>
            <a:ext cx="8001000" cy="1323439"/>
          </a:xfrm>
          <a:prstGeom prst="rect">
            <a:avLst/>
          </a:prstGeom>
          <a:noFill/>
        </p:spPr>
        <p:txBody>
          <a:bodyPr wrap="square" rtlCol="0">
            <a:spAutoFit/>
          </a:bodyPr>
          <a:lstStyle/>
          <a:p>
            <a:r>
              <a:rPr lang="en-US" sz="2000" i="1" dirty="0"/>
              <a:t>“</a:t>
            </a:r>
            <a:r>
              <a:rPr lang="en-US" sz="2000" b="1" i="1" dirty="0"/>
              <a:t>Justification</a:t>
            </a:r>
            <a:r>
              <a:rPr lang="en-US" sz="2000" i="1" dirty="0"/>
              <a:t>”</a:t>
            </a:r>
          </a:p>
          <a:p>
            <a:pPr marL="342900" indent="-342900">
              <a:buFont typeface="Arial" panose="020B0604020202020204" pitchFamily="34" charset="0"/>
              <a:buChar char="•"/>
            </a:pPr>
            <a:r>
              <a:rPr lang="en-US" sz="2000" b="1" i="1" dirty="0"/>
              <a:t>Declares</a:t>
            </a:r>
            <a:r>
              <a:rPr lang="en-US" sz="2000" i="1" dirty="0"/>
              <a:t> within God’s Holy Court that a sinner has been </a:t>
            </a:r>
            <a:r>
              <a:rPr lang="en-US" sz="2000" b="1" i="1" dirty="0"/>
              <a:t>imputed</a:t>
            </a:r>
            <a:r>
              <a:rPr lang="en-US" sz="2000" i="1" dirty="0"/>
              <a:t> righteousness (by Faith through Grace, as it has always been).</a:t>
            </a:r>
          </a:p>
          <a:p>
            <a:pPr marL="342900" indent="-342900">
              <a:buFont typeface="Arial" panose="020B0604020202020204" pitchFamily="34" charset="0"/>
              <a:buChar char="•"/>
            </a:pPr>
            <a:r>
              <a:rPr lang="en-US" sz="2000" b="1" i="1" dirty="0"/>
              <a:t>But has the sinner’s heart changed?  </a:t>
            </a:r>
          </a:p>
        </p:txBody>
      </p:sp>
      <p:sp>
        <p:nvSpPr>
          <p:cNvPr id="7" name="TextBox 6"/>
          <p:cNvSpPr txBox="1"/>
          <p:nvPr/>
        </p:nvSpPr>
        <p:spPr>
          <a:xfrm>
            <a:off x="387220" y="3124200"/>
            <a:ext cx="8001000" cy="2554545"/>
          </a:xfrm>
          <a:prstGeom prst="rect">
            <a:avLst/>
          </a:prstGeom>
          <a:noFill/>
        </p:spPr>
        <p:txBody>
          <a:bodyPr wrap="square" rtlCol="0">
            <a:spAutoFit/>
          </a:bodyPr>
          <a:lstStyle/>
          <a:p>
            <a:r>
              <a:rPr lang="en-US" sz="2000" i="1" dirty="0"/>
              <a:t>“</a:t>
            </a:r>
            <a:r>
              <a:rPr lang="en-US" sz="2000" b="1" i="1" dirty="0"/>
              <a:t>Sanctification</a:t>
            </a:r>
            <a:r>
              <a:rPr lang="en-US" sz="2000" i="1" dirty="0"/>
              <a:t>”  Romans 6 thru Romans 8</a:t>
            </a:r>
          </a:p>
          <a:p>
            <a:pPr marL="342900" indent="-342900">
              <a:buFont typeface="Arial" panose="020B0604020202020204" pitchFamily="34" charset="0"/>
              <a:buChar char="•"/>
            </a:pPr>
            <a:r>
              <a:rPr lang="en-US" sz="2000" dirty="0"/>
              <a:t>The believer is now free from the </a:t>
            </a:r>
            <a:r>
              <a:rPr lang="en-US" sz="2000" b="1" i="1" dirty="0"/>
              <a:t>penalty</a:t>
            </a:r>
            <a:r>
              <a:rPr lang="en-US" sz="2000" dirty="0"/>
              <a:t> of sin (i.e. spiritual death), but what about from the </a:t>
            </a:r>
            <a:r>
              <a:rPr lang="en-US" sz="2000" b="1" i="1" dirty="0"/>
              <a:t>power</a:t>
            </a:r>
            <a:r>
              <a:rPr lang="en-US" sz="2000" dirty="0"/>
              <a:t> of sin?</a:t>
            </a:r>
          </a:p>
          <a:p>
            <a:pPr marL="342900" indent="-342900">
              <a:buFont typeface="Arial" panose="020B0604020202020204" pitchFamily="34" charset="0"/>
              <a:buChar char="•"/>
            </a:pPr>
            <a:r>
              <a:rPr lang="en-US" sz="2000" dirty="0"/>
              <a:t>God has a plan within the context of Salvation whereby He not only </a:t>
            </a:r>
            <a:r>
              <a:rPr lang="en-US" sz="2000" b="1" dirty="0"/>
              <a:t>declares</a:t>
            </a:r>
            <a:r>
              <a:rPr lang="en-US" sz="2000" dirty="0"/>
              <a:t> a sinner righteous, but He is also going to </a:t>
            </a:r>
            <a:r>
              <a:rPr lang="en-US" sz="2000" b="1" dirty="0"/>
              <a:t>make</a:t>
            </a:r>
            <a:r>
              <a:rPr lang="en-US" sz="2000" dirty="0"/>
              <a:t> a sinner righteous.</a:t>
            </a:r>
          </a:p>
          <a:p>
            <a:pPr marL="342900" indent="-342900">
              <a:buFont typeface="Arial" panose="020B0604020202020204" pitchFamily="34" charset="0"/>
              <a:buChar char="•"/>
            </a:pPr>
            <a:r>
              <a:rPr lang="en-US" sz="2000" dirty="0"/>
              <a:t>A way that a sinner may grow in grace and thus become “set apart” for God.  (v6:14)</a:t>
            </a:r>
          </a:p>
        </p:txBody>
      </p:sp>
    </p:spTree>
    <p:extLst>
      <p:ext uri="{BB962C8B-B14F-4D97-AF65-F5344CB8AC3E}">
        <p14:creationId xmlns:p14="http://schemas.microsoft.com/office/powerpoint/2010/main" val="132893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United with the One, Jesus Christ</a:t>
            </a:r>
            <a:br>
              <a:rPr lang="en-US" dirty="0"/>
            </a:br>
            <a:r>
              <a:rPr lang="en-US" sz="2400" dirty="0">
                <a:solidFill>
                  <a:schemeClr val="tx2">
                    <a:lumMod val="60000"/>
                    <a:lumOff val="40000"/>
                  </a:schemeClr>
                </a:solidFill>
              </a:rPr>
              <a:t>How are we changed?  </a:t>
            </a:r>
          </a:p>
        </p:txBody>
      </p:sp>
      <p:sp>
        <p:nvSpPr>
          <p:cNvPr id="3" name="TextBox 2"/>
          <p:cNvSpPr txBox="1"/>
          <p:nvPr/>
        </p:nvSpPr>
        <p:spPr>
          <a:xfrm>
            <a:off x="533400" y="1066800"/>
            <a:ext cx="8001000" cy="3170099"/>
          </a:xfrm>
          <a:prstGeom prst="rect">
            <a:avLst/>
          </a:prstGeom>
          <a:noFill/>
        </p:spPr>
        <p:txBody>
          <a:bodyPr wrap="square" rtlCol="0">
            <a:spAutoFit/>
          </a:bodyPr>
          <a:lstStyle/>
          <a:p>
            <a:r>
              <a:rPr lang="en-US" sz="2000" i="1" dirty="0"/>
              <a:t>“What shall we say then?  Shall we continue in sin that grace may abound?  Certainly not!  How shall we who </a:t>
            </a:r>
            <a:r>
              <a:rPr lang="en-US" sz="2000" b="1" i="1" dirty="0"/>
              <a:t>died to sin </a:t>
            </a:r>
            <a:r>
              <a:rPr lang="en-US" sz="2000" i="1" dirty="0"/>
              <a:t>live any longer in it?  Or, do you not know that as many of us as were </a:t>
            </a:r>
            <a:r>
              <a:rPr lang="en-US" sz="2000" b="1" i="1" dirty="0"/>
              <a:t>baptized into Christ Jesus </a:t>
            </a:r>
            <a:r>
              <a:rPr lang="en-US" sz="2000" i="1" dirty="0"/>
              <a:t>were </a:t>
            </a:r>
            <a:r>
              <a:rPr lang="en-US" sz="2000" b="1" i="1" dirty="0"/>
              <a:t>baptized into His death</a:t>
            </a:r>
            <a:r>
              <a:rPr lang="en-US" sz="2000" i="1" dirty="0"/>
              <a:t>?  Therefore we were </a:t>
            </a:r>
            <a:r>
              <a:rPr lang="en-US" sz="2000" b="1" i="1" dirty="0"/>
              <a:t>buried</a:t>
            </a:r>
            <a:r>
              <a:rPr lang="en-US" sz="2000" i="1" dirty="0"/>
              <a:t> with Him through </a:t>
            </a:r>
            <a:r>
              <a:rPr lang="en-US" sz="2000" b="1" i="1" dirty="0"/>
              <a:t>baptism into death</a:t>
            </a:r>
            <a:r>
              <a:rPr lang="en-US" sz="2000" i="1" dirty="0"/>
              <a:t>, that just as Christ was </a:t>
            </a:r>
            <a:r>
              <a:rPr lang="en-US" sz="2000" b="1" i="1" dirty="0"/>
              <a:t>raised from the dead </a:t>
            </a:r>
            <a:r>
              <a:rPr lang="en-US" sz="2000" i="1" dirty="0"/>
              <a:t>by the glory of the Father, even so we also should walk in </a:t>
            </a:r>
            <a:r>
              <a:rPr lang="en-US" sz="2000" b="1" i="1" dirty="0"/>
              <a:t>newness of life</a:t>
            </a:r>
            <a:r>
              <a:rPr lang="en-US" sz="2000" i="1" dirty="0"/>
              <a:t>.”  </a:t>
            </a:r>
          </a:p>
          <a:p>
            <a:r>
              <a:rPr lang="en-US" sz="2000" i="1" dirty="0"/>
              <a:t>For if we have been </a:t>
            </a:r>
            <a:r>
              <a:rPr lang="en-US" sz="2000" b="1" i="1" dirty="0"/>
              <a:t>united together </a:t>
            </a:r>
            <a:r>
              <a:rPr lang="en-US" sz="2000" i="1" dirty="0"/>
              <a:t>in the </a:t>
            </a:r>
            <a:r>
              <a:rPr lang="en-US" sz="2000" b="1" i="1" dirty="0"/>
              <a:t>likeness of His death</a:t>
            </a:r>
            <a:r>
              <a:rPr lang="en-US" sz="2000" i="1" dirty="0"/>
              <a:t>, certainly we also shall be in the </a:t>
            </a:r>
            <a:r>
              <a:rPr lang="en-US" sz="2000" b="1" i="1" dirty="0"/>
              <a:t>likeness of His resurrection</a:t>
            </a:r>
            <a:r>
              <a:rPr lang="en-US" sz="2000" i="1" dirty="0"/>
              <a:t>,…”</a:t>
            </a:r>
          </a:p>
          <a:p>
            <a:r>
              <a:rPr lang="en-US" sz="2000" i="1" dirty="0"/>
              <a:t>Romans 6:1-5</a:t>
            </a:r>
          </a:p>
        </p:txBody>
      </p:sp>
      <p:sp>
        <p:nvSpPr>
          <p:cNvPr id="4" name="TextBox 3"/>
          <p:cNvSpPr txBox="1"/>
          <p:nvPr/>
        </p:nvSpPr>
        <p:spPr>
          <a:xfrm>
            <a:off x="533400" y="4249869"/>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i="1" dirty="0"/>
              <a:t>Does Paul assume that his readers were baptized into Christ?  Does he also assume this to have been something of significance?</a:t>
            </a:r>
          </a:p>
          <a:p>
            <a:pPr marL="342900" indent="-342900">
              <a:buFont typeface="Arial" panose="020B0604020202020204" pitchFamily="34" charset="0"/>
              <a:buChar char="•"/>
            </a:pPr>
            <a:r>
              <a:rPr lang="en-US" sz="2000" i="1" dirty="0"/>
              <a:t>In this passage, is Paul teaching that baptism is essential for union with Christ?</a:t>
            </a:r>
          </a:p>
          <a:p>
            <a:pPr marL="342900" indent="-342900">
              <a:buFont typeface="Arial" panose="020B0604020202020204" pitchFamily="34" charset="0"/>
              <a:buChar char="•"/>
            </a:pPr>
            <a:r>
              <a:rPr lang="en-US" sz="2000" i="1" dirty="0"/>
              <a:t>Why does Paul mention baptism here?  Is there a significance relative to the previous passage contrasting the power of sin versus the power of grace?</a:t>
            </a:r>
          </a:p>
        </p:txBody>
      </p:sp>
    </p:spTree>
    <p:extLst>
      <p:ext uri="{BB962C8B-B14F-4D97-AF65-F5344CB8AC3E}">
        <p14:creationId xmlns:p14="http://schemas.microsoft.com/office/powerpoint/2010/main" val="382041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20064</TotalTime>
  <Words>4063</Words>
  <Application>Microsoft Macintosh PowerPoint</Application>
  <PresentationFormat>On-screen Show (4:3)</PresentationFormat>
  <Paragraphs>210</Paragraphs>
  <Slides>15</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Arial Narrow</vt:lpstr>
      <vt:lpstr>Calibri</vt:lpstr>
      <vt:lpstr>Segoe UI</vt:lpstr>
      <vt:lpstr>Wingdings</vt:lpstr>
      <vt:lpstr>PPT_Template_2010SummerSchool</vt:lpstr>
      <vt:lpstr>1_UPCRC_Powerpoint_Template_with I-Mark</vt:lpstr>
      <vt:lpstr>Romans</vt:lpstr>
      <vt:lpstr>PowerPoint Presentation</vt:lpstr>
      <vt:lpstr>What about the Jew?  How are we to relate?</vt:lpstr>
      <vt:lpstr>PowerPoint Presentation</vt:lpstr>
      <vt:lpstr>Advantages of the Jews (9:3-5)</vt:lpstr>
      <vt:lpstr>Advantages of the Jews (9:3-5)</vt:lpstr>
      <vt:lpstr>Did God’s Promises Fail? How does Paul deal with the “failure” of God’s promises?</vt:lpstr>
      <vt:lpstr>PowerPoint Presentation</vt:lpstr>
      <vt:lpstr>What shall we say then? Perhaps just what the eye-witnesses said…</vt:lpstr>
      <vt:lpstr>PowerPoint Presentation</vt:lpstr>
      <vt:lpstr>PowerPoint Presentation</vt:lpstr>
      <vt:lpstr>Context by Implicit Condition (1) How did Paul write this letter?</vt:lpstr>
      <vt:lpstr>Context by Implicit Condition (2) How did Paul write this letter?</vt:lpstr>
      <vt:lpstr>More Blessings? What next? </vt:lpstr>
      <vt:lpstr>United with the One, Jesus Christ How are we changed?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812</cp:revision>
  <cp:lastPrinted>2012-04-01T14:05:10Z</cp:lastPrinted>
  <dcterms:created xsi:type="dcterms:W3CDTF">2010-06-16T02:58:04Z</dcterms:created>
  <dcterms:modified xsi:type="dcterms:W3CDTF">2026-06-20T15:14:48Z</dcterms:modified>
</cp:coreProperties>
</file>