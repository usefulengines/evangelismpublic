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256" r:id="rId3"/>
    <p:sldId id="355" r:id="rId4"/>
    <p:sldId id="347" r:id="rId5"/>
    <p:sldId id="368" r:id="rId6"/>
    <p:sldId id="357" r:id="rId7"/>
    <p:sldId id="356" r:id="rId8"/>
    <p:sldId id="358" r:id="rId9"/>
    <p:sldId id="360" r:id="rId10"/>
    <p:sldId id="359" r:id="rId11"/>
    <p:sldId id="361" r:id="rId12"/>
  </p:sldIdLst>
  <p:sldSz cx="9144000" cy="6858000" type="screen4x3"/>
  <p:notesSz cx="7099300" cy="121285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68" autoAdjust="0"/>
    <p:restoredTop sz="71630" autoAdjust="0"/>
  </p:normalViewPr>
  <p:slideViewPr>
    <p:cSldViewPr>
      <p:cViewPr varScale="1">
        <p:scale>
          <a:sx n="105" d="100"/>
          <a:sy n="105" d="100"/>
        </p:scale>
        <p:origin x="560" y="19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2"/>
            <a:ext cx="3076364" cy="606425"/>
          </a:xfrm>
          <a:prstGeom prst="rect">
            <a:avLst/>
          </a:prstGeom>
        </p:spPr>
        <p:txBody>
          <a:bodyPr vert="horz" wrap="square" lIns="67949" tIns="33974" rIns="67949" bIns="33974" numCol="1" anchor="t" anchorCtr="0" compatLnSpc="1">
            <a:prstTxWarp prst="textNoShape">
              <a:avLst/>
            </a:prstTxWarp>
          </a:bodyPr>
          <a:lstStyle>
            <a:lvl1pPr>
              <a:defRPr sz="8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8" y="2"/>
            <a:ext cx="3076364" cy="606425"/>
          </a:xfrm>
          <a:prstGeom prst="rect">
            <a:avLst/>
          </a:prstGeom>
        </p:spPr>
        <p:txBody>
          <a:bodyPr vert="horz" wrap="square" lIns="67949" tIns="33974" rIns="67949" bIns="33974" numCol="1" anchor="t" anchorCtr="0" compatLnSpc="1">
            <a:prstTxWarp prst="textNoShape">
              <a:avLst/>
            </a:prstTxWarp>
          </a:bodyPr>
          <a:lstStyle>
            <a:lvl1pPr algn="r">
              <a:defRPr sz="800">
                <a:latin typeface="Arial" pitchFamily="34" charset="0"/>
                <a:ea typeface="ＭＳ Ｐゴシック" pitchFamily="-106" charset="-128"/>
              </a:defRPr>
            </a:lvl1pPr>
          </a:lstStyle>
          <a:p>
            <a:pPr>
              <a:defRPr/>
            </a:pPr>
            <a:fld id="{37B93000-4848-40F5-8AEF-44DFB12065B3}" type="datetime1">
              <a:rPr lang="en-US"/>
              <a:pPr>
                <a:defRPr/>
              </a:pPr>
              <a:t>5/12/26</a:t>
            </a:fld>
            <a:endParaRPr lang="en-US"/>
          </a:p>
        </p:txBody>
      </p:sp>
      <p:sp>
        <p:nvSpPr>
          <p:cNvPr id="4" name="Slide Image Placeholder 3"/>
          <p:cNvSpPr>
            <a:spLocks noGrp="1" noRot="1" noChangeAspect="1"/>
          </p:cNvSpPr>
          <p:nvPr>
            <p:ph type="sldImg" idx="2"/>
          </p:nvPr>
        </p:nvSpPr>
        <p:spPr>
          <a:xfrm>
            <a:off x="517525" y="911225"/>
            <a:ext cx="6064250" cy="4548188"/>
          </a:xfrm>
          <a:prstGeom prst="rect">
            <a:avLst/>
          </a:prstGeom>
          <a:noFill/>
          <a:ln w="12700">
            <a:solidFill>
              <a:prstClr val="black"/>
            </a:solidFill>
          </a:ln>
        </p:spPr>
        <p:txBody>
          <a:bodyPr vert="horz" wrap="square" lIns="67949" tIns="33974" rIns="67949" bIns="3397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5761041"/>
            <a:ext cx="5679440" cy="5457825"/>
          </a:xfrm>
          <a:prstGeom prst="rect">
            <a:avLst/>
          </a:prstGeom>
        </p:spPr>
        <p:txBody>
          <a:bodyPr vert="horz" wrap="square" lIns="67949" tIns="33974" rIns="67949" bIns="3397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11519972"/>
            <a:ext cx="3076364" cy="606425"/>
          </a:xfrm>
          <a:prstGeom prst="rect">
            <a:avLst/>
          </a:prstGeom>
        </p:spPr>
        <p:txBody>
          <a:bodyPr vert="horz" wrap="square" lIns="67949" tIns="33974" rIns="67949" bIns="33974" numCol="1" anchor="b" anchorCtr="0" compatLnSpc="1">
            <a:prstTxWarp prst="textNoShape">
              <a:avLst/>
            </a:prstTxWarp>
          </a:bodyPr>
          <a:lstStyle>
            <a:lvl1pPr>
              <a:defRPr sz="8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8" y="11519972"/>
            <a:ext cx="3076364" cy="606425"/>
          </a:xfrm>
          <a:prstGeom prst="rect">
            <a:avLst/>
          </a:prstGeom>
        </p:spPr>
        <p:txBody>
          <a:bodyPr vert="horz" wrap="square" lIns="67949" tIns="33974" rIns="67949" bIns="33974" numCol="1" anchor="b" anchorCtr="0" compatLnSpc="1">
            <a:prstTxWarp prst="textNoShape">
              <a:avLst/>
            </a:prstTxWarp>
          </a:bodyPr>
          <a:lstStyle>
            <a:lvl1pPr algn="r">
              <a:defRPr sz="8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23789" indent="-123789">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endParaRPr lang="en-US" dirty="0"/>
          </a:p>
          <a:p>
            <a:r>
              <a:rPr lang="en-US" b="1" dirty="0"/>
              <a:t>FIRST - Read Romans 3:21-26</a:t>
            </a:r>
          </a:p>
          <a:p>
            <a:endParaRPr lang="en-US" dirty="0"/>
          </a:p>
          <a:p>
            <a:r>
              <a:rPr lang="en-US" b="1" dirty="0"/>
              <a:t>THE QUESTION:</a:t>
            </a:r>
          </a:p>
          <a:p>
            <a:pPr marL="123798" indent="-123798">
              <a:buFont typeface="Arial" pitchFamily="34" charset="0"/>
              <a:buChar char="•"/>
            </a:pPr>
            <a:r>
              <a:rPr lang="en-US" dirty="0"/>
              <a:t>How can a perfectly </a:t>
            </a:r>
            <a:r>
              <a:rPr lang="en-US" b="1" dirty="0"/>
              <a:t>just</a:t>
            </a:r>
            <a:r>
              <a:rPr lang="en-US" dirty="0"/>
              <a:t> God forgive sins? </a:t>
            </a:r>
          </a:p>
          <a:p>
            <a:pPr marL="123798" indent="-123798">
              <a:buFont typeface="Arial" pitchFamily="34" charset="0"/>
              <a:buChar char="•"/>
            </a:pPr>
            <a:r>
              <a:rPr lang="en-US" dirty="0"/>
              <a:t>How can </a:t>
            </a:r>
            <a:r>
              <a:rPr lang="en-US" b="1" dirty="0"/>
              <a:t>sinful</a:t>
            </a:r>
            <a:r>
              <a:rPr lang="en-US" dirty="0"/>
              <a:t> man find favor with a </a:t>
            </a:r>
            <a:r>
              <a:rPr lang="en-US" b="1" dirty="0"/>
              <a:t>righteous</a:t>
            </a:r>
            <a:r>
              <a:rPr lang="en-US" dirty="0"/>
              <a:t> God?</a:t>
            </a:r>
          </a:p>
          <a:p>
            <a:pPr marL="123798" indent="-123798">
              <a:buFont typeface="Arial" pitchFamily="34" charset="0"/>
              <a:buChar char="•"/>
            </a:pPr>
            <a:endParaRPr lang="en-US" dirty="0"/>
          </a:p>
          <a:p>
            <a:r>
              <a:rPr lang="en-US" b="1" dirty="0"/>
              <a:t>THE ANALOGY:</a:t>
            </a:r>
          </a:p>
          <a:p>
            <a:pPr marL="123798" indent="-123798">
              <a:buFont typeface="Arial" pitchFamily="34" charset="0"/>
              <a:buChar char="•"/>
            </a:pPr>
            <a:r>
              <a:rPr lang="en-US" dirty="0"/>
              <a:t>God (the Son) presides as the Judge of mankind (pagan, moral, and spiritual men).   John 5:22</a:t>
            </a:r>
          </a:p>
          <a:p>
            <a:pPr marL="123798" indent="-123798">
              <a:buFont typeface="Arial" pitchFamily="34" charset="0"/>
              <a:buChar char="•"/>
            </a:pPr>
            <a:r>
              <a:rPr lang="en-US" dirty="0"/>
              <a:t>The Son steps down from the Judgment seat and assumes the seat of the plaintiff (mankind).   Isaiah 53:11</a:t>
            </a:r>
          </a:p>
          <a:p>
            <a:pPr marL="123798" indent="-123798">
              <a:buFont typeface="Arial" pitchFamily="34" charset="0"/>
              <a:buChar char="•"/>
            </a:pPr>
            <a:r>
              <a:rPr lang="en-US" dirty="0"/>
              <a:t>The Son himself assumes the just penalty of sin for all of sinful mankind.    </a:t>
            </a:r>
          </a:p>
          <a:p>
            <a:pPr marL="123798" indent="-123798">
              <a:buFont typeface="Arial" pitchFamily="34" charset="0"/>
              <a:buChar char="•"/>
            </a:pPr>
            <a:r>
              <a:rPr lang="en-US" dirty="0"/>
              <a:t>The Father is satisfied with the just payment for sin. </a:t>
            </a:r>
          </a:p>
          <a:p>
            <a:pPr marL="123798" indent="-123798" defTabSz="660257">
              <a:buFont typeface="Arial" pitchFamily="34" charset="0"/>
              <a:buChar char="•"/>
              <a:defRPr/>
            </a:pPr>
            <a:r>
              <a:rPr lang="en-US" dirty="0"/>
              <a:t>The Father demonstrates mercy by extending the righteousness of one man to cover many.      2 Cor. 5:21</a:t>
            </a:r>
          </a:p>
          <a:p>
            <a:endParaRPr lang="en-US" dirty="0"/>
          </a:p>
          <a:p>
            <a:r>
              <a:rPr lang="en-US" b="1" dirty="0"/>
              <a:t>God demonstrates His perfect justice at the same time that he demonstrates His perfect mercy…  in the act of delivering justice, he also justifies.</a:t>
            </a:r>
          </a:p>
          <a:p>
            <a:endParaRPr lang="en-US" dirty="0"/>
          </a:p>
          <a:p>
            <a:r>
              <a:rPr lang="en-US" dirty="0"/>
              <a:t>Eph. 2:8   “For by grace you have been saved through faith, and that not of yourselves; it is the gift of God, not of works, lest anyone should boast.</a:t>
            </a:r>
          </a:p>
          <a:p>
            <a:endParaRPr lang="en-US" dirty="0"/>
          </a:p>
          <a:p>
            <a:r>
              <a:rPr lang="en-US" b="1" dirty="0"/>
              <a:t>Hallelujah!   What a Savior!</a:t>
            </a:r>
          </a:p>
          <a:p>
            <a:endParaRPr lang="en-US" b="1" dirty="0"/>
          </a:p>
          <a:p>
            <a:endParaRPr lang="en-US" b="1" dirty="0"/>
          </a:p>
          <a:p>
            <a:pPr defTabSz="766724">
              <a:defRPr/>
            </a:pPr>
            <a:r>
              <a:rPr lang="en-US" sz="1000" b="1" dirty="0"/>
              <a:t>God justifies sinners by faith, not by works, and Abraham is the pattern for all who believe.</a:t>
            </a:r>
            <a:endParaRPr lang="en-US" sz="1000" dirty="0"/>
          </a:p>
          <a:p>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635441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40908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346072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3028213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2254320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065177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sz="1400" dirty="0"/>
              <a:t>Kingdom of God</a:t>
            </a:r>
            <a:r>
              <a:rPr lang="en-US" sz="1400" baseline="0" dirty="0"/>
              <a:t> and Kingdom of Heaven are terms used synonymously (compare Matt 13 and Mark 4).</a:t>
            </a:r>
          </a:p>
          <a:p>
            <a:endParaRPr lang="en-US" sz="1400" baseline="0" dirty="0"/>
          </a:p>
          <a:p>
            <a:r>
              <a:rPr lang="en-US" sz="1400" b="1" baseline="0" dirty="0"/>
              <a:t>The rules of the Kingdom of God are obedience to Jesus’ commands.  Romans 1:5 – “the obedience of faith”</a:t>
            </a:r>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964232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3305755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965746"/>
            <a:ext cx="7772400" cy="1470025"/>
          </a:xfrm>
        </p:spPr>
        <p:txBody>
          <a:bodyPr/>
          <a:lstStyle/>
          <a:p>
            <a:pPr eaLnBrk="1" hangingPunct="1"/>
            <a:r>
              <a:rPr lang="en-US" sz="7200" dirty="0"/>
              <a:t>Romans</a:t>
            </a:r>
            <a:endParaRPr sz="7200" dirty="0"/>
          </a:p>
        </p:txBody>
      </p:sp>
      <p:sp>
        <p:nvSpPr>
          <p:cNvPr id="6147" name="Subtitle 2"/>
          <p:cNvSpPr>
            <a:spLocks noGrp="1"/>
          </p:cNvSpPr>
          <p:nvPr>
            <p:ph type="subTitle" idx="1"/>
          </p:nvPr>
        </p:nvSpPr>
        <p:spPr>
          <a:xfrm>
            <a:off x="1219200" y="2590800"/>
            <a:ext cx="6705600" cy="2075905"/>
          </a:xfrm>
        </p:spPr>
        <p:txBody>
          <a:bodyPr/>
          <a:lstStyle/>
          <a:p>
            <a:r>
              <a:rPr lang="en-US" sz="4000" dirty="0"/>
              <a:t>Peace with God and Life in Grace</a:t>
            </a:r>
          </a:p>
          <a:p>
            <a:pPr eaLnBrk="1" hangingPunct="1"/>
            <a:r>
              <a:rPr lang="en-US" sz="4000" dirty="0"/>
              <a:t>Ch. 5</a:t>
            </a:r>
          </a:p>
        </p:txBody>
      </p:sp>
      <p:sp>
        <p:nvSpPr>
          <p:cNvPr id="2" name="TextBox 1">
            <a:extLst>
              <a:ext uri="{FF2B5EF4-FFF2-40B4-BE49-F238E27FC236}">
                <a16:creationId xmlns:a16="http://schemas.microsoft.com/office/drawing/2014/main" id="{079DC8F4-1FC6-0254-E488-A9BC99CE4940}"/>
              </a:ext>
            </a:extLst>
          </p:cNvPr>
          <p:cNvSpPr txBox="1"/>
          <p:nvPr/>
        </p:nvSpPr>
        <p:spPr>
          <a:xfrm>
            <a:off x="2286000" y="5375819"/>
            <a:ext cx="4572000"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4" name="TextBox 3"/>
          <p:cNvSpPr txBox="1"/>
          <p:nvPr/>
        </p:nvSpPr>
        <p:spPr>
          <a:xfrm>
            <a:off x="571500" y="1600200"/>
            <a:ext cx="8001000" cy="2677656"/>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pPr marL="800100" lvl="1" indent="-342900">
              <a:buFont typeface="Arial" pitchFamily="34" charset="0"/>
              <a:buChar char="•"/>
            </a:pPr>
            <a:r>
              <a:rPr lang="en-US" sz="2800" b="1" i="1" dirty="0"/>
              <a:t>Psalm 32:1-2</a:t>
            </a:r>
            <a:r>
              <a:rPr lang="en-US" sz="2800" i="1" dirty="0"/>
              <a:t>; </a:t>
            </a:r>
            <a:r>
              <a:rPr lang="en-US" sz="2800" b="1" i="1" dirty="0"/>
              <a:t>Romans 4:7-8</a:t>
            </a:r>
            <a:endParaRPr lang="en-US" sz="2400" b="1" i="1" dirty="0"/>
          </a:p>
        </p:txBody>
      </p:sp>
      <p:sp>
        <p:nvSpPr>
          <p:cNvPr id="5" name="TextBox 4"/>
          <p:cNvSpPr txBox="1"/>
          <p:nvPr/>
        </p:nvSpPr>
        <p:spPr>
          <a:xfrm>
            <a:off x="533400" y="5410200"/>
            <a:ext cx="8191500" cy="954107"/>
          </a:xfrm>
          <a:prstGeom prst="rect">
            <a:avLst/>
          </a:prstGeom>
          <a:noFill/>
        </p:spPr>
        <p:txBody>
          <a:bodyPr wrap="square" rtlCol="0">
            <a:spAutoFit/>
          </a:bodyPr>
          <a:lstStyle/>
          <a:p>
            <a:r>
              <a:rPr lang="en-US" sz="2800" i="1" dirty="0"/>
              <a:t>“…</a:t>
            </a:r>
            <a:r>
              <a:rPr lang="en-US" sz="2800" i="1" dirty="0">
                <a:highlight>
                  <a:srgbClr val="FFFF00"/>
                </a:highlight>
              </a:rPr>
              <a:t>that </a:t>
            </a:r>
            <a:r>
              <a:rPr lang="en-US" sz="2800" b="1" i="1" dirty="0">
                <a:highlight>
                  <a:srgbClr val="FFFF00"/>
                </a:highlight>
              </a:rPr>
              <a:t>He</a:t>
            </a:r>
            <a:r>
              <a:rPr lang="en-US" sz="2800" i="1" dirty="0">
                <a:highlight>
                  <a:srgbClr val="FFFF00"/>
                </a:highlight>
              </a:rPr>
              <a:t> might </a:t>
            </a:r>
            <a:r>
              <a:rPr lang="en-US" sz="2800" b="1" i="1" dirty="0">
                <a:highlight>
                  <a:srgbClr val="FFFF00"/>
                </a:highlight>
              </a:rPr>
              <a:t>be just and the justifier </a:t>
            </a:r>
            <a:r>
              <a:rPr lang="en-US" sz="2800" i="1" dirty="0">
                <a:highlight>
                  <a:srgbClr val="FFFF00"/>
                </a:highlight>
              </a:rPr>
              <a:t>of </a:t>
            </a:r>
            <a:r>
              <a:rPr lang="en-US" sz="2800" i="1" u="sng" dirty="0">
                <a:highlight>
                  <a:srgbClr val="FFFF00"/>
                </a:highlight>
              </a:rPr>
              <a:t>the one who has faith</a:t>
            </a:r>
            <a:r>
              <a:rPr lang="en-US" sz="2800" i="1" dirty="0">
                <a:highlight>
                  <a:srgbClr val="FFFF00"/>
                </a:highlight>
              </a:rPr>
              <a:t> in Jesus</a:t>
            </a:r>
            <a:r>
              <a:rPr lang="en-US" sz="2800" i="1" dirty="0"/>
              <a:t>.”    Romans 3:26</a:t>
            </a:r>
          </a:p>
        </p:txBody>
      </p:sp>
    </p:spTree>
    <p:extLst>
      <p:ext uri="{BB962C8B-B14F-4D97-AF65-F5344CB8AC3E}">
        <p14:creationId xmlns:p14="http://schemas.microsoft.com/office/powerpoint/2010/main" val="2637189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GOD’s Intrinsic Motivation</a:t>
            </a:r>
            <a:br>
              <a:rPr lang="en-US" dirty="0"/>
            </a:br>
            <a:r>
              <a:rPr lang="en-US" sz="2400" dirty="0">
                <a:solidFill>
                  <a:schemeClr val="tx2">
                    <a:lumMod val="60000"/>
                    <a:lumOff val="40000"/>
                  </a:schemeClr>
                </a:solidFill>
              </a:rPr>
              <a:t>Why did God do this?   Because of His own character. </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3</a:t>
            </a:fld>
            <a:endParaRPr lang="en-US" dirty="0"/>
          </a:p>
        </p:txBody>
      </p:sp>
      <p:sp>
        <p:nvSpPr>
          <p:cNvPr id="5" name="TextBox 4"/>
          <p:cNvSpPr txBox="1"/>
          <p:nvPr/>
        </p:nvSpPr>
        <p:spPr>
          <a:xfrm>
            <a:off x="457200" y="1143000"/>
            <a:ext cx="8001000" cy="5632311"/>
          </a:xfrm>
          <a:prstGeom prst="rect">
            <a:avLst/>
          </a:prstGeom>
          <a:noFill/>
        </p:spPr>
        <p:txBody>
          <a:bodyPr wrap="square" rtlCol="0">
            <a:spAutoFit/>
          </a:bodyPr>
          <a:lstStyle/>
          <a:p>
            <a:r>
              <a:rPr lang="en-US" sz="2000" i="1" dirty="0"/>
              <a:t>3:25 “…</a:t>
            </a:r>
            <a:r>
              <a:rPr lang="en-US" sz="2000" b="1" i="1" dirty="0"/>
              <a:t>to demonstrate His righteousness</a:t>
            </a:r>
            <a:r>
              <a:rPr lang="en-US" sz="2000" i="1" dirty="0"/>
              <a:t>, because in His forbearance God had passed over the sins that were previously committed, </a:t>
            </a:r>
            <a:r>
              <a:rPr lang="en-US" sz="2000" b="1" i="1" dirty="0"/>
              <a:t>to demonstrate </a:t>
            </a:r>
            <a:r>
              <a:rPr lang="en-US" sz="2000" i="1" dirty="0"/>
              <a:t>at the present time </a:t>
            </a:r>
            <a:r>
              <a:rPr lang="en-US" sz="2000" b="1" i="1" dirty="0"/>
              <a:t>His</a:t>
            </a:r>
            <a:r>
              <a:rPr lang="en-US" sz="2000" i="1" dirty="0"/>
              <a:t> </a:t>
            </a:r>
            <a:r>
              <a:rPr lang="en-US" sz="2000" b="1" i="1" dirty="0"/>
              <a:t>righteousness</a:t>
            </a:r>
            <a:r>
              <a:rPr lang="en-US" sz="2000" i="1" dirty="0"/>
              <a:t>, that He might be the just and the justifier of the one who has faith in Jesus.”   </a:t>
            </a:r>
          </a:p>
          <a:p>
            <a:endParaRPr lang="en-US" sz="2000" i="1" dirty="0"/>
          </a:p>
          <a:p>
            <a:r>
              <a:rPr lang="en-US" sz="2000" b="1" i="1" dirty="0"/>
              <a:t>GOD’s character traits:</a:t>
            </a:r>
          </a:p>
          <a:p>
            <a:pPr marL="342900" indent="-342900">
              <a:buFont typeface="Arial" panose="020B0604020202020204" pitchFamily="34" charset="0"/>
              <a:buChar char="•"/>
            </a:pPr>
            <a:r>
              <a:rPr lang="en-US" sz="2000" i="1" dirty="0"/>
              <a:t>Sovereign (accountable only to Himself)</a:t>
            </a:r>
          </a:p>
          <a:p>
            <a:pPr marL="342900" indent="-342900">
              <a:buFont typeface="Arial" panose="020B0604020202020204" pitchFamily="34" charset="0"/>
              <a:buChar char="•"/>
            </a:pPr>
            <a:r>
              <a:rPr lang="en-US" sz="2000" i="1" dirty="0"/>
              <a:t>Omniscient (knows all; supremely insightful)</a:t>
            </a:r>
          </a:p>
          <a:p>
            <a:pPr marL="342900" indent="-342900">
              <a:buFont typeface="Arial" panose="020B0604020202020204" pitchFamily="34" charset="0"/>
              <a:buChar char="•"/>
            </a:pPr>
            <a:r>
              <a:rPr lang="en-US" sz="2000" i="1" dirty="0"/>
              <a:t>Omnipotent (all powerful; creative designer)</a:t>
            </a:r>
          </a:p>
          <a:p>
            <a:pPr marL="342900" indent="-342900">
              <a:buFont typeface="Arial" panose="020B0604020202020204" pitchFamily="34" charset="0"/>
              <a:buChar char="•"/>
            </a:pPr>
            <a:r>
              <a:rPr lang="en-US" sz="2000" i="1" dirty="0"/>
              <a:t>Omnipresent (non-local; unbounded by time and space)</a:t>
            </a:r>
          </a:p>
          <a:p>
            <a:pPr marL="342900" indent="-342900">
              <a:buFont typeface="Arial" panose="020B0604020202020204" pitchFamily="34" charset="0"/>
              <a:buChar char="•"/>
            </a:pPr>
            <a:r>
              <a:rPr lang="en-US" sz="2000" i="1" dirty="0"/>
              <a:t>Immutable (unchanging; uncompromising character)</a:t>
            </a:r>
          </a:p>
          <a:p>
            <a:pPr marL="342900" indent="-342900">
              <a:buFont typeface="Arial" panose="020B0604020202020204" pitchFamily="34" charset="0"/>
              <a:buChar char="•"/>
            </a:pPr>
            <a:r>
              <a:rPr lang="en-US" sz="2000" i="1" dirty="0"/>
              <a:t>Love (highest of personality)</a:t>
            </a:r>
          </a:p>
          <a:p>
            <a:pPr marL="342900" indent="-342900">
              <a:buFont typeface="Arial" panose="020B0604020202020204" pitchFamily="34" charset="0"/>
              <a:buChar char="•"/>
            </a:pPr>
            <a:r>
              <a:rPr lang="en-US" sz="2000" i="1" dirty="0"/>
              <a:t>Truth (personification of reality)</a:t>
            </a:r>
          </a:p>
          <a:p>
            <a:pPr marL="342900" indent="-342900">
              <a:buFont typeface="Arial" panose="020B0604020202020204" pitchFamily="34" charset="0"/>
              <a:buChar char="•"/>
            </a:pPr>
            <a:r>
              <a:rPr lang="en-US" sz="2000" i="1" dirty="0"/>
              <a:t>Just (absolute righteousness; His own standard; links with Sovereign)</a:t>
            </a:r>
          </a:p>
          <a:p>
            <a:pPr marL="342900" indent="-342900">
              <a:buFont typeface="Arial" panose="020B0604020202020204" pitchFamily="34" charset="0"/>
              <a:buChar char="•"/>
            </a:pPr>
            <a:r>
              <a:rPr lang="en-US" sz="2000" i="1" dirty="0"/>
              <a:t>Merciful (Perfectly in balance with His Just-ness)</a:t>
            </a:r>
          </a:p>
          <a:p>
            <a:pPr marL="342900" indent="-342900">
              <a:buFont typeface="Arial" panose="020B0604020202020204" pitchFamily="34" charset="0"/>
              <a:buChar char="•"/>
            </a:pPr>
            <a:r>
              <a:rPr lang="en-US" sz="2000" i="1" dirty="0"/>
              <a:t>Holy (Spiritually Pure; Uncompromising Virtue)</a:t>
            </a:r>
          </a:p>
        </p:txBody>
      </p:sp>
    </p:spTree>
    <p:extLst>
      <p:ext uri="{BB962C8B-B14F-4D97-AF65-F5344CB8AC3E}">
        <p14:creationId xmlns:p14="http://schemas.microsoft.com/office/powerpoint/2010/main" val="265721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1000"/>
                                        <p:tgtEl>
                                          <p:spTgt spid="5">
                                            <p:txEl>
                                              <p:pRg st="3" end="3"/>
                                            </p:txEl>
                                          </p:spTgt>
                                        </p:tgtEl>
                                      </p:cBhvr>
                                    </p:animEffect>
                                    <p:anim calcmode="lin" valueType="num">
                                      <p:cBhvr>
                                        <p:cTn id="2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1000"/>
                                        <p:tgtEl>
                                          <p:spTgt spid="5">
                                            <p:txEl>
                                              <p:pRg st="4" end="4"/>
                                            </p:txEl>
                                          </p:spTgt>
                                        </p:tgtEl>
                                      </p:cBhvr>
                                    </p:animEffect>
                                    <p:anim calcmode="lin" valueType="num">
                                      <p:cBhvr>
                                        <p:cTn id="2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1000"/>
                                        <p:tgtEl>
                                          <p:spTgt spid="5">
                                            <p:txEl>
                                              <p:pRg st="5" end="5"/>
                                            </p:txEl>
                                          </p:spTgt>
                                        </p:tgtEl>
                                      </p:cBhvr>
                                    </p:animEffect>
                                    <p:anim calcmode="lin" valueType="num">
                                      <p:cBhvr>
                                        <p:cTn id="3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1000"/>
                                        <p:tgtEl>
                                          <p:spTgt spid="5">
                                            <p:txEl>
                                              <p:pRg st="6" end="6"/>
                                            </p:txEl>
                                          </p:spTgt>
                                        </p:tgtEl>
                                      </p:cBhvr>
                                    </p:animEffect>
                                    <p:anim calcmode="lin" valueType="num">
                                      <p:cBhvr>
                                        <p:cTn id="3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fade">
                                      <p:cBhvr>
                                        <p:cTn id="39" dur="1000"/>
                                        <p:tgtEl>
                                          <p:spTgt spid="5">
                                            <p:txEl>
                                              <p:pRg st="7" end="7"/>
                                            </p:txEl>
                                          </p:spTgt>
                                        </p:tgtEl>
                                      </p:cBhvr>
                                    </p:animEffect>
                                    <p:anim calcmode="lin" valueType="num">
                                      <p:cBhvr>
                                        <p:cTn id="40"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5">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5">
                                            <p:txEl>
                                              <p:pRg st="8" end="8"/>
                                            </p:txEl>
                                          </p:spTgt>
                                        </p:tgtEl>
                                        <p:attrNameLst>
                                          <p:attrName>style.visibility</p:attrName>
                                        </p:attrNameLst>
                                      </p:cBhvr>
                                      <p:to>
                                        <p:strVal val="visible"/>
                                      </p:to>
                                    </p:set>
                                    <p:animEffect transition="in" filter="fade">
                                      <p:cBhvr>
                                        <p:cTn id="44" dur="1000"/>
                                        <p:tgtEl>
                                          <p:spTgt spid="5">
                                            <p:txEl>
                                              <p:pRg st="8" end="8"/>
                                            </p:txEl>
                                          </p:spTgt>
                                        </p:tgtEl>
                                      </p:cBhvr>
                                    </p:animEffect>
                                    <p:anim calcmode="lin" valueType="num">
                                      <p:cBhvr>
                                        <p:cTn id="45"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5">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Effect transition="in" filter="fade">
                                      <p:cBhvr>
                                        <p:cTn id="49" dur="1000"/>
                                        <p:tgtEl>
                                          <p:spTgt spid="5">
                                            <p:txEl>
                                              <p:pRg st="9" end="9"/>
                                            </p:txEl>
                                          </p:spTgt>
                                        </p:tgtEl>
                                      </p:cBhvr>
                                    </p:animEffect>
                                    <p:anim calcmode="lin" valueType="num">
                                      <p:cBhvr>
                                        <p:cTn id="50"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5">
                                            <p:txEl>
                                              <p:pRg st="10" end="10"/>
                                            </p:txEl>
                                          </p:spTgt>
                                        </p:tgtEl>
                                        <p:attrNameLst>
                                          <p:attrName>style.visibility</p:attrName>
                                        </p:attrNameLst>
                                      </p:cBhvr>
                                      <p:to>
                                        <p:strVal val="visible"/>
                                      </p:to>
                                    </p:set>
                                    <p:animEffect transition="in" filter="fade">
                                      <p:cBhvr>
                                        <p:cTn id="54" dur="1000"/>
                                        <p:tgtEl>
                                          <p:spTgt spid="5">
                                            <p:txEl>
                                              <p:pRg st="10" end="10"/>
                                            </p:txEl>
                                          </p:spTgt>
                                        </p:tgtEl>
                                      </p:cBhvr>
                                    </p:animEffect>
                                    <p:anim calcmode="lin" valueType="num">
                                      <p:cBhvr>
                                        <p:cTn id="55"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5">
                                            <p:txEl>
                                              <p:pRg st="11" end="11"/>
                                            </p:txEl>
                                          </p:spTgt>
                                        </p:tgtEl>
                                        <p:attrNameLst>
                                          <p:attrName>style.visibility</p:attrName>
                                        </p:attrNameLst>
                                      </p:cBhvr>
                                      <p:to>
                                        <p:strVal val="visible"/>
                                      </p:to>
                                    </p:set>
                                    <p:animEffect transition="in" filter="fade">
                                      <p:cBhvr>
                                        <p:cTn id="59" dur="1000"/>
                                        <p:tgtEl>
                                          <p:spTgt spid="5">
                                            <p:txEl>
                                              <p:pRg st="11" end="11"/>
                                            </p:txEl>
                                          </p:spTgt>
                                        </p:tgtEl>
                                      </p:cBhvr>
                                    </p:animEffect>
                                    <p:anim calcmode="lin" valueType="num">
                                      <p:cBhvr>
                                        <p:cTn id="60"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5">
                                            <p:txEl>
                                              <p:pRg st="12" end="12"/>
                                            </p:txEl>
                                          </p:spTgt>
                                        </p:tgtEl>
                                        <p:attrNameLst>
                                          <p:attrName>style.visibility</p:attrName>
                                        </p:attrNameLst>
                                      </p:cBhvr>
                                      <p:to>
                                        <p:strVal val="visible"/>
                                      </p:to>
                                    </p:set>
                                    <p:animEffect transition="in" filter="fade">
                                      <p:cBhvr>
                                        <p:cTn id="64" dur="1000"/>
                                        <p:tgtEl>
                                          <p:spTgt spid="5">
                                            <p:txEl>
                                              <p:pRg st="12" end="12"/>
                                            </p:txEl>
                                          </p:spTgt>
                                        </p:tgtEl>
                                      </p:cBhvr>
                                    </p:animEffect>
                                    <p:anim calcmode="lin" valueType="num">
                                      <p:cBhvr>
                                        <p:cTn id="65"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5">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fontScale="90000"/>
          </a:bodyPr>
          <a:lstStyle/>
          <a:p>
            <a:r>
              <a:rPr lang="en-US" dirty="0"/>
              <a:t>What about the Here and Now?</a:t>
            </a:r>
            <a:br>
              <a:rPr lang="en-US" dirty="0"/>
            </a:br>
            <a:r>
              <a:rPr lang="en-US" sz="2400" dirty="0">
                <a:solidFill>
                  <a:schemeClr val="tx2">
                    <a:lumMod val="60000"/>
                    <a:lumOff val="40000"/>
                  </a:schemeClr>
                </a:solidFill>
              </a:rPr>
              <a:t>Now, the blessings of God flow to those </a:t>
            </a:r>
            <a:r>
              <a:rPr lang="en-US" sz="2400" u="sng" dirty="0">
                <a:solidFill>
                  <a:schemeClr val="tx2">
                    <a:lumMod val="60000"/>
                    <a:lumOff val="40000"/>
                  </a:schemeClr>
                </a:solidFill>
              </a:rPr>
              <a:t>Justified</a:t>
            </a:r>
            <a:r>
              <a:rPr lang="en-US" sz="2400" dirty="0">
                <a:solidFill>
                  <a:schemeClr val="tx2">
                    <a:lumMod val="60000"/>
                    <a:lumOff val="40000"/>
                  </a:schemeClr>
                </a:solidFill>
              </a:rPr>
              <a:t> by Faith.</a:t>
            </a:r>
          </a:p>
        </p:txBody>
      </p:sp>
      <p:sp>
        <p:nvSpPr>
          <p:cNvPr id="3" name="TextBox 2"/>
          <p:cNvSpPr txBox="1"/>
          <p:nvPr/>
        </p:nvSpPr>
        <p:spPr>
          <a:xfrm>
            <a:off x="375424" y="1193713"/>
            <a:ext cx="8001000" cy="707886"/>
          </a:xfrm>
          <a:prstGeom prst="rect">
            <a:avLst/>
          </a:prstGeom>
          <a:noFill/>
        </p:spPr>
        <p:txBody>
          <a:bodyPr wrap="square" rtlCol="0">
            <a:spAutoFit/>
          </a:bodyPr>
          <a:lstStyle/>
          <a:p>
            <a:r>
              <a:rPr lang="en-US" sz="2000" i="1" dirty="0"/>
              <a:t>“Therefore, having been justified by faith, </a:t>
            </a:r>
            <a:r>
              <a:rPr lang="en-US" sz="2000" b="1" i="1" dirty="0"/>
              <a:t>we have peace with God </a:t>
            </a:r>
            <a:r>
              <a:rPr lang="en-US" sz="2000" i="1" dirty="0"/>
              <a:t>through our Lord Jesus Christ…”   Romans 5:1</a:t>
            </a:r>
          </a:p>
        </p:txBody>
      </p:sp>
      <p:sp>
        <p:nvSpPr>
          <p:cNvPr id="6" name="TextBox 5"/>
          <p:cNvSpPr txBox="1"/>
          <p:nvPr/>
        </p:nvSpPr>
        <p:spPr>
          <a:xfrm>
            <a:off x="353122" y="2075114"/>
            <a:ext cx="8001000" cy="4708981"/>
          </a:xfrm>
          <a:prstGeom prst="rect">
            <a:avLst/>
          </a:prstGeom>
          <a:noFill/>
        </p:spPr>
        <p:txBody>
          <a:bodyPr wrap="square" rtlCol="0">
            <a:spAutoFit/>
          </a:bodyPr>
          <a:lstStyle/>
          <a:p>
            <a:r>
              <a:rPr lang="en-US" sz="2000" b="1" dirty="0"/>
              <a:t>What kind of peace?</a:t>
            </a:r>
          </a:p>
          <a:p>
            <a:pPr marL="342900" indent="-342900">
              <a:buFont typeface="Arial" panose="020B0604020202020204" pitchFamily="34" charset="0"/>
              <a:buChar char="•"/>
            </a:pPr>
            <a:r>
              <a:rPr lang="en-US" sz="2000" dirty="0"/>
              <a:t>World Peace…?</a:t>
            </a:r>
          </a:p>
          <a:p>
            <a:pPr marL="342900" indent="-342900">
              <a:buFont typeface="Arial" panose="020B0604020202020204" pitchFamily="34" charset="0"/>
              <a:buChar char="•"/>
            </a:pPr>
            <a:r>
              <a:rPr lang="en-US" sz="2000" dirty="0"/>
              <a:t>Tranquility of the Soul…?</a:t>
            </a:r>
          </a:p>
          <a:p>
            <a:pPr marL="800100" lvl="1" indent="-342900">
              <a:buFont typeface="Arial" panose="020B0604020202020204" pitchFamily="34" charset="0"/>
              <a:buChar char="•"/>
            </a:pPr>
            <a:r>
              <a:rPr lang="en-US" sz="2000" i="1" dirty="0"/>
              <a:t>“Peace I leave with you.  My peace I give to you; not as the world gives do I give to you. Let not your heart be troubled, neither let it be afraid.”   John 14:27</a:t>
            </a:r>
          </a:p>
          <a:p>
            <a:pPr marL="342900" indent="-342900">
              <a:buFont typeface="Arial" panose="020B0604020202020204" pitchFamily="34" charset="0"/>
              <a:buChar char="•"/>
            </a:pPr>
            <a:r>
              <a:rPr lang="en-US" sz="2000" b="1" i="1" dirty="0"/>
              <a:t>Peace with God…?</a:t>
            </a:r>
          </a:p>
          <a:p>
            <a:pPr marL="800100" lvl="1" indent="-342900">
              <a:buFont typeface="Arial" panose="020B0604020202020204" pitchFamily="34" charset="0"/>
              <a:buChar char="•"/>
            </a:pPr>
            <a:r>
              <a:rPr lang="en-US" sz="2000" i="1" dirty="0"/>
              <a:t>“…and the peace of God, which surpasses all understanding…”  Philippians 4:7</a:t>
            </a:r>
          </a:p>
          <a:p>
            <a:pPr marL="800100" lvl="1" indent="-342900">
              <a:buFont typeface="Arial" panose="020B0604020202020204" pitchFamily="34" charset="0"/>
              <a:buChar char="•"/>
            </a:pPr>
            <a:r>
              <a:rPr lang="en-US" sz="2000" i="1" dirty="0"/>
              <a:t>“</a:t>
            </a:r>
            <a:r>
              <a:rPr lang="en-US" sz="2000" i="1" u="sng" dirty="0"/>
              <a:t>peace with</a:t>
            </a:r>
            <a:r>
              <a:rPr lang="en-US" sz="2000" i="1" dirty="0"/>
              <a:t>”</a:t>
            </a:r>
          </a:p>
          <a:p>
            <a:pPr marL="1257300" lvl="2" indent="-342900">
              <a:buFont typeface="Arial" panose="020B0604020202020204" pitchFamily="34" charset="0"/>
              <a:buChar char="•"/>
            </a:pPr>
            <a:r>
              <a:rPr lang="en-US" sz="2000" dirty="0"/>
              <a:t>Implies relationship; understanding; access to</a:t>
            </a:r>
          </a:p>
          <a:p>
            <a:pPr marL="1257300" lvl="2" indent="-342900">
              <a:buFont typeface="Arial" panose="020B0604020202020204" pitchFamily="34" charset="0"/>
              <a:buChar char="•"/>
            </a:pPr>
            <a:r>
              <a:rPr lang="en-US" sz="2000" dirty="0"/>
              <a:t>Not in the sense of “making peace”, but rather in the sense of “enjoying peace”.   </a:t>
            </a:r>
          </a:p>
          <a:p>
            <a:pPr marL="1257300" lvl="2" indent="-342900">
              <a:buFont typeface="Arial" panose="020B0604020202020204" pitchFamily="34" charset="0"/>
              <a:buChar char="•"/>
            </a:pPr>
            <a:r>
              <a:rPr lang="en-US" sz="2000" dirty="0"/>
              <a:t>Claiming the </a:t>
            </a:r>
            <a:r>
              <a:rPr lang="en-US" sz="2000" u="sng" dirty="0"/>
              <a:t>gift of peace with God </a:t>
            </a:r>
            <a:r>
              <a:rPr lang="en-US" sz="2000" dirty="0"/>
              <a:t>by faith.</a:t>
            </a:r>
          </a:p>
          <a:p>
            <a:pPr marL="1257300" lvl="2" indent="-342900">
              <a:buFont typeface="Arial" panose="020B0604020202020204" pitchFamily="34" charset="0"/>
              <a:buChar char="•"/>
            </a:pPr>
            <a:r>
              <a:rPr lang="en-US" sz="2000" dirty="0"/>
              <a:t>Access to approach the throne through whom?</a:t>
            </a:r>
          </a:p>
        </p:txBody>
      </p:sp>
    </p:spTree>
    <p:extLst>
      <p:ext uri="{BB962C8B-B14F-4D97-AF65-F5344CB8AC3E}">
        <p14:creationId xmlns:p14="http://schemas.microsoft.com/office/powerpoint/2010/main" val="366550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1000"/>
                                        <p:tgtEl>
                                          <p:spTgt spid="6">
                                            <p:txEl>
                                              <p:pRg st="4" end="4"/>
                                            </p:txEl>
                                          </p:spTgt>
                                        </p:tgtEl>
                                      </p:cBhvr>
                                    </p:animEffect>
                                    <p:anim calcmode="lin" valueType="num">
                                      <p:cBhvr>
                                        <p:cTn id="3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5" end="5"/>
                                            </p:txEl>
                                          </p:spTgt>
                                        </p:tgtEl>
                                        <p:attrNameLst>
                                          <p:attrName>style.visibility</p:attrName>
                                        </p:attrNameLst>
                                      </p:cBhvr>
                                      <p:to>
                                        <p:strVal val="visible"/>
                                      </p:to>
                                    </p:set>
                                    <p:animEffect transition="in" filter="fade">
                                      <p:cBhvr>
                                        <p:cTn id="34" dur="1000"/>
                                        <p:tgtEl>
                                          <p:spTgt spid="6">
                                            <p:txEl>
                                              <p:pRg st="5" end="5"/>
                                            </p:txEl>
                                          </p:spTgt>
                                        </p:tgtEl>
                                      </p:cBhvr>
                                    </p:animEffect>
                                    <p:anim calcmode="lin" valueType="num">
                                      <p:cBhvr>
                                        <p:cTn id="3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6" end="6"/>
                                            </p:txEl>
                                          </p:spTgt>
                                        </p:tgtEl>
                                        <p:attrNameLst>
                                          <p:attrName>style.visibility</p:attrName>
                                        </p:attrNameLst>
                                      </p:cBhvr>
                                      <p:to>
                                        <p:strVal val="visible"/>
                                      </p:to>
                                    </p:set>
                                    <p:animEffect transition="in" filter="fade">
                                      <p:cBhvr>
                                        <p:cTn id="39" dur="1000"/>
                                        <p:tgtEl>
                                          <p:spTgt spid="6">
                                            <p:txEl>
                                              <p:pRg st="6" end="6"/>
                                            </p:txEl>
                                          </p:spTgt>
                                        </p:tgtEl>
                                      </p:cBhvr>
                                    </p:animEffect>
                                    <p:anim calcmode="lin" valueType="num">
                                      <p:cBhvr>
                                        <p:cTn id="4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
                                            <p:txEl>
                                              <p:pRg st="7" end="7"/>
                                            </p:txEl>
                                          </p:spTgt>
                                        </p:tgtEl>
                                        <p:attrNameLst>
                                          <p:attrName>style.visibility</p:attrName>
                                        </p:attrNameLst>
                                      </p:cBhvr>
                                      <p:to>
                                        <p:strVal val="visible"/>
                                      </p:to>
                                    </p:set>
                                    <p:animEffect transition="in" filter="fade">
                                      <p:cBhvr>
                                        <p:cTn id="44" dur="1000"/>
                                        <p:tgtEl>
                                          <p:spTgt spid="6">
                                            <p:txEl>
                                              <p:pRg st="7" end="7"/>
                                            </p:txEl>
                                          </p:spTgt>
                                        </p:tgtEl>
                                      </p:cBhvr>
                                    </p:animEffect>
                                    <p:anim calcmode="lin" valueType="num">
                                      <p:cBhvr>
                                        <p:cTn id="45"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6">
                                            <p:txEl>
                                              <p:pRg st="8" end="8"/>
                                            </p:txEl>
                                          </p:spTgt>
                                        </p:tgtEl>
                                        <p:attrNameLst>
                                          <p:attrName>style.visibility</p:attrName>
                                        </p:attrNameLst>
                                      </p:cBhvr>
                                      <p:to>
                                        <p:strVal val="visible"/>
                                      </p:to>
                                    </p:set>
                                    <p:animEffect transition="in" filter="fade">
                                      <p:cBhvr>
                                        <p:cTn id="49" dur="1000"/>
                                        <p:tgtEl>
                                          <p:spTgt spid="6">
                                            <p:txEl>
                                              <p:pRg st="8" end="8"/>
                                            </p:txEl>
                                          </p:spTgt>
                                        </p:tgtEl>
                                      </p:cBhvr>
                                    </p:animEffect>
                                    <p:anim calcmode="lin" valueType="num">
                                      <p:cBhvr>
                                        <p:cTn id="50"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6">
                                            <p:txEl>
                                              <p:pRg st="9" end="9"/>
                                            </p:txEl>
                                          </p:spTgt>
                                        </p:tgtEl>
                                        <p:attrNameLst>
                                          <p:attrName>style.visibility</p:attrName>
                                        </p:attrNameLst>
                                      </p:cBhvr>
                                      <p:to>
                                        <p:strVal val="visible"/>
                                      </p:to>
                                    </p:set>
                                    <p:animEffect transition="in" filter="fade">
                                      <p:cBhvr>
                                        <p:cTn id="54" dur="1000"/>
                                        <p:tgtEl>
                                          <p:spTgt spid="6">
                                            <p:txEl>
                                              <p:pRg st="9" end="9"/>
                                            </p:txEl>
                                          </p:spTgt>
                                        </p:tgtEl>
                                      </p:cBhvr>
                                    </p:animEffect>
                                    <p:anim calcmode="lin" valueType="num">
                                      <p:cBhvr>
                                        <p:cTn id="55"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9" end="9"/>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6">
                                            <p:txEl>
                                              <p:pRg st="10" end="10"/>
                                            </p:txEl>
                                          </p:spTgt>
                                        </p:tgtEl>
                                        <p:attrNameLst>
                                          <p:attrName>style.visibility</p:attrName>
                                        </p:attrNameLst>
                                      </p:cBhvr>
                                      <p:to>
                                        <p:strVal val="visible"/>
                                      </p:to>
                                    </p:set>
                                    <p:animEffect transition="in" filter="fade">
                                      <p:cBhvr>
                                        <p:cTn id="59" dur="1000"/>
                                        <p:tgtEl>
                                          <p:spTgt spid="6">
                                            <p:txEl>
                                              <p:pRg st="10" end="10"/>
                                            </p:txEl>
                                          </p:spTgt>
                                        </p:tgtEl>
                                      </p:cBhvr>
                                    </p:animEffect>
                                    <p:anim calcmode="lin" valueType="num">
                                      <p:cBhvr>
                                        <p:cTn id="60"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fontScale="90000"/>
          </a:bodyPr>
          <a:lstStyle/>
          <a:p>
            <a:r>
              <a:rPr lang="en-US" dirty="0"/>
              <a:t>What about the Here and Now?</a:t>
            </a:r>
            <a:br>
              <a:rPr lang="en-US" dirty="0"/>
            </a:br>
            <a:r>
              <a:rPr lang="en-US" sz="2400" dirty="0">
                <a:solidFill>
                  <a:schemeClr val="tx2">
                    <a:lumMod val="60000"/>
                    <a:lumOff val="40000"/>
                  </a:schemeClr>
                </a:solidFill>
              </a:rPr>
              <a:t>Now, the blessings of God flow to those </a:t>
            </a:r>
            <a:r>
              <a:rPr lang="en-US" sz="2400" u="sng" dirty="0">
                <a:solidFill>
                  <a:schemeClr val="tx2">
                    <a:lumMod val="60000"/>
                    <a:lumOff val="40000"/>
                  </a:schemeClr>
                </a:solidFill>
              </a:rPr>
              <a:t>Justified</a:t>
            </a:r>
            <a:r>
              <a:rPr lang="en-US" sz="2400" dirty="0">
                <a:solidFill>
                  <a:schemeClr val="tx2">
                    <a:lumMod val="60000"/>
                    <a:lumOff val="40000"/>
                  </a:schemeClr>
                </a:solidFill>
              </a:rPr>
              <a:t> by Faith.</a:t>
            </a:r>
          </a:p>
        </p:txBody>
      </p:sp>
      <p:sp>
        <p:nvSpPr>
          <p:cNvPr id="3" name="TextBox 2"/>
          <p:cNvSpPr txBox="1"/>
          <p:nvPr/>
        </p:nvSpPr>
        <p:spPr>
          <a:xfrm>
            <a:off x="375424" y="1193713"/>
            <a:ext cx="8001000" cy="707886"/>
          </a:xfrm>
          <a:prstGeom prst="rect">
            <a:avLst/>
          </a:prstGeom>
          <a:noFill/>
        </p:spPr>
        <p:txBody>
          <a:bodyPr wrap="square" rtlCol="0">
            <a:spAutoFit/>
          </a:bodyPr>
          <a:lstStyle/>
          <a:p>
            <a:r>
              <a:rPr lang="en-US" sz="2000" i="1" dirty="0"/>
              <a:t>“…through whom also </a:t>
            </a:r>
            <a:r>
              <a:rPr lang="en-US" sz="2000" b="1" i="1" dirty="0"/>
              <a:t>we have access by faith into this grace </a:t>
            </a:r>
            <a:r>
              <a:rPr lang="en-US" sz="2000" i="1" dirty="0"/>
              <a:t>in which we stand, and rejoice in hope of the glory of God.”  v. 5:2</a:t>
            </a:r>
          </a:p>
        </p:txBody>
      </p:sp>
      <p:sp>
        <p:nvSpPr>
          <p:cNvPr id="6" name="TextBox 5"/>
          <p:cNvSpPr txBox="1"/>
          <p:nvPr/>
        </p:nvSpPr>
        <p:spPr>
          <a:xfrm>
            <a:off x="353122" y="1924926"/>
            <a:ext cx="8001000" cy="3170099"/>
          </a:xfrm>
          <a:prstGeom prst="rect">
            <a:avLst/>
          </a:prstGeom>
          <a:noFill/>
        </p:spPr>
        <p:txBody>
          <a:bodyPr wrap="square" rtlCol="0">
            <a:spAutoFit/>
          </a:bodyPr>
          <a:lstStyle/>
          <a:p>
            <a:r>
              <a:rPr lang="en-US" sz="2000" b="1" i="1" dirty="0"/>
              <a:t>into this grace</a:t>
            </a:r>
            <a:r>
              <a:rPr lang="en-US" sz="2000" b="1" dirty="0"/>
              <a:t>…</a:t>
            </a:r>
          </a:p>
          <a:p>
            <a:pPr marL="342900" indent="-342900">
              <a:buFont typeface="Arial" panose="020B0604020202020204" pitchFamily="34" charset="0"/>
              <a:buChar char="•"/>
            </a:pPr>
            <a:r>
              <a:rPr lang="en-US" sz="2000" dirty="0"/>
              <a:t>We can rejoice! We could not have earned it, and yet it is freely given.</a:t>
            </a:r>
          </a:p>
          <a:p>
            <a:endParaRPr lang="en-US" sz="2000" dirty="0"/>
          </a:p>
          <a:p>
            <a:r>
              <a:rPr lang="en-US" sz="2000" b="1" dirty="0"/>
              <a:t>What if we try to earn it…?</a:t>
            </a:r>
            <a:endParaRPr lang="en-US" sz="2000" dirty="0"/>
          </a:p>
          <a:p>
            <a:pPr marL="342900" indent="-342900">
              <a:buFont typeface="Arial" panose="020B0604020202020204" pitchFamily="34" charset="0"/>
              <a:buChar char="•"/>
            </a:pPr>
            <a:r>
              <a:rPr lang="en-US" sz="2000" dirty="0"/>
              <a:t>“</a:t>
            </a:r>
            <a:r>
              <a:rPr lang="en-US" sz="2000" i="1" dirty="0"/>
              <a:t>And </a:t>
            </a:r>
            <a:r>
              <a:rPr lang="en-US" sz="2000" b="1" i="1" dirty="0"/>
              <a:t>if by grace</a:t>
            </a:r>
            <a:r>
              <a:rPr lang="en-US" sz="2000" i="1" dirty="0"/>
              <a:t>, then </a:t>
            </a:r>
            <a:r>
              <a:rPr lang="en-US" sz="2000" b="1" i="1" dirty="0"/>
              <a:t>it is </a:t>
            </a:r>
            <a:r>
              <a:rPr lang="en-US" sz="2000" i="1" dirty="0"/>
              <a:t>no longer of works; otherwise grace is no longer grace.  But </a:t>
            </a:r>
            <a:r>
              <a:rPr lang="en-US" sz="2000" b="1" i="1" dirty="0"/>
              <a:t>if it is of works</a:t>
            </a:r>
            <a:r>
              <a:rPr lang="en-US" sz="2000" i="1" dirty="0"/>
              <a:t>, it is no longer grace; otherwise work is no longer work.”  Romans 11:6</a:t>
            </a:r>
          </a:p>
          <a:p>
            <a:pPr marL="800100" lvl="1" indent="-342900">
              <a:buFont typeface="Arial" panose="020B0604020202020204" pitchFamily="34" charset="0"/>
              <a:buChar char="•"/>
            </a:pPr>
            <a:r>
              <a:rPr lang="en-US" sz="2000" b="1" dirty="0"/>
              <a:t>Attempting to earn it represents a form of rejection of the intent of the Giver!</a:t>
            </a:r>
          </a:p>
        </p:txBody>
      </p:sp>
      <p:sp>
        <p:nvSpPr>
          <p:cNvPr id="5" name="TextBox 4"/>
          <p:cNvSpPr txBox="1"/>
          <p:nvPr/>
        </p:nvSpPr>
        <p:spPr>
          <a:xfrm>
            <a:off x="344322" y="5151009"/>
            <a:ext cx="8001000" cy="1631216"/>
          </a:xfrm>
          <a:prstGeom prst="rect">
            <a:avLst/>
          </a:prstGeom>
          <a:noFill/>
        </p:spPr>
        <p:txBody>
          <a:bodyPr wrap="square" rtlCol="0">
            <a:spAutoFit/>
          </a:bodyPr>
          <a:lstStyle/>
          <a:p>
            <a:r>
              <a:rPr lang="en-US" sz="2000" dirty="0"/>
              <a:t>How have you received salvation?   </a:t>
            </a:r>
            <a:r>
              <a:rPr lang="en-US" sz="2000" i="1" dirty="0"/>
              <a:t>Ephesians 2:8-9</a:t>
            </a:r>
          </a:p>
          <a:p>
            <a:r>
              <a:rPr lang="en-US" sz="2000" dirty="0"/>
              <a:t>Why?   </a:t>
            </a:r>
            <a:r>
              <a:rPr lang="en-US" sz="2000" i="1" dirty="0"/>
              <a:t>Ephesians 2:7</a:t>
            </a:r>
          </a:p>
          <a:p>
            <a:r>
              <a:rPr lang="en-US" sz="2000" dirty="0"/>
              <a:t>What do we do in response?   </a:t>
            </a:r>
            <a:r>
              <a:rPr lang="en-US" sz="2000" i="1" dirty="0"/>
              <a:t>Colossians 2:6, Romans 1:5</a:t>
            </a:r>
          </a:p>
          <a:p>
            <a:r>
              <a:rPr lang="en-US" sz="2000" dirty="0"/>
              <a:t>How then shall we live?   </a:t>
            </a:r>
            <a:r>
              <a:rPr lang="en-US" sz="2000" i="1" dirty="0"/>
              <a:t>Galatians 2:17-21; 3:11</a:t>
            </a:r>
          </a:p>
          <a:p>
            <a:r>
              <a:rPr lang="en-US" sz="2000" i="1" dirty="0"/>
              <a:t>Whom is the key?   2 Cor. 5:17, 21  </a:t>
            </a:r>
          </a:p>
        </p:txBody>
      </p:sp>
    </p:spTree>
    <p:extLst>
      <p:ext uri="{BB962C8B-B14F-4D97-AF65-F5344CB8AC3E}">
        <p14:creationId xmlns:p14="http://schemas.microsoft.com/office/powerpoint/2010/main" val="422804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1000"/>
                                        <p:tgtEl>
                                          <p:spTgt spid="6">
                                            <p:txEl>
                                              <p:pRg st="4" end="4"/>
                                            </p:txEl>
                                          </p:spTgt>
                                        </p:tgtEl>
                                      </p:cBhvr>
                                    </p:animEffect>
                                    <p:anim calcmode="lin" valueType="num">
                                      <p:cBhvr>
                                        <p:cTn id="2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1000"/>
                                        <p:tgtEl>
                                          <p:spTgt spid="6">
                                            <p:txEl>
                                              <p:pRg st="5" end="5"/>
                                            </p:txEl>
                                          </p:spTgt>
                                        </p:tgtEl>
                                      </p:cBhvr>
                                    </p:animEffect>
                                    <p:anim calcmode="lin" valueType="num">
                                      <p:cBhvr>
                                        <p:cTn id="2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fontScale="90000"/>
          </a:bodyPr>
          <a:lstStyle/>
          <a:p>
            <a:r>
              <a:rPr lang="en-US" dirty="0"/>
              <a:t>What about the Here and Now?</a:t>
            </a:r>
            <a:br>
              <a:rPr lang="en-US" dirty="0"/>
            </a:br>
            <a:r>
              <a:rPr lang="en-US" sz="2400" dirty="0">
                <a:solidFill>
                  <a:schemeClr val="tx2">
                    <a:lumMod val="60000"/>
                    <a:lumOff val="40000"/>
                  </a:schemeClr>
                </a:solidFill>
              </a:rPr>
              <a:t>Now, the blessings of God flow to those </a:t>
            </a:r>
            <a:r>
              <a:rPr lang="en-US" sz="2400" u="sng" dirty="0">
                <a:solidFill>
                  <a:schemeClr val="tx2">
                    <a:lumMod val="60000"/>
                    <a:lumOff val="40000"/>
                  </a:schemeClr>
                </a:solidFill>
              </a:rPr>
              <a:t>Justified</a:t>
            </a:r>
            <a:r>
              <a:rPr lang="en-US" sz="2400" dirty="0">
                <a:solidFill>
                  <a:schemeClr val="tx2">
                    <a:lumMod val="60000"/>
                    <a:lumOff val="40000"/>
                  </a:schemeClr>
                </a:solidFill>
              </a:rPr>
              <a:t> by Faith.</a:t>
            </a:r>
          </a:p>
        </p:txBody>
      </p:sp>
      <p:sp>
        <p:nvSpPr>
          <p:cNvPr id="3" name="TextBox 2"/>
          <p:cNvSpPr txBox="1"/>
          <p:nvPr/>
        </p:nvSpPr>
        <p:spPr>
          <a:xfrm>
            <a:off x="375424" y="1193713"/>
            <a:ext cx="8001000" cy="1631216"/>
          </a:xfrm>
          <a:prstGeom prst="rect">
            <a:avLst/>
          </a:prstGeom>
          <a:noFill/>
        </p:spPr>
        <p:txBody>
          <a:bodyPr wrap="square" rtlCol="0">
            <a:spAutoFit/>
          </a:bodyPr>
          <a:lstStyle/>
          <a:p>
            <a:r>
              <a:rPr lang="en-US" sz="2000" i="1" dirty="0"/>
              <a:t>“And not only </a:t>
            </a:r>
            <a:r>
              <a:rPr lang="en-US" sz="2000" i="1" u="sng" dirty="0"/>
              <a:t>that</a:t>
            </a:r>
            <a:r>
              <a:rPr lang="en-US" sz="2000" i="1" dirty="0"/>
              <a:t>, but </a:t>
            </a:r>
            <a:r>
              <a:rPr lang="en-US" sz="2000" i="1" u="sng" dirty="0"/>
              <a:t>we also glory in </a:t>
            </a:r>
            <a:r>
              <a:rPr lang="en-US" sz="2000" b="1" i="1" u="sng" dirty="0"/>
              <a:t>tribulations</a:t>
            </a:r>
            <a:r>
              <a:rPr lang="en-US" sz="2000" i="1" dirty="0"/>
              <a:t>, knowing that tribulation produces </a:t>
            </a:r>
            <a:r>
              <a:rPr lang="en-US" sz="2000" b="1" i="1" dirty="0"/>
              <a:t>perseverance</a:t>
            </a:r>
            <a:r>
              <a:rPr lang="en-US" sz="2000" i="1" dirty="0"/>
              <a:t>; and perseverance, </a:t>
            </a:r>
            <a:r>
              <a:rPr lang="en-US" sz="2000" b="1" i="1" dirty="0"/>
              <a:t>character</a:t>
            </a:r>
            <a:r>
              <a:rPr lang="en-US" sz="2000" i="1" dirty="0"/>
              <a:t>; and character, </a:t>
            </a:r>
            <a:r>
              <a:rPr lang="en-US" sz="2000" b="1" i="1" dirty="0"/>
              <a:t>hope</a:t>
            </a:r>
            <a:r>
              <a:rPr lang="en-US" sz="2000" i="1" dirty="0"/>
              <a:t>.  Now hope does not disappoint, because the </a:t>
            </a:r>
            <a:r>
              <a:rPr lang="en-US" sz="2000" b="1" i="1" dirty="0"/>
              <a:t>love of God </a:t>
            </a:r>
            <a:r>
              <a:rPr lang="en-US" sz="2000" i="1" dirty="0"/>
              <a:t>has been poured out in our hearts by the </a:t>
            </a:r>
            <a:r>
              <a:rPr lang="en-US" sz="2000" b="1" i="1" dirty="0"/>
              <a:t>Holy Spirit </a:t>
            </a:r>
            <a:r>
              <a:rPr lang="en-US" sz="2000" i="1" dirty="0"/>
              <a:t>who was </a:t>
            </a:r>
            <a:r>
              <a:rPr lang="en-US" sz="2000" b="1" i="1" dirty="0"/>
              <a:t>given to us</a:t>
            </a:r>
            <a:r>
              <a:rPr lang="en-US" sz="2000" i="1" dirty="0"/>
              <a:t>.”  Romans 5:3-5</a:t>
            </a:r>
          </a:p>
        </p:txBody>
      </p:sp>
      <p:sp>
        <p:nvSpPr>
          <p:cNvPr id="6" name="TextBox 5"/>
          <p:cNvSpPr txBox="1"/>
          <p:nvPr/>
        </p:nvSpPr>
        <p:spPr>
          <a:xfrm>
            <a:off x="342767" y="2875642"/>
            <a:ext cx="8001000" cy="3785652"/>
          </a:xfrm>
          <a:prstGeom prst="rect">
            <a:avLst/>
          </a:prstGeom>
          <a:noFill/>
        </p:spPr>
        <p:txBody>
          <a:bodyPr wrap="square" rtlCol="0">
            <a:spAutoFit/>
          </a:bodyPr>
          <a:lstStyle/>
          <a:p>
            <a:r>
              <a:rPr lang="en-US" sz="2000" b="1" dirty="0"/>
              <a:t>We enter into a process of maturing…</a:t>
            </a:r>
          </a:p>
          <a:p>
            <a:pPr marL="342900" indent="-342900">
              <a:buFont typeface="Arial" panose="020B0604020202020204" pitchFamily="34" charset="0"/>
              <a:buChar char="•"/>
            </a:pPr>
            <a:r>
              <a:rPr lang="en-US" sz="2000" dirty="0"/>
              <a:t>“</a:t>
            </a:r>
            <a:r>
              <a:rPr lang="en-US" sz="2000" i="1" dirty="0"/>
              <a:t>we also glory</a:t>
            </a:r>
            <a:r>
              <a:rPr lang="en-US" sz="2000" dirty="0"/>
              <a:t>”; something to be excited about.</a:t>
            </a:r>
          </a:p>
          <a:p>
            <a:pPr marL="342900" indent="-342900">
              <a:buFont typeface="Arial" panose="020B0604020202020204" pitchFamily="34" charset="0"/>
              <a:buChar char="•"/>
            </a:pPr>
            <a:r>
              <a:rPr lang="en-US" sz="2000" dirty="0"/>
              <a:t>Only the Christian God has plunged himself into the suffering that we all face in life.  That we share this experience with God Himself is amazing.  By sharing in His experience we also share in His triumph!    (a corollary; Death-Burial-Resurrection </a:t>
            </a:r>
            <a:r>
              <a:rPr lang="en-US" sz="2000" dirty="0">
                <a:sym typeface="Wingdings" panose="05000000000000000000" pitchFamily="2" charset="2"/>
              </a:rPr>
              <a:t> Baptism)</a:t>
            </a:r>
            <a:endParaRPr lang="en-US" sz="2000" dirty="0"/>
          </a:p>
          <a:p>
            <a:pPr marL="342900" indent="-342900">
              <a:buFont typeface="Arial" panose="020B0604020202020204" pitchFamily="34" charset="0"/>
              <a:buChar char="•"/>
            </a:pPr>
            <a:r>
              <a:rPr lang="en-US" sz="2000" i="1" dirty="0"/>
              <a:t>“…though He was a Son, yet He learned obedience by the things which He suffered.”</a:t>
            </a:r>
            <a:r>
              <a:rPr lang="en-US" sz="2000" dirty="0"/>
              <a:t>   </a:t>
            </a:r>
            <a:r>
              <a:rPr lang="en-US" sz="2000" b="1" dirty="0"/>
              <a:t>Hebrews 5:8</a:t>
            </a:r>
          </a:p>
          <a:p>
            <a:pPr marL="342900" indent="-342900">
              <a:buFont typeface="Arial" panose="020B0604020202020204" pitchFamily="34" charset="0"/>
              <a:buChar char="•"/>
            </a:pPr>
            <a:r>
              <a:rPr lang="en-US" sz="2000" dirty="0"/>
              <a:t>The “end product” of this maturing process is hope.  You will know it by perception.</a:t>
            </a:r>
          </a:p>
          <a:p>
            <a:pPr marL="342900" indent="-342900">
              <a:buFont typeface="Arial" panose="020B0604020202020204" pitchFamily="34" charset="0"/>
              <a:buChar char="•"/>
            </a:pPr>
            <a:r>
              <a:rPr lang="en-US" sz="2000" dirty="0"/>
              <a:t>Can this gift of Grace be received in vain?   </a:t>
            </a:r>
            <a:r>
              <a:rPr lang="en-US" sz="2000" b="1" dirty="0"/>
              <a:t>2 Corinthians 6:1-11</a:t>
            </a:r>
          </a:p>
          <a:p>
            <a:pPr marL="800100" lvl="1" indent="-342900">
              <a:buFont typeface="Arial" panose="020B0604020202020204" pitchFamily="34" charset="0"/>
              <a:buChar char="•"/>
            </a:pPr>
            <a:r>
              <a:rPr lang="en-US" sz="2000" u="sng" dirty="0"/>
              <a:t>How to measure maturity?   By the presence of hope.</a:t>
            </a:r>
          </a:p>
        </p:txBody>
      </p:sp>
    </p:spTree>
    <p:extLst>
      <p:ext uri="{BB962C8B-B14F-4D97-AF65-F5344CB8AC3E}">
        <p14:creationId xmlns:p14="http://schemas.microsoft.com/office/powerpoint/2010/main" val="360955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1000"/>
                                        <p:tgtEl>
                                          <p:spTgt spid="6">
                                            <p:txEl>
                                              <p:pRg st="4" end="4"/>
                                            </p:txEl>
                                          </p:spTgt>
                                        </p:tgtEl>
                                      </p:cBhvr>
                                    </p:animEffect>
                                    <p:anim calcmode="lin" valueType="num">
                                      <p:cBhvr>
                                        <p:cTn id="2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1000"/>
                                        <p:tgtEl>
                                          <p:spTgt spid="6">
                                            <p:txEl>
                                              <p:pRg st="5" end="5"/>
                                            </p:txEl>
                                          </p:spTgt>
                                        </p:tgtEl>
                                      </p:cBhvr>
                                    </p:animEffect>
                                    <p:anim calcmode="lin" valueType="num">
                                      <p:cBhvr>
                                        <p:cTn id="3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1000"/>
                                        <p:tgtEl>
                                          <p:spTgt spid="6">
                                            <p:txEl>
                                              <p:pRg st="6" end="6"/>
                                            </p:txEl>
                                          </p:spTgt>
                                        </p:tgtEl>
                                      </p:cBhvr>
                                    </p:animEffect>
                                    <p:anim calcmode="lin" valueType="num">
                                      <p:cBhvr>
                                        <p:cTn id="3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What about the Here and Now?</a:t>
            </a:r>
            <a:br>
              <a:rPr lang="en-US" dirty="0"/>
            </a:br>
            <a:r>
              <a:rPr lang="en-US" sz="2400" dirty="0">
                <a:solidFill>
                  <a:schemeClr val="tx2">
                    <a:lumMod val="60000"/>
                    <a:lumOff val="40000"/>
                  </a:schemeClr>
                </a:solidFill>
              </a:rPr>
              <a:t>Why do Christians suffer trials and tribulations?</a:t>
            </a:r>
          </a:p>
        </p:txBody>
      </p:sp>
      <p:sp>
        <p:nvSpPr>
          <p:cNvPr id="6" name="TextBox 5"/>
          <p:cNvSpPr txBox="1"/>
          <p:nvPr/>
        </p:nvSpPr>
        <p:spPr>
          <a:xfrm>
            <a:off x="370114" y="1143000"/>
            <a:ext cx="8001000" cy="5016758"/>
          </a:xfrm>
          <a:prstGeom prst="rect">
            <a:avLst/>
          </a:prstGeom>
          <a:noFill/>
        </p:spPr>
        <p:txBody>
          <a:bodyPr wrap="square" rtlCol="0">
            <a:spAutoFit/>
          </a:bodyPr>
          <a:lstStyle/>
          <a:p>
            <a:pPr marL="457200" indent="-457200">
              <a:buFont typeface="+mj-lt"/>
              <a:buAutoNum type="arabicPeriod"/>
            </a:pPr>
            <a:r>
              <a:rPr lang="en-US" sz="2000" b="1" dirty="0"/>
              <a:t>To Glorify God  (Daniel 3:16-18; 24-25 – the Lion’s Den)</a:t>
            </a:r>
          </a:p>
          <a:p>
            <a:pPr marL="457200" indent="-457200">
              <a:buFont typeface="+mj-lt"/>
              <a:buAutoNum type="arabicPeriod"/>
            </a:pPr>
            <a:r>
              <a:rPr lang="en-US" sz="2000" b="1" dirty="0"/>
              <a:t>Discipline for Sin (Hebrews 12:5-11; James 4:17; 1 John 1:9)</a:t>
            </a:r>
          </a:p>
          <a:p>
            <a:pPr marL="457200" indent="-457200">
              <a:buFont typeface="+mj-lt"/>
              <a:buAutoNum type="arabicPeriod"/>
            </a:pPr>
            <a:r>
              <a:rPr lang="en-US" sz="2000" b="1" dirty="0"/>
              <a:t>To Keep us from Sinning (1 Peter 4:12)</a:t>
            </a:r>
          </a:p>
          <a:p>
            <a:pPr marL="457200" indent="-457200">
              <a:buFont typeface="+mj-lt"/>
              <a:buAutoNum type="arabicPeriod"/>
            </a:pPr>
            <a:r>
              <a:rPr lang="en-US" sz="2000" b="1" dirty="0"/>
              <a:t>To Keep us from Pride (2 Cor. 12:7-10)</a:t>
            </a:r>
          </a:p>
          <a:p>
            <a:pPr marL="457200" indent="-457200">
              <a:buFont typeface="+mj-lt"/>
              <a:buAutoNum type="arabicPeriod"/>
            </a:pPr>
            <a:r>
              <a:rPr lang="en-US" sz="2000" b="1" dirty="0"/>
              <a:t>To Build Faith (1 Peter 1:6-7)</a:t>
            </a:r>
          </a:p>
          <a:p>
            <a:pPr marL="457200" indent="-457200">
              <a:buFont typeface="+mj-lt"/>
              <a:buAutoNum type="arabicPeriod"/>
            </a:pPr>
            <a:r>
              <a:rPr lang="en-US" sz="2000" b="1" dirty="0"/>
              <a:t>To Cause Growth (Romans 5:3-5)</a:t>
            </a:r>
          </a:p>
          <a:p>
            <a:pPr marL="457200" indent="-457200">
              <a:buFont typeface="+mj-lt"/>
              <a:buAutoNum type="arabicPeriod"/>
            </a:pPr>
            <a:r>
              <a:rPr lang="en-US" sz="2000" b="1" dirty="0"/>
              <a:t>To Teach Obedience and Discipline (Acts 9:15-16)</a:t>
            </a:r>
          </a:p>
          <a:p>
            <a:pPr marL="457200" indent="-457200">
              <a:buFont typeface="+mj-lt"/>
              <a:buAutoNum type="arabicPeriod"/>
            </a:pPr>
            <a:r>
              <a:rPr lang="en-US" sz="2000" b="1" dirty="0"/>
              <a:t>To Equip us to Comfort Others (2 Cor. 1:3-4)</a:t>
            </a:r>
          </a:p>
          <a:p>
            <a:pPr marL="457200" indent="-457200">
              <a:buFont typeface="+mj-lt"/>
              <a:buAutoNum type="arabicPeriod"/>
            </a:pPr>
            <a:r>
              <a:rPr lang="en-US" sz="2000" b="1" dirty="0"/>
              <a:t>To Prove the Reality of Christ in Us (2 Cor. 4:7-11)</a:t>
            </a:r>
          </a:p>
          <a:p>
            <a:pPr marL="457200" indent="-457200">
              <a:buFont typeface="+mj-lt"/>
              <a:buAutoNum type="arabicPeriod"/>
            </a:pPr>
            <a:r>
              <a:rPr lang="en-US" sz="2000" b="1" dirty="0"/>
              <a:t>For Testimony to the Angels (Job 1:8; Ephesian 3:8-11)</a:t>
            </a:r>
          </a:p>
          <a:p>
            <a:endParaRPr lang="en-US" sz="2000" b="1" dirty="0"/>
          </a:p>
          <a:p>
            <a:r>
              <a:rPr lang="en-US" sz="2000" dirty="0"/>
              <a:t>Thus…   </a:t>
            </a:r>
            <a:r>
              <a:rPr lang="en-US" sz="2000" b="1" dirty="0"/>
              <a:t>James 1:2-4</a:t>
            </a:r>
          </a:p>
          <a:p>
            <a:r>
              <a:rPr lang="en-US" sz="2000" b="1" i="1" dirty="0"/>
              <a:t>“My brethren, count it all joy when you fall into various trials, knowing that the </a:t>
            </a:r>
            <a:r>
              <a:rPr lang="en-US" sz="2000" b="1" i="1" u="sng" dirty="0"/>
              <a:t>testing of your faith</a:t>
            </a:r>
            <a:r>
              <a:rPr lang="en-US" sz="2000" b="1" i="1" dirty="0"/>
              <a:t> produces patience.  But let patience have its perfect work, that you may be perfect and complete, lacking nothing.”</a:t>
            </a:r>
          </a:p>
        </p:txBody>
      </p:sp>
    </p:spTree>
    <p:extLst>
      <p:ext uri="{BB962C8B-B14F-4D97-AF65-F5344CB8AC3E}">
        <p14:creationId xmlns:p14="http://schemas.microsoft.com/office/powerpoint/2010/main" val="99452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animEffect transition="in" filter="fade">
                                      <p:cBhvr>
                                        <p:cTn id="7" dur="1000"/>
                                        <p:tgtEl>
                                          <p:spTgt spid="6">
                                            <p:txEl>
                                              <p:pRg st="11" end="11"/>
                                            </p:txEl>
                                          </p:spTgt>
                                        </p:tgtEl>
                                      </p:cBhvr>
                                    </p:animEffect>
                                    <p:anim calcmode="lin" valueType="num">
                                      <p:cBhvr>
                                        <p:cTn id="8"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2" end="12"/>
                                            </p:txEl>
                                          </p:spTgt>
                                        </p:tgtEl>
                                        <p:attrNameLst>
                                          <p:attrName>style.visibility</p:attrName>
                                        </p:attrNameLst>
                                      </p:cBhvr>
                                      <p:to>
                                        <p:strVal val="visible"/>
                                      </p:to>
                                    </p:set>
                                    <p:animEffect transition="in" filter="fade">
                                      <p:cBhvr>
                                        <p:cTn id="12" dur="1000"/>
                                        <p:tgtEl>
                                          <p:spTgt spid="6">
                                            <p:txEl>
                                              <p:pRg st="12" end="12"/>
                                            </p:txEl>
                                          </p:spTgt>
                                        </p:tgtEl>
                                      </p:cBhvr>
                                    </p:animEffect>
                                    <p:anim calcmode="lin" valueType="num">
                                      <p:cBhvr>
                                        <p:cTn id="13"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What about the Here and Now?</a:t>
            </a:r>
            <a:br>
              <a:rPr lang="en-US" dirty="0"/>
            </a:br>
            <a:r>
              <a:rPr lang="en-US" sz="2400" dirty="0">
                <a:solidFill>
                  <a:schemeClr val="tx2">
                    <a:lumMod val="60000"/>
                    <a:lumOff val="40000"/>
                  </a:schemeClr>
                </a:solidFill>
              </a:rPr>
              <a:t>How far have we come in our relationship to God?</a:t>
            </a:r>
          </a:p>
        </p:txBody>
      </p:sp>
      <p:sp>
        <p:nvSpPr>
          <p:cNvPr id="6" name="TextBox 5"/>
          <p:cNvSpPr txBox="1"/>
          <p:nvPr/>
        </p:nvSpPr>
        <p:spPr>
          <a:xfrm>
            <a:off x="381000" y="1206893"/>
            <a:ext cx="8001000" cy="1015663"/>
          </a:xfrm>
          <a:prstGeom prst="rect">
            <a:avLst/>
          </a:prstGeom>
          <a:noFill/>
        </p:spPr>
        <p:txBody>
          <a:bodyPr wrap="square" rtlCol="0">
            <a:spAutoFit/>
          </a:bodyPr>
          <a:lstStyle/>
          <a:p>
            <a:r>
              <a:rPr lang="en-US" sz="2000" i="1" dirty="0"/>
              <a:t>“For if when we were </a:t>
            </a:r>
            <a:r>
              <a:rPr lang="en-US" sz="2000" b="1" i="1" dirty="0"/>
              <a:t>enemies</a:t>
            </a:r>
            <a:r>
              <a:rPr lang="en-US" sz="2000" i="1" dirty="0"/>
              <a:t> we were reconciled to God through the death of His Son, </a:t>
            </a:r>
            <a:r>
              <a:rPr lang="en-US" sz="2000" b="1" i="1" dirty="0"/>
              <a:t>much more</a:t>
            </a:r>
            <a:r>
              <a:rPr lang="en-US" sz="2000" i="1" dirty="0"/>
              <a:t>, having been reconciled, we shall be saved by His life.”  Romans 5:10</a:t>
            </a:r>
          </a:p>
        </p:txBody>
      </p:sp>
      <p:sp>
        <p:nvSpPr>
          <p:cNvPr id="4" name="TextBox 3"/>
          <p:cNvSpPr txBox="1"/>
          <p:nvPr/>
        </p:nvSpPr>
        <p:spPr>
          <a:xfrm>
            <a:off x="381000" y="2308220"/>
            <a:ext cx="8001000" cy="1015663"/>
          </a:xfrm>
          <a:prstGeom prst="rect">
            <a:avLst/>
          </a:prstGeom>
          <a:noFill/>
        </p:spPr>
        <p:txBody>
          <a:bodyPr wrap="square" rtlCol="0">
            <a:spAutoFit/>
          </a:bodyPr>
          <a:lstStyle/>
          <a:p>
            <a:r>
              <a:rPr lang="en-US" sz="2000" i="1" dirty="0"/>
              <a:t>“</a:t>
            </a:r>
            <a:r>
              <a:rPr lang="en-US" sz="2000" b="1" i="1" dirty="0"/>
              <a:t>Enemies</a:t>
            </a:r>
            <a:r>
              <a:rPr lang="en-US" sz="2000" i="1" dirty="0"/>
              <a:t>”</a:t>
            </a:r>
          </a:p>
          <a:p>
            <a:pPr marL="342900" indent="-342900">
              <a:buFont typeface="Arial" panose="020B0604020202020204" pitchFamily="34" charset="0"/>
              <a:buChar char="•"/>
            </a:pPr>
            <a:r>
              <a:rPr lang="en-US" sz="2000" i="1" dirty="0"/>
              <a:t>“Helpless”, “Ungodly”, “Sinners”, “Enemies”  (Romans 5:6-11)</a:t>
            </a:r>
          </a:p>
          <a:p>
            <a:pPr marL="342900" indent="-342900">
              <a:buFont typeface="Arial" panose="020B0604020202020204" pitchFamily="34" charset="0"/>
              <a:buChar char="•"/>
            </a:pPr>
            <a:r>
              <a:rPr lang="en-US" sz="2000" i="1" dirty="0"/>
              <a:t>Romans 8:7;  James 4:4</a:t>
            </a:r>
          </a:p>
        </p:txBody>
      </p:sp>
      <p:sp>
        <p:nvSpPr>
          <p:cNvPr id="5" name="TextBox 4"/>
          <p:cNvSpPr txBox="1"/>
          <p:nvPr/>
        </p:nvSpPr>
        <p:spPr>
          <a:xfrm>
            <a:off x="381000" y="3450743"/>
            <a:ext cx="8001000" cy="1323439"/>
          </a:xfrm>
          <a:prstGeom prst="rect">
            <a:avLst/>
          </a:prstGeom>
          <a:noFill/>
        </p:spPr>
        <p:txBody>
          <a:bodyPr wrap="square" rtlCol="0">
            <a:spAutoFit/>
          </a:bodyPr>
          <a:lstStyle/>
          <a:p>
            <a:r>
              <a:rPr lang="en-US" sz="2000" i="1" dirty="0"/>
              <a:t>“</a:t>
            </a:r>
            <a:r>
              <a:rPr lang="en-US" sz="2000" b="1" i="1" dirty="0"/>
              <a:t>Children</a:t>
            </a:r>
            <a:r>
              <a:rPr lang="en-US" sz="2000" i="1" dirty="0"/>
              <a:t>”</a:t>
            </a:r>
          </a:p>
          <a:p>
            <a:pPr marL="342900" indent="-342900">
              <a:buFont typeface="Arial" panose="020B0604020202020204" pitchFamily="34" charset="0"/>
              <a:buChar char="•"/>
            </a:pPr>
            <a:r>
              <a:rPr lang="en-US" sz="2000" i="1" dirty="0"/>
              <a:t>If God loved you that much, while in that condition, how much more so now that you are His children?</a:t>
            </a:r>
          </a:p>
          <a:p>
            <a:pPr marL="342900" indent="-342900">
              <a:buFont typeface="Arial" panose="020B0604020202020204" pitchFamily="34" charset="0"/>
              <a:buChar char="•"/>
            </a:pPr>
            <a:r>
              <a:rPr lang="en-US" sz="2000" i="1" dirty="0"/>
              <a:t>John 1:12</a:t>
            </a:r>
          </a:p>
        </p:txBody>
      </p:sp>
      <p:sp>
        <p:nvSpPr>
          <p:cNvPr id="7" name="TextBox 6"/>
          <p:cNvSpPr txBox="1"/>
          <p:nvPr/>
        </p:nvSpPr>
        <p:spPr>
          <a:xfrm>
            <a:off x="407437" y="4901042"/>
            <a:ext cx="8001000" cy="1323439"/>
          </a:xfrm>
          <a:prstGeom prst="rect">
            <a:avLst/>
          </a:prstGeom>
          <a:noFill/>
        </p:spPr>
        <p:txBody>
          <a:bodyPr wrap="square" rtlCol="0">
            <a:spAutoFit/>
          </a:bodyPr>
          <a:lstStyle/>
          <a:p>
            <a:r>
              <a:rPr lang="en-US" sz="2000" dirty="0"/>
              <a:t>Can the context of this new relationship be misconstrued?  How?</a:t>
            </a:r>
          </a:p>
          <a:p>
            <a:pPr marL="342900" indent="-342900">
              <a:buFont typeface="Arial" panose="020B0604020202020204" pitchFamily="34" charset="0"/>
              <a:buChar char="•"/>
            </a:pPr>
            <a:r>
              <a:rPr lang="en-US" sz="2000" i="1" dirty="0"/>
              <a:t>By forgetting the continuous work of our Intercessor (</a:t>
            </a:r>
            <a:r>
              <a:rPr lang="en-US" sz="2000" i="1" dirty="0" err="1"/>
              <a:t>Heb</a:t>
            </a:r>
            <a:r>
              <a:rPr lang="en-US" sz="2000" i="1" dirty="0"/>
              <a:t> 7:25)</a:t>
            </a:r>
          </a:p>
          <a:p>
            <a:pPr marL="342900" indent="-342900">
              <a:buFont typeface="Arial" panose="020B0604020202020204" pitchFamily="34" charset="0"/>
              <a:buChar char="•"/>
            </a:pPr>
            <a:r>
              <a:rPr lang="en-US" sz="2000" i="1" dirty="0"/>
              <a:t>By living in fear instead of awe (Philippians 2:12-13)</a:t>
            </a:r>
          </a:p>
          <a:p>
            <a:pPr marL="342900" indent="-342900">
              <a:buFont typeface="Arial" panose="020B0604020202020204" pitchFamily="34" charset="0"/>
              <a:buChar char="•"/>
            </a:pPr>
            <a:r>
              <a:rPr lang="en-US" sz="2000" i="1" dirty="0"/>
              <a:t>By having the wrong motivation (1 Corinthians 3:11-15)</a:t>
            </a:r>
          </a:p>
        </p:txBody>
      </p:sp>
    </p:spTree>
    <p:extLst>
      <p:ext uri="{BB962C8B-B14F-4D97-AF65-F5344CB8AC3E}">
        <p14:creationId xmlns:p14="http://schemas.microsoft.com/office/powerpoint/2010/main" val="256663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What about the Here and Now?</a:t>
            </a:r>
            <a:br>
              <a:rPr lang="en-US" dirty="0"/>
            </a:br>
            <a:r>
              <a:rPr lang="en-US" sz="2400" dirty="0">
                <a:solidFill>
                  <a:schemeClr val="tx2">
                    <a:lumMod val="60000"/>
                    <a:lumOff val="40000"/>
                  </a:schemeClr>
                </a:solidFill>
              </a:rPr>
              <a:t>Qualifying further what Christ has done for us…</a:t>
            </a:r>
          </a:p>
        </p:txBody>
      </p:sp>
      <p:sp>
        <p:nvSpPr>
          <p:cNvPr id="6" name="TextBox 5"/>
          <p:cNvSpPr txBox="1"/>
          <p:nvPr/>
        </p:nvSpPr>
        <p:spPr>
          <a:xfrm>
            <a:off x="381000" y="1155594"/>
            <a:ext cx="8001000" cy="1938992"/>
          </a:xfrm>
          <a:prstGeom prst="rect">
            <a:avLst/>
          </a:prstGeom>
          <a:noFill/>
        </p:spPr>
        <p:txBody>
          <a:bodyPr wrap="square" rtlCol="0">
            <a:spAutoFit/>
          </a:bodyPr>
          <a:lstStyle/>
          <a:p>
            <a:pPr marL="457200" indent="-457200">
              <a:buFont typeface="Arial" panose="020B0604020202020204" pitchFamily="34" charset="0"/>
              <a:buChar char="•"/>
            </a:pPr>
            <a:r>
              <a:rPr lang="en-US" sz="2000" b="1" dirty="0"/>
              <a:t>Redemption  </a:t>
            </a:r>
            <a:r>
              <a:rPr lang="en-US" sz="2000" dirty="0"/>
              <a:t>(pertains to sin; we are rescued from our fate)</a:t>
            </a:r>
          </a:p>
          <a:p>
            <a:pPr marL="914400" lvl="1" indent="-457200">
              <a:buFont typeface="Arial" panose="020B0604020202020204" pitchFamily="34" charset="0"/>
              <a:buChar char="•"/>
            </a:pPr>
            <a:r>
              <a:rPr lang="en-US" sz="2000" i="1" dirty="0"/>
              <a:t>Rom 3:24</a:t>
            </a:r>
            <a:r>
              <a:rPr lang="en-US" sz="2000" dirty="0"/>
              <a:t>;  1 </a:t>
            </a:r>
            <a:r>
              <a:rPr lang="en-US" sz="2000" dirty="0" err="1"/>
              <a:t>Cor</a:t>
            </a:r>
            <a:r>
              <a:rPr lang="en-US" sz="2000" dirty="0"/>
              <a:t> 1:30;   </a:t>
            </a:r>
            <a:r>
              <a:rPr lang="en-US" sz="2000" i="1" dirty="0"/>
              <a:t>Gal 3:13</a:t>
            </a:r>
            <a:r>
              <a:rPr lang="en-US" sz="2000" dirty="0"/>
              <a:t>;   </a:t>
            </a:r>
            <a:r>
              <a:rPr lang="en-US" sz="2000" dirty="0" err="1"/>
              <a:t>Eph</a:t>
            </a:r>
            <a:r>
              <a:rPr lang="en-US" sz="2000" dirty="0"/>
              <a:t> 1:7</a:t>
            </a:r>
          </a:p>
          <a:p>
            <a:pPr marL="457200" indent="-457200">
              <a:buFont typeface="Arial" panose="020B0604020202020204" pitchFamily="34" charset="0"/>
              <a:buChar char="•"/>
            </a:pPr>
            <a:r>
              <a:rPr lang="en-US" sz="2000" b="1" dirty="0"/>
              <a:t>Propitiation  </a:t>
            </a:r>
            <a:r>
              <a:rPr lang="en-US" sz="2000" dirty="0"/>
              <a:t>(pertains to God’s judicial satisfaction)</a:t>
            </a:r>
          </a:p>
          <a:p>
            <a:pPr marL="914400" lvl="1" indent="-457200">
              <a:buFont typeface="Arial" panose="020B0604020202020204" pitchFamily="34" charset="0"/>
              <a:buChar char="•"/>
            </a:pPr>
            <a:r>
              <a:rPr lang="en-US" sz="2000" i="1" dirty="0"/>
              <a:t>Rom 3:25</a:t>
            </a:r>
            <a:r>
              <a:rPr lang="en-US" sz="2000" dirty="0"/>
              <a:t>;  1 John 2:2;  </a:t>
            </a:r>
            <a:r>
              <a:rPr lang="en-US" sz="2000" i="1" dirty="0"/>
              <a:t>1 John 4:10</a:t>
            </a:r>
          </a:p>
          <a:p>
            <a:pPr marL="457200" indent="-457200">
              <a:buFont typeface="Arial" panose="020B0604020202020204" pitchFamily="34" charset="0"/>
              <a:buChar char="•"/>
            </a:pPr>
            <a:r>
              <a:rPr lang="en-US" sz="2000" b="1" dirty="0"/>
              <a:t>Reconciliation  </a:t>
            </a:r>
            <a:r>
              <a:rPr lang="en-US" sz="2000" dirty="0"/>
              <a:t>(this is </a:t>
            </a:r>
            <a:r>
              <a:rPr lang="en-US" sz="2000" b="1" dirty="0"/>
              <a:t>our</a:t>
            </a:r>
            <a:r>
              <a:rPr lang="en-US" sz="2000" dirty="0"/>
              <a:t> blessing; where we now stand)</a:t>
            </a:r>
          </a:p>
          <a:p>
            <a:pPr marL="914400" lvl="1" indent="-457200">
              <a:buFont typeface="Arial" panose="020B0604020202020204" pitchFamily="34" charset="0"/>
              <a:buChar char="•"/>
            </a:pPr>
            <a:r>
              <a:rPr lang="en-US" sz="2000" i="1" dirty="0"/>
              <a:t>Rom 5:10-11</a:t>
            </a:r>
            <a:r>
              <a:rPr lang="en-US" sz="2000" dirty="0"/>
              <a:t>;   2 </a:t>
            </a:r>
            <a:r>
              <a:rPr lang="en-US" sz="2000" dirty="0" err="1"/>
              <a:t>Cor</a:t>
            </a:r>
            <a:r>
              <a:rPr lang="en-US" sz="2000" dirty="0"/>
              <a:t> 5:18-20;   </a:t>
            </a:r>
            <a:r>
              <a:rPr lang="en-US" sz="2000" i="1" dirty="0"/>
              <a:t>Col 1:22   (atonement)</a:t>
            </a:r>
          </a:p>
        </p:txBody>
      </p:sp>
      <p:sp>
        <p:nvSpPr>
          <p:cNvPr id="4" name="TextBox 3"/>
          <p:cNvSpPr txBox="1"/>
          <p:nvPr/>
        </p:nvSpPr>
        <p:spPr>
          <a:xfrm>
            <a:off x="381000" y="3153814"/>
            <a:ext cx="8001000" cy="1631216"/>
          </a:xfrm>
          <a:prstGeom prst="rect">
            <a:avLst/>
          </a:prstGeom>
          <a:noFill/>
        </p:spPr>
        <p:txBody>
          <a:bodyPr wrap="square" rtlCol="0">
            <a:spAutoFit/>
          </a:bodyPr>
          <a:lstStyle/>
          <a:p>
            <a:r>
              <a:rPr lang="en-US" sz="2000" i="1" dirty="0"/>
              <a:t>Context, Context, Context… what is Paul’s purpose?</a:t>
            </a:r>
          </a:p>
          <a:p>
            <a:pPr marL="342900" indent="-342900">
              <a:buFont typeface="Arial" panose="020B0604020202020204" pitchFamily="34" charset="0"/>
              <a:buChar char="•"/>
            </a:pPr>
            <a:r>
              <a:rPr lang="en-US" sz="2000" dirty="0"/>
              <a:t>Paul is proceeding to the crescendo of Romans 8, the significant theological purpose of encouraging Christians and establishing </a:t>
            </a:r>
            <a:r>
              <a:rPr lang="en-US" sz="2000" b="1" dirty="0"/>
              <a:t>Joy</a:t>
            </a:r>
            <a:r>
              <a:rPr lang="en-US" sz="2000" dirty="0"/>
              <a:t> and </a:t>
            </a:r>
            <a:r>
              <a:rPr lang="en-US" sz="2000" b="1" dirty="0"/>
              <a:t>Hope</a:t>
            </a:r>
            <a:r>
              <a:rPr lang="en-US" sz="2000" dirty="0"/>
              <a:t> for those now living within the </a:t>
            </a:r>
            <a:r>
              <a:rPr lang="en-US" sz="2000" b="1" dirty="0"/>
              <a:t>Kingdom of God</a:t>
            </a:r>
            <a:r>
              <a:rPr lang="en-US" sz="2000" dirty="0"/>
              <a:t>. </a:t>
            </a:r>
          </a:p>
          <a:p>
            <a:pPr marL="342900" indent="-342900">
              <a:buFont typeface="Arial" panose="020B0604020202020204" pitchFamily="34" charset="0"/>
              <a:buChar char="•"/>
            </a:pPr>
            <a:r>
              <a:rPr lang="en-US" sz="2000" i="1" dirty="0"/>
              <a:t>Contextually, how might Romans 5 thru 8 be misinterpreted?</a:t>
            </a:r>
          </a:p>
        </p:txBody>
      </p:sp>
      <p:sp>
        <p:nvSpPr>
          <p:cNvPr id="5" name="TextBox 4"/>
          <p:cNvSpPr txBox="1"/>
          <p:nvPr/>
        </p:nvSpPr>
        <p:spPr>
          <a:xfrm>
            <a:off x="457200" y="4844258"/>
            <a:ext cx="8001000" cy="1938992"/>
          </a:xfrm>
          <a:prstGeom prst="rect">
            <a:avLst/>
          </a:prstGeom>
          <a:noFill/>
        </p:spPr>
        <p:txBody>
          <a:bodyPr wrap="square" rtlCol="0">
            <a:spAutoFit/>
          </a:bodyPr>
          <a:lstStyle/>
          <a:p>
            <a:r>
              <a:rPr lang="en-US" sz="2000" i="1" dirty="0"/>
              <a:t>Context, Context, Context…  what is the </a:t>
            </a:r>
            <a:r>
              <a:rPr lang="en-US" sz="2000" b="1" i="1" dirty="0"/>
              <a:t>Kingdom of God</a:t>
            </a:r>
            <a:r>
              <a:rPr lang="en-US" sz="2000" i="1" dirty="0"/>
              <a:t>?</a:t>
            </a:r>
          </a:p>
          <a:p>
            <a:pPr marL="342900" indent="-342900">
              <a:buFont typeface="Arial" panose="020B0604020202020204" pitchFamily="34" charset="0"/>
              <a:buChar char="•"/>
            </a:pPr>
            <a:r>
              <a:rPr lang="en-US" sz="2000" dirty="0"/>
              <a:t>Domain is both Heaven and Earth (Matt 6:10; Matt 28:18-20; John 15:6-10)</a:t>
            </a:r>
          </a:p>
          <a:p>
            <a:pPr marL="342900" indent="-342900">
              <a:buFont typeface="Arial" panose="020B0604020202020204" pitchFamily="34" charset="0"/>
              <a:buChar char="•"/>
            </a:pPr>
            <a:r>
              <a:rPr lang="en-US" sz="2000" dirty="0"/>
              <a:t>The Kingdom has a King; Citizens; Rules (Matt 5:20; Matt 7:21-23; not the Law of Moses – Acts 15:28-29; Hebrews 8:7-13; Rev 3)</a:t>
            </a:r>
          </a:p>
          <a:p>
            <a:pPr marL="342900" indent="-342900">
              <a:buFont typeface="Arial" panose="020B0604020202020204" pitchFamily="34" charset="0"/>
              <a:buChar char="•"/>
            </a:pPr>
            <a:r>
              <a:rPr lang="en-US" sz="2000" dirty="0"/>
              <a:t>What is the Kingdom of God like? (Matt 13:24-43; 47-50; 22:2-14)</a:t>
            </a:r>
          </a:p>
        </p:txBody>
      </p:sp>
    </p:spTree>
    <p:extLst>
      <p:ext uri="{BB962C8B-B14F-4D97-AF65-F5344CB8AC3E}">
        <p14:creationId xmlns:p14="http://schemas.microsoft.com/office/powerpoint/2010/main" val="43174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What about the Here and Now?</a:t>
            </a:r>
            <a:br>
              <a:rPr lang="en-US" dirty="0"/>
            </a:br>
            <a:r>
              <a:rPr lang="en-US" sz="2400" dirty="0">
                <a:solidFill>
                  <a:schemeClr val="tx2">
                    <a:lumMod val="60000"/>
                    <a:lumOff val="40000"/>
                  </a:schemeClr>
                </a:solidFill>
              </a:rPr>
              <a:t>What next?  Sanctification</a:t>
            </a:r>
          </a:p>
        </p:txBody>
      </p:sp>
      <p:sp>
        <p:nvSpPr>
          <p:cNvPr id="4" name="TextBox 3"/>
          <p:cNvSpPr txBox="1"/>
          <p:nvPr/>
        </p:nvSpPr>
        <p:spPr>
          <a:xfrm>
            <a:off x="387220" y="1295400"/>
            <a:ext cx="8001000" cy="1015663"/>
          </a:xfrm>
          <a:prstGeom prst="rect">
            <a:avLst/>
          </a:prstGeom>
          <a:noFill/>
        </p:spPr>
        <p:txBody>
          <a:bodyPr wrap="square" rtlCol="0">
            <a:spAutoFit/>
          </a:bodyPr>
          <a:lstStyle/>
          <a:p>
            <a:r>
              <a:rPr lang="en-US" sz="2000" i="1" dirty="0"/>
              <a:t>“</a:t>
            </a:r>
            <a:r>
              <a:rPr lang="en-US" sz="2000" b="1" i="1" dirty="0"/>
              <a:t>Justification</a:t>
            </a:r>
            <a:r>
              <a:rPr lang="en-US" sz="2000" i="1" dirty="0"/>
              <a:t>”</a:t>
            </a:r>
          </a:p>
          <a:p>
            <a:pPr marL="342900" indent="-342900">
              <a:buFont typeface="Arial" panose="020B0604020202020204" pitchFamily="34" charset="0"/>
              <a:buChar char="•"/>
            </a:pPr>
            <a:r>
              <a:rPr lang="en-US" sz="2000" b="1" i="1" dirty="0"/>
              <a:t>Declares</a:t>
            </a:r>
            <a:r>
              <a:rPr lang="en-US" sz="2000" i="1" dirty="0"/>
              <a:t> within God’s Holy Court that a sinner has been </a:t>
            </a:r>
            <a:r>
              <a:rPr lang="en-US" sz="2000" b="1" i="1" dirty="0"/>
              <a:t>imputed</a:t>
            </a:r>
            <a:r>
              <a:rPr lang="en-US" sz="2000" i="1" dirty="0"/>
              <a:t> righteousness.   </a:t>
            </a:r>
            <a:r>
              <a:rPr lang="en-US" sz="2000" dirty="0"/>
              <a:t>But has the sinner’s heart changed?</a:t>
            </a:r>
          </a:p>
        </p:txBody>
      </p:sp>
      <p:sp>
        <p:nvSpPr>
          <p:cNvPr id="7" name="TextBox 6"/>
          <p:cNvSpPr txBox="1"/>
          <p:nvPr/>
        </p:nvSpPr>
        <p:spPr>
          <a:xfrm>
            <a:off x="387220" y="2463463"/>
            <a:ext cx="8001000" cy="1938992"/>
          </a:xfrm>
          <a:prstGeom prst="rect">
            <a:avLst/>
          </a:prstGeom>
          <a:noFill/>
        </p:spPr>
        <p:txBody>
          <a:bodyPr wrap="square" rtlCol="0">
            <a:spAutoFit/>
          </a:bodyPr>
          <a:lstStyle/>
          <a:p>
            <a:r>
              <a:rPr lang="en-US" sz="2000" i="1" dirty="0"/>
              <a:t>“</a:t>
            </a:r>
            <a:r>
              <a:rPr lang="en-US" sz="2000" b="1" i="1" dirty="0"/>
              <a:t>Sanctification</a:t>
            </a:r>
            <a:r>
              <a:rPr lang="en-US" sz="2000" i="1" dirty="0"/>
              <a:t>”  Romans 5:12 thru Romans 8</a:t>
            </a:r>
          </a:p>
          <a:p>
            <a:pPr marL="342900" indent="-342900">
              <a:buFont typeface="Arial" panose="020B0604020202020204" pitchFamily="34" charset="0"/>
              <a:buChar char="•"/>
            </a:pPr>
            <a:r>
              <a:rPr lang="en-US" sz="2000" dirty="0"/>
              <a:t>God has a plan within the context of Salvation whereby He not only </a:t>
            </a:r>
            <a:r>
              <a:rPr lang="en-US" sz="2000" b="1" dirty="0"/>
              <a:t>declares</a:t>
            </a:r>
            <a:r>
              <a:rPr lang="en-US" sz="2000" dirty="0"/>
              <a:t> a sinner righteous, but He is also going to </a:t>
            </a:r>
            <a:r>
              <a:rPr lang="en-US" sz="2000" b="1" dirty="0"/>
              <a:t>make</a:t>
            </a:r>
            <a:r>
              <a:rPr lang="en-US" sz="2000" dirty="0"/>
              <a:t> a sinner righteous.</a:t>
            </a:r>
          </a:p>
          <a:p>
            <a:pPr marL="342900" indent="-342900">
              <a:buFont typeface="Arial" panose="020B0604020202020204" pitchFamily="34" charset="0"/>
              <a:buChar char="•"/>
            </a:pPr>
            <a:r>
              <a:rPr lang="en-US" sz="2000" dirty="0"/>
              <a:t>A way that a sinner may grow in grace and thus become “set apart” for God.</a:t>
            </a:r>
          </a:p>
        </p:txBody>
      </p:sp>
      <p:sp>
        <p:nvSpPr>
          <p:cNvPr id="8" name="TextBox 7"/>
          <p:cNvSpPr txBox="1"/>
          <p:nvPr/>
        </p:nvSpPr>
        <p:spPr>
          <a:xfrm>
            <a:off x="387220" y="4495800"/>
            <a:ext cx="8375780" cy="1631216"/>
          </a:xfrm>
          <a:prstGeom prst="rect">
            <a:avLst/>
          </a:prstGeom>
          <a:noFill/>
        </p:spPr>
        <p:txBody>
          <a:bodyPr wrap="square" rtlCol="0">
            <a:spAutoFit/>
          </a:bodyPr>
          <a:lstStyle/>
          <a:p>
            <a:r>
              <a:rPr lang="en-US" sz="2000" i="1" dirty="0"/>
              <a:t>“</a:t>
            </a:r>
            <a:r>
              <a:rPr lang="en-US" sz="2000" b="1" i="1" dirty="0"/>
              <a:t>Begins in 5:12 thru 5:21</a:t>
            </a:r>
            <a:r>
              <a:rPr lang="en-US" sz="2000" i="1" dirty="0"/>
              <a:t>” </a:t>
            </a:r>
          </a:p>
          <a:p>
            <a:pPr marL="342900" indent="-342900">
              <a:buFont typeface="Arial" panose="020B0604020202020204" pitchFamily="34" charset="0"/>
              <a:buChar char="•"/>
            </a:pPr>
            <a:r>
              <a:rPr lang="en-US" sz="2000" dirty="0"/>
              <a:t>Contrasts our descent thru Adam with our present union with Christ.   </a:t>
            </a:r>
          </a:p>
          <a:p>
            <a:pPr marL="342900" indent="-342900">
              <a:buFont typeface="Arial" panose="020B0604020202020204" pitchFamily="34" charset="0"/>
              <a:buChar char="•"/>
            </a:pPr>
            <a:r>
              <a:rPr lang="en-US" sz="2000" dirty="0"/>
              <a:t>Imputation occurs through this union with Christ. (ascribe/account)</a:t>
            </a:r>
          </a:p>
          <a:p>
            <a:pPr marL="342900" indent="-342900">
              <a:buFont typeface="Arial" panose="020B0604020202020204" pitchFamily="34" charset="0"/>
              <a:buChar char="•"/>
            </a:pPr>
            <a:r>
              <a:rPr lang="en-US" sz="2000" dirty="0"/>
              <a:t>Adam; who is figure of Him who is to come.</a:t>
            </a:r>
          </a:p>
          <a:p>
            <a:pPr marL="800100" lvl="1" indent="-342900">
              <a:buFont typeface="Arial" panose="020B0604020202020204" pitchFamily="34" charset="0"/>
              <a:buChar char="•"/>
            </a:pPr>
            <a:r>
              <a:rPr lang="en-US" sz="2000" dirty="0"/>
              <a:t>1 Cor. 15:45-49;  </a:t>
            </a:r>
            <a:r>
              <a:rPr lang="en-US" sz="2000" dirty="0" err="1"/>
              <a:t>Eph</a:t>
            </a:r>
            <a:r>
              <a:rPr lang="en-US" sz="2000" dirty="0"/>
              <a:t> 5:25-32;  1 Tim 2:13-14</a:t>
            </a:r>
          </a:p>
        </p:txBody>
      </p:sp>
    </p:spTree>
    <p:extLst>
      <p:ext uri="{BB962C8B-B14F-4D97-AF65-F5344CB8AC3E}">
        <p14:creationId xmlns:p14="http://schemas.microsoft.com/office/powerpoint/2010/main" val="132893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13662</TotalTime>
  <Words>1750</Words>
  <Application>Microsoft Macintosh PowerPoint</Application>
  <PresentationFormat>On-screen Show (4:3)</PresentationFormat>
  <Paragraphs>150</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Arial Narrow</vt:lpstr>
      <vt:lpstr>Calibri</vt:lpstr>
      <vt:lpstr>Wingdings</vt:lpstr>
      <vt:lpstr>PPT_Template_2010SummerSchool</vt:lpstr>
      <vt:lpstr>1_UPCRC_Powerpoint_Template_with I-Mark</vt:lpstr>
      <vt:lpstr>Romans</vt:lpstr>
      <vt:lpstr>The Grace of God Revealed How the perfectly just LORD has forgiven sin…!</vt:lpstr>
      <vt:lpstr>GOD’s Intrinsic Motivation Why did God do this?   Because of His own character. </vt:lpstr>
      <vt:lpstr>What about the Here and Now? Now, the blessings of God flow to those Justified by Faith.</vt:lpstr>
      <vt:lpstr>What about the Here and Now? Now, the blessings of God flow to those Justified by Faith.</vt:lpstr>
      <vt:lpstr>What about the Here and Now? Now, the blessings of God flow to those Justified by Faith.</vt:lpstr>
      <vt:lpstr>What about the Here and Now? Why do Christians suffer trials and tribulations?</vt:lpstr>
      <vt:lpstr>What about the Here and Now? How far have we come in our relationship to God?</vt:lpstr>
      <vt:lpstr>What about the Here and Now? Qualifying further what Christ has done for us…</vt:lpstr>
      <vt:lpstr>What about the Here and Now? What next?  Sanctification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638</cp:revision>
  <cp:lastPrinted>2026-05-10T11:47:48Z</cp:lastPrinted>
  <dcterms:created xsi:type="dcterms:W3CDTF">2010-06-16T02:58:04Z</dcterms:created>
  <dcterms:modified xsi:type="dcterms:W3CDTF">2026-05-12T11:01:15Z</dcterms:modified>
</cp:coreProperties>
</file>