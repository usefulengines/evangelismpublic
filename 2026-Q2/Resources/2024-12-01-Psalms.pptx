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7"/>
  </p:notesMasterIdLst>
  <p:sldIdLst>
    <p:sldId id="395" r:id="rId3"/>
    <p:sldId id="428" r:id="rId4"/>
    <p:sldId id="442" r:id="rId5"/>
    <p:sldId id="547" r:id="rId6"/>
    <p:sldId id="548" r:id="rId7"/>
    <p:sldId id="549" r:id="rId8"/>
    <p:sldId id="542" r:id="rId9"/>
    <p:sldId id="550" r:id="rId10"/>
    <p:sldId id="551" r:id="rId11"/>
    <p:sldId id="552" r:id="rId12"/>
    <p:sldId id="553" r:id="rId13"/>
    <p:sldId id="393" r:id="rId14"/>
    <p:sldId id="444" r:id="rId15"/>
    <p:sldId id="526" r:id="rId16"/>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06" autoAdjust="0"/>
    <p:restoredTop sz="72449" autoAdjust="0"/>
  </p:normalViewPr>
  <p:slideViewPr>
    <p:cSldViewPr>
      <p:cViewPr varScale="1">
        <p:scale>
          <a:sx n="111" d="100"/>
          <a:sy n="111" d="100"/>
        </p:scale>
        <p:origin x="1710" y="13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4" cy="469265"/>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0"/>
            <a:ext cx="3076364" cy="469265"/>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14406"/>
            <a:ext cx="3076364" cy="469265"/>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Luke 24</a:t>
            </a:r>
          </a:p>
          <a:p>
            <a:r>
              <a:rPr lang="en-US" dirty="0"/>
              <a:t>Jesus himself gives the divine authorization for reading all of the Old Testament (including the Psalms) in reference to Him.</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52854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924720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endParaRPr lang="en-US" sz="1400" baseline="0" dirty="0"/>
          </a:p>
          <a:p>
            <a:endParaRPr lang="en-US" sz="1400" baseline="0" dirty="0"/>
          </a:p>
          <a:p>
            <a:pPr algn="ctr"/>
            <a:r>
              <a:rPr lang="en-US" sz="1400" b="1" i="1" dirty="0"/>
              <a:t>The Father, The Son, The Holy Spirit</a:t>
            </a:r>
          </a:p>
          <a:p>
            <a:endParaRPr lang="en-US" sz="1400" b="1" i="1" dirty="0"/>
          </a:p>
          <a:p>
            <a:r>
              <a:rPr lang="en-US" sz="1400" b="1" i="1" dirty="0"/>
              <a:t>“Therefore go and make disciples of all nations, baptizing them in the name of the </a:t>
            </a:r>
            <a:r>
              <a:rPr lang="en-US" sz="1400" b="1" i="1" u="sng" dirty="0"/>
              <a:t>Father and the Son and the Holy Spirit</a:t>
            </a:r>
            <a:r>
              <a:rPr lang="en-US" sz="1400" b="1" i="1" dirty="0"/>
              <a:t>, teaching them to obey everything I have commanded you.  And remember, I am with you always, to the end of the age.” </a:t>
            </a:r>
          </a:p>
          <a:p>
            <a:r>
              <a:rPr lang="en-US" sz="1400" b="1" i="1" dirty="0"/>
              <a:t> </a:t>
            </a:r>
          </a:p>
          <a:p>
            <a:r>
              <a:rPr lang="en-US" sz="1400" b="1" i="1" dirty="0"/>
              <a:t>Matthew 28:19</a:t>
            </a:r>
          </a:p>
          <a:p>
            <a:endParaRPr lang="en-US" sz="1400" baseline="0" dirty="0"/>
          </a:p>
          <a:p>
            <a:endParaRPr lang="en-US" sz="1400" baseline="0" dirty="0"/>
          </a:p>
          <a:p>
            <a:endParaRPr lang="en-US" sz="1400" baseline="0" dirty="0"/>
          </a:p>
          <a:p>
            <a:pPr algn="ctr"/>
            <a:r>
              <a:rPr lang="en-US" sz="1400" b="1" i="1" dirty="0"/>
              <a:t>The Father with the Holy Spirit</a:t>
            </a:r>
          </a:p>
          <a:p>
            <a:endParaRPr lang="en-US" sz="1400" b="1" i="1" dirty="0"/>
          </a:p>
          <a:p>
            <a:r>
              <a:rPr lang="en-US" sz="1400" b="1" i="1" dirty="0"/>
              <a:t>“But the Advocate, the Holy Spirit, whom the Father will send in my name, will teach you everything and will cause you to remember everything I said to you.” </a:t>
            </a:r>
          </a:p>
          <a:p>
            <a:r>
              <a:rPr lang="en-US" sz="1400" b="1" i="1" dirty="0"/>
              <a:t> </a:t>
            </a:r>
          </a:p>
          <a:p>
            <a:r>
              <a:rPr lang="en-US" sz="1400" b="1" i="1" dirty="0"/>
              <a:t>John 14:26</a:t>
            </a:r>
          </a:p>
          <a:p>
            <a:endParaRPr lang="en-US" sz="1400" baseline="0" dirty="0"/>
          </a:p>
          <a:p>
            <a:endParaRPr lang="en-US" sz="1400" baseline="0" dirty="0"/>
          </a:p>
          <a:p>
            <a:endParaRPr lang="en-US" sz="1400" baseline="0" dirty="0"/>
          </a:p>
          <a:p>
            <a:endParaRPr lang="en-US" sz="1400" dirty="0"/>
          </a:p>
          <a:p>
            <a:pPr algn="ctr"/>
            <a:r>
              <a:rPr lang="en-US" sz="1400" b="1" i="1" dirty="0"/>
              <a:t>The Father with the Son</a:t>
            </a:r>
          </a:p>
          <a:p>
            <a:endParaRPr lang="en-US" sz="1400" b="1" i="1" dirty="0"/>
          </a:p>
          <a:p>
            <a:r>
              <a:rPr lang="en-US" sz="1400" b="1" i="1" dirty="0"/>
              <a:t>“The Father and I are one.”   John 10:30</a:t>
            </a:r>
          </a:p>
          <a:p>
            <a:endParaRPr lang="en-US" sz="1400" b="1" i="1" dirty="0"/>
          </a:p>
          <a:p>
            <a:r>
              <a:rPr lang="en-US" sz="1400" b="1" i="1" dirty="0"/>
              <a:t>“So Jesus said to them again, ‘Peace be with you. Just as the Father has sent me, I also send you.’”   John 20:21</a:t>
            </a:r>
          </a:p>
          <a:p>
            <a:endParaRPr lang="en-US" sz="1400" dirty="0"/>
          </a:p>
          <a:p>
            <a:endParaRPr lang="en-US" sz="1400" dirty="0"/>
          </a:p>
          <a:p>
            <a:endParaRPr lang="en-US" sz="1400" dirty="0"/>
          </a:p>
          <a:p>
            <a:pPr algn="ctr"/>
            <a:r>
              <a:rPr lang="en-US" sz="1400" b="1" i="1" dirty="0"/>
              <a:t>The Son with the Holy Spirit</a:t>
            </a:r>
          </a:p>
          <a:p>
            <a:endParaRPr lang="en-US" sz="1400" b="1" i="1" dirty="0"/>
          </a:p>
          <a:p>
            <a:r>
              <a:rPr lang="en-US" sz="1400" b="1" i="1" dirty="0"/>
              <a:t>“But I tell you the truth, it is to your advantage that I am going away. For if I do not go away, the Advocate will not come to you, but if I go, I will send Him to you. And when He comes, He will prove the world wrong concerning sin and righteousness and judgment…” </a:t>
            </a:r>
          </a:p>
          <a:p>
            <a:r>
              <a:rPr lang="en-US" sz="1400" b="1" i="1" dirty="0"/>
              <a:t> </a:t>
            </a:r>
          </a:p>
          <a:p>
            <a:r>
              <a:rPr lang="en-US" sz="1400" b="1" i="1" dirty="0"/>
              <a:t>John 16:7-8</a:t>
            </a:r>
          </a:p>
          <a:p>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2344099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8BD6-0186-C74C-8731-740A05B7E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7B020-738D-8A0E-5DBC-14C0B1E61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DA4B1-2074-A112-D6CE-98680C4300F3}"/>
              </a:ext>
            </a:extLst>
          </p:cNvPr>
          <p:cNvSpPr>
            <a:spLocks noGrp="1"/>
          </p:cNvSpPr>
          <p:nvPr>
            <p:ph type="body" idx="1"/>
          </p:nvPr>
        </p:nvSpPr>
        <p:spPr/>
        <p:txBody>
          <a:bodyPr>
            <a:normAutofit/>
          </a:bodyPr>
          <a:lstStyle/>
          <a:p>
            <a:endParaRPr lang="en-US" b="1"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t>Psalm 139 – God’s Intimate Knowledge </a:t>
            </a:r>
            <a:r>
              <a:rPr lang="en-US" b="1"/>
              <a:t>and Presence</a:t>
            </a:r>
          </a:p>
          <a:p>
            <a:endParaRPr lang="en-US" dirty="0"/>
          </a:p>
        </p:txBody>
      </p:sp>
      <p:sp>
        <p:nvSpPr>
          <p:cNvPr id="4" name="Slide Number Placeholder 3">
            <a:extLst>
              <a:ext uri="{FF2B5EF4-FFF2-40B4-BE49-F238E27FC236}">
                <a16:creationId xmlns:a16="http://schemas.microsoft.com/office/drawing/2014/main" id="{550FAA13-CDFA-BDB6-7F94-33DF3C8170D2}"/>
              </a:ext>
            </a:extLst>
          </p:cNvPr>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443093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4591-1C50-BAB1-54F9-F0EAE79CC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64D08-DCF9-148C-A1F9-370F43E5D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7E16B-8C74-E487-9FE7-BFBC703F6FBB}"/>
              </a:ext>
            </a:extLst>
          </p:cNvPr>
          <p:cNvSpPr>
            <a:spLocks noGrp="1"/>
          </p:cNvSpPr>
          <p:nvPr>
            <p:ph type="body" idx="1"/>
          </p:nvPr>
        </p:nvSpPr>
        <p:spPr/>
        <p:txBody>
          <a:bodyPr>
            <a:normAutofit/>
          </a:bodyPr>
          <a:lstStyle/>
          <a:p>
            <a:endParaRPr lang="en-US" b="1" dirty="0"/>
          </a:p>
          <a:p>
            <a:r>
              <a:rPr lang="en-US" b="1" dirty="0"/>
              <a:t>Psalm 133 – The Beauty of Unity Among God’s People</a:t>
            </a:r>
          </a:p>
          <a:p>
            <a:endParaRPr lang="en-US" b="1" dirty="0"/>
          </a:p>
          <a:p>
            <a:endParaRPr lang="en-US" dirty="0"/>
          </a:p>
        </p:txBody>
      </p:sp>
      <p:sp>
        <p:nvSpPr>
          <p:cNvPr id="4" name="Slide Number Placeholder 3">
            <a:extLst>
              <a:ext uri="{FF2B5EF4-FFF2-40B4-BE49-F238E27FC236}">
                <a16:creationId xmlns:a16="http://schemas.microsoft.com/office/drawing/2014/main" id="{160EE7E7-DB6B-55C9-261E-7CF2BE99D2A0}"/>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4058936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B480E-65CB-61FE-0058-5557F167A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65044-B9E9-A070-A96D-E0E31EA10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D69D8-26F4-D71B-39C8-94E8405D0E7C}"/>
              </a:ext>
            </a:extLst>
          </p:cNvPr>
          <p:cNvSpPr>
            <a:spLocks noGrp="1"/>
          </p:cNvSpPr>
          <p:nvPr>
            <p:ph type="body" idx="1"/>
          </p:nvPr>
        </p:nvSpPr>
        <p:spPr/>
        <p:txBody>
          <a:bodyPr>
            <a:normAutofit/>
          </a:bodyPr>
          <a:lstStyle/>
          <a:p>
            <a:endParaRPr lang="en-US" dirty="0"/>
          </a:p>
          <a:p>
            <a:r>
              <a:rPr lang="en-US" b="1" dirty="0"/>
              <a:t>Psalm 16 – The Joy of God’s Presence</a:t>
            </a:r>
          </a:p>
          <a:p>
            <a:endParaRPr lang="en-US" dirty="0"/>
          </a:p>
          <a:p>
            <a:endParaRPr lang="en-US" dirty="0"/>
          </a:p>
        </p:txBody>
      </p:sp>
      <p:sp>
        <p:nvSpPr>
          <p:cNvPr id="4" name="Slide Number Placeholder 3">
            <a:extLst>
              <a:ext uri="{FF2B5EF4-FFF2-40B4-BE49-F238E27FC236}">
                <a16:creationId xmlns:a16="http://schemas.microsoft.com/office/drawing/2014/main" id="{3EAE36DB-B009-75C8-C216-41935466BDDD}"/>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4186030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fontScale="62500" lnSpcReduction="20000"/>
          </a:bodyPr>
          <a:lstStyle/>
          <a:p>
            <a:endParaRPr lang="en-US" dirty="0"/>
          </a:p>
          <a:p>
            <a:r>
              <a:rPr lang="en-US" sz="1400" dirty="0"/>
              <a:t>This union is both spiritual and relational, marking Christianity as a faith rooted in a living relationship with God.</a:t>
            </a:r>
          </a:p>
          <a:p>
            <a:endParaRPr lang="en-US" sz="1400" dirty="0"/>
          </a:p>
          <a:p>
            <a:r>
              <a:rPr lang="en-US" sz="1400" dirty="0"/>
              <a:t>- </a:t>
            </a:r>
            <a:r>
              <a:rPr lang="en-US" sz="1400" b="1" dirty="0"/>
              <a:t>John 15:5</a:t>
            </a:r>
            <a:r>
              <a:rPr lang="en-US" sz="1400" dirty="0"/>
              <a:t>: "I am the vine; you are the branches. If you remain in me and I in you, you will bear much fruit; apart from me you can do nothing."</a:t>
            </a:r>
          </a:p>
          <a:p>
            <a:r>
              <a:rPr lang="en-US" sz="1400" dirty="0"/>
              <a:t>   - </a:t>
            </a:r>
            <a:r>
              <a:rPr lang="en-US" sz="1400" b="1" dirty="0"/>
              <a:t>Illustrates the intimate connection between believers and Christ, emphasizing dependence on Him for spiritual life.</a:t>
            </a:r>
          </a:p>
          <a:p>
            <a:endParaRPr lang="en-US" sz="1400" dirty="0"/>
          </a:p>
          <a:p>
            <a:r>
              <a:rPr lang="en-US" sz="1400" dirty="0"/>
              <a:t>- </a:t>
            </a:r>
            <a:r>
              <a:rPr lang="en-US" sz="1400" b="1" dirty="0"/>
              <a:t>Galatians 2:20</a:t>
            </a:r>
            <a:r>
              <a:rPr lang="en-US" sz="1400" dirty="0"/>
              <a:t>: "I have been crucified with Christ and I no longer live, but Christ lives in me."</a:t>
            </a:r>
          </a:p>
          <a:p>
            <a:r>
              <a:rPr lang="en-US" sz="1400" dirty="0"/>
              <a:t>   - </a:t>
            </a:r>
            <a:r>
              <a:rPr lang="en-US" sz="1400" b="1" dirty="0"/>
              <a:t>Highlights the transformative reality of being united with Christ.</a:t>
            </a:r>
          </a:p>
          <a:p>
            <a:endParaRPr lang="en-US" sz="1400" dirty="0"/>
          </a:p>
          <a:p>
            <a:r>
              <a:rPr lang="en-US" sz="1400" dirty="0"/>
              <a:t>- </a:t>
            </a:r>
            <a:r>
              <a:rPr lang="en-US" sz="1400" b="1" dirty="0"/>
              <a:t>Colossians 1:27</a:t>
            </a:r>
            <a:r>
              <a:rPr lang="en-US" sz="1400" dirty="0"/>
              <a:t>: "Christ in you, the hope of glory."</a:t>
            </a:r>
          </a:p>
          <a:p>
            <a:r>
              <a:rPr lang="en-US" sz="1400" dirty="0"/>
              <a:t>   - </a:t>
            </a:r>
            <a:r>
              <a:rPr lang="en-US" sz="1400" b="1" dirty="0"/>
              <a:t>Speaks of the indwelling presence of Christ as the basis for eternal hope.</a:t>
            </a:r>
          </a:p>
          <a:p>
            <a:endParaRPr lang="en-US" sz="1400" dirty="0"/>
          </a:p>
          <a:p>
            <a:r>
              <a:rPr lang="en-US" sz="1400" dirty="0"/>
              <a:t>--------- Relevant Psalms</a:t>
            </a:r>
          </a:p>
          <a:p>
            <a:endParaRPr lang="en-US" sz="1400" dirty="0"/>
          </a:p>
          <a:p>
            <a:r>
              <a:rPr lang="en-US" sz="1400" dirty="0"/>
              <a:t>- </a:t>
            </a:r>
            <a:r>
              <a:rPr lang="en-US" sz="1400" b="1" dirty="0"/>
              <a:t>Psalm 139:7-10 </a:t>
            </a:r>
            <a:r>
              <a:rPr lang="en-US" sz="1400" dirty="0"/>
              <a:t>"Where can I go from your Spirit? Where can I flee from your presence? If I go up to the heavens, you are there; if I make my bed in the depths, you are there. If I rise on the wings of the dawn, if I settle on the far side of the sea, even there your hand will guide me, your right hand will hold me fast."</a:t>
            </a:r>
          </a:p>
          <a:p>
            <a:r>
              <a:rPr lang="en-US" sz="1400" dirty="0"/>
              <a:t>   - </a:t>
            </a:r>
            <a:r>
              <a:rPr lang="en-US" sz="1400" b="1" dirty="0"/>
              <a:t>Affirms God’s intimate and omnipresent relationship with His people, a cornerstone of the mystical union.</a:t>
            </a:r>
          </a:p>
          <a:p>
            <a:endParaRPr lang="en-US" sz="1400" dirty="0"/>
          </a:p>
          <a:p>
            <a:r>
              <a:rPr lang="en-US" sz="1400" dirty="0"/>
              <a:t>- </a:t>
            </a:r>
            <a:r>
              <a:rPr lang="en-US" sz="1400" b="1" dirty="0"/>
              <a:t>Psalm 73:23-26 </a:t>
            </a:r>
            <a:r>
              <a:rPr lang="en-US" sz="1400" dirty="0"/>
              <a:t>"Yet I am always with you; you hold me by my right hand. You guide me with your counsel, and afterward you will take me into glory. Whom have I in heaven but you? And earth has nothing I desire besides you."</a:t>
            </a:r>
          </a:p>
          <a:p>
            <a:r>
              <a:rPr lang="en-US" sz="1400" dirty="0"/>
              <a:t>   - </a:t>
            </a:r>
            <a:r>
              <a:rPr lang="en-US" sz="1400" b="1" dirty="0"/>
              <a:t>Expresses the believer's deep, personal connection with God as their ultimate source of strength and guidance</a:t>
            </a:r>
            <a:r>
              <a:rPr lang="en-US" sz="1400" dirty="0"/>
              <a:t>.</a:t>
            </a:r>
          </a:p>
          <a:p>
            <a:endParaRPr lang="en-US" sz="1400" dirty="0"/>
          </a:p>
          <a:p>
            <a:r>
              <a:rPr lang="en-US" sz="1400" dirty="0"/>
              <a:t>- </a:t>
            </a:r>
            <a:r>
              <a:rPr lang="en-US" sz="1400" b="1" dirty="0"/>
              <a:t>Psalm 16:8 </a:t>
            </a:r>
            <a:r>
              <a:rPr lang="en-US" sz="1400" dirty="0"/>
              <a:t>"I keep my eyes always on the LORD. With him at my right hand, I will not be shaken."</a:t>
            </a:r>
          </a:p>
          <a:p>
            <a:r>
              <a:rPr lang="en-US" sz="1400" dirty="0"/>
              <a:t>   - </a:t>
            </a:r>
            <a:r>
              <a:rPr lang="en-US" sz="1400" b="1" dirty="0"/>
              <a:t>Emphasizes the stability and confidence that come from remaining close to God.</a:t>
            </a:r>
          </a:p>
          <a:p>
            <a:endParaRPr lang="en-US"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A52CE-1F35-95A5-D1D4-1AB13BD2B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D7E01-775E-1B0F-A224-E050583B8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DE94C-84FB-ED80-21C8-5E02C201E9A2}"/>
              </a:ext>
            </a:extLst>
          </p:cNvPr>
          <p:cNvSpPr>
            <a:spLocks noGrp="1"/>
          </p:cNvSpPr>
          <p:nvPr>
            <p:ph type="body" idx="1"/>
          </p:nvPr>
        </p:nvSpPr>
        <p:spPr/>
        <p:txBody>
          <a:bodyPr>
            <a:normAutofit fontScale="62500" lnSpcReduction="20000"/>
          </a:bodyPr>
          <a:lstStyle/>
          <a:p>
            <a:r>
              <a:rPr lang="en-US" sz="1400" dirty="0">
                <a:latin typeface="+mn-lt"/>
              </a:rPr>
              <a:t>The Church is described as the Bride of Christ (</a:t>
            </a:r>
            <a:r>
              <a:rPr lang="en-US" sz="1400" b="1" dirty="0">
                <a:latin typeface="+mn-lt"/>
              </a:rPr>
              <a:t>Revelation 19:7-8</a:t>
            </a:r>
            <a:r>
              <a:rPr lang="en-US" sz="1400" dirty="0">
                <a:latin typeface="+mn-lt"/>
              </a:rPr>
              <a:t>) and the Body of Christ (</a:t>
            </a:r>
            <a:r>
              <a:rPr lang="en-US" sz="1400" b="1" dirty="0">
                <a:latin typeface="+mn-lt"/>
              </a:rPr>
              <a:t>1 Corinthians 12:27</a:t>
            </a:r>
            <a:r>
              <a:rPr lang="en-US" sz="1400" dirty="0">
                <a:latin typeface="+mn-lt"/>
              </a:rPr>
              <a:t>), illustrating the profound collective relationship with Christ.</a:t>
            </a:r>
          </a:p>
          <a:p>
            <a:endParaRPr lang="en-US" sz="1400" dirty="0">
              <a:latin typeface="+mn-lt"/>
            </a:endParaRPr>
          </a:p>
          <a:p>
            <a:r>
              <a:rPr lang="en-US" sz="1400" dirty="0">
                <a:latin typeface="+mn-lt"/>
              </a:rPr>
              <a:t>- </a:t>
            </a:r>
            <a:r>
              <a:rPr lang="en-US" sz="1400" b="1" dirty="0">
                <a:latin typeface="+mn-lt"/>
              </a:rPr>
              <a:t>1 Corinthians 12:12-13 </a:t>
            </a:r>
            <a:r>
              <a:rPr lang="en-US" sz="1400" dirty="0">
                <a:latin typeface="+mn-lt"/>
              </a:rPr>
              <a:t>: "Just as a body, though one, has many parts, but all its many parts form one body, so it is with Christ. For we were all baptized by one Spirit so as to form one body."</a:t>
            </a:r>
          </a:p>
          <a:p>
            <a:r>
              <a:rPr lang="en-US" sz="1400" dirty="0">
                <a:latin typeface="+mn-lt"/>
              </a:rPr>
              <a:t>   - </a:t>
            </a:r>
            <a:r>
              <a:rPr lang="en-US" sz="1400" b="1" dirty="0">
                <a:latin typeface="+mn-lt"/>
              </a:rPr>
              <a:t>Emphasizes the collective unity of believers as the Body of Christ.</a:t>
            </a:r>
          </a:p>
          <a:p>
            <a:endParaRPr lang="en-US" sz="1400" dirty="0">
              <a:latin typeface="+mn-lt"/>
            </a:endParaRPr>
          </a:p>
          <a:p>
            <a:r>
              <a:rPr lang="en-US" sz="1400" dirty="0">
                <a:latin typeface="+mn-lt"/>
              </a:rPr>
              <a:t>- </a:t>
            </a:r>
            <a:r>
              <a:rPr lang="en-US" sz="1400" b="1" dirty="0">
                <a:latin typeface="+mn-lt"/>
              </a:rPr>
              <a:t>Ephesians 5:25-27 </a:t>
            </a:r>
            <a:r>
              <a:rPr lang="en-US" sz="1400" dirty="0">
                <a:latin typeface="+mn-lt"/>
              </a:rPr>
              <a:t>: "Husbands, love your wives, just as Christ loved the church and gave himself up for her to make her holy."</a:t>
            </a:r>
          </a:p>
          <a:p>
            <a:r>
              <a:rPr lang="en-US" sz="1400" dirty="0">
                <a:latin typeface="+mn-lt"/>
              </a:rPr>
              <a:t>   - </a:t>
            </a:r>
            <a:r>
              <a:rPr lang="en-US" sz="1400" b="1" dirty="0">
                <a:latin typeface="+mn-lt"/>
              </a:rPr>
              <a:t>Portrays Christ’s sacrificial love for the Church, reinforcing the idea of corporate oneness.</a:t>
            </a:r>
          </a:p>
          <a:p>
            <a:endParaRPr lang="en-US" sz="1400" dirty="0">
              <a:latin typeface="+mn-lt"/>
            </a:endParaRPr>
          </a:p>
          <a:p>
            <a:r>
              <a:rPr lang="en-US" sz="1400" dirty="0">
                <a:latin typeface="+mn-lt"/>
              </a:rPr>
              <a:t>- </a:t>
            </a:r>
            <a:r>
              <a:rPr lang="en-US" sz="1400" b="1" dirty="0">
                <a:latin typeface="+mn-lt"/>
              </a:rPr>
              <a:t>John 17:20-21 </a:t>
            </a:r>
            <a:r>
              <a:rPr lang="en-US" sz="1400" dirty="0">
                <a:latin typeface="+mn-lt"/>
              </a:rPr>
              <a:t>: "My prayer is not for them alone. I pray also for those who will believe in me through their message, that all of them may be one, Father, just as you are in me and I am in you."</a:t>
            </a:r>
          </a:p>
          <a:p>
            <a:r>
              <a:rPr lang="en-US" sz="1400" dirty="0">
                <a:latin typeface="+mn-lt"/>
              </a:rPr>
              <a:t>   - </a:t>
            </a:r>
            <a:r>
              <a:rPr lang="en-US" sz="1400" b="1" dirty="0">
                <a:latin typeface="+mn-lt"/>
              </a:rPr>
              <a:t>Reflects Jesus’ desire for unity among believers, mirroring the unity within the Trinity.</a:t>
            </a:r>
          </a:p>
          <a:p>
            <a:endParaRPr lang="en-US" sz="1400" dirty="0">
              <a:latin typeface="+mn-lt"/>
            </a:endParaRPr>
          </a:p>
          <a:p>
            <a:r>
              <a:rPr lang="en-US" sz="1400" dirty="0">
                <a:latin typeface="+mn-lt"/>
              </a:rPr>
              <a:t>------------ Relevant Psalms</a:t>
            </a:r>
          </a:p>
          <a:p>
            <a:endParaRPr lang="en-US" sz="1400" dirty="0">
              <a:latin typeface="+mn-lt"/>
            </a:endParaRPr>
          </a:p>
          <a:p>
            <a:r>
              <a:rPr lang="en-US" sz="1400" dirty="0">
                <a:latin typeface="+mn-lt"/>
              </a:rPr>
              <a:t>- </a:t>
            </a:r>
            <a:r>
              <a:rPr lang="en-US" sz="1400" b="1" dirty="0">
                <a:latin typeface="+mn-lt"/>
              </a:rPr>
              <a:t>Psalm 133:1 </a:t>
            </a:r>
            <a:r>
              <a:rPr lang="en-US" sz="1400" dirty="0">
                <a:latin typeface="+mn-lt"/>
              </a:rPr>
              <a:t>"How good and pleasant it is when God’s people live together in unity!"</a:t>
            </a:r>
          </a:p>
          <a:p>
            <a:r>
              <a:rPr lang="en-US" sz="1400" dirty="0">
                <a:latin typeface="+mn-lt"/>
              </a:rPr>
              <a:t>   - </a:t>
            </a:r>
            <a:r>
              <a:rPr lang="en-US" sz="1400" b="1" dirty="0">
                <a:latin typeface="+mn-lt"/>
              </a:rPr>
              <a:t>Reflects the unity of believers, paralleling the oneness of Christ and the Church.</a:t>
            </a:r>
          </a:p>
          <a:p>
            <a:endParaRPr lang="en-US" sz="1400" dirty="0">
              <a:latin typeface="+mn-lt"/>
            </a:endParaRPr>
          </a:p>
          <a:p>
            <a:r>
              <a:rPr lang="en-US" sz="1400" dirty="0">
                <a:latin typeface="+mn-lt"/>
              </a:rPr>
              <a:t>- </a:t>
            </a:r>
            <a:r>
              <a:rPr lang="en-US" sz="1400" b="1" dirty="0">
                <a:latin typeface="+mn-lt"/>
              </a:rPr>
              <a:t>Psalm 22:22-25 </a:t>
            </a:r>
            <a:r>
              <a:rPr lang="en-US" sz="1400" dirty="0">
                <a:latin typeface="+mn-lt"/>
              </a:rPr>
              <a:t>"I will declare your name to my people; in the assembly I will praise you. You who fear the LORD, praise him!"</a:t>
            </a:r>
          </a:p>
          <a:p>
            <a:r>
              <a:rPr lang="en-US" sz="1400" dirty="0">
                <a:latin typeface="+mn-lt"/>
              </a:rPr>
              <a:t>   - </a:t>
            </a:r>
            <a:r>
              <a:rPr lang="en-US" sz="1400" b="1" dirty="0">
                <a:latin typeface="+mn-lt"/>
              </a:rPr>
              <a:t>Highlights the collective worship and unity of God’s people as the Body of Christ.</a:t>
            </a:r>
          </a:p>
          <a:p>
            <a:endParaRPr lang="en-US" sz="1400" dirty="0">
              <a:latin typeface="+mn-lt"/>
            </a:endParaRPr>
          </a:p>
          <a:p>
            <a:r>
              <a:rPr lang="en-US" sz="1400" dirty="0">
                <a:latin typeface="+mn-lt"/>
              </a:rPr>
              <a:t>- </a:t>
            </a:r>
            <a:r>
              <a:rPr lang="en-US" sz="1400" b="1" dirty="0">
                <a:latin typeface="+mn-lt"/>
              </a:rPr>
              <a:t>Psalm 87:3-5 </a:t>
            </a:r>
            <a:r>
              <a:rPr lang="en-US" sz="1400" dirty="0">
                <a:latin typeface="+mn-lt"/>
              </a:rPr>
              <a:t>"Glorious things are said of you, city of God: 'I will record Rahab and Babylon among those who acknowledge me—Philistia too, and </a:t>
            </a:r>
            <a:r>
              <a:rPr lang="en-US" sz="1400" dirty="0" err="1">
                <a:latin typeface="+mn-lt"/>
              </a:rPr>
              <a:t>Tyre</a:t>
            </a:r>
            <a:r>
              <a:rPr lang="en-US" sz="1400" dirty="0">
                <a:latin typeface="+mn-lt"/>
              </a:rPr>
              <a:t>, along with Cush—and will say, ‘This one was born in Zion.’ Indeed, of Zion it will be said, 'This one and that one were born in her, and the Most High himself will establish her.'"</a:t>
            </a:r>
          </a:p>
          <a:p>
            <a:r>
              <a:rPr lang="en-US" sz="1400" dirty="0">
                <a:latin typeface="+mn-lt"/>
              </a:rPr>
              <a:t>   - </a:t>
            </a:r>
            <a:r>
              <a:rPr lang="en-US" sz="1400" b="1" dirty="0">
                <a:latin typeface="+mn-lt"/>
              </a:rPr>
              <a:t>Celebrates the communal relationship of God’s people, connected as citizens of His kingdom.</a:t>
            </a:r>
          </a:p>
          <a:p>
            <a:endParaRPr lang="en-US" dirty="0"/>
          </a:p>
        </p:txBody>
      </p:sp>
      <p:sp>
        <p:nvSpPr>
          <p:cNvPr id="4" name="Slide Number Placeholder 3">
            <a:extLst>
              <a:ext uri="{FF2B5EF4-FFF2-40B4-BE49-F238E27FC236}">
                <a16:creationId xmlns:a16="http://schemas.microsoft.com/office/drawing/2014/main" id="{B418FAB2-DE84-C955-E043-78C23835B3F5}"/>
              </a:ext>
            </a:extLst>
          </p:cNvPr>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737863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E9B1F-2944-AD69-1A43-310F69FBB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0008B-58A5-E6A7-EF41-14D2B3246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0C7E4-55D3-16CA-62B0-A15101CB52E7}"/>
              </a:ext>
            </a:extLst>
          </p:cNvPr>
          <p:cNvSpPr>
            <a:spLocks noGrp="1"/>
          </p:cNvSpPr>
          <p:nvPr>
            <p:ph type="body" idx="1"/>
          </p:nvPr>
        </p:nvSpPr>
        <p:spPr/>
        <p:txBody>
          <a:bodyPr>
            <a:normAutofit fontScale="62500" lnSpcReduction="20000"/>
          </a:bodyPr>
          <a:lstStyle/>
          <a:p>
            <a:endParaRPr lang="en-US" dirty="0"/>
          </a:p>
          <a:p>
            <a:r>
              <a:rPr lang="en-US" sz="1400" dirty="0"/>
              <a:t>Marriage serves as an earthly symbol of the divine relationship between Christ and His Church.</a:t>
            </a:r>
          </a:p>
          <a:p>
            <a:endParaRPr lang="en-US" sz="1400" dirty="0"/>
          </a:p>
          <a:p>
            <a:r>
              <a:rPr lang="en-US" sz="1400" dirty="0"/>
              <a:t>-  </a:t>
            </a:r>
            <a:r>
              <a:rPr lang="en-US" sz="1400" b="1" dirty="0"/>
              <a:t>Ephesians 5:31-32 </a:t>
            </a:r>
            <a:r>
              <a:rPr lang="en-US" sz="1400" dirty="0"/>
              <a:t>: "For this reason a man will leave his father and mother and be united to his wife, and the two will become one flesh. This is a profound mystery—but I am talking about Christ and the church."</a:t>
            </a:r>
          </a:p>
          <a:p>
            <a:r>
              <a:rPr lang="en-US" sz="1400" dirty="0"/>
              <a:t>   - </a:t>
            </a:r>
            <a:r>
              <a:rPr lang="en-US" sz="1400" b="1" dirty="0"/>
              <a:t>Links the marital relationship to the union between Christ and the Church.</a:t>
            </a:r>
          </a:p>
          <a:p>
            <a:endParaRPr lang="en-US" sz="1400" dirty="0"/>
          </a:p>
          <a:p>
            <a:r>
              <a:rPr lang="en-US" sz="1400" dirty="0"/>
              <a:t>-  </a:t>
            </a:r>
            <a:r>
              <a:rPr lang="en-US" sz="1400" b="1" dirty="0"/>
              <a:t>Genesis 2:24 </a:t>
            </a:r>
            <a:r>
              <a:rPr lang="en-US" sz="1400" dirty="0"/>
              <a:t>: "That is why a man leaves his father and mother and is united to his wife, and they become one flesh."</a:t>
            </a:r>
          </a:p>
          <a:p>
            <a:r>
              <a:rPr lang="en-US" sz="1400" dirty="0"/>
              <a:t>   - </a:t>
            </a:r>
            <a:r>
              <a:rPr lang="en-US" sz="1400" b="1" dirty="0"/>
              <a:t>Establishes the foundational principle of marital oneness.</a:t>
            </a:r>
          </a:p>
          <a:p>
            <a:endParaRPr lang="en-US" sz="1400" dirty="0"/>
          </a:p>
          <a:p>
            <a:r>
              <a:rPr lang="en-US" sz="1400" dirty="0"/>
              <a:t>-  </a:t>
            </a:r>
            <a:r>
              <a:rPr lang="en-US" sz="1400" b="1" dirty="0"/>
              <a:t>Matthew 19:5-6 </a:t>
            </a:r>
            <a:r>
              <a:rPr lang="en-US" sz="1400" dirty="0"/>
              <a:t>: "So they are no longer two, but one flesh. Therefore what God has joined together, let no one separate."</a:t>
            </a:r>
          </a:p>
          <a:p>
            <a:r>
              <a:rPr lang="en-US" sz="1400" dirty="0"/>
              <a:t>   - </a:t>
            </a:r>
            <a:r>
              <a:rPr lang="en-US" sz="1400" b="1" dirty="0"/>
              <a:t>Reinforces the sanctity of the marital bond, reflecting God’s intended unity.</a:t>
            </a:r>
          </a:p>
          <a:p>
            <a:endParaRPr lang="en-US" sz="1400" dirty="0"/>
          </a:p>
          <a:p>
            <a:r>
              <a:rPr lang="en-US" sz="1400" dirty="0"/>
              <a:t>----------------- Relevant Psalms</a:t>
            </a:r>
          </a:p>
          <a:p>
            <a:endParaRPr lang="en-US" sz="1400" dirty="0"/>
          </a:p>
          <a:p>
            <a:r>
              <a:rPr lang="en-US" sz="1400" dirty="0"/>
              <a:t>- </a:t>
            </a:r>
            <a:r>
              <a:rPr lang="en-US" sz="1400" b="1" dirty="0"/>
              <a:t>Psalm 45:6-7  </a:t>
            </a:r>
            <a:r>
              <a:rPr lang="en-US" sz="1400" dirty="0"/>
              <a:t>"Your throne, O God, will last forever and ever; a scepter of justice will be the scepter of your kingdom. You love righteousness and hate wickedness; therefore God, your God, has set you above your companions by anointing you with the oil of joy."</a:t>
            </a:r>
          </a:p>
          <a:p>
            <a:r>
              <a:rPr lang="en-US" sz="1400" dirty="0"/>
              <a:t>   - </a:t>
            </a:r>
            <a:r>
              <a:rPr lang="en-US" sz="1400" b="1" dirty="0"/>
              <a:t>While a royal psalm, it is often seen as reflecting the relationship between Christ (the Bridegroom) and His Church (the Bride).</a:t>
            </a:r>
          </a:p>
          <a:p>
            <a:endParaRPr lang="en-US" sz="1400" dirty="0"/>
          </a:p>
          <a:p>
            <a:r>
              <a:rPr lang="en-US" sz="1400" dirty="0"/>
              <a:t>- </a:t>
            </a:r>
            <a:r>
              <a:rPr lang="en-US" sz="1400" b="1" dirty="0"/>
              <a:t>Psalm 128:3-4 </a:t>
            </a:r>
            <a:r>
              <a:rPr lang="en-US" sz="1400" dirty="0"/>
              <a:t>"Your wife will be like a fruitful vine within your house; your children will be like olive shoots around your table. Yes, this will be the blessing for the man who fears the LORD."</a:t>
            </a:r>
          </a:p>
          <a:p>
            <a:r>
              <a:rPr lang="en-US" sz="1400" dirty="0"/>
              <a:t>   - </a:t>
            </a:r>
            <a:r>
              <a:rPr lang="en-US" sz="1400" b="1" dirty="0"/>
              <a:t>Celebrates the harmony and unity of a God-centered marriage, symbolizing the deeper union of Christ and His Church.</a:t>
            </a:r>
          </a:p>
        </p:txBody>
      </p:sp>
      <p:sp>
        <p:nvSpPr>
          <p:cNvPr id="4" name="Slide Number Placeholder 3">
            <a:extLst>
              <a:ext uri="{FF2B5EF4-FFF2-40B4-BE49-F238E27FC236}">
                <a16:creationId xmlns:a16="http://schemas.microsoft.com/office/drawing/2014/main" id="{8A7F3DDD-8B14-1D79-B938-CFD3AFA0BF22}"/>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7150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4D15B-F90E-40C3-BF0C-138826053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CF601-0BA9-1CFD-9873-27A3B676A1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5979A4-48A9-F782-ABD1-BD3BEAF4461C}"/>
              </a:ext>
            </a:extLst>
          </p:cNvPr>
          <p:cNvSpPr>
            <a:spLocks noGrp="1"/>
          </p:cNvSpPr>
          <p:nvPr>
            <p:ph type="body" idx="1"/>
          </p:nvPr>
        </p:nvSpPr>
        <p:spPr/>
        <p:txBody>
          <a:bodyPr>
            <a:normAutofit fontScale="62500" lnSpcReduction="20000"/>
          </a:bodyPr>
          <a:lstStyle/>
          <a:p>
            <a:endParaRPr lang="en-US" dirty="0"/>
          </a:p>
          <a:p>
            <a:r>
              <a:rPr lang="en-US" sz="1400" dirty="0"/>
              <a:t>Seeking significance outside of God’s design, such as through idolatry or selfish desires, disrupts intimacy with God and others</a:t>
            </a:r>
          </a:p>
          <a:p>
            <a:endParaRPr lang="en-US" sz="1400" dirty="0"/>
          </a:p>
          <a:p>
            <a:r>
              <a:rPr lang="en-US" sz="1400" dirty="0"/>
              <a:t>-  </a:t>
            </a:r>
            <a:r>
              <a:rPr lang="en-US" sz="1400" b="1" dirty="0"/>
              <a:t>Numbers 15:38-39 </a:t>
            </a:r>
            <a:r>
              <a:rPr lang="en-US" sz="1400" dirty="0"/>
              <a:t>: "You will have these tassels to look at and so you will remember all the commands of the LORD, that you may obey them and not prostitute yourselves by chasing after the lusts of your own hearts and eyes."</a:t>
            </a:r>
          </a:p>
          <a:p>
            <a:r>
              <a:rPr lang="en-US" sz="1400" dirty="0"/>
              <a:t>   - </a:t>
            </a:r>
            <a:r>
              <a:rPr lang="en-US" sz="1400" b="1" dirty="0"/>
              <a:t>Warns against spiritual adultery and idolatry.</a:t>
            </a:r>
          </a:p>
          <a:p>
            <a:endParaRPr lang="en-US" sz="1400" dirty="0"/>
          </a:p>
          <a:p>
            <a:r>
              <a:rPr lang="en-US" sz="1400" dirty="0"/>
              <a:t>-  </a:t>
            </a:r>
            <a:r>
              <a:rPr lang="en-US" sz="1400" b="1" dirty="0"/>
              <a:t>Jeremiah 2:13 </a:t>
            </a:r>
            <a:r>
              <a:rPr lang="en-US" sz="1400" dirty="0"/>
              <a:t>: "My people have committed two sins: They have forsaken me, the spring of living water, and have dug their own cisterns, broken cisterns that cannot hold water."</a:t>
            </a:r>
          </a:p>
          <a:p>
            <a:r>
              <a:rPr lang="en-US" sz="1400" dirty="0"/>
              <a:t>   - </a:t>
            </a:r>
            <a:r>
              <a:rPr lang="en-US" sz="1400" b="1" dirty="0"/>
              <a:t>Describes how turning away from God leads to seeking fulfillment in inadequate substitutes.</a:t>
            </a:r>
          </a:p>
          <a:p>
            <a:endParaRPr lang="en-US" sz="1400" dirty="0"/>
          </a:p>
          <a:p>
            <a:r>
              <a:rPr lang="en-US" sz="1400" dirty="0"/>
              <a:t>-  </a:t>
            </a:r>
            <a:r>
              <a:rPr lang="en-US" sz="1400" b="1" dirty="0"/>
              <a:t>1 John 2:15-16 </a:t>
            </a:r>
            <a:r>
              <a:rPr lang="en-US" sz="1400" dirty="0"/>
              <a:t>: "Do not love the world or anything in the world. If anyone loves the world, love for the Father is not in them."</a:t>
            </a:r>
          </a:p>
          <a:p>
            <a:r>
              <a:rPr lang="en-US" sz="1400" dirty="0"/>
              <a:t>   - </a:t>
            </a:r>
            <a:r>
              <a:rPr lang="en-US" sz="1400" b="1" dirty="0"/>
              <a:t>Highlights the dangers of misplaced affections that hinder union with God.</a:t>
            </a:r>
          </a:p>
          <a:p>
            <a:endParaRPr lang="en-US" sz="1400" dirty="0"/>
          </a:p>
          <a:p>
            <a:r>
              <a:rPr lang="en-US" sz="1400" dirty="0"/>
              <a:t>-------------- Relevant Psalms</a:t>
            </a:r>
          </a:p>
          <a:p>
            <a:r>
              <a:rPr lang="en-US" sz="1400" dirty="0"/>
              <a:t>- </a:t>
            </a:r>
            <a:r>
              <a:rPr lang="en-US" sz="1400" b="1" dirty="0"/>
              <a:t>Psalm 106:35-37  </a:t>
            </a:r>
            <a:r>
              <a:rPr lang="en-US" sz="1400" dirty="0"/>
              <a:t>"They mingled with the nations and adopted their customs. They worshiped their idols, which became a snare to them."</a:t>
            </a:r>
          </a:p>
          <a:p>
            <a:r>
              <a:rPr lang="en-US" sz="1400" dirty="0"/>
              <a:t>   - </a:t>
            </a:r>
            <a:r>
              <a:rPr lang="en-US" sz="1400" b="1" dirty="0"/>
              <a:t>Warns against idolatry and the spiritual adultery that breaks intimacy with God.</a:t>
            </a:r>
          </a:p>
          <a:p>
            <a:endParaRPr lang="en-US" sz="1400" dirty="0"/>
          </a:p>
          <a:p>
            <a:r>
              <a:rPr lang="en-US" sz="1400" dirty="0"/>
              <a:t>- </a:t>
            </a:r>
            <a:r>
              <a:rPr lang="en-US" sz="1400" b="1" dirty="0"/>
              <a:t>Psalm 51:10-12  </a:t>
            </a:r>
            <a:r>
              <a:rPr lang="en-US" sz="1400" dirty="0"/>
              <a:t>"Create in me a pure heart, O God, and renew a steadfast spirit within me. Do not cast me from your presence or take your Holy Spirit from me. Restore to me the joy of your salvation and grant me a willing spirit, to sustain me."</a:t>
            </a:r>
          </a:p>
          <a:p>
            <a:r>
              <a:rPr lang="en-US" sz="1400" dirty="0"/>
              <a:t>   - </a:t>
            </a:r>
            <a:r>
              <a:rPr lang="en-US" sz="1400" b="1" dirty="0"/>
              <a:t>Reflects the need for repentance and restoration when sin disrupts intimacy with God.</a:t>
            </a:r>
          </a:p>
          <a:p>
            <a:endParaRPr lang="en-US" sz="1400" dirty="0"/>
          </a:p>
          <a:p>
            <a:r>
              <a:rPr lang="en-US" sz="1400" b="1" dirty="0"/>
              <a:t>- Psalm 115:4-8  </a:t>
            </a:r>
            <a:r>
              <a:rPr lang="en-US" sz="1400" dirty="0"/>
              <a:t>"But their idols are silver and gold, made by human hands. They have mouths, but cannot speak, eyes, but cannot see... Those who make them will be like them, and so will all who trust in them."</a:t>
            </a:r>
          </a:p>
          <a:p>
            <a:r>
              <a:rPr lang="en-US" sz="1400" dirty="0"/>
              <a:t>   - </a:t>
            </a:r>
            <a:r>
              <a:rPr lang="en-US" sz="1400" b="1" dirty="0"/>
              <a:t>Highlights the futility of seeking fulfillment outside of God.</a:t>
            </a:r>
          </a:p>
        </p:txBody>
      </p:sp>
      <p:sp>
        <p:nvSpPr>
          <p:cNvPr id="4" name="Slide Number Placeholder 3">
            <a:extLst>
              <a:ext uri="{FF2B5EF4-FFF2-40B4-BE49-F238E27FC236}">
                <a16:creationId xmlns:a16="http://schemas.microsoft.com/office/drawing/2014/main" id="{AECD2D19-7938-C0B4-4215-9A78086B4461}"/>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845412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B9265-50F1-2496-9FA3-A211802BE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CD4B5-B752-1496-1801-F5BE1B60C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DC7FA-F1D7-D16E-A899-10D8511F61D4}"/>
              </a:ext>
            </a:extLst>
          </p:cNvPr>
          <p:cNvSpPr>
            <a:spLocks noGrp="1"/>
          </p:cNvSpPr>
          <p:nvPr>
            <p:ph type="body" idx="1"/>
          </p:nvPr>
        </p:nvSpPr>
        <p:spPr/>
        <p:txBody>
          <a:bodyPr>
            <a:normAutofit fontScale="62500" lnSpcReduction="20000"/>
          </a:bodyPr>
          <a:lstStyle/>
          <a:p>
            <a:pPr marL="0" indent="0">
              <a:buFontTx/>
              <a:buNone/>
            </a:pPr>
            <a:r>
              <a:rPr lang="en-US" sz="1400" dirty="0"/>
              <a:t>The Gospel centers on the restoration of relationship with God, accomplished through Christ’s life, death, and resurrection.</a:t>
            </a:r>
          </a:p>
          <a:p>
            <a:endParaRPr lang="en-US" sz="1400" dirty="0"/>
          </a:p>
          <a:p>
            <a:r>
              <a:rPr lang="en-US" sz="1400" dirty="0"/>
              <a:t>-  </a:t>
            </a:r>
            <a:r>
              <a:rPr lang="en-US" sz="1400" b="1" dirty="0"/>
              <a:t>John 17:3 </a:t>
            </a:r>
            <a:r>
              <a:rPr lang="en-US" sz="1400" dirty="0"/>
              <a:t>: "Now this is eternal life: that they know you, the only true God, and Jesus Christ, whom you have sent."</a:t>
            </a:r>
          </a:p>
          <a:p>
            <a:r>
              <a:rPr lang="en-US" sz="1400" dirty="0"/>
              <a:t>   - </a:t>
            </a:r>
            <a:r>
              <a:rPr lang="en-US" sz="1400" b="1" dirty="0"/>
              <a:t>Defines eternal life as knowing God personally and relationally.</a:t>
            </a:r>
          </a:p>
          <a:p>
            <a:endParaRPr lang="en-US" sz="1400" dirty="0"/>
          </a:p>
          <a:p>
            <a:r>
              <a:rPr lang="en-US" sz="1400" dirty="0"/>
              <a:t>-  </a:t>
            </a:r>
            <a:r>
              <a:rPr lang="en-US" sz="1400" b="1" dirty="0"/>
              <a:t>John 14:16-17 </a:t>
            </a:r>
            <a:r>
              <a:rPr lang="en-US" sz="1400" dirty="0"/>
              <a:t>: "And I will ask the Father, and he will give you another advocate to help you and be with you forever—the Spirit of truth. The world cannot accept him, because it neither sees him nor knows him. But you know him, for he lives with you and will be in you."</a:t>
            </a:r>
          </a:p>
          <a:p>
            <a:r>
              <a:rPr lang="en-US" sz="1400" dirty="0"/>
              <a:t>   - </a:t>
            </a:r>
            <a:r>
              <a:rPr lang="en-US" sz="1400" b="1" dirty="0"/>
              <a:t>Speaks of the Holy Spirit’s indwelling presence, a vital part of the believer’s union with God.</a:t>
            </a:r>
          </a:p>
          <a:p>
            <a:endParaRPr lang="en-US" sz="1400" dirty="0"/>
          </a:p>
          <a:p>
            <a:r>
              <a:rPr lang="en-US" sz="1400" dirty="0"/>
              <a:t>-  </a:t>
            </a:r>
            <a:r>
              <a:rPr lang="en-US" sz="1400" b="1" dirty="0"/>
              <a:t>2 Corinthians 5:17-18 </a:t>
            </a:r>
            <a:r>
              <a:rPr lang="en-US" sz="1400" dirty="0"/>
              <a:t>: "Therefore, if anyone is in Christ, the new creation has come: The old has gone, the new is here! All this is from God, who reconciled us to himself through Christ."</a:t>
            </a:r>
          </a:p>
          <a:p>
            <a:r>
              <a:rPr lang="en-US" sz="1400" dirty="0"/>
              <a:t>   - </a:t>
            </a:r>
            <a:r>
              <a:rPr lang="en-US" sz="1400" b="1" dirty="0"/>
              <a:t>Highlights the transformative power of the Gospel, reconciling believers to God.</a:t>
            </a:r>
          </a:p>
          <a:p>
            <a:endParaRPr lang="en-US" sz="1400" dirty="0"/>
          </a:p>
          <a:p>
            <a:pPr marL="0" indent="0">
              <a:buFontTx/>
              <a:buNone/>
            </a:pPr>
            <a:r>
              <a:rPr lang="en-US" sz="1400" dirty="0"/>
              <a:t>---------- Relevant Psalms</a:t>
            </a:r>
          </a:p>
          <a:p>
            <a:pPr marL="0" indent="0">
              <a:buFontTx/>
              <a:buNone/>
            </a:pPr>
            <a:endParaRPr lang="en-US" sz="1400" dirty="0"/>
          </a:p>
          <a:p>
            <a:pPr marL="0" indent="0">
              <a:buFontTx/>
              <a:buNone/>
            </a:pPr>
            <a:r>
              <a:rPr lang="en-US" sz="1400" dirty="0"/>
              <a:t>- </a:t>
            </a:r>
            <a:r>
              <a:rPr lang="en-US" sz="1400" b="1" dirty="0"/>
              <a:t>Psalm 16:11 </a:t>
            </a:r>
            <a:r>
              <a:rPr lang="en-US" sz="1400" dirty="0"/>
              <a:t>"You make known to me the path of life; you will fill me with joy in your presence, with eternal pleasures at your right hand."</a:t>
            </a:r>
          </a:p>
          <a:p>
            <a:pPr marL="0" indent="0">
              <a:buFontTx/>
              <a:buNone/>
            </a:pPr>
            <a:r>
              <a:rPr lang="en-US" sz="1400" dirty="0"/>
              <a:t>   - </a:t>
            </a:r>
            <a:r>
              <a:rPr lang="en-US" sz="1400" b="1" dirty="0"/>
              <a:t>Captures the essence of eternal life: intimacy and joy in God’s presence.</a:t>
            </a:r>
          </a:p>
          <a:p>
            <a:pPr marL="0" indent="0">
              <a:buFontTx/>
              <a:buNone/>
            </a:pPr>
            <a:endParaRPr lang="en-US" sz="1400" dirty="0"/>
          </a:p>
          <a:p>
            <a:pPr marL="0" indent="0">
              <a:buFontTx/>
              <a:buNone/>
            </a:pPr>
            <a:r>
              <a:rPr lang="en-US" sz="1400" dirty="0"/>
              <a:t>- </a:t>
            </a:r>
            <a:r>
              <a:rPr lang="en-US" sz="1400" b="1" dirty="0"/>
              <a:t>Psalm 23:1-4 </a:t>
            </a:r>
            <a:r>
              <a:rPr lang="en-US" sz="1400" dirty="0"/>
              <a:t>"The LORD is my shepherd, I lack nothing. He makes me lie down in green pastures, he leads me beside quiet waters, he refreshes my soul."</a:t>
            </a:r>
          </a:p>
          <a:p>
            <a:pPr marL="0" indent="0">
              <a:buFontTx/>
              <a:buNone/>
            </a:pPr>
            <a:r>
              <a:rPr lang="en-US" sz="1400" dirty="0"/>
              <a:t>   - </a:t>
            </a:r>
            <a:r>
              <a:rPr lang="en-US" sz="1400" b="1" dirty="0"/>
              <a:t>Demonstrates God’s personal care and relationship with His people.</a:t>
            </a:r>
          </a:p>
          <a:p>
            <a:pPr marL="0" indent="0">
              <a:buFontTx/>
              <a:buNone/>
            </a:pPr>
            <a:endParaRPr lang="en-US" sz="1400" dirty="0"/>
          </a:p>
          <a:p>
            <a:pPr marL="0" indent="0">
              <a:buFontTx/>
              <a:buNone/>
            </a:pPr>
            <a:r>
              <a:rPr lang="en-US" sz="1400" dirty="0"/>
              <a:t>- </a:t>
            </a:r>
            <a:r>
              <a:rPr lang="en-US" sz="1400" b="1" dirty="0"/>
              <a:t>Psalm 34:8 </a:t>
            </a:r>
            <a:r>
              <a:rPr lang="en-US" sz="1400" dirty="0"/>
              <a:t>"Taste and see that the LORD is good; blessed is the one who takes refuge in him."</a:t>
            </a:r>
          </a:p>
          <a:p>
            <a:pPr marL="0" indent="0">
              <a:buFontTx/>
              <a:buNone/>
            </a:pPr>
            <a:r>
              <a:rPr lang="en-US" sz="1400" dirty="0"/>
              <a:t>   - </a:t>
            </a:r>
            <a:r>
              <a:rPr lang="en-US" sz="1400" b="1" dirty="0"/>
              <a:t>Invites believers into a personal and experiential relationship with God.</a:t>
            </a:r>
          </a:p>
        </p:txBody>
      </p:sp>
      <p:sp>
        <p:nvSpPr>
          <p:cNvPr id="4" name="Slide Number Placeholder 3">
            <a:extLst>
              <a:ext uri="{FF2B5EF4-FFF2-40B4-BE49-F238E27FC236}">
                <a16:creationId xmlns:a16="http://schemas.microsoft.com/office/drawing/2014/main" id="{96CCD78B-DFAF-ACF8-2658-2886DDCB2D45}"/>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1440314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dirty="0"/>
          </a:p>
          <a:p>
            <a:pPr marL="0" indent="0">
              <a:buFont typeface="Arial" panose="020B0604020202020204" pitchFamily="34" charset="0"/>
              <a:buNone/>
            </a:pPr>
            <a:endParaRPr lang="en-US" baseline="0" dirty="0"/>
          </a:p>
          <a:p>
            <a:pPr marL="171450" indent="-171450">
              <a:buFont typeface="Arial" panose="020B0604020202020204" pitchFamily="34" charset="0"/>
              <a:buChar char="•"/>
            </a:pPr>
            <a:endParaRPr lang="en-US" baseline="0"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12</a:t>
            </a:fld>
            <a:endParaRPr lang="en-US" dirty="0"/>
          </a:p>
        </p:txBody>
      </p:sp>
    </p:spTree>
    <p:extLst>
      <p:ext uri="{BB962C8B-B14F-4D97-AF65-F5344CB8AC3E}">
        <p14:creationId xmlns:p14="http://schemas.microsoft.com/office/powerpoint/2010/main" val="1562713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400" dirty="0"/>
              <a:t>Not a “Works Religion”, rather a “Total Commitment Religion”</a:t>
            </a:r>
          </a:p>
          <a:p>
            <a:endParaRPr lang="en-US" sz="1400" dirty="0"/>
          </a:p>
          <a:p>
            <a:r>
              <a:rPr lang="en-US" sz="1400" dirty="0"/>
              <a:t>“Follow</a:t>
            </a:r>
            <a:r>
              <a:rPr lang="en-US" sz="1400" baseline="0" dirty="0"/>
              <a:t> Me”  not “Study Me”</a:t>
            </a:r>
          </a:p>
          <a:p>
            <a:endParaRPr lang="en-US" sz="1400" baseline="0" dirty="0"/>
          </a:p>
          <a:p>
            <a:r>
              <a:rPr lang="en-US" sz="1400" baseline="0" dirty="0"/>
              <a:t>------------------------</a:t>
            </a:r>
          </a:p>
          <a:p>
            <a:endParaRPr lang="en-US" sz="1400" baseline="0" dirty="0"/>
          </a:p>
          <a:p>
            <a:endParaRPr lang="en-US" sz="1400" baseline="0" dirty="0"/>
          </a:p>
          <a:p>
            <a:pPr algn="ctr"/>
            <a:r>
              <a:rPr lang="en-US" sz="1400" b="1" i="1" dirty="0"/>
              <a:t>God’s Expectations, Our Accountability</a:t>
            </a:r>
          </a:p>
          <a:p>
            <a:endParaRPr lang="en-US" sz="1400" b="1" i="1" dirty="0"/>
          </a:p>
          <a:p>
            <a:r>
              <a:rPr lang="en-US" sz="1400" b="1" i="1" dirty="0"/>
              <a:t>“I am the Alpha and the Omega, says the LORD God – the one who is, and who was, and who is the come – the All-Powerful!”  Revelation 1:8</a:t>
            </a:r>
          </a:p>
          <a:p>
            <a:endParaRPr lang="en-US" sz="1400" b="1" i="1" dirty="0"/>
          </a:p>
          <a:p>
            <a:r>
              <a:rPr lang="en-US" sz="1400" b="1" i="1" dirty="0"/>
              <a:t>“The one who has an ear had better hear what the Spirit says to the churches. To the one who </a:t>
            </a:r>
            <a:r>
              <a:rPr lang="en-US" sz="1400" b="1" i="1" u="sng" dirty="0"/>
              <a:t>overcomes</a:t>
            </a:r>
            <a:r>
              <a:rPr lang="en-US" sz="1400" b="1" i="1" dirty="0"/>
              <a:t>, I will permit him to eat from the tree of life that is in the paradise of God.”   Revelation 2:7</a:t>
            </a:r>
          </a:p>
          <a:p>
            <a:endParaRPr lang="en-US" sz="1400" b="1" i="1" dirty="0"/>
          </a:p>
          <a:p>
            <a:r>
              <a:rPr lang="en-US" sz="1400" b="1" i="1" dirty="0"/>
              <a:t>“The one who has an ear had better hear what the Spirit says to the churches. The one who </a:t>
            </a:r>
            <a:r>
              <a:rPr lang="en-US" sz="1400" b="1" i="1" u="sng" dirty="0"/>
              <a:t>overcomes</a:t>
            </a:r>
            <a:r>
              <a:rPr lang="en-US" sz="1400" b="1" i="1" dirty="0"/>
              <a:t> will in no way be harmed by the second death.”   Revelation 2:11</a:t>
            </a:r>
          </a:p>
          <a:p>
            <a:endParaRPr lang="en-US" sz="1400" baseline="0" dirty="0"/>
          </a:p>
          <a:p>
            <a:endParaRPr lang="en-US" sz="1400" baseline="0" dirty="0"/>
          </a:p>
          <a:p>
            <a:endParaRPr lang="en-US" sz="1400" baseline="0" dirty="0"/>
          </a:p>
          <a:p>
            <a:pPr algn="ctr"/>
            <a:r>
              <a:rPr lang="en-US" sz="1400" b="1" i="1" dirty="0"/>
              <a:t>How to </a:t>
            </a:r>
            <a:r>
              <a:rPr lang="en-US" sz="1400" b="1" i="1" u="sng" dirty="0"/>
              <a:t>Overcome</a:t>
            </a:r>
            <a:r>
              <a:rPr lang="en-US" sz="1400" b="1" i="1" dirty="0"/>
              <a:t> and be Right with God…</a:t>
            </a:r>
          </a:p>
          <a:p>
            <a:endParaRPr lang="en-US" sz="1400" b="1" i="1" dirty="0"/>
          </a:p>
          <a:p>
            <a:r>
              <a:rPr lang="en-US" sz="1400" b="1" i="1" dirty="0"/>
              <a:t>“If anyone says ‘I love God’ and yet hates his fellow Christian, he is a liar because the one who does not love his fellow Christian whom he has seen cannot love God whom he has not seen. And the commandment we have from Him is this: that the one who loves God should love his fellow Christian too. Everyone who believes that Jesus is the Christ has been fathered by God, and everyone who loves the Father loves the child fathered by Him. By this we know that we love the children of God: whenever we love God and obey His commandments. For this is the love of God: that we keep His commandments. And His commandments to not weigh us down, because everyone who has been fathered by God </a:t>
            </a:r>
            <a:r>
              <a:rPr lang="en-US" sz="1400" b="1" i="1" u="sng" dirty="0"/>
              <a:t>overcomes</a:t>
            </a:r>
            <a:r>
              <a:rPr lang="en-US" sz="1400" b="1" i="1" dirty="0"/>
              <a:t> the world.”   1 John 4:20 – 5:4</a:t>
            </a:r>
          </a:p>
          <a:p>
            <a:endParaRPr lang="en-US" sz="1400" baseline="0" dirty="0"/>
          </a:p>
          <a:p>
            <a:endParaRPr lang="en-US" sz="1400" baseline="0" dirty="0"/>
          </a:p>
          <a:p>
            <a:endParaRPr lang="en-US" sz="1400"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13</a:t>
            </a:fld>
            <a:endParaRPr lang="en-US" dirty="0"/>
          </a:p>
        </p:txBody>
      </p:sp>
    </p:spTree>
    <p:extLst>
      <p:ext uri="{BB962C8B-B14F-4D97-AF65-F5344CB8AC3E}">
        <p14:creationId xmlns:p14="http://schemas.microsoft.com/office/powerpoint/2010/main" val="2590028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14</a:t>
            </a:fld>
            <a:endParaRPr lang="en-US"/>
          </a:p>
        </p:txBody>
      </p:sp>
    </p:spTree>
    <p:extLst>
      <p:ext uri="{BB962C8B-B14F-4D97-AF65-F5344CB8AC3E}">
        <p14:creationId xmlns:p14="http://schemas.microsoft.com/office/powerpoint/2010/main" val="4044301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zadnvuca"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tinyurl.com/57ua3m5f"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a.co/d/bFLzCA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920D-9474-714B-BAEB-1B6E20AC0627}"/>
              </a:ext>
            </a:extLst>
          </p:cNvPr>
          <p:cNvSpPr txBox="1">
            <a:spLocks/>
          </p:cNvSpPr>
          <p:nvPr/>
        </p:nvSpPr>
        <p:spPr bwMode="auto">
          <a:xfrm>
            <a:off x="457200" y="13716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Christ in the Psalms</a:t>
            </a:r>
          </a:p>
          <a:p>
            <a:endParaRPr lang="en-US" sz="2800" dirty="0">
              <a:solidFill>
                <a:schemeClr val="tx2">
                  <a:lumMod val="60000"/>
                  <a:lumOff val="40000"/>
                </a:schemeClr>
              </a:solidFill>
            </a:endParaRPr>
          </a:p>
          <a:p>
            <a:r>
              <a:rPr lang="en-US" sz="3600" dirty="0">
                <a:solidFill>
                  <a:schemeClr val="tx2">
                    <a:lumMod val="60000"/>
                    <a:lumOff val="40000"/>
                  </a:schemeClr>
                </a:solidFill>
                <a:sym typeface="Wingdings" panose="05000000000000000000" pitchFamily="2" charset="2"/>
              </a:rPr>
              <a:t>Am I Alone?</a:t>
            </a:r>
            <a:endParaRPr lang="en-US" sz="36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rPr>
              <a:t>A holistic vision of God’s desired state for believers to live in union with Him and one another.</a:t>
            </a:r>
          </a:p>
          <a:p>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3"/>
              </a:rPr>
              <a:t>Phil@UsefulEngines.com</a:t>
            </a:r>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4"/>
              </a:rPr>
              <a:t>https://tinyurl.com/zadnvuca</a:t>
            </a:r>
            <a:endParaRPr lang="en-US" sz="2400" dirty="0">
              <a:solidFill>
                <a:schemeClr val="tx2">
                  <a:lumMod val="60000"/>
                  <a:lumOff val="40000"/>
                </a:schemeClr>
              </a:solidFill>
            </a:endParaRP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Knowing God via the Social Order</a:t>
            </a:r>
            <a:br>
              <a:rPr lang="en-US" dirty="0"/>
            </a:br>
            <a:r>
              <a:rPr lang="en-US" sz="2400" dirty="0">
                <a:solidFill>
                  <a:schemeClr val="tx2">
                    <a:lumMod val="60000"/>
                    <a:lumOff val="40000"/>
                  </a:schemeClr>
                </a:solidFill>
              </a:rPr>
              <a:t>A “Desired State” of Relationships</a:t>
            </a:r>
          </a:p>
        </p:txBody>
      </p:sp>
      <p:sp>
        <p:nvSpPr>
          <p:cNvPr id="6" name="TextBox 5"/>
          <p:cNvSpPr txBox="1"/>
          <p:nvPr/>
        </p:nvSpPr>
        <p:spPr>
          <a:xfrm>
            <a:off x="457200" y="4122075"/>
            <a:ext cx="8001000" cy="2246769"/>
          </a:xfrm>
          <a:prstGeom prst="rect">
            <a:avLst/>
          </a:prstGeom>
          <a:noFill/>
        </p:spPr>
        <p:txBody>
          <a:bodyPr wrap="square" rtlCol="0">
            <a:spAutoFit/>
          </a:bodyPr>
          <a:lstStyle/>
          <a:p>
            <a:r>
              <a:rPr lang="en-US" sz="2000" i="1" dirty="0"/>
              <a:t>Aloneness is bad in an </a:t>
            </a:r>
            <a:r>
              <a:rPr lang="en-US" sz="2000" b="1" i="1" dirty="0"/>
              <a:t>ethical</a:t>
            </a:r>
            <a:r>
              <a:rPr lang="en-US" sz="2000" i="1" dirty="0"/>
              <a:t> sense because it </a:t>
            </a:r>
            <a:r>
              <a:rPr lang="en-US" sz="2000" b="1" i="1" dirty="0"/>
              <a:t>contradicts the nature of God</a:t>
            </a:r>
            <a:r>
              <a:rPr lang="en-US" sz="2000" i="1" dirty="0"/>
              <a:t>, who is three-in-one: </a:t>
            </a:r>
            <a:r>
              <a:rPr lang="en-US" sz="2000" i="1" u="sng" dirty="0"/>
              <a:t>God Himself exists in community and relationship</a:t>
            </a:r>
            <a:r>
              <a:rPr lang="en-US" sz="2000" i="1" dirty="0"/>
              <a:t>; man, who is made in His image, is supposed to do the same. This concept forms the basis of a true, God-centered understanding of the social order. </a:t>
            </a:r>
          </a:p>
          <a:p>
            <a:endParaRPr lang="en-US" sz="2000" i="1" dirty="0"/>
          </a:p>
          <a:p>
            <a:r>
              <a:rPr lang="en-US" sz="2000" b="1" i="1" dirty="0"/>
              <a:t>To go against God’s design is to deny His character</a:t>
            </a:r>
            <a:r>
              <a:rPr lang="en-US" sz="2000" i="1" dirty="0"/>
              <a:t>.</a:t>
            </a:r>
          </a:p>
        </p:txBody>
      </p:sp>
      <p:sp>
        <p:nvSpPr>
          <p:cNvPr id="8" name="TextBox 7"/>
          <p:cNvSpPr txBox="1"/>
          <p:nvPr/>
        </p:nvSpPr>
        <p:spPr>
          <a:xfrm>
            <a:off x="457200" y="2155686"/>
            <a:ext cx="8001000" cy="400110"/>
          </a:xfrm>
          <a:prstGeom prst="rect">
            <a:avLst/>
          </a:prstGeom>
          <a:noFill/>
        </p:spPr>
        <p:txBody>
          <a:bodyPr wrap="square" rtlCol="0">
            <a:spAutoFit/>
          </a:bodyPr>
          <a:lstStyle/>
          <a:p>
            <a:r>
              <a:rPr lang="en-US" sz="2000" i="1" dirty="0"/>
              <a:t>Is this a </a:t>
            </a:r>
            <a:r>
              <a:rPr lang="en-US" sz="2000" b="1" i="1" dirty="0"/>
              <a:t>qualitative</a:t>
            </a:r>
            <a:r>
              <a:rPr lang="en-US" sz="2000" i="1" dirty="0"/>
              <a:t> statement?  (i.e. “could be better”)</a:t>
            </a:r>
          </a:p>
        </p:txBody>
      </p:sp>
      <p:sp>
        <p:nvSpPr>
          <p:cNvPr id="9" name="TextBox 8">
            <a:extLst>
              <a:ext uri="{FF2B5EF4-FFF2-40B4-BE49-F238E27FC236}">
                <a16:creationId xmlns:a16="http://schemas.microsoft.com/office/drawing/2014/main" id="{64F31E76-F347-473B-BD51-60682D18CDE8}"/>
              </a:ext>
            </a:extLst>
          </p:cNvPr>
          <p:cNvSpPr txBox="1"/>
          <p:nvPr/>
        </p:nvSpPr>
        <p:spPr>
          <a:xfrm>
            <a:off x="457200" y="1295400"/>
            <a:ext cx="8001000" cy="707886"/>
          </a:xfrm>
          <a:prstGeom prst="rect">
            <a:avLst/>
          </a:prstGeom>
          <a:noFill/>
        </p:spPr>
        <p:txBody>
          <a:bodyPr wrap="square" rtlCol="0">
            <a:spAutoFit/>
          </a:bodyPr>
          <a:lstStyle/>
          <a:p>
            <a:r>
              <a:rPr lang="en-US" sz="2000" i="1" dirty="0"/>
              <a:t>“The LORD God said, ‘It is </a:t>
            </a:r>
            <a:r>
              <a:rPr lang="en-US" sz="2000" b="1" i="1" u="sng" dirty="0"/>
              <a:t>not good </a:t>
            </a:r>
            <a:r>
              <a:rPr lang="en-US" sz="2000" i="1" dirty="0"/>
              <a:t>for the man to be alone.’”  Genesis 2:18</a:t>
            </a:r>
          </a:p>
        </p:txBody>
      </p:sp>
      <p:sp>
        <p:nvSpPr>
          <p:cNvPr id="7" name="TextBox 6">
            <a:extLst>
              <a:ext uri="{FF2B5EF4-FFF2-40B4-BE49-F238E27FC236}">
                <a16:creationId xmlns:a16="http://schemas.microsoft.com/office/drawing/2014/main" id="{2378D6F7-D20E-49F4-B889-9CA3610A089C}"/>
              </a:ext>
            </a:extLst>
          </p:cNvPr>
          <p:cNvSpPr txBox="1"/>
          <p:nvPr/>
        </p:nvSpPr>
        <p:spPr>
          <a:xfrm>
            <a:off x="457200" y="2708196"/>
            <a:ext cx="8001000" cy="400110"/>
          </a:xfrm>
          <a:prstGeom prst="rect">
            <a:avLst/>
          </a:prstGeom>
          <a:noFill/>
        </p:spPr>
        <p:txBody>
          <a:bodyPr wrap="square" rtlCol="0">
            <a:spAutoFit/>
          </a:bodyPr>
          <a:lstStyle/>
          <a:p>
            <a:r>
              <a:rPr lang="en-US" sz="2000" i="1" dirty="0"/>
              <a:t>Is this an </a:t>
            </a:r>
            <a:r>
              <a:rPr lang="en-US" sz="2000" b="1" i="1" dirty="0"/>
              <a:t>ethical</a:t>
            </a:r>
            <a:r>
              <a:rPr lang="en-US" sz="2000" i="1" dirty="0"/>
              <a:t> statement?  (i.e. “is not right; ought to be different”)</a:t>
            </a:r>
          </a:p>
        </p:txBody>
      </p:sp>
      <p:sp>
        <p:nvSpPr>
          <p:cNvPr id="10" name="TextBox 9">
            <a:extLst>
              <a:ext uri="{FF2B5EF4-FFF2-40B4-BE49-F238E27FC236}">
                <a16:creationId xmlns:a16="http://schemas.microsoft.com/office/drawing/2014/main" id="{3A1BDAF3-0248-4244-B913-8723370AB4A4}"/>
              </a:ext>
            </a:extLst>
          </p:cNvPr>
          <p:cNvSpPr txBox="1"/>
          <p:nvPr/>
        </p:nvSpPr>
        <p:spPr>
          <a:xfrm>
            <a:off x="457200" y="3260706"/>
            <a:ext cx="8001000" cy="707886"/>
          </a:xfrm>
          <a:prstGeom prst="rect">
            <a:avLst/>
          </a:prstGeom>
          <a:noFill/>
        </p:spPr>
        <p:txBody>
          <a:bodyPr wrap="square" rtlCol="0">
            <a:spAutoFit/>
          </a:bodyPr>
          <a:lstStyle/>
          <a:p>
            <a:r>
              <a:rPr lang="en-US" sz="2000" i="1" dirty="0"/>
              <a:t>Against </a:t>
            </a:r>
            <a:r>
              <a:rPr lang="en-US" sz="2000" b="1" i="1" dirty="0"/>
              <a:t>what standard </a:t>
            </a:r>
            <a:r>
              <a:rPr lang="en-US" sz="2000" i="1" dirty="0"/>
              <a:t>does God refer to in the context of this statement?  </a:t>
            </a:r>
          </a:p>
        </p:txBody>
      </p:sp>
    </p:spTree>
    <p:extLst>
      <p:ext uri="{BB962C8B-B14F-4D97-AF65-F5344CB8AC3E}">
        <p14:creationId xmlns:p14="http://schemas.microsoft.com/office/powerpoint/2010/main" val="57521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7"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The Triune Nature of God</a:t>
            </a:r>
            <a:br>
              <a:rPr lang="en-US" dirty="0"/>
            </a:br>
            <a:r>
              <a:rPr lang="en-US" sz="2400" dirty="0">
                <a:solidFill>
                  <a:schemeClr val="tx2">
                    <a:lumMod val="60000"/>
                    <a:lumOff val="40000"/>
                  </a:schemeClr>
                </a:solidFill>
              </a:rPr>
              <a:t>Unity, Relationships, Roles, Equality, Authority, Submission</a:t>
            </a:r>
          </a:p>
        </p:txBody>
      </p:sp>
      <p:sp>
        <p:nvSpPr>
          <p:cNvPr id="8" name="Scroll: Horizontal 7">
            <a:extLst>
              <a:ext uri="{FF2B5EF4-FFF2-40B4-BE49-F238E27FC236}">
                <a16:creationId xmlns:a16="http://schemas.microsoft.com/office/drawing/2014/main" id="{69A453F3-7708-406B-AD3E-1DCAA885605C}"/>
              </a:ext>
            </a:extLst>
          </p:cNvPr>
          <p:cNvSpPr/>
          <p:nvPr/>
        </p:nvSpPr>
        <p:spPr>
          <a:xfrm>
            <a:off x="457200" y="1066800"/>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The Father, The Son, The Holy Spirit</a:t>
            </a:r>
          </a:p>
          <a:p>
            <a:endParaRPr lang="en-US" b="1" i="1" dirty="0"/>
          </a:p>
          <a:p>
            <a:r>
              <a:rPr lang="en-US" b="1" i="1" dirty="0"/>
              <a:t>“Therefore go and make disciples of all nations, baptizing them in the name of the </a:t>
            </a:r>
            <a:r>
              <a:rPr lang="en-US" b="1" i="1" u="sng" dirty="0"/>
              <a:t>Father and the Son and the Holy Spirit</a:t>
            </a:r>
            <a:r>
              <a:rPr lang="en-US" b="1" i="1" dirty="0"/>
              <a:t>, teaching them to obey everything I have commanded you.  And remember, I am with you always, to the end of the age.” </a:t>
            </a:r>
          </a:p>
          <a:p>
            <a:r>
              <a:rPr lang="en-US" b="1" i="1" dirty="0"/>
              <a:t> </a:t>
            </a:r>
          </a:p>
          <a:p>
            <a:r>
              <a:rPr lang="en-US" b="1" i="1" dirty="0"/>
              <a:t>Matthew 28:19</a:t>
            </a:r>
          </a:p>
          <a:p>
            <a:endParaRPr lang="en-US" b="1" i="1" dirty="0"/>
          </a:p>
        </p:txBody>
      </p:sp>
      <p:sp>
        <p:nvSpPr>
          <p:cNvPr id="13" name="Scroll: Horizontal 12">
            <a:extLst>
              <a:ext uri="{FF2B5EF4-FFF2-40B4-BE49-F238E27FC236}">
                <a16:creationId xmlns:a16="http://schemas.microsoft.com/office/drawing/2014/main" id="{3896037D-8E31-4AD9-B14A-11A09CC8EC62}"/>
              </a:ext>
            </a:extLst>
          </p:cNvPr>
          <p:cNvSpPr/>
          <p:nvPr/>
        </p:nvSpPr>
        <p:spPr>
          <a:xfrm>
            <a:off x="448078" y="1084496"/>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The Father with the Holy Spirit</a:t>
            </a:r>
          </a:p>
          <a:p>
            <a:endParaRPr lang="en-US" b="1" i="1" dirty="0"/>
          </a:p>
          <a:p>
            <a:r>
              <a:rPr lang="en-US" b="1" i="1" dirty="0"/>
              <a:t>“But the Advocate, the Holy Spirit, whom the Father will send in my name, will teach you everything and will cause you to remember everything I said to you.” </a:t>
            </a:r>
          </a:p>
          <a:p>
            <a:r>
              <a:rPr lang="en-US" b="1" i="1" dirty="0"/>
              <a:t> </a:t>
            </a:r>
          </a:p>
          <a:p>
            <a:r>
              <a:rPr lang="en-US" b="1" i="1" dirty="0"/>
              <a:t>John 14:26</a:t>
            </a:r>
          </a:p>
          <a:p>
            <a:endParaRPr lang="en-US" b="1" i="1" dirty="0"/>
          </a:p>
        </p:txBody>
      </p:sp>
      <p:sp>
        <p:nvSpPr>
          <p:cNvPr id="14" name="Scroll: Horizontal 13">
            <a:extLst>
              <a:ext uri="{FF2B5EF4-FFF2-40B4-BE49-F238E27FC236}">
                <a16:creationId xmlns:a16="http://schemas.microsoft.com/office/drawing/2014/main" id="{62C0D6EE-2B19-4D6D-8D0A-073F838400F3}"/>
              </a:ext>
            </a:extLst>
          </p:cNvPr>
          <p:cNvSpPr/>
          <p:nvPr/>
        </p:nvSpPr>
        <p:spPr>
          <a:xfrm>
            <a:off x="457199" y="1049104"/>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The Father with the Son</a:t>
            </a:r>
          </a:p>
          <a:p>
            <a:endParaRPr lang="en-US" b="1" i="1" dirty="0"/>
          </a:p>
          <a:p>
            <a:r>
              <a:rPr lang="en-US" b="1" i="1" dirty="0"/>
              <a:t>“The Father and I are one.”   John 10:30</a:t>
            </a:r>
          </a:p>
          <a:p>
            <a:endParaRPr lang="en-US" b="1" i="1" dirty="0"/>
          </a:p>
          <a:p>
            <a:r>
              <a:rPr lang="en-US" b="1" i="1" dirty="0"/>
              <a:t>“So Jesus said to them again, ‘Peace be with you. Just as the Father has sent me, I also send you.’”   John 20:21</a:t>
            </a:r>
          </a:p>
          <a:p>
            <a:endParaRPr lang="en-US" b="1" i="1" dirty="0"/>
          </a:p>
        </p:txBody>
      </p:sp>
      <p:sp>
        <p:nvSpPr>
          <p:cNvPr id="15" name="Scroll: Horizontal 14">
            <a:extLst>
              <a:ext uri="{FF2B5EF4-FFF2-40B4-BE49-F238E27FC236}">
                <a16:creationId xmlns:a16="http://schemas.microsoft.com/office/drawing/2014/main" id="{43E2AB15-C215-4C50-8561-B27E5AF42819}"/>
              </a:ext>
            </a:extLst>
          </p:cNvPr>
          <p:cNvSpPr/>
          <p:nvPr/>
        </p:nvSpPr>
        <p:spPr>
          <a:xfrm>
            <a:off x="466321" y="1057952"/>
            <a:ext cx="8307977" cy="5307352"/>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The Son with the Holy Spirit</a:t>
            </a:r>
          </a:p>
          <a:p>
            <a:endParaRPr lang="en-US" b="1" i="1" dirty="0"/>
          </a:p>
          <a:p>
            <a:r>
              <a:rPr lang="en-US" b="1" i="1" dirty="0"/>
              <a:t>“But I tell you the truth, it is to your advantage that I am going away. For if I do not go away, the Advocate will not come to you, but if I go, I will send Him to you. And when He comes, He will prove the world wrong concerning sin and righteousness and judgment…” </a:t>
            </a:r>
          </a:p>
          <a:p>
            <a:r>
              <a:rPr lang="en-US" b="1" i="1" dirty="0"/>
              <a:t> </a:t>
            </a:r>
          </a:p>
          <a:p>
            <a:r>
              <a:rPr lang="en-US" b="1" i="1" dirty="0"/>
              <a:t>John 16:7-8</a:t>
            </a:r>
          </a:p>
          <a:p>
            <a:endParaRPr lang="en-US" b="1" i="1" dirty="0"/>
          </a:p>
        </p:txBody>
      </p:sp>
    </p:spTree>
    <p:extLst>
      <p:ext uri="{BB962C8B-B14F-4D97-AF65-F5344CB8AC3E}">
        <p14:creationId xmlns:p14="http://schemas.microsoft.com/office/powerpoint/2010/main" val="256754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6C5D-78A2-449A-2058-D93E09302F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F31884-3F41-8C6D-430D-485F330F1EE6}"/>
              </a:ext>
            </a:extLst>
          </p:cNvPr>
          <p:cNvSpPr>
            <a:spLocks noGrp="1"/>
          </p:cNvSpPr>
          <p:nvPr>
            <p:ph type="title"/>
          </p:nvPr>
        </p:nvSpPr>
        <p:spPr>
          <a:xfrm>
            <a:off x="76200" y="7088"/>
            <a:ext cx="8991600" cy="914400"/>
          </a:xfrm>
        </p:spPr>
        <p:txBody>
          <a:bodyPr>
            <a:normAutofit fontScale="90000"/>
          </a:bodyPr>
          <a:lstStyle/>
          <a:p>
            <a:pPr algn="l"/>
            <a:r>
              <a:rPr lang="en-US" sz="2700" dirty="0"/>
              <a:t>Psalm 139 – God’s Intimate Knowledge and Presence</a:t>
            </a:r>
            <a:br>
              <a:rPr lang="en-US" sz="3600" dirty="0"/>
            </a:br>
            <a:r>
              <a:rPr lang="en-US" sz="2200" dirty="0">
                <a:solidFill>
                  <a:schemeClr val="tx2">
                    <a:lumMod val="60000"/>
                    <a:lumOff val="40000"/>
                  </a:schemeClr>
                </a:solidFill>
              </a:rPr>
              <a:t>Emphasizes God’s personal and intimate relationship with individuals</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3F79C0CF-5DDD-8781-29F4-E15B2ECDF2AE}"/>
              </a:ext>
            </a:extLst>
          </p:cNvPr>
          <p:cNvSpPr txBox="1"/>
          <p:nvPr/>
        </p:nvSpPr>
        <p:spPr>
          <a:xfrm>
            <a:off x="76201" y="1066800"/>
            <a:ext cx="8991599" cy="4801314"/>
          </a:xfrm>
          <a:prstGeom prst="rect">
            <a:avLst/>
          </a:prstGeom>
          <a:noFill/>
        </p:spPr>
        <p:txBody>
          <a:bodyPr wrap="square">
            <a:spAutoFit/>
          </a:bodyPr>
          <a:lstStyle/>
          <a:p>
            <a:r>
              <a:rPr lang="en-US" b="1" dirty="0"/>
              <a:t>Psalm 139 </a:t>
            </a:r>
            <a:r>
              <a:rPr lang="en-US" dirty="0"/>
              <a:t>profoundly reflects the personal and intimate relationship between God and His creation. </a:t>
            </a:r>
            <a:r>
              <a:rPr lang="en-US" u="sng" dirty="0"/>
              <a:t>It portrays God as deeply involved in every aspect of our lives</a:t>
            </a:r>
            <a:r>
              <a:rPr lang="en-US" dirty="0"/>
              <a:t>.</a:t>
            </a:r>
            <a:endParaRPr lang="en-US" dirty="0">
              <a:latin typeface="+mn-lt"/>
            </a:endParaRPr>
          </a:p>
          <a:p>
            <a:endParaRPr lang="en-US" dirty="0">
              <a:latin typeface="+mn-lt"/>
            </a:endParaRPr>
          </a:p>
          <a:p>
            <a:endParaRPr lang="en-US" dirty="0">
              <a:latin typeface="+mn-lt"/>
            </a:endParaRPr>
          </a:p>
          <a:p>
            <a:r>
              <a:rPr lang="en-US" dirty="0">
                <a:latin typeface="+mn-lt"/>
              </a:rPr>
              <a:t>Key Verses:</a:t>
            </a:r>
          </a:p>
          <a:p>
            <a:endParaRPr lang="en-US" dirty="0">
              <a:latin typeface="+mn-lt"/>
            </a:endParaRPr>
          </a:p>
          <a:p>
            <a:r>
              <a:rPr lang="en-US" b="1" i="1" dirty="0">
                <a:latin typeface="+mn-lt"/>
              </a:rPr>
              <a:t>Psalm 139:1-2</a:t>
            </a:r>
            <a:r>
              <a:rPr lang="en-US" i="1" dirty="0">
                <a:latin typeface="+mn-lt"/>
              </a:rPr>
              <a:t> "You have searched me, LORD, and you know me. You know when I sit and when I rise; you perceive my thoughts from afar." </a:t>
            </a:r>
            <a:endParaRPr lang="en-US" dirty="0">
              <a:latin typeface="+mn-lt"/>
            </a:endParaRPr>
          </a:p>
          <a:p>
            <a:endParaRPr lang="en-US" dirty="0">
              <a:latin typeface="+mn-lt"/>
            </a:endParaRPr>
          </a:p>
          <a:p>
            <a:r>
              <a:rPr lang="en-US" b="1" i="1" dirty="0">
                <a:latin typeface="+mn-lt"/>
              </a:rPr>
              <a:t>Psalm 139:7</a:t>
            </a:r>
            <a:r>
              <a:rPr lang="en-US" i="1" dirty="0">
                <a:latin typeface="+mn-lt"/>
              </a:rPr>
              <a:t> </a:t>
            </a:r>
            <a:r>
              <a:rPr lang="en-US" i="1" dirty="0"/>
              <a:t>"Where can I go from your Spirit? Where can I flee from your presence?" </a:t>
            </a:r>
            <a:endParaRPr lang="en-US" i="1" dirty="0">
              <a:latin typeface="+mn-lt"/>
            </a:endParaRPr>
          </a:p>
          <a:p>
            <a:endParaRPr lang="en-US" dirty="0">
              <a:latin typeface="+mn-lt"/>
            </a:endParaRPr>
          </a:p>
          <a:p>
            <a:endParaRPr lang="en-US" dirty="0">
              <a:latin typeface="+mn-lt"/>
            </a:endParaRPr>
          </a:p>
          <a:p>
            <a:r>
              <a:rPr lang="en-US" dirty="0">
                <a:latin typeface="+mn-lt"/>
              </a:rPr>
              <a:t>Key Themes:</a:t>
            </a:r>
          </a:p>
          <a:p>
            <a:endParaRPr lang="en-US" dirty="0">
              <a:latin typeface="+mn-lt"/>
            </a:endParaRPr>
          </a:p>
          <a:p>
            <a:pPr marL="742950" lvl="1" indent="-285750">
              <a:buFont typeface="Arial" panose="020B0604020202020204" pitchFamily="34" charset="0"/>
              <a:buChar char="•"/>
            </a:pPr>
            <a:r>
              <a:rPr lang="en-US" dirty="0"/>
              <a:t>Emphasizes God’s omnipresence and omniscience, affirming that we are never alone.</a:t>
            </a:r>
          </a:p>
          <a:p>
            <a:pPr marL="742950" lvl="1" indent="-285750">
              <a:buFont typeface="Arial" panose="020B0604020202020204" pitchFamily="34" charset="0"/>
              <a:buChar char="•"/>
            </a:pPr>
            <a:r>
              <a:rPr lang="en-US" dirty="0"/>
              <a:t>Highlights the intimate connection between God and individuals.</a:t>
            </a:r>
          </a:p>
        </p:txBody>
      </p:sp>
    </p:spTree>
    <p:extLst>
      <p:ext uri="{BB962C8B-B14F-4D97-AF65-F5344CB8AC3E}">
        <p14:creationId xmlns:p14="http://schemas.microsoft.com/office/powerpoint/2010/main" val="71343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Effect transition="in" filter="fade">
                                      <p:cBhvr>
                                        <p:cTn id="17" dur="1000"/>
                                        <p:tgtEl>
                                          <p:spTgt spid="7">
                                            <p:txEl>
                                              <p:pRg st="7" end="7"/>
                                            </p:txEl>
                                          </p:spTgt>
                                        </p:tgtEl>
                                      </p:cBhvr>
                                    </p:animEffect>
                                    <p:anim calcmode="lin" valueType="num">
                                      <p:cBhvr>
                                        <p:cTn id="1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fade">
                                      <p:cBhvr>
                                        <p:cTn id="24" dur="1000"/>
                                        <p:tgtEl>
                                          <p:spTgt spid="7">
                                            <p:txEl>
                                              <p:pRg st="10" end="10"/>
                                            </p:txEl>
                                          </p:spTgt>
                                        </p:tgtEl>
                                      </p:cBhvr>
                                    </p:animEffect>
                                    <p:anim calcmode="lin" valueType="num">
                                      <p:cBhvr>
                                        <p:cTn id="2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animEffect transition="in" filter="fade">
                                      <p:cBhvr>
                                        <p:cTn id="29" dur="1000"/>
                                        <p:tgtEl>
                                          <p:spTgt spid="7">
                                            <p:txEl>
                                              <p:pRg st="12" end="12"/>
                                            </p:txEl>
                                          </p:spTgt>
                                        </p:tgtEl>
                                      </p:cBhvr>
                                    </p:animEffect>
                                    <p:anim calcmode="lin" valueType="num">
                                      <p:cBhvr>
                                        <p:cTn id="3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13" end="13"/>
                                            </p:txEl>
                                          </p:spTgt>
                                        </p:tgtEl>
                                        <p:attrNameLst>
                                          <p:attrName>style.visibility</p:attrName>
                                        </p:attrNameLst>
                                      </p:cBhvr>
                                      <p:to>
                                        <p:strVal val="visible"/>
                                      </p:to>
                                    </p:set>
                                    <p:animEffect transition="in" filter="fade">
                                      <p:cBhvr>
                                        <p:cTn id="34" dur="1000"/>
                                        <p:tgtEl>
                                          <p:spTgt spid="7">
                                            <p:txEl>
                                              <p:pRg st="13" end="13"/>
                                            </p:txEl>
                                          </p:spTgt>
                                        </p:tgtEl>
                                      </p:cBhvr>
                                    </p:animEffect>
                                    <p:anim calcmode="lin" valueType="num">
                                      <p:cBhvr>
                                        <p:cTn id="35"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C1415-82BF-C330-312E-41C95B057E9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A464771-4ADA-942E-7EE3-0E8C5CE1B8C0}"/>
              </a:ext>
            </a:extLst>
          </p:cNvPr>
          <p:cNvSpPr>
            <a:spLocks noGrp="1"/>
          </p:cNvSpPr>
          <p:nvPr>
            <p:ph type="title"/>
          </p:nvPr>
        </p:nvSpPr>
        <p:spPr>
          <a:xfrm>
            <a:off x="78154" y="7088"/>
            <a:ext cx="8989646" cy="914400"/>
          </a:xfrm>
        </p:spPr>
        <p:txBody>
          <a:bodyPr>
            <a:normAutofit fontScale="90000"/>
          </a:bodyPr>
          <a:lstStyle/>
          <a:p>
            <a:pPr algn="l"/>
            <a:r>
              <a:rPr lang="en-US" sz="2700" dirty="0"/>
              <a:t>Psalm 133 – The Beauty of Unity Among God’s People</a:t>
            </a:r>
            <a:br>
              <a:rPr lang="en-US" sz="3600" dirty="0"/>
            </a:br>
            <a:r>
              <a:rPr lang="en-US" sz="2200" dirty="0">
                <a:solidFill>
                  <a:schemeClr val="tx2">
                    <a:lumMod val="60000"/>
                    <a:lumOff val="40000"/>
                  </a:schemeClr>
                </a:solidFill>
              </a:rPr>
              <a:t>The unity and harmony of God’s people reflect His relational nature</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40B384F-F7EA-3050-C5FB-5D1E8D138DCB}"/>
              </a:ext>
            </a:extLst>
          </p:cNvPr>
          <p:cNvSpPr txBox="1"/>
          <p:nvPr/>
        </p:nvSpPr>
        <p:spPr>
          <a:xfrm>
            <a:off x="77177" y="1066800"/>
            <a:ext cx="8989646" cy="5078313"/>
          </a:xfrm>
          <a:prstGeom prst="rect">
            <a:avLst/>
          </a:prstGeom>
          <a:noFill/>
        </p:spPr>
        <p:txBody>
          <a:bodyPr wrap="square">
            <a:spAutoFit/>
          </a:bodyPr>
          <a:lstStyle/>
          <a:p>
            <a:r>
              <a:rPr lang="en-US" b="1" dirty="0"/>
              <a:t>Psalm 133 </a:t>
            </a:r>
            <a:r>
              <a:rPr lang="en-US" dirty="0"/>
              <a:t>celebrates the unity of believers, which mirrors the unity within the Trinity and </a:t>
            </a:r>
            <a:r>
              <a:rPr lang="en-US" u="sng" dirty="0"/>
              <a:t>reflects the relationship between Christ and the Church</a:t>
            </a:r>
            <a:r>
              <a:rPr lang="en-US" dirty="0"/>
              <a:t>.</a:t>
            </a:r>
            <a:endParaRPr lang="en-US" dirty="0">
              <a:latin typeface="+mn-lt"/>
            </a:endParaRPr>
          </a:p>
          <a:p>
            <a:endParaRPr lang="en-US" dirty="0">
              <a:latin typeface="+mn-lt"/>
            </a:endParaRPr>
          </a:p>
          <a:p>
            <a:endParaRPr lang="en-US" dirty="0">
              <a:latin typeface="+mn-lt"/>
            </a:endParaRPr>
          </a:p>
          <a:p>
            <a:r>
              <a:rPr lang="en-US" dirty="0">
                <a:latin typeface="+mn-lt"/>
              </a:rPr>
              <a:t>Key Verses:</a:t>
            </a:r>
          </a:p>
          <a:p>
            <a:endParaRPr lang="en-US" dirty="0">
              <a:latin typeface="+mn-lt"/>
            </a:endParaRPr>
          </a:p>
          <a:p>
            <a:r>
              <a:rPr lang="en-US" b="1" i="1" dirty="0">
                <a:latin typeface="+mn-lt"/>
              </a:rPr>
              <a:t>Psalm 133:1</a:t>
            </a:r>
            <a:r>
              <a:rPr lang="en-US" i="1" dirty="0">
                <a:latin typeface="+mn-lt"/>
              </a:rPr>
              <a:t> "How good and pleasant it is when God’s people live together in unity!" </a:t>
            </a:r>
          </a:p>
          <a:p>
            <a:endParaRPr lang="en-US" i="1" dirty="0">
              <a:latin typeface="+mn-lt"/>
            </a:endParaRPr>
          </a:p>
          <a:p>
            <a:r>
              <a:rPr lang="en-US" b="1" i="1" dirty="0"/>
              <a:t>Psalm 133:3</a:t>
            </a:r>
            <a:r>
              <a:rPr lang="en-US" i="1" dirty="0"/>
              <a:t> </a:t>
            </a:r>
            <a:r>
              <a:rPr lang="en-US" i="1" dirty="0">
                <a:latin typeface="+mn-lt"/>
              </a:rPr>
              <a:t>"It is as if the dew of Hermon were falling on Mount Zion. For there the LORD bestows his blessing, even life forevermore." </a:t>
            </a:r>
          </a:p>
          <a:p>
            <a:endParaRPr lang="en-US" dirty="0">
              <a:latin typeface="+mn-lt"/>
            </a:endParaRPr>
          </a:p>
          <a:p>
            <a:endParaRPr lang="en-US" dirty="0">
              <a:latin typeface="+mn-lt"/>
            </a:endParaRPr>
          </a:p>
          <a:p>
            <a:endParaRPr lang="en-US" dirty="0">
              <a:latin typeface="+mn-lt"/>
            </a:endParaRPr>
          </a:p>
          <a:p>
            <a:r>
              <a:rPr lang="en-US" dirty="0">
                <a:latin typeface="+mn-lt"/>
              </a:rPr>
              <a:t>Key Themes:</a:t>
            </a:r>
          </a:p>
          <a:p>
            <a:endParaRPr lang="en-US" dirty="0">
              <a:latin typeface="+mn-lt"/>
            </a:endParaRPr>
          </a:p>
          <a:p>
            <a:pPr marL="742950" lvl="1" indent="-285750">
              <a:buFont typeface="Arial" panose="020B0604020202020204" pitchFamily="34" charset="0"/>
              <a:buChar char="•"/>
            </a:pPr>
            <a:r>
              <a:rPr lang="en-US" dirty="0"/>
              <a:t>Highlights the corporate aspect of the union between believers and God.</a:t>
            </a:r>
          </a:p>
          <a:p>
            <a:pPr marL="742950" lvl="1" indent="-285750">
              <a:buFont typeface="Arial" panose="020B0604020202020204" pitchFamily="34" charset="0"/>
              <a:buChar char="•"/>
            </a:pPr>
            <a:r>
              <a:rPr lang="en-US" dirty="0"/>
              <a:t>Depicts unity as a source of blessing and a reflection of God’s desired state for His people.</a:t>
            </a:r>
            <a:endParaRPr lang="en-US" dirty="0">
              <a:latin typeface="+mn-lt"/>
            </a:endParaRPr>
          </a:p>
        </p:txBody>
      </p:sp>
    </p:spTree>
    <p:extLst>
      <p:ext uri="{BB962C8B-B14F-4D97-AF65-F5344CB8AC3E}">
        <p14:creationId xmlns:p14="http://schemas.microsoft.com/office/powerpoint/2010/main" val="120025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Effect transition="in" filter="fade">
                                      <p:cBhvr>
                                        <p:cTn id="17" dur="1000"/>
                                        <p:tgtEl>
                                          <p:spTgt spid="7">
                                            <p:txEl>
                                              <p:pRg st="7" end="7"/>
                                            </p:txEl>
                                          </p:spTgt>
                                        </p:tgtEl>
                                      </p:cBhvr>
                                    </p:animEffect>
                                    <p:anim calcmode="lin" valueType="num">
                                      <p:cBhvr>
                                        <p:cTn id="1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11" end="11"/>
                                            </p:txEl>
                                          </p:spTgt>
                                        </p:tgtEl>
                                        <p:attrNameLst>
                                          <p:attrName>style.visibility</p:attrName>
                                        </p:attrNameLst>
                                      </p:cBhvr>
                                      <p:to>
                                        <p:strVal val="visible"/>
                                      </p:to>
                                    </p:set>
                                    <p:animEffect transition="in" filter="fade">
                                      <p:cBhvr>
                                        <p:cTn id="24" dur="1000"/>
                                        <p:tgtEl>
                                          <p:spTgt spid="7">
                                            <p:txEl>
                                              <p:pRg st="11" end="11"/>
                                            </p:txEl>
                                          </p:spTgt>
                                        </p:tgtEl>
                                      </p:cBhvr>
                                    </p:animEffect>
                                    <p:anim calcmode="lin" valueType="num">
                                      <p:cBhvr>
                                        <p:cTn id="25"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3" end="13"/>
                                            </p:txEl>
                                          </p:spTgt>
                                        </p:tgtEl>
                                        <p:attrNameLst>
                                          <p:attrName>style.visibility</p:attrName>
                                        </p:attrNameLst>
                                      </p:cBhvr>
                                      <p:to>
                                        <p:strVal val="visible"/>
                                      </p:to>
                                    </p:set>
                                    <p:animEffect transition="in" filter="fade">
                                      <p:cBhvr>
                                        <p:cTn id="29" dur="1000"/>
                                        <p:tgtEl>
                                          <p:spTgt spid="7">
                                            <p:txEl>
                                              <p:pRg st="13" end="13"/>
                                            </p:txEl>
                                          </p:spTgt>
                                        </p:tgtEl>
                                      </p:cBhvr>
                                    </p:animEffect>
                                    <p:anim calcmode="lin" valueType="num">
                                      <p:cBhvr>
                                        <p:cTn id="3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14" end="14"/>
                                            </p:txEl>
                                          </p:spTgt>
                                        </p:tgtEl>
                                        <p:attrNameLst>
                                          <p:attrName>style.visibility</p:attrName>
                                        </p:attrNameLst>
                                      </p:cBhvr>
                                      <p:to>
                                        <p:strVal val="visible"/>
                                      </p:to>
                                    </p:set>
                                    <p:animEffect transition="in" filter="fade">
                                      <p:cBhvr>
                                        <p:cTn id="34" dur="1000"/>
                                        <p:tgtEl>
                                          <p:spTgt spid="7">
                                            <p:txEl>
                                              <p:pRg st="14" end="14"/>
                                            </p:txEl>
                                          </p:spTgt>
                                        </p:tgtEl>
                                      </p:cBhvr>
                                    </p:animEffect>
                                    <p:anim calcmode="lin" valueType="num">
                                      <p:cBhvr>
                                        <p:cTn id="35"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05690-BF1A-ACA7-D039-3B44B270016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74FA9BD-1ADF-58C6-8B79-AFA510E36095}"/>
              </a:ext>
            </a:extLst>
          </p:cNvPr>
          <p:cNvSpPr>
            <a:spLocks noGrp="1"/>
          </p:cNvSpPr>
          <p:nvPr>
            <p:ph type="title"/>
          </p:nvPr>
        </p:nvSpPr>
        <p:spPr>
          <a:xfrm>
            <a:off x="78154" y="7088"/>
            <a:ext cx="8989646" cy="914400"/>
          </a:xfrm>
        </p:spPr>
        <p:txBody>
          <a:bodyPr>
            <a:normAutofit/>
          </a:bodyPr>
          <a:lstStyle/>
          <a:p>
            <a:pPr algn="l"/>
            <a:r>
              <a:rPr lang="en-US" sz="2700" dirty="0"/>
              <a:t>Psalm 16 – The Joy of God’s Presence</a:t>
            </a:r>
            <a:br>
              <a:rPr lang="en-US" sz="3600" dirty="0"/>
            </a:br>
            <a:r>
              <a:rPr lang="en-US" sz="2200" dirty="0">
                <a:solidFill>
                  <a:schemeClr val="tx2">
                    <a:lumMod val="60000"/>
                    <a:lumOff val="40000"/>
                  </a:schemeClr>
                </a:solidFill>
              </a:rPr>
              <a:t>Showcases the fulfillment of abiding in God’s presence</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5C1F8E94-4A88-14B8-6F4B-9F10695570B9}"/>
              </a:ext>
            </a:extLst>
          </p:cNvPr>
          <p:cNvSpPr txBox="1"/>
          <p:nvPr/>
        </p:nvSpPr>
        <p:spPr>
          <a:xfrm>
            <a:off x="77177" y="1371600"/>
            <a:ext cx="8989646" cy="4616648"/>
          </a:xfrm>
          <a:prstGeom prst="rect">
            <a:avLst/>
          </a:prstGeom>
          <a:noFill/>
        </p:spPr>
        <p:txBody>
          <a:bodyPr wrap="square">
            <a:spAutoFit/>
          </a:bodyPr>
          <a:lstStyle/>
          <a:p>
            <a:r>
              <a:rPr lang="en-US" b="1" dirty="0"/>
              <a:t>Psalm 16 </a:t>
            </a:r>
            <a:r>
              <a:rPr lang="en-US" dirty="0"/>
              <a:t>captures the essence of eternal life and the joy that comes from </a:t>
            </a:r>
            <a:r>
              <a:rPr lang="en-US" u="sng" dirty="0"/>
              <a:t>living in God’s presence</a:t>
            </a:r>
            <a:r>
              <a:rPr lang="en-US" dirty="0"/>
              <a:t>.</a:t>
            </a:r>
            <a:endParaRPr lang="en-US" dirty="0">
              <a:latin typeface="+mn-lt"/>
            </a:endParaRPr>
          </a:p>
          <a:p>
            <a:endParaRPr lang="en-US" sz="1600" dirty="0">
              <a:latin typeface="+mn-lt"/>
            </a:endParaRPr>
          </a:p>
          <a:p>
            <a:endParaRPr lang="en-US" sz="1600" dirty="0">
              <a:latin typeface="+mn-lt"/>
            </a:endParaRPr>
          </a:p>
          <a:p>
            <a:r>
              <a:rPr lang="en-US" dirty="0">
                <a:latin typeface="+mn-lt"/>
              </a:rPr>
              <a:t>Key Verses:</a:t>
            </a:r>
          </a:p>
          <a:p>
            <a:endParaRPr lang="en-US" dirty="0">
              <a:latin typeface="+mn-lt"/>
            </a:endParaRPr>
          </a:p>
          <a:p>
            <a:r>
              <a:rPr lang="en-US" b="1" i="1" dirty="0">
                <a:latin typeface="+mn-lt"/>
              </a:rPr>
              <a:t>Psalm 16:8</a:t>
            </a:r>
            <a:r>
              <a:rPr lang="en-US" i="1" dirty="0">
                <a:latin typeface="+mn-lt"/>
              </a:rPr>
              <a:t> "I keep my eyes always on the LORD. With him at my right hand, I will not be shaken." </a:t>
            </a:r>
          </a:p>
          <a:p>
            <a:endParaRPr lang="en-US" i="1" dirty="0">
              <a:latin typeface="+mn-lt"/>
            </a:endParaRPr>
          </a:p>
          <a:p>
            <a:r>
              <a:rPr lang="en-US" b="1" i="1" dirty="0"/>
              <a:t>Psalm 16:11</a:t>
            </a:r>
            <a:r>
              <a:rPr lang="en-US" i="1" dirty="0"/>
              <a:t> </a:t>
            </a:r>
            <a:r>
              <a:rPr lang="en-US" i="1" dirty="0">
                <a:latin typeface="+mn-lt"/>
              </a:rPr>
              <a:t>"You make known to me the path of life; you will fill me with joy in your presence, with eternal pleasures at your right hand."</a:t>
            </a:r>
            <a:endParaRPr lang="en-US" dirty="0">
              <a:latin typeface="+mn-lt"/>
            </a:endParaRPr>
          </a:p>
          <a:p>
            <a:endParaRPr lang="en-US" sz="1600" dirty="0">
              <a:latin typeface="+mn-lt"/>
            </a:endParaRPr>
          </a:p>
          <a:p>
            <a:endParaRPr lang="en-US" sz="1600" dirty="0">
              <a:latin typeface="+mn-lt"/>
            </a:endParaRPr>
          </a:p>
          <a:p>
            <a:r>
              <a:rPr lang="en-US" sz="1600" dirty="0">
                <a:latin typeface="+mn-lt"/>
              </a:rPr>
              <a:t>Key Themes:</a:t>
            </a:r>
          </a:p>
          <a:p>
            <a:endParaRPr lang="en-US" sz="1600" dirty="0">
              <a:latin typeface="+mn-lt"/>
            </a:endParaRPr>
          </a:p>
          <a:p>
            <a:pPr marL="742950" lvl="1" indent="-285750">
              <a:buFont typeface="Arial" panose="020B0604020202020204" pitchFamily="34" charset="0"/>
              <a:buChar char="•"/>
            </a:pPr>
            <a:r>
              <a:rPr lang="en-US" dirty="0">
                <a:latin typeface="+mn-lt"/>
              </a:rPr>
              <a:t>Speaks of the joy and security found in a close relationship with God.</a:t>
            </a:r>
          </a:p>
          <a:p>
            <a:pPr marL="742950" lvl="1" indent="-285750">
              <a:buFont typeface="Arial" panose="020B0604020202020204" pitchFamily="34" charset="0"/>
              <a:buChar char="•"/>
            </a:pPr>
            <a:r>
              <a:rPr lang="en-US" dirty="0">
                <a:latin typeface="+mn-lt"/>
              </a:rPr>
              <a:t>Emphasizes the eternal and fulfilling nature of being in God’s presence.</a:t>
            </a:r>
          </a:p>
        </p:txBody>
      </p:sp>
    </p:spTree>
    <p:extLst>
      <p:ext uri="{BB962C8B-B14F-4D97-AF65-F5344CB8AC3E}">
        <p14:creationId xmlns:p14="http://schemas.microsoft.com/office/powerpoint/2010/main" val="276039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Effect transition="in" filter="fade">
                                      <p:cBhvr>
                                        <p:cTn id="17" dur="1000"/>
                                        <p:tgtEl>
                                          <p:spTgt spid="7">
                                            <p:txEl>
                                              <p:pRg st="7" end="7"/>
                                            </p:txEl>
                                          </p:spTgt>
                                        </p:tgtEl>
                                      </p:cBhvr>
                                    </p:animEffect>
                                    <p:anim calcmode="lin" valueType="num">
                                      <p:cBhvr>
                                        <p:cTn id="1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fade">
                                      <p:cBhvr>
                                        <p:cTn id="24" dur="1000"/>
                                        <p:tgtEl>
                                          <p:spTgt spid="7">
                                            <p:txEl>
                                              <p:pRg st="10" end="10"/>
                                            </p:txEl>
                                          </p:spTgt>
                                        </p:tgtEl>
                                      </p:cBhvr>
                                    </p:animEffect>
                                    <p:anim calcmode="lin" valueType="num">
                                      <p:cBhvr>
                                        <p:cTn id="2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animEffect transition="in" filter="fade">
                                      <p:cBhvr>
                                        <p:cTn id="29" dur="1000"/>
                                        <p:tgtEl>
                                          <p:spTgt spid="7">
                                            <p:txEl>
                                              <p:pRg st="12" end="12"/>
                                            </p:txEl>
                                          </p:spTgt>
                                        </p:tgtEl>
                                      </p:cBhvr>
                                    </p:animEffect>
                                    <p:anim calcmode="lin" valueType="num">
                                      <p:cBhvr>
                                        <p:cTn id="3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13" end="13"/>
                                            </p:txEl>
                                          </p:spTgt>
                                        </p:tgtEl>
                                        <p:attrNameLst>
                                          <p:attrName>style.visibility</p:attrName>
                                        </p:attrNameLst>
                                      </p:cBhvr>
                                      <p:to>
                                        <p:strVal val="visible"/>
                                      </p:to>
                                    </p:set>
                                    <p:animEffect transition="in" filter="fade">
                                      <p:cBhvr>
                                        <p:cTn id="34" dur="1000"/>
                                        <p:tgtEl>
                                          <p:spTgt spid="7">
                                            <p:txEl>
                                              <p:pRg st="13" end="13"/>
                                            </p:txEl>
                                          </p:spTgt>
                                        </p:tgtEl>
                                      </p:cBhvr>
                                    </p:animEffect>
                                    <p:anim calcmode="lin" valueType="num">
                                      <p:cBhvr>
                                        <p:cTn id="35"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The Union between God and You</a:t>
            </a:r>
            <a:br>
              <a:rPr lang="en-US" sz="3600" dirty="0"/>
            </a:br>
            <a:r>
              <a:rPr lang="en-US" sz="2400" dirty="0">
                <a:solidFill>
                  <a:schemeClr val="tx2">
                    <a:lumMod val="60000"/>
                    <a:lumOff val="40000"/>
                  </a:schemeClr>
                </a:solidFill>
              </a:rPr>
              <a:t>Christianity is rooted in a living relationship with God</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143000"/>
            <a:ext cx="8686800" cy="5355312"/>
          </a:xfrm>
          <a:prstGeom prst="rect">
            <a:avLst/>
          </a:prstGeom>
          <a:noFill/>
        </p:spPr>
        <p:txBody>
          <a:bodyPr wrap="square">
            <a:spAutoFit/>
          </a:bodyPr>
          <a:lstStyle/>
          <a:p>
            <a:r>
              <a:rPr lang="en-US" b="1" i="1" dirty="0">
                <a:latin typeface="+mn-lt"/>
              </a:rPr>
              <a:t>John 15:5</a:t>
            </a:r>
            <a:r>
              <a:rPr lang="en-US" i="1" dirty="0">
                <a:latin typeface="+mn-lt"/>
              </a:rPr>
              <a:t> "I am the vine; you are the branches. If you remain in me and I in you, you will bear much fruit; apart from me you can do nothing."</a:t>
            </a:r>
            <a:endParaRPr lang="en-US" b="1" i="1" dirty="0">
              <a:latin typeface="+mn-lt"/>
            </a:endParaRPr>
          </a:p>
          <a:p>
            <a:endParaRPr lang="en-US" b="1" i="1" dirty="0">
              <a:latin typeface="+mn-lt"/>
            </a:endParaRPr>
          </a:p>
          <a:p>
            <a:r>
              <a:rPr lang="en-US" b="1" i="1" dirty="0">
                <a:latin typeface="+mn-lt"/>
              </a:rPr>
              <a:t>Galatians 2:20</a:t>
            </a:r>
            <a:r>
              <a:rPr lang="en-US" i="1" dirty="0">
                <a:latin typeface="+mn-lt"/>
              </a:rPr>
              <a:t> "I have been crucified with Christ and I no longer live, but Christ lives in me."</a:t>
            </a:r>
            <a:endParaRPr lang="en-US" b="1" i="1" dirty="0">
              <a:latin typeface="+mn-lt"/>
            </a:endParaRPr>
          </a:p>
          <a:p>
            <a:endParaRPr lang="en-US" i="1" dirty="0">
              <a:latin typeface="+mn-lt"/>
            </a:endParaRPr>
          </a:p>
          <a:p>
            <a:r>
              <a:rPr lang="en-US" b="1" i="1" dirty="0">
                <a:latin typeface="+mn-lt"/>
              </a:rPr>
              <a:t>Colossians 1:27</a:t>
            </a:r>
            <a:r>
              <a:rPr lang="en-US" i="1" dirty="0">
                <a:latin typeface="+mn-lt"/>
              </a:rPr>
              <a:t> "Christ in you, the hope of glory."</a:t>
            </a:r>
            <a:endParaRPr lang="en-US" dirty="0">
              <a:latin typeface="+mn-lt"/>
            </a:endParaRPr>
          </a:p>
          <a:p>
            <a:endParaRPr lang="en-US" dirty="0">
              <a:latin typeface="+mn-lt"/>
            </a:endParaRPr>
          </a:p>
          <a:p>
            <a:r>
              <a:rPr lang="en-US" b="1" i="1" dirty="0">
                <a:latin typeface="+mn-lt"/>
              </a:rPr>
              <a:t>Psalm 139:7-10 </a:t>
            </a:r>
            <a:r>
              <a:rPr lang="en-US" i="1" dirty="0">
                <a:latin typeface="+mn-lt"/>
              </a:rPr>
              <a:t>"Where can I go from your Spirit? Where can I flee from your presence? If I go up to the heavens, you are there; if I make my bed in the depths, you are there. If I rise on the wings of the dawn, if I settle on the far side of the sea, even there your hand will guide me, your right hand will hold me fast."</a:t>
            </a:r>
          </a:p>
          <a:p>
            <a:endParaRPr lang="en-US" i="1" dirty="0">
              <a:latin typeface="+mn-lt"/>
            </a:endParaRPr>
          </a:p>
          <a:p>
            <a:r>
              <a:rPr lang="en-US" b="1" i="1" dirty="0">
                <a:latin typeface="+mn-lt"/>
              </a:rPr>
              <a:t>Psalm 73:23-26 </a:t>
            </a:r>
            <a:r>
              <a:rPr lang="en-US" i="1" dirty="0">
                <a:latin typeface="+mn-lt"/>
              </a:rPr>
              <a:t>"Yet I am always with you; you hold me by my right hand. You guide me with your counsel, and afterward you will take me into glory. Whom have I in heaven but you? And earth has nothing I desire besides you."</a:t>
            </a:r>
          </a:p>
          <a:p>
            <a:endParaRPr lang="en-US" i="1" dirty="0">
              <a:latin typeface="+mn-lt"/>
            </a:endParaRPr>
          </a:p>
          <a:p>
            <a:r>
              <a:rPr lang="en-US" b="1" i="1" dirty="0">
                <a:latin typeface="+mn-lt"/>
              </a:rPr>
              <a:t>Psalm 16:8 </a:t>
            </a:r>
            <a:r>
              <a:rPr lang="en-US" i="1" dirty="0">
                <a:latin typeface="+mn-lt"/>
              </a:rPr>
              <a:t>"I keep my eyes always on the LORD. With him at my right hand, I will not be shaken."</a:t>
            </a:r>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58572-9F91-06D1-E0C0-571A33D255D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BB0A31C-E979-D060-8024-DCA439267AF4}"/>
              </a:ext>
            </a:extLst>
          </p:cNvPr>
          <p:cNvSpPr>
            <a:spLocks noGrp="1"/>
          </p:cNvSpPr>
          <p:nvPr>
            <p:ph type="title"/>
          </p:nvPr>
        </p:nvSpPr>
        <p:spPr>
          <a:xfrm>
            <a:off x="228600" y="7088"/>
            <a:ext cx="8839200" cy="914400"/>
          </a:xfrm>
        </p:spPr>
        <p:txBody>
          <a:bodyPr>
            <a:normAutofit fontScale="90000"/>
          </a:bodyPr>
          <a:lstStyle/>
          <a:p>
            <a:pPr algn="l"/>
            <a:r>
              <a:rPr lang="en-US" sz="3600" dirty="0"/>
              <a:t>The Union between Christ and the Church</a:t>
            </a:r>
            <a:br>
              <a:rPr lang="en-US" sz="3600" dirty="0"/>
            </a:br>
            <a:r>
              <a:rPr lang="en-US" sz="2400" dirty="0">
                <a:solidFill>
                  <a:schemeClr val="tx2">
                    <a:lumMod val="60000"/>
                    <a:lumOff val="40000"/>
                  </a:schemeClr>
                </a:solidFill>
              </a:rPr>
              <a:t>The "Bride of Christ” and the "Body of Christ”</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9862B9E8-2A49-1257-E14D-790E7FBDFF14}"/>
              </a:ext>
            </a:extLst>
          </p:cNvPr>
          <p:cNvSpPr txBox="1"/>
          <p:nvPr/>
        </p:nvSpPr>
        <p:spPr>
          <a:xfrm>
            <a:off x="228600" y="957141"/>
            <a:ext cx="8686800" cy="5909310"/>
          </a:xfrm>
          <a:prstGeom prst="rect">
            <a:avLst/>
          </a:prstGeom>
          <a:noFill/>
        </p:spPr>
        <p:txBody>
          <a:bodyPr wrap="square">
            <a:spAutoFit/>
          </a:bodyPr>
          <a:lstStyle/>
          <a:p>
            <a:r>
              <a:rPr lang="en-US" b="1" i="1" dirty="0">
                <a:latin typeface="+mn-lt"/>
              </a:rPr>
              <a:t>1 Corinthians 12:12-13 </a:t>
            </a:r>
            <a:r>
              <a:rPr lang="en-US" i="1" dirty="0">
                <a:latin typeface="+mn-lt"/>
              </a:rPr>
              <a:t>"Just as a body, though one, has many parts, but all its many parts form one body, so it is with Christ. For we were all baptized by one Spirit so as to form one body."</a:t>
            </a:r>
          </a:p>
          <a:p>
            <a:endParaRPr lang="en-US" b="1" i="1" dirty="0">
              <a:latin typeface="+mn-lt"/>
            </a:endParaRPr>
          </a:p>
          <a:p>
            <a:r>
              <a:rPr lang="en-US" b="1" i="1" dirty="0">
                <a:latin typeface="+mn-lt"/>
              </a:rPr>
              <a:t>Ephesians 5:25-27 </a:t>
            </a:r>
            <a:r>
              <a:rPr lang="en-US" i="1" dirty="0">
                <a:latin typeface="+mn-lt"/>
              </a:rPr>
              <a:t>"Husbands, love your wives, just as Christ loved the church and gave himself up for her to make her holy."</a:t>
            </a:r>
          </a:p>
          <a:p>
            <a:endParaRPr lang="en-US" b="1" i="1" dirty="0">
              <a:latin typeface="+mn-lt"/>
            </a:endParaRPr>
          </a:p>
          <a:p>
            <a:r>
              <a:rPr lang="en-US" b="1" i="1" dirty="0">
                <a:latin typeface="+mn-lt"/>
              </a:rPr>
              <a:t>John 17:20-21 </a:t>
            </a:r>
            <a:r>
              <a:rPr lang="en-US" i="1" dirty="0">
                <a:latin typeface="+mn-lt"/>
              </a:rPr>
              <a:t>"My prayer is not for them alone. I pray also for those who will believe in me through their message, that all of them may be one, Father, just as you are in me and I am in you."</a:t>
            </a:r>
          </a:p>
          <a:p>
            <a:endParaRPr lang="en-US" i="1" dirty="0">
              <a:latin typeface="+mn-lt"/>
            </a:endParaRPr>
          </a:p>
          <a:p>
            <a:r>
              <a:rPr lang="en-US" b="1" i="1" dirty="0">
                <a:latin typeface="+mn-lt"/>
              </a:rPr>
              <a:t>Psalm 133:1 </a:t>
            </a:r>
            <a:r>
              <a:rPr lang="en-US" i="1" dirty="0">
                <a:latin typeface="+mn-lt"/>
              </a:rPr>
              <a:t>"How good and pleasant it is when God’s people live together in unity!"</a:t>
            </a:r>
          </a:p>
          <a:p>
            <a:endParaRPr lang="en-US" i="1" dirty="0">
              <a:latin typeface="+mn-lt"/>
            </a:endParaRPr>
          </a:p>
          <a:p>
            <a:r>
              <a:rPr lang="en-US" b="1" i="1" dirty="0">
                <a:latin typeface="+mn-lt"/>
              </a:rPr>
              <a:t>Psalm 22:22-25 </a:t>
            </a:r>
            <a:r>
              <a:rPr lang="en-US" i="1" dirty="0">
                <a:latin typeface="+mn-lt"/>
              </a:rPr>
              <a:t>"I will declare your name to my people; in the assembly I will praise you. You who fear the LORD, praise him!"</a:t>
            </a:r>
          </a:p>
          <a:p>
            <a:endParaRPr lang="en-US" i="1" dirty="0">
              <a:latin typeface="+mn-lt"/>
            </a:endParaRPr>
          </a:p>
          <a:p>
            <a:r>
              <a:rPr lang="en-US" b="1" i="1" dirty="0">
                <a:latin typeface="+mn-lt"/>
              </a:rPr>
              <a:t>Psalm 87:3-5 </a:t>
            </a:r>
            <a:r>
              <a:rPr lang="en-US" i="1" dirty="0">
                <a:latin typeface="+mn-lt"/>
              </a:rPr>
              <a:t>"Glorious things are said of you, city of God: 'I will record Rahab and Babylon among those who acknowledge me—Philistia too, and </a:t>
            </a:r>
            <a:r>
              <a:rPr lang="en-US" i="1" dirty="0" err="1">
                <a:latin typeface="+mn-lt"/>
              </a:rPr>
              <a:t>Tyre</a:t>
            </a:r>
            <a:r>
              <a:rPr lang="en-US" i="1" dirty="0">
                <a:latin typeface="+mn-lt"/>
              </a:rPr>
              <a:t>, along with Cush—and will say, ‘This one was born in Zion.’ Indeed, of Zion it will be said, 'This one and that one were born in her, and the Most High himself will establish her.'"</a:t>
            </a:r>
          </a:p>
        </p:txBody>
      </p:sp>
    </p:spTree>
    <p:extLst>
      <p:ext uri="{BB962C8B-B14F-4D97-AF65-F5344CB8AC3E}">
        <p14:creationId xmlns:p14="http://schemas.microsoft.com/office/powerpoint/2010/main" val="129663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541E6-0127-F47D-09E7-56E41712995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B27146-736C-0784-9941-7E7E6E2080CF}"/>
              </a:ext>
            </a:extLst>
          </p:cNvPr>
          <p:cNvSpPr>
            <a:spLocks noGrp="1"/>
          </p:cNvSpPr>
          <p:nvPr>
            <p:ph type="title"/>
          </p:nvPr>
        </p:nvSpPr>
        <p:spPr>
          <a:xfrm>
            <a:off x="228600" y="7088"/>
            <a:ext cx="8839200" cy="914400"/>
          </a:xfrm>
        </p:spPr>
        <p:txBody>
          <a:bodyPr>
            <a:normAutofit fontScale="90000"/>
          </a:bodyPr>
          <a:lstStyle/>
          <a:p>
            <a:pPr algn="l"/>
            <a:r>
              <a:rPr lang="en-US" sz="3600" dirty="0"/>
              <a:t>The Union between Husband and Wife</a:t>
            </a:r>
            <a:br>
              <a:rPr lang="en-US" sz="3600" dirty="0"/>
            </a:br>
            <a:r>
              <a:rPr lang="en-US" sz="2400" dirty="0">
                <a:solidFill>
                  <a:schemeClr val="tx2">
                    <a:lumMod val="60000"/>
                    <a:lumOff val="40000"/>
                  </a:schemeClr>
                </a:solidFill>
              </a:rPr>
              <a:t>Marriage reflects the relationship between Christ and Church</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72079D1E-A94E-E925-57F4-DFE1B4C89996}"/>
              </a:ext>
            </a:extLst>
          </p:cNvPr>
          <p:cNvSpPr txBox="1"/>
          <p:nvPr/>
        </p:nvSpPr>
        <p:spPr>
          <a:xfrm>
            <a:off x="228600" y="1143000"/>
            <a:ext cx="8686800" cy="5078313"/>
          </a:xfrm>
          <a:prstGeom prst="rect">
            <a:avLst/>
          </a:prstGeom>
          <a:noFill/>
        </p:spPr>
        <p:txBody>
          <a:bodyPr wrap="square">
            <a:spAutoFit/>
          </a:bodyPr>
          <a:lstStyle/>
          <a:p>
            <a:r>
              <a:rPr lang="en-US" b="1" i="1" dirty="0">
                <a:latin typeface="+mn-lt"/>
              </a:rPr>
              <a:t>Ephesians 5:31-32 </a:t>
            </a:r>
            <a:r>
              <a:rPr lang="en-US" i="1" dirty="0">
                <a:latin typeface="+mn-lt"/>
              </a:rPr>
              <a:t>"For this reason a man will leave his father and mother and be united to his wife, and the two will become one flesh. This is a profound mystery - but I am talking about Christ and the church."</a:t>
            </a:r>
          </a:p>
          <a:p>
            <a:endParaRPr lang="en-US" b="1" i="1" dirty="0">
              <a:latin typeface="+mn-lt"/>
            </a:endParaRPr>
          </a:p>
          <a:p>
            <a:r>
              <a:rPr lang="en-US" b="1" i="1" dirty="0">
                <a:latin typeface="+mn-lt"/>
              </a:rPr>
              <a:t>Genesis 2:24 </a:t>
            </a:r>
            <a:r>
              <a:rPr lang="en-US" i="1" dirty="0">
                <a:latin typeface="+mn-lt"/>
              </a:rPr>
              <a:t>"That is why a man leaves his father and mother and is united to his wife, and they become one flesh."</a:t>
            </a:r>
          </a:p>
          <a:p>
            <a:endParaRPr lang="en-US" b="1" i="1" dirty="0">
              <a:latin typeface="+mn-lt"/>
            </a:endParaRPr>
          </a:p>
          <a:p>
            <a:r>
              <a:rPr lang="en-US" b="1" i="1" dirty="0">
                <a:latin typeface="+mn-lt"/>
              </a:rPr>
              <a:t>Matthew 19:5-6 </a:t>
            </a:r>
            <a:r>
              <a:rPr lang="en-US" i="1" dirty="0">
                <a:latin typeface="+mn-lt"/>
              </a:rPr>
              <a:t>"So they are no longer two, but one flesh. Therefore, what God has joined together, let no one separate."</a:t>
            </a:r>
          </a:p>
          <a:p>
            <a:endParaRPr lang="en-US" b="1" i="1" dirty="0">
              <a:latin typeface="+mn-lt"/>
            </a:endParaRPr>
          </a:p>
          <a:p>
            <a:r>
              <a:rPr lang="en-US" b="1" i="1" dirty="0">
                <a:latin typeface="+mn-lt"/>
              </a:rPr>
              <a:t>Psalm 45:6-7  </a:t>
            </a:r>
            <a:r>
              <a:rPr lang="en-US" i="1" dirty="0">
                <a:latin typeface="+mn-lt"/>
              </a:rPr>
              <a:t>"Your throne, O God, will last forever and ever; a scepter of justice will be the scepter of your kingdom. You love righteousness and hate wickedness; therefore God, your God, has set you above your companions by anointing you with the oil of joy."</a:t>
            </a:r>
          </a:p>
          <a:p>
            <a:endParaRPr lang="en-US" b="1" i="1" dirty="0">
              <a:latin typeface="+mn-lt"/>
            </a:endParaRPr>
          </a:p>
          <a:p>
            <a:r>
              <a:rPr lang="en-US" b="1" i="1" dirty="0">
                <a:latin typeface="+mn-lt"/>
              </a:rPr>
              <a:t>Psalm 128:3-4 </a:t>
            </a:r>
            <a:r>
              <a:rPr lang="en-US" i="1" dirty="0">
                <a:latin typeface="+mn-lt"/>
              </a:rPr>
              <a:t>"Your wife will be like a fruitful vine within your house; your children will be like olive shoots around your table. Yes, this will be the blessing for the man who fears the LORD."</a:t>
            </a:r>
          </a:p>
        </p:txBody>
      </p:sp>
    </p:spTree>
    <p:extLst>
      <p:ext uri="{BB962C8B-B14F-4D97-AF65-F5344CB8AC3E}">
        <p14:creationId xmlns:p14="http://schemas.microsoft.com/office/powerpoint/2010/main" val="163015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FDA3-2141-CF89-5CF7-C83D685354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E70B37F-5023-32A9-205A-BB07E75BD79E}"/>
              </a:ext>
            </a:extLst>
          </p:cNvPr>
          <p:cNvSpPr>
            <a:spLocks noGrp="1"/>
          </p:cNvSpPr>
          <p:nvPr>
            <p:ph type="title"/>
          </p:nvPr>
        </p:nvSpPr>
        <p:spPr>
          <a:xfrm>
            <a:off x="228600" y="7088"/>
            <a:ext cx="8839200" cy="914400"/>
          </a:xfrm>
        </p:spPr>
        <p:txBody>
          <a:bodyPr>
            <a:normAutofit fontScale="90000"/>
          </a:bodyPr>
          <a:lstStyle/>
          <a:p>
            <a:pPr algn="l"/>
            <a:r>
              <a:rPr lang="en-US" sz="3600" dirty="0"/>
              <a:t>Potential Dysfunctions and Barriers</a:t>
            </a:r>
            <a:br>
              <a:rPr lang="en-US" sz="3600" dirty="0"/>
            </a:br>
            <a:r>
              <a:rPr lang="en-US" sz="2400" dirty="0">
                <a:solidFill>
                  <a:schemeClr val="tx2">
                    <a:lumMod val="60000"/>
                    <a:lumOff val="40000"/>
                  </a:schemeClr>
                </a:solidFill>
              </a:rPr>
              <a:t>That which disrupts your relationship with God and others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6F9BD915-0E68-CE39-4F4F-2CC608AFE7F3}"/>
              </a:ext>
            </a:extLst>
          </p:cNvPr>
          <p:cNvSpPr txBox="1"/>
          <p:nvPr/>
        </p:nvSpPr>
        <p:spPr>
          <a:xfrm>
            <a:off x="228600" y="1143000"/>
            <a:ext cx="8686800" cy="4801314"/>
          </a:xfrm>
          <a:prstGeom prst="rect">
            <a:avLst/>
          </a:prstGeom>
          <a:noFill/>
        </p:spPr>
        <p:txBody>
          <a:bodyPr wrap="square">
            <a:spAutoFit/>
          </a:bodyPr>
          <a:lstStyle/>
          <a:p>
            <a:r>
              <a:rPr lang="en-US" b="1" i="1" dirty="0">
                <a:latin typeface="+mn-lt"/>
              </a:rPr>
              <a:t>Numbers 15:38-39</a:t>
            </a:r>
            <a:r>
              <a:rPr lang="en-US" i="1" dirty="0">
                <a:latin typeface="+mn-lt"/>
              </a:rPr>
              <a:t> "You will have these tassels to look at and so you will remember all the commands of the LORD, that you may obey them and not prostitute yourselves by chasing after the lusts of your own hearts and eyes."</a:t>
            </a:r>
          </a:p>
          <a:p>
            <a:endParaRPr lang="en-US" b="1" i="1" dirty="0">
              <a:latin typeface="+mn-lt"/>
            </a:endParaRPr>
          </a:p>
          <a:p>
            <a:r>
              <a:rPr lang="en-US" b="1" i="1" dirty="0">
                <a:latin typeface="+mn-lt"/>
              </a:rPr>
              <a:t>Jeremiah 2:13</a:t>
            </a:r>
            <a:r>
              <a:rPr lang="en-US" i="1" dirty="0">
                <a:latin typeface="+mn-lt"/>
              </a:rPr>
              <a:t> "My people have committed two sins: They have forsaken me, the spring of living water, and have dug their own cisterns, broken cisterns that cannot hold water."</a:t>
            </a:r>
          </a:p>
          <a:p>
            <a:endParaRPr lang="en-US" b="1" i="1" dirty="0">
              <a:latin typeface="+mn-lt"/>
            </a:endParaRPr>
          </a:p>
          <a:p>
            <a:r>
              <a:rPr lang="en-US" b="1" i="1" dirty="0">
                <a:latin typeface="+mn-lt"/>
              </a:rPr>
              <a:t>1 John 2:15-16</a:t>
            </a:r>
            <a:r>
              <a:rPr lang="en-US" i="1" dirty="0">
                <a:latin typeface="+mn-lt"/>
              </a:rPr>
              <a:t> "Do not love the world or anything in the world. If anyone loves the world, love for the Father is not in them."</a:t>
            </a:r>
          </a:p>
          <a:p>
            <a:endParaRPr lang="en-US" b="1" i="1" dirty="0">
              <a:latin typeface="+mn-lt"/>
            </a:endParaRPr>
          </a:p>
          <a:p>
            <a:r>
              <a:rPr lang="en-US" b="1" i="1" dirty="0">
                <a:latin typeface="+mn-lt"/>
              </a:rPr>
              <a:t>Psalm 106:35-37  </a:t>
            </a:r>
            <a:r>
              <a:rPr lang="en-US" i="1" dirty="0">
                <a:latin typeface="+mn-lt"/>
              </a:rPr>
              <a:t>"They mingled with the nations and adopted their customs. They worshiped their idols, which became a snare to them."</a:t>
            </a:r>
          </a:p>
          <a:p>
            <a:endParaRPr lang="en-US" b="1" i="1" dirty="0">
              <a:latin typeface="+mn-lt"/>
            </a:endParaRPr>
          </a:p>
          <a:p>
            <a:r>
              <a:rPr lang="en-US" b="1" i="1" dirty="0">
                <a:latin typeface="+mn-lt"/>
              </a:rPr>
              <a:t>Psalm 51:10-12  </a:t>
            </a:r>
            <a:r>
              <a:rPr lang="en-US" i="1" dirty="0">
                <a:latin typeface="+mn-lt"/>
              </a:rPr>
              <a:t>"Create in me a pure heart, O God, and renew a steadfast spirit within me. Do not cast me from your presence or take your Holy Spirit from me. Restore to me the joy of your salvation and grant me a willing spirit, to sustain me."</a:t>
            </a:r>
          </a:p>
        </p:txBody>
      </p:sp>
    </p:spTree>
    <p:extLst>
      <p:ext uri="{BB962C8B-B14F-4D97-AF65-F5344CB8AC3E}">
        <p14:creationId xmlns:p14="http://schemas.microsoft.com/office/powerpoint/2010/main" val="147600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DCE67-46AB-B632-D33C-0776CA8E809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2B80581-BF6A-BC1C-DECD-F651B65C7A75}"/>
              </a:ext>
            </a:extLst>
          </p:cNvPr>
          <p:cNvSpPr>
            <a:spLocks noGrp="1"/>
          </p:cNvSpPr>
          <p:nvPr>
            <p:ph type="title"/>
          </p:nvPr>
        </p:nvSpPr>
        <p:spPr>
          <a:xfrm>
            <a:off x="228600" y="7088"/>
            <a:ext cx="8839200" cy="914400"/>
          </a:xfrm>
        </p:spPr>
        <p:txBody>
          <a:bodyPr>
            <a:normAutofit fontScale="90000"/>
          </a:bodyPr>
          <a:lstStyle/>
          <a:p>
            <a:pPr algn="l"/>
            <a:r>
              <a:rPr lang="en-US" sz="3600" dirty="0"/>
              <a:t>The Heart of the Christian Gospel</a:t>
            </a:r>
            <a:br>
              <a:rPr lang="en-US" sz="3600" dirty="0"/>
            </a:br>
            <a:r>
              <a:rPr lang="en-US" sz="2400" dirty="0">
                <a:solidFill>
                  <a:schemeClr val="tx2">
                    <a:lumMod val="60000"/>
                    <a:lumOff val="40000"/>
                  </a:schemeClr>
                </a:solidFill>
              </a:rPr>
              <a:t>Restoration of a covenant relationship with God</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0936A936-4695-7FEA-4D11-62AF7D941575}"/>
              </a:ext>
            </a:extLst>
          </p:cNvPr>
          <p:cNvSpPr txBox="1"/>
          <p:nvPr/>
        </p:nvSpPr>
        <p:spPr>
          <a:xfrm>
            <a:off x="228600" y="990600"/>
            <a:ext cx="8686800" cy="5632311"/>
          </a:xfrm>
          <a:prstGeom prst="rect">
            <a:avLst/>
          </a:prstGeom>
          <a:noFill/>
        </p:spPr>
        <p:txBody>
          <a:bodyPr wrap="square">
            <a:spAutoFit/>
          </a:bodyPr>
          <a:lstStyle/>
          <a:p>
            <a:r>
              <a:rPr lang="en-US" b="1" i="1" dirty="0">
                <a:latin typeface="+mn-lt"/>
              </a:rPr>
              <a:t>John 17:3</a:t>
            </a:r>
            <a:r>
              <a:rPr lang="en-US" i="1" dirty="0">
                <a:latin typeface="+mn-lt"/>
              </a:rPr>
              <a:t> "Now this is eternal life: that they know you, the only true God, and Jesus Christ, whom you have sent."</a:t>
            </a:r>
          </a:p>
          <a:p>
            <a:endParaRPr lang="en-US" i="1" dirty="0">
              <a:latin typeface="+mn-lt"/>
            </a:endParaRPr>
          </a:p>
          <a:p>
            <a:r>
              <a:rPr lang="en-US" b="1" i="1" dirty="0">
                <a:latin typeface="+mn-lt"/>
              </a:rPr>
              <a:t>John 14:16-17</a:t>
            </a:r>
            <a:r>
              <a:rPr lang="en-US" i="1" dirty="0">
                <a:latin typeface="+mn-lt"/>
              </a:rPr>
              <a:t> "And I will ask the Father, and he will give you another advocate to help you and be with you forever—the Spirit of truth. The world cannot accept him, because it neither sees him nor knows him. But you know him, for he lives with you and will be in you.“</a:t>
            </a:r>
          </a:p>
          <a:p>
            <a:endParaRPr lang="en-US" i="1" dirty="0">
              <a:latin typeface="+mn-lt"/>
            </a:endParaRPr>
          </a:p>
          <a:p>
            <a:r>
              <a:rPr lang="en-US" b="1" i="1" dirty="0">
                <a:latin typeface="+mn-lt"/>
              </a:rPr>
              <a:t>2 Corinthians 5:17-18</a:t>
            </a:r>
            <a:r>
              <a:rPr lang="en-US" i="1" dirty="0">
                <a:latin typeface="+mn-lt"/>
              </a:rPr>
              <a:t> "Therefore, if anyone is in Christ, the new creation has come: The old has gone, the new is here! All this is from God, who reconciled us to himself through Christ."</a:t>
            </a:r>
          </a:p>
          <a:p>
            <a:endParaRPr lang="en-US" i="1" dirty="0">
              <a:latin typeface="+mn-lt"/>
            </a:endParaRPr>
          </a:p>
          <a:p>
            <a:r>
              <a:rPr lang="en-US" b="1" i="1" dirty="0">
                <a:latin typeface="+mn-lt"/>
              </a:rPr>
              <a:t>Psalm 16:11 </a:t>
            </a:r>
            <a:r>
              <a:rPr lang="en-US" i="1" dirty="0">
                <a:latin typeface="+mn-lt"/>
              </a:rPr>
              <a:t>"You make known to me the path of life; you will fill me with joy in your presence, with eternal pleasures at your right hand.“</a:t>
            </a:r>
          </a:p>
          <a:p>
            <a:endParaRPr lang="en-US" i="1" dirty="0">
              <a:latin typeface="+mn-lt"/>
            </a:endParaRPr>
          </a:p>
          <a:p>
            <a:r>
              <a:rPr lang="en-US" b="1" i="1" dirty="0">
                <a:latin typeface="+mn-lt"/>
              </a:rPr>
              <a:t>Psalm 23:1-4 </a:t>
            </a:r>
            <a:r>
              <a:rPr lang="en-US" i="1" dirty="0">
                <a:latin typeface="+mn-lt"/>
              </a:rPr>
              <a:t>"The LORD is my shepherd, I lack nothing. He makes me lie down in green pastures, he leads me beside quiet waters, he refreshes my soul.”</a:t>
            </a:r>
          </a:p>
          <a:p>
            <a:endParaRPr lang="en-US" i="1" dirty="0">
              <a:latin typeface="+mn-lt"/>
            </a:endParaRPr>
          </a:p>
          <a:p>
            <a:r>
              <a:rPr lang="en-US" b="1" i="1" dirty="0">
                <a:latin typeface="+mn-lt"/>
              </a:rPr>
              <a:t>Psalm 34:8 </a:t>
            </a:r>
            <a:r>
              <a:rPr lang="en-US" i="1" dirty="0">
                <a:latin typeface="+mn-lt"/>
              </a:rPr>
              <a:t>"Taste and see that the LORD is good; blessed is the one who takes refuge in him."</a:t>
            </a:r>
          </a:p>
        </p:txBody>
      </p:sp>
    </p:spTree>
    <p:extLst>
      <p:ext uri="{BB962C8B-B14F-4D97-AF65-F5344CB8AC3E}">
        <p14:creationId xmlns:p14="http://schemas.microsoft.com/office/powerpoint/2010/main" val="299954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Who is God? What does He want?</a:t>
            </a:r>
            <a:br>
              <a:rPr lang="en-US" dirty="0"/>
            </a:br>
            <a:r>
              <a:rPr lang="en-US" sz="2400" dirty="0">
                <a:solidFill>
                  <a:schemeClr val="tx2">
                    <a:lumMod val="60000"/>
                    <a:lumOff val="40000"/>
                  </a:schemeClr>
                </a:solidFill>
              </a:rPr>
              <a:t>The God of Order and Relationships</a:t>
            </a:r>
          </a:p>
        </p:txBody>
      </p:sp>
      <p:sp>
        <p:nvSpPr>
          <p:cNvPr id="6" name="TextBox 5"/>
          <p:cNvSpPr txBox="1"/>
          <p:nvPr/>
        </p:nvSpPr>
        <p:spPr>
          <a:xfrm>
            <a:off x="456475" y="1313527"/>
            <a:ext cx="8001000" cy="707886"/>
          </a:xfrm>
          <a:prstGeom prst="rect">
            <a:avLst/>
          </a:prstGeom>
          <a:noFill/>
        </p:spPr>
        <p:txBody>
          <a:bodyPr wrap="square" rtlCol="0">
            <a:spAutoFit/>
          </a:bodyPr>
          <a:lstStyle/>
          <a:p>
            <a:r>
              <a:rPr lang="en-US" sz="2000" i="1" dirty="0"/>
              <a:t>“Dominion and awe belong to God; He establishes </a:t>
            </a:r>
            <a:r>
              <a:rPr lang="en-US" sz="2000" b="1" i="1" dirty="0"/>
              <a:t>order</a:t>
            </a:r>
            <a:r>
              <a:rPr lang="en-US" sz="2000" i="1" dirty="0"/>
              <a:t> in the heights of heaven.”  Job 25:2</a:t>
            </a:r>
          </a:p>
        </p:txBody>
      </p:sp>
      <p:sp>
        <p:nvSpPr>
          <p:cNvPr id="5" name="TextBox 4"/>
          <p:cNvSpPr txBox="1"/>
          <p:nvPr/>
        </p:nvSpPr>
        <p:spPr>
          <a:xfrm>
            <a:off x="457200" y="2188223"/>
            <a:ext cx="8001000" cy="400110"/>
          </a:xfrm>
          <a:prstGeom prst="rect">
            <a:avLst/>
          </a:prstGeom>
          <a:noFill/>
        </p:spPr>
        <p:txBody>
          <a:bodyPr wrap="square" rtlCol="0">
            <a:spAutoFit/>
          </a:bodyPr>
          <a:lstStyle/>
          <a:p>
            <a:r>
              <a:rPr lang="en-US" sz="2000" i="1" dirty="0"/>
              <a:t>“For God is </a:t>
            </a:r>
            <a:r>
              <a:rPr lang="en-US" sz="2000" b="1" i="1" dirty="0"/>
              <a:t>not</a:t>
            </a:r>
            <a:r>
              <a:rPr lang="en-US" sz="2000" i="1" dirty="0"/>
              <a:t> a God of </a:t>
            </a:r>
            <a:r>
              <a:rPr lang="en-US" sz="2000" b="1" i="1" dirty="0"/>
              <a:t>disorder</a:t>
            </a:r>
            <a:r>
              <a:rPr lang="en-US" sz="2000" i="1" dirty="0"/>
              <a:t>…”  1 Corinthians 14:33</a:t>
            </a:r>
          </a:p>
        </p:txBody>
      </p:sp>
      <p:sp>
        <p:nvSpPr>
          <p:cNvPr id="7" name="TextBox 6"/>
          <p:cNvSpPr txBox="1"/>
          <p:nvPr/>
        </p:nvSpPr>
        <p:spPr>
          <a:xfrm>
            <a:off x="440863" y="4648200"/>
            <a:ext cx="8001000" cy="1323439"/>
          </a:xfrm>
          <a:prstGeom prst="rect">
            <a:avLst/>
          </a:prstGeom>
          <a:noFill/>
        </p:spPr>
        <p:txBody>
          <a:bodyPr wrap="square" rtlCol="0">
            <a:spAutoFit/>
          </a:bodyPr>
          <a:lstStyle/>
          <a:p>
            <a:r>
              <a:rPr lang="en-US" sz="2000" b="1" i="1" dirty="0"/>
              <a:t>Social Disorder is a Human Pathology…</a:t>
            </a:r>
          </a:p>
          <a:p>
            <a:endParaRPr lang="en-US" sz="2000" i="1" dirty="0"/>
          </a:p>
          <a:p>
            <a:r>
              <a:rPr lang="en-US" sz="2000" i="1" dirty="0"/>
              <a:t>“For where you have envy and selfish ambition, there you find </a:t>
            </a:r>
            <a:r>
              <a:rPr lang="en-US" sz="2000" b="1" i="1" dirty="0"/>
              <a:t>disorder</a:t>
            </a:r>
            <a:r>
              <a:rPr lang="en-US" sz="2000" i="1" dirty="0"/>
              <a:t> and every evil practice.”   James 3:16</a:t>
            </a:r>
          </a:p>
        </p:txBody>
      </p:sp>
      <p:sp>
        <p:nvSpPr>
          <p:cNvPr id="8" name="TextBox 7">
            <a:extLst>
              <a:ext uri="{FF2B5EF4-FFF2-40B4-BE49-F238E27FC236}">
                <a16:creationId xmlns:a16="http://schemas.microsoft.com/office/drawing/2014/main" id="{B63F8F93-3898-4768-A7B0-EECD3262DFE0}"/>
              </a:ext>
            </a:extLst>
          </p:cNvPr>
          <p:cNvSpPr txBox="1"/>
          <p:nvPr/>
        </p:nvSpPr>
        <p:spPr>
          <a:xfrm>
            <a:off x="456475" y="2690564"/>
            <a:ext cx="8001000" cy="1015663"/>
          </a:xfrm>
          <a:prstGeom prst="rect">
            <a:avLst/>
          </a:prstGeom>
          <a:noFill/>
        </p:spPr>
        <p:txBody>
          <a:bodyPr wrap="square" rtlCol="0">
            <a:spAutoFit/>
          </a:bodyPr>
          <a:lstStyle/>
          <a:p>
            <a:r>
              <a:rPr lang="en-US" sz="2000" i="1" dirty="0"/>
              <a:t>“He who has My commandments and keeps them, it is he who loves Me. And he who loves Me will be loved by My Father, and I will love him and manifest Myself to him.”  John 14:21</a:t>
            </a:r>
          </a:p>
        </p:txBody>
      </p:sp>
      <p:sp>
        <p:nvSpPr>
          <p:cNvPr id="9" name="TextBox 8">
            <a:extLst>
              <a:ext uri="{FF2B5EF4-FFF2-40B4-BE49-F238E27FC236}">
                <a16:creationId xmlns:a16="http://schemas.microsoft.com/office/drawing/2014/main" id="{344C5C80-4B9B-4AC5-AFE3-3F5CEA5BAE7B}"/>
              </a:ext>
            </a:extLst>
          </p:cNvPr>
          <p:cNvSpPr txBox="1"/>
          <p:nvPr/>
        </p:nvSpPr>
        <p:spPr>
          <a:xfrm>
            <a:off x="440863" y="3838083"/>
            <a:ext cx="8001000" cy="707886"/>
          </a:xfrm>
          <a:prstGeom prst="rect">
            <a:avLst/>
          </a:prstGeom>
          <a:noFill/>
        </p:spPr>
        <p:txBody>
          <a:bodyPr wrap="square" rtlCol="0">
            <a:spAutoFit/>
          </a:bodyPr>
          <a:lstStyle/>
          <a:p>
            <a:r>
              <a:rPr lang="en-US" sz="2000" i="1" dirty="0"/>
              <a:t>“For whoever does the will of God is my brother and sister and mother.”  Mark 3:35</a:t>
            </a:r>
          </a:p>
        </p:txBody>
      </p:sp>
    </p:spTree>
    <p:extLst>
      <p:ext uri="{BB962C8B-B14F-4D97-AF65-F5344CB8AC3E}">
        <p14:creationId xmlns:p14="http://schemas.microsoft.com/office/powerpoint/2010/main" val="142604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God’s Desired State for His Church</a:t>
            </a:r>
            <a:br>
              <a:rPr lang="en-US" dirty="0"/>
            </a:br>
            <a:r>
              <a:rPr lang="en-US" sz="2400" dirty="0">
                <a:solidFill>
                  <a:schemeClr val="tx2">
                    <a:lumMod val="60000"/>
                    <a:lumOff val="40000"/>
                  </a:schemeClr>
                </a:solidFill>
              </a:rPr>
              <a:t>Are we to be Overcomers?</a:t>
            </a:r>
          </a:p>
        </p:txBody>
      </p:sp>
      <p:sp>
        <p:nvSpPr>
          <p:cNvPr id="8" name="Scroll: Horizontal 7">
            <a:extLst>
              <a:ext uri="{FF2B5EF4-FFF2-40B4-BE49-F238E27FC236}">
                <a16:creationId xmlns:a16="http://schemas.microsoft.com/office/drawing/2014/main" id="{69A453F3-7708-406B-AD3E-1DCAA885605C}"/>
              </a:ext>
            </a:extLst>
          </p:cNvPr>
          <p:cNvSpPr/>
          <p:nvPr/>
        </p:nvSpPr>
        <p:spPr>
          <a:xfrm>
            <a:off x="418011" y="1066800"/>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God’s Expectations, Our Accountability</a:t>
            </a:r>
          </a:p>
          <a:p>
            <a:endParaRPr lang="en-US" sz="1600" b="1" i="1" dirty="0"/>
          </a:p>
          <a:p>
            <a:r>
              <a:rPr lang="en-US" sz="1600" b="1" i="1" dirty="0"/>
              <a:t>“I am the Alpha and the Omega, says the LORD God – the one who is, and who was, and who is the come – the All-Powerful!”  Revelation 1:8</a:t>
            </a:r>
          </a:p>
          <a:p>
            <a:endParaRPr lang="en-US" sz="1600" b="1" i="1" dirty="0"/>
          </a:p>
          <a:p>
            <a:r>
              <a:rPr lang="en-US" sz="1600" b="1" i="1" dirty="0"/>
              <a:t>“The one who has an ear had better hear what the Spirit says to the churches. To the one who </a:t>
            </a:r>
            <a:r>
              <a:rPr lang="en-US" sz="1600" b="1" i="1" u="sng" dirty="0"/>
              <a:t>overcomes</a:t>
            </a:r>
            <a:r>
              <a:rPr lang="en-US" sz="1600" b="1" i="1" dirty="0"/>
              <a:t>, I will permit him to eat from the tree of life that is in the paradise of God.”   Revelation 2:7</a:t>
            </a:r>
          </a:p>
          <a:p>
            <a:endParaRPr lang="en-US" sz="1600" b="1" i="1" dirty="0"/>
          </a:p>
          <a:p>
            <a:r>
              <a:rPr lang="en-US" sz="1600" b="1" i="1" dirty="0"/>
              <a:t>“The one who has an ear had better hear what the Spirit says to the churches. The one who </a:t>
            </a:r>
            <a:r>
              <a:rPr lang="en-US" sz="1600" b="1" i="1" u="sng" dirty="0"/>
              <a:t>overcomes</a:t>
            </a:r>
            <a:r>
              <a:rPr lang="en-US" sz="1600" b="1" i="1" dirty="0"/>
              <a:t> will in no way be harmed by the second death.”   Revelation 2:11</a:t>
            </a:r>
          </a:p>
          <a:p>
            <a:endParaRPr lang="en-US" b="1" i="1" dirty="0"/>
          </a:p>
        </p:txBody>
      </p:sp>
      <p:sp>
        <p:nvSpPr>
          <p:cNvPr id="5" name="Scroll: Horizontal 4">
            <a:extLst>
              <a:ext uri="{FF2B5EF4-FFF2-40B4-BE49-F238E27FC236}">
                <a16:creationId xmlns:a16="http://schemas.microsoft.com/office/drawing/2014/main" id="{540DD406-CA7F-4CBB-8DFE-4B82DA4C18A0}"/>
              </a:ext>
            </a:extLst>
          </p:cNvPr>
          <p:cNvSpPr/>
          <p:nvPr/>
        </p:nvSpPr>
        <p:spPr>
          <a:xfrm>
            <a:off x="418011" y="1063911"/>
            <a:ext cx="8307977" cy="5289657"/>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i="1" dirty="0"/>
              <a:t>How to </a:t>
            </a:r>
            <a:r>
              <a:rPr lang="en-US" sz="1600" b="1" i="1" u="sng" dirty="0"/>
              <a:t>Overcome</a:t>
            </a:r>
            <a:r>
              <a:rPr lang="en-US" sz="1600" b="1" i="1" dirty="0"/>
              <a:t> and be Right with God…</a:t>
            </a:r>
          </a:p>
          <a:p>
            <a:endParaRPr lang="en-US" sz="1600" b="1" i="1" dirty="0"/>
          </a:p>
          <a:p>
            <a:r>
              <a:rPr lang="en-US" sz="1600" b="1" i="1" dirty="0"/>
              <a:t>“If anyone says ‘I love God’ and yet hates his fellow Christian, he is a liar because the one who does not love his fellow Christian whom he has seen cannot love God whom he has not seen. And the commandment we have from Him is this: that the one who loves God should love his fellow Christian too. Everyone who believes that Jesus is the Christ has been fathered by God, and everyone who loves the Father loves the child fathered by Him. By this we know that we love the children of God: whenever we love God and obey His commandments. For this is the love of God: that we keep His commandments. And His commandments to not weigh us down, because everyone who has been fathered by God </a:t>
            </a:r>
            <a:r>
              <a:rPr lang="en-US" sz="1600" b="1" i="1" u="sng" dirty="0"/>
              <a:t>overcomes</a:t>
            </a:r>
            <a:r>
              <a:rPr lang="en-US" sz="1600" b="1" i="1" dirty="0"/>
              <a:t> the world.”   1 John 4:20 – 5:4</a:t>
            </a:r>
          </a:p>
          <a:p>
            <a:endParaRPr lang="en-US" b="1" i="1" dirty="0"/>
          </a:p>
        </p:txBody>
      </p:sp>
    </p:spTree>
    <p:extLst>
      <p:ext uri="{BB962C8B-B14F-4D97-AF65-F5344CB8AC3E}">
        <p14:creationId xmlns:p14="http://schemas.microsoft.com/office/powerpoint/2010/main" val="266225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1594F-7995-5294-1F01-575C058B0250}"/>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8229CDA7-A14A-E549-E657-9C92C4719916}"/>
              </a:ext>
            </a:extLst>
          </p:cNvPr>
          <p:cNvSpPr>
            <a:spLocks noGrp="1"/>
          </p:cNvSpPr>
          <p:nvPr>
            <p:ph idx="1"/>
          </p:nvPr>
        </p:nvSpPr>
        <p:spPr>
          <a:xfrm>
            <a:off x="457200" y="876300"/>
            <a:ext cx="8229600" cy="5105400"/>
          </a:xfrm>
        </p:spPr>
        <p:txBody>
          <a:bodyPr/>
          <a:lstStyle/>
          <a:p>
            <a:r>
              <a:rPr lang="en-US" i="1" dirty="0">
                <a:latin typeface="+mn-lt"/>
              </a:rPr>
              <a:t>The Truth Project </a:t>
            </a:r>
            <a:r>
              <a:rPr lang="en-US" dirty="0">
                <a:latin typeface="+mn-lt"/>
              </a:rPr>
              <a:t>– Focus on the Family (</a:t>
            </a:r>
            <a:r>
              <a:rPr lang="en-US" dirty="0">
                <a:latin typeface="+mn-lt"/>
                <a:hlinkClick r:id="rId3"/>
              </a:rPr>
              <a:t>https://tinyurl.com/57ua3m5f</a:t>
            </a:r>
            <a:r>
              <a:rPr lang="en-US" dirty="0">
                <a:latin typeface="+mn-lt"/>
              </a:rPr>
              <a:t>)</a:t>
            </a:r>
          </a:p>
          <a:p>
            <a:r>
              <a:rPr lang="en-US" i="1" dirty="0">
                <a:latin typeface="+mn-lt"/>
              </a:rPr>
              <a:t>Why you Think the Way You Do : The Story of Western Worldviews from Rome to Home</a:t>
            </a:r>
            <a:r>
              <a:rPr lang="en-US" dirty="0">
                <a:latin typeface="+mn-lt"/>
              </a:rPr>
              <a:t>; Glenn S. Sunshine (</a:t>
            </a:r>
            <a:r>
              <a:rPr lang="en-US" dirty="0">
                <a:latin typeface="+mn-lt"/>
                <a:hlinkClick r:id="rId4"/>
              </a:rPr>
              <a:t>https://a.co/d/bFLzCAR</a:t>
            </a:r>
            <a:r>
              <a:rPr lang="en-US" dirty="0">
                <a:latin typeface="+mn-lt"/>
              </a:rPr>
              <a:t>)</a:t>
            </a:r>
          </a:p>
          <a:p>
            <a:pPr marL="0" indent="0">
              <a:buNone/>
            </a:pPr>
            <a:endParaRPr lang="en-US" dirty="0">
              <a:latin typeface="+mn-lt"/>
            </a:endParaRPr>
          </a:p>
        </p:txBody>
      </p:sp>
    </p:spTree>
    <p:extLst>
      <p:ext uri="{BB962C8B-B14F-4D97-AF65-F5344CB8AC3E}">
        <p14:creationId xmlns:p14="http://schemas.microsoft.com/office/powerpoint/2010/main" val="1200920516"/>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38160</TotalTime>
  <Words>4787</Words>
  <Application>Microsoft Office PowerPoint</Application>
  <PresentationFormat>On-screen Show (4:3)</PresentationFormat>
  <Paragraphs>349</Paragraphs>
  <Slides>14</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Arial Narrow</vt:lpstr>
      <vt:lpstr>Calibri</vt:lpstr>
      <vt:lpstr>Wingdings</vt:lpstr>
      <vt:lpstr>PPT_Template_2010SummerSchool</vt:lpstr>
      <vt:lpstr>1_UPCRC_Powerpoint_Template_with I-Mark</vt:lpstr>
      <vt:lpstr>PowerPoint Presentation</vt:lpstr>
      <vt:lpstr>Knowing God via the Social Order A “Desired State” of Relationships</vt:lpstr>
      <vt:lpstr>The Triune Nature of God Unity, Relationships, Roles, Equality, Authority, Submission</vt:lpstr>
      <vt:lpstr>Psalm 139 – God’s Intimate Knowledge and Presence Emphasizes God’s personal and intimate relationship with individuals</vt:lpstr>
      <vt:lpstr>Psalm 133 – The Beauty of Unity Among God’s People The unity and harmony of God’s people reflect His relational nature</vt:lpstr>
      <vt:lpstr>Psalm 16 – The Joy of God’s Presence Showcases the fulfillment of abiding in God’s presence</vt:lpstr>
      <vt:lpstr>The Union between God and You Christianity is rooted in a living relationship with God</vt:lpstr>
      <vt:lpstr>The Union between Christ and the Church The "Bride of Christ” and the "Body of Christ”</vt:lpstr>
      <vt:lpstr>The Union between Husband and Wife Marriage reflects the relationship between Christ and Church</vt:lpstr>
      <vt:lpstr>Potential Dysfunctions and Barriers That which disrupts your relationship with God and others</vt:lpstr>
      <vt:lpstr>The Heart of the Christian Gospel Restoration of a covenant relationship with God</vt:lpstr>
      <vt:lpstr>Who is God? What does He want? The God of Order and Relationships</vt:lpstr>
      <vt:lpstr>God’s Desired State for His Church Are we to be Overcomers?</vt:lpstr>
      <vt:lpstr>Resources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1406</cp:revision>
  <cp:lastPrinted>2024-11-10T13:24:33Z</cp:lastPrinted>
  <dcterms:created xsi:type="dcterms:W3CDTF">2010-06-16T02:58:04Z</dcterms:created>
  <dcterms:modified xsi:type="dcterms:W3CDTF">2026-04-02T10:59:00Z</dcterms:modified>
</cp:coreProperties>
</file>