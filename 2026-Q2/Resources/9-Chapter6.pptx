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9"/>
  </p:notesMasterIdLst>
  <p:sldIdLst>
    <p:sldId id="256" r:id="rId3"/>
    <p:sldId id="297" r:id="rId4"/>
    <p:sldId id="377" r:id="rId5"/>
    <p:sldId id="378" r:id="rId6"/>
    <p:sldId id="376" r:id="rId7"/>
    <p:sldId id="379" r:id="rId8"/>
  </p:sldIdLst>
  <p:sldSz cx="9144000" cy="6858000" type="screen4x3"/>
  <p:notesSz cx="7077075" cy="9393238"/>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84" autoAdjust="0"/>
    <p:restoredTop sz="83713" autoAdjust="0"/>
  </p:normalViewPr>
  <p:slideViewPr>
    <p:cSldViewPr>
      <p:cViewPr varScale="1">
        <p:scale>
          <a:sx n="106" d="100"/>
          <a:sy n="106" d="100"/>
        </p:scale>
        <p:origin x="2360" y="17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3" cy="469662"/>
          </a:xfrm>
          <a:prstGeom prst="rect">
            <a:avLst/>
          </a:prstGeom>
        </p:spPr>
        <p:txBody>
          <a:bodyPr vert="horz" wrap="square" lIns="94103" tIns="47052" rIns="94103" bIns="47052"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008706" y="0"/>
            <a:ext cx="3066733" cy="469662"/>
          </a:xfrm>
          <a:prstGeom prst="rect">
            <a:avLst/>
          </a:prstGeom>
        </p:spPr>
        <p:txBody>
          <a:bodyPr vert="horz" wrap="square" lIns="94103" tIns="47052" rIns="94103" bIns="47052"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5/25/26</a:t>
            </a:fld>
            <a:endParaRPr lang="en-US"/>
          </a:p>
        </p:txBody>
      </p:sp>
      <p:sp>
        <p:nvSpPr>
          <p:cNvPr id="4" name="Slide Image Placeholder 3"/>
          <p:cNvSpPr>
            <a:spLocks noGrp="1" noRot="1" noChangeAspect="1"/>
          </p:cNvSpPr>
          <p:nvPr>
            <p:ph type="sldImg" idx="2"/>
          </p:nvPr>
        </p:nvSpPr>
        <p:spPr>
          <a:xfrm>
            <a:off x="1190625" y="704850"/>
            <a:ext cx="4695825" cy="3522663"/>
          </a:xfrm>
          <a:prstGeom prst="rect">
            <a:avLst/>
          </a:prstGeom>
          <a:noFill/>
          <a:ln w="12700">
            <a:solidFill>
              <a:prstClr val="black"/>
            </a:solidFill>
          </a:ln>
        </p:spPr>
        <p:txBody>
          <a:bodyPr vert="horz" wrap="square" lIns="94103" tIns="47052" rIns="94103" bIns="47052"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07708" y="4461788"/>
            <a:ext cx="5661660" cy="4226957"/>
          </a:xfrm>
          <a:prstGeom prst="rect">
            <a:avLst/>
          </a:prstGeom>
        </p:spPr>
        <p:txBody>
          <a:bodyPr vert="horz" wrap="square" lIns="94103" tIns="47052" rIns="94103" bIns="47052"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1" y="8921946"/>
            <a:ext cx="3066733" cy="469662"/>
          </a:xfrm>
          <a:prstGeom prst="rect">
            <a:avLst/>
          </a:prstGeom>
        </p:spPr>
        <p:txBody>
          <a:bodyPr vert="horz" wrap="square" lIns="94103" tIns="47052" rIns="94103" bIns="47052"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008706" y="8921946"/>
            <a:ext cx="3066733" cy="469662"/>
          </a:xfrm>
          <a:prstGeom prst="rect">
            <a:avLst/>
          </a:prstGeom>
        </p:spPr>
        <p:txBody>
          <a:bodyPr vert="horz" wrap="square" lIns="94103" tIns="47052" rIns="94103" bIns="47052"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pPr marL="171437" indent="-171437">
              <a:buFont typeface="Arial" pitchFamily="34" charset="0"/>
              <a:buChar char="•"/>
            </a:pPr>
            <a:endParaRPr lang="en-US" baseline="0"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165484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baseline="0" dirty="0"/>
          </a:p>
          <a:p>
            <a:r>
              <a:rPr lang="en-US" baseline="0" dirty="0"/>
              <a:t>What you need to keep in mind…</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2</a:t>
            </a:fld>
            <a:endParaRPr lang="en-US"/>
          </a:p>
        </p:txBody>
      </p:sp>
    </p:spTree>
    <p:extLst>
      <p:ext uri="{BB962C8B-B14F-4D97-AF65-F5344CB8AC3E}">
        <p14:creationId xmlns:p14="http://schemas.microsoft.com/office/powerpoint/2010/main" val="2900050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Who is the “old man”?</a:t>
            </a:r>
          </a:p>
          <a:p>
            <a:r>
              <a:rPr lang="en-US" baseline="0" dirty="0"/>
              <a:t> - </a:t>
            </a:r>
            <a:r>
              <a:rPr lang="en-US" dirty="0" err="1"/>
              <a:t>Eph</a:t>
            </a:r>
            <a:r>
              <a:rPr lang="en-US" dirty="0"/>
              <a:t>:   4:21-22; Acts</a:t>
            </a:r>
            <a:r>
              <a:rPr lang="en-US" baseline="0" dirty="0"/>
              <a:t> 19:1-6; Col. 3:9</a:t>
            </a:r>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3</a:t>
            </a:fld>
            <a:endParaRPr lang="en-US"/>
          </a:p>
        </p:txBody>
      </p:sp>
    </p:spTree>
    <p:extLst>
      <p:ext uri="{BB962C8B-B14F-4D97-AF65-F5344CB8AC3E}">
        <p14:creationId xmlns:p14="http://schemas.microsoft.com/office/powerpoint/2010/main" val="1230092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4</a:t>
            </a:fld>
            <a:endParaRPr lang="en-US"/>
          </a:p>
        </p:txBody>
      </p:sp>
    </p:spTree>
    <p:extLst>
      <p:ext uri="{BB962C8B-B14F-4D97-AF65-F5344CB8AC3E}">
        <p14:creationId xmlns:p14="http://schemas.microsoft.com/office/powerpoint/2010/main" val="296627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5</a:t>
            </a:fld>
            <a:endParaRPr lang="en-US"/>
          </a:p>
        </p:txBody>
      </p:sp>
    </p:spTree>
    <p:extLst>
      <p:ext uri="{BB962C8B-B14F-4D97-AF65-F5344CB8AC3E}">
        <p14:creationId xmlns:p14="http://schemas.microsoft.com/office/powerpoint/2010/main" val="2654688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776858-791E-4C8D-8FA3-473B3AFECFAC}" type="slidenum">
              <a:rPr lang="en-US" smtClean="0"/>
              <a:pPr>
                <a:defRPr/>
              </a:pPr>
              <a:t>6</a:t>
            </a:fld>
            <a:endParaRPr lang="en-US"/>
          </a:p>
        </p:txBody>
      </p:sp>
    </p:spTree>
    <p:extLst>
      <p:ext uri="{BB962C8B-B14F-4D97-AF65-F5344CB8AC3E}">
        <p14:creationId xmlns:p14="http://schemas.microsoft.com/office/powerpoint/2010/main" val="951398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ctr">
              <a:defRPr sz="1400">
                <a:solidFill>
                  <a:schemeClr val="tx2"/>
                </a:solidFill>
                <a:latin typeface="Arial" pitchFamily="34" charset="0"/>
              </a:defRPr>
            </a:lvl1pPr>
          </a:lstStyle>
          <a:p>
            <a:pPr>
              <a:defRPr/>
            </a:pPr>
            <a:fld id="{90314B7E-EB23-4DAB-A3F0-0F7BBB6CDA33}" type="slidenum">
              <a:rPr lang="en-US"/>
              <a:pPr>
                <a:defRPr/>
              </a:pPr>
              <a:t>‹#›</a:t>
            </a:fld>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p:cNvSpPr>
            <a:spLocks noGrp="1"/>
          </p:cNvSpPr>
          <p:nvPr>
            <p:ph type="sldNum" sz="quarter" idx="11"/>
          </p:nvPr>
        </p:nvSpPr>
        <p:spPr/>
        <p:txBody>
          <a:bodyPr/>
          <a:lstStyle>
            <a:lvl1pPr algn="r">
              <a:defRPr sz="1400">
                <a:solidFill>
                  <a:schemeClr val="tx2"/>
                </a:solidFill>
                <a:latin typeface="Arial" pitchFamily="34" charset="0"/>
              </a:defRPr>
            </a:lvl1pPr>
          </a:lstStyle>
          <a:p>
            <a:pPr>
              <a:defRPr/>
            </a:pPr>
            <a:fld id="{9325C3C2-9E54-411C-9683-C950CD1738F8}" type="slidenum">
              <a:rPr lang="en-US"/>
              <a:pPr>
                <a:defRPr/>
              </a:pPr>
              <a:t>‹#›</a:t>
            </a:fld>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4267200" y="6416675"/>
            <a:ext cx="685800" cy="365125"/>
          </a:xfrm>
          <a:prstGeom prst="rect">
            <a:avLst/>
          </a:prstGeom>
        </p:spPr>
        <p:txBody>
          <a:bodyPr anchor="b"/>
          <a:lstStyle>
            <a:lvl1pPr algn="ctr">
              <a:defRPr sz="1400">
                <a:solidFill>
                  <a:schemeClr val="tx2"/>
                </a:solidFill>
                <a:latin typeface="Arial" pitchFamily="34" charset="0"/>
              </a:defRPr>
            </a:lvl1pPr>
          </a:lstStyle>
          <a:p>
            <a:pPr>
              <a:defRPr/>
            </a:pPr>
            <a:fld id="{2D225349-B1F9-464A-9CC5-D5DDA255FDA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5"/>
          <p:cNvSpPr>
            <a:spLocks noGrp="1"/>
          </p:cNvSpPr>
          <p:nvPr>
            <p:ph type="sldNum" sz="quarter" idx="4"/>
          </p:nvPr>
        </p:nvSpPr>
        <p:spPr>
          <a:xfrm>
            <a:off x="8077200" y="6416675"/>
            <a:ext cx="652463" cy="365125"/>
          </a:xfrm>
          <a:prstGeom prst="rect">
            <a:avLst/>
          </a:prstGeom>
        </p:spPr>
        <p:txBody>
          <a:bodyPr anchor="b"/>
          <a:lstStyle>
            <a:lvl1pPr algn="r">
              <a:defRPr sz="1400">
                <a:solidFill>
                  <a:schemeClr val="tx2"/>
                </a:solidFill>
                <a:latin typeface="Arial" pitchFamily="34" charset="0"/>
              </a:defRPr>
            </a:lvl1pPr>
          </a:lstStyle>
          <a:p>
            <a:pPr>
              <a:defRPr/>
            </a:pPr>
            <a:fld id="{D1036DDD-C097-4A4A-B40F-B92C82C562D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pPr eaLnBrk="1" hangingPunct="1"/>
            <a:r>
              <a:rPr lang="en-US" dirty="0"/>
              <a:t>Romans</a:t>
            </a:r>
            <a:endParaRPr dirty="0"/>
          </a:p>
        </p:txBody>
      </p:sp>
      <p:sp>
        <p:nvSpPr>
          <p:cNvPr id="6147" name="Subtitle 2"/>
          <p:cNvSpPr>
            <a:spLocks noGrp="1"/>
          </p:cNvSpPr>
          <p:nvPr>
            <p:ph type="subTitle" idx="1"/>
          </p:nvPr>
        </p:nvSpPr>
        <p:spPr>
          <a:xfrm>
            <a:off x="1371600" y="3600450"/>
            <a:ext cx="6400800" cy="2438400"/>
          </a:xfrm>
        </p:spPr>
        <p:txBody>
          <a:bodyPr/>
          <a:lstStyle/>
          <a:p>
            <a:pPr eaLnBrk="1" hangingPunct="1"/>
            <a:r>
              <a:rPr lang="en-US" dirty="0"/>
              <a:t>Whom Do You Now Serve?</a:t>
            </a:r>
          </a:p>
          <a:p>
            <a:pPr eaLnBrk="1" hangingPunct="1"/>
            <a:r>
              <a:rPr lang="en-US" dirty="0"/>
              <a:t>Chapter 6</a:t>
            </a:r>
          </a:p>
          <a:p>
            <a:pPr eaLnBrk="1" hangingPunct="1"/>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t>The Fine Print</a:t>
            </a:r>
            <a:br>
              <a:rPr lang="en-US" dirty="0"/>
            </a:br>
            <a:r>
              <a:rPr lang="en-US" sz="2400" dirty="0">
                <a:solidFill>
                  <a:schemeClr val="tx2">
                    <a:lumMod val="60000"/>
                    <a:lumOff val="40000"/>
                  </a:schemeClr>
                </a:solidFill>
              </a:rPr>
              <a:t>Our responsibility…</a:t>
            </a:r>
          </a:p>
        </p:txBody>
      </p:sp>
      <p:sp>
        <p:nvSpPr>
          <p:cNvPr id="3" name="TextBox 2"/>
          <p:cNvSpPr txBox="1"/>
          <p:nvPr/>
        </p:nvSpPr>
        <p:spPr>
          <a:xfrm>
            <a:off x="533400" y="1143000"/>
            <a:ext cx="8001000" cy="5632311"/>
          </a:xfrm>
          <a:prstGeom prst="rect">
            <a:avLst/>
          </a:prstGeom>
          <a:noFill/>
        </p:spPr>
        <p:txBody>
          <a:bodyPr wrap="square" rtlCol="0">
            <a:spAutoFit/>
          </a:bodyPr>
          <a:lstStyle/>
          <a:p>
            <a:r>
              <a:rPr lang="en-US" sz="2000" i="1" dirty="0"/>
              <a:t>“These [</a:t>
            </a:r>
            <a:r>
              <a:rPr lang="en-US" sz="2000" i="1" dirty="0" err="1"/>
              <a:t>Bereans</a:t>
            </a:r>
            <a:r>
              <a:rPr lang="en-US" sz="2000" i="1" dirty="0"/>
              <a:t>] were more fair-minded than those in Thessalonica, in that they received the word with all readiness, and </a:t>
            </a:r>
            <a:r>
              <a:rPr lang="en-US" sz="2000" b="1" i="1" dirty="0"/>
              <a:t>searched the Scriptures</a:t>
            </a:r>
            <a:r>
              <a:rPr lang="en-US" sz="2000" i="1" dirty="0"/>
              <a:t> </a:t>
            </a:r>
            <a:r>
              <a:rPr lang="en-US" sz="2000" b="1" i="1" dirty="0"/>
              <a:t>daily to find out whether these things were so</a:t>
            </a:r>
            <a:r>
              <a:rPr lang="en-US" sz="2000" i="1" dirty="0"/>
              <a:t>.”  </a:t>
            </a:r>
          </a:p>
          <a:p>
            <a:r>
              <a:rPr lang="en-US" sz="2000" i="1" dirty="0"/>
              <a:t>Acts 17:11</a:t>
            </a:r>
          </a:p>
          <a:p>
            <a:endParaRPr lang="en-US" sz="2000" i="1" dirty="0"/>
          </a:p>
          <a:p>
            <a:r>
              <a:rPr lang="en-US" sz="2000" i="1" dirty="0"/>
              <a:t>“But sanctify the Lord God in your hearts, and </a:t>
            </a:r>
            <a:r>
              <a:rPr lang="en-US" sz="2000" b="1" i="1" dirty="0"/>
              <a:t>always be ready to give a defense</a:t>
            </a:r>
            <a:r>
              <a:rPr lang="en-US" sz="2000" i="1" dirty="0"/>
              <a:t> to everyone who asks you a reason for the hope that is in you, with meekness and fear;”   </a:t>
            </a:r>
          </a:p>
          <a:p>
            <a:r>
              <a:rPr lang="en-US" sz="2000" i="1" dirty="0"/>
              <a:t>1 Peter 3:15</a:t>
            </a:r>
          </a:p>
          <a:p>
            <a:endParaRPr lang="en-US" sz="2000" dirty="0"/>
          </a:p>
          <a:p>
            <a:r>
              <a:rPr lang="en-US" sz="2000" i="1" dirty="0"/>
              <a:t>“Be </a:t>
            </a:r>
            <a:r>
              <a:rPr lang="en-US" sz="2000" b="1" i="1" dirty="0"/>
              <a:t>diligent</a:t>
            </a:r>
            <a:r>
              <a:rPr lang="en-US" sz="2000" i="1" dirty="0"/>
              <a:t> to </a:t>
            </a:r>
            <a:r>
              <a:rPr lang="en-US" sz="2000" b="1" i="1" dirty="0"/>
              <a:t>present yourself </a:t>
            </a:r>
            <a:r>
              <a:rPr lang="en-US" sz="2000" i="1" dirty="0"/>
              <a:t>approved to God, a </a:t>
            </a:r>
            <a:r>
              <a:rPr lang="en-US" sz="2000" b="1" i="1" dirty="0"/>
              <a:t>worker</a:t>
            </a:r>
            <a:r>
              <a:rPr lang="en-US" sz="2000" i="1" dirty="0"/>
              <a:t> who does not need to be ashamed, </a:t>
            </a:r>
            <a:r>
              <a:rPr lang="en-US" sz="2000" b="1" i="1" dirty="0"/>
              <a:t>rightly dividing the word of truth</a:t>
            </a:r>
            <a:r>
              <a:rPr lang="en-US" sz="2000" i="1" dirty="0"/>
              <a:t>.”   </a:t>
            </a:r>
          </a:p>
          <a:p>
            <a:r>
              <a:rPr lang="en-US" sz="2000" i="1" dirty="0"/>
              <a:t>2 Timothy 2:15</a:t>
            </a:r>
          </a:p>
          <a:p>
            <a:endParaRPr lang="en-US" sz="2000" i="1" dirty="0"/>
          </a:p>
          <a:p>
            <a:r>
              <a:rPr lang="en-US" sz="2000" i="1" dirty="0"/>
              <a:t>“</a:t>
            </a:r>
            <a:r>
              <a:rPr lang="en-US" sz="2000" b="1" i="1" dirty="0"/>
              <a:t>Beware lest anyone cheat you </a:t>
            </a:r>
            <a:r>
              <a:rPr lang="en-US" sz="2000" i="1" dirty="0"/>
              <a:t>through philosophy and empty deceit, according to the tradition of men, according to the basic principles of the world, and </a:t>
            </a:r>
            <a:r>
              <a:rPr lang="en-US" sz="2000" b="1" i="1" dirty="0"/>
              <a:t>not according to Christ</a:t>
            </a:r>
            <a:r>
              <a:rPr lang="en-US" sz="2000" i="1" dirty="0"/>
              <a:t>.”   </a:t>
            </a:r>
          </a:p>
          <a:p>
            <a:r>
              <a:rPr lang="en-US" sz="2000" i="1" dirty="0"/>
              <a:t>Colossians 2:8</a:t>
            </a:r>
          </a:p>
        </p:txBody>
      </p:sp>
    </p:spTree>
    <p:extLst>
      <p:ext uri="{BB962C8B-B14F-4D97-AF65-F5344CB8AC3E}">
        <p14:creationId xmlns:p14="http://schemas.microsoft.com/office/powerpoint/2010/main" val="290895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1000"/>
                                        <p:tgtEl>
                                          <p:spTgt spid="3">
                                            <p:txEl>
                                              <p:pRg st="6" end="6"/>
                                            </p:txEl>
                                          </p:spTgt>
                                        </p:tgtEl>
                                      </p:cBhvr>
                                    </p:animEffect>
                                    <p:anim calcmode="lin" valueType="num">
                                      <p:cBhvr>
                                        <p:cTn id="1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1000"/>
                                        <p:tgtEl>
                                          <p:spTgt spid="3">
                                            <p:txEl>
                                              <p:pRg st="7" end="7"/>
                                            </p:txEl>
                                          </p:spTgt>
                                        </p:tgtEl>
                                      </p:cBhvr>
                                    </p:animEffect>
                                    <p:anim calcmode="lin" valueType="num">
                                      <p:cBhvr>
                                        <p:cTn id="2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fade">
                                      <p:cBhvr>
                                        <p:cTn id="27" dur="1000"/>
                                        <p:tgtEl>
                                          <p:spTgt spid="3">
                                            <p:txEl>
                                              <p:pRg st="9" end="9"/>
                                            </p:txEl>
                                          </p:spTgt>
                                        </p:tgtEl>
                                      </p:cBhvr>
                                    </p:animEffect>
                                    <p:anim calcmode="lin" valueType="num">
                                      <p:cBhvr>
                                        <p:cTn id="28"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9" end="9"/>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10" end="10"/>
                                            </p:txEl>
                                          </p:spTgt>
                                        </p:tgtEl>
                                        <p:attrNameLst>
                                          <p:attrName>style.visibility</p:attrName>
                                        </p:attrNameLst>
                                      </p:cBhvr>
                                      <p:to>
                                        <p:strVal val="visible"/>
                                      </p:to>
                                    </p:set>
                                    <p:animEffect transition="in" filter="fade">
                                      <p:cBhvr>
                                        <p:cTn id="32" dur="1000"/>
                                        <p:tgtEl>
                                          <p:spTgt spid="3">
                                            <p:txEl>
                                              <p:pRg st="10" end="10"/>
                                            </p:txEl>
                                          </p:spTgt>
                                        </p:tgtEl>
                                      </p:cBhvr>
                                    </p:animEffect>
                                    <p:anim calcmode="lin" valueType="num">
                                      <p:cBhvr>
                                        <p:cTn id="33"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United with the One, Jesus Christ</a:t>
            </a:r>
            <a:br>
              <a:rPr lang="en-US" dirty="0"/>
            </a:br>
            <a:r>
              <a:rPr lang="en-US" sz="2400" dirty="0">
                <a:solidFill>
                  <a:schemeClr val="tx2">
                    <a:lumMod val="60000"/>
                    <a:lumOff val="40000"/>
                  </a:schemeClr>
                </a:solidFill>
              </a:rPr>
              <a:t>An obligation to live in holiness?  </a:t>
            </a:r>
          </a:p>
        </p:txBody>
      </p:sp>
      <p:sp>
        <p:nvSpPr>
          <p:cNvPr id="3" name="TextBox 2"/>
          <p:cNvSpPr txBox="1"/>
          <p:nvPr/>
        </p:nvSpPr>
        <p:spPr>
          <a:xfrm>
            <a:off x="533400" y="1066800"/>
            <a:ext cx="8001000" cy="3785652"/>
          </a:xfrm>
          <a:prstGeom prst="rect">
            <a:avLst/>
          </a:prstGeom>
          <a:noFill/>
        </p:spPr>
        <p:txBody>
          <a:bodyPr wrap="square" rtlCol="0">
            <a:spAutoFit/>
          </a:bodyPr>
          <a:lstStyle/>
          <a:p>
            <a:r>
              <a:rPr lang="en-US" sz="2000" i="1" dirty="0"/>
              <a:t>“What shall we say then?  Shall we continue in sin that grace may abound?  Certainly not!  How shall we who </a:t>
            </a:r>
            <a:r>
              <a:rPr lang="en-US" sz="2000" b="1" i="1" dirty="0"/>
              <a:t>died to sin </a:t>
            </a:r>
            <a:r>
              <a:rPr lang="en-US" sz="2000" i="1" dirty="0"/>
              <a:t>live any longer in it?  Or, do you not know that as many of us as were </a:t>
            </a:r>
            <a:r>
              <a:rPr lang="en-US" sz="2000" b="1" i="1" dirty="0"/>
              <a:t>baptized into Christ Jesus </a:t>
            </a:r>
            <a:r>
              <a:rPr lang="en-US" sz="2000" i="1" dirty="0"/>
              <a:t>were </a:t>
            </a:r>
            <a:r>
              <a:rPr lang="en-US" sz="2000" b="1" i="1" dirty="0"/>
              <a:t>baptized into His death</a:t>
            </a:r>
            <a:r>
              <a:rPr lang="en-US" sz="2000" i="1" dirty="0"/>
              <a:t>?  Therefore we were </a:t>
            </a:r>
            <a:r>
              <a:rPr lang="en-US" sz="2000" b="1" i="1" dirty="0"/>
              <a:t>buried</a:t>
            </a:r>
            <a:r>
              <a:rPr lang="en-US" sz="2000" i="1" dirty="0"/>
              <a:t> with Him through </a:t>
            </a:r>
            <a:r>
              <a:rPr lang="en-US" sz="2000" b="1" i="1" dirty="0"/>
              <a:t>baptism into death</a:t>
            </a:r>
            <a:r>
              <a:rPr lang="en-US" sz="2000" i="1" dirty="0"/>
              <a:t>, that just as Christ was </a:t>
            </a:r>
            <a:r>
              <a:rPr lang="en-US" sz="2000" b="1" i="1" dirty="0"/>
              <a:t>raised from the dead </a:t>
            </a:r>
            <a:r>
              <a:rPr lang="en-US" sz="2000" i="1" dirty="0"/>
              <a:t>by the glory of the Father, even so we also should walk in </a:t>
            </a:r>
            <a:r>
              <a:rPr lang="en-US" sz="2000" b="1" i="1" dirty="0"/>
              <a:t>newness of life</a:t>
            </a:r>
            <a:r>
              <a:rPr lang="en-US" sz="2000" i="1" dirty="0"/>
              <a:t>.”  </a:t>
            </a:r>
          </a:p>
          <a:p>
            <a:r>
              <a:rPr lang="en-US" sz="2000" i="1" dirty="0"/>
              <a:t>For if we have been </a:t>
            </a:r>
            <a:r>
              <a:rPr lang="en-US" sz="2000" b="1" i="1" dirty="0"/>
              <a:t>united together </a:t>
            </a:r>
            <a:r>
              <a:rPr lang="en-US" sz="2000" i="1" dirty="0"/>
              <a:t>in the </a:t>
            </a:r>
            <a:r>
              <a:rPr lang="en-US" sz="2000" b="1" i="1" dirty="0"/>
              <a:t>likeness of His death</a:t>
            </a:r>
            <a:r>
              <a:rPr lang="en-US" sz="2000" i="1" dirty="0"/>
              <a:t>, certainly we also shall be in the </a:t>
            </a:r>
            <a:r>
              <a:rPr lang="en-US" sz="2000" b="1" i="1" dirty="0"/>
              <a:t>likeness of His resurrection</a:t>
            </a:r>
            <a:r>
              <a:rPr lang="en-US" sz="2000" i="1" dirty="0"/>
              <a:t>, knowing this, that our old man was </a:t>
            </a:r>
            <a:r>
              <a:rPr lang="en-US" sz="2000" b="1" i="1" dirty="0"/>
              <a:t>crucified with Him</a:t>
            </a:r>
            <a:r>
              <a:rPr lang="en-US" sz="2000" i="1" dirty="0"/>
              <a:t>, that the body of sin might be done away with, that we should </a:t>
            </a:r>
            <a:r>
              <a:rPr lang="en-US" sz="2000" b="1" i="1" dirty="0"/>
              <a:t>no longer be slaves </a:t>
            </a:r>
            <a:r>
              <a:rPr lang="en-US" sz="2000" i="1" dirty="0"/>
              <a:t>to sin.”    Romans 6:1-5</a:t>
            </a:r>
          </a:p>
        </p:txBody>
      </p:sp>
      <p:sp>
        <p:nvSpPr>
          <p:cNvPr id="5" name="TextBox 4"/>
          <p:cNvSpPr txBox="1"/>
          <p:nvPr/>
        </p:nvSpPr>
        <p:spPr>
          <a:xfrm>
            <a:off x="533400" y="4800600"/>
            <a:ext cx="8001000"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t>Justify means to “declare one righteous”, not “make one righteous”.  Consequently, could we logically continue in sin?  Gal. 5:15-23  1 John 1:5-10</a:t>
            </a:r>
          </a:p>
          <a:p>
            <a:pPr marL="342900" indent="-342900">
              <a:buFont typeface="Arial" panose="020B0604020202020204" pitchFamily="34" charset="0"/>
              <a:buChar char="•"/>
            </a:pPr>
            <a:r>
              <a:rPr lang="en-US" sz="2000" dirty="0"/>
              <a:t>Is Paul mentioning baptism to make the point that it is essential to union with Christ; or, is he stressing the ethical significance of immersion into Christ</a:t>
            </a:r>
            <a:r>
              <a:rPr lang="en-US" sz="2000" i="1" dirty="0"/>
              <a:t> (i.e. Christ the sin-hater)?   Eph. 2:1-10</a:t>
            </a:r>
            <a:endParaRPr lang="en-US" sz="2000" dirty="0"/>
          </a:p>
        </p:txBody>
      </p:sp>
    </p:spTree>
    <p:extLst>
      <p:ext uri="{BB962C8B-B14F-4D97-AF65-F5344CB8AC3E}">
        <p14:creationId xmlns:p14="http://schemas.microsoft.com/office/powerpoint/2010/main" val="71826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United with the One, Jesus Christ</a:t>
            </a:r>
            <a:br>
              <a:rPr lang="en-US" dirty="0"/>
            </a:br>
            <a:r>
              <a:rPr lang="en-US" sz="2400" dirty="0">
                <a:solidFill>
                  <a:schemeClr val="tx2">
                    <a:lumMod val="60000"/>
                    <a:lumOff val="40000"/>
                  </a:schemeClr>
                </a:solidFill>
              </a:rPr>
              <a:t>An obligation to live in holiness?  </a:t>
            </a:r>
          </a:p>
        </p:txBody>
      </p:sp>
      <p:sp>
        <p:nvSpPr>
          <p:cNvPr id="3" name="TextBox 2"/>
          <p:cNvSpPr txBox="1"/>
          <p:nvPr/>
        </p:nvSpPr>
        <p:spPr>
          <a:xfrm>
            <a:off x="533400" y="1066800"/>
            <a:ext cx="8001000" cy="3785652"/>
          </a:xfrm>
          <a:prstGeom prst="rect">
            <a:avLst/>
          </a:prstGeom>
          <a:noFill/>
        </p:spPr>
        <p:txBody>
          <a:bodyPr wrap="square" rtlCol="0">
            <a:spAutoFit/>
          </a:bodyPr>
          <a:lstStyle/>
          <a:p>
            <a:r>
              <a:rPr lang="en-US" sz="2000" i="1" dirty="0"/>
              <a:t>“What shall we say then?  Shall we continue in sin that grace may abound?  Certainly not!  How shall we who </a:t>
            </a:r>
            <a:r>
              <a:rPr lang="en-US" sz="2000" b="1" i="1" dirty="0"/>
              <a:t>died to sin </a:t>
            </a:r>
            <a:r>
              <a:rPr lang="en-US" sz="2000" i="1" dirty="0"/>
              <a:t>live any longer in it?  Or, do you not know that as many of us as were </a:t>
            </a:r>
            <a:r>
              <a:rPr lang="en-US" sz="2000" b="1" i="1" dirty="0"/>
              <a:t>baptized into Christ Jesus </a:t>
            </a:r>
            <a:r>
              <a:rPr lang="en-US" sz="2000" i="1" dirty="0"/>
              <a:t>were </a:t>
            </a:r>
            <a:r>
              <a:rPr lang="en-US" sz="2000" b="1" i="1" dirty="0"/>
              <a:t>baptized into His death</a:t>
            </a:r>
            <a:r>
              <a:rPr lang="en-US" sz="2000" i="1" dirty="0"/>
              <a:t>?  Therefore we were </a:t>
            </a:r>
            <a:r>
              <a:rPr lang="en-US" sz="2000" b="1" i="1" dirty="0"/>
              <a:t>buried</a:t>
            </a:r>
            <a:r>
              <a:rPr lang="en-US" sz="2000" i="1" dirty="0"/>
              <a:t> with Him through </a:t>
            </a:r>
            <a:r>
              <a:rPr lang="en-US" sz="2000" b="1" i="1" dirty="0"/>
              <a:t>baptism into death</a:t>
            </a:r>
            <a:r>
              <a:rPr lang="en-US" sz="2000" i="1" dirty="0"/>
              <a:t>, that just as Christ was </a:t>
            </a:r>
            <a:r>
              <a:rPr lang="en-US" sz="2000" b="1" i="1" dirty="0"/>
              <a:t>raised from the dead </a:t>
            </a:r>
            <a:r>
              <a:rPr lang="en-US" sz="2000" i="1" dirty="0"/>
              <a:t>by the glory of the Father, even so we also should walk in </a:t>
            </a:r>
            <a:r>
              <a:rPr lang="en-US" sz="2000" b="1" i="1" dirty="0"/>
              <a:t>newness of life</a:t>
            </a:r>
            <a:r>
              <a:rPr lang="en-US" sz="2000" i="1" dirty="0"/>
              <a:t>.”  </a:t>
            </a:r>
          </a:p>
          <a:p>
            <a:r>
              <a:rPr lang="en-US" sz="2000" i="1" dirty="0"/>
              <a:t>For if we have been </a:t>
            </a:r>
            <a:r>
              <a:rPr lang="en-US" sz="2000" b="1" i="1" dirty="0"/>
              <a:t>united together </a:t>
            </a:r>
            <a:r>
              <a:rPr lang="en-US" sz="2000" i="1" dirty="0"/>
              <a:t>in the </a:t>
            </a:r>
            <a:r>
              <a:rPr lang="en-US" sz="2000" b="1" i="1" dirty="0"/>
              <a:t>likeness of His death</a:t>
            </a:r>
            <a:r>
              <a:rPr lang="en-US" sz="2000" i="1" dirty="0"/>
              <a:t>, certainly we also shall be in the </a:t>
            </a:r>
            <a:r>
              <a:rPr lang="en-US" sz="2000" b="1" i="1" dirty="0"/>
              <a:t>likeness of His resurrection</a:t>
            </a:r>
            <a:r>
              <a:rPr lang="en-US" sz="2000" i="1" dirty="0"/>
              <a:t>, knowing this, that our old man was </a:t>
            </a:r>
            <a:r>
              <a:rPr lang="en-US" sz="2000" b="1" i="1" dirty="0"/>
              <a:t>crucified with Him</a:t>
            </a:r>
            <a:r>
              <a:rPr lang="en-US" sz="2000" i="1" dirty="0"/>
              <a:t>, that the body of sin might be done away with, that we should </a:t>
            </a:r>
            <a:r>
              <a:rPr lang="en-US" sz="2000" b="1" i="1" dirty="0"/>
              <a:t>no longer be slaves </a:t>
            </a:r>
            <a:r>
              <a:rPr lang="en-US" sz="2000" i="1" dirty="0"/>
              <a:t>to sin.”    Romans 6:1-5</a:t>
            </a:r>
          </a:p>
        </p:txBody>
      </p:sp>
      <p:sp>
        <p:nvSpPr>
          <p:cNvPr id="5" name="TextBox 4"/>
          <p:cNvSpPr txBox="1"/>
          <p:nvPr/>
        </p:nvSpPr>
        <p:spPr>
          <a:xfrm>
            <a:off x="533400" y="4800600"/>
            <a:ext cx="8001000"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a:t>Who is the “old man”?  Eph. 4:21; Col:3:9</a:t>
            </a:r>
          </a:p>
          <a:p>
            <a:pPr marL="342900" indent="-342900">
              <a:buFont typeface="Arial" panose="020B0604020202020204" pitchFamily="34" charset="0"/>
              <a:buChar char="•"/>
            </a:pPr>
            <a:r>
              <a:rPr lang="en-US" sz="2000" dirty="0"/>
              <a:t>Connection with baptism?   Acts 19:1-7</a:t>
            </a:r>
          </a:p>
          <a:p>
            <a:pPr marL="342900" indent="-342900">
              <a:buFont typeface="Arial" panose="020B0604020202020204" pitchFamily="34" charset="0"/>
              <a:buChar char="•"/>
            </a:pPr>
            <a:r>
              <a:rPr lang="en-US" sz="2000" dirty="0"/>
              <a:t>Is there a connection between the death of the “old man” and the death of the “deeds of the body”?  Rom. 8:13; 2 Cor. 3:18</a:t>
            </a:r>
          </a:p>
          <a:p>
            <a:pPr marL="342900" indent="-342900">
              <a:buFont typeface="Arial" panose="020B0604020202020204" pitchFamily="34" charset="0"/>
              <a:buChar char="•"/>
            </a:pPr>
            <a:r>
              <a:rPr lang="en-US" sz="2000" dirty="0"/>
              <a:t>What is “the body of sin”?   Rom. 8:3; 1 Cor. 6:19</a:t>
            </a:r>
          </a:p>
          <a:p>
            <a:pPr marL="342900" indent="-342900">
              <a:buFont typeface="Arial" panose="020B0604020202020204" pitchFamily="34" charset="0"/>
              <a:buChar char="•"/>
            </a:pPr>
            <a:r>
              <a:rPr lang="en-US" sz="2000" dirty="0"/>
              <a:t>What was master over the body of the old man?  </a:t>
            </a:r>
          </a:p>
        </p:txBody>
      </p:sp>
    </p:spTree>
    <p:extLst>
      <p:ext uri="{BB962C8B-B14F-4D97-AF65-F5344CB8AC3E}">
        <p14:creationId xmlns:p14="http://schemas.microsoft.com/office/powerpoint/2010/main" val="55376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1" end="1"/>
                                            </p:txEl>
                                          </p:spTgt>
                                        </p:tgtEl>
                                        <p:attrNameLst>
                                          <p:attrName>style.visibility</p:attrName>
                                        </p:attrNameLst>
                                      </p:cBhvr>
                                      <p:to>
                                        <p:strVal val="visible"/>
                                      </p:to>
                                    </p:set>
                                    <p:animEffect transition="in" filter="fade">
                                      <p:cBhvr>
                                        <p:cTn id="14" dur="1000"/>
                                        <p:tgtEl>
                                          <p:spTgt spid="5">
                                            <p:txEl>
                                              <p:pRg st="1" end="1"/>
                                            </p:txEl>
                                          </p:spTgt>
                                        </p:tgtEl>
                                      </p:cBhvr>
                                    </p:animEffect>
                                    <p:anim calcmode="lin" valueType="num">
                                      <p:cBhvr>
                                        <p:cTn id="1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animEffect transition="in" filter="fade">
                                      <p:cBhvr>
                                        <p:cTn id="21" dur="1000"/>
                                        <p:tgtEl>
                                          <p:spTgt spid="5">
                                            <p:txEl>
                                              <p:pRg st="2" end="2"/>
                                            </p:txEl>
                                          </p:spTgt>
                                        </p:tgtEl>
                                      </p:cBhvr>
                                    </p:animEffect>
                                    <p:anim calcmode="lin" valueType="num">
                                      <p:cBhvr>
                                        <p:cTn id="22"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3" end="3"/>
                                            </p:txEl>
                                          </p:spTgt>
                                        </p:tgtEl>
                                        <p:attrNameLst>
                                          <p:attrName>style.visibility</p:attrName>
                                        </p:attrNameLst>
                                      </p:cBhvr>
                                      <p:to>
                                        <p:strVal val="visible"/>
                                      </p:to>
                                    </p:set>
                                    <p:animEffect transition="in" filter="fade">
                                      <p:cBhvr>
                                        <p:cTn id="28" dur="1000"/>
                                        <p:tgtEl>
                                          <p:spTgt spid="5">
                                            <p:txEl>
                                              <p:pRg st="3" end="3"/>
                                            </p:txEl>
                                          </p:spTgt>
                                        </p:tgtEl>
                                      </p:cBhvr>
                                    </p:animEffect>
                                    <p:anim calcmode="lin" valueType="num">
                                      <p:cBhvr>
                                        <p:cTn id="29"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
                                            <p:txEl>
                                              <p:pRg st="4" end="4"/>
                                            </p:txEl>
                                          </p:spTgt>
                                        </p:tgtEl>
                                        <p:attrNameLst>
                                          <p:attrName>style.visibility</p:attrName>
                                        </p:attrNameLst>
                                      </p:cBhvr>
                                      <p:to>
                                        <p:strVal val="visible"/>
                                      </p:to>
                                    </p:set>
                                    <p:animEffect transition="in" filter="fade">
                                      <p:cBhvr>
                                        <p:cTn id="35" dur="1000"/>
                                        <p:tgtEl>
                                          <p:spTgt spid="5">
                                            <p:txEl>
                                              <p:pRg st="4" end="4"/>
                                            </p:txEl>
                                          </p:spTgt>
                                        </p:tgtEl>
                                      </p:cBhvr>
                                    </p:animEffect>
                                    <p:anim calcmode="lin" valueType="num">
                                      <p:cBhvr>
                                        <p:cTn id="3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United with the One, Jesus Christ</a:t>
            </a:r>
            <a:br>
              <a:rPr lang="en-US" dirty="0"/>
            </a:br>
            <a:r>
              <a:rPr lang="en-US" sz="2400" dirty="0">
                <a:solidFill>
                  <a:schemeClr val="tx2">
                    <a:lumMod val="60000"/>
                    <a:lumOff val="40000"/>
                  </a:schemeClr>
                </a:solidFill>
              </a:rPr>
              <a:t>Dead but now alive?  </a:t>
            </a:r>
          </a:p>
        </p:txBody>
      </p:sp>
      <p:sp>
        <p:nvSpPr>
          <p:cNvPr id="3" name="TextBox 2"/>
          <p:cNvSpPr txBox="1"/>
          <p:nvPr/>
        </p:nvSpPr>
        <p:spPr>
          <a:xfrm>
            <a:off x="533400" y="1066800"/>
            <a:ext cx="8001000" cy="4093428"/>
          </a:xfrm>
          <a:prstGeom prst="rect">
            <a:avLst/>
          </a:prstGeom>
          <a:noFill/>
        </p:spPr>
        <p:txBody>
          <a:bodyPr wrap="square" rtlCol="0">
            <a:spAutoFit/>
          </a:bodyPr>
          <a:lstStyle/>
          <a:p>
            <a:r>
              <a:rPr lang="en-US" sz="2000" i="1" dirty="0"/>
              <a:t>“For </a:t>
            </a:r>
            <a:r>
              <a:rPr lang="en-US" sz="2000" b="1" i="1" dirty="0"/>
              <a:t>he who has died has been freed from sin</a:t>
            </a:r>
            <a:r>
              <a:rPr lang="en-US" sz="2000" i="1" dirty="0"/>
              <a:t>.  Now if we died with Christ, we believe that we shall also live with him, knowing that Christ, having been raised from the dead, dies no more.  Death no longer has dominion over Him.  For the death that He died, he died to sin once for all; </a:t>
            </a:r>
            <a:r>
              <a:rPr lang="en-US" sz="2000" b="1" i="1" dirty="0"/>
              <a:t>but the life that He lives, He lives to God</a:t>
            </a:r>
            <a:r>
              <a:rPr lang="en-US" sz="2000" i="1" dirty="0"/>
              <a:t>.  Likewise you also, reckon yourselves to be dead indeed to sin, but alive to God in Christ Jesus our Lord.</a:t>
            </a:r>
          </a:p>
          <a:p>
            <a:r>
              <a:rPr lang="en-US" sz="2000" i="1" dirty="0"/>
              <a:t>Therefore </a:t>
            </a:r>
            <a:r>
              <a:rPr lang="en-US" sz="2000" b="1" i="1" dirty="0"/>
              <a:t>do not let sin reign in your mortal body</a:t>
            </a:r>
            <a:r>
              <a:rPr lang="en-US" sz="2000" i="1" dirty="0"/>
              <a:t>, that you should obey it in its lusts.  And do not present your members as instruments of unrighteousness to sin, but </a:t>
            </a:r>
            <a:r>
              <a:rPr lang="en-US" sz="2000" b="1" i="1" dirty="0"/>
              <a:t>present yourselves to God as being alive from the dead</a:t>
            </a:r>
            <a:r>
              <a:rPr lang="en-US" sz="2000" i="1" dirty="0"/>
              <a:t>, and your members as instruments of righteousness to God.  For sin shall not have dominion over you, </a:t>
            </a:r>
            <a:r>
              <a:rPr lang="en-US" sz="2000" b="1" i="1" dirty="0"/>
              <a:t>for you are not under law but under grace</a:t>
            </a:r>
            <a:r>
              <a:rPr lang="en-US" sz="2000" i="1" dirty="0"/>
              <a:t>.”  Romans 6:7-14</a:t>
            </a:r>
          </a:p>
        </p:txBody>
      </p:sp>
      <p:sp>
        <p:nvSpPr>
          <p:cNvPr id="4" name="TextBox 3"/>
          <p:cNvSpPr txBox="1"/>
          <p:nvPr/>
        </p:nvSpPr>
        <p:spPr>
          <a:xfrm>
            <a:off x="512323" y="5211365"/>
            <a:ext cx="8001000" cy="1631216"/>
          </a:xfrm>
          <a:prstGeom prst="rect">
            <a:avLst/>
          </a:prstGeom>
          <a:noFill/>
        </p:spPr>
        <p:txBody>
          <a:bodyPr wrap="square" rtlCol="0">
            <a:spAutoFit/>
          </a:bodyPr>
          <a:lstStyle/>
          <a:p>
            <a:pPr marL="342900" indent="-342900">
              <a:buFont typeface="Arial" panose="020B0604020202020204" pitchFamily="34" charset="0"/>
              <a:buChar char="•"/>
            </a:pPr>
            <a:r>
              <a:rPr lang="en-US" sz="2000" dirty="0"/>
              <a:t>United with Christ… died with Him?  United with Christ… alive with Him?</a:t>
            </a:r>
          </a:p>
          <a:p>
            <a:pPr marL="342900" indent="-342900">
              <a:buFont typeface="Arial" panose="020B0604020202020204" pitchFamily="34" charset="0"/>
              <a:buChar char="•"/>
            </a:pPr>
            <a:r>
              <a:rPr lang="en-US" sz="2000" dirty="0"/>
              <a:t>Is there sin without a sinner?</a:t>
            </a:r>
          </a:p>
          <a:p>
            <a:pPr marL="342900" indent="-342900">
              <a:buFont typeface="Arial" panose="020B0604020202020204" pitchFamily="34" charset="0"/>
              <a:buChar char="•"/>
            </a:pPr>
            <a:r>
              <a:rPr lang="en-US" sz="2000" dirty="0"/>
              <a:t>In 5:20 Paul illustrates that even the Mosaic Law was no help in freeing people of sin.  Is this possible with any law?</a:t>
            </a:r>
          </a:p>
        </p:txBody>
      </p:sp>
    </p:spTree>
    <p:extLst>
      <p:ext uri="{BB962C8B-B14F-4D97-AF65-F5344CB8AC3E}">
        <p14:creationId xmlns:p14="http://schemas.microsoft.com/office/powerpoint/2010/main" val="421888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t>United with the One, Jesus Christ</a:t>
            </a:r>
            <a:br>
              <a:rPr lang="en-US" dirty="0"/>
            </a:br>
            <a:r>
              <a:rPr lang="en-US" sz="2400" dirty="0">
                <a:solidFill>
                  <a:schemeClr val="tx2">
                    <a:lumMod val="60000"/>
                    <a:lumOff val="40000"/>
                  </a:schemeClr>
                </a:solidFill>
              </a:rPr>
              <a:t>No one can serve two masters…  </a:t>
            </a:r>
          </a:p>
        </p:txBody>
      </p:sp>
      <p:sp>
        <p:nvSpPr>
          <p:cNvPr id="3" name="TextBox 2"/>
          <p:cNvSpPr txBox="1"/>
          <p:nvPr/>
        </p:nvSpPr>
        <p:spPr>
          <a:xfrm>
            <a:off x="533400" y="1066800"/>
            <a:ext cx="8001000" cy="400110"/>
          </a:xfrm>
          <a:prstGeom prst="rect">
            <a:avLst/>
          </a:prstGeom>
          <a:noFill/>
        </p:spPr>
        <p:txBody>
          <a:bodyPr wrap="square" rtlCol="0">
            <a:spAutoFit/>
          </a:bodyPr>
          <a:lstStyle/>
          <a:p>
            <a:r>
              <a:rPr lang="en-US" sz="2000" i="1" dirty="0"/>
              <a:t>Romans 6:15-23</a:t>
            </a:r>
          </a:p>
        </p:txBody>
      </p:sp>
      <p:sp>
        <p:nvSpPr>
          <p:cNvPr id="4" name="TextBox 3"/>
          <p:cNvSpPr txBox="1"/>
          <p:nvPr/>
        </p:nvSpPr>
        <p:spPr>
          <a:xfrm>
            <a:off x="509081" y="1718102"/>
            <a:ext cx="8001000" cy="2246769"/>
          </a:xfrm>
          <a:prstGeom prst="rect">
            <a:avLst/>
          </a:prstGeom>
          <a:noFill/>
        </p:spPr>
        <p:txBody>
          <a:bodyPr wrap="square" rtlCol="0">
            <a:spAutoFit/>
          </a:bodyPr>
          <a:lstStyle/>
          <a:p>
            <a:pPr marL="342900" indent="-342900">
              <a:buFont typeface="Arial" panose="020B0604020202020204" pitchFamily="34" charset="0"/>
              <a:buChar char="•"/>
            </a:pPr>
            <a:r>
              <a:rPr lang="en-US" sz="2000" dirty="0"/>
              <a:t>In saying “do not let sin reign..”, does Paul indicate the possibility of a saint letting sin rule?</a:t>
            </a:r>
          </a:p>
          <a:p>
            <a:pPr marL="342900" indent="-342900">
              <a:buFont typeface="Arial" panose="020B0604020202020204" pitchFamily="34" charset="0"/>
              <a:buChar char="•"/>
            </a:pPr>
            <a:r>
              <a:rPr lang="en-US" sz="2000" dirty="0"/>
              <a:t>Are Christians “not under law”?</a:t>
            </a:r>
          </a:p>
          <a:p>
            <a:pPr marL="342900" indent="-342900">
              <a:buFont typeface="Arial" panose="020B0604020202020204" pitchFamily="34" charset="0"/>
              <a:buChar char="•"/>
            </a:pPr>
            <a:r>
              <a:rPr lang="en-US" sz="2000" dirty="0"/>
              <a:t>If Christians are “not under law”, are they then free to commit sins?</a:t>
            </a:r>
          </a:p>
          <a:p>
            <a:pPr marL="342900" indent="-342900">
              <a:buFont typeface="Arial" panose="020B0604020202020204" pitchFamily="34" charset="0"/>
              <a:buChar char="•"/>
            </a:pPr>
            <a:r>
              <a:rPr lang="en-US" sz="2000" dirty="0"/>
              <a:t>What is the “form of doctrine to which you were delivered”?</a:t>
            </a:r>
          </a:p>
          <a:p>
            <a:pPr marL="342900" indent="-342900">
              <a:buFont typeface="Arial" panose="020B0604020202020204" pitchFamily="34" charset="0"/>
              <a:buChar char="•"/>
            </a:pPr>
            <a:r>
              <a:rPr lang="en-US" sz="2000" dirty="0"/>
              <a:t>Does obedience to God </a:t>
            </a:r>
            <a:r>
              <a:rPr lang="en-US" sz="2000"/>
              <a:t>merit eternal life?</a:t>
            </a:r>
            <a:endParaRPr lang="en-US" sz="2000" dirty="0"/>
          </a:p>
        </p:txBody>
      </p:sp>
    </p:spTree>
    <p:extLst>
      <p:ext uri="{BB962C8B-B14F-4D97-AF65-F5344CB8AC3E}">
        <p14:creationId xmlns:p14="http://schemas.microsoft.com/office/powerpoint/2010/main" val="1033305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PPT_Template_2010SummerSchool</Template>
  <TotalTime>21700</TotalTime>
  <Words>1005</Words>
  <Application>Microsoft Macintosh PowerPoint</Application>
  <PresentationFormat>On-screen Show (4:3)</PresentationFormat>
  <Paragraphs>53</Paragraphs>
  <Slides>6</Slides>
  <Notes>6</Notes>
  <HiddenSlides>1</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6</vt:i4>
      </vt:variant>
    </vt:vector>
  </HeadingPairs>
  <TitlesOfParts>
    <vt:vector size="11" baseType="lpstr">
      <vt:lpstr>Arial</vt:lpstr>
      <vt:lpstr>Arial Narrow</vt:lpstr>
      <vt:lpstr>Calibri</vt:lpstr>
      <vt:lpstr>PPT_Template_2010SummerSchool</vt:lpstr>
      <vt:lpstr>1_UPCRC_Powerpoint_Template_with I-Mark</vt:lpstr>
      <vt:lpstr>Romans</vt:lpstr>
      <vt:lpstr>The Fine Print Our responsibility…</vt:lpstr>
      <vt:lpstr>United with the One, Jesus Christ An obligation to live in holiness?  </vt:lpstr>
      <vt:lpstr>United with the One, Jesus Christ An obligation to live in holiness?  </vt:lpstr>
      <vt:lpstr>United with the One, Jesus Christ Dead but now alive?  </vt:lpstr>
      <vt:lpstr>United with the One, Jesus Christ No one can serve two masters…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698</cp:revision>
  <cp:lastPrinted>2012-04-01T14:05:10Z</cp:lastPrinted>
  <dcterms:created xsi:type="dcterms:W3CDTF">2010-06-16T02:58:04Z</dcterms:created>
  <dcterms:modified xsi:type="dcterms:W3CDTF">2026-05-29T12:31:06Z</dcterms:modified>
</cp:coreProperties>
</file>