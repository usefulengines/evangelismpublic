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68" r:id="rId1"/>
    <p:sldMasterId id="2147484131" r:id="rId2"/>
  </p:sldMasterIdLst>
  <p:notesMasterIdLst>
    <p:notesMasterId r:id="rId11"/>
  </p:notesMasterIdLst>
  <p:sldIdLst>
    <p:sldId id="256" r:id="rId3"/>
    <p:sldId id="297" r:id="rId4"/>
    <p:sldId id="377" r:id="rId5"/>
    <p:sldId id="379" r:id="rId6"/>
    <p:sldId id="380" r:id="rId7"/>
    <p:sldId id="381" r:id="rId8"/>
    <p:sldId id="382" r:id="rId9"/>
    <p:sldId id="383" r:id="rId10"/>
  </p:sldIdLst>
  <p:sldSz cx="9144000" cy="6858000" type="screen4x3"/>
  <p:notesSz cx="7077075" cy="93932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4" autoAdjust="0"/>
    <p:restoredTop sz="83713" autoAdjust="0"/>
  </p:normalViewPr>
  <p:slideViewPr>
    <p:cSldViewPr>
      <p:cViewPr varScale="1">
        <p:scale>
          <a:sx n="106" d="100"/>
          <a:sy n="106" d="100"/>
        </p:scale>
        <p:origin x="236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6" y="0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fld id="{37B93000-4848-40F5-8AEF-44DFB12065B3}" type="datetime1">
              <a:rPr lang="en-US"/>
              <a:pPr>
                <a:defRPr/>
              </a:pPr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704850"/>
            <a:ext cx="4695825" cy="3522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4103" tIns="47052" rIns="94103" bIns="4705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461788"/>
            <a:ext cx="5661660" cy="4226957"/>
          </a:xfrm>
          <a:prstGeom prst="rect">
            <a:avLst/>
          </a:prstGeom>
        </p:spPr>
        <p:txBody>
          <a:bodyPr vert="horz" wrap="square" lIns="94103" tIns="47052" rIns="94103" bIns="4705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921946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6" y="8921946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fld id="{07776858-791E-4C8D-8FA3-473B3AFECF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750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pPr marL="171437" indent="-171437">
              <a:buFont typeface="Arial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47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baseline="0" dirty="0"/>
          </a:p>
          <a:p>
            <a:r>
              <a:rPr lang="en-US" baseline="0" dirty="0"/>
              <a:t>What you need to keep in mind…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50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92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98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96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57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92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20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lang="en-US" sz="4400" b="1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4391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0314B7E-EB23-4DAB-A3F0-0F7BBB6CDA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4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325C3C2-9E54-411C-9683-C950CD173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73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43000"/>
            <a:ext cx="822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416675"/>
            <a:ext cx="685800" cy="365125"/>
          </a:xfrm>
          <a:prstGeom prst="rect">
            <a:avLst/>
          </a:prstGeom>
        </p:spPr>
        <p:txBody>
          <a:bodyPr anchor="b"/>
          <a:lstStyle>
            <a:lvl1pPr algn="ct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2D225349-B1F9-464A-9CC5-D5DDA255FD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0" r:id="rId2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lang="en-US" sz="4400" b="1" kern="1200" dirty="0">
          <a:solidFill>
            <a:schemeClr val="tx2"/>
          </a:solidFill>
          <a:latin typeface="+mj-lt"/>
          <a:ea typeface="ＭＳ Ｐゴシック" pitchFamily="34" charset="-128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43000"/>
            <a:ext cx="822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416675"/>
            <a:ext cx="652463" cy="365125"/>
          </a:xfrm>
          <a:prstGeom prst="rect">
            <a:avLst/>
          </a:prstGeom>
        </p:spPr>
        <p:txBody>
          <a:bodyPr anchor="b"/>
          <a:lstStyle>
            <a:lvl1pPr algn="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D1036DDD-C097-4A4A-B40F-B92C82C562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4400" b="1" kern="1200" dirty="0">
          <a:solidFill>
            <a:schemeClr val="tx2"/>
          </a:solidFill>
          <a:latin typeface="+mj-lt"/>
          <a:ea typeface="ＭＳ Ｐゴシック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Romans</a:t>
            </a:r>
            <a:endParaRPr dirty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1371600" y="3600450"/>
            <a:ext cx="6400800" cy="2438400"/>
          </a:xfrm>
        </p:spPr>
        <p:txBody>
          <a:bodyPr/>
          <a:lstStyle/>
          <a:p>
            <a:pPr eaLnBrk="1" hangingPunct="1"/>
            <a:r>
              <a:rPr lang="en-US" dirty="0"/>
              <a:t>Freedom from Old Law</a:t>
            </a:r>
          </a:p>
          <a:p>
            <a:pPr eaLnBrk="1" hangingPunct="1"/>
            <a:r>
              <a:rPr lang="en-US" dirty="0"/>
              <a:t>Chapter 7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The Fine Print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Our responsibility…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143000"/>
            <a:ext cx="8001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“These [</a:t>
            </a:r>
            <a:r>
              <a:rPr lang="en-US" sz="2000" i="1" dirty="0" err="1"/>
              <a:t>Bereans</a:t>
            </a:r>
            <a:r>
              <a:rPr lang="en-US" sz="2000" i="1" dirty="0"/>
              <a:t>] were more fair-minded than those in Thessalonica, in that they received the word with all readiness, and </a:t>
            </a:r>
            <a:r>
              <a:rPr lang="en-US" sz="2000" b="1" i="1" dirty="0"/>
              <a:t>searched the Scriptures</a:t>
            </a:r>
            <a:r>
              <a:rPr lang="en-US" sz="2000" i="1" dirty="0"/>
              <a:t> </a:t>
            </a:r>
            <a:r>
              <a:rPr lang="en-US" sz="2000" b="1" i="1" dirty="0"/>
              <a:t>daily to find out whether these things were so</a:t>
            </a:r>
            <a:r>
              <a:rPr lang="en-US" sz="2000" i="1" dirty="0"/>
              <a:t>.”  </a:t>
            </a:r>
          </a:p>
          <a:p>
            <a:r>
              <a:rPr lang="en-US" sz="2000" i="1" dirty="0"/>
              <a:t>Acts 17:11</a:t>
            </a:r>
          </a:p>
          <a:p>
            <a:endParaRPr lang="en-US" sz="2000" i="1" dirty="0"/>
          </a:p>
          <a:p>
            <a:r>
              <a:rPr lang="en-US" sz="2000" i="1" dirty="0"/>
              <a:t>“But sanctify the Lord God in your hearts, and </a:t>
            </a:r>
            <a:r>
              <a:rPr lang="en-US" sz="2000" b="1" i="1" dirty="0"/>
              <a:t>always be ready to give a defense</a:t>
            </a:r>
            <a:r>
              <a:rPr lang="en-US" sz="2000" i="1" dirty="0"/>
              <a:t> to everyone who asks you a reason for the hope that is in you, with meekness and fear;”   </a:t>
            </a:r>
          </a:p>
          <a:p>
            <a:r>
              <a:rPr lang="en-US" sz="2000" i="1" dirty="0"/>
              <a:t>1 Peter 3:15</a:t>
            </a:r>
          </a:p>
          <a:p>
            <a:endParaRPr lang="en-US" sz="2000" dirty="0"/>
          </a:p>
          <a:p>
            <a:r>
              <a:rPr lang="en-US" sz="2000" i="1" dirty="0"/>
              <a:t>“Be </a:t>
            </a:r>
            <a:r>
              <a:rPr lang="en-US" sz="2000" b="1" i="1" dirty="0"/>
              <a:t>diligent</a:t>
            </a:r>
            <a:r>
              <a:rPr lang="en-US" sz="2000" i="1" dirty="0"/>
              <a:t> to </a:t>
            </a:r>
            <a:r>
              <a:rPr lang="en-US" sz="2000" b="1" i="1" dirty="0"/>
              <a:t>present yourself </a:t>
            </a:r>
            <a:r>
              <a:rPr lang="en-US" sz="2000" i="1" dirty="0"/>
              <a:t>approved to God, a </a:t>
            </a:r>
            <a:r>
              <a:rPr lang="en-US" sz="2000" b="1" i="1" dirty="0"/>
              <a:t>worker</a:t>
            </a:r>
            <a:r>
              <a:rPr lang="en-US" sz="2000" i="1" dirty="0"/>
              <a:t> who does not need to be ashamed, </a:t>
            </a:r>
            <a:r>
              <a:rPr lang="en-US" sz="2000" b="1" i="1" dirty="0"/>
              <a:t>rightly dividing the word of truth</a:t>
            </a:r>
            <a:r>
              <a:rPr lang="en-US" sz="2000" i="1" dirty="0"/>
              <a:t>.”   </a:t>
            </a:r>
          </a:p>
          <a:p>
            <a:r>
              <a:rPr lang="en-US" sz="2000" i="1" dirty="0"/>
              <a:t>2 Timothy 2:15</a:t>
            </a:r>
          </a:p>
          <a:p>
            <a:endParaRPr lang="en-US" sz="2000" i="1" dirty="0"/>
          </a:p>
          <a:p>
            <a:r>
              <a:rPr lang="en-US" sz="2000" i="1" dirty="0"/>
              <a:t>“</a:t>
            </a:r>
            <a:r>
              <a:rPr lang="en-US" sz="2000" b="1" i="1" dirty="0"/>
              <a:t>Beware lest anyone cheat you </a:t>
            </a:r>
            <a:r>
              <a:rPr lang="en-US" sz="2000" i="1" dirty="0"/>
              <a:t>through philosophy and empty deceit, according to the tradition of men, according to the basic principles of the world, and </a:t>
            </a:r>
            <a:r>
              <a:rPr lang="en-US" sz="2000" b="1" i="1" dirty="0"/>
              <a:t>not according to Christ</a:t>
            </a:r>
            <a:r>
              <a:rPr lang="en-US" sz="2000" i="1" dirty="0"/>
              <a:t>.”   </a:t>
            </a:r>
          </a:p>
          <a:p>
            <a:r>
              <a:rPr lang="en-US" sz="2000" i="1" dirty="0"/>
              <a:t>Colossians 2:8</a:t>
            </a:r>
          </a:p>
        </p:txBody>
      </p:sp>
    </p:spTree>
    <p:extLst>
      <p:ext uri="{BB962C8B-B14F-4D97-AF65-F5344CB8AC3E}">
        <p14:creationId xmlns:p14="http://schemas.microsoft.com/office/powerpoint/2010/main" val="290895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The Law in Context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 reflection of human behavior (sin nature of man)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8536" y="2145490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“The heart is deceitful above all things, and desperately wicked; who can know it?”    </a:t>
            </a:r>
            <a:r>
              <a:rPr lang="en-US" sz="2000" i="1" dirty="0"/>
              <a:t>Jeremiah 17:9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530" y="1104430"/>
            <a:ext cx="8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“For </a:t>
            </a:r>
            <a:r>
              <a:rPr lang="en-US" sz="2000" b="1" i="1" dirty="0"/>
              <a:t>whatever things were written before were written for our learning</a:t>
            </a:r>
            <a:r>
              <a:rPr lang="en-US" sz="2000" i="1" dirty="0"/>
              <a:t>, that we through the patience and comfort of the Scriptures might have hope.”    Romans 15:4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530" y="2878773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“Therefore by the deeds of the law no flesh will be justified in His sight, for </a:t>
            </a:r>
            <a:r>
              <a:rPr lang="en-US" sz="2000" b="1" i="1" dirty="0"/>
              <a:t>by the law is the knowledge of sin</a:t>
            </a:r>
            <a:r>
              <a:rPr lang="en-US" sz="2000" i="1" dirty="0"/>
              <a:t>.”    Romans 3:20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530" y="3612056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“Therefore we conclude that a man is </a:t>
            </a:r>
            <a:r>
              <a:rPr lang="en-US" sz="2000" b="1" i="1" dirty="0"/>
              <a:t>justified by faith apart of the deeds of the law</a:t>
            </a:r>
            <a:r>
              <a:rPr lang="en-US" sz="2000" i="1" dirty="0"/>
              <a:t>.”    Romans 3:28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078622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“For if the </a:t>
            </a:r>
            <a:r>
              <a:rPr lang="en-US" sz="2000" b="1" i="1" dirty="0"/>
              <a:t>ministry of condemnation </a:t>
            </a:r>
            <a:r>
              <a:rPr lang="en-US" sz="2000" i="1" dirty="0"/>
              <a:t>had glory, the ministry of righteousness exceeds much more in glory.”    2 Cor. 3:9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536" y="4345339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“Moreover the </a:t>
            </a:r>
            <a:r>
              <a:rPr lang="en-US" sz="2000" b="1" i="1" dirty="0"/>
              <a:t>law entered that the offense might abound</a:t>
            </a:r>
            <a:r>
              <a:rPr lang="en-US" sz="2000" i="1" dirty="0"/>
              <a:t>.  But where sin abounded, grace abounded much more.”    Romans 3:28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36" y="5728140"/>
            <a:ext cx="8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Burden of the Law (refer to Exodus 20)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Acts 7:53; Stephen before the Sanhedrin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Acts 15:10; Peter refers</a:t>
            </a:r>
          </a:p>
        </p:txBody>
      </p:sp>
    </p:spTree>
    <p:extLst>
      <p:ext uri="{BB962C8B-B14F-4D97-AF65-F5344CB8AC3E}">
        <p14:creationId xmlns:p14="http://schemas.microsoft.com/office/powerpoint/2010/main" val="71826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The Law in Context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 reflection of the will and purpose of God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774" y="2409367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</a:t>
            </a:r>
            <a:r>
              <a:rPr lang="en-US" sz="2000" b="1" i="1" dirty="0"/>
              <a:t>For sin shall not have dominion over you, for you are not under law but under grace.</a:t>
            </a:r>
            <a:r>
              <a:rPr lang="en-US" sz="2000" i="1" dirty="0"/>
              <a:t>”   Romans 6:14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05200"/>
            <a:ext cx="8001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Romans 7:1-4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the illustration of the husband and wife, what is Paul’s single point?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does this illustration reflect upon versus 6:2-6?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are the demands of law?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Did moral law exist before the Mosaic covenant?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Does a person have to die to some law before they can come under the Law of Christ?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After the cross, what law did Jews die to?</a:t>
            </a:r>
            <a:endParaRPr lang="en-US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law did gentiles die 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774" y="1308670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Psalm 119</a:t>
            </a:r>
          </a:p>
          <a:p>
            <a:r>
              <a:rPr lang="en-US" sz="2000" i="1" dirty="0"/>
              <a:t>Matthew 5-7</a:t>
            </a:r>
          </a:p>
        </p:txBody>
      </p:sp>
    </p:spTree>
    <p:extLst>
      <p:ext uri="{BB962C8B-B14F-4D97-AF65-F5344CB8AC3E}">
        <p14:creationId xmlns:p14="http://schemas.microsoft.com/office/powerpoint/2010/main" val="103330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The Law in Context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Spiritual Life Revealed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7560"/>
            <a:ext cx="8001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Romans 7:5-6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does “in the flesh” mean?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Are passions sinful in themselves?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Does a person have to die to some law before they can come under the Law of Christ?</a:t>
            </a:r>
          </a:p>
          <a:p>
            <a:endParaRPr lang="en-US" sz="2000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724404"/>
              </p:ext>
            </p:extLst>
          </p:nvPr>
        </p:nvGraphicFramePr>
        <p:xfrm>
          <a:off x="533400" y="3048000"/>
          <a:ext cx="7924800" cy="347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lang="en-US" dirty="0"/>
                        <a:t>Life</a:t>
                      </a:r>
                      <a:r>
                        <a:rPr lang="en-US" baseline="0" dirty="0"/>
                        <a:t> by the Letter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Life by the Spirit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/>
                        <a:t>Depends on</a:t>
                      </a:r>
                      <a:r>
                        <a:rPr lang="en-US" baseline="0" dirty="0"/>
                        <a:t> the flesh (Rom. 8:3)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Depends</a:t>
                      </a:r>
                      <a:r>
                        <a:rPr lang="en-US" baseline="0" dirty="0"/>
                        <a:t> upon God’s power (Luke 23:49; Acts 1:8)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/>
                        <a:t>Produces rebellion</a:t>
                      </a:r>
                      <a:r>
                        <a:rPr lang="en-US" baseline="0" dirty="0"/>
                        <a:t> (Rom. 7:8)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Produces God’s desires (Phil. 2:13)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  <a:r>
                        <a:rPr lang="en-US" baseline="0" dirty="0"/>
                        <a:t> in more sin (Rom. 5:20)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 in righteousness</a:t>
                      </a:r>
                      <a:r>
                        <a:rPr lang="en-US" baseline="0" dirty="0"/>
                        <a:t> (Rom. 8:4)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/>
                        <a:t>Brings wrath (Rom.</a:t>
                      </a:r>
                      <a:r>
                        <a:rPr lang="en-US" baseline="0" dirty="0"/>
                        <a:t> 4:15)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Brings joy, peace, production (Gal. 5:22-23)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/>
                        <a:t>Not of faith (Gal. 3:12)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By faith (Gal. 5:5; 2 Cor. 5:7)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/>
                        <a:t>Kills (2 Cor. 3:4-6; Gal. 3:21)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Gives life (Phil.</a:t>
                      </a:r>
                      <a:r>
                        <a:rPr lang="en-US" baseline="0" dirty="0"/>
                        <a:t> 2:12-13)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23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Why was the Law given?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Purpose of the Law of God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5579" y="1864123"/>
            <a:ext cx="8001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/>
              <a:t>To expose our sin nature.   Romans 7:7</a:t>
            </a:r>
          </a:p>
          <a:p>
            <a:pPr marL="457200" indent="-457200">
              <a:buAutoNum type="arabicPeriod"/>
            </a:pPr>
            <a:r>
              <a:rPr lang="en-US" sz="2000" dirty="0"/>
              <a:t>To incite our sin nature to sin more.   Romans 7:8-23</a:t>
            </a:r>
          </a:p>
          <a:p>
            <a:pPr marL="457200" indent="-457200">
              <a:buAutoNum type="arabicPeriod"/>
            </a:pPr>
            <a:r>
              <a:rPr lang="en-US" sz="2000" dirty="0"/>
              <a:t>To drive us to despair of self-effort.  Romans 7:24-25</a:t>
            </a:r>
          </a:p>
          <a:p>
            <a:pPr marL="457200" indent="-457200">
              <a:buAutoNum type="arabicPeriod"/>
            </a:pPr>
            <a:r>
              <a:rPr lang="en-US" sz="2000" dirty="0"/>
              <a:t>To drive us to dependence upon the Holy Spirit alone.  Romans 8:1-4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579" y="1295400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“What shall we say then?  Is the law sin? …”    Romans 7:7-12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579" y="3612416"/>
            <a:ext cx="8001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Romans 7:7-12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many people “had known sin except through the law”?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When was Paul alive apart from law?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meant by the phrase “sin revived”?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When did Paul “die” and what death did he “die”?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does this dying through “meeting up with the law” relate to the Jew?</a:t>
            </a:r>
          </a:p>
        </p:txBody>
      </p:sp>
    </p:spTree>
    <p:extLst>
      <p:ext uri="{BB962C8B-B14F-4D97-AF65-F5344CB8AC3E}">
        <p14:creationId xmlns:p14="http://schemas.microsoft.com/office/powerpoint/2010/main" val="263276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The Law of Sin and Death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Who will deliver me…?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579" y="1295400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“O wretched man that I am! …”    Romans 7:24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579" y="1847910"/>
            <a:ext cx="8001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Romans 7:13-24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sin a condition?  Or, is sin a deviation from the Holy will of God?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gives sin it’s power or ability to inflict death?  (1 Cor. 15:56)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the law spiritual?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are the different laws in his members?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When he says:  “It is no longer I who do it…” is he rejecting responsibility for his sins?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the “wretched man” a Christian or not?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the wretched man incapable of doing any good?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the wretched man a captive to the law of sin and death?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Does the wretched man live in a body of death?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does all of this fit in with Paul’s argument that the Christian (logically) should serve righteousness?</a:t>
            </a:r>
          </a:p>
        </p:txBody>
      </p:sp>
    </p:spTree>
    <p:extLst>
      <p:ext uri="{BB962C8B-B14F-4D97-AF65-F5344CB8AC3E}">
        <p14:creationId xmlns:p14="http://schemas.microsoft.com/office/powerpoint/2010/main" val="330889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The Dual Nature of Man</a:t>
            </a:r>
            <a:br>
              <a:rPr lang="en-US" dirty="0"/>
            </a:b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“Flesh” versus the “Spirit”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579" y="1295400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“So then, with the mind I myself serve the law of God, but with the flesh the law of sin.”    Romans 7:25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579" y="2286000"/>
            <a:ext cx="8001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Summation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Law isn’t evil; Paul knows that for he serves it with his mind; he serves it as his standard </a:t>
            </a:r>
            <a:r>
              <a:rPr lang="en-US" sz="2000"/>
              <a:t>of righteousness.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problem is, in his flesh, he doesn’t live-up to the law, and thus is the servant of sin.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His virtues and good desires don’t count.  His sins are imputed to him both judicially and practically.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Standing in his human nature (in the flesh), he is unable to live-up to what his mind freely recognizes and wants.</a:t>
            </a:r>
          </a:p>
        </p:txBody>
      </p:sp>
    </p:spTree>
    <p:extLst>
      <p:ext uri="{BB962C8B-B14F-4D97-AF65-F5344CB8AC3E}">
        <p14:creationId xmlns:p14="http://schemas.microsoft.com/office/powerpoint/2010/main" val="18110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theme/theme1.xml><?xml version="1.0" encoding="utf-8"?>
<a:theme xmlns:a="http://schemas.openxmlformats.org/drawingml/2006/main" name="PPT_Template_2010SummerSchoo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PCRC_Powerpoint_Template_with I-Mar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PPT_Template_2010SummerSchool</Template>
  <TotalTime>22795</TotalTime>
  <Words>1069</Words>
  <Application>Microsoft Macintosh PowerPoint</Application>
  <PresentationFormat>On-screen Show (4:3)</PresentationFormat>
  <Paragraphs>104</Paragraphs>
  <Slides>8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Narrow</vt:lpstr>
      <vt:lpstr>Calibri</vt:lpstr>
      <vt:lpstr>PPT_Template_2010SummerSchool</vt:lpstr>
      <vt:lpstr>1_UPCRC_Powerpoint_Template_with I-Mark</vt:lpstr>
      <vt:lpstr>Romans</vt:lpstr>
      <vt:lpstr>The Fine Print Our responsibility…</vt:lpstr>
      <vt:lpstr>The Law in Context A reflection of human behavior (sin nature of man)</vt:lpstr>
      <vt:lpstr>The Law in Context A reflection of the will and purpose of God</vt:lpstr>
      <vt:lpstr>The Law in Context The Spiritual Life Revealed</vt:lpstr>
      <vt:lpstr>Why was the Law given? Purpose of the Law of God</vt:lpstr>
      <vt:lpstr>The Law of Sin and Death Who will deliver me…?</vt:lpstr>
      <vt:lpstr>The Dual Nature of Man The “Flesh” versus the “Spirit”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 Pennington</dc:creator>
  <cp:lastModifiedBy>Phil Pennington</cp:lastModifiedBy>
  <cp:revision>732</cp:revision>
  <cp:lastPrinted>2012-04-01T14:05:10Z</cp:lastPrinted>
  <dcterms:created xsi:type="dcterms:W3CDTF">2010-06-16T02:58:04Z</dcterms:created>
  <dcterms:modified xsi:type="dcterms:W3CDTF">2026-05-29T12:32:25Z</dcterms:modified>
</cp:coreProperties>
</file>