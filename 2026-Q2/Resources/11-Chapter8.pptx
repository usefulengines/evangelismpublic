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6"/>
  </p:notesMasterIdLst>
  <p:sldIdLst>
    <p:sldId id="256" r:id="rId3"/>
    <p:sldId id="297" r:id="rId4"/>
    <p:sldId id="387" r:id="rId5"/>
    <p:sldId id="381" r:id="rId6"/>
    <p:sldId id="380" r:id="rId7"/>
    <p:sldId id="382" r:id="rId8"/>
    <p:sldId id="383" r:id="rId9"/>
    <p:sldId id="384" r:id="rId10"/>
    <p:sldId id="385" r:id="rId11"/>
    <p:sldId id="386" r:id="rId12"/>
    <p:sldId id="388" r:id="rId13"/>
    <p:sldId id="390" r:id="rId14"/>
    <p:sldId id="391" r:id="rId15"/>
  </p:sldIdLst>
  <p:sldSz cx="9144000" cy="6858000" type="screen4x3"/>
  <p:notesSz cx="7077075" cy="9393238"/>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84" autoAdjust="0"/>
    <p:restoredTop sz="83713" autoAdjust="0"/>
  </p:normalViewPr>
  <p:slideViewPr>
    <p:cSldViewPr>
      <p:cViewPr varScale="1">
        <p:scale>
          <a:sx n="106" d="100"/>
          <a:sy n="106" d="100"/>
        </p:scale>
        <p:origin x="2360" y="17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66733" cy="469662"/>
          </a:xfrm>
          <a:prstGeom prst="rect">
            <a:avLst/>
          </a:prstGeom>
        </p:spPr>
        <p:txBody>
          <a:bodyPr vert="horz" wrap="square" lIns="94103" tIns="47052" rIns="94103" bIns="47052"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08706" y="0"/>
            <a:ext cx="3066733" cy="469662"/>
          </a:xfrm>
          <a:prstGeom prst="rect">
            <a:avLst/>
          </a:prstGeom>
        </p:spPr>
        <p:txBody>
          <a:bodyPr vert="horz" wrap="square" lIns="94103" tIns="47052" rIns="94103" bIns="47052"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5/25/26</a:t>
            </a:fld>
            <a:endParaRPr lang="en-US"/>
          </a:p>
        </p:txBody>
      </p:sp>
      <p:sp>
        <p:nvSpPr>
          <p:cNvPr id="4" name="Slide Image Placeholder 3"/>
          <p:cNvSpPr>
            <a:spLocks noGrp="1" noRot="1" noChangeAspect="1"/>
          </p:cNvSpPr>
          <p:nvPr>
            <p:ph type="sldImg" idx="2"/>
          </p:nvPr>
        </p:nvSpPr>
        <p:spPr>
          <a:xfrm>
            <a:off x="1190625" y="704850"/>
            <a:ext cx="4695825" cy="3522663"/>
          </a:xfrm>
          <a:prstGeom prst="rect">
            <a:avLst/>
          </a:prstGeom>
          <a:noFill/>
          <a:ln w="12700">
            <a:solidFill>
              <a:prstClr val="black"/>
            </a:solidFill>
          </a:ln>
        </p:spPr>
        <p:txBody>
          <a:bodyPr vert="horz" wrap="square" lIns="94103" tIns="47052" rIns="94103" bIns="47052"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7708" y="4461788"/>
            <a:ext cx="5661660" cy="4226957"/>
          </a:xfrm>
          <a:prstGeom prst="rect">
            <a:avLst/>
          </a:prstGeom>
        </p:spPr>
        <p:txBody>
          <a:bodyPr vert="horz" wrap="square" lIns="94103" tIns="47052" rIns="94103" bIns="47052"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1" y="8921946"/>
            <a:ext cx="3066733" cy="469662"/>
          </a:xfrm>
          <a:prstGeom prst="rect">
            <a:avLst/>
          </a:prstGeom>
        </p:spPr>
        <p:txBody>
          <a:bodyPr vert="horz" wrap="square" lIns="94103" tIns="47052" rIns="94103" bIns="47052"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08706" y="8921946"/>
            <a:ext cx="3066733" cy="469662"/>
          </a:xfrm>
          <a:prstGeom prst="rect">
            <a:avLst/>
          </a:prstGeom>
        </p:spPr>
        <p:txBody>
          <a:bodyPr vert="horz" wrap="square" lIns="94103" tIns="47052" rIns="94103" bIns="47052"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pPr marL="171437" indent="-171437">
              <a:buFont typeface="Arial" pitchFamily="34" charset="0"/>
              <a:buChar char="•"/>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1654847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baseline="0" dirty="0"/>
          </a:p>
          <a:p>
            <a:r>
              <a:rPr lang="en-US" baseline="0" dirty="0"/>
              <a:t>What you need to keep in mind…</a:t>
            </a:r>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2</a:t>
            </a:fld>
            <a:endParaRPr lang="en-US"/>
          </a:p>
        </p:txBody>
      </p:sp>
    </p:spTree>
    <p:extLst>
      <p:ext uri="{BB962C8B-B14F-4D97-AF65-F5344CB8AC3E}">
        <p14:creationId xmlns:p14="http://schemas.microsoft.com/office/powerpoint/2010/main" val="29000504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3</a:t>
            </a:fld>
            <a:endParaRPr lang="en-US"/>
          </a:p>
        </p:txBody>
      </p:sp>
    </p:spTree>
    <p:extLst>
      <p:ext uri="{BB962C8B-B14F-4D97-AF65-F5344CB8AC3E}">
        <p14:creationId xmlns:p14="http://schemas.microsoft.com/office/powerpoint/2010/main" val="32401618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4</a:t>
            </a:fld>
            <a:endParaRPr lang="en-US"/>
          </a:p>
        </p:txBody>
      </p:sp>
    </p:spTree>
    <p:extLst>
      <p:ext uri="{BB962C8B-B14F-4D97-AF65-F5344CB8AC3E}">
        <p14:creationId xmlns:p14="http://schemas.microsoft.com/office/powerpoint/2010/main" val="2358049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lvl="1" defTabSz="941100"/>
            <a:endParaRPr lang="en-US" dirty="0"/>
          </a:p>
          <a:p>
            <a:pPr marL="0" lvl="1" defTabSz="941100"/>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5</a:t>
            </a:fld>
            <a:endParaRPr lang="en-US"/>
          </a:p>
        </p:txBody>
      </p:sp>
    </p:spTree>
    <p:extLst>
      <p:ext uri="{BB962C8B-B14F-4D97-AF65-F5344CB8AC3E}">
        <p14:creationId xmlns:p14="http://schemas.microsoft.com/office/powerpoint/2010/main" val="1905819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Are we physically free from the law of sin and death (i.e. in the flesh)?</a:t>
            </a:r>
          </a:p>
          <a:p>
            <a:endParaRPr lang="en-US" dirty="0"/>
          </a:p>
          <a:p>
            <a:r>
              <a:rPr lang="en-US" dirty="0"/>
              <a:t>Does</a:t>
            </a:r>
            <a:r>
              <a:rPr lang="en-US" baseline="0" dirty="0"/>
              <a:t> the law of sin and death have dominion in our lives?   </a:t>
            </a:r>
          </a:p>
          <a:p>
            <a:endParaRPr lang="en-US" baseline="0" dirty="0"/>
          </a:p>
          <a:p>
            <a:r>
              <a:rPr lang="en-US" baseline="0" dirty="0"/>
              <a:t>“In Christ Jesus”      John 15:1-5</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6</a:t>
            </a:fld>
            <a:endParaRPr lang="en-US"/>
          </a:p>
        </p:txBody>
      </p:sp>
    </p:spTree>
    <p:extLst>
      <p:ext uri="{BB962C8B-B14F-4D97-AF65-F5344CB8AC3E}">
        <p14:creationId xmlns:p14="http://schemas.microsoft.com/office/powerpoint/2010/main" val="38243942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7</a:t>
            </a:fld>
            <a:endParaRPr lang="en-US"/>
          </a:p>
        </p:txBody>
      </p:sp>
    </p:spTree>
    <p:extLst>
      <p:ext uri="{BB962C8B-B14F-4D97-AF65-F5344CB8AC3E}">
        <p14:creationId xmlns:p14="http://schemas.microsoft.com/office/powerpoint/2010/main" val="134661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8</a:t>
            </a:fld>
            <a:endParaRPr lang="en-US"/>
          </a:p>
        </p:txBody>
      </p:sp>
    </p:spTree>
    <p:extLst>
      <p:ext uri="{BB962C8B-B14F-4D97-AF65-F5344CB8AC3E}">
        <p14:creationId xmlns:p14="http://schemas.microsoft.com/office/powerpoint/2010/main" val="25566762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9</a:t>
            </a:fld>
            <a:endParaRPr lang="en-US"/>
          </a:p>
        </p:txBody>
      </p:sp>
    </p:spTree>
    <p:extLst>
      <p:ext uri="{BB962C8B-B14F-4D97-AF65-F5344CB8AC3E}">
        <p14:creationId xmlns:p14="http://schemas.microsoft.com/office/powerpoint/2010/main" val="17196864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10</a:t>
            </a:fld>
            <a:endParaRPr lang="en-US"/>
          </a:p>
        </p:txBody>
      </p:sp>
    </p:spTree>
    <p:extLst>
      <p:ext uri="{BB962C8B-B14F-4D97-AF65-F5344CB8AC3E}">
        <p14:creationId xmlns:p14="http://schemas.microsoft.com/office/powerpoint/2010/main" val="23833849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11</a:t>
            </a:fld>
            <a:endParaRPr lang="en-US"/>
          </a:p>
        </p:txBody>
      </p:sp>
    </p:spTree>
    <p:extLst>
      <p:ext uri="{BB962C8B-B14F-4D97-AF65-F5344CB8AC3E}">
        <p14:creationId xmlns:p14="http://schemas.microsoft.com/office/powerpoint/2010/main" val="36751538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12</a:t>
            </a:fld>
            <a:endParaRPr lang="en-US"/>
          </a:p>
        </p:txBody>
      </p:sp>
    </p:spTree>
    <p:extLst>
      <p:ext uri="{BB962C8B-B14F-4D97-AF65-F5344CB8AC3E}">
        <p14:creationId xmlns:p14="http://schemas.microsoft.com/office/powerpoint/2010/main" val="10651477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13</a:t>
            </a:fld>
            <a:endParaRPr lang="en-US"/>
          </a:p>
        </p:txBody>
      </p:sp>
    </p:spTree>
    <p:extLst>
      <p:ext uri="{BB962C8B-B14F-4D97-AF65-F5344CB8AC3E}">
        <p14:creationId xmlns:p14="http://schemas.microsoft.com/office/powerpoint/2010/main" val="3176502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ctr">
              <a:defRPr sz="1400">
                <a:solidFill>
                  <a:schemeClr val="tx2"/>
                </a:solidFill>
                <a:latin typeface="Arial" pitchFamily="34" charset="0"/>
              </a:defRPr>
            </a:lvl1pPr>
          </a:lstStyle>
          <a:p>
            <a:pPr>
              <a:defRPr/>
            </a:pPr>
            <a:fld id="{90314B7E-EB23-4DAB-A3F0-0F7BBB6CDA33}" type="slidenum">
              <a:rPr lang="en-US"/>
              <a:pPr>
                <a:defRPr/>
              </a:pPr>
              <a:t>‹#›</a:t>
            </a:fld>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r">
              <a:defRPr sz="1400">
                <a:solidFill>
                  <a:schemeClr val="tx2"/>
                </a:solidFill>
                <a:latin typeface="Arial" pitchFamily="34" charset="0"/>
              </a:defRPr>
            </a:lvl1pPr>
          </a:lstStyle>
          <a:p>
            <a:pPr>
              <a:defRPr/>
            </a:pPr>
            <a:fld id="{9325C3C2-9E54-411C-9683-C950CD1738F8}" type="slidenum">
              <a:rPr lang="en-US"/>
              <a:pPr>
                <a:defRPr/>
              </a:pPr>
              <a:t>‹#›</a:t>
            </a:fld>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4267200" y="6416675"/>
            <a:ext cx="685800" cy="365125"/>
          </a:xfrm>
          <a:prstGeom prst="rect">
            <a:avLst/>
          </a:prstGeom>
        </p:spPr>
        <p:txBody>
          <a:bodyPr anchor="b"/>
          <a:lstStyle>
            <a:lvl1pPr algn="ctr">
              <a:defRPr sz="1400">
                <a:solidFill>
                  <a:schemeClr val="tx2"/>
                </a:solidFill>
                <a:latin typeface="Arial" pitchFamily="34" charset="0"/>
              </a:defRPr>
            </a:lvl1pPr>
          </a:lstStyle>
          <a:p>
            <a:pPr>
              <a:defRPr/>
            </a:pPr>
            <a:fld id="{2D225349-B1F9-464A-9CC5-D5DDA255FDA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8077200" y="6416675"/>
            <a:ext cx="652463" cy="365125"/>
          </a:xfrm>
          <a:prstGeom prst="rect">
            <a:avLst/>
          </a:prstGeom>
        </p:spPr>
        <p:txBody>
          <a:bodyPr anchor="b"/>
          <a:lstStyle>
            <a:lvl1pPr algn="r">
              <a:defRPr sz="1400">
                <a:solidFill>
                  <a:schemeClr val="tx2"/>
                </a:solidFill>
                <a:latin typeface="Arial" pitchFamily="34" charset="0"/>
              </a:defRPr>
            </a:lvl1pPr>
          </a:lstStyle>
          <a:p>
            <a:pPr>
              <a:defRPr/>
            </a:pPr>
            <a:fld id="{D1036DDD-C097-4A4A-B40F-B92C82C562D7}"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ctrTitle"/>
          </p:nvPr>
        </p:nvSpPr>
        <p:spPr/>
        <p:txBody>
          <a:bodyPr/>
          <a:lstStyle/>
          <a:p>
            <a:pPr eaLnBrk="1" hangingPunct="1"/>
            <a:r>
              <a:rPr lang="en-US" dirty="0"/>
              <a:t>Romans</a:t>
            </a:r>
            <a:endParaRPr dirty="0"/>
          </a:p>
        </p:txBody>
      </p:sp>
      <p:sp>
        <p:nvSpPr>
          <p:cNvPr id="6147" name="Subtitle 2"/>
          <p:cNvSpPr>
            <a:spLocks noGrp="1"/>
          </p:cNvSpPr>
          <p:nvPr>
            <p:ph type="subTitle" idx="1"/>
          </p:nvPr>
        </p:nvSpPr>
        <p:spPr>
          <a:xfrm>
            <a:off x="1371600" y="3600450"/>
            <a:ext cx="6400800" cy="2438400"/>
          </a:xfrm>
        </p:spPr>
        <p:txBody>
          <a:bodyPr/>
          <a:lstStyle/>
          <a:p>
            <a:pPr eaLnBrk="1" hangingPunct="1"/>
            <a:r>
              <a:rPr lang="en-US" dirty="0"/>
              <a:t>Assurances of Christian Faith</a:t>
            </a:r>
          </a:p>
          <a:p>
            <a:pPr eaLnBrk="1" hangingPunct="1"/>
            <a:r>
              <a:rPr lang="en-US" dirty="0"/>
              <a:t>Chapter 8</a:t>
            </a:r>
          </a:p>
          <a:p>
            <a:pPr eaLnBrk="1" hangingPunct="1"/>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The Fine Print</a:t>
            </a:r>
            <a:br>
              <a:rPr lang="en-US" dirty="0"/>
            </a:br>
            <a:r>
              <a:rPr lang="en-US" sz="2400" dirty="0">
                <a:solidFill>
                  <a:schemeClr val="tx2">
                    <a:lumMod val="60000"/>
                    <a:lumOff val="40000"/>
                  </a:schemeClr>
                </a:solidFill>
              </a:rPr>
              <a:t>Our responsibility…</a:t>
            </a:r>
          </a:p>
        </p:txBody>
      </p:sp>
      <p:sp>
        <p:nvSpPr>
          <p:cNvPr id="3" name="TextBox 2"/>
          <p:cNvSpPr txBox="1"/>
          <p:nvPr/>
        </p:nvSpPr>
        <p:spPr>
          <a:xfrm>
            <a:off x="533400" y="1143000"/>
            <a:ext cx="8001000" cy="5632311"/>
          </a:xfrm>
          <a:prstGeom prst="rect">
            <a:avLst/>
          </a:prstGeom>
          <a:noFill/>
        </p:spPr>
        <p:txBody>
          <a:bodyPr wrap="square" rtlCol="0">
            <a:spAutoFit/>
          </a:bodyPr>
          <a:lstStyle/>
          <a:p>
            <a:r>
              <a:rPr lang="en-US" sz="2000" i="1" dirty="0"/>
              <a:t>“These [</a:t>
            </a:r>
            <a:r>
              <a:rPr lang="en-US" sz="2000" i="1" dirty="0" err="1"/>
              <a:t>Bereans</a:t>
            </a:r>
            <a:r>
              <a:rPr lang="en-US" sz="2000" i="1" dirty="0"/>
              <a:t>] were more fair-minded than those in Thessalonica, in that they received the word with all readiness, and </a:t>
            </a:r>
            <a:r>
              <a:rPr lang="en-US" sz="2000" b="1" i="1" dirty="0"/>
              <a:t>searched the Scriptures</a:t>
            </a:r>
            <a:r>
              <a:rPr lang="en-US" sz="2000" i="1" dirty="0"/>
              <a:t> </a:t>
            </a:r>
            <a:r>
              <a:rPr lang="en-US" sz="2000" b="1" i="1" dirty="0"/>
              <a:t>daily to find out whether these things were so</a:t>
            </a:r>
            <a:r>
              <a:rPr lang="en-US" sz="2000" i="1" dirty="0"/>
              <a:t>.”  </a:t>
            </a:r>
          </a:p>
          <a:p>
            <a:r>
              <a:rPr lang="en-US" sz="2000" i="1" dirty="0"/>
              <a:t>Acts 17:11</a:t>
            </a:r>
          </a:p>
          <a:p>
            <a:endParaRPr lang="en-US" sz="2000" i="1" dirty="0"/>
          </a:p>
          <a:p>
            <a:r>
              <a:rPr lang="en-US" sz="2000" i="1" dirty="0"/>
              <a:t>“But sanctify the Lord God in your hearts, and </a:t>
            </a:r>
            <a:r>
              <a:rPr lang="en-US" sz="2000" b="1" i="1" dirty="0"/>
              <a:t>always be ready to give a defense</a:t>
            </a:r>
            <a:r>
              <a:rPr lang="en-US" sz="2000" i="1" dirty="0"/>
              <a:t> to everyone who asks you a reason for the hope that is in you, with meekness and fear;”   </a:t>
            </a:r>
          </a:p>
          <a:p>
            <a:r>
              <a:rPr lang="en-US" sz="2000" i="1" dirty="0"/>
              <a:t>1 Peter 3:15</a:t>
            </a:r>
          </a:p>
          <a:p>
            <a:endParaRPr lang="en-US" sz="2000" dirty="0"/>
          </a:p>
          <a:p>
            <a:r>
              <a:rPr lang="en-US" sz="2000" i="1" dirty="0"/>
              <a:t>“Be </a:t>
            </a:r>
            <a:r>
              <a:rPr lang="en-US" sz="2000" b="1" i="1" dirty="0"/>
              <a:t>diligent</a:t>
            </a:r>
            <a:r>
              <a:rPr lang="en-US" sz="2000" i="1" dirty="0"/>
              <a:t> to </a:t>
            </a:r>
            <a:r>
              <a:rPr lang="en-US" sz="2000" b="1" i="1" dirty="0"/>
              <a:t>present yourself </a:t>
            </a:r>
            <a:r>
              <a:rPr lang="en-US" sz="2000" i="1" dirty="0"/>
              <a:t>approved to God, a </a:t>
            </a:r>
            <a:r>
              <a:rPr lang="en-US" sz="2000" b="1" i="1" dirty="0"/>
              <a:t>worker</a:t>
            </a:r>
            <a:r>
              <a:rPr lang="en-US" sz="2000" i="1" dirty="0"/>
              <a:t> who does not need to be ashamed, </a:t>
            </a:r>
            <a:r>
              <a:rPr lang="en-US" sz="2000" b="1" i="1" dirty="0"/>
              <a:t>rightly dividing the word of truth</a:t>
            </a:r>
            <a:r>
              <a:rPr lang="en-US" sz="2000" i="1" dirty="0"/>
              <a:t>.”   </a:t>
            </a:r>
          </a:p>
          <a:p>
            <a:r>
              <a:rPr lang="en-US" sz="2000" i="1" dirty="0"/>
              <a:t>2 Timothy 2:15</a:t>
            </a:r>
          </a:p>
          <a:p>
            <a:endParaRPr lang="en-US" sz="2000" i="1" dirty="0"/>
          </a:p>
          <a:p>
            <a:r>
              <a:rPr lang="en-US" sz="2000" i="1" dirty="0"/>
              <a:t>“</a:t>
            </a:r>
            <a:r>
              <a:rPr lang="en-US" sz="2000" b="1" i="1" dirty="0"/>
              <a:t>Beware lest anyone cheat you </a:t>
            </a:r>
            <a:r>
              <a:rPr lang="en-US" sz="2000" i="1" dirty="0"/>
              <a:t>through philosophy and empty deceit, according to the tradition of men, according to the basic principles of the world, and </a:t>
            </a:r>
            <a:r>
              <a:rPr lang="en-US" sz="2000" b="1" i="1" dirty="0"/>
              <a:t>not according to Christ</a:t>
            </a:r>
            <a:r>
              <a:rPr lang="en-US" sz="2000" i="1" dirty="0"/>
              <a:t>.”   </a:t>
            </a:r>
          </a:p>
          <a:p>
            <a:r>
              <a:rPr lang="en-US" sz="2000" i="1" dirty="0"/>
              <a:t>Colossians 2:8</a:t>
            </a:r>
          </a:p>
        </p:txBody>
      </p:sp>
    </p:spTree>
    <p:extLst>
      <p:ext uri="{BB962C8B-B14F-4D97-AF65-F5344CB8AC3E}">
        <p14:creationId xmlns:p14="http://schemas.microsoft.com/office/powerpoint/2010/main" val="2908953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1000"/>
                                        <p:tgtEl>
                                          <p:spTgt spid="3">
                                            <p:txEl>
                                              <p:pRg st="4" end="4"/>
                                            </p:txEl>
                                          </p:spTgt>
                                        </p:tgtEl>
                                      </p:cBhvr>
                                    </p:animEffect>
                                    <p:anim calcmode="lin" valueType="num">
                                      <p:cBhvr>
                                        <p:cTn id="1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1000"/>
                                        <p:tgtEl>
                                          <p:spTgt spid="3">
                                            <p:txEl>
                                              <p:pRg st="6" end="6"/>
                                            </p:txEl>
                                          </p:spTgt>
                                        </p:tgtEl>
                                      </p:cBhvr>
                                    </p:animEffect>
                                    <p:anim calcmode="lin" valueType="num">
                                      <p:cBhvr>
                                        <p:cTn id="1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fade">
                                      <p:cBhvr>
                                        <p:cTn id="22" dur="1000"/>
                                        <p:tgtEl>
                                          <p:spTgt spid="3">
                                            <p:txEl>
                                              <p:pRg st="7" end="7"/>
                                            </p:txEl>
                                          </p:spTgt>
                                        </p:tgtEl>
                                      </p:cBhvr>
                                    </p:animEffect>
                                    <p:anim calcmode="lin" valueType="num">
                                      <p:cBhvr>
                                        <p:cTn id="2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7" end="7"/>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Effect transition="in" filter="fade">
                                      <p:cBhvr>
                                        <p:cTn id="27" dur="1000"/>
                                        <p:tgtEl>
                                          <p:spTgt spid="3">
                                            <p:txEl>
                                              <p:pRg st="9" end="9"/>
                                            </p:txEl>
                                          </p:spTgt>
                                        </p:tgtEl>
                                      </p:cBhvr>
                                    </p:animEffect>
                                    <p:anim calcmode="lin" valueType="num">
                                      <p:cBhvr>
                                        <p:cTn id="28"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9" end="9"/>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10" end="10"/>
                                            </p:txEl>
                                          </p:spTgt>
                                        </p:tgtEl>
                                        <p:attrNameLst>
                                          <p:attrName>style.visibility</p:attrName>
                                        </p:attrNameLst>
                                      </p:cBhvr>
                                      <p:to>
                                        <p:strVal val="visible"/>
                                      </p:to>
                                    </p:set>
                                    <p:animEffect transition="in" filter="fade">
                                      <p:cBhvr>
                                        <p:cTn id="32" dur="1000"/>
                                        <p:tgtEl>
                                          <p:spTgt spid="3">
                                            <p:txEl>
                                              <p:pRg st="10" end="10"/>
                                            </p:txEl>
                                          </p:spTgt>
                                        </p:tgtEl>
                                      </p:cBhvr>
                                    </p:animEffect>
                                    <p:anim calcmode="lin" valueType="num">
                                      <p:cBhvr>
                                        <p:cTn id="33"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pPr>
              <a:defRPr/>
            </a:pPr>
            <a:fld id="{90314B7E-EB23-4DAB-A3F0-0F7BBB6CDA33}" type="slidenum">
              <a:rPr lang="en-US" smtClean="0"/>
              <a:pPr>
                <a:defRPr/>
              </a:pPr>
              <a:t>3</a:t>
            </a:fld>
            <a:endParaRPr lang="en-US" dirty="0"/>
          </a:p>
        </p:txBody>
      </p:sp>
      <p:sp>
        <p:nvSpPr>
          <p:cNvPr id="5" name="Title 1"/>
          <p:cNvSpPr txBox="1">
            <a:spLocks/>
          </p:cNvSpPr>
          <p:nvPr/>
        </p:nvSpPr>
        <p:spPr bwMode="auto">
          <a:xfrm>
            <a:off x="381000" y="0"/>
            <a:ext cx="8382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Faith, Hope, and Love</a:t>
            </a:r>
            <a:br>
              <a:rPr lang="en-US" dirty="0"/>
            </a:br>
            <a:r>
              <a:rPr lang="en-US" sz="2400" dirty="0">
                <a:solidFill>
                  <a:schemeClr val="tx2">
                    <a:lumMod val="60000"/>
                    <a:lumOff val="40000"/>
                  </a:schemeClr>
                </a:solidFill>
              </a:rPr>
              <a:t>The Outline - Review</a:t>
            </a:r>
          </a:p>
        </p:txBody>
      </p:sp>
      <p:sp>
        <p:nvSpPr>
          <p:cNvPr id="6" name="TextBox 5"/>
          <p:cNvSpPr txBox="1"/>
          <p:nvPr/>
        </p:nvSpPr>
        <p:spPr>
          <a:xfrm>
            <a:off x="521208" y="1447800"/>
            <a:ext cx="8001000" cy="1323439"/>
          </a:xfrm>
          <a:prstGeom prst="rect">
            <a:avLst/>
          </a:prstGeom>
          <a:noFill/>
        </p:spPr>
        <p:txBody>
          <a:bodyPr wrap="square" rtlCol="0">
            <a:spAutoFit/>
          </a:bodyPr>
          <a:lstStyle/>
          <a:p>
            <a:r>
              <a:rPr lang="en-US" sz="2000" b="1" i="1" dirty="0"/>
              <a:t>FAITH</a:t>
            </a:r>
            <a:r>
              <a:rPr lang="en-US" sz="2000" i="1" dirty="0"/>
              <a:t>, chapters 1-8</a:t>
            </a:r>
          </a:p>
          <a:p>
            <a:pPr marL="342900" indent="-342900">
              <a:buFont typeface="Arial" pitchFamily="34" charset="0"/>
              <a:buChar char="•"/>
            </a:pPr>
            <a:r>
              <a:rPr lang="en-US" sz="2000" i="1" dirty="0"/>
              <a:t>1-3 Sin (GOD’s great solution – the </a:t>
            </a:r>
            <a:r>
              <a:rPr lang="en-US" sz="2000" b="1" i="1" dirty="0"/>
              <a:t>Father</a:t>
            </a:r>
            <a:r>
              <a:rPr lang="en-US" sz="2000" i="1" dirty="0"/>
              <a:t> provides) </a:t>
            </a:r>
          </a:p>
          <a:p>
            <a:pPr marL="342900" indent="-342900">
              <a:buFont typeface="Arial" pitchFamily="34" charset="0"/>
              <a:buChar char="•"/>
            </a:pPr>
            <a:r>
              <a:rPr lang="en-US" sz="2000" i="1" dirty="0"/>
              <a:t>4-5 Salvation (GOD’s great gift – the </a:t>
            </a:r>
            <a:r>
              <a:rPr lang="en-US" sz="2000" b="1" i="1" dirty="0"/>
              <a:t>Son</a:t>
            </a:r>
            <a:r>
              <a:rPr lang="en-US" sz="2000" i="1" dirty="0"/>
              <a:t> provides)</a:t>
            </a:r>
          </a:p>
          <a:p>
            <a:pPr marL="342900" indent="-342900">
              <a:buFont typeface="Arial" pitchFamily="34" charset="0"/>
              <a:buChar char="•"/>
            </a:pPr>
            <a:r>
              <a:rPr lang="en-US" sz="2000" i="1" dirty="0"/>
              <a:t>6-8 Sanctification (GOD’s great work – the </a:t>
            </a:r>
            <a:r>
              <a:rPr lang="en-US" sz="2000" b="1" i="1" dirty="0"/>
              <a:t>Spirit</a:t>
            </a:r>
            <a:r>
              <a:rPr lang="en-US" sz="2000" i="1" dirty="0"/>
              <a:t> provides)</a:t>
            </a:r>
          </a:p>
        </p:txBody>
      </p:sp>
      <p:sp>
        <p:nvSpPr>
          <p:cNvPr id="7" name="TextBox 6"/>
          <p:cNvSpPr txBox="1"/>
          <p:nvPr/>
        </p:nvSpPr>
        <p:spPr>
          <a:xfrm>
            <a:off x="519031" y="3137595"/>
            <a:ext cx="8001000" cy="1323439"/>
          </a:xfrm>
          <a:prstGeom prst="rect">
            <a:avLst/>
          </a:prstGeom>
          <a:noFill/>
        </p:spPr>
        <p:txBody>
          <a:bodyPr wrap="square" rtlCol="0">
            <a:spAutoFit/>
          </a:bodyPr>
          <a:lstStyle/>
          <a:p>
            <a:r>
              <a:rPr lang="en-US" sz="2000" b="1" i="1" dirty="0"/>
              <a:t>HOPE</a:t>
            </a:r>
            <a:r>
              <a:rPr lang="en-US" sz="2000" i="1" dirty="0"/>
              <a:t>, chapters 9-11</a:t>
            </a:r>
          </a:p>
          <a:p>
            <a:pPr marL="342900" indent="-342900">
              <a:buFont typeface="Arial" pitchFamily="34" charset="0"/>
              <a:buChar char="•"/>
            </a:pPr>
            <a:r>
              <a:rPr lang="en-US" sz="2000" i="1" dirty="0"/>
              <a:t>9 Israel – Past</a:t>
            </a:r>
          </a:p>
          <a:p>
            <a:pPr marL="342900" indent="-342900">
              <a:buFont typeface="Arial" pitchFamily="34" charset="0"/>
              <a:buChar char="•"/>
            </a:pPr>
            <a:r>
              <a:rPr lang="en-US" sz="2000" i="1" dirty="0"/>
              <a:t>10 Israel – Present</a:t>
            </a:r>
          </a:p>
          <a:p>
            <a:pPr marL="342900" indent="-342900">
              <a:buFont typeface="Arial" pitchFamily="34" charset="0"/>
              <a:buChar char="•"/>
            </a:pPr>
            <a:r>
              <a:rPr lang="en-US" sz="2000" i="1" dirty="0"/>
              <a:t>11 Israel - Future</a:t>
            </a:r>
          </a:p>
        </p:txBody>
      </p:sp>
      <p:sp>
        <p:nvSpPr>
          <p:cNvPr id="8" name="TextBox 7"/>
          <p:cNvSpPr txBox="1"/>
          <p:nvPr/>
        </p:nvSpPr>
        <p:spPr>
          <a:xfrm>
            <a:off x="571500" y="4724400"/>
            <a:ext cx="8001000" cy="1323439"/>
          </a:xfrm>
          <a:prstGeom prst="rect">
            <a:avLst/>
          </a:prstGeom>
          <a:noFill/>
        </p:spPr>
        <p:txBody>
          <a:bodyPr wrap="square" rtlCol="0">
            <a:spAutoFit/>
          </a:bodyPr>
          <a:lstStyle/>
          <a:p>
            <a:r>
              <a:rPr lang="en-US" sz="2000" b="1" i="1" dirty="0"/>
              <a:t>LOVE</a:t>
            </a:r>
            <a:r>
              <a:rPr lang="en-US" sz="2000" i="1" dirty="0"/>
              <a:t>, chapters 12-16</a:t>
            </a:r>
          </a:p>
          <a:p>
            <a:pPr marL="342900" indent="-342900">
              <a:buFont typeface="Arial" pitchFamily="34" charset="0"/>
              <a:buChar char="•"/>
            </a:pPr>
            <a:r>
              <a:rPr lang="en-US" sz="2000" i="1" dirty="0"/>
              <a:t>Practical Christian Living</a:t>
            </a:r>
          </a:p>
          <a:p>
            <a:pPr marL="342900" indent="-342900">
              <a:buFont typeface="Arial" pitchFamily="34" charset="0"/>
              <a:buChar char="•"/>
            </a:pPr>
            <a:r>
              <a:rPr lang="en-US" sz="2000" i="1" dirty="0"/>
              <a:t>The </a:t>
            </a:r>
            <a:r>
              <a:rPr lang="en-US" sz="2000" b="1" i="1" dirty="0"/>
              <a:t>Just</a:t>
            </a:r>
            <a:r>
              <a:rPr lang="en-US" sz="2000" i="1" dirty="0"/>
              <a:t> shall </a:t>
            </a:r>
            <a:r>
              <a:rPr lang="en-US" sz="2000" b="1" i="1" dirty="0"/>
              <a:t>live</a:t>
            </a:r>
            <a:r>
              <a:rPr lang="en-US" sz="2000" i="1" dirty="0"/>
              <a:t> by </a:t>
            </a:r>
            <a:r>
              <a:rPr lang="en-US" sz="2000" b="1" i="1" dirty="0"/>
              <a:t>Faith</a:t>
            </a:r>
            <a:r>
              <a:rPr lang="en-US" sz="2000" i="1" dirty="0"/>
              <a:t>…</a:t>
            </a:r>
          </a:p>
          <a:p>
            <a:endParaRPr lang="en-US" sz="2000" i="1" dirty="0"/>
          </a:p>
        </p:txBody>
      </p:sp>
    </p:spTree>
    <p:extLst>
      <p:ext uri="{BB962C8B-B14F-4D97-AF65-F5344CB8AC3E}">
        <p14:creationId xmlns:p14="http://schemas.microsoft.com/office/powerpoint/2010/main" val="1419932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The Dual Nature of Man</a:t>
            </a:r>
            <a:br>
              <a:rPr lang="en-US" dirty="0"/>
            </a:br>
            <a:r>
              <a:rPr lang="en-US" sz="2400" dirty="0">
                <a:solidFill>
                  <a:schemeClr val="tx2">
                    <a:lumMod val="60000"/>
                    <a:lumOff val="40000"/>
                  </a:schemeClr>
                </a:solidFill>
              </a:rPr>
              <a:t>The “Flesh” versus the “Spirit”</a:t>
            </a:r>
          </a:p>
        </p:txBody>
      </p:sp>
      <p:sp>
        <p:nvSpPr>
          <p:cNvPr id="6" name="TextBox 5"/>
          <p:cNvSpPr txBox="1"/>
          <p:nvPr/>
        </p:nvSpPr>
        <p:spPr>
          <a:xfrm>
            <a:off x="455579" y="1295400"/>
            <a:ext cx="8001000" cy="707886"/>
          </a:xfrm>
          <a:prstGeom prst="rect">
            <a:avLst/>
          </a:prstGeom>
          <a:noFill/>
        </p:spPr>
        <p:txBody>
          <a:bodyPr wrap="square" rtlCol="0">
            <a:spAutoFit/>
          </a:bodyPr>
          <a:lstStyle/>
          <a:p>
            <a:r>
              <a:rPr lang="en-US" sz="2000" i="1" dirty="0"/>
              <a:t>“So then, with the mind I myself serve the law of God, but with the flesh the law of sin.”    Romans 7:25</a:t>
            </a:r>
          </a:p>
        </p:txBody>
      </p:sp>
      <p:sp>
        <p:nvSpPr>
          <p:cNvPr id="8" name="TextBox 7"/>
          <p:cNvSpPr txBox="1"/>
          <p:nvPr/>
        </p:nvSpPr>
        <p:spPr>
          <a:xfrm>
            <a:off x="455579" y="2286000"/>
            <a:ext cx="8001000" cy="2862322"/>
          </a:xfrm>
          <a:prstGeom prst="rect">
            <a:avLst/>
          </a:prstGeom>
          <a:noFill/>
        </p:spPr>
        <p:txBody>
          <a:bodyPr wrap="square" rtlCol="0">
            <a:spAutoFit/>
          </a:bodyPr>
          <a:lstStyle/>
          <a:p>
            <a:r>
              <a:rPr lang="en-US" sz="2000" i="1" dirty="0"/>
              <a:t>Chapter 7 Summation</a:t>
            </a:r>
          </a:p>
          <a:p>
            <a:pPr marL="342900" indent="-342900">
              <a:buFont typeface="Arial" panose="020B0604020202020204" pitchFamily="34" charset="0"/>
              <a:buChar char="•"/>
            </a:pPr>
            <a:r>
              <a:rPr lang="en-US" sz="2000" dirty="0"/>
              <a:t>The law isn’t evil; Paul knows that for he serves it with his mind; he serves it as his standard of righteousness.</a:t>
            </a:r>
          </a:p>
          <a:p>
            <a:pPr marL="342900" indent="-342900">
              <a:buFont typeface="Arial" panose="020B0604020202020204" pitchFamily="34" charset="0"/>
              <a:buChar char="•"/>
            </a:pPr>
            <a:r>
              <a:rPr lang="en-US" sz="2000" dirty="0"/>
              <a:t>The problem is, in his flesh, he doesn’t live-up to the law, and thus is the servant of sin.</a:t>
            </a:r>
          </a:p>
          <a:p>
            <a:pPr marL="342900" indent="-342900">
              <a:buFont typeface="Arial" panose="020B0604020202020204" pitchFamily="34" charset="0"/>
              <a:buChar char="•"/>
            </a:pPr>
            <a:r>
              <a:rPr lang="en-US" sz="2000" dirty="0"/>
              <a:t>His virtues and good desires don’t count.  His sins are imputed to him both judicially and practically.</a:t>
            </a:r>
          </a:p>
          <a:p>
            <a:pPr marL="342900" indent="-342900">
              <a:buFont typeface="Arial" panose="020B0604020202020204" pitchFamily="34" charset="0"/>
              <a:buChar char="•"/>
            </a:pPr>
            <a:r>
              <a:rPr lang="en-US" sz="2000" dirty="0"/>
              <a:t>Standing in his human nature (in the flesh), he is unable to live-up to what his mind freely recognizes and wants.</a:t>
            </a:r>
          </a:p>
        </p:txBody>
      </p:sp>
      <p:sp>
        <p:nvSpPr>
          <p:cNvPr id="5" name="TextBox 4"/>
          <p:cNvSpPr txBox="1"/>
          <p:nvPr/>
        </p:nvSpPr>
        <p:spPr>
          <a:xfrm>
            <a:off x="455579" y="5334000"/>
            <a:ext cx="8001000" cy="1323439"/>
          </a:xfrm>
          <a:prstGeom prst="rect">
            <a:avLst/>
          </a:prstGeom>
          <a:noFill/>
        </p:spPr>
        <p:txBody>
          <a:bodyPr wrap="square" rtlCol="0">
            <a:spAutoFit/>
          </a:bodyPr>
          <a:lstStyle/>
          <a:p>
            <a:r>
              <a:rPr lang="en-US" sz="2000" i="1" dirty="0"/>
              <a:t>What does this tell us about…</a:t>
            </a:r>
          </a:p>
          <a:p>
            <a:pPr marL="342900" indent="-342900">
              <a:buFont typeface="Arial" panose="020B0604020202020204" pitchFamily="34" charset="0"/>
              <a:buChar char="•"/>
            </a:pPr>
            <a:r>
              <a:rPr lang="en-US" sz="2000" i="1" dirty="0"/>
              <a:t>Human knowledge?</a:t>
            </a:r>
          </a:p>
          <a:p>
            <a:pPr marL="342900" indent="-342900">
              <a:buFont typeface="Arial" panose="020B0604020202020204" pitchFamily="34" charset="0"/>
              <a:buChar char="•"/>
            </a:pPr>
            <a:r>
              <a:rPr lang="en-US" sz="2000" i="1" dirty="0"/>
              <a:t>Human resolution?</a:t>
            </a:r>
          </a:p>
          <a:p>
            <a:pPr marL="342900" indent="-342900">
              <a:buFont typeface="Arial" panose="020B0604020202020204" pitchFamily="34" charset="0"/>
              <a:buChar char="•"/>
            </a:pPr>
            <a:r>
              <a:rPr lang="en-US" sz="2000" i="1" dirty="0"/>
              <a:t>Human self-diagnosis?</a:t>
            </a:r>
          </a:p>
        </p:txBody>
      </p:sp>
    </p:spTree>
    <p:extLst>
      <p:ext uri="{BB962C8B-B14F-4D97-AF65-F5344CB8AC3E}">
        <p14:creationId xmlns:p14="http://schemas.microsoft.com/office/powerpoint/2010/main" val="3687397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0" end="0"/>
                                            </p:txEl>
                                          </p:spTgt>
                                        </p:tgtEl>
                                        <p:attrNameLst>
                                          <p:attrName>style.visibility</p:attrName>
                                        </p:attrNameLst>
                                      </p:cBhvr>
                                      <p:to>
                                        <p:strVal val="visible"/>
                                      </p:to>
                                    </p:set>
                                    <p:animEffect transition="in" filter="fade">
                                      <p:cBhvr>
                                        <p:cTn id="14" dur="1000"/>
                                        <p:tgtEl>
                                          <p:spTgt spid="8">
                                            <p:txEl>
                                              <p:pRg st="0" end="0"/>
                                            </p:txEl>
                                          </p:spTgt>
                                        </p:tgtEl>
                                      </p:cBhvr>
                                    </p:animEffect>
                                    <p:anim calcmode="lin" valueType="num">
                                      <p:cBhvr>
                                        <p:cTn id="15"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animEffect transition="in" filter="fade">
                                      <p:cBhvr>
                                        <p:cTn id="19" dur="1000"/>
                                        <p:tgtEl>
                                          <p:spTgt spid="8">
                                            <p:txEl>
                                              <p:pRg st="1" end="1"/>
                                            </p:txEl>
                                          </p:spTgt>
                                        </p:tgtEl>
                                      </p:cBhvr>
                                    </p:animEffect>
                                    <p:anim calcmode="lin" valueType="num">
                                      <p:cBhvr>
                                        <p:cTn id="20"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2" end="2"/>
                                            </p:txEl>
                                          </p:spTgt>
                                        </p:tgtEl>
                                        <p:attrNameLst>
                                          <p:attrName>style.visibility</p:attrName>
                                        </p:attrNameLst>
                                      </p:cBhvr>
                                      <p:to>
                                        <p:strVal val="visible"/>
                                      </p:to>
                                    </p:set>
                                    <p:animEffect transition="in" filter="fade">
                                      <p:cBhvr>
                                        <p:cTn id="26" dur="1000"/>
                                        <p:tgtEl>
                                          <p:spTgt spid="8">
                                            <p:txEl>
                                              <p:pRg st="2" end="2"/>
                                            </p:txEl>
                                          </p:spTgt>
                                        </p:tgtEl>
                                      </p:cBhvr>
                                    </p:animEffect>
                                    <p:anim calcmode="lin" valueType="num">
                                      <p:cBhvr>
                                        <p:cTn id="27"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8">
                                            <p:txEl>
                                              <p:pRg st="3" end="3"/>
                                            </p:txEl>
                                          </p:spTgt>
                                        </p:tgtEl>
                                        <p:attrNameLst>
                                          <p:attrName>style.visibility</p:attrName>
                                        </p:attrNameLst>
                                      </p:cBhvr>
                                      <p:to>
                                        <p:strVal val="visible"/>
                                      </p:to>
                                    </p:set>
                                    <p:animEffect transition="in" filter="fade">
                                      <p:cBhvr>
                                        <p:cTn id="33" dur="1000"/>
                                        <p:tgtEl>
                                          <p:spTgt spid="8">
                                            <p:txEl>
                                              <p:pRg st="3" end="3"/>
                                            </p:txEl>
                                          </p:spTgt>
                                        </p:tgtEl>
                                      </p:cBhvr>
                                    </p:animEffect>
                                    <p:anim calcmode="lin" valueType="num">
                                      <p:cBhvr>
                                        <p:cTn id="34"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8">
                                            <p:txEl>
                                              <p:pRg st="4" end="4"/>
                                            </p:txEl>
                                          </p:spTgt>
                                        </p:tgtEl>
                                        <p:attrNameLst>
                                          <p:attrName>style.visibility</p:attrName>
                                        </p:attrNameLst>
                                      </p:cBhvr>
                                      <p:to>
                                        <p:strVal val="visible"/>
                                      </p:to>
                                    </p:set>
                                    <p:animEffect transition="in" filter="fade">
                                      <p:cBhvr>
                                        <p:cTn id="40" dur="1000"/>
                                        <p:tgtEl>
                                          <p:spTgt spid="8">
                                            <p:txEl>
                                              <p:pRg st="4" end="4"/>
                                            </p:txEl>
                                          </p:spTgt>
                                        </p:tgtEl>
                                      </p:cBhvr>
                                    </p:animEffect>
                                    <p:anim calcmode="lin" valueType="num">
                                      <p:cBhvr>
                                        <p:cTn id="41"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fade">
                                      <p:cBhvr>
                                        <p:cTn id="47" dur="1000"/>
                                        <p:tgtEl>
                                          <p:spTgt spid="5"/>
                                        </p:tgtEl>
                                      </p:cBhvr>
                                    </p:animEffect>
                                    <p:anim calcmode="lin" valueType="num">
                                      <p:cBhvr>
                                        <p:cTn id="48" dur="1000" fill="hold"/>
                                        <p:tgtEl>
                                          <p:spTgt spid="5"/>
                                        </p:tgtEl>
                                        <p:attrNameLst>
                                          <p:attrName>ppt_x</p:attrName>
                                        </p:attrNameLst>
                                      </p:cBhvr>
                                      <p:tavLst>
                                        <p:tav tm="0">
                                          <p:val>
                                            <p:strVal val="#ppt_x"/>
                                          </p:val>
                                        </p:tav>
                                        <p:tav tm="100000">
                                          <p:val>
                                            <p:strVal val="#ppt_x"/>
                                          </p:val>
                                        </p:tav>
                                      </p:tavLst>
                                    </p:anim>
                                    <p:anim calcmode="lin" valueType="num">
                                      <p:cBhvr>
                                        <p:cTn id="4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Dual Nature of Man</a:t>
            </a:r>
            <a:br>
              <a:rPr lang="en-US" dirty="0"/>
            </a:br>
            <a:r>
              <a:rPr lang="en-US" sz="2400" dirty="0">
                <a:solidFill>
                  <a:schemeClr val="tx2">
                    <a:lumMod val="60000"/>
                    <a:lumOff val="40000"/>
                  </a:schemeClr>
                </a:solidFill>
              </a:rPr>
              <a:t>The Law Reveals our Condition</a:t>
            </a:r>
          </a:p>
        </p:txBody>
      </p:sp>
      <p:sp>
        <p:nvSpPr>
          <p:cNvPr id="3" name="TextBox 2"/>
          <p:cNvSpPr txBox="1"/>
          <p:nvPr/>
        </p:nvSpPr>
        <p:spPr>
          <a:xfrm>
            <a:off x="457200" y="2218993"/>
            <a:ext cx="8001000" cy="1631216"/>
          </a:xfrm>
          <a:prstGeom prst="rect">
            <a:avLst/>
          </a:prstGeom>
          <a:noFill/>
        </p:spPr>
        <p:txBody>
          <a:bodyPr wrap="square" rtlCol="0">
            <a:spAutoFit/>
          </a:bodyPr>
          <a:lstStyle/>
          <a:p>
            <a:pPr marL="0" lvl="1"/>
            <a:r>
              <a:rPr lang="en-US" sz="2000" i="1" dirty="0"/>
              <a:t>“Now we know that whatever </a:t>
            </a:r>
            <a:r>
              <a:rPr lang="en-US" sz="2000" b="1" i="1" dirty="0"/>
              <a:t>the law says</a:t>
            </a:r>
            <a:r>
              <a:rPr lang="en-US" sz="2000" i="1" dirty="0"/>
              <a:t>, it says to those who are under the law, </a:t>
            </a:r>
            <a:r>
              <a:rPr lang="en-US" sz="2000" b="1" i="1" dirty="0"/>
              <a:t>that every mouth may be stopped, and all the world may become guilty before God</a:t>
            </a:r>
            <a:r>
              <a:rPr lang="en-US" sz="2000" i="1" dirty="0"/>
              <a:t>.   Therefore, by the deeds of the law </a:t>
            </a:r>
            <a:r>
              <a:rPr lang="en-US" sz="2000" b="1" i="1" dirty="0"/>
              <a:t>no flesh will be justified</a:t>
            </a:r>
            <a:r>
              <a:rPr lang="en-US" sz="2000" i="1" dirty="0"/>
              <a:t> in His sight, </a:t>
            </a:r>
            <a:r>
              <a:rPr lang="en-US" sz="2000" b="1" i="1" dirty="0"/>
              <a:t>for by the law is the knowledge of sin</a:t>
            </a:r>
            <a:r>
              <a:rPr lang="en-US" sz="2000" i="1" dirty="0"/>
              <a:t>.”  Romans 3:19-20</a:t>
            </a:r>
          </a:p>
        </p:txBody>
      </p:sp>
      <p:sp>
        <p:nvSpPr>
          <p:cNvPr id="6" name="TextBox 5"/>
          <p:cNvSpPr txBox="1"/>
          <p:nvPr/>
        </p:nvSpPr>
        <p:spPr>
          <a:xfrm>
            <a:off x="457200" y="1173165"/>
            <a:ext cx="8001000" cy="1015663"/>
          </a:xfrm>
          <a:prstGeom prst="rect">
            <a:avLst/>
          </a:prstGeom>
          <a:noFill/>
        </p:spPr>
        <p:txBody>
          <a:bodyPr wrap="square" rtlCol="0">
            <a:spAutoFit/>
          </a:bodyPr>
          <a:lstStyle/>
          <a:p>
            <a:r>
              <a:rPr lang="en-US" sz="2000" i="1" dirty="0"/>
              <a:t>“There is </a:t>
            </a:r>
            <a:r>
              <a:rPr lang="en-US" sz="2000" b="1" i="1" dirty="0"/>
              <a:t>none righteous</a:t>
            </a:r>
            <a:r>
              <a:rPr lang="en-US" sz="2000" i="1" dirty="0"/>
              <a:t>, no, not one; </a:t>
            </a:r>
          </a:p>
          <a:p>
            <a:r>
              <a:rPr lang="en-US" sz="2000" i="1" dirty="0"/>
              <a:t>There is </a:t>
            </a:r>
            <a:r>
              <a:rPr lang="en-US" sz="2000" b="1" i="1" dirty="0"/>
              <a:t>none</a:t>
            </a:r>
            <a:r>
              <a:rPr lang="en-US" sz="2000" i="1" dirty="0"/>
              <a:t> who understands; </a:t>
            </a:r>
          </a:p>
          <a:p>
            <a:r>
              <a:rPr lang="en-US" sz="2000" i="1" dirty="0"/>
              <a:t>There is </a:t>
            </a:r>
            <a:r>
              <a:rPr lang="en-US" sz="2000" b="1" i="1" dirty="0"/>
              <a:t>none</a:t>
            </a:r>
            <a:r>
              <a:rPr lang="en-US" sz="2000" i="1" dirty="0"/>
              <a:t> who seeks after God.”  Romans 3:10-11</a:t>
            </a:r>
          </a:p>
        </p:txBody>
      </p:sp>
      <p:sp>
        <p:nvSpPr>
          <p:cNvPr id="7" name="TextBox 6"/>
          <p:cNvSpPr txBox="1"/>
          <p:nvPr/>
        </p:nvSpPr>
        <p:spPr>
          <a:xfrm>
            <a:off x="457200" y="3880374"/>
            <a:ext cx="8001000" cy="707886"/>
          </a:xfrm>
          <a:prstGeom prst="rect">
            <a:avLst/>
          </a:prstGeom>
          <a:noFill/>
        </p:spPr>
        <p:txBody>
          <a:bodyPr wrap="square" rtlCol="0">
            <a:spAutoFit/>
          </a:bodyPr>
          <a:lstStyle/>
          <a:p>
            <a:r>
              <a:rPr lang="en-US" sz="2000" i="1" dirty="0"/>
              <a:t>“Moreover the </a:t>
            </a:r>
            <a:r>
              <a:rPr lang="en-US" sz="2000" b="1" i="1" dirty="0"/>
              <a:t>law entered that the offense might abound</a:t>
            </a:r>
            <a:r>
              <a:rPr lang="en-US" sz="2000" i="1" dirty="0"/>
              <a:t>.  But where sin abounded, grace abounded much more.”    Romans 3:28</a:t>
            </a:r>
          </a:p>
        </p:txBody>
      </p:sp>
      <p:sp>
        <p:nvSpPr>
          <p:cNvPr id="8" name="TextBox 7"/>
          <p:cNvSpPr txBox="1"/>
          <p:nvPr/>
        </p:nvSpPr>
        <p:spPr>
          <a:xfrm>
            <a:off x="457200" y="4636259"/>
            <a:ext cx="8001000" cy="707886"/>
          </a:xfrm>
          <a:prstGeom prst="rect">
            <a:avLst/>
          </a:prstGeom>
          <a:noFill/>
        </p:spPr>
        <p:txBody>
          <a:bodyPr wrap="square" rtlCol="0">
            <a:spAutoFit/>
          </a:bodyPr>
          <a:lstStyle/>
          <a:p>
            <a:r>
              <a:rPr lang="en-US" sz="2000" i="1" dirty="0"/>
              <a:t>“Therefore we conclude that a man is </a:t>
            </a:r>
            <a:r>
              <a:rPr lang="en-US" sz="2000" b="1" i="1" dirty="0"/>
              <a:t>justified by faith apart of the deeds of the law</a:t>
            </a:r>
            <a:r>
              <a:rPr lang="en-US" sz="2000" i="1" dirty="0"/>
              <a:t>.”    Romans 3:28</a:t>
            </a:r>
          </a:p>
        </p:txBody>
      </p:sp>
      <p:sp>
        <p:nvSpPr>
          <p:cNvPr id="9" name="TextBox 8"/>
          <p:cNvSpPr txBox="1"/>
          <p:nvPr/>
        </p:nvSpPr>
        <p:spPr>
          <a:xfrm>
            <a:off x="457200" y="5562600"/>
            <a:ext cx="8001000" cy="1015663"/>
          </a:xfrm>
          <a:prstGeom prst="rect">
            <a:avLst/>
          </a:prstGeom>
          <a:noFill/>
        </p:spPr>
        <p:txBody>
          <a:bodyPr wrap="square" rtlCol="0">
            <a:spAutoFit/>
          </a:bodyPr>
          <a:lstStyle/>
          <a:p>
            <a:r>
              <a:rPr lang="en-US" sz="2000" i="1" dirty="0"/>
              <a:t>How does the Christian deal with the </a:t>
            </a:r>
            <a:r>
              <a:rPr lang="en-US" sz="2000" b="1" i="1" dirty="0"/>
              <a:t>letter</a:t>
            </a:r>
            <a:r>
              <a:rPr lang="en-US" sz="2000" i="1" dirty="0"/>
              <a:t> of the law?</a:t>
            </a:r>
          </a:p>
          <a:p>
            <a:r>
              <a:rPr lang="en-US" sz="2000" i="1" dirty="0"/>
              <a:t>How does the Christian deal with the </a:t>
            </a:r>
            <a:r>
              <a:rPr lang="en-US" sz="2000" b="1" i="1" dirty="0"/>
              <a:t>spirit</a:t>
            </a:r>
            <a:r>
              <a:rPr lang="en-US" sz="2000" i="1" dirty="0"/>
              <a:t> of the law?</a:t>
            </a:r>
          </a:p>
          <a:p>
            <a:r>
              <a:rPr lang="en-US" sz="2000" i="1" dirty="0"/>
              <a:t>How are the “righteous requirements” of the law fulfilled?  (8:3-4)</a:t>
            </a:r>
          </a:p>
        </p:txBody>
      </p:sp>
    </p:spTree>
    <p:extLst>
      <p:ext uri="{BB962C8B-B14F-4D97-AF65-F5344CB8AC3E}">
        <p14:creationId xmlns:p14="http://schemas.microsoft.com/office/powerpoint/2010/main" val="2726918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1000"/>
                                        <p:tgtEl>
                                          <p:spTgt spid="9"/>
                                        </p:tgtEl>
                                      </p:cBhvr>
                                    </p:animEffect>
                                    <p:anim calcmode="lin" valueType="num">
                                      <p:cBhvr>
                                        <p:cTn id="36" dur="1000" fill="hold"/>
                                        <p:tgtEl>
                                          <p:spTgt spid="9"/>
                                        </p:tgtEl>
                                        <p:attrNameLst>
                                          <p:attrName>ppt_x</p:attrName>
                                        </p:attrNameLst>
                                      </p:cBhvr>
                                      <p:tavLst>
                                        <p:tav tm="0">
                                          <p:val>
                                            <p:strVal val="#ppt_x"/>
                                          </p:val>
                                        </p:tav>
                                        <p:tav tm="100000">
                                          <p:val>
                                            <p:strVal val="#ppt_x"/>
                                          </p:val>
                                        </p:tav>
                                      </p:tavLst>
                                    </p:anim>
                                    <p:anim calcmode="lin" valueType="num">
                                      <p:cBhvr>
                                        <p:cTn id="3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p:bldP spid="8" grpId="0"/>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The Law of the Spirit</a:t>
            </a:r>
            <a:br>
              <a:rPr lang="en-US" dirty="0"/>
            </a:br>
            <a:r>
              <a:rPr lang="en-US" sz="2400" dirty="0">
                <a:solidFill>
                  <a:schemeClr val="tx2">
                    <a:lumMod val="60000"/>
                    <a:lumOff val="40000"/>
                  </a:schemeClr>
                </a:solidFill>
              </a:rPr>
              <a:t>A fulfillment of the will and purpose of God</a:t>
            </a:r>
          </a:p>
        </p:txBody>
      </p:sp>
      <p:sp>
        <p:nvSpPr>
          <p:cNvPr id="5" name="TextBox 4"/>
          <p:cNvSpPr txBox="1"/>
          <p:nvPr/>
        </p:nvSpPr>
        <p:spPr>
          <a:xfrm>
            <a:off x="457200" y="2713729"/>
            <a:ext cx="8001000" cy="707886"/>
          </a:xfrm>
          <a:prstGeom prst="rect">
            <a:avLst/>
          </a:prstGeom>
          <a:noFill/>
        </p:spPr>
        <p:txBody>
          <a:bodyPr wrap="square" rtlCol="0">
            <a:spAutoFit/>
          </a:bodyPr>
          <a:lstStyle/>
          <a:p>
            <a:r>
              <a:rPr lang="en-US" sz="2000" i="1" dirty="0"/>
              <a:t>“</a:t>
            </a:r>
            <a:r>
              <a:rPr lang="en-US" sz="2000" b="1" i="1" dirty="0"/>
              <a:t>For sin shall not have </a:t>
            </a:r>
            <a:r>
              <a:rPr lang="en-US" sz="2000" b="1" i="1" u="sng" dirty="0"/>
              <a:t>dominion</a:t>
            </a:r>
            <a:r>
              <a:rPr lang="en-US" sz="2000" b="1" i="1" dirty="0"/>
              <a:t> over you, for you are not under law but under grace.</a:t>
            </a:r>
            <a:r>
              <a:rPr lang="en-US" sz="2000" i="1" dirty="0"/>
              <a:t>”   Romans 6:14</a:t>
            </a:r>
          </a:p>
        </p:txBody>
      </p:sp>
      <p:sp>
        <p:nvSpPr>
          <p:cNvPr id="7" name="TextBox 6"/>
          <p:cNvSpPr txBox="1"/>
          <p:nvPr/>
        </p:nvSpPr>
        <p:spPr>
          <a:xfrm>
            <a:off x="424774" y="1308670"/>
            <a:ext cx="8001000" cy="1323439"/>
          </a:xfrm>
          <a:prstGeom prst="rect">
            <a:avLst/>
          </a:prstGeom>
          <a:noFill/>
        </p:spPr>
        <p:txBody>
          <a:bodyPr wrap="square" rtlCol="0">
            <a:spAutoFit/>
          </a:bodyPr>
          <a:lstStyle/>
          <a:p>
            <a:r>
              <a:rPr lang="en-US" sz="2000" i="1" dirty="0"/>
              <a:t>“There is therefore </a:t>
            </a:r>
            <a:r>
              <a:rPr lang="en-US" sz="2000" b="1" i="1" dirty="0"/>
              <a:t>now no condemnation </a:t>
            </a:r>
            <a:r>
              <a:rPr lang="en-US" sz="2000" i="1" dirty="0"/>
              <a:t>to those who are in Christ Jesus, who do not walk according to the flesh, but according to the Spirit.  </a:t>
            </a:r>
            <a:r>
              <a:rPr lang="en-US" sz="2000" b="1" i="1" dirty="0"/>
              <a:t>For the </a:t>
            </a:r>
            <a:r>
              <a:rPr lang="en-US" sz="2000" b="1" i="1" u="sng" dirty="0"/>
              <a:t>law of the Spirit</a:t>
            </a:r>
            <a:r>
              <a:rPr lang="en-US" sz="2000" b="1" i="1" dirty="0"/>
              <a:t> of life </a:t>
            </a:r>
            <a:r>
              <a:rPr lang="en-US" sz="2000" b="1" i="1" u="sng" dirty="0"/>
              <a:t>in Christ Jesus </a:t>
            </a:r>
            <a:r>
              <a:rPr lang="en-US" sz="2000" b="1" i="1" dirty="0"/>
              <a:t>has made me </a:t>
            </a:r>
            <a:r>
              <a:rPr lang="en-US" sz="2000" b="1" i="1" u="sng" dirty="0"/>
              <a:t>free</a:t>
            </a:r>
            <a:r>
              <a:rPr lang="en-US" sz="2000" b="1" i="1" dirty="0"/>
              <a:t> from the law of sin and death</a:t>
            </a:r>
            <a:r>
              <a:rPr lang="en-US" sz="2000" i="1" dirty="0"/>
              <a:t>.”    Romans 8:1-2</a:t>
            </a:r>
          </a:p>
        </p:txBody>
      </p:sp>
      <p:sp>
        <p:nvSpPr>
          <p:cNvPr id="8" name="TextBox 7"/>
          <p:cNvSpPr txBox="1"/>
          <p:nvPr/>
        </p:nvSpPr>
        <p:spPr>
          <a:xfrm>
            <a:off x="457200" y="3503235"/>
            <a:ext cx="8001000" cy="1015663"/>
          </a:xfrm>
          <a:prstGeom prst="rect">
            <a:avLst/>
          </a:prstGeom>
          <a:noFill/>
        </p:spPr>
        <p:txBody>
          <a:bodyPr wrap="square" rtlCol="0">
            <a:spAutoFit/>
          </a:bodyPr>
          <a:lstStyle/>
          <a:p>
            <a:r>
              <a:rPr lang="en-US" sz="2000" dirty="0"/>
              <a:t>For the Christian, chapter 8…</a:t>
            </a:r>
          </a:p>
          <a:p>
            <a:pPr marL="342900" indent="-342900">
              <a:buFont typeface="Arial" panose="020B0604020202020204" pitchFamily="34" charset="0"/>
              <a:buChar char="•"/>
            </a:pPr>
            <a:r>
              <a:rPr lang="en-US" sz="2000" dirty="0"/>
              <a:t>Begins with “now no condemnation”</a:t>
            </a:r>
          </a:p>
          <a:p>
            <a:pPr marL="342900" indent="-342900">
              <a:buFont typeface="Arial" panose="020B0604020202020204" pitchFamily="34" charset="0"/>
              <a:buChar char="•"/>
            </a:pPr>
            <a:r>
              <a:rPr lang="en-US" sz="2000" dirty="0"/>
              <a:t>Ends with “no separation”   (compare John 15:1-5)</a:t>
            </a:r>
          </a:p>
        </p:txBody>
      </p:sp>
      <p:sp>
        <p:nvSpPr>
          <p:cNvPr id="9" name="TextBox 8"/>
          <p:cNvSpPr txBox="1"/>
          <p:nvPr/>
        </p:nvSpPr>
        <p:spPr>
          <a:xfrm>
            <a:off x="462063" y="4636186"/>
            <a:ext cx="8001000" cy="1938992"/>
          </a:xfrm>
          <a:prstGeom prst="rect">
            <a:avLst/>
          </a:prstGeom>
          <a:noFill/>
        </p:spPr>
        <p:txBody>
          <a:bodyPr wrap="square" rtlCol="0">
            <a:spAutoFit/>
          </a:bodyPr>
          <a:lstStyle/>
          <a:p>
            <a:r>
              <a:rPr lang="en-US" sz="2000" dirty="0"/>
              <a:t>Romans 8:5-27</a:t>
            </a:r>
          </a:p>
          <a:p>
            <a:pPr marL="342900" indent="-342900">
              <a:buFont typeface="Arial" panose="020B0604020202020204" pitchFamily="34" charset="0"/>
              <a:buChar char="•"/>
            </a:pPr>
            <a:r>
              <a:rPr lang="en-US" sz="2000" dirty="0"/>
              <a:t>Develops a wide-range of truth regarding the Holy Spirit indwelling the believer.</a:t>
            </a:r>
          </a:p>
          <a:p>
            <a:pPr marL="342900" indent="-342900">
              <a:buFont typeface="Arial" panose="020B0604020202020204" pitchFamily="34" charset="0"/>
              <a:buChar char="•"/>
            </a:pPr>
            <a:r>
              <a:rPr lang="en-US" sz="2000" dirty="0"/>
              <a:t>Compare to experience of David (Psalm 51) and others regarding presence of Holy Spirit.</a:t>
            </a:r>
          </a:p>
          <a:p>
            <a:pPr marL="342900" indent="-342900">
              <a:buFont typeface="Arial" panose="020B0604020202020204" pitchFamily="34" charset="0"/>
              <a:buChar char="•"/>
            </a:pPr>
            <a:r>
              <a:rPr lang="en-US" sz="2000" dirty="0"/>
              <a:t>A sort-of “seal of authentication” or “title of ownership of”.</a:t>
            </a:r>
          </a:p>
        </p:txBody>
      </p:sp>
    </p:spTree>
    <p:extLst>
      <p:ext uri="{BB962C8B-B14F-4D97-AF65-F5344CB8AC3E}">
        <p14:creationId xmlns:p14="http://schemas.microsoft.com/office/powerpoint/2010/main" val="2115609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sz="3600" dirty="0"/>
              <a:t>The Righteous Requirements of the Law</a:t>
            </a:r>
            <a:br>
              <a:rPr lang="en-US" dirty="0"/>
            </a:br>
            <a:r>
              <a:rPr lang="en-US" sz="2400" dirty="0">
                <a:solidFill>
                  <a:schemeClr val="tx2">
                    <a:lumMod val="60000"/>
                    <a:lumOff val="40000"/>
                  </a:schemeClr>
                </a:solidFill>
              </a:rPr>
              <a:t>How fulfilled?</a:t>
            </a:r>
          </a:p>
        </p:txBody>
      </p:sp>
      <p:sp>
        <p:nvSpPr>
          <p:cNvPr id="5" name="TextBox 4"/>
          <p:cNvSpPr txBox="1"/>
          <p:nvPr/>
        </p:nvSpPr>
        <p:spPr>
          <a:xfrm>
            <a:off x="424774" y="3733800"/>
            <a:ext cx="8001000" cy="2554545"/>
          </a:xfrm>
          <a:prstGeom prst="rect">
            <a:avLst/>
          </a:prstGeom>
          <a:noFill/>
        </p:spPr>
        <p:txBody>
          <a:bodyPr wrap="square" rtlCol="0">
            <a:spAutoFit/>
          </a:bodyPr>
          <a:lstStyle/>
          <a:p>
            <a:pPr marL="342900" indent="-342900">
              <a:buFont typeface="Arial" panose="020B0604020202020204" pitchFamily="34" charset="0"/>
              <a:buChar char="•"/>
            </a:pPr>
            <a:r>
              <a:rPr lang="en-US" sz="2000" dirty="0"/>
              <a:t>Summary of chapters 6 and 7.</a:t>
            </a:r>
          </a:p>
          <a:p>
            <a:pPr marL="342900" indent="-342900">
              <a:buFont typeface="Arial" panose="020B0604020202020204" pitchFamily="34" charset="0"/>
              <a:buChar char="•"/>
            </a:pPr>
            <a:r>
              <a:rPr lang="en-US" sz="2000" dirty="0"/>
              <a:t>“That” – purpose clause</a:t>
            </a:r>
          </a:p>
          <a:p>
            <a:pPr marL="342900" indent="-342900">
              <a:buFont typeface="Arial" panose="020B0604020202020204" pitchFamily="34" charset="0"/>
              <a:buChar char="•"/>
            </a:pPr>
            <a:r>
              <a:rPr lang="en-US" sz="2000" dirty="0"/>
              <a:t>“</a:t>
            </a:r>
            <a:r>
              <a:rPr lang="en-US" sz="2000" b="1" dirty="0"/>
              <a:t>in</a:t>
            </a:r>
            <a:r>
              <a:rPr lang="en-US" sz="2000" dirty="0"/>
              <a:t> us” – not “</a:t>
            </a:r>
            <a:r>
              <a:rPr lang="en-US" sz="2000" b="1" dirty="0"/>
              <a:t>by</a:t>
            </a:r>
            <a:r>
              <a:rPr lang="en-US" sz="2000" dirty="0"/>
              <a:t> us”</a:t>
            </a:r>
          </a:p>
          <a:p>
            <a:pPr marL="342900" indent="-342900">
              <a:buFont typeface="Arial" panose="020B0604020202020204" pitchFamily="34" charset="0"/>
              <a:buChar char="•"/>
            </a:pPr>
            <a:r>
              <a:rPr lang="en-US" sz="2000" dirty="0"/>
              <a:t>“who walk … according to the Spirit”  [not by our own efforts]</a:t>
            </a:r>
          </a:p>
          <a:p>
            <a:pPr marL="342900" indent="-342900">
              <a:buFont typeface="Arial" panose="020B0604020202020204" pitchFamily="34" charset="0"/>
              <a:buChar char="•"/>
            </a:pPr>
            <a:r>
              <a:rPr lang="en-US" sz="2000" dirty="0"/>
              <a:t>A statement of </a:t>
            </a:r>
            <a:r>
              <a:rPr lang="en-US" sz="2000" u="sng" dirty="0"/>
              <a:t>fact</a:t>
            </a:r>
            <a:r>
              <a:rPr lang="en-US" sz="2000" dirty="0"/>
              <a:t> here; </a:t>
            </a:r>
            <a:r>
              <a:rPr lang="en-US" sz="2000" u="sng" dirty="0"/>
              <a:t>imperative</a:t>
            </a:r>
            <a:r>
              <a:rPr lang="en-US" sz="2000" dirty="0"/>
              <a:t> statement in Gal 5:16-17</a:t>
            </a:r>
          </a:p>
          <a:p>
            <a:pPr marL="342900" indent="-342900">
              <a:buFont typeface="Arial" panose="020B0604020202020204" pitchFamily="34" charset="0"/>
              <a:buChar char="•"/>
            </a:pPr>
            <a:r>
              <a:rPr lang="en-US" sz="2000" dirty="0"/>
              <a:t>The flesh (our selves) will always fail.</a:t>
            </a:r>
          </a:p>
          <a:p>
            <a:pPr marL="342900" indent="-342900">
              <a:buFont typeface="Arial" panose="020B0604020202020204" pitchFamily="34" charset="0"/>
              <a:buChar char="•"/>
            </a:pPr>
            <a:r>
              <a:rPr lang="en-US" sz="2000" dirty="0"/>
              <a:t>Christ’s purpose was not only to defeat sin (as a </a:t>
            </a:r>
            <a:r>
              <a:rPr lang="en-US" sz="2000" u="sng" dirty="0"/>
              <a:t>man</a:t>
            </a:r>
            <a:r>
              <a:rPr lang="en-US" sz="2000" dirty="0"/>
              <a:t>) but also to overcome the sin </a:t>
            </a:r>
            <a:r>
              <a:rPr lang="en-US" sz="2000" u="sng" dirty="0"/>
              <a:t>nature</a:t>
            </a:r>
            <a:r>
              <a:rPr lang="en-US" sz="2000" dirty="0"/>
              <a:t> of </a:t>
            </a:r>
            <a:r>
              <a:rPr lang="en-US" sz="2000" u="sng" dirty="0"/>
              <a:t>man</a:t>
            </a:r>
            <a:r>
              <a:rPr lang="en-US" sz="2000" dirty="0"/>
              <a:t>.</a:t>
            </a:r>
          </a:p>
        </p:txBody>
      </p:sp>
      <p:sp>
        <p:nvSpPr>
          <p:cNvPr id="7" name="TextBox 6"/>
          <p:cNvSpPr txBox="1"/>
          <p:nvPr/>
        </p:nvSpPr>
        <p:spPr>
          <a:xfrm>
            <a:off x="424774" y="1308670"/>
            <a:ext cx="8001000" cy="1631216"/>
          </a:xfrm>
          <a:prstGeom prst="rect">
            <a:avLst/>
          </a:prstGeom>
          <a:noFill/>
        </p:spPr>
        <p:txBody>
          <a:bodyPr wrap="square" rtlCol="0">
            <a:spAutoFit/>
          </a:bodyPr>
          <a:lstStyle/>
          <a:p>
            <a:r>
              <a:rPr lang="en-US" sz="2000" i="1" dirty="0"/>
              <a:t>“For </a:t>
            </a:r>
            <a:r>
              <a:rPr lang="en-US" sz="2000" b="1" i="1" dirty="0"/>
              <a:t>what the </a:t>
            </a:r>
            <a:r>
              <a:rPr lang="en-US" sz="2000" b="1" i="1" u="sng" dirty="0"/>
              <a:t>law could not do </a:t>
            </a:r>
            <a:r>
              <a:rPr lang="en-US" sz="2000" i="1" dirty="0"/>
              <a:t>in that it was weak through the flesh, </a:t>
            </a:r>
            <a:r>
              <a:rPr lang="en-US" sz="2000" b="1" i="1" u="sng" dirty="0"/>
              <a:t>God did </a:t>
            </a:r>
            <a:r>
              <a:rPr lang="en-US" sz="2000" i="1" dirty="0"/>
              <a:t>by sending His own Son in the likeness of sinful flesh, on account of sin: He condemned sin in the flesh, </a:t>
            </a:r>
            <a:r>
              <a:rPr lang="en-US" sz="2000" b="1" i="1" u="sng" dirty="0"/>
              <a:t>that</a:t>
            </a:r>
            <a:r>
              <a:rPr lang="en-US" sz="2000" b="1" i="1" dirty="0"/>
              <a:t> the righteous requirement of the law might be </a:t>
            </a:r>
            <a:r>
              <a:rPr lang="en-US" sz="2000" b="1" i="1" u="sng" dirty="0"/>
              <a:t>fulfilled in us</a:t>
            </a:r>
            <a:r>
              <a:rPr lang="en-US" sz="2000" i="1" u="sng" dirty="0"/>
              <a:t> </a:t>
            </a:r>
            <a:r>
              <a:rPr lang="en-US" sz="2000" i="1" dirty="0"/>
              <a:t>who </a:t>
            </a:r>
            <a:r>
              <a:rPr lang="en-US" sz="2000" b="1" i="1" dirty="0"/>
              <a:t>do not </a:t>
            </a:r>
            <a:r>
              <a:rPr lang="en-US" sz="2000" b="1" i="1" u="sng" dirty="0"/>
              <a:t>walk</a:t>
            </a:r>
            <a:r>
              <a:rPr lang="en-US" sz="2000" b="1" i="1" dirty="0"/>
              <a:t> according to the flesh but </a:t>
            </a:r>
            <a:r>
              <a:rPr lang="en-US" sz="2000" b="1" i="1" u="sng" dirty="0"/>
              <a:t>according to the Spirit</a:t>
            </a:r>
            <a:r>
              <a:rPr lang="en-US" sz="2000" i="1" dirty="0"/>
              <a:t>.”  Romans 8:3-4</a:t>
            </a:r>
          </a:p>
        </p:txBody>
      </p:sp>
      <p:sp>
        <p:nvSpPr>
          <p:cNvPr id="9" name="TextBox 8"/>
          <p:cNvSpPr txBox="1"/>
          <p:nvPr/>
        </p:nvSpPr>
        <p:spPr>
          <a:xfrm>
            <a:off x="424774" y="3103935"/>
            <a:ext cx="8001000" cy="400110"/>
          </a:xfrm>
          <a:prstGeom prst="rect">
            <a:avLst/>
          </a:prstGeom>
          <a:noFill/>
        </p:spPr>
        <p:txBody>
          <a:bodyPr wrap="square" rtlCol="0">
            <a:spAutoFit/>
          </a:bodyPr>
          <a:lstStyle/>
          <a:p>
            <a:r>
              <a:rPr lang="en-US" sz="2000" dirty="0"/>
              <a:t>How are the “righteous requirements” of the law fulfilled? </a:t>
            </a:r>
          </a:p>
        </p:txBody>
      </p:sp>
    </p:spTree>
    <p:extLst>
      <p:ext uri="{BB962C8B-B14F-4D97-AF65-F5344CB8AC3E}">
        <p14:creationId xmlns:p14="http://schemas.microsoft.com/office/powerpoint/2010/main" val="2618061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The Indwelling Spirit</a:t>
            </a:r>
            <a:br>
              <a:rPr lang="en-US" dirty="0"/>
            </a:br>
            <a:r>
              <a:rPr lang="en-US" sz="2400" dirty="0">
                <a:solidFill>
                  <a:schemeClr val="tx2">
                    <a:lumMod val="60000"/>
                    <a:lumOff val="40000"/>
                  </a:schemeClr>
                </a:solidFill>
              </a:rPr>
              <a:t>A phenomenal gift</a:t>
            </a:r>
          </a:p>
        </p:txBody>
      </p:sp>
      <p:sp>
        <p:nvSpPr>
          <p:cNvPr id="7" name="TextBox 6"/>
          <p:cNvSpPr txBox="1"/>
          <p:nvPr/>
        </p:nvSpPr>
        <p:spPr>
          <a:xfrm>
            <a:off x="424774" y="1238815"/>
            <a:ext cx="8001000" cy="2246769"/>
          </a:xfrm>
          <a:prstGeom prst="rect">
            <a:avLst/>
          </a:prstGeom>
          <a:noFill/>
        </p:spPr>
        <p:txBody>
          <a:bodyPr wrap="square" rtlCol="0">
            <a:spAutoFit/>
          </a:bodyPr>
          <a:lstStyle/>
          <a:p>
            <a:r>
              <a:rPr lang="en-US" sz="2000" i="1" dirty="0"/>
              <a:t>“For </a:t>
            </a:r>
            <a:r>
              <a:rPr lang="en-US" sz="2000" b="1" i="1" dirty="0"/>
              <a:t>those who live </a:t>
            </a:r>
            <a:r>
              <a:rPr lang="en-US" sz="2000" i="1" dirty="0"/>
              <a:t>according to the </a:t>
            </a:r>
            <a:r>
              <a:rPr lang="en-US" sz="2000" b="1" i="1" u="sng" dirty="0"/>
              <a:t>flesh</a:t>
            </a:r>
            <a:r>
              <a:rPr lang="en-US" sz="2000" i="1" dirty="0"/>
              <a:t> set </a:t>
            </a:r>
            <a:r>
              <a:rPr lang="en-US" sz="2000" b="1" i="1" dirty="0"/>
              <a:t>their minds </a:t>
            </a:r>
            <a:r>
              <a:rPr lang="en-US" sz="2000" i="1" dirty="0"/>
              <a:t>on the things of the flesh, but </a:t>
            </a:r>
            <a:r>
              <a:rPr lang="en-US" sz="2000" b="1" i="1" dirty="0"/>
              <a:t>those who live </a:t>
            </a:r>
            <a:r>
              <a:rPr lang="en-US" sz="2000" i="1" dirty="0"/>
              <a:t>according to the </a:t>
            </a:r>
            <a:r>
              <a:rPr lang="en-US" sz="2000" b="1" i="1" u="sng" dirty="0"/>
              <a:t>Spirit</a:t>
            </a:r>
            <a:r>
              <a:rPr lang="en-US" sz="2000" i="1" dirty="0"/>
              <a:t>, the things of the Spirit.  For to be </a:t>
            </a:r>
            <a:r>
              <a:rPr lang="en-US" sz="2000" b="1" i="1" dirty="0"/>
              <a:t>carnally</a:t>
            </a:r>
            <a:r>
              <a:rPr lang="en-US" sz="2000" i="1" dirty="0"/>
              <a:t> </a:t>
            </a:r>
            <a:r>
              <a:rPr lang="en-US" sz="2000" b="1" i="1" dirty="0"/>
              <a:t>minded</a:t>
            </a:r>
            <a:r>
              <a:rPr lang="en-US" sz="2000" i="1" dirty="0"/>
              <a:t> is death, but to be </a:t>
            </a:r>
            <a:r>
              <a:rPr lang="en-US" sz="2000" b="1" i="1" dirty="0"/>
              <a:t>spiritually</a:t>
            </a:r>
            <a:r>
              <a:rPr lang="en-US" sz="2000" i="1" dirty="0"/>
              <a:t> </a:t>
            </a:r>
            <a:r>
              <a:rPr lang="en-US" sz="2000" b="1" i="1" dirty="0"/>
              <a:t>minded</a:t>
            </a:r>
            <a:r>
              <a:rPr lang="en-US" sz="2000" i="1" dirty="0"/>
              <a:t> is life and peace.  Because the carnal mind is enmity against God; for it is not subject to the law of God, nor indeed can be.  So then, </a:t>
            </a:r>
            <a:r>
              <a:rPr lang="en-US" sz="2000" i="1" u="sng" dirty="0"/>
              <a:t>those who </a:t>
            </a:r>
            <a:r>
              <a:rPr lang="en-US" sz="2000" i="1" dirty="0"/>
              <a:t>are in the flesh </a:t>
            </a:r>
            <a:r>
              <a:rPr lang="en-US" sz="2000" i="1" u="sng" dirty="0"/>
              <a:t>cannot</a:t>
            </a:r>
            <a:r>
              <a:rPr lang="en-US" sz="2000" i="1" dirty="0"/>
              <a:t> please God.”  Romans 8:5-8</a:t>
            </a:r>
          </a:p>
        </p:txBody>
      </p:sp>
      <p:sp>
        <p:nvSpPr>
          <p:cNvPr id="6" name="TextBox 5"/>
          <p:cNvSpPr txBox="1"/>
          <p:nvPr/>
        </p:nvSpPr>
        <p:spPr>
          <a:xfrm>
            <a:off x="424774" y="3581400"/>
            <a:ext cx="8001000" cy="2554545"/>
          </a:xfrm>
          <a:prstGeom prst="rect">
            <a:avLst/>
          </a:prstGeom>
          <a:noFill/>
        </p:spPr>
        <p:txBody>
          <a:bodyPr wrap="square" rtlCol="0">
            <a:spAutoFit/>
          </a:bodyPr>
          <a:lstStyle/>
          <a:p>
            <a:pPr marL="342900" indent="-342900">
              <a:buFont typeface="Arial" panose="020B0604020202020204" pitchFamily="34" charset="0"/>
              <a:buChar char="•"/>
            </a:pPr>
            <a:r>
              <a:rPr lang="en-US" sz="2000" dirty="0"/>
              <a:t>“flesh” == human resources</a:t>
            </a:r>
          </a:p>
          <a:p>
            <a:pPr marL="342900" indent="-342900">
              <a:buFont typeface="Arial" panose="020B0604020202020204" pitchFamily="34" charset="0"/>
              <a:buChar char="•"/>
            </a:pPr>
            <a:r>
              <a:rPr lang="en-US" sz="2000" u="sng" dirty="0"/>
              <a:t>Contrast is between believers!   </a:t>
            </a:r>
            <a:r>
              <a:rPr lang="en-US" sz="2000" dirty="0"/>
              <a:t>“those who… set their </a:t>
            </a:r>
            <a:r>
              <a:rPr lang="en-US" sz="2000" u="sng" dirty="0"/>
              <a:t>minds</a:t>
            </a:r>
            <a:r>
              <a:rPr lang="en-US" sz="2000" dirty="0"/>
              <a:t>…”</a:t>
            </a:r>
          </a:p>
          <a:p>
            <a:pPr marL="342900" indent="-342900">
              <a:buFont typeface="Arial" panose="020B0604020202020204" pitchFamily="34" charset="0"/>
              <a:buChar char="•"/>
            </a:pPr>
            <a:r>
              <a:rPr lang="en-US" sz="2000" dirty="0"/>
              <a:t>Emphasizes the impossibility of living under any resources other than the Spirit.  E.g. Positive thinking; works; self-denial</a:t>
            </a:r>
          </a:p>
          <a:p>
            <a:pPr marL="342900" indent="-342900">
              <a:buFont typeface="Arial" panose="020B0604020202020204" pitchFamily="34" charset="0"/>
              <a:buChar char="•"/>
            </a:pPr>
            <a:r>
              <a:rPr lang="en-US" sz="2000" dirty="0"/>
              <a:t>Sincerity is not the issue.  It is your mind.   Is it focused on the things of the world or on the things of the Spirit…?</a:t>
            </a:r>
          </a:p>
          <a:p>
            <a:pPr marL="342900" indent="-342900">
              <a:buFont typeface="Arial" panose="020B0604020202020204" pitchFamily="34" charset="0"/>
              <a:buChar char="•"/>
            </a:pPr>
            <a:r>
              <a:rPr lang="en-US" sz="2000" dirty="0"/>
              <a:t>We can’t live for God by human effort!   “to be carnally minded is </a:t>
            </a:r>
            <a:r>
              <a:rPr lang="en-US" sz="2000" u="sng" dirty="0"/>
              <a:t>death</a:t>
            </a:r>
            <a:r>
              <a:rPr lang="en-US" sz="2000" dirty="0"/>
              <a:t>”   (Hebrews 9:14)</a:t>
            </a:r>
          </a:p>
        </p:txBody>
      </p:sp>
    </p:spTree>
    <p:extLst>
      <p:ext uri="{BB962C8B-B14F-4D97-AF65-F5344CB8AC3E}">
        <p14:creationId xmlns:p14="http://schemas.microsoft.com/office/powerpoint/2010/main" val="1659101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The Dual Nature of the Believer</a:t>
            </a:r>
            <a:br>
              <a:rPr lang="en-US" dirty="0"/>
            </a:br>
            <a:r>
              <a:rPr lang="en-US" sz="2400" dirty="0">
                <a:solidFill>
                  <a:schemeClr val="tx2">
                    <a:lumMod val="60000"/>
                    <a:lumOff val="40000"/>
                  </a:schemeClr>
                </a:solidFill>
              </a:rPr>
              <a:t>Dead in the body; Alive in the Spirit</a:t>
            </a:r>
          </a:p>
        </p:txBody>
      </p:sp>
      <p:sp>
        <p:nvSpPr>
          <p:cNvPr id="7" name="TextBox 6"/>
          <p:cNvSpPr txBox="1"/>
          <p:nvPr/>
        </p:nvSpPr>
        <p:spPr>
          <a:xfrm>
            <a:off x="457200" y="1171756"/>
            <a:ext cx="8001000" cy="2554545"/>
          </a:xfrm>
          <a:prstGeom prst="rect">
            <a:avLst/>
          </a:prstGeom>
          <a:noFill/>
        </p:spPr>
        <p:txBody>
          <a:bodyPr wrap="square" rtlCol="0">
            <a:spAutoFit/>
          </a:bodyPr>
          <a:lstStyle/>
          <a:p>
            <a:r>
              <a:rPr lang="en-US" sz="2000" i="1" dirty="0"/>
              <a:t>“</a:t>
            </a:r>
            <a:r>
              <a:rPr lang="en-US" sz="2000" b="1" i="1" dirty="0"/>
              <a:t>But</a:t>
            </a:r>
            <a:r>
              <a:rPr lang="en-US" sz="2000" i="1" dirty="0"/>
              <a:t> you are not in the flesh </a:t>
            </a:r>
            <a:r>
              <a:rPr lang="en-US" sz="2000" b="1" i="1" dirty="0"/>
              <a:t>but</a:t>
            </a:r>
            <a:r>
              <a:rPr lang="en-US" sz="2000" i="1" dirty="0"/>
              <a:t> in the Spirit, </a:t>
            </a:r>
            <a:r>
              <a:rPr lang="en-US" sz="2000" b="1" i="1" dirty="0"/>
              <a:t>if</a:t>
            </a:r>
            <a:r>
              <a:rPr lang="en-US" sz="2000" i="1" dirty="0"/>
              <a:t> indeed the </a:t>
            </a:r>
            <a:r>
              <a:rPr lang="en-US" sz="2000" b="1" i="1" dirty="0"/>
              <a:t>Spirit of God</a:t>
            </a:r>
            <a:r>
              <a:rPr lang="en-US" sz="2000" i="1" dirty="0"/>
              <a:t> dwells in you.  Now if anyone does not have the </a:t>
            </a:r>
            <a:r>
              <a:rPr lang="en-US" sz="2000" b="1" i="1" dirty="0"/>
              <a:t>Spirit of Christ</a:t>
            </a:r>
            <a:r>
              <a:rPr lang="en-US" sz="2000" i="1" dirty="0"/>
              <a:t>, he is not His.  And if Christ is in you, the </a:t>
            </a:r>
            <a:r>
              <a:rPr lang="en-US" sz="2000" b="1" i="1" u="sng" dirty="0"/>
              <a:t>body</a:t>
            </a:r>
            <a:r>
              <a:rPr lang="en-US" sz="2000" i="1" dirty="0"/>
              <a:t> is </a:t>
            </a:r>
            <a:r>
              <a:rPr lang="en-US" sz="2000" b="1" i="1" u="sng" dirty="0"/>
              <a:t>dead</a:t>
            </a:r>
            <a:r>
              <a:rPr lang="en-US" sz="2000" i="1" dirty="0"/>
              <a:t> because of </a:t>
            </a:r>
            <a:r>
              <a:rPr lang="en-US" sz="2000" b="1" i="1" u="sng" dirty="0"/>
              <a:t>sin</a:t>
            </a:r>
            <a:r>
              <a:rPr lang="en-US" sz="2000" i="1" dirty="0"/>
              <a:t>, but the </a:t>
            </a:r>
            <a:r>
              <a:rPr lang="en-US" sz="2000" b="1" i="1" u="sng" dirty="0"/>
              <a:t>Spirit</a:t>
            </a:r>
            <a:r>
              <a:rPr lang="en-US" sz="2000" i="1" dirty="0"/>
              <a:t> is </a:t>
            </a:r>
            <a:r>
              <a:rPr lang="en-US" sz="2000" b="1" i="1" u="sng" dirty="0"/>
              <a:t>life</a:t>
            </a:r>
            <a:r>
              <a:rPr lang="en-US" sz="2000" i="1" dirty="0"/>
              <a:t> because of </a:t>
            </a:r>
            <a:r>
              <a:rPr lang="en-US" sz="2000" b="1" i="1" u="sng" dirty="0"/>
              <a:t>righteousness</a:t>
            </a:r>
            <a:r>
              <a:rPr lang="en-US" sz="2000" i="1" dirty="0"/>
              <a:t>.   But if the </a:t>
            </a:r>
            <a:r>
              <a:rPr lang="en-US" sz="2000" b="1" i="1" dirty="0"/>
              <a:t>Spirit of Him </a:t>
            </a:r>
            <a:r>
              <a:rPr lang="en-US" sz="2000" i="1" dirty="0"/>
              <a:t>who raised Jesus from the dead </a:t>
            </a:r>
            <a:r>
              <a:rPr lang="en-US" sz="2000" b="1" i="1" dirty="0"/>
              <a:t>dwells in you</a:t>
            </a:r>
            <a:r>
              <a:rPr lang="en-US" sz="2000" i="1" dirty="0"/>
              <a:t>, </a:t>
            </a:r>
            <a:r>
              <a:rPr lang="en-US" sz="2000" b="1" i="1" dirty="0"/>
              <a:t>He who raised Christ from the dead will also give life to your mortal bodies through His Spirit who dwells in you</a:t>
            </a:r>
            <a:r>
              <a:rPr lang="en-US" sz="2000" i="1" dirty="0"/>
              <a:t>.”  </a:t>
            </a:r>
          </a:p>
          <a:p>
            <a:r>
              <a:rPr lang="en-US" sz="2000" i="1" dirty="0"/>
              <a:t>Romans 8:9-11</a:t>
            </a:r>
          </a:p>
        </p:txBody>
      </p:sp>
      <p:sp>
        <p:nvSpPr>
          <p:cNvPr id="6" name="TextBox 5"/>
          <p:cNvSpPr txBox="1"/>
          <p:nvPr/>
        </p:nvSpPr>
        <p:spPr>
          <a:xfrm>
            <a:off x="478277" y="3810000"/>
            <a:ext cx="8001000" cy="2554545"/>
          </a:xfrm>
          <a:prstGeom prst="rect">
            <a:avLst/>
          </a:prstGeom>
          <a:noFill/>
        </p:spPr>
        <p:txBody>
          <a:bodyPr wrap="square" rtlCol="0">
            <a:spAutoFit/>
          </a:bodyPr>
          <a:lstStyle/>
          <a:p>
            <a:pPr marL="342900" indent="-342900">
              <a:buFont typeface="Arial" panose="020B0604020202020204" pitchFamily="34" charset="0"/>
              <a:buChar char="•"/>
            </a:pPr>
            <a:r>
              <a:rPr lang="en-US" sz="2000" i="1" dirty="0"/>
              <a:t>“But” == However</a:t>
            </a:r>
          </a:p>
          <a:p>
            <a:pPr marL="342900" indent="-342900">
              <a:buFont typeface="Arial" panose="020B0604020202020204" pitchFamily="34" charset="0"/>
              <a:buChar char="•"/>
            </a:pPr>
            <a:r>
              <a:rPr lang="en-US" sz="2000" i="1" dirty="0"/>
              <a:t>“Spirit of God” == Holy Spirit  (whose mission is?  John 16:13-14)</a:t>
            </a:r>
          </a:p>
          <a:p>
            <a:pPr marL="342900" indent="-342900">
              <a:buFont typeface="Arial" panose="020B0604020202020204" pitchFamily="34" charset="0"/>
              <a:buChar char="•"/>
            </a:pPr>
            <a:r>
              <a:rPr lang="en-US" sz="2000" i="1" dirty="0"/>
              <a:t>Every believer has the indwelling Holy Spirit…  but…</a:t>
            </a:r>
          </a:p>
          <a:p>
            <a:pPr marL="800100" lvl="1" indent="-342900">
              <a:buFont typeface="Arial" panose="020B0604020202020204" pitchFamily="34" charset="0"/>
              <a:buChar char="•"/>
            </a:pPr>
            <a:r>
              <a:rPr lang="en-US" sz="2000" i="1" dirty="0"/>
              <a:t>But, is He in control of your life?</a:t>
            </a:r>
          </a:p>
          <a:p>
            <a:pPr marL="800100" lvl="1" indent="-342900">
              <a:buFont typeface="Arial" panose="020B0604020202020204" pitchFamily="34" charset="0"/>
              <a:buChar char="•"/>
            </a:pPr>
            <a:r>
              <a:rPr lang="en-US" sz="2000" i="1" dirty="0"/>
              <a:t>Do you have the Spirit of Christ in you?</a:t>
            </a:r>
          </a:p>
          <a:p>
            <a:pPr marL="800100" lvl="1" indent="-342900">
              <a:buFont typeface="Arial" panose="020B0604020202020204" pitchFamily="34" charset="0"/>
              <a:buChar char="•"/>
            </a:pPr>
            <a:r>
              <a:rPr lang="en-US" sz="2000" i="1" dirty="0"/>
              <a:t>Are you in the power of His presence?</a:t>
            </a:r>
          </a:p>
          <a:p>
            <a:pPr marL="800100" lvl="1" indent="-342900">
              <a:buFont typeface="Arial" panose="020B0604020202020204" pitchFamily="34" charset="0"/>
              <a:buChar char="•"/>
            </a:pPr>
            <a:r>
              <a:rPr lang="en-US" sz="2000" i="1" dirty="0"/>
              <a:t>Do you take advantage of it?  </a:t>
            </a:r>
          </a:p>
          <a:p>
            <a:pPr marL="342900" indent="-342900">
              <a:buFont typeface="Arial" panose="020B0604020202020204" pitchFamily="34" charset="0"/>
              <a:buChar char="•"/>
            </a:pPr>
            <a:r>
              <a:rPr lang="en-US" sz="2000" i="1" dirty="0"/>
              <a:t>Romans 6:3-5</a:t>
            </a:r>
          </a:p>
        </p:txBody>
      </p:sp>
    </p:spTree>
    <p:extLst>
      <p:ext uri="{BB962C8B-B14F-4D97-AF65-F5344CB8AC3E}">
        <p14:creationId xmlns:p14="http://schemas.microsoft.com/office/powerpoint/2010/main" val="556717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78277" y="304800"/>
            <a:ext cx="8001000" cy="3170099"/>
          </a:xfrm>
          <a:prstGeom prst="rect">
            <a:avLst/>
          </a:prstGeom>
          <a:noFill/>
        </p:spPr>
        <p:txBody>
          <a:bodyPr wrap="square" rtlCol="0">
            <a:spAutoFit/>
          </a:bodyPr>
          <a:lstStyle/>
          <a:p>
            <a:r>
              <a:rPr lang="en-US" sz="2000" i="1" dirty="0"/>
              <a:t>“Therefore, brethren, </a:t>
            </a:r>
            <a:r>
              <a:rPr lang="en-US" sz="2000" b="1" i="1" u="sng" dirty="0"/>
              <a:t>we are debtors </a:t>
            </a:r>
            <a:r>
              <a:rPr lang="en-US" sz="2000" i="1" dirty="0"/>
              <a:t>– not to the flesh, to live according to the flesh.  For </a:t>
            </a:r>
            <a:r>
              <a:rPr lang="en-US" sz="2000" b="1" i="1" dirty="0"/>
              <a:t>if you live according to the flesh you will </a:t>
            </a:r>
            <a:r>
              <a:rPr lang="en-US" sz="2000" b="1" i="1" u="sng" dirty="0"/>
              <a:t>die</a:t>
            </a:r>
            <a:r>
              <a:rPr lang="en-US" sz="2000" i="1" dirty="0"/>
              <a:t>; but </a:t>
            </a:r>
            <a:r>
              <a:rPr lang="en-US" sz="2000" b="1" i="1" dirty="0"/>
              <a:t>if by the Spirit </a:t>
            </a:r>
            <a:r>
              <a:rPr lang="en-US" sz="2000" i="1" dirty="0"/>
              <a:t>you put to death the deeds of the body, </a:t>
            </a:r>
            <a:r>
              <a:rPr lang="en-US" sz="2000" b="1" i="1" dirty="0"/>
              <a:t>you will </a:t>
            </a:r>
            <a:r>
              <a:rPr lang="en-US" sz="2000" b="1" i="1" u="sng" dirty="0"/>
              <a:t>live</a:t>
            </a:r>
            <a:r>
              <a:rPr lang="en-US" sz="2000" i="1" dirty="0"/>
              <a:t>.  For as many </a:t>
            </a:r>
            <a:r>
              <a:rPr lang="en-US" sz="2000" b="1" i="1" dirty="0"/>
              <a:t>as are </a:t>
            </a:r>
            <a:r>
              <a:rPr lang="en-US" sz="2000" b="1" i="1" u="sng" dirty="0"/>
              <a:t>led</a:t>
            </a:r>
            <a:r>
              <a:rPr lang="en-US" sz="2000" b="1" i="1" dirty="0"/>
              <a:t> by the Spirit of God</a:t>
            </a:r>
            <a:r>
              <a:rPr lang="en-US" sz="2000" i="1" dirty="0"/>
              <a:t>, these are sons of God.  For you did not receive the spirit of bondage again to fear, </a:t>
            </a:r>
            <a:r>
              <a:rPr lang="en-US" sz="2000" b="1" i="1" dirty="0"/>
              <a:t>but you </a:t>
            </a:r>
            <a:r>
              <a:rPr lang="en-US" sz="2000" b="1" i="1" u="sng" dirty="0"/>
              <a:t>received</a:t>
            </a:r>
            <a:r>
              <a:rPr lang="en-US" sz="2000" b="1" i="1" dirty="0"/>
              <a:t> the Spirit of adoption </a:t>
            </a:r>
            <a:r>
              <a:rPr lang="en-US" sz="2000" i="1" dirty="0"/>
              <a:t>by whom we cry out, “Abba, Father.”  The </a:t>
            </a:r>
            <a:r>
              <a:rPr lang="en-US" sz="2000" b="1" i="1" u="sng" dirty="0"/>
              <a:t>Spirit Himself bears witness </a:t>
            </a:r>
            <a:r>
              <a:rPr lang="en-US" sz="2000" i="1" dirty="0"/>
              <a:t>with our spirit that </a:t>
            </a:r>
            <a:r>
              <a:rPr lang="en-US" sz="2000" b="1" i="1" dirty="0"/>
              <a:t>we are children of God</a:t>
            </a:r>
            <a:r>
              <a:rPr lang="en-US" sz="2000" i="1" dirty="0"/>
              <a:t>, and if children, then heirs – </a:t>
            </a:r>
            <a:r>
              <a:rPr lang="en-US" sz="2000" b="1" i="1" dirty="0"/>
              <a:t>heirs of God</a:t>
            </a:r>
            <a:r>
              <a:rPr lang="en-US" sz="2000" i="1" dirty="0"/>
              <a:t> and joint heirs with Christ, if indeed we suffer with Him, that we may also be glorified together.”  Romans 8:12-17</a:t>
            </a:r>
          </a:p>
        </p:txBody>
      </p:sp>
      <p:sp>
        <p:nvSpPr>
          <p:cNvPr id="6" name="TextBox 5"/>
          <p:cNvSpPr txBox="1"/>
          <p:nvPr/>
        </p:nvSpPr>
        <p:spPr>
          <a:xfrm>
            <a:off x="478277" y="3564587"/>
            <a:ext cx="8001000" cy="400110"/>
          </a:xfrm>
          <a:prstGeom prst="rect">
            <a:avLst/>
          </a:prstGeom>
          <a:noFill/>
        </p:spPr>
        <p:txBody>
          <a:bodyPr wrap="square" rtlCol="0">
            <a:spAutoFit/>
          </a:bodyPr>
          <a:lstStyle/>
          <a:p>
            <a:r>
              <a:rPr lang="en-US" sz="2000" dirty="0"/>
              <a:t>What is meant by “we are debtors”…?   To whom/what?</a:t>
            </a:r>
          </a:p>
        </p:txBody>
      </p:sp>
      <p:sp>
        <p:nvSpPr>
          <p:cNvPr id="8" name="TextBox 7"/>
          <p:cNvSpPr txBox="1"/>
          <p:nvPr/>
        </p:nvSpPr>
        <p:spPr>
          <a:xfrm>
            <a:off x="479897" y="3894517"/>
            <a:ext cx="8001000" cy="1015663"/>
          </a:xfrm>
          <a:prstGeom prst="rect">
            <a:avLst/>
          </a:prstGeom>
          <a:noFill/>
        </p:spPr>
        <p:txBody>
          <a:bodyPr wrap="square" rtlCol="0">
            <a:spAutoFit/>
          </a:bodyPr>
          <a:lstStyle/>
          <a:p>
            <a:pPr marL="342900" indent="-342900">
              <a:buFont typeface="Arial" panose="020B0604020202020204" pitchFamily="34" charset="0"/>
              <a:buChar char="•"/>
            </a:pPr>
            <a:r>
              <a:rPr lang="en-US" sz="2000" dirty="0"/>
              <a:t>We have a moral obligation to live after the Spirit.</a:t>
            </a:r>
          </a:p>
          <a:p>
            <a:pPr marL="342900" indent="-342900">
              <a:buFont typeface="Arial" panose="020B0604020202020204" pitchFamily="34" charset="0"/>
              <a:buChar char="•"/>
            </a:pPr>
            <a:r>
              <a:rPr lang="en-US" sz="2000" dirty="0"/>
              <a:t>We have NO obligation to live after the flesh.</a:t>
            </a:r>
          </a:p>
          <a:p>
            <a:pPr marL="342900" indent="-342900">
              <a:buFont typeface="Arial" panose="020B0604020202020204" pitchFamily="34" charset="0"/>
              <a:buChar char="•"/>
            </a:pPr>
            <a:r>
              <a:rPr lang="en-US" sz="2000" dirty="0"/>
              <a:t>We received the Holy Spirit as a token of son-ship – not bondage.</a:t>
            </a:r>
          </a:p>
        </p:txBody>
      </p:sp>
      <p:sp>
        <p:nvSpPr>
          <p:cNvPr id="9" name="TextBox 8"/>
          <p:cNvSpPr txBox="1"/>
          <p:nvPr/>
        </p:nvSpPr>
        <p:spPr>
          <a:xfrm>
            <a:off x="465305" y="4907081"/>
            <a:ext cx="8001000" cy="400110"/>
          </a:xfrm>
          <a:prstGeom prst="rect">
            <a:avLst/>
          </a:prstGeom>
          <a:noFill/>
        </p:spPr>
        <p:txBody>
          <a:bodyPr wrap="square" rtlCol="0">
            <a:spAutoFit/>
          </a:bodyPr>
          <a:lstStyle/>
          <a:p>
            <a:r>
              <a:rPr lang="en-US" sz="2000" dirty="0"/>
              <a:t>Are Christians capable of dying spiritually?</a:t>
            </a:r>
          </a:p>
        </p:txBody>
      </p:sp>
      <p:sp>
        <p:nvSpPr>
          <p:cNvPr id="10" name="TextBox 9"/>
          <p:cNvSpPr txBox="1"/>
          <p:nvPr/>
        </p:nvSpPr>
        <p:spPr>
          <a:xfrm>
            <a:off x="458821" y="5222179"/>
            <a:ext cx="8001000" cy="1015663"/>
          </a:xfrm>
          <a:prstGeom prst="rect">
            <a:avLst/>
          </a:prstGeom>
          <a:noFill/>
        </p:spPr>
        <p:txBody>
          <a:bodyPr wrap="square" rtlCol="0">
            <a:spAutoFit/>
          </a:bodyPr>
          <a:lstStyle/>
          <a:p>
            <a:pPr marL="342900" indent="-342900">
              <a:buFont typeface="Arial" panose="020B0604020202020204" pitchFamily="34" charset="0"/>
              <a:buChar char="•"/>
            </a:pPr>
            <a:r>
              <a:rPr lang="en-US" sz="2000" dirty="0"/>
              <a:t>“die” here cannot mean physical death since we all thus die.</a:t>
            </a:r>
          </a:p>
          <a:p>
            <a:pPr marL="342900" indent="-342900">
              <a:buFont typeface="Arial" panose="020B0604020202020204" pitchFamily="34" charset="0"/>
              <a:buChar char="•"/>
            </a:pPr>
            <a:r>
              <a:rPr lang="en-US" sz="2000" dirty="0"/>
              <a:t>Refer to </a:t>
            </a:r>
            <a:r>
              <a:rPr lang="en-US" sz="2000" dirty="0" err="1"/>
              <a:t>Galations</a:t>
            </a:r>
            <a:r>
              <a:rPr lang="en-US" sz="2000" dirty="0"/>
              <a:t> 3:1-5; 6:7-8</a:t>
            </a:r>
          </a:p>
          <a:p>
            <a:pPr marL="342900" indent="-342900">
              <a:buFont typeface="Arial" panose="020B0604020202020204" pitchFamily="34" charset="0"/>
              <a:buChar char="•"/>
            </a:pPr>
            <a:r>
              <a:rPr lang="en-US" sz="2000" dirty="0"/>
              <a:t>Refer to Ezekiel 18:24  (Matthew 12:48-50)</a:t>
            </a:r>
          </a:p>
        </p:txBody>
      </p:sp>
      <p:sp>
        <p:nvSpPr>
          <p:cNvPr id="11" name="TextBox 10"/>
          <p:cNvSpPr txBox="1"/>
          <p:nvPr/>
        </p:nvSpPr>
        <p:spPr>
          <a:xfrm>
            <a:off x="455578" y="6269145"/>
            <a:ext cx="8001000" cy="400110"/>
          </a:xfrm>
          <a:prstGeom prst="rect">
            <a:avLst/>
          </a:prstGeom>
          <a:noFill/>
        </p:spPr>
        <p:txBody>
          <a:bodyPr wrap="square" rtlCol="0">
            <a:spAutoFit/>
          </a:bodyPr>
          <a:lstStyle/>
          <a:p>
            <a:r>
              <a:rPr lang="en-US" sz="2000" dirty="0"/>
              <a:t>Within this context, what assurances does the Christian have?</a:t>
            </a:r>
          </a:p>
        </p:txBody>
      </p:sp>
    </p:spTree>
    <p:extLst>
      <p:ext uri="{BB962C8B-B14F-4D97-AF65-F5344CB8AC3E}">
        <p14:creationId xmlns:p14="http://schemas.microsoft.com/office/powerpoint/2010/main" val="4194753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1000"/>
                                        <p:tgtEl>
                                          <p:spTgt spid="10"/>
                                        </p:tgtEl>
                                      </p:cBhvr>
                                    </p:animEffect>
                                    <p:anim calcmode="lin" valueType="num">
                                      <p:cBhvr>
                                        <p:cTn id="36" dur="1000" fill="hold"/>
                                        <p:tgtEl>
                                          <p:spTgt spid="10"/>
                                        </p:tgtEl>
                                        <p:attrNameLst>
                                          <p:attrName>ppt_x</p:attrName>
                                        </p:attrNameLst>
                                      </p:cBhvr>
                                      <p:tavLst>
                                        <p:tav tm="0">
                                          <p:val>
                                            <p:strVal val="#ppt_x"/>
                                          </p:val>
                                        </p:tav>
                                        <p:tav tm="100000">
                                          <p:val>
                                            <p:strVal val="#ppt_x"/>
                                          </p:val>
                                        </p:tav>
                                      </p:tavLst>
                                    </p:anim>
                                    <p:anim calcmode="lin" valueType="num">
                                      <p:cBhvr>
                                        <p:cTn id="3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anim calcmode="lin" valueType="num">
                                      <p:cBhvr>
                                        <p:cTn id="43" dur="1000" fill="hold"/>
                                        <p:tgtEl>
                                          <p:spTgt spid="11"/>
                                        </p:tgtEl>
                                        <p:attrNameLst>
                                          <p:attrName>ppt_x</p:attrName>
                                        </p:attrNameLst>
                                      </p:cBhvr>
                                      <p:tavLst>
                                        <p:tav tm="0">
                                          <p:val>
                                            <p:strVal val="#ppt_x"/>
                                          </p:val>
                                        </p:tav>
                                        <p:tav tm="100000">
                                          <p:val>
                                            <p:strVal val="#ppt_x"/>
                                          </p:val>
                                        </p:tav>
                                      </p:tavLst>
                                    </p:anim>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P spid="8" grpId="0"/>
      <p:bldP spid="9" grpId="0"/>
      <p:bldP spid="10"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78277" y="304800"/>
            <a:ext cx="8001000" cy="4708981"/>
          </a:xfrm>
          <a:prstGeom prst="rect">
            <a:avLst/>
          </a:prstGeom>
          <a:noFill/>
        </p:spPr>
        <p:txBody>
          <a:bodyPr wrap="square" rtlCol="0">
            <a:spAutoFit/>
          </a:bodyPr>
          <a:lstStyle/>
          <a:p>
            <a:r>
              <a:rPr lang="en-US" sz="2000" i="1" dirty="0"/>
              <a:t>“For I consider that the </a:t>
            </a:r>
            <a:r>
              <a:rPr lang="en-US" sz="2000" b="1" i="1" u="sng" dirty="0"/>
              <a:t>sufferings</a:t>
            </a:r>
            <a:r>
              <a:rPr lang="en-US" sz="2000" b="1" i="1" dirty="0"/>
              <a:t> of this present time </a:t>
            </a:r>
            <a:r>
              <a:rPr lang="en-US" sz="2000" i="1" dirty="0"/>
              <a:t>are not worthy to be compared with the </a:t>
            </a:r>
            <a:r>
              <a:rPr lang="en-US" sz="2000" b="1" i="1" u="sng" dirty="0"/>
              <a:t>glory</a:t>
            </a:r>
            <a:r>
              <a:rPr lang="en-US" sz="2000" i="1" dirty="0"/>
              <a:t> </a:t>
            </a:r>
            <a:r>
              <a:rPr lang="en-US" sz="2000" b="1" i="1" dirty="0"/>
              <a:t>which shall be revealed in us</a:t>
            </a:r>
            <a:r>
              <a:rPr lang="en-US" sz="2000" i="1" dirty="0"/>
              <a:t>.  For the earnest expectation of </a:t>
            </a:r>
            <a:r>
              <a:rPr lang="en-US" sz="2000" b="1" i="1" u="sng" dirty="0"/>
              <a:t>the creation eagerly waits </a:t>
            </a:r>
            <a:r>
              <a:rPr lang="en-US" sz="2000" i="1" dirty="0"/>
              <a:t>for the </a:t>
            </a:r>
            <a:r>
              <a:rPr lang="en-US" sz="2000" b="1" i="1" u="sng" dirty="0"/>
              <a:t>revealing of the sons of God</a:t>
            </a:r>
            <a:r>
              <a:rPr lang="en-US" sz="2000" i="1" dirty="0"/>
              <a:t>.  For the creation was subjected to futility, not willingly, but because of Him who subjected it in hope; because the </a:t>
            </a:r>
            <a:r>
              <a:rPr lang="en-US" sz="2000" b="1" i="1" dirty="0"/>
              <a:t>creation itself also will be delivered from the bondage of corruption </a:t>
            </a:r>
            <a:r>
              <a:rPr lang="en-US" sz="2000" i="1" dirty="0"/>
              <a:t>into the glorious liberty of the children of God.  For we know that </a:t>
            </a:r>
            <a:r>
              <a:rPr lang="en-US" sz="2000" b="1" i="1" u="sng" dirty="0"/>
              <a:t>the whole creation groans </a:t>
            </a:r>
            <a:r>
              <a:rPr lang="en-US" sz="2000" i="1" dirty="0"/>
              <a:t>and labors with birth pangs together until now.  </a:t>
            </a:r>
            <a:r>
              <a:rPr lang="en-US" sz="2000" b="1" i="1" dirty="0"/>
              <a:t>Not only that, but we also who have the first-fruits of the Spirit, even </a:t>
            </a:r>
            <a:r>
              <a:rPr lang="en-US" sz="2000" b="1" i="1" u="sng" dirty="0"/>
              <a:t>we ourselves groan </a:t>
            </a:r>
            <a:r>
              <a:rPr lang="en-US" sz="2000" b="1" i="1" dirty="0"/>
              <a:t>within ourselves, eagerly waiting for the </a:t>
            </a:r>
            <a:r>
              <a:rPr lang="en-US" sz="2000" b="1" i="1" u="sng" dirty="0"/>
              <a:t>adoption</a:t>
            </a:r>
            <a:r>
              <a:rPr lang="en-US" sz="2000" b="1" i="1" dirty="0"/>
              <a:t>, the </a:t>
            </a:r>
            <a:r>
              <a:rPr lang="en-US" sz="2000" b="1" i="1" u="sng" dirty="0"/>
              <a:t>redemption of our body</a:t>
            </a:r>
            <a:r>
              <a:rPr lang="en-US" sz="2000" b="1" i="1" dirty="0"/>
              <a:t>.  </a:t>
            </a:r>
            <a:r>
              <a:rPr lang="en-US" sz="2000" i="1" dirty="0"/>
              <a:t>For we were saved in this hope, but hope that is seen is not hope; for why does one still hope for what he sees?  But if we hope for what we do not see, </a:t>
            </a:r>
            <a:r>
              <a:rPr lang="en-US" sz="2000" b="1" i="1" u="sng" dirty="0"/>
              <a:t>we eagerly wait for it </a:t>
            </a:r>
            <a:r>
              <a:rPr lang="en-US" sz="2000" i="1" dirty="0"/>
              <a:t>with </a:t>
            </a:r>
            <a:r>
              <a:rPr lang="en-US" sz="2000" b="1" i="1" u="sng" dirty="0"/>
              <a:t>perseverance</a:t>
            </a:r>
            <a:r>
              <a:rPr lang="en-US" sz="2000" i="1" dirty="0"/>
              <a:t>.”    Romans 8:18-25</a:t>
            </a:r>
          </a:p>
        </p:txBody>
      </p:sp>
      <p:sp>
        <p:nvSpPr>
          <p:cNvPr id="6" name="TextBox 5"/>
          <p:cNvSpPr txBox="1"/>
          <p:nvPr/>
        </p:nvSpPr>
        <p:spPr>
          <a:xfrm>
            <a:off x="440984" y="5013781"/>
            <a:ext cx="8001000" cy="400110"/>
          </a:xfrm>
          <a:prstGeom prst="rect">
            <a:avLst/>
          </a:prstGeom>
          <a:noFill/>
        </p:spPr>
        <p:txBody>
          <a:bodyPr wrap="square" rtlCol="0">
            <a:spAutoFit/>
          </a:bodyPr>
          <a:lstStyle/>
          <a:p>
            <a:r>
              <a:rPr lang="en-US" sz="2000" dirty="0"/>
              <a:t>What is the glory of 8:18…?</a:t>
            </a:r>
          </a:p>
        </p:txBody>
      </p:sp>
      <p:sp>
        <p:nvSpPr>
          <p:cNvPr id="8" name="TextBox 7"/>
          <p:cNvSpPr txBox="1"/>
          <p:nvPr/>
        </p:nvSpPr>
        <p:spPr>
          <a:xfrm>
            <a:off x="439365" y="5400921"/>
            <a:ext cx="8001000" cy="400110"/>
          </a:xfrm>
          <a:prstGeom prst="rect">
            <a:avLst/>
          </a:prstGeom>
          <a:noFill/>
        </p:spPr>
        <p:txBody>
          <a:bodyPr wrap="square" rtlCol="0">
            <a:spAutoFit/>
          </a:bodyPr>
          <a:lstStyle/>
          <a:p>
            <a:pPr marL="342900" indent="-342900">
              <a:buFont typeface="Arial" panose="020B0604020202020204" pitchFamily="34" charset="0"/>
              <a:buChar char="•"/>
            </a:pPr>
            <a:r>
              <a:rPr lang="en-US" sz="2000" dirty="0"/>
              <a:t>1 John 3:1-3   Phil. 3:21   </a:t>
            </a:r>
          </a:p>
        </p:txBody>
      </p:sp>
      <p:sp>
        <p:nvSpPr>
          <p:cNvPr id="9" name="TextBox 8"/>
          <p:cNvSpPr txBox="1"/>
          <p:nvPr/>
        </p:nvSpPr>
        <p:spPr>
          <a:xfrm>
            <a:off x="439365" y="5810318"/>
            <a:ext cx="8001000" cy="400110"/>
          </a:xfrm>
          <a:prstGeom prst="rect">
            <a:avLst/>
          </a:prstGeom>
          <a:noFill/>
        </p:spPr>
        <p:txBody>
          <a:bodyPr wrap="square" rtlCol="0">
            <a:spAutoFit/>
          </a:bodyPr>
          <a:lstStyle/>
          <a:p>
            <a:r>
              <a:rPr lang="en-US" sz="2000" dirty="0"/>
              <a:t>Is the “creation” material?   Why personified here?   Waiting for what? </a:t>
            </a:r>
          </a:p>
        </p:txBody>
      </p:sp>
      <p:sp>
        <p:nvSpPr>
          <p:cNvPr id="11" name="TextBox 10"/>
          <p:cNvSpPr txBox="1"/>
          <p:nvPr/>
        </p:nvSpPr>
        <p:spPr>
          <a:xfrm>
            <a:off x="439365" y="6261870"/>
            <a:ext cx="8001000" cy="400110"/>
          </a:xfrm>
          <a:prstGeom prst="rect">
            <a:avLst/>
          </a:prstGeom>
          <a:noFill/>
        </p:spPr>
        <p:txBody>
          <a:bodyPr wrap="square" rtlCol="0">
            <a:spAutoFit/>
          </a:bodyPr>
          <a:lstStyle/>
          <a:p>
            <a:r>
              <a:rPr lang="en-US" sz="2000" dirty="0"/>
              <a:t>What do we, along with the creation, eagerly await?   </a:t>
            </a:r>
            <a:r>
              <a:rPr lang="en-US" sz="2000" dirty="0" err="1"/>
              <a:t>Galations</a:t>
            </a:r>
            <a:r>
              <a:rPr lang="en-US" sz="2000" dirty="0"/>
              <a:t> 4:6</a:t>
            </a:r>
          </a:p>
        </p:txBody>
      </p:sp>
    </p:spTree>
    <p:extLst>
      <p:ext uri="{BB962C8B-B14F-4D97-AF65-F5344CB8AC3E}">
        <p14:creationId xmlns:p14="http://schemas.microsoft.com/office/powerpoint/2010/main" val="287423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1000"/>
                                        <p:tgtEl>
                                          <p:spTgt spid="11"/>
                                        </p:tgtEl>
                                      </p:cBhvr>
                                    </p:animEffect>
                                    <p:anim calcmode="lin" valueType="num">
                                      <p:cBhvr>
                                        <p:cTn id="36" dur="1000" fill="hold"/>
                                        <p:tgtEl>
                                          <p:spTgt spid="11"/>
                                        </p:tgtEl>
                                        <p:attrNameLst>
                                          <p:attrName>ppt_x</p:attrName>
                                        </p:attrNameLst>
                                      </p:cBhvr>
                                      <p:tavLst>
                                        <p:tav tm="0">
                                          <p:val>
                                            <p:strVal val="#ppt_x"/>
                                          </p:val>
                                        </p:tav>
                                        <p:tav tm="100000">
                                          <p:val>
                                            <p:strVal val="#ppt_x"/>
                                          </p:val>
                                        </p:tav>
                                      </p:tavLst>
                                    </p:anim>
                                    <p:anim calcmode="lin" valueType="num">
                                      <p:cBhvr>
                                        <p:cTn id="37"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P spid="8" grpId="0"/>
      <p:bldP spid="9"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50716" y="176800"/>
            <a:ext cx="8001000" cy="4093428"/>
          </a:xfrm>
          <a:prstGeom prst="rect">
            <a:avLst/>
          </a:prstGeom>
          <a:noFill/>
        </p:spPr>
        <p:txBody>
          <a:bodyPr wrap="square" rtlCol="0">
            <a:spAutoFit/>
          </a:bodyPr>
          <a:lstStyle/>
          <a:p>
            <a:r>
              <a:rPr lang="en-US" sz="2000" i="1" dirty="0"/>
              <a:t>“Likewise the </a:t>
            </a:r>
            <a:r>
              <a:rPr lang="en-US" sz="2000" b="1" i="1" u="sng" dirty="0"/>
              <a:t>Spirit also helps </a:t>
            </a:r>
            <a:r>
              <a:rPr lang="en-US" sz="2000" i="1" dirty="0"/>
              <a:t>in our weaknesses.   For we do not know what we should pray for as we ought, but the </a:t>
            </a:r>
            <a:r>
              <a:rPr lang="en-US" sz="2000" b="1" i="1" u="sng" dirty="0"/>
              <a:t>Spirit Himself makes intercession for us</a:t>
            </a:r>
            <a:r>
              <a:rPr lang="en-US" sz="2000" i="1" dirty="0"/>
              <a:t> with groanings which cannot be uttered.   Now He who searches the hearts knows what the mind of the Spirit is, because </a:t>
            </a:r>
            <a:r>
              <a:rPr lang="en-US" sz="2000" b="1" i="1" u="sng" dirty="0"/>
              <a:t>He makes intercession </a:t>
            </a:r>
            <a:r>
              <a:rPr lang="en-US" sz="2000" i="1" dirty="0"/>
              <a:t>for the saints </a:t>
            </a:r>
            <a:r>
              <a:rPr lang="en-US" sz="2000" b="1" i="1" u="sng" dirty="0"/>
              <a:t>according to the will of God</a:t>
            </a:r>
            <a:r>
              <a:rPr lang="en-US" sz="2000" i="1" dirty="0"/>
              <a:t>.”    </a:t>
            </a:r>
          </a:p>
          <a:p>
            <a:r>
              <a:rPr lang="en-US" sz="2000" i="1" dirty="0"/>
              <a:t>“And we know that all things work together for good to </a:t>
            </a:r>
            <a:r>
              <a:rPr lang="en-US" sz="2000" b="1" i="1" u="sng" dirty="0"/>
              <a:t>those who love God</a:t>
            </a:r>
            <a:r>
              <a:rPr lang="en-US" sz="2000" i="1" dirty="0"/>
              <a:t>, to </a:t>
            </a:r>
            <a:r>
              <a:rPr lang="en-US" sz="2000" b="1" i="1" u="sng" dirty="0"/>
              <a:t>those who </a:t>
            </a:r>
            <a:r>
              <a:rPr lang="en-US" sz="2000" i="1" dirty="0"/>
              <a:t>are called </a:t>
            </a:r>
            <a:r>
              <a:rPr lang="en-US" sz="2000" b="1" i="1" u="sng" dirty="0"/>
              <a:t>according to His purpose</a:t>
            </a:r>
            <a:r>
              <a:rPr lang="en-US" sz="2000" i="1" dirty="0"/>
              <a:t>.  For </a:t>
            </a:r>
            <a:r>
              <a:rPr lang="en-US" sz="2000" b="1" i="1" u="sng" dirty="0"/>
              <a:t>whom</a:t>
            </a:r>
            <a:r>
              <a:rPr lang="en-US" sz="2000" i="1" dirty="0"/>
              <a:t> </a:t>
            </a:r>
            <a:r>
              <a:rPr lang="en-US" sz="2000" b="1" i="1" u="sng" dirty="0"/>
              <a:t>He foreknew</a:t>
            </a:r>
            <a:r>
              <a:rPr lang="en-US" sz="2000" i="1" dirty="0"/>
              <a:t>, He also </a:t>
            </a:r>
            <a:r>
              <a:rPr lang="en-US" sz="2000" b="1" u="sng" dirty="0"/>
              <a:t>predestined</a:t>
            </a:r>
            <a:r>
              <a:rPr lang="en-US" sz="2000" i="1" dirty="0"/>
              <a:t> to be </a:t>
            </a:r>
            <a:r>
              <a:rPr lang="en-US" sz="2000" b="1" i="1" u="sng" dirty="0"/>
              <a:t>conformed to the image of His Son</a:t>
            </a:r>
            <a:r>
              <a:rPr lang="en-US" sz="2000" i="1" dirty="0"/>
              <a:t>, that He might be the firstborn among many brethren.  Moreover who He predestined, these </a:t>
            </a:r>
            <a:r>
              <a:rPr lang="en-US" sz="2000" b="1" i="1" u="sng" dirty="0"/>
              <a:t>He also called</a:t>
            </a:r>
            <a:r>
              <a:rPr lang="en-US" sz="2000" i="1" dirty="0"/>
              <a:t>; whom He called, these </a:t>
            </a:r>
            <a:r>
              <a:rPr lang="en-US" sz="2000" b="1" i="1" u="sng" dirty="0"/>
              <a:t>He also justified</a:t>
            </a:r>
            <a:r>
              <a:rPr lang="en-US" sz="2000" i="1" dirty="0"/>
              <a:t>; and whom He justified, these </a:t>
            </a:r>
            <a:r>
              <a:rPr lang="en-US" sz="2000" b="1" i="1" u="sng" dirty="0"/>
              <a:t>He also glorified</a:t>
            </a:r>
            <a:r>
              <a:rPr lang="en-US" sz="2000" i="1" dirty="0"/>
              <a:t>.”  Romans 8:26-30</a:t>
            </a:r>
          </a:p>
        </p:txBody>
      </p:sp>
      <p:sp>
        <p:nvSpPr>
          <p:cNvPr id="6" name="TextBox 5"/>
          <p:cNvSpPr txBox="1"/>
          <p:nvPr/>
        </p:nvSpPr>
        <p:spPr>
          <a:xfrm>
            <a:off x="416667" y="4284801"/>
            <a:ext cx="8001000" cy="400110"/>
          </a:xfrm>
          <a:prstGeom prst="rect">
            <a:avLst/>
          </a:prstGeom>
          <a:noFill/>
        </p:spPr>
        <p:txBody>
          <a:bodyPr wrap="square" rtlCol="0">
            <a:spAutoFit/>
          </a:bodyPr>
          <a:lstStyle/>
          <a:p>
            <a:r>
              <a:rPr lang="en-US" sz="2000" dirty="0"/>
              <a:t>Is God ever surprised by events?   If not, why not?</a:t>
            </a:r>
          </a:p>
        </p:txBody>
      </p:sp>
      <p:sp>
        <p:nvSpPr>
          <p:cNvPr id="8" name="TextBox 7"/>
          <p:cNvSpPr txBox="1"/>
          <p:nvPr/>
        </p:nvSpPr>
        <p:spPr>
          <a:xfrm>
            <a:off x="423153" y="4615090"/>
            <a:ext cx="8001000" cy="400110"/>
          </a:xfrm>
          <a:prstGeom prst="rect">
            <a:avLst/>
          </a:prstGeom>
          <a:noFill/>
        </p:spPr>
        <p:txBody>
          <a:bodyPr wrap="square" rtlCol="0">
            <a:spAutoFit/>
          </a:bodyPr>
          <a:lstStyle/>
          <a:p>
            <a:pPr marL="342900" indent="-342900">
              <a:buFont typeface="Arial" panose="020B0604020202020204" pitchFamily="34" charset="0"/>
              <a:buChar char="•"/>
            </a:pPr>
            <a:r>
              <a:rPr lang="en-US" sz="2000" dirty="0"/>
              <a:t>Phil. 1:6   </a:t>
            </a:r>
          </a:p>
        </p:txBody>
      </p:sp>
      <p:sp>
        <p:nvSpPr>
          <p:cNvPr id="9" name="TextBox 8"/>
          <p:cNvSpPr txBox="1"/>
          <p:nvPr/>
        </p:nvSpPr>
        <p:spPr>
          <a:xfrm>
            <a:off x="426392" y="5010823"/>
            <a:ext cx="8001000" cy="707886"/>
          </a:xfrm>
          <a:prstGeom prst="rect">
            <a:avLst/>
          </a:prstGeom>
          <a:noFill/>
        </p:spPr>
        <p:txBody>
          <a:bodyPr wrap="square" rtlCol="0">
            <a:spAutoFit/>
          </a:bodyPr>
          <a:lstStyle/>
          <a:p>
            <a:r>
              <a:rPr lang="en-US" sz="2000" dirty="0"/>
              <a:t>Does this passage teach predestination of individual souls to eternal glory?   Colossians 1:12-29  “called”; how? 2 Thessalonians 2:13-14</a:t>
            </a:r>
          </a:p>
        </p:txBody>
      </p:sp>
      <p:sp>
        <p:nvSpPr>
          <p:cNvPr id="11" name="TextBox 10"/>
          <p:cNvSpPr txBox="1"/>
          <p:nvPr/>
        </p:nvSpPr>
        <p:spPr>
          <a:xfrm>
            <a:off x="450716" y="5714331"/>
            <a:ext cx="8001000" cy="1015663"/>
          </a:xfrm>
          <a:prstGeom prst="rect">
            <a:avLst/>
          </a:prstGeom>
          <a:noFill/>
        </p:spPr>
        <p:txBody>
          <a:bodyPr wrap="square" rtlCol="0">
            <a:spAutoFit/>
          </a:bodyPr>
          <a:lstStyle/>
          <a:p>
            <a:pPr marL="342900" indent="-342900">
              <a:buFont typeface="Arial" panose="020B0604020202020204" pitchFamily="34" charset="0"/>
              <a:buChar char="•"/>
            </a:pPr>
            <a:r>
              <a:rPr lang="en-US" sz="2000" dirty="0"/>
              <a:t>Refers to what God purposed before creation.  E.g. That those who love Him (i.e. a class of people) would be ordained to spiritual union and fellowship with Him.  They would look like His Son.</a:t>
            </a:r>
          </a:p>
        </p:txBody>
      </p:sp>
    </p:spTree>
    <p:extLst>
      <p:ext uri="{BB962C8B-B14F-4D97-AF65-F5344CB8AC3E}">
        <p14:creationId xmlns:p14="http://schemas.microsoft.com/office/powerpoint/2010/main" val="220111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1000"/>
                                        <p:tgtEl>
                                          <p:spTgt spid="11"/>
                                        </p:tgtEl>
                                      </p:cBhvr>
                                    </p:animEffect>
                                    <p:anim calcmode="lin" valueType="num">
                                      <p:cBhvr>
                                        <p:cTn id="36" dur="1000" fill="hold"/>
                                        <p:tgtEl>
                                          <p:spTgt spid="11"/>
                                        </p:tgtEl>
                                        <p:attrNameLst>
                                          <p:attrName>ppt_x</p:attrName>
                                        </p:attrNameLst>
                                      </p:cBhvr>
                                      <p:tavLst>
                                        <p:tav tm="0">
                                          <p:val>
                                            <p:strVal val="#ppt_x"/>
                                          </p:val>
                                        </p:tav>
                                        <p:tav tm="100000">
                                          <p:val>
                                            <p:strVal val="#ppt_x"/>
                                          </p:val>
                                        </p:tav>
                                      </p:tavLst>
                                    </p:anim>
                                    <p:anim calcmode="lin" valueType="num">
                                      <p:cBhvr>
                                        <p:cTn id="37"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P spid="8" grpId="0"/>
      <p:bldP spid="9" grpId="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50716" y="176800"/>
            <a:ext cx="8001000" cy="5016758"/>
          </a:xfrm>
          <a:prstGeom prst="rect">
            <a:avLst/>
          </a:prstGeom>
          <a:noFill/>
        </p:spPr>
        <p:txBody>
          <a:bodyPr wrap="square" rtlCol="0">
            <a:spAutoFit/>
          </a:bodyPr>
          <a:lstStyle/>
          <a:p>
            <a:r>
              <a:rPr lang="en-US" sz="2000" i="1" dirty="0"/>
              <a:t>“What then shall we say to these things?  </a:t>
            </a:r>
            <a:r>
              <a:rPr lang="en-US" sz="2000" b="1" i="1" u="sng" dirty="0"/>
              <a:t>If God is for us, who can be against us? </a:t>
            </a:r>
            <a:r>
              <a:rPr lang="en-US" sz="2000" i="1" dirty="0"/>
              <a:t> He who did not spare His own Son, but delivered Him up for us all, how shall He not with Him also freely give us all things?  </a:t>
            </a:r>
            <a:r>
              <a:rPr lang="en-US" sz="2000" b="1" i="1" dirty="0"/>
              <a:t>Who shall bring a charge against God’s elect?  </a:t>
            </a:r>
            <a:r>
              <a:rPr lang="en-US" sz="2000" i="1" dirty="0"/>
              <a:t>It is God who justifies.  </a:t>
            </a:r>
            <a:r>
              <a:rPr lang="en-US" sz="2000" b="1" i="1" dirty="0"/>
              <a:t>Who is he who condemns?  </a:t>
            </a:r>
            <a:r>
              <a:rPr lang="en-US" sz="2000" i="1" dirty="0"/>
              <a:t>It is Christ who died, and furthermore is also risen, who is even at the right hand of God, who also makes intercession for us.  </a:t>
            </a:r>
            <a:r>
              <a:rPr lang="en-US" sz="2000" b="1" i="1" dirty="0"/>
              <a:t>Who shall separate us from the </a:t>
            </a:r>
            <a:r>
              <a:rPr lang="en-US" sz="2000" b="1" i="1" u="sng" dirty="0"/>
              <a:t>love of Christ</a:t>
            </a:r>
            <a:r>
              <a:rPr lang="en-US" sz="2000" b="1" i="1" dirty="0"/>
              <a:t>? </a:t>
            </a:r>
            <a:r>
              <a:rPr lang="en-US" sz="2000" i="1" dirty="0"/>
              <a:t> Shall tribulation, or distress, or persecution, or famine, or nakedness, or peril, or sword?  As it is written: ‘For Your sake we are killed all day long; We are accounted as sheep for the slaughter.’  Yet in all these things we are more than conquerors through Him who loved us.  For I am persuaded that neither death nor life, nor angels nor principalities, nor powers, nor things present nor things to come, nor height nor depth, nor any other created thing, shall be able to separate us from </a:t>
            </a:r>
            <a:r>
              <a:rPr lang="en-US" sz="2000" b="1" i="1" u="sng" dirty="0"/>
              <a:t>the love of God which is in Christ Jesus our Lord</a:t>
            </a:r>
            <a:r>
              <a:rPr lang="en-US" sz="2000" i="1" dirty="0"/>
              <a:t>.”  Romans 8:31-39</a:t>
            </a:r>
          </a:p>
        </p:txBody>
      </p:sp>
      <p:sp>
        <p:nvSpPr>
          <p:cNvPr id="9" name="TextBox 8"/>
          <p:cNvSpPr txBox="1"/>
          <p:nvPr/>
        </p:nvSpPr>
        <p:spPr>
          <a:xfrm>
            <a:off x="450716" y="5193558"/>
            <a:ext cx="8001000" cy="707886"/>
          </a:xfrm>
          <a:prstGeom prst="rect">
            <a:avLst/>
          </a:prstGeom>
          <a:noFill/>
        </p:spPr>
        <p:txBody>
          <a:bodyPr wrap="square" rtlCol="0">
            <a:spAutoFit/>
          </a:bodyPr>
          <a:lstStyle/>
          <a:p>
            <a:r>
              <a:rPr lang="en-US" sz="2000" dirty="0"/>
              <a:t>What is the sense of “the love of God” herein?  Contrast with John 3:16.</a:t>
            </a:r>
          </a:p>
        </p:txBody>
      </p:sp>
      <p:sp>
        <p:nvSpPr>
          <p:cNvPr id="11" name="TextBox 10"/>
          <p:cNvSpPr txBox="1"/>
          <p:nvPr/>
        </p:nvSpPr>
        <p:spPr>
          <a:xfrm>
            <a:off x="450716" y="5901444"/>
            <a:ext cx="8001000" cy="400110"/>
          </a:xfrm>
          <a:prstGeom prst="rect">
            <a:avLst/>
          </a:prstGeom>
          <a:noFill/>
        </p:spPr>
        <p:txBody>
          <a:bodyPr wrap="square" rtlCol="0">
            <a:spAutoFit/>
          </a:bodyPr>
          <a:lstStyle/>
          <a:p>
            <a:pPr marL="342900" indent="-342900">
              <a:buFont typeface="Arial" panose="020B0604020202020204" pitchFamily="34" charset="0"/>
              <a:buChar char="•"/>
            </a:pPr>
            <a:r>
              <a:rPr lang="en-US" sz="2000" dirty="0" err="1"/>
              <a:t>Galations</a:t>
            </a:r>
            <a:r>
              <a:rPr lang="en-US" sz="2000" dirty="0"/>
              <a:t> 3:26-27;  Jude 21</a:t>
            </a:r>
          </a:p>
        </p:txBody>
      </p:sp>
    </p:spTree>
    <p:extLst>
      <p:ext uri="{BB962C8B-B14F-4D97-AF65-F5344CB8AC3E}">
        <p14:creationId xmlns:p14="http://schemas.microsoft.com/office/powerpoint/2010/main" val="1140793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24159</TotalTime>
  <Words>2323</Words>
  <Application>Microsoft Macintosh PowerPoint</Application>
  <PresentationFormat>On-screen Show (4:3)</PresentationFormat>
  <Paragraphs>141</Paragraphs>
  <Slides>13</Slides>
  <Notes>13</Notes>
  <HiddenSlides>1</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13</vt:i4>
      </vt:variant>
    </vt:vector>
  </HeadingPairs>
  <TitlesOfParts>
    <vt:vector size="18" baseType="lpstr">
      <vt:lpstr>Arial</vt:lpstr>
      <vt:lpstr>Arial Narrow</vt:lpstr>
      <vt:lpstr>Calibri</vt:lpstr>
      <vt:lpstr>PPT_Template_2010SummerSchool</vt:lpstr>
      <vt:lpstr>1_UPCRC_Powerpoint_Template_with I-Mark</vt:lpstr>
      <vt:lpstr>Romans</vt:lpstr>
      <vt:lpstr>The Fine Print Our responsibility…</vt:lpstr>
      <vt:lpstr>PowerPoint Presentation</vt:lpstr>
      <vt:lpstr>The Dual Nature of Man The “Flesh” versus the “Spirit”</vt:lpstr>
      <vt:lpstr>The Dual Nature of Man The Law Reveals our Condition</vt:lpstr>
      <vt:lpstr>The Law of the Spirit A fulfillment of the will and purpose of God</vt:lpstr>
      <vt:lpstr>The Righteous Requirements of the Law How fulfilled?</vt:lpstr>
      <vt:lpstr>The Indwelling Spirit A phenomenal gift</vt:lpstr>
      <vt:lpstr>The Dual Nature of the Believer Dead in the body; Alive in the Spirit</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803</cp:revision>
  <cp:lastPrinted>2012-04-01T14:05:10Z</cp:lastPrinted>
  <dcterms:created xsi:type="dcterms:W3CDTF">2010-06-16T02:58:04Z</dcterms:created>
  <dcterms:modified xsi:type="dcterms:W3CDTF">2026-05-29T12:31:40Z</dcterms:modified>
</cp:coreProperties>
</file>