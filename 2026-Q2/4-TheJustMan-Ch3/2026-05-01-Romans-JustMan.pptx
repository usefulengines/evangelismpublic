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4068" r:id="rId1"/>
    <p:sldMasterId id="2147484131" r:id="rId2"/>
  </p:sldMasterIdLst>
  <p:notesMasterIdLst>
    <p:notesMasterId r:id="rId18"/>
  </p:notesMasterIdLst>
  <p:sldIdLst>
    <p:sldId id="256" r:id="rId3"/>
    <p:sldId id="352" r:id="rId4"/>
    <p:sldId id="355" r:id="rId5"/>
    <p:sldId id="554" r:id="rId6"/>
    <p:sldId id="555" r:id="rId7"/>
    <p:sldId id="552" r:id="rId8"/>
    <p:sldId id="331" r:id="rId9"/>
    <p:sldId id="332" r:id="rId10"/>
    <p:sldId id="333" r:id="rId11"/>
    <p:sldId id="342" r:id="rId12"/>
    <p:sldId id="542" r:id="rId13"/>
    <p:sldId id="548" r:id="rId14"/>
    <p:sldId id="549" r:id="rId15"/>
    <p:sldId id="550" r:id="rId16"/>
    <p:sldId id="551" r:id="rId17"/>
  </p:sldIdLst>
  <p:sldSz cx="9144000" cy="6858000" type="screen4x3"/>
  <p:notesSz cx="7315200" cy="12344400"/>
  <p:defaultTextStyle>
    <a:defPPr>
      <a:defRPr lang="en-US"/>
    </a:defPPr>
    <a:lvl1pPr algn="l" rtl="0" fontAlgn="base">
      <a:spcBef>
        <a:spcPct val="0"/>
      </a:spcBef>
      <a:spcAft>
        <a:spcPct val="0"/>
      </a:spcAft>
      <a:defRPr kern="1200">
        <a:solidFill>
          <a:schemeClr val="tx1"/>
        </a:solidFill>
        <a:latin typeface="Arial" charset="0"/>
        <a:ea typeface="ＭＳ Ｐゴシック" pitchFamily="34" charset="-128"/>
        <a:cs typeface="+mn-cs"/>
      </a:defRPr>
    </a:lvl1pPr>
    <a:lvl2pPr marL="457200" algn="l" rtl="0" fontAlgn="base">
      <a:spcBef>
        <a:spcPct val="0"/>
      </a:spcBef>
      <a:spcAft>
        <a:spcPct val="0"/>
      </a:spcAft>
      <a:defRPr kern="1200">
        <a:solidFill>
          <a:schemeClr val="tx1"/>
        </a:solidFill>
        <a:latin typeface="Arial" charset="0"/>
        <a:ea typeface="ＭＳ Ｐゴシック" pitchFamily="34" charset="-128"/>
        <a:cs typeface="+mn-cs"/>
      </a:defRPr>
    </a:lvl2pPr>
    <a:lvl3pPr marL="914400" algn="l" rtl="0" fontAlgn="base">
      <a:spcBef>
        <a:spcPct val="0"/>
      </a:spcBef>
      <a:spcAft>
        <a:spcPct val="0"/>
      </a:spcAft>
      <a:defRPr kern="1200">
        <a:solidFill>
          <a:schemeClr val="tx1"/>
        </a:solidFill>
        <a:latin typeface="Arial" charset="0"/>
        <a:ea typeface="ＭＳ Ｐゴシック" pitchFamily="34" charset="-128"/>
        <a:cs typeface="+mn-cs"/>
      </a:defRPr>
    </a:lvl3pPr>
    <a:lvl4pPr marL="1371600" algn="l" rtl="0" fontAlgn="base">
      <a:spcBef>
        <a:spcPct val="0"/>
      </a:spcBef>
      <a:spcAft>
        <a:spcPct val="0"/>
      </a:spcAft>
      <a:defRPr kern="1200">
        <a:solidFill>
          <a:schemeClr val="tx1"/>
        </a:solidFill>
        <a:latin typeface="Arial" charset="0"/>
        <a:ea typeface="ＭＳ Ｐゴシック" pitchFamily="34" charset="-128"/>
        <a:cs typeface="+mn-cs"/>
      </a:defRPr>
    </a:lvl4pPr>
    <a:lvl5pPr marL="1828800" algn="l" rtl="0" fontAlgn="base">
      <a:spcBef>
        <a:spcPct val="0"/>
      </a:spcBef>
      <a:spcAft>
        <a:spcPct val="0"/>
      </a:spcAft>
      <a:defRPr kern="1200">
        <a:solidFill>
          <a:schemeClr val="tx1"/>
        </a:solidFill>
        <a:latin typeface="Arial" charset="0"/>
        <a:ea typeface="ＭＳ Ｐゴシック" pitchFamily="34" charset="-128"/>
        <a:cs typeface="+mn-cs"/>
      </a:defRPr>
    </a:lvl5pPr>
    <a:lvl6pPr marL="2286000" algn="l" defTabSz="914400" rtl="0" eaLnBrk="1" latinLnBrk="0" hangingPunct="1">
      <a:defRPr kern="1200">
        <a:solidFill>
          <a:schemeClr val="tx1"/>
        </a:solidFill>
        <a:latin typeface="Arial" charset="0"/>
        <a:ea typeface="ＭＳ Ｐゴシック" pitchFamily="34" charset="-128"/>
        <a:cs typeface="+mn-cs"/>
      </a:defRPr>
    </a:lvl6pPr>
    <a:lvl7pPr marL="2743200" algn="l" defTabSz="914400" rtl="0" eaLnBrk="1" latinLnBrk="0" hangingPunct="1">
      <a:defRPr kern="1200">
        <a:solidFill>
          <a:schemeClr val="tx1"/>
        </a:solidFill>
        <a:latin typeface="Arial" charset="0"/>
        <a:ea typeface="ＭＳ Ｐゴシック" pitchFamily="34" charset="-128"/>
        <a:cs typeface="+mn-cs"/>
      </a:defRPr>
    </a:lvl7pPr>
    <a:lvl8pPr marL="3200400" algn="l" defTabSz="914400" rtl="0" eaLnBrk="1" latinLnBrk="0" hangingPunct="1">
      <a:defRPr kern="1200">
        <a:solidFill>
          <a:schemeClr val="tx1"/>
        </a:solidFill>
        <a:latin typeface="Arial" charset="0"/>
        <a:ea typeface="ＭＳ Ｐゴシック" pitchFamily="34" charset="-128"/>
        <a:cs typeface="+mn-cs"/>
      </a:defRPr>
    </a:lvl8pPr>
    <a:lvl9pPr marL="3657600" algn="l" defTabSz="914400" rtl="0" eaLnBrk="1" latinLnBrk="0" hangingPunct="1">
      <a:defRPr kern="1200">
        <a:solidFill>
          <a:schemeClr val="tx1"/>
        </a:solidFill>
        <a:latin typeface="Arial" charset="0"/>
        <a:ea typeface="ＭＳ Ｐゴシック" pitchFamily="34" charset="-128"/>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vertBarState="maximized">
    <p:restoredLeft sz="15230" autoAdjust="0"/>
    <p:restoredTop sz="50282" autoAdjust="0"/>
  </p:normalViewPr>
  <p:slideViewPr>
    <p:cSldViewPr>
      <p:cViewPr varScale="1">
        <p:scale>
          <a:sx n="73" d="100"/>
          <a:sy n="73" d="100"/>
        </p:scale>
        <p:origin x="1578" y="60"/>
      </p:cViewPr>
      <p:guideLst>
        <p:guide orient="horz" pos="2160"/>
        <p:guide pos="2880"/>
      </p:guideLst>
    </p:cSldViewPr>
  </p:slid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notesMaster" Target="notesMasters/notesMaster1.xml"/><Relationship Id="rId3" Type="http://schemas.openxmlformats.org/officeDocument/2006/relationships/slide" Target="slides/slide1.xml"/><Relationship Id="rId21" Type="http://schemas.openxmlformats.org/officeDocument/2006/relationships/theme" Target="theme/them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slide" Target="slides/slide13.xml"/><Relationship Id="rId10" Type="http://schemas.openxmlformats.org/officeDocument/2006/relationships/slide" Target="slides/slide8.xml"/><Relationship Id="rId19" Type="http://schemas.openxmlformats.org/officeDocument/2006/relationships/presProps" Target="pres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4" y="1"/>
            <a:ext cx="3169921" cy="617220"/>
          </a:xfrm>
          <a:prstGeom prst="rect">
            <a:avLst/>
          </a:prstGeom>
        </p:spPr>
        <p:txBody>
          <a:bodyPr vert="horz" wrap="square" lIns="81036" tIns="40518" rIns="81036" bIns="40518" numCol="1" anchor="t" anchorCtr="0" compatLnSpc="1">
            <a:prstTxWarp prst="textNoShape">
              <a:avLst/>
            </a:prstTxWarp>
          </a:bodyPr>
          <a:lstStyle>
            <a:lvl1pPr>
              <a:defRPr sz="1000">
                <a:latin typeface="Arial" pitchFamily="34" charset="0"/>
                <a:ea typeface="ＭＳ Ｐゴシック" pitchFamily="-106" charset="-128"/>
              </a:defRPr>
            </a:lvl1pPr>
          </a:lstStyle>
          <a:p>
            <a:pPr>
              <a:defRPr/>
            </a:pPr>
            <a:endParaRPr lang="en-US"/>
          </a:p>
        </p:txBody>
      </p:sp>
      <p:sp>
        <p:nvSpPr>
          <p:cNvPr id="3" name="Date Placeholder 2"/>
          <p:cNvSpPr>
            <a:spLocks noGrp="1"/>
          </p:cNvSpPr>
          <p:nvPr>
            <p:ph type="dt" idx="1"/>
          </p:nvPr>
        </p:nvSpPr>
        <p:spPr>
          <a:xfrm>
            <a:off x="4143591" y="1"/>
            <a:ext cx="3169921" cy="617220"/>
          </a:xfrm>
          <a:prstGeom prst="rect">
            <a:avLst/>
          </a:prstGeom>
        </p:spPr>
        <p:txBody>
          <a:bodyPr vert="horz" wrap="square" lIns="81036" tIns="40518" rIns="81036" bIns="40518" numCol="1" anchor="t" anchorCtr="0" compatLnSpc="1">
            <a:prstTxWarp prst="textNoShape">
              <a:avLst/>
            </a:prstTxWarp>
          </a:bodyPr>
          <a:lstStyle>
            <a:lvl1pPr algn="r">
              <a:defRPr sz="1000">
                <a:latin typeface="Arial" pitchFamily="34" charset="0"/>
                <a:ea typeface="ＭＳ Ｐゴシック" pitchFamily="-106" charset="-128"/>
              </a:defRPr>
            </a:lvl1pPr>
          </a:lstStyle>
          <a:p>
            <a:pPr>
              <a:defRPr/>
            </a:pPr>
            <a:fld id="{37B93000-4848-40F5-8AEF-44DFB12065B3}" type="datetime1">
              <a:rPr lang="en-US"/>
              <a:pPr>
                <a:defRPr/>
              </a:pPr>
              <a:t>5/4/2026</a:t>
            </a:fld>
            <a:endParaRPr lang="en-US"/>
          </a:p>
        </p:txBody>
      </p:sp>
      <p:sp>
        <p:nvSpPr>
          <p:cNvPr id="4" name="Slide Image Placeholder 3"/>
          <p:cNvSpPr>
            <a:spLocks noGrp="1" noRot="1" noChangeAspect="1"/>
          </p:cNvSpPr>
          <p:nvPr>
            <p:ph type="sldImg" idx="2"/>
          </p:nvPr>
        </p:nvSpPr>
        <p:spPr>
          <a:xfrm>
            <a:off x="571500" y="927100"/>
            <a:ext cx="6172200" cy="4629150"/>
          </a:xfrm>
          <a:prstGeom prst="rect">
            <a:avLst/>
          </a:prstGeom>
          <a:noFill/>
          <a:ln w="12700">
            <a:solidFill>
              <a:prstClr val="black"/>
            </a:solidFill>
          </a:ln>
        </p:spPr>
        <p:txBody>
          <a:bodyPr vert="horz" wrap="square" lIns="81036" tIns="40518" rIns="81036" bIns="40518" numCol="1" anchor="ctr" anchorCtr="0" compatLnSpc="1">
            <a:prstTxWarp prst="textNoShape">
              <a:avLst/>
            </a:prstTxWarp>
          </a:bodyPr>
          <a:lstStyle/>
          <a:p>
            <a:pPr lvl="0"/>
            <a:endParaRPr lang="en-US" noProof="0"/>
          </a:p>
        </p:txBody>
      </p:sp>
      <p:sp>
        <p:nvSpPr>
          <p:cNvPr id="5" name="Notes Placeholder 4"/>
          <p:cNvSpPr>
            <a:spLocks noGrp="1"/>
          </p:cNvSpPr>
          <p:nvPr>
            <p:ph type="body" sz="quarter" idx="3"/>
          </p:nvPr>
        </p:nvSpPr>
        <p:spPr>
          <a:xfrm>
            <a:off x="731521" y="5863593"/>
            <a:ext cx="5852160" cy="5554980"/>
          </a:xfrm>
          <a:prstGeom prst="rect">
            <a:avLst/>
          </a:prstGeom>
        </p:spPr>
        <p:txBody>
          <a:bodyPr vert="horz" wrap="square" lIns="81036" tIns="40518" rIns="81036" bIns="40518" numCol="1" anchor="t" anchorCtr="0" compatLnSpc="1">
            <a:prstTxWarp prst="textNoShape">
              <a:avLst/>
            </a:prstTxWarp>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4" y="11725039"/>
            <a:ext cx="3169921" cy="617220"/>
          </a:xfrm>
          <a:prstGeom prst="rect">
            <a:avLst/>
          </a:prstGeom>
        </p:spPr>
        <p:txBody>
          <a:bodyPr vert="horz" wrap="square" lIns="81036" tIns="40518" rIns="81036" bIns="40518" numCol="1" anchor="b" anchorCtr="0" compatLnSpc="1">
            <a:prstTxWarp prst="textNoShape">
              <a:avLst/>
            </a:prstTxWarp>
          </a:bodyPr>
          <a:lstStyle>
            <a:lvl1pPr>
              <a:defRPr sz="1000">
                <a:latin typeface="Arial" pitchFamily="34" charset="0"/>
                <a:ea typeface="ＭＳ Ｐゴシック" pitchFamily="-106" charset="-128"/>
              </a:defRPr>
            </a:lvl1pPr>
          </a:lstStyle>
          <a:p>
            <a:pPr>
              <a:defRPr/>
            </a:pPr>
            <a:endParaRPr lang="en-US"/>
          </a:p>
        </p:txBody>
      </p:sp>
      <p:sp>
        <p:nvSpPr>
          <p:cNvPr id="7" name="Slide Number Placeholder 6"/>
          <p:cNvSpPr>
            <a:spLocks noGrp="1"/>
          </p:cNvSpPr>
          <p:nvPr>
            <p:ph type="sldNum" sz="quarter" idx="5"/>
          </p:nvPr>
        </p:nvSpPr>
        <p:spPr>
          <a:xfrm>
            <a:off x="4143591" y="11725039"/>
            <a:ext cx="3169921" cy="617220"/>
          </a:xfrm>
          <a:prstGeom prst="rect">
            <a:avLst/>
          </a:prstGeom>
        </p:spPr>
        <p:txBody>
          <a:bodyPr vert="horz" wrap="square" lIns="81036" tIns="40518" rIns="81036" bIns="40518" numCol="1" anchor="b" anchorCtr="0" compatLnSpc="1">
            <a:prstTxWarp prst="textNoShape">
              <a:avLst/>
            </a:prstTxWarp>
          </a:bodyPr>
          <a:lstStyle>
            <a:lvl1pPr algn="r">
              <a:defRPr sz="1000">
                <a:latin typeface="Arial" pitchFamily="34" charset="0"/>
                <a:ea typeface="ＭＳ Ｐゴシック" pitchFamily="-106" charset="-128"/>
              </a:defRPr>
            </a:lvl1pPr>
          </a:lstStyle>
          <a:p>
            <a:pPr>
              <a:defRPr/>
            </a:pPr>
            <a:fld id="{07776858-791E-4C8D-8FA3-473B3AFECFAC}" type="slidenum">
              <a:rPr lang="en-US"/>
              <a:pPr>
                <a:defRPr/>
              </a:pPr>
              <a:t>‹#›</a:t>
            </a:fld>
            <a:endParaRPr lang="en-US"/>
          </a:p>
        </p:txBody>
      </p:sp>
    </p:spTree>
    <p:extLst>
      <p:ext uri="{BB962C8B-B14F-4D97-AF65-F5344CB8AC3E}">
        <p14:creationId xmlns:p14="http://schemas.microsoft.com/office/powerpoint/2010/main" val="4118375044"/>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ＭＳ Ｐゴシック" pitchFamily="-106" charset="-128"/>
        <a:cs typeface="ＭＳ Ｐゴシック" pitchFamily="-106" charset="-128"/>
      </a:defRPr>
    </a:lvl1pPr>
    <a:lvl2pPr marL="457200" algn="l" rtl="0" eaLnBrk="0" fontAlgn="base" hangingPunct="0">
      <a:spcBef>
        <a:spcPct val="30000"/>
      </a:spcBef>
      <a:spcAft>
        <a:spcPct val="0"/>
      </a:spcAft>
      <a:defRPr sz="1200" kern="1200">
        <a:solidFill>
          <a:schemeClr val="tx1"/>
        </a:solidFill>
        <a:latin typeface="+mn-lt"/>
        <a:ea typeface="ＭＳ Ｐゴシック" pitchFamily="-106" charset="-128"/>
        <a:cs typeface="+mn-cs"/>
      </a:defRPr>
    </a:lvl2pPr>
    <a:lvl3pPr marL="914400" algn="l" rtl="0" eaLnBrk="0" fontAlgn="base" hangingPunct="0">
      <a:spcBef>
        <a:spcPct val="30000"/>
      </a:spcBef>
      <a:spcAft>
        <a:spcPct val="0"/>
      </a:spcAft>
      <a:defRPr sz="1200" kern="1200">
        <a:solidFill>
          <a:schemeClr val="tx1"/>
        </a:solidFill>
        <a:latin typeface="+mn-lt"/>
        <a:ea typeface="ＭＳ Ｐゴシック" pitchFamily="-106" charset="-128"/>
        <a:cs typeface="+mn-cs"/>
      </a:defRPr>
    </a:lvl3pPr>
    <a:lvl4pPr marL="1371600" algn="l" rtl="0" eaLnBrk="0" fontAlgn="base" hangingPunct="0">
      <a:spcBef>
        <a:spcPct val="30000"/>
      </a:spcBef>
      <a:spcAft>
        <a:spcPct val="0"/>
      </a:spcAft>
      <a:defRPr sz="1200" kern="1200">
        <a:solidFill>
          <a:schemeClr val="tx1"/>
        </a:solidFill>
        <a:latin typeface="+mn-lt"/>
        <a:ea typeface="ＭＳ Ｐゴシック" pitchFamily="-106" charset="-128"/>
        <a:cs typeface="+mn-cs"/>
      </a:defRPr>
    </a:lvl4pPr>
    <a:lvl5pPr marL="1828800" algn="l" rtl="0" eaLnBrk="0" fontAlgn="base" hangingPunct="0">
      <a:spcBef>
        <a:spcPct val="30000"/>
      </a:spcBef>
      <a:spcAft>
        <a:spcPct val="0"/>
      </a:spcAft>
      <a:defRPr sz="1200" kern="1200">
        <a:solidFill>
          <a:schemeClr val="tx1"/>
        </a:solidFill>
        <a:latin typeface="+mn-lt"/>
        <a:ea typeface="ＭＳ Ｐゴシック" pitchFamily="-106" charset="-128"/>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aseline="0" dirty="0"/>
          </a:p>
          <a:p>
            <a:pPr marL="147631" indent="-147631">
              <a:buFont typeface="Arial" pitchFamily="34" charset="0"/>
              <a:buChar char="•"/>
            </a:pPr>
            <a:endParaRPr lang="en-US" baseline="0" dirty="0"/>
          </a:p>
        </p:txBody>
      </p:sp>
      <p:sp>
        <p:nvSpPr>
          <p:cNvPr id="4" name="Slide Number Placeholder 3"/>
          <p:cNvSpPr>
            <a:spLocks noGrp="1"/>
          </p:cNvSpPr>
          <p:nvPr>
            <p:ph type="sldNum" sz="quarter" idx="10"/>
          </p:nvPr>
        </p:nvSpPr>
        <p:spPr/>
        <p:txBody>
          <a:bodyPr/>
          <a:lstStyle/>
          <a:p>
            <a:pPr>
              <a:defRPr/>
            </a:pPr>
            <a:fld id="{07776858-791E-4C8D-8FA3-473B3AFECFAC}" type="slidenum">
              <a:rPr lang="en-US" smtClean="0"/>
              <a:pPr>
                <a:defRPr/>
              </a:pPr>
              <a:t>1</a:t>
            </a:fld>
            <a:endParaRPr lang="en-US"/>
          </a:p>
        </p:txBody>
      </p:sp>
    </p:spTree>
    <p:extLst>
      <p:ext uri="{BB962C8B-B14F-4D97-AF65-F5344CB8AC3E}">
        <p14:creationId xmlns:p14="http://schemas.microsoft.com/office/powerpoint/2010/main" val="165484711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62500" lnSpcReduction="20000"/>
          </a:bodyPr>
          <a:lstStyle/>
          <a:p>
            <a:endParaRPr lang="en-US" baseline="0" dirty="0"/>
          </a:p>
          <a:p>
            <a:r>
              <a:rPr lang="en-US" sz="1400" b="1" dirty="0"/>
              <a:t>The Pagan Man - They Became Fools…</a:t>
            </a:r>
          </a:p>
          <a:p>
            <a:endParaRPr lang="en-US" sz="1400" dirty="0"/>
          </a:p>
          <a:p>
            <a:r>
              <a:rPr lang="en-US" sz="1400" dirty="0"/>
              <a:t>Man’s refusal to acknowledge and glorify God leads to a downward path:</a:t>
            </a:r>
          </a:p>
          <a:p>
            <a:pPr marL="147642" indent="-147642">
              <a:buFont typeface="Arial" pitchFamily="34" charset="0"/>
              <a:buChar char="•"/>
            </a:pPr>
            <a:r>
              <a:rPr lang="en-US" sz="1400" dirty="0"/>
              <a:t>First, worthless thinking;</a:t>
            </a:r>
          </a:p>
          <a:p>
            <a:pPr marL="147642" indent="-147642">
              <a:buFont typeface="Arial" pitchFamily="34" charset="0"/>
              <a:buChar char="•"/>
            </a:pPr>
            <a:r>
              <a:rPr lang="en-US" sz="1400" dirty="0"/>
              <a:t>Next, moral insensitivity; and</a:t>
            </a:r>
          </a:p>
          <a:p>
            <a:pPr marL="147642" indent="-147642">
              <a:buFont typeface="Arial" pitchFamily="34" charset="0"/>
              <a:buChar char="•"/>
            </a:pPr>
            <a:r>
              <a:rPr lang="en-US" sz="1400" dirty="0"/>
              <a:t>Then, religious stupidity as seen in idol-worship!</a:t>
            </a:r>
          </a:p>
          <a:p>
            <a:endParaRPr lang="en-US" sz="1400" dirty="0"/>
          </a:p>
          <a:p>
            <a:r>
              <a:rPr lang="en-US" sz="1400" dirty="0"/>
              <a:t>The witness to God in nature is so clear and so constant that ignoring it is indefensible.</a:t>
            </a:r>
          </a:p>
          <a:p>
            <a:pPr marL="147642" indent="-147642">
              <a:buFont typeface="Arial" pitchFamily="34" charset="0"/>
              <a:buChar char="•"/>
            </a:pPr>
            <a:r>
              <a:rPr lang="en-US" sz="1400" b="1" dirty="0"/>
              <a:t>The pagan man’s condemnation is based not on their rejecting Christ of whom they have not heard,</a:t>
            </a:r>
          </a:p>
          <a:p>
            <a:pPr marL="147642" indent="-147642">
              <a:buFont typeface="Arial" pitchFamily="34" charset="0"/>
              <a:buChar char="•"/>
            </a:pPr>
            <a:r>
              <a:rPr lang="en-US" sz="1400" b="1" dirty="0"/>
              <a:t>But sinning against the Light that they do have</a:t>
            </a:r>
            <a:r>
              <a:rPr lang="en-US" sz="1400" dirty="0"/>
              <a:t>. </a:t>
            </a:r>
            <a:r>
              <a:rPr lang="en-US" sz="1400" i="1" dirty="0"/>
              <a:t>  2 Corinthians 8:12</a:t>
            </a:r>
          </a:p>
          <a:p>
            <a:endParaRPr lang="en-US" sz="1400" dirty="0"/>
          </a:p>
          <a:p>
            <a:r>
              <a:rPr lang="en-US" sz="1400" dirty="0"/>
              <a:t>NOTE:   God’s prior judgments of mankind (i.e. condemnations) reveal that He judged them apart from the Law and according to the eternal principles of His Revealed Truth (e.g. Sodom and Gomorrah, Noah’s Flood).    </a:t>
            </a:r>
          </a:p>
          <a:p>
            <a:endParaRPr lang="en-US" sz="1400" dirty="0"/>
          </a:p>
          <a:p>
            <a:r>
              <a:rPr lang="en-US" sz="1400" b="1" dirty="0"/>
              <a:t>The Moral Man – Seven Principles of God’s Righteous Judgment</a:t>
            </a:r>
          </a:p>
          <a:p>
            <a:endParaRPr lang="en-US" sz="1400" b="1" dirty="0"/>
          </a:p>
          <a:p>
            <a:pPr defTabSz="787426">
              <a:defRPr/>
            </a:pPr>
            <a:r>
              <a:rPr lang="en-US" sz="1400" b="1" dirty="0"/>
              <a:t>****   The First Law of Holes…  stop digging</a:t>
            </a:r>
            <a:r>
              <a:rPr lang="en-US" sz="1400" dirty="0"/>
              <a:t>!  ****</a:t>
            </a:r>
          </a:p>
          <a:p>
            <a:endParaRPr lang="en-US" sz="1400" b="1" dirty="0"/>
          </a:p>
          <a:p>
            <a:r>
              <a:rPr lang="en-US" sz="1400" b="1" dirty="0"/>
              <a:t>Let us not confuse Romans 2 with Revelation 20…  at Judgment Day, there will be no reasoning nor preaching; only condemnation; based upon the Principles of God’s Judgment.</a:t>
            </a:r>
          </a:p>
          <a:p>
            <a:endParaRPr lang="en-US" sz="1400" dirty="0"/>
          </a:p>
          <a:p>
            <a:r>
              <a:rPr lang="en-US" sz="1400" b="1" dirty="0"/>
              <a:t>The Agent of divine judgment is Jesus Christ.   John 5:22, 27;    Acts 17:31</a:t>
            </a:r>
          </a:p>
          <a:p>
            <a:pPr defTabSz="787426">
              <a:defRPr/>
            </a:pPr>
            <a:endParaRPr lang="en-US" sz="1400" b="1" dirty="0"/>
          </a:p>
          <a:p>
            <a:pPr defTabSz="787426">
              <a:defRPr/>
            </a:pPr>
            <a:r>
              <a:rPr lang="en-US" sz="1400" b="1" dirty="0"/>
              <a:t>Judgment</a:t>
            </a:r>
          </a:p>
          <a:p>
            <a:pPr defTabSz="787426">
              <a:defRPr/>
            </a:pPr>
            <a:endParaRPr lang="en-US" sz="1400" i="1" dirty="0"/>
          </a:p>
          <a:p>
            <a:pPr marL="147642" indent="-147642" defTabSz="787426">
              <a:buFont typeface="Arial" pitchFamily="34" charset="0"/>
              <a:buChar char="•"/>
              <a:defRPr/>
            </a:pPr>
            <a:r>
              <a:rPr lang="en-US" sz="1400" dirty="0"/>
              <a:t>The Same Measuring Stick (we all know and use the same stick):     </a:t>
            </a:r>
          </a:p>
          <a:p>
            <a:pPr marL="541356" lvl="1" indent="-147642" defTabSz="787426">
              <a:buFont typeface="Arial" pitchFamily="34" charset="0"/>
              <a:buChar char="•"/>
              <a:defRPr/>
            </a:pPr>
            <a:r>
              <a:rPr lang="en-US" sz="1400" i="1" dirty="0"/>
              <a:t>Romans 2:1-2   </a:t>
            </a:r>
          </a:p>
          <a:p>
            <a:pPr marL="541356" lvl="1" indent="-147642" defTabSz="787426">
              <a:buFont typeface="Arial" pitchFamily="34" charset="0"/>
              <a:buChar char="•"/>
              <a:defRPr/>
            </a:pPr>
            <a:r>
              <a:rPr lang="en-US" sz="1400" i="1" dirty="0"/>
              <a:t>Matthew 7:1-2     (passing judgment should give us pause…)</a:t>
            </a:r>
          </a:p>
          <a:p>
            <a:pPr marL="147642" indent="-147642" defTabSz="787426">
              <a:buFont typeface="Arial" pitchFamily="34" charset="0"/>
              <a:buChar char="•"/>
              <a:defRPr/>
            </a:pPr>
            <a:r>
              <a:rPr lang="en-US" sz="1400" i="1" dirty="0"/>
              <a:t>Does not imply “do not pass judgment – i.e. discernment”</a:t>
            </a:r>
          </a:p>
          <a:p>
            <a:pPr marL="541356" lvl="1" indent="-147642" defTabSz="787426">
              <a:buFont typeface="Arial" pitchFamily="34" charset="0"/>
              <a:buChar char="•"/>
              <a:defRPr/>
            </a:pPr>
            <a:r>
              <a:rPr lang="en-US" sz="1400" i="1" dirty="0"/>
              <a:t>1 Corinthians 2:14-16 – the spiritual man makes judgment about all things</a:t>
            </a:r>
          </a:p>
          <a:p>
            <a:pPr marL="147642" indent="-147642" defTabSz="787426">
              <a:buFont typeface="Arial" pitchFamily="34" charset="0"/>
              <a:buChar char="•"/>
              <a:defRPr/>
            </a:pPr>
            <a:r>
              <a:rPr lang="en-US" sz="1400" dirty="0"/>
              <a:t>Different judgments</a:t>
            </a:r>
          </a:p>
          <a:p>
            <a:pPr marL="541356" lvl="1" indent="-147642" defTabSz="787426">
              <a:buFont typeface="Arial" pitchFamily="34" charset="0"/>
              <a:buChar char="•"/>
              <a:defRPr/>
            </a:pPr>
            <a:r>
              <a:rPr lang="en-US" sz="1400" dirty="0"/>
              <a:t>Examples of prior Judgments (with condemnation) by God:   Ezekiel 16:48-50 (Sodom and Gomorrah – pride </a:t>
            </a:r>
            <a:r>
              <a:rPr lang="en-US" sz="1400" b="1" dirty="0"/>
              <a:t>and</a:t>
            </a:r>
            <a:r>
              <a:rPr lang="en-US" sz="1400" dirty="0"/>
              <a:t> sexual perversion; see also Luke 17:28-30)</a:t>
            </a:r>
          </a:p>
          <a:p>
            <a:pPr marL="541356" lvl="1" indent="-147642" defTabSz="787426">
              <a:buFont typeface="Arial" pitchFamily="34" charset="0"/>
              <a:buChar char="•"/>
              <a:defRPr/>
            </a:pPr>
            <a:r>
              <a:rPr lang="en-US" sz="1400" dirty="0"/>
              <a:t>At the end:    </a:t>
            </a:r>
            <a:r>
              <a:rPr lang="en-US" sz="1400" i="1" dirty="0"/>
              <a:t>Revelation 20:13-15    (“…treasuring up for yourself wrath…”   Romans 2:5)</a:t>
            </a:r>
          </a:p>
          <a:p>
            <a:pPr marL="541356" lvl="1" indent="-147642" defTabSz="787426">
              <a:buFont typeface="Arial" pitchFamily="34" charset="0"/>
              <a:buChar char="•"/>
              <a:defRPr/>
            </a:pPr>
            <a:r>
              <a:rPr lang="en-US" sz="1400" i="1" dirty="0"/>
              <a:t>Even the Christian:   1 Cor. 3:11-15   (but not condemned…! John 5:24; Romans 8:1)</a:t>
            </a:r>
          </a:p>
          <a:p>
            <a:pPr marL="1082711" lvl="2" indent="-295284">
              <a:buFont typeface="Arial" pitchFamily="34" charset="0"/>
              <a:buChar char="•"/>
            </a:pPr>
            <a:endParaRPr lang="en-US" sz="1400" dirty="0"/>
          </a:p>
          <a:p>
            <a:pPr marL="787426" lvl="2"/>
            <a:endParaRPr lang="en-US" baseline="0" dirty="0"/>
          </a:p>
        </p:txBody>
      </p:sp>
      <p:sp>
        <p:nvSpPr>
          <p:cNvPr id="4" name="Slide Number Placeholder 3"/>
          <p:cNvSpPr>
            <a:spLocks noGrp="1"/>
          </p:cNvSpPr>
          <p:nvPr>
            <p:ph type="sldNum" sz="quarter" idx="10"/>
          </p:nvPr>
        </p:nvSpPr>
        <p:spPr/>
        <p:txBody>
          <a:bodyPr/>
          <a:lstStyle/>
          <a:p>
            <a:pPr>
              <a:defRPr/>
            </a:pPr>
            <a:fld id="{07776858-791E-4C8D-8FA3-473B3AFECFAC}" type="slidenum">
              <a:rPr lang="en-US" smtClean="0"/>
              <a:pPr>
                <a:defRPr/>
              </a:pPr>
              <a:t>2</a:t>
            </a:fld>
            <a:endParaRPr lang="en-US"/>
          </a:p>
        </p:txBody>
      </p:sp>
    </p:spTree>
    <p:extLst>
      <p:ext uri="{BB962C8B-B14F-4D97-AF65-F5344CB8AC3E}">
        <p14:creationId xmlns:p14="http://schemas.microsoft.com/office/powerpoint/2010/main" val="147916078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lnSpcReduction="10000"/>
          </a:bodyPr>
          <a:lstStyle/>
          <a:p>
            <a:endParaRPr lang="en-US" dirty="0"/>
          </a:p>
          <a:p>
            <a:r>
              <a:rPr lang="en-US" sz="1400" b="1" dirty="0"/>
              <a:t>FIRST - Read Romans 3:21-26</a:t>
            </a:r>
          </a:p>
          <a:p>
            <a:endParaRPr lang="en-US" sz="1400" dirty="0"/>
          </a:p>
          <a:p>
            <a:r>
              <a:rPr lang="en-US" sz="1400" b="1" dirty="0"/>
              <a:t>THE QUESTION:</a:t>
            </a:r>
          </a:p>
          <a:p>
            <a:pPr marL="147642" indent="-147642">
              <a:buFont typeface="Arial" pitchFamily="34" charset="0"/>
              <a:buChar char="•"/>
            </a:pPr>
            <a:r>
              <a:rPr lang="en-US" sz="1400" dirty="0"/>
              <a:t>How can a perfectly </a:t>
            </a:r>
            <a:r>
              <a:rPr lang="en-US" sz="1400" b="1" dirty="0"/>
              <a:t>just</a:t>
            </a:r>
            <a:r>
              <a:rPr lang="en-US" sz="1400" dirty="0"/>
              <a:t> God forgive sins? </a:t>
            </a:r>
          </a:p>
          <a:p>
            <a:pPr marL="147642" indent="-147642">
              <a:buFont typeface="Arial" pitchFamily="34" charset="0"/>
              <a:buChar char="•"/>
            </a:pPr>
            <a:r>
              <a:rPr lang="en-US" sz="1400" dirty="0"/>
              <a:t>How can </a:t>
            </a:r>
            <a:r>
              <a:rPr lang="en-US" sz="1400" b="1" dirty="0"/>
              <a:t>sinful</a:t>
            </a:r>
            <a:r>
              <a:rPr lang="en-US" sz="1400" dirty="0"/>
              <a:t> man find favor with a </a:t>
            </a:r>
            <a:r>
              <a:rPr lang="en-US" sz="1400" b="1" dirty="0"/>
              <a:t>righteous</a:t>
            </a:r>
            <a:r>
              <a:rPr lang="en-US" sz="1400" dirty="0"/>
              <a:t> God?</a:t>
            </a:r>
          </a:p>
          <a:p>
            <a:pPr marL="147642" indent="-147642">
              <a:buFont typeface="Arial" pitchFamily="34" charset="0"/>
              <a:buChar char="•"/>
            </a:pPr>
            <a:endParaRPr lang="en-US" sz="1400" dirty="0"/>
          </a:p>
          <a:p>
            <a:r>
              <a:rPr lang="en-US" sz="1400" b="1" dirty="0"/>
              <a:t>THE ANALOGY:</a:t>
            </a:r>
          </a:p>
          <a:p>
            <a:pPr marL="147642" indent="-147642">
              <a:buFont typeface="Arial" pitchFamily="34" charset="0"/>
              <a:buChar char="•"/>
            </a:pPr>
            <a:r>
              <a:rPr lang="en-US" sz="1400" dirty="0"/>
              <a:t>God (the Son) presides as the Judge of mankind (pagan, moral, and spiritual men).   John 5:22</a:t>
            </a:r>
          </a:p>
          <a:p>
            <a:pPr marL="147642" indent="-147642">
              <a:buFont typeface="Arial" pitchFamily="34" charset="0"/>
              <a:buChar char="•"/>
            </a:pPr>
            <a:r>
              <a:rPr lang="en-US" sz="1400" dirty="0"/>
              <a:t>The Son steps down from the Judgment seat and assumes the seat of the plaintiff (mankind).   Isaiah 53:11</a:t>
            </a:r>
          </a:p>
          <a:p>
            <a:pPr marL="147642" indent="-147642">
              <a:buFont typeface="Arial" pitchFamily="34" charset="0"/>
              <a:buChar char="•"/>
            </a:pPr>
            <a:r>
              <a:rPr lang="en-US" sz="1400" dirty="0"/>
              <a:t>The Son himself assumes the just penalty of sin for all of sinful mankind.    </a:t>
            </a:r>
          </a:p>
          <a:p>
            <a:pPr marL="147642" indent="-147642">
              <a:buFont typeface="Arial" pitchFamily="34" charset="0"/>
              <a:buChar char="•"/>
            </a:pPr>
            <a:r>
              <a:rPr lang="en-US" sz="1400" dirty="0"/>
              <a:t>The Father is satisfied with the just payment for sin. </a:t>
            </a:r>
          </a:p>
          <a:p>
            <a:pPr marL="147642" indent="-147642" defTabSz="787426">
              <a:buFont typeface="Arial" pitchFamily="34" charset="0"/>
              <a:buChar char="•"/>
              <a:defRPr/>
            </a:pPr>
            <a:r>
              <a:rPr lang="en-US" sz="1400" dirty="0"/>
              <a:t>The Father demonstrates mercy by extending the righteousness of one man to cover many.      2 Cor. 5:21</a:t>
            </a:r>
          </a:p>
          <a:p>
            <a:endParaRPr lang="en-US" sz="1400" dirty="0"/>
          </a:p>
          <a:p>
            <a:r>
              <a:rPr lang="en-US" sz="1400" b="1" dirty="0"/>
              <a:t>God demonstrates His perfect justice at the same time that he demonstrates His perfect mercy…  in the act of delivering justice, he also justifies.</a:t>
            </a:r>
          </a:p>
          <a:p>
            <a:endParaRPr lang="en-US" sz="1400" dirty="0"/>
          </a:p>
          <a:p>
            <a:r>
              <a:rPr lang="en-US" sz="1400" dirty="0"/>
              <a:t>Eph. 2:8   “For by grace you have been saved through faith, and that not of yourselves; it is the gift of God, not of works, lest anyone should boast.</a:t>
            </a:r>
          </a:p>
          <a:p>
            <a:endParaRPr lang="en-US" sz="1400" dirty="0"/>
          </a:p>
          <a:p>
            <a:r>
              <a:rPr lang="en-US" sz="1400" b="1" dirty="0"/>
              <a:t>Hallelujah!   What a Savior!</a:t>
            </a:r>
          </a:p>
        </p:txBody>
      </p:sp>
      <p:sp>
        <p:nvSpPr>
          <p:cNvPr id="4" name="Slide Number Placeholder 3"/>
          <p:cNvSpPr>
            <a:spLocks noGrp="1"/>
          </p:cNvSpPr>
          <p:nvPr>
            <p:ph type="sldNum" sz="quarter" idx="10"/>
          </p:nvPr>
        </p:nvSpPr>
        <p:spPr/>
        <p:txBody>
          <a:bodyPr/>
          <a:lstStyle/>
          <a:p>
            <a:pPr>
              <a:defRPr/>
            </a:pPr>
            <a:fld id="{07776858-791E-4C8D-8FA3-473B3AFECFAC}" type="slidenum">
              <a:rPr lang="en-US" smtClean="0"/>
              <a:pPr>
                <a:defRPr/>
              </a:pPr>
              <a:t>3</a:t>
            </a:fld>
            <a:endParaRPr lang="en-US"/>
          </a:p>
        </p:txBody>
      </p:sp>
    </p:spTree>
    <p:extLst>
      <p:ext uri="{BB962C8B-B14F-4D97-AF65-F5344CB8AC3E}">
        <p14:creationId xmlns:p14="http://schemas.microsoft.com/office/powerpoint/2010/main" val="95134543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BE4EB4-81BB-84B1-C57D-A1D54CDB282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33F1971-1C88-3214-C4CC-87CB8D966D9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9F7AF50-B9D2-AC9F-9947-C258C8BEADB3}"/>
              </a:ext>
            </a:extLst>
          </p:cNvPr>
          <p:cNvSpPr>
            <a:spLocks noGrp="1"/>
          </p:cNvSpPr>
          <p:nvPr>
            <p:ph type="body" idx="1"/>
          </p:nvPr>
        </p:nvSpPr>
        <p:spPr/>
        <p:txBody>
          <a:bodyPr>
            <a:normAutofit fontScale="92500" lnSpcReduction="10000"/>
          </a:bodyPr>
          <a:lstStyle/>
          <a:p>
            <a:pPr marL="0" indent="0">
              <a:buNone/>
            </a:pPr>
            <a:endParaRPr lang="en-US" dirty="0"/>
          </a:p>
          <a:p>
            <a:pPr marL="0" indent="0">
              <a:buNone/>
            </a:pPr>
            <a:r>
              <a:rPr lang="en-US" sz="1400" dirty="0"/>
              <a:t>World-View – Common to all men everywhere always.</a:t>
            </a:r>
          </a:p>
          <a:p>
            <a:pPr marL="228600" indent="-228600">
              <a:buAutoNum type="arabicPeriod"/>
            </a:pPr>
            <a:r>
              <a:rPr lang="en-US" sz="1400" dirty="0"/>
              <a:t>Origins (Where do we come from?)</a:t>
            </a:r>
          </a:p>
          <a:p>
            <a:pPr marL="228600" indent="-228600">
              <a:buAutoNum type="arabicPeriod"/>
            </a:pPr>
            <a:r>
              <a:rPr lang="en-US" sz="1400" dirty="0"/>
              <a:t>Meaning (Why are we here?)</a:t>
            </a:r>
          </a:p>
          <a:p>
            <a:pPr marL="228600" indent="-228600">
              <a:buAutoNum type="arabicPeriod"/>
            </a:pPr>
            <a:r>
              <a:rPr lang="en-US" sz="1400" dirty="0"/>
              <a:t>Morality (How should we live?)</a:t>
            </a:r>
          </a:p>
          <a:p>
            <a:pPr marL="228600" indent="-228600">
              <a:buAutoNum type="arabicPeriod"/>
            </a:pPr>
            <a:r>
              <a:rPr lang="en-US" sz="1400" dirty="0"/>
              <a:t>Destiny (Where are we going?)</a:t>
            </a:r>
          </a:p>
          <a:p>
            <a:pPr marL="0" indent="0">
              <a:buNone/>
            </a:pPr>
            <a:endParaRPr lang="en-US" sz="1400" dirty="0"/>
          </a:p>
          <a:p>
            <a:pPr marL="228600" indent="-228600">
              <a:buAutoNum type="arabicPeriod"/>
            </a:pPr>
            <a:endParaRPr lang="en-US" sz="1400" dirty="0"/>
          </a:p>
          <a:p>
            <a:pPr marL="285750" indent="-285750">
              <a:buFont typeface="Arial" panose="020B0604020202020204" pitchFamily="34" charset="0"/>
              <a:buChar char="•"/>
            </a:pPr>
            <a:r>
              <a:rPr lang="en-US" sz="1400" b="1" dirty="0"/>
              <a:t>Truth</a:t>
            </a:r>
            <a:r>
              <a:rPr lang="en-US" sz="1400" dirty="0"/>
              <a:t> is objective, knowable, and </a:t>
            </a:r>
            <a:r>
              <a:rPr lang="en-US" sz="1400" u="sng" dirty="0"/>
              <a:t>personified</a:t>
            </a:r>
            <a:r>
              <a:rPr lang="en-US" sz="1400" dirty="0"/>
              <a:t> in Jesus of Nazareth. (John 14:6-11; John 18:37; Acts 2:22)</a:t>
            </a:r>
          </a:p>
          <a:p>
            <a:endParaRPr lang="en-US" sz="1400" dirty="0"/>
          </a:p>
          <a:p>
            <a:pPr marL="285750" indent="-285750">
              <a:buFont typeface="Arial" panose="020B0604020202020204" pitchFamily="34" charset="0"/>
              <a:buChar char="•"/>
            </a:pPr>
            <a:r>
              <a:rPr lang="en-US" sz="1400" dirty="0"/>
              <a:t>The </a:t>
            </a:r>
            <a:r>
              <a:rPr lang="en-US" sz="1400" b="1" dirty="0"/>
              <a:t>Natural Man</a:t>
            </a:r>
            <a:r>
              <a:rPr lang="en-US" sz="1400" dirty="0"/>
              <a:t> recognizes God’s creativity and intelligence in the created order; </a:t>
            </a:r>
            <a:r>
              <a:rPr lang="en-US" sz="1400" i="1" dirty="0"/>
              <a:t>but suppresses the truth in unrighteousness</a:t>
            </a:r>
            <a:r>
              <a:rPr lang="en-US" sz="1400" dirty="0"/>
              <a:t>. (Romans 1)</a:t>
            </a:r>
          </a:p>
          <a:p>
            <a:pPr marL="285750" indent="-285750">
              <a:buFont typeface="Arial" panose="020B0604020202020204" pitchFamily="34" charset="0"/>
              <a:buChar char="•"/>
            </a:pPr>
            <a:endParaRPr lang="en-US" sz="1400" dirty="0"/>
          </a:p>
          <a:p>
            <a:pPr marL="285750" indent="-285750">
              <a:buFont typeface="Arial" panose="020B0604020202020204" pitchFamily="34" charset="0"/>
              <a:buChar char="•"/>
            </a:pPr>
            <a:r>
              <a:rPr lang="en-US" sz="1400" dirty="0"/>
              <a:t>The </a:t>
            </a:r>
            <a:r>
              <a:rPr lang="en-US" sz="1400" b="1" dirty="0"/>
              <a:t>Moral Man</a:t>
            </a:r>
            <a:r>
              <a:rPr lang="en-US" sz="1400" dirty="0"/>
              <a:t> recognizes how things ought to be; </a:t>
            </a:r>
            <a:r>
              <a:rPr lang="en-US" sz="1400" i="1" dirty="0"/>
              <a:t>but falls short of God’s goodness revealed via his own conscience and rationality</a:t>
            </a:r>
            <a:r>
              <a:rPr lang="en-US" sz="1400" dirty="0"/>
              <a:t>. (Romans 2)</a:t>
            </a:r>
          </a:p>
          <a:p>
            <a:pPr marL="285750" indent="-285750">
              <a:buFont typeface="Arial" panose="020B0604020202020204" pitchFamily="34" charset="0"/>
              <a:buChar char="•"/>
            </a:pPr>
            <a:endParaRPr lang="en-US" sz="1400" dirty="0"/>
          </a:p>
          <a:p>
            <a:pPr marL="285750" indent="-285750">
              <a:buFont typeface="Arial" panose="020B0604020202020204" pitchFamily="34" charset="0"/>
              <a:buChar char="•"/>
            </a:pPr>
            <a:r>
              <a:rPr lang="en-US" sz="1400" dirty="0"/>
              <a:t>The </a:t>
            </a:r>
            <a:r>
              <a:rPr lang="en-US" sz="1400" b="1" dirty="0"/>
              <a:t>Religious Man</a:t>
            </a:r>
            <a:r>
              <a:rPr lang="en-US" sz="1400" dirty="0"/>
              <a:t> recognizes that God exists, and that God has expectations; </a:t>
            </a:r>
            <a:r>
              <a:rPr lang="en-US" sz="1400" i="1" dirty="0"/>
              <a:t>but succumbs to selfish pride, artificial authority, arrogance, and hypocrisy</a:t>
            </a:r>
            <a:r>
              <a:rPr lang="en-US" sz="1400" dirty="0"/>
              <a:t>. (Romans 3)</a:t>
            </a:r>
          </a:p>
          <a:p>
            <a:endParaRPr lang="en-US" sz="1400" dirty="0"/>
          </a:p>
          <a:p>
            <a:pPr marL="285750" indent="-285750">
              <a:buFont typeface="Arial" panose="020B0604020202020204" pitchFamily="34" charset="0"/>
              <a:buChar char="•"/>
            </a:pPr>
            <a:r>
              <a:rPr lang="en-US" sz="1400" dirty="0"/>
              <a:t>The </a:t>
            </a:r>
            <a:r>
              <a:rPr lang="en-US" sz="1400" b="1" dirty="0"/>
              <a:t>Just Man </a:t>
            </a:r>
            <a:r>
              <a:rPr lang="en-US" sz="1400" dirty="0"/>
              <a:t>relies upon God’s promise, lives by faith; </a:t>
            </a:r>
            <a:r>
              <a:rPr lang="en-US" sz="1400" i="1" dirty="0"/>
              <a:t>and receives the blessing of imputed righteousness. </a:t>
            </a:r>
            <a:r>
              <a:rPr lang="en-US" sz="1400" dirty="0"/>
              <a:t>(Romans 4) </a:t>
            </a:r>
          </a:p>
          <a:p>
            <a:endParaRPr lang="en-US" dirty="0"/>
          </a:p>
        </p:txBody>
      </p:sp>
      <p:sp>
        <p:nvSpPr>
          <p:cNvPr id="4" name="Slide Number Placeholder 3">
            <a:extLst>
              <a:ext uri="{FF2B5EF4-FFF2-40B4-BE49-F238E27FC236}">
                <a16:creationId xmlns:a16="http://schemas.microsoft.com/office/drawing/2014/main" id="{2C5788AD-15E0-A288-40E4-48B2A51E3EE2}"/>
              </a:ext>
            </a:extLst>
          </p:cNvPr>
          <p:cNvSpPr>
            <a:spLocks noGrp="1"/>
          </p:cNvSpPr>
          <p:nvPr>
            <p:ph type="sldNum" sz="quarter" idx="10"/>
          </p:nvPr>
        </p:nvSpPr>
        <p:spPr/>
        <p:txBody>
          <a:bodyPr/>
          <a:lstStyle/>
          <a:p>
            <a:pPr>
              <a:defRPr/>
            </a:pPr>
            <a:fld id="{07776858-791E-4C8D-8FA3-473B3AFECFAC}" type="slidenum">
              <a:rPr lang="en-US" smtClean="0"/>
              <a:pPr>
                <a:defRPr/>
              </a:pPr>
              <a:t>4</a:t>
            </a:fld>
            <a:endParaRPr lang="en-US"/>
          </a:p>
        </p:txBody>
      </p:sp>
    </p:spTree>
    <p:extLst>
      <p:ext uri="{BB962C8B-B14F-4D97-AF65-F5344CB8AC3E}">
        <p14:creationId xmlns:p14="http://schemas.microsoft.com/office/powerpoint/2010/main" val="28156632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FF9D84-D556-988B-C623-810DB2123BF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3C9BCFE-32B6-229E-6383-184BAEA4911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FB1DBEC-C027-2FFE-68C5-521A0E17797F}"/>
              </a:ext>
            </a:extLst>
          </p:cNvPr>
          <p:cNvSpPr>
            <a:spLocks noGrp="1"/>
          </p:cNvSpPr>
          <p:nvPr>
            <p:ph type="body" idx="1"/>
          </p:nvPr>
        </p:nvSpPr>
        <p:spPr/>
        <p:txBody>
          <a:bodyPr>
            <a:normAutofit fontScale="47500" lnSpcReduction="20000"/>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sz="1400" u="sng" dirty="0">
                <a:latin typeface="+mn-lt"/>
              </a:rPr>
              <a:t>You can know that you know the Lord </a:t>
            </a:r>
            <a:r>
              <a:rPr lang="en-US" sz="1400" dirty="0">
                <a:latin typeface="+mn-lt"/>
              </a:rPr>
              <a:t>when your heart has been changed by Him, when you have come to Him through faith in Jesus Christ, when your life exhibits loving obedience to His commands, and when the Holy Spirit is actively at work within you. This inward transformation, evidenced in loving God and others, marks the reality of the relationship promised in Jeremiah’s prophecy of the new covenant.</a:t>
            </a:r>
            <a:endParaRPr lang="en-US" sz="1400" i="1" dirty="0">
              <a:latin typeface="+mn-lt"/>
            </a:endParaRPr>
          </a:p>
          <a:p>
            <a:endParaRPr lang="en-US" sz="1400" dirty="0">
              <a:latin typeface="+mn-lt"/>
            </a:endParaRPr>
          </a:p>
          <a:p>
            <a:r>
              <a:rPr lang="en-US" sz="1400" dirty="0">
                <a:latin typeface="+mn-lt"/>
              </a:rPr>
              <a:t>When Paul lists the “fruit of the Spirit” (Gal. 5:22–23)—love, joy, peace, patience, kindness, goodness, faithfulness, gentleness, and self-control—he’s describing the character and conduct that flow out of a life yielded to God’s Spirit. Although the explicit phrase “Holy Spirit” appears less frequently in the Old Testament, several psalms not only point to “living the good life” (i.e., walking in covenant faithfulness and blessing) but also reference or imply the work of God’s Spirit in shaping that life. </a:t>
            </a:r>
          </a:p>
          <a:p>
            <a:endParaRPr lang="en-US" sz="1400" dirty="0">
              <a:latin typeface="+mn-lt"/>
            </a:endParaRPr>
          </a:p>
          <a:p>
            <a:r>
              <a:rPr lang="en-US" sz="1400" dirty="0">
                <a:latin typeface="+mn-lt"/>
              </a:rPr>
              <a:t>--------------</a:t>
            </a:r>
          </a:p>
          <a:p>
            <a:r>
              <a:rPr lang="en-US" sz="1400" dirty="0">
                <a:latin typeface="+mn-lt"/>
              </a:rPr>
              <a:t>In </a:t>
            </a:r>
            <a:r>
              <a:rPr lang="en-US" sz="1400" b="1" dirty="0">
                <a:latin typeface="+mn-lt"/>
              </a:rPr>
              <a:t>Jeremiah 31:31–34</a:t>
            </a:r>
            <a:r>
              <a:rPr lang="en-US" sz="1400" dirty="0">
                <a:latin typeface="+mn-lt"/>
              </a:rPr>
              <a:t>, God promises a “new covenant” in which </a:t>
            </a:r>
            <a:r>
              <a:rPr lang="en-US" sz="1400" b="1" dirty="0">
                <a:latin typeface="+mn-lt"/>
              </a:rPr>
              <a:t>His law will be written on people’s hearts</a:t>
            </a:r>
            <a:r>
              <a:rPr lang="en-US" sz="1400" dirty="0">
                <a:latin typeface="+mn-lt"/>
              </a:rPr>
              <a:t>, and as a result, </a:t>
            </a:r>
            <a:r>
              <a:rPr lang="en-US" sz="1400" b="1" dirty="0">
                <a:latin typeface="+mn-lt"/>
              </a:rPr>
              <a:t>“they shall all know me.”</a:t>
            </a:r>
            <a:r>
              <a:rPr lang="en-US" sz="1400" dirty="0">
                <a:latin typeface="+mn-lt"/>
              </a:rPr>
              <a:t> This new covenant relationship implies an intimate, personal knowledge of God rather than a merely external or secondhand acquaintance. To understand how one can know they truly “know the LORD,” it’s helpful to consider several biblical principles that clarify the nature and evidence of this relationship.</a:t>
            </a:r>
          </a:p>
          <a:p>
            <a:endParaRPr lang="en-US" sz="1400" dirty="0">
              <a:latin typeface="+mn-lt"/>
            </a:endParaRPr>
          </a:p>
          <a:p>
            <a:r>
              <a:rPr lang="en-US" sz="1400" b="1" dirty="0">
                <a:latin typeface="+mn-lt"/>
              </a:rPr>
              <a:t> 1. An Internal, Heart-Level Knowledge</a:t>
            </a:r>
            <a:r>
              <a:rPr lang="en-US" sz="1400" dirty="0">
                <a:latin typeface="+mn-lt"/>
              </a:rPr>
              <a:t>:   </a:t>
            </a:r>
          </a:p>
          <a:p>
            <a:r>
              <a:rPr lang="en-US" sz="1400" dirty="0">
                <a:latin typeface="+mn-lt"/>
              </a:rPr>
              <a:t>   Under the new covenant, God’s law is not just a set of external rules; it is internalized. This indicates that truly knowing the LORD involves a changed heart—a shift from merely following religious observances to experiencing a genuine inward transformation (</a:t>
            </a:r>
            <a:r>
              <a:rPr lang="en-US" sz="1400" b="1" dirty="0">
                <a:latin typeface="+mn-lt"/>
              </a:rPr>
              <a:t>Jeremiah 31:33</a:t>
            </a:r>
            <a:r>
              <a:rPr lang="en-US" sz="1400" dirty="0">
                <a:latin typeface="+mn-lt"/>
              </a:rPr>
              <a:t>). Thus, </a:t>
            </a:r>
            <a:r>
              <a:rPr lang="en-US" sz="1400" u="sng" dirty="0">
                <a:latin typeface="+mn-lt"/>
              </a:rPr>
              <a:t>one sign of knowing the Lord is the deep, inner desire to love, honor, and please Him, not because of external pressure, but because one’s heart has been made new</a:t>
            </a:r>
            <a:r>
              <a:rPr lang="en-US" sz="1400" dirty="0">
                <a:latin typeface="+mn-lt"/>
              </a:rPr>
              <a:t>.</a:t>
            </a:r>
          </a:p>
          <a:p>
            <a:endParaRPr lang="en-US" sz="1400" dirty="0">
              <a:latin typeface="+mn-lt"/>
            </a:endParaRPr>
          </a:p>
          <a:p>
            <a:r>
              <a:rPr lang="en-US" sz="1400" b="1" dirty="0">
                <a:latin typeface="+mn-lt"/>
              </a:rPr>
              <a:t> 2. A Personal Relationship Through Christ:   </a:t>
            </a:r>
          </a:p>
          <a:p>
            <a:r>
              <a:rPr lang="en-US" sz="1400" dirty="0">
                <a:latin typeface="+mn-lt"/>
              </a:rPr>
              <a:t>   The New Testament reveals that </a:t>
            </a:r>
            <a:r>
              <a:rPr lang="en-US" sz="1400" u="sng" dirty="0">
                <a:latin typeface="+mn-lt"/>
              </a:rPr>
              <a:t>Jesus Christ mediates this new covenant</a:t>
            </a:r>
            <a:r>
              <a:rPr lang="en-US" sz="1400" dirty="0">
                <a:latin typeface="+mn-lt"/>
              </a:rPr>
              <a:t>. Through faith in Christ’s death and resurrection, believers enter into a restored relationship with God (Hebrews 8:6–12, John 14:6). </a:t>
            </a:r>
            <a:r>
              <a:rPr lang="en-US" sz="1400" u="sng" dirty="0">
                <a:latin typeface="+mn-lt"/>
              </a:rPr>
              <a:t>Knowing the Lord, then, is inseparable from knowing Christ</a:t>
            </a:r>
            <a:r>
              <a:rPr lang="en-US" sz="1400" dirty="0">
                <a:latin typeface="+mn-lt"/>
              </a:rPr>
              <a:t>. If you have placed your trust in Jesus, believing His sacrifice for your sins, and have become His disciple, </a:t>
            </a:r>
            <a:r>
              <a:rPr lang="en-US" sz="1400" u="sng" dirty="0">
                <a:latin typeface="+mn-lt"/>
              </a:rPr>
              <a:t>this faith relationship is a foundational indicator that you know God</a:t>
            </a:r>
            <a:r>
              <a:rPr lang="en-US" sz="1400" dirty="0">
                <a:latin typeface="+mn-lt"/>
              </a:rPr>
              <a:t>.</a:t>
            </a:r>
          </a:p>
          <a:p>
            <a:endParaRPr lang="en-US" sz="1400" dirty="0">
              <a:latin typeface="+mn-lt"/>
            </a:endParaRPr>
          </a:p>
          <a:p>
            <a:r>
              <a:rPr lang="en-US" sz="1400" b="1" dirty="0">
                <a:latin typeface="+mn-lt"/>
              </a:rPr>
              <a:t> 3. Obedience as a Sign of Knowledge:   </a:t>
            </a:r>
          </a:p>
          <a:p>
            <a:r>
              <a:rPr lang="en-US" sz="1400" dirty="0">
                <a:latin typeface="+mn-lt"/>
              </a:rPr>
              <a:t>   First John gives practical tests for knowing God:  </a:t>
            </a:r>
          </a:p>
          <a:p>
            <a:pPr marL="457200" lvl="1" indent="0">
              <a:buFont typeface="Arial" panose="020B0604020202020204" pitchFamily="34" charset="0"/>
              <a:buNone/>
            </a:pPr>
            <a:r>
              <a:rPr lang="en-US" sz="1400" b="1" dirty="0">
                <a:latin typeface="+mn-lt"/>
              </a:rPr>
              <a:t>1 John 2:3–6</a:t>
            </a:r>
            <a:r>
              <a:rPr lang="en-US" sz="1400" dirty="0">
                <a:latin typeface="+mn-lt"/>
              </a:rPr>
              <a:t>: </a:t>
            </a:r>
            <a:r>
              <a:rPr lang="en-US" sz="1400" b="1" i="1" u="sng" dirty="0">
                <a:latin typeface="+mn-lt"/>
              </a:rPr>
              <a:t>Now by this we know that we know Him, if we keep His commandments</a:t>
            </a:r>
            <a:r>
              <a:rPr lang="en-US" sz="1400" i="1" dirty="0">
                <a:latin typeface="+mn-lt"/>
              </a:rPr>
              <a:t>. He who says, "I know Him," and does not keep His commandments, is a liar, and the truth is not in him. But whoever keeps His word, truly the love of God is perfected in him. By this we know that we are in Him. He who says he abides in Him ought himself also to walk just as He walked. </a:t>
            </a:r>
          </a:p>
          <a:p>
            <a:endParaRPr lang="en-US" sz="1400" dirty="0">
              <a:latin typeface="+mn-lt"/>
            </a:endParaRPr>
          </a:p>
          <a:p>
            <a:r>
              <a:rPr lang="en-US" sz="1400" b="1" dirty="0">
                <a:latin typeface="+mn-lt"/>
              </a:rPr>
              <a:t> 4. Love as the Outflow of Knowing God:   </a:t>
            </a:r>
          </a:p>
          <a:p>
            <a:r>
              <a:rPr lang="en-US" sz="1400" dirty="0">
                <a:latin typeface="+mn-lt"/>
              </a:rPr>
              <a:t>   Another test of knowing the Lord is found in love.  </a:t>
            </a:r>
          </a:p>
          <a:p>
            <a:pPr lvl="1"/>
            <a:r>
              <a:rPr lang="en-US" sz="1400" b="1" dirty="0">
                <a:latin typeface="+mn-lt"/>
              </a:rPr>
              <a:t>1 John 4:7–12 </a:t>
            </a:r>
            <a:r>
              <a:rPr lang="en-US" sz="1400" dirty="0">
                <a:latin typeface="+mn-lt"/>
              </a:rPr>
              <a:t>: </a:t>
            </a:r>
            <a:r>
              <a:rPr lang="en-US" sz="1400" b="0" i="1" u="none" strike="noStrike" baseline="0" dirty="0">
                <a:latin typeface="+mn-lt"/>
              </a:rPr>
              <a:t>Beloved, let us love one another, for love is of God; and </a:t>
            </a:r>
            <a:r>
              <a:rPr lang="en-US" sz="1400" b="1" i="1" u="sng" strike="noStrike" baseline="0" dirty="0">
                <a:latin typeface="+mn-lt"/>
              </a:rPr>
              <a:t>everyone who loves is born of God and knows God</a:t>
            </a:r>
            <a:r>
              <a:rPr lang="en-US" sz="1400" b="0" i="1" u="none" strike="noStrike" baseline="0" dirty="0">
                <a:latin typeface="+mn-lt"/>
              </a:rPr>
              <a:t>. </a:t>
            </a:r>
            <a:r>
              <a:rPr lang="en-US" sz="1400" b="1" i="1" u="sng" strike="noStrike" baseline="0" dirty="0">
                <a:latin typeface="+mn-lt"/>
              </a:rPr>
              <a:t>He who does not love does not know God</a:t>
            </a:r>
            <a:r>
              <a:rPr lang="en-US" sz="1400" b="0" i="1" u="none" strike="noStrike" baseline="0" dirty="0">
                <a:latin typeface="+mn-lt"/>
              </a:rPr>
              <a:t>, for God is love. In this the love of God was manifested toward us, that God has sent His only begotten Son into the world, that we might live through Him. In this is love, not that we loved God, but that He loved us and sent His Son to be the propitiation for our sins. Beloved, if God so loved us, we also ought to love one another. No one has seen God at any time. If we love one another, God abides in us, and His love has been perfected in us. </a:t>
            </a:r>
            <a:endParaRPr lang="en-US" sz="1400" i="1" dirty="0">
              <a:latin typeface="+mn-lt"/>
            </a:endParaRPr>
          </a:p>
          <a:p>
            <a:endParaRPr lang="en-US" sz="1400" dirty="0">
              <a:latin typeface="+mn-lt"/>
            </a:endParaRPr>
          </a:p>
          <a:p>
            <a:r>
              <a:rPr lang="en-US" sz="1400" b="1" dirty="0">
                <a:latin typeface="+mn-lt"/>
              </a:rPr>
              <a:t> 5. The Witness of the Holy Spirit:   </a:t>
            </a:r>
          </a:p>
          <a:p>
            <a:r>
              <a:rPr lang="en-US" sz="1400" dirty="0">
                <a:latin typeface="+mn-lt"/>
              </a:rPr>
              <a:t> Under the new covenant, God’s Spirit dwells within believers:  </a:t>
            </a:r>
          </a:p>
          <a:p>
            <a:pPr marR="0" lvl="1" algn="l" rtl="0"/>
            <a:r>
              <a:rPr lang="en-US" sz="1400" b="1" dirty="0">
                <a:latin typeface="+mn-lt"/>
              </a:rPr>
              <a:t>Romans 8:12-17 : </a:t>
            </a:r>
            <a:r>
              <a:rPr lang="en-US" sz="1400" b="0" i="1" u="none" strike="noStrike" baseline="0" dirty="0">
                <a:latin typeface="+mn-lt"/>
              </a:rPr>
              <a:t>Therefore, brethren, we are debtors—not to the flesh, to live according to the flesh. For if you live according to the flesh you will die; but if by the Spirit you put to death the deeds of the body, you will live. </a:t>
            </a:r>
            <a:r>
              <a:rPr lang="en-US" sz="1400" b="1" i="1" u="sng" strike="noStrike" baseline="0" dirty="0">
                <a:latin typeface="+mn-lt"/>
              </a:rPr>
              <a:t>For as many as are led by the Spirit of God, these are sons of God</a:t>
            </a:r>
            <a:r>
              <a:rPr lang="en-US" sz="1400" b="0" i="1" u="none" strike="noStrike" baseline="0" dirty="0">
                <a:latin typeface="+mn-lt"/>
              </a:rPr>
              <a:t>. For you did not receive the spirit of bondage again to fear, but you received the Spirit of adoption by whom we cry out, "Abba, Father." </a:t>
            </a:r>
            <a:r>
              <a:rPr lang="en-US" sz="1400" b="1" i="1" u="sng" strike="noStrike" baseline="0" dirty="0">
                <a:latin typeface="+mn-lt"/>
              </a:rPr>
              <a:t>The Spirit Himself bears witness with our spirit that we are children of God</a:t>
            </a:r>
            <a:r>
              <a:rPr lang="en-US" sz="1400" b="0" i="1" u="none" strike="noStrike" baseline="0" dirty="0">
                <a:latin typeface="+mn-lt"/>
              </a:rPr>
              <a:t>, and if children, then heirs—heirs of God and joint heirs with Christ, if indeed we suffer with Him, that we may also be glorified together. </a:t>
            </a:r>
          </a:p>
          <a:p>
            <a:endParaRPr lang="en-US" sz="1400" dirty="0">
              <a:latin typeface="+mn-lt"/>
            </a:endParaRPr>
          </a:p>
          <a:p>
            <a:r>
              <a:rPr lang="en-US" sz="1400" b="1" dirty="0">
                <a:latin typeface="+mn-lt"/>
              </a:rPr>
              <a:t>Summary:   </a:t>
            </a:r>
          </a:p>
          <a:p>
            <a:r>
              <a:rPr lang="en-US" sz="1400" u="sng" dirty="0">
                <a:latin typeface="+mn-lt"/>
              </a:rPr>
              <a:t>You can know that you know the Lord </a:t>
            </a:r>
            <a:r>
              <a:rPr lang="en-US" sz="1400" dirty="0">
                <a:latin typeface="+mn-lt"/>
              </a:rPr>
              <a:t>when your heart has been changed by Him, when you have come to Him through faith in Jesus Christ, when your life exhibits loving obedience to His commands, and when the Holy Spirit is actively at work within you. This inward transformation, evidenced in loving God and others, marks the reality of the relationship promised in Jeremiah’s prophecy of the new covenant.</a:t>
            </a:r>
          </a:p>
          <a:p>
            <a:endParaRPr lang="en-US" sz="1400" dirty="0">
              <a:latin typeface="+mn-lt"/>
            </a:endParaRPr>
          </a:p>
          <a:p>
            <a:endParaRPr lang="en-US" sz="1400" dirty="0">
              <a:latin typeface="+mn-lt"/>
            </a:endParaRPr>
          </a:p>
          <a:p>
            <a:endParaRPr lang="en-US" dirty="0"/>
          </a:p>
          <a:p>
            <a:endParaRPr lang="en-US" dirty="0"/>
          </a:p>
        </p:txBody>
      </p:sp>
      <p:sp>
        <p:nvSpPr>
          <p:cNvPr id="4" name="Slide Number Placeholder 3">
            <a:extLst>
              <a:ext uri="{FF2B5EF4-FFF2-40B4-BE49-F238E27FC236}">
                <a16:creationId xmlns:a16="http://schemas.microsoft.com/office/drawing/2014/main" id="{055C45F5-66E6-D59F-FDF6-AB351AA559D5}"/>
              </a:ext>
            </a:extLst>
          </p:cNvPr>
          <p:cNvSpPr>
            <a:spLocks noGrp="1"/>
          </p:cNvSpPr>
          <p:nvPr>
            <p:ph type="sldNum" sz="quarter" idx="10"/>
          </p:nvPr>
        </p:nvSpPr>
        <p:spPr/>
        <p:txBody>
          <a:bodyPr/>
          <a:lstStyle/>
          <a:p>
            <a:pPr>
              <a:defRPr/>
            </a:pPr>
            <a:fld id="{07776858-791E-4C8D-8FA3-473B3AFECFAC}" type="slidenum">
              <a:rPr lang="en-US" smtClean="0"/>
              <a:pPr>
                <a:defRPr/>
              </a:pPr>
              <a:t>5</a:t>
            </a:fld>
            <a:endParaRPr lang="en-US"/>
          </a:p>
        </p:txBody>
      </p:sp>
    </p:spTree>
    <p:extLst>
      <p:ext uri="{BB962C8B-B14F-4D97-AF65-F5344CB8AC3E}">
        <p14:creationId xmlns:p14="http://schemas.microsoft.com/office/powerpoint/2010/main" val="144363305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E8F37D-E10E-E313-8310-BED02B19C01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D4FE202-7FB6-B291-DBAC-0C68B627862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4295494-8A0C-E495-5095-299F143B2C60}"/>
              </a:ext>
            </a:extLst>
          </p:cNvPr>
          <p:cNvSpPr>
            <a:spLocks noGrp="1"/>
          </p:cNvSpPr>
          <p:nvPr>
            <p:ph type="body" idx="1"/>
          </p:nvPr>
        </p:nvSpPr>
        <p:spPr/>
        <p:txBody>
          <a:bodyPr>
            <a:normAutofit fontScale="92500"/>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sz="1400" dirty="0"/>
              <a:t>Topical Objectives:</a:t>
            </a:r>
          </a:p>
          <a:p>
            <a:pPr marL="0" marR="0" lvl="0" indent="0" algn="l" defTabSz="914400" rtl="0" eaLnBrk="0" fontAlgn="base" latinLnBrk="0" hangingPunct="0">
              <a:lnSpc>
                <a:spcPct val="100000"/>
              </a:lnSpc>
              <a:spcBef>
                <a:spcPct val="30000"/>
              </a:spcBef>
              <a:spcAft>
                <a:spcPct val="0"/>
              </a:spcAft>
              <a:buClrTx/>
              <a:buSzTx/>
              <a:buFontTx/>
              <a:buNone/>
              <a:tabLst/>
              <a:defRPr/>
            </a:pPr>
            <a:r>
              <a:rPr lang="en-US" sz="1400" dirty="0"/>
              <a:t>1. Establish the Reality of God’s Existence and Moral Law:  </a:t>
            </a:r>
          </a:p>
          <a:p>
            <a:pPr marL="0" marR="0" lvl="0" indent="0" algn="l" defTabSz="914400" rtl="0" eaLnBrk="0" fontAlgn="base" latinLnBrk="0" hangingPunct="0">
              <a:lnSpc>
                <a:spcPct val="100000"/>
              </a:lnSpc>
              <a:spcBef>
                <a:spcPct val="30000"/>
              </a:spcBef>
              <a:spcAft>
                <a:spcPct val="0"/>
              </a:spcAft>
              <a:buClrTx/>
              <a:buSzTx/>
              <a:buFontTx/>
              <a:buNone/>
              <a:tabLst/>
              <a:defRPr/>
            </a:pPr>
            <a:r>
              <a:rPr lang="en-US" sz="1400" dirty="0"/>
              <a:t>   The approach aims to move beyond abstract spiritual discussions and highlight that God has revealed a moral standard (the Ten Commandments) that everyone has broken.</a:t>
            </a:r>
          </a:p>
          <a:p>
            <a:pPr marL="0" marR="0" lvl="0" indent="0" algn="l" defTabSz="914400" rtl="0" eaLnBrk="0" fontAlgn="base" latinLnBrk="0" hangingPunct="0">
              <a:lnSpc>
                <a:spcPct val="100000"/>
              </a:lnSpc>
              <a:spcBef>
                <a:spcPct val="30000"/>
              </a:spcBef>
              <a:spcAft>
                <a:spcPct val="0"/>
              </a:spcAft>
              <a:buClrTx/>
              <a:buSzTx/>
              <a:buFontTx/>
              <a:buNone/>
              <a:tabLst/>
              <a:defRPr/>
            </a:pPr>
            <a:endParaRPr lang="en-US" sz="1400" dirty="0"/>
          </a:p>
          <a:p>
            <a:pPr marL="0" marR="0" lvl="0" indent="0" algn="l" defTabSz="914400" rtl="0" eaLnBrk="0" fontAlgn="base" latinLnBrk="0" hangingPunct="0">
              <a:lnSpc>
                <a:spcPct val="100000"/>
              </a:lnSpc>
              <a:spcBef>
                <a:spcPct val="30000"/>
              </a:spcBef>
              <a:spcAft>
                <a:spcPct val="0"/>
              </a:spcAft>
              <a:buClrTx/>
              <a:buSzTx/>
              <a:buFontTx/>
              <a:buNone/>
              <a:tabLst/>
              <a:defRPr/>
            </a:pPr>
            <a:r>
              <a:rPr lang="en-US" sz="1400" dirty="0"/>
              <a:t>2. Convict the Conscience Through God’s Law:  </a:t>
            </a:r>
          </a:p>
          <a:p>
            <a:pPr marL="0" marR="0" lvl="0" indent="0" algn="l" defTabSz="914400" rtl="0" eaLnBrk="0" fontAlgn="base" latinLnBrk="0" hangingPunct="0">
              <a:lnSpc>
                <a:spcPct val="100000"/>
              </a:lnSpc>
              <a:spcBef>
                <a:spcPct val="30000"/>
              </a:spcBef>
              <a:spcAft>
                <a:spcPct val="0"/>
              </a:spcAft>
              <a:buClrTx/>
              <a:buSzTx/>
              <a:buFontTx/>
              <a:buNone/>
              <a:tabLst/>
              <a:defRPr/>
            </a:pPr>
            <a:r>
              <a:rPr lang="en-US" sz="1400" dirty="0"/>
              <a:t>   By using the Ten Commandments, the method seeks to stir a sense of guilt over personal sin, demonstrating that no one is truly “good” by God’s perfect moral standard.</a:t>
            </a:r>
          </a:p>
          <a:p>
            <a:pPr marL="0" marR="0" lvl="0" indent="0" algn="l" defTabSz="914400" rtl="0" eaLnBrk="0" fontAlgn="base" latinLnBrk="0" hangingPunct="0">
              <a:lnSpc>
                <a:spcPct val="100000"/>
              </a:lnSpc>
              <a:spcBef>
                <a:spcPct val="30000"/>
              </a:spcBef>
              <a:spcAft>
                <a:spcPct val="0"/>
              </a:spcAft>
              <a:buClrTx/>
              <a:buSzTx/>
              <a:buFontTx/>
              <a:buNone/>
              <a:tabLst/>
              <a:defRPr/>
            </a:pPr>
            <a:endParaRPr lang="en-US" sz="1400" dirty="0"/>
          </a:p>
          <a:p>
            <a:pPr marL="0" marR="0" lvl="0" indent="0" algn="l" defTabSz="914400" rtl="0" eaLnBrk="0" fontAlgn="base" latinLnBrk="0" hangingPunct="0">
              <a:lnSpc>
                <a:spcPct val="100000"/>
              </a:lnSpc>
              <a:spcBef>
                <a:spcPct val="30000"/>
              </a:spcBef>
              <a:spcAft>
                <a:spcPct val="0"/>
              </a:spcAft>
              <a:buClrTx/>
              <a:buSzTx/>
              <a:buFontTx/>
              <a:buNone/>
              <a:tabLst/>
              <a:defRPr/>
            </a:pPr>
            <a:r>
              <a:rPr lang="en-US" sz="1400" dirty="0"/>
              <a:t>3. Illustrate the Consequence of Sin (God’s Justice):  </a:t>
            </a:r>
          </a:p>
          <a:p>
            <a:pPr marL="0" marR="0" lvl="0" indent="0" algn="l" defTabSz="914400" rtl="0" eaLnBrk="0" fontAlgn="base" latinLnBrk="0" hangingPunct="0">
              <a:lnSpc>
                <a:spcPct val="100000"/>
              </a:lnSpc>
              <a:spcBef>
                <a:spcPct val="30000"/>
              </a:spcBef>
              <a:spcAft>
                <a:spcPct val="0"/>
              </a:spcAft>
              <a:buClrTx/>
              <a:buSzTx/>
              <a:buFontTx/>
              <a:buNone/>
              <a:tabLst/>
              <a:defRPr/>
            </a:pPr>
            <a:r>
              <a:rPr lang="en-US" sz="1400" dirty="0"/>
              <a:t>   The goal is to show that sin is not trivial. It brings serious consequence—eternal separation from God—because God is just and must punish wrongdoing.</a:t>
            </a:r>
          </a:p>
          <a:p>
            <a:pPr marL="0" marR="0" lvl="0" indent="0" algn="l" defTabSz="914400" rtl="0" eaLnBrk="0" fontAlgn="base" latinLnBrk="0" hangingPunct="0">
              <a:lnSpc>
                <a:spcPct val="100000"/>
              </a:lnSpc>
              <a:spcBef>
                <a:spcPct val="30000"/>
              </a:spcBef>
              <a:spcAft>
                <a:spcPct val="0"/>
              </a:spcAft>
              <a:buClrTx/>
              <a:buSzTx/>
              <a:buFontTx/>
              <a:buNone/>
              <a:tabLst/>
              <a:defRPr/>
            </a:pPr>
            <a:endParaRPr lang="en-US" sz="1400" dirty="0"/>
          </a:p>
          <a:p>
            <a:pPr marL="0" marR="0" lvl="0" indent="0" algn="l" defTabSz="914400" rtl="0" eaLnBrk="0" fontAlgn="base" latinLnBrk="0" hangingPunct="0">
              <a:lnSpc>
                <a:spcPct val="100000"/>
              </a:lnSpc>
              <a:spcBef>
                <a:spcPct val="30000"/>
              </a:spcBef>
              <a:spcAft>
                <a:spcPct val="0"/>
              </a:spcAft>
              <a:buClrTx/>
              <a:buSzTx/>
              <a:buFontTx/>
              <a:buNone/>
              <a:tabLst/>
              <a:defRPr/>
            </a:pPr>
            <a:r>
              <a:rPr lang="en-US" sz="1400" dirty="0"/>
              <a:t>4. Present the Gospel of Grace:  </a:t>
            </a:r>
          </a:p>
          <a:p>
            <a:pPr marL="0" marR="0" lvl="0" indent="0" algn="l" defTabSz="914400" rtl="0" eaLnBrk="0" fontAlgn="base" latinLnBrk="0" hangingPunct="0">
              <a:lnSpc>
                <a:spcPct val="100000"/>
              </a:lnSpc>
              <a:spcBef>
                <a:spcPct val="30000"/>
              </a:spcBef>
              <a:spcAft>
                <a:spcPct val="0"/>
              </a:spcAft>
              <a:buClrTx/>
              <a:buSzTx/>
              <a:buFontTx/>
              <a:buNone/>
              <a:tabLst/>
              <a:defRPr/>
            </a:pPr>
            <a:r>
              <a:rPr lang="en-US" sz="1400" dirty="0"/>
              <a:t>   After conviction comes the good news: Jesus Christ fulfilled the Law, paid the penalty for sin through His death and resurrection, and offers forgiveness and eternal life as a free gift.</a:t>
            </a:r>
          </a:p>
          <a:p>
            <a:pPr marL="0" marR="0" lvl="0" indent="0" algn="l" defTabSz="914400" rtl="0" eaLnBrk="0" fontAlgn="base" latinLnBrk="0" hangingPunct="0">
              <a:lnSpc>
                <a:spcPct val="100000"/>
              </a:lnSpc>
              <a:spcBef>
                <a:spcPct val="30000"/>
              </a:spcBef>
              <a:spcAft>
                <a:spcPct val="0"/>
              </a:spcAft>
              <a:buClrTx/>
              <a:buSzTx/>
              <a:buFontTx/>
              <a:buNone/>
              <a:tabLst/>
              <a:defRPr/>
            </a:pPr>
            <a:endParaRPr lang="en-US" sz="1400" dirty="0"/>
          </a:p>
          <a:p>
            <a:pPr marL="0" marR="0" lvl="0" indent="0" algn="l" defTabSz="914400" rtl="0" eaLnBrk="0" fontAlgn="base" latinLnBrk="0" hangingPunct="0">
              <a:lnSpc>
                <a:spcPct val="100000"/>
              </a:lnSpc>
              <a:spcBef>
                <a:spcPct val="30000"/>
              </a:spcBef>
              <a:spcAft>
                <a:spcPct val="0"/>
              </a:spcAft>
              <a:buClrTx/>
              <a:buSzTx/>
              <a:buFontTx/>
              <a:buNone/>
              <a:tabLst/>
              <a:defRPr/>
            </a:pPr>
            <a:r>
              <a:rPr lang="en-US" sz="1400" dirty="0"/>
              <a:t>5. Call for Repentance, Faith, and a Covenant Relationship via Baptism </a:t>
            </a:r>
          </a:p>
          <a:p>
            <a:pPr marL="0" marR="0" lvl="0" indent="0" algn="l" defTabSz="914400" rtl="0" eaLnBrk="0" fontAlgn="base" latinLnBrk="0" hangingPunct="0">
              <a:lnSpc>
                <a:spcPct val="100000"/>
              </a:lnSpc>
              <a:spcBef>
                <a:spcPct val="30000"/>
              </a:spcBef>
              <a:spcAft>
                <a:spcPct val="0"/>
              </a:spcAft>
              <a:buClrTx/>
              <a:buSzTx/>
              <a:buFontTx/>
              <a:buNone/>
              <a:tabLst/>
              <a:defRPr/>
            </a:pPr>
            <a:r>
              <a:rPr lang="en-US" sz="1400" dirty="0"/>
              <a:t>   The final objective is to encourage the person to repent (turn from sin) and trust in Jesus Christ alone for salvation, leading to a reconciled relationship with God.</a:t>
            </a:r>
          </a:p>
        </p:txBody>
      </p:sp>
      <p:sp>
        <p:nvSpPr>
          <p:cNvPr id="4" name="Slide Number Placeholder 3">
            <a:extLst>
              <a:ext uri="{FF2B5EF4-FFF2-40B4-BE49-F238E27FC236}">
                <a16:creationId xmlns:a16="http://schemas.microsoft.com/office/drawing/2014/main" id="{12D96F63-DC04-233D-1BE6-178A8A8D5D07}"/>
              </a:ext>
            </a:extLst>
          </p:cNvPr>
          <p:cNvSpPr>
            <a:spLocks noGrp="1"/>
          </p:cNvSpPr>
          <p:nvPr>
            <p:ph type="sldNum" sz="quarter" idx="5"/>
          </p:nvPr>
        </p:nvSpPr>
        <p:spPr/>
        <p:txBody>
          <a:bodyPr/>
          <a:lstStyle/>
          <a:p>
            <a:pPr>
              <a:defRPr/>
            </a:pPr>
            <a:fld id="{07776858-791E-4C8D-8FA3-473B3AFECFAC}" type="slidenum">
              <a:rPr lang="en-US" smtClean="0"/>
              <a:pPr>
                <a:defRPr/>
              </a:pPr>
              <a:t>6</a:t>
            </a:fld>
            <a:endParaRPr lang="en-US"/>
          </a:p>
        </p:txBody>
      </p:sp>
    </p:spTree>
    <p:extLst>
      <p:ext uri="{BB962C8B-B14F-4D97-AF65-F5344CB8AC3E}">
        <p14:creationId xmlns:p14="http://schemas.microsoft.com/office/powerpoint/2010/main" val="121413230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pPr marL="0" lvl="1" defTabSz="941100"/>
            <a:r>
              <a:rPr lang="en-US" dirty="0"/>
              <a:t>Naturalism – the belief that nature is all that there is.   </a:t>
            </a:r>
          </a:p>
          <a:p>
            <a:pPr marL="0" lvl="1" defTabSz="941100"/>
            <a:endParaRPr lang="en-US" dirty="0"/>
          </a:p>
          <a:p>
            <a:pPr marL="0" lvl="1" defTabSz="941100"/>
            <a:r>
              <a:rPr lang="en-US" b="1" dirty="0"/>
              <a:t>Creation prove</a:t>
            </a:r>
            <a:r>
              <a:rPr lang="en-US" b="1" baseline="0" dirty="0"/>
              <a:t>s that there is a Creator.</a:t>
            </a:r>
            <a:endParaRPr lang="en-US" b="1" dirty="0"/>
          </a:p>
          <a:p>
            <a:endParaRPr lang="en-US" dirty="0"/>
          </a:p>
          <a:p>
            <a:pPr marL="0" lvl="1" defTabSz="941100"/>
            <a:r>
              <a:rPr lang="en-US" dirty="0"/>
              <a:t>The Empiricist looks to nature for truth; what he observes.   God reveals Himself to men of this type via his creation.</a:t>
            </a:r>
          </a:p>
          <a:p>
            <a:pPr marL="0" lvl="1" defTabSz="941100"/>
            <a:endParaRPr lang="en-US" dirty="0"/>
          </a:p>
          <a:p>
            <a:pPr marL="0" lvl="1" defTabSz="941100"/>
            <a:r>
              <a:rPr lang="en-US" dirty="0"/>
              <a:t>Uniformity of Nature (e.g. the “Laws of Nature” being uniform across time &amp; space) speak to the character of God.   Such uniformity cannot be explained if the natural world were based upon mere randomness.   </a:t>
            </a:r>
          </a:p>
          <a:p>
            <a:pPr marL="0" lvl="1" defTabSz="941100"/>
            <a:endParaRPr lang="en-US" dirty="0"/>
          </a:p>
          <a:p>
            <a:pPr marL="0" lvl="1" defTabSz="941100"/>
            <a:r>
              <a:rPr lang="en-US" dirty="0"/>
              <a:t>e.g.    “Why is the universe discoverable?   Understandable?   Bound by natural laws?   Comprising information?”</a:t>
            </a:r>
          </a:p>
          <a:p>
            <a:pPr marL="0" lvl="1" defTabSz="941100"/>
            <a:endParaRPr lang="en-US" dirty="0"/>
          </a:p>
          <a:p>
            <a:r>
              <a:rPr lang="en-US" dirty="0"/>
              <a:t>The universe reflects</a:t>
            </a:r>
            <a:r>
              <a:rPr lang="en-US" baseline="0" dirty="0"/>
              <a:t> the unchanging character of God.   We are made in his image and thus able to understand his creation.</a:t>
            </a:r>
            <a:endParaRPr lang="en-US" dirty="0"/>
          </a:p>
        </p:txBody>
      </p:sp>
      <p:sp>
        <p:nvSpPr>
          <p:cNvPr id="4" name="Slide Number Placeholder 3"/>
          <p:cNvSpPr>
            <a:spLocks noGrp="1"/>
          </p:cNvSpPr>
          <p:nvPr>
            <p:ph type="sldNum" sz="quarter" idx="10"/>
          </p:nvPr>
        </p:nvSpPr>
        <p:spPr/>
        <p:txBody>
          <a:bodyPr/>
          <a:lstStyle/>
          <a:p>
            <a:pPr>
              <a:defRPr/>
            </a:pPr>
            <a:fld id="{07776858-791E-4C8D-8FA3-473B3AFECFAC}" type="slidenum">
              <a:rPr lang="en-US" smtClean="0"/>
              <a:pPr>
                <a:defRPr/>
              </a:pPr>
              <a:t>7</a:t>
            </a:fld>
            <a:endParaRPr lang="en-US"/>
          </a:p>
        </p:txBody>
      </p:sp>
    </p:spTree>
    <p:extLst>
      <p:ext uri="{BB962C8B-B14F-4D97-AF65-F5344CB8AC3E}">
        <p14:creationId xmlns:p14="http://schemas.microsoft.com/office/powerpoint/2010/main" val="301618314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62500" lnSpcReduction="20000"/>
          </a:bodyPr>
          <a:lstStyle/>
          <a:p>
            <a:pPr marL="0" lvl="1" defTabSz="941100"/>
            <a:r>
              <a:rPr lang="en-US" sz="1400" dirty="0"/>
              <a:t>The Moral Man looks inward for truth; what he reasons (i.e. Logic, Conscience).</a:t>
            </a:r>
            <a:r>
              <a:rPr lang="en-US" sz="1400" baseline="0" dirty="0"/>
              <a:t>   </a:t>
            </a:r>
          </a:p>
          <a:p>
            <a:pPr marL="0" lvl="1" defTabSz="941100"/>
            <a:endParaRPr lang="en-US" sz="1400" baseline="0" dirty="0"/>
          </a:p>
          <a:p>
            <a:pPr marL="0" lvl="1" defTabSz="941100"/>
            <a:r>
              <a:rPr lang="en-US" sz="1400" b="1" baseline="0" dirty="0"/>
              <a:t>The “Will of God” observable in nature.   (The Law of Moses may be considered a revealed specification of this natural law.)</a:t>
            </a:r>
          </a:p>
          <a:p>
            <a:pPr marL="0" lvl="1" defTabSz="941100"/>
            <a:endParaRPr lang="en-US" sz="1400" baseline="0" dirty="0"/>
          </a:p>
          <a:p>
            <a:pPr marL="0" lvl="1" defTabSz="941100"/>
            <a:r>
              <a:rPr lang="en-US" sz="1400" i="1" baseline="0" dirty="0"/>
              <a:t>Moral laws don’t describe what is; they prescribe what ought to be.   They are not simply a description of the way men behave, and are not known by observing what men do.   If they were, our idea of morality would surely be different.  Instead, they tell us what men ought to do, whether they are doing it or not.  Thus, any moral “ought” comes from beyond the natural universe.  You can’t explain it by anything that happens in the universe. It transcends the natural order and requires a transcendent cause.   </a:t>
            </a:r>
            <a:r>
              <a:rPr lang="en-US" sz="1400" baseline="0" dirty="0"/>
              <a:t>(“When Skeptics Ask”, Norman L. Geisler)</a:t>
            </a:r>
            <a:endParaRPr lang="en-US" sz="1400" dirty="0"/>
          </a:p>
          <a:p>
            <a:pPr marL="0" lvl="1" defTabSz="941100"/>
            <a:endParaRPr lang="en-US" sz="1400" dirty="0"/>
          </a:p>
          <a:p>
            <a:pPr marL="0" lvl="1" defTabSz="941100"/>
            <a:r>
              <a:rPr lang="en-US" sz="1400" dirty="0"/>
              <a:t>God has reveals Himself to this type of man within the concepts of right and wrong (via the conscience).   </a:t>
            </a:r>
          </a:p>
          <a:p>
            <a:pPr marL="0" lvl="1" defTabSz="941100"/>
            <a:endParaRPr lang="en-US" sz="1400" dirty="0"/>
          </a:p>
          <a:p>
            <a:pPr marL="0" lvl="1" defTabSz="941100"/>
            <a:r>
              <a:rPr lang="en-US" sz="1400" dirty="0"/>
              <a:t>Morals</a:t>
            </a:r>
            <a:r>
              <a:rPr lang="en-US" sz="1400" baseline="0" dirty="0"/>
              <a:t> reflect the character of God.   We are made in His image and thus able to reason using logic of which he is the source.</a:t>
            </a:r>
          </a:p>
          <a:p>
            <a:pPr marL="0" lvl="1" defTabSz="941100"/>
            <a:endParaRPr lang="en-US" sz="1400" baseline="0" dirty="0"/>
          </a:p>
          <a:p>
            <a:r>
              <a:rPr lang="en-US" sz="1400" b="1" kern="1200" dirty="0">
                <a:solidFill>
                  <a:schemeClr val="tx1"/>
                </a:solidFill>
                <a:effectLst/>
                <a:latin typeface="+mn-lt"/>
                <a:ea typeface="ＭＳ Ｐゴシック" pitchFamily="-106" charset="-128"/>
                <a:cs typeface="ＭＳ Ｐゴシック" pitchFamily="-106" charset="-128"/>
              </a:rPr>
              <a:t>Practical Example</a:t>
            </a:r>
          </a:p>
          <a:p>
            <a:endParaRPr lang="en-US" sz="1400" kern="1200" dirty="0">
              <a:solidFill>
                <a:schemeClr val="tx1"/>
              </a:solidFill>
              <a:effectLst/>
              <a:latin typeface="+mn-lt"/>
              <a:ea typeface="ＭＳ Ｐゴシック" pitchFamily="-106" charset="-128"/>
              <a:cs typeface="ＭＳ Ｐゴシック" pitchFamily="-106" charset="-128"/>
            </a:endParaRPr>
          </a:p>
          <a:p>
            <a:r>
              <a:rPr lang="en-US" sz="1400" kern="1200" dirty="0">
                <a:solidFill>
                  <a:schemeClr val="tx1"/>
                </a:solidFill>
                <a:effectLst/>
                <a:latin typeface="+mn-lt"/>
                <a:ea typeface="ＭＳ Ｐゴシック" pitchFamily="-106" charset="-128"/>
                <a:cs typeface="ＭＳ Ｐゴシック" pitchFamily="-106" charset="-128"/>
              </a:rPr>
              <a:t>Made evident using questions from the Law.</a:t>
            </a:r>
          </a:p>
          <a:p>
            <a:endParaRPr lang="en-US" sz="1400" kern="1200" dirty="0">
              <a:solidFill>
                <a:schemeClr val="tx1"/>
              </a:solidFill>
              <a:effectLst/>
              <a:latin typeface="+mn-lt"/>
              <a:ea typeface="ＭＳ Ｐゴシック" pitchFamily="-106" charset="-128"/>
              <a:cs typeface="ＭＳ Ｐゴシック" pitchFamily="-106" charset="-128"/>
            </a:endParaRPr>
          </a:p>
          <a:p>
            <a:r>
              <a:rPr lang="en-US" sz="1400" kern="1200" dirty="0">
                <a:solidFill>
                  <a:schemeClr val="tx1"/>
                </a:solidFill>
                <a:effectLst/>
                <a:latin typeface="+mn-lt"/>
                <a:ea typeface="ＭＳ Ｐゴシック" pitchFamily="-106" charset="-128"/>
                <a:cs typeface="ＭＳ Ｐゴシック" pitchFamily="-106" charset="-128"/>
              </a:rPr>
              <a:t>Questions:</a:t>
            </a:r>
          </a:p>
          <a:p>
            <a:pPr lvl="0"/>
            <a:r>
              <a:rPr lang="en-US" sz="1400" kern="1200" dirty="0">
                <a:solidFill>
                  <a:schemeClr val="tx1"/>
                </a:solidFill>
                <a:effectLst/>
                <a:latin typeface="+mn-lt"/>
                <a:ea typeface="ＭＳ Ｐゴシック" pitchFamily="-106" charset="-128"/>
                <a:cs typeface="ＭＳ Ｐゴシック" pitchFamily="-106" charset="-128"/>
              </a:rPr>
              <a:t>Would you consider yourself to be a good person?</a:t>
            </a:r>
          </a:p>
          <a:p>
            <a:pPr lvl="0"/>
            <a:r>
              <a:rPr lang="en-US" sz="1400" kern="1200" dirty="0">
                <a:solidFill>
                  <a:schemeClr val="tx1"/>
                </a:solidFill>
                <a:effectLst/>
                <a:latin typeface="+mn-lt"/>
                <a:ea typeface="ＭＳ Ｐゴシック" pitchFamily="-106" charset="-128"/>
                <a:cs typeface="ＭＳ Ｐゴシック" pitchFamily="-106" charset="-128"/>
              </a:rPr>
              <a:t>Do you think that you have kept the Ten Commandments?</a:t>
            </a:r>
          </a:p>
          <a:p>
            <a:pPr lvl="1"/>
            <a:r>
              <a:rPr lang="en-US" sz="1400" kern="1200" dirty="0">
                <a:solidFill>
                  <a:schemeClr val="tx1"/>
                </a:solidFill>
                <a:effectLst/>
                <a:latin typeface="+mn-lt"/>
                <a:ea typeface="ＭＳ Ｐゴシック" pitchFamily="-106" charset="-128"/>
                <a:cs typeface="+mn-cs"/>
              </a:rPr>
              <a:t>Have you ever lied?</a:t>
            </a:r>
          </a:p>
          <a:p>
            <a:pPr lvl="1"/>
            <a:r>
              <a:rPr lang="en-US" sz="1400" kern="1200" dirty="0">
                <a:solidFill>
                  <a:schemeClr val="tx1"/>
                </a:solidFill>
                <a:effectLst/>
                <a:latin typeface="+mn-lt"/>
                <a:ea typeface="ＭＳ Ｐゴシック" pitchFamily="-106" charset="-128"/>
                <a:cs typeface="+mn-cs"/>
              </a:rPr>
              <a:t>Have you ever stolen something?</a:t>
            </a:r>
          </a:p>
          <a:p>
            <a:pPr lvl="1"/>
            <a:r>
              <a:rPr lang="en-US" sz="1400" kern="1200" dirty="0">
                <a:solidFill>
                  <a:schemeClr val="tx1"/>
                </a:solidFill>
                <a:effectLst/>
                <a:latin typeface="+mn-lt"/>
                <a:ea typeface="ＭＳ Ｐゴシック" pitchFamily="-106" charset="-128"/>
                <a:cs typeface="+mn-cs"/>
              </a:rPr>
              <a:t>Have you committed adultery?   Perhaps even in your thoughts?</a:t>
            </a:r>
          </a:p>
          <a:p>
            <a:pPr lvl="1"/>
            <a:r>
              <a:rPr lang="en-US" sz="1400" kern="1200" dirty="0">
                <a:solidFill>
                  <a:schemeClr val="tx1"/>
                </a:solidFill>
                <a:effectLst/>
                <a:latin typeface="+mn-lt"/>
                <a:ea typeface="ＭＳ Ｐゴシック" pitchFamily="-106" charset="-128"/>
                <a:cs typeface="+mn-cs"/>
              </a:rPr>
              <a:t>Have you disobeyed and dishonored your parents?</a:t>
            </a:r>
          </a:p>
          <a:p>
            <a:pPr lvl="1"/>
            <a:endParaRPr lang="en-US" sz="1400" kern="1200" dirty="0">
              <a:solidFill>
                <a:schemeClr val="tx1"/>
              </a:solidFill>
              <a:effectLst/>
              <a:latin typeface="+mn-lt"/>
              <a:ea typeface="ＭＳ Ｐゴシック" pitchFamily="-106" charset="-128"/>
              <a:cs typeface="+mn-cs"/>
            </a:endParaRPr>
          </a:p>
          <a:p>
            <a:pPr lvl="0"/>
            <a:r>
              <a:rPr lang="en-US" sz="1400" kern="1200" dirty="0">
                <a:solidFill>
                  <a:schemeClr val="tx1"/>
                </a:solidFill>
                <a:effectLst/>
                <a:latin typeface="+mn-lt"/>
                <a:ea typeface="ＭＳ Ｐゴシック" pitchFamily="-106" charset="-128"/>
                <a:cs typeface="ＭＳ Ｐゴシック" pitchFamily="-106" charset="-128"/>
              </a:rPr>
              <a:t>If God were to judge you by the Ten Commandments, do you think you would be innocent or guilty?</a:t>
            </a:r>
          </a:p>
          <a:p>
            <a:pPr lvl="0"/>
            <a:r>
              <a:rPr lang="en-US" sz="1400" kern="1200" dirty="0">
                <a:solidFill>
                  <a:schemeClr val="tx1"/>
                </a:solidFill>
                <a:effectLst/>
                <a:latin typeface="+mn-lt"/>
                <a:ea typeface="ＭＳ Ｐゴシック" pitchFamily="-106" charset="-128"/>
                <a:cs typeface="ＭＳ Ｐゴシック" pitchFamily="-106" charset="-128"/>
              </a:rPr>
              <a:t>Are you aware of the Law of Sin and Death?   Do you think that applies to you too?</a:t>
            </a:r>
          </a:p>
          <a:p>
            <a:pPr lvl="0"/>
            <a:r>
              <a:rPr lang="en-US" sz="1400" kern="1200" dirty="0">
                <a:solidFill>
                  <a:schemeClr val="tx1"/>
                </a:solidFill>
                <a:effectLst/>
                <a:latin typeface="+mn-lt"/>
                <a:ea typeface="ＭＳ Ｐゴシック" pitchFamily="-106" charset="-128"/>
                <a:cs typeface="ＭＳ Ｐゴシック" pitchFamily="-106" charset="-128"/>
              </a:rPr>
              <a:t>Do you think that you would escape the consequences of this law?</a:t>
            </a:r>
          </a:p>
          <a:p>
            <a:pPr lvl="0"/>
            <a:endParaRPr lang="en-US" sz="1400" kern="1200" dirty="0">
              <a:solidFill>
                <a:schemeClr val="tx1"/>
              </a:solidFill>
              <a:effectLst/>
              <a:latin typeface="+mn-lt"/>
              <a:ea typeface="ＭＳ Ｐゴシック" pitchFamily="-106" charset="-128"/>
              <a:cs typeface="ＭＳ Ｐゴシック" pitchFamily="-106" charset="-128"/>
            </a:endParaRPr>
          </a:p>
          <a:p>
            <a:r>
              <a:rPr lang="en-US" sz="1400" kern="1200" dirty="0">
                <a:solidFill>
                  <a:schemeClr val="tx1"/>
                </a:solidFill>
                <a:effectLst/>
                <a:latin typeface="+mn-lt"/>
                <a:ea typeface="ＭＳ Ｐゴシック" pitchFamily="-106" charset="-128"/>
                <a:cs typeface="ＭＳ Ｐゴシック" pitchFamily="-106" charset="-128"/>
              </a:rPr>
              <a:t>Follow-on Questions:</a:t>
            </a:r>
          </a:p>
          <a:p>
            <a:pPr lvl="0"/>
            <a:r>
              <a:rPr lang="en-US" sz="1400" kern="1200" dirty="0">
                <a:solidFill>
                  <a:schemeClr val="tx1"/>
                </a:solidFill>
                <a:effectLst/>
                <a:latin typeface="+mn-lt"/>
                <a:ea typeface="ＭＳ Ｐゴシック" pitchFamily="-106" charset="-128"/>
                <a:cs typeface="ＭＳ Ｐゴシック" pitchFamily="-106" charset="-128"/>
              </a:rPr>
              <a:t>Does that concern you?</a:t>
            </a:r>
          </a:p>
          <a:p>
            <a:pPr lvl="0"/>
            <a:r>
              <a:rPr lang="en-US" sz="1400" kern="1200" dirty="0">
                <a:solidFill>
                  <a:schemeClr val="tx1"/>
                </a:solidFill>
                <a:effectLst/>
                <a:latin typeface="+mn-lt"/>
                <a:ea typeface="ＭＳ Ｐゴシック" pitchFamily="-106" charset="-128"/>
                <a:cs typeface="ＭＳ Ｐゴシック" pitchFamily="-106" charset="-128"/>
              </a:rPr>
              <a:t>Did you know that Jesus overcame the Law of Sin and Death for all humanity?   </a:t>
            </a:r>
          </a:p>
          <a:p>
            <a:pPr lvl="0"/>
            <a:r>
              <a:rPr lang="en-US" sz="1400" kern="1200" dirty="0">
                <a:solidFill>
                  <a:schemeClr val="tx1"/>
                </a:solidFill>
                <a:effectLst/>
                <a:latin typeface="+mn-lt"/>
                <a:ea typeface="ＭＳ Ｐゴシック" pitchFamily="-106" charset="-128"/>
                <a:cs typeface="ＭＳ Ｐゴシック" pitchFamily="-106" charset="-128"/>
              </a:rPr>
              <a:t>Do you want to know more about how to become “right” with God?</a:t>
            </a:r>
            <a:endParaRPr lang="en-US" sz="1400" dirty="0"/>
          </a:p>
          <a:p>
            <a:endParaRPr lang="en-US" dirty="0"/>
          </a:p>
        </p:txBody>
      </p:sp>
      <p:sp>
        <p:nvSpPr>
          <p:cNvPr id="4" name="Slide Number Placeholder 3"/>
          <p:cNvSpPr>
            <a:spLocks noGrp="1"/>
          </p:cNvSpPr>
          <p:nvPr>
            <p:ph type="sldNum" sz="quarter" idx="10"/>
          </p:nvPr>
        </p:nvSpPr>
        <p:spPr/>
        <p:txBody>
          <a:bodyPr/>
          <a:lstStyle/>
          <a:p>
            <a:pPr>
              <a:defRPr/>
            </a:pPr>
            <a:fld id="{07776858-791E-4C8D-8FA3-473B3AFECFAC}" type="slidenum">
              <a:rPr lang="en-US" smtClean="0"/>
              <a:pPr>
                <a:defRPr/>
              </a:pPr>
              <a:t>8</a:t>
            </a:fld>
            <a:endParaRPr lang="en-US"/>
          </a:p>
        </p:txBody>
      </p:sp>
    </p:spTree>
    <p:extLst>
      <p:ext uri="{BB962C8B-B14F-4D97-AF65-F5344CB8AC3E}">
        <p14:creationId xmlns:p14="http://schemas.microsoft.com/office/powerpoint/2010/main" val="348862270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77500" lnSpcReduction="20000"/>
          </a:bodyPr>
          <a:lstStyle/>
          <a:p>
            <a:pPr marL="0" lvl="1" defTabSz="941100"/>
            <a:r>
              <a:rPr lang="en-US" sz="1400" dirty="0"/>
              <a:t>The Religious Man looks to religion for truth; what he believes.</a:t>
            </a:r>
            <a:r>
              <a:rPr lang="en-US" sz="1400" baseline="0" dirty="0"/>
              <a:t>   He recognizes the Sin Nature of Man and seeks to “work” his way to a “right” relationship with his god.</a:t>
            </a:r>
            <a:r>
              <a:rPr lang="en-US" sz="1400" dirty="0"/>
              <a:t>  </a:t>
            </a:r>
          </a:p>
          <a:p>
            <a:pPr marL="0" lvl="1" defTabSz="941100"/>
            <a:endParaRPr lang="en-US" sz="1400" dirty="0"/>
          </a:p>
          <a:p>
            <a:pPr marL="0" lvl="1" defTabSz="941100"/>
            <a:r>
              <a:rPr lang="en-US" sz="1400" dirty="0"/>
              <a:t>God reveals Himself to men of this type via his special revelation of sin under the law (e.g. via the prototypical Jew) and redemption by grace within Christ.</a:t>
            </a:r>
          </a:p>
          <a:p>
            <a:pPr marL="0" lvl="1" defTabSz="941100"/>
            <a:endParaRPr lang="en-US" sz="1400" dirty="0"/>
          </a:p>
          <a:p>
            <a:pPr marL="0" lvl="1" defTabSz="941100"/>
            <a:r>
              <a:rPr lang="en-US" sz="1400" dirty="0"/>
              <a:t>Man says…</a:t>
            </a:r>
          </a:p>
          <a:p>
            <a:endParaRPr lang="en-US" sz="1400" dirty="0"/>
          </a:p>
          <a:p>
            <a:pPr lvl="0"/>
            <a:r>
              <a:rPr lang="en-US" sz="1400" dirty="0"/>
              <a:t>Humanism – man is the measure of all things.</a:t>
            </a:r>
          </a:p>
          <a:p>
            <a:pPr lvl="0"/>
            <a:r>
              <a:rPr lang="en-US" sz="1400" dirty="0"/>
              <a:t>Atheism – god doesn’t exist.</a:t>
            </a:r>
          </a:p>
          <a:p>
            <a:pPr lvl="0"/>
            <a:r>
              <a:rPr lang="en-US" sz="1400" dirty="0"/>
              <a:t>Pantheism – creation</a:t>
            </a:r>
            <a:r>
              <a:rPr lang="en-US" sz="1400" baseline="0" dirty="0"/>
              <a:t> itself is the measure of all things.</a:t>
            </a:r>
            <a:endParaRPr lang="en-US" sz="1400" dirty="0"/>
          </a:p>
          <a:p>
            <a:endParaRPr lang="en-US" sz="1400" dirty="0"/>
          </a:p>
          <a:p>
            <a:r>
              <a:rPr lang="en-US" sz="1400" dirty="0"/>
              <a:t>God</a:t>
            </a:r>
            <a:r>
              <a:rPr lang="en-US" sz="1400" baseline="0" dirty="0"/>
              <a:t> says…</a:t>
            </a:r>
          </a:p>
          <a:p>
            <a:endParaRPr lang="en-US" sz="1400" baseline="0" dirty="0"/>
          </a:p>
          <a:p>
            <a:r>
              <a:rPr lang="en-US" sz="1400" i="1" baseline="0" dirty="0"/>
              <a:t>Hebrews 1:1    “God, who are various times and in various ways spoke in time past to the fathers by the prophets, has in these last days spoken to us by His Son, whom He has appointed heir of all things, through whom also He made the worlds; who being the brightness of His glory and the express image of His person, and upholding all things by the word of His power, when He had by Himself purged our sins, sat down at the right hand of the Majesty on high,…”</a:t>
            </a:r>
          </a:p>
          <a:p>
            <a:r>
              <a:rPr lang="en-US" sz="1400" i="1" baseline="0" dirty="0"/>
              <a:t> </a:t>
            </a:r>
          </a:p>
          <a:p>
            <a:r>
              <a:rPr lang="en-US" sz="1400" baseline="0" dirty="0"/>
              <a:t>Five key questions to focus conversation with non-believers:</a:t>
            </a:r>
          </a:p>
          <a:p>
            <a:endParaRPr lang="en-US" sz="1400" baseline="0" dirty="0"/>
          </a:p>
          <a:p>
            <a:pPr marL="228600" indent="-228600">
              <a:buAutoNum type="arabicPeriod"/>
            </a:pPr>
            <a:r>
              <a:rPr lang="en-US" sz="1400" baseline="0" dirty="0"/>
              <a:t>What do you mean by __________?</a:t>
            </a:r>
          </a:p>
          <a:p>
            <a:pPr marL="228600" indent="-228600">
              <a:buAutoNum type="arabicPeriod"/>
            </a:pPr>
            <a:r>
              <a:rPr lang="en-US" sz="1400" baseline="0" dirty="0"/>
              <a:t>How do you know?</a:t>
            </a:r>
          </a:p>
          <a:p>
            <a:pPr marL="228600" indent="-228600">
              <a:buAutoNum type="arabicPeriod"/>
            </a:pPr>
            <a:r>
              <a:rPr lang="en-US" sz="1400" baseline="0" dirty="0"/>
              <a:t>What difference does that make?</a:t>
            </a:r>
          </a:p>
          <a:p>
            <a:pPr marL="228600" indent="-228600">
              <a:buAutoNum type="arabicPeriod"/>
            </a:pPr>
            <a:r>
              <a:rPr lang="en-US" sz="1400" baseline="0" dirty="0"/>
              <a:t>What if you are wrong?</a:t>
            </a:r>
          </a:p>
          <a:p>
            <a:pPr marL="228600" indent="-228600">
              <a:buAutoNum type="arabicPeriod"/>
            </a:pPr>
            <a:r>
              <a:rPr lang="en-US" sz="1400" baseline="0" dirty="0"/>
              <a:t>What would you accept as evidence?</a:t>
            </a:r>
          </a:p>
          <a:p>
            <a:pPr marL="0" indent="0">
              <a:buNone/>
            </a:pPr>
            <a:endParaRPr lang="en-US" sz="1400" baseline="0" dirty="0"/>
          </a:p>
          <a:p>
            <a:pPr marL="0" indent="0">
              <a:buNone/>
            </a:pPr>
            <a:r>
              <a:rPr lang="en-US" sz="1400" baseline="0" dirty="0"/>
              <a:t>What about semi-Christians?  </a:t>
            </a:r>
          </a:p>
          <a:p>
            <a:pPr marL="228600" indent="-228600">
              <a:buAutoNum type="arabicPeriod"/>
            </a:pPr>
            <a:r>
              <a:rPr lang="en-US" sz="1400" baseline="0" dirty="0"/>
              <a:t>2 Corinthians 13:5  - “examine yourself, test your faith”</a:t>
            </a:r>
          </a:p>
          <a:p>
            <a:pPr marL="228600" indent="-228600">
              <a:buAutoNum type="arabicPeriod"/>
            </a:pPr>
            <a:r>
              <a:rPr lang="en-US" sz="1400" baseline="0" dirty="0"/>
              <a:t>Do you read your Bible often?</a:t>
            </a:r>
          </a:p>
          <a:p>
            <a:pPr marL="0" indent="0">
              <a:buNone/>
            </a:pPr>
            <a:endParaRPr lang="en-US" sz="1400" baseline="0" dirty="0"/>
          </a:p>
          <a:p>
            <a:endParaRPr lang="en-US" i="1" dirty="0"/>
          </a:p>
        </p:txBody>
      </p:sp>
      <p:sp>
        <p:nvSpPr>
          <p:cNvPr id="4" name="Slide Number Placeholder 3"/>
          <p:cNvSpPr>
            <a:spLocks noGrp="1"/>
          </p:cNvSpPr>
          <p:nvPr>
            <p:ph type="sldNum" sz="quarter" idx="10"/>
          </p:nvPr>
        </p:nvSpPr>
        <p:spPr/>
        <p:txBody>
          <a:bodyPr/>
          <a:lstStyle/>
          <a:p>
            <a:pPr>
              <a:defRPr/>
            </a:pPr>
            <a:fld id="{07776858-791E-4C8D-8FA3-473B3AFECFAC}" type="slidenum">
              <a:rPr lang="en-US" smtClean="0"/>
              <a:pPr>
                <a:defRPr/>
              </a:pPr>
              <a:t>9</a:t>
            </a:fld>
            <a:endParaRPr lang="en-US"/>
          </a:p>
        </p:txBody>
      </p:sp>
    </p:spTree>
    <p:extLst>
      <p:ext uri="{BB962C8B-B14F-4D97-AF65-F5344CB8AC3E}">
        <p14:creationId xmlns:p14="http://schemas.microsoft.com/office/powerpoint/2010/main" val="295734423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lnSpcReduction="20000"/>
          </a:bodyPr>
          <a:lstStyle/>
          <a:p>
            <a:r>
              <a:rPr lang="en-US" sz="1400" b="1" dirty="0"/>
              <a:t>An</a:t>
            </a:r>
            <a:r>
              <a:rPr lang="en-US" sz="1400" b="1" baseline="0" dirty="0"/>
              <a:t> example of how Jesus responded to an errant religious system of beliefs…</a:t>
            </a:r>
          </a:p>
          <a:p>
            <a:endParaRPr lang="en-US" sz="1400" baseline="0" dirty="0"/>
          </a:p>
          <a:p>
            <a:pPr marL="0" marR="0" indent="0" algn="l" defTabSz="914400" rtl="0" eaLnBrk="0" fontAlgn="base" latinLnBrk="0" hangingPunct="0">
              <a:lnSpc>
                <a:spcPct val="100000"/>
              </a:lnSpc>
              <a:spcBef>
                <a:spcPct val="30000"/>
              </a:spcBef>
              <a:spcAft>
                <a:spcPct val="0"/>
              </a:spcAft>
              <a:buClrTx/>
              <a:buSzTx/>
              <a:buFontTx/>
              <a:buNone/>
              <a:tabLst/>
              <a:defRPr/>
            </a:pPr>
            <a:r>
              <a:rPr lang="en-US" sz="1400" baseline="0" dirty="0"/>
              <a:t>We should be reminded of Jesus’ words as quoted in </a:t>
            </a:r>
            <a:r>
              <a:rPr lang="en-US" sz="1400" b="1" baseline="0" dirty="0"/>
              <a:t>Matthew 5:18…  “…one jot or one tittle will by no means pass from the law till all is fulfilled.”</a:t>
            </a:r>
          </a:p>
          <a:p>
            <a:pPr marL="0" marR="0" indent="0" algn="l" defTabSz="914400" rtl="0" eaLnBrk="0" fontAlgn="base" latinLnBrk="0" hangingPunct="0">
              <a:lnSpc>
                <a:spcPct val="100000"/>
              </a:lnSpc>
              <a:spcBef>
                <a:spcPct val="30000"/>
              </a:spcBef>
              <a:spcAft>
                <a:spcPct val="0"/>
              </a:spcAft>
              <a:buClrTx/>
              <a:buSzTx/>
              <a:buFontTx/>
              <a:buNone/>
              <a:tabLst/>
              <a:defRPr/>
            </a:pPr>
            <a:endParaRPr lang="en-US" sz="1400" baseline="0" dirty="0"/>
          </a:p>
          <a:p>
            <a:pPr marL="0" marR="0" indent="0" algn="l" defTabSz="914400" rtl="0" eaLnBrk="0" fontAlgn="base" latinLnBrk="0" hangingPunct="0">
              <a:lnSpc>
                <a:spcPct val="100000"/>
              </a:lnSpc>
              <a:spcBef>
                <a:spcPct val="30000"/>
              </a:spcBef>
              <a:spcAft>
                <a:spcPct val="0"/>
              </a:spcAft>
              <a:buClrTx/>
              <a:buSzTx/>
              <a:buFontTx/>
              <a:buNone/>
              <a:tabLst/>
              <a:defRPr/>
            </a:pPr>
            <a:r>
              <a:rPr lang="en-US" sz="1400" kern="1200" dirty="0">
                <a:solidFill>
                  <a:schemeClr val="tx1"/>
                </a:solidFill>
                <a:effectLst/>
                <a:latin typeface="+mn-lt"/>
                <a:ea typeface="ＭＳ Ｐゴシック" pitchFamily="-106" charset="-128"/>
                <a:cs typeface="ＭＳ Ｐゴシック" pitchFamily="-106" charset="-128"/>
              </a:rPr>
              <a:t>The jot is the Hebrew character illustrated here that looks similar to an apostrophe.   It modifies the preceding word to form a ‘possessive’ grammar (e.g. Lord becomes “my Lord”).</a:t>
            </a:r>
            <a:endParaRPr lang="en-US" sz="1400" baseline="0" dirty="0"/>
          </a:p>
          <a:p>
            <a:endParaRPr lang="en-US" sz="1400" baseline="0" dirty="0"/>
          </a:p>
          <a:p>
            <a:pPr marL="0" marR="0" indent="0" algn="l" defTabSz="914400" rtl="0" eaLnBrk="0" fontAlgn="base" latinLnBrk="0" hangingPunct="0">
              <a:lnSpc>
                <a:spcPct val="100000"/>
              </a:lnSpc>
              <a:spcBef>
                <a:spcPct val="30000"/>
              </a:spcBef>
              <a:spcAft>
                <a:spcPct val="0"/>
              </a:spcAft>
              <a:buClrTx/>
              <a:buSzTx/>
              <a:buFontTx/>
              <a:buNone/>
              <a:tabLst/>
              <a:defRPr/>
            </a:pPr>
            <a:r>
              <a:rPr lang="en-US" sz="1400" baseline="0" dirty="0"/>
              <a:t>Jesus used this passage (Psalm 110:1) to confuse the Pharisees who could not reconcile the concept of “Son of God” versus “Son of David” (whose throne they regard as that upon which the Messiah must be coming to fulfill).</a:t>
            </a:r>
          </a:p>
          <a:p>
            <a:endParaRPr lang="en-US" sz="1400" baseline="0" dirty="0"/>
          </a:p>
          <a:p>
            <a:r>
              <a:rPr lang="en-US" sz="1400" b="1" baseline="0" dirty="0"/>
              <a:t>“The Son of David” versus “The Son of GOD”     Matthew 22:34-46 (41-46)     (also:  Mark 12;   Luke 20;   Acts 2)</a:t>
            </a:r>
          </a:p>
          <a:p>
            <a:endParaRPr lang="en-US" sz="1400" baseline="0" dirty="0"/>
          </a:p>
          <a:p>
            <a:r>
              <a:rPr lang="en-US" sz="1400" baseline="0" dirty="0"/>
              <a:t>The Jewish religious leaders were incorrectly focused on the Davidic Kingdom aspect of prophetic scripture.   They expected (perhaps demanded) God to provide a Messiah that would rule the Earth from Jerusalem.   Jesus uses a Messianic prophecy written by David himself to confound their reasoning.   What did David mean when he prophesied concerning the Christ?</a:t>
            </a:r>
            <a:endParaRPr lang="en-US" sz="1400" dirty="0"/>
          </a:p>
          <a:p>
            <a:endParaRPr lang="en-US" sz="1400" dirty="0"/>
          </a:p>
          <a:p>
            <a:r>
              <a:rPr lang="en-US" sz="1400" dirty="0"/>
              <a:t>The</a:t>
            </a:r>
            <a:r>
              <a:rPr lang="en-US" sz="1400" baseline="0" dirty="0"/>
              <a:t> small mark that appears at the end of the upper red arrow is a “jot”.  It looks somewhat like an apostrophe.  This jot is appended to the word “Lord” and creates a “possessive” context around that word (i.e. “my Lord”).   Hence, the rendering “Jehovah said to my Adonai…”   (in effect, the Christ would sit at the throne of God Himself, not in Jerusalem; certainly not an earthly throne.)</a:t>
            </a:r>
          </a:p>
          <a:p>
            <a:endParaRPr lang="en-US" sz="1400" baseline="0" dirty="0"/>
          </a:p>
          <a:p>
            <a:endParaRPr lang="en-US" sz="1400" baseline="0" dirty="0"/>
          </a:p>
          <a:p>
            <a:endParaRPr lang="en-US" sz="1400" baseline="0" dirty="0"/>
          </a:p>
          <a:p>
            <a:endParaRPr lang="en-US" dirty="0"/>
          </a:p>
        </p:txBody>
      </p:sp>
      <p:sp>
        <p:nvSpPr>
          <p:cNvPr id="4" name="Slide Number Placeholder 3"/>
          <p:cNvSpPr>
            <a:spLocks noGrp="1"/>
          </p:cNvSpPr>
          <p:nvPr>
            <p:ph type="sldNum" sz="quarter" idx="10"/>
          </p:nvPr>
        </p:nvSpPr>
        <p:spPr/>
        <p:txBody>
          <a:bodyPr/>
          <a:lstStyle/>
          <a:p>
            <a:pPr>
              <a:defRPr/>
            </a:pPr>
            <a:fld id="{07776858-791E-4C8D-8FA3-473B3AFECFAC}" type="slidenum">
              <a:rPr lang="en-US" smtClean="0"/>
              <a:pPr>
                <a:defRPr/>
              </a:pPr>
              <a:t>10</a:t>
            </a:fld>
            <a:endParaRPr lang="en-US"/>
          </a:p>
        </p:txBody>
      </p:sp>
    </p:spTree>
    <p:extLst>
      <p:ext uri="{BB962C8B-B14F-4D97-AF65-F5344CB8AC3E}">
        <p14:creationId xmlns:p14="http://schemas.microsoft.com/office/powerpoint/2010/main" val="400063701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21AFEC-B7CA-E18E-47D0-F721CF9A786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4D89E66-0235-F65E-47D9-A01D8C9EAC8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99872F4-9D82-0F9D-07ED-01114D9F951A}"/>
              </a:ext>
            </a:extLst>
          </p:cNvPr>
          <p:cNvSpPr>
            <a:spLocks noGrp="1"/>
          </p:cNvSpPr>
          <p:nvPr>
            <p:ph type="body" idx="1"/>
          </p:nvPr>
        </p:nvSpPr>
        <p:spPr/>
        <p:txBody>
          <a:bodyPr>
            <a:normAutofit/>
          </a:bodyPr>
          <a:lstStyle/>
          <a:p>
            <a:pPr>
              <a:buFont typeface="Arial" panose="020B0604020202020204" pitchFamily="34" charset="0"/>
              <a:buNone/>
            </a:pPr>
            <a:endParaRPr lang="en-US" sz="1400" dirty="0"/>
          </a:p>
        </p:txBody>
      </p:sp>
      <p:sp>
        <p:nvSpPr>
          <p:cNvPr id="4" name="Slide Number Placeholder 3">
            <a:extLst>
              <a:ext uri="{FF2B5EF4-FFF2-40B4-BE49-F238E27FC236}">
                <a16:creationId xmlns:a16="http://schemas.microsoft.com/office/drawing/2014/main" id="{FA59E22C-FB98-4633-D06F-80F91587AEE0}"/>
              </a:ext>
            </a:extLst>
          </p:cNvPr>
          <p:cNvSpPr>
            <a:spLocks noGrp="1"/>
          </p:cNvSpPr>
          <p:nvPr>
            <p:ph type="sldNum" sz="quarter" idx="5"/>
          </p:nvPr>
        </p:nvSpPr>
        <p:spPr/>
        <p:txBody>
          <a:bodyPr/>
          <a:lstStyle/>
          <a:p>
            <a:pPr>
              <a:defRPr/>
            </a:pPr>
            <a:fld id="{07776858-791E-4C8D-8FA3-473B3AFECFAC}" type="slidenum">
              <a:rPr lang="en-US" smtClean="0"/>
              <a:pPr>
                <a:defRPr/>
              </a:pPr>
              <a:t>11</a:t>
            </a:fld>
            <a:endParaRPr lang="en-US"/>
          </a:p>
        </p:txBody>
      </p:sp>
    </p:spTree>
    <p:extLst>
      <p:ext uri="{BB962C8B-B14F-4D97-AF65-F5344CB8AC3E}">
        <p14:creationId xmlns:p14="http://schemas.microsoft.com/office/powerpoint/2010/main" val="131336072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0AAA86-877D-F174-235D-69649EDD4D6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FA634E9-245E-4D6F-386C-8EC160BBB2C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E02F7D1-CF86-077B-9534-EEF73575E1CC}"/>
              </a:ext>
            </a:extLst>
          </p:cNvPr>
          <p:cNvSpPr>
            <a:spLocks noGrp="1"/>
          </p:cNvSpPr>
          <p:nvPr>
            <p:ph type="body" idx="1"/>
          </p:nvPr>
        </p:nvSpPr>
        <p:spPr/>
        <p:txBody>
          <a:bodyPr>
            <a:normAutofit/>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sz="1400" dirty="0"/>
              <a:t>Herein are examples of questions tailored to each type of individual described in Romans 1 through 4; Natural, Moral, Religious, and Just; intended to prompt them to consider the evidence for God’s existence and His self-revelation as described in Romans. These questions aim not to coerce but to encourage honest reflection, drawing on what each category of person already perceives or values.</a:t>
            </a:r>
          </a:p>
          <a:p>
            <a:endParaRPr lang="en-US" sz="1400" dirty="0"/>
          </a:p>
          <a:p>
            <a:r>
              <a:rPr lang="en-US" sz="1400" dirty="0"/>
              <a:t>Each set of questions is designed to resonate with the assumptions and experiences of these four “types” of people. The idea is to lead them from their current vantage point; whether it’s an appreciation of nature, a commitment to morality, a religious intuition, or a faithful trust in God’s promises; toward recognizing that the God of the Bible has made Himself known in creation, conscience, revelation, and ultimately in Jesus Christ.</a:t>
            </a:r>
          </a:p>
        </p:txBody>
      </p:sp>
      <p:sp>
        <p:nvSpPr>
          <p:cNvPr id="4" name="Slide Number Placeholder 3">
            <a:extLst>
              <a:ext uri="{FF2B5EF4-FFF2-40B4-BE49-F238E27FC236}">
                <a16:creationId xmlns:a16="http://schemas.microsoft.com/office/drawing/2014/main" id="{A551F44D-7CEA-E58A-4907-F2A3AE5F0852}"/>
              </a:ext>
            </a:extLst>
          </p:cNvPr>
          <p:cNvSpPr>
            <a:spLocks noGrp="1"/>
          </p:cNvSpPr>
          <p:nvPr>
            <p:ph type="sldNum" sz="quarter" idx="5"/>
          </p:nvPr>
        </p:nvSpPr>
        <p:spPr/>
        <p:txBody>
          <a:bodyPr/>
          <a:lstStyle/>
          <a:p>
            <a:pPr>
              <a:defRPr/>
            </a:pPr>
            <a:fld id="{07776858-791E-4C8D-8FA3-473B3AFECFAC}" type="slidenum">
              <a:rPr lang="en-US" smtClean="0"/>
              <a:pPr>
                <a:defRPr/>
              </a:pPr>
              <a:t>12</a:t>
            </a:fld>
            <a:endParaRPr lang="en-US"/>
          </a:p>
        </p:txBody>
      </p:sp>
    </p:spTree>
    <p:extLst>
      <p:ext uri="{BB962C8B-B14F-4D97-AF65-F5344CB8AC3E}">
        <p14:creationId xmlns:p14="http://schemas.microsoft.com/office/powerpoint/2010/main" val="123016688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693C78-0C9E-D805-4717-8811D153499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B832371-40E1-6DC6-548F-6B6E41C95EA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195C786-C380-62C7-8610-7238D9F61884}"/>
              </a:ext>
            </a:extLst>
          </p:cNvPr>
          <p:cNvSpPr>
            <a:spLocks noGrp="1"/>
          </p:cNvSpPr>
          <p:nvPr>
            <p:ph type="body" idx="1"/>
          </p:nvPr>
        </p:nvSpPr>
        <p:spPr/>
        <p:txBody>
          <a:bodyPr>
            <a:normAutofit/>
          </a:bodyPr>
          <a:lstStyle/>
          <a:p>
            <a:pPr>
              <a:buFont typeface="Arial" panose="020B0604020202020204" pitchFamily="34" charset="0"/>
              <a:buNone/>
            </a:pPr>
            <a:endParaRPr lang="en-US" sz="1400" dirty="0"/>
          </a:p>
        </p:txBody>
      </p:sp>
      <p:sp>
        <p:nvSpPr>
          <p:cNvPr id="4" name="Slide Number Placeholder 3">
            <a:extLst>
              <a:ext uri="{FF2B5EF4-FFF2-40B4-BE49-F238E27FC236}">
                <a16:creationId xmlns:a16="http://schemas.microsoft.com/office/drawing/2014/main" id="{3FC79A65-5CD5-AB9D-3F0A-6EB448B5DB55}"/>
              </a:ext>
            </a:extLst>
          </p:cNvPr>
          <p:cNvSpPr>
            <a:spLocks noGrp="1"/>
          </p:cNvSpPr>
          <p:nvPr>
            <p:ph type="sldNum" sz="quarter" idx="5"/>
          </p:nvPr>
        </p:nvSpPr>
        <p:spPr/>
        <p:txBody>
          <a:bodyPr/>
          <a:lstStyle/>
          <a:p>
            <a:pPr>
              <a:defRPr/>
            </a:pPr>
            <a:fld id="{07776858-791E-4C8D-8FA3-473B3AFECFAC}" type="slidenum">
              <a:rPr lang="en-US" smtClean="0"/>
              <a:pPr>
                <a:defRPr/>
              </a:pPr>
              <a:t>13</a:t>
            </a:fld>
            <a:endParaRPr lang="en-US"/>
          </a:p>
        </p:txBody>
      </p:sp>
    </p:spTree>
    <p:extLst>
      <p:ext uri="{BB962C8B-B14F-4D97-AF65-F5344CB8AC3E}">
        <p14:creationId xmlns:p14="http://schemas.microsoft.com/office/powerpoint/2010/main" val="228551360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8B3DA7-28A7-32F1-C29E-C9BBE0A174C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02A44AD-2521-D119-1AF5-09FD26102A5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4C64EA9-5428-E883-4A94-7D7AA4D2790C}"/>
              </a:ext>
            </a:extLst>
          </p:cNvPr>
          <p:cNvSpPr>
            <a:spLocks noGrp="1"/>
          </p:cNvSpPr>
          <p:nvPr>
            <p:ph type="body" idx="1"/>
          </p:nvPr>
        </p:nvSpPr>
        <p:spPr/>
        <p:txBody>
          <a:bodyPr>
            <a:normAutofit/>
          </a:bodyPr>
          <a:lstStyle/>
          <a:p>
            <a:endParaRPr lang="en-US" sz="1400" dirty="0"/>
          </a:p>
        </p:txBody>
      </p:sp>
      <p:sp>
        <p:nvSpPr>
          <p:cNvPr id="4" name="Slide Number Placeholder 3">
            <a:extLst>
              <a:ext uri="{FF2B5EF4-FFF2-40B4-BE49-F238E27FC236}">
                <a16:creationId xmlns:a16="http://schemas.microsoft.com/office/drawing/2014/main" id="{37B691EB-342C-25DC-A39B-054D59904C2D}"/>
              </a:ext>
            </a:extLst>
          </p:cNvPr>
          <p:cNvSpPr>
            <a:spLocks noGrp="1"/>
          </p:cNvSpPr>
          <p:nvPr>
            <p:ph type="sldNum" sz="quarter" idx="5"/>
          </p:nvPr>
        </p:nvSpPr>
        <p:spPr/>
        <p:txBody>
          <a:bodyPr/>
          <a:lstStyle/>
          <a:p>
            <a:pPr>
              <a:defRPr/>
            </a:pPr>
            <a:fld id="{07776858-791E-4C8D-8FA3-473B3AFECFAC}" type="slidenum">
              <a:rPr lang="en-US" smtClean="0"/>
              <a:pPr>
                <a:defRPr/>
              </a:pPr>
              <a:t>14</a:t>
            </a:fld>
            <a:endParaRPr lang="en-US"/>
          </a:p>
        </p:txBody>
      </p:sp>
    </p:spTree>
    <p:extLst>
      <p:ext uri="{BB962C8B-B14F-4D97-AF65-F5344CB8AC3E}">
        <p14:creationId xmlns:p14="http://schemas.microsoft.com/office/powerpoint/2010/main" val="139200312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E23555-AEE2-6653-DF12-F979EAC1633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59C7D1C-AA1E-0943-9CEB-758AA0465D3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1C712D7-843F-AD13-479D-EA2D779769D3}"/>
              </a:ext>
            </a:extLst>
          </p:cNvPr>
          <p:cNvSpPr>
            <a:spLocks noGrp="1"/>
          </p:cNvSpPr>
          <p:nvPr>
            <p:ph type="body" idx="1"/>
          </p:nvPr>
        </p:nvSpPr>
        <p:spPr/>
        <p:txBody>
          <a:bodyPr>
            <a:normAutofit/>
          </a:bodyPr>
          <a:lstStyle/>
          <a:p>
            <a:endParaRPr lang="en-US" sz="1400" dirty="0"/>
          </a:p>
        </p:txBody>
      </p:sp>
      <p:sp>
        <p:nvSpPr>
          <p:cNvPr id="4" name="Slide Number Placeholder 3">
            <a:extLst>
              <a:ext uri="{FF2B5EF4-FFF2-40B4-BE49-F238E27FC236}">
                <a16:creationId xmlns:a16="http://schemas.microsoft.com/office/drawing/2014/main" id="{FC993BAD-60F9-D7B1-5474-004E860ADBF7}"/>
              </a:ext>
            </a:extLst>
          </p:cNvPr>
          <p:cNvSpPr>
            <a:spLocks noGrp="1"/>
          </p:cNvSpPr>
          <p:nvPr>
            <p:ph type="sldNum" sz="quarter" idx="5"/>
          </p:nvPr>
        </p:nvSpPr>
        <p:spPr/>
        <p:txBody>
          <a:bodyPr/>
          <a:lstStyle/>
          <a:p>
            <a:pPr>
              <a:defRPr/>
            </a:pPr>
            <a:fld id="{07776858-791E-4C8D-8FA3-473B3AFECFAC}" type="slidenum">
              <a:rPr lang="en-US" smtClean="0"/>
              <a:pPr>
                <a:defRPr/>
              </a:pPr>
              <a:t>15</a:t>
            </a:fld>
            <a:endParaRPr lang="en-US"/>
          </a:p>
        </p:txBody>
      </p:sp>
    </p:spTree>
    <p:extLst>
      <p:ext uri="{BB962C8B-B14F-4D97-AF65-F5344CB8AC3E}">
        <p14:creationId xmlns:p14="http://schemas.microsoft.com/office/powerpoint/2010/main" val="237884523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lvl1pPr>
              <a:defRPr lang="en-US" sz="4400" b="1" kern="1200" dirty="0">
                <a:solidFill>
                  <a:schemeClr val="tx2"/>
                </a:solidFill>
                <a:latin typeface="+mj-lt"/>
                <a:ea typeface="ＭＳ Ｐゴシック" pitchFamily="34" charset="-128"/>
                <a:cs typeface="+mj-cs"/>
              </a:defRPr>
            </a:lvl1pPr>
          </a:lstStyle>
          <a:p>
            <a:r>
              <a:rPr lang="en-US"/>
              <a:t>Click to edit Master title style</a:t>
            </a:r>
            <a:endParaRPr lang="en-US" dirty="0"/>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Tree>
    <p:extLst>
      <p:ext uri="{BB962C8B-B14F-4D97-AF65-F5344CB8AC3E}">
        <p14:creationId xmlns:p14="http://schemas.microsoft.com/office/powerpoint/2010/main" val="424391877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l">
              <a:defRPr sz="4000"/>
            </a:lvl1pPr>
          </a:lstStyle>
          <a:p>
            <a:r>
              <a:rPr lang="en-US"/>
              <a:t>Click to edit Master title style</a:t>
            </a:r>
            <a:endParaRPr lang="en-US" dirty="0"/>
          </a:p>
        </p:txBody>
      </p:sp>
      <p:sp>
        <p:nvSpPr>
          <p:cNvPr id="3" name="Content Placeholder 2"/>
          <p:cNvSpPr>
            <a:spLocks noGrp="1"/>
          </p:cNvSpPr>
          <p:nvPr>
            <p:ph idx="1"/>
          </p:nvPr>
        </p:nvSpPr>
        <p:spPr/>
        <p:txBody>
          <a:bodyPr/>
          <a:lstStyle>
            <a:lvl1pPr>
              <a:defRPr sz="2800"/>
            </a:lvl1pPr>
            <a:lvl2pPr>
              <a:defRPr sz="2400"/>
            </a:lvl2pPr>
            <a:lvl3pPr>
              <a:defRPr sz="20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Slide Number Placeholder 5"/>
          <p:cNvSpPr>
            <a:spLocks noGrp="1"/>
          </p:cNvSpPr>
          <p:nvPr>
            <p:ph type="sldNum" sz="quarter" idx="11"/>
          </p:nvPr>
        </p:nvSpPr>
        <p:spPr/>
        <p:txBody>
          <a:bodyPr/>
          <a:lstStyle>
            <a:lvl1pPr algn="ctr">
              <a:defRPr sz="1400">
                <a:solidFill>
                  <a:schemeClr val="tx2"/>
                </a:solidFill>
                <a:latin typeface="Arial" pitchFamily="34" charset="0"/>
              </a:defRPr>
            </a:lvl1pPr>
          </a:lstStyle>
          <a:p>
            <a:pPr>
              <a:defRPr/>
            </a:pPr>
            <a:fld id="{90314B7E-EB23-4DAB-A3F0-0F7BBB6CDA33}" type="slidenum">
              <a:rPr lang="en-US"/>
              <a:pPr>
                <a:defRPr/>
              </a:pPr>
              <a:t>‹#›</a:t>
            </a:fld>
            <a:endParaRPr lang="en-US" dirty="0"/>
          </a:p>
        </p:txBody>
      </p:sp>
    </p:spTree>
    <p:extLst>
      <p:ext uri="{BB962C8B-B14F-4D97-AF65-F5344CB8AC3E}">
        <p14:creationId xmlns:p14="http://schemas.microsoft.com/office/powerpoint/2010/main" val="53474132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l">
              <a:defRPr sz="4000"/>
            </a:lvl1pPr>
          </a:lstStyle>
          <a:p>
            <a:r>
              <a:rPr lang="en-US" dirty="0"/>
              <a:t>Click to edit Master title style</a:t>
            </a:r>
          </a:p>
        </p:txBody>
      </p:sp>
      <p:sp>
        <p:nvSpPr>
          <p:cNvPr id="3" name="Content Placeholder 2"/>
          <p:cNvSpPr>
            <a:spLocks noGrp="1"/>
          </p:cNvSpPr>
          <p:nvPr>
            <p:ph idx="1"/>
          </p:nvPr>
        </p:nvSpPr>
        <p:spPr/>
        <p:txBody>
          <a:bodyPr/>
          <a:lstStyle>
            <a:lvl1pPr>
              <a:defRPr sz="2800"/>
            </a:lvl1pPr>
            <a:lvl2pPr>
              <a:defRPr sz="2400"/>
            </a:lvl2pPr>
            <a:lvl3pPr>
              <a:defRPr sz="20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Slide Number Placeholder 5"/>
          <p:cNvSpPr>
            <a:spLocks noGrp="1"/>
          </p:cNvSpPr>
          <p:nvPr>
            <p:ph type="sldNum" sz="quarter" idx="11"/>
          </p:nvPr>
        </p:nvSpPr>
        <p:spPr/>
        <p:txBody>
          <a:bodyPr/>
          <a:lstStyle>
            <a:lvl1pPr algn="r">
              <a:defRPr sz="1400">
                <a:solidFill>
                  <a:schemeClr val="tx2"/>
                </a:solidFill>
                <a:latin typeface="Arial" pitchFamily="34" charset="0"/>
              </a:defRPr>
            </a:lvl1pPr>
          </a:lstStyle>
          <a:p>
            <a:pPr>
              <a:defRPr/>
            </a:pPr>
            <a:fld id="{9325C3C2-9E54-411C-9683-C950CD1738F8}" type="slidenum">
              <a:rPr lang="en-US"/>
              <a:pPr>
                <a:defRPr/>
              </a:pPr>
              <a:t>‹#›</a:t>
            </a:fld>
            <a:endParaRPr lang="en-US" dirty="0"/>
          </a:p>
        </p:txBody>
      </p:sp>
    </p:spTree>
    <p:extLst>
      <p:ext uri="{BB962C8B-B14F-4D97-AF65-F5344CB8AC3E}">
        <p14:creationId xmlns:p14="http://schemas.microsoft.com/office/powerpoint/2010/main" val="3623734625"/>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3.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027" name="Title Placeholder 1"/>
          <p:cNvSpPr>
            <a:spLocks noGrp="1"/>
          </p:cNvSpPr>
          <p:nvPr>
            <p:ph type="title"/>
          </p:nvPr>
        </p:nvSpPr>
        <p:spPr bwMode="auto">
          <a:xfrm>
            <a:off x="457200" y="0"/>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1028" name="Text Placeholder 2"/>
          <p:cNvSpPr>
            <a:spLocks noGrp="1"/>
          </p:cNvSpPr>
          <p:nvPr>
            <p:ph type="body" idx="1"/>
          </p:nvPr>
        </p:nvSpPr>
        <p:spPr bwMode="auto">
          <a:xfrm>
            <a:off x="457200" y="1143000"/>
            <a:ext cx="8229600" cy="5105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Slide Number Placeholder 5"/>
          <p:cNvSpPr>
            <a:spLocks noGrp="1"/>
          </p:cNvSpPr>
          <p:nvPr>
            <p:ph type="sldNum" sz="quarter" idx="4"/>
          </p:nvPr>
        </p:nvSpPr>
        <p:spPr>
          <a:xfrm>
            <a:off x="4267200" y="6416675"/>
            <a:ext cx="685800" cy="365125"/>
          </a:xfrm>
          <a:prstGeom prst="rect">
            <a:avLst/>
          </a:prstGeom>
        </p:spPr>
        <p:txBody>
          <a:bodyPr anchor="b"/>
          <a:lstStyle>
            <a:lvl1pPr algn="ctr">
              <a:defRPr sz="1400">
                <a:solidFill>
                  <a:schemeClr val="tx2"/>
                </a:solidFill>
                <a:latin typeface="Arial" pitchFamily="34" charset="0"/>
              </a:defRPr>
            </a:lvl1pPr>
          </a:lstStyle>
          <a:p>
            <a:pPr>
              <a:defRPr/>
            </a:pPr>
            <a:fld id="{2D225349-B1F9-464A-9CC5-D5DDA255FDAC}" type="slidenum">
              <a:rPr lang="en-US"/>
              <a:pPr>
                <a:defRPr/>
              </a:pPr>
              <a:t>‹#›</a:t>
            </a:fld>
            <a:endParaRPr lang="en-US" dirty="0"/>
          </a:p>
        </p:txBody>
      </p:sp>
    </p:spTree>
  </p:cSld>
  <p:clrMap bg1="lt1" tx1="dk1" bg2="lt2" tx2="dk2" accent1="accent1" accent2="accent2" accent3="accent3" accent4="accent4" accent5="accent5" accent6="accent6" hlink="hlink" folHlink="folHlink"/>
  <p:sldLayoutIdLst>
    <p:sldLayoutId id="2147484149" r:id="rId1"/>
    <p:sldLayoutId id="2147484150" r:id="rId2"/>
  </p:sldLayoutIdLst>
  <p:hf hdr="0"/>
  <p:txStyles>
    <p:titleStyle>
      <a:lvl1pPr algn="ctr" rtl="0" eaLnBrk="1" fontAlgn="base" hangingPunct="1">
        <a:spcBef>
          <a:spcPct val="0"/>
        </a:spcBef>
        <a:spcAft>
          <a:spcPct val="0"/>
        </a:spcAft>
        <a:defRPr lang="en-US" sz="4400" b="1" kern="1200" dirty="0">
          <a:solidFill>
            <a:schemeClr val="tx2"/>
          </a:solidFill>
          <a:latin typeface="+mj-lt"/>
          <a:ea typeface="ＭＳ Ｐゴシック" pitchFamily="34" charset="-128"/>
          <a:cs typeface="+mj-cs"/>
        </a:defRPr>
      </a:lvl1pPr>
      <a:lvl2pPr algn="ctr" rtl="0" eaLnBrk="1" fontAlgn="base" hangingPunct="1">
        <a:spcBef>
          <a:spcPct val="0"/>
        </a:spcBef>
        <a:spcAft>
          <a:spcPct val="0"/>
        </a:spcAft>
        <a:defRPr sz="4400" b="1">
          <a:solidFill>
            <a:schemeClr val="tx2"/>
          </a:solidFill>
          <a:latin typeface="Arial" charset="0"/>
          <a:ea typeface="ＭＳ Ｐゴシック" pitchFamily="34" charset="-128"/>
        </a:defRPr>
      </a:lvl2pPr>
      <a:lvl3pPr algn="ctr" rtl="0" eaLnBrk="1" fontAlgn="base" hangingPunct="1">
        <a:spcBef>
          <a:spcPct val="0"/>
        </a:spcBef>
        <a:spcAft>
          <a:spcPct val="0"/>
        </a:spcAft>
        <a:defRPr sz="4400" b="1">
          <a:solidFill>
            <a:schemeClr val="tx2"/>
          </a:solidFill>
          <a:latin typeface="Arial" charset="0"/>
          <a:ea typeface="ＭＳ Ｐゴシック" pitchFamily="34" charset="-128"/>
        </a:defRPr>
      </a:lvl3pPr>
      <a:lvl4pPr algn="ctr" rtl="0" eaLnBrk="1" fontAlgn="base" hangingPunct="1">
        <a:spcBef>
          <a:spcPct val="0"/>
        </a:spcBef>
        <a:spcAft>
          <a:spcPct val="0"/>
        </a:spcAft>
        <a:defRPr sz="4400" b="1">
          <a:solidFill>
            <a:schemeClr val="tx2"/>
          </a:solidFill>
          <a:latin typeface="Arial" charset="0"/>
          <a:ea typeface="ＭＳ Ｐゴシック" pitchFamily="34" charset="-128"/>
        </a:defRPr>
      </a:lvl4pPr>
      <a:lvl5pPr algn="ctr" rtl="0" eaLnBrk="1" fontAlgn="base" hangingPunct="1">
        <a:spcBef>
          <a:spcPct val="0"/>
        </a:spcBef>
        <a:spcAft>
          <a:spcPct val="0"/>
        </a:spcAft>
        <a:defRPr sz="4400" b="1">
          <a:solidFill>
            <a:schemeClr val="tx2"/>
          </a:solidFill>
          <a:latin typeface="Arial" charset="0"/>
          <a:ea typeface="ＭＳ Ｐゴシック" pitchFamily="34" charset="-128"/>
        </a:defRPr>
      </a:lvl5pPr>
      <a:lvl6pPr marL="457200" algn="ctr" rtl="0" eaLnBrk="1" fontAlgn="base" hangingPunct="1">
        <a:spcBef>
          <a:spcPct val="0"/>
        </a:spcBef>
        <a:spcAft>
          <a:spcPct val="0"/>
        </a:spcAft>
        <a:defRPr sz="4400" b="1">
          <a:solidFill>
            <a:schemeClr val="tx1"/>
          </a:solidFill>
          <a:latin typeface="Arial" charset="0"/>
        </a:defRPr>
      </a:lvl6pPr>
      <a:lvl7pPr marL="914400" algn="ctr" rtl="0" eaLnBrk="1" fontAlgn="base" hangingPunct="1">
        <a:spcBef>
          <a:spcPct val="0"/>
        </a:spcBef>
        <a:spcAft>
          <a:spcPct val="0"/>
        </a:spcAft>
        <a:defRPr sz="4400" b="1">
          <a:solidFill>
            <a:schemeClr val="tx1"/>
          </a:solidFill>
          <a:latin typeface="Arial" charset="0"/>
        </a:defRPr>
      </a:lvl7pPr>
      <a:lvl8pPr marL="1371600" algn="ctr" rtl="0" eaLnBrk="1" fontAlgn="base" hangingPunct="1">
        <a:spcBef>
          <a:spcPct val="0"/>
        </a:spcBef>
        <a:spcAft>
          <a:spcPct val="0"/>
        </a:spcAft>
        <a:defRPr sz="4400" b="1">
          <a:solidFill>
            <a:schemeClr val="tx1"/>
          </a:solidFill>
          <a:latin typeface="Arial" charset="0"/>
        </a:defRPr>
      </a:lvl8pPr>
      <a:lvl9pPr marL="1828800" algn="ctr" rtl="0" eaLnBrk="1" fontAlgn="base" hangingPunct="1">
        <a:spcBef>
          <a:spcPct val="0"/>
        </a:spcBef>
        <a:spcAft>
          <a:spcPct val="0"/>
        </a:spcAft>
        <a:defRPr sz="4400" b="1">
          <a:solidFill>
            <a:schemeClr val="tx1"/>
          </a:solidFill>
          <a:latin typeface="Arial" charset="0"/>
        </a:defRPr>
      </a:lvl9pPr>
    </p:titleStyle>
    <p:bodyStyle>
      <a:lvl1pPr marL="342900" indent="-342900" algn="l" rtl="0" eaLnBrk="1" fontAlgn="base" hangingPunct="1">
        <a:spcBef>
          <a:spcPct val="20000"/>
        </a:spcBef>
        <a:spcAft>
          <a:spcPct val="0"/>
        </a:spcAft>
        <a:buFont typeface="Arial" charset="0"/>
        <a:buChar char="•"/>
        <a:defRPr sz="3200" kern="1200">
          <a:solidFill>
            <a:schemeClr val="tx1"/>
          </a:solidFill>
          <a:latin typeface="Arial Narrow" pitchFamily="34" charset="0"/>
          <a:ea typeface="+mn-ea"/>
          <a:cs typeface="+mn-cs"/>
        </a:defRPr>
      </a:lvl1pPr>
      <a:lvl2pPr marL="742950" indent="-285750" algn="l" rtl="0" eaLnBrk="1" fontAlgn="base" hangingPunct="1">
        <a:spcBef>
          <a:spcPct val="20000"/>
        </a:spcBef>
        <a:spcAft>
          <a:spcPct val="0"/>
        </a:spcAft>
        <a:buFont typeface="Arial" charset="0"/>
        <a:buChar char="–"/>
        <a:defRPr sz="2800" kern="1200">
          <a:solidFill>
            <a:schemeClr val="tx1"/>
          </a:solidFill>
          <a:latin typeface="Arial Narrow" pitchFamily="34" charset="0"/>
          <a:ea typeface="+mn-ea"/>
          <a:cs typeface="+mn-cs"/>
        </a:defRPr>
      </a:lvl2pPr>
      <a:lvl3pPr marL="1143000" indent="-228600" algn="l" rtl="0" eaLnBrk="1" fontAlgn="base" hangingPunct="1">
        <a:spcBef>
          <a:spcPct val="20000"/>
        </a:spcBef>
        <a:spcAft>
          <a:spcPct val="0"/>
        </a:spcAft>
        <a:buFont typeface="Arial" charset="0"/>
        <a:buChar char="•"/>
        <a:defRPr sz="2400" kern="1200">
          <a:solidFill>
            <a:schemeClr val="tx1"/>
          </a:solidFill>
          <a:latin typeface="Arial Narrow" pitchFamily="34" charset="0"/>
          <a:ea typeface="+mn-ea"/>
          <a:cs typeface="+mn-cs"/>
        </a:defRPr>
      </a:lvl3pPr>
      <a:lvl4pPr marL="1600200" indent="-228600" algn="l" rtl="0" eaLnBrk="1" fontAlgn="base" hangingPunct="1">
        <a:spcBef>
          <a:spcPct val="20000"/>
        </a:spcBef>
        <a:spcAft>
          <a:spcPct val="0"/>
        </a:spcAft>
        <a:buFont typeface="Arial" charset="0"/>
        <a:buChar char="–"/>
        <a:defRPr sz="2000" kern="1200">
          <a:solidFill>
            <a:schemeClr val="tx1"/>
          </a:solidFill>
          <a:latin typeface="Arial Narrow" pitchFamily="34" charset="0"/>
          <a:ea typeface="+mn-ea"/>
          <a:cs typeface="+mn-cs"/>
        </a:defRPr>
      </a:lvl4pPr>
      <a:lvl5pPr marL="2057400" indent="-228600" algn="l" rtl="0" eaLnBrk="1" fontAlgn="base" hangingPunct="1">
        <a:spcBef>
          <a:spcPct val="20000"/>
        </a:spcBef>
        <a:spcAft>
          <a:spcPct val="0"/>
        </a:spcAft>
        <a:buFont typeface="Arial" charset="0"/>
        <a:buChar char="»"/>
        <a:defRPr sz="2000" kern="1200">
          <a:solidFill>
            <a:schemeClr val="tx1"/>
          </a:solidFill>
          <a:latin typeface="Arial Narrow" pitchFamily="34"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050" name="Title Placeholder 1"/>
          <p:cNvSpPr>
            <a:spLocks noGrp="1"/>
          </p:cNvSpPr>
          <p:nvPr>
            <p:ph type="title"/>
          </p:nvPr>
        </p:nvSpPr>
        <p:spPr bwMode="auto">
          <a:xfrm>
            <a:off x="457200" y="0"/>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2051" name="Text Placeholder 2"/>
          <p:cNvSpPr>
            <a:spLocks noGrp="1"/>
          </p:cNvSpPr>
          <p:nvPr>
            <p:ph type="body" idx="1"/>
          </p:nvPr>
        </p:nvSpPr>
        <p:spPr bwMode="auto">
          <a:xfrm>
            <a:off x="457200" y="1143000"/>
            <a:ext cx="8229600" cy="5105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Slide Number Placeholder 5"/>
          <p:cNvSpPr>
            <a:spLocks noGrp="1"/>
          </p:cNvSpPr>
          <p:nvPr>
            <p:ph type="sldNum" sz="quarter" idx="4"/>
          </p:nvPr>
        </p:nvSpPr>
        <p:spPr>
          <a:xfrm>
            <a:off x="8077200" y="6416675"/>
            <a:ext cx="652463" cy="365125"/>
          </a:xfrm>
          <a:prstGeom prst="rect">
            <a:avLst/>
          </a:prstGeom>
        </p:spPr>
        <p:txBody>
          <a:bodyPr anchor="b"/>
          <a:lstStyle>
            <a:lvl1pPr algn="r">
              <a:defRPr sz="1400">
                <a:solidFill>
                  <a:schemeClr val="tx2"/>
                </a:solidFill>
                <a:latin typeface="Arial" pitchFamily="34" charset="0"/>
              </a:defRPr>
            </a:lvl1pPr>
          </a:lstStyle>
          <a:p>
            <a:pPr>
              <a:defRPr/>
            </a:pPr>
            <a:fld id="{D1036DDD-C097-4A4A-B40F-B92C82C562D7}" type="slidenum">
              <a:rPr lang="en-US"/>
              <a:pPr>
                <a:defRPr/>
              </a:pPr>
              <a:t>‹#›</a:t>
            </a:fld>
            <a:endParaRPr lang="en-US" dirty="0"/>
          </a:p>
        </p:txBody>
      </p:sp>
    </p:spTree>
  </p:cSld>
  <p:clrMap bg1="lt1" tx1="dk1" bg2="lt2" tx2="dk2" accent1="accent1" accent2="accent2" accent3="accent3" accent4="accent4" accent5="accent5" accent6="accent6" hlink="hlink" folHlink="folHlink"/>
  <p:sldLayoutIdLst>
    <p:sldLayoutId id="2147484151" r:id="rId1"/>
  </p:sldLayoutIdLst>
  <p:hf hdr="0"/>
  <p:txStyles>
    <p:titleStyle>
      <a:lvl1pPr algn="ctr" rtl="0" eaLnBrk="0" fontAlgn="base" hangingPunct="0">
        <a:spcBef>
          <a:spcPct val="0"/>
        </a:spcBef>
        <a:spcAft>
          <a:spcPct val="0"/>
        </a:spcAft>
        <a:defRPr lang="en-US" sz="4400" b="1" kern="1200" dirty="0">
          <a:solidFill>
            <a:schemeClr val="tx2"/>
          </a:solidFill>
          <a:latin typeface="+mj-lt"/>
          <a:ea typeface="ＭＳ Ｐゴシック" pitchFamily="34" charset="-128"/>
          <a:cs typeface="+mj-cs"/>
        </a:defRPr>
      </a:lvl1pPr>
      <a:lvl2pPr algn="ctr" rtl="0" eaLnBrk="0" fontAlgn="base" hangingPunct="0">
        <a:spcBef>
          <a:spcPct val="0"/>
        </a:spcBef>
        <a:spcAft>
          <a:spcPct val="0"/>
        </a:spcAft>
        <a:defRPr sz="4400" b="1">
          <a:solidFill>
            <a:schemeClr val="tx2"/>
          </a:solidFill>
          <a:latin typeface="Arial" charset="0"/>
          <a:ea typeface="ＭＳ Ｐゴシック" pitchFamily="34" charset="-128"/>
        </a:defRPr>
      </a:lvl2pPr>
      <a:lvl3pPr algn="ctr" rtl="0" eaLnBrk="0" fontAlgn="base" hangingPunct="0">
        <a:spcBef>
          <a:spcPct val="0"/>
        </a:spcBef>
        <a:spcAft>
          <a:spcPct val="0"/>
        </a:spcAft>
        <a:defRPr sz="4400" b="1">
          <a:solidFill>
            <a:schemeClr val="tx2"/>
          </a:solidFill>
          <a:latin typeface="Arial" charset="0"/>
          <a:ea typeface="ＭＳ Ｐゴシック" pitchFamily="34" charset="-128"/>
        </a:defRPr>
      </a:lvl3pPr>
      <a:lvl4pPr algn="ctr" rtl="0" eaLnBrk="0" fontAlgn="base" hangingPunct="0">
        <a:spcBef>
          <a:spcPct val="0"/>
        </a:spcBef>
        <a:spcAft>
          <a:spcPct val="0"/>
        </a:spcAft>
        <a:defRPr sz="4400" b="1">
          <a:solidFill>
            <a:schemeClr val="tx2"/>
          </a:solidFill>
          <a:latin typeface="Arial" charset="0"/>
          <a:ea typeface="ＭＳ Ｐゴシック" pitchFamily="34" charset="-128"/>
        </a:defRPr>
      </a:lvl4pPr>
      <a:lvl5pPr algn="ctr" rtl="0" eaLnBrk="0" fontAlgn="base" hangingPunct="0">
        <a:spcBef>
          <a:spcPct val="0"/>
        </a:spcBef>
        <a:spcAft>
          <a:spcPct val="0"/>
        </a:spcAft>
        <a:defRPr sz="4400" b="1">
          <a:solidFill>
            <a:schemeClr val="tx2"/>
          </a:solidFill>
          <a:latin typeface="Arial" charset="0"/>
          <a:ea typeface="ＭＳ Ｐゴシック" pitchFamily="34" charset="-128"/>
        </a:defRPr>
      </a:lvl5pPr>
      <a:lvl6pPr marL="457200" algn="ctr" rtl="0" eaLnBrk="1" fontAlgn="base" hangingPunct="1">
        <a:spcBef>
          <a:spcPct val="0"/>
        </a:spcBef>
        <a:spcAft>
          <a:spcPct val="0"/>
        </a:spcAft>
        <a:defRPr sz="4400" b="1">
          <a:solidFill>
            <a:schemeClr val="tx1"/>
          </a:solidFill>
          <a:latin typeface="Arial" charset="0"/>
        </a:defRPr>
      </a:lvl6pPr>
      <a:lvl7pPr marL="914400" algn="ctr" rtl="0" eaLnBrk="1" fontAlgn="base" hangingPunct="1">
        <a:spcBef>
          <a:spcPct val="0"/>
        </a:spcBef>
        <a:spcAft>
          <a:spcPct val="0"/>
        </a:spcAft>
        <a:defRPr sz="4400" b="1">
          <a:solidFill>
            <a:schemeClr val="tx1"/>
          </a:solidFill>
          <a:latin typeface="Arial" charset="0"/>
        </a:defRPr>
      </a:lvl7pPr>
      <a:lvl8pPr marL="1371600" algn="ctr" rtl="0" eaLnBrk="1" fontAlgn="base" hangingPunct="1">
        <a:spcBef>
          <a:spcPct val="0"/>
        </a:spcBef>
        <a:spcAft>
          <a:spcPct val="0"/>
        </a:spcAft>
        <a:defRPr sz="4400" b="1">
          <a:solidFill>
            <a:schemeClr val="tx1"/>
          </a:solidFill>
          <a:latin typeface="Arial" charset="0"/>
        </a:defRPr>
      </a:lvl8pPr>
      <a:lvl9pPr marL="1828800" algn="ctr" rtl="0" eaLnBrk="1" fontAlgn="base" hangingPunct="1">
        <a:spcBef>
          <a:spcPct val="0"/>
        </a:spcBef>
        <a:spcAft>
          <a:spcPct val="0"/>
        </a:spcAft>
        <a:defRPr sz="4400" b="1">
          <a:solidFill>
            <a:schemeClr val="tx1"/>
          </a:solidFill>
          <a:latin typeface="Arial" charset="0"/>
        </a:defRPr>
      </a:lvl9pPr>
    </p:titleStyle>
    <p:bodyStyle>
      <a:lvl1pPr marL="342900" indent="-342900" algn="l" rtl="0" eaLnBrk="0" fontAlgn="base" hangingPunct="0">
        <a:spcBef>
          <a:spcPct val="20000"/>
        </a:spcBef>
        <a:spcAft>
          <a:spcPct val="0"/>
        </a:spcAft>
        <a:buFont typeface="Arial" charset="0"/>
        <a:buChar char="•"/>
        <a:defRPr sz="3200" kern="1200">
          <a:solidFill>
            <a:schemeClr val="tx1"/>
          </a:solidFill>
          <a:latin typeface="Arial Narrow" pitchFamily="34" charset="0"/>
          <a:ea typeface="+mn-ea"/>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Arial Narrow" pitchFamily="34" charset="0"/>
          <a:ea typeface="+mn-ea"/>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Arial Narrow" pitchFamily="34" charset="0"/>
          <a:ea typeface="+mn-ea"/>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Arial Narrow" pitchFamily="34" charset="0"/>
          <a:ea typeface="+mn-ea"/>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Arial Narrow" pitchFamily="34"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p:cNvSpPr>
            <a:spLocks noGrp="1"/>
          </p:cNvSpPr>
          <p:nvPr>
            <p:ph type="ctrTitle"/>
          </p:nvPr>
        </p:nvSpPr>
        <p:spPr>
          <a:xfrm>
            <a:off x="685800" y="1482181"/>
            <a:ext cx="7772400" cy="1470025"/>
          </a:xfrm>
        </p:spPr>
        <p:txBody>
          <a:bodyPr/>
          <a:lstStyle/>
          <a:p>
            <a:pPr eaLnBrk="1" hangingPunct="1"/>
            <a:r>
              <a:rPr lang="en-US" sz="7200" dirty="0"/>
              <a:t>Romans</a:t>
            </a:r>
            <a:endParaRPr sz="7200" dirty="0"/>
          </a:p>
        </p:txBody>
      </p:sp>
      <p:sp>
        <p:nvSpPr>
          <p:cNvPr id="6147" name="Subtitle 2"/>
          <p:cNvSpPr>
            <a:spLocks noGrp="1"/>
          </p:cNvSpPr>
          <p:nvPr>
            <p:ph type="subTitle" idx="1"/>
          </p:nvPr>
        </p:nvSpPr>
        <p:spPr>
          <a:xfrm>
            <a:off x="1371600" y="3029495"/>
            <a:ext cx="6400800" cy="1752600"/>
          </a:xfrm>
        </p:spPr>
        <p:txBody>
          <a:bodyPr/>
          <a:lstStyle/>
          <a:p>
            <a:pPr eaLnBrk="1" hangingPunct="1"/>
            <a:r>
              <a:rPr lang="en-US" sz="4000" dirty="0"/>
              <a:t>The Just Man</a:t>
            </a:r>
          </a:p>
          <a:p>
            <a:pPr eaLnBrk="1" hangingPunct="1"/>
            <a:r>
              <a:rPr lang="en-US" sz="4000" dirty="0"/>
              <a:t>Ch. </a:t>
            </a:r>
            <a:r>
              <a:rPr lang="en-US" sz="4000"/>
              <a:t>3</a:t>
            </a:r>
            <a:endParaRPr lang="en-US" sz="4000" dirty="0"/>
          </a:p>
        </p:txBody>
      </p:sp>
      <p:sp>
        <p:nvSpPr>
          <p:cNvPr id="2" name="TextBox 1">
            <a:extLst>
              <a:ext uri="{FF2B5EF4-FFF2-40B4-BE49-F238E27FC236}">
                <a16:creationId xmlns:a16="http://schemas.microsoft.com/office/drawing/2014/main" id="{079DC8F4-1FC6-0254-E488-A9BC99CE4940}"/>
              </a:ext>
            </a:extLst>
          </p:cNvPr>
          <p:cNvSpPr txBox="1"/>
          <p:nvPr/>
        </p:nvSpPr>
        <p:spPr>
          <a:xfrm>
            <a:off x="2286000" y="5375819"/>
            <a:ext cx="4572000" cy="461665"/>
          </a:xfrm>
          <a:prstGeom prst="rect">
            <a:avLst/>
          </a:prstGeom>
          <a:noFill/>
        </p:spPr>
        <p:txBody>
          <a:bodyPr wrap="square">
            <a:spAutoFit/>
          </a:bodyPr>
          <a:lstStyle>
            <a:defPPr>
              <a:defRPr lang="en-US"/>
            </a:defPPr>
            <a:lvl1pPr algn="l" rtl="0" fontAlgn="base">
              <a:spcBef>
                <a:spcPct val="0"/>
              </a:spcBef>
              <a:spcAft>
                <a:spcPct val="0"/>
              </a:spcAft>
              <a:defRPr kern="1200">
                <a:solidFill>
                  <a:schemeClr val="tx1"/>
                </a:solidFill>
                <a:latin typeface="Arial" charset="0"/>
                <a:ea typeface="ＭＳ Ｐゴシック" pitchFamily="34" charset="-128"/>
                <a:cs typeface="+mn-cs"/>
              </a:defRPr>
            </a:lvl1pPr>
            <a:lvl2pPr marL="457200" algn="l" rtl="0" fontAlgn="base">
              <a:spcBef>
                <a:spcPct val="0"/>
              </a:spcBef>
              <a:spcAft>
                <a:spcPct val="0"/>
              </a:spcAft>
              <a:defRPr kern="1200">
                <a:solidFill>
                  <a:schemeClr val="tx1"/>
                </a:solidFill>
                <a:latin typeface="Arial" charset="0"/>
                <a:ea typeface="ＭＳ Ｐゴシック" pitchFamily="34" charset="-128"/>
                <a:cs typeface="+mn-cs"/>
              </a:defRPr>
            </a:lvl2pPr>
            <a:lvl3pPr marL="914400" algn="l" rtl="0" fontAlgn="base">
              <a:spcBef>
                <a:spcPct val="0"/>
              </a:spcBef>
              <a:spcAft>
                <a:spcPct val="0"/>
              </a:spcAft>
              <a:defRPr kern="1200">
                <a:solidFill>
                  <a:schemeClr val="tx1"/>
                </a:solidFill>
                <a:latin typeface="Arial" charset="0"/>
                <a:ea typeface="ＭＳ Ｐゴシック" pitchFamily="34" charset="-128"/>
                <a:cs typeface="+mn-cs"/>
              </a:defRPr>
            </a:lvl3pPr>
            <a:lvl4pPr marL="1371600" algn="l" rtl="0" fontAlgn="base">
              <a:spcBef>
                <a:spcPct val="0"/>
              </a:spcBef>
              <a:spcAft>
                <a:spcPct val="0"/>
              </a:spcAft>
              <a:defRPr kern="1200">
                <a:solidFill>
                  <a:schemeClr val="tx1"/>
                </a:solidFill>
                <a:latin typeface="Arial" charset="0"/>
                <a:ea typeface="ＭＳ Ｐゴシック" pitchFamily="34" charset="-128"/>
                <a:cs typeface="+mn-cs"/>
              </a:defRPr>
            </a:lvl4pPr>
            <a:lvl5pPr marL="1828800" algn="l" rtl="0" fontAlgn="base">
              <a:spcBef>
                <a:spcPct val="0"/>
              </a:spcBef>
              <a:spcAft>
                <a:spcPct val="0"/>
              </a:spcAft>
              <a:defRPr kern="1200">
                <a:solidFill>
                  <a:schemeClr val="tx1"/>
                </a:solidFill>
                <a:latin typeface="Arial" charset="0"/>
                <a:ea typeface="ＭＳ Ｐゴシック" pitchFamily="34" charset="-128"/>
                <a:cs typeface="+mn-cs"/>
              </a:defRPr>
            </a:lvl5pPr>
            <a:lvl6pPr marL="2286000" algn="l" defTabSz="914400" rtl="0" eaLnBrk="1" latinLnBrk="0" hangingPunct="1">
              <a:defRPr kern="1200">
                <a:solidFill>
                  <a:schemeClr val="tx1"/>
                </a:solidFill>
                <a:latin typeface="Arial" charset="0"/>
                <a:ea typeface="ＭＳ Ｐゴシック" pitchFamily="34" charset="-128"/>
                <a:cs typeface="+mn-cs"/>
              </a:defRPr>
            </a:lvl6pPr>
            <a:lvl7pPr marL="2743200" algn="l" defTabSz="914400" rtl="0" eaLnBrk="1" latinLnBrk="0" hangingPunct="1">
              <a:defRPr kern="1200">
                <a:solidFill>
                  <a:schemeClr val="tx1"/>
                </a:solidFill>
                <a:latin typeface="Arial" charset="0"/>
                <a:ea typeface="ＭＳ Ｐゴシック" pitchFamily="34" charset="-128"/>
                <a:cs typeface="+mn-cs"/>
              </a:defRPr>
            </a:lvl7pPr>
            <a:lvl8pPr marL="3200400" algn="l" defTabSz="914400" rtl="0" eaLnBrk="1" latinLnBrk="0" hangingPunct="1">
              <a:defRPr kern="1200">
                <a:solidFill>
                  <a:schemeClr val="tx1"/>
                </a:solidFill>
                <a:latin typeface="Arial" charset="0"/>
                <a:ea typeface="ＭＳ Ｐゴシック" pitchFamily="34" charset="-128"/>
                <a:cs typeface="+mn-cs"/>
              </a:defRPr>
            </a:lvl8pPr>
            <a:lvl9pPr marL="3657600" algn="l" defTabSz="914400" rtl="0" eaLnBrk="1" latinLnBrk="0" hangingPunct="1">
              <a:defRPr kern="1200">
                <a:solidFill>
                  <a:schemeClr val="tx1"/>
                </a:solidFill>
                <a:latin typeface="Arial" charset="0"/>
                <a:ea typeface="ＭＳ Ｐゴシック" pitchFamily="34" charset="-128"/>
                <a:cs typeface="+mn-cs"/>
              </a:defRPr>
            </a:lvl9pPr>
          </a:lstStyle>
          <a:p>
            <a:r>
              <a:rPr lang="en-US" sz="2400" dirty="0"/>
              <a:t>https://tinyurl.com/RomeGospel</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p:cNvSpPr txBox="1">
            <a:spLocks/>
          </p:cNvSpPr>
          <p:nvPr/>
        </p:nvSpPr>
        <p:spPr bwMode="auto">
          <a:xfrm>
            <a:off x="381000" y="0"/>
            <a:ext cx="83820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normAutofit fontScale="92500"/>
          </a:bodyPr>
          <a:lstStyle>
            <a:lvl1pPr algn="l" rtl="0" eaLnBrk="1" fontAlgn="base" hangingPunct="1">
              <a:spcBef>
                <a:spcPct val="0"/>
              </a:spcBef>
              <a:spcAft>
                <a:spcPct val="0"/>
              </a:spcAft>
              <a:defRPr lang="en-US" sz="4000" b="1" kern="1200">
                <a:solidFill>
                  <a:schemeClr val="tx2"/>
                </a:solidFill>
                <a:latin typeface="+mj-lt"/>
                <a:ea typeface="ＭＳ Ｐゴシック" pitchFamily="34" charset="-128"/>
                <a:cs typeface="+mj-cs"/>
              </a:defRPr>
            </a:lvl1pPr>
            <a:lvl2pPr algn="ctr" rtl="0" eaLnBrk="1" fontAlgn="base" hangingPunct="1">
              <a:spcBef>
                <a:spcPct val="0"/>
              </a:spcBef>
              <a:spcAft>
                <a:spcPct val="0"/>
              </a:spcAft>
              <a:defRPr sz="4400" b="1">
                <a:solidFill>
                  <a:schemeClr val="tx2"/>
                </a:solidFill>
                <a:latin typeface="Arial" charset="0"/>
                <a:ea typeface="ＭＳ Ｐゴシック" pitchFamily="34" charset="-128"/>
              </a:defRPr>
            </a:lvl2pPr>
            <a:lvl3pPr algn="ctr" rtl="0" eaLnBrk="1" fontAlgn="base" hangingPunct="1">
              <a:spcBef>
                <a:spcPct val="0"/>
              </a:spcBef>
              <a:spcAft>
                <a:spcPct val="0"/>
              </a:spcAft>
              <a:defRPr sz="4400" b="1">
                <a:solidFill>
                  <a:schemeClr val="tx2"/>
                </a:solidFill>
                <a:latin typeface="Arial" charset="0"/>
                <a:ea typeface="ＭＳ Ｐゴシック" pitchFamily="34" charset="-128"/>
              </a:defRPr>
            </a:lvl3pPr>
            <a:lvl4pPr algn="ctr" rtl="0" eaLnBrk="1" fontAlgn="base" hangingPunct="1">
              <a:spcBef>
                <a:spcPct val="0"/>
              </a:spcBef>
              <a:spcAft>
                <a:spcPct val="0"/>
              </a:spcAft>
              <a:defRPr sz="4400" b="1">
                <a:solidFill>
                  <a:schemeClr val="tx2"/>
                </a:solidFill>
                <a:latin typeface="Arial" charset="0"/>
                <a:ea typeface="ＭＳ Ｐゴシック" pitchFamily="34" charset="-128"/>
              </a:defRPr>
            </a:lvl4pPr>
            <a:lvl5pPr algn="ctr" rtl="0" eaLnBrk="1" fontAlgn="base" hangingPunct="1">
              <a:spcBef>
                <a:spcPct val="0"/>
              </a:spcBef>
              <a:spcAft>
                <a:spcPct val="0"/>
              </a:spcAft>
              <a:defRPr sz="4400" b="1">
                <a:solidFill>
                  <a:schemeClr val="tx2"/>
                </a:solidFill>
                <a:latin typeface="Arial" charset="0"/>
                <a:ea typeface="ＭＳ Ｐゴシック" pitchFamily="34" charset="-128"/>
              </a:defRPr>
            </a:lvl5pPr>
            <a:lvl6pPr marL="457200" algn="ctr" rtl="0" eaLnBrk="1" fontAlgn="base" hangingPunct="1">
              <a:spcBef>
                <a:spcPct val="0"/>
              </a:spcBef>
              <a:spcAft>
                <a:spcPct val="0"/>
              </a:spcAft>
              <a:defRPr sz="4400" b="1">
                <a:solidFill>
                  <a:schemeClr val="tx1"/>
                </a:solidFill>
                <a:latin typeface="Arial" charset="0"/>
              </a:defRPr>
            </a:lvl6pPr>
            <a:lvl7pPr marL="914400" algn="ctr" rtl="0" eaLnBrk="1" fontAlgn="base" hangingPunct="1">
              <a:spcBef>
                <a:spcPct val="0"/>
              </a:spcBef>
              <a:spcAft>
                <a:spcPct val="0"/>
              </a:spcAft>
              <a:defRPr sz="4400" b="1">
                <a:solidFill>
                  <a:schemeClr val="tx1"/>
                </a:solidFill>
                <a:latin typeface="Arial" charset="0"/>
              </a:defRPr>
            </a:lvl7pPr>
            <a:lvl8pPr marL="1371600" algn="ctr" rtl="0" eaLnBrk="1" fontAlgn="base" hangingPunct="1">
              <a:spcBef>
                <a:spcPct val="0"/>
              </a:spcBef>
              <a:spcAft>
                <a:spcPct val="0"/>
              </a:spcAft>
              <a:defRPr sz="4400" b="1">
                <a:solidFill>
                  <a:schemeClr val="tx1"/>
                </a:solidFill>
                <a:latin typeface="Arial" charset="0"/>
              </a:defRPr>
            </a:lvl8pPr>
            <a:lvl9pPr marL="1828800" algn="ctr" rtl="0" eaLnBrk="1" fontAlgn="base" hangingPunct="1">
              <a:spcBef>
                <a:spcPct val="0"/>
              </a:spcBef>
              <a:spcAft>
                <a:spcPct val="0"/>
              </a:spcAft>
              <a:defRPr sz="4400" b="1">
                <a:solidFill>
                  <a:schemeClr val="tx1"/>
                </a:solidFill>
                <a:latin typeface="Arial" charset="0"/>
              </a:defRPr>
            </a:lvl9pPr>
          </a:lstStyle>
          <a:p>
            <a:r>
              <a:rPr lang="en-US" dirty="0"/>
              <a:t>The Predicament of Mankind</a:t>
            </a:r>
            <a:br>
              <a:rPr lang="en-US" dirty="0"/>
            </a:br>
            <a:r>
              <a:rPr lang="en-US" sz="2400" dirty="0">
                <a:solidFill>
                  <a:schemeClr val="tx2">
                    <a:lumMod val="60000"/>
                    <a:lumOff val="40000"/>
                  </a:schemeClr>
                </a:solidFill>
              </a:rPr>
              <a:t>“The wrath of God is revealed…” “…For all have sinned…”</a:t>
            </a:r>
          </a:p>
        </p:txBody>
      </p:sp>
      <p:sp>
        <p:nvSpPr>
          <p:cNvPr id="6" name="TextBox 5"/>
          <p:cNvSpPr txBox="1"/>
          <p:nvPr/>
        </p:nvSpPr>
        <p:spPr>
          <a:xfrm>
            <a:off x="529296" y="1158766"/>
            <a:ext cx="8001000" cy="1323439"/>
          </a:xfrm>
          <a:prstGeom prst="rect">
            <a:avLst/>
          </a:prstGeom>
          <a:noFill/>
        </p:spPr>
        <p:txBody>
          <a:bodyPr wrap="square" rtlCol="0">
            <a:spAutoFit/>
          </a:bodyPr>
          <a:lstStyle/>
          <a:p>
            <a:r>
              <a:rPr lang="en-US" sz="2000" b="1" i="1" dirty="0"/>
              <a:t>Romans 1 : The “Pagan Man” </a:t>
            </a:r>
          </a:p>
          <a:p>
            <a:pPr marL="342900" lvl="0" indent="-342900">
              <a:buFont typeface="Arial" pitchFamily="34" charset="0"/>
              <a:buChar char="•"/>
            </a:pPr>
            <a:r>
              <a:rPr lang="en-US" sz="2000" i="1" dirty="0"/>
              <a:t>For </a:t>
            </a:r>
            <a:r>
              <a:rPr lang="en-US" sz="2000" b="1" i="1" dirty="0"/>
              <a:t>Suppressing</a:t>
            </a:r>
            <a:r>
              <a:rPr lang="en-US" sz="2000" i="1" dirty="0"/>
              <a:t> God’s Truth (v.18)</a:t>
            </a:r>
          </a:p>
          <a:p>
            <a:pPr marL="342900" lvl="0" indent="-342900">
              <a:buFont typeface="Arial" pitchFamily="34" charset="0"/>
              <a:buChar char="•"/>
            </a:pPr>
            <a:r>
              <a:rPr lang="en-US" sz="2000" i="1" dirty="0"/>
              <a:t>For </a:t>
            </a:r>
            <a:r>
              <a:rPr lang="en-US" sz="2000" b="1" i="1" dirty="0"/>
              <a:t>Ignoring</a:t>
            </a:r>
            <a:r>
              <a:rPr lang="en-US" sz="2000" i="1" dirty="0"/>
              <a:t> God’s Revelation (v.19-20)</a:t>
            </a:r>
          </a:p>
          <a:p>
            <a:pPr marL="342900" lvl="0" indent="-342900">
              <a:buFont typeface="Arial" pitchFamily="34" charset="0"/>
              <a:buChar char="•"/>
            </a:pPr>
            <a:r>
              <a:rPr lang="en-US" sz="2000" i="1" dirty="0"/>
              <a:t>For </a:t>
            </a:r>
            <a:r>
              <a:rPr lang="en-US" sz="2000" b="1" i="1" dirty="0"/>
              <a:t>Perverting</a:t>
            </a:r>
            <a:r>
              <a:rPr lang="en-US" sz="2000" i="1" dirty="0"/>
              <a:t> God’s Glory (v.21-23)</a:t>
            </a:r>
          </a:p>
        </p:txBody>
      </p:sp>
      <p:sp>
        <p:nvSpPr>
          <p:cNvPr id="7" name="TextBox 6"/>
          <p:cNvSpPr txBox="1"/>
          <p:nvPr/>
        </p:nvSpPr>
        <p:spPr>
          <a:xfrm>
            <a:off x="529296" y="2603935"/>
            <a:ext cx="8001000" cy="2554545"/>
          </a:xfrm>
          <a:prstGeom prst="rect">
            <a:avLst/>
          </a:prstGeom>
          <a:noFill/>
        </p:spPr>
        <p:txBody>
          <a:bodyPr wrap="square" rtlCol="0">
            <a:spAutoFit/>
          </a:bodyPr>
          <a:lstStyle/>
          <a:p>
            <a:r>
              <a:rPr lang="en-US" sz="2000" b="1" i="1" dirty="0"/>
              <a:t>Romans 2 : The “Moral Man”</a:t>
            </a:r>
          </a:p>
          <a:p>
            <a:pPr marL="342900" indent="-342900">
              <a:buFont typeface="Arial" pitchFamily="34" charset="0"/>
              <a:buChar char="•"/>
            </a:pPr>
            <a:r>
              <a:rPr lang="en-US" sz="2000" i="1" dirty="0"/>
              <a:t>According to </a:t>
            </a:r>
            <a:r>
              <a:rPr lang="en-US" sz="2000" b="1" i="1" dirty="0"/>
              <a:t>Truth </a:t>
            </a:r>
            <a:r>
              <a:rPr lang="en-US" sz="2000" i="1" dirty="0"/>
              <a:t>(v. 2)</a:t>
            </a:r>
            <a:endParaRPr lang="en-US" sz="2000" b="1" i="1" dirty="0"/>
          </a:p>
          <a:p>
            <a:pPr marL="342900" indent="-342900">
              <a:buFont typeface="Arial" pitchFamily="34" charset="0"/>
              <a:buChar char="•"/>
            </a:pPr>
            <a:r>
              <a:rPr lang="en-US" sz="2000" i="1" dirty="0"/>
              <a:t>According to </a:t>
            </a:r>
            <a:r>
              <a:rPr lang="en-US" sz="2000" b="1" i="1" dirty="0"/>
              <a:t>Accumulated Guilt </a:t>
            </a:r>
            <a:r>
              <a:rPr lang="en-US" sz="2000" i="1" dirty="0"/>
              <a:t>(v. 5)</a:t>
            </a:r>
            <a:endParaRPr lang="en-US" sz="2000" b="1" i="1" dirty="0"/>
          </a:p>
          <a:p>
            <a:pPr marL="342900" indent="-342900">
              <a:buFont typeface="Arial" pitchFamily="34" charset="0"/>
              <a:buChar char="•"/>
            </a:pPr>
            <a:r>
              <a:rPr lang="en-US" sz="2000" i="1" dirty="0"/>
              <a:t>According to </a:t>
            </a:r>
            <a:r>
              <a:rPr lang="en-US" sz="2000" b="1" i="1" dirty="0"/>
              <a:t>Works </a:t>
            </a:r>
            <a:r>
              <a:rPr lang="en-US" sz="2000" i="1" dirty="0"/>
              <a:t>(v. 6)</a:t>
            </a:r>
          </a:p>
          <a:p>
            <a:pPr marL="342900" indent="-342900">
              <a:buFont typeface="Arial" pitchFamily="34" charset="0"/>
              <a:buChar char="•"/>
            </a:pPr>
            <a:r>
              <a:rPr lang="en-US" sz="2000" i="1" dirty="0"/>
              <a:t>Without </a:t>
            </a:r>
            <a:r>
              <a:rPr lang="en-US" sz="2000" b="1" i="1" dirty="0"/>
              <a:t>Respect of Persons </a:t>
            </a:r>
            <a:r>
              <a:rPr lang="en-US" sz="2000" i="1" dirty="0"/>
              <a:t>(v. 11)</a:t>
            </a:r>
          </a:p>
          <a:p>
            <a:pPr marL="342900" indent="-342900">
              <a:buFont typeface="Arial" pitchFamily="34" charset="0"/>
              <a:buChar char="•"/>
            </a:pPr>
            <a:r>
              <a:rPr lang="en-US" sz="2000" i="1" dirty="0"/>
              <a:t>According to </a:t>
            </a:r>
            <a:r>
              <a:rPr lang="en-US" sz="2000" b="1" i="1" dirty="0"/>
              <a:t>Obedience </a:t>
            </a:r>
            <a:r>
              <a:rPr lang="en-US" sz="2000" i="1" dirty="0"/>
              <a:t>(v. 13)</a:t>
            </a:r>
          </a:p>
          <a:p>
            <a:pPr marL="342900" indent="-342900">
              <a:buFont typeface="Arial" pitchFamily="34" charset="0"/>
              <a:buChar char="•"/>
            </a:pPr>
            <a:r>
              <a:rPr lang="en-US" sz="2000" i="1" dirty="0"/>
              <a:t>According to </a:t>
            </a:r>
            <a:r>
              <a:rPr lang="en-US" sz="2000" b="1" i="1" dirty="0"/>
              <a:t>Secrets of the Heart </a:t>
            </a:r>
            <a:r>
              <a:rPr lang="en-US" sz="2000" i="1" dirty="0"/>
              <a:t>(v. 16)</a:t>
            </a:r>
          </a:p>
          <a:p>
            <a:pPr marL="342900" indent="-342900">
              <a:buFont typeface="Arial" pitchFamily="34" charset="0"/>
              <a:buChar char="•"/>
            </a:pPr>
            <a:r>
              <a:rPr lang="en-US" sz="2000" i="1" dirty="0"/>
              <a:t>According to </a:t>
            </a:r>
            <a:r>
              <a:rPr lang="en-US" sz="2000" b="1" i="1" dirty="0"/>
              <a:t>Reality </a:t>
            </a:r>
            <a:r>
              <a:rPr lang="en-US" sz="2000" i="1" dirty="0"/>
              <a:t>(v. 17-29)</a:t>
            </a:r>
          </a:p>
        </p:txBody>
      </p:sp>
      <p:sp>
        <p:nvSpPr>
          <p:cNvPr id="9" name="TextBox 8"/>
          <p:cNvSpPr txBox="1"/>
          <p:nvPr/>
        </p:nvSpPr>
        <p:spPr>
          <a:xfrm>
            <a:off x="571500" y="5268306"/>
            <a:ext cx="8001000" cy="1323439"/>
          </a:xfrm>
          <a:prstGeom prst="rect">
            <a:avLst/>
          </a:prstGeom>
          <a:noFill/>
        </p:spPr>
        <p:txBody>
          <a:bodyPr wrap="square" rtlCol="0">
            <a:spAutoFit/>
          </a:bodyPr>
          <a:lstStyle/>
          <a:p>
            <a:r>
              <a:rPr lang="en-US" sz="2000" b="1" i="1" dirty="0"/>
              <a:t>Romans 3 : The “Religious Man”</a:t>
            </a:r>
          </a:p>
          <a:p>
            <a:pPr marL="342900" indent="-342900">
              <a:buFont typeface="Arial" pitchFamily="34" charset="0"/>
              <a:buChar char="•"/>
            </a:pPr>
            <a:r>
              <a:rPr lang="en-US" sz="2000" i="1" dirty="0"/>
              <a:t>Our</a:t>
            </a:r>
            <a:r>
              <a:rPr lang="en-US" sz="2000" b="1" i="1" dirty="0"/>
              <a:t> Conscience</a:t>
            </a:r>
            <a:r>
              <a:rPr lang="en-US" sz="2000" i="1" dirty="0"/>
              <a:t> is an </a:t>
            </a:r>
            <a:r>
              <a:rPr lang="en-US" sz="2000" b="1" i="1" dirty="0"/>
              <a:t>Indicator</a:t>
            </a:r>
            <a:r>
              <a:rPr lang="en-US" sz="2000" i="1" dirty="0"/>
              <a:t> of a </a:t>
            </a:r>
            <a:r>
              <a:rPr lang="en-US" sz="2000" b="1" i="1" dirty="0"/>
              <a:t>Need for Righteousness </a:t>
            </a:r>
            <a:r>
              <a:rPr lang="en-US" sz="2000" i="1" dirty="0"/>
              <a:t>and a basis for </a:t>
            </a:r>
            <a:r>
              <a:rPr lang="en-US" sz="2000" b="1" i="1" dirty="0"/>
              <a:t>Religion </a:t>
            </a:r>
            <a:r>
              <a:rPr lang="en-US" sz="2000" i="1" dirty="0"/>
              <a:t>(v. 2:14-15)</a:t>
            </a:r>
          </a:p>
          <a:p>
            <a:pPr marL="342900" indent="-342900">
              <a:buFont typeface="Arial" pitchFamily="34" charset="0"/>
              <a:buChar char="•"/>
            </a:pPr>
            <a:r>
              <a:rPr lang="en-US" sz="2000" i="1" dirty="0"/>
              <a:t>God recognizes </a:t>
            </a:r>
            <a:r>
              <a:rPr lang="en-US" sz="2000" b="1" i="1" dirty="0"/>
              <a:t>Obedience</a:t>
            </a:r>
            <a:r>
              <a:rPr lang="en-US" sz="2000" i="1" dirty="0"/>
              <a:t> from the </a:t>
            </a:r>
            <a:r>
              <a:rPr lang="en-US" sz="2000" b="1" i="1" dirty="0"/>
              <a:t>Heart</a:t>
            </a:r>
            <a:r>
              <a:rPr lang="en-US" sz="2000" i="1" dirty="0"/>
              <a:t>  (v. 2:29) </a:t>
            </a:r>
          </a:p>
        </p:txBody>
      </p:sp>
    </p:spTree>
    <p:extLst>
      <p:ext uri="{BB962C8B-B14F-4D97-AF65-F5344CB8AC3E}">
        <p14:creationId xmlns:p14="http://schemas.microsoft.com/office/powerpoint/2010/main" val="29444062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anim calcmode="lin" valueType="num">
                                      <p:cBhvr>
                                        <p:cTn id="8" dur="1000" fill="hold"/>
                                        <p:tgtEl>
                                          <p:spTgt spid="6"/>
                                        </p:tgtEl>
                                        <p:attrNameLst>
                                          <p:attrName>ppt_x</p:attrName>
                                        </p:attrNameLst>
                                      </p:cBhvr>
                                      <p:tavLst>
                                        <p:tav tm="0">
                                          <p:val>
                                            <p:strVal val="#ppt_x"/>
                                          </p:val>
                                        </p:tav>
                                        <p:tav tm="100000">
                                          <p:val>
                                            <p:strVal val="#ppt_x"/>
                                          </p:val>
                                        </p:tav>
                                      </p:tavLst>
                                    </p:anim>
                                    <p:anim calcmode="lin" valueType="num">
                                      <p:cBhvr>
                                        <p:cTn id="9"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1000"/>
                                        <p:tgtEl>
                                          <p:spTgt spid="9"/>
                                        </p:tgtEl>
                                      </p:cBhvr>
                                    </p:animEffect>
                                    <p:anim calcmode="lin" valueType="num">
                                      <p:cBhvr>
                                        <p:cTn id="22" dur="1000" fill="hold"/>
                                        <p:tgtEl>
                                          <p:spTgt spid="9"/>
                                        </p:tgtEl>
                                        <p:attrNameLst>
                                          <p:attrName>ppt_x</p:attrName>
                                        </p:attrNameLst>
                                      </p:cBhvr>
                                      <p:tavLst>
                                        <p:tav tm="0">
                                          <p:val>
                                            <p:strVal val="#ppt_x"/>
                                          </p:val>
                                        </p:tav>
                                        <p:tav tm="100000">
                                          <p:val>
                                            <p:strVal val="#ppt_x"/>
                                          </p:val>
                                        </p:tav>
                                      </p:tavLst>
                                    </p:anim>
                                    <p:anim calcmode="lin" valueType="num">
                                      <p:cBhvr>
                                        <p:cTn id="23" dur="1000" fill="hold"/>
                                        <p:tgtEl>
                                          <p:spTgt spid="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9"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14350" y="228600"/>
            <a:ext cx="8229600" cy="1143000"/>
          </a:xfrm>
        </p:spPr>
        <p:txBody>
          <a:bodyPr>
            <a:normAutofit/>
          </a:bodyPr>
          <a:lstStyle/>
          <a:p>
            <a:r>
              <a:rPr lang="en-US" dirty="0"/>
              <a:t>The Grace of God Revealed</a:t>
            </a:r>
            <a:br>
              <a:rPr lang="en-US" dirty="0"/>
            </a:br>
            <a:r>
              <a:rPr lang="en-US" sz="2400" dirty="0">
                <a:solidFill>
                  <a:schemeClr val="tx2">
                    <a:lumMod val="60000"/>
                    <a:lumOff val="40000"/>
                  </a:schemeClr>
                </a:solidFill>
              </a:rPr>
              <a:t>How </a:t>
            </a:r>
            <a:r>
              <a:rPr lang="en-US" sz="2400" i="1" dirty="0">
                <a:solidFill>
                  <a:schemeClr val="tx2">
                    <a:lumMod val="60000"/>
                    <a:lumOff val="40000"/>
                  </a:schemeClr>
                </a:solidFill>
              </a:rPr>
              <a:t>the</a:t>
            </a:r>
            <a:r>
              <a:rPr lang="en-US" sz="2400" dirty="0">
                <a:solidFill>
                  <a:schemeClr val="tx2">
                    <a:lumMod val="60000"/>
                    <a:lumOff val="40000"/>
                  </a:schemeClr>
                </a:solidFill>
              </a:rPr>
              <a:t> perfectly just LORD </a:t>
            </a:r>
            <a:r>
              <a:rPr lang="en-US" sz="2400" i="1" dirty="0">
                <a:solidFill>
                  <a:schemeClr val="tx2">
                    <a:lumMod val="60000"/>
                    <a:lumOff val="40000"/>
                  </a:schemeClr>
                </a:solidFill>
              </a:rPr>
              <a:t>has</a:t>
            </a:r>
            <a:r>
              <a:rPr lang="en-US" sz="2400" dirty="0">
                <a:solidFill>
                  <a:schemeClr val="tx2">
                    <a:lumMod val="60000"/>
                    <a:lumOff val="40000"/>
                  </a:schemeClr>
                </a:solidFill>
              </a:rPr>
              <a:t> forgiven sin…!</a:t>
            </a:r>
          </a:p>
        </p:txBody>
      </p:sp>
      <p:sp>
        <p:nvSpPr>
          <p:cNvPr id="4" name="TextBox 3"/>
          <p:cNvSpPr txBox="1"/>
          <p:nvPr/>
        </p:nvSpPr>
        <p:spPr>
          <a:xfrm>
            <a:off x="571500" y="1600200"/>
            <a:ext cx="8001000" cy="2677656"/>
          </a:xfrm>
          <a:prstGeom prst="rect">
            <a:avLst/>
          </a:prstGeom>
          <a:noFill/>
        </p:spPr>
        <p:txBody>
          <a:bodyPr wrap="square" rtlCol="0">
            <a:spAutoFit/>
          </a:bodyPr>
          <a:lstStyle/>
          <a:p>
            <a:r>
              <a:rPr lang="en-US" sz="2800" i="1" dirty="0"/>
              <a:t>“Blessed is he whose transgression is </a:t>
            </a:r>
            <a:r>
              <a:rPr lang="en-US" sz="2800" b="1" i="1" dirty="0"/>
              <a:t>forgiven</a:t>
            </a:r>
            <a:r>
              <a:rPr lang="en-US" sz="2800" i="1" dirty="0"/>
              <a:t>, </a:t>
            </a:r>
          </a:p>
          <a:p>
            <a:r>
              <a:rPr lang="en-US" sz="2800" i="1" dirty="0"/>
              <a:t>	whose sin is </a:t>
            </a:r>
            <a:r>
              <a:rPr lang="en-US" sz="2800" b="1" i="1" dirty="0"/>
              <a:t>covered</a:t>
            </a:r>
            <a:r>
              <a:rPr lang="en-US" sz="2800" i="1" dirty="0"/>
              <a:t>,</a:t>
            </a:r>
          </a:p>
          <a:p>
            <a:r>
              <a:rPr lang="en-US" sz="2800" i="1" dirty="0"/>
              <a:t>Blessed is the man to whom </a:t>
            </a:r>
          </a:p>
          <a:p>
            <a:r>
              <a:rPr lang="en-US" sz="2800" i="1" dirty="0"/>
              <a:t>	the </a:t>
            </a:r>
            <a:r>
              <a:rPr lang="en-US" sz="2800" b="1" i="1" dirty="0"/>
              <a:t>LORD</a:t>
            </a:r>
            <a:r>
              <a:rPr lang="en-US" sz="2800" i="1" dirty="0"/>
              <a:t> does </a:t>
            </a:r>
            <a:r>
              <a:rPr lang="en-US" sz="2800" b="1" i="1" dirty="0"/>
              <a:t>not</a:t>
            </a:r>
            <a:r>
              <a:rPr lang="en-US" sz="2800" i="1" dirty="0"/>
              <a:t> </a:t>
            </a:r>
            <a:r>
              <a:rPr lang="en-US" sz="2800" b="1" i="1" dirty="0"/>
              <a:t>impute</a:t>
            </a:r>
            <a:r>
              <a:rPr lang="en-US" sz="2800" i="1" dirty="0"/>
              <a:t> </a:t>
            </a:r>
            <a:r>
              <a:rPr lang="en-US" sz="2800" b="1" i="1" dirty="0"/>
              <a:t>iniquity</a:t>
            </a:r>
            <a:r>
              <a:rPr lang="en-US" sz="2800" i="1" dirty="0"/>
              <a:t>, </a:t>
            </a:r>
          </a:p>
          <a:p>
            <a:r>
              <a:rPr lang="en-US" sz="2800" i="1" dirty="0"/>
              <a:t>And in whose spirit there is </a:t>
            </a:r>
            <a:r>
              <a:rPr lang="en-US" sz="2800" b="1" i="1" dirty="0"/>
              <a:t>no</a:t>
            </a:r>
            <a:r>
              <a:rPr lang="en-US" sz="2800" i="1" dirty="0"/>
              <a:t> </a:t>
            </a:r>
            <a:r>
              <a:rPr lang="en-US" sz="2800" b="1" i="1" dirty="0"/>
              <a:t>deceit</a:t>
            </a:r>
            <a:r>
              <a:rPr lang="en-US" sz="2800" i="1" dirty="0"/>
              <a:t>.”   </a:t>
            </a:r>
          </a:p>
          <a:p>
            <a:pPr marL="800100" lvl="1" indent="-342900">
              <a:buFont typeface="Arial" pitchFamily="34" charset="0"/>
              <a:buChar char="•"/>
            </a:pPr>
            <a:r>
              <a:rPr lang="en-US" sz="2800" b="1" i="1" dirty="0"/>
              <a:t>Psalm 32:1-2</a:t>
            </a:r>
            <a:r>
              <a:rPr lang="en-US" sz="2800" i="1" dirty="0"/>
              <a:t>; </a:t>
            </a:r>
            <a:r>
              <a:rPr lang="en-US" sz="2800" b="1" i="1" dirty="0"/>
              <a:t>Romans 4:7-8</a:t>
            </a:r>
            <a:endParaRPr lang="en-US" sz="2400" b="1" i="1" dirty="0"/>
          </a:p>
        </p:txBody>
      </p:sp>
      <p:sp>
        <p:nvSpPr>
          <p:cNvPr id="5" name="TextBox 4"/>
          <p:cNvSpPr txBox="1"/>
          <p:nvPr/>
        </p:nvSpPr>
        <p:spPr>
          <a:xfrm>
            <a:off x="536666" y="4953000"/>
            <a:ext cx="8191500" cy="954107"/>
          </a:xfrm>
          <a:prstGeom prst="rect">
            <a:avLst/>
          </a:prstGeom>
          <a:noFill/>
        </p:spPr>
        <p:txBody>
          <a:bodyPr wrap="square" rtlCol="0">
            <a:spAutoFit/>
          </a:bodyPr>
          <a:lstStyle/>
          <a:p>
            <a:r>
              <a:rPr lang="en-US" sz="2800" i="1" dirty="0"/>
              <a:t>“…</a:t>
            </a:r>
            <a:r>
              <a:rPr lang="en-US" sz="2800" i="1" dirty="0">
                <a:highlight>
                  <a:srgbClr val="FFFF00"/>
                </a:highlight>
              </a:rPr>
              <a:t>that </a:t>
            </a:r>
            <a:r>
              <a:rPr lang="en-US" sz="2800" b="1" i="1" dirty="0">
                <a:highlight>
                  <a:srgbClr val="FFFF00"/>
                </a:highlight>
              </a:rPr>
              <a:t>He</a:t>
            </a:r>
            <a:r>
              <a:rPr lang="en-US" sz="2800" i="1" dirty="0">
                <a:highlight>
                  <a:srgbClr val="FFFF00"/>
                </a:highlight>
              </a:rPr>
              <a:t> might </a:t>
            </a:r>
            <a:r>
              <a:rPr lang="en-US" sz="2800" b="1" i="1" dirty="0">
                <a:highlight>
                  <a:srgbClr val="FFFF00"/>
                </a:highlight>
              </a:rPr>
              <a:t>be just and the justifier </a:t>
            </a:r>
            <a:r>
              <a:rPr lang="en-US" sz="2800" i="1" dirty="0">
                <a:highlight>
                  <a:srgbClr val="FFFF00"/>
                </a:highlight>
              </a:rPr>
              <a:t>of the one who has faith in Jesus</a:t>
            </a:r>
            <a:r>
              <a:rPr lang="en-US" sz="2800" i="1" dirty="0"/>
              <a:t>.”    Romans 3:26</a:t>
            </a:r>
          </a:p>
        </p:txBody>
      </p:sp>
    </p:spTree>
    <p:extLst>
      <p:ext uri="{BB962C8B-B14F-4D97-AF65-F5344CB8AC3E}">
        <p14:creationId xmlns:p14="http://schemas.microsoft.com/office/powerpoint/2010/main" val="26371894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fade">
                                      <p:cBhvr>
                                        <p:cTn id="14" dur="1000"/>
                                        <p:tgtEl>
                                          <p:spTgt spid="5"/>
                                        </p:tgtEl>
                                      </p:cBhvr>
                                    </p:animEffect>
                                    <p:anim calcmode="lin" valueType="num">
                                      <p:cBhvr>
                                        <p:cTn id="15" dur="1000" fill="hold"/>
                                        <p:tgtEl>
                                          <p:spTgt spid="5"/>
                                        </p:tgtEl>
                                        <p:attrNameLst>
                                          <p:attrName>ppt_x</p:attrName>
                                        </p:attrNameLst>
                                      </p:cBhvr>
                                      <p:tavLst>
                                        <p:tav tm="0">
                                          <p:val>
                                            <p:strVal val="#ppt_x"/>
                                          </p:val>
                                        </p:tav>
                                        <p:tav tm="100000">
                                          <p:val>
                                            <p:strVal val="#ppt_x"/>
                                          </p:val>
                                        </p:tav>
                                      </p:tavLst>
                                    </p:anim>
                                    <p:anim calcmode="lin" valueType="num">
                                      <p:cBhvr>
                                        <p:cTn id="16" dur="100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587714-2347-1CD9-10C8-3454AFAA236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DEF402D-67A6-1969-F14B-807FF9FCE8B7}"/>
              </a:ext>
            </a:extLst>
          </p:cNvPr>
          <p:cNvSpPr>
            <a:spLocks noGrp="1"/>
          </p:cNvSpPr>
          <p:nvPr>
            <p:ph type="title"/>
          </p:nvPr>
        </p:nvSpPr>
        <p:spPr>
          <a:xfrm>
            <a:off x="304801" y="13063"/>
            <a:ext cx="8229600" cy="914400"/>
          </a:xfrm>
        </p:spPr>
        <p:txBody>
          <a:bodyPr>
            <a:normAutofit fontScale="90000"/>
          </a:bodyPr>
          <a:lstStyle/>
          <a:p>
            <a:pPr algn="l"/>
            <a:r>
              <a:rPr lang="en-US" sz="4400" dirty="0"/>
              <a:t>A quick review…</a:t>
            </a:r>
            <a:br>
              <a:rPr lang="en-US" sz="4900" dirty="0"/>
            </a:br>
            <a:r>
              <a:rPr lang="en-US" sz="2400" dirty="0">
                <a:solidFill>
                  <a:schemeClr val="tx2">
                    <a:lumMod val="60000"/>
                    <a:lumOff val="40000"/>
                  </a:schemeClr>
                </a:solidFill>
              </a:rPr>
              <a:t>Truth, The Nature of Mankind, and Worldviews</a:t>
            </a:r>
          </a:p>
        </p:txBody>
      </p:sp>
      <p:sp>
        <p:nvSpPr>
          <p:cNvPr id="6" name="TextBox 5">
            <a:extLst>
              <a:ext uri="{FF2B5EF4-FFF2-40B4-BE49-F238E27FC236}">
                <a16:creationId xmlns:a16="http://schemas.microsoft.com/office/drawing/2014/main" id="{EBA47832-7C37-469F-A238-6604F13ABBC3}"/>
              </a:ext>
            </a:extLst>
          </p:cNvPr>
          <p:cNvSpPr txBox="1"/>
          <p:nvPr/>
        </p:nvSpPr>
        <p:spPr>
          <a:xfrm>
            <a:off x="304800" y="1143000"/>
            <a:ext cx="8534399" cy="5016758"/>
          </a:xfrm>
          <a:prstGeom prst="rect">
            <a:avLst/>
          </a:prstGeom>
          <a:noFill/>
        </p:spPr>
        <p:txBody>
          <a:bodyPr wrap="square" rtlCol="0">
            <a:spAutoFit/>
          </a:bodyPr>
          <a:lstStyle/>
          <a:p>
            <a:pPr marL="285750" indent="-285750">
              <a:buFont typeface="Arial" panose="020B0604020202020204" pitchFamily="34" charset="0"/>
              <a:buChar char="•"/>
            </a:pPr>
            <a:r>
              <a:rPr lang="en-US" sz="2000" b="1" dirty="0"/>
              <a:t>Truth</a:t>
            </a:r>
            <a:r>
              <a:rPr lang="en-US" sz="2000" dirty="0"/>
              <a:t> is objective, knowable, and </a:t>
            </a:r>
            <a:r>
              <a:rPr lang="en-US" sz="2000" u="sng" dirty="0"/>
              <a:t>personified</a:t>
            </a:r>
            <a:r>
              <a:rPr lang="en-US" sz="2000" dirty="0"/>
              <a:t> in Jesus of Nazareth. (John 14:6-11; John 18:37; Acts 2:22)</a:t>
            </a:r>
          </a:p>
          <a:p>
            <a:endParaRPr lang="en-US" sz="2000" dirty="0"/>
          </a:p>
          <a:p>
            <a:pPr marL="285750" indent="-285750">
              <a:buFont typeface="Arial" panose="020B0604020202020204" pitchFamily="34" charset="0"/>
              <a:buChar char="•"/>
            </a:pPr>
            <a:r>
              <a:rPr lang="en-US" sz="2000" dirty="0"/>
              <a:t>The </a:t>
            </a:r>
            <a:r>
              <a:rPr lang="en-US" sz="2000" b="1" dirty="0"/>
              <a:t>Natural Man</a:t>
            </a:r>
            <a:r>
              <a:rPr lang="en-US" sz="2000" dirty="0"/>
              <a:t> recognizes God’s creativity and intelligence in the created order; </a:t>
            </a:r>
            <a:r>
              <a:rPr lang="en-US" sz="2000" i="1" dirty="0"/>
              <a:t>but suppresses the truth in unrighteousness</a:t>
            </a:r>
            <a:r>
              <a:rPr lang="en-US" sz="2000" dirty="0"/>
              <a:t>. (Romans 1)</a:t>
            </a:r>
          </a:p>
          <a:p>
            <a:pPr marL="285750" indent="-285750">
              <a:buFont typeface="Arial" panose="020B0604020202020204" pitchFamily="34" charset="0"/>
              <a:buChar char="•"/>
            </a:pPr>
            <a:endParaRPr lang="en-US" sz="2000" dirty="0"/>
          </a:p>
          <a:p>
            <a:pPr marL="285750" indent="-285750">
              <a:buFont typeface="Arial" panose="020B0604020202020204" pitchFamily="34" charset="0"/>
              <a:buChar char="•"/>
            </a:pPr>
            <a:r>
              <a:rPr lang="en-US" sz="2000" dirty="0"/>
              <a:t>The </a:t>
            </a:r>
            <a:r>
              <a:rPr lang="en-US" sz="2000" b="1" dirty="0"/>
              <a:t>Moral Man</a:t>
            </a:r>
            <a:r>
              <a:rPr lang="en-US" sz="2000" dirty="0"/>
              <a:t> recognizes how things ought to be; </a:t>
            </a:r>
            <a:r>
              <a:rPr lang="en-US" sz="2000" i="1" dirty="0"/>
              <a:t>but falls short of God’s goodness revealed via his own conscience and rationality</a:t>
            </a:r>
            <a:r>
              <a:rPr lang="en-US" sz="2000" dirty="0"/>
              <a:t>. (Romans 2)</a:t>
            </a:r>
          </a:p>
          <a:p>
            <a:pPr marL="285750" indent="-285750">
              <a:buFont typeface="Arial" panose="020B0604020202020204" pitchFamily="34" charset="0"/>
              <a:buChar char="•"/>
            </a:pPr>
            <a:endParaRPr lang="en-US" sz="2000" dirty="0"/>
          </a:p>
          <a:p>
            <a:pPr marL="285750" indent="-285750">
              <a:buFont typeface="Arial" panose="020B0604020202020204" pitchFamily="34" charset="0"/>
              <a:buChar char="•"/>
            </a:pPr>
            <a:r>
              <a:rPr lang="en-US" sz="2000" dirty="0"/>
              <a:t>The </a:t>
            </a:r>
            <a:r>
              <a:rPr lang="en-US" sz="2000" b="1" dirty="0"/>
              <a:t>Religious Man</a:t>
            </a:r>
            <a:r>
              <a:rPr lang="en-US" sz="2000" dirty="0"/>
              <a:t> recognizes that God exists, and that God has expectations; </a:t>
            </a:r>
            <a:r>
              <a:rPr lang="en-US" sz="2000" i="1" dirty="0"/>
              <a:t>but succumbs to selfish pride, artificial authority, arrogance, and hypocrisy</a:t>
            </a:r>
            <a:r>
              <a:rPr lang="en-US" sz="2000" dirty="0"/>
              <a:t>. (Romans 3)</a:t>
            </a:r>
          </a:p>
          <a:p>
            <a:endParaRPr lang="en-US" sz="2000" dirty="0"/>
          </a:p>
          <a:p>
            <a:pPr marL="285750" indent="-285750">
              <a:buFont typeface="Arial" panose="020B0604020202020204" pitchFamily="34" charset="0"/>
              <a:buChar char="•"/>
            </a:pPr>
            <a:r>
              <a:rPr lang="en-US" sz="2000" dirty="0"/>
              <a:t>The </a:t>
            </a:r>
            <a:r>
              <a:rPr lang="en-US" sz="2000" b="1" dirty="0"/>
              <a:t>Just Man </a:t>
            </a:r>
            <a:r>
              <a:rPr lang="en-US" sz="2000" dirty="0"/>
              <a:t>relies upon God’s promise, lives by faith; </a:t>
            </a:r>
            <a:r>
              <a:rPr lang="en-US" sz="2000" i="1" dirty="0"/>
              <a:t>and receives the blessing of imputed righteousness. </a:t>
            </a:r>
            <a:r>
              <a:rPr lang="en-US" sz="2000" dirty="0"/>
              <a:t>(Romans 4) </a:t>
            </a:r>
          </a:p>
        </p:txBody>
      </p:sp>
    </p:spTree>
    <p:extLst>
      <p:ext uri="{BB962C8B-B14F-4D97-AF65-F5344CB8AC3E}">
        <p14:creationId xmlns:p14="http://schemas.microsoft.com/office/powerpoint/2010/main" val="15366027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fade">
                                      <p:cBhvr>
                                        <p:cTn id="7" dur="1000"/>
                                        <p:tgtEl>
                                          <p:spTgt spid="6">
                                            <p:txEl>
                                              <p:pRg st="0" end="0"/>
                                            </p:txEl>
                                          </p:spTgt>
                                        </p:tgtEl>
                                      </p:cBhvr>
                                    </p:animEffect>
                                    <p:anim calcmode="lin" valueType="num">
                                      <p:cBhvr>
                                        <p:cTn id="8" dur="1000" fill="hold"/>
                                        <p:tgtEl>
                                          <p:spTgt spid="6">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6">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6">
                                            <p:txEl>
                                              <p:pRg st="2" end="2"/>
                                            </p:txEl>
                                          </p:spTgt>
                                        </p:tgtEl>
                                        <p:attrNameLst>
                                          <p:attrName>style.visibility</p:attrName>
                                        </p:attrNameLst>
                                      </p:cBhvr>
                                      <p:to>
                                        <p:strVal val="visible"/>
                                      </p:to>
                                    </p:set>
                                    <p:animEffect transition="in" filter="fade">
                                      <p:cBhvr>
                                        <p:cTn id="14" dur="1000"/>
                                        <p:tgtEl>
                                          <p:spTgt spid="6">
                                            <p:txEl>
                                              <p:pRg st="2" end="2"/>
                                            </p:txEl>
                                          </p:spTgt>
                                        </p:tgtEl>
                                      </p:cBhvr>
                                    </p:animEffect>
                                    <p:anim calcmode="lin" valueType="num">
                                      <p:cBhvr>
                                        <p:cTn id="15" dur="1000" fill="hold"/>
                                        <p:tgtEl>
                                          <p:spTgt spid="6">
                                            <p:txEl>
                                              <p:pRg st="2" end="2"/>
                                            </p:txEl>
                                          </p:spTgt>
                                        </p:tgtEl>
                                        <p:attrNameLst>
                                          <p:attrName>ppt_x</p:attrName>
                                        </p:attrNameLst>
                                      </p:cBhvr>
                                      <p:tavLst>
                                        <p:tav tm="0">
                                          <p:val>
                                            <p:strVal val="#ppt_x"/>
                                          </p:val>
                                        </p:tav>
                                        <p:tav tm="100000">
                                          <p:val>
                                            <p:strVal val="#ppt_x"/>
                                          </p:val>
                                        </p:tav>
                                      </p:tavLst>
                                    </p:anim>
                                    <p:anim calcmode="lin" valueType="num">
                                      <p:cBhvr>
                                        <p:cTn id="16" dur="1000" fill="hold"/>
                                        <p:tgtEl>
                                          <p:spTgt spid="6">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6">
                                            <p:txEl>
                                              <p:pRg st="4" end="4"/>
                                            </p:txEl>
                                          </p:spTgt>
                                        </p:tgtEl>
                                        <p:attrNameLst>
                                          <p:attrName>style.visibility</p:attrName>
                                        </p:attrNameLst>
                                      </p:cBhvr>
                                      <p:to>
                                        <p:strVal val="visible"/>
                                      </p:to>
                                    </p:set>
                                    <p:animEffect transition="in" filter="fade">
                                      <p:cBhvr>
                                        <p:cTn id="21" dur="1000"/>
                                        <p:tgtEl>
                                          <p:spTgt spid="6">
                                            <p:txEl>
                                              <p:pRg st="4" end="4"/>
                                            </p:txEl>
                                          </p:spTgt>
                                        </p:tgtEl>
                                      </p:cBhvr>
                                    </p:animEffect>
                                    <p:anim calcmode="lin" valueType="num">
                                      <p:cBhvr>
                                        <p:cTn id="22" dur="1000" fill="hold"/>
                                        <p:tgtEl>
                                          <p:spTgt spid="6">
                                            <p:txEl>
                                              <p:pRg st="4" end="4"/>
                                            </p:txEl>
                                          </p:spTgt>
                                        </p:tgtEl>
                                        <p:attrNameLst>
                                          <p:attrName>ppt_x</p:attrName>
                                        </p:attrNameLst>
                                      </p:cBhvr>
                                      <p:tavLst>
                                        <p:tav tm="0">
                                          <p:val>
                                            <p:strVal val="#ppt_x"/>
                                          </p:val>
                                        </p:tav>
                                        <p:tav tm="100000">
                                          <p:val>
                                            <p:strVal val="#ppt_x"/>
                                          </p:val>
                                        </p:tav>
                                      </p:tavLst>
                                    </p:anim>
                                    <p:anim calcmode="lin" valueType="num">
                                      <p:cBhvr>
                                        <p:cTn id="23" dur="1000" fill="hold"/>
                                        <p:tgtEl>
                                          <p:spTgt spid="6">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6">
                                            <p:txEl>
                                              <p:pRg st="6" end="6"/>
                                            </p:txEl>
                                          </p:spTgt>
                                        </p:tgtEl>
                                        <p:attrNameLst>
                                          <p:attrName>style.visibility</p:attrName>
                                        </p:attrNameLst>
                                      </p:cBhvr>
                                      <p:to>
                                        <p:strVal val="visible"/>
                                      </p:to>
                                    </p:set>
                                    <p:animEffect transition="in" filter="fade">
                                      <p:cBhvr>
                                        <p:cTn id="28" dur="1000"/>
                                        <p:tgtEl>
                                          <p:spTgt spid="6">
                                            <p:txEl>
                                              <p:pRg st="6" end="6"/>
                                            </p:txEl>
                                          </p:spTgt>
                                        </p:tgtEl>
                                      </p:cBhvr>
                                    </p:animEffect>
                                    <p:anim calcmode="lin" valueType="num">
                                      <p:cBhvr>
                                        <p:cTn id="29" dur="1000" fill="hold"/>
                                        <p:tgtEl>
                                          <p:spTgt spid="6">
                                            <p:txEl>
                                              <p:pRg st="6" end="6"/>
                                            </p:txEl>
                                          </p:spTgt>
                                        </p:tgtEl>
                                        <p:attrNameLst>
                                          <p:attrName>ppt_x</p:attrName>
                                        </p:attrNameLst>
                                      </p:cBhvr>
                                      <p:tavLst>
                                        <p:tav tm="0">
                                          <p:val>
                                            <p:strVal val="#ppt_x"/>
                                          </p:val>
                                        </p:tav>
                                        <p:tav tm="100000">
                                          <p:val>
                                            <p:strVal val="#ppt_x"/>
                                          </p:val>
                                        </p:tav>
                                      </p:tavLst>
                                    </p:anim>
                                    <p:anim calcmode="lin" valueType="num">
                                      <p:cBhvr>
                                        <p:cTn id="30" dur="1000" fill="hold"/>
                                        <p:tgtEl>
                                          <p:spTgt spid="6">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nodeType="clickEffect">
                                  <p:stCondLst>
                                    <p:cond delay="0"/>
                                  </p:stCondLst>
                                  <p:childTnLst>
                                    <p:set>
                                      <p:cBhvr>
                                        <p:cTn id="34" dur="1" fill="hold">
                                          <p:stCondLst>
                                            <p:cond delay="0"/>
                                          </p:stCondLst>
                                        </p:cTn>
                                        <p:tgtEl>
                                          <p:spTgt spid="6">
                                            <p:txEl>
                                              <p:pRg st="8" end="8"/>
                                            </p:txEl>
                                          </p:spTgt>
                                        </p:tgtEl>
                                        <p:attrNameLst>
                                          <p:attrName>style.visibility</p:attrName>
                                        </p:attrNameLst>
                                      </p:cBhvr>
                                      <p:to>
                                        <p:strVal val="visible"/>
                                      </p:to>
                                    </p:set>
                                    <p:animEffect transition="in" filter="fade">
                                      <p:cBhvr>
                                        <p:cTn id="35" dur="1000"/>
                                        <p:tgtEl>
                                          <p:spTgt spid="6">
                                            <p:txEl>
                                              <p:pRg st="8" end="8"/>
                                            </p:txEl>
                                          </p:spTgt>
                                        </p:tgtEl>
                                      </p:cBhvr>
                                    </p:animEffect>
                                    <p:anim calcmode="lin" valueType="num">
                                      <p:cBhvr>
                                        <p:cTn id="36" dur="1000" fill="hold"/>
                                        <p:tgtEl>
                                          <p:spTgt spid="6">
                                            <p:txEl>
                                              <p:pRg st="8" end="8"/>
                                            </p:txEl>
                                          </p:spTgt>
                                        </p:tgtEl>
                                        <p:attrNameLst>
                                          <p:attrName>ppt_x</p:attrName>
                                        </p:attrNameLst>
                                      </p:cBhvr>
                                      <p:tavLst>
                                        <p:tav tm="0">
                                          <p:val>
                                            <p:strVal val="#ppt_x"/>
                                          </p:val>
                                        </p:tav>
                                        <p:tav tm="100000">
                                          <p:val>
                                            <p:strVal val="#ppt_x"/>
                                          </p:val>
                                        </p:tav>
                                      </p:tavLst>
                                    </p:anim>
                                    <p:anim calcmode="lin" valueType="num">
                                      <p:cBhvr>
                                        <p:cTn id="37" dur="1000" fill="hold"/>
                                        <p:tgtEl>
                                          <p:spTgt spid="6">
                                            <p:txEl>
                                              <p:pRg st="8" end="8"/>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FCC360-DE64-FD06-00B7-46D3D16410C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03AD7B0-4DA2-8E35-5C1E-D128743D4FBA}"/>
              </a:ext>
            </a:extLst>
          </p:cNvPr>
          <p:cNvSpPr>
            <a:spLocks noGrp="1"/>
          </p:cNvSpPr>
          <p:nvPr>
            <p:ph type="title"/>
          </p:nvPr>
        </p:nvSpPr>
        <p:spPr>
          <a:xfrm>
            <a:off x="266700" y="0"/>
            <a:ext cx="8610600" cy="1143000"/>
          </a:xfrm>
        </p:spPr>
        <p:txBody>
          <a:bodyPr>
            <a:normAutofit fontScale="90000"/>
          </a:bodyPr>
          <a:lstStyle/>
          <a:p>
            <a:pPr algn="l"/>
            <a:r>
              <a:rPr lang="en-US" dirty="0"/>
              <a:t>The Spiritual Man – A New Creation</a:t>
            </a:r>
            <a:br>
              <a:rPr lang="en-US" dirty="0"/>
            </a:br>
            <a:r>
              <a:rPr lang="en-US" sz="2400" dirty="0">
                <a:solidFill>
                  <a:schemeClr val="tx2">
                    <a:lumMod val="60000"/>
                    <a:lumOff val="40000"/>
                  </a:schemeClr>
                </a:solidFill>
              </a:rPr>
              <a:t>1 Cor. 2:6-16; 2 Cor. 5:16-21; Galatians 5; Romans 8</a:t>
            </a:r>
          </a:p>
        </p:txBody>
      </p:sp>
      <p:sp>
        <p:nvSpPr>
          <p:cNvPr id="3" name="TextBox 2">
            <a:extLst>
              <a:ext uri="{FF2B5EF4-FFF2-40B4-BE49-F238E27FC236}">
                <a16:creationId xmlns:a16="http://schemas.microsoft.com/office/drawing/2014/main" id="{1066A093-8C2F-E758-7D37-1B61546BC782}"/>
              </a:ext>
            </a:extLst>
          </p:cNvPr>
          <p:cNvSpPr txBox="1"/>
          <p:nvPr/>
        </p:nvSpPr>
        <p:spPr>
          <a:xfrm>
            <a:off x="266700" y="3389812"/>
            <a:ext cx="8610600" cy="3266985"/>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en-US" sz="2000" b="1" i="1" dirty="0">
                <a:latin typeface="+mn-lt"/>
              </a:rPr>
              <a:t>An Internal, Heart-Level Knowledge  </a:t>
            </a:r>
            <a:r>
              <a:rPr lang="en-US" sz="2000" i="1" dirty="0">
                <a:latin typeface="+mn-lt"/>
              </a:rPr>
              <a:t>(Jer. 31:33)</a:t>
            </a:r>
          </a:p>
          <a:p>
            <a:pPr marL="285750" indent="-285750">
              <a:lnSpc>
                <a:spcPct val="150000"/>
              </a:lnSpc>
              <a:buFont typeface="Arial" panose="020B0604020202020204" pitchFamily="34" charset="0"/>
              <a:buChar char="•"/>
            </a:pPr>
            <a:r>
              <a:rPr lang="en-US" sz="2000" b="1" i="1" dirty="0">
                <a:latin typeface="+mn-lt"/>
              </a:rPr>
              <a:t>A Personal Relationship mediated through Jesus Christ </a:t>
            </a:r>
            <a:r>
              <a:rPr lang="en-US" sz="2000" i="1" dirty="0">
                <a:latin typeface="+mn-lt"/>
              </a:rPr>
              <a:t>(John 14:6)</a:t>
            </a:r>
          </a:p>
          <a:p>
            <a:pPr marL="285750" indent="-285750">
              <a:lnSpc>
                <a:spcPct val="150000"/>
              </a:lnSpc>
              <a:buFont typeface="Arial" panose="020B0604020202020204" pitchFamily="34" charset="0"/>
              <a:buChar char="•"/>
            </a:pPr>
            <a:r>
              <a:rPr lang="en-US" sz="2000" b="1" i="1" dirty="0">
                <a:latin typeface="+mn-lt"/>
              </a:rPr>
              <a:t>Obedience as a Sign of Knowledge; a Practical Test </a:t>
            </a:r>
            <a:r>
              <a:rPr lang="en-US" sz="2000" i="1" dirty="0">
                <a:latin typeface="+mn-lt"/>
              </a:rPr>
              <a:t>(1 John 2:3-6)</a:t>
            </a:r>
          </a:p>
          <a:p>
            <a:pPr marL="285750" indent="-285750">
              <a:lnSpc>
                <a:spcPct val="150000"/>
              </a:lnSpc>
              <a:buFont typeface="Arial" panose="020B0604020202020204" pitchFamily="34" charset="0"/>
              <a:buChar char="•"/>
            </a:pPr>
            <a:r>
              <a:rPr lang="en-US" sz="2000" b="1" i="1" dirty="0">
                <a:latin typeface="+mn-lt"/>
              </a:rPr>
              <a:t>Love as the Outflow of Knowing God; a Practical Test </a:t>
            </a:r>
            <a:r>
              <a:rPr lang="en-US" sz="2000" i="1" dirty="0">
                <a:latin typeface="+mn-lt"/>
              </a:rPr>
              <a:t>(1 John 4:7-8)</a:t>
            </a:r>
          </a:p>
          <a:p>
            <a:pPr marL="285750" indent="-285750">
              <a:lnSpc>
                <a:spcPct val="150000"/>
              </a:lnSpc>
              <a:buFont typeface="Arial" panose="020B0604020202020204" pitchFamily="34" charset="0"/>
              <a:buChar char="•"/>
            </a:pPr>
            <a:r>
              <a:rPr lang="en-US" sz="2000" b="1" i="1" dirty="0">
                <a:latin typeface="+mn-lt"/>
              </a:rPr>
              <a:t>The Witness of the Holy Spirit</a:t>
            </a:r>
            <a:r>
              <a:rPr lang="en-US" sz="2000" i="1" dirty="0">
                <a:latin typeface="+mn-lt"/>
              </a:rPr>
              <a:t> (Romans 8:12-17)</a:t>
            </a:r>
            <a:endParaRPr lang="en-US" sz="2000" dirty="0">
              <a:latin typeface="+mn-lt"/>
            </a:endParaRPr>
          </a:p>
          <a:p>
            <a:pPr marL="285750" indent="-285750">
              <a:lnSpc>
                <a:spcPct val="150000"/>
              </a:lnSpc>
              <a:buFont typeface="Arial" panose="020B0604020202020204" pitchFamily="34" charset="0"/>
              <a:buChar char="•"/>
            </a:pPr>
            <a:r>
              <a:rPr lang="en-US" sz="2000" b="1" i="1" dirty="0">
                <a:latin typeface="+mn-lt"/>
              </a:rPr>
              <a:t>The Fruit of the Spirit; a Practical Test</a:t>
            </a:r>
            <a:r>
              <a:rPr lang="en-US" sz="2000" i="1" dirty="0">
                <a:latin typeface="+mn-lt"/>
              </a:rPr>
              <a:t> (Galatians 5:22-25)</a:t>
            </a:r>
          </a:p>
          <a:p>
            <a:pPr marL="285750" indent="-285750">
              <a:lnSpc>
                <a:spcPct val="150000"/>
              </a:lnSpc>
              <a:buFont typeface="Arial" panose="020B0604020202020204" pitchFamily="34" charset="0"/>
              <a:buChar char="•"/>
            </a:pPr>
            <a:r>
              <a:rPr lang="en-US" sz="2000" b="1" i="1" dirty="0">
                <a:latin typeface="+mn-lt"/>
              </a:rPr>
              <a:t>The Mind of Christ; a World-View Test</a:t>
            </a:r>
            <a:r>
              <a:rPr lang="en-US" sz="2000" i="1" dirty="0">
                <a:latin typeface="+mn-lt"/>
              </a:rPr>
              <a:t> (1 Corinthians 2:16)</a:t>
            </a:r>
            <a:endParaRPr lang="en-US" sz="2000" b="1" i="1" dirty="0">
              <a:latin typeface="+mn-lt"/>
            </a:endParaRPr>
          </a:p>
        </p:txBody>
      </p:sp>
      <p:sp>
        <p:nvSpPr>
          <p:cNvPr id="4" name="TextBox 3">
            <a:extLst>
              <a:ext uri="{FF2B5EF4-FFF2-40B4-BE49-F238E27FC236}">
                <a16:creationId xmlns:a16="http://schemas.microsoft.com/office/drawing/2014/main" id="{6133F9C2-6CAA-E9BF-1EE5-AFA21A8EA715}"/>
              </a:ext>
            </a:extLst>
          </p:cNvPr>
          <p:cNvSpPr txBox="1"/>
          <p:nvPr/>
        </p:nvSpPr>
        <p:spPr>
          <a:xfrm>
            <a:off x="266700" y="1186130"/>
            <a:ext cx="8610600" cy="1200329"/>
          </a:xfrm>
          <a:prstGeom prst="rect">
            <a:avLst/>
          </a:prstGeom>
          <a:noFill/>
        </p:spPr>
        <p:txBody>
          <a:bodyPr wrap="square" rtlCol="0">
            <a:spAutoFit/>
          </a:bodyPr>
          <a:lstStyle/>
          <a:p>
            <a:r>
              <a:rPr lang="en-US" sz="2400" b="1" i="1" dirty="0"/>
              <a:t>Therefore, if anyone is in Christ, </a:t>
            </a:r>
            <a:r>
              <a:rPr lang="en-US" sz="2400" b="1" i="1" u="sng" dirty="0"/>
              <a:t>he is a new creation</a:t>
            </a:r>
            <a:r>
              <a:rPr lang="en-US" sz="2400" b="1" i="1" dirty="0"/>
              <a:t>; old things have passed away; behold, all things have become new.   (2 Cor. 5:17)</a:t>
            </a:r>
          </a:p>
        </p:txBody>
      </p:sp>
      <p:sp>
        <p:nvSpPr>
          <p:cNvPr id="5" name="TextBox 4">
            <a:extLst>
              <a:ext uri="{FF2B5EF4-FFF2-40B4-BE49-F238E27FC236}">
                <a16:creationId xmlns:a16="http://schemas.microsoft.com/office/drawing/2014/main" id="{A720B1D9-C60C-505D-2CE9-17209419BA3B}"/>
              </a:ext>
            </a:extLst>
          </p:cNvPr>
          <p:cNvSpPr txBox="1"/>
          <p:nvPr/>
        </p:nvSpPr>
        <p:spPr>
          <a:xfrm>
            <a:off x="266700" y="2472637"/>
            <a:ext cx="8496300" cy="830997"/>
          </a:xfrm>
          <a:prstGeom prst="rect">
            <a:avLst/>
          </a:prstGeom>
          <a:noFill/>
        </p:spPr>
        <p:txBody>
          <a:bodyPr wrap="square" rtlCol="0">
            <a:spAutoFit/>
          </a:bodyPr>
          <a:lstStyle/>
          <a:p>
            <a:r>
              <a:rPr lang="en-US" sz="2400" b="1" i="1" dirty="0">
                <a:latin typeface="+mn-lt"/>
              </a:rPr>
              <a:t>What is meant by ‘Knowing God’?  </a:t>
            </a:r>
          </a:p>
          <a:p>
            <a:r>
              <a:rPr lang="en-US" sz="2400" i="1" dirty="0">
                <a:latin typeface="+mn-lt"/>
              </a:rPr>
              <a:t>(Jer. 31:31-34; Heb. 8:6-12)</a:t>
            </a:r>
          </a:p>
        </p:txBody>
      </p:sp>
    </p:spTree>
    <p:extLst>
      <p:ext uri="{BB962C8B-B14F-4D97-AF65-F5344CB8AC3E}">
        <p14:creationId xmlns:p14="http://schemas.microsoft.com/office/powerpoint/2010/main" val="41228649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anim calcmode="lin" valueType="num">
                                      <p:cBhvr>
                                        <p:cTn id="8" dur="1000" fill="hold"/>
                                        <p:tgtEl>
                                          <p:spTgt spid="5"/>
                                        </p:tgtEl>
                                        <p:attrNameLst>
                                          <p:attrName>ppt_x</p:attrName>
                                        </p:attrNameLst>
                                      </p:cBhvr>
                                      <p:tavLst>
                                        <p:tav tm="0">
                                          <p:val>
                                            <p:strVal val="#ppt_x"/>
                                          </p:val>
                                        </p:tav>
                                        <p:tav tm="100000">
                                          <p:val>
                                            <p:strVal val="#ppt_x"/>
                                          </p:val>
                                        </p:tav>
                                      </p:tavLst>
                                    </p:anim>
                                    <p:anim calcmode="lin" valueType="num">
                                      <p:cBhvr>
                                        <p:cTn id="9"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nodeType="clickEffect">
                                  <p:stCondLst>
                                    <p:cond delay="0"/>
                                  </p:stCondLst>
                                  <p:childTnLst>
                                    <p:set>
                                      <p:cBhvr>
                                        <p:cTn id="17"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nodeType="clickEffect">
                                  <p:stCondLst>
                                    <p:cond delay="0"/>
                                  </p:stCondLst>
                                  <p:childTnLst>
                                    <p:set>
                                      <p:cBhvr>
                                        <p:cTn id="21"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nodeType="clickEffect">
                                  <p:stCondLst>
                                    <p:cond delay="0"/>
                                  </p:stCondLst>
                                  <p:childTnLst>
                                    <p:set>
                                      <p:cBhvr>
                                        <p:cTn id="25"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26" fill="hold">
                      <p:stCondLst>
                        <p:cond delay="indefinite"/>
                      </p:stCondLst>
                      <p:childTnLst>
                        <p:par>
                          <p:cTn id="27" fill="hold">
                            <p:stCondLst>
                              <p:cond delay="0"/>
                            </p:stCondLst>
                            <p:childTnLst>
                              <p:par>
                                <p:cTn id="28" presetID="1" presetClass="entr" presetSubtype="0" fill="hold" nodeType="clickEffect">
                                  <p:stCondLst>
                                    <p:cond delay="0"/>
                                  </p:stCondLst>
                                  <p:childTnLst>
                                    <p:set>
                                      <p:cBhvr>
                                        <p:cTn id="29"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clickEffect">
                                  <p:stCondLst>
                                    <p:cond delay="0"/>
                                  </p:stCondLst>
                                  <p:childTnLst>
                                    <p:set>
                                      <p:cBhvr>
                                        <p:cTn id="33"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34" fill="hold">
                      <p:stCondLst>
                        <p:cond delay="indefinite"/>
                      </p:stCondLst>
                      <p:childTnLst>
                        <p:par>
                          <p:cTn id="35" fill="hold">
                            <p:stCondLst>
                              <p:cond delay="0"/>
                            </p:stCondLst>
                            <p:childTnLst>
                              <p:par>
                                <p:cTn id="36" presetID="1" presetClass="entr" presetSubtype="0" fill="hold" nodeType="clickEffect">
                                  <p:stCondLst>
                                    <p:cond delay="0"/>
                                  </p:stCondLst>
                                  <p:childTnLst>
                                    <p:set>
                                      <p:cBhvr>
                                        <p:cTn id="37"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F0C206-0727-D279-3924-4433DBE1DD4B}"/>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901A5497-55FD-095A-1D89-F41A571A6C76}"/>
              </a:ext>
            </a:extLst>
          </p:cNvPr>
          <p:cNvSpPr>
            <a:spLocks noGrp="1"/>
          </p:cNvSpPr>
          <p:nvPr>
            <p:ph type="title"/>
          </p:nvPr>
        </p:nvSpPr>
        <p:spPr>
          <a:xfrm>
            <a:off x="228600" y="7088"/>
            <a:ext cx="8839200" cy="914400"/>
          </a:xfrm>
        </p:spPr>
        <p:txBody>
          <a:bodyPr>
            <a:normAutofit fontScale="90000"/>
          </a:bodyPr>
          <a:lstStyle/>
          <a:p>
            <a:pPr algn="l"/>
            <a:r>
              <a:rPr lang="en-US" sz="3600" dirty="0"/>
              <a:t>Encouraging Self-Reflection in Evangelism</a:t>
            </a:r>
            <a:br>
              <a:rPr lang="en-US" sz="3600" dirty="0"/>
            </a:br>
            <a:r>
              <a:rPr lang="en-US" sz="2400" dirty="0">
                <a:solidFill>
                  <a:schemeClr val="tx2">
                    <a:lumMod val="60000"/>
                    <a:lumOff val="40000"/>
                  </a:schemeClr>
                </a:solidFill>
              </a:rPr>
              <a:t>Leveraging the </a:t>
            </a:r>
            <a:r>
              <a:rPr lang="en-US" sz="2400" u="sng" dirty="0">
                <a:solidFill>
                  <a:schemeClr val="tx2">
                    <a:lumMod val="60000"/>
                    <a:lumOff val="40000"/>
                  </a:schemeClr>
                </a:solidFill>
              </a:rPr>
              <a:t>Nature of Man</a:t>
            </a:r>
            <a:r>
              <a:rPr lang="en-US" sz="2400" dirty="0">
                <a:solidFill>
                  <a:schemeClr val="tx2">
                    <a:lumMod val="60000"/>
                    <a:lumOff val="40000"/>
                  </a:schemeClr>
                </a:solidFill>
              </a:rPr>
              <a:t> - </a:t>
            </a:r>
            <a:r>
              <a:rPr lang="en-US" sz="2400" u="sng" dirty="0">
                <a:solidFill>
                  <a:schemeClr val="tx2">
                    <a:lumMod val="60000"/>
                    <a:lumOff val="40000"/>
                  </a:schemeClr>
                </a:solidFill>
              </a:rPr>
              <a:t>Objectives</a:t>
            </a:r>
            <a:endParaRPr lang="en-US" sz="2400" i="1" u="sng" dirty="0">
              <a:solidFill>
                <a:schemeClr val="tx2">
                  <a:lumMod val="60000"/>
                  <a:lumOff val="40000"/>
                </a:schemeClr>
              </a:solidFill>
            </a:endParaRPr>
          </a:p>
        </p:txBody>
      </p:sp>
      <p:sp>
        <p:nvSpPr>
          <p:cNvPr id="7" name="TextBox 6">
            <a:extLst>
              <a:ext uri="{FF2B5EF4-FFF2-40B4-BE49-F238E27FC236}">
                <a16:creationId xmlns:a16="http://schemas.microsoft.com/office/drawing/2014/main" id="{1F176B9E-0A91-EB7E-A48C-712785C2F8E9}"/>
              </a:ext>
            </a:extLst>
          </p:cNvPr>
          <p:cNvSpPr txBox="1"/>
          <p:nvPr/>
        </p:nvSpPr>
        <p:spPr>
          <a:xfrm>
            <a:off x="228600" y="1295400"/>
            <a:ext cx="8686800" cy="3170099"/>
          </a:xfrm>
          <a:prstGeom prst="rect">
            <a:avLst/>
          </a:prstGeom>
          <a:noFill/>
        </p:spPr>
        <p:txBody>
          <a:bodyPr wrap="square">
            <a:spAutoFit/>
          </a:bodyPr>
          <a:lstStyle/>
          <a:p>
            <a:pPr marL="457200" indent="-457200">
              <a:buFont typeface="+mj-lt"/>
              <a:buAutoNum type="arabicPeriod"/>
            </a:pPr>
            <a:r>
              <a:rPr lang="en-US" sz="2000" b="1" dirty="0">
                <a:latin typeface="+mn-lt"/>
              </a:rPr>
              <a:t>Establish the Reality of God’s Existence and Moral Law. </a:t>
            </a:r>
          </a:p>
          <a:p>
            <a:pPr marL="457200" indent="-457200">
              <a:buFont typeface="+mj-lt"/>
              <a:buAutoNum type="arabicPeriod"/>
            </a:pPr>
            <a:endParaRPr lang="en-US" sz="2000" b="1" dirty="0">
              <a:latin typeface="+mn-lt"/>
            </a:endParaRPr>
          </a:p>
          <a:p>
            <a:pPr marL="457200" indent="-457200">
              <a:buFont typeface="+mj-lt"/>
              <a:buAutoNum type="arabicPeriod"/>
            </a:pPr>
            <a:r>
              <a:rPr lang="en-US" sz="2000" b="1" dirty="0">
                <a:latin typeface="+mn-lt"/>
              </a:rPr>
              <a:t>Convict the Conscience Through God’s Law.  </a:t>
            </a:r>
          </a:p>
          <a:p>
            <a:pPr marL="457200" indent="-457200">
              <a:buFont typeface="+mj-lt"/>
              <a:buAutoNum type="arabicPeriod"/>
            </a:pPr>
            <a:endParaRPr lang="en-US" sz="2000" b="1" dirty="0">
              <a:latin typeface="+mn-lt"/>
            </a:endParaRPr>
          </a:p>
          <a:p>
            <a:pPr marL="457200" indent="-457200">
              <a:buFont typeface="+mj-lt"/>
              <a:buAutoNum type="arabicPeriod"/>
            </a:pPr>
            <a:r>
              <a:rPr lang="en-US" sz="2000" b="1" dirty="0">
                <a:latin typeface="+mn-lt"/>
              </a:rPr>
              <a:t>Illustrate the Consequence of Sin (God’s Justice).  </a:t>
            </a:r>
          </a:p>
          <a:p>
            <a:pPr marL="457200" indent="-457200">
              <a:buFont typeface="+mj-lt"/>
              <a:buAutoNum type="arabicPeriod"/>
            </a:pPr>
            <a:endParaRPr lang="en-US" sz="2000" b="1" dirty="0">
              <a:latin typeface="+mn-lt"/>
            </a:endParaRPr>
          </a:p>
          <a:p>
            <a:pPr marL="457200" indent="-457200">
              <a:buFont typeface="+mj-lt"/>
              <a:buAutoNum type="arabicPeriod"/>
            </a:pPr>
            <a:r>
              <a:rPr lang="en-US" sz="2000" b="1" dirty="0">
                <a:latin typeface="+mn-lt"/>
              </a:rPr>
              <a:t>Present the Gospel of Grace (Jesus both Just and Justifier). </a:t>
            </a:r>
          </a:p>
          <a:p>
            <a:pPr marL="457200" indent="-457200">
              <a:buFont typeface="+mj-lt"/>
              <a:buAutoNum type="arabicPeriod"/>
            </a:pPr>
            <a:endParaRPr lang="en-US" sz="2000" b="1" dirty="0">
              <a:latin typeface="+mn-lt"/>
            </a:endParaRPr>
          </a:p>
          <a:p>
            <a:pPr marL="457200" indent="-457200">
              <a:buFont typeface="+mj-lt"/>
              <a:buAutoNum type="arabicPeriod"/>
            </a:pPr>
            <a:r>
              <a:rPr lang="en-US" sz="2000" b="1" dirty="0">
                <a:latin typeface="+mn-lt"/>
              </a:rPr>
              <a:t>Call for Repentance, Faith, and a Covenant Relationship via Baptism.  </a:t>
            </a:r>
          </a:p>
        </p:txBody>
      </p:sp>
    </p:spTree>
    <p:extLst>
      <p:ext uri="{BB962C8B-B14F-4D97-AF65-F5344CB8AC3E}">
        <p14:creationId xmlns:p14="http://schemas.microsoft.com/office/powerpoint/2010/main" val="21442558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fade">
                                      <p:cBhvr>
                                        <p:cTn id="7" dur="1000"/>
                                        <p:tgtEl>
                                          <p:spTgt spid="7">
                                            <p:txEl>
                                              <p:pRg st="0" end="0"/>
                                            </p:txEl>
                                          </p:spTgt>
                                        </p:tgtEl>
                                      </p:cBhvr>
                                    </p:animEffect>
                                    <p:anim calcmode="lin" valueType="num">
                                      <p:cBhvr>
                                        <p:cTn id="8"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7">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7">
                                            <p:txEl>
                                              <p:pRg st="2" end="2"/>
                                            </p:txEl>
                                          </p:spTgt>
                                        </p:tgtEl>
                                        <p:attrNameLst>
                                          <p:attrName>style.visibility</p:attrName>
                                        </p:attrNameLst>
                                      </p:cBhvr>
                                      <p:to>
                                        <p:strVal val="visible"/>
                                      </p:to>
                                    </p:set>
                                    <p:animEffect transition="in" filter="fade">
                                      <p:cBhvr>
                                        <p:cTn id="14" dur="1000"/>
                                        <p:tgtEl>
                                          <p:spTgt spid="7">
                                            <p:txEl>
                                              <p:pRg st="2" end="2"/>
                                            </p:txEl>
                                          </p:spTgt>
                                        </p:tgtEl>
                                      </p:cBhvr>
                                    </p:animEffect>
                                    <p:anim calcmode="lin" valueType="num">
                                      <p:cBhvr>
                                        <p:cTn id="15" dur="1000" fill="hold"/>
                                        <p:tgtEl>
                                          <p:spTgt spid="7">
                                            <p:txEl>
                                              <p:pRg st="2" end="2"/>
                                            </p:txEl>
                                          </p:spTgt>
                                        </p:tgtEl>
                                        <p:attrNameLst>
                                          <p:attrName>ppt_x</p:attrName>
                                        </p:attrNameLst>
                                      </p:cBhvr>
                                      <p:tavLst>
                                        <p:tav tm="0">
                                          <p:val>
                                            <p:strVal val="#ppt_x"/>
                                          </p:val>
                                        </p:tav>
                                        <p:tav tm="100000">
                                          <p:val>
                                            <p:strVal val="#ppt_x"/>
                                          </p:val>
                                        </p:tav>
                                      </p:tavLst>
                                    </p:anim>
                                    <p:anim calcmode="lin" valueType="num">
                                      <p:cBhvr>
                                        <p:cTn id="16" dur="1000" fill="hold"/>
                                        <p:tgtEl>
                                          <p:spTgt spid="7">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7">
                                            <p:txEl>
                                              <p:pRg st="4" end="4"/>
                                            </p:txEl>
                                          </p:spTgt>
                                        </p:tgtEl>
                                        <p:attrNameLst>
                                          <p:attrName>style.visibility</p:attrName>
                                        </p:attrNameLst>
                                      </p:cBhvr>
                                      <p:to>
                                        <p:strVal val="visible"/>
                                      </p:to>
                                    </p:set>
                                    <p:animEffect transition="in" filter="fade">
                                      <p:cBhvr>
                                        <p:cTn id="21" dur="1000"/>
                                        <p:tgtEl>
                                          <p:spTgt spid="7">
                                            <p:txEl>
                                              <p:pRg st="4" end="4"/>
                                            </p:txEl>
                                          </p:spTgt>
                                        </p:tgtEl>
                                      </p:cBhvr>
                                    </p:animEffect>
                                    <p:anim calcmode="lin" valueType="num">
                                      <p:cBhvr>
                                        <p:cTn id="22" dur="1000" fill="hold"/>
                                        <p:tgtEl>
                                          <p:spTgt spid="7">
                                            <p:txEl>
                                              <p:pRg st="4" end="4"/>
                                            </p:txEl>
                                          </p:spTgt>
                                        </p:tgtEl>
                                        <p:attrNameLst>
                                          <p:attrName>ppt_x</p:attrName>
                                        </p:attrNameLst>
                                      </p:cBhvr>
                                      <p:tavLst>
                                        <p:tav tm="0">
                                          <p:val>
                                            <p:strVal val="#ppt_x"/>
                                          </p:val>
                                        </p:tav>
                                        <p:tav tm="100000">
                                          <p:val>
                                            <p:strVal val="#ppt_x"/>
                                          </p:val>
                                        </p:tav>
                                      </p:tavLst>
                                    </p:anim>
                                    <p:anim calcmode="lin" valueType="num">
                                      <p:cBhvr>
                                        <p:cTn id="23" dur="1000" fill="hold"/>
                                        <p:tgtEl>
                                          <p:spTgt spid="7">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7">
                                            <p:txEl>
                                              <p:pRg st="6" end="6"/>
                                            </p:txEl>
                                          </p:spTgt>
                                        </p:tgtEl>
                                        <p:attrNameLst>
                                          <p:attrName>style.visibility</p:attrName>
                                        </p:attrNameLst>
                                      </p:cBhvr>
                                      <p:to>
                                        <p:strVal val="visible"/>
                                      </p:to>
                                    </p:set>
                                    <p:animEffect transition="in" filter="fade">
                                      <p:cBhvr>
                                        <p:cTn id="28" dur="1000"/>
                                        <p:tgtEl>
                                          <p:spTgt spid="7">
                                            <p:txEl>
                                              <p:pRg st="6" end="6"/>
                                            </p:txEl>
                                          </p:spTgt>
                                        </p:tgtEl>
                                      </p:cBhvr>
                                    </p:animEffect>
                                    <p:anim calcmode="lin" valueType="num">
                                      <p:cBhvr>
                                        <p:cTn id="29" dur="1000" fill="hold"/>
                                        <p:tgtEl>
                                          <p:spTgt spid="7">
                                            <p:txEl>
                                              <p:pRg st="6" end="6"/>
                                            </p:txEl>
                                          </p:spTgt>
                                        </p:tgtEl>
                                        <p:attrNameLst>
                                          <p:attrName>ppt_x</p:attrName>
                                        </p:attrNameLst>
                                      </p:cBhvr>
                                      <p:tavLst>
                                        <p:tav tm="0">
                                          <p:val>
                                            <p:strVal val="#ppt_x"/>
                                          </p:val>
                                        </p:tav>
                                        <p:tav tm="100000">
                                          <p:val>
                                            <p:strVal val="#ppt_x"/>
                                          </p:val>
                                        </p:tav>
                                      </p:tavLst>
                                    </p:anim>
                                    <p:anim calcmode="lin" valueType="num">
                                      <p:cBhvr>
                                        <p:cTn id="30" dur="1000" fill="hold"/>
                                        <p:tgtEl>
                                          <p:spTgt spid="7">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nodeType="clickEffect">
                                  <p:stCondLst>
                                    <p:cond delay="0"/>
                                  </p:stCondLst>
                                  <p:childTnLst>
                                    <p:set>
                                      <p:cBhvr>
                                        <p:cTn id="34" dur="1" fill="hold">
                                          <p:stCondLst>
                                            <p:cond delay="0"/>
                                          </p:stCondLst>
                                        </p:cTn>
                                        <p:tgtEl>
                                          <p:spTgt spid="7">
                                            <p:txEl>
                                              <p:pRg st="8" end="8"/>
                                            </p:txEl>
                                          </p:spTgt>
                                        </p:tgtEl>
                                        <p:attrNameLst>
                                          <p:attrName>style.visibility</p:attrName>
                                        </p:attrNameLst>
                                      </p:cBhvr>
                                      <p:to>
                                        <p:strVal val="visible"/>
                                      </p:to>
                                    </p:set>
                                    <p:animEffect transition="in" filter="fade">
                                      <p:cBhvr>
                                        <p:cTn id="35" dur="1000"/>
                                        <p:tgtEl>
                                          <p:spTgt spid="7">
                                            <p:txEl>
                                              <p:pRg st="8" end="8"/>
                                            </p:txEl>
                                          </p:spTgt>
                                        </p:tgtEl>
                                      </p:cBhvr>
                                    </p:animEffect>
                                    <p:anim calcmode="lin" valueType="num">
                                      <p:cBhvr>
                                        <p:cTn id="36" dur="1000" fill="hold"/>
                                        <p:tgtEl>
                                          <p:spTgt spid="7">
                                            <p:txEl>
                                              <p:pRg st="8" end="8"/>
                                            </p:txEl>
                                          </p:spTgt>
                                        </p:tgtEl>
                                        <p:attrNameLst>
                                          <p:attrName>ppt_x</p:attrName>
                                        </p:attrNameLst>
                                      </p:cBhvr>
                                      <p:tavLst>
                                        <p:tav tm="0">
                                          <p:val>
                                            <p:strVal val="#ppt_x"/>
                                          </p:val>
                                        </p:tav>
                                        <p:tav tm="100000">
                                          <p:val>
                                            <p:strVal val="#ppt_x"/>
                                          </p:val>
                                        </p:tav>
                                      </p:tavLst>
                                    </p:anim>
                                    <p:anim calcmode="lin" valueType="num">
                                      <p:cBhvr>
                                        <p:cTn id="37" dur="1000" fill="hold"/>
                                        <p:tgtEl>
                                          <p:spTgt spid="7">
                                            <p:txEl>
                                              <p:pRg st="8" end="8"/>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l"/>
            <a:r>
              <a:rPr lang="en-US" dirty="0"/>
              <a:t>Evangelism</a:t>
            </a:r>
            <a:br>
              <a:rPr lang="en-US" dirty="0"/>
            </a:br>
            <a:r>
              <a:rPr lang="en-US" sz="2400" dirty="0">
                <a:solidFill>
                  <a:schemeClr val="tx2">
                    <a:lumMod val="60000"/>
                    <a:lumOff val="40000"/>
                  </a:schemeClr>
                </a:solidFill>
              </a:rPr>
              <a:t>The “Natural Man” – How do you know?</a:t>
            </a:r>
          </a:p>
        </p:txBody>
      </p:sp>
      <p:sp>
        <p:nvSpPr>
          <p:cNvPr id="3" name="TextBox 2"/>
          <p:cNvSpPr txBox="1"/>
          <p:nvPr/>
        </p:nvSpPr>
        <p:spPr>
          <a:xfrm>
            <a:off x="457200" y="1151681"/>
            <a:ext cx="8001000" cy="1477328"/>
          </a:xfrm>
          <a:prstGeom prst="rect">
            <a:avLst/>
          </a:prstGeom>
          <a:noFill/>
        </p:spPr>
        <p:txBody>
          <a:bodyPr wrap="square" rtlCol="0">
            <a:spAutoFit/>
          </a:bodyPr>
          <a:lstStyle/>
          <a:p>
            <a:r>
              <a:rPr lang="en-US" i="1" dirty="0"/>
              <a:t>For </a:t>
            </a:r>
            <a:r>
              <a:rPr lang="en-US" b="1" i="1" dirty="0"/>
              <a:t>since the creation of the world His invisible attributes are clearly seen</a:t>
            </a:r>
            <a:r>
              <a:rPr lang="en-US" i="1" dirty="0"/>
              <a:t>, being understood by the things that are made, even His eternal power and Godhead, so that </a:t>
            </a:r>
            <a:r>
              <a:rPr lang="en-US" b="1" i="1" dirty="0"/>
              <a:t>they are without excuse</a:t>
            </a:r>
            <a:r>
              <a:rPr lang="en-US" i="1" dirty="0"/>
              <a:t>, because, although they knew God, they did not glorify Him as God, nor were thankful, but became futile in their thoughts, and their foolish hearts were darkened.   (Romans 1)</a:t>
            </a:r>
          </a:p>
        </p:txBody>
      </p:sp>
      <p:sp>
        <p:nvSpPr>
          <p:cNvPr id="4" name="TextBox 3"/>
          <p:cNvSpPr txBox="1"/>
          <p:nvPr/>
        </p:nvSpPr>
        <p:spPr>
          <a:xfrm>
            <a:off x="457200" y="2743200"/>
            <a:ext cx="8001000" cy="3970318"/>
          </a:xfrm>
          <a:prstGeom prst="rect">
            <a:avLst/>
          </a:prstGeom>
          <a:noFill/>
        </p:spPr>
        <p:txBody>
          <a:bodyPr wrap="square" rtlCol="0">
            <a:spAutoFit/>
          </a:bodyPr>
          <a:lstStyle/>
          <a:p>
            <a:r>
              <a:rPr lang="en-US" b="1" i="1" dirty="0"/>
              <a:t>Does God Exist?</a:t>
            </a:r>
          </a:p>
          <a:p>
            <a:endParaRPr lang="en-US" dirty="0"/>
          </a:p>
          <a:p>
            <a:r>
              <a:rPr lang="en-US" dirty="0"/>
              <a:t>Argument from Creation (Law of Causality):</a:t>
            </a:r>
          </a:p>
          <a:p>
            <a:endParaRPr lang="en-US" dirty="0"/>
          </a:p>
          <a:p>
            <a:pPr marL="228600" indent="-228600">
              <a:buAutoNum type="arabicPeriod"/>
            </a:pPr>
            <a:r>
              <a:rPr lang="en-US" dirty="0"/>
              <a:t>The universe had a beginning.</a:t>
            </a:r>
          </a:p>
          <a:p>
            <a:pPr marL="228600" indent="-228600">
              <a:buAutoNum type="arabicPeriod"/>
            </a:pPr>
            <a:r>
              <a:rPr lang="en-US" dirty="0"/>
              <a:t>Anything that has a beginning must have been caused by something else.</a:t>
            </a:r>
          </a:p>
          <a:p>
            <a:pPr marL="228600" indent="-228600">
              <a:buAutoNum type="arabicPeriod"/>
            </a:pPr>
            <a:r>
              <a:rPr lang="en-US" dirty="0"/>
              <a:t>Therefore, the universe was caused by something else, and this cause was God.</a:t>
            </a:r>
          </a:p>
          <a:p>
            <a:pPr marL="228600" indent="-228600">
              <a:buAutoNum type="arabicPeriod"/>
            </a:pPr>
            <a:endParaRPr lang="en-US" dirty="0"/>
          </a:p>
          <a:p>
            <a:pPr marL="0" indent="0">
              <a:buNone/>
            </a:pPr>
            <a:r>
              <a:rPr lang="en-US" dirty="0"/>
              <a:t>Argument from Intelligent Design (Laws of Information and Entropy):</a:t>
            </a:r>
          </a:p>
          <a:p>
            <a:pPr marL="0" indent="0">
              <a:buNone/>
            </a:pPr>
            <a:endParaRPr lang="en-US" dirty="0"/>
          </a:p>
          <a:p>
            <a:pPr marL="228600" indent="-228600">
              <a:buAutoNum type="arabicPeriod"/>
            </a:pPr>
            <a:r>
              <a:rPr lang="en-US" dirty="0"/>
              <a:t>All designs imply a Designer.</a:t>
            </a:r>
          </a:p>
          <a:p>
            <a:pPr marL="228600" indent="-228600">
              <a:buAutoNum type="arabicPeriod"/>
            </a:pPr>
            <a:r>
              <a:rPr lang="en-US" dirty="0"/>
              <a:t>There is great design in the universe.</a:t>
            </a:r>
          </a:p>
          <a:p>
            <a:pPr marL="228600" indent="-228600">
              <a:buAutoNum type="arabicPeriod"/>
            </a:pPr>
            <a:r>
              <a:rPr lang="en-US" dirty="0"/>
              <a:t>Therefore, there must be a Great Designer of the universe.</a:t>
            </a:r>
          </a:p>
        </p:txBody>
      </p:sp>
    </p:spTree>
    <p:extLst>
      <p:ext uri="{BB962C8B-B14F-4D97-AF65-F5344CB8AC3E}">
        <p14:creationId xmlns:p14="http://schemas.microsoft.com/office/powerpoint/2010/main" val="3449085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1000"/>
                                        <p:tgtEl>
                                          <p:spTgt spid="4"/>
                                        </p:tgtEl>
                                      </p:cBhvr>
                                    </p:animEffect>
                                    <p:anim calcmode="lin" valueType="num">
                                      <p:cBhvr>
                                        <p:cTn id="15" dur="1000" fill="hold"/>
                                        <p:tgtEl>
                                          <p:spTgt spid="4"/>
                                        </p:tgtEl>
                                        <p:attrNameLst>
                                          <p:attrName>ppt_x</p:attrName>
                                        </p:attrNameLst>
                                      </p:cBhvr>
                                      <p:tavLst>
                                        <p:tav tm="0">
                                          <p:val>
                                            <p:strVal val="#ppt_x"/>
                                          </p:val>
                                        </p:tav>
                                        <p:tav tm="100000">
                                          <p:val>
                                            <p:strVal val="#ppt_x"/>
                                          </p:val>
                                        </p:tav>
                                      </p:tavLst>
                                    </p:anim>
                                    <p:anim calcmode="lin" valueType="num">
                                      <p:cBhvr>
                                        <p:cTn id="16"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Evangelism</a:t>
            </a:r>
            <a:br>
              <a:rPr lang="en-US" dirty="0"/>
            </a:br>
            <a:r>
              <a:rPr lang="en-US" sz="2400" dirty="0">
                <a:solidFill>
                  <a:schemeClr val="tx2">
                    <a:lumMod val="60000"/>
                    <a:lumOff val="40000"/>
                  </a:schemeClr>
                </a:solidFill>
              </a:rPr>
              <a:t>The “Moral Man” – Are you a good person?  </a:t>
            </a:r>
          </a:p>
        </p:txBody>
      </p:sp>
      <p:sp>
        <p:nvSpPr>
          <p:cNvPr id="3" name="TextBox 2"/>
          <p:cNvSpPr txBox="1"/>
          <p:nvPr/>
        </p:nvSpPr>
        <p:spPr>
          <a:xfrm>
            <a:off x="457200" y="1159397"/>
            <a:ext cx="8001000" cy="1754326"/>
          </a:xfrm>
          <a:prstGeom prst="rect">
            <a:avLst/>
          </a:prstGeom>
          <a:noFill/>
        </p:spPr>
        <p:txBody>
          <a:bodyPr wrap="square" rtlCol="0">
            <a:spAutoFit/>
          </a:bodyPr>
          <a:lstStyle/>
          <a:p>
            <a:r>
              <a:rPr lang="en-US" i="1" dirty="0"/>
              <a:t>“…(for not the hearers of the law are just in the sight of God, but the doers of the law will be justified; for when Gentiles, who do not have the law, by nature do the things in the law, these, although, not having the law, are a law to themselves, who show the work of the law </a:t>
            </a:r>
            <a:r>
              <a:rPr lang="en-US" b="1" i="1" dirty="0"/>
              <a:t>written in their hearts</a:t>
            </a:r>
            <a:r>
              <a:rPr lang="en-US" i="1" dirty="0"/>
              <a:t>, </a:t>
            </a:r>
            <a:r>
              <a:rPr lang="en-US" b="1" i="1" dirty="0"/>
              <a:t>their conscience also bearing witness</a:t>
            </a:r>
            <a:r>
              <a:rPr lang="en-US" i="1" dirty="0"/>
              <a:t>, and between themselves their thoughts accusing or else excusing them)…”    (Romans 2)</a:t>
            </a:r>
          </a:p>
        </p:txBody>
      </p:sp>
      <p:sp>
        <p:nvSpPr>
          <p:cNvPr id="4" name="TextBox 3"/>
          <p:cNvSpPr txBox="1"/>
          <p:nvPr/>
        </p:nvSpPr>
        <p:spPr>
          <a:xfrm>
            <a:off x="457200" y="3167402"/>
            <a:ext cx="8001000" cy="2862322"/>
          </a:xfrm>
          <a:prstGeom prst="rect">
            <a:avLst/>
          </a:prstGeom>
          <a:noFill/>
        </p:spPr>
        <p:txBody>
          <a:bodyPr wrap="square" rtlCol="0">
            <a:spAutoFit/>
          </a:bodyPr>
          <a:lstStyle/>
          <a:p>
            <a:r>
              <a:rPr lang="en-US" b="1" i="1" dirty="0"/>
              <a:t>Would you consider yourself to be a good person?</a:t>
            </a:r>
          </a:p>
          <a:p>
            <a:endParaRPr lang="en-US" dirty="0"/>
          </a:p>
          <a:p>
            <a:r>
              <a:rPr lang="en-US" dirty="0"/>
              <a:t>Argument from Moral Law:</a:t>
            </a:r>
          </a:p>
          <a:p>
            <a:endParaRPr lang="en-US" dirty="0"/>
          </a:p>
          <a:p>
            <a:pPr marL="228600" indent="-228600">
              <a:buAutoNum type="arabicPeriod"/>
            </a:pPr>
            <a:r>
              <a:rPr lang="en-US" dirty="0"/>
              <a:t>All men are conscious of an objective moral law.  (Indicated by conscience.)</a:t>
            </a:r>
          </a:p>
          <a:p>
            <a:pPr marL="228600" indent="-228600">
              <a:buAutoNum type="arabicPeriod"/>
            </a:pPr>
            <a:r>
              <a:rPr lang="en-US" dirty="0"/>
              <a:t>Moral Laws imply a moral Lawgiver.  </a:t>
            </a:r>
          </a:p>
          <a:p>
            <a:pPr marL="228600" indent="-228600">
              <a:buAutoNum type="arabicPeriod"/>
            </a:pPr>
            <a:r>
              <a:rPr lang="en-US" dirty="0"/>
              <a:t>Therefore, there must be a universal moral Lawgiver.</a:t>
            </a:r>
          </a:p>
          <a:p>
            <a:endParaRPr lang="en-US" dirty="0"/>
          </a:p>
          <a:p>
            <a:pPr marL="228600" indent="-228600">
              <a:buAutoNum type="arabicPeriod"/>
            </a:pPr>
            <a:endParaRPr lang="en-US" dirty="0"/>
          </a:p>
        </p:txBody>
      </p:sp>
    </p:spTree>
    <p:extLst>
      <p:ext uri="{BB962C8B-B14F-4D97-AF65-F5344CB8AC3E}">
        <p14:creationId xmlns:p14="http://schemas.microsoft.com/office/powerpoint/2010/main" val="29304462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1000"/>
                                        <p:tgtEl>
                                          <p:spTgt spid="4"/>
                                        </p:tgtEl>
                                      </p:cBhvr>
                                    </p:animEffect>
                                    <p:anim calcmode="lin" valueType="num">
                                      <p:cBhvr>
                                        <p:cTn id="15" dur="1000" fill="hold"/>
                                        <p:tgtEl>
                                          <p:spTgt spid="4"/>
                                        </p:tgtEl>
                                        <p:attrNameLst>
                                          <p:attrName>ppt_x</p:attrName>
                                        </p:attrNameLst>
                                      </p:cBhvr>
                                      <p:tavLst>
                                        <p:tav tm="0">
                                          <p:val>
                                            <p:strVal val="#ppt_x"/>
                                          </p:val>
                                        </p:tav>
                                        <p:tav tm="100000">
                                          <p:val>
                                            <p:strVal val="#ppt_x"/>
                                          </p:val>
                                        </p:tav>
                                      </p:tavLst>
                                    </p:anim>
                                    <p:anim calcmode="lin" valueType="num">
                                      <p:cBhvr>
                                        <p:cTn id="16"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Evangelism</a:t>
            </a:r>
            <a:br>
              <a:rPr lang="en-US" dirty="0"/>
            </a:br>
            <a:r>
              <a:rPr lang="en-US" sz="2400" dirty="0">
                <a:solidFill>
                  <a:schemeClr val="tx2">
                    <a:lumMod val="60000"/>
                    <a:lumOff val="40000"/>
                  </a:schemeClr>
                </a:solidFill>
              </a:rPr>
              <a:t>The “Religious Man” – What do you believe?</a:t>
            </a:r>
          </a:p>
        </p:txBody>
      </p:sp>
      <p:sp>
        <p:nvSpPr>
          <p:cNvPr id="3" name="TextBox 2"/>
          <p:cNvSpPr txBox="1"/>
          <p:nvPr/>
        </p:nvSpPr>
        <p:spPr>
          <a:xfrm>
            <a:off x="457200" y="1219200"/>
            <a:ext cx="8001000" cy="1200329"/>
          </a:xfrm>
          <a:prstGeom prst="rect">
            <a:avLst/>
          </a:prstGeom>
          <a:noFill/>
        </p:spPr>
        <p:txBody>
          <a:bodyPr wrap="square" rtlCol="0">
            <a:spAutoFit/>
          </a:bodyPr>
          <a:lstStyle/>
          <a:p>
            <a:pPr marL="0" lvl="1"/>
            <a:r>
              <a:rPr lang="en-US" i="1" dirty="0"/>
              <a:t>“Now we know that whatever the law says, it says to those who are under the law, that every mouth may be stopped, and all the world may become guilty before God.   Therefore, by the deeds of the law no flesh will be justified in His sight, </a:t>
            </a:r>
            <a:r>
              <a:rPr lang="en-US" b="1" i="1" dirty="0"/>
              <a:t>for the law is the knowledge of sin</a:t>
            </a:r>
            <a:r>
              <a:rPr lang="en-US" i="1" dirty="0"/>
              <a:t>.”    (Romans 3)</a:t>
            </a:r>
          </a:p>
        </p:txBody>
      </p:sp>
      <p:sp>
        <p:nvSpPr>
          <p:cNvPr id="4" name="TextBox 3"/>
          <p:cNvSpPr txBox="1"/>
          <p:nvPr/>
        </p:nvSpPr>
        <p:spPr>
          <a:xfrm>
            <a:off x="457200" y="5023777"/>
            <a:ext cx="8001000" cy="1200329"/>
          </a:xfrm>
          <a:prstGeom prst="rect">
            <a:avLst/>
          </a:prstGeom>
          <a:noFill/>
        </p:spPr>
        <p:txBody>
          <a:bodyPr wrap="square" rtlCol="0">
            <a:spAutoFit/>
          </a:bodyPr>
          <a:lstStyle/>
          <a:p>
            <a:r>
              <a:rPr lang="en-US" b="1" i="1" dirty="0"/>
              <a:t>Why was Jesus here?   What does He want of us?</a:t>
            </a:r>
          </a:p>
          <a:p>
            <a:endParaRPr lang="en-US" dirty="0"/>
          </a:p>
          <a:p>
            <a:r>
              <a:rPr lang="en-US" i="1" dirty="0"/>
              <a:t>“Jesus said to him, ‘</a:t>
            </a:r>
            <a:r>
              <a:rPr lang="en-US" b="1" i="1" dirty="0"/>
              <a:t>I am the way, the truth, and the life.   No one comes to the Father except through Me.</a:t>
            </a:r>
            <a:r>
              <a:rPr lang="en-US" i="1" dirty="0"/>
              <a:t>’”   John 14:6</a:t>
            </a:r>
          </a:p>
        </p:txBody>
      </p:sp>
      <p:sp>
        <p:nvSpPr>
          <p:cNvPr id="5" name="TextBox 4"/>
          <p:cNvSpPr txBox="1"/>
          <p:nvPr/>
        </p:nvSpPr>
        <p:spPr>
          <a:xfrm>
            <a:off x="457200" y="2580501"/>
            <a:ext cx="8001000" cy="2308324"/>
          </a:xfrm>
          <a:prstGeom prst="rect">
            <a:avLst/>
          </a:prstGeom>
          <a:noFill/>
        </p:spPr>
        <p:txBody>
          <a:bodyPr wrap="square" rtlCol="0">
            <a:spAutoFit/>
          </a:bodyPr>
          <a:lstStyle/>
          <a:p>
            <a:r>
              <a:rPr lang="en-US" b="1" i="1" dirty="0"/>
              <a:t>What about your belief-system?  Aren’t you seeking to justify yourself with God? (Matthew 5:17-20; Matthew 22:32-46)</a:t>
            </a:r>
          </a:p>
          <a:p>
            <a:endParaRPr lang="en-US" dirty="0"/>
          </a:p>
          <a:p>
            <a:pPr marL="342900" indent="-342900">
              <a:buFont typeface="+mj-lt"/>
              <a:buAutoNum type="arabicPeriod"/>
            </a:pPr>
            <a:r>
              <a:rPr lang="en-US" dirty="0"/>
              <a:t>Reduces to a form of self-righteousness.</a:t>
            </a:r>
          </a:p>
          <a:p>
            <a:pPr marL="342900" indent="-342900">
              <a:buFont typeface="+mj-lt"/>
              <a:buAutoNum type="arabicPeriod"/>
            </a:pPr>
            <a:r>
              <a:rPr lang="en-US" dirty="0"/>
              <a:t>God uses the Law to strip the person of what he’s trusting in – his self-righteousness.  The wrath of God is thus revealed.</a:t>
            </a:r>
          </a:p>
          <a:p>
            <a:pPr marL="342900" indent="-342900">
              <a:buFont typeface="+mj-lt"/>
              <a:buAutoNum type="arabicPeriod"/>
            </a:pPr>
            <a:r>
              <a:rPr lang="en-US" dirty="0"/>
              <a:t>In trying to justify himself through “good works”, he is attempting to bribe the Judge of the Universe.   </a:t>
            </a:r>
            <a:r>
              <a:rPr lang="en-US" i="1" dirty="0"/>
              <a:t>Aren’t you trying to justify yourself?  Why?</a:t>
            </a:r>
          </a:p>
        </p:txBody>
      </p:sp>
    </p:spTree>
    <p:extLst>
      <p:ext uri="{BB962C8B-B14F-4D97-AF65-F5344CB8AC3E}">
        <p14:creationId xmlns:p14="http://schemas.microsoft.com/office/powerpoint/2010/main" val="35824715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fade">
                                      <p:cBhvr>
                                        <p:cTn id="14" dur="1000"/>
                                        <p:tgtEl>
                                          <p:spTgt spid="5"/>
                                        </p:tgtEl>
                                      </p:cBhvr>
                                    </p:animEffect>
                                    <p:anim calcmode="lin" valueType="num">
                                      <p:cBhvr>
                                        <p:cTn id="15" dur="1000" fill="hold"/>
                                        <p:tgtEl>
                                          <p:spTgt spid="5"/>
                                        </p:tgtEl>
                                        <p:attrNameLst>
                                          <p:attrName>ppt_x</p:attrName>
                                        </p:attrNameLst>
                                      </p:cBhvr>
                                      <p:tavLst>
                                        <p:tav tm="0">
                                          <p:val>
                                            <p:strVal val="#ppt_x"/>
                                          </p:val>
                                        </p:tav>
                                        <p:tav tm="100000">
                                          <p:val>
                                            <p:strVal val="#ppt_x"/>
                                          </p:val>
                                        </p:tav>
                                      </p:tavLst>
                                    </p:anim>
                                    <p:anim calcmode="lin" valueType="num">
                                      <p:cBhvr>
                                        <p:cTn id="16"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4"/>
                                        </p:tgtEl>
                                        <p:attrNameLst>
                                          <p:attrName>style.visibility</p:attrName>
                                        </p:attrNameLst>
                                      </p:cBhvr>
                                      <p:to>
                                        <p:strVal val="visible"/>
                                      </p:to>
                                    </p:set>
                                    <p:animEffect transition="in" filter="fade">
                                      <p:cBhvr>
                                        <p:cTn id="21" dur="1000"/>
                                        <p:tgtEl>
                                          <p:spTgt spid="4"/>
                                        </p:tgtEl>
                                      </p:cBhvr>
                                    </p:animEffect>
                                    <p:anim calcmode="lin" valueType="num">
                                      <p:cBhvr>
                                        <p:cTn id="22" dur="1000" fill="hold"/>
                                        <p:tgtEl>
                                          <p:spTgt spid="4"/>
                                        </p:tgtEl>
                                        <p:attrNameLst>
                                          <p:attrName>ppt_x</p:attrName>
                                        </p:attrNameLst>
                                      </p:cBhvr>
                                      <p:tavLst>
                                        <p:tav tm="0">
                                          <p:val>
                                            <p:strVal val="#ppt_x"/>
                                          </p:val>
                                        </p:tav>
                                        <p:tav tm="100000">
                                          <p:val>
                                            <p:strVal val="#ppt_x"/>
                                          </p:val>
                                        </p:tav>
                                      </p:tavLst>
                                    </p:anim>
                                    <p:anim calcmode="lin" valueType="num">
                                      <p:cBhvr>
                                        <p:cTn id="23"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5"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1"/>
          </p:nvPr>
        </p:nvSpPr>
        <p:spPr/>
        <p:txBody>
          <a:bodyPr/>
          <a:lstStyle/>
          <a:p>
            <a:pPr>
              <a:defRPr/>
            </a:pPr>
            <a:fld id="{90314B7E-EB23-4DAB-A3F0-0F7BBB6CDA33}" type="slidenum">
              <a:rPr lang="en-US" smtClean="0"/>
              <a:pPr>
                <a:defRPr/>
              </a:pPr>
              <a:t>10</a:t>
            </a:fld>
            <a:endParaRPr lang="en-US" dirty="0"/>
          </a:p>
        </p:txBody>
      </p:sp>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03357" y="0"/>
            <a:ext cx="7537286" cy="6858000"/>
          </a:xfrm>
          <a:prstGeom prst="rect">
            <a:avLst/>
          </a:prstGeom>
        </p:spPr>
      </p:pic>
    </p:spTree>
    <p:extLst>
      <p:ext uri="{BB962C8B-B14F-4D97-AF65-F5344CB8AC3E}">
        <p14:creationId xmlns:p14="http://schemas.microsoft.com/office/powerpoint/2010/main" val="318305366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EB2302-83A0-9D12-5958-85C256166C5E}"/>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18070F38-2AEE-7B14-A38C-9B8D7E4AE28E}"/>
              </a:ext>
            </a:extLst>
          </p:cNvPr>
          <p:cNvSpPr>
            <a:spLocks noGrp="1"/>
          </p:cNvSpPr>
          <p:nvPr>
            <p:ph type="title"/>
          </p:nvPr>
        </p:nvSpPr>
        <p:spPr>
          <a:xfrm>
            <a:off x="228600" y="7088"/>
            <a:ext cx="8839200" cy="914400"/>
          </a:xfrm>
        </p:spPr>
        <p:txBody>
          <a:bodyPr>
            <a:normAutofit fontScale="90000"/>
          </a:bodyPr>
          <a:lstStyle/>
          <a:p>
            <a:pPr algn="l"/>
            <a:r>
              <a:rPr lang="en-US" sz="3600" dirty="0"/>
              <a:t>Encouraging Self-Reflection</a:t>
            </a:r>
            <a:br>
              <a:rPr lang="en-US" sz="3600" dirty="0"/>
            </a:br>
            <a:r>
              <a:rPr lang="en-US" sz="2400" dirty="0">
                <a:solidFill>
                  <a:schemeClr val="tx2">
                    <a:lumMod val="60000"/>
                    <a:lumOff val="40000"/>
                  </a:schemeClr>
                </a:solidFill>
              </a:rPr>
              <a:t>What do you believe about […]?</a:t>
            </a:r>
            <a:endParaRPr lang="en-US" sz="2400" i="1" u="sng" dirty="0">
              <a:solidFill>
                <a:schemeClr val="tx2">
                  <a:lumMod val="60000"/>
                  <a:lumOff val="40000"/>
                </a:schemeClr>
              </a:solidFill>
            </a:endParaRPr>
          </a:p>
        </p:txBody>
      </p:sp>
      <p:sp>
        <p:nvSpPr>
          <p:cNvPr id="7" name="TextBox 6">
            <a:extLst>
              <a:ext uri="{FF2B5EF4-FFF2-40B4-BE49-F238E27FC236}">
                <a16:creationId xmlns:a16="http://schemas.microsoft.com/office/drawing/2014/main" id="{AB1773ED-DF13-EC78-E708-579BBBEEE347}"/>
              </a:ext>
            </a:extLst>
          </p:cNvPr>
          <p:cNvSpPr txBox="1"/>
          <p:nvPr/>
        </p:nvSpPr>
        <p:spPr>
          <a:xfrm>
            <a:off x="228600" y="1066800"/>
            <a:ext cx="8686800" cy="3074624"/>
          </a:xfrm>
          <a:prstGeom prst="rect">
            <a:avLst/>
          </a:prstGeom>
          <a:noFill/>
        </p:spPr>
        <p:txBody>
          <a:bodyPr wrap="square">
            <a:spAutoFit/>
          </a:bodyPr>
          <a:lstStyle/>
          <a:p>
            <a:pPr>
              <a:lnSpc>
                <a:spcPct val="200000"/>
              </a:lnSpc>
            </a:pPr>
            <a:r>
              <a:rPr lang="en-US" sz="2000" b="1" i="1" dirty="0">
                <a:latin typeface="+mn-lt"/>
              </a:rPr>
              <a:t>How do you know?</a:t>
            </a:r>
          </a:p>
          <a:p>
            <a:pPr>
              <a:lnSpc>
                <a:spcPct val="200000"/>
              </a:lnSpc>
            </a:pPr>
            <a:r>
              <a:rPr lang="en-US" sz="2000" b="1" i="1" dirty="0">
                <a:latin typeface="+mn-lt"/>
              </a:rPr>
              <a:t>What do you mean by […]?</a:t>
            </a:r>
          </a:p>
          <a:p>
            <a:pPr>
              <a:lnSpc>
                <a:spcPct val="200000"/>
              </a:lnSpc>
            </a:pPr>
            <a:r>
              <a:rPr lang="en-US" sz="2000" b="1" i="1" dirty="0">
                <a:latin typeface="+mn-lt"/>
              </a:rPr>
              <a:t>What difference does that make?</a:t>
            </a:r>
          </a:p>
          <a:p>
            <a:pPr>
              <a:lnSpc>
                <a:spcPct val="200000"/>
              </a:lnSpc>
            </a:pPr>
            <a:r>
              <a:rPr lang="en-US" sz="2000" b="1" i="1" dirty="0">
                <a:latin typeface="+mn-lt"/>
              </a:rPr>
              <a:t>What if you are wrong?</a:t>
            </a:r>
          </a:p>
          <a:p>
            <a:pPr>
              <a:lnSpc>
                <a:spcPct val="200000"/>
              </a:lnSpc>
            </a:pPr>
            <a:r>
              <a:rPr lang="en-US" sz="2000" b="1" i="1" dirty="0">
                <a:latin typeface="+mn-lt"/>
              </a:rPr>
              <a:t>What would you accept as evidence?</a:t>
            </a:r>
            <a:endParaRPr lang="en-US" sz="2000" i="1" dirty="0">
              <a:latin typeface="+mn-lt"/>
            </a:endParaRPr>
          </a:p>
        </p:txBody>
      </p:sp>
    </p:spTree>
    <p:extLst>
      <p:ext uri="{BB962C8B-B14F-4D97-AF65-F5344CB8AC3E}">
        <p14:creationId xmlns:p14="http://schemas.microsoft.com/office/powerpoint/2010/main" val="299801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fade">
                                      <p:cBhvr>
                                        <p:cTn id="7" dur="1000"/>
                                        <p:tgtEl>
                                          <p:spTgt spid="7">
                                            <p:txEl>
                                              <p:pRg st="0" end="0"/>
                                            </p:txEl>
                                          </p:spTgt>
                                        </p:tgtEl>
                                      </p:cBhvr>
                                    </p:animEffect>
                                    <p:anim calcmode="lin" valueType="num">
                                      <p:cBhvr>
                                        <p:cTn id="8"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7">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7">
                                            <p:txEl>
                                              <p:pRg st="1" end="1"/>
                                            </p:txEl>
                                          </p:spTgt>
                                        </p:tgtEl>
                                        <p:attrNameLst>
                                          <p:attrName>style.visibility</p:attrName>
                                        </p:attrNameLst>
                                      </p:cBhvr>
                                      <p:to>
                                        <p:strVal val="visible"/>
                                      </p:to>
                                    </p:set>
                                    <p:animEffect transition="in" filter="fade">
                                      <p:cBhvr>
                                        <p:cTn id="14" dur="1000"/>
                                        <p:tgtEl>
                                          <p:spTgt spid="7">
                                            <p:txEl>
                                              <p:pRg st="1" end="1"/>
                                            </p:txEl>
                                          </p:spTgt>
                                        </p:tgtEl>
                                      </p:cBhvr>
                                    </p:animEffect>
                                    <p:anim calcmode="lin" valueType="num">
                                      <p:cBhvr>
                                        <p:cTn id="15" dur="1000" fill="hold"/>
                                        <p:tgtEl>
                                          <p:spTgt spid="7">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7">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7">
                                            <p:txEl>
                                              <p:pRg st="2" end="2"/>
                                            </p:txEl>
                                          </p:spTgt>
                                        </p:tgtEl>
                                        <p:attrNameLst>
                                          <p:attrName>style.visibility</p:attrName>
                                        </p:attrNameLst>
                                      </p:cBhvr>
                                      <p:to>
                                        <p:strVal val="visible"/>
                                      </p:to>
                                    </p:set>
                                    <p:animEffect transition="in" filter="fade">
                                      <p:cBhvr>
                                        <p:cTn id="21" dur="1000"/>
                                        <p:tgtEl>
                                          <p:spTgt spid="7">
                                            <p:txEl>
                                              <p:pRg st="2" end="2"/>
                                            </p:txEl>
                                          </p:spTgt>
                                        </p:tgtEl>
                                      </p:cBhvr>
                                    </p:animEffect>
                                    <p:anim calcmode="lin" valueType="num">
                                      <p:cBhvr>
                                        <p:cTn id="22" dur="1000" fill="hold"/>
                                        <p:tgtEl>
                                          <p:spTgt spid="7">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7">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7">
                                            <p:txEl>
                                              <p:pRg st="3" end="3"/>
                                            </p:txEl>
                                          </p:spTgt>
                                        </p:tgtEl>
                                        <p:attrNameLst>
                                          <p:attrName>style.visibility</p:attrName>
                                        </p:attrNameLst>
                                      </p:cBhvr>
                                      <p:to>
                                        <p:strVal val="visible"/>
                                      </p:to>
                                    </p:set>
                                    <p:animEffect transition="in" filter="fade">
                                      <p:cBhvr>
                                        <p:cTn id="28" dur="1000"/>
                                        <p:tgtEl>
                                          <p:spTgt spid="7">
                                            <p:txEl>
                                              <p:pRg st="3" end="3"/>
                                            </p:txEl>
                                          </p:spTgt>
                                        </p:tgtEl>
                                      </p:cBhvr>
                                    </p:animEffect>
                                    <p:anim calcmode="lin" valueType="num">
                                      <p:cBhvr>
                                        <p:cTn id="29" dur="1000" fill="hold"/>
                                        <p:tgtEl>
                                          <p:spTgt spid="7">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7">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nodeType="clickEffect">
                                  <p:stCondLst>
                                    <p:cond delay="0"/>
                                  </p:stCondLst>
                                  <p:childTnLst>
                                    <p:set>
                                      <p:cBhvr>
                                        <p:cTn id="34" dur="1" fill="hold">
                                          <p:stCondLst>
                                            <p:cond delay="0"/>
                                          </p:stCondLst>
                                        </p:cTn>
                                        <p:tgtEl>
                                          <p:spTgt spid="7">
                                            <p:txEl>
                                              <p:pRg st="4" end="4"/>
                                            </p:txEl>
                                          </p:spTgt>
                                        </p:tgtEl>
                                        <p:attrNameLst>
                                          <p:attrName>style.visibility</p:attrName>
                                        </p:attrNameLst>
                                      </p:cBhvr>
                                      <p:to>
                                        <p:strVal val="visible"/>
                                      </p:to>
                                    </p:set>
                                    <p:animEffect transition="in" filter="fade">
                                      <p:cBhvr>
                                        <p:cTn id="35" dur="1000"/>
                                        <p:tgtEl>
                                          <p:spTgt spid="7">
                                            <p:txEl>
                                              <p:pRg st="4" end="4"/>
                                            </p:txEl>
                                          </p:spTgt>
                                        </p:tgtEl>
                                      </p:cBhvr>
                                    </p:animEffect>
                                    <p:anim calcmode="lin" valueType="num">
                                      <p:cBhvr>
                                        <p:cTn id="36" dur="1000" fill="hold"/>
                                        <p:tgtEl>
                                          <p:spTgt spid="7">
                                            <p:txEl>
                                              <p:pRg st="4" end="4"/>
                                            </p:txEl>
                                          </p:spTgt>
                                        </p:tgtEl>
                                        <p:attrNameLst>
                                          <p:attrName>ppt_x</p:attrName>
                                        </p:attrNameLst>
                                      </p:cBhvr>
                                      <p:tavLst>
                                        <p:tav tm="0">
                                          <p:val>
                                            <p:strVal val="#ppt_x"/>
                                          </p:val>
                                        </p:tav>
                                        <p:tav tm="100000">
                                          <p:val>
                                            <p:strVal val="#ppt_x"/>
                                          </p:val>
                                        </p:tav>
                                      </p:tavLst>
                                    </p:anim>
                                    <p:anim calcmode="lin" valueType="num">
                                      <p:cBhvr>
                                        <p:cTn id="37" dur="1000" fill="hold"/>
                                        <p:tgtEl>
                                          <p:spTgt spid="7">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C212D3-71B3-5018-2992-382B2195005E}"/>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2526AEA4-D654-9956-4756-9D4E2078B62E}"/>
              </a:ext>
            </a:extLst>
          </p:cNvPr>
          <p:cNvSpPr>
            <a:spLocks noGrp="1"/>
          </p:cNvSpPr>
          <p:nvPr>
            <p:ph type="title"/>
          </p:nvPr>
        </p:nvSpPr>
        <p:spPr>
          <a:xfrm>
            <a:off x="228600" y="7088"/>
            <a:ext cx="8839200" cy="914400"/>
          </a:xfrm>
        </p:spPr>
        <p:txBody>
          <a:bodyPr>
            <a:normAutofit fontScale="90000"/>
          </a:bodyPr>
          <a:lstStyle/>
          <a:p>
            <a:pPr algn="l"/>
            <a:r>
              <a:rPr lang="en-US" sz="3600" dirty="0"/>
              <a:t>Encouraging Self-Reflection</a:t>
            </a:r>
            <a:br>
              <a:rPr lang="en-US" sz="3600" dirty="0"/>
            </a:br>
            <a:r>
              <a:rPr lang="en-US" sz="2400" dirty="0">
                <a:solidFill>
                  <a:schemeClr val="tx2">
                    <a:lumMod val="60000"/>
                    <a:lumOff val="40000"/>
                  </a:schemeClr>
                </a:solidFill>
              </a:rPr>
              <a:t>Questions for the “Natural Man” of Romans 1</a:t>
            </a:r>
            <a:endParaRPr lang="en-US" sz="2400" i="1" u="sng" dirty="0">
              <a:solidFill>
                <a:schemeClr val="tx2">
                  <a:lumMod val="60000"/>
                  <a:lumOff val="40000"/>
                </a:schemeClr>
              </a:solidFill>
            </a:endParaRPr>
          </a:p>
        </p:txBody>
      </p:sp>
      <p:sp>
        <p:nvSpPr>
          <p:cNvPr id="7" name="TextBox 6">
            <a:extLst>
              <a:ext uri="{FF2B5EF4-FFF2-40B4-BE49-F238E27FC236}">
                <a16:creationId xmlns:a16="http://schemas.microsoft.com/office/drawing/2014/main" id="{ED447345-A8C7-C76B-6145-179BEA78F9A5}"/>
              </a:ext>
            </a:extLst>
          </p:cNvPr>
          <p:cNvSpPr txBox="1"/>
          <p:nvPr/>
        </p:nvSpPr>
        <p:spPr>
          <a:xfrm>
            <a:off x="228600" y="1066800"/>
            <a:ext cx="8686800" cy="5324535"/>
          </a:xfrm>
          <a:prstGeom prst="rect">
            <a:avLst/>
          </a:prstGeom>
          <a:noFill/>
        </p:spPr>
        <p:txBody>
          <a:bodyPr wrap="square">
            <a:spAutoFit/>
          </a:bodyPr>
          <a:lstStyle/>
          <a:p>
            <a:r>
              <a:rPr lang="en-US" sz="2000" b="1" dirty="0">
                <a:latin typeface="+mn-lt"/>
              </a:rPr>
              <a:t>Focus: </a:t>
            </a:r>
            <a:r>
              <a:rPr lang="en-US" sz="2000" b="1" u="sng" dirty="0">
                <a:latin typeface="+mn-lt"/>
              </a:rPr>
              <a:t>Creation as revelation</a:t>
            </a:r>
            <a:r>
              <a:rPr lang="en-US" sz="2000" b="1" dirty="0">
                <a:latin typeface="+mn-lt"/>
              </a:rPr>
              <a:t> of God’s existence and attributes.</a:t>
            </a:r>
            <a:r>
              <a:rPr lang="en-US" sz="2000" dirty="0">
                <a:latin typeface="+mn-lt"/>
              </a:rPr>
              <a:t>  </a:t>
            </a:r>
          </a:p>
          <a:p>
            <a:endParaRPr lang="en-US" sz="2000" dirty="0">
              <a:latin typeface="+mn-lt"/>
            </a:endParaRPr>
          </a:p>
          <a:p>
            <a:pPr marL="342900" indent="-342900">
              <a:buFontTx/>
              <a:buChar char="-"/>
            </a:pPr>
            <a:r>
              <a:rPr lang="en-US" sz="2000" b="1" dirty="0">
                <a:latin typeface="+mn-lt"/>
              </a:rPr>
              <a:t>“When you look at the vastness of the night sky, the order of the seasons, or the complexity of life, do you ever wonder if there is a purposeful Intelligence behind it all?”</a:t>
            </a:r>
            <a:r>
              <a:rPr lang="en-US" sz="2000" dirty="0">
                <a:latin typeface="+mn-lt"/>
              </a:rPr>
              <a:t>  </a:t>
            </a:r>
          </a:p>
          <a:p>
            <a:endParaRPr lang="en-US" sz="2000" dirty="0">
              <a:latin typeface="+mn-lt"/>
            </a:endParaRPr>
          </a:p>
          <a:p>
            <a:pPr marL="342900" indent="-342900">
              <a:buFontTx/>
              <a:buChar char="-"/>
            </a:pPr>
            <a:r>
              <a:rPr lang="en-US" sz="2000" b="1" dirty="0">
                <a:latin typeface="+mn-lt"/>
              </a:rPr>
              <a:t>“You appreciate the beauty and intricacy of nature, but have you considered why beauty and order exist at all, and what their ultimate source might be?”</a:t>
            </a:r>
            <a:r>
              <a:rPr lang="en-US" sz="2000" dirty="0">
                <a:latin typeface="+mn-lt"/>
              </a:rPr>
              <a:t>  </a:t>
            </a:r>
          </a:p>
          <a:p>
            <a:endParaRPr lang="en-US" sz="2000" dirty="0">
              <a:latin typeface="+mn-lt"/>
            </a:endParaRPr>
          </a:p>
          <a:p>
            <a:pPr marL="342900" indent="-342900">
              <a:buFontTx/>
              <a:buChar char="-"/>
            </a:pPr>
            <a:r>
              <a:rPr lang="en-US" sz="2000" b="1" dirty="0">
                <a:latin typeface="+mn-lt"/>
              </a:rPr>
              <a:t>“Our world follows laws - of physics, chemistry, biology - that never seem to change. Wouldn’t a timeless, intelligent Lawgiver best explain the consistent reliability of these laws?”</a:t>
            </a:r>
            <a:r>
              <a:rPr lang="en-US" sz="2000" dirty="0">
                <a:latin typeface="+mn-lt"/>
              </a:rPr>
              <a:t>  </a:t>
            </a:r>
          </a:p>
          <a:p>
            <a:endParaRPr lang="en-US" sz="2000" dirty="0">
              <a:latin typeface="+mn-lt"/>
            </a:endParaRPr>
          </a:p>
          <a:p>
            <a:pPr marL="342900" indent="-342900">
              <a:buFontTx/>
              <a:buChar char="-"/>
            </a:pPr>
            <a:r>
              <a:rPr lang="en-US" sz="2000" b="1" dirty="0">
                <a:latin typeface="+mn-lt"/>
              </a:rPr>
              <a:t>“If the universe had a beginning, what or who do you think caused it to come into being, and how might that cause be greater than the universe itself?”</a:t>
            </a:r>
            <a:endParaRPr lang="en-US" b="1" dirty="0"/>
          </a:p>
        </p:txBody>
      </p:sp>
    </p:spTree>
    <p:extLst>
      <p:ext uri="{BB962C8B-B14F-4D97-AF65-F5344CB8AC3E}">
        <p14:creationId xmlns:p14="http://schemas.microsoft.com/office/powerpoint/2010/main" val="14106976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fade">
                                      <p:cBhvr>
                                        <p:cTn id="7" dur="1000"/>
                                        <p:tgtEl>
                                          <p:spTgt spid="7">
                                            <p:txEl>
                                              <p:pRg st="0" end="0"/>
                                            </p:txEl>
                                          </p:spTgt>
                                        </p:tgtEl>
                                      </p:cBhvr>
                                    </p:animEffect>
                                    <p:anim calcmode="lin" valueType="num">
                                      <p:cBhvr>
                                        <p:cTn id="8"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7">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7">
                                            <p:txEl>
                                              <p:pRg st="2" end="2"/>
                                            </p:txEl>
                                          </p:spTgt>
                                        </p:tgtEl>
                                        <p:attrNameLst>
                                          <p:attrName>style.visibility</p:attrName>
                                        </p:attrNameLst>
                                      </p:cBhvr>
                                      <p:to>
                                        <p:strVal val="visible"/>
                                      </p:to>
                                    </p:set>
                                    <p:animEffect transition="in" filter="fade">
                                      <p:cBhvr>
                                        <p:cTn id="14" dur="1000"/>
                                        <p:tgtEl>
                                          <p:spTgt spid="7">
                                            <p:txEl>
                                              <p:pRg st="2" end="2"/>
                                            </p:txEl>
                                          </p:spTgt>
                                        </p:tgtEl>
                                      </p:cBhvr>
                                    </p:animEffect>
                                    <p:anim calcmode="lin" valueType="num">
                                      <p:cBhvr>
                                        <p:cTn id="15" dur="1000" fill="hold"/>
                                        <p:tgtEl>
                                          <p:spTgt spid="7">
                                            <p:txEl>
                                              <p:pRg st="2" end="2"/>
                                            </p:txEl>
                                          </p:spTgt>
                                        </p:tgtEl>
                                        <p:attrNameLst>
                                          <p:attrName>ppt_x</p:attrName>
                                        </p:attrNameLst>
                                      </p:cBhvr>
                                      <p:tavLst>
                                        <p:tav tm="0">
                                          <p:val>
                                            <p:strVal val="#ppt_x"/>
                                          </p:val>
                                        </p:tav>
                                        <p:tav tm="100000">
                                          <p:val>
                                            <p:strVal val="#ppt_x"/>
                                          </p:val>
                                        </p:tav>
                                      </p:tavLst>
                                    </p:anim>
                                    <p:anim calcmode="lin" valueType="num">
                                      <p:cBhvr>
                                        <p:cTn id="16" dur="1000" fill="hold"/>
                                        <p:tgtEl>
                                          <p:spTgt spid="7">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7">
                                            <p:txEl>
                                              <p:pRg st="4" end="4"/>
                                            </p:txEl>
                                          </p:spTgt>
                                        </p:tgtEl>
                                        <p:attrNameLst>
                                          <p:attrName>style.visibility</p:attrName>
                                        </p:attrNameLst>
                                      </p:cBhvr>
                                      <p:to>
                                        <p:strVal val="visible"/>
                                      </p:to>
                                    </p:set>
                                    <p:animEffect transition="in" filter="fade">
                                      <p:cBhvr>
                                        <p:cTn id="21" dur="1000"/>
                                        <p:tgtEl>
                                          <p:spTgt spid="7">
                                            <p:txEl>
                                              <p:pRg st="4" end="4"/>
                                            </p:txEl>
                                          </p:spTgt>
                                        </p:tgtEl>
                                      </p:cBhvr>
                                    </p:animEffect>
                                    <p:anim calcmode="lin" valueType="num">
                                      <p:cBhvr>
                                        <p:cTn id="22" dur="1000" fill="hold"/>
                                        <p:tgtEl>
                                          <p:spTgt spid="7">
                                            <p:txEl>
                                              <p:pRg st="4" end="4"/>
                                            </p:txEl>
                                          </p:spTgt>
                                        </p:tgtEl>
                                        <p:attrNameLst>
                                          <p:attrName>ppt_x</p:attrName>
                                        </p:attrNameLst>
                                      </p:cBhvr>
                                      <p:tavLst>
                                        <p:tav tm="0">
                                          <p:val>
                                            <p:strVal val="#ppt_x"/>
                                          </p:val>
                                        </p:tav>
                                        <p:tav tm="100000">
                                          <p:val>
                                            <p:strVal val="#ppt_x"/>
                                          </p:val>
                                        </p:tav>
                                      </p:tavLst>
                                    </p:anim>
                                    <p:anim calcmode="lin" valueType="num">
                                      <p:cBhvr>
                                        <p:cTn id="23" dur="1000" fill="hold"/>
                                        <p:tgtEl>
                                          <p:spTgt spid="7">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7">
                                            <p:txEl>
                                              <p:pRg st="6" end="6"/>
                                            </p:txEl>
                                          </p:spTgt>
                                        </p:tgtEl>
                                        <p:attrNameLst>
                                          <p:attrName>style.visibility</p:attrName>
                                        </p:attrNameLst>
                                      </p:cBhvr>
                                      <p:to>
                                        <p:strVal val="visible"/>
                                      </p:to>
                                    </p:set>
                                    <p:animEffect transition="in" filter="fade">
                                      <p:cBhvr>
                                        <p:cTn id="28" dur="1000"/>
                                        <p:tgtEl>
                                          <p:spTgt spid="7">
                                            <p:txEl>
                                              <p:pRg st="6" end="6"/>
                                            </p:txEl>
                                          </p:spTgt>
                                        </p:tgtEl>
                                      </p:cBhvr>
                                    </p:animEffect>
                                    <p:anim calcmode="lin" valueType="num">
                                      <p:cBhvr>
                                        <p:cTn id="29" dur="1000" fill="hold"/>
                                        <p:tgtEl>
                                          <p:spTgt spid="7">
                                            <p:txEl>
                                              <p:pRg st="6" end="6"/>
                                            </p:txEl>
                                          </p:spTgt>
                                        </p:tgtEl>
                                        <p:attrNameLst>
                                          <p:attrName>ppt_x</p:attrName>
                                        </p:attrNameLst>
                                      </p:cBhvr>
                                      <p:tavLst>
                                        <p:tav tm="0">
                                          <p:val>
                                            <p:strVal val="#ppt_x"/>
                                          </p:val>
                                        </p:tav>
                                        <p:tav tm="100000">
                                          <p:val>
                                            <p:strVal val="#ppt_x"/>
                                          </p:val>
                                        </p:tav>
                                      </p:tavLst>
                                    </p:anim>
                                    <p:anim calcmode="lin" valueType="num">
                                      <p:cBhvr>
                                        <p:cTn id="30" dur="1000" fill="hold"/>
                                        <p:tgtEl>
                                          <p:spTgt spid="7">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nodeType="clickEffect">
                                  <p:stCondLst>
                                    <p:cond delay="0"/>
                                  </p:stCondLst>
                                  <p:childTnLst>
                                    <p:set>
                                      <p:cBhvr>
                                        <p:cTn id="34" dur="1" fill="hold">
                                          <p:stCondLst>
                                            <p:cond delay="0"/>
                                          </p:stCondLst>
                                        </p:cTn>
                                        <p:tgtEl>
                                          <p:spTgt spid="7">
                                            <p:txEl>
                                              <p:pRg st="8" end="8"/>
                                            </p:txEl>
                                          </p:spTgt>
                                        </p:tgtEl>
                                        <p:attrNameLst>
                                          <p:attrName>style.visibility</p:attrName>
                                        </p:attrNameLst>
                                      </p:cBhvr>
                                      <p:to>
                                        <p:strVal val="visible"/>
                                      </p:to>
                                    </p:set>
                                    <p:animEffect transition="in" filter="fade">
                                      <p:cBhvr>
                                        <p:cTn id="35" dur="1000"/>
                                        <p:tgtEl>
                                          <p:spTgt spid="7">
                                            <p:txEl>
                                              <p:pRg st="8" end="8"/>
                                            </p:txEl>
                                          </p:spTgt>
                                        </p:tgtEl>
                                      </p:cBhvr>
                                    </p:animEffect>
                                    <p:anim calcmode="lin" valueType="num">
                                      <p:cBhvr>
                                        <p:cTn id="36" dur="1000" fill="hold"/>
                                        <p:tgtEl>
                                          <p:spTgt spid="7">
                                            <p:txEl>
                                              <p:pRg st="8" end="8"/>
                                            </p:txEl>
                                          </p:spTgt>
                                        </p:tgtEl>
                                        <p:attrNameLst>
                                          <p:attrName>ppt_x</p:attrName>
                                        </p:attrNameLst>
                                      </p:cBhvr>
                                      <p:tavLst>
                                        <p:tav tm="0">
                                          <p:val>
                                            <p:strVal val="#ppt_x"/>
                                          </p:val>
                                        </p:tav>
                                        <p:tav tm="100000">
                                          <p:val>
                                            <p:strVal val="#ppt_x"/>
                                          </p:val>
                                        </p:tav>
                                      </p:tavLst>
                                    </p:anim>
                                    <p:anim calcmode="lin" valueType="num">
                                      <p:cBhvr>
                                        <p:cTn id="37" dur="1000" fill="hold"/>
                                        <p:tgtEl>
                                          <p:spTgt spid="7">
                                            <p:txEl>
                                              <p:pRg st="8" end="8"/>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8937A2-F0E6-BA23-FFD0-56BF5D722993}"/>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B000DB42-9C8E-BBCB-C5BB-195B4720549D}"/>
              </a:ext>
            </a:extLst>
          </p:cNvPr>
          <p:cNvSpPr>
            <a:spLocks noGrp="1"/>
          </p:cNvSpPr>
          <p:nvPr>
            <p:ph type="title"/>
          </p:nvPr>
        </p:nvSpPr>
        <p:spPr>
          <a:xfrm>
            <a:off x="228600" y="7088"/>
            <a:ext cx="8839200" cy="914400"/>
          </a:xfrm>
        </p:spPr>
        <p:txBody>
          <a:bodyPr>
            <a:normAutofit fontScale="90000"/>
          </a:bodyPr>
          <a:lstStyle/>
          <a:p>
            <a:pPr algn="l"/>
            <a:r>
              <a:rPr lang="en-US" sz="3600" dirty="0"/>
              <a:t>Encouraging Self-Reflection</a:t>
            </a:r>
            <a:br>
              <a:rPr lang="en-US" sz="3600" dirty="0"/>
            </a:br>
            <a:r>
              <a:rPr lang="en-US" sz="2400" dirty="0">
                <a:solidFill>
                  <a:schemeClr val="tx2">
                    <a:lumMod val="60000"/>
                    <a:lumOff val="40000"/>
                  </a:schemeClr>
                </a:solidFill>
              </a:rPr>
              <a:t>Questions for the “Moral Man” of Romans 2</a:t>
            </a:r>
            <a:endParaRPr lang="en-US" sz="2400" i="1" u="sng" dirty="0">
              <a:solidFill>
                <a:schemeClr val="tx2">
                  <a:lumMod val="60000"/>
                  <a:lumOff val="40000"/>
                </a:schemeClr>
              </a:solidFill>
            </a:endParaRPr>
          </a:p>
        </p:txBody>
      </p:sp>
      <p:sp>
        <p:nvSpPr>
          <p:cNvPr id="7" name="TextBox 6">
            <a:extLst>
              <a:ext uri="{FF2B5EF4-FFF2-40B4-BE49-F238E27FC236}">
                <a16:creationId xmlns:a16="http://schemas.microsoft.com/office/drawing/2014/main" id="{883FDF07-921C-CE75-A002-0724AAD2C8B0}"/>
              </a:ext>
            </a:extLst>
          </p:cNvPr>
          <p:cNvSpPr txBox="1"/>
          <p:nvPr/>
        </p:nvSpPr>
        <p:spPr>
          <a:xfrm>
            <a:off x="228600" y="1066800"/>
            <a:ext cx="8686800" cy="5016758"/>
          </a:xfrm>
          <a:prstGeom prst="rect">
            <a:avLst/>
          </a:prstGeom>
          <a:noFill/>
        </p:spPr>
        <p:txBody>
          <a:bodyPr wrap="square">
            <a:spAutoFit/>
          </a:bodyPr>
          <a:lstStyle/>
          <a:p>
            <a:r>
              <a:rPr lang="en-US" sz="2000" b="1" dirty="0">
                <a:latin typeface="+mn-lt"/>
              </a:rPr>
              <a:t>Focus: </a:t>
            </a:r>
            <a:r>
              <a:rPr lang="en-US" sz="2000" b="1" u="sng" dirty="0">
                <a:latin typeface="+mn-lt"/>
              </a:rPr>
              <a:t>Universal moral standards</a:t>
            </a:r>
            <a:r>
              <a:rPr lang="en-US" sz="2000" b="1" dirty="0">
                <a:latin typeface="+mn-lt"/>
              </a:rPr>
              <a:t> as inner testimony to God’s character.</a:t>
            </a:r>
            <a:r>
              <a:rPr lang="en-US" sz="2000" dirty="0">
                <a:latin typeface="+mn-lt"/>
              </a:rPr>
              <a:t>  </a:t>
            </a:r>
          </a:p>
          <a:p>
            <a:endParaRPr lang="en-US" sz="2000" dirty="0">
              <a:latin typeface="+mn-lt"/>
            </a:endParaRPr>
          </a:p>
          <a:p>
            <a:pPr marL="342900" indent="-342900">
              <a:buFontTx/>
              <a:buChar char="-"/>
            </a:pPr>
            <a:r>
              <a:rPr lang="en-US" sz="2000" b="1" dirty="0">
                <a:latin typeface="+mn-lt"/>
              </a:rPr>
              <a:t>“You have a sense of right and wrong; where do you think that sense originates, and why do you feel accountable to it?”  </a:t>
            </a:r>
          </a:p>
          <a:p>
            <a:endParaRPr lang="en-US" sz="2000" b="1" dirty="0">
              <a:latin typeface="+mn-lt"/>
            </a:endParaRPr>
          </a:p>
          <a:p>
            <a:pPr marL="342900" indent="-342900">
              <a:buFontTx/>
              <a:buChar char="-"/>
            </a:pPr>
            <a:r>
              <a:rPr lang="en-US" sz="2000" b="1" dirty="0">
                <a:latin typeface="+mn-lt"/>
              </a:rPr>
              <a:t>“If moral standards were merely social constructs, why do you still feel guilt or shame for certain actions even if no one else finds out? Could that point to a moral Lawgiver?”</a:t>
            </a:r>
          </a:p>
          <a:p>
            <a:r>
              <a:rPr lang="en-US" sz="2000" b="1" dirty="0">
                <a:latin typeface="+mn-lt"/>
              </a:rPr>
              <a:t>  </a:t>
            </a:r>
          </a:p>
          <a:p>
            <a:pPr marL="342900" indent="-342900">
              <a:buFontTx/>
              <a:buChar char="-"/>
            </a:pPr>
            <a:r>
              <a:rPr lang="en-US" sz="2000" b="1" dirty="0">
                <a:latin typeface="+mn-lt"/>
              </a:rPr>
              <a:t>“You believe justice is important. What is the ultimate source of this conviction if not a higher, objective moral authority?” </a:t>
            </a:r>
          </a:p>
          <a:p>
            <a:r>
              <a:rPr lang="en-US" sz="2000" b="1" dirty="0">
                <a:latin typeface="+mn-lt"/>
              </a:rPr>
              <a:t> </a:t>
            </a:r>
          </a:p>
          <a:p>
            <a:pPr marL="342900" indent="-342900">
              <a:buFontTx/>
              <a:buChar char="-"/>
            </a:pPr>
            <a:r>
              <a:rPr lang="en-US" sz="2000" b="1" dirty="0">
                <a:latin typeface="+mn-lt"/>
              </a:rPr>
              <a:t>“When you see injustice or cruelty, you believe it’s genuinely wrong; not just inconvenient. Could there be an absolute moral standard beyond human opinion?”</a:t>
            </a:r>
          </a:p>
        </p:txBody>
      </p:sp>
    </p:spTree>
    <p:extLst>
      <p:ext uri="{BB962C8B-B14F-4D97-AF65-F5344CB8AC3E}">
        <p14:creationId xmlns:p14="http://schemas.microsoft.com/office/powerpoint/2010/main" val="41350258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fade">
                                      <p:cBhvr>
                                        <p:cTn id="7" dur="1000"/>
                                        <p:tgtEl>
                                          <p:spTgt spid="7">
                                            <p:txEl>
                                              <p:pRg st="0" end="0"/>
                                            </p:txEl>
                                          </p:spTgt>
                                        </p:tgtEl>
                                      </p:cBhvr>
                                    </p:animEffect>
                                    <p:anim calcmode="lin" valueType="num">
                                      <p:cBhvr>
                                        <p:cTn id="8"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7">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7">
                                            <p:txEl>
                                              <p:pRg st="2" end="2"/>
                                            </p:txEl>
                                          </p:spTgt>
                                        </p:tgtEl>
                                        <p:attrNameLst>
                                          <p:attrName>style.visibility</p:attrName>
                                        </p:attrNameLst>
                                      </p:cBhvr>
                                      <p:to>
                                        <p:strVal val="visible"/>
                                      </p:to>
                                    </p:set>
                                    <p:animEffect transition="in" filter="fade">
                                      <p:cBhvr>
                                        <p:cTn id="14" dur="1000"/>
                                        <p:tgtEl>
                                          <p:spTgt spid="7">
                                            <p:txEl>
                                              <p:pRg st="2" end="2"/>
                                            </p:txEl>
                                          </p:spTgt>
                                        </p:tgtEl>
                                      </p:cBhvr>
                                    </p:animEffect>
                                    <p:anim calcmode="lin" valueType="num">
                                      <p:cBhvr>
                                        <p:cTn id="15" dur="1000" fill="hold"/>
                                        <p:tgtEl>
                                          <p:spTgt spid="7">
                                            <p:txEl>
                                              <p:pRg st="2" end="2"/>
                                            </p:txEl>
                                          </p:spTgt>
                                        </p:tgtEl>
                                        <p:attrNameLst>
                                          <p:attrName>ppt_x</p:attrName>
                                        </p:attrNameLst>
                                      </p:cBhvr>
                                      <p:tavLst>
                                        <p:tav tm="0">
                                          <p:val>
                                            <p:strVal val="#ppt_x"/>
                                          </p:val>
                                        </p:tav>
                                        <p:tav tm="100000">
                                          <p:val>
                                            <p:strVal val="#ppt_x"/>
                                          </p:val>
                                        </p:tav>
                                      </p:tavLst>
                                    </p:anim>
                                    <p:anim calcmode="lin" valueType="num">
                                      <p:cBhvr>
                                        <p:cTn id="16" dur="1000" fill="hold"/>
                                        <p:tgtEl>
                                          <p:spTgt spid="7">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7">
                                            <p:txEl>
                                              <p:pRg st="4" end="4"/>
                                            </p:txEl>
                                          </p:spTgt>
                                        </p:tgtEl>
                                        <p:attrNameLst>
                                          <p:attrName>style.visibility</p:attrName>
                                        </p:attrNameLst>
                                      </p:cBhvr>
                                      <p:to>
                                        <p:strVal val="visible"/>
                                      </p:to>
                                    </p:set>
                                    <p:animEffect transition="in" filter="fade">
                                      <p:cBhvr>
                                        <p:cTn id="21" dur="1000"/>
                                        <p:tgtEl>
                                          <p:spTgt spid="7">
                                            <p:txEl>
                                              <p:pRg st="4" end="4"/>
                                            </p:txEl>
                                          </p:spTgt>
                                        </p:tgtEl>
                                      </p:cBhvr>
                                    </p:animEffect>
                                    <p:anim calcmode="lin" valueType="num">
                                      <p:cBhvr>
                                        <p:cTn id="22" dur="1000" fill="hold"/>
                                        <p:tgtEl>
                                          <p:spTgt spid="7">
                                            <p:txEl>
                                              <p:pRg st="4" end="4"/>
                                            </p:txEl>
                                          </p:spTgt>
                                        </p:tgtEl>
                                        <p:attrNameLst>
                                          <p:attrName>ppt_x</p:attrName>
                                        </p:attrNameLst>
                                      </p:cBhvr>
                                      <p:tavLst>
                                        <p:tav tm="0">
                                          <p:val>
                                            <p:strVal val="#ppt_x"/>
                                          </p:val>
                                        </p:tav>
                                        <p:tav tm="100000">
                                          <p:val>
                                            <p:strVal val="#ppt_x"/>
                                          </p:val>
                                        </p:tav>
                                      </p:tavLst>
                                    </p:anim>
                                    <p:anim calcmode="lin" valueType="num">
                                      <p:cBhvr>
                                        <p:cTn id="23" dur="1000" fill="hold"/>
                                        <p:tgtEl>
                                          <p:spTgt spid="7">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7">
                                            <p:txEl>
                                              <p:pRg st="6" end="6"/>
                                            </p:txEl>
                                          </p:spTgt>
                                        </p:tgtEl>
                                        <p:attrNameLst>
                                          <p:attrName>style.visibility</p:attrName>
                                        </p:attrNameLst>
                                      </p:cBhvr>
                                      <p:to>
                                        <p:strVal val="visible"/>
                                      </p:to>
                                    </p:set>
                                    <p:animEffect transition="in" filter="fade">
                                      <p:cBhvr>
                                        <p:cTn id="28" dur="1000"/>
                                        <p:tgtEl>
                                          <p:spTgt spid="7">
                                            <p:txEl>
                                              <p:pRg st="6" end="6"/>
                                            </p:txEl>
                                          </p:spTgt>
                                        </p:tgtEl>
                                      </p:cBhvr>
                                    </p:animEffect>
                                    <p:anim calcmode="lin" valueType="num">
                                      <p:cBhvr>
                                        <p:cTn id="29" dur="1000" fill="hold"/>
                                        <p:tgtEl>
                                          <p:spTgt spid="7">
                                            <p:txEl>
                                              <p:pRg st="6" end="6"/>
                                            </p:txEl>
                                          </p:spTgt>
                                        </p:tgtEl>
                                        <p:attrNameLst>
                                          <p:attrName>ppt_x</p:attrName>
                                        </p:attrNameLst>
                                      </p:cBhvr>
                                      <p:tavLst>
                                        <p:tav tm="0">
                                          <p:val>
                                            <p:strVal val="#ppt_x"/>
                                          </p:val>
                                        </p:tav>
                                        <p:tav tm="100000">
                                          <p:val>
                                            <p:strVal val="#ppt_x"/>
                                          </p:val>
                                        </p:tav>
                                      </p:tavLst>
                                    </p:anim>
                                    <p:anim calcmode="lin" valueType="num">
                                      <p:cBhvr>
                                        <p:cTn id="30" dur="1000" fill="hold"/>
                                        <p:tgtEl>
                                          <p:spTgt spid="7">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nodeType="clickEffect">
                                  <p:stCondLst>
                                    <p:cond delay="0"/>
                                  </p:stCondLst>
                                  <p:childTnLst>
                                    <p:set>
                                      <p:cBhvr>
                                        <p:cTn id="34" dur="1" fill="hold">
                                          <p:stCondLst>
                                            <p:cond delay="0"/>
                                          </p:stCondLst>
                                        </p:cTn>
                                        <p:tgtEl>
                                          <p:spTgt spid="7">
                                            <p:txEl>
                                              <p:pRg st="8" end="8"/>
                                            </p:txEl>
                                          </p:spTgt>
                                        </p:tgtEl>
                                        <p:attrNameLst>
                                          <p:attrName>style.visibility</p:attrName>
                                        </p:attrNameLst>
                                      </p:cBhvr>
                                      <p:to>
                                        <p:strVal val="visible"/>
                                      </p:to>
                                    </p:set>
                                    <p:animEffect transition="in" filter="fade">
                                      <p:cBhvr>
                                        <p:cTn id="35" dur="1000"/>
                                        <p:tgtEl>
                                          <p:spTgt spid="7">
                                            <p:txEl>
                                              <p:pRg st="8" end="8"/>
                                            </p:txEl>
                                          </p:spTgt>
                                        </p:tgtEl>
                                      </p:cBhvr>
                                    </p:animEffect>
                                    <p:anim calcmode="lin" valueType="num">
                                      <p:cBhvr>
                                        <p:cTn id="36" dur="1000" fill="hold"/>
                                        <p:tgtEl>
                                          <p:spTgt spid="7">
                                            <p:txEl>
                                              <p:pRg st="8" end="8"/>
                                            </p:txEl>
                                          </p:spTgt>
                                        </p:tgtEl>
                                        <p:attrNameLst>
                                          <p:attrName>ppt_x</p:attrName>
                                        </p:attrNameLst>
                                      </p:cBhvr>
                                      <p:tavLst>
                                        <p:tav tm="0">
                                          <p:val>
                                            <p:strVal val="#ppt_x"/>
                                          </p:val>
                                        </p:tav>
                                        <p:tav tm="100000">
                                          <p:val>
                                            <p:strVal val="#ppt_x"/>
                                          </p:val>
                                        </p:tav>
                                      </p:tavLst>
                                    </p:anim>
                                    <p:anim calcmode="lin" valueType="num">
                                      <p:cBhvr>
                                        <p:cTn id="37" dur="1000" fill="hold"/>
                                        <p:tgtEl>
                                          <p:spTgt spid="7">
                                            <p:txEl>
                                              <p:pRg st="8" end="8"/>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A0F12E-7211-DA54-2AFA-00D4BE282E7A}"/>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0171F756-A16B-FC2A-C039-F22A8CD99D1A}"/>
              </a:ext>
            </a:extLst>
          </p:cNvPr>
          <p:cNvSpPr>
            <a:spLocks noGrp="1"/>
          </p:cNvSpPr>
          <p:nvPr>
            <p:ph type="title"/>
          </p:nvPr>
        </p:nvSpPr>
        <p:spPr>
          <a:xfrm>
            <a:off x="228600" y="7088"/>
            <a:ext cx="8839200" cy="914400"/>
          </a:xfrm>
        </p:spPr>
        <p:txBody>
          <a:bodyPr>
            <a:normAutofit fontScale="90000"/>
          </a:bodyPr>
          <a:lstStyle/>
          <a:p>
            <a:pPr algn="l"/>
            <a:r>
              <a:rPr lang="en-US" sz="3600" dirty="0"/>
              <a:t>Encouraging Self-Reflection</a:t>
            </a:r>
            <a:br>
              <a:rPr lang="en-US" sz="3600" dirty="0"/>
            </a:br>
            <a:r>
              <a:rPr lang="en-US" sz="2400" dirty="0">
                <a:solidFill>
                  <a:schemeClr val="tx2">
                    <a:lumMod val="60000"/>
                    <a:lumOff val="40000"/>
                  </a:schemeClr>
                </a:solidFill>
              </a:rPr>
              <a:t>Questions for the “Religious Man” of Romans 2, 3</a:t>
            </a:r>
            <a:endParaRPr lang="en-US" sz="2400" i="1" u="sng" dirty="0">
              <a:solidFill>
                <a:schemeClr val="tx2">
                  <a:lumMod val="60000"/>
                  <a:lumOff val="40000"/>
                </a:schemeClr>
              </a:solidFill>
            </a:endParaRPr>
          </a:p>
        </p:txBody>
      </p:sp>
      <p:sp>
        <p:nvSpPr>
          <p:cNvPr id="7" name="TextBox 6">
            <a:extLst>
              <a:ext uri="{FF2B5EF4-FFF2-40B4-BE49-F238E27FC236}">
                <a16:creationId xmlns:a16="http://schemas.microsoft.com/office/drawing/2014/main" id="{C94C18F1-EA63-25F5-3DA2-098D88F51D2B}"/>
              </a:ext>
            </a:extLst>
          </p:cNvPr>
          <p:cNvSpPr txBox="1"/>
          <p:nvPr/>
        </p:nvSpPr>
        <p:spPr>
          <a:xfrm>
            <a:off x="76200" y="990600"/>
            <a:ext cx="8991600" cy="5632311"/>
          </a:xfrm>
          <a:prstGeom prst="rect">
            <a:avLst/>
          </a:prstGeom>
          <a:noFill/>
        </p:spPr>
        <p:txBody>
          <a:bodyPr wrap="square">
            <a:spAutoFit/>
          </a:bodyPr>
          <a:lstStyle/>
          <a:p>
            <a:r>
              <a:rPr lang="en-US" sz="2000" b="1" dirty="0">
                <a:latin typeface="+mn-lt"/>
              </a:rPr>
              <a:t>Focus: </a:t>
            </a:r>
            <a:r>
              <a:rPr lang="en-US" sz="2000" b="1" u="sng" dirty="0">
                <a:latin typeface="+mn-lt"/>
              </a:rPr>
              <a:t>The innate desire for God and love for others</a:t>
            </a:r>
            <a:r>
              <a:rPr lang="en-US" sz="2000" b="1" dirty="0">
                <a:latin typeface="+mn-lt"/>
              </a:rPr>
              <a:t> as evidence of divine revelation.</a:t>
            </a:r>
          </a:p>
          <a:p>
            <a:endParaRPr lang="en-US" sz="2000" dirty="0">
              <a:latin typeface="+mn-lt"/>
            </a:endParaRPr>
          </a:p>
          <a:p>
            <a:pPr marL="342900" indent="-342900">
              <a:buFontTx/>
              <a:buChar char="-"/>
            </a:pPr>
            <a:r>
              <a:rPr lang="en-US" sz="2000" b="1" dirty="0">
                <a:latin typeface="+mn-lt"/>
              </a:rPr>
              <a:t>“You are seeking a relationship with the divine. Have you considered why this longing is universal across cultures and time, and what that might suggest about a God who designed us to know Him?” </a:t>
            </a:r>
          </a:p>
          <a:p>
            <a:r>
              <a:rPr lang="en-US" sz="2000" dirty="0">
                <a:latin typeface="+mn-lt"/>
              </a:rPr>
              <a:t> </a:t>
            </a:r>
          </a:p>
          <a:p>
            <a:pPr marL="342900" indent="-342900">
              <a:buFontTx/>
              <a:buChar char="-"/>
            </a:pPr>
            <a:r>
              <a:rPr lang="en-US" sz="2000" b="1" dirty="0">
                <a:latin typeface="+mn-lt"/>
              </a:rPr>
              <a:t>“Your heart tells you there must be more than what you see around you. Where do you think this spiritual hunger comes from, if not from a Creator who wants to be known?”  </a:t>
            </a:r>
          </a:p>
          <a:p>
            <a:endParaRPr lang="en-US" sz="2000" dirty="0">
              <a:latin typeface="+mn-lt"/>
            </a:endParaRPr>
          </a:p>
          <a:p>
            <a:pPr marL="342900" indent="-342900">
              <a:buFontTx/>
              <a:buChar char="-"/>
            </a:pPr>
            <a:r>
              <a:rPr lang="en-US" sz="2000" b="1" dirty="0">
                <a:latin typeface="+mn-lt"/>
              </a:rPr>
              <a:t>“You believe in loving your neighbor, but why should love be a fundamental good unless there is a God who Himself is love and made us in His image?”  </a:t>
            </a:r>
          </a:p>
          <a:p>
            <a:endParaRPr lang="en-US" sz="2000" dirty="0">
              <a:latin typeface="+mn-lt"/>
            </a:endParaRPr>
          </a:p>
          <a:p>
            <a:pPr marL="342900" indent="-342900">
              <a:buFontTx/>
              <a:buChar char="-"/>
            </a:pPr>
            <a:r>
              <a:rPr lang="en-US" sz="2000" b="1" dirty="0">
                <a:latin typeface="+mn-lt"/>
              </a:rPr>
              <a:t>“When you pray or meditate, do you sense that you’re reaching out to someone real and personal? Could that Someone be the God who spoke through the prophets and ultimately through Jesus Christ?”</a:t>
            </a:r>
          </a:p>
        </p:txBody>
      </p:sp>
    </p:spTree>
    <p:extLst>
      <p:ext uri="{BB962C8B-B14F-4D97-AF65-F5344CB8AC3E}">
        <p14:creationId xmlns:p14="http://schemas.microsoft.com/office/powerpoint/2010/main" val="14071160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fade">
                                      <p:cBhvr>
                                        <p:cTn id="7" dur="1000"/>
                                        <p:tgtEl>
                                          <p:spTgt spid="7">
                                            <p:txEl>
                                              <p:pRg st="0" end="0"/>
                                            </p:txEl>
                                          </p:spTgt>
                                        </p:tgtEl>
                                      </p:cBhvr>
                                    </p:animEffect>
                                    <p:anim calcmode="lin" valueType="num">
                                      <p:cBhvr>
                                        <p:cTn id="8"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7">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7">
                                            <p:txEl>
                                              <p:pRg st="2" end="2"/>
                                            </p:txEl>
                                          </p:spTgt>
                                        </p:tgtEl>
                                        <p:attrNameLst>
                                          <p:attrName>style.visibility</p:attrName>
                                        </p:attrNameLst>
                                      </p:cBhvr>
                                      <p:to>
                                        <p:strVal val="visible"/>
                                      </p:to>
                                    </p:set>
                                    <p:animEffect transition="in" filter="fade">
                                      <p:cBhvr>
                                        <p:cTn id="14" dur="1000"/>
                                        <p:tgtEl>
                                          <p:spTgt spid="7">
                                            <p:txEl>
                                              <p:pRg st="2" end="2"/>
                                            </p:txEl>
                                          </p:spTgt>
                                        </p:tgtEl>
                                      </p:cBhvr>
                                    </p:animEffect>
                                    <p:anim calcmode="lin" valueType="num">
                                      <p:cBhvr>
                                        <p:cTn id="15" dur="1000" fill="hold"/>
                                        <p:tgtEl>
                                          <p:spTgt spid="7">
                                            <p:txEl>
                                              <p:pRg st="2" end="2"/>
                                            </p:txEl>
                                          </p:spTgt>
                                        </p:tgtEl>
                                        <p:attrNameLst>
                                          <p:attrName>ppt_x</p:attrName>
                                        </p:attrNameLst>
                                      </p:cBhvr>
                                      <p:tavLst>
                                        <p:tav tm="0">
                                          <p:val>
                                            <p:strVal val="#ppt_x"/>
                                          </p:val>
                                        </p:tav>
                                        <p:tav tm="100000">
                                          <p:val>
                                            <p:strVal val="#ppt_x"/>
                                          </p:val>
                                        </p:tav>
                                      </p:tavLst>
                                    </p:anim>
                                    <p:anim calcmode="lin" valueType="num">
                                      <p:cBhvr>
                                        <p:cTn id="16" dur="1000" fill="hold"/>
                                        <p:tgtEl>
                                          <p:spTgt spid="7">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7">
                                            <p:txEl>
                                              <p:pRg st="4" end="4"/>
                                            </p:txEl>
                                          </p:spTgt>
                                        </p:tgtEl>
                                        <p:attrNameLst>
                                          <p:attrName>style.visibility</p:attrName>
                                        </p:attrNameLst>
                                      </p:cBhvr>
                                      <p:to>
                                        <p:strVal val="visible"/>
                                      </p:to>
                                    </p:set>
                                    <p:animEffect transition="in" filter="fade">
                                      <p:cBhvr>
                                        <p:cTn id="21" dur="1000"/>
                                        <p:tgtEl>
                                          <p:spTgt spid="7">
                                            <p:txEl>
                                              <p:pRg st="4" end="4"/>
                                            </p:txEl>
                                          </p:spTgt>
                                        </p:tgtEl>
                                      </p:cBhvr>
                                    </p:animEffect>
                                    <p:anim calcmode="lin" valueType="num">
                                      <p:cBhvr>
                                        <p:cTn id="22" dur="1000" fill="hold"/>
                                        <p:tgtEl>
                                          <p:spTgt spid="7">
                                            <p:txEl>
                                              <p:pRg st="4" end="4"/>
                                            </p:txEl>
                                          </p:spTgt>
                                        </p:tgtEl>
                                        <p:attrNameLst>
                                          <p:attrName>ppt_x</p:attrName>
                                        </p:attrNameLst>
                                      </p:cBhvr>
                                      <p:tavLst>
                                        <p:tav tm="0">
                                          <p:val>
                                            <p:strVal val="#ppt_x"/>
                                          </p:val>
                                        </p:tav>
                                        <p:tav tm="100000">
                                          <p:val>
                                            <p:strVal val="#ppt_x"/>
                                          </p:val>
                                        </p:tav>
                                      </p:tavLst>
                                    </p:anim>
                                    <p:anim calcmode="lin" valueType="num">
                                      <p:cBhvr>
                                        <p:cTn id="23" dur="1000" fill="hold"/>
                                        <p:tgtEl>
                                          <p:spTgt spid="7">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7">
                                            <p:txEl>
                                              <p:pRg st="6" end="6"/>
                                            </p:txEl>
                                          </p:spTgt>
                                        </p:tgtEl>
                                        <p:attrNameLst>
                                          <p:attrName>style.visibility</p:attrName>
                                        </p:attrNameLst>
                                      </p:cBhvr>
                                      <p:to>
                                        <p:strVal val="visible"/>
                                      </p:to>
                                    </p:set>
                                    <p:animEffect transition="in" filter="fade">
                                      <p:cBhvr>
                                        <p:cTn id="28" dur="1000"/>
                                        <p:tgtEl>
                                          <p:spTgt spid="7">
                                            <p:txEl>
                                              <p:pRg st="6" end="6"/>
                                            </p:txEl>
                                          </p:spTgt>
                                        </p:tgtEl>
                                      </p:cBhvr>
                                    </p:animEffect>
                                    <p:anim calcmode="lin" valueType="num">
                                      <p:cBhvr>
                                        <p:cTn id="29" dur="1000" fill="hold"/>
                                        <p:tgtEl>
                                          <p:spTgt spid="7">
                                            <p:txEl>
                                              <p:pRg st="6" end="6"/>
                                            </p:txEl>
                                          </p:spTgt>
                                        </p:tgtEl>
                                        <p:attrNameLst>
                                          <p:attrName>ppt_x</p:attrName>
                                        </p:attrNameLst>
                                      </p:cBhvr>
                                      <p:tavLst>
                                        <p:tav tm="0">
                                          <p:val>
                                            <p:strVal val="#ppt_x"/>
                                          </p:val>
                                        </p:tav>
                                        <p:tav tm="100000">
                                          <p:val>
                                            <p:strVal val="#ppt_x"/>
                                          </p:val>
                                        </p:tav>
                                      </p:tavLst>
                                    </p:anim>
                                    <p:anim calcmode="lin" valueType="num">
                                      <p:cBhvr>
                                        <p:cTn id="30" dur="1000" fill="hold"/>
                                        <p:tgtEl>
                                          <p:spTgt spid="7">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nodeType="clickEffect">
                                  <p:stCondLst>
                                    <p:cond delay="0"/>
                                  </p:stCondLst>
                                  <p:childTnLst>
                                    <p:set>
                                      <p:cBhvr>
                                        <p:cTn id="34" dur="1" fill="hold">
                                          <p:stCondLst>
                                            <p:cond delay="0"/>
                                          </p:stCondLst>
                                        </p:cTn>
                                        <p:tgtEl>
                                          <p:spTgt spid="7">
                                            <p:txEl>
                                              <p:pRg st="8" end="8"/>
                                            </p:txEl>
                                          </p:spTgt>
                                        </p:tgtEl>
                                        <p:attrNameLst>
                                          <p:attrName>style.visibility</p:attrName>
                                        </p:attrNameLst>
                                      </p:cBhvr>
                                      <p:to>
                                        <p:strVal val="visible"/>
                                      </p:to>
                                    </p:set>
                                    <p:animEffect transition="in" filter="fade">
                                      <p:cBhvr>
                                        <p:cTn id="35" dur="1000"/>
                                        <p:tgtEl>
                                          <p:spTgt spid="7">
                                            <p:txEl>
                                              <p:pRg st="8" end="8"/>
                                            </p:txEl>
                                          </p:spTgt>
                                        </p:tgtEl>
                                      </p:cBhvr>
                                    </p:animEffect>
                                    <p:anim calcmode="lin" valueType="num">
                                      <p:cBhvr>
                                        <p:cTn id="36" dur="1000" fill="hold"/>
                                        <p:tgtEl>
                                          <p:spTgt spid="7">
                                            <p:txEl>
                                              <p:pRg st="8" end="8"/>
                                            </p:txEl>
                                          </p:spTgt>
                                        </p:tgtEl>
                                        <p:attrNameLst>
                                          <p:attrName>ppt_x</p:attrName>
                                        </p:attrNameLst>
                                      </p:cBhvr>
                                      <p:tavLst>
                                        <p:tav tm="0">
                                          <p:val>
                                            <p:strVal val="#ppt_x"/>
                                          </p:val>
                                        </p:tav>
                                        <p:tav tm="100000">
                                          <p:val>
                                            <p:strVal val="#ppt_x"/>
                                          </p:val>
                                        </p:tav>
                                      </p:tavLst>
                                    </p:anim>
                                    <p:anim calcmode="lin" valueType="num">
                                      <p:cBhvr>
                                        <p:cTn id="37" dur="1000" fill="hold"/>
                                        <p:tgtEl>
                                          <p:spTgt spid="7">
                                            <p:txEl>
                                              <p:pRg st="8" end="8"/>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047451-AEDC-DD1E-3E50-0211C6E181B1}"/>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60BA9067-B60B-D7FC-F21C-8DC0B0D83170}"/>
              </a:ext>
            </a:extLst>
          </p:cNvPr>
          <p:cNvSpPr>
            <a:spLocks noGrp="1"/>
          </p:cNvSpPr>
          <p:nvPr>
            <p:ph type="title"/>
          </p:nvPr>
        </p:nvSpPr>
        <p:spPr>
          <a:xfrm>
            <a:off x="228600" y="7088"/>
            <a:ext cx="8839200" cy="914400"/>
          </a:xfrm>
        </p:spPr>
        <p:txBody>
          <a:bodyPr>
            <a:normAutofit fontScale="90000"/>
          </a:bodyPr>
          <a:lstStyle/>
          <a:p>
            <a:pPr algn="l"/>
            <a:r>
              <a:rPr lang="en-US" sz="3600" dirty="0"/>
              <a:t>Encouraging Self-Reflection</a:t>
            </a:r>
            <a:br>
              <a:rPr lang="en-US" sz="3600" dirty="0"/>
            </a:br>
            <a:r>
              <a:rPr lang="en-US" sz="2400" dirty="0">
                <a:solidFill>
                  <a:schemeClr val="tx2">
                    <a:lumMod val="60000"/>
                    <a:lumOff val="40000"/>
                  </a:schemeClr>
                </a:solidFill>
              </a:rPr>
              <a:t>Questions for the “Just Man” of Romans 4</a:t>
            </a:r>
            <a:endParaRPr lang="en-US" sz="2400" i="1" u="sng" dirty="0">
              <a:solidFill>
                <a:schemeClr val="tx2">
                  <a:lumMod val="60000"/>
                  <a:lumOff val="40000"/>
                </a:schemeClr>
              </a:solidFill>
            </a:endParaRPr>
          </a:p>
        </p:txBody>
      </p:sp>
      <p:sp>
        <p:nvSpPr>
          <p:cNvPr id="7" name="TextBox 6">
            <a:extLst>
              <a:ext uri="{FF2B5EF4-FFF2-40B4-BE49-F238E27FC236}">
                <a16:creationId xmlns:a16="http://schemas.microsoft.com/office/drawing/2014/main" id="{CA7CD438-CFC5-107B-0244-14B4F2F073FF}"/>
              </a:ext>
            </a:extLst>
          </p:cNvPr>
          <p:cNvSpPr txBox="1"/>
          <p:nvPr/>
        </p:nvSpPr>
        <p:spPr>
          <a:xfrm>
            <a:off x="76200" y="990600"/>
            <a:ext cx="8991600" cy="5940088"/>
          </a:xfrm>
          <a:prstGeom prst="rect">
            <a:avLst/>
          </a:prstGeom>
          <a:noFill/>
        </p:spPr>
        <p:txBody>
          <a:bodyPr wrap="square">
            <a:spAutoFit/>
          </a:bodyPr>
          <a:lstStyle/>
          <a:p>
            <a:r>
              <a:rPr lang="en-US" sz="2000" b="1" dirty="0"/>
              <a:t>Focus: </a:t>
            </a:r>
            <a:r>
              <a:rPr lang="en-US" sz="2000" b="1" u="sng" dirty="0"/>
              <a:t>Faith as the channel through which we are made right with God</a:t>
            </a:r>
            <a:r>
              <a:rPr lang="en-US" sz="2000" b="1" dirty="0"/>
              <a:t>, illustrated by Abraham and fulfilled in Christ.</a:t>
            </a:r>
          </a:p>
          <a:p>
            <a:endParaRPr lang="en-US" sz="2000" b="1" dirty="0"/>
          </a:p>
          <a:p>
            <a:pPr marL="342900" indent="-342900">
              <a:buFontTx/>
              <a:buChar char="-"/>
            </a:pPr>
            <a:r>
              <a:rPr lang="en-US" sz="2000" b="1" dirty="0"/>
              <a:t>“You trust that God keeps His promises, as Abraham did. Why would you believe that God is both faithful and true unless He has revealed Himself as unchanging, trustworthy, and righteous?”  </a:t>
            </a:r>
          </a:p>
          <a:p>
            <a:endParaRPr lang="en-US" sz="2000" b="1" dirty="0"/>
          </a:p>
          <a:p>
            <a:pPr marL="342900" indent="-342900">
              <a:buFontTx/>
              <a:buChar char="-"/>
            </a:pPr>
            <a:r>
              <a:rPr lang="en-US" sz="2000" b="1" dirty="0"/>
              <a:t>“Your faith points beyond your own goodness to something greater. If your moral efforts are never perfect, on what basis can you stand before a holy God, if not on the righteousness He provides by faith?”  </a:t>
            </a:r>
          </a:p>
          <a:p>
            <a:endParaRPr lang="en-US" sz="2000" b="1" dirty="0"/>
          </a:p>
          <a:p>
            <a:pPr marL="342900" indent="-342900">
              <a:buFontTx/>
              <a:buChar char="-"/>
            </a:pPr>
            <a:r>
              <a:rPr lang="en-US" sz="2000" b="1" dirty="0"/>
              <a:t>“Consider Abraham: he trusted God’s word before it was fulfilled. Has God’s faithfulness to Abraham and to countless believers since not shown that He is real and that we can be certain of His character?” </a:t>
            </a:r>
          </a:p>
          <a:p>
            <a:r>
              <a:rPr lang="en-US" sz="2000" b="1" dirty="0"/>
              <a:t> </a:t>
            </a:r>
          </a:p>
          <a:p>
            <a:pPr marL="342900" indent="-342900">
              <a:buFontTx/>
              <a:buChar char="-"/>
            </a:pPr>
            <a:r>
              <a:rPr lang="en-US" sz="2000" b="1" dirty="0"/>
              <a:t>“When you put your faith in </a:t>
            </a:r>
            <a:r>
              <a:rPr lang="en-US" sz="2000" b="1" u="sng" dirty="0"/>
              <a:t>Jesus Christ as the Just One</a:t>
            </a:r>
            <a:r>
              <a:rPr lang="en-US" sz="2000" b="1" dirty="0"/>
              <a:t>, how does this confirm for you that God has revealed Himself in history, both through His written word and through the life, death, and resurrection of Jesus?”</a:t>
            </a:r>
          </a:p>
        </p:txBody>
      </p:sp>
    </p:spTree>
    <p:extLst>
      <p:ext uri="{BB962C8B-B14F-4D97-AF65-F5344CB8AC3E}">
        <p14:creationId xmlns:p14="http://schemas.microsoft.com/office/powerpoint/2010/main" val="17632145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fade">
                                      <p:cBhvr>
                                        <p:cTn id="7" dur="1000"/>
                                        <p:tgtEl>
                                          <p:spTgt spid="7">
                                            <p:txEl>
                                              <p:pRg st="0" end="0"/>
                                            </p:txEl>
                                          </p:spTgt>
                                        </p:tgtEl>
                                      </p:cBhvr>
                                    </p:animEffect>
                                    <p:anim calcmode="lin" valueType="num">
                                      <p:cBhvr>
                                        <p:cTn id="8"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7">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7">
                                            <p:txEl>
                                              <p:pRg st="2" end="2"/>
                                            </p:txEl>
                                          </p:spTgt>
                                        </p:tgtEl>
                                        <p:attrNameLst>
                                          <p:attrName>style.visibility</p:attrName>
                                        </p:attrNameLst>
                                      </p:cBhvr>
                                      <p:to>
                                        <p:strVal val="visible"/>
                                      </p:to>
                                    </p:set>
                                    <p:animEffect transition="in" filter="fade">
                                      <p:cBhvr>
                                        <p:cTn id="14" dur="1000"/>
                                        <p:tgtEl>
                                          <p:spTgt spid="7">
                                            <p:txEl>
                                              <p:pRg st="2" end="2"/>
                                            </p:txEl>
                                          </p:spTgt>
                                        </p:tgtEl>
                                      </p:cBhvr>
                                    </p:animEffect>
                                    <p:anim calcmode="lin" valueType="num">
                                      <p:cBhvr>
                                        <p:cTn id="15" dur="1000" fill="hold"/>
                                        <p:tgtEl>
                                          <p:spTgt spid="7">
                                            <p:txEl>
                                              <p:pRg st="2" end="2"/>
                                            </p:txEl>
                                          </p:spTgt>
                                        </p:tgtEl>
                                        <p:attrNameLst>
                                          <p:attrName>ppt_x</p:attrName>
                                        </p:attrNameLst>
                                      </p:cBhvr>
                                      <p:tavLst>
                                        <p:tav tm="0">
                                          <p:val>
                                            <p:strVal val="#ppt_x"/>
                                          </p:val>
                                        </p:tav>
                                        <p:tav tm="100000">
                                          <p:val>
                                            <p:strVal val="#ppt_x"/>
                                          </p:val>
                                        </p:tav>
                                      </p:tavLst>
                                    </p:anim>
                                    <p:anim calcmode="lin" valueType="num">
                                      <p:cBhvr>
                                        <p:cTn id="16" dur="1000" fill="hold"/>
                                        <p:tgtEl>
                                          <p:spTgt spid="7">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7">
                                            <p:txEl>
                                              <p:pRg st="4" end="4"/>
                                            </p:txEl>
                                          </p:spTgt>
                                        </p:tgtEl>
                                        <p:attrNameLst>
                                          <p:attrName>style.visibility</p:attrName>
                                        </p:attrNameLst>
                                      </p:cBhvr>
                                      <p:to>
                                        <p:strVal val="visible"/>
                                      </p:to>
                                    </p:set>
                                    <p:animEffect transition="in" filter="fade">
                                      <p:cBhvr>
                                        <p:cTn id="21" dur="1000"/>
                                        <p:tgtEl>
                                          <p:spTgt spid="7">
                                            <p:txEl>
                                              <p:pRg st="4" end="4"/>
                                            </p:txEl>
                                          </p:spTgt>
                                        </p:tgtEl>
                                      </p:cBhvr>
                                    </p:animEffect>
                                    <p:anim calcmode="lin" valueType="num">
                                      <p:cBhvr>
                                        <p:cTn id="22" dur="1000" fill="hold"/>
                                        <p:tgtEl>
                                          <p:spTgt spid="7">
                                            <p:txEl>
                                              <p:pRg st="4" end="4"/>
                                            </p:txEl>
                                          </p:spTgt>
                                        </p:tgtEl>
                                        <p:attrNameLst>
                                          <p:attrName>ppt_x</p:attrName>
                                        </p:attrNameLst>
                                      </p:cBhvr>
                                      <p:tavLst>
                                        <p:tav tm="0">
                                          <p:val>
                                            <p:strVal val="#ppt_x"/>
                                          </p:val>
                                        </p:tav>
                                        <p:tav tm="100000">
                                          <p:val>
                                            <p:strVal val="#ppt_x"/>
                                          </p:val>
                                        </p:tav>
                                      </p:tavLst>
                                    </p:anim>
                                    <p:anim calcmode="lin" valueType="num">
                                      <p:cBhvr>
                                        <p:cTn id="23" dur="1000" fill="hold"/>
                                        <p:tgtEl>
                                          <p:spTgt spid="7">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7">
                                            <p:txEl>
                                              <p:pRg st="6" end="6"/>
                                            </p:txEl>
                                          </p:spTgt>
                                        </p:tgtEl>
                                        <p:attrNameLst>
                                          <p:attrName>style.visibility</p:attrName>
                                        </p:attrNameLst>
                                      </p:cBhvr>
                                      <p:to>
                                        <p:strVal val="visible"/>
                                      </p:to>
                                    </p:set>
                                    <p:animEffect transition="in" filter="fade">
                                      <p:cBhvr>
                                        <p:cTn id="28" dur="1000"/>
                                        <p:tgtEl>
                                          <p:spTgt spid="7">
                                            <p:txEl>
                                              <p:pRg st="6" end="6"/>
                                            </p:txEl>
                                          </p:spTgt>
                                        </p:tgtEl>
                                      </p:cBhvr>
                                    </p:animEffect>
                                    <p:anim calcmode="lin" valueType="num">
                                      <p:cBhvr>
                                        <p:cTn id="29" dur="1000" fill="hold"/>
                                        <p:tgtEl>
                                          <p:spTgt spid="7">
                                            <p:txEl>
                                              <p:pRg st="6" end="6"/>
                                            </p:txEl>
                                          </p:spTgt>
                                        </p:tgtEl>
                                        <p:attrNameLst>
                                          <p:attrName>ppt_x</p:attrName>
                                        </p:attrNameLst>
                                      </p:cBhvr>
                                      <p:tavLst>
                                        <p:tav tm="0">
                                          <p:val>
                                            <p:strVal val="#ppt_x"/>
                                          </p:val>
                                        </p:tav>
                                        <p:tav tm="100000">
                                          <p:val>
                                            <p:strVal val="#ppt_x"/>
                                          </p:val>
                                        </p:tav>
                                      </p:tavLst>
                                    </p:anim>
                                    <p:anim calcmode="lin" valueType="num">
                                      <p:cBhvr>
                                        <p:cTn id="30" dur="1000" fill="hold"/>
                                        <p:tgtEl>
                                          <p:spTgt spid="7">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nodeType="clickEffect">
                                  <p:stCondLst>
                                    <p:cond delay="0"/>
                                  </p:stCondLst>
                                  <p:childTnLst>
                                    <p:set>
                                      <p:cBhvr>
                                        <p:cTn id="34" dur="1" fill="hold">
                                          <p:stCondLst>
                                            <p:cond delay="0"/>
                                          </p:stCondLst>
                                        </p:cTn>
                                        <p:tgtEl>
                                          <p:spTgt spid="7">
                                            <p:txEl>
                                              <p:pRg st="8" end="8"/>
                                            </p:txEl>
                                          </p:spTgt>
                                        </p:tgtEl>
                                        <p:attrNameLst>
                                          <p:attrName>style.visibility</p:attrName>
                                        </p:attrNameLst>
                                      </p:cBhvr>
                                      <p:to>
                                        <p:strVal val="visible"/>
                                      </p:to>
                                    </p:set>
                                    <p:animEffect transition="in" filter="fade">
                                      <p:cBhvr>
                                        <p:cTn id="35" dur="1000"/>
                                        <p:tgtEl>
                                          <p:spTgt spid="7">
                                            <p:txEl>
                                              <p:pRg st="8" end="8"/>
                                            </p:txEl>
                                          </p:spTgt>
                                        </p:tgtEl>
                                      </p:cBhvr>
                                    </p:animEffect>
                                    <p:anim calcmode="lin" valueType="num">
                                      <p:cBhvr>
                                        <p:cTn id="36" dur="1000" fill="hold"/>
                                        <p:tgtEl>
                                          <p:spTgt spid="7">
                                            <p:txEl>
                                              <p:pRg st="8" end="8"/>
                                            </p:txEl>
                                          </p:spTgt>
                                        </p:tgtEl>
                                        <p:attrNameLst>
                                          <p:attrName>ppt_x</p:attrName>
                                        </p:attrNameLst>
                                      </p:cBhvr>
                                      <p:tavLst>
                                        <p:tav tm="0">
                                          <p:val>
                                            <p:strVal val="#ppt_x"/>
                                          </p:val>
                                        </p:tav>
                                        <p:tav tm="100000">
                                          <p:val>
                                            <p:strVal val="#ppt_x"/>
                                          </p:val>
                                        </p:tav>
                                      </p:tavLst>
                                    </p:anim>
                                    <p:anim calcmode="lin" valueType="num">
                                      <p:cBhvr>
                                        <p:cTn id="37" dur="1000" fill="hold"/>
                                        <p:tgtEl>
                                          <p:spTgt spid="7">
                                            <p:txEl>
                                              <p:pRg st="8" end="8"/>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PPT_Template_2010SummerSchool">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1_UPCRC_Powerpoint_Template_with I-Mark">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PPT_Template_2010SummerSchool</Template>
  <TotalTime>13545</TotalTime>
  <Words>5009</Words>
  <Application>Microsoft Office PowerPoint</Application>
  <PresentationFormat>On-screen Show (4:3)</PresentationFormat>
  <Paragraphs>353</Paragraphs>
  <Slides>15</Slides>
  <Notes>15</Notes>
  <HiddenSlides>0</HiddenSlides>
  <MMClips>0</MMClips>
  <ScaleCrop>false</ScaleCrop>
  <HeadingPairs>
    <vt:vector size="6" baseType="variant">
      <vt:variant>
        <vt:lpstr>Fonts Used</vt:lpstr>
      </vt:variant>
      <vt:variant>
        <vt:i4>3</vt:i4>
      </vt:variant>
      <vt:variant>
        <vt:lpstr>Theme</vt:lpstr>
      </vt:variant>
      <vt:variant>
        <vt:i4>2</vt:i4>
      </vt:variant>
      <vt:variant>
        <vt:lpstr>Slide Titles</vt:lpstr>
      </vt:variant>
      <vt:variant>
        <vt:i4>15</vt:i4>
      </vt:variant>
    </vt:vector>
  </HeadingPairs>
  <TitlesOfParts>
    <vt:vector size="20" baseType="lpstr">
      <vt:lpstr>Arial</vt:lpstr>
      <vt:lpstr>Arial Narrow</vt:lpstr>
      <vt:lpstr>Calibri</vt:lpstr>
      <vt:lpstr>PPT_Template_2010SummerSchool</vt:lpstr>
      <vt:lpstr>1_UPCRC_Powerpoint_Template_with I-Mark</vt:lpstr>
      <vt:lpstr>Romans</vt:lpstr>
      <vt:lpstr>PowerPoint Presentation</vt:lpstr>
      <vt:lpstr>The Grace of God Revealed How the perfectly just LORD has forgiven sin…!</vt:lpstr>
      <vt:lpstr>A quick review… Truth, The Nature of Mankind, and Worldviews</vt:lpstr>
      <vt:lpstr>The Spiritual Man – A New Creation 1 Cor. 2:6-16; 2 Cor. 5:16-21; Galatians 5; Romans 8</vt:lpstr>
      <vt:lpstr>Encouraging Self-Reflection in Evangelism Leveraging the Nature of Man - Objectives</vt:lpstr>
      <vt:lpstr>Evangelism The “Natural Man” – How do you know?</vt:lpstr>
      <vt:lpstr>Evangelism The “Moral Man” – Are you a good person?  </vt:lpstr>
      <vt:lpstr>Evangelism The “Religious Man” – What do you believe?</vt:lpstr>
      <vt:lpstr>PowerPoint Presentation</vt:lpstr>
      <vt:lpstr>Encouraging Self-Reflection What do you believe about […]?</vt:lpstr>
      <vt:lpstr>Encouraging Self-Reflection Questions for the “Natural Man” of Romans 1</vt:lpstr>
      <vt:lpstr>Encouraging Self-Reflection Questions for the “Moral Man” of Romans 2</vt:lpstr>
      <vt:lpstr>Encouraging Self-Reflection Questions for the “Religious Man” of Romans 2, 3</vt:lpstr>
      <vt:lpstr>Encouraging Self-Reflection Questions for the “Just Man” of Romans 4</vt:lpstr>
    </vt:vector>
  </TitlesOfParts>
  <Company>Microsoft Corporation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Phil Pennington</dc:creator>
  <cp:lastModifiedBy>Phil Pennington</cp:lastModifiedBy>
  <cp:revision>621</cp:revision>
  <cp:lastPrinted>2026-05-03T02:15:50Z</cp:lastPrinted>
  <dcterms:created xsi:type="dcterms:W3CDTF">2010-06-16T02:58:04Z</dcterms:created>
  <dcterms:modified xsi:type="dcterms:W3CDTF">2026-05-05T00:39:33Z</dcterms:modified>
</cp:coreProperties>
</file>