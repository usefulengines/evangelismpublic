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68" r:id="rId1"/>
    <p:sldMasterId id="2147484131" r:id="rId2"/>
  </p:sldMasterIdLst>
  <p:notesMasterIdLst>
    <p:notesMasterId r:id="rId11"/>
  </p:notesMasterIdLst>
  <p:sldIdLst>
    <p:sldId id="256" r:id="rId3"/>
    <p:sldId id="389" r:id="rId4"/>
    <p:sldId id="398" r:id="rId5"/>
    <p:sldId id="393" r:id="rId6"/>
    <p:sldId id="394" r:id="rId7"/>
    <p:sldId id="395" r:id="rId8"/>
    <p:sldId id="396" r:id="rId9"/>
    <p:sldId id="397" r:id="rId10"/>
  </p:sldIdLst>
  <p:sldSz cx="9144000" cy="6858000" type="screen4x3"/>
  <p:notesSz cx="7077075" cy="9393238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59" autoAdjust="0"/>
    <p:restoredTop sz="65380" autoAdjust="0"/>
  </p:normalViewPr>
  <p:slideViewPr>
    <p:cSldViewPr>
      <p:cViewPr varScale="1">
        <p:scale>
          <a:sx n="94" d="100"/>
          <a:sy n="94" d="100"/>
        </p:scale>
        <p:origin x="1616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66733" cy="469662"/>
          </a:xfrm>
          <a:prstGeom prst="rect">
            <a:avLst/>
          </a:prstGeom>
        </p:spPr>
        <p:txBody>
          <a:bodyPr vert="horz" wrap="square" lIns="94103" tIns="47052" rIns="94103" bIns="47052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  <a:ea typeface="ＭＳ Ｐゴシック" pitchFamily="-106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6" y="0"/>
            <a:ext cx="3066733" cy="469662"/>
          </a:xfrm>
          <a:prstGeom prst="rect">
            <a:avLst/>
          </a:prstGeom>
        </p:spPr>
        <p:txBody>
          <a:bodyPr vert="horz" wrap="square" lIns="94103" tIns="47052" rIns="94103" bIns="47052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  <a:ea typeface="ＭＳ Ｐゴシック" pitchFamily="-106" charset="-128"/>
              </a:defRPr>
            </a:lvl1pPr>
          </a:lstStyle>
          <a:p>
            <a:pPr>
              <a:defRPr/>
            </a:pPr>
            <a:fld id="{37B93000-4848-40F5-8AEF-44DFB12065B3}" type="datetime1">
              <a:rPr lang="en-US"/>
              <a:pPr>
                <a:defRPr/>
              </a:pPr>
              <a:t>6/25/26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90625" y="704850"/>
            <a:ext cx="4695825" cy="35226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94103" tIns="47052" rIns="94103" bIns="47052" numCol="1" anchor="ctr" anchorCtr="0" compatLnSpc="1">
            <a:prstTxWarp prst="textNoShape">
              <a:avLst/>
            </a:prstTxWarp>
          </a:bodyPr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461788"/>
            <a:ext cx="5661660" cy="4226957"/>
          </a:xfrm>
          <a:prstGeom prst="rect">
            <a:avLst/>
          </a:prstGeom>
        </p:spPr>
        <p:txBody>
          <a:bodyPr vert="horz" wrap="square" lIns="94103" tIns="47052" rIns="94103" bIns="47052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8921946"/>
            <a:ext cx="3066733" cy="469662"/>
          </a:xfrm>
          <a:prstGeom prst="rect">
            <a:avLst/>
          </a:prstGeom>
        </p:spPr>
        <p:txBody>
          <a:bodyPr vert="horz" wrap="square" lIns="94103" tIns="47052" rIns="94103" bIns="47052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  <a:ea typeface="ＭＳ Ｐゴシック" pitchFamily="-106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6" y="8921946"/>
            <a:ext cx="3066733" cy="469662"/>
          </a:xfrm>
          <a:prstGeom prst="rect">
            <a:avLst/>
          </a:prstGeom>
        </p:spPr>
        <p:txBody>
          <a:bodyPr vert="horz" wrap="square" lIns="94103" tIns="47052" rIns="94103" bIns="47052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  <a:ea typeface="ＭＳ Ｐゴシック" pitchFamily="-106" charset="-128"/>
              </a:defRPr>
            </a:lvl1pPr>
          </a:lstStyle>
          <a:p>
            <a:pPr>
              <a:defRPr/>
            </a:pPr>
            <a:fld id="{07776858-791E-4C8D-8FA3-473B3AFECFA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37504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ＭＳ Ｐゴシック" pitchFamily="-106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ref:Rom.1.17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Relationship Id="rId5" Type="http://schemas.openxmlformats.org/officeDocument/2006/relationships/hyperlink" Target="ref:Heb.10.38" TargetMode="External"/><Relationship Id="rId4" Type="http://schemas.openxmlformats.org/officeDocument/2006/relationships/hyperlink" Target="ref:Gal.3.11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8471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Romans 8-11 is one continuous argument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. Unfortunately, chapter divisions often cause readers to isolate Romans 9 from Romans 8 and 10-11. When read together, Paul's emphasis becomes clearer.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question Paul is answering is: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If God chose Israel, why have so many Israelites rejected the Messiah? Has God's word failed?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His answer is: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No. God's purpose has never depended upon ethnic descent, human privilege, or human achievement. God remains sovereignly faithful to His promises, and He is accomplishing His redemptive plan exactly as intended.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1618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F4AC1-8B80-1012-F85B-7382A915F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E090D8-EFF9-D13E-491F-A68E69AB4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AA04C4-8422-13B5-208D-E2E53E287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40000" lnSpcReduction="20000"/>
          </a:bodyPr>
          <a:lstStyle/>
          <a:p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What did Obedience of the Law produce?</a:t>
            </a:r>
          </a:p>
          <a:p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What does Obedience of Faith produce?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Romans suggests that faith and obedience are inseparable aspects of the same response to God.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Notice how Paul frames the entire letter: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“through whom we have received grace and our apostleship to bring about the obedience of faith among all the Gentiles…” (Romans 1:5, NET)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And at the conclusion: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“…according to the command of the eternal God to bring about the obedience of faith.” (Romans 16:26, NET)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This phrase forms an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inclusio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around the entire epistle. Paul begins and ends Romans with “the obedience of faith.”</a:t>
            </a:r>
          </a:p>
          <a:p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That means Romans itself should probably be read through this lens.</a:t>
            </a:r>
          </a:p>
          <a:p>
            <a:endParaRPr lang="en-US" dirty="0"/>
          </a:p>
          <a:p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“Look, the one whose desires are not upright will faint from exhaustion, but the person of integrity will live because of his faithfulness.” (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Habakkuk 2:4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“For the righteousness of God is revealed in the gospel from faith to faith, just as it is written, “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righteous by faith will live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.”” (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Romans 1:17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What is “the obedience of faith”?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There are several possibilities.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1. Obedience that comes from faith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This is the most common Protestant interpretation.</a:t>
            </a:r>
          </a:p>
          <a:p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is the root.</a:t>
            </a:r>
          </a:p>
          <a:p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Obedience is the fruit.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meaning becomes: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“the obedience that faith produces.”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This is true, but I think Romans says more.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2. Obedience which consists of faith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Paul sometimes speaks of believing as an act of obedience.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For example: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“But not all have obeyed the good news…” (Romans 10:16)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Paul then quotes Isaiah: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“Lord, who has believed our report?”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Notice the parallel: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Obeyed the gospel.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Believed the message.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To refuse faith is to disobey.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To believe is to obey.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In this sense, faith itself is an act of submission to God’s testimony.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3. Faithful obedience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This may come closest to Habakkuk’s original meaning.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Hebrew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emunah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often means:</a:t>
            </a:r>
          </a:p>
          <a:p>
            <a:pPr rtl="0" fontAlgn="ctr"/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faithfulness</a:t>
            </a:r>
          </a:p>
          <a:p>
            <a:pPr rtl="0" fontAlgn="ctr"/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fidelity</a:t>
            </a:r>
          </a:p>
          <a:p>
            <a:pPr rtl="0" fontAlgn="ctr"/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steadfast loyalty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Thus the righteous person is not merely someone who trusts God intellectually.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He is someone whose trust expresses itself in faithful allegiance.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distinction is subtle but important.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Biblical faith is not merely believing that God exists.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It is entrusting oneself to Him.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And entrusting oneself necessarily changes one’s conduct.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B4F5F1-0300-36C9-8E3D-B60D94EEA2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1638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3114B-654F-892D-4761-4F9E4A88A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3F4753-5F2C-080A-DC80-172615607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4C299B-9D30-22A1-BE08-AF9B57B86F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Just Shall Live by Faith, and the Unjust Chaldeans Will Die (2:4)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Because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soul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 of the king of Babylon was lifted up with pride, he would die, but the godly remnant of Israel would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live by . . . faith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. Verse 4c is quoted three times in the NT. The three parts of the verse—the just—shall live—by faith, go well with the emphases of the three contexts where they appear: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  <a:hlinkClick r:id="rId3"/>
              </a:rPr>
              <a:t>Rom 1:17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 emphasizes "the just";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  <a:hlinkClick r:id="rId4"/>
              </a:rPr>
              <a:t>Gal 3:11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 emphasizes "faith";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  <a:hlinkClick r:id="rId5"/>
              </a:rPr>
              <a:t>Heb 10:38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 emphasizes "shall live." The literal rendering in Habakkuk's context, is "By his faith the just shall live." It could also be paraphrased "the justified-by-faith-one shall live."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 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Reconsidering Habakkuk 2:4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 would now revise the summary of Habakkuk’s influence.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Previously I emphasized: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Just shall live by faith.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Now I would emphasize: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Just shall live by faithful trust.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Or perhaps: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Just shall live by believing loyalty.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Habakkuk’s contrast is between: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proud soul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faithful soul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proud man follows himself.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righteous man follows God.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Thus faith and obedience are not two separate categories.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They are two perspectives on the same reality.</a:t>
            </a:r>
          </a:p>
          <a:p>
            <a:endParaRPr lang="en-US" dirty="0"/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3. Faithful obedience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This may come closest to Habakkuk’s original meaning.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Hebrew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emunah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often means: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faithfulness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fidelity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steadfast loyalty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Thus the righteous person is not merely someone who trusts God intellectually.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He is someone whose trust expresses itself in faithful allegiance.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distinction is subtle but important.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Biblical faith is not merely believing that God exists.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It is entrusting oneself to Him.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And entrusting oneself necessarily changes one’s conduct.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CE01E-5C3A-F4C5-A974-1C849420CE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9582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984E1-5E8F-93C6-C64E-E3614813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B11B6A-F8E5-4A3E-CBD5-E3523F182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B9B92B-DDF6-1B5A-7446-4B4EA10F19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Reconsidering Romans 12-16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Instead of asking: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What does faith produce?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Paul may be asking: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What does faith look like when lived?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Romans 12-16 is not merely a list of consequences that happen after faith.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It is a description of faith itself in action.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Romans 12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presents itself as a living sacrifice.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serves.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loves.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blesses enemies.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These are not additions to faith.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They are faith embodied.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Romans 13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submits to God’s ordained authority.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pays its obligations.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loves its neighbor.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Again, this is not faith plus obedience.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This is faith expressing its true nature.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Romans 14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respects conscience.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refuses to judge fellow servants of God.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trusts God enough to leave judgment in His hands.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Romans 15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bears the weak.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sacrifices personal rights.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seeks unity.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Romans 16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remains loyal to apostolic truth.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recognizes faithful laborers.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rejects false teaching.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B0C3F5-1EB9-27CF-CF02-5A45B56725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6310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B3A6B-1013-F2A3-A41E-32B58CFA6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9913E2-47E4-CD7A-87EF-DDD54D8750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4CA0B8-E487-ACE6-D85E-649D393714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Israel’s Failure Revisited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This adjustment is especially important in Romans 9-11.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Many readers frame the issue as: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Israel pursued works.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Gentiles pursued faith.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Paul’s point seems deeper.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Israel often sought covenant blessing while resisting God’s word.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Consider Romans 10:16: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“But not all have obeyed the good news.”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Again Paul equates believing and obeying.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fundamental issue was not merely a lack of intellectual faith.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It was a refusal to submit to God’s righteousness.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“For ignoring the righteousness that comes from God, and seeking instead to establish their own righteousness, they did not submit to God’s righteousness.” (Romans 10:3, NET)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Notice the key word: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submit.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opposite of faith is not merely unbelief.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opposite of faith is self-rule.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This fits Habakkuk perfectly.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proud man trusts himself.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righteous man entrusts himself to God.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352E1-6231-7DEA-3FB2-FF092B30CC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5863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2D207-0FF3-2D02-A2D8-535DBC80C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5BD6A4-9AE9-D014-BFA2-B492D1FA5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91448D-8545-084D-2049-E6EDE0884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Romans, Galatians, and Hebrews Revisited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With “the obedience of faith” in view, the three books become even more unified.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Romans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Who are the righteous?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Those who have submitted to God’s righteousness through faithful trust.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Galatians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What is faith?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Not merely belief.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 working through love (Galatians 5:6).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Faithful allegiance to Christ rather than reliance on fleshly achievement.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Hebrews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What does it mean to live by faith?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Persevering loyalty.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heroes of Hebrews 11 did not merely hold correct beliefs.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They obeyed.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Noah built.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Abraham left.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Moses chose.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Israel crossed.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Rahab received.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Their faith was visible because it acted.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162F3-90F6-995E-978B-F72BF44EAA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476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F98E0-8508-0D6F-D937-B51A38A2F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5D00A1-944F-E68B-3B1E-39A699F56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ADCDCB-64C5-E2C7-96C9-7902880A7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Conclusion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If Romans is framed by “the obedience of faith” (1:5; 16:26), then Romans 12-16 should not primarily be viewed as a section on works that follow faith.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Rather, it is Paul’s portrait of what faith actually is.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faith that justifies is not mere mental assent.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It is trusting submission to God.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It is believing allegiance to Christ.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It is the kind of faith that offers the body as a living sacrifice, loves enemies, submits to God-ordained authority, serves fellow believers, bears the weak, preserves unity, and remains faithful to the gospel.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In that sense, Habakkuk 2:4, Romans 1:5, and Romans 12-16 all converge on a single idea: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righteous person lives by a faith that obeys because it trusts, and trusts because it has surrendered itself to God. Faith and obedience are not rivals in Paul’s thought; they are inseparable expressions of covenant loyalty to the God who saves.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CC692C-447D-DBA0-0C5F-32B711BAC1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7989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lang="en-US" sz="4400" b="1" kern="1200" dirty="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43918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algn="ctr">
              <a:defRPr sz="1400">
                <a:solidFill>
                  <a:schemeClr val="tx2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0314B7E-EB23-4DAB-A3F0-0F7BBB6CDA3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4741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algn="r">
              <a:defRPr sz="1400">
                <a:solidFill>
                  <a:schemeClr val="tx2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325C3C2-9E54-411C-9683-C950CD1738F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734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143000"/>
            <a:ext cx="8229600" cy="510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267200" y="6416675"/>
            <a:ext cx="685800" cy="365125"/>
          </a:xfrm>
          <a:prstGeom prst="rect">
            <a:avLst/>
          </a:prstGeom>
        </p:spPr>
        <p:txBody>
          <a:bodyPr anchor="b"/>
          <a:lstStyle>
            <a:lvl1pPr algn="ctr">
              <a:defRPr sz="1400">
                <a:solidFill>
                  <a:schemeClr val="tx2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2D225349-B1F9-464A-9CC5-D5DDA255FDA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49" r:id="rId1"/>
    <p:sldLayoutId id="2147484150" r:id="rId2"/>
  </p:sldLayoutIdLst>
  <p:hf hdr="0"/>
  <p:txStyles>
    <p:titleStyle>
      <a:lvl1pPr algn="ctr" rtl="0" eaLnBrk="1" fontAlgn="base" hangingPunct="1">
        <a:spcBef>
          <a:spcPct val="0"/>
        </a:spcBef>
        <a:spcAft>
          <a:spcPct val="0"/>
        </a:spcAft>
        <a:defRPr lang="en-US" sz="4400" b="1" kern="1200" dirty="0">
          <a:solidFill>
            <a:schemeClr val="tx2"/>
          </a:solidFill>
          <a:latin typeface="+mj-lt"/>
          <a:ea typeface="ＭＳ Ｐゴシック" pitchFamily="34" charset="-128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0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143000"/>
            <a:ext cx="8229600" cy="510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77200" y="6416675"/>
            <a:ext cx="652463" cy="365125"/>
          </a:xfrm>
          <a:prstGeom prst="rect">
            <a:avLst/>
          </a:prstGeom>
        </p:spPr>
        <p:txBody>
          <a:bodyPr anchor="b"/>
          <a:lstStyle>
            <a:lvl1pPr algn="r">
              <a:defRPr sz="1400">
                <a:solidFill>
                  <a:schemeClr val="tx2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D1036DDD-C097-4A4A-B40F-B92C82C562D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1" r:id="rId1"/>
  </p:sldLayoutIdLst>
  <p:hf hd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4400" b="1" kern="1200" dirty="0">
          <a:solidFill>
            <a:schemeClr val="tx2"/>
          </a:solidFill>
          <a:latin typeface="+mj-lt"/>
          <a:ea typeface="ＭＳ Ｐゴシック" pitchFamily="34" charset="-128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RomeGospe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tinyurl.com/TeachTheWord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ctrTitle"/>
          </p:nvPr>
        </p:nvSpPr>
        <p:spPr>
          <a:xfrm>
            <a:off x="685800" y="457200"/>
            <a:ext cx="7772400" cy="1470025"/>
          </a:xfrm>
        </p:spPr>
        <p:txBody>
          <a:bodyPr/>
          <a:lstStyle/>
          <a:p>
            <a:pPr eaLnBrk="1" hangingPunct="1"/>
            <a:r>
              <a:rPr lang="en-US" sz="6600" dirty="0"/>
              <a:t>Romans</a:t>
            </a:r>
            <a:endParaRPr dirty="0"/>
          </a:p>
        </p:txBody>
      </p:sp>
      <p:sp>
        <p:nvSpPr>
          <p:cNvPr id="6147" name="Subtitle 2"/>
          <p:cNvSpPr>
            <a:spLocks noGrp="1"/>
          </p:cNvSpPr>
          <p:nvPr>
            <p:ph type="subTitle" idx="1"/>
          </p:nvPr>
        </p:nvSpPr>
        <p:spPr>
          <a:xfrm>
            <a:off x="457200" y="2209800"/>
            <a:ext cx="8229600" cy="3787776"/>
          </a:xfrm>
        </p:spPr>
        <p:txBody>
          <a:bodyPr/>
          <a:lstStyle/>
          <a:p>
            <a:pPr eaLnBrk="1" hangingPunct="1"/>
            <a:r>
              <a:rPr lang="en-US" dirty="0"/>
              <a:t>The Obedience of Faith</a:t>
            </a:r>
          </a:p>
          <a:p>
            <a:pPr eaLnBrk="1" hangingPunct="1"/>
            <a:r>
              <a:rPr lang="en-US" dirty="0"/>
              <a:t>Chapter 12-16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r>
              <a:rPr lang="en-US" dirty="0">
                <a:hlinkClick r:id="rId3"/>
              </a:rPr>
              <a:t>https://tinyurl.com/RomeGospel</a:t>
            </a:r>
            <a:endParaRPr lang="en-US" dirty="0"/>
          </a:p>
          <a:p>
            <a:r>
              <a:rPr lang="en-US" dirty="0">
                <a:hlinkClick r:id="rId4"/>
              </a:rPr>
              <a:t>https://tinyurl.com/TeachTheWord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 bwMode="auto">
          <a:xfrm>
            <a:off x="381000" y="0"/>
            <a:ext cx="838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lang="en-US" sz="4000" b="1" kern="120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dirty="0"/>
              <a:t>Faith, Hope, and Love</a:t>
            </a:r>
            <a:br>
              <a:rPr lang="en-US" dirty="0"/>
            </a:b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The Outline -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1447800"/>
            <a:ext cx="8001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/>
              <a:t>FAITH</a:t>
            </a:r>
            <a:r>
              <a:rPr lang="en-US" sz="2000" i="1" dirty="0"/>
              <a:t>, chapters 1-8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i="1" dirty="0"/>
              <a:t>1-3 Sin (GOD’s great solution – the </a:t>
            </a:r>
            <a:r>
              <a:rPr lang="en-US" sz="2000" b="1" i="1" dirty="0"/>
              <a:t>Father</a:t>
            </a:r>
            <a:r>
              <a:rPr lang="en-US" sz="2000" i="1" dirty="0"/>
              <a:t> provides) 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i="1" dirty="0"/>
              <a:t>4-5 Salvation (GOD’s great gift – the </a:t>
            </a:r>
            <a:r>
              <a:rPr lang="en-US" sz="2000" b="1" i="1" dirty="0"/>
              <a:t>Son</a:t>
            </a:r>
            <a:r>
              <a:rPr lang="en-US" sz="2000" i="1" dirty="0"/>
              <a:t> provides)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i="1" dirty="0"/>
              <a:t>6-8 Sanctification (GOD’s great work – the </a:t>
            </a:r>
            <a:r>
              <a:rPr lang="en-US" sz="2000" b="1" i="1" dirty="0"/>
              <a:t>Spirit</a:t>
            </a:r>
            <a:r>
              <a:rPr lang="en-US" sz="2000" i="1" dirty="0"/>
              <a:t> provides)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9031" y="3137595"/>
            <a:ext cx="8001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/>
              <a:t>HOPE</a:t>
            </a:r>
            <a:r>
              <a:rPr lang="en-US" sz="2000" i="1" dirty="0"/>
              <a:t>, chapters 9-11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i="1" dirty="0"/>
              <a:t>9 Israel – Past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i="1" dirty="0"/>
              <a:t>10 Israel – Present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i="1" dirty="0"/>
              <a:t>11 Israel - Future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4724400"/>
            <a:ext cx="8001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/>
              <a:t>LOVE</a:t>
            </a:r>
            <a:r>
              <a:rPr lang="en-US" sz="2000" i="1" dirty="0"/>
              <a:t>, chapters 12-16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i="1" dirty="0"/>
              <a:t>Practical Christian Living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i="1" dirty="0"/>
              <a:t>The </a:t>
            </a:r>
            <a:r>
              <a:rPr lang="en-US" sz="2000" b="1" i="1" dirty="0"/>
              <a:t>Just</a:t>
            </a:r>
            <a:r>
              <a:rPr lang="en-US" sz="2000" i="1" dirty="0"/>
              <a:t> shall </a:t>
            </a:r>
            <a:r>
              <a:rPr lang="en-US" sz="2000" b="1" i="1" dirty="0"/>
              <a:t>Live</a:t>
            </a:r>
            <a:r>
              <a:rPr lang="en-US" sz="2000" i="1" dirty="0"/>
              <a:t> by </a:t>
            </a:r>
            <a:r>
              <a:rPr lang="en-US" sz="2000" b="1" i="1" dirty="0"/>
              <a:t>Faith</a:t>
            </a:r>
            <a:r>
              <a:rPr lang="en-US" sz="2000" i="1" dirty="0"/>
              <a:t>…</a:t>
            </a:r>
          </a:p>
          <a:p>
            <a:endParaRPr lang="en-US" sz="2000" i="1" dirty="0"/>
          </a:p>
        </p:txBody>
      </p:sp>
    </p:spTree>
    <p:extLst>
      <p:ext uri="{BB962C8B-B14F-4D97-AF65-F5344CB8AC3E}">
        <p14:creationId xmlns:p14="http://schemas.microsoft.com/office/powerpoint/2010/main" val="1419932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4A9DF-AB26-F539-9B0B-7E487FDDB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037FA-8D0D-62EE-7F1B-AF20F2711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0"/>
            <a:ext cx="8915400" cy="914400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Purposes of the Gospel</a:t>
            </a:r>
            <a:br>
              <a:rPr lang="en-US" dirty="0"/>
            </a:b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The Obedience of Faith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B57128-CAEE-482E-D4B2-EFFB21559B1B}"/>
              </a:ext>
            </a:extLst>
          </p:cNvPr>
          <p:cNvSpPr txBox="1"/>
          <p:nvPr/>
        </p:nvSpPr>
        <p:spPr>
          <a:xfrm>
            <a:off x="192677" y="1066800"/>
            <a:ext cx="86650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“Through him we have received grace and </a:t>
            </a:r>
            <a:r>
              <a:rPr lang="en-US" sz="2000" b="1" i="1" dirty="0"/>
              <a:t>our apostleship to bring about the </a:t>
            </a:r>
            <a:r>
              <a:rPr lang="en-US" sz="2000" b="1" i="1" u="sng" dirty="0"/>
              <a:t>obedience of faith</a:t>
            </a:r>
            <a:r>
              <a:rPr lang="en-US" sz="2000" i="1" dirty="0"/>
              <a:t> among all the Gentiles on behalf of his name.” </a:t>
            </a:r>
            <a:r>
              <a:rPr lang="en-US" sz="2000" dirty="0"/>
              <a:t>(</a:t>
            </a:r>
            <a:r>
              <a:rPr lang="en-US" sz="2000" b="1" dirty="0"/>
              <a:t>Romans 1:5</a:t>
            </a:r>
            <a:r>
              <a:rPr lang="en-US" sz="200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CF721-5F73-8353-B632-F1AC3D2BA561}"/>
              </a:ext>
            </a:extLst>
          </p:cNvPr>
          <p:cNvSpPr txBox="1"/>
          <p:nvPr/>
        </p:nvSpPr>
        <p:spPr>
          <a:xfrm>
            <a:off x="192677" y="2362200"/>
            <a:ext cx="85888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“…but now is disclosed, and through the prophetic scriptures has been made known to all the nations, according to the command of the eternal God, </a:t>
            </a:r>
            <a:r>
              <a:rPr lang="en-US" sz="2000" b="1" i="1" dirty="0"/>
              <a:t>to bring about the </a:t>
            </a:r>
            <a:r>
              <a:rPr lang="en-US" sz="2000" b="1" i="1" u="sng" dirty="0"/>
              <a:t>obedience of faith</a:t>
            </a:r>
            <a:r>
              <a:rPr lang="en-US" sz="2000" i="1" dirty="0"/>
              <a:t> ” </a:t>
            </a:r>
            <a:r>
              <a:rPr lang="en-US" sz="2000" dirty="0"/>
              <a:t>(</a:t>
            </a:r>
            <a:r>
              <a:rPr lang="en-US" sz="2000" b="1" dirty="0"/>
              <a:t>Romans 16:26</a:t>
            </a:r>
            <a:r>
              <a:rPr lang="en-US" sz="200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7BEBD6-5D52-06D1-3830-C949946FDA60}"/>
              </a:ext>
            </a:extLst>
          </p:cNvPr>
          <p:cNvSpPr txBox="1"/>
          <p:nvPr/>
        </p:nvSpPr>
        <p:spPr>
          <a:xfrm>
            <a:off x="224345" y="3759875"/>
            <a:ext cx="858882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ea typeface="ＭＳ Ｐゴシック" pitchFamily="-106" charset="-128"/>
                <a:cs typeface="ＭＳ Ｐゴシック" pitchFamily="-106" charset="-128"/>
              </a:rPr>
              <a:t>What is “the Obedience of Faith”?   Possibilities…</a:t>
            </a:r>
          </a:p>
          <a:p>
            <a:endParaRPr lang="en-US" sz="2400" i="1" dirty="0"/>
          </a:p>
          <a:p>
            <a:pPr marL="457200" indent="-457200">
              <a:buAutoNum type="arabicPeriod"/>
            </a:pPr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Obedience that </a:t>
            </a:r>
            <a:r>
              <a:rPr lang="en-US" sz="2000" b="1" u="sng" dirty="0">
                <a:ea typeface="ＭＳ Ｐゴシック" pitchFamily="-106" charset="-128"/>
                <a:cs typeface="ＭＳ Ｐゴシック" pitchFamily="-106" charset="-128"/>
              </a:rPr>
              <a:t>comes from</a:t>
            </a:r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 Faith (fruit?)</a:t>
            </a:r>
          </a:p>
          <a:p>
            <a:pPr marL="914400" lvl="1" indent="-457200">
              <a:buFontTx/>
              <a:buAutoNum type="arabicPeriod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The obedience that faith produces.</a:t>
            </a:r>
          </a:p>
          <a:p>
            <a:pPr marL="457200" indent="-457200">
              <a:buFontTx/>
              <a:buAutoNum type="arabicPeriod"/>
            </a:pPr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Obedience which </a:t>
            </a:r>
            <a:r>
              <a:rPr lang="en-US" sz="2000" b="1" u="sng" dirty="0">
                <a:ea typeface="ＭＳ Ｐゴシック" pitchFamily="-106" charset="-128"/>
                <a:cs typeface="ＭＳ Ｐゴシック" pitchFamily="-106" charset="-128"/>
              </a:rPr>
              <a:t>consists of</a:t>
            </a:r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 Faith (ingredient?)</a:t>
            </a:r>
          </a:p>
          <a:p>
            <a:pPr marL="914400" lvl="1" indent="-457200">
              <a:buFontTx/>
              <a:buAutoNum type="arabicPeriod"/>
            </a:pPr>
            <a:r>
              <a:rPr lang="en-US" sz="2000" i="1" dirty="0">
                <a:ea typeface="ＭＳ Ｐゴシック" pitchFamily="-106" charset="-128"/>
                <a:cs typeface="ＭＳ Ｐゴシック" pitchFamily="-106" charset="-128"/>
              </a:rPr>
              <a:t>“But not all have obeyed the good news…” </a:t>
            </a: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(</a:t>
            </a:r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Romans 10:16</a:t>
            </a: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)</a:t>
            </a:r>
          </a:p>
          <a:p>
            <a:pPr marL="457200" indent="-457200">
              <a:buFontTx/>
              <a:buAutoNum type="arabicPeriod"/>
            </a:pPr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Faithful Obedience (different?)</a:t>
            </a:r>
            <a:endParaRPr lang="en-US" sz="2000" dirty="0">
              <a:ea typeface="ＭＳ Ｐゴシック" pitchFamily="-106" charset="-128"/>
              <a:cs typeface="ＭＳ Ｐゴシック" pitchFamily="-106" charset="-128"/>
            </a:endParaRPr>
          </a:p>
          <a:p>
            <a:pPr marL="914400" lvl="1" indent="-457200">
              <a:buFontTx/>
              <a:buAutoNum type="arabicPeriod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“</a:t>
            </a:r>
            <a:r>
              <a:rPr lang="en-US" sz="2000" i="1" dirty="0">
                <a:ea typeface="ＭＳ Ｐゴシック" pitchFamily="-106" charset="-128"/>
                <a:cs typeface="ＭＳ Ｐゴシック" pitchFamily="-106" charset="-128"/>
              </a:rPr>
              <a:t>The righteous by faith will live</a:t>
            </a: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.” (</a:t>
            </a:r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Romans 1:17</a:t>
            </a: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86669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A4223-15CE-6B2B-EE49-167736EBB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B1049-D3CC-C27B-06D4-667088A5F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0"/>
            <a:ext cx="8915400" cy="914400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The Just Shall Live by Faith</a:t>
            </a:r>
            <a:br>
              <a:rPr lang="en-US" dirty="0"/>
            </a:b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Reconsidering Habakkuk 2:4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6422BC-75EC-9987-E553-27A0F5A81AB0}"/>
              </a:ext>
            </a:extLst>
          </p:cNvPr>
          <p:cNvSpPr txBox="1"/>
          <p:nvPr/>
        </p:nvSpPr>
        <p:spPr>
          <a:xfrm>
            <a:off x="152400" y="990600"/>
            <a:ext cx="8665029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hangingPunct="0">
              <a:spcBef>
                <a:spcPct val="30000"/>
              </a:spcBef>
              <a:defRPr/>
            </a:pPr>
            <a:r>
              <a:rPr lang="en-US" sz="2000" i="1" dirty="0">
                <a:ea typeface="ＭＳ Ｐゴシック" pitchFamily="-106" charset="-128"/>
                <a:cs typeface="ＭＳ Ｐゴシック" pitchFamily="-106" charset="-128"/>
              </a:rPr>
              <a:t>“Look, the one whose desires are not upright will faint from exhaustion, but the person of integrity will live because of his faithfulness.” </a:t>
            </a: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(</a:t>
            </a:r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Habakkuk 2:4</a:t>
            </a: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)</a:t>
            </a:r>
          </a:p>
          <a:p>
            <a:pPr lvl="0" eaLnBrk="0" hangingPunct="0">
              <a:spcBef>
                <a:spcPct val="30000"/>
              </a:spcBef>
              <a:defRPr/>
            </a:pPr>
            <a:r>
              <a:rPr lang="en-US" sz="2000" i="1" dirty="0">
                <a:ea typeface="ＭＳ Ｐゴシック" pitchFamily="-106" charset="-128"/>
                <a:cs typeface="ＭＳ Ｐゴシック" pitchFamily="-106" charset="-128"/>
              </a:rPr>
              <a:t>“For the righteousness of God is revealed in the gospel from faith to faith, just as it is written, “</a:t>
            </a:r>
            <a:r>
              <a:rPr lang="en-US" sz="2000" b="1" i="1" dirty="0">
                <a:ea typeface="ＭＳ Ｐゴシック" pitchFamily="-106" charset="-128"/>
                <a:cs typeface="ＭＳ Ｐゴシック" pitchFamily="-106" charset="-128"/>
              </a:rPr>
              <a:t>The righteous by faith will live</a:t>
            </a:r>
            <a:r>
              <a:rPr lang="en-US" sz="2000" i="1" dirty="0">
                <a:ea typeface="ＭＳ Ｐゴシック" pitchFamily="-106" charset="-128"/>
                <a:cs typeface="ＭＳ Ｐゴシック" pitchFamily="-106" charset="-128"/>
              </a:rPr>
              <a:t>.”” </a:t>
            </a: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(</a:t>
            </a:r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Romans 1:17</a:t>
            </a: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63F511-FBD5-9228-9615-DD610075DFF2}"/>
              </a:ext>
            </a:extLst>
          </p:cNvPr>
          <p:cNvSpPr txBox="1"/>
          <p:nvPr/>
        </p:nvSpPr>
        <p:spPr>
          <a:xfrm>
            <a:off x="230876" y="2590800"/>
            <a:ext cx="8588828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Faithful Obedience</a:t>
            </a:r>
            <a:endParaRPr lang="en-US" sz="2000" dirty="0"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This may come closest to Habakkuk’s original meaning.</a:t>
            </a:r>
          </a:p>
          <a:p>
            <a:pPr marL="342900" indent="-342900" fontAlgn="ctr">
              <a:buFont typeface="Arial" panose="020B0604020202020204" pitchFamily="34" charset="0"/>
              <a:buChar char="•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faithfulness</a:t>
            </a:r>
          </a:p>
          <a:p>
            <a:pPr marL="342900" indent="-342900" fontAlgn="ctr">
              <a:buFont typeface="Arial" panose="020B0604020202020204" pitchFamily="34" charset="0"/>
              <a:buChar char="•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fidelity</a:t>
            </a:r>
          </a:p>
          <a:p>
            <a:pPr marL="342900" indent="-342900" fontAlgn="ctr">
              <a:buFont typeface="Arial" panose="020B0604020202020204" pitchFamily="34" charset="0"/>
              <a:buChar char="•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steadfast loyalty</a:t>
            </a:r>
          </a:p>
          <a:p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The Just shall live by a believing loyalty.</a:t>
            </a:r>
          </a:p>
          <a:p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Habakkuk’s contrast is between:</a:t>
            </a:r>
          </a:p>
          <a:p>
            <a:pPr marL="342900" indent="-342900" fontAlgn="ctr">
              <a:buFont typeface="Arial" panose="020B0604020202020204" pitchFamily="34" charset="0"/>
              <a:buChar char="•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the proud soul</a:t>
            </a:r>
          </a:p>
          <a:p>
            <a:pPr marL="342900" indent="-342900" fontAlgn="ctr">
              <a:buFont typeface="Arial" panose="020B0604020202020204" pitchFamily="34" charset="0"/>
              <a:buChar char="•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the faithful soul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The proud man follows himself.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The righteous man follows God.</a:t>
            </a:r>
          </a:p>
          <a:p>
            <a:r>
              <a:rPr lang="en-US" sz="2000" b="1" dirty="0">
                <a:ea typeface="ＭＳ Ｐゴシック" pitchFamily="-106" charset="-128"/>
                <a:cs typeface="ＭＳ Ｐゴシック" pitchFamily="-106" charset="-128"/>
              </a:rPr>
              <a:t>Thus, faith and obedience are not two separate categories.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ea typeface="ＭＳ Ｐゴシック" pitchFamily="-106" charset="-128"/>
                <a:cs typeface="ＭＳ Ｐゴシック" pitchFamily="-106" charset="-128"/>
              </a:rPr>
              <a:t>They are two perspectives on the same reality.</a:t>
            </a:r>
          </a:p>
        </p:txBody>
      </p:sp>
    </p:spTree>
    <p:extLst>
      <p:ext uri="{BB962C8B-B14F-4D97-AF65-F5344CB8AC3E}">
        <p14:creationId xmlns:p14="http://schemas.microsoft.com/office/powerpoint/2010/main" val="3266817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4A22E-3199-4F79-F908-54612F6C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D9C13-0F42-0075-4FA9-34FA90F4D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0"/>
            <a:ext cx="8915400" cy="914400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God’s Sovereignty vs. Human Responsibility</a:t>
            </a:r>
            <a:br>
              <a:rPr lang="en-US" dirty="0"/>
            </a:b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God’s Purposes Will not Fail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CE76E4-034A-1585-9B66-8AF52ECCE68F}"/>
              </a:ext>
            </a:extLst>
          </p:cNvPr>
          <p:cNvSpPr txBox="1"/>
          <p:nvPr/>
        </p:nvSpPr>
        <p:spPr>
          <a:xfrm>
            <a:off x="154577" y="1066800"/>
            <a:ext cx="86650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/>
              <a:t>Romans 8:26-30  </a:t>
            </a:r>
            <a:r>
              <a:rPr lang="en-US" sz="2000" i="1" dirty="0"/>
              <a:t>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9FFEAE-45A1-B2A6-190D-42F64F59F456}"/>
              </a:ext>
            </a:extLst>
          </p:cNvPr>
          <p:cNvSpPr txBox="1"/>
          <p:nvPr/>
        </p:nvSpPr>
        <p:spPr>
          <a:xfrm>
            <a:off x="228600" y="3186495"/>
            <a:ext cx="85888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Paul</a:t>
            </a:r>
          </a:p>
        </p:txBody>
      </p:sp>
    </p:spTree>
    <p:extLst>
      <p:ext uri="{BB962C8B-B14F-4D97-AF65-F5344CB8AC3E}">
        <p14:creationId xmlns:p14="http://schemas.microsoft.com/office/powerpoint/2010/main" val="3010984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67B33-969C-BF08-CDB1-D3172462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497B3-80F3-ECA2-4217-03E52C3F3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0"/>
            <a:ext cx="8915400" cy="914400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God’s Sovereignty vs. Human Responsibility</a:t>
            </a:r>
            <a:br>
              <a:rPr lang="en-US" dirty="0"/>
            </a:b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God’s Purposes Will not Fail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C26496-014A-4F2C-A192-168BD0B56FD8}"/>
              </a:ext>
            </a:extLst>
          </p:cNvPr>
          <p:cNvSpPr txBox="1"/>
          <p:nvPr/>
        </p:nvSpPr>
        <p:spPr>
          <a:xfrm>
            <a:off x="154577" y="1066800"/>
            <a:ext cx="86650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/>
              <a:t>Romans 8:26-30  </a:t>
            </a:r>
            <a:r>
              <a:rPr lang="en-US" sz="2000" i="1" dirty="0"/>
              <a:t>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117B2B-4072-2893-DEA2-F5B27DB3EC9A}"/>
              </a:ext>
            </a:extLst>
          </p:cNvPr>
          <p:cNvSpPr txBox="1"/>
          <p:nvPr/>
        </p:nvSpPr>
        <p:spPr>
          <a:xfrm>
            <a:off x="228600" y="3186495"/>
            <a:ext cx="85888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Paul</a:t>
            </a:r>
          </a:p>
        </p:txBody>
      </p:sp>
    </p:spTree>
    <p:extLst>
      <p:ext uri="{BB962C8B-B14F-4D97-AF65-F5344CB8AC3E}">
        <p14:creationId xmlns:p14="http://schemas.microsoft.com/office/powerpoint/2010/main" val="2954506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A8BF5-8FDA-E66C-A070-3F5FE063A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89CFA-D825-7F40-2241-A36826D6F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0"/>
            <a:ext cx="8915400" cy="914400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God’s Sovereignty vs. Human Responsibility</a:t>
            </a:r>
            <a:br>
              <a:rPr lang="en-US" dirty="0"/>
            </a:b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God’s Purposes Will not Fail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65E5F0-E23D-5AAF-CF3A-F81D299CCB72}"/>
              </a:ext>
            </a:extLst>
          </p:cNvPr>
          <p:cNvSpPr txBox="1"/>
          <p:nvPr/>
        </p:nvSpPr>
        <p:spPr>
          <a:xfrm>
            <a:off x="154577" y="1066800"/>
            <a:ext cx="86650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/>
              <a:t>Romans 8:26-30  </a:t>
            </a:r>
            <a:r>
              <a:rPr lang="en-US" sz="2000" i="1" dirty="0"/>
              <a:t>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EB2106-582F-977C-4A32-4BA43BCCF340}"/>
              </a:ext>
            </a:extLst>
          </p:cNvPr>
          <p:cNvSpPr txBox="1"/>
          <p:nvPr/>
        </p:nvSpPr>
        <p:spPr>
          <a:xfrm>
            <a:off x="228600" y="3186495"/>
            <a:ext cx="85888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Paul</a:t>
            </a:r>
          </a:p>
        </p:txBody>
      </p:sp>
    </p:spTree>
    <p:extLst>
      <p:ext uri="{BB962C8B-B14F-4D97-AF65-F5344CB8AC3E}">
        <p14:creationId xmlns:p14="http://schemas.microsoft.com/office/powerpoint/2010/main" val="209768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7BF3B-427A-EEC9-A5A6-9D9959FE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B883A-9558-88F1-1310-670C2A4D5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0"/>
            <a:ext cx="8915400" cy="914400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God’s Sovereignty vs. Human Responsibility</a:t>
            </a:r>
            <a:br>
              <a:rPr lang="en-US" dirty="0"/>
            </a:b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God’s Purposes Will not Fail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DDCF5E-70EF-D490-D94B-8260FDC0EE3C}"/>
              </a:ext>
            </a:extLst>
          </p:cNvPr>
          <p:cNvSpPr txBox="1"/>
          <p:nvPr/>
        </p:nvSpPr>
        <p:spPr>
          <a:xfrm>
            <a:off x="154577" y="1066800"/>
            <a:ext cx="86650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/>
              <a:t>Romans 8:26-30  </a:t>
            </a:r>
            <a:r>
              <a:rPr lang="en-US" sz="2000" i="1" dirty="0"/>
              <a:t>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8C60F-7A73-8B4F-9817-10D21E74BA55}"/>
              </a:ext>
            </a:extLst>
          </p:cNvPr>
          <p:cNvSpPr txBox="1"/>
          <p:nvPr/>
        </p:nvSpPr>
        <p:spPr>
          <a:xfrm>
            <a:off x="228600" y="3186495"/>
            <a:ext cx="85888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Paul</a:t>
            </a:r>
          </a:p>
        </p:txBody>
      </p:sp>
    </p:spTree>
    <p:extLst>
      <p:ext uri="{BB962C8B-B14F-4D97-AF65-F5344CB8AC3E}">
        <p14:creationId xmlns:p14="http://schemas.microsoft.com/office/powerpoint/2010/main" val="916965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PPT_Template_2010SummerSchool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UPCRC_Powerpoint_Template_with I-Mark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PPT_Template_2010SummerSchool</Template>
  <TotalTime>22152</TotalTime>
  <Words>1922</Words>
  <Application>Microsoft Macintosh PowerPoint</Application>
  <PresentationFormat>On-screen Show (4:3)</PresentationFormat>
  <Paragraphs>246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ＭＳ Ｐゴシック</vt:lpstr>
      <vt:lpstr>Arial</vt:lpstr>
      <vt:lpstr>Arial Narrow</vt:lpstr>
      <vt:lpstr>Calibri</vt:lpstr>
      <vt:lpstr>PPT_Template_2010SummerSchool</vt:lpstr>
      <vt:lpstr>1_UPCRC_Powerpoint_Template_with I-Mark</vt:lpstr>
      <vt:lpstr>Romans</vt:lpstr>
      <vt:lpstr>PowerPoint Presentation</vt:lpstr>
      <vt:lpstr>Purposes of the Gospel The Obedience of Faith </vt:lpstr>
      <vt:lpstr>The Just Shall Live by Faith Reconsidering Habakkuk 2:4</vt:lpstr>
      <vt:lpstr>God’s Sovereignty vs. Human Responsibility God’s Purposes Will not Fail</vt:lpstr>
      <vt:lpstr>God’s Sovereignty vs. Human Responsibility God’s Purposes Will not Fail</vt:lpstr>
      <vt:lpstr>God’s Sovereignty vs. Human Responsibility God’s Purposes Will not Fail</vt:lpstr>
      <vt:lpstr>God’s Sovereignty vs. Human Responsibility God’s Purposes Will not Fail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Phil Pennington</dc:creator>
  <cp:lastModifiedBy>Phil Pennington</cp:lastModifiedBy>
  <cp:revision>836</cp:revision>
  <cp:lastPrinted>2012-04-01T14:05:10Z</cp:lastPrinted>
  <dcterms:created xsi:type="dcterms:W3CDTF">2010-06-16T02:58:04Z</dcterms:created>
  <dcterms:modified xsi:type="dcterms:W3CDTF">2026-06-26T15:44:16Z</dcterms:modified>
</cp:coreProperties>
</file>