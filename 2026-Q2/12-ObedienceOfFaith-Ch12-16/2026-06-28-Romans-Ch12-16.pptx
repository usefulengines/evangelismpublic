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68" r:id="rId1"/>
    <p:sldMasterId id="2147484131" r:id="rId2"/>
  </p:sldMasterIdLst>
  <p:notesMasterIdLst>
    <p:notesMasterId r:id="rId12"/>
  </p:notesMasterIdLst>
  <p:sldIdLst>
    <p:sldId id="256" r:id="rId3"/>
    <p:sldId id="389" r:id="rId4"/>
    <p:sldId id="398" r:id="rId5"/>
    <p:sldId id="393" r:id="rId6"/>
    <p:sldId id="394" r:id="rId7"/>
    <p:sldId id="399" r:id="rId8"/>
    <p:sldId id="395" r:id="rId9"/>
    <p:sldId id="396" r:id="rId10"/>
    <p:sldId id="397" r:id="rId11"/>
  </p:sldIdLst>
  <p:sldSz cx="9144000" cy="6858000" type="screen4x3"/>
  <p:notesSz cx="7077075" cy="93932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94" autoAdjust="0"/>
    <p:restoredTop sz="55048" autoAdjust="0"/>
  </p:normalViewPr>
  <p:slideViewPr>
    <p:cSldViewPr>
      <p:cViewPr varScale="1">
        <p:scale>
          <a:sx n="78" d="100"/>
          <a:sy n="78" d="100"/>
        </p:scale>
        <p:origin x="2112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66733" cy="469662"/>
          </a:xfrm>
          <a:prstGeom prst="rect">
            <a:avLst/>
          </a:prstGeom>
        </p:spPr>
        <p:txBody>
          <a:bodyPr vert="horz" wrap="square" lIns="94103" tIns="47052" rIns="94103" bIns="4705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ＭＳ Ｐゴシック" pitchFamily="-106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6" y="0"/>
            <a:ext cx="3066733" cy="469662"/>
          </a:xfrm>
          <a:prstGeom prst="rect">
            <a:avLst/>
          </a:prstGeom>
        </p:spPr>
        <p:txBody>
          <a:bodyPr vert="horz" wrap="square" lIns="94103" tIns="47052" rIns="94103" bIns="4705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ＭＳ Ｐゴシック" pitchFamily="-106" charset="-128"/>
              </a:defRPr>
            </a:lvl1pPr>
          </a:lstStyle>
          <a:p>
            <a:pPr>
              <a:defRPr/>
            </a:pPr>
            <a:fld id="{37B93000-4848-40F5-8AEF-44DFB12065B3}" type="datetime1">
              <a:rPr lang="en-US"/>
              <a:pPr>
                <a:defRPr/>
              </a:pPr>
              <a:t>6/28/26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0625" y="704850"/>
            <a:ext cx="4695825" cy="35226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4103" tIns="47052" rIns="94103" bIns="47052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461788"/>
            <a:ext cx="5661660" cy="4226957"/>
          </a:xfrm>
          <a:prstGeom prst="rect">
            <a:avLst/>
          </a:prstGeom>
        </p:spPr>
        <p:txBody>
          <a:bodyPr vert="horz" wrap="square" lIns="94103" tIns="47052" rIns="94103" bIns="47052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921946"/>
            <a:ext cx="3066733" cy="469662"/>
          </a:xfrm>
          <a:prstGeom prst="rect">
            <a:avLst/>
          </a:prstGeom>
        </p:spPr>
        <p:txBody>
          <a:bodyPr vert="horz" wrap="square" lIns="94103" tIns="47052" rIns="94103" bIns="4705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ＭＳ Ｐゴシック" pitchFamily="-106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6" y="8921946"/>
            <a:ext cx="3066733" cy="469662"/>
          </a:xfrm>
          <a:prstGeom prst="rect">
            <a:avLst/>
          </a:prstGeom>
        </p:spPr>
        <p:txBody>
          <a:bodyPr vert="horz" wrap="square" lIns="94103" tIns="47052" rIns="94103" bIns="4705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ＭＳ Ｐゴシック" pitchFamily="-106" charset="-128"/>
              </a:defRPr>
            </a:lvl1pPr>
          </a:lstStyle>
          <a:p>
            <a:pPr>
              <a:defRPr/>
            </a:pPr>
            <a:fld id="{07776858-791E-4C8D-8FA3-473B3AFECF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3750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ＭＳ Ｐゴシック" pitchFamily="-106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ref:Rom.1.17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5" Type="http://schemas.openxmlformats.org/officeDocument/2006/relationships/hyperlink" Target="ref:Heb.10.38" TargetMode="External"/><Relationship Id="rId4" Type="http://schemas.openxmlformats.org/officeDocument/2006/relationships/hyperlink" Target="ref:Gal.3.11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847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61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F4AC1-8B80-1012-F85B-7382A915F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E090D8-EFF9-D13E-491F-A68E69AB4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A04C4-8422-13B5-208D-E2E53E287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What did Obedience of the Law produce?</a:t>
            </a:r>
          </a:p>
          <a:p>
            <a:endParaRPr lang="en-US" sz="1400" b="1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What does Obedience of Faith produce?</a:t>
            </a:r>
          </a:p>
          <a:p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Romans suggests that faith and obedience are inseparable aspects of the same response to God.</a:t>
            </a:r>
          </a:p>
          <a:p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Notice how Paul frames the entire letter:</a:t>
            </a:r>
          </a:p>
          <a:p>
            <a:r>
              <a:rPr lang="en-US" sz="140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“through whom we have received grace and our apostleship to bring about the </a:t>
            </a:r>
            <a:r>
              <a:rPr lang="en-US" sz="1400" i="1" u="sng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obedience of faith</a:t>
            </a:r>
            <a:r>
              <a:rPr lang="en-US" sz="140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 among all the Gentiles…” (Romans 1:5, NET)</a:t>
            </a:r>
          </a:p>
          <a:p>
            <a:endParaRPr lang="en-US" sz="1400" i="1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And at the conclusion:</a:t>
            </a:r>
          </a:p>
          <a:p>
            <a:r>
              <a:rPr lang="en-US" sz="140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“…according to the command of the eternal God to bring about the </a:t>
            </a:r>
            <a:r>
              <a:rPr lang="en-US" sz="1400" i="1" u="sng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obedience of faith</a:t>
            </a:r>
            <a:r>
              <a:rPr lang="en-US" sz="140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.” (Romans 16:26, NET)</a:t>
            </a:r>
          </a:p>
          <a:p>
            <a:endParaRPr lang="en-US" sz="1400" i="1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This phrase forms an </a:t>
            </a:r>
            <a:r>
              <a:rPr lang="en-US" sz="1400" i="1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inclusio</a:t>
            </a:r>
            <a:r>
              <a:rPr lang="en-US" sz="140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 around the entire epistle. Paul begins and ends Romans with “the obedience of faith.”</a:t>
            </a:r>
          </a:p>
          <a:p>
            <a:r>
              <a:rPr lang="en-US" sz="140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That means Romans itself should probably be read through this lens.</a:t>
            </a:r>
          </a:p>
          <a:p>
            <a:endParaRPr lang="en-US" sz="1400" dirty="0"/>
          </a:p>
          <a:p>
            <a:endParaRPr lang="en-US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“Look, the one whose desires are not upright will faint from exhaustion, but the person of integrity will live because of his faithfulness.” (</a:t>
            </a:r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Habakkuk 2:4</a:t>
            </a: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“For the righteousness of God is revealed in the gospel from faith to faith, just as it is written, “</a:t>
            </a:r>
            <a:r>
              <a:rPr lang="en-US" sz="1400" b="1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righteous by faith will live</a:t>
            </a: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.”” (</a:t>
            </a:r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Romans 1:17</a:t>
            </a: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What is “the obedience of faith”?</a:t>
            </a:r>
          </a:p>
          <a:p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There are several possibilities.</a:t>
            </a:r>
          </a:p>
          <a:p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1. Obedience that comes from faith</a:t>
            </a:r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This is the most common Protestant interpretation.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Faith is the root.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Obedience is the fruit.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meaning becomes: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“the obedience that faith produces.”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This is true, but I think Romans says more.</a:t>
            </a:r>
          </a:p>
          <a:p>
            <a:endParaRPr lang="en-US" sz="1400" b="1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2. Obedience which consists of faith</a:t>
            </a:r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Paul sometimes speaks of believing as an act of obedience.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For 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“But not all have obeyed the good news…” (Romans 10:16)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Paul then quotes Isaiah: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“Lord, who has believed our report?”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Notice the parallel:</a:t>
            </a:r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Obeyed the gospel.</a:t>
            </a:r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Believed the message.</a:t>
            </a:r>
          </a:p>
          <a:p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To refuse faith is to disobey.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To believe is to obey.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In this sense, </a:t>
            </a:r>
            <a:r>
              <a:rPr lang="en-US" sz="140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faith itself is an act of submission to God’s testimony</a:t>
            </a: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.</a:t>
            </a:r>
          </a:p>
          <a:p>
            <a:endParaRPr lang="en-US" sz="1400" b="1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3. Faithful obedience</a:t>
            </a:r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This may come closest to Habakkuk’s original meaning.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Hebrew </a:t>
            </a:r>
            <a:r>
              <a:rPr lang="en-US" sz="1400" i="1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emunah</a:t>
            </a: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 often means:</a:t>
            </a:r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US" sz="140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faithfulness</a:t>
            </a:r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US" sz="140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fidelity</a:t>
            </a:r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US" sz="140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steadfast loyalty</a:t>
            </a:r>
          </a:p>
          <a:p>
            <a:endParaRPr lang="en-US" sz="1400" b="1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Thus the righteous person is not merely someone who trusts God intellectually.</a:t>
            </a: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He is someone whose trust expresses itself in faithful allegiance.</a:t>
            </a:r>
          </a:p>
          <a:p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distinction is subtle but important.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Biblical faith is not merely believing that God exists.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It is entrusting oneself to Him.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And entrusting oneself necessarily changes one’s conduct.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4F5F1-0300-36C9-8E3D-B60D94EEA2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163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3114B-654F-892D-4761-4F9E4A88A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F4753-5F2C-080A-DC80-172615607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4C299B-9D30-22A1-BE08-AF9B57B86F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14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Just Shall Live by Faith, and the Unjust Chaldeans Will Die (2:4)</a:t>
            </a:r>
            <a:endParaRPr lang="en-US" sz="1400" b="0" i="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Because the </a:t>
            </a:r>
            <a:r>
              <a:rPr lang="en-US" sz="14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soul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 of the king of Babylon was lifted up with pride, he would die, but the godly remnant of Israel would </a:t>
            </a:r>
            <a:r>
              <a:rPr lang="en-US" sz="14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live by . . . faith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. Verse 4c is quoted three times in the NT. The three parts of the verse—the just—shall live—by faith, go well with the emphases of the three contexts where they appear: </a:t>
            </a:r>
            <a:r>
              <a:rPr lang="en-US" sz="1400" b="0" i="0" u="sng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  <a:hlinkClick r:id="rId3"/>
              </a:rPr>
              <a:t>Rom 1:17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 emphasizes "the just"; </a:t>
            </a:r>
            <a:r>
              <a:rPr lang="en-US" sz="1400" b="0" i="0" u="sng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  <a:hlinkClick r:id="rId4"/>
              </a:rPr>
              <a:t>Gal 3:11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 emphasizes "faith"; </a:t>
            </a:r>
            <a:r>
              <a:rPr lang="en-US" sz="1400" b="0" i="0" u="sng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  <a:hlinkClick r:id="rId5"/>
              </a:rPr>
              <a:t>Heb 10:38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 emphasizes "shall live." The literal rendering in Habakkuk's context, is "By his faith the just shall live." It could also be paraphrased "the justified-by-faith-one shall live."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 </a:t>
            </a: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Reconsidering Habakkuk 2:4</a:t>
            </a:r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I would now revise the summary of Habakkuk’s influence.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Previously I emphasized: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Just shall live by faith.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Now I would emphasize: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Just shall live by faithful trust.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Or perhaps: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Just shall live by believing loyalty.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Habakkuk’s contrast is between:</a:t>
            </a:r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proud soul</a:t>
            </a:r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faithful soul</a:t>
            </a: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proud man follows himself.</a:t>
            </a: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righteous man follows God.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Thus faith and obedience are not two separate categories.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They are two perspectives on the same reality.</a:t>
            </a:r>
          </a:p>
          <a:p>
            <a:endParaRPr lang="en-US" sz="1400" dirty="0"/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3. Faithful obedience</a:t>
            </a:r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This may come closest to Habakkuk’s original meaning.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Hebrew </a:t>
            </a:r>
            <a:r>
              <a:rPr lang="en-US" sz="1400" i="1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emunah</a:t>
            </a: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 often means:</a:t>
            </a:r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faithfulness</a:t>
            </a:r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fidelity</a:t>
            </a:r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steadfast loyalty</a:t>
            </a:r>
          </a:p>
          <a:p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Thus the righteous person is not merely someone who trusts God intellectually.</a:t>
            </a: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He is someone whose trust expresses itself in faithful allegiance.</a:t>
            </a:r>
          </a:p>
          <a:p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distinction is subtle but important.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Biblical faith is not merely believing that God exists.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It is entrusting oneself to Him.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And entrusting oneself necessarily changes one’s conduct.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CE01E-5C3A-F4C5-A974-1C849420CE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958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984E1-5E8F-93C6-C64E-E3614813B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B11B6A-F8E5-4A3E-CBD5-E3523F182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9B92B-DDF6-1B5A-7446-4B4EA10F1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0C3F5-1EB9-27CF-CF02-5A45B56725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31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BB867-0FE7-3A44-82F8-6AF753D07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FA1B12-39CF-0BFF-791F-EF6BEA097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FC4D52-FAD7-9481-1253-3123E9678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0639D-CD15-C2B7-6607-88E4F32EA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88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B3A6B-1013-F2A3-A41E-32B58CFA6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913E2-47E4-CD7A-87EF-DDD54D875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CA0B8-E487-ACE6-D85E-649D39371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Israel’s Failure Revisited</a:t>
            </a:r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This adjustment is especially important in Romans 9-11.</a:t>
            </a:r>
          </a:p>
          <a:p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Many readers frame the issue as:</a:t>
            </a: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Israel pursued works.</a:t>
            </a: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Gentiles pursued faith.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Paul’s point seems deeper.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Israel often sought covenant blessing while resisting God’s word.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Consider Romans 10:16: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“But not all have obeyed the good news.”</a:t>
            </a:r>
          </a:p>
          <a:p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Again Paul equates believing and obeying.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fundamental issue was not merely a lack of intellectual faith.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It was a refusal to submit to God’s righteousness.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“For ignoring the righteousness that comes from God, and seeking instead to establish their own righteousness, they did not submit to God’s righteousness.” (Romans 10:3, NET)</a:t>
            </a:r>
          </a:p>
          <a:p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Notice the key word:  </a:t>
            </a:r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submit.</a:t>
            </a:r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opposite of faith is not merely unbelief.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u="sng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opposite of faith is self-rule.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This fits </a:t>
            </a:r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Habakkuk</a:t>
            </a: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 perfectly.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proud man trusts himself.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righteous man entrusts himself to God.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352E1-6231-7DEA-3FB2-FF092B30CC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86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2D207-0FF3-2D02-A2D8-535DBC80C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5BD6A4-9AE9-D014-BFA2-B492D1FA5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91448D-8545-084D-2049-E6EDE0884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Romans, Galatians, and Hebrews Revisited</a:t>
            </a:r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With “the obedience of faith” in view, the three books become even more unified.</a:t>
            </a:r>
          </a:p>
          <a:p>
            <a:endParaRPr lang="en-US" sz="1400" b="1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Romans</a:t>
            </a:r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Who are the righteous?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Those who have submitted to God’s righteousness through faithful trust.</a:t>
            </a:r>
          </a:p>
          <a:p>
            <a:endParaRPr lang="en-US" sz="1400" b="1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Galatians</a:t>
            </a:r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What is faith?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Not merely belief.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Faith working through love (Galatians 5:6).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Faithful allegiance to Christ rather than reliance on fleshly achievement.</a:t>
            </a:r>
          </a:p>
          <a:p>
            <a:endParaRPr lang="en-US" sz="1400" b="1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Hebrews</a:t>
            </a:r>
            <a:endParaRPr lang="en-US" sz="1400" kern="1200" dirty="0">
              <a:solidFill>
                <a:schemeClr val="tx1"/>
              </a:solidFill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What does it mean to live by faith?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Persevering loyalty.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 heroes of Hebrews 11 did not merely hold correct beliefs.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They obeyed.</a:t>
            </a: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Noah built.</a:t>
            </a: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Abraham left.</a:t>
            </a: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Moses chose.</a:t>
            </a: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Israel crossed.</a:t>
            </a: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Rahab received.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Their faith was visible because it acted.</a:t>
            </a:r>
          </a:p>
          <a:p>
            <a:r>
              <a:rPr lang="en-US" sz="1400" kern="1200" dirty="0">
                <a:solidFill>
                  <a:schemeClr val="tx1"/>
                </a:solidFill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162F3-90F6-995E-978B-F72BF44EAA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76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F98E0-8508-0D6F-D937-B51A38A2F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D00A1-944F-E68B-3B1E-39A699F56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ADCDCB-64C5-E2C7-96C9-7902880A7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C692C-447D-DBA0-0C5F-32B711BAC1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798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lang="en-US" sz="4400" b="1" kern="1200" dirty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4391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 sz="1400">
                <a:solidFill>
                  <a:schemeClr val="tx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90314B7E-EB23-4DAB-A3F0-0F7BBB6CDA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741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400">
                <a:solidFill>
                  <a:schemeClr val="tx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9325C3C2-9E54-411C-9683-C950CD1738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734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43000"/>
            <a:ext cx="8229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416675"/>
            <a:ext cx="685800" cy="365125"/>
          </a:xfrm>
          <a:prstGeom prst="rect">
            <a:avLst/>
          </a:prstGeom>
        </p:spPr>
        <p:txBody>
          <a:bodyPr anchor="b"/>
          <a:lstStyle>
            <a:lvl1pPr algn="ctr">
              <a:defRPr sz="1400">
                <a:solidFill>
                  <a:schemeClr val="tx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2D225349-B1F9-464A-9CC5-D5DDA255FD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50" r:id="rId2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lang="en-US" sz="4400" b="1" kern="1200" dirty="0">
          <a:solidFill>
            <a:schemeClr val="tx2"/>
          </a:solidFill>
          <a:latin typeface="+mj-lt"/>
          <a:ea typeface="ＭＳ Ｐゴシック" pitchFamily="34" charset="-128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43000"/>
            <a:ext cx="8229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416675"/>
            <a:ext cx="652463" cy="365125"/>
          </a:xfrm>
          <a:prstGeom prst="rect">
            <a:avLst/>
          </a:prstGeom>
        </p:spPr>
        <p:txBody>
          <a:bodyPr anchor="b"/>
          <a:lstStyle>
            <a:lvl1pPr algn="r">
              <a:defRPr sz="1400">
                <a:solidFill>
                  <a:schemeClr val="tx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D1036DDD-C097-4A4A-B40F-B92C82C562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1" r:id="rId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en-US" sz="4400" b="1" kern="1200" dirty="0">
          <a:solidFill>
            <a:schemeClr val="tx2"/>
          </a:solidFill>
          <a:latin typeface="+mj-lt"/>
          <a:ea typeface="ＭＳ Ｐゴシック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RomeGospe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inyurl.com/TeachTheWord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470025"/>
          </a:xfrm>
        </p:spPr>
        <p:txBody>
          <a:bodyPr/>
          <a:lstStyle/>
          <a:p>
            <a:pPr eaLnBrk="1" hangingPunct="1"/>
            <a:r>
              <a:rPr lang="en-US" sz="6600" dirty="0"/>
              <a:t>Romans</a:t>
            </a:r>
            <a:endParaRPr dirty="0"/>
          </a:p>
        </p:txBody>
      </p:sp>
      <p:sp>
        <p:nvSpPr>
          <p:cNvPr id="6147" name="Subtitle 2"/>
          <p:cNvSpPr>
            <a:spLocks noGrp="1"/>
          </p:cNvSpPr>
          <p:nvPr>
            <p:ph type="subTitle" idx="1"/>
          </p:nvPr>
        </p:nvSpPr>
        <p:spPr>
          <a:xfrm>
            <a:off x="457200" y="2209800"/>
            <a:ext cx="8229600" cy="3787776"/>
          </a:xfrm>
        </p:spPr>
        <p:txBody>
          <a:bodyPr/>
          <a:lstStyle/>
          <a:p>
            <a:pPr eaLnBrk="1" hangingPunct="1"/>
            <a:r>
              <a:rPr lang="en-US" dirty="0"/>
              <a:t>The Obedience of Faith</a:t>
            </a:r>
          </a:p>
          <a:p>
            <a:pPr eaLnBrk="1" hangingPunct="1"/>
            <a:r>
              <a:rPr lang="en-US" dirty="0"/>
              <a:t>Chapter 12-16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r>
              <a:rPr lang="en-US" dirty="0">
                <a:hlinkClick r:id="rId3"/>
              </a:rPr>
              <a:t>https://tinyurl.com/RomeGospel</a:t>
            </a:r>
            <a:endParaRPr lang="en-US" dirty="0"/>
          </a:p>
          <a:p>
            <a:r>
              <a:rPr lang="en-US" dirty="0">
                <a:hlinkClick r:id="rId4"/>
              </a:rPr>
              <a:t>https://tinyurl.com/TeachTheWord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381000" y="0"/>
            <a:ext cx="838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n-US" sz="4000" b="1" kern="120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ＭＳ Ｐゴシック" pitchFamily="34" charset="-128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ＭＳ Ｐゴシック" pitchFamily="34" charset="-128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ＭＳ Ｐゴシック" pitchFamily="34" charset="-128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ＭＳ Ｐゴシック" pitchFamily="34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3600" dirty="0"/>
              <a:t>Faith, Hope, and Love</a:t>
            </a:r>
            <a:br>
              <a:rPr lang="en-US" dirty="0"/>
            </a:b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 Outline -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1447800"/>
            <a:ext cx="800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FAITH</a:t>
            </a:r>
            <a:r>
              <a:rPr lang="en-US" sz="2000" i="1" dirty="0"/>
              <a:t>, chapters 1-8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i="1" dirty="0"/>
              <a:t>1-3 Sin (GOD’s great solution – the </a:t>
            </a:r>
            <a:r>
              <a:rPr lang="en-US" sz="2000" b="1" i="1" dirty="0"/>
              <a:t>Father</a:t>
            </a:r>
            <a:r>
              <a:rPr lang="en-US" sz="2000" i="1" dirty="0"/>
              <a:t> provides)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i="1" dirty="0"/>
              <a:t>4-5 Salvation (GOD’s great gift – the </a:t>
            </a:r>
            <a:r>
              <a:rPr lang="en-US" sz="2000" b="1" i="1" dirty="0"/>
              <a:t>Son</a:t>
            </a:r>
            <a:r>
              <a:rPr lang="en-US" sz="2000" i="1" dirty="0"/>
              <a:t> provides)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i="1" dirty="0"/>
              <a:t>6-8 Sanctification (GOD’s great work – the </a:t>
            </a:r>
            <a:r>
              <a:rPr lang="en-US" sz="2000" b="1" i="1" dirty="0"/>
              <a:t>Spirit</a:t>
            </a:r>
            <a:r>
              <a:rPr lang="en-US" sz="2000" i="1" dirty="0"/>
              <a:t> provides)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9031" y="3137595"/>
            <a:ext cx="800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HOPE</a:t>
            </a:r>
            <a:r>
              <a:rPr lang="en-US" sz="2000" i="1" dirty="0"/>
              <a:t>, chapters 9-11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i="1" dirty="0"/>
              <a:t>9 Israel – Past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i="1" dirty="0"/>
              <a:t>10 Israel – Present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i="1" dirty="0"/>
              <a:t>11 Israel -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24400"/>
            <a:ext cx="800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LOVE</a:t>
            </a:r>
            <a:r>
              <a:rPr lang="en-US" sz="2000" i="1" dirty="0"/>
              <a:t>, chapters 12-16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i="1" dirty="0"/>
              <a:t>Practical Christian Living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i="1" dirty="0"/>
              <a:t>The </a:t>
            </a:r>
            <a:r>
              <a:rPr lang="en-US" sz="2000" b="1" i="1" dirty="0"/>
              <a:t>Just</a:t>
            </a:r>
            <a:r>
              <a:rPr lang="en-US" sz="2000" i="1" dirty="0"/>
              <a:t> shall </a:t>
            </a:r>
            <a:r>
              <a:rPr lang="en-US" sz="2000" b="1" i="1" dirty="0"/>
              <a:t>Live</a:t>
            </a:r>
            <a:r>
              <a:rPr lang="en-US" sz="2000" i="1" dirty="0"/>
              <a:t> by </a:t>
            </a:r>
            <a:r>
              <a:rPr lang="en-US" sz="2000" b="1" i="1" dirty="0"/>
              <a:t>Faith</a:t>
            </a:r>
            <a:r>
              <a:rPr lang="en-US" sz="2000" i="1" dirty="0"/>
              <a:t>…</a:t>
            </a:r>
          </a:p>
          <a:p>
            <a:endParaRPr lang="en-US" sz="2000" i="1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A039C72-3526-BF94-5A4E-4F289EFBC4D7}"/>
              </a:ext>
            </a:extLst>
          </p:cNvPr>
          <p:cNvGrpSpPr/>
          <p:nvPr/>
        </p:nvGrpSpPr>
        <p:grpSpPr>
          <a:xfrm>
            <a:off x="1371600" y="1143000"/>
            <a:ext cx="7391400" cy="5486400"/>
            <a:chOff x="1828800" y="1143000"/>
            <a:chExt cx="6934200" cy="5486400"/>
          </a:xfrm>
        </p:grpSpPr>
        <p:sp>
          <p:nvSpPr>
            <p:cNvPr id="3" name="Round Diagonal Corner Rectangle 2">
              <a:extLst>
                <a:ext uri="{FF2B5EF4-FFF2-40B4-BE49-F238E27FC236}">
                  <a16:creationId xmlns:a16="http://schemas.microsoft.com/office/drawing/2014/main" id="{CFF77C9A-6EE1-C799-0600-E91C5A3EA250}"/>
                </a:ext>
              </a:extLst>
            </p:cNvPr>
            <p:cNvSpPr/>
            <p:nvPr/>
          </p:nvSpPr>
          <p:spPr>
            <a:xfrm>
              <a:off x="1828800" y="1143000"/>
              <a:ext cx="6934200" cy="5486400"/>
            </a:xfrm>
            <a:prstGeom prst="round2Diag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>
                <a:buNone/>
              </a:pPr>
              <a:endParaRPr lang="en-US" sz="3600" dirty="0"/>
            </a:p>
            <a:p>
              <a:pPr marL="0" indent="0">
                <a:buNone/>
              </a:pPr>
              <a:r>
                <a:rPr lang="en-US" sz="3600" dirty="0"/>
                <a:t>A</a:t>
              </a:r>
            </a:p>
            <a:p>
              <a:pPr marL="0" indent="0">
                <a:buNone/>
              </a:pPr>
              <a:r>
                <a:rPr lang="en-US" sz="3600" dirty="0"/>
                <a:t>    B</a:t>
              </a:r>
            </a:p>
            <a:p>
              <a:pPr marL="0" indent="0">
                <a:buNone/>
              </a:pPr>
              <a:r>
                <a:rPr lang="en-US" sz="3600" dirty="0"/>
                <a:t>        C</a:t>
              </a:r>
            </a:p>
            <a:p>
              <a:pPr marL="0" indent="0">
                <a:buNone/>
              </a:pPr>
              <a:r>
                <a:rPr lang="en-US" sz="3600" dirty="0"/>
                <a:t>            D</a:t>
              </a:r>
            </a:p>
            <a:p>
              <a:pPr marL="0" indent="0">
                <a:buNone/>
              </a:pPr>
              <a:r>
                <a:rPr lang="en-US" sz="3600" dirty="0"/>
                <a:t>        C′</a:t>
              </a:r>
            </a:p>
            <a:p>
              <a:pPr marL="0" indent="0">
                <a:buNone/>
              </a:pPr>
              <a:r>
                <a:rPr lang="en-US" sz="3600" dirty="0"/>
                <a:t>    B′</a:t>
              </a:r>
            </a:p>
            <a:p>
              <a:pPr marL="0" indent="0">
                <a:buNone/>
              </a:pPr>
              <a:r>
                <a:rPr lang="en-US" sz="3600" dirty="0"/>
                <a:t>A′</a:t>
              </a:r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659C91D-7EB0-20EB-8511-8897390E2F08}"/>
                </a:ext>
              </a:extLst>
            </p:cNvPr>
            <p:cNvSpPr txBox="1"/>
            <p:nvPr/>
          </p:nvSpPr>
          <p:spPr>
            <a:xfrm>
              <a:off x="2514600" y="1462585"/>
              <a:ext cx="5791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u="sng" dirty="0">
                  <a:solidFill>
                    <a:schemeClr val="bg1"/>
                  </a:solidFill>
                </a:rPr>
                <a:t>Concentric Concept Development in Scripture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015118B-8CF2-CB1B-EFCF-587D93E9B7D1}"/>
              </a:ext>
            </a:extLst>
          </p:cNvPr>
          <p:cNvGrpSpPr/>
          <p:nvPr/>
        </p:nvGrpSpPr>
        <p:grpSpPr>
          <a:xfrm>
            <a:off x="1371600" y="1153886"/>
            <a:ext cx="7391400" cy="5486400"/>
            <a:chOff x="1371600" y="1143000"/>
            <a:chExt cx="7391400" cy="5486400"/>
          </a:xfrm>
        </p:grpSpPr>
        <p:sp>
          <p:nvSpPr>
            <p:cNvPr id="11" name="Round Diagonal Corner Rectangle 10">
              <a:extLst>
                <a:ext uri="{FF2B5EF4-FFF2-40B4-BE49-F238E27FC236}">
                  <a16:creationId xmlns:a16="http://schemas.microsoft.com/office/drawing/2014/main" id="{34B19F3E-A65C-FF59-14FB-015F2AAD548D}"/>
                </a:ext>
              </a:extLst>
            </p:cNvPr>
            <p:cNvSpPr/>
            <p:nvPr/>
          </p:nvSpPr>
          <p:spPr>
            <a:xfrm>
              <a:off x="1371600" y="1143000"/>
              <a:ext cx="7391400" cy="5486400"/>
            </a:xfrm>
            <a:prstGeom prst="round2Diag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>
                <a:buNone/>
              </a:pPr>
              <a:endParaRPr lang="en-US" sz="3600" dirty="0"/>
            </a:p>
            <a:p>
              <a:pPr marL="0" indent="0">
                <a:buNone/>
              </a:pPr>
              <a:r>
                <a:rPr lang="en-US" sz="3600" dirty="0"/>
                <a:t>A   Introduction</a:t>
              </a:r>
            </a:p>
            <a:p>
              <a:pPr marL="0" indent="0">
                <a:buNone/>
              </a:pPr>
              <a:r>
                <a:rPr lang="en-US" sz="3600" dirty="0"/>
                <a:t>    B   Theme introduced</a:t>
              </a:r>
            </a:p>
            <a:p>
              <a:pPr marL="0" indent="0">
                <a:buNone/>
              </a:pPr>
              <a:r>
                <a:rPr lang="en-US" sz="3600" dirty="0"/>
                <a:t>        C   Development</a:t>
              </a:r>
            </a:p>
            <a:p>
              <a:pPr marL="0" indent="0">
                <a:buNone/>
              </a:pPr>
              <a:r>
                <a:rPr lang="en-US" sz="3600" dirty="0"/>
                <a:t>            D   Central point</a:t>
              </a:r>
            </a:p>
            <a:p>
              <a:pPr marL="0" indent="0">
                <a:buNone/>
              </a:pPr>
              <a:r>
                <a:rPr lang="en-US" sz="3600" dirty="0"/>
                <a:t>        C′  Development answered</a:t>
              </a:r>
            </a:p>
            <a:p>
              <a:pPr marL="0" indent="0">
                <a:buNone/>
              </a:pPr>
              <a:r>
                <a:rPr lang="en-US" sz="3600" dirty="0"/>
                <a:t>    B′  Theme concluded</a:t>
              </a:r>
            </a:p>
            <a:p>
              <a:pPr marL="0" indent="0">
                <a:buNone/>
              </a:pPr>
              <a:r>
                <a:rPr lang="en-US" sz="3600" dirty="0"/>
                <a:t>A′  Conclusion</a:t>
              </a:r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383E8F2-CC4C-D1AC-030C-45528F816682}"/>
                </a:ext>
              </a:extLst>
            </p:cNvPr>
            <p:cNvSpPr txBox="1"/>
            <p:nvPr/>
          </p:nvSpPr>
          <p:spPr>
            <a:xfrm>
              <a:off x="2102618" y="1462585"/>
              <a:ext cx="61730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u="sng" dirty="0">
                  <a:solidFill>
                    <a:schemeClr val="bg1"/>
                  </a:solidFill>
                </a:rPr>
                <a:t>Concentric Concept Development in Scripture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84FB7A-A252-6C8B-CD4B-2B6914904BD6}"/>
              </a:ext>
            </a:extLst>
          </p:cNvPr>
          <p:cNvGrpSpPr/>
          <p:nvPr/>
        </p:nvGrpSpPr>
        <p:grpSpPr>
          <a:xfrm>
            <a:off x="1371600" y="1164772"/>
            <a:ext cx="7391400" cy="5486400"/>
            <a:chOff x="1371600" y="1143000"/>
            <a:chExt cx="7391400" cy="5486400"/>
          </a:xfrm>
        </p:grpSpPr>
        <p:sp>
          <p:nvSpPr>
            <p:cNvPr id="14" name="Round Diagonal Corner Rectangle 13">
              <a:extLst>
                <a:ext uri="{FF2B5EF4-FFF2-40B4-BE49-F238E27FC236}">
                  <a16:creationId xmlns:a16="http://schemas.microsoft.com/office/drawing/2014/main" id="{CF445AC1-3432-2826-1FED-4C907E5A0938}"/>
                </a:ext>
              </a:extLst>
            </p:cNvPr>
            <p:cNvSpPr/>
            <p:nvPr/>
          </p:nvSpPr>
          <p:spPr>
            <a:xfrm>
              <a:off x="1371600" y="1143000"/>
              <a:ext cx="7391400" cy="5486400"/>
            </a:xfrm>
            <a:prstGeom prst="round2Diag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>
                <a:buNone/>
              </a:pPr>
              <a:endParaRPr lang="en-US" sz="2400" dirty="0"/>
            </a:p>
            <a:p>
              <a:pPr marL="0" indent="0">
                <a:buNone/>
              </a:pPr>
              <a:r>
                <a:rPr lang="en-US" sz="2800" dirty="0"/>
                <a:t>A   God's blessing (vv.1-2)</a:t>
              </a:r>
            </a:p>
            <a:p>
              <a:pPr marL="0" indent="0">
                <a:buNone/>
              </a:pPr>
              <a:endParaRPr lang="en-US" sz="2800" dirty="0"/>
            </a:p>
            <a:p>
              <a:pPr marL="0" indent="0">
                <a:buNone/>
              </a:pPr>
              <a:r>
                <a:rPr lang="en-US" sz="2800" dirty="0"/>
                <a:t>    B   Let the peoples praise You (v.3)</a:t>
              </a:r>
            </a:p>
            <a:p>
              <a:pPr marL="0" indent="0">
                <a:buNone/>
              </a:pPr>
              <a:endParaRPr lang="en-US" sz="2800" dirty="0"/>
            </a:p>
            <a:p>
              <a:pPr marL="0" indent="0">
                <a:buNone/>
              </a:pPr>
              <a:r>
                <a:rPr lang="en-US" sz="2800" dirty="0"/>
                <a:t>        C   Let the nations rejoice (v.4)</a:t>
              </a:r>
            </a:p>
            <a:p>
              <a:pPr marL="0" indent="0">
                <a:buNone/>
              </a:pPr>
              <a:endParaRPr lang="en-US" sz="2800" dirty="0"/>
            </a:p>
            <a:p>
              <a:pPr marL="0" indent="0">
                <a:buNone/>
              </a:pPr>
              <a:r>
                <a:rPr lang="en-US" sz="2800" dirty="0"/>
                <a:t>    B’  Let the peoples praise You (v.5)</a:t>
              </a:r>
            </a:p>
            <a:p>
              <a:pPr marL="0" indent="0">
                <a:buNone/>
              </a:pPr>
              <a:endParaRPr lang="en-US" sz="2800" dirty="0"/>
            </a:p>
            <a:p>
              <a:pPr marL="0" indent="0">
                <a:buNone/>
              </a:pPr>
              <a:r>
                <a:rPr lang="en-US" sz="2800" dirty="0"/>
                <a:t>A’  God's blessing (vv.6-7)</a:t>
              </a:r>
              <a:endParaRPr lang="en-US" sz="1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008D80-DA93-E869-B721-E12DD73F8E42}"/>
                </a:ext>
              </a:extLst>
            </p:cNvPr>
            <p:cNvSpPr txBox="1"/>
            <p:nvPr/>
          </p:nvSpPr>
          <p:spPr>
            <a:xfrm>
              <a:off x="2102618" y="1462585"/>
              <a:ext cx="61730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u="sng" dirty="0">
                  <a:solidFill>
                    <a:schemeClr val="bg1"/>
                  </a:solidFill>
                </a:rPr>
                <a:t>Example – Psalm 67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FA0B668-AEA0-470B-773A-74DF411BC3BA}"/>
              </a:ext>
            </a:extLst>
          </p:cNvPr>
          <p:cNvGrpSpPr/>
          <p:nvPr/>
        </p:nvGrpSpPr>
        <p:grpSpPr>
          <a:xfrm>
            <a:off x="457200" y="1164772"/>
            <a:ext cx="8305800" cy="5486400"/>
            <a:chOff x="457200" y="1143000"/>
            <a:chExt cx="8305800" cy="5486400"/>
          </a:xfrm>
        </p:grpSpPr>
        <p:sp>
          <p:nvSpPr>
            <p:cNvPr id="22" name="Round Diagonal Corner Rectangle 21">
              <a:extLst>
                <a:ext uri="{FF2B5EF4-FFF2-40B4-BE49-F238E27FC236}">
                  <a16:creationId xmlns:a16="http://schemas.microsoft.com/office/drawing/2014/main" id="{D38B235B-E40D-139A-766A-19627611B6C7}"/>
                </a:ext>
              </a:extLst>
            </p:cNvPr>
            <p:cNvSpPr/>
            <p:nvPr/>
          </p:nvSpPr>
          <p:spPr>
            <a:xfrm>
              <a:off x="457200" y="1143000"/>
              <a:ext cx="8305800" cy="5486400"/>
            </a:xfrm>
            <a:prstGeom prst="round2Diag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/>
                <a:t>A     1:1–17 Gospel (Obedience of Faith)</a:t>
              </a:r>
            </a:p>
            <a:p>
              <a:r>
                <a:rPr lang="en-US" sz="2800" dirty="0"/>
                <a:t>    B    1:18–3:20 Humanity under sin</a:t>
              </a:r>
            </a:p>
            <a:p>
              <a:r>
                <a:rPr lang="en-US" sz="2800" dirty="0"/>
                <a:t>        C    3:21–5:21 Justification</a:t>
              </a:r>
            </a:p>
            <a:p>
              <a:r>
                <a:rPr lang="en-US" sz="2800" dirty="0"/>
                <a:t>            D    6–8 New life in Christ</a:t>
              </a:r>
            </a:p>
            <a:p>
              <a:r>
                <a:rPr lang="en-US" sz="2800" dirty="0"/>
                <a:t>                E    9–11 Israel and God's purposes</a:t>
              </a:r>
            </a:p>
            <a:p>
              <a:r>
                <a:rPr lang="en-US" sz="2800" dirty="0"/>
                <a:t>            D′    12–13 New life practiced</a:t>
              </a:r>
            </a:p>
            <a:p>
              <a:r>
                <a:rPr lang="en-US" sz="2800" dirty="0"/>
                <a:t>        C′    14–15 Justification lived in community</a:t>
              </a:r>
            </a:p>
            <a:p>
              <a:r>
                <a:rPr lang="en-US" sz="2800" dirty="0"/>
                <a:t>    B′    15:14–33 Gospel ministry of Grace</a:t>
              </a:r>
            </a:p>
            <a:p>
              <a:r>
                <a:rPr lang="en-US" sz="2800" dirty="0"/>
                <a:t>A′    16 Doxology (Obedience of Faith)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06D91A3-1B39-2F2F-05E2-58D448FB4AE1}"/>
                </a:ext>
              </a:extLst>
            </p:cNvPr>
            <p:cNvSpPr txBox="1"/>
            <p:nvPr/>
          </p:nvSpPr>
          <p:spPr>
            <a:xfrm>
              <a:off x="2667000" y="1466484"/>
              <a:ext cx="39020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u="sng" dirty="0">
                  <a:solidFill>
                    <a:schemeClr val="bg1"/>
                  </a:solidFill>
                </a:rPr>
                <a:t>ROMANS – Concentric Outline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993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4A9DF-AB26-F539-9B0B-7E487FDDB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037FA-8D0D-62EE-7F1B-AF20F2711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8915400" cy="9144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Purposes of the Gospel</a:t>
            </a:r>
            <a:br>
              <a:rPr lang="en-US" dirty="0"/>
            </a:b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 Obedience of Faith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B57128-CAEE-482E-D4B2-EFFB21559B1B}"/>
              </a:ext>
            </a:extLst>
          </p:cNvPr>
          <p:cNvSpPr txBox="1"/>
          <p:nvPr/>
        </p:nvSpPr>
        <p:spPr>
          <a:xfrm>
            <a:off x="192677" y="1066800"/>
            <a:ext cx="86650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“Through him we have received grace and </a:t>
            </a:r>
            <a:r>
              <a:rPr lang="en-US" sz="2000" b="1" i="1" dirty="0"/>
              <a:t>our apostleship to bring about the </a:t>
            </a:r>
            <a:r>
              <a:rPr lang="en-US" sz="2000" b="1" i="1" u="sng" dirty="0"/>
              <a:t>obedience of faith</a:t>
            </a:r>
            <a:r>
              <a:rPr lang="en-US" sz="2000" i="1" dirty="0"/>
              <a:t> among all the Gentiles on behalf of his name.” </a:t>
            </a:r>
            <a:r>
              <a:rPr lang="en-US" sz="2000" dirty="0"/>
              <a:t>(</a:t>
            </a:r>
            <a:r>
              <a:rPr lang="en-US" sz="2000" b="1" dirty="0"/>
              <a:t>Romans 1:5</a:t>
            </a:r>
            <a:r>
              <a:rPr lang="en-US" sz="20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CF721-5F73-8353-B632-F1AC3D2BA561}"/>
              </a:ext>
            </a:extLst>
          </p:cNvPr>
          <p:cNvSpPr txBox="1"/>
          <p:nvPr/>
        </p:nvSpPr>
        <p:spPr>
          <a:xfrm>
            <a:off x="192677" y="2362200"/>
            <a:ext cx="85888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“…but now is disclosed, and through the prophetic scriptures has been made known to all the nations, according to the command of the eternal God, </a:t>
            </a:r>
            <a:r>
              <a:rPr lang="en-US" sz="2000" b="1" i="1" dirty="0"/>
              <a:t>to bring about the </a:t>
            </a:r>
            <a:r>
              <a:rPr lang="en-US" sz="2000" b="1" i="1" u="sng" dirty="0"/>
              <a:t>obedience of faith</a:t>
            </a:r>
            <a:r>
              <a:rPr lang="en-US" sz="2000" i="1" dirty="0"/>
              <a:t> ” </a:t>
            </a:r>
            <a:r>
              <a:rPr lang="en-US" sz="2000" dirty="0"/>
              <a:t>(</a:t>
            </a:r>
            <a:r>
              <a:rPr lang="en-US" sz="2000" b="1" dirty="0"/>
              <a:t>Romans 16:26</a:t>
            </a:r>
            <a:r>
              <a:rPr lang="en-US" sz="20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BEBD6-5D52-06D1-3830-C949946FDA60}"/>
              </a:ext>
            </a:extLst>
          </p:cNvPr>
          <p:cNvSpPr txBox="1"/>
          <p:nvPr/>
        </p:nvSpPr>
        <p:spPr>
          <a:xfrm>
            <a:off x="224345" y="3759875"/>
            <a:ext cx="85888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a typeface="ＭＳ Ｐゴシック" pitchFamily="-106" charset="-128"/>
                <a:cs typeface="ＭＳ Ｐゴシック" pitchFamily="-106" charset="-128"/>
              </a:rPr>
              <a:t>What is “the </a:t>
            </a:r>
            <a:r>
              <a:rPr lang="en-US" sz="2400" b="1" u="sng" dirty="0">
                <a:ea typeface="ＭＳ Ｐゴシック" pitchFamily="-106" charset="-128"/>
                <a:cs typeface="ＭＳ Ｐゴシック" pitchFamily="-106" charset="-128"/>
              </a:rPr>
              <a:t>Obedience of Faith</a:t>
            </a:r>
            <a:r>
              <a:rPr lang="en-US" sz="2400" b="1" dirty="0">
                <a:ea typeface="ＭＳ Ｐゴシック" pitchFamily="-106" charset="-128"/>
                <a:cs typeface="ＭＳ Ｐゴシック" pitchFamily="-106" charset="-128"/>
              </a:rPr>
              <a:t>”?   Possibilities…</a:t>
            </a:r>
          </a:p>
          <a:p>
            <a:endParaRPr lang="en-US" sz="2400" i="1" dirty="0"/>
          </a:p>
          <a:p>
            <a:pPr marL="457200" indent="-457200">
              <a:buAutoNum type="arabicPeriod"/>
            </a:pPr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Obedience that </a:t>
            </a:r>
            <a:r>
              <a:rPr lang="en-US" sz="2000" b="1" u="sng" dirty="0">
                <a:ea typeface="ＭＳ Ｐゴシック" pitchFamily="-106" charset="-128"/>
                <a:cs typeface="ＭＳ Ｐゴシック" pitchFamily="-106" charset="-128"/>
              </a:rPr>
              <a:t>comes from</a:t>
            </a:r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 Faith (fruit?)</a:t>
            </a:r>
          </a:p>
          <a:p>
            <a:pPr marL="914400" lvl="1" indent="-457200">
              <a:buFontTx/>
              <a:buAutoNum type="arabicPeriod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The obedience that faith produces.</a:t>
            </a:r>
          </a:p>
          <a:p>
            <a:pPr marL="457200" indent="-457200">
              <a:buFontTx/>
              <a:buAutoNum type="arabicPeriod"/>
            </a:pPr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Obedience which </a:t>
            </a:r>
            <a:r>
              <a:rPr lang="en-US" sz="2000" b="1" u="sng" dirty="0">
                <a:ea typeface="ＭＳ Ｐゴシック" pitchFamily="-106" charset="-128"/>
                <a:cs typeface="ＭＳ Ｐゴシック" pitchFamily="-106" charset="-128"/>
              </a:rPr>
              <a:t>consists of</a:t>
            </a:r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 Faith (ingredient?)</a:t>
            </a:r>
          </a:p>
          <a:p>
            <a:pPr marL="914400" lvl="1" indent="-457200">
              <a:buFontTx/>
              <a:buAutoNum type="arabicPeriod"/>
            </a:pPr>
            <a:r>
              <a:rPr lang="en-US" sz="2000" i="1" dirty="0">
                <a:ea typeface="ＭＳ Ｐゴシック" pitchFamily="-106" charset="-128"/>
                <a:cs typeface="ＭＳ Ｐゴシック" pitchFamily="-106" charset="-128"/>
              </a:rPr>
              <a:t>“But not all have obeyed the good news…” 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(</a:t>
            </a:r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Romans 10:16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)</a:t>
            </a:r>
          </a:p>
          <a:p>
            <a:pPr marL="457200" indent="-457200">
              <a:buFontTx/>
              <a:buAutoNum type="arabicPeriod"/>
            </a:pPr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Faithful Obedience (different?)</a:t>
            </a:r>
            <a:endParaRPr lang="en-US" sz="2000" dirty="0">
              <a:ea typeface="ＭＳ Ｐゴシック" pitchFamily="-106" charset="-128"/>
              <a:cs typeface="ＭＳ Ｐゴシック" pitchFamily="-106" charset="-128"/>
            </a:endParaRPr>
          </a:p>
          <a:p>
            <a:pPr marL="914400" lvl="1" indent="-457200">
              <a:buFontTx/>
              <a:buAutoNum type="arabicPeriod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“</a:t>
            </a:r>
            <a:r>
              <a:rPr lang="en-US" sz="2000" i="1" dirty="0">
                <a:ea typeface="ＭＳ Ｐゴシック" pitchFamily="-106" charset="-128"/>
                <a:cs typeface="ＭＳ Ｐゴシック" pitchFamily="-106" charset="-128"/>
              </a:rPr>
              <a:t>The righteous by faith will live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.” (</a:t>
            </a:r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Romans 1:17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8666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A4223-15CE-6B2B-EE49-167736EBB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B1049-D3CC-C27B-06D4-667088A5F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8915400" cy="9144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The Just Shall Live by Faith</a:t>
            </a:r>
            <a:br>
              <a:rPr lang="en-US" dirty="0"/>
            </a:b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Reconsidering Habakkuk 2:4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6422BC-75EC-9987-E553-27A0F5A81AB0}"/>
              </a:ext>
            </a:extLst>
          </p:cNvPr>
          <p:cNvSpPr txBox="1"/>
          <p:nvPr/>
        </p:nvSpPr>
        <p:spPr>
          <a:xfrm>
            <a:off x="152400" y="990600"/>
            <a:ext cx="866502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hangingPunct="0">
              <a:spcBef>
                <a:spcPct val="30000"/>
              </a:spcBef>
              <a:defRPr/>
            </a:pPr>
            <a:r>
              <a:rPr lang="en-US" sz="2000" i="1" dirty="0">
                <a:ea typeface="ＭＳ Ｐゴシック" pitchFamily="-106" charset="-128"/>
                <a:cs typeface="ＭＳ Ｐゴシック" pitchFamily="-106" charset="-128"/>
              </a:rPr>
              <a:t>“Look, the one whose desires are not upright will faint from exhaustion, but the person of integrity will live because of his faithfulness.” 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(</a:t>
            </a:r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Habakkuk 2:4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)</a:t>
            </a:r>
          </a:p>
          <a:p>
            <a:pPr lvl="0" eaLnBrk="0" hangingPunct="0">
              <a:spcBef>
                <a:spcPct val="30000"/>
              </a:spcBef>
              <a:defRPr/>
            </a:pPr>
            <a:r>
              <a:rPr lang="en-US" sz="2000" i="1" dirty="0">
                <a:ea typeface="ＭＳ Ｐゴシック" pitchFamily="-106" charset="-128"/>
                <a:cs typeface="ＭＳ Ｐゴシック" pitchFamily="-106" charset="-128"/>
              </a:rPr>
              <a:t>“For the righteousness of God is revealed in the gospel from faith to faith, just as it is written, “</a:t>
            </a:r>
            <a:r>
              <a:rPr lang="en-US" sz="2000" b="1" i="1" dirty="0">
                <a:ea typeface="ＭＳ Ｐゴシック" pitchFamily="-106" charset="-128"/>
                <a:cs typeface="ＭＳ Ｐゴシック" pitchFamily="-106" charset="-128"/>
              </a:rPr>
              <a:t>The righteous by faith will live</a:t>
            </a:r>
            <a:r>
              <a:rPr lang="en-US" sz="2000" i="1" dirty="0">
                <a:ea typeface="ＭＳ Ｐゴシック" pitchFamily="-106" charset="-128"/>
                <a:cs typeface="ＭＳ Ｐゴシック" pitchFamily="-106" charset="-128"/>
              </a:rPr>
              <a:t>.”” 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(</a:t>
            </a:r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Romans 1:17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63F511-FBD5-9228-9615-DD610075DFF2}"/>
              </a:ext>
            </a:extLst>
          </p:cNvPr>
          <p:cNvSpPr txBox="1"/>
          <p:nvPr/>
        </p:nvSpPr>
        <p:spPr>
          <a:xfrm>
            <a:off x="230876" y="2590800"/>
            <a:ext cx="858882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Faithful Obedience</a:t>
            </a:r>
            <a:endParaRPr lang="en-US" sz="2000" dirty="0"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This may come closest to Habakkuk’s original meaning.</a:t>
            </a:r>
          </a:p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faithfulness</a:t>
            </a:r>
          </a:p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fidelity</a:t>
            </a:r>
          </a:p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steadfast loyalty</a:t>
            </a:r>
          </a:p>
          <a:p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The Just shall live by a believing loyalty.</a:t>
            </a:r>
          </a:p>
          <a:p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Habakkuk’s contrast is between:</a:t>
            </a:r>
          </a:p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the proud soul</a:t>
            </a:r>
          </a:p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the faithful soul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The proud man follows himself.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The righteous man follows God.</a:t>
            </a:r>
          </a:p>
          <a:p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Thus, faith and obedience are not two separate categories.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They are two perspectives on the same reality.</a:t>
            </a:r>
          </a:p>
        </p:txBody>
      </p:sp>
    </p:spTree>
    <p:extLst>
      <p:ext uri="{BB962C8B-B14F-4D97-AF65-F5344CB8AC3E}">
        <p14:creationId xmlns:p14="http://schemas.microsoft.com/office/powerpoint/2010/main" val="3266817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4A22E-3199-4F79-F908-54612F6C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D9C13-0F42-0075-4FA9-34FA90F4D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8915400" cy="9144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The Just Shall Live by Faith</a:t>
            </a:r>
            <a:br>
              <a:rPr lang="en-US" dirty="0"/>
            </a:b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God’s Reconsidering Romans 12-16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CE76E4-034A-1585-9B66-8AF52ECCE68F}"/>
              </a:ext>
            </a:extLst>
          </p:cNvPr>
          <p:cNvSpPr txBox="1"/>
          <p:nvPr/>
        </p:nvSpPr>
        <p:spPr>
          <a:xfrm>
            <a:off x="228599" y="1072243"/>
            <a:ext cx="86650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Instead of asking: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What does faith produce?</a:t>
            </a:r>
          </a:p>
          <a:p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Paul may be asking: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What does faith look like when lived?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9FFEAE-45A1-B2A6-190D-42F64F59F456}"/>
              </a:ext>
            </a:extLst>
          </p:cNvPr>
          <p:cNvSpPr txBox="1"/>
          <p:nvPr/>
        </p:nvSpPr>
        <p:spPr>
          <a:xfrm>
            <a:off x="250370" y="2482768"/>
            <a:ext cx="85888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Romans 12</a:t>
            </a:r>
            <a:endParaRPr lang="en-US" sz="2000" dirty="0"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 presents itself as a living sacrifice.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 serves.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 loves.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 blesses enemies.</a:t>
            </a:r>
          </a:p>
          <a:p>
            <a:r>
              <a:rPr lang="en-US" sz="2000" i="1" dirty="0">
                <a:ea typeface="ＭＳ Ｐゴシック" pitchFamily="-106" charset="-128"/>
                <a:cs typeface="ＭＳ Ｐゴシック" pitchFamily="-106" charset="-128"/>
              </a:rPr>
              <a:t>These are not additions to faith.  They are faith embodied.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22A206-757B-E36B-FC63-C28702219C7A}"/>
              </a:ext>
            </a:extLst>
          </p:cNvPr>
          <p:cNvSpPr txBox="1"/>
          <p:nvPr/>
        </p:nvSpPr>
        <p:spPr>
          <a:xfrm>
            <a:off x="228598" y="4508846"/>
            <a:ext cx="86650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Romans 13</a:t>
            </a:r>
            <a:endParaRPr lang="en-US" sz="2000" dirty="0"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 submits to God’s ordained authority.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 pays its obligations.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 loves its neighbor.</a:t>
            </a:r>
          </a:p>
          <a:p>
            <a:r>
              <a:rPr lang="en-US" sz="2000" i="1" dirty="0">
                <a:ea typeface="ＭＳ Ｐゴシック" pitchFamily="-106" charset="-128"/>
                <a:cs typeface="ＭＳ Ｐゴシック" pitchFamily="-106" charset="-128"/>
              </a:rPr>
              <a:t>Again, this is not faith plus obedience.  This is faith expressing its true nature.</a:t>
            </a:r>
          </a:p>
        </p:txBody>
      </p:sp>
    </p:spTree>
    <p:extLst>
      <p:ext uri="{BB962C8B-B14F-4D97-AF65-F5344CB8AC3E}">
        <p14:creationId xmlns:p14="http://schemas.microsoft.com/office/powerpoint/2010/main" val="301098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D8670-4F8A-8907-9DB7-F2FBD90E7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A0D54-04E8-17BB-0285-47FB2D3FD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8915400" cy="9144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The Just Shall Live by Faith</a:t>
            </a:r>
            <a:br>
              <a:rPr lang="en-US" dirty="0"/>
            </a:b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God’s Reconsidering Romans 12-16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043960-D9B6-5D92-3177-E1F6291C3AE7}"/>
              </a:ext>
            </a:extLst>
          </p:cNvPr>
          <p:cNvSpPr txBox="1"/>
          <p:nvPr/>
        </p:nvSpPr>
        <p:spPr>
          <a:xfrm>
            <a:off x="244928" y="1143000"/>
            <a:ext cx="85888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Romans 14</a:t>
            </a:r>
            <a:endParaRPr lang="en-US" sz="2000" dirty="0"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 respects conscience.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 refuses to judge fellow servants of God.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 trusts God enough to leave judgment in His hands.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C1BC1-60C1-D3B3-021A-45A9140A614F}"/>
              </a:ext>
            </a:extLst>
          </p:cNvPr>
          <p:cNvSpPr txBox="1"/>
          <p:nvPr/>
        </p:nvSpPr>
        <p:spPr>
          <a:xfrm>
            <a:off x="244928" y="2695039"/>
            <a:ext cx="85888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Romans 15</a:t>
            </a:r>
            <a:endParaRPr lang="en-US" sz="2000" dirty="0"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 bears the weak.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 sacrifices personal rights.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 seeks unity.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73C859-1157-C833-935C-C8E846F61054}"/>
              </a:ext>
            </a:extLst>
          </p:cNvPr>
          <p:cNvSpPr txBox="1"/>
          <p:nvPr/>
        </p:nvSpPr>
        <p:spPr>
          <a:xfrm>
            <a:off x="277585" y="4247078"/>
            <a:ext cx="86650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Romans 16</a:t>
            </a:r>
            <a:endParaRPr lang="en-US" sz="2000" dirty="0"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 remains loyal to apostolic truth.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 recognizes faithful laborers.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 rejects false teaching.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C0924C-F4EC-595D-F32E-4A5CB60D9458}"/>
              </a:ext>
            </a:extLst>
          </p:cNvPr>
          <p:cNvSpPr txBox="1"/>
          <p:nvPr/>
        </p:nvSpPr>
        <p:spPr>
          <a:xfrm>
            <a:off x="277585" y="5799117"/>
            <a:ext cx="85235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ea typeface="ＭＳ Ｐゴシック" pitchFamily="-106" charset="-128"/>
                <a:cs typeface="ＭＳ Ｐゴシック" pitchFamily="-106" charset="-128"/>
              </a:rPr>
              <a:t>Romans 12-16 </a:t>
            </a:r>
            <a:r>
              <a:rPr lang="en-US" sz="2000" i="1" dirty="0">
                <a:ea typeface="ＭＳ Ｐゴシック" pitchFamily="-106" charset="-128"/>
                <a:cs typeface="ＭＳ Ｐゴシック" pitchFamily="-106" charset="-128"/>
              </a:rPr>
              <a:t>is not merely a list of consequences that happen after faith.  </a:t>
            </a:r>
            <a:r>
              <a:rPr lang="en-US" sz="2000" b="1" i="1" dirty="0">
                <a:ea typeface="ＭＳ Ｐゴシック" pitchFamily="-106" charset="-128"/>
                <a:cs typeface="ＭＳ Ｐゴシック" pitchFamily="-106" charset="-128"/>
              </a:rPr>
              <a:t>It is a description of faith itself in action.</a:t>
            </a:r>
            <a:endParaRPr lang="en-US" sz="2000" b="1" i="1" dirty="0"/>
          </a:p>
        </p:txBody>
      </p:sp>
    </p:spTree>
    <p:extLst>
      <p:ext uri="{BB962C8B-B14F-4D97-AF65-F5344CB8AC3E}">
        <p14:creationId xmlns:p14="http://schemas.microsoft.com/office/powerpoint/2010/main" val="94958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67B33-969C-BF08-CDB1-D3172462E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497B3-80F3-ECA2-4217-03E52C3F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8915400" cy="9144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The Obedience of Faith</a:t>
            </a:r>
            <a:br>
              <a:rPr lang="en-US" dirty="0"/>
            </a:b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Israel’s Failure Revisited (Romans 9-11)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C26496-014A-4F2C-A192-168BD0B56FD8}"/>
              </a:ext>
            </a:extLst>
          </p:cNvPr>
          <p:cNvSpPr txBox="1"/>
          <p:nvPr/>
        </p:nvSpPr>
        <p:spPr>
          <a:xfrm>
            <a:off x="154577" y="1066800"/>
            <a:ext cx="86650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Many readers frame the issue as: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Israel pursued </a:t>
            </a:r>
            <a:r>
              <a:rPr lang="en-US" sz="2000" u="sng" dirty="0">
                <a:ea typeface="ＭＳ Ｐゴシック" pitchFamily="-106" charset="-128"/>
                <a:cs typeface="ＭＳ Ｐゴシック" pitchFamily="-106" charset="-128"/>
              </a:rPr>
              <a:t>works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.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Gentiles pursued </a:t>
            </a:r>
            <a:r>
              <a:rPr lang="en-US" sz="2000" u="sng" dirty="0">
                <a:ea typeface="ＭＳ Ｐゴシック" pitchFamily="-106" charset="-128"/>
                <a:cs typeface="ＭＳ Ｐゴシック" pitchFamily="-106" charset="-128"/>
              </a:rPr>
              <a:t>faith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.</a:t>
            </a:r>
          </a:p>
          <a:p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Paul’s point seems deeper.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Israel often sought covenant blessing while resisting God’s word.</a:t>
            </a:r>
          </a:p>
          <a:p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Consider </a:t>
            </a:r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Romans 10:16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i="1" dirty="0">
                <a:ea typeface="ＭＳ Ｐゴシック" pitchFamily="-106" charset="-128"/>
                <a:cs typeface="ＭＳ Ｐゴシック" pitchFamily="-106" charset="-128"/>
              </a:rPr>
              <a:t>“But not all have </a:t>
            </a:r>
            <a:r>
              <a:rPr lang="en-US" sz="2000" i="1" u="sng" dirty="0">
                <a:ea typeface="ＭＳ Ｐゴシック" pitchFamily="-106" charset="-128"/>
                <a:cs typeface="ＭＳ Ｐゴシック" pitchFamily="-106" charset="-128"/>
              </a:rPr>
              <a:t>obeyed</a:t>
            </a:r>
            <a:r>
              <a:rPr lang="en-US" sz="2000" i="1" dirty="0">
                <a:ea typeface="ＭＳ Ｐゴシック" pitchFamily="-106" charset="-128"/>
                <a:cs typeface="ＭＳ Ｐゴシック" pitchFamily="-106" charset="-128"/>
              </a:rPr>
              <a:t> the good news.”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17B2B-4072-2893-DEA2-F5B27DB3EC9A}"/>
              </a:ext>
            </a:extLst>
          </p:cNvPr>
          <p:cNvSpPr txBox="1"/>
          <p:nvPr/>
        </p:nvSpPr>
        <p:spPr>
          <a:xfrm>
            <a:off x="230778" y="3549875"/>
            <a:ext cx="85888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Again, Paul equates </a:t>
            </a:r>
            <a:r>
              <a:rPr lang="en-US" sz="2000" u="sng" dirty="0">
                <a:ea typeface="ＭＳ Ｐゴシック" pitchFamily="-106" charset="-128"/>
                <a:cs typeface="ＭＳ Ｐゴシック" pitchFamily="-106" charset="-128"/>
              </a:rPr>
              <a:t>believing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 and </a:t>
            </a:r>
            <a:r>
              <a:rPr lang="en-US" sz="2000" u="sng" dirty="0">
                <a:ea typeface="ＭＳ Ｐゴシック" pitchFamily="-106" charset="-128"/>
                <a:cs typeface="ＭＳ Ｐゴシック" pitchFamily="-106" charset="-128"/>
              </a:rPr>
              <a:t>obeying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The fundamental issue was not merely a lack of intellectual faith.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It was a refusal to submit to God’s righteousness.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i="1" dirty="0">
                <a:ea typeface="ＭＳ Ｐゴシック" pitchFamily="-106" charset="-128"/>
                <a:cs typeface="ＭＳ Ｐゴシック" pitchFamily="-106" charset="-128"/>
              </a:rPr>
              <a:t>“For ignoring the righteousness that comes from God, and seeking instead to establish their own righteousness, they did not </a:t>
            </a:r>
            <a:r>
              <a:rPr lang="en-US" sz="2000" b="1" i="1" u="sng" dirty="0">
                <a:ea typeface="ＭＳ Ｐゴシック" pitchFamily="-106" charset="-128"/>
                <a:cs typeface="ＭＳ Ｐゴシック" pitchFamily="-106" charset="-128"/>
              </a:rPr>
              <a:t>submit</a:t>
            </a:r>
            <a:r>
              <a:rPr lang="en-US" sz="2000" i="1" dirty="0">
                <a:ea typeface="ＭＳ Ｐゴシック" pitchFamily="-106" charset="-128"/>
                <a:cs typeface="ＭＳ Ｐゴシック" pitchFamily="-106" charset="-128"/>
              </a:rPr>
              <a:t> to God’s righteousness.” 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(</a:t>
            </a:r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Romans 10:3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2800" b="1" dirty="0">
                <a:ea typeface="ＭＳ Ｐゴシック" pitchFamily="-106" charset="-128"/>
                <a:cs typeface="ＭＳ Ｐゴシック" pitchFamily="-106" charset="-128"/>
              </a:rPr>
              <a:t>What is the opposite of faith?  Unbelief?  No…</a:t>
            </a:r>
          </a:p>
        </p:txBody>
      </p:sp>
    </p:spTree>
    <p:extLst>
      <p:ext uri="{BB962C8B-B14F-4D97-AF65-F5344CB8AC3E}">
        <p14:creationId xmlns:p14="http://schemas.microsoft.com/office/powerpoint/2010/main" val="295450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A8BF5-8FDA-E66C-A070-3F5FE063A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89CFA-D825-7F40-2241-A36826D6F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8915400" cy="9144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The Obedience of Faith</a:t>
            </a:r>
            <a:br>
              <a:rPr lang="en-US" dirty="0"/>
            </a:b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God’s Romans, Galatians, and Hebrews Revisited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5E5F0-E23D-5AAF-CF3A-F81D299CCB72}"/>
              </a:ext>
            </a:extLst>
          </p:cNvPr>
          <p:cNvSpPr txBox="1"/>
          <p:nvPr/>
        </p:nvSpPr>
        <p:spPr>
          <a:xfrm>
            <a:off x="154577" y="1066800"/>
            <a:ext cx="89132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With “</a:t>
            </a:r>
            <a:r>
              <a:rPr lang="en-US" sz="2000" i="1" dirty="0">
                <a:ea typeface="ＭＳ Ｐゴシック" pitchFamily="-106" charset="-128"/>
                <a:cs typeface="ＭＳ Ｐゴシック" pitchFamily="-106" charset="-128"/>
              </a:rPr>
              <a:t>the obedience of faith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” in view, the three books become even more unified.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EB2106-582F-977C-4A32-4BA43BCCF340}"/>
              </a:ext>
            </a:extLst>
          </p:cNvPr>
          <p:cNvSpPr txBox="1"/>
          <p:nvPr/>
        </p:nvSpPr>
        <p:spPr>
          <a:xfrm>
            <a:off x="163286" y="1785572"/>
            <a:ext cx="89045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Romans</a:t>
            </a:r>
            <a:endParaRPr lang="en-US" sz="2000" dirty="0"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Who are the righteous?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Those who have submitted to God’s righteousness through faithful trust.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FE85C4-F03B-9E6D-67D0-F2CBE8DBF096}"/>
              </a:ext>
            </a:extLst>
          </p:cNvPr>
          <p:cNvSpPr txBox="1"/>
          <p:nvPr/>
        </p:nvSpPr>
        <p:spPr>
          <a:xfrm>
            <a:off x="152400" y="2940479"/>
            <a:ext cx="85888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Galatians</a:t>
            </a:r>
            <a:endParaRPr lang="en-US" sz="2000" dirty="0"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What is obedient faith?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Not merely belief.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 working through love (</a:t>
            </a:r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Galatians 5:6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Faithful allegiance to Christ rather than reliance on fleshly achievement.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19F7D9-9CBE-4C2C-5298-2085AB4ED93B}"/>
              </a:ext>
            </a:extLst>
          </p:cNvPr>
          <p:cNvSpPr txBox="1"/>
          <p:nvPr/>
        </p:nvSpPr>
        <p:spPr>
          <a:xfrm>
            <a:off x="152400" y="4710939"/>
            <a:ext cx="85888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Hebrews</a:t>
            </a:r>
            <a:endParaRPr lang="en-US" sz="2000" dirty="0"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What does it mean to live by faith?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Persevering loyalty.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The heroes of </a:t>
            </a:r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Hebrews 11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 did not merely hold correct beliefs.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They obeyed.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Their faith was visible because it acted.</a:t>
            </a:r>
          </a:p>
        </p:txBody>
      </p:sp>
    </p:spTree>
    <p:extLst>
      <p:ext uri="{BB962C8B-B14F-4D97-AF65-F5344CB8AC3E}">
        <p14:creationId xmlns:p14="http://schemas.microsoft.com/office/powerpoint/2010/main" val="209768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7BF3B-427A-EEC9-A5A6-9D9959FE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B883A-9558-88F1-1310-670C2A4D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8915400" cy="9144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Conclusion</a:t>
            </a:r>
            <a:br>
              <a:rPr lang="en-US" dirty="0"/>
            </a:b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God’s Purposes Will not Fail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DCF5E-70EF-D490-D94B-8260FDC0EE3C}"/>
              </a:ext>
            </a:extLst>
          </p:cNvPr>
          <p:cNvSpPr txBox="1"/>
          <p:nvPr/>
        </p:nvSpPr>
        <p:spPr>
          <a:xfrm>
            <a:off x="154577" y="1066800"/>
            <a:ext cx="866502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If Romans is framed by “</a:t>
            </a:r>
            <a:r>
              <a:rPr lang="en-US" sz="2000" i="1" dirty="0">
                <a:ea typeface="ＭＳ Ｐゴシック" pitchFamily="-106" charset="-128"/>
                <a:cs typeface="ＭＳ Ｐゴシック" pitchFamily="-106" charset="-128"/>
              </a:rPr>
              <a:t>the obedience of faith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” (</a:t>
            </a:r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1:5; 16:26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), then </a:t>
            </a:r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Romans 12-16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 should not primarily be viewed as a section on works that follow faith.</a:t>
            </a:r>
          </a:p>
          <a:p>
            <a:endParaRPr lang="en-US" sz="2000" dirty="0"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Rather, it is Paul’s portrait of what faith actually 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The faith that justifies is not mere mental assent.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It is trusting submission to God.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It is believing allegiance to Christ.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It is the kind of faith that offers the body as a living sacrifice, loves enemies, submits to God-ordained authority, serves fellow believers, bears the weak, preserves unity, and remains faithful to the gospel.</a:t>
            </a:r>
          </a:p>
          <a:p>
            <a:endParaRPr lang="en-US" sz="2000" dirty="0"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In that sense, </a:t>
            </a:r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Habakkuk 2:4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, </a:t>
            </a:r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Romans 1:5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, and </a:t>
            </a:r>
            <a:r>
              <a:rPr lang="en-US" sz="2000" b="1" dirty="0">
                <a:ea typeface="ＭＳ Ｐゴシック" pitchFamily="-106" charset="-128"/>
                <a:cs typeface="ＭＳ Ｐゴシック" pitchFamily="-106" charset="-128"/>
              </a:rPr>
              <a:t>Romans 12-16 </a:t>
            </a:r>
            <a:r>
              <a:rPr lang="en-US" sz="2000" dirty="0">
                <a:ea typeface="ＭＳ Ｐゴシック" pitchFamily="-106" charset="-128"/>
                <a:cs typeface="ＭＳ Ｐゴシック" pitchFamily="-106" charset="-128"/>
              </a:rPr>
              <a:t>all converge on a single idea:</a:t>
            </a:r>
          </a:p>
          <a:p>
            <a:endParaRPr lang="en-US" sz="2000" dirty="0">
              <a:ea typeface="ＭＳ Ｐゴシック" pitchFamily="-106" charset="-128"/>
              <a:cs typeface="ＭＳ Ｐゴシック" pitchFamily="-106" charset="-128"/>
            </a:endParaRPr>
          </a:p>
          <a:p>
            <a:r>
              <a:rPr lang="en-US" sz="2000" b="1" i="1" dirty="0">
                <a:ea typeface="ＭＳ Ｐゴシック" pitchFamily="-106" charset="-128"/>
                <a:cs typeface="ＭＳ Ｐゴシック" pitchFamily="-106" charset="-128"/>
              </a:rPr>
              <a:t>The righteous person lives by a faith that obeys because it trusts, and trusts because it has surrendered itself to God. Faith and obedience are not rivals in Paul’s thought; they are inseparable expressions of covenant loyalty to the God who saves.</a:t>
            </a:r>
          </a:p>
        </p:txBody>
      </p:sp>
    </p:spTree>
    <p:extLst>
      <p:ext uri="{BB962C8B-B14F-4D97-AF65-F5344CB8AC3E}">
        <p14:creationId xmlns:p14="http://schemas.microsoft.com/office/powerpoint/2010/main" val="91696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_Template_2010SummerSchoo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UPCRC_Powerpoint_Template_with I-Mar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PPT_Template_2010SummerSchool</Template>
  <TotalTime>22270</TotalTime>
  <Words>2200</Words>
  <Application>Microsoft Macintosh PowerPoint</Application>
  <PresentationFormat>On-screen Show (4:3)</PresentationFormat>
  <Paragraphs>306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ＭＳ Ｐゴシック</vt:lpstr>
      <vt:lpstr>Arial</vt:lpstr>
      <vt:lpstr>Arial Narrow</vt:lpstr>
      <vt:lpstr>Calibri</vt:lpstr>
      <vt:lpstr>PPT_Template_2010SummerSchool</vt:lpstr>
      <vt:lpstr>1_UPCRC_Powerpoint_Template_with I-Mark</vt:lpstr>
      <vt:lpstr>Romans</vt:lpstr>
      <vt:lpstr>PowerPoint Presentation</vt:lpstr>
      <vt:lpstr>Purposes of the Gospel The Obedience of Faith </vt:lpstr>
      <vt:lpstr>The Just Shall Live by Faith Reconsidering Habakkuk 2:4</vt:lpstr>
      <vt:lpstr>The Just Shall Live by Faith God’s Reconsidering Romans 12-16</vt:lpstr>
      <vt:lpstr>The Just Shall Live by Faith God’s Reconsidering Romans 12-16</vt:lpstr>
      <vt:lpstr>The Obedience of Faith Israel’s Failure Revisited (Romans 9-11)</vt:lpstr>
      <vt:lpstr>The Obedience of Faith God’s Romans, Galatians, and Hebrews Revisited</vt:lpstr>
      <vt:lpstr>Conclusion God’s Purposes Will not Fail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 Pennington</dc:creator>
  <cp:lastModifiedBy>Phil Pennington</cp:lastModifiedBy>
  <cp:revision>853</cp:revision>
  <cp:lastPrinted>2012-04-01T14:05:10Z</cp:lastPrinted>
  <dcterms:created xsi:type="dcterms:W3CDTF">2010-06-16T02:58:04Z</dcterms:created>
  <dcterms:modified xsi:type="dcterms:W3CDTF">2026-06-28T12:26:15Z</dcterms:modified>
</cp:coreProperties>
</file>