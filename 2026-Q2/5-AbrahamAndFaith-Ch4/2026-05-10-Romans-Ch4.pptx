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4068" r:id="rId1"/>
    <p:sldMasterId id="2147484131" r:id="rId2"/>
  </p:sldMasterIdLst>
  <p:notesMasterIdLst>
    <p:notesMasterId r:id="rId14"/>
  </p:notesMasterIdLst>
  <p:sldIdLst>
    <p:sldId id="256" r:id="rId3"/>
    <p:sldId id="355" r:id="rId4"/>
    <p:sldId id="562" r:id="rId5"/>
    <p:sldId id="564" r:id="rId6"/>
    <p:sldId id="336" r:id="rId7"/>
    <p:sldId id="556" r:id="rId8"/>
    <p:sldId id="558" r:id="rId9"/>
    <p:sldId id="559" r:id="rId10"/>
    <p:sldId id="560" r:id="rId11"/>
    <p:sldId id="561" r:id="rId12"/>
    <p:sldId id="551" r:id="rId13"/>
  </p:sldIdLst>
  <p:sldSz cx="9144000" cy="6858000" type="screen4x3"/>
  <p:notesSz cx="7315200" cy="12344400"/>
  <p:defaultTextStyle>
    <a:defPPr>
      <a:defRPr lang="en-US"/>
    </a:defPPr>
    <a:lvl1pPr algn="l" rtl="0" fontAlgn="base">
      <a:spcBef>
        <a:spcPct val="0"/>
      </a:spcBef>
      <a:spcAft>
        <a:spcPct val="0"/>
      </a:spcAft>
      <a:defRPr kern="1200">
        <a:solidFill>
          <a:schemeClr val="tx1"/>
        </a:solidFill>
        <a:latin typeface="Arial" charset="0"/>
        <a:ea typeface="ＭＳ Ｐゴシック" pitchFamily="34" charset="-128"/>
        <a:cs typeface="+mn-cs"/>
      </a:defRPr>
    </a:lvl1pPr>
    <a:lvl2pPr marL="457200" algn="l" rtl="0" fontAlgn="base">
      <a:spcBef>
        <a:spcPct val="0"/>
      </a:spcBef>
      <a:spcAft>
        <a:spcPct val="0"/>
      </a:spcAft>
      <a:defRPr kern="1200">
        <a:solidFill>
          <a:schemeClr val="tx1"/>
        </a:solidFill>
        <a:latin typeface="Arial" charset="0"/>
        <a:ea typeface="ＭＳ Ｐゴシック" pitchFamily="34" charset="-128"/>
        <a:cs typeface="+mn-cs"/>
      </a:defRPr>
    </a:lvl2pPr>
    <a:lvl3pPr marL="914400" algn="l" rtl="0" fontAlgn="base">
      <a:spcBef>
        <a:spcPct val="0"/>
      </a:spcBef>
      <a:spcAft>
        <a:spcPct val="0"/>
      </a:spcAft>
      <a:defRPr kern="1200">
        <a:solidFill>
          <a:schemeClr val="tx1"/>
        </a:solidFill>
        <a:latin typeface="Arial" charset="0"/>
        <a:ea typeface="ＭＳ Ｐゴシック" pitchFamily="34" charset="-128"/>
        <a:cs typeface="+mn-cs"/>
      </a:defRPr>
    </a:lvl3pPr>
    <a:lvl4pPr marL="1371600" algn="l" rtl="0" fontAlgn="base">
      <a:spcBef>
        <a:spcPct val="0"/>
      </a:spcBef>
      <a:spcAft>
        <a:spcPct val="0"/>
      </a:spcAft>
      <a:defRPr kern="1200">
        <a:solidFill>
          <a:schemeClr val="tx1"/>
        </a:solidFill>
        <a:latin typeface="Arial" charset="0"/>
        <a:ea typeface="ＭＳ Ｐゴシック" pitchFamily="34" charset="-128"/>
        <a:cs typeface="+mn-cs"/>
      </a:defRPr>
    </a:lvl4pPr>
    <a:lvl5pPr marL="1828800" algn="l" rtl="0" fontAlgn="base">
      <a:spcBef>
        <a:spcPct val="0"/>
      </a:spcBef>
      <a:spcAft>
        <a:spcPct val="0"/>
      </a:spcAft>
      <a:defRPr kern="1200">
        <a:solidFill>
          <a:schemeClr val="tx1"/>
        </a:solidFill>
        <a:latin typeface="Arial" charset="0"/>
        <a:ea typeface="ＭＳ Ｐゴシック" pitchFamily="34" charset="-128"/>
        <a:cs typeface="+mn-cs"/>
      </a:defRPr>
    </a:lvl5pPr>
    <a:lvl6pPr marL="2286000" algn="l" defTabSz="914400" rtl="0" eaLnBrk="1" latinLnBrk="0" hangingPunct="1">
      <a:defRPr kern="1200">
        <a:solidFill>
          <a:schemeClr val="tx1"/>
        </a:solidFill>
        <a:latin typeface="Arial" charset="0"/>
        <a:ea typeface="ＭＳ Ｐゴシック" pitchFamily="34" charset="-128"/>
        <a:cs typeface="+mn-cs"/>
      </a:defRPr>
    </a:lvl6pPr>
    <a:lvl7pPr marL="2743200" algn="l" defTabSz="914400" rtl="0" eaLnBrk="1" latinLnBrk="0" hangingPunct="1">
      <a:defRPr kern="1200">
        <a:solidFill>
          <a:schemeClr val="tx1"/>
        </a:solidFill>
        <a:latin typeface="Arial" charset="0"/>
        <a:ea typeface="ＭＳ Ｐゴシック" pitchFamily="34" charset="-128"/>
        <a:cs typeface="+mn-cs"/>
      </a:defRPr>
    </a:lvl7pPr>
    <a:lvl8pPr marL="3200400" algn="l" defTabSz="914400" rtl="0" eaLnBrk="1" latinLnBrk="0" hangingPunct="1">
      <a:defRPr kern="1200">
        <a:solidFill>
          <a:schemeClr val="tx1"/>
        </a:solidFill>
        <a:latin typeface="Arial" charset="0"/>
        <a:ea typeface="ＭＳ Ｐゴシック" pitchFamily="34" charset="-128"/>
        <a:cs typeface="+mn-cs"/>
      </a:defRPr>
    </a:lvl8pPr>
    <a:lvl9pPr marL="3657600" algn="l" defTabSz="914400" rtl="0" eaLnBrk="1" latinLnBrk="0" hangingPunct="1">
      <a:defRPr kern="1200">
        <a:solidFill>
          <a:schemeClr val="tx1"/>
        </a:solidFill>
        <a:latin typeface="Arial" charset="0"/>
        <a:ea typeface="ＭＳ Ｐゴシック" pitchFamily="34" charset="-128"/>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3C2FFA5D-87B4-456A-9821-1D502468CF0F}" styleName="Themed Style 1 - Accent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46F890A9-2807-4EBB-B81D-B2AA78EC7F39}" styleName="Dark Style 2 - Accent 5/Accent 6">
    <a:wholeTbl>
      <a:tcTxStyle>
        <a:fontRef idx="minor">
          <a:scrgbClr r="0" g="0" b="0"/>
        </a:fontRef>
        <a:schemeClr val="dk1"/>
      </a:tcTxStyle>
      <a:tcStyle>
        <a:tcBdr>
          <a:left>
            <a:ln>
              <a:noFill/>
            </a:ln>
          </a:left>
          <a:right>
            <a:ln>
              <a:noFill/>
            </a:ln>
          </a:right>
          <a:top>
            <a:ln>
              <a:noFill/>
            </a:ln>
          </a:top>
          <a:bottom>
            <a:ln>
              <a:noFill/>
            </a:ln>
          </a:bottom>
          <a:insideH>
            <a:ln>
              <a:noFill/>
            </a:ln>
          </a:insideH>
          <a:insideV>
            <a:ln>
              <a:noFill/>
            </a:ln>
          </a:insideV>
        </a:tcBdr>
        <a:fill>
          <a:solidFill>
            <a:schemeClr val="accent5">
              <a:tint val="20000"/>
            </a:schemeClr>
          </a:solidFill>
        </a:fill>
      </a:tcStyle>
    </a:wholeTbl>
    <a:band1H>
      <a:tcStyle>
        <a:tcBdr/>
        <a:fill>
          <a:solidFill>
            <a:schemeClr val="accent5">
              <a:tint val="40000"/>
            </a:schemeClr>
          </a:solidFill>
        </a:fill>
      </a:tcStyle>
    </a:band1H>
    <a:band1V>
      <a:tcStyle>
        <a:tcBdr/>
        <a:fill>
          <a:solidFill>
            <a:schemeClr val="accent5">
              <a:tint val="4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accent5">
              <a:tint val="20000"/>
            </a:schemeClr>
          </a:solidFill>
        </a:fill>
      </a:tcStyle>
    </a:lastRow>
    <a:firstRow>
      <a:tcTxStyle b="on">
        <a:fontRef idx="minor">
          <a:scrgbClr r="0" g="0" b="0"/>
        </a:fontRef>
        <a:schemeClr val="lt1"/>
      </a:tcTxStyle>
      <a:tcStyle>
        <a:tcBdr/>
        <a:fill>
          <a:solidFill>
            <a:schemeClr val="accent6"/>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vertBarState="maximized">
    <p:restoredLeft sz="15230" autoAdjust="0"/>
    <p:restoredTop sz="71627" autoAdjust="0"/>
  </p:normalViewPr>
  <p:slideViewPr>
    <p:cSldViewPr>
      <p:cViewPr varScale="1">
        <p:scale>
          <a:sx n="104" d="100"/>
          <a:sy n="104" d="100"/>
        </p:scale>
        <p:origin x="396" y="96"/>
      </p:cViewPr>
      <p:guideLst>
        <p:guide orient="horz" pos="2160"/>
        <p:guide pos="2880"/>
      </p:guideLst>
    </p:cSldViewPr>
  </p:slideViewPr>
  <p:notesTextViewPr>
    <p:cViewPr>
      <p:scale>
        <a:sx n="1" d="1"/>
        <a:sy n="1" d="1"/>
      </p:scale>
      <p:origin x="0" y="0"/>
    </p:cViewPr>
  </p:notesTextViewPr>
  <p:sorterViewPr>
    <p:cViewPr>
      <p:scale>
        <a:sx n="100" d="100"/>
        <a:sy n="100" d="100"/>
      </p:scale>
      <p:origin x="0" y="0"/>
    </p:cViewPr>
  </p:sorter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6.xml"/><Relationship Id="rId13" Type="http://schemas.openxmlformats.org/officeDocument/2006/relationships/slide" Target="slides/slide11.xml"/><Relationship Id="rId18" Type="http://schemas.openxmlformats.org/officeDocument/2006/relationships/tableStyles" Target="tableStyles.xml"/><Relationship Id="rId3" Type="http://schemas.openxmlformats.org/officeDocument/2006/relationships/slide" Target="slides/slide1.xml"/><Relationship Id="rId7" Type="http://schemas.openxmlformats.org/officeDocument/2006/relationships/slide" Target="slides/slide5.xml"/><Relationship Id="rId12" Type="http://schemas.openxmlformats.org/officeDocument/2006/relationships/slide" Target="slides/slide10.xml"/><Relationship Id="rId17" Type="http://schemas.openxmlformats.org/officeDocument/2006/relationships/theme" Target="theme/theme1.xml"/><Relationship Id="rId2" Type="http://schemas.openxmlformats.org/officeDocument/2006/relationships/slideMaster" Target="slideMasters/slideMaster2.xml"/><Relationship Id="rId16"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4.xml"/><Relationship Id="rId11" Type="http://schemas.openxmlformats.org/officeDocument/2006/relationships/slide" Target="slides/slide9.xml"/><Relationship Id="rId5" Type="http://schemas.openxmlformats.org/officeDocument/2006/relationships/slide" Target="slides/slide3.xml"/><Relationship Id="rId15" Type="http://schemas.openxmlformats.org/officeDocument/2006/relationships/presProps" Target="presProps.xml"/><Relationship Id="rId10" Type="http://schemas.openxmlformats.org/officeDocument/2006/relationships/slide" Target="slides/slide8.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4" y="1"/>
            <a:ext cx="3169921" cy="617220"/>
          </a:xfrm>
          <a:prstGeom prst="rect">
            <a:avLst/>
          </a:prstGeom>
        </p:spPr>
        <p:txBody>
          <a:bodyPr vert="horz" wrap="square" lIns="81036" tIns="40518" rIns="81036" bIns="40518" numCol="1" anchor="t" anchorCtr="0" compatLnSpc="1">
            <a:prstTxWarp prst="textNoShape">
              <a:avLst/>
            </a:prstTxWarp>
          </a:bodyPr>
          <a:lstStyle>
            <a:lvl1pPr>
              <a:defRPr sz="1000">
                <a:latin typeface="Arial" pitchFamily="34" charset="0"/>
                <a:ea typeface="ＭＳ Ｐゴシック" pitchFamily="-106" charset="-128"/>
              </a:defRPr>
            </a:lvl1pPr>
          </a:lstStyle>
          <a:p>
            <a:pPr>
              <a:defRPr/>
            </a:pPr>
            <a:endParaRPr lang="en-US"/>
          </a:p>
        </p:txBody>
      </p:sp>
      <p:sp>
        <p:nvSpPr>
          <p:cNvPr id="3" name="Date Placeholder 2"/>
          <p:cNvSpPr>
            <a:spLocks noGrp="1"/>
          </p:cNvSpPr>
          <p:nvPr>
            <p:ph type="dt" idx="1"/>
          </p:nvPr>
        </p:nvSpPr>
        <p:spPr>
          <a:xfrm>
            <a:off x="4143591" y="1"/>
            <a:ext cx="3169921" cy="617220"/>
          </a:xfrm>
          <a:prstGeom prst="rect">
            <a:avLst/>
          </a:prstGeom>
        </p:spPr>
        <p:txBody>
          <a:bodyPr vert="horz" wrap="square" lIns="81036" tIns="40518" rIns="81036" bIns="40518" numCol="1" anchor="t" anchorCtr="0" compatLnSpc="1">
            <a:prstTxWarp prst="textNoShape">
              <a:avLst/>
            </a:prstTxWarp>
          </a:bodyPr>
          <a:lstStyle>
            <a:lvl1pPr algn="r">
              <a:defRPr sz="1000">
                <a:latin typeface="Arial" pitchFamily="34" charset="0"/>
                <a:ea typeface="ＭＳ Ｐゴシック" pitchFamily="-106" charset="-128"/>
              </a:defRPr>
            </a:lvl1pPr>
          </a:lstStyle>
          <a:p>
            <a:pPr>
              <a:defRPr/>
            </a:pPr>
            <a:fld id="{37B93000-4848-40F5-8AEF-44DFB12065B3}" type="datetime1">
              <a:rPr lang="en-US"/>
              <a:pPr>
                <a:defRPr/>
              </a:pPr>
              <a:t>5/4/2026</a:t>
            </a:fld>
            <a:endParaRPr lang="en-US"/>
          </a:p>
        </p:txBody>
      </p:sp>
      <p:sp>
        <p:nvSpPr>
          <p:cNvPr id="4" name="Slide Image Placeholder 3"/>
          <p:cNvSpPr>
            <a:spLocks noGrp="1" noRot="1" noChangeAspect="1"/>
          </p:cNvSpPr>
          <p:nvPr>
            <p:ph type="sldImg" idx="2"/>
          </p:nvPr>
        </p:nvSpPr>
        <p:spPr>
          <a:xfrm>
            <a:off x="571500" y="927100"/>
            <a:ext cx="6172200" cy="4629150"/>
          </a:xfrm>
          <a:prstGeom prst="rect">
            <a:avLst/>
          </a:prstGeom>
          <a:noFill/>
          <a:ln w="12700">
            <a:solidFill>
              <a:prstClr val="black"/>
            </a:solidFill>
          </a:ln>
        </p:spPr>
        <p:txBody>
          <a:bodyPr vert="horz" wrap="square" lIns="81036" tIns="40518" rIns="81036" bIns="40518" numCol="1" anchor="ctr" anchorCtr="0" compatLnSpc="1">
            <a:prstTxWarp prst="textNoShape">
              <a:avLst/>
            </a:prstTxWarp>
          </a:bodyPr>
          <a:lstStyle/>
          <a:p>
            <a:pPr lvl="0"/>
            <a:endParaRPr lang="en-US" noProof="0"/>
          </a:p>
        </p:txBody>
      </p:sp>
      <p:sp>
        <p:nvSpPr>
          <p:cNvPr id="5" name="Notes Placeholder 4"/>
          <p:cNvSpPr>
            <a:spLocks noGrp="1"/>
          </p:cNvSpPr>
          <p:nvPr>
            <p:ph type="body" sz="quarter" idx="3"/>
          </p:nvPr>
        </p:nvSpPr>
        <p:spPr>
          <a:xfrm>
            <a:off x="731521" y="5863593"/>
            <a:ext cx="5852160" cy="5554980"/>
          </a:xfrm>
          <a:prstGeom prst="rect">
            <a:avLst/>
          </a:prstGeom>
        </p:spPr>
        <p:txBody>
          <a:bodyPr vert="horz" wrap="square" lIns="81036" tIns="40518" rIns="81036" bIns="40518" numCol="1" anchor="t" anchorCtr="0" compatLnSpc="1">
            <a:prstTxWarp prst="textNoShape">
              <a:avLst/>
            </a:prstTxWarp>
            <a:normAutofit/>
          </a:body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6" name="Footer Placeholder 5"/>
          <p:cNvSpPr>
            <a:spLocks noGrp="1"/>
          </p:cNvSpPr>
          <p:nvPr>
            <p:ph type="ftr" sz="quarter" idx="4"/>
          </p:nvPr>
        </p:nvSpPr>
        <p:spPr>
          <a:xfrm>
            <a:off x="4" y="11725039"/>
            <a:ext cx="3169921" cy="617220"/>
          </a:xfrm>
          <a:prstGeom prst="rect">
            <a:avLst/>
          </a:prstGeom>
        </p:spPr>
        <p:txBody>
          <a:bodyPr vert="horz" wrap="square" lIns="81036" tIns="40518" rIns="81036" bIns="40518" numCol="1" anchor="b" anchorCtr="0" compatLnSpc="1">
            <a:prstTxWarp prst="textNoShape">
              <a:avLst/>
            </a:prstTxWarp>
          </a:bodyPr>
          <a:lstStyle>
            <a:lvl1pPr>
              <a:defRPr sz="1000">
                <a:latin typeface="Arial" pitchFamily="34" charset="0"/>
                <a:ea typeface="ＭＳ Ｐゴシック" pitchFamily="-106" charset="-128"/>
              </a:defRPr>
            </a:lvl1pPr>
          </a:lstStyle>
          <a:p>
            <a:pPr>
              <a:defRPr/>
            </a:pPr>
            <a:endParaRPr lang="en-US"/>
          </a:p>
        </p:txBody>
      </p:sp>
      <p:sp>
        <p:nvSpPr>
          <p:cNvPr id="7" name="Slide Number Placeholder 6"/>
          <p:cNvSpPr>
            <a:spLocks noGrp="1"/>
          </p:cNvSpPr>
          <p:nvPr>
            <p:ph type="sldNum" sz="quarter" idx="5"/>
          </p:nvPr>
        </p:nvSpPr>
        <p:spPr>
          <a:xfrm>
            <a:off x="4143591" y="11725039"/>
            <a:ext cx="3169921" cy="617220"/>
          </a:xfrm>
          <a:prstGeom prst="rect">
            <a:avLst/>
          </a:prstGeom>
        </p:spPr>
        <p:txBody>
          <a:bodyPr vert="horz" wrap="square" lIns="81036" tIns="40518" rIns="81036" bIns="40518" numCol="1" anchor="b" anchorCtr="0" compatLnSpc="1">
            <a:prstTxWarp prst="textNoShape">
              <a:avLst/>
            </a:prstTxWarp>
          </a:bodyPr>
          <a:lstStyle>
            <a:lvl1pPr algn="r">
              <a:defRPr sz="1000">
                <a:latin typeface="Arial" pitchFamily="34" charset="0"/>
                <a:ea typeface="ＭＳ Ｐゴシック" pitchFamily="-106" charset="-128"/>
              </a:defRPr>
            </a:lvl1pPr>
          </a:lstStyle>
          <a:p>
            <a:pPr>
              <a:defRPr/>
            </a:pPr>
            <a:fld id="{07776858-791E-4C8D-8FA3-473B3AFECFAC}" type="slidenum">
              <a:rPr lang="en-US"/>
              <a:pPr>
                <a:defRPr/>
              </a:pPr>
              <a:t>‹#›</a:t>
            </a:fld>
            <a:endParaRPr lang="en-US"/>
          </a:p>
        </p:txBody>
      </p:sp>
    </p:spTree>
    <p:extLst>
      <p:ext uri="{BB962C8B-B14F-4D97-AF65-F5344CB8AC3E}">
        <p14:creationId xmlns:p14="http://schemas.microsoft.com/office/powerpoint/2010/main" val="4118375044"/>
      </p:ext>
    </p:extLst>
  </p:cSld>
  <p:clrMap bg1="lt1" tx1="dk1" bg2="lt2" tx2="dk2" accent1="accent1" accent2="accent2" accent3="accent3" accent4="accent4" accent5="accent5" accent6="accent6" hlink="hlink" folHlink="folHlink"/>
  <p:notesStyle>
    <a:lvl1pPr algn="l" rtl="0" eaLnBrk="0" fontAlgn="base" hangingPunct="0">
      <a:spcBef>
        <a:spcPct val="30000"/>
      </a:spcBef>
      <a:spcAft>
        <a:spcPct val="0"/>
      </a:spcAft>
      <a:defRPr sz="1200" kern="1200">
        <a:solidFill>
          <a:schemeClr val="tx1"/>
        </a:solidFill>
        <a:latin typeface="+mn-lt"/>
        <a:ea typeface="ＭＳ Ｐゴシック" pitchFamily="-106" charset="-128"/>
        <a:cs typeface="ＭＳ Ｐゴシック" pitchFamily="-106" charset="-128"/>
      </a:defRPr>
    </a:lvl1pPr>
    <a:lvl2pPr marL="457200" algn="l" rtl="0" eaLnBrk="0" fontAlgn="base" hangingPunct="0">
      <a:spcBef>
        <a:spcPct val="30000"/>
      </a:spcBef>
      <a:spcAft>
        <a:spcPct val="0"/>
      </a:spcAft>
      <a:defRPr sz="1200" kern="1200">
        <a:solidFill>
          <a:schemeClr val="tx1"/>
        </a:solidFill>
        <a:latin typeface="+mn-lt"/>
        <a:ea typeface="ＭＳ Ｐゴシック" pitchFamily="-106" charset="-128"/>
        <a:cs typeface="+mn-cs"/>
      </a:defRPr>
    </a:lvl2pPr>
    <a:lvl3pPr marL="914400" algn="l" rtl="0" eaLnBrk="0" fontAlgn="base" hangingPunct="0">
      <a:spcBef>
        <a:spcPct val="30000"/>
      </a:spcBef>
      <a:spcAft>
        <a:spcPct val="0"/>
      </a:spcAft>
      <a:defRPr sz="1200" kern="1200">
        <a:solidFill>
          <a:schemeClr val="tx1"/>
        </a:solidFill>
        <a:latin typeface="+mn-lt"/>
        <a:ea typeface="ＭＳ Ｐゴシック" pitchFamily="-106" charset="-128"/>
        <a:cs typeface="+mn-cs"/>
      </a:defRPr>
    </a:lvl3pPr>
    <a:lvl4pPr marL="1371600" algn="l" rtl="0" eaLnBrk="0" fontAlgn="base" hangingPunct="0">
      <a:spcBef>
        <a:spcPct val="30000"/>
      </a:spcBef>
      <a:spcAft>
        <a:spcPct val="0"/>
      </a:spcAft>
      <a:defRPr sz="1200" kern="1200">
        <a:solidFill>
          <a:schemeClr val="tx1"/>
        </a:solidFill>
        <a:latin typeface="+mn-lt"/>
        <a:ea typeface="ＭＳ Ｐゴシック" pitchFamily="-106" charset="-128"/>
        <a:cs typeface="+mn-cs"/>
      </a:defRPr>
    </a:lvl4pPr>
    <a:lvl5pPr marL="1828800" algn="l" rtl="0" eaLnBrk="0" fontAlgn="base" hangingPunct="0">
      <a:spcBef>
        <a:spcPct val="30000"/>
      </a:spcBef>
      <a:spcAft>
        <a:spcPct val="0"/>
      </a:spcAft>
      <a:defRPr sz="1200" kern="1200">
        <a:solidFill>
          <a:schemeClr val="tx1"/>
        </a:solidFill>
        <a:latin typeface="+mn-lt"/>
        <a:ea typeface="ＭＳ Ｐゴシック" pitchFamily="-106" charset="-128"/>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baseline="0" dirty="0"/>
          </a:p>
          <a:p>
            <a:pPr marL="147631" indent="-147631">
              <a:buFont typeface="Arial" pitchFamily="34" charset="0"/>
              <a:buChar char="•"/>
            </a:pPr>
            <a:endParaRPr lang="en-US" baseline="0" dirty="0"/>
          </a:p>
        </p:txBody>
      </p:sp>
      <p:sp>
        <p:nvSpPr>
          <p:cNvPr id="4" name="Slide Number Placeholder 3"/>
          <p:cNvSpPr>
            <a:spLocks noGrp="1"/>
          </p:cNvSpPr>
          <p:nvPr>
            <p:ph type="sldNum" sz="quarter" idx="10"/>
          </p:nvPr>
        </p:nvSpPr>
        <p:spPr/>
        <p:txBody>
          <a:bodyPr/>
          <a:lstStyle/>
          <a:p>
            <a:pPr>
              <a:defRPr/>
            </a:pPr>
            <a:fld id="{07776858-791E-4C8D-8FA3-473B3AFECFAC}" type="slidenum">
              <a:rPr lang="en-US" smtClean="0"/>
              <a:pPr>
                <a:defRPr/>
              </a:pPr>
              <a:t>1</a:t>
            </a:fld>
            <a:endParaRPr lang="en-US"/>
          </a:p>
        </p:txBody>
      </p:sp>
    </p:spTree>
    <p:extLst>
      <p:ext uri="{BB962C8B-B14F-4D97-AF65-F5344CB8AC3E}">
        <p14:creationId xmlns:p14="http://schemas.microsoft.com/office/powerpoint/2010/main" val="165484711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fontScale="92500" lnSpcReduction="20000"/>
          </a:bodyPr>
          <a:lstStyle/>
          <a:p>
            <a:endParaRPr lang="en-US" dirty="0"/>
          </a:p>
          <a:p>
            <a:r>
              <a:rPr lang="en-US" sz="1400" b="1" dirty="0"/>
              <a:t>FIRST - Read Romans 3:21-26</a:t>
            </a:r>
          </a:p>
          <a:p>
            <a:endParaRPr lang="en-US" sz="1400" dirty="0"/>
          </a:p>
          <a:p>
            <a:r>
              <a:rPr lang="en-US" sz="1400" b="1" dirty="0"/>
              <a:t>THE QUESTION:</a:t>
            </a:r>
          </a:p>
          <a:p>
            <a:pPr marL="147642" indent="-147642">
              <a:buFont typeface="Arial" pitchFamily="34" charset="0"/>
              <a:buChar char="•"/>
            </a:pPr>
            <a:r>
              <a:rPr lang="en-US" sz="1400" dirty="0"/>
              <a:t>How can a perfectly </a:t>
            </a:r>
            <a:r>
              <a:rPr lang="en-US" sz="1400" b="1" dirty="0"/>
              <a:t>just</a:t>
            </a:r>
            <a:r>
              <a:rPr lang="en-US" sz="1400" dirty="0"/>
              <a:t> God forgive sins? </a:t>
            </a:r>
          </a:p>
          <a:p>
            <a:pPr marL="147642" indent="-147642">
              <a:buFont typeface="Arial" pitchFamily="34" charset="0"/>
              <a:buChar char="•"/>
            </a:pPr>
            <a:r>
              <a:rPr lang="en-US" sz="1400" dirty="0"/>
              <a:t>How can </a:t>
            </a:r>
            <a:r>
              <a:rPr lang="en-US" sz="1400" b="1" dirty="0"/>
              <a:t>sinful</a:t>
            </a:r>
            <a:r>
              <a:rPr lang="en-US" sz="1400" dirty="0"/>
              <a:t> man find favor with a </a:t>
            </a:r>
            <a:r>
              <a:rPr lang="en-US" sz="1400" b="1" dirty="0"/>
              <a:t>righteous</a:t>
            </a:r>
            <a:r>
              <a:rPr lang="en-US" sz="1400" dirty="0"/>
              <a:t> God?</a:t>
            </a:r>
          </a:p>
          <a:p>
            <a:pPr marL="147642" indent="-147642">
              <a:buFont typeface="Arial" pitchFamily="34" charset="0"/>
              <a:buChar char="•"/>
            </a:pPr>
            <a:endParaRPr lang="en-US" sz="1400" dirty="0"/>
          </a:p>
          <a:p>
            <a:r>
              <a:rPr lang="en-US" sz="1400" b="1" dirty="0"/>
              <a:t>THE ANALOGY:</a:t>
            </a:r>
          </a:p>
          <a:p>
            <a:pPr marL="147642" indent="-147642">
              <a:buFont typeface="Arial" pitchFamily="34" charset="0"/>
              <a:buChar char="•"/>
            </a:pPr>
            <a:r>
              <a:rPr lang="en-US" sz="1400" dirty="0"/>
              <a:t>God (the Son) presides as the Judge of mankind (pagan, moral, and spiritual men).   John 5:22</a:t>
            </a:r>
          </a:p>
          <a:p>
            <a:pPr marL="147642" indent="-147642">
              <a:buFont typeface="Arial" pitchFamily="34" charset="0"/>
              <a:buChar char="•"/>
            </a:pPr>
            <a:r>
              <a:rPr lang="en-US" sz="1400" dirty="0"/>
              <a:t>The Son steps down from the Judgment seat and assumes the seat of the plaintiff (mankind).   Isaiah 53:11</a:t>
            </a:r>
          </a:p>
          <a:p>
            <a:pPr marL="147642" indent="-147642">
              <a:buFont typeface="Arial" pitchFamily="34" charset="0"/>
              <a:buChar char="•"/>
            </a:pPr>
            <a:r>
              <a:rPr lang="en-US" sz="1400" dirty="0"/>
              <a:t>The Son himself assumes the just penalty of sin for all of sinful mankind.    </a:t>
            </a:r>
          </a:p>
          <a:p>
            <a:pPr marL="147642" indent="-147642">
              <a:buFont typeface="Arial" pitchFamily="34" charset="0"/>
              <a:buChar char="•"/>
            </a:pPr>
            <a:r>
              <a:rPr lang="en-US" sz="1400" dirty="0"/>
              <a:t>The Father is satisfied with the just payment for sin. </a:t>
            </a:r>
          </a:p>
          <a:p>
            <a:pPr marL="147642" indent="-147642" defTabSz="787426">
              <a:buFont typeface="Arial" pitchFamily="34" charset="0"/>
              <a:buChar char="•"/>
              <a:defRPr/>
            </a:pPr>
            <a:r>
              <a:rPr lang="en-US" sz="1400" dirty="0"/>
              <a:t>The Father demonstrates mercy by extending the righteousness of one man to cover many.      2 Cor. 5:21</a:t>
            </a:r>
          </a:p>
          <a:p>
            <a:endParaRPr lang="en-US" sz="1400" dirty="0"/>
          </a:p>
          <a:p>
            <a:r>
              <a:rPr lang="en-US" sz="1400" b="1" dirty="0"/>
              <a:t>God demonstrates His perfect justice at the same time that he demonstrates His perfect mercy…  in the act of delivering justice, he also justifies.</a:t>
            </a:r>
          </a:p>
          <a:p>
            <a:endParaRPr lang="en-US" sz="1400" dirty="0"/>
          </a:p>
          <a:p>
            <a:r>
              <a:rPr lang="en-US" sz="1400" dirty="0"/>
              <a:t>Eph. 2:8   “For by grace you have been saved through faith, and that not of yourselves; it is the gift of God, not of works, lest anyone should boast.</a:t>
            </a:r>
          </a:p>
          <a:p>
            <a:endParaRPr lang="en-US" sz="1400" dirty="0"/>
          </a:p>
          <a:p>
            <a:r>
              <a:rPr lang="en-US" sz="1400" b="1" dirty="0"/>
              <a:t>Hallelujah!   What a Savior!</a:t>
            </a:r>
          </a:p>
          <a:p>
            <a:endParaRPr lang="en-US" sz="1400" b="1" dirty="0"/>
          </a:p>
          <a:p>
            <a:endParaRPr lang="en-US" sz="1400" b="1" dirty="0"/>
          </a:p>
          <a:p>
            <a:pPr marL="0" marR="0" lvl="0" indent="0" algn="l" defTabSz="914400" rtl="0" eaLnBrk="0" fontAlgn="base" latinLnBrk="0" hangingPunct="0">
              <a:lnSpc>
                <a:spcPct val="100000"/>
              </a:lnSpc>
              <a:spcBef>
                <a:spcPct val="30000"/>
              </a:spcBef>
              <a:spcAft>
                <a:spcPct val="0"/>
              </a:spcAft>
              <a:buClrTx/>
              <a:buSzTx/>
              <a:buFontTx/>
              <a:buNone/>
              <a:tabLst/>
              <a:defRPr/>
            </a:pPr>
            <a:r>
              <a:rPr lang="en-US" sz="1200" b="1" kern="1200" dirty="0">
                <a:solidFill>
                  <a:schemeClr val="tx1"/>
                </a:solidFill>
                <a:effectLst/>
                <a:latin typeface="+mn-lt"/>
                <a:ea typeface="ＭＳ Ｐゴシック" pitchFamily="-106" charset="-128"/>
                <a:cs typeface="ＭＳ Ｐゴシック" pitchFamily="-106" charset="-128"/>
              </a:rPr>
              <a:t>God justifies sinners by faith, not by works, and Abraham is the pattern for all who believe.</a:t>
            </a:r>
            <a:endParaRPr lang="en-US" sz="1200" kern="1200" dirty="0">
              <a:solidFill>
                <a:schemeClr val="tx1"/>
              </a:solidFill>
              <a:effectLst/>
              <a:latin typeface="+mn-lt"/>
              <a:ea typeface="ＭＳ Ｐゴシック" pitchFamily="-106" charset="-128"/>
              <a:cs typeface="ＭＳ Ｐゴシック" pitchFamily="-106" charset="-128"/>
            </a:endParaRPr>
          </a:p>
          <a:p>
            <a:endParaRPr lang="en-US" sz="1400" b="1" dirty="0"/>
          </a:p>
        </p:txBody>
      </p:sp>
      <p:sp>
        <p:nvSpPr>
          <p:cNvPr id="4" name="Slide Number Placeholder 3"/>
          <p:cNvSpPr>
            <a:spLocks noGrp="1"/>
          </p:cNvSpPr>
          <p:nvPr>
            <p:ph type="sldNum" sz="quarter" idx="10"/>
          </p:nvPr>
        </p:nvSpPr>
        <p:spPr/>
        <p:txBody>
          <a:bodyPr/>
          <a:lstStyle/>
          <a:p>
            <a:pPr>
              <a:defRPr/>
            </a:pPr>
            <a:fld id="{07776858-791E-4C8D-8FA3-473B3AFECFAC}" type="slidenum">
              <a:rPr lang="en-US" smtClean="0"/>
              <a:pPr>
                <a:defRPr/>
              </a:pPr>
              <a:t>2</a:t>
            </a:fld>
            <a:endParaRPr lang="en-US"/>
          </a:p>
        </p:txBody>
      </p:sp>
    </p:spTree>
    <p:extLst>
      <p:ext uri="{BB962C8B-B14F-4D97-AF65-F5344CB8AC3E}">
        <p14:creationId xmlns:p14="http://schemas.microsoft.com/office/powerpoint/2010/main" val="95134543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1" kern="1200" dirty="0">
                <a:solidFill>
                  <a:schemeClr val="tx1"/>
                </a:solidFill>
                <a:effectLst/>
                <a:latin typeface="+mn-lt"/>
                <a:ea typeface="ＭＳ Ｐゴシック" pitchFamily="-106" charset="-128"/>
                <a:cs typeface="ＭＳ Ｐゴシック" pitchFamily="-106" charset="-128"/>
              </a:rPr>
              <a:t>Doctrinal Comparison Chart</a:t>
            </a:r>
            <a:r>
              <a:rPr lang="en-US" sz="1200" b="0" kern="1200" dirty="0">
                <a:solidFill>
                  <a:schemeClr val="tx1"/>
                </a:solidFill>
                <a:effectLst/>
                <a:latin typeface="+mn-lt"/>
                <a:ea typeface="ＭＳ Ｐゴシック" pitchFamily="-106" charset="-128"/>
                <a:cs typeface="ＭＳ Ｐゴシック" pitchFamily="-106" charset="-128"/>
              </a:rPr>
              <a:t> - </a:t>
            </a:r>
            <a:r>
              <a:rPr lang="en-US" sz="1200" b="1" kern="1200" dirty="0">
                <a:solidFill>
                  <a:schemeClr val="tx1"/>
                </a:solidFill>
                <a:effectLst/>
                <a:latin typeface="+mn-lt"/>
                <a:ea typeface="ＭＳ Ｐゴシック" pitchFamily="-106" charset="-128"/>
                <a:cs typeface="ＭＳ Ｐゴシック" pitchFamily="-106" charset="-128"/>
              </a:rPr>
              <a:t>Key Areas of Debate</a:t>
            </a:r>
            <a:endParaRPr lang="en-US" sz="1200" kern="1200" dirty="0">
              <a:solidFill>
                <a:schemeClr val="tx1"/>
              </a:solidFill>
              <a:effectLst/>
              <a:latin typeface="+mn-lt"/>
              <a:ea typeface="ＭＳ Ｐゴシック" pitchFamily="-106" charset="-128"/>
              <a:cs typeface="ＭＳ Ｐゴシック" pitchFamily="-106" charset="-128"/>
            </a:endParaRPr>
          </a:p>
          <a:p>
            <a:endParaRPr lang="en-US" dirty="0"/>
          </a:p>
          <a:p>
            <a:r>
              <a:rPr lang="en-US" sz="1200" b="1" kern="1200" dirty="0">
                <a:solidFill>
                  <a:schemeClr val="tx1"/>
                </a:solidFill>
                <a:effectLst/>
                <a:latin typeface="+mn-lt"/>
                <a:ea typeface="ＭＳ Ｐゴシック" pitchFamily="-106" charset="-128"/>
                <a:cs typeface="ＭＳ Ｐゴシック" pitchFamily="-106" charset="-128"/>
              </a:rPr>
              <a:t>Discussion Reflection</a:t>
            </a:r>
            <a:endParaRPr lang="en-US" sz="1200" kern="1200" dirty="0">
              <a:solidFill>
                <a:schemeClr val="tx1"/>
              </a:solidFill>
              <a:effectLst/>
              <a:latin typeface="+mn-lt"/>
              <a:ea typeface="ＭＳ Ｐゴシック" pitchFamily="-106" charset="-128"/>
              <a:cs typeface="ＭＳ Ｐゴシック" pitchFamily="-106" charset="-128"/>
            </a:endParaRPr>
          </a:p>
          <a:p>
            <a:pPr rtl="0" fontAlgn="ctr"/>
            <a:r>
              <a:rPr lang="en-US" sz="1200" b="0" i="0" kern="1200" dirty="0">
                <a:solidFill>
                  <a:schemeClr val="tx1"/>
                </a:solidFill>
                <a:effectLst/>
                <a:latin typeface="+mn-lt"/>
                <a:ea typeface="ＭＳ Ｐゴシック" pitchFamily="-106" charset="-128"/>
                <a:cs typeface="ＭＳ Ｐゴシック" pitchFamily="-106" charset="-128"/>
              </a:rPr>
              <a:t>How does Romans define faith?</a:t>
            </a:r>
          </a:p>
          <a:p>
            <a:pPr rtl="0" fontAlgn="ctr"/>
            <a:r>
              <a:rPr lang="en-US" sz="1200" b="0" i="0" kern="1200" dirty="0">
                <a:solidFill>
                  <a:schemeClr val="tx1"/>
                </a:solidFill>
                <a:effectLst/>
                <a:latin typeface="+mn-lt"/>
                <a:ea typeface="ＭＳ Ｐゴシック" pitchFamily="-106" charset="-128"/>
                <a:cs typeface="ＭＳ Ｐゴシック" pitchFamily="-106" charset="-128"/>
              </a:rPr>
              <a:t>What is the role of obedience?</a:t>
            </a:r>
          </a:p>
          <a:p>
            <a:pPr rtl="0" fontAlgn="ctr"/>
            <a:r>
              <a:rPr lang="en-US" sz="1200" b="0" i="0" kern="1200" dirty="0">
                <a:solidFill>
                  <a:schemeClr val="tx1"/>
                </a:solidFill>
                <a:effectLst/>
                <a:latin typeface="+mn-lt"/>
                <a:ea typeface="ＭＳ Ｐゴシック" pitchFamily="-106" charset="-128"/>
                <a:cs typeface="ＭＳ Ｐゴシック" pitchFamily="-106" charset="-128"/>
              </a:rPr>
              <a:t>How do grace and obedience work together?</a:t>
            </a:r>
          </a:p>
          <a:p>
            <a:pPr rtl="0" fontAlgn="ctr"/>
            <a:r>
              <a:rPr lang="en-US" sz="1200" b="0" i="0" kern="1200" dirty="0">
                <a:solidFill>
                  <a:schemeClr val="tx1"/>
                </a:solidFill>
                <a:effectLst/>
                <a:latin typeface="+mn-lt"/>
                <a:ea typeface="ＭＳ Ｐゴシック" pitchFamily="-106" charset="-128"/>
                <a:cs typeface="ＭＳ Ｐゴシック" pitchFamily="-106" charset="-128"/>
              </a:rPr>
              <a:t>What does it mean to be “in Christ”?</a:t>
            </a:r>
          </a:p>
          <a:p>
            <a:pPr rtl="0" fontAlgn="ctr"/>
            <a:r>
              <a:rPr lang="en-US" sz="1200" b="0" i="0" kern="1200" dirty="0">
                <a:solidFill>
                  <a:schemeClr val="tx1"/>
                </a:solidFill>
                <a:effectLst/>
                <a:latin typeface="+mn-lt"/>
                <a:ea typeface="ＭＳ Ｐゴシック" pitchFamily="-106" charset="-128"/>
                <a:cs typeface="ＭＳ Ｐゴシック" pitchFamily="-106" charset="-128"/>
              </a:rPr>
              <a:t>How should this shape how you live?</a:t>
            </a:r>
          </a:p>
          <a:p>
            <a:r>
              <a:rPr lang="en-US" sz="1200" kern="1200" dirty="0">
                <a:solidFill>
                  <a:schemeClr val="tx1"/>
                </a:solidFill>
                <a:effectLst/>
                <a:latin typeface="+mn-lt"/>
                <a:ea typeface="ＭＳ Ｐゴシック" pitchFamily="-106" charset="-128"/>
                <a:cs typeface="ＭＳ Ｐゴシック" pitchFamily="-106" charset="-128"/>
              </a:rPr>
              <a:t> </a:t>
            </a:r>
          </a:p>
          <a:p>
            <a:r>
              <a:rPr lang="en-US" sz="1200" b="1" kern="1200" dirty="0">
                <a:solidFill>
                  <a:schemeClr val="tx1"/>
                </a:solidFill>
                <a:effectLst/>
                <a:latin typeface="+mn-lt"/>
                <a:ea typeface="ＭＳ Ｐゴシック" pitchFamily="-106" charset="-128"/>
                <a:cs typeface="ＭＳ Ｐゴシック" pitchFamily="-106" charset="-128"/>
              </a:rPr>
              <a:t>Two Ways of Understanding Salvation</a:t>
            </a:r>
            <a:endParaRPr lang="en-US" sz="1200" kern="1200" dirty="0">
              <a:solidFill>
                <a:schemeClr val="tx1"/>
              </a:solidFill>
              <a:effectLst/>
              <a:latin typeface="+mn-lt"/>
              <a:ea typeface="ＭＳ Ｐゴシック" pitchFamily="-106" charset="-128"/>
              <a:cs typeface="ＭＳ Ｐゴシック" pitchFamily="-106" charset="-128"/>
            </a:endParaRPr>
          </a:p>
          <a:p>
            <a:pPr rtl="0" fontAlgn="t"/>
            <a:r>
              <a:rPr lang="en-US" sz="1200" b="1" kern="1200" dirty="0">
                <a:solidFill>
                  <a:schemeClr val="tx1"/>
                </a:solidFill>
                <a:effectLst/>
                <a:latin typeface="+mn-lt"/>
                <a:ea typeface="ＭＳ Ｐゴシック" pitchFamily="-106" charset="-128"/>
                <a:cs typeface="ＭＳ Ｐゴシック" pitchFamily="-106" charset="-128"/>
              </a:rPr>
              <a:t>Question</a:t>
            </a:r>
            <a:endParaRPr lang="en-US" sz="1200" kern="1200" dirty="0">
              <a:solidFill>
                <a:schemeClr val="tx1"/>
              </a:solidFill>
              <a:effectLst/>
              <a:latin typeface="+mn-lt"/>
              <a:ea typeface="ＭＳ Ｐゴシック" pitchFamily="-106" charset="-128"/>
              <a:cs typeface="ＭＳ Ｐゴシック" pitchFamily="-106" charset="-128"/>
            </a:endParaRPr>
          </a:p>
          <a:p>
            <a:pPr rtl="0" fontAlgn="t"/>
            <a:r>
              <a:rPr lang="en-US" sz="1200" b="1" kern="1200" dirty="0">
                <a:solidFill>
                  <a:schemeClr val="tx1"/>
                </a:solidFill>
                <a:effectLst/>
                <a:latin typeface="+mn-lt"/>
                <a:ea typeface="ＭＳ Ｐゴシック" pitchFamily="-106" charset="-128"/>
                <a:cs typeface="ＭＳ Ｐゴシック" pitchFamily="-106" charset="-128"/>
              </a:rPr>
              <a:t>Protestant Emphasis</a:t>
            </a:r>
            <a:endParaRPr lang="en-US" sz="1200" kern="1200" dirty="0">
              <a:solidFill>
                <a:schemeClr val="tx1"/>
              </a:solidFill>
              <a:effectLst/>
              <a:latin typeface="+mn-lt"/>
              <a:ea typeface="ＭＳ Ｐゴシック" pitchFamily="-106" charset="-128"/>
              <a:cs typeface="ＭＳ Ｐゴシック" pitchFamily="-106" charset="-128"/>
            </a:endParaRPr>
          </a:p>
          <a:p>
            <a:pPr rtl="0" fontAlgn="t"/>
            <a:r>
              <a:rPr lang="en-US" sz="1200" b="1" kern="1200" dirty="0">
                <a:solidFill>
                  <a:schemeClr val="tx1"/>
                </a:solidFill>
                <a:effectLst/>
                <a:latin typeface="+mn-lt"/>
                <a:ea typeface="ＭＳ Ｐゴシック" pitchFamily="-106" charset="-128"/>
                <a:cs typeface="ＭＳ Ｐゴシック" pitchFamily="-106" charset="-128"/>
              </a:rPr>
              <a:t>Restoration Emphasis</a:t>
            </a:r>
            <a:endParaRPr lang="en-US" sz="1200" kern="1200" dirty="0">
              <a:solidFill>
                <a:schemeClr val="tx1"/>
              </a:solidFill>
              <a:effectLst/>
              <a:latin typeface="+mn-lt"/>
              <a:ea typeface="ＭＳ Ｐゴシック" pitchFamily="-106" charset="-128"/>
              <a:cs typeface="ＭＳ Ｐゴシック" pitchFamily="-106" charset="-128"/>
            </a:endParaRPr>
          </a:p>
          <a:p>
            <a:pPr rtl="0" fontAlgn="t"/>
            <a:r>
              <a:rPr lang="en-US" sz="1200" kern="1200" dirty="0">
                <a:solidFill>
                  <a:schemeClr val="tx1"/>
                </a:solidFill>
                <a:effectLst/>
                <a:latin typeface="+mn-lt"/>
                <a:ea typeface="ＭＳ Ｐゴシック" pitchFamily="-106" charset="-128"/>
                <a:cs typeface="ＭＳ Ｐゴシック" pitchFamily="-106" charset="-128"/>
              </a:rPr>
              <a:t>What saves?</a:t>
            </a:r>
          </a:p>
          <a:p>
            <a:pPr rtl="0" fontAlgn="t"/>
            <a:r>
              <a:rPr lang="en-US" sz="1200" kern="1200" dirty="0">
                <a:solidFill>
                  <a:schemeClr val="tx1"/>
                </a:solidFill>
                <a:effectLst/>
                <a:latin typeface="+mn-lt"/>
                <a:ea typeface="ＭＳ Ｐゴシック" pitchFamily="-106" charset="-128"/>
                <a:cs typeface="ＭＳ Ｐゴシック" pitchFamily="-106" charset="-128"/>
              </a:rPr>
              <a:t>Faith alone</a:t>
            </a:r>
          </a:p>
          <a:p>
            <a:pPr rtl="0" fontAlgn="t"/>
            <a:r>
              <a:rPr lang="en-US" sz="1200" kern="1200" dirty="0">
                <a:solidFill>
                  <a:schemeClr val="tx1"/>
                </a:solidFill>
                <a:effectLst/>
                <a:latin typeface="+mn-lt"/>
                <a:ea typeface="ＭＳ Ｐゴシック" pitchFamily="-106" charset="-128"/>
                <a:cs typeface="ＭＳ Ｐゴシック" pitchFamily="-106" charset="-128"/>
              </a:rPr>
              <a:t>Grace through obedient faith</a:t>
            </a:r>
          </a:p>
          <a:p>
            <a:pPr rtl="0" fontAlgn="t"/>
            <a:r>
              <a:rPr lang="en-US" sz="1200" kern="1200" dirty="0">
                <a:solidFill>
                  <a:schemeClr val="tx1"/>
                </a:solidFill>
                <a:effectLst/>
                <a:latin typeface="+mn-lt"/>
                <a:ea typeface="ＭＳ Ｐゴシック" pitchFamily="-106" charset="-128"/>
                <a:cs typeface="ＭＳ Ｐゴシック" pitchFamily="-106" charset="-128"/>
              </a:rPr>
              <a:t>When does salvation occur?</a:t>
            </a:r>
          </a:p>
          <a:p>
            <a:pPr rtl="0" fontAlgn="t"/>
            <a:r>
              <a:rPr lang="en-US" sz="1200" kern="1200" dirty="0">
                <a:solidFill>
                  <a:schemeClr val="tx1"/>
                </a:solidFill>
                <a:effectLst/>
                <a:latin typeface="+mn-lt"/>
                <a:ea typeface="ＭＳ Ｐゴシック" pitchFamily="-106" charset="-128"/>
                <a:cs typeface="ＭＳ Ｐゴシック" pitchFamily="-106" charset="-128"/>
              </a:rPr>
              <a:t>At belief</a:t>
            </a:r>
          </a:p>
          <a:p>
            <a:pPr rtl="0" fontAlgn="t"/>
            <a:r>
              <a:rPr lang="en-US" sz="1200" kern="1200" dirty="0">
                <a:solidFill>
                  <a:schemeClr val="tx1"/>
                </a:solidFill>
                <a:effectLst/>
                <a:latin typeface="+mn-lt"/>
                <a:ea typeface="ＭＳ Ｐゴシック" pitchFamily="-106" charset="-128"/>
                <a:cs typeface="ＭＳ Ｐゴシック" pitchFamily="-106" charset="-128"/>
              </a:rPr>
              <a:t>At response to gospel (faith, repentance, baptism)</a:t>
            </a:r>
          </a:p>
          <a:p>
            <a:pPr rtl="0" fontAlgn="t"/>
            <a:r>
              <a:rPr lang="en-US" sz="1200" kern="1200" dirty="0">
                <a:solidFill>
                  <a:schemeClr val="tx1"/>
                </a:solidFill>
                <a:effectLst/>
                <a:latin typeface="+mn-lt"/>
                <a:ea typeface="ＭＳ Ｐゴシック" pitchFamily="-106" charset="-128"/>
                <a:cs typeface="ＭＳ Ｐゴシック" pitchFamily="-106" charset="-128"/>
              </a:rPr>
              <a:t>What follows?</a:t>
            </a:r>
          </a:p>
          <a:p>
            <a:pPr rtl="0" fontAlgn="t"/>
            <a:r>
              <a:rPr lang="en-US" sz="1200" kern="1200" dirty="0">
                <a:solidFill>
                  <a:schemeClr val="tx1"/>
                </a:solidFill>
                <a:effectLst/>
                <a:latin typeface="+mn-lt"/>
                <a:ea typeface="ＭＳ Ｐゴシック" pitchFamily="-106" charset="-128"/>
                <a:cs typeface="ＭＳ Ｐゴシック" pitchFamily="-106" charset="-128"/>
              </a:rPr>
              <a:t>Obedience as evidence</a:t>
            </a:r>
          </a:p>
          <a:p>
            <a:pPr rtl="0" fontAlgn="t"/>
            <a:r>
              <a:rPr lang="en-US" sz="1200" kern="1200" dirty="0">
                <a:solidFill>
                  <a:schemeClr val="tx1"/>
                </a:solidFill>
                <a:effectLst/>
                <a:latin typeface="+mn-lt"/>
                <a:ea typeface="ＭＳ Ｐゴシック" pitchFamily="-106" charset="-128"/>
                <a:cs typeface="ＭＳ Ｐゴシック" pitchFamily="-106" charset="-128"/>
              </a:rPr>
              <a:t>Obedience as part of faith and ongoing life</a:t>
            </a:r>
          </a:p>
          <a:p>
            <a:endParaRPr lang="en-US" dirty="0"/>
          </a:p>
        </p:txBody>
      </p:sp>
      <p:sp>
        <p:nvSpPr>
          <p:cNvPr id="4" name="Slide Number Placeholder 3"/>
          <p:cNvSpPr>
            <a:spLocks noGrp="1"/>
          </p:cNvSpPr>
          <p:nvPr>
            <p:ph type="sldNum" sz="quarter" idx="5"/>
          </p:nvPr>
        </p:nvSpPr>
        <p:spPr/>
        <p:txBody>
          <a:bodyPr/>
          <a:lstStyle/>
          <a:p>
            <a:pPr>
              <a:defRPr/>
            </a:pPr>
            <a:fld id="{07776858-791E-4C8D-8FA3-473B3AFECFAC}" type="slidenum">
              <a:rPr lang="en-US" smtClean="0"/>
              <a:pPr>
                <a:defRPr/>
              </a:pPr>
              <a:t>3</a:t>
            </a:fld>
            <a:endParaRPr lang="en-US"/>
          </a:p>
        </p:txBody>
      </p:sp>
    </p:spTree>
    <p:extLst>
      <p:ext uri="{BB962C8B-B14F-4D97-AF65-F5344CB8AC3E}">
        <p14:creationId xmlns:p14="http://schemas.microsoft.com/office/powerpoint/2010/main" val="142949978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2E47AB-828A-E645-1EB5-C842571C5A0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6A9C5E5-238B-2A56-2A48-36AB42AFA8F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95A5EE5-A0FC-E877-34D7-F85B2682BF82}"/>
              </a:ext>
            </a:extLst>
          </p:cNvPr>
          <p:cNvSpPr>
            <a:spLocks noGrp="1"/>
          </p:cNvSpPr>
          <p:nvPr>
            <p:ph type="body" idx="1"/>
          </p:nvPr>
        </p:nvSpPr>
        <p:spPr/>
        <p:txBody>
          <a:bodyPr>
            <a:normAutofit/>
          </a:bodyPr>
          <a:lstStyle/>
          <a:p>
            <a:r>
              <a:rPr lang="en-US" sz="1400" b="1" kern="1200" dirty="0">
                <a:solidFill>
                  <a:schemeClr val="tx1"/>
                </a:solidFill>
                <a:effectLst/>
                <a:latin typeface="+mn-lt"/>
                <a:ea typeface="ＭＳ Ｐゴシック" pitchFamily="-106" charset="-128"/>
                <a:cs typeface="ＭＳ Ｐゴシック" pitchFamily="-106" charset="-128"/>
              </a:rPr>
              <a:t>Two Paths in Romans</a:t>
            </a:r>
            <a:endParaRPr lang="en-US" sz="1400" kern="1200" dirty="0">
              <a:solidFill>
                <a:schemeClr val="tx1"/>
              </a:solidFill>
              <a:effectLst/>
              <a:latin typeface="+mn-lt"/>
              <a:ea typeface="ＭＳ Ｐゴシック" pitchFamily="-106" charset="-128"/>
              <a:cs typeface="ＭＳ Ｐゴシック" pitchFamily="-106" charset="-128"/>
            </a:endParaRPr>
          </a:p>
          <a:p>
            <a:pPr rtl="0" fontAlgn="t"/>
            <a:endParaRPr lang="en-US" sz="1400" b="1" kern="1200" dirty="0">
              <a:solidFill>
                <a:schemeClr val="tx1"/>
              </a:solidFill>
              <a:effectLst/>
              <a:latin typeface="+mn-lt"/>
              <a:ea typeface="ＭＳ Ｐゴシック" pitchFamily="-106" charset="-128"/>
              <a:cs typeface="ＭＳ Ｐゴシック" pitchFamily="-106" charset="-128"/>
            </a:endParaRPr>
          </a:p>
          <a:p>
            <a:pPr rtl="0" fontAlgn="t"/>
            <a:r>
              <a:rPr lang="en-US" sz="1400" b="1" i="0" u="sng" kern="1200" dirty="0">
                <a:solidFill>
                  <a:schemeClr val="tx1"/>
                </a:solidFill>
                <a:effectLst/>
                <a:latin typeface="+mn-lt"/>
                <a:ea typeface="ＭＳ Ｐゴシック" pitchFamily="-106" charset="-128"/>
                <a:cs typeface="ＭＳ Ｐゴシック" pitchFamily="-106" charset="-128"/>
              </a:rPr>
              <a:t>Path</a:t>
            </a:r>
            <a:r>
              <a:rPr lang="en-US" sz="1400" b="0" kern="1200" dirty="0">
                <a:solidFill>
                  <a:schemeClr val="tx1"/>
                </a:solidFill>
                <a:effectLst/>
                <a:latin typeface="+mn-lt"/>
                <a:ea typeface="ＭＳ Ｐゴシック" pitchFamily="-106" charset="-128"/>
                <a:cs typeface="ＭＳ Ｐゴシック" pitchFamily="-106" charset="-128"/>
              </a:rPr>
              <a:t>		</a:t>
            </a:r>
            <a:r>
              <a:rPr lang="en-US" sz="1400" b="1" u="sng" kern="1200" dirty="0">
                <a:solidFill>
                  <a:schemeClr val="tx1"/>
                </a:solidFill>
                <a:effectLst/>
                <a:latin typeface="+mn-lt"/>
                <a:ea typeface="ＭＳ Ｐゴシック" pitchFamily="-106" charset="-128"/>
                <a:cs typeface="ＭＳ Ｐゴシック" pitchFamily="-106" charset="-128"/>
              </a:rPr>
              <a:t>Description</a:t>
            </a:r>
            <a:r>
              <a:rPr lang="en-US" sz="1400" b="0" kern="1200" dirty="0">
                <a:solidFill>
                  <a:schemeClr val="tx1"/>
                </a:solidFill>
                <a:effectLst/>
                <a:latin typeface="+mn-lt"/>
                <a:ea typeface="ＭＳ Ｐゴシック" pitchFamily="-106" charset="-128"/>
                <a:cs typeface="ＭＳ Ｐゴシック" pitchFamily="-106" charset="-128"/>
              </a:rPr>
              <a:t>			</a:t>
            </a:r>
            <a:r>
              <a:rPr lang="en-US" sz="1400" b="1" u="sng" kern="1200" dirty="0">
                <a:solidFill>
                  <a:schemeClr val="tx1"/>
                </a:solidFill>
                <a:effectLst/>
                <a:latin typeface="+mn-lt"/>
                <a:ea typeface="ＭＳ Ｐゴシック" pitchFamily="-106" charset="-128"/>
                <a:cs typeface="ＭＳ Ｐゴシック" pitchFamily="-106" charset="-128"/>
              </a:rPr>
              <a:t>Key Verses</a:t>
            </a:r>
            <a:r>
              <a:rPr lang="en-US" sz="1400" b="0" kern="1200" dirty="0">
                <a:solidFill>
                  <a:schemeClr val="tx1"/>
                </a:solidFill>
                <a:effectLst/>
                <a:latin typeface="+mn-lt"/>
                <a:ea typeface="ＭＳ Ｐゴシック" pitchFamily="-106" charset="-128"/>
                <a:cs typeface="ＭＳ Ｐゴシック" pitchFamily="-106" charset="-128"/>
              </a:rPr>
              <a:t>		</a:t>
            </a:r>
          </a:p>
          <a:p>
            <a:pPr rtl="0" fontAlgn="t"/>
            <a:r>
              <a:rPr lang="en-US" sz="1400" b="1" kern="1200" dirty="0">
                <a:solidFill>
                  <a:schemeClr val="tx1"/>
                </a:solidFill>
                <a:effectLst/>
                <a:latin typeface="+mn-lt"/>
                <a:ea typeface="ＭＳ Ｐゴシック" pitchFamily="-106" charset="-128"/>
                <a:cs typeface="ＭＳ Ｐゴシック" pitchFamily="-106" charset="-128"/>
              </a:rPr>
              <a:t>Man’s Righteousness   	</a:t>
            </a:r>
            <a:r>
              <a:rPr lang="en-US" sz="1400" kern="1200" dirty="0">
                <a:solidFill>
                  <a:schemeClr val="tx1"/>
                </a:solidFill>
                <a:effectLst/>
                <a:latin typeface="+mn-lt"/>
                <a:ea typeface="ＭＳ Ｐゴシック" pitchFamily="-106" charset="-128"/>
                <a:cs typeface="ＭＳ Ｐゴシック" pitchFamily="-106" charset="-128"/>
              </a:rPr>
              <a:t>Self-trust, works, law-keeping		Romans 10:3</a:t>
            </a:r>
          </a:p>
          <a:p>
            <a:pPr rtl="0" fontAlgn="t"/>
            <a:r>
              <a:rPr lang="en-US" sz="1400" b="1" kern="1200" dirty="0">
                <a:solidFill>
                  <a:schemeClr val="tx1"/>
                </a:solidFill>
                <a:effectLst/>
                <a:latin typeface="+mn-lt"/>
                <a:ea typeface="ＭＳ Ｐゴシック" pitchFamily="-106" charset="-128"/>
                <a:cs typeface="ＭＳ Ｐゴシック" pitchFamily="-106" charset="-128"/>
              </a:rPr>
              <a:t>God’s Righteousness	</a:t>
            </a:r>
            <a:r>
              <a:rPr lang="en-US" sz="1400" kern="1200" dirty="0">
                <a:solidFill>
                  <a:schemeClr val="tx1"/>
                </a:solidFill>
                <a:effectLst/>
                <a:latin typeface="+mn-lt"/>
                <a:ea typeface="ＭＳ Ｐゴシック" pitchFamily="-106" charset="-128"/>
                <a:cs typeface="ＭＳ Ｐゴシック" pitchFamily="-106" charset="-128"/>
              </a:rPr>
              <a:t>Grace, faith, Christ, new life		Romans 3:22</a:t>
            </a:r>
          </a:p>
          <a:p>
            <a:pPr lvl="0"/>
            <a:endParaRPr lang="en-US" sz="1400" dirty="0"/>
          </a:p>
          <a:p>
            <a:r>
              <a:rPr lang="en-US" sz="1400" b="1" u="sng" kern="1200" dirty="0">
                <a:solidFill>
                  <a:schemeClr val="tx1"/>
                </a:solidFill>
                <a:effectLst/>
                <a:latin typeface="+mn-lt"/>
                <a:ea typeface="ＭＳ Ｐゴシック" pitchFamily="-106" charset="-128"/>
                <a:cs typeface="ＭＳ Ｐゴシック" pitchFamily="-106" charset="-128"/>
              </a:rPr>
              <a:t>Simple Summary</a:t>
            </a:r>
            <a:endParaRPr lang="en-US" sz="1400" u="sng" kern="1200" dirty="0">
              <a:solidFill>
                <a:schemeClr val="tx1"/>
              </a:solidFill>
              <a:effectLst/>
              <a:latin typeface="+mn-lt"/>
              <a:ea typeface="ＭＳ Ｐゴシック" pitchFamily="-106" charset="-128"/>
              <a:cs typeface="ＭＳ Ｐゴシック" pitchFamily="-106" charset="-128"/>
            </a:endParaRPr>
          </a:p>
          <a:p>
            <a:pPr rtl="0" fontAlgn="ctr"/>
            <a:r>
              <a:rPr lang="en-US" sz="1400" kern="1200" dirty="0">
                <a:solidFill>
                  <a:schemeClr val="tx1"/>
                </a:solidFill>
                <a:effectLst/>
                <a:latin typeface="+mn-lt"/>
                <a:ea typeface="ＭＳ Ｐゴシック" pitchFamily="-106" charset="-128"/>
                <a:cs typeface="ＭＳ Ｐゴシック" pitchFamily="-106" charset="-128"/>
              </a:rPr>
              <a:t>All agree: salvation is by grace</a:t>
            </a:r>
          </a:p>
          <a:p>
            <a:pPr rtl="0" fontAlgn="ctr"/>
            <a:r>
              <a:rPr lang="en-US" sz="1400" kern="1200" dirty="0">
                <a:solidFill>
                  <a:schemeClr val="tx1"/>
                </a:solidFill>
                <a:effectLst/>
                <a:latin typeface="+mn-lt"/>
                <a:ea typeface="ＭＳ Ｐゴシック" pitchFamily="-106" charset="-128"/>
                <a:cs typeface="ＭＳ Ｐゴシック" pitchFamily="-106" charset="-128"/>
              </a:rPr>
              <a:t>The main difference: </a:t>
            </a:r>
            <a:r>
              <a:rPr lang="en-US" sz="1400" b="1" kern="1200" dirty="0">
                <a:solidFill>
                  <a:schemeClr val="tx1"/>
                </a:solidFill>
                <a:effectLst/>
                <a:latin typeface="+mn-lt"/>
                <a:ea typeface="ＭＳ Ｐゴシック" pitchFamily="-106" charset="-128"/>
                <a:cs typeface="ＭＳ Ｐゴシック" pitchFamily="-106" charset="-128"/>
              </a:rPr>
              <a:t>what faith includes</a:t>
            </a:r>
            <a:endParaRPr lang="en-US" sz="1400" kern="1200" dirty="0">
              <a:solidFill>
                <a:schemeClr val="tx1"/>
              </a:solidFill>
              <a:effectLst/>
              <a:latin typeface="+mn-lt"/>
              <a:ea typeface="ＭＳ Ｐゴシック" pitchFamily="-106" charset="-128"/>
              <a:cs typeface="ＭＳ Ｐゴシック" pitchFamily="-106" charset="-128"/>
            </a:endParaRPr>
          </a:p>
          <a:p>
            <a:pPr rtl="0" fontAlgn="ctr"/>
            <a:r>
              <a:rPr lang="en-US" sz="1400" kern="1200" dirty="0">
                <a:solidFill>
                  <a:schemeClr val="tx1"/>
                </a:solidFill>
                <a:effectLst/>
                <a:latin typeface="+mn-lt"/>
                <a:ea typeface="ＭＳ Ｐゴシック" pitchFamily="-106" charset="-128"/>
                <a:cs typeface="ＭＳ Ｐゴシック" pitchFamily="-106" charset="-128"/>
              </a:rPr>
              <a:t>Romans calls for:</a:t>
            </a:r>
          </a:p>
          <a:p>
            <a:pPr lvl="1" rtl="0" fontAlgn="ctr"/>
            <a:r>
              <a:rPr lang="en-US" sz="1400" kern="1200" dirty="0">
                <a:solidFill>
                  <a:schemeClr val="tx1"/>
                </a:solidFill>
                <a:effectLst/>
                <a:latin typeface="+mn-lt"/>
                <a:ea typeface="ＭＳ Ｐゴシック" pitchFamily="-106" charset="-128"/>
                <a:cs typeface="+mn-cs"/>
              </a:rPr>
              <a:t>faith</a:t>
            </a:r>
          </a:p>
          <a:p>
            <a:pPr lvl="1" rtl="0" fontAlgn="ctr"/>
            <a:r>
              <a:rPr lang="en-US" sz="1400" kern="1200" dirty="0">
                <a:solidFill>
                  <a:schemeClr val="tx1"/>
                </a:solidFill>
                <a:effectLst/>
                <a:latin typeface="+mn-lt"/>
                <a:ea typeface="ＭＳ Ｐゴシック" pitchFamily="-106" charset="-128"/>
                <a:cs typeface="+mn-cs"/>
              </a:rPr>
              <a:t>submission</a:t>
            </a:r>
          </a:p>
          <a:p>
            <a:pPr lvl="1" rtl="0" fontAlgn="ctr"/>
            <a:r>
              <a:rPr lang="en-US" sz="1400" kern="1200" dirty="0">
                <a:solidFill>
                  <a:schemeClr val="tx1"/>
                </a:solidFill>
                <a:effectLst/>
                <a:latin typeface="+mn-lt"/>
                <a:ea typeface="ＭＳ Ｐゴシック" pitchFamily="-106" charset="-128"/>
                <a:cs typeface="+mn-cs"/>
              </a:rPr>
              <a:t>transformation</a:t>
            </a:r>
          </a:p>
          <a:p>
            <a:pPr lvl="1" rtl="0" fontAlgn="ctr"/>
            <a:r>
              <a:rPr lang="en-US" sz="1400" kern="1200" dirty="0">
                <a:solidFill>
                  <a:schemeClr val="tx1"/>
                </a:solidFill>
                <a:effectLst/>
                <a:latin typeface="+mn-lt"/>
                <a:ea typeface="ＭＳ Ｐゴシック" pitchFamily="-106" charset="-128"/>
                <a:cs typeface="+mn-cs"/>
              </a:rPr>
              <a:t>perseverance</a:t>
            </a:r>
          </a:p>
          <a:p>
            <a:pPr lvl="0"/>
            <a:endParaRPr lang="en-US" sz="1400" dirty="0"/>
          </a:p>
        </p:txBody>
      </p:sp>
      <p:sp>
        <p:nvSpPr>
          <p:cNvPr id="4" name="Slide Number Placeholder 3">
            <a:extLst>
              <a:ext uri="{FF2B5EF4-FFF2-40B4-BE49-F238E27FC236}">
                <a16:creationId xmlns:a16="http://schemas.microsoft.com/office/drawing/2014/main" id="{B32CA9E5-C59C-1604-420A-8EBA34FDE2C5}"/>
              </a:ext>
            </a:extLst>
          </p:cNvPr>
          <p:cNvSpPr>
            <a:spLocks noGrp="1"/>
          </p:cNvSpPr>
          <p:nvPr>
            <p:ph type="sldNum" sz="quarter" idx="10"/>
          </p:nvPr>
        </p:nvSpPr>
        <p:spPr/>
        <p:txBody>
          <a:bodyPr/>
          <a:lstStyle/>
          <a:p>
            <a:pPr>
              <a:defRPr/>
            </a:pPr>
            <a:fld id="{07776858-791E-4C8D-8FA3-473B3AFECFAC}" type="slidenum">
              <a:rPr lang="en-US" smtClean="0"/>
              <a:pPr>
                <a:defRPr/>
              </a:pPr>
              <a:t>4</a:t>
            </a:fld>
            <a:endParaRPr lang="en-US"/>
          </a:p>
        </p:txBody>
      </p:sp>
    </p:spTree>
    <p:extLst>
      <p:ext uri="{BB962C8B-B14F-4D97-AF65-F5344CB8AC3E}">
        <p14:creationId xmlns:p14="http://schemas.microsoft.com/office/powerpoint/2010/main" val="306746376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fontScale="85000" lnSpcReduction="10000"/>
          </a:bodyPr>
          <a:lstStyle/>
          <a:p>
            <a:r>
              <a:rPr lang="en-US" sz="1400" b="1" kern="1200" dirty="0">
                <a:solidFill>
                  <a:schemeClr val="tx1"/>
                </a:solidFill>
                <a:effectLst/>
                <a:latin typeface="+mn-lt"/>
                <a:ea typeface="ＭＳ Ｐゴシック" pitchFamily="-106" charset="-128"/>
                <a:cs typeface="ＭＳ Ｐゴシック" pitchFamily="-106" charset="-128"/>
              </a:rPr>
              <a:t>God’s Character in the Promise to Abraham</a:t>
            </a:r>
            <a:endParaRPr lang="en-US" sz="1400" kern="1200" dirty="0">
              <a:solidFill>
                <a:schemeClr val="tx1"/>
              </a:solidFill>
              <a:effectLst/>
              <a:latin typeface="+mn-lt"/>
              <a:ea typeface="ＭＳ Ｐゴシック" pitchFamily="-106" charset="-128"/>
              <a:cs typeface="ＭＳ Ｐゴシック" pitchFamily="-106" charset="-128"/>
            </a:endParaRPr>
          </a:p>
          <a:p>
            <a:pPr rtl="0" fontAlgn="ctr"/>
            <a:r>
              <a:rPr lang="en-US" sz="1400" b="1" kern="1200" dirty="0">
                <a:solidFill>
                  <a:schemeClr val="tx1"/>
                </a:solidFill>
                <a:effectLst/>
                <a:latin typeface="+mn-lt"/>
                <a:ea typeface="ＭＳ Ｐゴシック" pitchFamily="-106" charset="-128"/>
                <a:cs typeface="ＭＳ Ｐゴシック" pitchFamily="-106" charset="-128"/>
              </a:rPr>
              <a:t>Initiator of the Covenant</a:t>
            </a:r>
            <a:endParaRPr lang="en-US" sz="1400" kern="1200" dirty="0">
              <a:solidFill>
                <a:schemeClr val="tx1"/>
              </a:solidFill>
              <a:effectLst/>
              <a:latin typeface="+mn-lt"/>
              <a:ea typeface="ＭＳ Ｐゴシック" pitchFamily="-106" charset="-128"/>
              <a:cs typeface="ＭＳ Ｐゴシック" pitchFamily="-106" charset="-128"/>
            </a:endParaRPr>
          </a:p>
          <a:p>
            <a:pPr lvl="1" rtl="0" fontAlgn="ctr"/>
            <a:r>
              <a:rPr lang="en-US" sz="1400" i="1" kern="1200" dirty="0">
                <a:solidFill>
                  <a:schemeClr val="tx1"/>
                </a:solidFill>
                <a:effectLst/>
                <a:latin typeface="+mn-lt"/>
                <a:ea typeface="ＭＳ Ｐゴシック" pitchFamily="-106" charset="-128"/>
                <a:cs typeface="+mn-cs"/>
              </a:rPr>
              <a:t>Genesis 12:1–3</a:t>
            </a:r>
            <a:r>
              <a:rPr lang="en-US" sz="1400" kern="1200" dirty="0">
                <a:solidFill>
                  <a:schemeClr val="tx1"/>
                </a:solidFill>
                <a:effectLst/>
                <a:latin typeface="+mn-lt"/>
                <a:ea typeface="ＭＳ Ｐゴシック" pitchFamily="-106" charset="-128"/>
                <a:cs typeface="+mn-cs"/>
              </a:rPr>
              <a:t>  God calls Abraham to leave his homeland, initiating the promise.</a:t>
            </a:r>
          </a:p>
          <a:p>
            <a:pPr lvl="1" rtl="0" fontAlgn="ctr"/>
            <a:r>
              <a:rPr lang="en-US" sz="1400" kern="1200" dirty="0">
                <a:solidFill>
                  <a:schemeClr val="tx1"/>
                </a:solidFill>
                <a:effectLst/>
                <a:latin typeface="+mn-lt"/>
                <a:ea typeface="ＭＳ Ｐゴシック" pitchFamily="-106" charset="-128"/>
                <a:cs typeface="+mn-cs"/>
              </a:rPr>
              <a:t>God’s promises are grounded in His initiative, not Abraham’s worthiness.</a:t>
            </a:r>
          </a:p>
          <a:p>
            <a:pPr rtl="0" fontAlgn="ctr"/>
            <a:r>
              <a:rPr lang="en-US" sz="1400" b="1" kern="1200" dirty="0">
                <a:solidFill>
                  <a:schemeClr val="tx1"/>
                </a:solidFill>
                <a:effectLst/>
                <a:latin typeface="+mn-lt"/>
                <a:ea typeface="ＭＳ Ｐゴシック" pitchFamily="-106" charset="-128"/>
                <a:cs typeface="ＭＳ Ｐゴシック" pitchFamily="-106" charset="-128"/>
              </a:rPr>
              <a:t>Covenant Keeper</a:t>
            </a:r>
            <a:endParaRPr lang="en-US" sz="1400" kern="1200" dirty="0">
              <a:solidFill>
                <a:schemeClr val="tx1"/>
              </a:solidFill>
              <a:effectLst/>
              <a:latin typeface="+mn-lt"/>
              <a:ea typeface="ＭＳ Ｐゴシック" pitchFamily="-106" charset="-128"/>
              <a:cs typeface="ＭＳ Ｐゴシック" pitchFamily="-106" charset="-128"/>
            </a:endParaRPr>
          </a:p>
          <a:p>
            <a:pPr lvl="1" rtl="0" fontAlgn="ctr"/>
            <a:r>
              <a:rPr lang="en-US" sz="1400" i="1" kern="1200" dirty="0">
                <a:solidFill>
                  <a:schemeClr val="tx1"/>
                </a:solidFill>
                <a:effectLst/>
                <a:latin typeface="+mn-lt"/>
                <a:ea typeface="ＭＳ Ｐゴシック" pitchFamily="-106" charset="-128"/>
                <a:cs typeface="+mn-cs"/>
              </a:rPr>
              <a:t>Genesis 15:1–6</a:t>
            </a:r>
            <a:r>
              <a:rPr lang="en-US" sz="1400" kern="1200" dirty="0">
                <a:solidFill>
                  <a:schemeClr val="tx1"/>
                </a:solidFill>
                <a:effectLst/>
                <a:latin typeface="+mn-lt"/>
                <a:ea typeface="ＭＳ Ｐゴシック" pitchFamily="-106" charset="-128"/>
                <a:cs typeface="+mn-cs"/>
              </a:rPr>
              <a:t>   God ratifies the covenant by passing between the pieces, showing He alone carries the responsibility of fulfillment.</a:t>
            </a:r>
          </a:p>
          <a:p>
            <a:pPr lvl="1" rtl="0" fontAlgn="ctr"/>
            <a:r>
              <a:rPr lang="en-US" sz="1400" i="1" kern="1200" dirty="0">
                <a:solidFill>
                  <a:schemeClr val="tx1"/>
                </a:solidFill>
                <a:effectLst/>
                <a:latin typeface="+mn-lt"/>
                <a:ea typeface="ＭＳ Ｐゴシック" pitchFamily="-106" charset="-128"/>
                <a:cs typeface="+mn-cs"/>
              </a:rPr>
              <a:t>Genesis 17:7</a:t>
            </a:r>
            <a:r>
              <a:rPr lang="en-US" sz="1400" kern="1200" dirty="0">
                <a:solidFill>
                  <a:schemeClr val="tx1"/>
                </a:solidFill>
                <a:effectLst/>
                <a:latin typeface="+mn-lt"/>
                <a:ea typeface="ＭＳ Ｐゴシック" pitchFamily="-106" charset="-128"/>
                <a:cs typeface="+mn-cs"/>
              </a:rPr>
              <a:t>   God calls it an “everlasting covenant.”</a:t>
            </a:r>
          </a:p>
          <a:p>
            <a:pPr rtl="0" fontAlgn="ctr"/>
            <a:r>
              <a:rPr lang="en-US" sz="1400" b="1" kern="1200" dirty="0">
                <a:solidFill>
                  <a:schemeClr val="tx1"/>
                </a:solidFill>
                <a:effectLst/>
                <a:latin typeface="+mn-lt"/>
                <a:ea typeface="ＭＳ Ｐゴシック" pitchFamily="-106" charset="-128"/>
                <a:cs typeface="ＭＳ Ｐゴシック" pitchFamily="-106" charset="-128"/>
              </a:rPr>
              <a:t>Faithfulness Across Generations</a:t>
            </a:r>
            <a:endParaRPr lang="en-US" sz="1400" kern="1200" dirty="0">
              <a:solidFill>
                <a:schemeClr val="tx1"/>
              </a:solidFill>
              <a:effectLst/>
              <a:latin typeface="+mn-lt"/>
              <a:ea typeface="ＭＳ Ｐゴシック" pitchFamily="-106" charset="-128"/>
              <a:cs typeface="ＭＳ Ｐゴシック" pitchFamily="-106" charset="-128"/>
            </a:endParaRPr>
          </a:p>
          <a:p>
            <a:pPr lvl="1" rtl="0" fontAlgn="ctr"/>
            <a:r>
              <a:rPr lang="en-US" sz="1400" kern="1200" dirty="0">
                <a:solidFill>
                  <a:schemeClr val="tx1"/>
                </a:solidFill>
                <a:effectLst/>
                <a:latin typeface="+mn-lt"/>
                <a:ea typeface="ＭＳ Ｐゴシック" pitchFamily="-106" charset="-128"/>
                <a:cs typeface="+mn-cs"/>
              </a:rPr>
              <a:t>God reiterates His promise to Isaac (Genesis 26:3–4) and Jacob (Genesis 28:13–15).</a:t>
            </a:r>
          </a:p>
          <a:p>
            <a:endParaRPr lang="en-US" sz="1400" b="1" kern="1200" dirty="0">
              <a:solidFill>
                <a:schemeClr val="tx1"/>
              </a:solidFill>
              <a:effectLst/>
              <a:latin typeface="+mn-lt"/>
              <a:ea typeface="ＭＳ Ｐゴシック" pitchFamily="-106" charset="-128"/>
              <a:cs typeface="ＭＳ Ｐゴシック" pitchFamily="-106" charset="-128"/>
            </a:endParaRPr>
          </a:p>
          <a:p>
            <a:r>
              <a:rPr lang="en-US" sz="1400" b="1" kern="1200" dirty="0">
                <a:solidFill>
                  <a:schemeClr val="tx1"/>
                </a:solidFill>
                <a:effectLst/>
                <a:latin typeface="+mn-lt"/>
                <a:ea typeface="ＭＳ Ｐゴシック" pitchFamily="-106" charset="-128"/>
                <a:cs typeface="ＭＳ Ｐゴシック" pitchFamily="-106" charset="-128"/>
              </a:rPr>
              <a:t>Teaching Point:</a:t>
            </a:r>
            <a:r>
              <a:rPr lang="en-US" sz="1400" kern="1200" dirty="0">
                <a:solidFill>
                  <a:schemeClr val="tx1"/>
                </a:solidFill>
                <a:effectLst/>
                <a:latin typeface="+mn-lt"/>
                <a:ea typeface="ＭＳ Ｐゴシック" pitchFamily="-106" charset="-128"/>
                <a:cs typeface="ＭＳ Ｐゴシック" pitchFamily="-106" charset="-128"/>
              </a:rPr>
              <a:t> God’s character is revealed in His unilateral commitment to Abraham  - He binds Himself to His promises with no possibility of failure.</a:t>
            </a:r>
          </a:p>
          <a:p>
            <a:pPr lvl="0"/>
            <a:endParaRPr lang="en-US" sz="1400" dirty="0"/>
          </a:p>
          <a:p>
            <a:pPr rtl="0" fontAlgn="ctr"/>
            <a:r>
              <a:rPr lang="en-US" sz="1400" b="1" kern="1200" dirty="0">
                <a:solidFill>
                  <a:schemeClr val="tx1"/>
                </a:solidFill>
                <a:effectLst/>
                <a:latin typeface="+mn-lt"/>
                <a:ea typeface="ＭＳ Ｐゴシック" pitchFamily="-106" charset="-128"/>
                <a:cs typeface="ＭＳ Ｐゴシック" pitchFamily="-106" charset="-128"/>
              </a:rPr>
              <a:t>Overview:</a:t>
            </a:r>
            <a:r>
              <a:rPr lang="en-US" sz="1400" kern="1200" dirty="0">
                <a:solidFill>
                  <a:schemeClr val="tx1"/>
                </a:solidFill>
                <a:effectLst/>
                <a:latin typeface="+mn-lt"/>
                <a:ea typeface="ＭＳ Ｐゴシック" pitchFamily="-106" charset="-128"/>
                <a:cs typeface="ＭＳ Ｐゴシック" pitchFamily="-106" charset="-128"/>
              </a:rPr>
              <a:t> God’s covenant with Abraham (land, descendants, blessing) sets the redemptive trajectory.</a:t>
            </a:r>
          </a:p>
          <a:p>
            <a:pPr rtl="0" fontAlgn="ctr"/>
            <a:r>
              <a:rPr lang="en-US" sz="1400" b="1" kern="1200" dirty="0">
                <a:solidFill>
                  <a:schemeClr val="tx1"/>
                </a:solidFill>
                <a:effectLst/>
                <a:latin typeface="+mn-lt"/>
                <a:ea typeface="ＭＳ Ｐゴシック" pitchFamily="-106" charset="-128"/>
                <a:cs typeface="ＭＳ Ｐゴシック" pitchFamily="-106" charset="-128"/>
              </a:rPr>
              <a:t>Teaching Notes:</a:t>
            </a:r>
            <a:endParaRPr lang="en-US" sz="1400" kern="1200" dirty="0">
              <a:solidFill>
                <a:schemeClr val="tx1"/>
              </a:solidFill>
              <a:effectLst/>
              <a:latin typeface="+mn-lt"/>
              <a:ea typeface="ＭＳ Ｐゴシック" pitchFamily="-106" charset="-128"/>
              <a:cs typeface="ＭＳ Ｐゴシック" pitchFamily="-106" charset="-128"/>
            </a:endParaRPr>
          </a:p>
          <a:p>
            <a:pPr lvl="1" rtl="0" fontAlgn="ctr"/>
            <a:r>
              <a:rPr lang="en-US" sz="1400" kern="1200" dirty="0">
                <a:solidFill>
                  <a:schemeClr val="tx1"/>
                </a:solidFill>
                <a:effectLst/>
                <a:latin typeface="+mn-lt"/>
                <a:ea typeface="ＭＳ Ｐゴシック" pitchFamily="-106" charset="-128"/>
                <a:cs typeface="+mn-cs"/>
              </a:rPr>
              <a:t>Genesis 12:1–3 → Call and promise.</a:t>
            </a:r>
          </a:p>
          <a:p>
            <a:pPr lvl="1" rtl="0" fontAlgn="ctr"/>
            <a:r>
              <a:rPr lang="en-US" sz="1400" kern="1200" dirty="0">
                <a:solidFill>
                  <a:schemeClr val="tx1"/>
                </a:solidFill>
                <a:effectLst/>
                <a:latin typeface="+mn-lt"/>
                <a:ea typeface="ＭＳ Ｐゴシック" pitchFamily="-106" charset="-128"/>
                <a:cs typeface="+mn-cs"/>
              </a:rPr>
              <a:t>Genesis 15 → Covenant ratified by God alone.</a:t>
            </a:r>
          </a:p>
          <a:p>
            <a:pPr lvl="1" rtl="0" fontAlgn="ctr"/>
            <a:r>
              <a:rPr lang="en-US" sz="1400" kern="1200" dirty="0">
                <a:solidFill>
                  <a:schemeClr val="tx1"/>
                </a:solidFill>
                <a:effectLst/>
                <a:latin typeface="+mn-lt"/>
                <a:ea typeface="ＭＳ Ｐゴシック" pitchFamily="-106" charset="-128"/>
                <a:cs typeface="+mn-cs"/>
              </a:rPr>
              <a:t>Galatians 3:7–9 → Fulfilled in Christ for all nations.</a:t>
            </a:r>
          </a:p>
          <a:p>
            <a:pPr rtl="0" fontAlgn="ctr"/>
            <a:r>
              <a:rPr lang="en-US" sz="1400" b="1" kern="1200" dirty="0">
                <a:solidFill>
                  <a:schemeClr val="tx1"/>
                </a:solidFill>
                <a:effectLst/>
                <a:latin typeface="+mn-lt"/>
                <a:ea typeface="ＭＳ Ｐゴシック" pitchFamily="-106" charset="-128"/>
                <a:cs typeface="ＭＳ Ｐゴシック" pitchFamily="-106" charset="-128"/>
              </a:rPr>
              <a:t>Cross-References:</a:t>
            </a:r>
            <a:r>
              <a:rPr lang="en-US" sz="1400" kern="1200" dirty="0">
                <a:solidFill>
                  <a:schemeClr val="tx1"/>
                </a:solidFill>
                <a:effectLst/>
                <a:latin typeface="+mn-lt"/>
                <a:ea typeface="ＭＳ Ｐゴシック" pitchFamily="-106" charset="-128"/>
                <a:cs typeface="ＭＳ Ｐゴシック" pitchFamily="-106" charset="-128"/>
              </a:rPr>
              <a:t> Romans 4:20–21; Hebrews 11:8–12.</a:t>
            </a:r>
          </a:p>
          <a:p>
            <a:pPr rtl="0" fontAlgn="ctr"/>
            <a:endParaRPr lang="en-US" sz="1400" kern="1200" dirty="0">
              <a:solidFill>
                <a:schemeClr val="tx1"/>
              </a:solidFill>
              <a:effectLst/>
              <a:latin typeface="+mn-lt"/>
              <a:ea typeface="ＭＳ Ｐゴシック" pitchFamily="-106" charset="-128"/>
              <a:cs typeface="ＭＳ Ｐゴシック" pitchFamily="-106" charset="-128"/>
            </a:endParaRPr>
          </a:p>
          <a:p>
            <a:pPr rtl="0" fontAlgn="ctr"/>
            <a:r>
              <a:rPr lang="en-US" sz="1400" b="1" kern="1200" dirty="0">
                <a:solidFill>
                  <a:schemeClr val="tx1"/>
                </a:solidFill>
                <a:effectLst/>
                <a:latin typeface="+mn-lt"/>
                <a:ea typeface="ＭＳ Ｐゴシック" pitchFamily="-106" charset="-128"/>
                <a:cs typeface="ＭＳ Ｐゴシック" pitchFamily="-106" charset="-128"/>
              </a:rPr>
              <a:t>Discussion Guidance:</a:t>
            </a:r>
            <a:r>
              <a:rPr lang="en-US" sz="1400" kern="1200" dirty="0">
                <a:solidFill>
                  <a:schemeClr val="tx1"/>
                </a:solidFill>
                <a:effectLst/>
                <a:latin typeface="+mn-lt"/>
                <a:ea typeface="ＭＳ Ｐゴシック" pitchFamily="-106" charset="-128"/>
                <a:cs typeface="ＭＳ Ｐゴシック" pitchFamily="-106" charset="-128"/>
              </a:rPr>
              <a:t> Highlight Abraham’s faith response; How did Abraham’s respond?   </a:t>
            </a:r>
          </a:p>
          <a:p>
            <a:pPr lvl="0"/>
            <a:endParaRPr lang="en-US" sz="1400" dirty="0"/>
          </a:p>
          <a:p>
            <a:pPr marL="0" marR="0" lvl="0" indent="0" algn="l" defTabSz="914400" rtl="0" eaLnBrk="0" fontAlgn="base" latinLnBrk="0" hangingPunct="0">
              <a:lnSpc>
                <a:spcPct val="100000"/>
              </a:lnSpc>
              <a:spcBef>
                <a:spcPct val="30000"/>
              </a:spcBef>
              <a:spcAft>
                <a:spcPct val="0"/>
              </a:spcAft>
              <a:buClrTx/>
              <a:buSzTx/>
              <a:buFontTx/>
              <a:buNone/>
              <a:tabLst/>
              <a:defRPr/>
            </a:pPr>
            <a:r>
              <a:rPr lang="en-US" sz="1400" b="1" dirty="0"/>
              <a:t>READ</a:t>
            </a:r>
            <a:r>
              <a:rPr lang="en-US" sz="1400" b="1" kern="1200" dirty="0">
                <a:solidFill>
                  <a:schemeClr val="tx1"/>
                </a:solidFill>
                <a:effectLst/>
                <a:latin typeface="+mn-lt"/>
                <a:ea typeface="ＭＳ Ｐゴシック" pitchFamily="-106" charset="-128"/>
                <a:cs typeface="ＭＳ Ｐゴシック" pitchFamily="-106" charset="-128"/>
              </a:rPr>
              <a:t>:  Romans 4:20–21; Hebrews 11:8–12.</a:t>
            </a:r>
          </a:p>
          <a:p>
            <a:pPr lvl="0"/>
            <a:endParaRPr lang="en-US" sz="1400" dirty="0"/>
          </a:p>
        </p:txBody>
      </p:sp>
      <p:sp>
        <p:nvSpPr>
          <p:cNvPr id="4" name="Slide Number Placeholder 3"/>
          <p:cNvSpPr>
            <a:spLocks noGrp="1"/>
          </p:cNvSpPr>
          <p:nvPr>
            <p:ph type="sldNum" sz="quarter" idx="10"/>
          </p:nvPr>
        </p:nvSpPr>
        <p:spPr/>
        <p:txBody>
          <a:bodyPr/>
          <a:lstStyle/>
          <a:p>
            <a:pPr>
              <a:defRPr/>
            </a:pPr>
            <a:fld id="{07776858-791E-4C8D-8FA3-473B3AFECFAC}" type="slidenum">
              <a:rPr lang="en-US" smtClean="0"/>
              <a:pPr>
                <a:defRPr/>
              </a:pPr>
              <a:t>5</a:t>
            </a:fld>
            <a:endParaRPr lang="en-US"/>
          </a:p>
        </p:txBody>
      </p:sp>
    </p:spTree>
    <p:extLst>
      <p:ext uri="{BB962C8B-B14F-4D97-AF65-F5344CB8AC3E}">
        <p14:creationId xmlns:p14="http://schemas.microsoft.com/office/powerpoint/2010/main" val="16024091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B7B2D3-92A7-9CDF-1984-501A4F94123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65D685F-C5A6-C76F-E631-FC5ABFB061E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62E2E38-7FC5-CCA8-9084-88D6BEED6A57}"/>
              </a:ext>
            </a:extLst>
          </p:cNvPr>
          <p:cNvSpPr>
            <a:spLocks noGrp="1"/>
          </p:cNvSpPr>
          <p:nvPr>
            <p:ph type="body" idx="1"/>
          </p:nvPr>
        </p:nvSpPr>
        <p:spPr/>
        <p:txBody>
          <a:bodyPr>
            <a:normAutofit fontScale="92500"/>
          </a:bodyPr>
          <a:lstStyle/>
          <a:p>
            <a:r>
              <a:rPr lang="en-US" sz="1400" b="1" kern="1200" dirty="0">
                <a:solidFill>
                  <a:schemeClr val="tx1"/>
                </a:solidFill>
                <a:effectLst/>
                <a:latin typeface="+mn-lt"/>
                <a:ea typeface="ＭＳ Ｐゴシック" pitchFamily="-106" charset="-128"/>
                <a:cs typeface="ＭＳ Ｐゴシック" pitchFamily="-106" charset="-128"/>
              </a:rPr>
              <a:t>God’s Character Revealed in Christ (Abraham’s Seed)</a:t>
            </a:r>
          </a:p>
          <a:p>
            <a:endParaRPr lang="en-US" sz="1400" kern="1200" dirty="0">
              <a:solidFill>
                <a:schemeClr val="tx1"/>
              </a:solidFill>
              <a:effectLst/>
              <a:latin typeface="+mn-lt"/>
              <a:ea typeface="ＭＳ Ｐゴシック" pitchFamily="-106" charset="-128"/>
              <a:cs typeface="ＭＳ Ｐゴシック" pitchFamily="-106" charset="-128"/>
            </a:endParaRPr>
          </a:p>
          <a:p>
            <a:pPr rtl="0" fontAlgn="ctr"/>
            <a:r>
              <a:rPr lang="en-US" sz="1400" b="1" kern="1200" dirty="0">
                <a:solidFill>
                  <a:schemeClr val="tx1"/>
                </a:solidFill>
                <a:effectLst/>
                <a:latin typeface="+mn-lt"/>
                <a:ea typeface="ＭＳ Ｐゴシック" pitchFamily="-106" charset="-128"/>
                <a:cs typeface="ＭＳ Ｐゴシック" pitchFamily="-106" charset="-128"/>
              </a:rPr>
              <a:t>Jesus, the Fulfillment of the Promise</a:t>
            </a:r>
            <a:endParaRPr lang="en-US" sz="1400" kern="1200" dirty="0">
              <a:solidFill>
                <a:schemeClr val="tx1"/>
              </a:solidFill>
              <a:effectLst/>
              <a:latin typeface="+mn-lt"/>
              <a:ea typeface="ＭＳ Ｐゴシック" pitchFamily="-106" charset="-128"/>
              <a:cs typeface="ＭＳ Ｐゴシック" pitchFamily="-106" charset="-128"/>
            </a:endParaRPr>
          </a:p>
          <a:p>
            <a:pPr lvl="1" rtl="0" fontAlgn="ctr"/>
            <a:r>
              <a:rPr lang="en-US" sz="1400" i="1" kern="1200" dirty="0">
                <a:solidFill>
                  <a:schemeClr val="tx1"/>
                </a:solidFill>
                <a:effectLst/>
                <a:latin typeface="+mn-lt"/>
                <a:ea typeface="ＭＳ Ｐゴシック" pitchFamily="-106" charset="-128"/>
                <a:cs typeface="+mn-cs"/>
              </a:rPr>
              <a:t>Galatians 3:16</a:t>
            </a:r>
            <a:r>
              <a:rPr lang="en-US" sz="1400" kern="1200" dirty="0">
                <a:solidFill>
                  <a:schemeClr val="tx1"/>
                </a:solidFill>
                <a:effectLst/>
                <a:latin typeface="+mn-lt"/>
                <a:ea typeface="ＭＳ Ｐゴシック" pitchFamily="-106" charset="-128"/>
                <a:cs typeface="+mn-cs"/>
              </a:rPr>
              <a:t>  The promises were ultimately to Abraham’s “seed,” Christ.</a:t>
            </a:r>
          </a:p>
          <a:p>
            <a:pPr lvl="1" rtl="0" fontAlgn="ctr"/>
            <a:r>
              <a:rPr lang="en-US" sz="1400" i="1" kern="1200" dirty="0">
                <a:solidFill>
                  <a:schemeClr val="tx1"/>
                </a:solidFill>
                <a:effectLst/>
                <a:latin typeface="+mn-lt"/>
                <a:ea typeface="ＭＳ Ｐゴシック" pitchFamily="-106" charset="-128"/>
                <a:cs typeface="+mn-cs"/>
              </a:rPr>
              <a:t>Luke 3:34</a:t>
            </a:r>
            <a:r>
              <a:rPr lang="en-US" sz="1400" kern="1200" dirty="0">
                <a:solidFill>
                  <a:schemeClr val="tx1"/>
                </a:solidFill>
                <a:effectLst/>
                <a:latin typeface="+mn-lt"/>
                <a:ea typeface="ＭＳ Ｐゴシック" pitchFamily="-106" charset="-128"/>
                <a:cs typeface="+mn-cs"/>
              </a:rPr>
              <a:t>   Jesus is in Abraham’s line, the heir of the covenant.</a:t>
            </a:r>
          </a:p>
          <a:p>
            <a:pPr rtl="0" fontAlgn="ctr"/>
            <a:r>
              <a:rPr lang="en-US" sz="1400" b="1" kern="1200" dirty="0">
                <a:solidFill>
                  <a:schemeClr val="tx1"/>
                </a:solidFill>
                <a:effectLst/>
                <a:latin typeface="+mn-lt"/>
                <a:ea typeface="ＭＳ Ｐゴシック" pitchFamily="-106" charset="-128"/>
                <a:cs typeface="ＭＳ Ｐゴシック" pitchFamily="-106" charset="-128"/>
              </a:rPr>
              <a:t>Blessing to the Nations</a:t>
            </a:r>
            <a:endParaRPr lang="en-US" sz="1400" kern="1200" dirty="0">
              <a:solidFill>
                <a:schemeClr val="tx1"/>
              </a:solidFill>
              <a:effectLst/>
              <a:latin typeface="+mn-lt"/>
              <a:ea typeface="ＭＳ Ｐゴシック" pitchFamily="-106" charset="-128"/>
              <a:cs typeface="ＭＳ Ｐゴシック" pitchFamily="-106" charset="-128"/>
            </a:endParaRPr>
          </a:p>
          <a:p>
            <a:pPr lvl="1" rtl="0" fontAlgn="ctr"/>
            <a:r>
              <a:rPr lang="en-US" sz="1400" i="1" kern="1200" dirty="0">
                <a:solidFill>
                  <a:schemeClr val="tx1"/>
                </a:solidFill>
                <a:effectLst/>
                <a:latin typeface="+mn-lt"/>
                <a:ea typeface="ＭＳ Ｐゴシック" pitchFamily="-106" charset="-128"/>
                <a:cs typeface="+mn-cs"/>
              </a:rPr>
              <a:t>Galatians 3:8</a:t>
            </a:r>
            <a:r>
              <a:rPr lang="en-US" sz="1400" kern="1200" dirty="0">
                <a:solidFill>
                  <a:schemeClr val="tx1"/>
                </a:solidFill>
                <a:effectLst/>
                <a:latin typeface="+mn-lt"/>
                <a:ea typeface="ＭＳ Ｐゴシック" pitchFamily="-106" charset="-128"/>
                <a:cs typeface="+mn-cs"/>
              </a:rPr>
              <a:t>   The gospel was announced beforehand to Abraham: all nations blessed in Christ.</a:t>
            </a:r>
          </a:p>
          <a:p>
            <a:pPr lvl="1" rtl="0" fontAlgn="ctr"/>
            <a:r>
              <a:rPr lang="en-US" sz="1400" i="1" kern="1200" dirty="0">
                <a:solidFill>
                  <a:schemeClr val="tx1"/>
                </a:solidFill>
                <a:effectLst/>
                <a:latin typeface="+mn-lt"/>
                <a:ea typeface="ＭＳ Ｐゴシック" pitchFamily="-106" charset="-128"/>
                <a:cs typeface="+mn-cs"/>
              </a:rPr>
              <a:t>Matthew 28:19</a:t>
            </a:r>
            <a:r>
              <a:rPr lang="en-US" sz="1400" kern="1200" dirty="0">
                <a:solidFill>
                  <a:schemeClr val="tx1"/>
                </a:solidFill>
                <a:effectLst/>
                <a:latin typeface="+mn-lt"/>
                <a:ea typeface="ＭＳ Ｐゴシック" pitchFamily="-106" charset="-128"/>
                <a:cs typeface="+mn-cs"/>
              </a:rPr>
              <a:t>   Fulfillment in the Great Commission to the nations.</a:t>
            </a:r>
          </a:p>
          <a:p>
            <a:pPr rtl="0" fontAlgn="ctr"/>
            <a:r>
              <a:rPr lang="en-US" sz="1400" b="1" kern="1200" dirty="0">
                <a:solidFill>
                  <a:schemeClr val="tx1"/>
                </a:solidFill>
                <a:effectLst/>
                <a:latin typeface="+mn-lt"/>
                <a:ea typeface="ＭＳ Ｐゴシック" pitchFamily="-106" charset="-128"/>
                <a:cs typeface="ＭＳ Ｐゴシック" pitchFamily="-106" charset="-128"/>
              </a:rPr>
              <a:t>Faith as the Response</a:t>
            </a:r>
            <a:endParaRPr lang="en-US" sz="1400" kern="1200" dirty="0">
              <a:solidFill>
                <a:schemeClr val="tx1"/>
              </a:solidFill>
              <a:effectLst/>
              <a:latin typeface="+mn-lt"/>
              <a:ea typeface="ＭＳ Ｐゴシック" pitchFamily="-106" charset="-128"/>
              <a:cs typeface="ＭＳ Ｐゴシック" pitchFamily="-106" charset="-128"/>
            </a:endParaRPr>
          </a:p>
          <a:p>
            <a:pPr lvl="1" rtl="0" fontAlgn="ctr"/>
            <a:r>
              <a:rPr lang="en-US" sz="1400" i="1" kern="1200" dirty="0">
                <a:solidFill>
                  <a:schemeClr val="tx1"/>
                </a:solidFill>
                <a:effectLst/>
                <a:latin typeface="+mn-lt"/>
                <a:ea typeface="ＭＳ Ｐゴシック" pitchFamily="-106" charset="-128"/>
                <a:cs typeface="+mn-cs"/>
              </a:rPr>
              <a:t>Romans 4:20–21</a:t>
            </a:r>
            <a:r>
              <a:rPr lang="en-US" sz="1400" kern="1200" dirty="0">
                <a:solidFill>
                  <a:schemeClr val="tx1"/>
                </a:solidFill>
                <a:effectLst/>
                <a:latin typeface="+mn-lt"/>
                <a:ea typeface="ＭＳ Ｐゴシック" pitchFamily="-106" charset="-128"/>
                <a:cs typeface="+mn-cs"/>
              </a:rPr>
              <a:t>   Abraham’s faith in God’s promise models how we trust in Christ.</a:t>
            </a:r>
          </a:p>
          <a:p>
            <a:pPr lvl="1" rtl="0" fontAlgn="ctr"/>
            <a:endParaRPr lang="en-US" sz="1400" kern="1200" dirty="0">
              <a:solidFill>
                <a:schemeClr val="tx1"/>
              </a:solidFill>
              <a:effectLst/>
              <a:latin typeface="+mn-lt"/>
              <a:ea typeface="ＭＳ Ｐゴシック" pitchFamily="-106" charset="-128"/>
              <a:cs typeface="+mn-cs"/>
            </a:endParaRPr>
          </a:p>
          <a:p>
            <a:r>
              <a:rPr lang="en-US" sz="1400" b="1" kern="1200" dirty="0">
                <a:solidFill>
                  <a:schemeClr val="tx1"/>
                </a:solidFill>
                <a:effectLst/>
                <a:latin typeface="+mn-lt"/>
                <a:ea typeface="ＭＳ Ｐゴシック" pitchFamily="-106" charset="-128"/>
                <a:cs typeface="ＭＳ Ｐゴシック" pitchFamily="-106" charset="-128"/>
              </a:rPr>
              <a:t>Teaching Point:</a:t>
            </a:r>
            <a:r>
              <a:rPr lang="en-US" sz="1400" kern="1200" dirty="0">
                <a:solidFill>
                  <a:schemeClr val="tx1"/>
                </a:solidFill>
                <a:effectLst/>
                <a:latin typeface="+mn-lt"/>
                <a:ea typeface="ＭＳ Ｐゴシック" pitchFamily="-106" charset="-128"/>
                <a:cs typeface="ＭＳ Ｐゴシック" pitchFamily="-106" charset="-128"/>
              </a:rPr>
              <a:t> The covenant blessing reaches its climax in Jesus Christ, who brings salvation to every nation.</a:t>
            </a:r>
          </a:p>
          <a:p>
            <a:endParaRPr lang="en-US" sz="1400" dirty="0"/>
          </a:p>
          <a:p>
            <a:endParaRPr lang="en-US" sz="1400" dirty="0"/>
          </a:p>
          <a:p>
            <a:r>
              <a:rPr lang="en-US" sz="1400" b="1" kern="1200" dirty="0">
                <a:solidFill>
                  <a:schemeClr val="tx1"/>
                </a:solidFill>
                <a:effectLst/>
                <a:latin typeface="+mn-lt"/>
                <a:ea typeface="ＭＳ Ｐゴシック" pitchFamily="-106" charset="-128"/>
                <a:cs typeface="ＭＳ Ｐゴシック" pitchFamily="-106" charset="-128"/>
              </a:rPr>
              <a:t>Discussion Questions</a:t>
            </a:r>
            <a:endParaRPr lang="en-US" sz="1400" kern="1200" dirty="0">
              <a:solidFill>
                <a:schemeClr val="tx1"/>
              </a:solidFill>
              <a:effectLst/>
              <a:latin typeface="+mn-lt"/>
              <a:ea typeface="ＭＳ Ｐゴシック" pitchFamily="-106" charset="-128"/>
              <a:cs typeface="ＭＳ Ｐゴシック" pitchFamily="-106" charset="-128"/>
            </a:endParaRPr>
          </a:p>
          <a:p>
            <a:pPr rtl="0" fontAlgn="ctr"/>
            <a:r>
              <a:rPr lang="en-US" sz="1400" b="0" i="0" kern="1200" dirty="0">
                <a:solidFill>
                  <a:schemeClr val="tx1"/>
                </a:solidFill>
                <a:effectLst/>
                <a:latin typeface="+mn-lt"/>
                <a:ea typeface="ＭＳ Ｐゴシック" pitchFamily="-106" charset="-128"/>
                <a:cs typeface="ＭＳ Ｐゴシック" pitchFamily="-106" charset="-128"/>
              </a:rPr>
              <a:t>Why did God’s promise to Abraham matter so much in the biblical storyline?</a:t>
            </a:r>
          </a:p>
          <a:p>
            <a:pPr rtl="0" fontAlgn="ctr"/>
            <a:r>
              <a:rPr lang="en-US" sz="1400" b="1" i="0" kern="1200" dirty="0">
                <a:solidFill>
                  <a:schemeClr val="tx1"/>
                </a:solidFill>
                <a:effectLst/>
                <a:latin typeface="+mn-lt"/>
                <a:ea typeface="ＭＳ Ｐゴシック" pitchFamily="-106" charset="-128"/>
                <a:cs typeface="ＭＳ Ｐゴシック" pitchFamily="-106" charset="-128"/>
              </a:rPr>
              <a:t>How does Abraham’s faith model the way we are to trust God today?</a:t>
            </a:r>
          </a:p>
          <a:p>
            <a:pPr rtl="0" fontAlgn="ctr"/>
            <a:r>
              <a:rPr lang="en-US" sz="1400" b="0" i="0" kern="1200" dirty="0">
                <a:solidFill>
                  <a:schemeClr val="tx1"/>
                </a:solidFill>
                <a:effectLst/>
                <a:latin typeface="+mn-lt"/>
                <a:ea typeface="ＭＳ Ｐゴシック" pitchFamily="-106" charset="-128"/>
                <a:cs typeface="ＭＳ Ｐゴシック" pitchFamily="-106" charset="-128"/>
              </a:rPr>
              <a:t>In what ways are you personally living as an heir of Abraham’s promise?</a:t>
            </a:r>
          </a:p>
          <a:p>
            <a:pPr rtl="0" fontAlgn="ctr"/>
            <a:r>
              <a:rPr lang="en-US" sz="1400" b="0" i="0" kern="1200" dirty="0">
                <a:solidFill>
                  <a:schemeClr val="tx1"/>
                </a:solidFill>
                <a:effectLst/>
                <a:latin typeface="+mn-lt"/>
                <a:ea typeface="ＭＳ Ｐゴシック" pitchFamily="-106" charset="-128"/>
                <a:cs typeface="ＭＳ Ｐゴシック" pitchFamily="-106" charset="-128"/>
              </a:rPr>
              <a:t>How does this covenant shape our mission to bless the nations?</a:t>
            </a:r>
          </a:p>
          <a:p>
            <a:endParaRPr lang="en-US" dirty="0"/>
          </a:p>
        </p:txBody>
      </p:sp>
      <p:sp>
        <p:nvSpPr>
          <p:cNvPr id="4" name="Slide Number Placeholder 3">
            <a:extLst>
              <a:ext uri="{FF2B5EF4-FFF2-40B4-BE49-F238E27FC236}">
                <a16:creationId xmlns:a16="http://schemas.microsoft.com/office/drawing/2014/main" id="{674C1806-F0F4-D575-BA60-115600A86D76}"/>
              </a:ext>
            </a:extLst>
          </p:cNvPr>
          <p:cNvSpPr>
            <a:spLocks noGrp="1"/>
          </p:cNvSpPr>
          <p:nvPr>
            <p:ph type="sldNum" sz="quarter" idx="10"/>
          </p:nvPr>
        </p:nvSpPr>
        <p:spPr/>
        <p:txBody>
          <a:bodyPr/>
          <a:lstStyle/>
          <a:p>
            <a:pPr>
              <a:defRPr/>
            </a:pPr>
            <a:fld id="{07776858-791E-4C8D-8FA3-473B3AFECFAC}" type="slidenum">
              <a:rPr lang="en-US" smtClean="0"/>
              <a:pPr>
                <a:defRPr/>
              </a:pPr>
              <a:t>6</a:t>
            </a:fld>
            <a:endParaRPr lang="en-US"/>
          </a:p>
        </p:txBody>
      </p:sp>
    </p:spTree>
    <p:extLst>
      <p:ext uri="{BB962C8B-B14F-4D97-AF65-F5344CB8AC3E}">
        <p14:creationId xmlns:p14="http://schemas.microsoft.com/office/powerpoint/2010/main" val="238843099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B8BF06-F966-B39B-09C5-2EC93F0CA7A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82F5257-3A74-ED22-BC05-BE02BCD9645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6699129-E9F6-6023-D665-985F2DB6ECBF}"/>
              </a:ext>
            </a:extLst>
          </p:cNvPr>
          <p:cNvSpPr>
            <a:spLocks noGrp="1"/>
          </p:cNvSpPr>
          <p:nvPr>
            <p:ph type="body" idx="1"/>
          </p:nvPr>
        </p:nvSpPr>
        <p:spPr/>
        <p:txBody>
          <a:bodyPr>
            <a:normAutofit fontScale="92500" lnSpcReduction="10000"/>
          </a:bodyPr>
          <a:lstStyle/>
          <a:p>
            <a:r>
              <a:rPr lang="en-US" sz="1400" kern="1200" dirty="0">
                <a:solidFill>
                  <a:schemeClr val="tx1"/>
                </a:solidFill>
                <a:effectLst/>
                <a:latin typeface="+mn-lt"/>
                <a:ea typeface="ＭＳ Ｐゴシック" pitchFamily="-106" charset="-128"/>
                <a:cs typeface="ＭＳ Ｐゴシック" pitchFamily="-106" charset="-128"/>
              </a:rPr>
              <a:t>These passages explicitly </a:t>
            </a:r>
            <a:r>
              <a:rPr lang="en-US" sz="1400" b="1" kern="1200" dirty="0">
                <a:solidFill>
                  <a:schemeClr val="tx1"/>
                </a:solidFill>
                <a:effectLst/>
                <a:latin typeface="+mn-lt"/>
                <a:ea typeface="ＭＳ Ｐゴシック" pitchFamily="-106" charset="-128"/>
                <a:cs typeface="ＭＳ Ｐゴシック" pitchFamily="-106" charset="-128"/>
              </a:rPr>
              <a:t>quote or allude</a:t>
            </a:r>
            <a:r>
              <a:rPr lang="en-US" sz="1400" kern="1200" dirty="0">
                <a:solidFill>
                  <a:schemeClr val="tx1"/>
                </a:solidFill>
                <a:effectLst/>
                <a:latin typeface="+mn-lt"/>
                <a:ea typeface="ＭＳ Ｐゴシック" pitchFamily="-106" charset="-128"/>
                <a:cs typeface="ＭＳ Ｐゴシック" pitchFamily="-106" charset="-128"/>
              </a:rPr>
              <a:t> to God’s words in Genesis 12:1-3, 15:5-6, or 17:7.</a:t>
            </a:r>
          </a:p>
          <a:p>
            <a:endParaRPr lang="en-US" sz="1400" kern="1200" dirty="0">
              <a:solidFill>
                <a:schemeClr val="tx1"/>
              </a:solidFill>
              <a:effectLst/>
              <a:latin typeface="+mn-lt"/>
              <a:ea typeface="ＭＳ Ｐゴシック" pitchFamily="-106" charset="-128"/>
              <a:cs typeface="ＭＳ Ｐゴシック" pitchFamily="-106" charset="-128"/>
            </a:endParaRPr>
          </a:p>
          <a:p>
            <a:pPr defTabSz="938266"/>
            <a:endParaRPr lang="en-US" sz="1400" dirty="0"/>
          </a:p>
          <a:p>
            <a:endParaRPr lang="en-US" dirty="0"/>
          </a:p>
        </p:txBody>
      </p:sp>
      <p:sp>
        <p:nvSpPr>
          <p:cNvPr id="4" name="Slide Number Placeholder 3">
            <a:extLst>
              <a:ext uri="{FF2B5EF4-FFF2-40B4-BE49-F238E27FC236}">
                <a16:creationId xmlns:a16="http://schemas.microsoft.com/office/drawing/2014/main" id="{A0E90E1C-B8B1-575A-34A6-ACCF5274D2BA}"/>
              </a:ext>
            </a:extLst>
          </p:cNvPr>
          <p:cNvSpPr>
            <a:spLocks noGrp="1"/>
          </p:cNvSpPr>
          <p:nvPr>
            <p:ph type="sldNum" sz="quarter" idx="10"/>
          </p:nvPr>
        </p:nvSpPr>
        <p:spPr/>
        <p:txBody>
          <a:bodyPr/>
          <a:lstStyle/>
          <a:p>
            <a:pPr>
              <a:defRPr/>
            </a:pPr>
            <a:fld id="{07776858-791E-4C8D-8FA3-473B3AFECFAC}" type="slidenum">
              <a:rPr lang="en-US" smtClean="0"/>
              <a:pPr>
                <a:defRPr/>
              </a:pPr>
              <a:t>7</a:t>
            </a:fld>
            <a:endParaRPr lang="en-US" dirty="0"/>
          </a:p>
        </p:txBody>
      </p:sp>
    </p:spTree>
    <p:extLst>
      <p:ext uri="{BB962C8B-B14F-4D97-AF65-F5344CB8AC3E}">
        <p14:creationId xmlns:p14="http://schemas.microsoft.com/office/powerpoint/2010/main" val="176621122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F33DC2-C5AB-76E8-A362-AF21AB59838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BAFD2DC-45CA-30C4-D9E1-7441A55A255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1CB7B08-0738-7796-2E3B-B0A3CA99B812}"/>
              </a:ext>
            </a:extLst>
          </p:cNvPr>
          <p:cNvSpPr>
            <a:spLocks noGrp="1"/>
          </p:cNvSpPr>
          <p:nvPr>
            <p:ph type="body" idx="1"/>
          </p:nvPr>
        </p:nvSpPr>
        <p:spPr/>
        <p:txBody>
          <a:bodyPr>
            <a:normAutofit/>
          </a:bodyPr>
          <a:lstStyle/>
          <a:p>
            <a:r>
              <a:rPr lang="en-US" sz="1400" b="1" kern="1200" dirty="0">
                <a:solidFill>
                  <a:schemeClr val="tx1"/>
                </a:solidFill>
                <a:effectLst/>
                <a:latin typeface="+mn-lt"/>
                <a:ea typeface="ＭＳ Ｐゴシック" pitchFamily="-106" charset="-128"/>
                <a:cs typeface="ＭＳ Ｐゴシック" pitchFamily="-106" charset="-128"/>
              </a:rPr>
              <a:t>The Promise Interpreted Theologically</a:t>
            </a:r>
          </a:p>
          <a:p>
            <a:endParaRPr lang="en-US" sz="1400" kern="1200" dirty="0">
              <a:solidFill>
                <a:schemeClr val="tx1"/>
              </a:solidFill>
              <a:effectLst/>
              <a:latin typeface="+mn-lt"/>
              <a:ea typeface="ＭＳ Ｐゴシック" pitchFamily="-106" charset="-128"/>
              <a:cs typeface="ＭＳ Ｐゴシック" pitchFamily="-106" charset="-128"/>
            </a:endParaRPr>
          </a:p>
          <a:p>
            <a:r>
              <a:rPr lang="en-US" sz="1400" kern="1200" dirty="0">
                <a:solidFill>
                  <a:schemeClr val="tx1"/>
                </a:solidFill>
                <a:effectLst/>
                <a:latin typeface="+mn-lt"/>
                <a:ea typeface="ＭＳ Ｐゴシック" pitchFamily="-106" charset="-128"/>
                <a:cs typeface="ＭＳ Ｐゴシック" pitchFamily="-106" charset="-128"/>
              </a:rPr>
              <a:t>These passages </a:t>
            </a:r>
            <a:r>
              <a:rPr lang="en-US" sz="1400" b="1" kern="1200" dirty="0">
                <a:solidFill>
                  <a:schemeClr val="tx1"/>
                </a:solidFill>
                <a:effectLst/>
                <a:latin typeface="+mn-lt"/>
                <a:ea typeface="ＭＳ Ｐゴシック" pitchFamily="-106" charset="-128"/>
                <a:cs typeface="ＭＳ Ｐゴシック" pitchFamily="-106" charset="-128"/>
              </a:rPr>
              <a:t>explain the covenant’s fulfillment in Christ and believers.</a:t>
            </a:r>
          </a:p>
          <a:p>
            <a:endParaRPr lang="en-US" sz="1400" kern="1200" dirty="0">
              <a:solidFill>
                <a:schemeClr val="tx1"/>
              </a:solidFill>
              <a:effectLst/>
              <a:latin typeface="+mn-lt"/>
              <a:ea typeface="ＭＳ Ｐゴシック" pitchFamily="-106" charset="-128"/>
              <a:cs typeface="ＭＳ Ｐゴシック" pitchFamily="-106" charset="-128"/>
            </a:endParaRPr>
          </a:p>
          <a:p>
            <a:endParaRPr lang="en-US" dirty="0"/>
          </a:p>
        </p:txBody>
      </p:sp>
      <p:sp>
        <p:nvSpPr>
          <p:cNvPr id="4" name="Slide Number Placeholder 3">
            <a:extLst>
              <a:ext uri="{FF2B5EF4-FFF2-40B4-BE49-F238E27FC236}">
                <a16:creationId xmlns:a16="http://schemas.microsoft.com/office/drawing/2014/main" id="{B046579F-C54F-1F21-C5F1-935B1AFA77A2}"/>
              </a:ext>
            </a:extLst>
          </p:cNvPr>
          <p:cNvSpPr>
            <a:spLocks noGrp="1"/>
          </p:cNvSpPr>
          <p:nvPr>
            <p:ph type="sldNum" sz="quarter" idx="10"/>
          </p:nvPr>
        </p:nvSpPr>
        <p:spPr/>
        <p:txBody>
          <a:bodyPr/>
          <a:lstStyle/>
          <a:p>
            <a:pPr>
              <a:defRPr/>
            </a:pPr>
            <a:fld id="{07776858-791E-4C8D-8FA3-473B3AFECFAC}" type="slidenum">
              <a:rPr lang="en-US" smtClean="0"/>
              <a:pPr>
                <a:defRPr/>
              </a:pPr>
              <a:t>8</a:t>
            </a:fld>
            <a:endParaRPr lang="en-US" dirty="0"/>
          </a:p>
        </p:txBody>
      </p:sp>
    </p:spTree>
    <p:extLst>
      <p:ext uri="{BB962C8B-B14F-4D97-AF65-F5344CB8AC3E}">
        <p14:creationId xmlns:p14="http://schemas.microsoft.com/office/powerpoint/2010/main" val="115776934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6F01A6-1927-2D51-09DF-C841AFF9012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EEEE553-4E9E-BD9B-8C34-814D2E64EA1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F9422FF-292F-FD30-5E49-9FFCECD6823B}"/>
              </a:ext>
            </a:extLst>
          </p:cNvPr>
          <p:cNvSpPr>
            <a:spLocks noGrp="1"/>
          </p:cNvSpPr>
          <p:nvPr>
            <p:ph type="body" idx="1"/>
          </p:nvPr>
        </p:nvSpPr>
        <p:spPr/>
        <p:txBody>
          <a:bodyPr>
            <a:normAutofit/>
          </a:bodyPr>
          <a:lstStyle/>
          <a:p>
            <a:r>
              <a:rPr lang="en-US" sz="1400" b="1" kern="1200" dirty="0">
                <a:solidFill>
                  <a:schemeClr val="tx1"/>
                </a:solidFill>
                <a:effectLst/>
                <a:latin typeface="+mn-lt"/>
                <a:ea typeface="ＭＳ Ｐゴシック" pitchFamily="-106" charset="-128"/>
                <a:cs typeface="ＭＳ Ｐゴシック" pitchFamily="-106" charset="-128"/>
              </a:rPr>
              <a:t>The Promise Extended to the Nations</a:t>
            </a:r>
            <a:endParaRPr lang="en-US" sz="1400" kern="1200" dirty="0">
              <a:solidFill>
                <a:schemeClr val="tx1"/>
              </a:solidFill>
              <a:effectLst/>
              <a:latin typeface="+mn-lt"/>
              <a:ea typeface="ＭＳ Ｐゴシック" pitchFamily="-106" charset="-128"/>
              <a:cs typeface="ＭＳ Ｐゴシック" pitchFamily="-106" charset="-128"/>
            </a:endParaRPr>
          </a:p>
          <a:p>
            <a:endParaRPr lang="en-US" sz="1400" kern="1200" dirty="0">
              <a:solidFill>
                <a:schemeClr val="tx1"/>
              </a:solidFill>
              <a:effectLst/>
              <a:latin typeface="+mn-lt"/>
              <a:ea typeface="ＭＳ Ｐゴシック" pitchFamily="-106" charset="-128"/>
              <a:cs typeface="ＭＳ Ｐゴシック" pitchFamily="-106" charset="-128"/>
            </a:endParaRPr>
          </a:p>
          <a:p>
            <a:r>
              <a:rPr lang="en-US" sz="1400" kern="1200" dirty="0">
                <a:solidFill>
                  <a:schemeClr val="tx1"/>
                </a:solidFill>
                <a:effectLst/>
                <a:latin typeface="+mn-lt"/>
                <a:ea typeface="ＭＳ Ｐゴシック" pitchFamily="-106" charset="-128"/>
                <a:cs typeface="ＭＳ Ｐゴシック" pitchFamily="-106" charset="-128"/>
              </a:rPr>
              <a:t>These passages </a:t>
            </a:r>
            <a:r>
              <a:rPr lang="en-US" sz="1400" b="1" kern="1200" dirty="0">
                <a:solidFill>
                  <a:schemeClr val="tx1"/>
                </a:solidFill>
                <a:effectLst/>
                <a:latin typeface="+mn-lt"/>
                <a:ea typeface="ＭＳ Ｐゴシック" pitchFamily="-106" charset="-128"/>
                <a:cs typeface="ＭＳ Ｐゴシック" pitchFamily="-106" charset="-128"/>
              </a:rPr>
              <a:t>apply Abraham’s blessing to the global mission of the church.</a:t>
            </a:r>
          </a:p>
          <a:p>
            <a:endParaRPr lang="en-US" sz="1400" kern="1200" dirty="0">
              <a:solidFill>
                <a:schemeClr val="tx1"/>
              </a:solidFill>
              <a:effectLst/>
              <a:latin typeface="+mn-lt"/>
              <a:ea typeface="ＭＳ Ｐゴシック" pitchFamily="-106" charset="-128"/>
              <a:cs typeface="ＭＳ Ｐゴシック" pitchFamily="-106" charset="-128"/>
            </a:endParaRPr>
          </a:p>
          <a:p>
            <a:pPr rtl="0" fontAlgn="ctr"/>
            <a:r>
              <a:rPr lang="en-US" sz="1400" b="1" kern="1200" dirty="0">
                <a:solidFill>
                  <a:schemeClr val="tx1"/>
                </a:solidFill>
                <a:effectLst/>
                <a:latin typeface="+mn-lt"/>
                <a:ea typeface="ＭＳ Ｐゴシック" pitchFamily="-106" charset="-128"/>
                <a:cs typeface="ＭＳ Ｐゴシック" pitchFamily="-106" charset="-128"/>
              </a:rPr>
              <a:t>Matthew 8:11–12</a:t>
            </a:r>
            <a:r>
              <a:rPr lang="en-US" sz="1400" kern="1200" dirty="0">
                <a:solidFill>
                  <a:schemeClr val="tx1"/>
                </a:solidFill>
                <a:effectLst/>
                <a:latin typeface="+mn-lt"/>
                <a:ea typeface="ＭＳ Ｐゴシック" pitchFamily="-106" charset="-128"/>
                <a:cs typeface="ＭＳ Ｐゴシック" pitchFamily="-106" charset="-128"/>
              </a:rPr>
              <a:t>  Jesus says many from east and west will recline with Abraham in the kingdom.</a:t>
            </a:r>
          </a:p>
          <a:p>
            <a:pPr rtl="0" fontAlgn="ctr"/>
            <a:r>
              <a:rPr lang="en-US" sz="1400" b="1" kern="1200" dirty="0">
                <a:solidFill>
                  <a:schemeClr val="tx1"/>
                </a:solidFill>
                <a:effectLst/>
                <a:latin typeface="+mn-lt"/>
                <a:ea typeface="ＭＳ Ｐゴシック" pitchFamily="-106" charset="-128"/>
                <a:cs typeface="ＭＳ Ｐゴシック" pitchFamily="-106" charset="-128"/>
              </a:rPr>
              <a:t>Luke 13:28–29</a:t>
            </a:r>
            <a:r>
              <a:rPr lang="en-US" sz="1400" kern="1200" dirty="0">
                <a:solidFill>
                  <a:schemeClr val="tx1"/>
                </a:solidFill>
                <a:effectLst/>
                <a:latin typeface="+mn-lt"/>
                <a:ea typeface="ＭＳ Ｐゴシック" pitchFamily="-106" charset="-128"/>
                <a:cs typeface="ＭＳ Ｐゴシック" pitchFamily="-106" charset="-128"/>
              </a:rPr>
              <a:t>  Echoes the same image of Gentiles included with the patriarchs.</a:t>
            </a:r>
          </a:p>
          <a:p>
            <a:pPr rtl="0" fontAlgn="ctr"/>
            <a:r>
              <a:rPr lang="en-US" sz="1400" b="1" kern="1200" dirty="0">
                <a:solidFill>
                  <a:schemeClr val="tx1"/>
                </a:solidFill>
                <a:effectLst/>
                <a:latin typeface="+mn-lt"/>
                <a:ea typeface="ＭＳ Ｐゴシック" pitchFamily="-106" charset="-128"/>
                <a:cs typeface="ＭＳ Ｐゴシック" pitchFamily="-106" charset="-128"/>
              </a:rPr>
              <a:t>Acts 13:32–33</a:t>
            </a:r>
            <a:r>
              <a:rPr lang="en-US" sz="1400" kern="1200" dirty="0">
                <a:solidFill>
                  <a:schemeClr val="tx1"/>
                </a:solidFill>
                <a:effectLst/>
                <a:latin typeface="+mn-lt"/>
                <a:ea typeface="ＭＳ Ｐゴシック" pitchFamily="-106" charset="-128"/>
                <a:cs typeface="ＭＳ Ｐゴシック" pitchFamily="-106" charset="-128"/>
              </a:rPr>
              <a:t>  Paul calls the resurrection “the good news that God promised to the fathers.”</a:t>
            </a:r>
          </a:p>
          <a:p>
            <a:pPr rtl="0" fontAlgn="ctr"/>
            <a:r>
              <a:rPr lang="en-US" sz="1400" b="1" kern="1200" dirty="0">
                <a:solidFill>
                  <a:schemeClr val="tx1"/>
                </a:solidFill>
                <a:effectLst/>
                <a:latin typeface="+mn-lt"/>
                <a:ea typeface="ＭＳ Ｐゴシック" pitchFamily="-106" charset="-128"/>
                <a:cs typeface="ＭＳ Ｐゴシック" pitchFamily="-106" charset="-128"/>
              </a:rPr>
              <a:t>Romans 15:8–12</a:t>
            </a:r>
            <a:r>
              <a:rPr lang="en-US" sz="1400" kern="1200" dirty="0">
                <a:solidFill>
                  <a:schemeClr val="tx1"/>
                </a:solidFill>
                <a:effectLst/>
                <a:latin typeface="+mn-lt"/>
                <a:ea typeface="ＭＳ Ｐゴシック" pitchFamily="-106" charset="-128"/>
                <a:cs typeface="ＭＳ Ｐゴシック" pitchFamily="-106" charset="-128"/>
              </a:rPr>
              <a:t>  Paul teaches that Christ confirmed the promises to the patriarchs so the Gentiles might glorify God.</a:t>
            </a:r>
          </a:p>
          <a:p>
            <a:pPr rtl="0" fontAlgn="ctr"/>
            <a:r>
              <a:rPr lang="en-US" sz="1400" b="1" kern="1200" dirty="0">
                <a:solidFill>
                  <a:schemeClr val="tx1"/>
                </a:solidFill>
                <a:effectLst/>
                <a:latin typeface="+mn-lt"/>
                <a:ea typeface="ＭＳ Ｐゴシック" pitchFamily="-106" charset="-128"/>
                <a:cs typeface="ＭＳ Ｐゴシック" pitchFamily="-106" charset="-128"/>
              </a:rPr>
              <a:t>Galatians 3:7–9</a:t>
            </a:r>
            <a:r>
              <a:rPr lang="en-US" sz="1400" kern="1200" dirty="0">
                <a:solidFill>
                  <a:schemeClr val="tx1"/>
                </a:solidFill>
                <a:effectLst/>
                <a:latin typeface="+mn-lt"/>
                <a:ea typeface="ＭＳ Ｐゴシック" pitchFamily="-106" charset="-128"/>
                <a:cs typeface="ＭＳ Ｐゴシック" pitchFamily="-106" charset="-128"/>
              </a:rPr>
              <a:t>  Those of faith are blessed along with Abraham, the man of faith.</a:t>
            </a:r>
          </a:p>
          <a:p>
            <a:pPr rtl="0" fontAlgn="ctr"/>
            <a:r>
              <a:rPr lang="en-US" sz="1400" b="1" kern="1200" dirty="0">
                <a:solidFill>
                  <a:schemeClr val="tx1"/>
                </a:solidFill>
                <a:effectLst/>
                <a:latin typeface="+mn-lt"/>
                <a:ea typeface="ＭＳ Ｐゴシック" pitchFamily="-106" charset="-128"/>
                <a:cs typeface="ＭＳ Ｐゴシック" pitchFamily="-106" charset="-128"/>
              </a:rPr>
              <a:t>Galatians 3:28–29</a:t>
            </a:r>
            <a:r>
              <a:rPr lang="en-US" sz="1400" kern="1200" dirty="0">
                <a:solidFill>
                  <a:schemeClr val="tx1"/>
                </a:solidFill>
                <a:effectLst/>
                <a:latin typeface="+mn-lt"/>
                <a:ea typeface="ＭＳ Ｐゴシック" pitchFamily="-106" charset="-128"/>
                <a:cs typeface="ＭＳ Ｐゴシック" pitchFamily="-106" charset="-128"/>
              </a:rPr>
              <a:t>  In Christ, all are one; Jew, Greek, slave, free, male, female; and heirs according to promise.</a:t>
            </a:r>
          </a:p>
          <a:p>
            <a:pPr rtl="0" fontAlgn="ctr"/>
            <a:r>
              <a:rPr lang="en-US" sz="1400" b="1" kern="1200" dirty="0">
                <a:solidFill>
                  <a:schemeClr val="tx1"/>
                </a:solidFill>
                <a:effectLst/>
                <a:latin typeface="+mn-lt"/>
                <a:ea typeface="ＭＳ Ｐゴシック" pitchFamily="-106" charset="-128"/>
                <a:cs typeface="ＭＳ Ｐゴシック" pitchFamily="-106" charset="-128"/>
              </a:rPr>
              <a:t>Ephesians 3:6</a:t>
            </a:r>
            <a:r>
              <a:rPr lang="en-US" sz="1400" kern="1200" dirty="0">
                <a:solidFill>
                  <a:schemeClr val="tx1"/>
                </a:solidFill>
                <a:effectLst/>
                <a:latin typeface="+mn-lt"/>
                <a:ea typeface="ＭＳ Ｐゴシック" pitchFamily="-106" charset="-128"/>
                <a:cs typeface="ＭＳ Ｐゴシック" pitchFamily="-106" charset="-128"/>
              </a:rPr>
              <a:t> – Gentiles are “fellow heirs, members of the same body, and partakers of the promise in Christ Jesus through the gospel.”</a:t>
            </a:r>
          </a:p>
          <a:p>
            <a:endParaRPr lang="en-US" dirty="0"/>
          </a:p>
        </p:txBody>
      </p:sp>
      <p:sp>
        <p:nvSpPr>
          <p:cNvPr id="4" name="Slide Number Placeholder 3">
            <a:extLst>
              <a:ext uri="{FF2B5EF4-FFF2-40B4-BE49-F238E27FC236}">
                <a16:creationId xmlns:a16="http://schemas.microsoft.com/office/drawing/2014/main" id="{20BDD4E2-E0B8-5B0E-0877-6C185C05C0AD}"/>
              </a:ext>
            </a:extLst>
          </p:cNvPr>
          <p:cNvSpPr>
            <a:spLocks noGrp="1"/>
          </p:cNvSpPr>
          <p:nvPr>
            <p:ph type="sldNum" sz="quarter" idx="10"/>
          </p:nvPr>
        </p:nvSpPr>
        <p:spPr/>
        <p:txBody>
          <a:bodyPr/>
          <a:lstStyle/>
          <a:p>
            <a:pPr>
              <a:defRPr/>
            </a:pPr>
            <a:fld id="{07776858-791E-4C8D-8FA3-473B3AFECFAC}" type="slidenum">
              <a:rPr lang="en-US" smtClean="0"/>
              <a:pPr>
                <a:defRPr/>
              </a:pPr>
              <a:t>9</a:t>
            </a:fld>
            <a:endParaRPr lang="en-US" dirty="0"/>
          </a:p>
        </p:txBody>
      </p:sp>
    </p:spTree>
    <p:extLst>
      <p:ext uri="{BB962C8B-B14F-4D97-AF65-F5344CB8AC3E}">
        <p14:creationId xmlns:p14="http://schemas.microsoft.com/office/powerpoint/2010/main" val="1318454407"/>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7386EA-E7EA-6111-25EB-588B5D397E1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AE9994A-98E8-4F14-02D9-784D9F4F07C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2A4A714-9AAE-AA0D-752E-8ABAA9220192}"/>
              </a:ext>
            </a:extLst>
          </p:cNvPr>
          <p:cNvSpPr>
            <a:spLocks noGrp="1"/>
          </p:cNvSpPr>
          <p:nvPr>
            <p:ph type="body" idx="1"/>
          </p:nvPr>
        </p:nvSpPr>
        <p:spPr/>
        <p:txBody>
          <a:bodyPr>
            <a:normAutofit lnSpcReduction="10000"/>
          </a:bodyPr>
          <a:lstStyle/>
          <a:p>
            <a:r>
              <a:rPr lang="en-US" sz="1400" b="1" kern="1200" dirty="0">
                <a:solidFill>
                  <a:schemeClr val="tx1"/>
                </a:solidFill>
                <a:effectLst/>
                <a:latin typeface="+mn-lt"/>
                <a:ea typeface="ＭＳ Ｐゴシック" pitchFamily="-106" charset="-128"/>
                <a:cs typeface="ＭＳ Ｐゴシック" pitchFamily="-106" charset="-128"/>
              </a:rPr>
              <a:t>The Promise as Eschatological Hope</a:t>
            </a:r>
          </a:p>
          <a:p>
            <a:endParaRPr lang="en-US" sz="1400" kern="1200" dirty="0">
              <a:solidFill>
                <a:schemeClr val="tx1"/>
              </a:solidFill>
              <a:effectLst/>
              <a:latin typeface="+mn-lt"/>
              <a:ea typeface="ＭＳ Ｐゴシック" pitchFamily="-106" charset="-128"/>
              <a:cs typeface="ＭＳ Ｐゴシック" pitchFamily="-106" charset="-128"/>
            </a:endParaRPr>
          </a:p>
          <a:p>
            <a:r>
              <a:rPr lang="en-US" sz="1400" kern="1200" dirty="0">
                <a:solidFill>
                  <a:schemeClr val="tx1"/>
                </a:solidFill>
                <a:effectLst/>
                <a:latin typeface="+mn-lt"/>
                <a:ea typeface="ＭＳ Ｐゴシック" pitchFamily="-106" charset="-128"/>
                <a:cs typeface="ＭＳ Ｐゴシック" pitchFamily="-106" charset="-128"/>
              </a:rPr>
              <a:t>These passages </a:t>
            </a:r>
            <a:r>
              <a:rPr lang="en-US" sz="1400" b="1" kern="1200" dirty="0">
                <a:solidFill>
                  <a:schemeClr val="tx1"/>
                </a:solidFill>
                <a:effectLst/>
                <a:latin typeface="+mn-lt"/>
                <a:ea typeface="ＭＳ Ｐゴシック" pitchFamily="-106" charset="-128"/>
                <a:cs typeface="ＭＳ Ｐゴシック" pitchFamily="-106" charset="-128"/>
              </a:rPr>
              <a:t>tie Abraham’s promise to final inheritance and eternal life.</a:t>
            </a:r>
          </a:p>
          <a:p>
            <a:endParaRPr lang="en-US" sz="1400" kern="1200" dirty="0">
              <a:solidFill>
                <a:schemeClr val="tx1"/>
              </a:solidFill>
              <a:effectLst/>
              <a:latin typeface="+mn-lt"/>
              <a:ea typeface="ＭＳ Ｐゴシック" pitchFamily="-106" charset="-128"/>
              <a:cs typeface="ＭＳ Ｐゴシック" pitchFamily="-106" charset="-128"/>
            </a:endParaRPr>
          </a:p>
          <a:p>
            <a:pPr rtl="0" fontAlgn="ctr"/>
            <a:r>
              <a:rPr lang="en-US" sz="1400" b="1" kern="1200" dirty="0">
                <a:solidFill>
                  <a:schemeClr val="tx1"/>
                </a:solidFill>
                <a:effectLst/>
                <a:latin typeface="+mn-lt"/>
                <a:ea typeface="ＭＳ Ｐゴシック" pitchFamily="-106" charset="-128"/>
                <a:cs typeface="ＭＳ Ｐゴシック" pitchFamily="-106" charset="-128"/>
              </a:rPr>
              <a:t>Romans 4:13</a:t>
            </a:r>
            <a:r>
              <a:rPr lang="en-US" sz="1400" kern="1200" dirty="0">
                <a:solidFill>
                  <a:schemeClr val="tx1"/>
                </a:solidFill>
                <a:effectLst/>
                <a:latin typeface="+mn-lt"/>
                <a:ea typeface="ＭＳ Ｐゴシック" pitchFamily="-106" charset="-128"/>
                <a:cs typeface="ＭＳ Ｐゴシック" pitchFamily="-106" charset="-128"/>
              </a:rPr>
              <a:t>  Abraham and his offspring receive “the promise that he would be heir of the world.”</a:t>
            </a:r>
          </a:p>
          <a:p>
            <a:pPr rtl="0" fontAlgn="ctr"/>
            <a:r>
              <a:rPr lang="en-US" sz="1400" b="1" kern="1200" dirty="0">
                <a:solidFill>
                  <a:schemeClr val="tx1"/>
                </a:solidFill>
                <a:effectLst/>
                <a:latin typeface="+mn-lt"/>
                <a:ea typeface="ＭＳ Ｐゴシック" pitchFamily="-106" charset="-128"/>
                <a:cs typeface="ＭＳ Ｐゴシック" pitchFamily="-106" charset="-128"/>
              </a:rPr>
              <a:t>Hebrews 6:18–20</a:t>
            </a:r>
            <a:r>
              <a:rPr lang="en-US" sz="1400" kern="1200" dirty="0">
                <a:solidFill>
                  <a:schemeClr val="tx1"/>
                </a:solidFill>
                <a:effectLst/>
                <a:latin typeface="+mn-lt"/>
                <a:ea typeface="ＭＳ Ｐゴシック" pitchFamily="-106" charset="-128"/>
                <a:cs typeface="ＭＳ Ｐゴシック" pitchFamily="-106" charset="-128"/>
              </a:rPr>
              <a:t>  The hope set before us is anchored in God’s unchangeable promise to Abraham.</a:t>
            </a:r>
          </a:p>
          <a:p>
            <a:pPr rtl="0" fontAlgn="ctr"/>
            <a:r>
              <a:rPr lang="en-US" sz="1400" b="1" kern="1200" dirty="0">
                <a:solidFill>
                  <a:schemeClr val="tx1"/>
                </a:solidFill>
                <a:effectLst/>
                <a:latin typeface="+mn-lt"/>
                <a:ea typeface="ＭＳ Ｐゴシック" pitchFamily="-106" charset="-128"/>
                <a:cs typeface="ＭＳ Ｐゴシック" pitchFamily="-106" charset="-128"/>
              </a:rPr>
              <a:t>Hebrews 11:39–40 </a:t>
            </a:r>
            <a:r>
              <a:rPr lang="en-US" sz="1400" kern="1200" dirty="0">
                <a:solidFill>
                  <a:schemeClr val="tx1"/>
                </a:solidFill>
                <a:effectLst/>
                <a:latin typeface="+mn-lt"/>
                <a:ea typeface="ＭＳ Ｐゴシック" pitchFamily="-106" charset="-128"/>
                <a:cs typeface="ＭＳ Ｐゴシック" pitchFamily="-106" charset="-128"/>
              </a:rPr>
              <a:t> The faithful, including Abraham, did not receive the promise in full, anticipating perfection in Christ.</a:t>
            </a:r>
          </a:p>
          <a:p>
            <a:pPr rtl="0" fontAlgn="ctr"/>
            <a:r>
              <a:rPr lang="en-US" sz="1400" b="1" kern="1200" dirty="0">
                <a:solidFill>
                  <a:schemeClr val="tx1"/>
                </a:solidFill>
                <a:effectLst/>
                <a:latin typeface="+mn-lt"/>
                <a:ea typeface="ＭＳ Ｐゴシック" pitchFamily="-106" charset="-128"/>
                <a:cs typeface="ＭＳ Ｐゴシック" pitchFamily="-106" charset="-128"/>
              </a:rPr>
              <a:t>2 Peter 3:13</a:t>
            </a:r>
            <a:r>
              <a:rPr lang="en-US" sz="1400" kern="1200" dirty="0">
                <a:solidFill>
                  <a:schemeClr val="tx1"/>
                </a:solidFill>
                <a:effectLst/>
                <a:latin typeface="+mn-lt"/>
                <a:ea typeface="ＭＳ Ｐゴシック" pitchFamily="-106" charset="-128"/>
                <a:cs typeface="ＭＳ Ｐゴシック" pitchFamily="-106" charset="-128"/>
              </a:rPr>
              <a:t>  The ultimate inheritance of the new heavens and new earth fulfills the faith of Abraham, the “heir of the world.”</a:t>
            </a:r>
          </a:p>
          <a:p>
            <a:endParaRPr lang="en-US" sz="1400" dirty="0"/>
          </a:p>
          <a:p>
            <a:endParaRPr lang="en-US" sz="1400" dirty="0"/>
          </a:p>
          <a:p>
            <a:r>
              <a:rPr lang="en-US" sz="1400" b="1" dirty="0"/>
              <a:t>Summary </a:t>
            </a:r>
            <a:r>
              <a:rPr lang="en-US" sz="1400" b="1" kern="1200" dirty="0">
                <a:solidFill>
                  <a:schemeClr val="tx1"/>
                </a:solidFill>
                <a:effectLst/>
                <a:latin typeface="+mn-lt"/>
                <a:ea typeface="ＭＳ Ｐゴシック" pitchFamily="-106" charset="-128"/>
                <a:cs typeface="ＭＳ Ｐゴシック" pitchFamily="-106" charset="-128"/>
              </a:rPr>
              <a:t>Application Points</a:t>
            </a:r>
            <a:endParaRPr lang="en-US" sz="1400" kern="1200" dirty="0">
              <a:solidFill>
                <a:schemeClr val="tx1"/>
              </a:solidFill>
              <a:effectLst/>
              <a:latin typeface="+mn-lt"/>
              <a:ea typeface="ＭＳ Ｐゴシック" pitchFamily="-106" charset="-128"/>
              <a:cs typeface="ＭＳ Ｐゴシック" pitchFamily="-106" charset="-128"/>
            </a:endParaRPr>
          </a:p>
          <a:p>
            <a:pPr rtl="0" fontAlgn="ctr"/>
            <a:r>
              <a:rPr lang="en-US" sz="1400" b="1" kern="1200" dirty="0">
                <a:solidFill>
                  <a:schemeClr val="tx1"/>
                </a:solidFill>
                <a:effectLst/>
                <a:latin typeface="+mn-lt"/>
                <a:ea typeface="ＭＳ Ｐゴシック" pitchFamily="-106" charset="-128"/>
                <a:cs typeface="ＭＳ Ｐゴシック" pitchFamily="-106" charset="-128"/>
              </a:rPr>
              <a:t>Trust God’s Promises:</a:t>
            </a:r>
            <a:r>
              <a:rPr lang="en-US" sz="1400" kern="1200" dirty="0">
                <a:solidFill>
                  <a:schemeClr val="tx1"/>
                </a:solidFill>
                <a:effectLst/>
                <a:latin typeface="+mn-lt"/>
                <a:ea typeface="ＭＳ Ｐゴシック" pitchFamily="-106" charset="-128"/>
                <a:cs typeface="ＭＳ Ｐゴシック" pitchFamily="-106" charset="-128"/>
              </a:rPr>
              <a:t> Identify one area in life that feels impossible (like Abraham’s childlessness) and bring it before God in faith.</a:t>
            </a:r>
          </a:p>
          <a:p>
            <a:pPr rtl="0" fontAlgn="ctr"/>
            <a:r>
              <a:rPr lang="en-US" sz="1400" b="1" kern="1200" dirty="0">
                <a:solidFill>
                  <a:schemeClr val="tx1"/>
                </a:solidFill>
                <a:effectLst/>
                <a:latin typeface="+mn-lt"/>
                <a:ea typeface="ＭＳ Ｐゴシック" pitchFamily="-106" charset="-128"/>
                <a:cs typeface="ＭＳ Ｐゴシック" pitchFamily="-106" charset="-128"/>
              </a:rPr>
              <a:t>Embrace Identity:</a:t>
            </a:r>
            <a:r>
              <a:rPr lang="en-US" sz="1400" kern="1200" dirty="0">
                <a:solidFill>
                  <a:schemeClr val="tx1"/>
                </a:solidFill>
                <a:effectLst/>
                <a:latin typeface="+mn-lt"/>
                <a:ea typeface="ＭＳ Ｐゴシック" pitchFamily="-106" charset="-128"/>
                <a:cs typeface="ＭＳ Ｐゴシック" pitchFamily="-106" charset="-128"/>
              </a:rPr>
              <a:t> Reflect on Galatians 3:29 - “If you are Christ’s, then you are Abraham’s offspring, heirs according to promise.”</a:t>
            </a:r>
          </a:p>
          <a:p>
            <a:pPr rtl="0" fontAlgn="ctr"/>
            <a:r>
              <a:rPr lang="en-US" sz="1400" b="1" kern="1200" dirty="0">
                <a:solidFill>
                  <a:schemeClr val="tx1"/>
                </a:solidFill>
                <a:effectLst/>
                <a:latin typeface="+mn-lt"/>
                <a:ea typeface="ＭＳ Ｐゴシック" pitchFamily="-106" charset="-128"/>
                <a:cs typeface="ＭＳ Ｐゴシック" pitchFamily="-106" charset="-128"/>
              </a:rPr>
              <a:t>Be a Blessing:</a:t>
            </a:r>
            <a:r>
              <a:rPr lang="en-US" sz="1400" kern="1200" dirty="0">
                <a:solidFill>
                  <a:schemeClr val="tx1"/>
                </a:solidFill>
                <a:effectLst/>
                <a:latin typeface="+mn-lt"/>
                <a:ea typeface="ＭＳ Ｐゴシック" pitchFamily="-106" charset="-128"/>
                <a:cs typeface="ＭＳ Ｐゴシック" pitchFamily="-106" charset="-128"/>
              </a:rPr>
              <a:t> Look for one practical way to bless someone outside your immediate circle (an unbeliever, a neighbor, someone from another culture).</a:t>
            </a:r>
          </a:p>
          <a:p>
            <a:pPr rtl="0" fontAlgn="ctr"/>
            <a:r>
              <a:rPr lang="en-US" sz="1400" b="1" kern="1200" dirty="0">
                <a:solidFill>
                  <a:schemeClr val="tx1"/>
                </a:solidFill>
                <a:effectLst/>
                <a:latin typeface="+mn-lt"/>
                <a:ea typeface="ＭＳ Ｐゴシック" pitchFamily="-106" charset="-128"/>
                <a:cs typeface="ＭＳ Ｐゴシック" pitchFamily="-106" charset="-128"/>
              </a:rPr>
              <a:t>Global Vision:</a:t>
            </a:r>
            <a:r>
              <a:rPr lang="en-US" sz="1400" kern="1200" dirty="0">
                <a:solidFill>
                  <a:schemeClr val="tx1"/>
                </a:solidFill>
                <a:effectLst/>
                <a:latin typeface="+mn-lt"/>
                <a:ea typeface="ＭＳ Ｐゴシック" pitchFamily="-106" charset="-128"/>
                <a:cs typeface="ＭＳ Ｐゴシック" pitchFamily="-106" charset="-128"/>
              </a:rPr>
              <a:t> Pray for one nation each day to receive the blessing of the gospel.</a:t>
            </a:r>
          </a:p>
          <a:p>
            <a:endParaRPr lang="en-US" dirty="0"/>
          </a:p>
        </p:txBody>
      </p:sp>
      <p:sp>
        <p:nvSpPr>
          <p:cNvPr id="4" name="Slide Number Placeholder 3">
            <a:extLst>
              <a:ext uri="{FF2B5EF4-FFF2-40B4-BE49-F238E27FC236}">
                <a16:creationId xmlns:a16="http://schemas.microsoft.com/office/drawing/2014/main" id="{EE0F197B-E882-B884-3038-393914A1249B}"/>
              </a:ext>
            </a:extLst>
          </p:cNvPr>
          <p:cNvSpPr>
            <a:spLocks noGrp="1"/>
          </p:cNvSpPr>
          <p:nvPr>
            <p:ph type="sldNum" sz="quarter" idx="10"/>
          </p:nvPr>
        </p:nvSpPr>
        <p:spPr/>
        <p:txBody>
          <a:bodyPr/>
          <a:lstStyle/>
          <a:p>
            <a:pPr>
              <a:defRPr/>
            </a:pPr>
            <a:fld id="{07776858-791E-4C8D-8FA3-473B3AFECFAC}" type="slidenum">
              <a:rPr lang="en-US" smtClean="0"/>
              <a:pPr>
                <a:defRPr/>
              </a:pPr>
              <a:t>10</a:t>
            </a:fld>
            <a:endParaRPr lang="en-US" dirty="0"/>
          </a:p>
        </p:txBody>
      </p:sp>
    </p:spTree>
    <p:extLst>
      <p:ext uri="{BB962C8B-B14F-4D97-AF65-F5344CB8AC3E}">
        <p14:creationId xmlns:p14="http://schemas.microsoft.com/office/powerpoint/2010/main" val="507734770"/>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EE23555-AEE2-6653-DF12-F979EAC1633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59C7D1C-AA1E-0943-9CEB-758AA0465D3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1C712D7-843F-AD13-479D-EA2D779769D3}"/>
              </a:ext>
            </a:extLst>
          </p:cNvPr>
          <p:cNvSpPr>
            <a:spLocks noGrp="1"/>
          </p:cNvSpPr>
          <p:nvPr>
            <p:ph type="body" idx="1"/>
          </p:nvPr>
        </p:nvSpPr>
        <p:spPr/>
        <p:txBody>
          <a:bodyPr>
            <a:normAutofit/>
          </a:bodyPr>
          <a:lstStyle/>
          <a:p>
            <a:endParaRPr lang="en-US" sz="1400" dirty="0"/>
          </a:p>
        </p:txBody>
      </p:sp>
      <p:sp>
        <p:nvSpPr>
          <p:cNvPr id="4" name="Slide Number Placeholder 3">
            <a:extLst>
              <a:ext uri="{FF2B5EF4-FFF2-40B4-BE49-F238E27FC236}">
                <a16:creationId xmlns:a16="http://schemas.microsoft.com/office/drawing/2014/main" id="{FC993BAD-60F9-D7B1-5474-004E860ADBF7}"/>
              </a:ext>
            </a:extLst>
          </p:cNvPr>
          <p:cNvSpPr>
            <a:spLocks noGrp="1"/>
          </p:cNvSpPr>
          <p:nvPr>
            <p:ph type="sldNum" sz="quarter" idx="5"/>
          </p:nvPr>
        </p:nvSpPr>
        <p:spPr/>
        <p:txBody>
          <a:bodyPr/>
          <a:lstStyle/>
          <a:p>
            <a:pPr>
              <a:defRPr/>
            </a:pPr>
            <a:fld id="{07776858-791E-4C8D-8FA3-473B3AFECFAC}" type="slidenum">
              <a:rPr lang="en-US" smtClean="0"/>
              <a:pPr>
                <a:defRPr/>
              </a:pPr>
              <a:t>11</a:t>
            </a:fld>
            <a:endParaRPr lang="en-US"/>
          </a:p>
        </p:txBody>
      </p:sp>
    </p:spTree>
    <p:extLst>
      <p:ext uri="{BB962C8B-B14F-4D97-AF65-F5344CB8AC3E}">
        <p14:creationId xmlns:p14="http://schemas.microsoft.com/office/powerpoint/2010/main" val="237884523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lvl1pPr>
              <a:defRPr lang="en-US" sz="4400" b="1" kern="1200" dirty="0">
                <a:solidFill>
                  <a:schemeClr val="tx2"/>
                </a:solidFill>
                <a:latin typeface="+mj-lt"/>
                <a:ea typeface="ＭＳ Ｐゴシック" pitchFamily="34" charset="-128"/>
                <a:cs typeface="+mj-cs"/>
              </a:defRPr>
            </a:lvl1pPr>
          </a:lstStyle>
          <a:p>
            <a:r>
              <a:rPr lang="en-US"/>
              <a:t>Click to edit Master title style</a:t>
            </a:r>
            <a:endParaRPr lang="en-US" dirty="0"/>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Tree>
    <p:extLst>
      <p:ext uri="{BB962C8B-B14F-4D97-AF65-F5344CB8AC3E}">
        <p14:creationId xmlns:p14="http://schemas.microsoft.com/office/powerpoint/2010/main" val="424391877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lgn="l">
              <a:defRPr sz="4000"/>
            </a:lvl1pPr>
          </a:lstStyle>
          <a:p>
            <a:r>
              <a:rPr lang="en-US"/>
              <a:t>Click to edit Master title style</a:t>
            </a:r>
            <a:endParaRPr lang="en-US" dirty="0"/>
          </a:p>
        </p:txBody>
      </p:sp>
      <p:sp>
        <p:nvSpPr>
          <p:cNvPr id="3" name="Content Placeholder 2"/>
          <p:cNvSpPr>
            <a:spLocks noGrp="1"/>
          </p:cNvSpPr>
          <p:nvPr>
            <p:ph idx="1"/>
          </p:nvPr>
        </p:nvSpPr>
        <p:spPr/>
        <p:txBody>
          <a:bodyPr/>
          <a:lstStyle>
            <a:lvl1pPr>
              <a:defRPr sz="2800"/>
            </a:lvl1pPr>
            <a:lvl2pPr>
              <a:defRPr sz="2400"/>
            </a:lvl2pPr>
            <a:lvl3pPr>
              <a:defRPr sz="2000"/>
            </a:lvl3pPr>
            <a:lvl4pPr>
              <a:defRPr sz="1800"/>
            </a:lvl4pPr>
            <a:lvl5pPr>
              <a:defRPr sz="18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Slide Number Placeholder 5"/>
          <p:cNvSpPr>
            <a:spLocks noGrp="1"/>
          </p:cNvSpPr>
          <p:nvPr>
            <p:ph type="sldNum" sz="quarter" idx="11"/>
          </p:nvPr>
        </p:nvSpPr>
        <p:spPr/>
        <p:txBody>
          <a:bodyPr/>
          <a:lstStyle>
            <a:lvl1pPr algn="ctr">
              <a:defRPr sz="1400">
                <a:solidFill>
                  <a:schemeClr val="tx2"/>
                </a:solidFill>
                <a:latin typeface="Arial" pitchFamily="34" charset="0"/>
              </a:defRPr>
            </a:lvl1pPr>
          </a:lstStyle>
          <a:p>
            <a:pPr>
              <a:defRPr/>
            </a:pPr>
            <a:fld id="{90314B7E-EB23-4DAB-A3F0-0F7BBB6CDA33}" type="slidenum">
              <a:rPr lang="en-US"/>
              <a:pPr>
                <a:defRPr/>
              </a:pPr>
              <a:t>‹#›</a:t>
            </a:fld>
            <a:endParaRPr lang="en-US" dirty="0"/>
          </a:p>
        </p:txBody>
      </p:sp>
    </p:spTree>
    <p:extLst>
      <p:ext uri="{BB962C8B-B14F-4D97-AF65-F5344CB8AC3E}">
        <p14:creationId xmlns:p14="http://schemas.microsoft.com/office/powerpoint/2010/main" val="53474132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lgn="l">
              <a:defRPr sz="4000"/>
            </a:lvl1pPr>
          </a:lstStyle>
          <a:p>
            <a:r>
              <a:rPr lang="en-US" dirty="0"/>
              <a:t>Click to edit Master title style</a:t>
            </a:r>
          </a:p>
        </p:txBody>
      </p:sp>
      <p:sp>
        <p:nvSpPr>
          <p:cNvPr id="3" name="Content Placeholder 2"/>
          <p:cNvSpPr>
            <a:spLocks noGrp="1"/>
          </p:cNvSpPr>
          <p:nvPr>
            <p:ph idx="1"/>
          </p:nvPr>
        </p:nvSpPr>
        <p:spPr/>
        <p:txBody>
          <a:bodyPr/>
          <a:lstStyle>
            <a:lvl1pPr>
              <a:defRPr sz="2800"/>
            </a:lvl1pPr>
            <a:lvl2pPr>
              <a:defRPr sz="2400"/>
            </a:lvl2pPr>
            <a:lvl3pPr>
              <a:defRPr sz="2000"/>
            </a:lvl3pPr>
            <a:lvl4pPr>
              <a:defRPr sz="1800"/>
            </a:lvl4pPr>
            <a:lvl5pPr>
              <a:defRPr sz="18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Slide Number Placeholder 5"/>
          <p:cNvSpPr>
            <a:spLocks noGrp="1"/>
          </p:cNvSpPr>
          <p:nvPr>
            <p:ph type="sldNum" sz="quarter" idx="11"/>
          </p:nvPr>
        </p:nvSpPr>
        <p:spPr/>
        <p:txBody>
          <a:bodyPr/>
          <a:lstStyle>
            <a:lvl1pPr algn="r">
              <a:defRPr sz="1400">
                <a:solidFill>
                  <a:schemeClr val="tx2"/>
                </a:solidFill>
                <a:latin typeface="Arial" pitchFamily="34" charset="0"/>
              </a:defRPr>
            </a:lvl1pPr>
          </a:lstStyle>
          <a:p>
            <a:pPr>
              <a:defRPr/>
            </a:pPr>
            <a:fld id="{9325C3C2-9E54-411C-9683-C950CD1738F8}" type="slidenum">
              <a:rPr lang="en-US"/>
              <a:pPr>
                <a:defRPr/>
              </a:pPr>
              <a:t>‹#›</a:t>
            </a:fld>
            <a:endParaRPr lang="en-US" dirty="0"/>
          </a:p>
        </p:txBody>
      </p:sp>
    </p:spTree>
    <p:extLst>
      <p:ext uri="{BB962C8B-B14F-4D97-AF65-F5344CB8AC3E}">
        <p14:creationId xmlns:p14="http://schemas.microsoft.com/office/powerpoint/2010/main" val="3623734625"/>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s>
</file>

<file path=ppt/slideMasters/_rels/slideMaster2.xml.rels><?xml version="1.0" encoding="UTF-8" standalone="yes"?>
<Relationships xmlns="http://schemas.openxmlformats.org/package/2006/relationships"><Relationship Id="rId2" Type="http://schemas.openxmlformats.org/officeDocument/2006/relationships/theme" Target="../theme/theme2.xml"/><Relationship Id="rId1" Type="http://schemas.openxmlformats.org/officeDocument/2006/relationships/slideLayout" Target="../slideLayouts/slideLayout3.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1027" name="Title Placeholder 1"/>
          <p:cNvSpPr>
            <a:spLocks noGrp="1"/>
          </p:cNvSpPr>
          <p:nvPr>
            <p:ph type="title"/>
          </p:nvPr>
        </p:nvSpPr>
        <p:spPr bwMode="auto">
          <a:xfrm>
            <a:off x="457200" y="0"/>
            <a:ext cx="8229600" cy="1143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bodyPr>
          <a:lstStyle/>
          <a:p>
            <a:pPr lvl="0"/>
            <a:r>
              <a:rPr lang="en-US"/>
              <a:t>Click to edit Master title style</a:t>
            </a:r>
          </a:p>
        </p:txBody>
      </p:sp>
      <p:sp>
        <p:nvSpPr>
          <p:cNvPr id="1028" name="Text Placeholder 2"/>
          <p:cNvSpPr>
            <a:spLocks noGrp="1"/>
          </p:cNvSpPr>
          <p:nvPr>
            <p:ph type="body" idx="1"/>
          </p:nvPr>
        </p:nvSpPr>
        <p:spPr bwMode="auto">
          <a:xfrm>
            <a:off x="457200" y="1143000"/>
            <a:ext cx="8229600" cy="51054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5" name="Slide Number Placeholder 5"/>
          <p:cNvSpPr>
            <a:spLocks noGrp="1"/>
          </p:cNvSpPr>
          <p:nvPr>
            <p:ph type="sldNum" sz="quarter" idx="4"/>
          </p:nvPr>
        </p:nvSpPr>
        <p:spPr>
          <a:xfrm>
            <a:off x="4267200" y="6416675"/>
            <a:ext cx="685800" cy="365125"/>
          </a:xfrm>
          <a:prstGeom prst="rect">
            <a:avLst/>
          </a:prstGeom>
        </p:spPr>
        <p:txBody>
          <a:bodyPr anchor="b"/>
          <a:lstStyle>
            <a:lvl1pPr algn="ctr">
              <a:defRPr sz="1400">
                <a:solidFill>
                  <a:schemeClr val="tx2"/>
                </a:solidFill>
                <a:latin typeface="Arial" pitchFamily="34" charset="0"/>
              </a:defRPr>
            </a:lvl1pPr>
          </a:lstStyle>
          <a:p>
            <a:pPr>
              <a:defRPr/>
            </a:pPr>
            <a:fld id="{2D225349-B1F9-464A-9CC5-D5DDA255FDAC}" type="slidenum">
              <a:rPr lang="en-US"/>
              <a:pPr>
                <a:defRPr/>
              </a:pPr>
              <a:t>‹#›</a:t>
            </a:fld>
            <a:endParaRPr lang="en-US" dirty="0"/>
          </a:p>
        </p:txBody>
      </p:sp>
    </p:spTree>
  </p:cSld>
  <p:clrMap bg1="lt1" tx1="dk1" bg2="lt2" tx2="dk2" accent1="accent1" accent2="accent2" accent3="accent3" accent4="accent4" accent5="accent5" accent6="accent6" hlink="hlink" folHlink="folHlink"/>
  <p:sldLayoutIdLst>
    <p:sldLayoutId id="2147484149" r:id="rId1"/>
    <p:sldLayoutId id="2147484150" r:id="rId2"/>
  </p:sldLayoutIdLst>
  <p:hf hdr="0"/>
  <p:txStyles>
    <p:titleStyle>
      <a:lvl1pPr algn="ctr" rtl="0" eaLnBrk="1" fontAlgn="base" hangingPunct="1">
        <a:spcBef>
          <a:spcPct val="0"/>
        </a:spcBef>
        <a:spcAft>
          <a:spcPct val="0"/>
        </a:spcAft>
        <a:defRPr lang="en-US" sz="4400" b="1" kern="1200" dirty="0">
          <a:solidFill>
            <a:schemeClr val="tx2"/>
          </a:solidFill>
          <a:latin typeface="+mj-lt"/>
          <a:ea typeface="ＭＳ Ｐゴシック" pitchFamily="34" charset="-128"/>
          <a:cs typeface="+mj-cs"/>
        </a:defRPr>
      </a:lvl1pPr>
      <a:lvl2pPr algn="ctr" rtl="0" eaLnBrk="1" fontAlgn="base" hangingPunct="1">
        <a:spcBef>
          <a:spcPct val="0"/>
        </a:spcBef>
        <a:spcAft>
          <a:spcPct val="0"/>
        </a:spcAft>
        <a:defRPr sz="4400" b="1">
          <a:solidFill>
            <a:schemeClr val="tx2"/>
          </a:solidFill>
          <a:latin typeface="Arial" charset="0"/>
          <a:ea typeface="ＭＳ Ｐゴシック" pitchFamily="34" charset="-128"/>
        </a:defRPr>
      </a:lvl2pPr>
      <a:lvl3pPr algn="ctr" rtl="0" eaLnBrk="1" fontAlgn="base" hangingPunct="1">
        <a:spcBef>
          <a:spcPct val="0"/>
        </a:spcBef>
        <a:spcAft>
          <a:spcPct val="0"/>
        </a:spcAft>
        <a:defRPr sz="4400" b="1">
          <a:solidFill>
            <a:schemeClr val="tx2"/>
          </a:solidFill>
          <a:latin typeface="Arial" charset="0"/>
          <a:ea typeface="ＭＳ Ｐゴシック" pitchFamily="34" charset="-128"/>
        </a:defRPr>
      </a:lvl3pPr>
      <a:lvl4pPr algn="ctr" rtl="0" eaLnBrk="1" fontAlgn="base" hangingPunct="1">
        <a:spcBef>
          <a:spcPct val="0"/>
        </a:spcBef>
        <a:spcAft>
          <a:spcPct val="0"/>
        </a:spcAft>
        <a:defRPr sz="4400" b="1">
          <a:solidFill>
            <a:schemeClr val="tx2"/>
          </a:solidFill>
          <a:latin typeface="Arial" charset="0"/>
          <a:ea typeface="ＭＳ Ｐゴシック" pitchFamily="34" charset="-128"/>
        </a:defRPr>
      </a:lvl4pPr>
      <a:lvl5pPr algn="ctr" rtl="0" eaLnBrk="1" fontAlgn="base" hangingPunct="1">
        <a:spcBef>
          <a:spcPct val="0"/>
        </a:spcBef>
        <a:spcAft>
          <a:spcPct val="0"/>
        </a:spcAft>
        <a:defRPr sz="4400" b="1">
          <a:solidFill>
            <a:schemeClr val="tx2"/>
          </a:solidFill>
          <a:latin typeface="Arial" charset="0"/>
          <a:ea typeface="ＭＳ Ｐゴシック" pitchFamily="34" charset="-128"/>
        </a:defRPr>
      </a:lvl5pPr>
      <a:lvl6pPr marL="457200" algn="ctr" rtl="0" eaLnBrk="1" fontAlgn="base" hangingPunct="1">
        <a:spcBef>
          <a:spcPct val="0"/>
        </a:spcBef>
        <a:spcAft>
          <a:spcPct val="0"/>
        </a:spcAft>
        <a:defRPr sz="4400" b="1">
          <a:solidFill>
            <a:schemeClr val="tx1"/>
          </a:solidFill>
          <a:latin typeface="Arial" charset="0"/>
        </a:defRPr>
      </a:lvl6pPr>
      <a:lvl7pPr marL="914400" algn="ctr" rtl="0" eaLnBrk="1" fontAlgn="base" hangingPunct="1">
        <a:spcBef>
          <a:spcPct val="0"/>
        </a:spcBef>
        <a:spcAft>
          <a:spcPct val="0"/>
        </a:spcAft>
        <a:defRPr sz="4400" b="1">
          <a:solidFill>
            <a:schemeClr val="tx1"/>
          </a:solidFill>
          <a:latin typeface="Arial" charset="0"/>
        </a:defRPr>
      </a:lvl7pPr>
      <a:lvl8pPr marL="1371600" algn="ctr" rtl="0" eaLnBrk="1" fontAlgn="base" hangingPunct="1">
        <a:spcBef>
          <a:spcPct val="0"/>
        </a:spcBef>
        <a:spcAft>
          <a:spcPct val="0"/>
        </a:spcAft>
        <a:defRPr sz="4400" b="1">
          <a:solidFill>
            <a:schemeClr val="tx1"/>
          </a:solidFill>
          <a:latin typeface="Arial" charset="0"/>
        </a:defRPr>
      </a:lvl8pPr>
      <a:lvl9pPr marL="1828800" algn="ctr" rtl="0" eaLnBrk="1" fontAlgn="base" hangingPunct="1">
        <a:spcBef>
          <a:spcPct val="0"/>
        </a:spcBef>
        <a:spcAft>
          <a:spcPct val="0"/>
        </a:spcAft>
        <a:defRPr sz="4400" b="1">
          <a:solidFill>
            <a:schemeClr val="tx1"/>
          </a:solidFill>
          <a:latin typeface="Arial" charset="0"/>
        </a:defRPr>
      </a:lvl9pPr>
    </p:titleStyle>
    <p:bodyStyle>
      <a:lvl1pPr marL="342900" indent="-342900" algn="l" rtl="0" eaLnBrk="1" fontAlgn="base" hangingPunct="1">
        <a:spcBef>
          <a:spcPct val="20000"/>
        </a:spcBef>
        <a:spcAft>
          <a:spcPct val="0"/>
        </a:spcAft>
        <a:buFont typeface="Arial" charset="0"/>
        <a:buChar char="•"/>
        <a:defRPr sz="3200" kern="1200">
          <a:solidFill>
            <a:schemeClr val="tx1"/>
          </a:solidFill>
          <a:latin typeface="Arial Narrow" pitchFamily="34" charset="0"/>
          <a:ea typeface="+mn-ea"/>
          <a:cs typeface="+mn-cs"/>
        </a:defRPr>
      </a:lvl1pPr>
      <a:lvl2pPr marL="742950" indent="-285750" algn="l" rtl="0" eaLnBrk="1" fontAlgn="base" hangingPunct="1">
        <a:spcBef>
          <a:spcPct val="20000"/>
        </a:spcBef>
        <a:spcAft>
          <a:spcPct val="0"/>
        </a:spcAft>
        <a:buFont typeface="Arial" charset="0"/>
        <a:buChar char="–"/>
        <a:defRPr sz="2800" kern="1200">
          <a:solidFill>
            <a:schemeClr val="tx1"/>
          </a:solidFill>
          <a:latin typeface="Arial Narrow" pitchFamily="34" charset="0"/>
          <a:ea typeface="+mn-ea"/>
          <a:cs typeface="+mn-cs"/>
        </a:defRPr>
      </a:lvl2pPr>
      <a:lvl3pPr marL="1143000" indent="-228600" algn="l" rtl="0" eaLnBrk="1" fontAlgn="base" hangingPunct="1">
        <a:spcBef>
          <a:spcPct val="20000"/>
        </a:spcBef>
        <a:spcAft>
          <a:spcPct val="0"/>
        </a:spcAft>
        <a:buFont typeface="Arial" charset="0"/>
        <a:buChar char="•"/>
        <a:defRPr sz="2400" kern="1200">
          <a:solidFill>
            <a:schemeClr val="tx1"/>
          </a:solidFill>
          <a:latin typeface="Arial Narrow" pitchFamily="34" charset="0"/>
          <a:ea typeface="+mn-ea"/>
          <a:cs typeface="+mn-cs"/>
        </a:defRPr>
      </a:lvl3pPr>
      <a:lvl4pPr marL="1600200" indent="-228600" algn="l" rtl="0" eaLnBrk="1" fontAlgn="base" hangingPunct="1">
        <a:spcBef>
          <a:spcPct val="20000"/>
        </a:spcBef>
        <a:spcAft>
          <a:spcPct val="0"/>
        </a:spcAft>
        <a:buFont typeface="Arial" charset="0"/>
        <a:buChar char="–"/>
        <a:defRPr sz="2000" kern="1200">
          <a:solidFill>
            <a:schemeClr val="tx1"/>
          </a:solidFill>
          <a:latin typeface="Arial Narrow" pitchFamily="34" charset="0"/>
          <a:ea typeface="+mn-ea"/>
          <a:cs typeface="+mn-cs"/>
        </a:defRPr>
      </a:lvl4pPr>
      <a:lvl5pPr marL="2057400" indent="-228600" algn="l" rtl="0" eaLnBrk="1" fontAlgn="base" hangingPunct="1">
        <a:spcBef>
          <a:spcPct val="20000"/>
        </a:spcBef>
        <a:spcAft>
          <a:spcPct val="0"/>
        </a:spcAft>
        <a:buFont typeface="Arial" charset="0"/>
        <a:buChar char="»"/>
        <a:defRPr sz="2000" kern="1200">
          <a:solidFill>
            <a:schemeClr val="tx1"/>
          </a:solidFill>
          <a:latin typeface="Arial Narrow" pitchFamily="34" charset="0"/>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050" name="Title Placeholder 1"/>
          <p:cNvSpPr>
            <a:spLocks noGrp="1"/>
          </p:cNvSpPr>
          <p:nvPr>
            <p:ph type="title"/>
          </p:nvPr>
        </p:nvSpPr>
        <p:spPr bwMode="auto">
          <a:xfrm>
            <a:off x="457200" y="0"/>
            <a:ext cx="8229600" cy="1143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bodyPr>
          <a:lstStyle/>
          <a:p>
            <a:pPr lvl="0"/>
            <a:r>
              <a:rPr lang="en-US"/>
              <a:t>Click to edit Master title style</a:t>
            </a:r>
          </a:p>
        </p:txBody>
      </p:sp>
      <p:sp>
        <p:nvSpPr>
          <p:cNvPr id="2051" name="Text Placeholder 2"/>
          <p:cNvSpPr>
            <a:spLocks noGrp="1"/>
          </p:cNvSpPr>
          <p:nvPr>
            <p:ph type="body" idx="1"/>
          </p:nvPr>
        </p:nvSpPr>
        <p:spPr bwMode="auto">
          <a:xfrm>
            <a:off x="457200" y="1143000"/>
            <a:ext cx="8229600" cy="51054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5" name="Slide Number Placeholder 5"/>
          <p:cNvSpPr>
            <a:spLocks noGrp="1"/>
          </p:cNvSpPr>
          <p:nvPr>
            <p:ph type="sldNum" sz="quarter" idx="4"/>
          </p:nvPr>
        </p:nvSpPr>
        <p:spPr>
          <a:xfrm>
            <a:off x="8077200" y="6416675"/>
            <a:ext cx="652463" cy="365125"/>
          </a:xfrm>
          <a:prstGeom prst="rect">
            <a:avLst/>
          </a:prstGeom>
        </p:spPr>
        <p:txBody>
          <a:bodyPr anchor="b"/>
          <a:lstStyle>
            <a:lvl1pPr algn="r">
              <a:defRPr sz="1400">
                <a:solidFill>
                  <a:schemeClr val="tx2"/>
                </a:solidFill>
                <a:latin typeface="Arial" pitchFamily="34" charset="0"/>
              </a:defRPr>
            </a:lvl1pPr>
          </a:lstStyle>
          <a:p>
            <a:pPr>
              <a:defRPr/>
            </a:pPr>
            <a:fld id="{D1036DDD-C097-4A4A-B40F-B92C82C562D7}" type="slidenum">
              <a:rPr lang="en-US"/>
              <a:pPr>
                <a:defRPr/>
              </a:pPr>
              <a:t>‹#›</a:t>
            </a:fld>
            <a:endParaRPr lang="en-US" dirty="0"/>
          </a:p>
        </p:txBody>
      </p:sp>
    </p:spTree>
  </p:cSld>
  <p:clrMap bg1="lt1" tx1="dk1" bg2="lt2" tx2="dk2" accent1="accent1" accent2="accent2" accent3="accent3" accent4="accent4" accent5="accent5" accent6="accent6" hlink="hlink" folHlink="folHlink"/>
  <p:sldLayoutIdLst>
    <p:sldLayoutId id="2147484151" r:id="rId1"/>
  </p:sldLayoutIdLst>
  <p:hf hdr="0"/>
  <p:txStyles>
    <p:titleStyle>
      <a:lvl1pPr algn="ctr" rtl="0" eaLnBrk="0" fontAlgn="base" hangingPunct="0">
        <a:spcBef>
          <a:spcPct val="0"/>
        </a:spcBef>
        <a:spcAft>
          <a:spcPct val="0"/>
        </a:spcAft>
        <a:defRPr lang="en-US" sz="4400" b="1" kern="1200" dirty="0">
          <a:solidFill>
            <a:schemeClr val="tx2"/>
          </a:solidFill>
          <a:latin typeface="+mj-lt"/>
          <a:ea typeface="ＭＳ Ｐゴシック" pitchFamily="34" charset="-128"/>
          <a:cs typeface="+mj-cs"/>
        </a:defRPr>
      </a:lvl1pPr>
      <a:lvl2pPr algn="ctr" rtl="0" eaLnBrk="0" fontAlgn="base" hangingPunct="0">
        <a:spcBef>
          <a:spcPct val="0"/>
        </a:spcBef>
        <a:spcAft>
          <a:spcPct val="0"/>
        </a:spcAft>
        <a:defRPr sz="4400" b="1">
          <a:solidFill>
            <a:schemeClr val="tx2"/>
          </a:solidFill>
          <a:latin typeface="Arial" charset="0"/>
          <a:ea typeface="ＭＳ Ｐゴシック" pitchFamily="34" charset="-128"/>
        </a:defRPr>
      </a:lvl2pPr>
      <a:lvl3pPr algn="ctr" rtl="0" eaLnBrk="0" fontAlgn="base" hangingPunct="0">
        <a:spcBef>
          <a:spcPct val="0"/>
        </a:spcBef>
        <a:spcAft>
          <a:spcPct val="0"/>
        </a:spcAft>
        <a:defRPr sz="4400" b="1">
          <a:solidFill>
            <a:schemeClr val="tx2"/>
          </a:solidFill>
          <a:latin typeface="Arial" charset="0"/>
          <a:ea typeface="ＭＳ Ｐゴシック" pitchFamily="34" charset="-128"/>
        </a:defRPr>
      </a:lvl3pPr>
      <a:lvl4pPr algn="ctr" rtl="0" eaLnBrk="0" fontAlgn="base" hangingPunct="0">
        <a:spcBef>
          <a:spcPct val="0"/>
        </a:spcBef>
        <a:spcAft>
          <a:spcPct val="0"/>
        </a:spcAft>
        <a:defRPr sz="4400" b="1">
          <a:solidFill>
            <a:schemeClr val="tx2"/>
          </a:solidFill>
          <a:latin typeface="Arial" charset="0"/>
          <a:ea typeface="ＭＳ Ｐゴシック" pitchFamily="34" charset="-128"/>
        </a:defRPr>
      </a:lvl4pPr>
      <a:lvl5pPr algn="ctr" rtl="0" eaLnBrk="0" fontAlgn="base" hangingPunct="0">
        <a:spcBef>
          <a:spcPct val="0"/>
        </a:spcBef>
        <a:spcAft>
          <a:spcPct val="0"/>
        </a:spcAft>
        <a:defRPr sz="4400" b="1">
          <a:solidFill>
            <a:schemeClr val="tx2"/>
          </a:solidFill>
          <a:latin typeface="Arial" charset="0"/>
          <a:ea typeface="ＭＳ Ｐゴシック" pitchFamily="34" charset="-128"/>
        </a:defRPr>
      </a:lvl5pPr>
      <a:lvl6pPr marL="457200" algn="ctr" rtl="0" eaLnBrk="1" fontAlgn="base" hangingPunct="1">
        <a:spcBef>
          <a:spcPct val="0"/>
        </a:spcBef>
        <a:spcAft>
          <a:spcPct val="0"/>
        </a:spcAft>
        <a:defRPr sz="4400" b="1">
          <a:solidFill>
            <a:schemeClr val="tx1"/>
          </a:solidFill>
          <a:latin typeface="Arial" charset="0"/>
        </a:defRPr>
      </a:lvl6pPr>
      <a:lvl7pPr marL="914400" algn="ctr" rtl="0" eaLnBrk="1" fontAlgn="base" hangingPunct="1">
        <a:spcBef>
          <a:spcPct val="0"/>
        </a:spcBef>
        <a:spcAft>
          <a:spcPct val="0"/>
        </a:spcAft>
        <a:defRPr sz="4400" b="1">
          <a:solidFill>
            <a:schemeClr val="tx1"/>
          </a:solidFill>
          <a:latin typeface="Arial" charset="0"/>
        </a:defRPr>
      </a:lvl7pPr>
      <a:lvl8pPr marL="1371600" algn="ctr" rtl="0" eaLnBrk="1" fontAlgn="base" hangingPunct="1">
        <a:spcBef>
          <a:spcPct val="0"/>
        </a:spcBef>
        <a:spcAft>
          <a:spcPct val="0"/>
        </a:spcAft>
        <a:defRPr sz="4400" b="1">
          <a:solidFill>
            <a:schemeClr val="tx1"/>
          </a:solidFill>
          <a:latin typeface="Arial" charset="0"/>
        </a:defRPr>
      </a:lvl8pPr>
      <a:lvl9pPr marL="1828800" algn="ctr" rtl="0" eaLnBrk="1" fontAlgn="base" hangingPunct="1">
        <a:spcBef>
          <a:spcPct val="0"/>
        </a:spcBef>
        <a:spcAft>
          <a:spcPct val="0"/>
        </a:spcAft>
        <a:defRPr sz="4400" b="1">
          <a:solidFill>
            <a:schemeClr val="tx1"/>
          </a:solidFill>
          <a:latin typeface="Arial" charset="0"/>
        </a:defRPr>
      </a:lvl9pPr>
    </p:titleStyle>
    <p:bodyStyle>
      <a:lvl1pPr marL="342900" indent="-342900" algn="l" rtl="0" eaLnBrk="0" fontAlgn="base" hangingPunct="0">
        <a:spcBef>
          <a:spcPct val="20000"/>
        </a:spcBef>
        <a:spcAft>
          <a:spcPct val="0"/>
        </a:spcAft>
        <a:buFont typeface="Arial" charset="0"/>
        <a:buChar char="•"/>
        <a:defRPr sz="3200" kern="1200">
          <a:solidFill>
            <a:schemeClr val="tx1"/>
          </a:solidFill>
          <a:latin typeface="Arial Narrow" pitchFamily="34" charset="0"/>
          <a:ea typeface="+mn-ea"/>
          <a:cs typeface="+mn-cs"/>
        </a:defRPr>
      </a:lvl1pPr>
      <a:lvl2pPr marL="742950" indent="-285750" algn="l" rtl="0" eaLnBrk="0" fontAlgn="base" hangingPunct="0">
        <a:spcBef>
          <a:spcPct val="20000"/>
        </a:spcBef>
        <a:spcAft>
          <a:spcPct val="0"/>
        </a:spcAft>
        <a:buFont typeface="Arial" charset="0"/>
        <a:buChar char="–"/>
        <a:defRPr sz="2800" kern="1200">
          <a:solidFill>
            <a:schemeClr val="tx1"/>
          </a:solidFill>
          <a:latin typeface="Arial Narrow" pitchFamily="34" charset="0"/>
          <a:ea typeface="+mn-ea"/>
          <a:cs typeface="+mn-cs"/>
        </a:defRPr>
      </a:lvl2pPr>
      <a:lvl3pPr marL="1143000" indent="-228600" algn="l" rtl="0" eaLnBrk="0" fontAlgn="base" hangingPunct="0">
        <a:spcBef>
          <a:spcPct val="20000"/>
        </a:spcBef>
        <a:spcAft>
          <a:spcPct val="0"/>
        </a:spcAft>
        <a:buFont typeface="Arial" charset="0"/>
        <a:buChar char="•"/>
        <a:defRPr sz="2400" kern="1200">
          <a:solidFill>
            <a:schemeClr val="tx1"/>
          </a:solidFill>
          <a:latin typeface="Arial Narrow" pitchFamily="34" charset="0"/>
          <a:ea typeface="+mn-ea"/>
          <a:cs typeface="+mn-cs"/>
        </a:defRPr>
      </a:lvl3pPr>
      <a:lvl4pPr marL="1600200" indent="-228600" algn="l" rtl="0" eaLnBrk="0" fontAlgn="base" hangingPunct="0">
        <a:spcBef>
          <a:spcPct val="20000"/>
        </a:spcBef>
        <a:spcAft>
          <a:spcPct val="0"/>
        </a:spcAft>
        <a:buFont typeface="Arial" charset="0"/>
        <a:buChar char="–"/>
        <a:defRPr sz="2000" kern="1200">
          <a:solidFill>
            <a:schemeClr val="tx1"/>
          </a:solidFill>
          <a:latin typeface="Arial Narrow" pitchFamily="34" charset="0"/>
          <a:ea typeface="+mn-ea"/>
          <a:cs typeface="+mn-cs"/>
        </a:defRPr>
      </a:lvl4pPr>
      <a:lvl5pPr marL="2057400" indent="-228600" algn="l" rtl="0" eaLnBrk="0" fontAlgn="base" hangingPunct="0">
        <a:spcBef>
          <a:spcPct val="20000"/>
        </a:spcBef>
        <a:spcAft>
          <a:spcPct val="0"/>
        </a:spcAft>
        <a:buFont typeface="Arial" charset="0"/>
        <a:buChar char="»"/>
        <a:defRPr sz="2000" kern="1200">
          <a:solidFill>
            <a:schemeClr val="tx1"/>
          </a:solidFill>
          <a:latin typeface="Arial Narrow" pitchFamily="34" charset="0"/>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6" name="Title 1"/>
          <p:cNvSpPr>
            <a:spLocks noGrp="1"/>
          </p:cNvSpPr>
          <p:nvPr>
            <p:ph type="ctrTitle"/>
          </p:nvPr>
        </p:nvSpPr>
        <p:spPr>
          <a:xfrm>
            <a:off x="685800" y="965746"/>
            <a:ext cx="7772400" cy="1470025"/>
          </a:xfrm>
        </p:spPr>
        <p:txBody>
          <a:bodyPr/>
          <a:lstStyle/>
          <a:p>
            <a:pPr eaLnBrk="1" hangingPunct="1"/>
            <a:r>
              <a:rPr lang="en-US" sz="7200" dirty="0"/>
              <a:t>Romans</a:t>
            </a:r>
            <a:endParaRPr sz="7200" dirty="0"/>
          </a:p>
        </p:txBody>
      </p:sp>
      <p:sp>
        <p:nvSpPr>
          <p:cNvPr id="6147" name="Subtitle 2"/>
          <p:cNvSpPr>
            <a:spLocks noGrp="1"/>
          </p:cNvSpPr>
          <p:nvPr>
            <p:ph type="subTitle" idx="1"/>
          </p:nvPr>
        </p:nvSpPr>
        <p:spPr>
          <a:xfrm>
            <a:off x="1371600" y="3029495"/>
            <a:ext cx="6400800" cy="1470025"/>
          </a:xfrm>
        </p:spPr>
        <p:txBody>
          <a:bodyPr/>
          <a:lstStyle/>
          <a:p>
            <a:pPr eaLnBrk="1" hangingPunct="1"/>
            <a:r>
              <a:rPr lang="en-US" sz="4000" dirty="0"/>
              <a:t>Imputed Righteousness</a:t>
            </a:r>
          </a:p>
          <a:p>
            <a:pPr eaLnBrk="1" hangingPunct="1"/>
            <a:r>
              <a:rPr lang="en-US" sz="4000" dirty="0"/>
              <a:t>Ch. 4</a:t>
            </a:r>
          </a:p>
        </p:txBody>
      </p:sp>
      <p:sp>
        <p:nvSpPr>
          <p:cNvPr id="2" name="TextBox 1">
            <a:extLst>
              <a:ext uri="{FF2B5EF4-FFF2-40B4-BE49-F238E27FC236}">
                <a16:creationId xmlns:a16="http://schemas.microsoft.com/office/drawing/2014/main" id="{079DC8F4-1FC6-0254-E488-A9BC99CE4940}"/>
              </a:ext>
            </a:extLst>
          </p:cNvPr>
          <p:cNvSpPr txBox="1"/>
          <p:nvPr/>
        </p:nvSpPr>
        <p:spPr>
          <a:xfrm>
            <a:off x="2286000" y="5375819"/>
            <a:ext cx="4572000" cy="461665"/>
          </a:xfrm>
          <a:prstGeom prst="rect">
            <a:avLst/>
          </a:prstGeom>
          <a:noFill/>
        </p:spPr>
        <p:txBody>
          <a:bodyPr wrap="square">
            <a:spAutoFit/>
          </a:bodyPr>
          <a:lstStyle>
            <a:defPPr>
              <a:defRPr lang="en-US"/>
            </a:defPPr>
            <a:lvl1pPr algn="l" rtl="0" fontAlgn="base">
              <a:spcBef>
                <a:spcPct val="0"/>
              </a:spcBef>
              <a:spcAft>
                <a:spcPct val="0"/>
              </a:spcAft>
              <a:defRPr kern="1200">
                <a:solidFill>
                  <a:schemeClr val="tx1"/>
                </a:solidFill>
                <a:latin typeface="Arial" charset="0"/>
                <a:ea typeface="ＭＳ Ｐゴシック" pitchFamily="34" charset="-128"/>
                <a:cs typeface="+mn-cs"/>
              </a:defRPr>
            </a:lvl1pPr>
            <a:lvl2pPr marL="457200" algn="l" rtl="0" fontAlgn="base">
              <a:spcBef>
                <a:spcPct val="0"/>
              </a:spcBef>
              <a:spcAft>
                <a:spcPct val="0"/>
              </a:spcAft>
              <a:defRPr kern="1200">
                <a:solidFill>
                  <a:schemeClr val="tx1"/>
                </a:solidFill>
                <a:latin typeface="Arial" charset="0"/>
                <a:ea typeface="ＭＳ Ｐゴシック" pitchFamily="34" charset="-128"/>
                <a:cs typeface="+mn-cs"/>
              </a:defRPr>
            </a:lvl2pPr>
            <a:lvl3pPr marL="914400" algn="l" rtl="0" fontAlgn="base">
              <a:spcBef>
                <a:spcPct val="0"/>
              </a:spcBef>
              <a:spcAft>
                <a:spcPct val="0"/>
              </a:spcAft>
              <a:defRPr kern="1200">
                <a:solidFill>
                  <a:schemeClr val="tx1"/>
                </a:solidFill>
                <a:latin typeface="Arial" charset="0"/>
                <a:ea typeface="ＭＳ Ｐゴシック" pitchFamily="34" charset="-128"/>
                <a:cs typeface="+mn-cs"/>
              </a:defRPr>
            </a:lvl3pPr>
            <a:lvl4pPr marL="1371600" algn="l" rtl="0" fontAlgn="base">
              <a:spcBef>
                <a:spcPct val="0"/>
              </a:spcBef>
              <a:spcAft>
                <a:spcPct val="0"/>
              </a:spcAft>
              <a:defRPr kern="1200">
                <a:solidFill>
                  <a:schemeClr val="tx1"/>
                </a:solidFill>
                <a:latin typeface="Arial" charset="0"/>
                <a:ea typeface="ＭＳ Ｐゴシック" pitchFamily="34" charset="-128"/>
                <a:cs typeface="+mn-cs"/>
              </a:defRPr>
            </a:lvl4pPr>
            <a:lvl5pPr marL="1828800" algn="l" rtl="0" fontAlgn="base">
              <a:spcBef>
                <a:spcPct val="0"/>
              </a:spcBef>
              <a:spcAft>
                <a:spcPct val="0"/>
              </a:spcAft>
              <a:defRPr kern="1200">
                <a:solidFill>
                  <a:schemeClr val="tx1"/>
                </a:solidFill>
                <a:latin typeface="Arial" charset="0"/>
                <a:ea typeface="ＭＳ Ｐゴシック" pitchFamily="34" charset="-128"/>
                <a:cs typeface="+mn-cs"/>
              </a:defRPr>
            </a:lvl5pPr>
            <a:lvl6pPr marL="2286000" algn="l" defTabSz="914400" rtl="0" eaLnBrk="1" latinLnBrk="0" hangingPunct="1">
              <a:defRPr kern="1200">
                <a:solidFill>
                  <a:schemeClr val="tx1"/>
                </a:solidFill>
                <a:latin typeface="Arial" charset="0"/>
                <a:ea typeface="ＭＳ Ｐゴシック" pitchFamily="34" charset="-128"/>
                <a:cs typeface="+mn-cs"/>
              </a:defRPr>
            </a:lvl6pPr>
            <a:lvl7pPr marL="2743200" algn="l" defTabSz="914400" rtl="0" eaLnBrk="1" latinLnBrk="0" hangingPunct="1">
              <a:defRPr kern="1200">
                <a:solidFill>
                  <a:schemeClr val="tx1"/>
                </a:solidFill>
                <a:latin typeface="Arial" charset="0"/>
                <a:ea typeface="ＭＳ Ｐゴシック" pitchFamily="34" charset="-128"/>
                <a:cs typeface="+mn-cs"/>
              </a:defRPr>
            </a:lvl7pPr>
            <a:lvl8pPr marL="3200400" algn="l" defTabSz="914400" rtl="0" eaLnBrk="1" latinLnBrk="0" hangingPunct="1">
              <a:defRPr kern="1200">
                <a:solidFill>
                  <a:schemeClr val="tx1"/>
                </a:solidFill>
                <a:latin typeface="Arial" charset="0"/>
                <a:ea typeface="ＭＳ Ｐゴシック" pitchFamily="34" charset="-128"/>
                <a:cs typeface="+mn-cs"/>
              </a:defRPr>
            </a:lvl8pPr>
            <a:lvl9pPr marL="3657600" algn="l" defTabSz="914400" rtl="0" eaLnBrk="1" latinLnBrk="0" hangingPunct="1">
              <a:defRPr kern="1200">
                <a:solidFill>
                  <a:schemeClr val="tx1"/>
                </a:solidFill>
                <a:latin typeface="Arial" charset="0"/>
                <a:ea typeface="ＭＳ Ｐゴシック" pitchFamily="34" charset="-128"/>
                <a:cs typeface="+mn-cs"/>
              </a:defRPr>
            </a:lvl9pPr>
          </a:lstStyle>
          <a:p>
            <a:r>
              <a:rPr lang="en-US" sz="2400" dirty="0"/>
              <a:t>https://tinyurl.com/RomeGospel</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14350" y="228600"/>
            <a:ext cx="8229600" cy="1143000"/>
          </a:xfrm>
        </p:spPr>
        <p:txBody>
          <a:bodyPr>
            <a:normAutofit/>
          </a:bodyPr>
          <a:lstStyle/>
          <a:p>
            <a:r>
              <a:rPr lang="en-US" dirty="0"/>
              <a:t>The Grace of God Revealed</a:t>
            </a:r>
            <a:br>
              <a:rPr lang="en-US" dirty="0"/>
            </a:br>
            <a:r>
              <a:rPr lang="en-US" sz="2400" dirty="0">
                <a:solidFill>
                  <a:schemeClr val="tx2">
                    <a:lumMod val="60000"/>
                    <a:lumOff val="40000"/>
                  </a:schemeClr>
                </a:solidFill>
              </a:rPr>
              <a:t>How </a:t>
            </a:r>
            <a:r>
              <a:rPr lang="en-US" sz="2400" i="1" dirty="0">
                <a:solidFill>
                  <a:schemeClr val="tx2">
                    <a:lumMod val="60000"/>
                    <a:lumOff val="40000"/>
                  </a:schemeClr>
                </a:solidFill>
              </a:rPr>
              <a:t>the</a:t>
            </a:r>
            <a:r>
              <a:rPr lang="en-US" sz="2400" dirty="0">
                <a:solidFill>
                  <a:schemeClr val="tx2">
                    <a:lumMod val="60000"/>
                    <a:lumOff val="40000"/>
                  </a:schemeClr>
                </a:solidFill>
              </a:rPr>
              <a:t> perfectly just LORD </a:t>
            </a:r>
            <a:r>
              <a:rPr lang="en-US" sz="2400" i="1" dirty="0">
                <a:solidFill>
                  <a:schemeClr val="tx2">
                    <a:lumMod val="60000"/>
                    <a:lumOff val="40000"/>
                  </a:schemeClr>
                </a:solidFill>
              </a:rPr>
              <a:t>has</a:t>
            </a:r>
            <a:r>
              <a:rPr lang="en-US" sz="2400" dirty="0">
                <a:solidFill>
                  <a:schemeClr val="tx2">
                    <a:lumMod val="60000"/>
                    <a:lumOff val="40000"/>
                  </a:schemeClr>
                </a:solidFill>
              </a:rPr>
              <a:t> forgiven sin…!</a:t>
            </a:r>
          </a:p>
        </p:txBody>
      </p:sp>
      <p:sp>
        <p:nvSpPr>
          <p:cNvPr id="4" name="TextBox 3"/>
          <p:cNvSpPr txBox="1"/>
          <p:nvPr/>
        </p:nvSpPr>
        <p:spPr>
          <a:xfrm>
            <a:off x="571500" y="1600200"/>
            <a:ext cx="8001000" cy="2677656"/>
          </a:xfrm>
          <a:prstGeom prst="rect">
            <a:avLst/>
          </a:prstGeom>
          <a:noFill/>
        </p:spPr>
        <p:txBody>
          <a:bodyPr wrap="square" rtlCol="0">
            <a:spAutoFit/>
          </a:bodyPr>
          <a:lstStyle/>
          <a:p>
            <a:r>
              <a:rPr lang="en-US" sz="2800" i="1" dirty="0"/>
              <a:t>“Blessed is he whose transgression is </a:t>
            </a:r>
            <a:r>
              <a:rPr lang="en-US" sz="2800" b="1" i="1" dirty="0"/>
              <a:t>forgiven</a:t>
            </a:r>
            <a:r>
              <a:rPr lang="en-US" sz="2800" i="1" dirty="0"/>
              <a:t>, </a:t>
            </a:r>
          </a:p>
          <a:p>
            <a:r>
              <a:rPr lang="en-US" sz="2800" i="1" dirty="0"/>
              <a:t>	whose sin is </a:t>
            </a:r>
            <a:r>
              <a:rPr lang="en-US" sz="2800" b="1" i="1" dirty="0"/>
              <a:t>covered</a:t>
            </a:r>
            <a:r>
              <a:rPr lang="en-US" sz="2800" i="1" dirty="0"/>
              <a:t>,</a:t>
            </a:r>
          </a:p>
          <a:p>
            <a:r>
              <a:rPr lang="en-US" sz="2800" i="1" dirty="0"/>
              <a:t>Blessed is the man to whom </a:t>
            </a:r>
          </a:p>
          <a:p>
            <a:r>
              <a:rPr lang="en-US" sz="2800" i="1" dirty="0"/>
              <a:t>	the </a:t>
            </a:r>
            <a:r>
              <a:rPr lang="en-US" sz="2800" b="1" i="1" dirty="0"/>
              <a:t>LORD</a:t>
            </a:r>
            <a:r>
              <a:rPr lang="en-US" sz="2800" i="1" dirty="0"/>
              <a:t> does </a:t>
            </a:r>
            <a:r>
              <a:rPr lang="en-US" sz="2800" b="1" i="1" dirty="0"/>
              <a:t>not</a:t>
            </a:r>
            <a:r>
              <a:rPr lang="en-US" sz="2800" i="1" dirty="0"/>
              <a:t> </a:t>
            </a:r>
            <a:r>
              <a:rPr lang="en-US" sz="2800" b="1" i="1" dirty="0"/>
              <a:t>impute</a:t>
            </a:r>
            <a:r>
              <a:rPr lang="en-US" sz="2800" i="1" dirty="0"/>
              <a:t> </a:t>
            </a:r>
            <a:r>
              <a:rPr lang="en-US" sz="2800" b="1" i="1" dirty="0"/>
              <a:t>iniquity</a:t>
            </a:r>
            <a:r>
              <a:rPr lang="en-US" sz="2800" i="1" dirty="0"/>
              <a:t>, </a:t>
            </a:r>
          </a:p>
          <a:p>
            <a:r>
              <a:rPr lang="en-US" sz="2800" i="1" dirty="0"/>
              <a:t>And in whose spirit there is </a:t>
            </a:r>
            <a:r>
              <a:rPr lang="en-US" sz="2800" b="1" i="1" dirty="0"/>
              <a:t>no</a:t>
            </a:r>
            <a:r>
              <a:rPr lang="en-US" sz="2800" i="1" dirty="0"/>
              <a:t> </a:t>
            </a:r>
            <a:r>
              <a:rPr lang="en-US" sz="2800" b="1" i="1" dirty="0"/>
              <a:t>deceit</a:t>
            </a:r>
            <a:r>
              <a:rPr lang="en-US" sz="2800" i="1" dirty="0"/>
              <a:t>.”   </a:t>
            </a:r>
          </a:p>
          <a:p>
            <a:pPr marL="800100" lvl="1" indent="-342900">
              <a:buFont typeface="Arial" pitchFamily="34" charset="0"/>
              <a:buChar char="•"/>
            </a:pPr>
            <a:r>
              <a:rPr lang="en-US" sz="2800" b="1" i="1" dirty="0"/>
              <a:t>Psalm 32:1-2</a:t>
            </a:r>
            <a:r>
              <a:rPr lang="en-US" sz="2800" i="1" dirty="0"/>
              <a:t>; </a:t>
            </a:r>
            <a:r>
              <a:rPr lang="en-US" sz="2800" b="1" i="1" dirty="0"/>
              <a:t>Romans 4:7-8</a:t>
            </a:r>
            <a:endParaRPr lang="en-US" sz="2400" b="1" i="1" dirty="0"/>
          </a:p>
        </p:txBody>
      </p:sp>
      <p:sp>
        <p:nvSpPr>
          <p:cNvPr id="5" name="TextBox 4"/>
          <p:cNvSpPr txBox="1"/>
          <p:nvPr/>
        </p:nvSpPr>
        <p:spPr>
          <a:xfrm>
            <a:off x="533400" y="5410200"/>
            <a:ext cx="8191500" cy="954107"/>
          </a:xfrm>
          <a:prstGeom prst="rect">
            <a:avLst/>
          </a:prstGeom>
          <a:noFill/>
        </p:spPr>
        <p:txBody>
          <a:bodyPr wrap="square" rtlCol="0">
            <a:spAutoFit/>
          </a:bodyPr>
          <a:lstStyle/>
          <a:p>
            <a:r>
              <a:rPr lang="en-US" sz="2800" i="1" dirty="0"/>
              <a:t>“…</a:t>
            </a:r>
            <a:r>
              <a:rPr lang="en-US" sz="2800" i="1" dirty="0">
                <a:highlight>
                  <a:srgbClr val="FFFF00"/>
                </a:highlight>
              </a:rPr>
              <a:t>that </a:t>
            </a:r>
            <a:r>
              <a:rPr lang="en-US" sz="2800" b="1" i="1" dirty="0">
                <a:highlight>
                  <a:srgbClr val="FFFF00"/>
                </a:highlight>
              </a:rPr>
              <a:t>He</a:t>
            </a:r>
            <a:r>
              <a:rPr lang="en-US" sz="2800" i="1" dirty="0">
                <a:highlight>
                  <a:srgbClr val="FFFF00"/>
                </a:highlight>
              </a:rPr>
              <a:t> might </a:t>
            </a:r>
            <a:r>
              <a:rPr lang="en-US" sz="2800" b="1" i="1" dirty="0">
                <a:highlight>
                  <a:srgbClr val="FFFF00"/>
                </a:highlight>
              </a:rPr>
              <a:t>be just and the justifier </a:t>
            </a:r>
            <a:r>
              <a:rPr lang="en-US" sz="2800" i="1" dirty="0">
                <a:highlight>
                  <a:srgbClr val="FFFF00"/>
                </a:highlight>
              </a:rPr>
              <a:t>of the one who has faith in Jesus</a:t>
            </a:r>
            <a:r>
              <a:rPr lang="en-US" sz="2800" i="1" dirty="0"/>
              <a:t>.”    Romans 3:26</a:t>
            </a:r>
          </a:p>
        </p:txBody>
      </p:sp>
    </p:spTree>
    <p:extLst>
      <p:ext uri="{BB962C8B-B14F-4D97-AF65-F5344CB8AC3E}">
        <p14:creationId xmlns:p14="http://schemas.microsoft.com/office/powerpoint/2010/main" val="263718940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1000"/>
                                        <p:tgtEl>
                                          <p:spTgt spid="4"/>
                                        </p:tgtEl>
                                      </p:cBhvr>
                                    </p:animEffect>
                                    <p:anim calcmode="lin" valueType="num">
                                      <p:cBhvr>
                                        <p:cTn id="8" dur="1000" fill="hold"/>
                                        <p:tgtEl>
                                          <p:spTgt spid="4"/>
                                        </p:tgtEl>
                                        <p:attrNameLst>
                                          <p:attrName>ppt_x</p:attrName>
                                        </p:attrNameLst>
                                      </p:cBhvr>
                                      <p:tavLst>
                                        <p:tav tm="0">
                                          <p:val>
                                            <p:strVal val="#ppt_x"/>
                                          </p:val>
                                        </p:tav>
                                        <p:tav tm="100000">
                                          <p:val>
                                            <p:strVal val="#ppt_x"/>
                                          </p:val>
                                        </p:tav>
                                      </p:tavLst>
                                    </p:anim>
                                    <p:anim calcmode="lin" valueType="num">
                                      <p:cBhvr>
                                        <p:cTn id="9" dur="1000" fill="hold"/>
                                        <p:tgtEl>
                                          <p:spTgt spid="4"/>
                                        </p:tgtEl>
                                        <p:attrNameLst>
                                          <p:attrName>ppt_y</p:attrName>
                                        </p:attrNameLst>
                                      </p:cBhvr>
                                      <p:tavLst>
                                        <p:tav tm="0">
                                          <p:val>
                                            <p:strVal val="#ppt_y+.1"/>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5"/>
                                        </p:tgtEl>
                                        <p:attrNameLst>
                                          <p:attrName>style.visibility</p:attrName>
                                        </p:attrNameLst>
                                      </p:cBhvr>
                                      <p:to>
                                        <p:strVal val="visible"/>
                                      </p:to>
                                    </p:set>
                                    <p:animEffect transition="in" filter="fade">
                                      <p:cBhvr>
                                        <p:cTn id="14" dur="1000"/>
                                        <p:tgtEl>
                                          <p:spTgt spid="5"/>
                                        </p:tgtEl>
                                      </p:cBhvr>
                                    </p:animEffect>
                                    <p:anim calcmode="lin" valueType="num">
                                      <p:cBhvr>
                                        <p:cTn id="15" dur="1000" fill="hold"/>
                                        <p:tgtEl>
                                          <p:spTgt spid="5"/>
                                        </p:tgtEl>
                                        <p:attrNameLst>
                                          <p:attrName>ppt_x</p:attrName>
                                        </p:attrNameLst>
                                      </p:cBhvr>
                                      <p:tavLst>
                                        <p:tav tm="0">
                                          <p:val>
                                            <p:strVal val="#ppt_x"/>
                                          </p:val>
                                        </p:tav>
                                        <p:tav tm="100000">
                                          <p:val>
                                            <p:strVal val="#ppt_x"/>
                                          </p:val>
                                        </p:tav>
                                      </p:tavLst>
                                    </p:anim>
                                    <p:anim calcmode="lin" valueType="num">
                                      <p:cBhvr>
                                        <p:cTn id="16" dur="1000" fill="hold"/>
                                        <p:tgtEl>
                                          <p:spTgt spid="5"/>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5" grpId="0"/>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Table 4">
            <a:extLst>
              <a:ext uri="{FF2B5EF4-FFF2-40B4-BE49-F238E27FC236}">
                <a16:creationId xmlns:a16="http://schemas.microsoft.com/office/drawing/2014/main" id="{19C7D28C-F5E8-857E-2988-C793930BFA6A}"/>
              </a:ext>
            </a:extLst>
          </p:cNvPr>
          <p:cNvGraphicFramePr>
            <a:graphicFrameLocks noGrp="1"/>
          </p:cNvGraphicFramePr>
          <p:nvPr>
            <p:extLst>
              <p:ext uri="{D42A27DB-BD31-4B8C-83A1-F6EECF244321}">
                <p14:modId xmlns:p14="http://schemas.microsoft.com/office/powerpoint/2010/main" val="3459892984"/>
              </p:ext>
            </p:extLst>
          </p:nvPr>
        </p:nvGraphicFramePr>
        <p:xfrm>
          <a:off x="29111" y="-70716"/>
          <a:ext cx="9114889" cy="6928716"/>
        </p:xfrm>
        <a:graphic>
          <a:graphicData uri="http://schemas.openxmlformats.org/drawingml/2006/table">
            <a:tbl>
              <a:tblPr>
                <a:tableStyleId>{46F890A9-2807-4EBB-B81D-B2AA78EC7F39}</a:tableStyleId>
              </a:tblPr>
              <a:tblGrid>
                <a:gridCol w="1571089">
                  <a:extLst>
                    <a:ext uri="{9D8B030D-6E8A-4147-A177-3AD203B41FA5}">
                      <a16:colId xmlns:a16="http://schemas.microsoft.com/office/drawing/2014/main" val="3511153360"/>
                    </a:ext>
                  </a:extLst>
                </a:gridCol>
                <a:gridCol w="2816003">
                  <a:extLst>
                    <a:ext uri="{9D8B030D-6E8A-4147-A177-3AD203B41FA5}">
                      <a16:colId xmlns:a16="http://schemas.microsoft.com/office/drawing/2014/main" val="3414336291"/>
                    </a:ext>
                  </a:extLst>
                </a:gridCol>
                <a:gridCol w="3508597">
                  <a:extLst>
                    <a:ext uri="{9D8B030D-6E8A-4147-A177-3AD203B41FA5}">
                      <a16:colId xmlns:a16="http://schemas.microsoft.com/office/drawing/2014/main" val="463675269"/>
                    </a:ext>
                  </a:extLst>
                </a:gridCol>
                <a:gridCol w="1219200">
                  <a:extLst>
                    <a:ext uri="{9D8B030D-6E8A-4147-A177-3AD203B41FA5}">
                      <a16:colId xmlns:a16="http://schemas.microsoft.com/office/drawing/2014/main" val="1620961186"/>
                    </a:ext>
                  </a:extLst>
                </a:gridCol>
              </a:tblGrid>
              <a:tr h="376230">
                <a:tc>
                  <a:txBody>
                    <a:bodyPr/>
                    <a:lstStyle/>
                    <a:p>
                      <a:pPr marL="0" marR="0" fontAlgn="t">
                        <a:buNone/>
                      </a:pPr>
                      <a:r>
                        <a:rPr lang="en-US" sz="1600" b="1" dirty="0">
                          <a:effectLst/>
                        </a:rPr>
                        <a:t>Topic</a:t>
                      </a:r>
                      <a:endParaRPr lang="en-US" sz="1600" dirty="0">
                        <a:effectLst/>
                        <a:latin typeface="Calibri" panose="020F0502020204030204" pitchFamily="34" charset="0"/>
                      </a:endParaRPr>
                    </a:p>
                  </a:txBody>
                  <a:tcPr marL="50800" marR="50800" marT="50800" marB="50800"/>
                </a:tc>
                <a:tc>
                  <a:txBody>
                    <a:bodyPr/>
                    <a:lstStyle/>
                    <a:p>
                      <a:pPr marL="0" marR="0" fontAlgn="t">
                        <a:buNone/>
                      </a:pPr>
                      <a:r>
                        <a:rPr lang="en-US" sz="1600" b="1">
                          <a:effectLst/>
                        </a:rPr>
                        <a:t>Common Protestant View</a:t>
                      </a:r>
                      <a:endParaRPr lang="en-US" sz="1600">
                        <a:effectLst/>
                        <a:latin typeface="Calibri" panose="020F0502020204030204" pitchFamily="34" charset="0"/>
                      </a:endParaRPr>
                    </a:p>
                  </a:txBody>
                  <a:tcPr marL="50800" marR="50800" marT="50800" marB="50800"/>
                </a:tc>
                <a:tc>
                  <a:txBody>
                    <a:bodyPr/>
                    <a:lstStyle/>
                    <a:p>
                      <a:pPr marL="0" marR="0" fontAlgn="t">
                        <a:buNone/>
                      </a:pPr>
                      <a:r>
                        <a:rPr lang="en-US" sz="1600" b="1">
                          <a:effectLst/>
                        </a:rPr>
                        <a:t>Restoration Theology Emphasis</a:t>
                      </a:r>
                      <a:endParaRPr lang="en-US" sz="1600">
                        <a:effectLst/>
                        <a:latin typeface="Calibri" panose="020F0502020204030204" pitchFamily="34" charset="0"/>
                      </a:endParaRPr>
                    </a:p>
                  </a:txBody>
                  <a:tcPr marL="50800" marR="50800" marT="50800" marB="50800"/>
                </a:tc>
                <a:tc>
                  <a:txBody>
                    <a:bodyPr/>
                    <a:lstStyle/>
                    <a:p>
                      <a:pPr marL="0" marR="0" fontAlgn="t">
                        <a:buNone/>
                      </a:pPr>
                      <a:r>
                        <a:rPr lang="en-US" sz="1600" b="1" dirty="0">
                          <a:effectLst/>
                        </a:rPr>
                        <a:t>Key Text</a:t>
                      </a:r>
                      <a:endParaRPr lang="en-US" sz="1600" dirty="0">
                        <a:effectLst/>
                        <a:latin typeface="Calibri" panose="020F0502020204030204" pitchFamily="34" charset="0"/>
                      </a:endParaRPr>
                    </a:p>
                  </a:txBody>
                  <a:tcPr marL="50800" marR="50800" marT="50800" marB="50800"/>
                </a:tc>
                <a:extLst>
                  <a:ext uri="{0D108BD9-81ED-4DB2-BD59-A6C34878D82A}">
                    <a16:rowId xmlns:a16="http://schemas.microsoft.com/office/drawing/2014/main" val="4151071231"/>
                  </a:ext>
                </a:extLst>
              </a:tr>
              <a:tr h="581903">
                <a:tc>
                  <a:txBody>
                    <a:bodyPr/>
                    <a:lstStyle/>
                    <a:p>
                      <a:pPr marL="0" marR="0" fontAlgn="t">
                        <a:buNone/>
                      </a:pPr>
                      <a:r>
                        <a:rPr lang="en-US" sz="1600" b="1">
                          <a:effectLst/>
                        </a:rPr>
                        <a:t>Nature of Faith</a:t>
                      </a:r>
                      <a:endParaRPr lang="en-US" sz="1600">
                        <a:effectLst/>
                        <a:latin typeface="Calibri" panose="020F0502020204030204" pitchFamily="34" charset="0"/>
                      </a:endParaRPr>
                    </a:p>
                  </a:txBody>
                  <a:tcPr marL="50800" marR="50800" marT="50800" marB="50800"/>
                </a:tc>
                <a:tc>
                  <a:txBody>
                    <a:bodyPr/>
                    <a:lstStyle/>
                    <a:p>
                      <a:pPr marL="0" marR="0" fontAlgn="t">
                        <a:buNone/>
                      </a:pPr>
                      <a:r>
                        <a:rPr lang="en-US" sz="1600">
                          <a:effectLst/>
                        </a:rPr>
                        <a:t>Faith = belief/trust alone</a:t>
                      </a:r>
                      <a:endParaRPr lang="en-US" sz="1600">
                        <a:effectLst/>
                        <a:latin typeface="Calibri" panose="020F0502020204030204" pitchFamily="34" charset="0"/>
                      </a:endParaRPr>
                    </a:p>
                  </a:txBody>
                  <a:tcPr marL="50800" marR="50800" marT="50800" marB="50800"/>
                </a:tc>
                <a:tc>
                  <a:txBody>
                    <a:bodyPr/>
                    <a:lstStyle/>
                    <a:p>
                      <a:pPr marL="0" marR="0" fontAlgn="t">
                        <a:buNone/>
                      </a:pPr>
                      <a:r>
                        <a:rPr lang="en-US" sz="1600">
                          <a:effectLst/>
                        </a:rPr>
                        <a:t>Faith = belief that responds in obedience</a:t>
                      </a:r>
                      <a:endParaRPr lang="en-US" sz="1600">
                        <a:effectLst/>
                        <a:latin typeface="Calibri" panose="020F0502020204030204" pitchFamily="34" charset="0"/>
                      </a:endParaRPr>
                    </a:p>
                  </a:txBody>
                  <a:tcPr marL="50800" marR="50800" marT="50800" marB="50800"/>
                </a:tc>
                <a:tc>
                  <a:txBody>
                    <a:bodyPr/>
                    <a:lstStyle/>
                    <a:p>
                      <a:pPr marL="0" marR="0" fontAlgn="t">
                        <a:buNone/>
                      </a:pPr>
                      <a:r>
                        <a:rPr lang="en-US" sz="1600" dirty="0">
                          <a:effectLst/>
                        </a:rPr>
                        <a:t>Rom. 1:5</a:t>
                      </a:r>
                      <a:endParaRPr lang="en-US" sz="1600" dirty="0">
                        <a:effectLst/>
                        <a:latin typeface="Calibri" panose="020F0502020204030204" pitchFamily="34" charset="0"/>
                      </a:endParaRPr>
                    </a:p>
                  </a:txBody>
                  <a:tcPr marL="50800" marR="50800" marT="50800" marB="50800"/>
                </a:tc>
                <a:extLst>
                  <a:ext uri="{0D108BD9-81ED-4DB2-BD59-A6C34878D82A}">
                    <a16:rowId xmlns:a16="http://schemas.microsoft.com/office/drawing/2014/main" val="1083431917"/>
                  </a:ext>
                </a:extLst>
              </a:tr>
              <a:tr h="581903">
                <a:tc>
                  <a:txBody>
                    <a:bodyPr/>
                    <a:lstStyle/>
                    <a:p>
                      <a:pPr marL="0" marR="0" fontAlgn="t">
                        <a:buNone/>
                      </a:pPr>
                      <a:r>
                        <a:rPr lang="en-US" sz="1600" b="1">
                          <a:effectLst/>
                        </a:rPr>
                        <a:t>Justification</a:t>
                      </a:r>
                      <a:endParaRPr lang="en-US" sz="1600">
                        <a:effectLst/>
                        <a:latin typeface="Calibri" panose="020F0502020204030204" pitchFamily="34" charset="0"/>
                      </a:endParaRPr>
                    </a:p>
                  </a:txBody>
                  <a:tcPr marL="50800" marR="50800" marT="50800" marB="50800"/>
                </a:tc>
                <a:tc>
                  <a:txBody>
                    <a:bodyPr/>
                    <a:lstStyle/>
                    <a:p>
                      <a:pPr marL="0" marR="0" fontAlgn="t">
                        <a:buNone/>
                      </a:pPr>
                      <a:r>
                        <a:rPr lang="en-US" sz="1600">
                          <a:effectLst/>
                        </a:rPr>
                        <a:t>By faith alone (no role of obedience)</a:t>
                      </a:r>
                      <a:endParaRPr lang="en-US" sz="1600">
                        <a:effectLst/>
                        <a:latin typeface="Calibri" panose="020F0502020204030204" pitchFamily="34" charset="0"/>
                      </a:endParaRPr>
                    </a:p>
                  </a:txBody>
                  <a:tcPr marL="50800" marR="50800" marT="50800" marB="50800"/>
                </a:tc>
                <a:tc>
                  <a:txBody>
                    <a:bodyPr/>
                    <a:lstStyle/>
                    <a:p>
                      <a:pPr marL="0" marR="0" fontAlgn="t">
                        <a:buNone/>
                      </a:pPr>
                      <a:r>
                        <a:rPr lang="en-US" sz="1600">
                          <a:effectLst/>
                        </a:rPr>
                        <a:t>By grace through faith that obeys</a:t>
                      </a:r>
                      <a:endParaRPr lang="en-US" sz="1600">
                        <a:effectLst/>
                        <a:latin typeface="Calibri" panose="020F0502020204030204" pitchFamily="34" charset="0"/>
                      </a:endParaRPr>
                    </a:p>
                  </a:txBody>
                  <a:tcPr marL="50800" marR="50800" marT="50800" marB="50800"/>
                </a:tc>
                <a:tc>
                  <a:txBody>
                    <a:bodyPr/>
                    <a:lstStyle/>
                    <a:p>
                      <a:pPr marL="0" marR="0" fontAlgn="t">
                        <a:buNone/>
                      </a:pPr>
                      <a:r>
                        <a:rPr lang="en-US" sz="1600" dirty="0">
                          <a:effectLst/>
                        </a:rPr>
                        <a:t>Rom. 3:28</a:t>
                      </a:r>
                      <a:endParaRPr lang="en-US" sz="1600" dirty="0">
                        <a:effectLst/>
                        <a:latin typeface="Calibri" panose="020F0502020204030204" pitchFamily="34" charset="0"/>
                      </a:endParaRPr>
                    </a:p>
                  </a:txBody>
                  <a:tcPr marL="50800" marR="50800" marT="50800" marB="50800"/>
                </a:tc>
                <a:extLst>
                  <a:ext uri="{0D108BD9-81ED-4DB2-BD59-A6C34878D82A}">
                    <a16:rowId xmlns:a16="http://schemas.microsoft.com/office/drawing/2014/main" val="3512392758"/>
                  </a:ext>
                </a:extLst>
              </a:tr>
              <a:tr h="581903">
                <a:tc>
                  <a:txBody>
                    <a:bodyPr/>
                    <a:lstStyle/>
                    <a:p>
                      <a:pPr marL="0" marR="0" fontAlgn="t">
                        <a:buNone/>
                      </a:pPr>
                      <a:r>
                        <a:rPr lang="en-US" sz="1600" b="1">
                          <a:effectLst/>
                        </a:rPr>
                        <a:t>Works</a:t>
                      </a:r>
                      <a:endParaRPr lang="en-US" sz="1600">
                        <a:effectLst/>
                        <a:latin typeface="Calibri" panose="020F0502020204030204" pitchFamily="34" charset="0"/>
                      </a:endParaRPr>
                    </a:p>
                  </a:txBody>
                  <a:tcPr marL="50800" marR="50800" marT="50800" marB="50800"/>
                </a:tc>
                <a:tc>
                  <a:txBody>
                    <a:bodyPr/>
                    <a:lstStyle/>
                    <a:p>
                      <a:pPr marL="0" marR="0" fontAlgn="t">
                        <a:buNone/>
                      </a:pPr>
                      <a:r>
                        <a:rPr lang="en-US" sz="1600">
                          <a:effectLst/>
                        </a:rPr>
                        <a:t>All “works” excluded</a:t>
                      </a:r>
                      <a:endParaRPr lang="en-US" sz="1600">
                        <a:effectLst/>
                        <a:latin typeface="Calibri" panose="020F0502020204030204" pitchFamily="34" charset="0"/>
                      </a:endParaRPr>
                    </a:p>
                  </a:txBody>
                  <a:tcPr marL="50800" marR="50800" marT="50800" marB="50800"/>
                </a:tc>
                <a:tc>
                  <a:txBody>
                    <a:bodyPr/>
                    <a:lstStyle/>
                    <a:p>
                      <a:pPr marL="0" marR="0" fontAlgn="t">
                        <a:buNone/>
                      </a:pPr>
                      <a:r>
                        <a:rPr lang="en-US" sz="1600">
                          <a:effectLst/>
                        </a:rPr>
                        <a:t>Works of law excluded; obedient faith included</a:t>
                      </a:r>
                      <a:endParaRPr lang="en-US" sz="1600">
                        <a:effectLst/>
                        <a:latin typeface="Calibri" panose="020F0502020204030204" pitchFamily="34" charset="0"/>
                      </a:endParaRPr>
                    </a:p>
                  </a:txBody>
                  <a:tcPr marL="50800" marR="50800" marT="50800" marB="50800"/>
                </a:tc>
                <a:tc>
                  <a:txBody>
                    <a:bodyPr/>
                    <a:lstStyle/>
                    <a:p>
                      <a:pPr marL="0" marR="0" fontAlgn="t">
                        <a:buNone/>
                      </a:pPr>
                      <a:r>
                        <a:rPr lang="en-US" sz="1600" dirty="0">
                          <a:effectLst/>
                        </a:rPr>
                        <a:t>Rom. 4:3</a:t>
                      </a:r>
                      <a:endParaRPr lang="en-US" sz="1600" dirty="0">
                        <a:effectLst/>
                        <a:latin typeface="Calibri" panose="020F0502020204030204" pitchFamily="34" charset="0"/>
                      </a:endParaRPr>
                    </a:p>
                  </a:txBody>
                  <a:tcPr marL="50800" marR="50800" marT="50800" marB="50800"/>
                </a:tc>
                <a:extLst>
                  <a:ext uri="{0D108BD9-81ED-4DB2-BD59-A6C34878D82A}">
                    <a16:rowId xmlns:a16="http://schemas.microsoft.com/office/drawing/2014/main" val="3848607105"/>
                  </a:ext>
                </a:extLst>
              </a:tr>
              <a:tr h="451763">
                <a:tc>
                  <a:txBody>
                    <a:bodyPr/>
                    <a:lstStyle/>
                    <a:p>
                      <a:pPr marL="0" marR="0" fontAlgn="t">
                        <a:buNone/>
                      </a:pPr>
                      <a:r>
                        <a:rPr lang="en-US" sz="1600" b="1">
                          <a:effectLst/>
                        </a:rPr>
                        <a:t>Baptism</a:t>
                      </a:r>
                      <a:endParaRPr lang="en-US" sz="1600">
                        <a:effectLst/>
                        <a:latin typeface="Calibri" panose="020F0502020204030204" pitchFamily="34" charset="0"/>
                      </a:endParaRPr>
                    </a:p>
                  </a:txBody>
                  <a:tcPr marL="50800" marR="50800" marT="50800" marB="50800"/>
                </a:tc>
                <a:tc>
                  <a:txBody>
                    <a:bodyPr/>
                    <a:lstStyle/>
                    <a:p>
                      <a:pPr marL="0" marR="0" fontAlgn="t">
                        <a:buNone/>
                      </a:pPr>
                      <a:r>
                        <a:rPr lang="en-US" sz="1600">
                          <a:effectLst/>
                        </a:rPr>
                        <a:t>Symbol after salvation</a:t>
                      </a:r>
                      <a:endParaRPr lang="en-US" sz="1600">
                        <a:effectLst/>
                        <a:latin typeface="Calibri" panose="020F0502020204030204" pitchFamily="34" charset="0"/>
                      </a:endParaRPr>
                    </a:p>
                  </a:txBody>
                  <a:tcPr marL="50800" marR="50800" marT="50800" marB="50800"/>
                </a:tc>
                <a:tc>
                  <a:txBody>
                    <a:bodyPr/>
                    <a:lstStyle/>
                    <a:p>
                      <a:pPr marL="0" marR="0" fontAlgn="t">
                        <a:buNone/>
                      </a:pPr>
                      <a:r>
                        <a:rPr lang="en-US" sz="1600">
                          <a:effectLst/>
                        </a:rPr>
                        <a:t>Part of union with Christ</a:t>
                      </a:r>
                      <a:endParaRPr lang="en-US" sz="1600">
                        <a:effectLst/>
                        <a:latin typeface="Calibri" panose="020F0502020204030204" pitchFamily="34" charset="0"/>
                      </a:endParaRPr>
                    </a:p>
                  </a:txBody>
                  <a:tcPr marL="50800" marR="50800" marT="50800" marB="50800"/>
                </a:tc>
                <a:tc>
                  <a:txBody>
                    <a:bodyPr/>
                    <a:lstStyle/>
                    <a:p>
                      <a:pPr marL="0" marR="0" fontAlgn="t">
                        <a:buNone/>
                      </a:pPr>
                      <a:r>
                        <a:rPr lang="en-US" sz="1600" dirty="0">
                          <a:effectLst/>
                        </a:rPr>
                        <a:t>Rom. 6:3–4</a:t>
                      </a:r>
                      <a:endParaRPr lang="en-US" sz="1600" dirty="0">
                        <a:effectLst/>
                        <a:latin typeface="Calibri" panose="020F0502020204030204" pitchFamily="34" charset="0"/>
                      </a:endParaRPr>
                    </a:p>
                  </a:txBody>
                  <a:tcPr marL="50800" marR="50800" marT="50800" marB="50800"/>
                </a:tc>
                <a:extLst>
                  <a:ext uri="{0D108BD9-81ED-4DB2-BD59-A6C34878D82A}">
                    <a16:rowId xmlns:a16="http://schemas.microsoft.com/office/drawing/2014/main" val="3510897649"/>
                  </a:ext>
                </a:extLst>
              </a:tr>
              <a:tr h="581903">
                <a:tc>
                  <a:txBody>
                    <a:bodyPr/>
                    <a:lstStyle/>
                    <a:p>
                      <a:pPr marL="0" marR="0" fontAlgn="t">
                        <a:buNone/>
                      </a:pPr>
                      <a:r>
                        <a:rPr lang="en-US" sz="1600" b="1">
                          <a:effectLst/>
                        </a:rPr>
                        <a:t>Righteousness</a:t>
                      </a:r>
                      <a:endParaRPr lang="en-US" sz="1600">
                        <a:effectLst/>
                        <a:latin typeface="Calibri" panose="020F0502020204030204" pitchFamily="34" charset="0"/>
                      </a:endParaRPr>
                    </a:p>
                  </a:txBody>
                  <a:tcPr marL="50800" marR="50800" marT="50800" marB="50800"/>
                </a:tc>
                <a:tc>
                  <a:txBody>
                    <a:bodyPr/>
                    <a:lstStyle/>
                    <a:p>
                      <a:pPr marL="0" marR="0" fontAlgn="t">
                        <a:buNone/>
                      </a:pPr>
                      <a:r>
                        <a:rPr lang="en-US" sz="1600">
                          <a:effectLst/>
                        </a:rPr>
                        <a:t>Imputed only (legal standing)</a:t>
                      </a:r>
                      <a:endParaRPr lang="en-US" sz="1600">
                        <a:effectLst/>
                        <a:latin typeface="Calibri" panose="020F0502020204030204" pitchFamily="34" charset="0"/>
                      </a:endParaRPr>
                    </a:p>
                  </a:txBody>
                  <a:tcPr marL="50800" marR="50800" marT="50800" marB="50800"/>
                </a:tc>
                <a:tc>
                  <a:txBody>
                    <a:bodyPr/>
                    <a:lstStyle/>
                    <a:p>
                      <a:pPr marL="0" marR="0" fontAlgn="t">
                        <a:buNone/>
                      </a:pPr>
                      <a:r>
                        <a:rPr lang="en-US" sz="1600">
                          <a:effectLst/>
                        </a:rPr>
                        <a:t>Imputed and lived out (transformation)</a:t>
                      </a:r>
                      <a:endParaRPr lang="en-US" sz="1600">
                        <a:effectLst/>
                        <a:latin typeface="Calibri" panose="020F0502020204030204" pitchFamily="34" charset="0"/>
                      </a:endParaRPr>
                    </a:p>
                  </a:txBody>
                  <a:tcPr marL="50800" marR="50800" marT="50800" marB="50800"/>
                </a:tc>
                <a:tc>
                  <a:txBody>
                    <a:bodyPr/>
                    <a:lstStyle/>
                    <a:p>
                      <a:pPr marL="0" marR="0" fontAlgn="t">
                        <a:buNone/>
                      </a:pPr>
                      <a:r>
                        <a:rPr lang="en-US" sz="1600" dirty="0">
                          <a:effectLst/>
                        </a:rPr>
                        <a:t>Rom. 6:18</a:t>
                      </a:r>
                      <a:endParaRPr lang="en-US" sz="1600" dirty="0">
                        <a:effectLst/>
                        <a:latin typeface="Calibri" panose="020F0502020204030204" pitchFamily="34" charset="0"/>
                      </a:endParaRPr>
                    </a:p>
                  </a:txBody>
                  <a:tcPr marL="50800" marR="50800" marT="50800" marB="50800"/>
                </a:tc>
                <a:extLst>
                  <a:ext uri="{0D108BD9-81ED-4DB2-BD59-A6C34878D82A}">
                    <a16:rowId xmlns:a16="http://schemas.microsoft.com/office/drawing/2014/main" val="448802324"/>
                  </a:ext>
                </a:extLst>
              </a:tr>
              <a:tr h="581903">
                <a:tc>
                  <a:txBody>
                    <a:bodyPr/>
                    <a:lstStyle/>
                    <a:p>
                      <a:pPr marL="0" marR="0" fontAlgn="t">
                        <a:buNone/>
                      </a:pPr>
                      <a:r>
                        <a:rPr lang="en-US" sz="1600" b="1">
                          <a:effectLst/>
                        </a:rPr>
                        <a:t>Human Ability</a:t>
                      </a:r>
                      <a:endParaRPr lang="en-US" sz="1600">
                        <a:effectLst/>
                        <a:latin typeface="Calibri" panose="020F0502020204030204" pitchFamily="34" charset="0"/>
                      </a:endParaRPr>
                    </a:p>
                  </a:txBody>
                  <a:tcPr marL="50800" marR="50800" marT="50800" marB="50800"/>
                </a:tc>
                <a:tc>
                  <a:txBody>
                    <a:bodyPr/>
                    <a:lstStyle/>
                    <a:p>
                      <a:pPr marL="0" marR="0" fontAlgn="t">
                        <a:buNone/>
                      </a:pPr>
                      <a:r>
                        <a:rPr lang="en-US" sz="1600">
                          <a:effectLst/>
                        </a:rPr>
                        <a:t>Total inability without prior regeneration</a:t>
                      </a:r>
                      <a:endParaRPr lang="en-US" sz="1600">
                        <a:effectLst/>
                        <a:latin typeface="Calibri" panose="020F0502020204030204" pitchFamily="34" charset="0"/>
                      </a:endParaRPr>
                    </a:p>
                  </a:txBody>
                  <a:tcPr marL="50800" marR="50800" marT="50800" marB="50800"/>
                </a:tc>
                <a:tc>
                  <a:txBody>
                    <a:bodyPr/>
                    <a:lstStyle/>
                    <a:p>
                      <a:pPr marL="0" marR="0" fontAlgn="t">
                        <a:buNone/>
                      </a:pPr>
                      <a:r>
                        <a:rPr lang="en-US" sz="1600">
                          <a:effectLst/>
                        </a:rPr>
                        <a:t>Sinful but able to respond to the gospel</a:t>
                      </a:r>
                      <a:endParaRPr lang="en-US" sz="1600">
                        <a:effectLst/>
                        <a:latin typeface="Calibri" panose="020F0502020204030204" pitchFamily="34" charset="0"/>
                      </a:endParaRPr>
                    </a:p>
                  </a:txBody>
                  <a:tcPr marL="50800" marR="50800" marT="50800" marB="50800"/>
                </a:tc>
                <a:tc>
                  <a:txBody>
                    <a:bodyPr/>
                    <a:lstStyle/>
                    <a:p>
                      <a:pPr marL="0" marR="0" fontAlgn="t">
                        <a:buNone/>
                      </a:pPr>
                      <a:r>
                        <a:rPr lang="en-US" sz="1600" dirty="0">
                          <a:effectLst/>
                        </a:rPr>
                        <a:t>Rom. 10:17</a:t>
                      </a:r>
                      <a:endParaRPr lang="en-US" sz="1600" dirty="0">
                        <a:effectLst/>
                        <a:latin typeface="Calibri" panose="020F0502020204030204" pitchFamily="34" charset="0"/>
                      </a:endParaRPr>
                    </a:p>
                  </a:txBody>
                  <a:tcPr marL="50800" marR="50800" marT="50800" marB="50800"/>
                </a:tc>
                <a:extLst>
                  <a:ext uri="{0D108BD9-81ED-4DB2-BD59-A6C34878D82A}">
                    <a16:rowId xmlns:a16="http://schemas.microsoft.com/office/drawing/2014/main" val="773364164"/>
                  </a:ext>
                </a:extLst>
              </a:tr>
              <a:tr h="581903">
                <a:tc>
                  <a:txBody>
                    <a:bodyPr/>
                    <a:lstStyle/>
                    <a:p>
                      <a:pPr marL="0" marR="0" fontAlgn="t">
                        <a:buNone/>
                      </a:pPr>
                      <a:r>
                        <a:rPr lang="en-US" sz="1600" b="1">
                          <a:effectLst/>
                        </a:rPr>
                        <a:t>Election</a:t>
                      </a:r>
                      <a:endParaRPr lang="en-US" sz="1600">
                        <a:effectLst/>
                        <a:latin typeface="Calibri" panose="020F0502020204030204" pitchFamily="34" charset="0"/>
                      </a:endParaRPr>
                    </a:p>
                  </a:txBody>
                  <a:tcPr marL="50800" marR="50800" marT="50800" marB="50800"/>
                </a:tc>
                <a:tc>
                  <a:txBody>
                    <a:bodyPr/>
                    <a:lstStyle/>
                    <a:p>
                      <a:pPr marL="0" marR="0" fontAlgn="t">
                        <a:buNone/>
                      </a:pPr>
                      <a:r>
                        <a:rPr lang="en-US" sz="1600">
                          <a:effectLst/>
                        </a:rPr>
                        <a:t>Often individual and unconditional</a:t>
                      </a:r>
                      <a:endParaRPr lang="en-US" sz="1600">
                        <a:effectLst/>
                        <a:latin typeface="Calibri" panose="020F0502020204030204" pitchFamily="34" charset="0"/>
                      </a:endParaRPr>
                    </a:p>
                  </a:txBody>
                  <a:tcPr marL="50800" marR="50800" marT="50800" marB="50800"/>
                </a:tc>
                <a:tc>
                  <a:txBody>
                    <a:bodyPr/>
                    <a:lstStyle/>
                    <a:p>
                      <a:pPr marL="0" marR="0" fontAlgn="t">
                        <a:buNone/>
                      </a:pPr>
                      <a:r>
                        <a:rPr lang="en-US" sz="1600">
                          <a:effectLst/>
                        </a:rPr>
                        <a:t>Often corporate / based in God’s plan</a:t>
                      </a:r>
                      <a:endParaRPr lang="en-US" sz="1600">
                        <a:effectLst/>
                        <a:latin typeface="Calibri" panose="020F0502020204030204" pitchFamily="34" charset="0"/>
                      </a:endParaRPr>
                    </a:p>
                  </a:txBody>
                  <a:tcPr marL="50800" marR="50800" marT="50800" marB="50800"/>
                </a:tc>
                <a:tc>
                  <a:txBody>
                    <a:bodyPr/>
                    <a:lstStyle/>
                    <a:p>
                      <a:pPr marL="0" marR="0" fontAlgn="t">
                        <a:buNone/>
                      </a:pPr>
                      <a:r>
                        <a:rPr lang="en-US" sz="1600" dirty="0">
                          <a:effectLst/>
                        </a:rPr>
                        <a:t>Rom. 9:16</a:t>
                      </a:r>
                      <a:endParaRPr lang="en-US" sz="1600" dirty="0">
                        <a:effectLst/>
                        <a:latin typeface="Calibri" panose="020F0502020204030204" pitchFamily="34" charset="0"/>
                      </a:endParaRPr>
                    </a:p>
                  </a:txBody>
                  <a:tcPr marL="50800" marR="50800" marT="50800" marB="50800"/>
                </a:tc>
                <a:extLst>
                  <a:ext uri="{0D108BD9-81ED-4DB2-BD59-A6C34878D82A}">
                    <a16:rowId xmlns:a16="http://schemas.microsoft.com/office/drawing/2014/main" val="1858964238"/>
                  </a:ext>
                </a:extLst>
              </a:tr>
              <a:tr h="581903">
                <a:tc>
                  <a:txBody>
                    <a:bodyPr/>
                    <a:lstStyle/>
                    <a:p>
                      <a:pPr marL="0" marR="0" fontAlgn="t">
                        <a:buNone/>
                      </a:pPr>
                      <a:r>
                        <a:rPr lang="en-US" sz="1600" b="1">
                          <a:effectLst/>
                        </a:rPr>
                        <a:t>Assurance</a:t>
                      </a:r>
                      <a:endParaRPr lang="en-US" sz="1600">
                        <a:effectLst/>
                        <a:latin typeface="Calibri" panose="020F0502020204030204" pitchFamily="34" charset="0"/>
                      </a:endParaRPr>
                    </a:p>
                  </a:txBody>
                  <a:tcPr marL="50800" marR="50800" marT="50800" marB="50800"/>
                </a:tc>
                <a:tc>
                  <a:txBody>
                    <a:bodyPr/>
                    <a:lstStyle/>
                    <a:p>
                      <a:pPr marL="0" marR="0" fontAlgn="t">
                        <a:buNone/>
                      </a:pPr>
                      <a:r>
                        <a:rPr lang="en-US" sz="1600">
                          <a:effectLst/>
                        </a:rPr>
                        <a:t>Eternal security (cannot fall away)</a:t>
                      </a:r>
                      <a:endParaRPr lang="en-US" sz="1600">
                        <a:effectLst/>
                        <a:latin typeface="Calibri" panose="020F0502020204030204" pitchFamily="34" charset="0"/>
                      </a:endParaRPr>
                    </a:p>
                  </a:txBody>
                  <a:tcPr marL="50800" marR="50800" marT="50800" marB="50800"/>
                </a:tc>
                <a:tc>
                  <a:txBody>
                    <a:bodyPr/>
                    <a:lstStyle/>
                    <a:p>
                      <a:pPr marL="0" marR="0" fontAlgn="t">
                        <a:buNone/>
                      </a:pPr>
                      <a:r>
                        <a:rPr lang="en-US" sz="1600">
                          <a:effectLst/>
                        </a:rPr>
                        <a:t>Assurance + need to remain faithful</a:t>
                      </a:r>
                      <a:endParaRPr lang="en-US" sz="1600">
                        <a:effectLst/>
                        <a:latin typeface="Calibri" panose="020F0502020204030204" pitchFamily="34" charset="0"/>
                      </a:endParaRPr>
                    </a:p>
                  </a:txBody>
                  <a:tcPr marL="50800" marR="50800" marT="50800" marB="50800"/>
                </a:tc>
                <a:tc>
                  <a:txBody>
                    <a:bodyPr/>
                    <a:lstStyle/>
                    <a:p>
                      <a:pPr marL="0" marR="0" fontAlgn="t">
                        <a:buNone/>
                      </a:pPr>
                      <a:r>
                        <a:rPr lang="en-US" sz="1600" dirty="0">
                          <a:effectLst/>
                        </a:rPr>
                        <a:t>Rom. 11:22</a:t>
                      </a:r>
                      <a:endParaRPr lang="en-US" sz="1600" dirty="0">
                        <a:effectLst/>
                        <a:latin typeface="Calibri" panose="020F0502020204030204" pitchFamily="34" charset="0"/>
                      </a:endParaRPr>
                    </a:p>
                  </a:txBody>
                  <a:tcPr marL="50800" marR="50800" marT="50800" marB="50800"/>
                </a:tc>
                <a:extLst>
                  <a:ext uri="{0D108BD9-81ED-4DB2-BD59-A6C34878D82A}">
                    <a16:rowId xmlns:a16="http://schemas.microsoft.com/office/drawing/2014/main" val="3085457700"/>
                  </a:ext>
                </a:extLst>
              </a:tr>
              <a:tr h="581903">
                <a:tc>
                  <a:txBody>
                    <a:bodyPr/>
                    <a:lstStyle/>
                    <a:p>
                      <a:pPr marL="0" marR="0" fontAlgn="t">
                        <a:buNone/>
                      </a:pPr>
                      <a:r>
                        <a:rPr lang="en-US" sz="1600" b="1">
                          <a:effectLst/>
                        </a:rPr>
                        <a:t>Grace &amp; Obedience</a:t>
                      </a:r>
                      <a:endParaRPr lang="en-US" sz="1600">
                        <a:effectLst/>
                        <a:latin typeface="Calibri" panose="020F0502020204030204" pitchFamily="34" charset="0"/>
                      </a:endParaRPr>
                    </a:p>
                  </a:txBody>
                  <a:tcPr marL="50800" marR="50800" marT="50800" marB="50800"/>
                </a:tc>
                <a:tc>
                  <a:txBody>
                    <a:bodyPr/>
                    <a:lstStyle/>
                    <a:p>
                      <a:pPr marL="0" marR="0" fontAlgn="t">
                        <a:buNone/>
                      </a:pPr>
                      <a:r>
                        <a:rPr lang="en-US" sz="1600" dirty="0">
                          <a:effectLst/>
                        </a:rPr>
                        <a:t>Sometimes separated</a:t>
                      </a:r>
                      <a:endParaRPr lang="en-US" sz="1600" dirty="0">
                        <a:effectLst/>
                        <a:latin typeface="Calibri" panose="020F0502020204030204" pitchFamily="34" charset="0"/>
                      </a:endParaRPr>
                    </a:p>
                  </a:txBody>
                  <a:tcPr marL="50800" marR="50800" marT="50800" marB="50800"/>
                </a:tc>
                <a:tc>
                  <a:txBody>
                    <a:bodyPr/>
                    <a:lstStyle/>
                    <a:p>
                      <a:pPr marL="0" marR="0" fontAlgn="t">
                        <a:buNone/>
                      </a:pPr>
                      <a:r>
                        <a:rPr lang="en-US" sz="1600">
                          <a:effectLst/>
                        </a:rPr>
                        <a:t>Grace produces obedience</a:t>
                      </a:r>
                      <a:endParaRPr lang="en-US" sz="1600">
                        <a:effectLst/>
                        <a:latin typeface="Calibri" panose="020F0502020204030204" pitchFamily="34" charset="0"/>
                      </a:endParaRPr>
                    </a:p>
                  </a:txBody>
                  <a:tcPr marL="50800" marR="50800" marT="50800" marB="50800"/>
                </a:tc>
                <a:tc>
                  <a:txBody>
                    <a:bodyPr/>
                    <a:lstStyle/>
                    <a:p>
                      <a:pPr marL="0" marR="0" fontAlgn="t">
                        <a:buNone/>
                      </a:pPr>
                      <a:r>
                        <a:rPr lang="en-US" sz="1600" dirty="0">
                          <a:effectLst/>
                        </a:rPr>
                        <a:t>Rom. 6:1–2</a:t>
                      </a:r>
                      <a:endParaRPr lang="en-US" sz="1600" dirty="0">
                        <a:effectLst/>
                        <a:latin typeface="Calibri" panose="020F0502020204030204" pitchFamily="34" charset="0"/>
                      </a:endParaRPr>
                    </a:p>
                  </a:txBody>
                  <a:tcPr marL="50800" marR="50800" marT="50800" marB="50800"/>
                </a:tc>
                <a:extLst>
                  <a:ext uri="{0D108BD9-81ED-4DB2-BD59-A6C34878D82A}">
                    <a16:rowId xmlns:a16="http://schemas.microsoft.com/office/drawing/2014/main" val="1378851582"/>
                  </a:ext>
                </a:extLst>
              </a:tr>
              <a:tr h="341116">
                <a:tc>
                  <a:txBody>
                    <a:bodyPr/>
                    <a:lstStyle/>
                    <a:p>
                      <a:pPr marL="0" marR="0" fontAlgn="t">
                        <a:buNone/>
                      </a:pPr>
                      <a:r>
                        <a:rPr lang="en-US" sz="1600" b="1">
                          <a:effectLst/>
                        </a:rPr>
                        <a:t>Law</a:t>
                      </a:r>
                      <a:endParaRPr lang="en-US" sz="1600">
                        <a:effectLst/>
                        <a:latin typeface="Calibri" panose="020F0502020204030204" pitchFamily="34" charset="0"/>
                      </a:endParaRPr>
                    </a:p>
                  </a:txBody>
                  <a:tcPr marL="50800" marR="50800" marT="50800" marB="50800"/>
                </a:tc>
                <a:tc>
                  <a:txBody>
                    <a:bodyPr/>
                    <a:lstStyle/>
                    <a:p>
                      <a:pPr marL="0" marR="0" fontAlgn="t">
                        <a:buNone/>
                      </a:pPr>
                      <a:r>
                        <a:rPr lang="en-US" sz="1600">
                          <a:effectLst/>
                        </a:rPr>
                        <a:t>Reveals sin, not binding</a:t>
                      </a:r>
                      <a:endParaRPr lang="en-US" sz="1600">
                        <a:effectLst/>
                        <a:latin typeface="Calibri" panose="020F0502020204030204" pitchFamily="34" charset="0"/>
                      </a:endParaRPr>
                    </a:p>
                  </a:txBody>
                  <a:tcPr marL="50800" marR="50800" marT="50800" marB="50800"/>
                </a:tc>
                <a:tc>
                  <a:txBody>
                    <a:bodyPr/>
                    <a:lstStyle/>
                    <a:p>
                      <a:pPr marL="0" marR="0" fontAlgn="t">
                        <a:buNone/>
                      </a:pPr>
                      <a:r>
                        <a:rPr lang="en-US" sz="1600">
                          <a:effectLst/>
                        </a:rPr>
                        <a:t>Same, but emphasis on Spirit-led life</a:t>
                      </a:r>
                      <a:endParaRPr lang="en-US" sz="1600">
                        <a:effectLst/>
                        <a:latin typeface="Calibri" panose="020F0502020204030204" pitchFamily="34" charset="0"/>
                      </a:endParaRPr>
                    </a:p>
                  </a:txBody>
                  <a:tcPr marL="50800" marR="50800" marT="50800" marB="50800"/>
                </a:tc>
                <a:tc>
                  <a:txBody>
                    <a:bodyPr/>
                    <a:lstStyle/>
                    <a:p>
                      <a:pPr marL="0" marR="0" fontAlgn="t">
                        <a:buNone/>
                      </a:pPr>
                      <a:r>
                        <a:rPr lang="en-US" sz="1600" dirty="0">
                          <a:effectLst/>
                        </a:rPr>
                        <a:t>Rom. 7:6</a:t>
                      </a:r>
                      <a:endParaRPr lang="en-US" sz="1600" dirty="0">
                        <a:effectLst/>
                        <a:latin typeface="Calibri" panose="020F0502020204030204" pitchFamily="34" charset="0"/>
                      </a:endParaRPr>
                    </a:p>
                  </a:txBody>
                  <a:tcPr marL="50800" marR="50800" marT="50800" marB="50800"/>
                </a:tc>
                <a:extLst>
                  <a:ext uri="{0D108BD9-81ED-4DB2-BD59-A6C34878D82A}">
                    <a16:rowId xmlns:a16="http://schemas.microsoft.com/office/drawing/2014/main" val="3045636852"/>
                  </a:ext>
                </a:extLst>
              </a:tr>
              <a:tr h="451763">
                <a:tc>
                  <a:txBody>
                    <a:bodyPr/>
                    <a:lstStyle/>
                    <a:p>
                      <a:pPr marL="0" marR="0" fontAlgn="t">
                        <a:buNone/>
                      </a:pPr>
                      <a:r>
                        <a:rPr lang="en-US" sz="1600" b="1">
                          <a:effectLst/>
                        </a:rPr>
                        <a:t>Christian Life</a:t>
                      </a:r>
                      <a:endParaRPr lang="en-US" sz="1600">
                        <a:effectLst/>
                        <a:latin typeface="Calibri" panose="020F0502020204030204" pitchFamily="34" charset="0"/>
                      </a:endParaRPr>
                    </a:p>
                  </a:txBody>
                  <a:tcPr marL="50800" marR="50800" marT="50800" marB="50800"/>
                </a:tc>
                <a:tc>
                  <a:txBody>
                    <a:bodyPr/>
                    <a:lstStyle/>
                    <a:p>
                      <a:pPr marL="0" marR="0" fontAlgn="t">
                        <a:buNone/>
                      </a:pPr>
                      <a:r>
                        <a:rPr lang="en-US" sz="1600" dirty="0">
                          <a:effectLst/>
                        </a:rPr>
                        <a:t>Ongoing struggle emphasized</a:t>
                      </a:r>
                      <a:endParaRPr lang="en-US" sz="1600" dirty="0">
                        <a:effectLst/>
                        <a:latin typeface="Calibri" panose="020F0502020204030204" pitchFamily="34" charset="0"/>
                      </a:endParaRPr>
                    </a:p>
                  </a:txBody>
                  <a:tcPr marL="50800" marR="50800" marT="50800" marB="50800"/>
                </a:tc>
                <a:tc>
                  <a:txBody>
                    <a:bodyPr/>
                    <a:lstStyle/>
                    <a:p>
                      <a:pPr marL="0" marR="0" fontAlgn="t">
                        <a:buNone/>
                      </a:pPr>
                      <a:r>
                        <a:rPr lang="en-US" sz="1600" dirty="0">
                          <a:effectLst/>
                        </a:rPr>
                        <a:t>Victory through the Spirit emphasized</a:t>
                      </a:r>
                      <a:endParaRPr lang="en-US" sz="1600" dirty="0">
                        <a:effectLst/>
                        <a:latin typeface="Calibri" panose="020F0502020204030204" pitchFamily="34" charset="0"/>
                      </a:endParaRPr>
                    </a:p>
                  </a:txBody>
                  <a:tcPr marL="50800" marR="50800" marT="50800" marB="50800"/>
                </a:tc>
                <a:tc>
                  <a:txBody>
                    <a:bodyPr/>
                    <a:lstStyle/>
                    <a:p>
                      <a:pPr marL="0" marR="0" fontAlgn="t">
                        <a:buNone/>
                      </a:pPr>
                      <a:r>
                        <a:rPr lang="en-US" sz="1600" dirty="0">
                          <a:effectLst/>
                        </a:rPr>
                        <a:t>Rom. 8:1–4</a:t>
                      </a:r>
                      <a:endParaRPr lang="en-US" sz="1600" dirty="0">
                        <a:effectLst/>
                        <a:latin typeface="Calibri" panose="020F0502020204030204" pitchFamily="34" charset="0"/>
                      </a:endParaRPr>
                    </a:p>
                  </a:txBody>
                  <a:tcPr marL="50800" marR="50800" marT="50800" marB="50800"/>
                </a:tc>
                <a:extLst>
                  <a:ext uri="{0D108BD9-81ED-4DB2-BD59-A6C34878D82A}">
                    <a16:rowId xmlns:a16="http://schemas.microsoft.com/office/drawing/2014/main" val="4059883261"/>
                  </a:ext>
                </a:extLst>
              </a:tr>
              <a:tr h="581903">
                <a:tc>
                  <a:txBody>
                    <a:bodyPr/>
                    <a:lstStyle/>
                    <a:p>
                      <a:pPr marL="0" marR="0" fontAlgn="t">
                        <a:buNone/>
                      </a:pPr>
                      <a:r>
                        <a:rPr lang="en-US" sz="1600" b="1">
                          <a:effectLst/>
                        </a:rPr>
                        <a:t>Unity &amp; Liberty</a:t>
                      </a:r>
                      <a:endParaRPr lang="en-US" sz="1600">
                        <a:effectLst/>
                        <a:latin typeface="Calibri" panose="020F0502020204030204" pitchFamily="34" charset="0"/>
                      </a:endParaRPr>
                    </a:p>
                  </a:txBody>
                  <a:tcPr marL="50800" marR="50800" marT="50800" marB="50800"/>
                </a:tc>
                <a:tc>
                  <a:txBody>
                    <a:bodyPr/>
                    <a:lstStyle/>
                    <a:p>
                      <a:pPr marL="0" marR="0" fontAlgn="t">
                        <a:buNone/>
                      </a:pPr>
                      <a:r>
                        <a:rPr lang="en-US" sz="1600">
                          <a:effectLst/>
                        </a:rPr>
                        <a:t>Wide variation</a:t>
                      </a:r>
                      <a:endParaRPr lang="en-US" sz="1600">
                        <a:effectLst/>
                        <a:latin typeface="Calibri" panose="020F0502020204030204" pitchFamily="34" charset="0"/>
                      </a:endParaRPr>
                    </a:p>
                  </a:txBody>
                  <a:tcPr marL="50800" marR="50800" marT="50800" marB="50800"/>
                </a:tc>
                <a:tc>
                  <a:txBody>
                    <a:bodyPr/>
                    <a:lstStyle/>
                    <a:p>
                      <a:pPr marL="0" marR="0" fontAlgn="t">
                        <a:buNone/>
                      </a:pPr>
                      <a:r>
                        <a:rPr lang="en-US" sz="1600">
                          <a:effectLst/>
                        </a:rPr>
                        <a:t>Strong emphasis on unity, avoid binding opinions</a:t>
                      </a:r>
                      <a:endParaRPr lang="en-US" sz="1600">
                        <a:effectLst/>
                        <a:latin typeface="Calibri" panose="020F0502020204030204" pitchFamily="34" charset="0"/>
                      </a:endParaRPr>
                    </a:p>
                  </a:txBody>
                  <a:tcPr marL="50800" marR="50800" marT="50800" marB="50800"/>
                </a:tc>
                <a:tc>
                  <a:txBody>
                    <a:bodyPr/>
                    <a:lstStyle/>
                    <a:p>
                      <a:pPr marL="0" marR="0" fontAlgn="t">
                        <a:buNone/>
                      </a:pPr>
                      <a:r>
                        <a:rPr lang="en-US" sz="1600" dirty="0">
                          <a:effectLst/>
                        </a:rPr>
                        <a:t>Rom. 14:13</a:t>
                      </a:r>
                      <a:endParaRPr lang="en-US" sz="1600" dirty="0">
                        <a:effectLst/>
                        <a:latin typeface="Calibri" panose="020F0502020204030204" pitchFamily="34" charset="0"/>
                      </a:endParaRPr>
                    </a:p>
                  </a:txBody>
                  <a:tcPr marL="50800" marR="50800" marT="50800" marB="50800"/>
                </a:tc>
                <a:extLst>
                  <a:ext uri="{0D108BD9-81ED-4DB2-BD59-A6C34878D82A}">
                    <a16:rowId xmlns:a16="http://schemas.microsoft.com/office/drawing/2014/main" val="2721797339"/>
                  </a:ext>
                </a:extLst>
              </a:tr>
            </a:tbl>
          </a:graphicData>
        </a:graphic>
      </p:graphicFrame>
    </p:spTree>
    <p:extLst>
      <p:ext uri="{BB962C8B-B14F-4D97-AF65-F5344CB8AC3E}">
        <p14:creationId xmlns:p14="http://schemas.microsoft.com/office/powerpoint/2010/main" val="331029890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D63DCD3-72D4-9EED-E00C-AA52D017EAEE}"/>
            </a:ext>
          </a:extLst>
        </p:cNvPr>
        <p:cNvGrpSpPr/>
        <p:nvPr/>
      </p:nvGrpSpPr>
      <p:grpSpPr>
        <a:xfrm>
          <a:off x="0" y="0"/>
          <a:ext cx="0" cy="0"/>
          <a:chOff x="0" y="0"/>
          <a:chExt cx="0" cy="0"/>
        </a:xfrm>
      </p:grpSpPr>
      <p:sp>
        <p:nvSpPr>
          <p:cNvPr id="5" name="Title 1">
            <a:extLst>
              <a:ext uri="{FF2B5EF4-FFF2-40B4-BE49-F238E27FC236}">
                <a16:creationId xmlns:a16="http://schemas.microsoft.com/office/drawing/2014/main" id="{D11A443C-421A-9B10-C0B1-B2C6E9B6769F}"/>
              </a:ext>
            </a:extLst>
          </p:cNvPr>
          <p:cNvSpPr txBox="1">
            <a:spLocks/>
          </p:cNvSpPr>
          <p:nvPr/>
        </p:nvSpPr>
        <p:spPr bwMode="auto">
          <a:xfrm>
            <a:off x="175260" y="9236"/>
            <a:ext cx="8663940" cy="838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normAutofit fontScale="85000" lnSpcReduction="10000"/>
          </a:bodyPr>
          <a:lstStyle>
            <a:lvl1pPr algn="l" rtl="0" eaLnBrk="1" fontAlgn="base" hangingPunct="1">
              <a:spcBef>
                <a:spcPct val="0"/>
              </a:spcBef>
              <a:spcAft>
                <a:spcPct val="0"/>
              </a:spcAft>
              <a:defRPr lang="en-US" sz="4000" b="1" kern="1200">
                <a:solidFill>
                  <a:schemeClr val="tx2"/>
                </a:solidFill>
                <a:latin typeface="+mj-lt"/>
                <a:ea typeface="ＭＳ Ｐゴシック" pitchFamily="34" charset="-128"/>
                <a:cs typeface="+mj-cs"/>
              </a:defRPr>
            </a:lvl1pPr>
            <a:lvl2pPr algn="ctr" rtl="0" eaLnBrk="1" fontAlgn="base" hangingPunct="1">
              <a:spcBef>
                <a:spcPct val="0"/>
              </a:spcBef>
              <a:spcAft>
                <a:spcPct val="0"/>
              </a:spcAft>
              <a:defRPr sz="4400" b="1">
                <a:solidFill>
                  <a:schemeClr val="tx2"/>
                </a:solidFill>
                <a:latin typeface="Arial" charset="0"/>
                <a:ea typeface="ＭＳ Ｐゴシック" pitchFamily="34" charset="-128"/>
              </a:defRPr>
            </a:lvl2pPr>
            <a:lvl3pPr algn="ctr" rtl="0" eaLnBrk="1" fontAlgn="base" hangingPunct="1">
              <a:spcBef>
                <a:spcPct val="0"/>
              </a:spcBef>
              <a:spcAft>
                <a:spcPct val="0"/>
              </a:spcAft>
              <a:defRPr sz="4400" b="1">
                <a:solidFill>
                  <a:schemeClr val="tx2"/>
                </a:solidFill>
                <a:latin typeface="Arial" charset="0"/>
                <a:ea typeface="ＭＳ Ｐゴシック" pitchFamily="34" charset="-128"/>
              </a:defRPr>
            </a:lvl3pPr>
            <a:lvl4pPr algn="ctr" rtl="0" eaLnBrk="1" fontAlgn="base" hangingPunct="1">
              <a:spcBef>
                <a:spcPct val="0"/>
              </a:spcBef>
              <a:spcAft>
                <a:spcPct val="0"/>
              </a:spcAft>
              <a:defRPr sz="4400" b="1">
                <a:solidFill>
                  <a:schemeClr val="tx2"/>
                </a:solidFill>
                <a:latin typeface="Arial" charset="0"/>
                <a:ea typeface="ＭＳ Ｐゴシック" pitchFamily="34" charset="-128"/>
              </a:defRPr>
            </a:lvl4pPr>
            <a:lvl5pPr algn="ctr" rtl="0" eaLnBrk="1" fontAlgn="base" hangingPunct="1">
              <a:spcBef>
                <a:spcPct val="0"/>
              </a:spcBef>
              <a:spcAft>
                <a:spcPct val="0"/>
              </a:spcAft>
              <a:defRPr sz="4400" b="1">
                <a:solidFill>
                  <a:schemeClr val="tx2"/>
                </a:solidFill>
                <a:latin typeface="Arial" charset="0"/>
                <a:ea typeface="ＭＳ Ｐゴシック" pitchFamily="34" charset="-128"/>
              </a:defRPr>
            </a:lvl5pPr>
            <a:lvl6pPr marL="457200" algn="ctr" rtl="0" eaLnBrk="1" fontAlgn="base" hangingPunct="1">
              <a:spcBef>
                <a:spcPct val="0"/>
              </a:spcBef>
              <a:spcAft>
                <a:spcPct val="0"/>
              </a:spcAft>
              <a:defRPr sz="4400" b="1">
                <a:solidFill>
                  <a:schemeClr val="tx1"/>
                </a:solidFill>
                <a:latin typeface="Arial" charset="0"/>
              </a:defRPr>
            </a:lvl6pPr>
            <a:lvl7pPr marL="914400" algn="ctr" rtl="0" eaLnBrk="1" fontAlgn="base" hangingPunct="1">
              <a:spcBef>
                <a:spcPct val="0"/>
              </a:spcBef>
              <a:spcAft>
                <a:spcPct val="0"/>
              </a:spcAft>
              <a:defRPr sz="4400" b="1">
                <a:solidFill>
                  <a:schemeClr val="tx1"/>
                </a:solidFill>
                <a:latin typeface="Arial" charset="0"/>
              </a:defRPr>
            </a:lvl7pPr>
            <a:lvl8pPr marL="1371600" algn="ctr" rtl="0" eaLnBrk="1" fontAlgn="base" hangingPunct="1">
              <a:spcBef>
                <a:spcPct val="0"/>
              </a:spcBef>
              <a:spcAft>
                <a:spcPct val="0"/>
              </a:spcAft>
              <a:defRPr sz="4400" b="1">
                <a:solidFill>
                  <a:schemeClr val="tx1"/>
                </a:solidFill>
                <a:latin typeface="Arial" charset="0"/>
              </a:defRPr>
            </a:lvl8pPr>
            <a:lvl9pPr marL="1828800" algn="ctr" rtl="0" eaLnBrk="1" fontAlgn="base" hangingPunct="1">
              <a:spcBef>
                <a:spcPct val="0"/>
              </a:spcBef>
              <a:spcAft>
                <a:spcPct val="0"/>
              </a:spcAft>
              <a:defRPr sz="4400" b="1">
                <a:solidFill>
                  <a:schemeClr val="tx1"/>
                </a:solidFill>
                <a:latin typeface="Arial" charset="0"/>
              </a:defRPr>
            </a:lvl9pPr>
          </a:lstStyle>
          <a:p>
            <a:r>
              <a:rPr lang="en-US" dirty="0"/>
              <a:t>Two Ways of Understanding Salvation</a:t>
            </a:r>
            <a:br>
              <a:rPr lang="en-US" dirty="0"/>
            </a:br>
            <a:r>
              <a:rPr lang="en-US" sz="2400" dirty="0">
                <a:solidFill>
                  <a:schemeClr val="tx2">
                    <a:lumMod val="60000"/>
                    <a:lumOff val="40000"/>
                  </a:schemeClr>
                </a:solidFill>
              </a:rPr>
              <a:t>Doctrinal Comparisons</a:t>
            </a:r>
          </a:p>
        </p:txBody>
      </p:sp>
      <p:graphicFrame>
        <p:nvGraphicFramePr>
          <p:cNvPr id="2" name="Table 1">
            <a:extLst>
              <a:ext uri="{FF2B5EF4-FFF2-40B4-BE49-F238E27FC236}">
                <a16:creationId xmlns:a16="http://schemas.microsoft.com/office/drawing/2014/main" id="{FE78BADA-9ECE-4244-E1D0-E4F3A0C1F8D7}"/>
              </a:ext>
            </a:extLst>
          </p:cNvPr>
          <p:cNvGraphicFramePr>
            <a:graphicFrameLocks noGrp="1"/>
          </p:cNvGraphicFramePr>
          <p:nvPr>
            <p:extLst>
              <p:ext uri="{D42A27DB-BD31-4B8C-83A1-F6EECF244321}">
                <p14:modId xmlns:p14="http://schemas.microsoft.com/office/powerpoint/2010/main" val="3443334378"/>
              </p:ext>
            </p:extLst>
          </p:nvPr>
        </p:nvGraphicFramePr>
        <p:xfrm>
          <a:off x="228600" y="990600"/>
          <a:ext cx="8663940" cy="2326640"/>
        </p:xfrm>
        <a:graphic>
          <a:graphicData uri="http://schemas.openxmlformats.org/drawingml/2006/table">
            <a:tbl>
              <a:tblPr>
                <a:tableStyleId>{46F890A9-2807-4EBB-B81D-B2AA78EC7F39}</a:tableStyleId>
              </a:tblPr>
              <a:tblGrid>
                <a:gridCol w="2599182">
                  <a:extLst>
                    <a:ext uri="{9D8B030D-6E8A-4147-A177-3AD203B41FA5}">
                      <a16:colId xmlns:a16="http://schemas.microsoft.com/office/drawing/2014/main" val="3883346476"/>
                    </a:ext>
                  </a:extLst>
                </a:gridCol>
                <a:gridCol w="1927326">
                  <a:extLst>
                    <a:ext uri="{9D8B030D-6E8A-4147-A177-3AD203B41FA5}">
                      <a16:colId xmlns:a16="http://schemas.microsoft.com/office/drawing/2014/main" val="2030859552"/>
                    </a:ext>
                  </a:extLst>
                </a:gridCol>
                <a:gridCol w="4137432">
                  <a:extLst>
                    <a:ext uri="{9D8B030D-6E8A-4147-A177-3AD203B41FA5}">
                      <a16:colId xmlns:a16="http://schemas.microsoft.com/office/drawing/2014/main" val="1510161248"/>
                    </a:ext>
                  </a:extLst>
                </a:gridCol>
              </a:tblGrid>
              <a:tr h="0">
                <a:tc>
                  <a:txBody>
                    <a:bodyPr/>
                    <a:lstStyle/>
                    <a:p>
                      <a:pPr marL="0" marR="0" fontAlgn="t">
                        <a:buNone/>
                      </a:pPr>
                      <a:r>
                        <a:rPr lang="en-US" sz="1800" b="1">
                          <a:effectLst/>
                        </a:rPr>
                        <a:t>Question</a:t>
                      </a:r>
                      <a:endParaRPr lang="en-US" sz="1800">
                        <a:effectLst/>
                        <a:latin typeface="Calibri" panose="020F0502020204030204" pitchFamily="34" charset="0"/>
                      </a:endParaRPr>
                    </a:p>
                  </a:txBody>
                  <a:tcPr marL="50800" marR="50800" marT="50800" marB="50800"/>
                </a:tc>
                <a:tc>
                  <a:txBody>
                    <a:bodyPr/>
                    <a:lstStyle/>
                    <a:p>
                      <a:pPr marL="0" marR="0" fontAlgn="t">
                        <a:buNone/>
                      </a:pPr>
                      <a:r>
                        <a:rPr lang="en-US" sz="1800" b="1" dirty="0">
                          <a:effectLst/>
                        </a:rPr>
                        <a:t>Protestant Emphasis</a:t>
                      </a:r>
                      <a:endParaRPr lang="en-US" sz="1800" dirty="0">
                        <a:effectLst/>
                        <a:latin typeface="Calibri" panose="020F0502020204030204" pitchFamily="34" charset="0"/>
                      </a:endParaRPr>
                    </a:p>
                  </a:txBody>
                  <a:tcPr marL="50800" marR="50800" marT="50800" marB="50800"/>
                </a:tc>
                <a:tc>
                  <a:txBody>
                    <a:bodyPr/>
                    <a:lstStyle/>
                    <a:p>
                      <a:pPr marL="0" marR="0" fontAlgn="t">
                        <a:buNone/>
                      </a:pPr>
                      <a:r>
                        <a:rPr lang="en-US" sz="1800" b="1">
                          <a:effectLst/>
                        </a:rPr>
                        <a:t>Restoration Emphasis</a:t>
                      </a:r>
                      <a:endParaRPr lang="en-US" sz="1800">
                        <a:effectLst/>
                        <a:latin typeface="Calibri" panose="020F0502020204030204" pitchFamily="34" charset="0"/>
                      </a:endParaRPr>
                    </a:p>
                  </a:txBody>
                  <a:tcPr marL="50800" marR="50800" marT="50800" marB="50800"/>
                </a:tc>
                <a:extLst>
                  <a:ext uri="{0D108BD9-81ED-4DB2-BD59-A6C34878D82A}">
                    <a16:rowId xmlns:a16="http://schemas.microsoft.com/office/drawing/2014/main" val="1349155453"/>
                  </a:ext>
                </a:extLst>
              </a:tr>
              <a:tr h="0">
                <a:tc>
                  <a:txBody>
                    <a:bodyPr/>
                    <a:lstStyle/>
                    <a:p>
                      <a:pPr marL="0" marR="0" fontAlgn="t">
                        <a:buNone/>
                      </a:pPr>
                      <a:r>
                        <a:rPr lang="en-US" sz="1800">
                          <a:effectLst/>
                        </a:rPr>
                        <a:t>What saves?</a:t>
                      </a:r>
                      <a:endParaRPr lang="en-US" sz="1800">
                        <a:effectLst/>
                        <a:latin typeface="Calibri" panose="020F0502020204030204" pitchFamily="34" charset="0"/>
                      </a:endParaRPr>
                    </a:p>
                  </a:txBody>
                  <a:tcPr marL="50800" marR="50800" marT="50800" marB="50800"/>
                </a:tc>
                <a:tc>
                  <a:txBody>
                    <a:bodyPr/>
                    <a:lstStyle/>
                    <a:p>
                      <a:pPr marL="0" marR="0" fontAlgn="t">
                        <a:buNone/>
                      </a:pPr>
                      <a:r>
                        <a:rPr lang="en-US" sz="1800">
                          <a:effectLst/>
                        </a:rPr>
                        <a:t>Faith alone</a:t>
                      </a:r>
                      <a:endParaRPr lang="en-US" sz="1800">
                        <a:effectLst/>
                        <a:latin typeface="Calibri" panose="020F0502020204030204" pitchFamily="34" charset="0"/>
                      </a:endParaRPr>
                    </a:p>
                  </a:txBody>
                  <a:tcPr marL="50800" marR="50800" marT="50800" marB="50800"/>
                </a:tc>
                <a:tc>
                  <a:txBody>
                    <a:bodyPr/>
                    <a:lstStyle/>
                    <a:p>
                      <a:pPr marL="0" marR="0" fontAlgn="t">
                        <a:buNone/>
                      </a:pPr>
                      <a:r>
                        <a:rPr lang="en-US" sz="1800">
                          <a:effectLst/>
                        </a:rPr>
                        <a:t>Grace through obedient faith</a:t>
                      </a:r>
                      <a:endParaRPr lang="en-US" sz="1800">
                        <a:effectLst/>
                        <a:latin typeface="Calibri" panose="020F0502020204030204" pitchFamily="34" charset="0"/>
                      </a:endParaRPr>
                    </a:p>
                  </a:txBody>
                  <a:tcPr marL="50800" marR="50800" marT="50800" marB="50800"/>
                </a:tc>
                <a:extLst>
                  <a:ext uri="{0D108BD9-81ED-4DB2-BD59-A6C34878D82A}">
                    <a16:rowId xmlns:a16="http://schemas.microsoft.com/office/drawing/2014/main" val="1916677649"/>
                  </a:ext>
                </a:extLst>
              </a:tr>
              <a:tr h="0">
                <a:tc>
                  <a:txBody>
                    <a:bodyPr/>
                    <a:lstStyle/>
                    <a:p>
                      <a:pPr marL="0" marR="0" fontAlgn="t">
                        <a:buNone/>
                      </a:pPr>
                      <a:r>
                        <a:rPr lang="en-US" sz="1800" dirty="0">
                          <a:effectLst/>
                        </a:rPr>
                        <a:t>When does salvation occur?</a:t>
                      </a:r>
                      <a:endParaRPr lang="en-US" sz="1800" dirty="0">
                        <a:effectLst/>
                        <a:latin typeface="Calibri" panose="020F0502020204030204" pitchFamily="34" charset="0"/>
                      </a:endParaRPr>
                    </a:p>
                  </a:txBody>
                  <a:tcPr marL="50800" marR="50800" marT="50800" marB="50800"/>
                </a:tc>
                <a:tc>
                  <a:txBody>
                    <a:bodyPr/>
                    <a:lstStyle/>
                    <a:p>
                      <a:pPr marL="0" marR="0" fontAlgn="t">
                        <a:buNone/>
                      </a:pPr>
                      <a:r>
                        <a:rPr lang="en-US" sz="1800">
                          <a:effectLst/>
                        </a:rPr>
                        <a:t>At belief</a:t>
                      </a:r>
                      <a:endParaRPr lang="en-US" sz="1800">
                        <a:effectLst/>
                        <a:latin typeface="Calibri" panose="020F0502020204030204" pitchFamily="34" charset="0"/>
                      </a:endParaRPr>
                    </a:p>
                  </a:txBody>
                  <a:tcPr marL="50800" marR="50800" marT="50800" marB="50800"/>
                </a:tc>
                <a:tc>
                  <a:txBody>
                    <a:bodyPr/>
                    <a:lstStyle/>
                    <a:p>
                      <a:pPr marL="0" marR="0" fontAlgn="t">
                        <a:buNone/>
                      </a:pPr>
                      <a:r>
                        <a:rPr lang="en-US" sz="1800" dirty="0">
                          <a:effectLst/>
                        </a:rPr>
                        <a:t>At response to gospel (faith, repentance, baptism)</a:t>
                      </a:r>
                      <a:endParaRPr lang="en-US" sz="1800" dirty="0">
                        <a:effectLst/>
                        <a:latin typeface="Calibri" panose="020F0502020204030204" pitchFamily="34" charset="0"/>
                      </a:endParaRPr>
                    </a:p>
                  </a:txBody>
                  <a:tcPr marL="50800" marR="50800" marT="50800" marB="50800"/>
                </a:tc>
                <a:extLst>
                  <a:ext uri="{0D108BD9-81ED-4DB2-BD59-A6C34878D82A}">
                    <a16:rowId xmlns:a16="http://schemas.microsoft.com/office/drawing/2014/main" val="3219083247"/>
                  </a:ext>
                </a:extLst>
              </a:tr>
              <a:tr h="0">
                <a:tc>
                  <a:txBody>
                    <a:bodyPr/>
                    <a:lstStyle/>
                    <a:p>
                      <a:pPr marL="0" marR="0" fontAlgn="t">
                        <a:buNone/>
                      </a:pPr>
                      <a:r>
                        <a:rPr lang="en-US" sz="1800">
                          <a:effectLst/>
                        </a:rPr>
                        <a:t>What follows?</a:t>
                      </a:r>
                      <a:endParaRPr lang="en-US" sz="1800">
                        <a:effectLst/>
                        <a:latin typeface="Calibri" panose="020F0502020204030204" pitchFamily="34" charset="0"/>
                      </a:endParaRPr>
                    </a:p>
                  </a:txBody>
                  <a:tcPr marL="50800" marR="50800" marT="50800" marB="50800"/>
                </a:tc>
                <a:tc>
                  <a:txBody>
                    <a:bodyPr/>
                    <a:lstStyle/>
                    <a:p>
                      <a:pPr marL="0" marR="0" fontAlgn="t">
                        <a:buNone/>
                      </a:pPr>
                      <a:r>
                        <a:rPr lang="en-US" sz="1800">
                          <a:effectLst/>
                        </a:rPr>
                        <a:t>Obedience as evidence</a:t>
                      </a:r>
                      <a:endParaRPr lang="en-US" sz="1800">
                        <a:effectLst/>
                        <a:latin typeface="Calibri" panose="020F0502020204030204" pitchFamily="34" charset="0"/>
                      </a:endParaRPr>
                    </a:p>
                  </a:txBody>
                  <a:tcPr marL="50800" marR="50800" marT="50800" marB="50800"/>
                </a:tc>
                <a:tc>
                  <a:txBody>
                    <a:bodyPr/>
                    <a:lstStyle/>
                    <a:p>
                      <a:pPr marL="0" marR="0" fontAlgn="t">
                        <a:buNone/>
                      </a:pPr>
                      <a:r>
                        <a:rPr lang="en-US" sz="1800" dirty="0">
                          <a:effectLst/>
                        </a:rPr>
                        <a:t>Obedience as part of faith and ongoing life</a:t>
                      </a:r>
                      <a:endParaRPr lang="en-US" sz="1800" dirty="0">
                        <a:effectLst/>
                        <a:latin typeface="Calibri" panose="020F0502020204030204" pitchFamily="34" charset="0"/>
                      </a:endParaRPr>
                    </a:p>
                  </a:txBody>
                  <a:tcPr marL="50800" marR="50800" marT="50800" marB="50800"/>
                </a:tc>
                <a:extLst>
                  <a:ext uri="{0D108BD9-81ED-4DB2-BD59-A6C34878D82A}">
                    <a16:rowId xmlns:a16="http://schemas.microsoft.com/office/drawing/2014/main" val="1297475994"/>
                  </a:ext>
                </a:extLst>
              </a:tr>
            </a:tbl>
          </a:graphicData>
        </a:graphic>
      </p:graphicFrame>
      <p:sp>
        <p:nvSpPr>
          <p:cNvPr id="3" name="TextBox 2">
            <a:extLst>
              <a:ext uri="{FF2B5EF4-FFF2-40B4-BE49-F238E27FC236}">
                <a16:creationId xmlns:a16="http://schemas.microsoft.com/office/drawing/2014/main" id="{80C9DDF0-6587-A2BC-29BD-1A459AABEFDA}"/>
              </a:ext>
            </a:extLst>
          </p:cNvPr>
          <p:cNvSpPr txBox="1"/>
          <p:nvPr/>
        </p:nvSpPr>
        <p:spPr>
          <a:xfrm>
            <a:off x="175260" y="3526749"/>
            <a:ext cx="8001000" cy="3170099"/>
          </a:xfrm>
          <a:prstGeom prst="rect">
            <a:avLst/>
          </a:prstGeom>
          <a:noFill/>
        </p:spPr>
        <p:txBody>
          <a:bodyPr wrap="square" rtlCol="0">
            <a:spAutoFit/>
          </a:bodyPr>
          <a:lstStyle/>
          <a:p>
            <a:r>
              <a:rPr lang="en-US" sz="2000" b="1" dirty="0"/>
              <a:t>Key Balancing Truths in Romans</a:t>
            </a:r>
            <a:endParaRPr lang="en-US" sz="2000" dirty="0"/>
          </a:p>
          <a:p>
            <a:endParaRPr lang="en-US" dirty="0"/>
          </a:p>
          <a:p>
            <a:r>
              <a:rPr lang="en-US" dirty="0"/>
              <a:t>These help avoid extremes:</a:t>
            </a:r>
          </a:p>
          <a:p>
            <a:pPr marL="285750" indent="-285750" fontAlgn="ctr">
              <a:buFont typeface="Arial" panose="020B0604020202020204" pitchFamily="34" charset="0"/>
              <a:buChar char="•"/>
            </a:pPr>
            <a:r>
              <a:rPr lang="en-US" b="1" dirty="0"/>
              <a:t>Faith and obedience belong together</a:t>
            </a:r>
          </a:p>
          <a:p>
            <a:pPr marL="742950" lvl="1" indent="-285750" fontAlgn="ctr">
              <a:buFont typeface="Arial" panose="020B0604020202020204" pitchFamily="34" charset="0"/>
              <a:buChar char="•"/>
            </a:pPr>
            <a:r>
              <a:rPr lang="en-US" dirty="0"/>
              <a:t>Romans 1:5 - “obedience of faith”</a:t>
            </a:r>
          </a:p>
          <a:p>
            <a:pPr marL="285750" indent="-285750" fontAlgn="ctr">
              <a:buFont typeface="Arial" panose="020B0604020202020204" pitchFamily="34" charset="0"/>
              <a:buChar char="•"/>
            </a:pPr>
            <a:r>
              <a:rPr lang="en-US" b="1" dirty="0"/>
              <a:t>Grace does not allow sin</a:t>
            </a:r>
          </a:p>
          <a:p>
            <a:pPr marL="742950" lvl="1" indent="-285750" fontAlgn="ctr">
              <a:buFont typeface="Arial" panose="020B0604020202020204" pitchFamily="34" charset="0"/>
              <a:buChar char="•"/>
            </a:pPr>
            <a:r>
              <a:rPr lang="en-US" dirty="0"/>
              <a:t>Romans 6:1-2 - “Absolutely not!”</a:t>
            </a:r>
          </a:p>
          <a:p>
            <a:pPr marL="285750" indent="-285750" fontAlgn="ctr">
              <a:buFont typeface="Arial" panose="020B0604020202020204" pitchFamily="34" charset="0"/>
              <a:buChar char="•"/>
            </a:pPr>
            <a:r>
              <a:rPr lang="en-US" b="1" dirty="0"/>
              <a:t>No condemnation in Christ</a:t>
            </a:r>
          </a:p>
          <a:p>
            <a:pPr marL="742950" lvl="1" indent="-285750" fontAlgn="ctr">
              <a:buFont typeface="Arial" panose="020B0604020202020204" pitchFamily="34" charset="0"/>
              <a:buChar char="•"/>
            </a:pPr>
            <a:r>
              <a:rPr lang="en-US" dirty="0"/>
              <a:t>Romans 8:1</a:t>
            </a:r>
          </a:p>
          <a:p>
            <a:pPr marL="285750" indent="-285750" fontAlgn="ctr">
              <a:buFont typeface="Arial" panose="020B0604020202020204" pitchFamily="34" charset="0"/>
              <a:buChar char="•"/>
            </a:pPr>
            <a:r>
              <a:rPr lang="en-US" b="1" dirty="0"/>
              <a:t>But continue in God’s kindness</a:t>
            </a:r>
          </a:p>
          <a:p>
            <a:pPr marL="742950" lvl="1" indent="-285750" fontAlgn="ctr">
              <a:buFont typeface="Arial" panose="020B0604020202020204" pitchFamily="34" charset="0"/>
              <a:buChar char="•"/>
            </a:pPr>
            <a:r>
              <a:rPr lang="en-US" dirty="0"/>
              <a:t>Romans 11:22</a:t>
            </a:r>
          </a:p>
        </p:txBody>
      </p:sp>
    </p:spTree>
    <p:extLst>
      <p:ext uri="{BB962C8B-B14F-4D97-AF65-F5344CB8AC3E}">
        <p14:creationId xmlns:p14="http://schemas.microsoft.com/office/powerpoint/2010/main" val="381678073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1000"/>
                                        <p:tgtEl>
                                          <p:spTgt spid="2"/>
                                        </p:tgtEl>
                                      </p:cBhvr>
                                    </p:animEffect>
                                    <p:anim calcmode="lin" valueType="num">
                                      <p:cBhvr>
                                        <p:cTn id="8" dur="1000" fill="hold"/>
                                        <p:tgtEl>
                                          <p:spTgt spid="2"/>
                                        </p:tgtEl>
                                        <p:attrNameLst>
                                          <p:attrName>ppt_x</p:attrName>
                                        </p:attrNameLst>
                                      </p:cBhvr>
                                      <p:tavLst>
                                        <p:tav tm="0">
                                          <p:val>
                                            <p:strVal val="#ppt_x"/>
                                          </p:val>
                                        </p:tav>
                                        <p:tav tm="100000">
                                          <p:val>
                                            <p:strVal val="#ppt_x"/>
                                          </p:val>
                                        </p:tav>
                                      </p:tavLst>
                                    </p:anim>
                                    <p:anim calcmode="lin" valueType="num">
                                      <p:cBhvr>
                                        <p:cTn id="9" dur="1000" fill="hold"/>
                                        <p:tgtEl>
                                          <p:spTgt spid="2"/>
                                        </p:tgtEl>
                                        <p:attrNameLst>
                                          <p:attrName>ppt_y</p:attrName>
                                        </p:attrNameLst>
                                      </p:cBhvr>
                                      <p:tavLst>
                                        <p:tav tm="0">
                                          <p:val>
                                            <p:strVal val="#ppt_y+.1"/>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3"/>
                                        </p:tgtEl>
                                        <p:attrNameLst>
                                          <p:attrName>style.visibility</p:attrName>
                                        </p:attrNameLst>
                                      </p:cBhvr>
                                      <p:to>
                                        <p:strVal val="visible"/>
                                      </p:to>
                                    </p:set>
                                    <p:animEffect transition="in" filter="fade">
                                      <p:cBhvr>
                                        <p:cTn id="14" dur="1000"/>
                                        <p:tgtEl>
                                          <p:spTgt spid="3"/>
                                        </p:tgtEl>
                                      </p:cBhvr>
                                    </p:animEffect>
                                    <p:anim calcmode="lin" valueType="num">
                                      <p:cBhvr>
                                        <p:cTn id="15" dur="1000" fill="hold"/>
                                        <p:tgtEl>
                                          <p:spTgt spid="3"/>
                                        </p:tgtEl>
                                        <p:attrNameLst>
                                          <p:attrName>ppt_x</p:attrName>
                                        </p:attrNameLst>
                                      </p:cBhvr>
                                      <p:tavLst>
                                        <p:tav tm="0">
                                          <p:val>
                                            <p:strVal val="#ppt_x"/>
                                          </p:val>
                                        </p:tav>
                                        <p:tav tm="100000">
                                          <p:val>
                                            <p:strVal val="#ppt_x"/>
                                          </p:val>
                                        </p:tav>
                                      </p:tavLst>
                                    </p:anim>
                                    <p:anim calcmode="lin" valueType="num">
                                      <p:cBhvr>
                                        <p:cTn id="16" dur="1000" fill="hold"/>
                                        <p:tgtEl>
                                          <p:spTgt spid="3"/>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1"/>
          <p:cNvSpPr txBox="1">
            <a:spLocks/>
          </p:cNvSpPr>
          <p:nvPr/>
        </p:nvSpPr>
        <p:spPr bwMode="auto">
          <a:xfrm>
            <a:off x="381000" y="0"/>
            <a:ext cx="8382000" cy="1143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normAutofit/>
          </a:bodyPr>
          <a:lstStyle>
            <a:lvl1pPr algn="l" rtl="0" eaLnBrk="1" fontAlgn="base" hangingPunct="1">
              <a:spcBef>
                <a:spcPct val="0"/>
              </a:spcBef>
              <a:spcAft>
                <a:spcPct val="0"/>
              </a:spcAft>
              <a:defRPr lang="en-US" sz="4000" b="1" kern="1200">
                <a:solidFill>
                  <a:schemeClr val="tx2"/>
                </a:solidFill>
                <a:latin typeface="+mj-lt"/>
                <a:ea typeface="ＭＳ Ｐゴシック" pitchFamily="34" charset="-128"/>
                <a:cs typeface="+mj-cs"/>
              </a:defRPr>
            </a:lvl1pPr>
            <a:lvl2pPr algn="ctr" rtl="0" eaLnBrk="1" fontAlgn="base" hangingPunct="1">
              <a:spcBef>
                <a:spcPct val="0"/>
              </a:spcBef>
              <a:spcAft>
                <a:spcPct val="0"/>
              </a:spcAft>
              <a:defRPr sz="4400" b="1">
                <a:solidFill>
                  <a:schemeClr val="tx2"/>
                </a:solidFill>
                <a:latin typeface="Arial" charset="0"/>
                <a:ea typeface="ＭＳ Ｐゴシック" pitchFamily="34" charset="-128"/>
              </a:defRPr>
            </a:lvl2pPr>
            <a:lvl3pPr algn="ctr" rtl="0" eaLnBrk="1" fontAlgn="base" hangingPunct="1">
              <a:spcBef>
                <a:spcPct val="0"/>
              </a:spcBef>
              <a:spcAft>
                <a:spcPct val="0"/>
              </a:spcAft>
              <a:defRPr sz="4400" b="1">
                <a:solidFill>
                  <a:schemeClr val="tx2"/>
                </a:solidFill>
                <a:latin typeface="Arial" charset="0"/>
                <a:ea typeface="ＭＳ Ｐゴシック" pitchFamily="34" charset="-128"/>
              </a:defRPr>
            </a:lvl3pPr>
            <a:lvl4pPr algn="ctr" rtl="0" eaLnBrk="1" fontAlgn="base" hangingPunct="1">
              <a:spcBef>
                <a:spcPct val="0"/>
              </a:spcBef>
              <a:spcAft>
                <a:spcPct val="0"/>
              </a:spcAft>
              <a:defRPr sz="4400" b="1">
                <a:solidFill>
                  <a:schemeClr val="tx2"/>
                </a:solidFill>
                <a:latin typeface="Arial" charset="0"/>
                <a:ea typeface="ＭＳ Ｐゴシック" pitchFamily="34" charset="-128"/>
              </a:defRPr>
            </a:lvl4pPr>
            <a:lvl5pPr algn="ctr" rtl="0" eaLnBrk="1" fontAlgn="base" hangingPunct="1">
              <a:spcBef>
                <a:spcPct val="0"/>
              </a:spcBef>
              <a:spcAft>
                <a:spcPct val="0"/>
              </a:spcAft>
              <a:defRPr sz="4400" b="1">
                <a:solidFill>
                  <a:schemeClr val="tx2"/>
                </a:solidFill>
                <a:latin typeface="Arial" charset="0"/>
                <a:ea typeface="ＭＳ Ｐゴシック" pitchFamily="34" charset="-128"/>
              </a:defRPr>
            </a:lvl5pPr>
            <a:lvl6pPr marL="457200" algn="ctr" rtl="0" eaLnBrk="1" fontAlgn="base" hangingPunct="1">
              <a:spcBef>
                <a:spcPct val="0"/>
              </a:spcBef>
              <a:spcAft>
                <a:spcPct val="0"/>
              </a:spcAft>
              <a:defRPr sz="4400" b="1">
                <a:solidFill>
                  <a:schemeClr val="tx1"/>
                </a:solidFill>
                <a:latin typeface="Arial" charset="0"/>
              </a:defRPr>
            </a:lvl6pPr>
            <a:lvl7pPr marL="914400" algn="ctr" rtl="0" eaLnBrk="1" fontAlgn="base" hangingPunct="1">
              <a:spcBef>
                <a:spcPct val="0"/>
              </a:spcBef>
              <a:spcAft>
                <a:spcPct val="0"/>
              </a:spcAft>
              <a:defRPr sz="4400" b="1">
                <a:solidFill>
                  <a:schemeClr val="tx1"/>
                </a:solidFill>
                <a:latin typeface="Arial" charset="0"/>
              </a:defRPr>
            </a:lvl7pPr>
            <a:lvl8pPr marL="1371600" algn="ctr" rtl="0" eaLnBrk="1" fontAlgn="base" hangingPunct="1">
              <a:spcBef>
                <a:spcPct val="0"/>
              </a:spcBef>
              <a:spcAft>
                <a:spcPct val="0"/>
              </a:spcAft>
              <a:defRPr sz="4400" b="1">
                <a:solidFill>
                  <a:schemeClr val="tx1"/>
                </a:solidFill>
                <a:latin typeface="Arial" charset="0"/>
              </a:defRPr>
            </a:lvl8pPr>
            <a:lvl9pPr marL="1828800" algn="ctr" rtl="0" eaLnBrk="1" fontAlgn="base" hangingPunct="1">
              <a:spcBef>
                <a:spcPct val="0"/>
              </a:spcBef>
              <a:spcAft>
                <a:spcPct val="0"/>
              </a:spcAft>
              <a:defRPr sz="4400" b="1">
                <a:solidFill>
                  <a:schemeClr val="tx1"/>
                </a:solidFill>
                <a:latin typeface="Arial" charset="0"/>
              </a:defRPr>
            </a:lvl9pPr>
          </a:lstStyle>
          <a:p>
            <a:r>
              <a:rPr lang="en-US" dirty="0"/>
              <a:t>God’s Character Revealed</a:t>
            </a:r>
            <a:br>
              <a:rPr lang="en-US" dirty="0"/>
            </a:br>
            <a:r>
              <a:rPr lang="en-US" sz="2400" dirty="0">
                <a:solidFill>
                  <a:schemeClr val="tx2">
                    <a:lumMod val="60000"/>
                    <a:lumOff val="40000"/>
                  </a:schemeClr>
                </a:solidFill>
              </a:rPr>
              <a:t>The Promises to Abraham</a:t>
            </a:r>
          </a:p>
        </p:txBody>
      </p:sp>
      <p:sp>
        <p:nvSpPr>
          <p:cNvPr id="6" name="TextBox 5"/>
          <p:cNvSpPr txBox="1"/>
          <p:nvPr/>
        </p:nvSpPr>
        <p:spPr>
          <a:xfrm>
            <a:off x="365760" y="1329788"/>
            <a:ext cx="8442960" cy="1231106"/>
          </a:xfrm>
          <a:prstGeom prst="rect">
            <a:avLst/>
          </a:prstGeom>
          <a:noFill/>
        </p:spPr>
        <p:txBody>
          <a:bodyPr wrap="square" rtlCol="0">
            <a:spAutoFit/>
          </a:bodyPr>
          <a:lstStyle/>
          <a:p>
            <a:r>
              <a:rPr lang="en-US" sz="2000" b="1" i="1" u="sng" dirty="0">
                <a:solidFill>
                  <a:schemeClr val="accent1"/>
                </a:solidFill>
              </a:rPr>
              <a:t>Initiator of the Covenant</a:t>
            </a:r>
          </a:p>
          <a:p>
            <a:pPr marL="285750" indent="-285750" fontAlgn="ctr">
              <a:buFont typeface="Arial" panose="020B0604020202020204" pitchFamily="34" charset="0"/>
              <a:buChar char="•"/>
            </a:pPr>
            <a:r>
              <a:rPr lang="en-US" b="1" i="1" dirty="0"/>
              <a:t>Genesis 12:1-3</a:t>
            </a:r>
            <a:r>
              <a:rPr lang="en-US" b="1" dirty="0"/>
              <a:t>  </a:t>
            </a:r>
            <a:r>
              <a:rPr lang="en-US" dirty="0"/>
              <a:t>God calls Abraham to leave his homeland, initiating the promise.</a:t>
            </a:r>
          </a:p>
          <a:p>
            <a:pPr marL="285750" indent="-285750" fontAlgn="ctr">
              <a:buFont typeface="Arial" panose="020B0604020202020204" pitchFamily="34" charset="0"/>
              <a:buChar char="•"/>
            </a:pPr>
            <a:r>
              <a:rPr lang="en-US" dirty="0"/>
              <a:t>God’s promises are grounded in His initiative, not Abraham’s worthiness.</a:t>
            </a:r>
          </a:p>
        </p:txBody>
      </p:sp>
      <p:sp>
        <p:nvSpPr>
          <p:cNvPr id="7" name="TextBox 6"/>
          <p:cNvSpPr txBox="1"/>
          <p:nvPr/>
        </p:nvSpPr>
        <p:spPr>
          <a:xfrm>
            <a:off x="365760" y="2747682"/>
            <a:ext cx="8458200" cy="1231106"/>
          </a:xfrm>
          <a:prstGeom prst="rect">
            <a:avLst/>
          </a:prstGeom>
          <a:noFill/>
        </p:spPr>
        <p:txBody>
          <a:bodyPr wrap="square" rtlCol="0">
            <a:spAutoFit/>
          </a:bodyPr>
          <a:lstStyle/>
          <a:p>
            <a:r>
              <a:rPr lang="en-US" sz="2000" b="1" i="1" u="sng" dirty="0">
                <a:solidFill>
                  <a:schemeClr val="accent1"/>
                </a:solidFill>
              </a:rPr>
              <a:t>Covenant Keeper</a:t>
            </a:r>
          </a:p>
          <a:p>
            <a:pPr marL="285750" indent="-285750" fontAlgn="ctr">
              <a:buFont typeface="Arial" panose="020B0604020202020204" pitchFamily="34" charset="0"/>
              <a:buChar char="•"/>
            </a:pPr>
            <a:r>
              <a:rPr lang="en-US" b="1" i="1" dirty="0"/>
              <a:t>Genesis 15:1-6</a:t>
            </a:r>
            <a:r>
              <a:rPr lang="en-US" b="1" dirty="0"/>
              <a:t>  </a:t>
            </a:r>
            <a:r>
              <a:rPr lang="en-US" dirty="0"/>
              <a:t>God ratifies the covenant by passing between the pieces, showing He alone carries the responsibility of fulfillment.</a:t>
            </a:r>
          </a:p>
          <a:p>
            <a:pPr marL="285750" indent="-285750" fontAlgn="ctr">
              <a:buFont typeface="Arial" panose="020B0604020202020204" pitchFamily="34" charset="0"/>
              <a:buChar char="•"/>
            </a:pPr>
            <a:r>
              <a:rPr lang="en-US" b="1" i="1" dirty="0"/>
              <a:t>Genesis 17:7</a:t>
            </a:r>
            <a:r>
              <a:rPr lang="en-US" b="1" dirty="0"/>
              <a:t>  </a:t>
            </a:r>
            <a:r>
              <a:rPr lang="en-US" dirty="0"/>
              <a:t>God calls it an “everlasting covenant.”</a:t>
            </a:r>
          </a:p>
        </p:txBody>
      </p:sp>
      <p:sp>
        <p:nvSpPr>
          <p:cNvPr id="8" name="TextBox 7"/>
          <p:cNvSpPr txBox="1"/>
          <p:nvPr/>
        </p:nvSpPr>
        <p:spPr>
          <a:xfrm>
            <a:off x="365760" y="4165576"/>
            <a:ext cx="8001000" cy="2062103"/>
          </a:xfrm>
          <a:prstGeom prst="rect">
            <a:avLst/>
          </a:prstGeom>
          <a:noFill/>
        </p:spPr>
        <p:txBody>
          <a:bodyPr wrap="square" rtlCol="0">
            <a:spAutoFit/>
          </a:bodyPr>
          <a:lstStyle/>
          <a:p>
            <a:r>
              <a:rPr lang="en-US" sz="2000" b="1" i="1" u="sng" dirty="0">
                <a:solidFill>
                  <a:schemeClr val="accent1"/>
                </a:solidFill>
              </a:rPr>
              <a:t>Faithfulness Across Generations</a:t>
            </a:r>
          </a:p>
          <a:p>
            <a:pPr marL="342900" indent="-342900">
              <a:buFont typeface="Arial" pitchFamily="34" charset="0"/>
              <a:buChar char="•"/>
            </a:pPr>
            <a:r>
              <a:rPr lang="en-US" dirty="0"/>
              <a:t>God reiterates His promise to Isaac (</a:t>
            </a:r>
            <a:r>
              <a:rPr lang="en-US" b="1" dirty="0"/>
              <a:t>Genesis 26:3-4</a:t>
            </a:r>
            <a:r>
              <a:rPr lang="en-US" dirty="0"/>
              <a:t>) and Jacob (</a:t>
            </a:r>
            <a:r>
              <a:rPr lang="en-US" b="1" dirty="0"/>
              <a:t>Genesis 28:13-15</a:t>
            </a:r>
            <a:r>
              <a:rPr lang="en-US" dirty="0"/>
              <a:t>).</a:t>
            </a:r>
          </a:p>
          <a:p>
            <a:pPr marL="342900" indent="-342900">
              <a:buFont typeface="Arial" pitchFamily="34" charset="0"/>
              <a:buChar char="•"/>
            </a:pPr>
            <a:r>
              <a:rPr lang="en-US" dirty="0"/>
              <a:t>God’s character is revealed in His unilateral commitment to Abraham; He binds Himself to His promises with no possibility of failure.</a:t>
            </a:r>
          </a:p>
          <a:p>
            <a:pPr marL="342900" indent="-342900">
              <a:buFont typeface="Arial" pitchFamily="34" charset="0"/>
              <a:buChar char="•"/>
            </a:pPr>
            <a:r>
              <a:rPr lang="en-US" b="1" dirty="0"/>
              <a:t>Romans 1:17  </a:t>
            </a:r>
            <a:r>
              <a:rPr lang="en-US" i="1" dirty="0"/>
              <a:t>For the righteousness of God is revealed in the gospel </a:t>
            </a:r>
            <a:r>
              <a:rPr lang="en-US" i="1" u="sng" dirty="0"/>
              <a:t>from faith to faith</a:t>
            </a:r>
            <a:r>
              <a:rPr lang="en-US" i="1" dirty="0"/>
              <a:t>, just as it is written, </a:t>
            </a:r>
            <a:r>
              <a:rPr lang="en-US" dirty="0"/>
              <a:t>“</a:t>
            </a:r>
            <a:r>
              <a:rPr lang="en-US" b="1" i="1" dirty="0"/>
              <a:t>The righteous by faith will live</a:t>
            </a:r>
            <a:r>
              <a:rPr lang="en-US" dirty="0"/>
              <a:t>.”</a:t>
            </a:r>
          </a:p>
        </p:txBody>
      </p:sp>
    </p:spTree>
    <p:extLst>
      <p:ext uri="{BB962C8B-B14F-4D97-AF65-F5344CB8AC3E}">
        <p14:creationId xmlns:p14="http://schemas.microsoft.com/office/powerpoint/2010/main" val="80550296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1000"/>
                                        <p:tgtEl>
                                          <p:spTgt spid="6"/>
                                        </p:tgtEl>
                                      </p:cBhvr>
                                    </p:animEffect>
                                    <p:anim calcmode="lin" valueType="num">
                                      <p:cBhvr>
                                        <p:cTn id="8" dur="1000" fill="hold"/>
                                        <p:tgtEl>
                                          <p:spTgt spid="6"/>
                                        </p:tgtEl>
                                        <p:attrNameLst>
                                          <p:attrName>ppt_x</p:attrName>
                                        </p:attrNameLst>
                                      </p:cBhvr>
                                      <p:tavLst>
                                        <p:tav tm="0">
                                          <p:val>
                                            <p:strVal val="#ppt_x"/>
                                          </p:val>
                                        </p:tav>
                                        <p:tav tm="100000">
                                          <p:val>
                                            <p:strVal val="#ppt_x"/>
                                          </p:val>
                                        </p:tav>
                                      </p:tavLst>
                                    </p:anim>
                                    <p:anim calcmode="lin" valueType="num">
                                      <p:cBhvr>
                                        <p:cTn id="9" dur="10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p:stCondLst>
                                    <p:cond delay="0"/>
                                  </p:st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p:bldP spid="8" grpId="0"/>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CA0A04-9765-41F5-8F5C-29CCCE2F87D0}"/>
            </a:ext>
          </a:extLst>
        </p:cNvPr>
        <p:cNvGrpSpPr/>
        <p:nvPr/>
      </p:nvGrpSpPr>
      <p:grpSpPr>
        <a:xfrm>
          <a:off x="0" y="0"/>
          <a:ext cx="0" cy="0"/>
          <a:chOff x="0" y="0"/>
          <a:chExt cx="0" cy="0"/>
        </a:xfrm>
      </p:grpSpPr>
      <p:sp>
        <p:nvSpPr>
          <p:cNvPr id="5" name="Title 1">
            <a:extLst>
              <a:ext uri="{FF2B5EF4-FFF2-40B4-BE49-F238E27FC236}">
                <a16:creationId xmlns:a16="http://schemas.microsoft.com/office/drawing/2014/main" id="{317A95EA-8598-8A4F-D8C2-B4CAB4067D2A}"/>
              </a:ext>
            </a:extLst>
          </p:cNvPr>
          <p:cNvSpPr txBox="1">
            <a:spLocks/>
          </p:cNvSpPr>
          <p:nvPr/>
        </p:nvSpPr>
        <p:spPr bwMode="auto">
          <a:xfrm>
            <a:off x="381000" y="0"/>
            <a:ext cx="8382000" cy="1143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normAutofit fontScale="92500"/>
          </a:bodyPr>
          <a:lstStyle>
            <a:lvl1pPr algn="l" rtl="0" eaLnBrk="1" fontAlgn="base" hangingPunct="1">
              <a:spcBef>
                <a:spcPct val="0"/>
              </a:spcBef>
              <a:spcAft>
                <a:spcPct val="0"/>
              </a:spcAft>
              <a:defRPr lang="en-US" sz="4000" b="1" kern="1200">
                <a:solidFill>
                  <a:schemeClr val="tx2"/>
                </a:solidFill>
                <a:latin typeface="+mj-lt"/>
                <a:ea typeface="ＭＳ Ｐゴシック" pitchFamily="34" charset="-128"/>
                <a:cs typeface="+mj-cs"/>
              </a:defRPr>
            </a:lvl1pPr>
            <a:lvl2pPr algn="ctr" rtl="0" eaLnBrk="1" fontAlgn="base" hangingPunct="1">
              <a:spcBef>
                <a:spcPct val="0"/>
              </a:spcBef>
              <a:spcAft>
                <a:spcPct val="0"/>
              </a:spcAft>
              <a:defRPr sz="4400" b="1">
                <a:solidFill>
                  <a:schemeClr val="tx2"/>
                </a:solidFill>
                <a:latin typeface="Arial" charset="0"/>
                <a:ea typeface="ＭＳ Ｐゴシック" pitchFamily="34" charset="-128"/>
              </a:defRPr>
            </a:lvl2pPr>
            <a:lvl3pPr algn="ctr" rtl="0" eaLnBrk="1" fontAlgn="base" hangingPunct="1">
              <a:spcBef>
                <a:spcPct val="0"/>
              </a:spcBef>
              <a:spcAft>
                <a:spcPct val="0"/>
              </a:spcAft>
              <a:defRPr sz="4400" b="1">
                <a:solidFill>
                  <a:schemeClr val="tx2"/>
                </a:solidFill>
                <a:latin typeface="Arial" charset="0"/>
                <a:ea typeface="ＭＳ Ｐゴシック" pitchFamily="34" charset="-128"/>
              </a:defRPr>
            </a:lvl3pPr>
            <a:lvl4pPr algn="ctr" rtl="0" eaLnBrk="1" fontAlgn="base" hangingPunct="1">
              <a:spcBef>
                <a:spcPct val="0"/>
              </a:spcBef>
              <a:spcAft>
                <a:spcPct val="0"/>
              </a:spcAft>
              <a:defRPr sz="4400" b="1">
                <a:solidFill>
                  <a:schemeClr val="tx2"/>
                </a:solidFill>
                <a:latin typeface="Arial" charset="0"/>
                <a:ea typeface="ＭＳ Ｐゴシック" pitchFamily="34" charset="-128"/>
              </a:defRPr>
            </a:lvl4pPr>
            <a:lvl5pPr algn="ctr" rtl="0" eaLnBrk="1" fontAlgn="base" hangingPunct="1">
              <a:spcBef>
                <a:spcPct val="0"/>
              </a:spcBef>
              <a:spcAft>
                <a:spcPct val="0"/>
              </a:spcAft>
              <a:defRPr sz="4400" b="1">
                <a:solidFill>
                  <a:schemeClr val="tx2"/>
                </a:solidFill>
                <a:latin typeface="Arial" charset="0"/>
                <a:ea typeface="ＭＳ Ｐゴシック" pitchFamily="34" charset="-128"/>
              </a:defRPr>
            </a:lvl5pPr>
            <a:lvl6pPr marL="457200" algn="ctr" rtl="0" eaLnBrk="1" fontAlgn="base" hangingPunct="1">
              <a:spcBef>
                <a:spcPct val="0"/>
              </a:spcBef>
              <a:spcAft>
                <a:spcPct val="0"/>
              </a:spcAft>
              <a:defRPr sz="4400" b="1">
                <a:solidFill>
                  <a:schemeClr val="tx1"/>
                </a:solidFill>
                <a:latin typeface="Arial" charset="0"/>
              </a:defRPr>
            </a:lvl6pPr>
            <a:lvl7pPr marL="914400" algn="ctr" rtl="0" eaLnBrk="1" fontAlgn="base" hangingPunct="1">
              <a:spcBef>
                <a:spcPct val="0"/>
              </a:spcBef>
              <a:spcAft>
                <a:spcPct val="0"/>
              </a:spcAft>
              <a:defRPr sz="4400" b="1">
                <a:solidFill>
                  <a:schemeClr val="tx1"/>
                </a:solidFill>
                <a:latin typeface="Arial" charset="0"/>
              </a:defRPr>
            </a:lvl7pPr>
            <a:lvl8pPr marL="1371600" algn="ctr" rtl="0" eaLnBrk="1" fontAlgn="base" hangingPunct="1">
              <a:spcBef>
                <a:spcPct val="0"/>
              </a:spcBef>
              <a:spcAft>
                <a:spcPct val="0"/>
              </a:spcAft>
              <a:defRPr sz="4400" b="1">
                <a:solidFill>
                  <a:schemeClr val="tx1"/>
                </a:solidFill>
                <a:latin typeface="Arial" charset="0"/>
              </a:defRPr>
            </a:lvl8pPr>
            <a:lvl9pPr marL="1828800" algn="ctr" rtl="0" eaLnBrk="1" fontAlgn="base" hangingPunct="1">
              <a:spcBef>
                <a:spcPct val="0"/>
              </a:spcBef>
              <a:spcAft>
                <a:spcPct val="0"/>
              </a:spcAft>
              <a:defRPr sz="4400" b="1">
                <a:solidFill>
                  <a:schemeClr val="tx1"/>
                </a:solidFill>
                <a:latin typeface="Arial" charset="0"/>
              </a:defRPr>
            </a:lvl9pPr>
          </a:lstStyle>
          <a:p>
            <a:r>
              <a:rPr lang="en-US" dirty="0"/>
              <a:t>God’s Character Revealed in Christ</a:t>
            </a:r>
            <a:br>
              <a:rPr lang="en-US" dirty="0"/>
            </a:br>
            <a:r>
              <a:rPr lang="en-US" sz="2600" dirty="0">
                <a:solidFill>
                  <a:schemeClr val="tx2">
                    <a:lumMod val="60000"/>
                    <a:lumOff val="40000"/>
                  </a:schemeClr>
                </a:solidFill>
              </a:rPr>
              <a:t>Abraham’s Seed</a:t>
            </a:r>
          </a:p>
        </p:txBody>
      </p:sp>
      <p:sp>
        <p:nvSpPr>
          <p:cNvPr id="6" name="TextBox 5">
            <a:extLst>
              <a:ext uri="{FF2B5EF4-FFF2-40B4-BE49-F238E27FC236}">
                <a16:creationId xmlns:a16="http://schemas.microsoft.com/office/drawing/2014/main" id="{0120B2DF-8B8B-A782-E6DF-D81F3D2239F9}"/>
              </a:ext>
            </a:extLst>
          </p:cNvPr>
          <p:cNvSpPr txBox="1"/>
          <p:nvPr/>
        </p:nvSpPr>
        <p:spPr>
          <a:xfrm>
            <a:off x="350520" y="1406723"/>
            <a:ext cx="8442960" cy="954107"/>
          </a:xfrm>
          <a:prstGeom prst="rect">
            <a:avLst/>
          </a:prstGeom>
          <a:noFill/>
        </p:spPr>
        <p:txBody>
          <a:bodyPr wrap="square" rtlCol="0">
            <a:spAutoFit/>
          </a:bodyPr>
          <a:lstStyle/>
          <a:p>
            <a:r>
              <a:rPr lang="en-US" sz="2000" b="1" i="1" u="sng" dirty="0">
                <a:solidFill>
                  <a:schemeClr val="accent1"/>
                </a:solidFill>
              </a:rPr>
              <a:t>Jesus, the Fulfillment of the Promise</a:t>
            </a:r>
          </a:p>
          <a:p>
            <a:pPr marL="285750" indent="-285750" fontAlgn="ctr">
              <a:buFont typeface="Arial" panose="020B0604020202020204" pitchFamily="34" charset="0"/>
              <a:buChar char="•"/>
            </a:pPr>
            <a:r>
              <a:rPr lang="en-US" b="1" i="1" dirty="0"/>
              <a:t>Galatians 3:16</a:t>
            </a:r>
            <a:r>
              <a:rPr lang="en-US" b="1" dirty="0"/>
              <a:t>  </a:t>
            </a:r>
            <a:r>
              <a:rPr lang="en-US" dirty="0"/>
              <a:t>The promises were ultimately to Abraham’s “seed,” Christ.</a:t>
            </a:r>
          </a:p>
          <a:p>
            <a:pPr marL="285750" indent="-285750" fontAlgn="ctr">
              <a:buFont typeface="Arial" panose="020B0604020202020204" pitchFamily="34" charset="0"/>
              <a:buChar char="•"/>
            </a:pPr>
            <a:r>
              <a:rPr lang="en-US" b="1" i="1" dirty="0"/>
              <a:t>Luke 3:34</a:t>
            </a:r>
            <a:r>
              <a:rPr lang="en-US" b="1" dirty="0"/>
              <a:t>  </a:t>
            </a:r>
            <a:r>
              <a:rPr lang="en-US" dirty="0"/>
              <a:t>Jesus is in Abraham’s line, the heir of the covenant.</a:t>
            </a:r>
          </a:p>
        </p:txBody>
      </p:sp>
      <p:sp>
        <p:nvSpPr>
          <p:cNvPr id="7" name="TextBox 6">
            <a:extLst>
              <a:ext uri="{FF2B5EF4-FFF2-40B4-BE49-F238E27FC236}">
                <a16:creationId xmlns:a16="http://schemas.microsoft.com/office/drawing/2014/main" id="{A72111AE-1843-9AB9-7417-26A694D00086}"/>
              </a:ext>
            </a:extLst>
          </p:cNvPr>
          <p:cNvSpPr txBox="1"/>
          <p:nvPr/>
        </p:nvSpPr>
        <p:spPr>
          <a:xfrm>
            <a:off x="350520" y="2584162"/>
            <a:ext cx="8458200" cy="1231106"/>
          </a:xfrm>
          <a:prstGeom prst="rect">
            <a:avLst/>
          </a:prstGeom>
          <a:noFill/>
        </p:spPr>
        <p:txBody>
          <a:bodyPr wrap="square" rtlCol="0">
            <a:spAutoFit/>
          </a:bodyPr>
          <a:lstStyle/>
          <a:p>
            <a:r>
              <a:rPr lang="en-US" sz="2000" b="1" i="1" u="sng" dirty="0">
                <a:solidFill>
                  <a:schemeClr val="accent1"/>
                </a:solidFill>
              </a:rPr>
              <a:t>Blessing to the Nations</a:t>
            </a:r>
          </a:p>
          <a:p>
            <a:pPr marL="285750" indent="-285750" fontAlgn="ctr">
              <a:buFont typeface="Arial" panose="020B0604020202020204" pitchFamily="34" charset="0"/>
              <a:buChar char="•"/>
            </a:pPr>
            <a:r>
              <a:rPr lang="en-US" b="1" i="1" dirty="0"/>
              <a:t>Galatians 3:8</a:t>
            </a:r>
            <a:r>
              <a:rPr lang="en-US" b="1" dirty="0"/>
              <a:t>  </a:t>
            </a:r>
            <a:r>
              <a:rPr lang="en-US" dirty="0"/>
              <a:t>The gospel was announced beforehand to Abraham: all nations blessed in Christ.</a:t>
            </a:r>
          </a:p>
          <a:p>
            <a:pPr marL="285750" indent="-285750" fontAlgn="ctr">
              <a:buFont typeface="Arial" panose="020B0604020202020204" pitchFamily="34" charset="0"/>
              <a:buChar char="•"/>
            </a:pPr>
            <a:r>
              <a:rPr lang="en-US" b="1" i="1" dirty="0"/>
              <a:t>Matthew 28:19</a:t>
            </a:r>
            <a:r>
              <a:rPr lang="en-US" b="1" dirty="0"/>
              <a:t>  </a:t>
            </a:r>
            <a:r>
              <a:rPr lang="en-US" dirty="0"/>
              <a:t>Fulfillment in the Great Commission to the nations.</a:t>
            </a:r>
          </a:p>
        </p:txBody>
      </p:sp>
      <p:sp>
        <p:nvSpPr>
          <p:cNvPr id="8" name="TextBox 7">
            <a:extLst>
              <a:ext uri="{FF2B5EF4-FFF2-40B4-BE49-F238E27FC236}">
                <a16:creationId xmlns:a16="http://schemas.microsoft.com/office/drawing/2014/main" id="{55E837E3-F4CF-0369-24B2-B323BA51C139}"/>
              </a:ext>
            </a:extLst>
          </p:cNvPr>
          <p:cNvSpPr txBox="1"/>
          <p:nvPr/>
        </p:nvSpPr>
        <p:spPr>
          <a:xfrm>
            <a:off x="350520" y="4038600"/>
            <a:ext cx="8001000" cy="954107"/>
          </a:xfrm>
          <a:prstGeom prst="rect">
            <a:avLst/>
          </a:prstGeom>
          <a:noFill/>
        </p:spPr>
        <p:txBody>
          <a:bodyPr wrap="square" rtlCol="0">
            <a:spAutoFit/>
          </a:bodyPr>
          <a:lstStyle/>
          <a:p>
            <a:r>
              <a:rPr lang="en-US" sz="2000" b="1" i="1" u="sng" dirty="0">
                <a:solidFill>
                  <a:schemeClr val="accent1"/>
                </a:solidFill>
              </a:rPr>
              <a:t>Faith as the Response</a:t>
            </a:r>
          </a:p>
          <a:p>
            <a:pPr marL="342900" indent="-342900">
              <a:buFont typeface="Arial" pitchFamily="34" charset="0"/>
              <a:buChar char="•"/>
            </a:pPr>
            <a:r>
              <a:rPr lang="en-US" b="1" i="1" dirty="0"/>
              <a:t>Romans 4:20-21</a:t>
            </a:r>
            <a:r>
              <a:rPr lang="en-US" b="1" dirty="0"/>
              <a:t>  </a:t>
            </a:r>
            <a:r>
              <a:rPr lang="en-US" dirty="0"/>
              <a:t>Abraham’s faith in God’s promise models how we trust in Christ.</a:t>
            </a:r>
          </a:p>
        </p:txBody>
      </p:sp>
      <p:sp>
        <p:nvSpPr>
          <p:cNvPr id="2" name="TextBox 1">
            <a:extLst>
              <a:ext uri="{FF2B5EF4-FFF2-40B4-BE49-F238E27FC236}">
                <a16:creationId xmlns:a16="http://schemas.microsoft.com/office/drawing/2014/main" id="{A45BA998-A323-F96F-71E9-A37EA5A5CFB2}"/>
              </a:ext>
            </a:extLst>
          </p:cNvPr>
          <p:cNvSpPr txBox="1"/>
          <p:nvPr/>
        </p:nvSpPr>
        <p:spPr>
          <a:xfrm>
            <a:off x="381000" y="5216039"/>
            <a:ext cx="8001000" cy="954107"/>
          </a:xfrm>
          <a:prstGeom prst="rect">
            <a:avLst/>
          </a:prstGeom>
          <a:noFill/>
        </p:spPr>
        <p:txBody>
          <a:bodyPr wrap="square" rtlCol="0">
            <a:spAutoFit/>
          </a:bodyPr>
          <a:lstStyle/>
          <a:p>
            <a:r>
              <a:rPr lang="en-US" sz="2000" b="1" i="1" u="sng" dirty="0">
                <a:solidFill>
                  <a:schemeClr val="accent1"/>
                </a:solidFill>
              </a:rPr>
              <a:t>Observation</a:t>
            </a:r>
          </a:p>
          <a:p>
            <a:pPr marL="342900" indent="-342900">
              <a:buFont typeface="Arial" pitchFamily="34" charset="0"/>
              <a:buChar char="•"/>
            </a:pPr>
            <a:r>
              <a:rPr lang="en-US" dirty="0"/>
              <a:t>The covenant blessing reaches its fulfillment in </a:t>
            </a:r>
            <a:r>
              <a:rPr lang="en-US" i="1" dirty="0"/>
              <a:t>Jesus Christ, who brings salvation to every nation</a:t>
            </a:r>
            <a:r>
              <a:rPr lang="en-US" dirty="0"/>
              <a:t>.</a:t>
            </a:r>
            <a:endParaRPr lang="en-US" dirty="0">
              <a:ea typeface="ＭＳ Ｐゴシック" pitchFamily="-106" charset="-128"/>
            </a:endParaRPr>
          </a:p>
        </p:txBody>
      </p:sp>
    </p:spTree>
    <p:extLst>
      <p:ext uri="{BB962C8B-B14F-4D97-AF65-F5344CB8AC3E}">
        <p14:creationId xmlns:p14="http://schemas.microsoft.com/office/powerpoint/2010/main" val="45032736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1000"/>
                                        <p:tgtEl>
                                          <p:spTgt spid="6"/>
                                        </p:tgtEl>
                                      </p:cBhvr>
                                    </p:animEffect>
                                    <p:anim calcmode="lin" valueType="num">
                                      <p:cBhvr>
                                        <p:cTn id="8" dur="1000" fill="hold"/>
                                        <p:tgtEl>
                                          <p:spTgt spid="6"/>
                                        </p:tgtEl>
                                        <p:attrNameLst>
                                          <p:attrName>ppt_x</p:attrName>
                                        </p:attrNameLst>
                                      </p:cBhvr>
                                      <p:tavLst>
                                        <p:tav tm="0">
                                          <p:val>
                                            <p:strVal val="#ppt_x"/>
                                          </p:val>
                                        </p:tav>
                                        <p:tav tm="100000">
                                          <p:val>
                                            <p:strVal val="#ppt_x"/>
                                          </p:val>
                                        </p:tav>
                                      </p:tavLst>
                                    </p:anim>
                                    <p:anim calcmode="lin" valueType="num">
                                      <p:cBhvr>
                                        <p:cTn id="9" dur="10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p:stCondLst>
                                    <p:cond delay="0"/>
                                  </p:st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24" fill="hold">
                      <p:stCondLst>
                        <p:cond delay="indefinite"/>
                      </p:stCondLst>
                      <p:childTnLst>
                        <p:par>
                          <p:cTn id="25" fill="hold">
                            <p:stCondLst>
                              <p:cond delay="0"/>
                            </p:stCondLst>
                            <p:childTnLst>
                              <p:par>
                                <p:cTn id="26" presetID="42" presetClass="entr" presetSubtype="0" fill="hold" grpId="0" nodeType="clickEffect">
                                  <p:stCondLst>
                                    <p:cond delay="0"/>
                                  </p:stCondLst>
                                  <p:childTnLst>
                                    <p:set>
                                      <p:cBhvr>
                                        <p:cTn id="27" dur="1" fill="hold">
                                          <p:stCondLst>
                                            <p:cond delay="0"/>
                                          </p:stCondLst>
                                        </p:cTn>
                                        <p:tgtEl>
                                          <p:spTgt spid="2"/>
                                        </p:tgtEl>
                                        <p:attrNameLst>
                                          <p:attrName>style.visibility</p:attrName>
                                        </p:attrNameLst>
                                      </p:cBhvr>
                                      <p:to>
                                        <p:strVal val="visible"/>
                                      </p:to>
                                    </p:set>
                                    <p:animEffect transition="in" filter="fade">
                                      <p:cBhvr>
                                        <p:cTn id="28" dur="1000"/>
                                        <p:tgtEl>
                                          <p:spTgt spid="2"/>
                                        </p:tgtEl>
                                      </p:cBhvr>
                                    </p:animEffect>
                                    <p:anim calcmode="lin" valueType="num">
                                      <p:cBhvr>
                                        <p:cTn id="29" dur="1000" fill="hold"/>
                                        <p:tgtEl>
                                          <p:spTgt spid="2"/>
                                        </p:tgtEl>
                                        <p:attrNameLst>
                                          <p:attrName>ppt_x</p:attrName>
                                        </p:attrNameLst>
                                      </p:cBhvr>
                                      <p:tavLst>
                                        <p:tav tm="0">
                                          <p:val>
                                            <p:strVal val="#ppt_x"/>
                                          </p:val>
                                        </p:tav>
                                        <p:tav tm="100000">
                                          <p:val>
                                            <p:strVal val="#ppt_x"/>
                                          </p:val>
                                        </p:tav>
                                      </p:tavLst>
                                    </p:anim>
                                    <p:anim calcmode="lin" valueType="num">
                                      <p:cBhvr>
                                        <p:cTn id="30" dur="1000" fill="hold"/>
                                        <p:tgtEl>
                                          <p:spTgt spid="2"/>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p:bldP spid="8" grpId="0"/>
      <p:bldP spid="2" grpId="0"/>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DA89228-8411-2EC3-7CE1-EB7252C94DE7}"/>
            </a:ext>
          </a:extLst>
        </p:cNvPr>
        <p:cNvGrpSpPr/>
        <p:nvPr/>
      </p:nvGrpSpPr>
      <p:grpSpPr>
        <a:xfrm>
          <a:off x="0" y="0"/>
          <a:ext cx="0" cy="0"/>
          <a:chOff x="0" y="0"/>
          <a:chExt cx="0" cy="0"/>
        </a:xfrm>
      </p:grpSpPr>
      <p:sp>
        <p:nvSpPr>
          <p:cNvPr id="5" name="Title 1">
            <a:extLst>
              <a:ext uri="{FF2B5EF4-FFF2-40B4-BE49-F238E27FC236}">
                <a16:creationId xmlns:a16="http://schemas.microsoft.com/office/drawing/2014/main" id="{97BEE45E-2145-82FA-434B-AB5E62EE4C8F}"/>
              </a:ext>
            </a:extLst>
          </p:cNvPr>
          <p:cNvSpPr txBox="1">
            <a:spLocks/>
          </p:cNvSpPr>
          <p:nvPr/>
        </p:nvSpPr>
        <p:spPr bwMode="auto">
          <a:xfrm>
            <a:off x="381000" y="0"/>
            <a:ext cx="8382000" cy="1143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normAutofit fontScale="85000" lnSpcReduction="10000"/>
          </a:bodyPr>
          <a:lstStyle>
            <a:lvl1pPr algn="l" rtl="0" eaLnBrk="1" fontAlgn="base" hangingPunct="1">
              <a:spcBef>
                <a:spcPct val="0"/>
              </a:spcBef>
              <a:spcAft>
                <a:spcPct val="0"/>
              </a:spcAft>
              <a:defRPr lang="en-US" sz="4000" b="1" kern="1200">
                <a:solidFill>
                  <a:schemeClr val="tx2"/>
                </a:solidFill>
                <a:latin typeface="+mj-lt"/>
                <a:ea typeface="ＭＳ Ｐゴシック" pitchFamily="34" charset="-128"/>
                <a:cs typeface="+mj-cs"/>
              </a:defRPr>
            </a:lvl1pPr>
            <a:lvl2pPr algn="ctr" rtl="0" eaLnBrk="1" fontAlgn="base" hangingPunct="1">
              <a:spcBef>
                <a:spcPct val="0"/>
              </a:spcBef>
              <a:spcAft>
                <a:spcPct val="0"/>
              </a:spcAft>
              <a:defRPr sz="4400" b="1">
                <a:solidFill>
                  <a:schemeClr val="tx2"/>
                </a:solidFill>
                <a:latin typeface="Arial" charset="0"/>
                <a:ea typeface="ＭＳ Ｐゴシック" pitchFamily="34" charset="-128"/>
              </a:defRPr>
            </a:lvl2pPr>
            <a:lvl3pPr algn="ctr" rtl="0" eaLnBrk="1" fontAlgn="base" hangingPunct="1">
              <a:spcBef>
                <a:spcPct val="0"/>
              </a:spcBef>
              <a:spcAft>
                <a:spcPct val="0"/>
              </a:spcAft>
              <a:defRPr sz="4400" b="1">
                <a:solidFill>
                  <a:schemeClr val="tx2"/>
                </a:solidFill>
                <a:latin typeface="Arial" charset="0"/>
                <a:ea typeface="ＭＳ Ｐゴシック" pitchFamily="34" charset="-128"/>
              </a:defRPr>
            </a:lvl3pPr>
            <a:lvl4pPr algn="ctr" rtl="0" eaLnBrk="1" fontAlgn="base" hangingPunct="1">
              <a:spcBef>
                <a:spcPct val="0"/>
              </a:spcBef>
              <a:spcAft>
                <a:spcPct val="0"/>
              </a:spcAft>
              <a:defRPr sz="4400" b="1">
                <a:solidFill>
                  <a:schemeClr val="tx2"/>
                </a:solidFill>
                <a:latin typeface="Arial" charset="0"/>
                <a:ea typeface="ＭＳ Ｐゴシック" pitchFamily="34" charset="-128"/>
              </a:defRPr>
            </a:lvl4pPr>
            <a:lvl5pPr algn="ctr" rtl="0" eaLnBrk="1" fontAlgn="base" hangingPunct="1">
              <a:spcBef>
                <a:spcPct val="0"/>
              </a:spcBef>
              <a:spcAft>
                <a:spcPct val="0"/>
              </a:spcAft>
              <a:defRPr sz="4400" b="1">
                <a:solidFill>
                  <a:schemeClr val="tx2"/>
                </a:solidFill>
                <a:latin typeface="Arial" charset="0"/>
                <a:ea typeface="ＭＳ Ｐゴシック" pitchFamily="34" charset="-128"/>
              </a:defRPr>
            </a:lvl5pPr>
            <a:lvl6pPr marL="457200" algn="ctr" rtl="0" eaLnBrk="1" fontAlgn="base" hangingPunct="1">
              <a:spcBef>
                <a:spcPct val="0"/>
              </a:spcBef>
              <a:spcAft>
                <a:spcPct val="0"/>
              </a:spcAft>
              <a:defRPr sz="4400" b="1">
                <a:solidFill>
                  <a:schemeClr val="tx1"/>
                </a:solidFill>
                <a:latin typeface="Arial" charset="0"/>
              </a:defRPr>
            </a:lvl6pPr>
            <a:lvl7pPr marL="914400" algn="ctr" rtl="0" eaLnBrk="1" fontAlgn="base" hangingPunct="1">
              <a:spcBef>
                <a:spcPct val="0"/>
              </a:spcBef>
              <a:spcAft>
                <a:spcPct val="0"/>
              </a:spcAft>
              <a:defRPr sz="4400" b="1">
                <a:solidFill>
                  <a:schemeClr val="tx1"/>
                </a:solidFill>
                <a:latin typeface="Arial" charset="0"/>
              </a:defRPr>
            </a:lvl7pPr>
            <a:lvl8pPr marL="1371600" algn="ctr" rtl="0" eaLnBrk="1" fontAlgn="base" hangingPunct="1">
              <a:spcBef>
                <a:spcPct val="0"/>
              </a:spcBef>
              <a:spcAft>
                <a:spcPct val="0"/>
              </a:spcAft>
              <a:defRPr sz="4400" b="1">
                <a:solidFill>
                  <a:schemeClr val="tx1"/>
                </a:solidFill>
                <a:latin typeface="Arial" charset="0"/>
              </a:defRPr>
            </a:lvl8pPr>
            <a:lvl9pPr marL="1828800" algn="ctr" rtl="0" eaLnBrk="1" fontAlgn="base" hangingPunct="1">
              <a:spcBef>
                <a:spcPct val="0"/>
              </a:spcBef>
              <a:spcAft>
                <a:spcPct val="0"/>
              </a:spcAft>
              <a:defRPr sz="4400" b="1">
                <a:solidFill>
                  <a:schemeClr val="tx1"/>
                </a:solidFill>
                <a:latin typeface="Arial" charset="0"/>
              </a:defRPr>
            </a:lvl9pPr>
          </a:lstStyle>
          <a:p>
            <a:r>
              <a:rPr lang="en-US" dirty="0"/>
              <a:t>References to the Promise of Abraham</a:t>
            </a:r>
            <a:br>
              <a:rPr lang="en-US" dirty="0"/>
            </a:br>
            <a:r>
              <a:rPr lang="en-US" sz="2400" dirty="0">
                <a:solidFill>
                  <a:schemeClr val="tx2">
                    <a:lumMod val="60000"/>
                    <a:lumOff val="40000"/>
                  </a:schemeClr>
                </a:solidFill>
              </a:rPr>
              <a:t>In the NT – Promise Quoted or Paraphrased</a:t>
            </a:r>
          </a:p>
        </p:txBody>
      </p:sp>
      <p:sp>
        <p:nvSpPr>
          <p:cNvPr id="3" name="TextBox 2">
            <a:extLst>
              <a:ext uri="{FF2B5EF4-FFF2-40B4-BE49-F238E27FC236}">
                <a16:creationId xmlns:a16="http://schemas.microsoft.com/office/drawing/2014/main" id="{8BF7D094-8EBD-8A98-A206-37280D070A83}"/>
              </a:ext>
            </a:extLst>
          </p:cNvPr>
          <p:cNvSpPr txBox="1"/>
          <p:nvPr/>
        </p:nvSpPr>
        <p:spPr>
          <a:xfrm>
            <a:off x="381000" y="1143000"/>
            <a:ext cx="8534400" cy="5262979"/>
          </a:xfrm>
          <a:prstGeom prst="rect">
            <a:avLst/>
          </a:prstGeom>
          <a:noFill/>
        </p:spPr>
        <p:txBody>
          <a:bodyPr wrap="square" rtlCol="0">
            <a:spAutoFit/>
          </a:bodyPr>
          <a:lstStyle/>
          <a:p>
            <a:pPr fontAlgn="ctr"/>
            <a:r>
              <a:rPr lang="en-US" sz="1600" b="1" dirty="0">
                <a:ea typeface="ＭＳ Ｐゴシック" pitchFamily="-106" charset="-128"/>
                <a:cs typeface="ＭＳ Ｐゴシック" pitchFamily="-106" charset="-128"/>
              </a:rPr>
              <a:t>Luke 1:54-55</a:t>
            </a:r>
            <a:r>
              <a:rPr lang="en-US" sz="1600" dirty="0">
                <a:ea typeface="ＭＳ Ｐゴシック" pitchFamily="-106" charset="-128"/>
                <a:cs typeface="ＭＳ Ｐゴシック" pitchFamily="-106" charset="-128"/>
              </a:rPr>
              <a:t>  Mary’s </a:t>
            </a:r>
            <a:r>
              <a:rPr lang="en-US" sz="1600" i="1" dirty="0">
                <a:ea typeface="ＭＳ Ｐゴシック" pitchFamily="-106" charset="-128"/>
                <a:cs typeface="ＭＳ Ｐゴシック" pitchFamily="-106" charset="-128"/>
              </a:rPr>
              <a:t>Magnificat</a:t>
            </a:r>
            <a:r>
              <a:rPr lang="en-US" sz="1600" dirty="0">
                <a:ea typeface="ＭＳ Ｐゴシック" pitchFamily="-106" charset="-128"/>
                <a:cs typeface="ＭＳ Ｐゴシック" pitchFamily="-106" charset="-128"/>
              </a:rPr>
              <a:t> praises God for remembering His promise to Abraham and his offspring.</a:t>
            </a:r>
          </a:p>
          <a:p>
            <a:pPr fontAlgn="ctr"/>
            <a:r>
              <a:rPr lang="en-US" sz="1600" b="1" dirty="0">
                <a:ea typeface="ＭＳ Ｐゴシック" pitchFamily="-106" charset="-128"/>
                <a:cs typeface="ＭＳ Ｐゴシック" pitchFamily="-106" charset="-128"/>
              </a:rPr>
              <a:t>Luke 1:68-73</a:t>
            </a:r>
            <a:r>
              <a:rPr lang="en-US" sz="1600" dirty="0">
                <a:ea typeface="ＭＳ Ｐゴシック" pitchFamily="-106" charset="-128"/>
                <a:cs typeface="ＭＳ Ｐゴシック" pitchFamily="-106" charset="-128"/>
              </a:rPr>
              <a:t>  Zechariah rejoices that God has “remembered His holy covenant, the oath that He swore to Abraham.”</a:t>
            </a:r>
          </a:p>
          <a:p>
            <a:pPr fontAlgn="ctr"/>
            <a:r>
              <a:rPr lang="en-US" sz="1600" b="1" dirty="0">
                <a:ea typeface="ＭＳ Ｐゴシック" pitchFamily="-106" charset="-128"/>
                <a:cs typeface="ＭＳ Ｐゴシック" pitchFamily="-106" charset="-128"/>
              </a:rPr>
              <a:t>Acts 3:25</a:t>
            </a:r>
            <a:r>
              <a:rPr lang="en-US" sz="1600" dirty="0">
                <a:ea typeface="ＭＳ Ｐゴシック" pitchFamily="-106" charset="-128"/>
                <a:cs typeface="ＭＳ Ｐゴシック" pitchFamily="-106" charset="-128"/>
              </a:rPr>
              <a:t>  Peter cites Genesis 12:3: </a:t>
            </a:r>
            <a:r>
              <a:rPr lang="en-US" sz="1600" i="1" dirty="0">
                <a:ea typeface="ＭＳ Ｐゴシック" pitchFamily="-106" charset="-128"/>
                <a:cs typeface="ＭＳ Ｐゴシック" pitchFamily="-106" charset="-128"/>
              </a:rPr>
              <a:t>“In your offspring shall all the families of the earth be blessed.”</a:t>
            </a:r>
            <a:endParaRPr lang="en-US" sz="1600" dirty="0">
              <a:ea typeface="ＭＳ Ｐゴシック" pitchFamily="-106" charset="-128"/>
              <a:cs typeface="ＭＳ Ｐゴシック" pitchFamily="-106" charset="-128"/>
            </a:endParaRPr>
          </a:p>
          <a:p>
            <a:pPr fontAlgn="ctr"/>
            <a:r>
              <a:rPr lang="en-US" sz="1600" b="1" dirty="0">
                <a:ea typeface="ＭＳ Ｐゴシック" pitchFamily="-106" charset="-128"/>
                <a:cs typeface="ＭＳ Ｐゴシック" pitchFamily="-106" charset="-128"/>
              </a:rPr>
              <a:t>Acts 7:2-8</a:t>
            </a:r>
            <a:r>
              <a:rPr lang="en-US" sz="1600" dirty="0">
                <a:ea typeface="ＭＳ Ｐゴシック" pitchFamily="-106" charset="-128"/>
                <a:cs typeface="ＭＳ Ｐゴシック" pitchFamily="-106" charset="-128"/>
              </a:rPr>
              <a:t>  Stephen recounts the covenant with Abraham, including the promise of land and descendants.</a:t>
            </a:r>
          </a:p>
          <a:p>
            <a:pPr fontAlgn="ctr"/>
            <a:r>
              <a:rPr lang="en-US" sz="1600" b="1" dirty="0">
                <a:ea typeface="ＭＳ Ｐゴシック" pitchFamily="-106" charset="-128"/>
                <a:cs typeface="ＭＳ Ｐゴシック" pitchFamily="-106" charset="-128"/>
              </a:rPr>
              <a:t>Romans 4:3</a:t>
            </a:r>
            <a:r>
              <a:rPr lang="en-US" sz="1600" dirty="0">
                <a:ea typeface="ＭＳ Ｐゴシック" pitchFamily="-106" charset="-128"/>
                <a:cs typeface="ＭＳ Ｐゴシック" pitchFamily="-106" charset="-128"/>
              </a:rPr>
              <a:t>  Paul quotes Genesis 15:6: </a:t>
            </a:r>
            <a:r>
              <a:rPr lang="en-US" sz="1600" i="1" dirty="0">
                <a:ea typeface="ＭＳ Ｐゴシック" pitchFamily="-106" charset="-128"/>
                <a:cs typeface="ＭＳ Ｐゴシック" pitchFamily="-106" charset="-128"/>
              </a:rPr>
              <a:t>“Abraham believed God, and it was counted to him as righteousness.”</a:t>
            </a:r>
            <a:endParaRPr lang="en-US" sz="1600" dirty="0">
              <a:ea typeface="ＭＳ Ｐゴシック" pitchFamily="-106" charset="-128"/>
              <a:cs typeface="ＭＳ Ｐゴシック" pitchFamily="-106" charset="-128"/>
            </a:endParaRPr>
          </a:p>
          <a:p>
            <a:pPr fontAlgn="ctr"/>
            <a:r>
              <a:rPr lang="en-US" sz="1600" b="1" dirty="0">
                <a:ea typeface="ＭＳ Ｐゴシック" pitchFamily="-106" charset="-128"/>
                <a:cs typeface="ＭＳ Ｐゴシック" pitchFamily="-106" charset="-128"/>
              </a:rPr>
              <a:t>Romans 4:17-18</a:t>
            </a:r>
            <a:r>
              <a:rPr lang="en-US" sz="1600" dirty="0">
                <a:ea typeface="ＭＳ Ｐゴシック" pitchFamily="-106" charset="-128"/>
                <a:cs typeface="ＭＳ Ｐゴシック" pitchFamily="-106" charset="-128"/>
              </a:rPr>
              <a:t>  References God’s word in Genesis 17:5, </a:t>
            </a:r>
            <a:r>
              <a:rPr lang="en-US" sz="1600" i="1" dirty="0">
                <a:ea typeface="ＭＳ Ｐゴシック" pitchFamily="-106" charset="-128"/>
                <a:cs typeface="ＭＳ Ｐゴシック" pitchFamily="-106" charset="-128"/>
              </a:rPr>
              <a:t>“I have made you the father of many nations.”</a:t>
            </a:r>
            <a:endParaRPr lang="en-US" sz="1600" dirty="0">
              <a:ea typeface="ＭＳ Ｐゴシック" pitchFamily="-106" charset="-128"/>
              <a:cs typeface="ＭＳ Ｐゴシック" pitchFamily="-106" charset="-128"/>
            </a:endParaRPr>
          </a:p>
          <a:p>
            <a:pPr fontAlgn="ctr"/>
            <a:r>
              <a:rPr lang="en-US" sz="1600" b="1" dirty="0">
                <a:ea typeface="ＭＳ Ｐゴシック" pitchFamily="-106" charset="-128"/>
                <a:cs typeface="ＭＳ Ｐゴシック" pitchFamily="-106" charset="-128"/>
              </a:rPr>
              <a:t>Galatians 3:6-9</a:t>
            </a:r>
            <a:r>
              <a:rPr lang="en-US" sz="1600" dirty="0">
                <a:ea typeface="ＭＳ Ｐゴシック" pitchFamily="-106" charset="-128"/>
                <a:cs typeface="ＭＳ Ｐゴシック" pitchFamily="-106" charset="-128"/>
              </a:rPr>
              <a:t>  Cites Genesis 15:6 and 12:3 to show that the gospel was proclaimed beforehand to Abraham.</a:t>
            </a:r>
          </a:p>
          <a:p>
            <a:pPr fontAlgn="ctr"/>
            <a:r>
              <a:rPr lang="en-US" sz="1600" b="1" dirty="0">
                <a:ea typeface="ＭＳ Ｐゴシック" pitchFamily="-106" charset="-128"/>
                <a:cs typeface="ＭＳ Ｐゴシック" pitchFamily="-106" charset="-128"/>
              </a:rPr>
              <a:t>Galatians 3:16</a:t>
            </a:r>
            <a:r>
              <a:rPr lang="en-US" sz="1600" dirty="0">
                <a:ea typeface="ＭＳ Ｐゴシック" pitchFamily="-106" charset="-128"/>
                <a:cs typeface="ＭＳ Ｐゴシック" pitchFamily="-106" charset="-128"/>
              </a:rPr>
              <a:t>  Interprets “seed/offspring” in Genesis 12:7 as singular—fulfilled in Christ.</a:t>
            </a:r>
          </a:p>
          <a:p>
            <a:pPr fontAlgn="ctr"/>
            <a:r>
              <a:rPr lang="en-US" sz="1600" b="1" dirty="0">
                <a:ea typeface="ＭＳ Ｐゴシック" pitchFamily="-106" charset="-128"/>
                <a:cs typeface="ＭＳ Ｐゴシック" pitchFamily="-106" charset="-128"/>
              </a:rPr>
              <a:t>Hebrews 6:13-15</a:t>
            </a:r>
            <a:r>
              <a:rPr lang="en-US" sz="1600" dirty="0">
                <a:ea typeface="ＭＳ Ｐゴシック" pitchFamily="-106" charset="-128"/>
                <a:cs typeface="ＭＳ Ｐゴシック" pitchFamily="-106" charset="-128"/>
              </a:rPr>
              <a:t>  Mentions God swearing by Himself when He promised to bless and multiply Abraham (Genesis 22:16-17).</a:t>
            </a:r>
          </a:p>
          <a:p>
            <a:pPr fontAlgn="ctr"/>
            <a:r>
              <a:rPr lang="en-US" sz="1600" b="1" dirty="0">
                <a:ea typeface="ＭＳ Ｐゴシック" pitchFamily="-106" charset="-128"/>
                <a:cs typeface="ＭＳ Ｐゴシック" pitchFamily="-106" charset="-128"/>
              </a:rPr>
              <a:t>Hebrews 11:8-12, 17-19</a:t>
            </a:r>
            <a:r>
              <a:rPr lang="en-US" sz="1600" dirty="0">
                <a:ea typeface="ＭＳ Ｐゴシック" pitchFamily="-106" charset="-128"/>
                <a:cs typeface="ＭＳ Ｐゴシック" pitchFamily="-106" charset="-128"/>
              </a:rPr>
              <a:t>  Recounts Abraham’s faith in God’s promise of land, descendants, and resurrection hope.</a:t>
            </a:r>
          </a:p>
          <a:p>
            <a:pPr fontAlgn="ctr"/>
            <a:r>
              <a:rPr lang="en-US" sz="1600" b="1" dirty="0">
                <a:ea typeface="ＭＳ Ｐゴシック" pitchFamily="-106" charset="-128"/>
                <a:cs typeface="ＭＳ Ｐゴシック" pitchFamily="-106" charset="-128"/>
              </a:rPr>
              <a:t>James 2:21-23</a:t>
            </a:r>
            <a:r>
              <a:rPr lang="en-US" sz="1600" dirty="0">
                <a:ea typeface="ＭＳ Ｐゴシック" pitchFamily="-106" charset="-128"/>
                <a:cs typeface="ＭＳ Ｐゴシック" pitchFamily="-106" charset="-128"/>
              </a:rPr>
              <a:t>  Quotes Genesis 15:6, showing faith and works united in Abraham’s obedience.</a:t>
            </a:r>
            <a:endParaRPr lang="en-US" sz="2000" dirty="0">
              <a:ea typeface="ＭＳ Ｐゴシック" pitchFamily="-106" charset="-128"/>
              <a:cs typeface="ＭＳ Ｐゴシック" pitchFamily="-106" charset="-128"/>
            </a:endParaRPr>
          </a:p>
        </p:txBody>
      </p:sp>
    </p:spTree>
    <p:extLst>
      <p:ext uri="{BB962C8B-B14F-4D97-AF65-F5344CB8AC3E}">
        <p14:creationId xmlns:p14="http://schemas.microsoft.com/office/powerpoint/2010/main" val="290825726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1000"/>
                                        <p:tgtEl>
                                          <p:spTgt spid="3"/>
                                        </p:tgtEl>
                                      </p:cBhvr>
                                    </p:animEffect>
                                    <p:anim calcmode="lin" valueType="num">
                                      <p:cBhvr>
                                        <p:cTn id="8" dur="1000" fill="hold"/>
                                        <p:tgtEl>
                                          <p:spTgt spid="3"/>
                                        </p:tgtEl>
                                        <p:attrNameLst>
                                          <p:attrName>ppt_x</p:attrName>
                                        </p:attrNameLst>
                                      </p:cBhvr>
                                      <p:tavLst>
                                        <p:tav tm="0">
                                          <p:val>
                                            <p:strVal val="#ppt_x"/>
                                          </p:val>
                                        </p:tav>
                                        <p:tav tm="100000">
                                          <p:val>
                                            <p:strVal val="#ppt_x"/>
                                          </p:val>
                                        </p:tav>
                                      </p:tavLst>
                                    </p:anim>
                                    <p:anim calcmode="lin" valueType="num">
                                      <p:cBhvr>
                                        <p:cTn id="9" dur="1000" fill="hold"/>
                                        <p:tgtEl>
                                          <p:spTgt spid="3"/>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F9CF0DB-75BE-F127-324F-84032AA107F3}"/>
            </a:ext>
          </a:extLst>
        </p:cNvPr>
        <p:cNvGrpSpPr/>
        <p:nvPr/>
      </p:nvGrpSpPr>
      <p:grpSpPr>
        <a:xfrm>
          <a:off x="0" y="0"/>
          <a:ext cx="0" cy="0"/>
          <a:chOff x="0" y="0"/>
          <a:chExt cx="0" cy="0"/>
        </a:xfrm>
      </p:grpSpPr>
      <p:sp>
        <p:nvSpPr>
          <p:cNvPr id="5" name="Title 1">
            <a:extLst>
              <a:ext uri="{FF2B5EF4-FFF2-40B4-BE49-F238E27FC236}">
                <a16:creationId xmlns:a16="http://schemas.microsoft.com/office/drawing/2014/main" id="{DF027ACF-AB54-DBB0-A9DE-034F9C64AE7D}"/>
              </a:ext>
            </a:extLst>
          </p:cNvPr>
          <p:cNvSpPr txBox="1">
            <a:spLocks/>
          </p:cNvSpPr>
          <p:nvPr/>
        </p:nvSpPr>
        <p:spPr bwMode="auto">
          <a:xfrm>
            <a:off x="350982" y="0"/>
            <a:ext cx="8382000" cy="5334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normAutofit fontScale="85000" lnSpcReduction="20000"/>
          </a:bodyPr>
          <a:lstStyle>
            <a:lvl1pPr algn="l" rtl="0" eaLnBrk="1" fontAlgn="base" hangingPunct="1">
              <a:spcBef>
                <a:spcPct val="0"/>
              </a:spcBef>
              <a:spcAft>
                <a:spcPct val="0"/>
              </a:spcAft>
              <a:defRPr lang="en-US" sz="4000" b="1" kern="1200">
                <a:solidFill>
                  <a:schemeClr val="tx2"/>
                </a:solidFill>
                <a:latin typeface="+mj-lt"/>
                <a:ea typeface="ＭＳ Ｐゴシック" pitchFamily="34" charset="-128"/>
                <a:cs typeface="+mj-cs"/>
              </a:defRPr>
            </a:lvl1pPr>
            <a:lvl2pPr algn="ctr" rtl="0" eaLnBrk="1" fontAlgn="base" hangingPunct="1">
              <a:spcBef>
                <a:spcPct val="0"/>
              </a:spcBef>
              <a:spcAft>
                <a:spcPct val="0"/>
              </a:spcAft>
              <a:defRPr sz="4400" b="1">
                <a:solidFill>
                  <a:schemeClr val="tx2"/>
                </a:solidFill>
                <a:latin typeface="Arial" charset="0"/>
                <a:ea typeface="ＭＳ Ｐゴシック" pitchFamily="34" charset="-128"/>
              </a:defRPr>
            </a:lvl2pPr>
            <a:lvl3pPr algn="ctr" rtl="0" eaLnBrk="1" fontAlgn="base" hangingPunct="1">
              <a:spcBef>
                <a:spcPct val="0"/>
              </a:spcBef>
              <a:spcAft>
                <a:spcPct val="0"/>
              </a:spcAft>
              <a:defRPr sz="4400" b="1">
                <a:solidFill>
                  <a:schemeClr val="tx2"/>
                </a:solidFill>
                <a:latin typeface="Arial" charset="0"/>
                <a:ea typeface="ＭＳ Ｐゴシック" pitchFamily="34" charset="-128"/>
              </a:defRPr>
            </a:lvl3pPr>
            <a:lvl4pPr algn="ctr" rtl="0" eaLnBrk="1" fontAlgn="base" hangingPunct="1">
              <a:spcBef>
                <a:spcPct val="0"/>
              </a:spcBef>
              <a:spcAft>
                <a:spcPct val="0"/>
              </a:spcAft>
              <a:defRPr sz="4400" b="1">
                <a:solidFill>
                  <a:schemeClr val="tx2"/>
                </a:solidFill>
                <a:latin typeface="Arial" charset="0"/>
                <a:ea typeface="ＭＳ Ｐゴシック" pitchFamily="34" charset="-128"/>
              </a:defRPr>
            </a:lvl4pPr>
            <a:lvl5pPr algn="ctr" rtl="0" eaLnBrk="1" fontAlgn="base" hangingPunct="1">
              <a:spcBef>
                <a:spcPct val="0"/>
              </a:spcBef>
              <a:spcAft>
                <a:spcPct val="0"/>
              </a:spcAft>
              <a:defRPr sz="4400" b="1">
                <a:solidFill>
                  <a:schemeClr val="tx2"/>
                </a:solidFill>
                <a:latin typeface="Arial" charset="0"/>
                <a:ea typeface="ＭＳ Ｐゴシック" pitchFamily="34" charset="-128"/>
              </a:defRPr>
            </a:lvl5pPr>
            <a:lvl6pPr marL="457200" algn="ctr" rtl="0" eaLnBrk="1" fontAlgn="base" hangingPunct="1">
              <a:spcBef>
                <a:spcPct val="0"/>
              </a:spcBef>
              <a:spcAft>
                <a:spcPct val="0"/>
              </a:spcAft>
              <a:defRPr sz="4400" b="1">
                <a:solidFill>
                  <a:schemeClr val="tx1"/>
                </a:solidFill>
                <a:latin typeface="Arial" charset="0"/>
              </a:defRPr>
            </a:lvl6pPr>
            <a:lvl7pPr marL="914400" algn="ctr" rtl="0" eaLnBrk="1" fontAlgn="base" hangingPunct="1">
              <a:spcBef>
                <a:spcPct val="0"/>
              </a:spcBef>
              <a:spcAft>
                <a:spcPct val="0"/>
              </a:spcAft>
              <a:defRPr sz="4400" b="1">
                <a:solidFill>
                  <a:schemeClr val="tx1"/>
                </a:solidFill>
                <a:latin typeface="Arial" charset="0"/>
              </a:defRPr>
            </a:lvl7pPr>
            <a:lvl8pPr marL="1371600" algn="ctr" rtl="0" eaLnBrk="1" fontAlgn="base" hangingPunct="1">
              <a:spcBef>
                <a:spcPct val="0"/>
              </a:spcBef>
              <a:spcAft>
                <a:spcPct val="0"/>
              </a:spcAft>
              <a:defRPr sz="4400" b="1">
                <a:solidFill>
                  <a:schemeClr val="tx1"/>
                </a:solidFill>
                <a:latin typeface="Arial" charset="0"/>
              </a:defRPr>
            </a:lvl8pPr>
            <a:lvl9pPr marL="1828800" algn="ctr" rtl="0" eaLnBrk="1" fontAlgn="base" hangingPunct="1">
              <a:spcBef>
                <a:spcPct val="0"/>
              </a:spcBef>
              <a:spcAft>
                <a:spcPct val="0"/>
              </a:spcAft>
              <a:defRPr sz="4400" b="1">
                <a:solidFill>
                  <a:schemeClr val="tx1"/>
                </a:solidFill>
                <a:latin typeface="Arial" charset="0"/>
              </a:defRPr>
            </a:lvl9pPr>
          </a:lstStyle>
          <a:p>
            <a:r>
              <a:rPr lang="en-US" dirty="0"/>
              <a:t>Theology of the Promise</a:t>
            </a:r>
            <a:endParaRPr lang="en-US" sz="2400" dirty="0">
              <a:solidFill>
                <a:schemeClr val="tx2">
                  <a:lumMod val="60000"/>
                  <a:lumOff val="40000"/>
                </a:schemeClr>
              </a:solidFill>
            </a:endParaRPr>
          </a:p>
        </p:txBody>
      </p:sp>
      <p:sp>
        <p:nvSpPr>
          <p:cNvPr id="3" name="TextBox 2">
            <a:extLst>
              <a:ext uri="{FF2B5EF4-FFF2-40B4-BE49-F238E27FC236}">
                <a16:creationId xmlns:a16="http://schemas.microsoft.com/office/drawing/2014/main" id="{C7689755-0C3E-7EDC-C1E8-ADB8F1195547}"/>
              </a:ext>
            </a:extLst>
          </p:cNvPr>
          <p:cNvSpPr txBox="1"/>
          <p:nvPr/>
        </p:nvSpPr>
        <p:spPr>
          <a:xfrm>
            <a:off x="381000" y="533400"/>
            <a:ext cx="8534400" cy="6186309"/>
          </a:xfrm>
          <a:prstGeom prst="rect">
            <a:avLst/>
          </a:prstGeom>
          <a:noFill/>
        </p:spPr>
        <p:txBody>
          <a:bodyPr wrap="square" rtlCol="0">
            <a:spAutoFit/>
          </a:bodyPr>
          <a:lstStyle/>
          <a:p>
            <a:pPr fontAlgn="ctr"/>
            <a:r>
              <a:rPr lang="en-US" b="1" dirty="0">
                <a:ea typeface="ＭＳ Ｐゴシック" pitchFamily="-106" charset="-128"/>
                <a:cs typeface="ＭＳ Ｐゴシック" pitchFamily="-106" charset="-128"/>
              </a:rPr>
              <a:t>John 8:39-40, 56</a:t>
            </a:r>
            <a:r>
              <a:rPr lang="en-US" dirty="0">
                <a:ea typeface="ＭＳ Ｐゴシック" pitchFamily="-106" charset="-128"/>
                <a:cs typeface="ＭＳ Ｐゴシック" pitchFamily="-106" charset="-128"/>
              </a:rPr>
              <a:t>  </a:t>
            </a:r>
            <a:r>
              <a:rPr lang="en-US" i="1" dirty="0">
                <a:ea typeface="ＭＳ Ｐゴシック" pitchFamily="-106" charset="-128"/>
                <a:cs typeface="ＭＳ Ｐゴシック" pitchFamily="-106" charset="-128"/>
              </a:rPr>
              <a:t>Jesus claims Abraham rejoiced to see His day</a:t>
            </a:r>
            <a:r>
              <a:rPr lang="en-US" dirty="0">
                <a:ea typeface="ＭＳ Ｐゴシック" pitchFamily="-106" charset="-128"/>
                <a:cs typeface="ＭＳ Ｐゴシック" pitchFamily="-106" charset="-128"/>
              </a:rPr>
              <a:t>, revealing Abraham’s faith in the coming Messiah.</a:t>
            </a:r>
          </a:p>
          <a:p>
            <a:pPr fontAlgn="ctr"/>
            <a:endParaRPr lang="en-US" b="1" dirty="0">
              <a:ea typeface="ＭＳ Ｐゴシック" pitchFamily="-106" charset="-128"/>
              <a:cs typeface="ＭＳ Ｐゴシック" pitchFamily="-106" charset="-128"/>
            </a:endParaRPr>
          </a:p>
          <a:p>
            <a:pPr fontAlgn="ctr"/>
            <a:r>
              <a:rPr lang="en-US" b="1" dirty="0">
                <a:ea typeface="ＭＳ Ｐゴシック" pitchFamily="-106" charset="-128"/>
                <a:cs typeface="ＭＳ Ｐゴシック" pitchFamily="-106" charset="-128"/>
              </a:rPr>
              <a:t>Romans 4:9-25</a:t>
            </a:r>
            <a:r>
              <a:rPr lang="en-US" dirty="0">
                <a:ea typeface="ＭＳ Ｐゴシック" pitchFamily="-106" charset="-128"/>
                <a:cs typeface="ＭＳ Ｐゴシック" pitchFamily="-106" charset="-128"/>
              </a:rPr>
              <a:t>  Paul argues that </a:t>
            </a:r>
            <a:r>
              <a:rPr lang="en-US" i="1" dirty="0">
                <a:ea typeface="ＭＳ Ｐゴシック" pitchFamily="-106" charset="-128"/>
                <a:cs typeface="ＭＳ Ｐゴシック" pitchFamily="-106" charset="-128"/>
              </a:rPr>
              <a:t>Abraham was justified by faith before circumcision, making him the father of all who believe</a:t>
            </a:r>
            <a:r>
              <a:rPr lang="en-US" dirty="0">
                <a:ea typeface="ＭＳ Ｐゴシック" pitchFamily="-106" charset="-128"/>
                <a:cs typeface="ＭＳ Ｐゴシック" pitchFamily="-106" charset="-128"/>
              </a:rPr>
              <a:t>.</a:t>
            </a:r>
          </a:p>
          <a:p>
            <a:pPr fontAlgn="ctr"/>
            <a:endParaRPr lang="en-US" b="1" dirty="0">
              <a:ea typeface="ＭＳ Ｐゴシック" pitchFamily="-106" charset="-128"/>
              <a:cs typeface="ＭＳ Ｐゴシック" pitchFamily="-106" charset="-128"/>
            </a:endParaRPr>
          </a:p>
          <a:p>
            <a:pPr fontAlgn="ctr"/>
            <a:r>
              <a:rPr lang="en-US" b="1" dirty="0">
                <a:ea typeface="ＭＳ Ｐゴシック" pitchFamily="-106" charset="-128"/>
                <a:cs typeface="ＭＳ Ｐゴシック" pitchFamily="-106" charset="-128"/>
              </a:rPr>
              <a:t>Romans 9:6-8</a:t>
            </a:r>
            <a:r>
              <a:rPr lang="en-US" dirty="0">
                <a:ea typeface="ＭＳ Ｐゴシック" pitchFamily="-106" charset="-128"/>
                <a:cs typeface="ＭＳ Ｐゴシック" pitchFamily="-106" charset="-128"/>
              </a:rPr>
              <a:t>  “Not all who are descended from Israel belong to Israel”; </a:t>
            </a:r>
            <a:r>
              <a:rPr lang="en-US" i="1" dirty="0">
                <a:ea typeface="ＭＳ Ｐゴシック" pitchFamily="-106" charset="-128"/>
                <a:cs typeface="ＭＳ Ｐゴシック" pitchFamily="-106" charset="-128"/>
              </a:rPr>
              <a:t>true children of Abraham are those of the promise</a:t>
            </a:r>
            <a:r>
              <a:rPr lang="en-US" dirty="0">
                <a:ea typeface="ＭＳ Ｐゴシック" pitchFamily="-106" charset="-128"/>
                <a:cs typeface="ＭＳ Ｐゴシック" pitchFamily="-106" charset="-128"/>
              </a:rPr>
              <a:t>.</a:t>
            </a:r>
          </a:p>
          <a:p>
            <a:pPr fontAlgn="ctr"/>
            <a:endParaRPr lang="en-US" b="1" dirty="0">
              <a:ea typeface="ＭＳ Ｐゴシック" pitchFamily="-106" charset="-128"/>
              <a:cs typeface="ＭＳ Ｐゴシック" pitchFamily="-106" charset="-128"/>
            </a:endParaRPr>
          </a:p>
          <a:p>
            <a:pPr fontAlgn="ctr"/>
            <a:r>
              <a:rPr lang="en-US" b="1" dirty="0">
                <a:ea typeface="ＭＳ Ｐゴシック" pitchFamily="-106" charset="-128"/>
                <a:cs typeface="ＭＳ Ｐゴシック" pitchFamily="-106" charset="-128"/>
              </a:rPr>
              <a:t>Galatians 3:14, 29</a:t>
            </a:r>
            <a:r>
              <a:rPr lang="en-US" dirty="0">
                <a:ea typeface="ＭＳ Ｐゴシック" pitchFamily="-106" charset="-128"/>
                <a:cs typeface="ＭＳ Ｐゴシック" pitchFamily="-106" charset="-128"/>
              </a:rPr>
              <a:t>  Believers in Christ receive </a:t>
            </a:r>
            <a:r>
              <a:rPr lang="en-US" i="1" dirty="0">
                <a:ea typeface="ＭＳ Ｐゴシック" pitchFamily="-106" charset="-128"/>
                <a:cs typeface="ＭＳ Ｐゴシック" pitchFamily="-106" charset="-128"/>
              </a:rPr>
              <a:t>the blessing of Abraham</a:t>
            </a:r>
            <a:r>
              <a:rPr lang="en-US" dirty="0">
                <a:ea typeface="ＭＳ Ｐゴシック" pitchFamily="-106" charset="-128"/>
                <a:cs typeface="ＭＳ Ｐゴシック" pitchFamily="-106" charset="-128"/>
              </a:rPr>
              <a:t>; </a:t>
            </a:r>
            <a:r>
              <a:rPr lang="en-US" i="1" dirty="0">
                <a:ea typeface="ＭＳ Ｐゴシック" pitchFamily="-106" charset="-128"/>
                <a:cs typeface="ＭＳ Ｐゴシック" pitchFamily="-106" charset="-128"/>
              </a:rPr>
              <a:t>the Spirit and inclusion as heirs</a:t>
            </a:r>
            <a:r>
              <a:rPr lang="en-US" dirty="0">
                <a:ea typeface="ＭＳ Ｐゴシック" pitchFamily="-106" charset="-128"/>
                <a:cs typeface="ＭＳ Ｐゴシック" pitchFamily="-106" charset="-128"/>
              </a:rPr>
              <a:t>.</a:t>
            </a:r>
          </a:p>
          <a:p>
            <a:pPr fontAlgn="ctr"/>
            <a:endParaRPr lang="en-US" b="1" dirty="0">
              <a:ea typeface="ＭＳ Ｐゴシック" pitchFamily="-106" charset="-128"/>
              <a:cs typeface="ＭＳ Ｐゴシック" pitchFamily="-106" charset="-128"/>
            </a:endParaRPr>
          </a:p>
          <a:p>
            <a:pPr fontAlgn="ctr"/>
            <a:r>
              <a:rPr lang="en-US" b="1" dirty="0">
                <a:ea typeface="ＭＳ Ｐゴシック" pitchFamily="-106" charset="-128"/>
                <a:cs typeface="ＭＳ Ｐゴシック" pitchFamily="-106" charset="-128"/>
              </a:rPr>
              <a:t>Galatians 4:21-31</a:t>
            </a:r>
            <a:r>
              <a:rPr lang="en-US" dirty="0">
                <a:ea typeface="ＭＳ Ｐゴシック" pitchFamily="-106" charset="-128"/>
                <a:cs typeface="ＭＳ Ｐゴシック" pitchFamily="-106" charset="-128"/>
              </a:rPr>
              <a:t>  The allegory of Sarah and Hagar </a:t>
            </a:r>
            <a:r>
              <a:rPr lang="en-US" i="1" dirty="0">
                <a:ea typeface="ＭＳ Ｐゴシック" pitchFamily="-106" charset="-128"/>
                <a:cs typeface="ＭＳ Ｐゴシック" pitchFamily="-106" charset="-128"/>
              </a:rPr>
              <a:t>contrasts promise vs. law</a:t>
            </a:r>
            <a:r>
              <a:rPr lang="en-US" dirty="0">
                <a:ea typeface="ＭＳ Ｐゴシック" pitchFamily="-106" charset="-128"/>
                <a:cs typeface="ＭＳ Ｐゴシック" pitchFamily="-106" charset="-128"/>
              </a:rPr>
              <a:t>.</a:t>
            </a:r>
          </a:p>
          <a:p>
            <a:pPr fontAlgn="ctr"/>
            <a:endParaRPr lang="en-US" b="1" dirty="0">
              <a:ea typeface="ＭＳ Ｐゴシック" pitchFamily="-106" charset="-128"/>
              <a:cs typeface="ＭＳ Ｐゴシック" pitchFamily="-106" charset="-128"/>
            </a:endParaRPr>
          </a:p>
          <a:p>
            <a:pPr fontAlgn="ctr"/>
            <a:r>
              <a:rPr lang="en-US" b="1" dirty="0">
                <a:ea typeface="ＭＳ Ｐゴシック" pitchFamily="-106" charset="-128"/>
                <a:cs typeface="ＭＳ Ｐゴシック" pitchFamily="-106" charset="-128"/>
              </a:rPr>
              <a:t>Ephesians 2:11-19</a:t>
            </a:r>
            <a:r>
              <a:rPr lang="en-US" dirty="0">
                <a:ea typeface="ＭＳ Ｐゴシック" pitchFamily="-106" charset="-128"/>
                <a:cs typeface="ＭＳ Ｐゴシック" pitchFamily="-106" charset="-128"/>
              </a:rPr>
              <a:t>  </a:t>
            </a:r>
            <a:r>
              <a:rPr lang="en-US" i="1" dirty="0">
                <a:ea typeface="ＭＳ Ｐゴシック" pitchFamily="-106" charset="-128"/>
                <a:cs typeface="ＭＳ Ｐゴシック" pitchFamily="-106" charset="-128"/>
              </a:rPr>
              <a:t>Gentiles are brought near and made fellow citizens</a:t>
            </a:r>
            <a:r>
              <a:rPr lang="en-US" dirty="0">
                <a:ea typeface="ＭＳ Ｐゴシック" pitchFamily="-106" charset="-128"/>
                <a:cs typeface="ＭＳ Ｐゴシック" pitchFamily="-106" charset="-128"/>
              </a:rPr>
              <a:t>, heirs of the promises once given to Israel.</a:t>
            </a:r>
          </a:p>
          <a:p>
            <a:pPr fontAlgn="ctr"/>
            <a:endParaRPr lang="en-US" b="1" dirty="0">
              <a:ea typeface="ＭＳ Ｐゴシック" pitchFamily="-106" charset="-128"/>
              <a:cs typeface="ＭＳ Ｐゴシック" pitchFamily="-106" charset="-128"/>
            </a:endParaRPr>
          </a:p>
          <a:p>
            <a:pPr fontAlgn="ctr"/>
            <a:r>
              <a:rPr lang="en-US" b="1" dirty="0">
                <a:ea typeface="ＭＳ Ｐゴシック" pitchFamily="-106" charset="-128"/>
                <a:cs typeface="ＭＳ Ｐゴシック" pitchFamily="-106" charset="-128"/>
              </a:rPr>
              <a:t>Hebrews 11:13-16</a:t>
            </a:r>
            <a:r>
              <a:rPr lang="en-US" dirty="0">
                <a:ea typeface="ＭＳ Ｐゴシック" pitchFamily="-106" charset="-128"/>
                <a:cs typeface="ＭＳ Ｐゴシック" pitchFamily="-106" charset="-128"/>
              </a:rPr>
              <a:t>  Abraham looked for a heavenly city, </a:t>
            </a:r>
            <a:r>
              <a:rPr lang="en-US" i="1" dirty="0">
                <a:ea typeface="ＭＳ Ｐゴシック" pitchFamily="-106" charset="-128"/>
                <a:cs typeface="ＭＳ Ｐゴシック" pitchFamily="-106" charset="-128"/>
              </a:rPr>
              <a:t>showing the spiritual dimension of the promise</a:t>
            </a:r>
            <a:r>
              <a:rPr lang="en-US" dirty="0">
                <a:ea typeface="ＭＳ Ｐゴシック" pitchFamily="-106" charset="-128"/>
                <a:cs typeface="ＭＳ Ｐゴシック" pitchFamily="-106" charset="-128"/>
              </a:rPr>
              <a:t>.</a:t>
            </a:r>
          </a:p>
          <a:p>
            <a:pPr fontAlgn="ctr"/>
            <a:endParaRPr lang="en-US" b="1" dirty="0">
              <a:ea typeface="ＭＳ Ｐゴシック" pitchFamily="-106" charset="-128"/>
              <a:cs typeface="ＭＳ Ｐゴシック" pitchFamily="-106" charset="-128"/>
            </a:endParaRPr>
          </a:p>
          <a:p>
            <a:pPr fontAlgn="ctr"/>
            <a:r>
              <a:rPr lang="en-US" b="1" dirty="0">
                <a:ea typeface="ＭＳ Ｐゴシック" pitchFamily="-106" charset="-128"/>
                <a:cs typeface="ＭＳ Ｐゴシック" pitchFamily="-106" charset="-128"/>
              </a:rPr>
              <a:t>Hebrews 13:20</a:t>
            </a:r>
            <a:r>
              <a:rPr lang="en-US" dirty="0">
                <a:ea typeface="ＭＳ Ｐゴシック" pitchFamily="-106" charset="-128"/>
                <a:cs typeface="ＭＳ Ｐゴシック" pitchFamily="-106" charset="-128"/>
              </a:rPr>
              <a:t>  Refers to the </a:t>
            </a:r>
            <a:r>
              <a:rPr lang="en-US" i="1" dirty="0">
                <a:ea typeface="ＭＳ Ｐゴシック" pitchFamily="-106" charset="-128"/>
                <a:cs typeface="ＭＳ Ｐゴシック" pitchFamily="-106" charset="-128"/>
              </a:rPr>
              <a:t>eternal covenant</a:t>
            </a:r>
            <a:r>
              <a:rPr lang="en-US" dirty="0">
                <a:ea typeface="ＭＳ Ｐゴシック" pitchFamily="-106" charset="-128"/>
                <a:cs typeface="ＭＳ Ｐゴシック" pitchFamily="-106" charset="-128"/>
              </a:rPr>
              <a:t> that fulfills God’s promises </a:t>
            </a:r>
            <a:r>
              <a:rPr lang="en-US" i="1" dirty="0">
                <a:ea typeface="ＭＳ Ｐゴシック" pitchFamily="-106" charset="-128"/>
                <a:cs typeface="ＭＳ Ｐゴシック" pitchFamily="-106" charset="-128"/>
              </a:rPr>
              <a:t>through Christ’s blood</a:t>
            </a:r>
            <a:r>
              <a:rPr lang="en-US" dirty="0">
                <a:ea typeface="ＭＳ Ｐゴシック" pitchFamily="-106" charset="-128"/>
                <a:cs typeface="ＭＳ Ｐゴシック" pitchFamily="-106" charset="-128"/>
              </a:rPr>
              <a:t>.</a:t>
            </a:r>
          </a:p>
        </p:txBody>
      </p:sp>
    </p:spTree>
    <p:extLst>
      <p:ext uri="{BB962C8B-B14F-4D97-AF65-F5344CB8AC3E}">
        <p14:creationId xmlns:p14="http://schemas.microsoft.com/office/powerpoint/2010/main" val="217787266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1000"/>
                                        <p:tgtEl>
                                          <p:spTgt spid="3"/>
                                        </p:tgtEl>
                                      </p:cBhvr>
                                    </p:animEffect>
                                    <p:anim calcmode="lin" valueType="num">
                                      <p:cBhvr>
                                        <p:cTn id="8" dur="1000" fill="hold"/>
                                        <p:tgtEl>
                                          <p:spTgt spid="3"/>
                                        </p:tgtEl>
                                        <p:attrNameLst>
                                          <p:attrName>ppt_x</p:attrName>
                                        </p:attrNameLst>
                                      </p:cBhvr>
                                      <p:tavLst>
                                        <p:tav tm="0">
                                          <p:val>
                                            <p:strVal val="#ppt_x"/>
                                          </p:val>
                                        </p:tav>
                                        <p:tav tm="100000">
                                          <p:val>
                                            <p:strVal val="#ppt_x"/>
                                          </p:val>
                                        </p:tav>
                                      </p:tavLst>
                                    </p:anim>
                                    <p:anim calcmode="lin" valueType="num">
                                      <p:cBhvr>
                                        <p:cTn id="9" dur="1000" fill="hold"/>
                                        <p:tgtEl>
                                          <p:spTgt spid="3"/>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198ADE1-2C8C-21E7-5FDE-FFE1A071B00A}"/>
            </a:ext>
          </a:extLst>
        </p:cNvPr>
        <p:cNvGrpSpPr/>
        <p:nvPr/>
      </p:nvGrpSpPr>
      <p:grpSpPr>
        <a:xfrm>
          <a:off x="0" y="0"/>
          <a:ext cx="0" cy="0"/>
          <a:chOff x="0" y="0"/>
          <a:chExt cx="0" cy="0"/>
        </a:xfrm>
      </p:grpSpPr>
      <p:sp>
        <p:nvSpPr>
          <p:cNvPr id="5" name="Title 1">
            <a:extLst>
              <a:ext uri="{FF2B5EF4-FFF2-40B4-BE49-F238E27FC236}">
                <a16:creationId xmlns:a16="http://schemas.microsoft.com/office/drawing/2014/main" id="{D94A5CF1-165E-DAAA-3E87-1F7577626A14}"/>
              </a:ext>
            </a:extLst>
          </p:cNvPr>
          <p:cNvSpPr txBox="1">
            <a:spLocks/>
          </p:cNvSpPr>
          <p:nvPr/>
        </p:nvSpPr>
        <p:spPr bwMode="auto">
          <a:xfrm>
            <a:off x="381000" y="0"/>
            <a:ext cx="8382000" cy="1143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normAutofit/>
          </a:bodyPr>
          <a:lstStyle>
            <a:lvl1pPr algn="l" rtl="0" eaLnBrk="1" fontAlgn="base" hangingPunct="1">
              <a:spcBef>
                <a:spcPct val="0"/>
              </a:spcBef>
              <a:spcAft>
                <a:spcPct val="0"/>
              </a:spcAft>
              <a:defRPr lang="en-US" sz="4000" b="1" kern="1200">
                <a:solidFill>
                  <a:schemeClr val="tx2"/>
                </a:solidFill>
                <a:latin typeface="+mj-lt"/>
                <a:ea typeface="ＭＳ Ｐゴシック" pitchFamily="34" charset="-128"/>
                <a:cs typeface="+mj-cs"/>
              </a:defRPr>
            </a:lvl1pPr>
            <a:lvl2pPr algn="ctr" rtl="0" eaLnBrk="1" fontAlgn="base" hangingPunct="1">
              <a:spcBef>
                <a:spcPct val="0"/>
              </a:spcBef>
              <a:spcAft>
                <a:spcPct val="0"/>
              </a:spcAft>
              <a:defRPr sz="4400" b="1">
                <a:solidFill>
                  <a:schemeClr val="tx2"/>
                </a:solidFill>
                <a:latin typeface="Arial" charset="0"/>
                <a:ea typeface="ＭＳ Ｐゴシック" pitchFamily="34" charset="-128"/>
              </a:defRPr>
            </a:lvl2pPr>
            <a:lvl3pPr algn="ctr" rtl="0" eaLnBrk="1" fontAlgn="base" hangingPunct="1">
              <a:spcBef>
                <a:spcPct val="0"/>
              </a:spcBef>
              <a:spcAft>
                <a:spcPct val="0"/>
              </a:spcAft>
              <a:defRPr sz="4400" b="1">
                <a:solidFill>
                  <a:schemeClr val="tx2"/>
                </a:solidFill>
                <a:latin typeface="Arial" charset="0"/>
                <a:ea typeface="ＭＳ Ｐゴシック" pitchFamily="34" charset="-128"/>
              </a:defRPr>
            </a:lvl3pPr>
            <a:lvl4pPr algn="ctr" rtl="0" eaLnBrk="1" fontAlgn="base" hangingPunct="1">
              <a:spcBef>
                <a:spcPct val="0"/>
              </a:spcBef>
              <a:spcAft>
                <a:spcPct val="0"/>
              </a:spcAft>
              <a:defRPr sz="4400" b="1">
                <a:solidFill>
                  <a:schemeClr val="tx2"/>
                </a:solidFill>
                <a:latin typeface="Arial" charset="0"/>
                <a:ea typeface="ＭＳ Ｐゴシック" pitchFamily="34" charset="-128"/>
              </a:defRPr>
            </a:lvl4pPr>
            <a:lvl5pPr algn="ctr" rtl="0" eaLnBrk="1" fontAlgn="base" hangingPunct="1">
              <a:spcBef>
                <a:spcPct val="0"/>
              </a:spcBef>
              <a:spcAft>
                <a:spcPct val="0"/>
              </a:spcAft>
              <a:defRPr sz="4400" b="1">
                <a:solidFill>
                  <a:schemeClr val="tx2"/>
                </a:solidFill>
                <a:latin typeface="Arial" charset="0"/>
                <a:ea typeface="ＭＳ Ｐゴシック" pitchFamily="34" charset="-128"/>
              </a:defRPr>
            </a:lvl5pPr>
            <a:lvl6pPr marL="457200" algn="ctr" rtl="0" eaLnBrk="1" fontAlgn="base" hangingPunct="1">
              <a:spcBef>
                <a:spcPct val="0"/>
              </a:spcBef>
              <a:spcAft>
                <a:spcPct val="0"/>
              </a:spcAft>
              <a:defRPr sz="4400" b="1">
                <a:solidFill>
                  <a:schemeClr val="tx1"/>
                </a:solidFill>
                <a:latin typeface="Arial" charset="0"/>
              </a:defRPr>
            </a:lvl6pPr>
            <a:lvl7pPr marL="914400" algn="ctr" rtl="0" eaLnBrk="1" fontAlgn="base" hangingPunct="1">
              <a:spcBef>
                <a:spcPct val="0"/>
              </a:spcBef>
              <a:spcAft>
                <a:spcPct val="0"/>
              </a:spcAft>
              <a:defRPr sz="4400" b="1">
                <a:solidFill>
                  <a:schemeClr val="tx1"/>
                </a:solidFill>
                <a:latin typeface="Arial" charset="0"/>
              </a:defRPr>
            </a:lvl7pPr>
            <a:lvl8pPr marL="1371600" algn="ctr" rtl="0" eaLnBrk="1" fontAlgn="base" hangingPunct="1">
              <a:spcBef>
                <a:spcPct val="0"/>
              </a:spcBef>
              <a:spcAft>
                <a:spcPct val="0"/>
              </a:spcAft>
              <a:defRPr sz="4400" b="1">
                <a:solidFill>
                  <a:schemeClr val="tx1"/>
                </a:solidFill>
                <a:latin typeface="Arial" charset="0"/>
              </a:defRPr>
            </a:lvl8pPr>
            <a:lvl9pPr marL="1828800" algn="ctr" rtl="0" eaLnBrk="1" fontAlgn="base" hangingPunct="1">
              <a:spcBef>
                <a:spcPct val="0"/>
              </a:spcBef>
              <a:spcAft>
                <a:spcPct val="0"/>
              </a:spcAft>
              <a:defRPr sz="4400" b="1">
                <a:solidFill>
                  <a:schemeClr val="tx1"/>
                </a:solidFill>
                <a:latin typeface="Arial" charset="0"/>
              </a:defRPr>
            </a:lvl9pPr>
          </a:lstStyle>
          <a:p>
            <a:r>
              <a:rPr lang="en-US" dirty="0"/>
              <a:t>Promise Extended to the Nations</a:t>
            </a:r>
            <a:br>
              <a:rPr lang="en-US" dirty="0"/>
            </a:br>
            <a:r>
              <a:rPr lang="en-US" sz="2400" dirty="0">
                <a:solidFill>
                  <a:schemeClr val="tx2">
                    <a:lumMod val="60000"/>
                    <a:lumOff val="40000"/>
                  </a:schemeClr>
                </a:solidFill>
              </a:rPr>
              <a:t>Abraham’s Blessing &amp; the Global Mission of the Church</a:t>
            </a:r>
          </a:p>
        </p:txBody>
      </p:sp>
      <p:sp>
        <p:nvSpPr>
          <p:cNvPr id="3" name="TextBox 2">
            <a:extLst>
              <a:ext uri="{FF2B5EF4-FFF2-40B4-BE49-F238E27FC236}">
                <a16:creationId xmlns:a16="http://schemas.microsoft.com/office/drawing/2014/main" id="{A47AE336-45F3-7EB0-7AAC-208FEB422137}"/>
              </a:ext>
            </a:extLst>
          </p:cNvPr>
          <p:cNvSpPr txBox="1"/>
          <p:nvPr/>
        </p:nvSpPr>
        <p:spPr>
          <a:xfrm>
            <a:off x="374073" y="1154545"/>
            <a:ext cx="8534400" cy="5078313"/>
          </a:xfrm>
          <a:prstGeom prst="rect">
            <a:avLst/>
          </a:prstGeom>
          <a:noFill/>
        </p:spPr>
        <p:txBody>
          <a:bodyPr wrap="square" rtlCol="0">
            <a:spAutoFit/>
          </a:bodyPr>
          <a:lstStyle/>
          <a:p>
            <a:pPr fontAlgn="ctr"/>
            <a:r>
              <a:rPr lang="en-US" b="1" dirty="0">
                <a:ea typeface="ＭＳ Ｐゴシック" pitchFamily="-106" charset="-128"/>
                <a:cs typeface="ＭＳ Ｐゴシック" pitchFamily="-106" charset="-128"/>
              </a:rPr>
              <a:t>Matthew 8:11-12</a:t>
            </a:r>
            <a:r>
              <a:rPr lang="en-US" dirty="0">
                <a:ea typeface="ＭＳ Ｐゴシック" pitchFamily="-106" charset="-128"/>
                <a:cs typeface="ＭＳ Ｐゴシック" pitchFamily="-106" charset="-128"/>
              </a:rPr>
              <a:t>  Jesus says many from east and west will </a:t>
            </a:r>
            <a:r>
              <a:rPr lang="en-US" i="1" dirty="0">
                <a:ea typeface="ＭＳ Ｐゴシック" pitchFamily="-106" charset="-128"/>
                <a:cs typeface="ＭＳ Ｐゴシック" pitchFamily="-106" charset="-128"/>
              </a:rPr>
              <a:t>recline with Abraham in the kingdom</a:t>
            </a:r>
            <a:r>
              <a:rPr lang="en-US" dirty="0">
                <a:ea typeface="ＭＳ Ｐゴシック" pitchFamily="-106" charset="-128"/>
                <a:cs typeface="ＭＳ Ｐゴシック" pitchFamily="-106" charset="-128"/>
              </a:rPr>
              <a:t>.</a:t>
            </a:r>
          </a:p>
          <a:p>
            <a:pPr fontAlgn="ctr"/>
            <a:endParaRPr lang="en-US" b="1" dirty="0">
              <a:ea typeface="ＭＳ Ｐゴシック" pitchFamily="-106" charset="-128"/>
              <a:cs typeface="ＭＳ Ｐゴシック" pitchFamily="-106" charset="-128"/>
            </a:endParaRPr>
          </a:p>
          <a:p>
            <a:pPr fontAlgn="ctr"/>
            <a:r>
              <a:rPr lang="en-US" b="1" dirty="0">
                <a:ea typeface="ＭＳ Ｐゴシック" pitchFamily="-106" charset="-128"/>
                <a:cs typeface="ＭＳ Ｐゴシック" pitchFamily="-106" charset="-128"/>
              </a:rPr>
              <a:t>Luke 13:28-29</a:t>
            </a:r>
            <a:r>
              <a:rPr lang="en-US" dirty="0">
                <a:ea typeface="ＭＳ Ｐゴシック" pitchFamily="-106" charset="-128"/>
                <a:cs typeface="ＭＳ Ｐゴシック" pitchFamily="-106" charset="-128"/>
              </a:rPr>
              <a:t>  Echoes the same image of </a:t>
            </a:r>
            <a:r>
              <a:rPr lang="en-US" i="1" dirty="0">
                <a:ea typeface="ＭＳ Ｐゴシック" pitchFamily="-106" charset="-128"/>
                <a:cs typeface="ＭＳ Ｐゴシック" pitchFamily="-106" charset="-128"/>
              </a:rPr>
              <a:t>Gentiles included with the patriarchs</a:t>
            </a:r>
            <a:r>
              <a:rPr lang="en-US" dirty="0">
                <a:ea typeface="ＭＳ Ｐゴシック" pitchFamily="-106" charset="-128"/>
                <a:cs typeface="ＭＳ Ｐゴシック" pitchFamily="-106" charset="-128"/>
              </a:rPr>
              <a:t>.</a:t>
            </a:r>
          </a:p>
          <a:p>
            <a:pPr fontAlgn="ctr"/>
            <a:endParaRPr lang="en-US" b="1" dirty="0">
              <a:ea typeface="ＭＳ Ｐゴシック" pitchFamily="-106" charset="-128"/>
              <a:cs typeface="ＭＳ Ｐゴシック" pitchFamily="-106" charset="-128"/>
            </a:endParaRPr>
          </a:p>
          <a:p>
            <a:pPr fontAlgn="ctr"/>
            <a:r>
              <a:rPr lang="en-US" b="1" dirty="0">
                <a:ea typeface="ＭＳ Ｐゴシック" pitchFamily="-106" charset="-128"/>
                <a:cs typeface="ＭＳ Ｐゴシック" pitchFamily="-106" charset="-128"/>
              </a:rPr>
              <a:t>Acts 13:32-33</a:t>
            </a:r>
            <a:r>
              <a:rPr lang="en-US" dirty="0">
                <a:ea typeface="ＭＳ Ｐゴシック" pitchFamily="-106" charset="-128"/>
                <a:cs typeface="ＭＳ Ｐゴシック" pitchFamily="-106" charset="-128"/>
              </a:rPr>
              <a:t>  Paul calls the </a:t>
            </a:r>
            <a:r>
              <a:rPr lang="en-US" i="1" dirty="0">
                <a:ea typeface="ＭＳ Ｐゴシック" pitchFamily="-106" charset="-128"/>
                <a:cs typeface="ＭＳ Ｐゴシック" pitchFamily="-106" charset="-128"/>
              </a:rPr>
              <a:t>resurrection</a:t>
            </a:r>
            <a:r>
              <a:rPr lang="en-US" dirty="0">
                <a:ea typeface="ＭＳ Ｐゴシック" pitchFamily="-106" charset="-128"/>
                <a:cs typeface="ＭＳ Ｐゴシック" pitchFamily="-106" charset="-128"/>
              </a:rPr>
              <a:t> “the good news that God promised to the fathers.”</a:t>
            </a:r>
          </a:p>
          <a:p>
            <a:pPr fontAlgn="ctr"/>
            <a:endParaRPr lang="en-US" b="1" dirty="0">
              <a:ea typeface="ＭＳ Ｐゴシック" pitchFamily="-106" charset="-128"/>
              <a:cs typeface="ＭＳ Ｐゴシック" pitchFamily="-106" charset="-128"/>
            </a:endParaRPr>
          </a:p>
          <a:p>
            <a:pPr fontAlgn="ctr"/>
            <a:r>
              <a:rPr lang="en-US" b="1" dirty="0">
                <a:ea typeface="ＭＳ Ｐゴシック" pitchFamily="-106" charset="-128"/>
                <a:cs typeface="ＭＳ Ｐゴシック" pitchFamily="-106" charset="-128"/>
              </a:rPr>
              <a:t>Romans 15:8-12</a:t>
            </a:r>
            <a:r>
              <a:rPr lang="en-US" dirty="0">
                <a:ea typeface="ＭＳ Ｐゴシック" pitchFamily="-106" charset="-128"/>
                <a:cs typeface="ＭＳ Ｐゴシック" pitchFamily="-106" charset="-128"/>
              </a:rPr>
              <a:t>  Paul teaches that </a:t>
            </a:r>
            <a:r>
              <a:rPr lang="en-US" i="1" dirty="0">
                <a:ea typeface="ＭＳ Ｐゴシック" pitchFamily="-106" charset="-128"/>
                <a:cs typeface="ＭＳ Ｐゴシック" pitchFamily="-106" charset="-128"/>
              </a:rPr>
              <a:t>Christ confirmed the promises to the patriarchs so the Gentiles might glorify God</a:t>
            </a:r>
            <a:r>
              <a:rPr lang="en-US" dirty="0">
                <a:ea typeface="ＭＳ Ｐゴシック" pitchFamily="-106" charset="-128"/>
                <a:cs typeface="ＭＳ Ｐゴシック" pitchFamily="-106" charset="-128"/>
              </a:rPr>
              <a:t>.</a:t>
            </a:r>
          </a:p>
          <a:p>
            <a:pPr fontAlgn="ctr"/>
            <a:endParaRPr lang="en-US" b="1" dirty="0">
              <a:ea typeface="ＭＳ Ｐゴシック" pitchFamily="-106" charset="-128"/>
              <a:cs typeface="ＭＳ Ｐゴシック" pitchFamily="-106" charset="-128"/>
            </a:endParaRPr>
          </a:p>
          <a:p>
            <a:pPr fontAlgn="ctr"/>
            <a:r>
              <a:rPr lang="en-US" b="1" dirty="0">
                <a:ea typeface="ＭＳ Ｐゴシック" pitchFamily="-106" charset="-128"/>
                <a:cs typeface="ＭＳ Ｐゴシック" pitchFamily="-106" charset="-128"/>
              </a:rPr>
              <a:t>Galatians 3:7-9</a:t>
            </a:r>
            <a:r>
              <a:rPr lang="en-US" dirty="0">
                <a:ea typeface="ＭＳ Ｐゴシック" pitchFamily="-106" charset="-128"/>
                <a:cs typeface="ＭＳ Ｐゴシック" pitchFamily="-106" charset="-128"/>
              </a:rPr>
              <a:t>  </a:t>
            </a:r>
            <a:r>
              <a:rPr lang="en-US" i="1" dirty="0">
                <a:ea typeface="ＭＳ Ｐゴシック" pitchFamily="-106" charset="-128"/>
                <a:cs typeface="ＭＳ Ｐゴシック" pitchFamily="-106" charset="-128"/>
              </a:rPr>
              <a:t>Those of faith are blessed along with Abraham</a:t>
            </a:r>
            <a:r>
              <a:rPr lang="en-US" dirty="0">
                <a:ea typeface="ＭＳ Ｐゴシック" pitchFamily="-106" charset="-128"/>
                <a:cs typeface="ＭＳ Ｐゴシック" pitchFamily="-106" charset="-128"/>
              </a:rPr>
              <a:t>, the man of faith.</a:t>
            </a:r>
          </a:p>
          <a:p>
            <a:pPr fontAlgn="ctr"/>
            <a:endParaRPr lang="en-US" b="1" dirty="0">
              <a:ea typeface="ＭＳ Ｐゴシック" pitchFamily="-106" charset="-128"/>
              <a:cs typeface="ＭＳ Ｐゴシック" pitchFamily="-106" charset="-128"/>
            </a:endParaRPr>
          </a:p>
          <a:p>
            <a:pPr fontAlgn="ctr"/>
            <a:r>
              <a:rPr lang="en-US" b="1" dirty="0">
                <a:ea typeface="ＭＳ Ｐゴシック" pitchFamily="-106" charset="-128"/>
                <a:cs typeface="ＭＳ Ｐゴシック" pitchFamily="-106" charset="-128"/>
              </a:rPr>
              <a:t>Galatians 3:28-29</a:t>
            </a:r>
            <a:r>
              <a:rPr lang="en-US" dirty="0">
                <a:ea typeface="ＭＳ Ｐゴシック" pitchFamily="-106" charset="-128"/>
                <a:cs typeface="ＭＳ Ｐゴシック" pitchFamily="-106" charset="-128"/>
              </a:rPr>
              <a:t>  In Christ, all are one; Jew, Greek, slave, free, male, female; and </a:t>
            </a:r>
            <a:r>
              <a:rPr lang="en-US" i="1" dirty="0">
                <a:ea typeface="ＭＳ Ｐゴシック" pitchFamily="-106" charset="-128"/>
                <a:cs typeface="ＭＳ Ｐゴシック" pitchFamily="-106" charset="-128"/>
              </a:rPr>
              <a:t>heirs according to promise</a:t>
            </a:r>
            <a:r>
              <a:rPr lang="en-US" dirty="0">
                <a:ea typeface="ＭＳ Ｐゴシック" pitchFamily="-106" charset="-128"/>
                <a:cs typeface="ＭＳ Ｐゴシック" pitchFamily="-106" charset="-128"/>
              </a:rPr>
              <a:t>.</a:t>
            </a:r>
          </a:p>
          <a:p>
            <a:pPr fontAlgn="ctr"/>
            <a:endParaRPr lang="en-US" b="1" dirty="0">
              <a:ea typeface="ＭＳ Ｐゴシック" pitchFamily="-106" charset="-128"/>
              <a:cs typeface="ＭＳ Ｐゴシック" pitchFamily="-106" charset="-128"/>
            </a:endParaRPr>
          </a:p>
          <a:p>
            <a:pPr fontAlgn="ctr"/>
            <a:r>
              <a:rPr lang="en-US" b="1" dirty="0">
                <a:ea typeface="ＭＳ Ｐゴシック" pitchFamily="-106" charset="-128"/>
                <a:cs typeface="ＭＳ Ｐゴシック" pitchFamily="-106" charset="-128"/>
              </a:rPr>
              <a:t>Ephesians 3:6</a:t>
            </a:r>
            <a:r>
              <a:rPr lang="en-US" dirty="0">
                <a:ea typeface="ＭＳ Ｐゴシック" pitchFamily="-106" charset="-128"/>
                <a:cs typeface="ＭＳ Ｐゴシック" pitchFamily="-106" charset="-128"/>
              </a:rPr>
              <a:t>  Gentiles are “</a:t>
            </a:r>
            <a:r>
              <a:rPr lang="en-US" i="1" dirty="0">
                <a:ea typeface="ＭＳ Ｐゴシック" pitchFamily="-106" charset="-128"/>
                <a:cs typeface="ＭＳ Ｐゴシック" pitchFamily="-106" charset="-128"/>
              </a:rPr>
              <a:t>fellow heirs, members of the same body, and partakers of the promise in Christ Jesus through the gospel</a:t>
            </a:r>
            <a:r>
              <a:rPr lang="en-US" dirty="0">
                <a:ea typeface="ＭＳ Ｐゴシック" pitchFamily="-106" charset="-128"/>
                <a:cs typeface="ＭＳ Ｐゴシック" pitchFamily="-106" charset="-128"/>
              </a:rPr>
              <a:t>.”</a:t>
            </a:r>
          </a:p>
        </p:txBody>
      </p:sp>
    </p:spTree>
    <p:extLst>
      <p:ext uri="{BB962C8B-B14F-4D97-AF65-F5344CB8AC3E}">
        <p14:creationId xmlns:p14="http://schemas.microsoft.com/office/powerpoint/2010/main" val="429289436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1000"/>
                                        <p:tgtEl>
                                          <p:spTgt spid="3"/>
                                        </p:tgtEl>
                                      </p:cBhvr>
                                    </p:animEffect>
                                    <p:anim calcmode="lin" valueType="num">
                                      <p:cBhvr>
                                        <p:cTn id="8" dur="1000" fill="hold"/>
                                        <p:tgtEl>
                                          <p:spTgt spid="3"/>
                                        </p:tgtEl>
                                        <p:attrNameLst>
                                          <p:attrName>ppt_x</p:attrName>
                                        </p:attrNameLst>
                                      </p:cBhvr>
                                      <p:tavLst>
                                        <p:tav tm="0">
                                          <p:val>
                                            <p:strVal val="#ppt_x"/>
                                          </p:val>
                                        </p:tav>
                                        <p:tav tm="100000">
                                          <p:val>
                                            <p:strVal val="#ppt_x"/>
                                          </p:val>
                                        </p:tav>
                                      </p:tavLst>
                                    </p:anim>
                                    <p:anim calcmode="lin" valueType="num">
                                      <p:cBhvr>
                                        <p:cTn id="9" dur="1000" fill="hold"/>
                                        <p:tgtEl>
                                          <p:spTgt spid="3"/>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B11EA5-1E10-E18B-40F3-C2C9E1870F2A}"/>
            </a:ext>
          </a:extLst>
        </p:cNvPr>
        <p:cNvGrpSpPr/>
        <p:nvPr/>
      </p:nvGrpSpPr>
      <p:grpSpPr>
        <a:xfrm>
          <a:off x="0" y="0"/>
          <a:ext cx="0" cy="0"/>
          <a:chOff x="0" y="0"/>
          <a:chExt cx="0" cy="0"/>
        </a:xfrm>
      </p:grpSpPr>
      <p:sp>
        <p:nvSpPr>
          <p:cNvPr id="5" name="Title 1">
            <a:extLst>
              <a:ext uri="{FF2B5EF4-FFF2-40B4-BE49-F238E27FC236}">
                <a16:creationId xmlns:a16="http://schemas.microsoft.com/office/drawing/2014/main" id="{85B9AF25-C344-3519-A4C1-F4782326F362}"/>
              </a:ext>
            </a:extLst>
          </p:cNvPr>
          <p:cNvSpPr txBox="1">
            <a:spLocks/>
          </p:cNvSpPr>
          <p:nvPr/>
        </p:nvSpPr>
        <p:spPr bwMode="auto">
          <a:xfrm>
            <a:off x="381000" y="0"/>
            <a:ext cx="8382000" cy="1143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normAutofit/>
          </a:bodyPr>
          <a:lstStyle>
            <a:lvl1pPr algn="l" rtl="0" eaLnBrk="1" fontAlgn="base" hangingPunct="1">
              <a:spcBef>
                <a:spcPct val="0"/>
              </a:spcBef>
              <a:spcAft>
                <a:spcPct val="0"/>
              </a:spcAft>
              <a:defRPr lang="en-US" sz="4000" b="1" kern="1200">
                <a:solidFill>
                  <a:schemeClr val="tx2"/>
                </a:solidFill>
                <a:latin typeface="+mj-lt"/>
                <a:ea typeface="ＭＳ Ｐゴシック" pitchFamily="34" charset="-128"/>
                <a:cs typeface="+mj-cs"/>
              </a:defRPr>
            </a:lvl1pPr>
            <a:lvl2pPr algn="ctr" rtl="0" eaLnBrk="1" fontAlgn="base" hangingPunct="1">
              <a:spcBef>
                <a:spcPct val="0"/>
              </a:spcBef>
              <a:spcAft>
                <a:spcPct val="0"/>
              </a:spcAft>
              <a:defRPr sz="4400" b="1">
                <a:solidFill>
                  <a:schemeClr val="tx2"/>
                </a:solidFill>
                <a:latin typeface="Arial" charset="0"/>
                <a:ea typeface="ＭＳ Ｐゴシック" pitchFamily="34" charset="-128"/>
              </a:defRPr>
            </a:lvl2pPr>
            <a:lvl3pPr algn="ctr" rtl="0" eaLnBrk="1" fontAlgn="base" hangingPunct="1">
              <a:spcBef>
                <a:spcPct val="0"/>
              </a:spcBef>
              <a:spcAft>
                <a:spcPct val="0"/>
              </a:spcAft>
              <a:defRPr sz="4400" b="1">
                <a:solidFill>
                  <a:schemeClr val="tx2"/>
                </a:solidFill>
                <a:latin typeface="Arial" charset="0"/>
                <a:ea typeface="ＭＳ Ｐゴシック" pitchFamily="34" charset="-128"/>
              </a:defRPr>
            </a:lvl3pPr>
            <a:lvl4pPr algn="ctr" rtl="0" eaLnBrk="1" fontAlgn="base" hangingPunct="1">
              <a:spcBef>
                <a:spcPct val="0"/>
              </a:spcBef>
              <a:spcAft>
                <a:spcPct val="0"/>
              </a:spcAft>
              <a:defRPr sz="4400" b="1">
                <a:solidFill>
                  <a:schemeClr val="tx2"/>
                </a:solidFill>
                <a:latin typeface="Arial" charset="0"/>
                <a:ea typeface="ＭＳ Ｐゴシック" pitchFamily="34" charset="-128"/>
              </a:defRPr>
            </a:lvl4pPr>
            <a:lvl5pPr algn="ctr" rtl="0" eaLnBrk="1" fontAlgn="base" hangingPunct="1">
              <a:spcBef>
                <a:spcPct val="0"/>
              </a:spcBef>
              <a:spcAft>
                <a:spcPct val="0"/>
              </a:spcAft>
              <a:defRPr sz="4400" b="1">
                <a:solidFill>
                  <a:schemeClr val="tx2"/>
                </a:solidFill>
                <a:latin typeface="Arial" charset="0"/>
                <a:ea typeface="ＭＳ Ｐゴシック" pitchFamily="34" charset="-128"/>
              </a:defRPr>
            </a:lvl5pPr>
            <a:lvl6pPr marL="457200" algn="ctr" rtl="0" eaLnBrk="1" fontAlgn="base" hangingPunct="1">
              <a:spcBef>
                <a:spcPct val="0"/>
              </a:spcBef>
              <a:spcAft>
                <a:spcPct val="0"/>
              </a:spcAft>
              <a:defRPr sz="4400" b="1">
                <a:solidFill>
                  <a:schemeClr val="tx1"/>
                </a:solidFill>
                <a:latin typeface="Arial" charset="0"/>
              </a:defRPr>
            </a:lvl6pPr>
            <a:lvl7pPr marL="914400" algn="ctr" rtl="0" eaLnBrk="1" fontAlgn="base" hangingPunct="1">
              <a:spcBef>
                <a:spcPct val="0"/>
              </a:spcBef>
              <a:spcAft>
                <a:spcPct val="0"/>
              </a:spcAft>
              <a:defRPr sz="4400" b="1">
                <a:solidFill>
                  <a:schemeClr val="tx1"/>
                </a:solidFill>
                <a:latin typeface="Arial" charset="0"/>
              </a:defRPr>
            </a:lvl7pPr>
            <a:lvl8pPr marL="1371600" algn="ctr" rtl="0" eaLnBrk="1" fontAlgn="base" hangingPunct="1">
              <a:spcBef>
                <a:spcPct val="0"/>
              </a:spcBef>
              <a:spcAft>
                <a:spcPct val="0"/>
              </a:spcAft>
              <a:defRPr sz="4400" b="1">
                <a:solidFill>
                  <a:schemeClr val="tx1"/>
                </a:solidFill>
                <a:latin typeface="Arial" charset="0"/>
              </a:defRPr>
            </a:lvl8pPr>
            <a:lvl9pPr marL="1828800" algn="ctr" rtl="0" eaLnBrk="1" fontAlgn="base" hangingPunct="1">
              <a:spcBef>
                <a:spcPct val="0"/>
              </a:spcBef>
              <a:spcAft>
                <a:spcPct val="0"/>
              </a:spcAft>
              <a:defRPr sz="4400" b="1">
                <a:solidFill>
                  <a:schemeClr val="tx1"/>
                </a:solidFill>
                <a:latin typeface="Arial" charset="0"/>
              </a:defRPr>
            </a:lvl9pPr>
          </a:lstStyle>
          <a:p>
            <a:r>
              <a:rPr lang="en-US" dirty="0"/>
              <a:t>Promise as our Destiny in Hope</a:t>
            </a:r>
            <a:br>
              <a:rPr lang="en-US" dirty="0"/>
            </a:br>
            <a:r>
              <a:rPr lang="en-US" sz="2400" dirty="0">
                <a:solidFill>
                  <a:schemeClr val="tx2">
                    <a:lumMod val="60000"/>
                    <a:lumOff val="40000"/>
                  </a:schemeClr>
                </a:solidFill>
              </a:rPr>
              <a:t>Our Final Inheritance and Eternal Life</a:t>
            </a:r>
          </a:p>
        </p:txBody>
      </p:sp>
      <p:sp>
        <p:nvSpPr>
          <p:cNvPr id="3" name="TextBox 2">
            <a:extLst>
              <a:ext uri="{FF2B5EF4-FFF2-40B4-BE49-F238E27FC236}">
                <a16:creationId xmlns:a16="http://schemas.microsoft.com/office/drawing/2014/main" id="{540E4BD6-6B7F-6E5D-5A22-55221F83ECC8}"/>
              </a:ext>
            </a:extLst>
          </p:cNvPr>
          <p:cNvSpPr txBox="1"/>
          <p:nvPr/>
        </p:nvSpPr>
        <p:spPr>
          <a:xfrm>
            <a:off x="381000" y="1305341"/>
            <a:ext cx="8534400" cy="3139321"/>
          </a:xfrm>
          <a:prstGeom prst="rect">
            <a:avLst/>
          </a:prstGeom>
          <a:noFill/>
        </p:spPr>
        <p:txBody>
          <a:bodyPr wrap="square" rtlCol="0">
            <a:spAutoFit/>
          </a:bodyPr>
          <a:lstStyle/>
          <a:p>
            <a:pPr fontAlgn="ctr"/>
            <a:r>
              <a:rPr lang="en-US" b="1" dirty="0">
                <a:ea typeface="ＭＳ Ｐゴシック" pitchFamily="-106" charset="-128"/>
                <a:cs typeface="ＭＳ Ｐゴシック" pitchFamily="-106" charset="-128"/>
              </a:rPr>
              <a:t>Romans 4:13</a:t>
            </a:r>
            <a:r>
              <a:rPr lang="en-US" dirty="0">
                <a:ea typeface="ＭＳ Ｐゴシック" pitchFamily="-106" charset="-128"/>
                <a:cs typeface="ＭＳ Ｐゴシック" pitchFamily="-106" charset="-128"/>
              </a:rPr>
              <a:t>  Abraham and his offspring receive “</a:t>
            </a:r>
            <a:r>
              <a:rPr lang="en-US" i="1" dirty="0">
                <a:ea typeface="ＭＳ Ｐゴシック" pitchFamily="-106" charset="-128"/>
                <a:cs typeface="ＭＳ Ｐゴシック" pitchFamily="-106" charset="-128"/>
              </a:rPr>
              <a:t>the promise that he would be heir of the world</a:t>
            </a:r>
            <a:r>
              <a:rPr lang="en-US" dirty="0">
                <a:ea typeface="ＭＳ Ｐゴシック" pitchFamily="-106" charset="-128"/>
                <a:cs typeface="ＭＳ Ｐゴシック" pitchFamily="-106" charset="-128"/>
              </a:rPr>
              <a:t>.”</a:t>
            </a:r>
          </a:p>
          <a:p>
            <a:pPr fontAlgn="ctr"/>
            <a:endParaRPr lang="en-US" b="1" dirty="0">
              <a:ea typeface="ＭＳ Ｐゴシック" pitchFamily="-106" charset="-128"/>
              <a:cs typeface="ＭＳ Ｐゴシック" pitchFamily="-106" charset="-128"/>
            </a:endParaRPr>
          </a:p>
          <a:p>
            <a:pPr fontAlgn="ctr"/>
            <a:r>
              <a:rPr lang="en-US" b="1" dirty="0">
                <a:ea typeface="ＭＳ Ｐゴシック" pitchFamily="-106" charset="-128"/>
                <a:cs typeface="ＭＳ Ｐゴシック" pitchFamily="-106" charset="-128"/>
              </a:rPr>
              <a:t>Hebrews 6:18-20</a:t>
            </a:r>
            <a:r>
              <a:rPr lang="en-US" dirty="0">
                <a:ea typeface="ＭＳ Ｐゴシック" pitchFamily="-106" charset="-128"/>
                <a:cs typeface="ＭＳ Ｐゴシック" pitchFamily="-106" charset="-128"/>
              </a:rPr>
              <a:t>  The hope set before us is anchored in </a:t>
            </a:r>
            <a:r>
              <a:rPr lang="en-US" i="1" dirty="0">
                <a:ea typeface="ＭＳ Ｐゴシック" pitchFamily="-106" charset="-128"/>
                <a:cs typeface="ＭＳ Ｐゴシック" pitchFamily="-106" charset="-128"/>
              </a:rPr>
              <a:t>God’s unchangeable promise to Abraham</a:t>
            </a:r>
            <a:r>
              <a:rPr lang="en-US" dirty="0">
                <a:ea typeface="ＭＳ Ｐゴシック" pitchFamily="-106" charset="-128"/>
                <a:cs typeface="ＭＳ Ｐゴシック" pitchFamily="-106" charset="-128"/>
              </a:rPr>
              <a:t>.</a:t>
            </a:r>
          </a:p>
          <a:p>
            <a:pPr fontAlgn="ctr"/>
            <a:endParaRPr lang="en-US" b="1" dirty="0">
              <a:ea typeface="ＭＳ Ｐゴシック" pitchFamily="-106" charset="-128"/>
              <a:cs typeface="ＭＳ Ｐゴシック" pitchFamily="-106" charset="-128"/>
            </a:endParaRPr>
          </a:p>
          <a:p>
            <a:pPr fontAlgn="ctr"/>
            <a:r>
              <a:rPr lang="en-US" b="1" dirty="0">
                <a:ea typeface="ＭＳ Ｐゴシック" pitchFamily="-106" charset="-128"/>
                <a:cs typeface="ＭＳ Ｐゴシック" pitchFamily="-106" charset="-128"/>
              </a:rPr>
              <a:t>Hebrews 11:39-40 </a:t>
            </a:r>
            <a:r>
              <a:rPr lang="en-US" dirty="0">
                <a:ea typeface="ＭＳ Ｐゴシック" pitchFamily="-106" charset="-128"/>
                <a:cs typeface="ＭＳ Ｐゴシック" pitchFamily="-106" charset="-128"/>
              </a:rPr>
              <a:t> The faithful, including Abraham, did not receive the promise in full, </a:t>
            </a:r>
            <a:r>
              <a:rPr lang="en-US" i="1" dirty="0">
                <a:ea typeface="ＭＳ Ｐゴシック" pitchFamily="-106" charset="-128"/>
                <a:cs typeface="ＭＳ Ｐゴシック" pitchFamily="-106" charset="-128"/>
              </a:rPr>
              <a:t>anticipating perfection in Christ</a:t>
            </a:r>
            <a:r>
              <a:rPr lang="en-US" dirty="0">
                <a:ea typeface="ＭＳ Ｐゴシック" pitchFamily="-106" charset="-128"/>
                <a:cs typeface="ＭＳ Ｐゴシック" pitchFamily="-106" charset="-128"/>
              </a:rPr>
              <a:t>.</a:t>
            </a:r>
          </a:p>
          <a:p>
            <a:pPr fontAlgn="ctr"/>
            <a:endParaRPr lang="en-US" b="1" dirty="0">
              <a:ea typeface="ＭＳ Ｐゴシック" pitchFamily="-106" charset="-128"/>
              <a:cs typeface="ＭＳ Ｐゴシック" pitchFamily="-106" charset="-128"/>
            </a:endParaRPr>
          </a:p>
          <a:p>
            <a:pPr fontAlgn="ctr"/>
            <a:r>
              <a:rPr lang="en-US" b="1" dirty="0">
                <a:ea typeface="ＭＳ Ｐゴシック" pitchFamily="-106" charset="-128"/>
                <a:cs typeface="ＭＳ Ｐゴシック" pitchFamily="-106" charset="-128"/>
              </a:rPr>
              <a:t>2 Peter 3:13</a:t>
            </a:r>
            <a:r>
              <a:rPr lang="en-US" dirty="0">
                <a:ea typeface="ＭＳ Ｐゴシック" pitchFamily="-106" charset="-128"/>
                <a:cs typeface="ＭＳ Ｐゴシック" pitchFamily="-106" charset="-128"/>
              </a:rPr>
              <a:t>  The ultimate inheritance of the new heavens and new earth fulfills the faith of Abraham, the “</a:t>
            </a:r>
            <a:r>
              <a:rPr lang="en-US" i="1" dirty="0">
                <a:ea typeface="ＭＳ Ｐゴシック" pitchFamily="-106" charset="-128"/>
                <a:cs typeface="ＭＳ Ｐゴシック" pitchFamily="-106" charset="-128"/>
              </a:rPr>
              <a:t>heir of the world</a:t>
            </a:r>
            <a:r>
              <a:rPr lang="en-US" dirty="0">
                <a:ea typeface="ＭＳ Ｐゴシック" pitchFamily="-106" charset="-128"/>
                <a:cs typeface="ＭＳ Ｐゴシック" pitchFamily="-106" charset="-128"/>
              </a:rPr>
              <a:t>.”</a:t>
            </a:r>
          </a:p>
        </p:txBody>
      </p:sp>
    </p:spTree>
    <p:extLst>
      <p:ext uri="{BB962C8B-B14F-4D97-AF65-F5344CB8AC3E}">
        <p14:creationId xmlns:p14="http://schemas.microsoft.com/office/powerpoint/2010/main" val="352960122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1000"/>
                                        <p:tgtEl>
                                          <p:spTgt spid="3"/>
                                        </p:tgtEl>
                                      </p:cBhvr>
                                    </p:animEffect>
                                    <p:anim calcmode="lin" valueType="num">
                                      <p:cBhvr>
                                        <p:cTn id="8" dur="1000" fill="hold"/>
                                        <p:tgtEl>
                                          <p:spTgt spid="3"/>
                                        </p:tgtEl>
                                        <p:attrNameLst>
                                          <p:attrName>ppt_x</p:attrName>
                                        </p:attrNameLst>
                                      </p:cBhvr>
                                      <p:tavLst>
                                        <p:tav tm="0">
                                          <p:val>
                                            <p:strVal val="#ppt_x"/>
                                          </p:val>
                                        </p:tav>
                                        <p:tav tm="100000">
                                          <p:val>
                                            <p:strVal val="#ppt_x"/>
                                          </p:val>
                                        </p:tav>
                                      </p:tavLst>
                                    </p:anim>
                                    <p:anim calcmode="lin" valueType="num">
                                      <p:cBhvr>
                                        <p:cTn id="9" dur="1000" fill="hold"/>
                                        <p:tgtEl>
                                          <p:spTgt spid="3"/>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047451-AEDC-DD1E-3E50-0211C6E181B1}"/>
            </a:ext>
          </a:extLst>
        </p:cNvPr>
        <p:cNvGrpSpPr/>
        <p:nvPr/>
      </p:nvGrpSpPr>
      <p:grpSpPr>
        <a:xfrm>
          <a:off x="0" y="0"/>
          <a:ext cx="0" cy="0"/>
          <a:chOff x="0" y="0"/>
          <a:chExt cx="0" cy="0"/>
        </a:xfrm>
      </p:grpSpPr>
      <p:sp>
        <p:nvSpPr>
          <p:cNvPr id="4" name="Title 1">
            <a:extLst>
              <a:ext uri="{FF2B5EF4-FFF2-40B4-BE49-F238E27FC236}">
                <a16:creationId xmlns:a16="http://schemas.microsoft.com/office/drawing/2014/main" id="{60BA9067-B60B-D7FC-F21C-8DC0B0D83170}"/>
              </a:ext>
            </a:extLst>
          </p:cNvPr>
          <p:cNvSpPr>
            <a:spLocks noGrp="1"/>
          </p:cNvSpPr>
          <p:nvPr>
            <p:ph type="title"/>
          </p:nvPr>
        </p:nvSpPr>
        <p:spPr>
          <a:xfrm>
            <a:off x="228600" y="7088"/>
            <a:ext cx="8839200" cy="914400"/>
          </a:xfrm>
        </p:spPr>
        <p:txBody>
          <a:bodyPr>
            <a:normAutofit fontScale="90000"/>
          </a:bodyPr>
          <a:lstStyle/>
          <a:p>
            <a:pPr algn="l"/>
            <a:r>
              <a:rPr lang="en-US" sz="3600" dirty="0"/>
              <a:t>Encouraging Self-Reflection</a:t>
            </a:r>
            <a:br>
              <a:rPr lang="en-US" sz="3600" dirty="0"/>
            </a:br>
            <a:r>
              <a:rPr lang="en-US" sz="2400" dirty="0">
                <a:solidFill>
                  <a:schemeClr val="tx2">
                    <a:lumMod val="60000"/>
                    <a:lumOff val="40000"/>
                  </a:schemeClr>
                </a:solidFill>
              </a:rPr>
              <a:t>Questions for the “Just Man” of Romans 4</a:t>
            </a:r>
            <a:endParaRPr lang="en-US" sz="2400" i="1" u="sng" dirty="0">
              <a:solidFill>
                <a:schemeClr val="tx2">
                  <a:lumMod val="60000"/>
                  <a:lumOff val="40000"/>
                </a:schemeClr>
              </a:solidFill>
            </a:endParaRPr>
          </a:p>
        </p:txBody>
      </p:sp>
      <p:sp>
        <p:nvSpPr>
          <p:cNvPr id="7" name="TextBox 6">
            <a:extLst>
              <a:ext uri="{FF2B5EF4-FFF2-40B4-BE49-F238E27FC236}">
                <a16:creationId xmlns:a16="http://schemas.microsoft.com/office/drawing/2014/main" id="{CA7CD438-CFC5-107B-0244-14B4F2F073FF}"/>
              </a:ext>
            </a:extLst>
          </p:cNvPr>
          <p:cNvSpPr txBox="1"/>
          <p:nvPr/>
        </p:nvSpPr>
        <p:spPr>
          <a:xfrm>
            <a:off x="76200" y="990600"/>
            <a:ext cx="8991600" cy="5940088"/>
          </a:xfrm>
          <a:prstGeom prst="rect">
            <a:avLst/>
          </a:prstGeom>
          <a:noFill/>
        </p:spPr>
        <p:txBody>
          <a:bodyPr wrap="square">
            <a:spAutoFit/>
          </a:bodyPr>
          <a:lstStyle/>
          <a:p>
            <a:r>
              <a:rPr lang="en-US" sz="2000" b="1" dirty="0"/>
              <a:t>Focus: </a:t>
            </a:r>
            <a:r>
              <a:rPr lang="en-US" sz="2000" b="1" u="sng" dirty="0"/>
              <a:t>Faith as the channel through which we are made right with God</a:t>
            </a:r>
            <a:r>
              <a:rPr lang="en-US" sz="2000" b="1" dirty="0"/>
              <a:t>, illustrated by Abraham and fulfilled in Christ.</a:t>
            </a:r>
          </a:p>
          <a:p>
            <a:endParaRPr lang="en-US" sz="2000" b="1" dirty="0"/>
          </a:p>
          <a:p>
            <a:pPr marL="342900" indent="-342900">
              <a:buFontTx/>
              <a:buChar char="-"/>
            </a:pPr>
            <a:r>
              <a:rPr lang="en-US" sz="2000" b="1" dirty="0"/>
              <a:t>“You trust that God keeps His promises, as Abraham did. Why would you believe that God is both faithful and true unless He has revealed Himself as unchanging, trustworthy, and righteous?”  </a:t>
            </a:r>
          </a:p>
          <a:p>
            <a:endParaRPr lang="en-US" sz="2000" b="1" dirty="0"/>
          </a:p>
          <a:p>
            <a:pPr marL="342900" indent="-342900">
              <a:buFontTx/>
              <a:buChar char="-"/>
            </a:pPr>
            <a:r>
              <a:rPr lang="en-US" sz="2000" b="1" dirty="0"/>
              <a:t>“Your faith points beyond your own goodness to something greater. If your moral efforts are never perfect, on what basis can you stand before a holy God, if not on the righteousness He provides by faith?”  </a:t>
            </a:r>
          </a:p>
          <a:p>
            <a:endParaRPr lang="en-US" sz="2000" b="1" dirty="0"/>
          </a:p>
          <a:p>
            <a:pPr marL="342900" indent="-342900">
              <a:buFontTx/>
              <a:buChar char="-"/>
            </a:pPr>
            <a:r>
              <a:rPr lang="en-US" sz="2000" b="1" dirty="0"/>
              <a:t>“Consider Abraham: he trusted God’s word before it was fulfilled. Has God’s faithfulness to Abraham and to countless believers since not shown that He is real and that we can be certain of His character?” </a:t>
            </a:r>
          </a:p>
          <a:p>
            <a:r>
              <a:rPr lang="en-US" sz="2000" b="1" dirty="0"/>
              <a:t> </a:t>
            </a:r>
          </a:p>
          <a:p>
            <a:pPr marL="342900" indent="-342900">
              <a:buFontTx/>
              <a:buChar char="-"/>
            </a:pPr>
            <a:r>
              <a:rPr lang="en-US" sz="2000" b="1" dirty="0"/>
              <a:t>“When you put your faith in </a:t>
            </a:r>
            <a:r>
              <a:rPr lang="en-US" sz="2000" b="1" u="sng" dirty="0"/>
              <a:t>Jesus Christ as the Just One</a:t>
            </a:r>
            <a:r>
              <a:rPr lang="en-US" sz="2000" b="1" dirty="0"/>
              <a:t>, how does this confirm for you that God has revealed Himself in history, both through His written word and through the life, death, and resurrection of Jesus?”</a:t>
            </a:r>
          </a:p>
        </p:txBody>
      </p:sp>
    </p:spTree>
    <p:extLst>
      <p:ext uri="{BB962C8B-B14F-4D97-AF65-F5344CB8AC3E}">
        <p14:creationId xmlns:p14="http://schemas.microsoft.com/office/powerpoint/2010/main" val="176321452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7">
                                            <p:txEl>
                                              <p:pRg st="0" end="0"/>
                                            </p:txEl>
                                          </p:spTgt>
                                        </p:tgtEl>
                                        <p:attrNameLst>
                                          <p:attrName>style.visibility</p:attrName>
                                        </p:attrNameLst>
                                      </p:cBhvr>
                                      <p:to>
                                        <p:strVal val="visible"/>
                                      </p:to>
                                    </p:set>
                                    <p:animEffect transition="in" filter="fade">
                                      <p:cBhvr>
                                        <p:cTn id="7" dur="1000"/>
                                        <p:tgtEl>
                                          <p:spTgt spid="7">
                                            <p:txEl>
                                              <p:pRg st="0" end="0"/>
                                            </p:txEl>
                                          </p:spTgt>
                                        </p:tgtEl>
                                      </p:cBhvr>
                                    </p:animEffect>
                                    <p:anim calcmode="lin" valueType="num">
                                      <p:cBhvr>
                                        <p:cTn id="8" dur="1000" fill="hold"/>
                                        <p:tgtEl>
                                          <p:spTgt spid="7">
                                            <p:txEl>
                                              <p:pRg st="0" end="0"/>
                                            </p:txEl>
                                          </p:spTgt>
                                        </p:tgtEl>
                                        <p:attrNameLst>
                                          <p:attrName>ppt_x</p:attrName>
                                        </p:attrNameLst>
                                      </p:cBhvr>
                                      <p:tavLst>
                                        <p:tav tm="0">
                                          <p:val>
                                            <p:strVal val="#ppt_x"/>
                                          </p:val>
                                        </p:tav>
                                        <p:tav tm="100000">
                                          <p:val>
                                            <p:strVal val="#ppt_x"/>
                                          </p:val>
                                        </p:tav>
                                      </p:tavLst>
                                    </p:anim>
                                    <p:anim calcmode="lin" valueType="num">
                                      <p:cBhvr>
                                        <p:cTn id="9" dur="1000" fill="hold"/>
                                        <p:tgtEl>
                                          <p:spTgt spid="7">
                                            <p:txEl>
                                              <p:pRg st="0" end="0"/>
                                            </p:txEl>
                                          </p:spTgt>
                                        </p:tgtEl>
                                        <p:attrNameLst>
                                          <p:attrName>ppt_y</p:attrName>
                                        </p:attrNameLst>
                                      </p:cBhvr>
                                      <p:tavLst>
                                        <p:tav tm="0">
                                          <p:val>
                                            <p:strVal val="#ppt_y+.1"/>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nodeType="clickEffect">
                                  <p:stCondLst>
                                    <p:cond delay="0"/>
                                  </p:stCondLst>
                                  <p:childTnLst>
                                    <p:set>
                                      <p:cBhvr>
                                        <p:cTn id="13" dur="1" fill="hold">
                                          <p:stCondLst>
                                            <p:cond delay="0"/>
                                          </p:stCondLst>
                                        </p:cTn>
                                        <p:tgtEl>
                                          <p:spTgt spid="7">
                                            <p:txEl>
                                              <p:pRg st="2" end="2"/>
                                            </p:txEl>
                                          </p:spTgt>
                                        </p:tgtEl>
                                        <p:attrNameLst>
                                          <p:attrName>style.visibility</p:attrName>
                                        </p:attrNameLst>
                                      </p:cBhvr>
                                      <p:to>
                                        <p:strVal val="visible"/>
                                      </p:to>
                                    </p:set>
                                    <p:animEffect transition="in" filter="fade">
                                      <p:cBhvr>
                                        <p:cTn id="14" dur="1000"/>
                                        <p:tgtEl>
                                          <p:spTgt spid="7">
                                            <p:txEl>
                                              <p:pRg st="2" end="2"/>
                                            </p:txEl>
                                          </p:spTgt>
                                        </p:tgtEl>
                                      </p:cBhvr>
                                    </p:animEffect>
                                    <p:anim calcmode="lin" valueType="num">
                                      <p:cBhvr>
                                        <p:cTn id="15" dur="1000" fill="hold"/>
                                        <p:tgtEl>
                                          <p:spTgt spid="7">
                                            <p:txEl>
                                              <p:pRg st="2" end="2"/>
                                            </p:txEl>
                                          </p:spTgt>
                                        </p:tgtEl>
                                        <p:attrNameLst>
                                          <p:attrName>ppt_x</p:attrName>
                                        </p:attrNameLst>
                                      </p:cBhvr>
                                      <p:tavLst>
                                        <p:tav tm="0">
                                          <p:val>
                                            <p:strVal val="#ppt_x"/>
                                          </p:val>
                                        </p:tav>
                                        <p:tav tm="100000">
                                          <p:val>
                                            <p:strVal val="#ppt_x"/>
                                          </p:val>
                                        </p:tav>
                                      </p:tavLst>
                                    </p:anim>
                                    <p:anim calcmode="lin" valueType="num">
                                      <p:cBhvr>
                                        <p:cTn id="16" dur="1000" fill="hold"/>
                                        <p:tgtEl>
                                          <p:spTgt spid="7">
                                            <p:txEl>
                                              <p:pRg st="2" end="2"/>
                                            </p:txEl>
                                          </p:spTgt>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nodeType="clickEffect">
                                  <p:stCondLst>
                                    <p:cond delay="0"/>
                                  </p:stCondLst>
                                  <p:childTnLst>
                                    <p:set>
                                      <p:cBhvr>
                                        <p:cTn id="20" dur="1" fill="hold">
                                          <p:stCondLst>
                                            <p:cond delay="0"/>
                                          </p:stCondLst>
                                        </p:cTn>
                                        <p:tgtEl>
                                          <p:spTgt spid="7">
                                            <p:txEl>
                                              <p:pRg st="4" end="4"/>
                                            </p:txEl>
                                          </p:spTgt>
                                        </p:tgtEl>
                                        <p:attrNameLst>
                                          <p:attrName>style.visibility</p:attrName>
                                        </p:attrNameLst>
                                      </p:cBhvr>
                                      <p:to>
                                        <p:strVal val="visible"/>
                                      </p:to>
                                    </p:set>
                                    <p:animEffect transition="in" filter="fade">
                                      <p:cBhvr>
                                        <p:cTn id="21" dur="1000"/>
                                        <p:tgtEl>
                                          <p:spTgt spid="7">
                                            <p:txEl>
                                              <p:pRg st="4" end="4"/>
                                            </p:txEl>
                                          </p:spTgt>
                                        </p:tgtEl>
                                      </p:cBhvr>
                                    </p:animEffect>
                                    <p:anim calcmode="lin" valueType="num">
                                      <p:cBhvr>
                                        <p:cTn id="22" dur="1000" fill="hold"/>
                                        <p:tgtEl>
                                          <p:spTgt spid="7">
                                            <p:txEl>
                                              <p:pRg st="4" end="4"/>
                                            </p:txEl>
                                          </p:spTgt>
                                        </p:tgtEl>
                                        <p:attrNameLst>
                                          <p:attrName>ppt_x</p:attrName>
                                        </p:attrNameLst>
                                      </p:cBhvr>
                                      <p:tavLst>
                                        <p:tav tm="0">
                                          <p:val>
                                            <p:strVal val="#ppt_x"/>
                                          </p:val>
                                        </p:tav>
                                        <p:tav tm="100000">
                                          <p:val>
                                            <p:strVal val="#ppt_x"/>
                                          </p:val>
                                        </p:tav>
                                      </p:tavLst>
                                    </p:anim>
                                    <p:anim calcmode="lin" valueType="num">
                                      <p:cBhvr>
                                        <p:cTn id="23" dur="1000" fill="hold"/>
                                        <p:tgtEl>
                                          <p:spTgt spid="7">
                                            <p:txEl>
                                              <p:pRg st="4" end="4"/>
                                            </p:txEl>
                                          </p:spTgt>
                                        </p:tgtEl>
                                        <p:attrNameLst>
                                          <p:attrName>ppt_y</p:attrName>
                                        </p:attrNameLst>
                                      </p:cBhvr>
                                      <p:tavLst>
                                        <p:tav tm="0">
                                          <p:val>
                                            <p:strVal val="#ppt_y+.1"/>
                                          </p:val>
                                        </p:tav>
                                        <p:tav tm="100000">
                                          <p:val>
                                            <p:strVal val="#ppt_y"/>
                                          </p:val>
                                        </p:tav>
                                      </p:tavLst>
                                    </p:anim>
                                  </p:childTnLst>
                                </p:cTn>
                              </p:par>
                            </p:childTnLst>
                          </p:cTn>
                        </p:par>
                      </p:childTnLst>
                    </p:cTn>
                  </p:par>
                  <p:par>
                    <p:cTn id="24" fill="hold">
                      <p:stCondLst>
                        <p:cond delay="indefinite"/>
                      </p:stCondLst>
                      <p:childTnLst>
                        <p:par>
                          <p:cTn id="25" fill="hold">
                            <p:stCondLst>
                              <p:cond delay="0"/>
                            </p:stCondLst>
                            <p:childTnLst>
                              <p:par>
                                <p:cTn id="26" presetID="42" presetClass="entr" presetSubtype="0" fill="hold" nodeType="clickEffect">
                                  <p:stCondLst>
                                    <p:cond delay="0"/>
                                  </p:stCondLst>
                                  <p:childTnLst>
                                    <p:set>
                                      <p:cBhvr>
                                        <p:cTn id="27" dur="1" fill="hold">
                                          <p:stCondLst>
                                            <p:cond delay="0"/>
                                          </p:stCondLst>
                                        </p:cTn>
                                        <p:tgtEl>
                                          <p:spTgt spid="7">
                                            <p:txEl>
                                              <p:pRg st="6" end="6"/>
                                            </p:txEl>
                                          </p:spTgt>
                                        </p:tgtEl>
                                        <p:attrNameLst>
                                          <p:attrName>style.visibility</p:attrName>
                                        </p:attrNameLst>
                                      </p:cBhvr>
                                      <p:to>
                                        <p:strVal val="visible"/>
                                      </p:to>
                                    </p:set>
                                    <p:animEffect transition="in" filter="fade">
                                      <p:cBhvr>
                                        <p:cTn id="28" dur="1000"/>
                                        <p:tgtEl>
                                          <p:spTgt spid="7">
                                            <p:txEl>
                                              <p:pRg st="6" end="6"/>
                                            </p:txEl>
                                          </p:spTgt>
                                        </p:tgtEl>
                                      </p:cBhvr>
                                    </p:animEffect>
                                    <p:anim calcmode="lin" valueType="num">
                                      <p:cBhvr>
                                        <p:cTn id="29" dur="1000" fill="hold"/>
                                        <p:tgtEl>
                                          <p:spTgt spid="7">
                                            <p:txEl>
                                              <p:pRg st="6" end="6"/>
                                            </p:txEl>
                                          </p:spTgt>
                                        </p:tgtEl>
                                        <p:attrNameLst>
                                          <p:attrName>ppt_x</p:attrName>
                                        </p:attrNameLst>
                                      </p:cBhvr>
                                      <p:tavLst>
                                        <p:tav tm="0">
                                          <p:val>
                                            <p:strVal val="#ppt_x"/>
                                          </p:val>
                                        </p:tav>
                                        <p:tav tm="100000">
                                          <p:val>
                                            <p:strVal val="#ppt_x"/>
                                          </p:val>
                                        </p:tav>
                                      </p:tavLst>
                                    </p:anim>
                                    <p:anim calcmode="lin" valueType="num">
                                      <p:cBhvr>
                                        <p:cTn id="30" dur="1000" fill="hold"/>
                                        <p:tgtEl>
                                          <p:spTgt spid="7">
                                            <p:txEl>
                                              <p:pRg st="6" end="6"/>
                                            </p:txEl>
                                          </p:spTgt>
                                        </p:tgtEl>
                                        <p:attrNameLst>
                                          <p:attrName>ppt_y</p:attrName>
                                        </p:attrNameLst>
                                      </p:cBhvr>
                                      <p:tavLst>
                                        <p:tav tm="0">
                                          <p:val>
                                            <p:strVal val="#ppt_y+.1"/>
                                          </p:val>
                                        </p:tav>
                                        <p:tav tm="100000">
                                          <p:val>
                                            <p:strVal val="#ppt_y"/>
                                          </p:val>
                                        </p:tav>
                                      </p:tavLst>
                                    </p:anim>
                                  </p:childTnLst>
                                </p:cTn>
                              </p:par>
                            </p:childTnLst>
                          </p:cTn>
                        </p:par>
                      </p:childTnLst>
                    </p:cTn>
                  </p:par>
                  <p:par>
                    <p:cTn id="31" fill="hold">
                      <p:stCondLst>
                        <p:cond delay="indefinite"/>
                      </p:stCondLst>
                      <p:childTnLst>
                        <p:par>
                          <p:cTn id="32" fill="hold">
                            <p:stCondLst>
                              <p:cond delay="0"/>
                            </p:stCondLst>
                            <p:childTnLst>
                              <p:par>
                                <p:cTn id="33" presetID="42" presetClass="entr" presetSubtype="0" fill="hold" nodeType="clickEffect">
                                  <p:stCondLst>
                                    <p:cond delay="0"/>
                                  </p:stCondLst>
                                  <p:childTnLst>
                                    <p:set>
                                      <p:cBhvr>
                                        <p:cTn id="34" dur="1" fill="hold">
                                          <p:stCondLst>
                                            <p:cond delay="0"/>
                                          </p:stCondLst>
                                        </p:cTn>
                                        <p:tgtEl>
                                          <p:spTgt spid="7">
                                            <p:txEl>
                                              <p:pRg st="8" end="8"/>
                                            </p:txEl>
                                          </p:spTgt>
                                        </p:tgtEl>
                                        <p:attrNameLst>
                                          <p:attrName>style.visibility</p:attrName>
                                        </p:attrNameLst>
                                      </p:cBhvr>
                                      <p:to>
                                        <p:strVal val="visible"/>
                                      </p:to>
                                    </p:set>
                                    <p:animEffect transition="in" filter="fade">
                                      <p:cBhvr>
                                        <p:cTn id="35" dur="1000"/>
                                        <p:tgtEl>
                                          <p:spTgt spid="7">
                                            <p:txEl>
                                              <p:pRg st="8" end="8"/>
                                            </p:txEl>
                                          </p:spTgt>
                                        </p:tgtEl>
                                      </p:cBhvr>
                                    </p:animEffect>
                                    <p:anim calcmode="lin" valueType="num">
                                      <p:cBhvr>
                                        <p:cTn id="36" dur="1000" fill="hold"/>
                                        <p:tgtEl>
                                          <p:spTgt spid="7">
                                            <p:txEl>
                                              <p:pRg st="8" end="8"/>
                                            </p:txEl>
                                          </p:spTgt>
                                        </p:tgtEl>
                                        <p:attrNameLst>
                                          <p:attrName>ppt_x</p:attrName>
                                        </p:attrNameLst>
                                      </p:cBhvr>
                                      <p:tavLst>
                                        <p:tav tm="0">
                                          <p:val>
                                            <p:strVal val="#ppt_x"/>
                                          </p:val>
                                        </p:tav>
                                        <p:tav tm="100000">
                                          <p:val>
                                            <p:strVal val="#ppt_x"/>
                                          </p:val>
                                        </p:tav>
                                      </p:tavLst>
                                    </p:anim>
                                    <p:anim calcmode="lin" valueType="num">
                                      <p:cBhvr>
                                        <p:cTn id="37" dur="1000" fill="hold"/>
                                        <p:tgtEl>
                                          <p:spTgt spid="7">
                                            <p:txEl>
                                              <p:pRg st="8" end="8"/>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PPT_Template_2010SummerSchool">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Classic 2">
      <a:majorFont>
        <a:latin typeface="Arial"/>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ajorFont>
      <a:minorFont>
        <a:latin typeface="Arial"/>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1_UPCRC_Powerpoint_Template_with I-Mark">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Classic 2">
      <a:majorFont>
        <a:latin typeface="Arial"/>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ajorFont>
      <a:minorFont>
        <a:latin typeface="Arial"/>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PPT_Template_2010SummerSchool</Template>
  <TotalTime>13610</TotalTime>
  <Words>2595</Words>
  <Application>Microsoft Office PowerPoint</Application>
  <PresentationFormat>On-screen Show (4:3)</PresentationFormat>
  <Paragraphs>311</Paragraphs>
  <Slides>11</Slides>
  <Notes>11</Notes>
  <HiddenSlides>0</HiddenSlides>
  <MMClips>0</MMClips>
  <ScaleCrop>false</ScaleCrop>
  <HeadingPairs>
    <vt:vector size="6" baseType="variant">
      <vt:variant>
        <vt:lpstr>Fonts Used</vt:lpstr>
      </vt:variant>
      <vt:variant>
        <vt:i4>4</vt:i4>
      </vt:variant>
      <vt:variant>
        <vt:lpstr>Theme</vt:lpstr>
      </vt:variant>
      <vt:variant>
        <vt:i4>2</vt:i4>
      </vt:variant>
      <vt:variant>
        <vt:lpstr>Slide Titles</vt:lpstr>
      </vt:variant>
      <vt:variant>
        <vt:i4>11</vt:i4>
      </vt:variant>
    </vt:vector>
  </HeadingPairs>
  <TitlesOfParts>
    <vt:vector size="17" baseType="lpstr">
      <vt:lpstr>MS PGothic</vt:lpstr>
      <vt:lpstr>Arial</vt:lpstr>
      <vt:lpstr>Arial Narrow</vt:lpstr>
      <vt:lpstr>Calibri</vt:lpstr>
      <vt:lpstr>PPT_Template_2010SummerSchool</vt:lpstr>
      <vt:lpstr>1_UPCRC_Powerpoint_Template_with I-Mark</vt:lpstr>
      <vt:lpstr>Romans</vt:lpstr>
      <vt:lpstr>The Grace of God Revealed How the perfectly just LORD has forgiven sin…!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Encouraging Self-Reflection Questions for the “Just Man” of Romans 4</vt:lpstr>
    </vt:vector>
  </TitlesOfParts>
  <Company>Microsoft Corporation</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Phil Pennington</dc:creator>
  <cp:lastModifiedBy>Phil Pennington</cp:lastModifiedBy>
  <cp:revision>629</cp:revision>
  <cp:lastPrinted>2026-05-03T02:15:50Z</cp:lastPrinted>
  <dcterms:created xsi:type="dcterms:W3CDTF">2010-06-16T02:58:04Z</dcterms:created>
  <dcterms:modified xsi:type="dcterms:W3CDTF">2026-05-05T02:04:14Z</dcterms:modified>
</cp:coreProperties>
</file>