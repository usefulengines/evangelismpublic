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4"/>
  </p:notesMasterIdLst>
  <p:sldIdLst>
    <p:sldId id="256" r:id="rId3"/>
    <p:sldId id="355" r:id="rId4"/>
    <p:sldId id="562" r:id="rId5"/>
    <p:sldId id="564" r:id="rId6"/>
    <p:sldId id="336" r:id="rId7"/>
    <p:sldId id="556" r:id="rId8"/>
    <p:sldId id="558" r:id="rId9"/>
    <p:sldId id="559" r:id="rId10"/>
    <p:sldId id="560" r:id="rId11"/>
    <p:sldId id="561" r:id="rId12"/>
    <p:sldId id="551" r:id="rId13"/>
  </p:sldIdLst>
  <p:sldSz cx="9144000" cy="6858000" type="screen4x3"/>
  <p:notesSz cx="7099300" cy="121285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230" autoAdjust="0"/>
    <p:restoredTop sz="71627" autoAdjust="0"/>
  </p:normalViewPr>
  <p:slideViewPr>
    <p:cSldViewPr>
      <p:cViewPr varScale="1">
        <p:scale>
          <a:sx n="104" d="100"/>
          <a:sy n="104" d="100"/>
        </p:scale>
        <p:origin x="1056"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2"/>
            <a:ext cx="3076364" cy="606425"/>
          </a:xfrm>
          <a:prstGeom prst="rect">
            <a:avLst/>
          </a:prstGeom>
        </p:spPr>
        <p:txBody>
          <a:bodyPr vert="horz" wrap="square" lIns="67949" tIns="33974" rIns="67949" bIns="33974" numCol="1" anchor="t" anchorCtr="0" compatLnSpc="1">
            <a:prstTxWarp prst="textNoShape">
              <a:avLst/>
            </a:prstTxWarp>
          </a:bodyPr>
          <a:lstStyle>
            <a:lvl1pPr>
              <a:defRPr sz="8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8" y="2"/>
            <a:ext cx="3076364" cy="606425"/>
          </a:xfrm>
          <a:prstGeom prst="rect">
            <a:avLst/>
          </a:prstGeom>
        </p:spPr>
        <p:txBody>
          <a:bodyPr vert="horz" wrap="square" lIns="67949" tIns="33974" rIns="67949" bIns="33974" numCol="1" anchor="t" anchorCtr="0" compatLnSpc="1">
            <a:prstTxWarp prst="textNoShape">
              <a:avLst/>
            </a:prstTxWarp>
          </a:bodyPr>
          <a:lstStyle>
            <a:lvl1pPr algn="r">
              <a:defRPr sz="800">
                <a:latin typeface="Arial" pitchFamily="34" charset="0"/>
                <a:ea typeface="ＭＳ Ｐゴシック" pitchFamily="-106" charset="-128"/>
              </a:defRPr>
            </a:lvl1pPr>
          </a:lstStyle>
          <a:p>
            <a:pPr>
              <a:defRPr/>
            </a:pPr>
            <a:fld id="{37B93000-4848-40F5-8AEF-44DFB12065B3}" type="datetime1">
              <a:rPr lang="en-US"/>
              <a:pPr>
                <a:defRPr/>
              </a:pPr>
              <a:t>5/10/2026</a:t>
            </a:fld>
            <a:endParaRPr lang="en-US"/>
          </a:p>
        </p:txBody>
      </p:sp>
      <p:sp>
        <p:nvSpPr>
          <p:cNvPr id="4" name="Slide Image Placeholder 3"/>
          <p:cNvSpPr>
            <a:spLocks noGrp="1" noRot="1" noChangeAspect="1"/>
          </p:cNvSpPr>
          <p:nvPr>
            <p:ph type="sldImg" idx="2"/>
          </p:nvPr>
        </p:nvSpPr>
        <p:spPr>
          <a:xfrm>
            <a:off x="517525" y="911225"/>
            <a:ext cx="6064250" cy="4548188"/>
          </a:xfrm>
          <a:prstGeom prst="rect">
            <a:avLst/>
          </a:prstGeom>
          <a:noFill/>
          <a:ln w="12700">
            <a:solidFill>
              <a:prstClr val="black"/>
            </a:solidFill>
          </a:ln>
        </p:spPr>
        <p:txBody>
          <a:bodyPr vert="horz" wrap="square" lIns="67949" tIns="33974" rIns="67949" bIns="33974"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5761041"/>
            <a:ext cx="5679440" cy="5457825"/>
          </a:xfrm>
          <a:prstGeom prst="rect">
            <a:avLst/>
          </a:prstGeom>
        </p:spPr>
        <p:txBody>
          <a:bodyPr vert="horz" wrap="square" lIns="67949" tIns="33974" rIns="67949" bIns="33974"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11519972"/>
            <a:ext cx="3076364" cy="606425"/>
          </a:xfrm>
          <a:prstGeom prst="rect">
            <a:avLst/>
          </a:prstGeom>
        </p:spPr>
        <p:txBody>
          <a:bodyPr vert="horz" wrap="square" lIns="67949" tIns="33974" rIns="67949" bIns="33974" numCol="1" anchor="b" anchorCtr="0" compatLnSpc="1">
            <a:prstTxWarp prst="textNoShape">
              <a:avLst/>
            </a:prstTxWarp>
          </a:bodyPr>
          <a:lstStyle>
            <a:lvl1pPr>
              <a:defRPr sz="8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8" y="11519972"/>
            <a:ext cx="3076364" cy="606425"/>
          </a:xfrm>
          <a:prstGeom prst="rect">
            <a:avLst/>
          </a:prstGeom>
        </p:spPr>
        <p:txBody>
          <a:bodyPr vert="horz" wrap="square" lIns="67949" tIns="33974" rIns="67949" bIns="33974" numCol="1" anchor="b" anchorCtr="0" compatLnSpc="1">
            <a:prstTxWarp prst="textNoShape">
              <a:avLst/>
            </a:prstTxWarp>
          </a:bodyPr>
          <a:lstStyle>
            <a:lvl1pPr algn="r">
              <a:defRPr sz="8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23789" indent="-123789">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dirty="0"/>
          </a:p>
          <a:p>
            <a:r>
              <a:rPr lang="en-US" b="1" dirty="0"/>
              <a:t>FIRST - Read Romans 3:21-26</a:t>
            </a:r>
          </a:p>
          <a:p>
            <a:endParaRPr lang="en-US" dirty="0"/>
          </a:p>
          <a:p>
            <a:r>
              <a:rPr lang="en-US" b="1" dirty="0"/>
              <a:t>THE QUESTION:</a:t>
            </a:r>
          </a:p>
          <a:p>
            <a:pPr marL="123798" indent="-123798">
              <a:buFont typeface="Arial" pitchFamily="34" charset="0"/>
              <a:buChar char="•"/>
            </a:pPr>
            <a:r>
              <a:rPr lang="en-US" dirty="0"/>
              <a:t>How can a perfectly </a:t>
            </a:r>
            <a:r>
              <a:rPr lang="en-US" b="1" dirty="0"/>
              <a:t>just</a:t>
            </a:r>
            <a:r>
              <a:rPr lang="en-US" dirty="0"/>
              <a:t> God forgive sins? </a:t>
            </a:r>
          </a:p>
          <a:p>
            <a:pPr marL="123798" indent="-123798">
              <a:buFont typeface="Arial" pitchFamily="34" charset="0"/>
              <a:buChar char="•"/>
            </a:pPr>
            <a:r>
              <a:rPr lang="en-US" dirty="0"/>
              <a:t>How can </a:t>
            </a:r>
            <a:r>
              <a:rPr lang="en-US" b="1" dirty="0"/>
              <a:t>sinful</a:t>
            </a:r>
            <a:r>
              <a:rPr lang="en-US" dirty="0"/>
              <a:t> man find favor with a </a:t>
            </a:r>
            <a:r>
              <a:rPr lang="en-US" b="1" dirty="0"/>
              <a:t>righteous</a:t>
            </a:r>
            <a:r>
              <a:rPr lang="en-US" dirty="0"/>
              <a:t> God?</a:t>
            </a:r>
          </a:p>
          <a:p>
            <a:pPr marL="123798" indent="-123798">
              <a:buFont typeface="Arial" pitchFamily="34" charset="0"/>
              <a:buChar char="•"/>
            </a:pPr>
            <a:endParaRPr lang="en-US" dirty="0"/>
          </a:p>
          <a:p>
            <a:r>
              <a:rPr lang="en-US" b="1" dirty="0"/>
              <a:t>THE ANALOGY:</a:t>
            </a:r>
          </a:p>
          <a:p>
            <a:pPr marL="123798" indent="-123798">
              <a:buFont typeface="Arial" pitchFamily="34" charset="0"/>
              <a:buChar char="•"/>
            </a:pPr>
            <a:r>
              <a:rPr lang="en-US" dirty="0"/>
              <a:t>God (the Son) presides as the Judge of mankind (pagan, moral, and spiritual men).   John 5:22</a:t>
            </a:r>
          </a:p>
          <a:p>
            <a:pPr marL="123798" indent="-123798">
              <a:buFont typeface="Arial" pitchFamily="34" charset="0"/>
              <a:buChar char="•"/>
            </a:pPr>
            <a:r>
              <a:rPr lang="en-US" dirty="0"/>
              <a:t>The Son steps down from the Judgment seat and assumes the seat of the plaintiff (mankind).   Isaiah 53:11</a:t>
            </a:r>
          </a:p>
          <a:p>
            <a:pPr marL="123798" indent="-123798">
              <a:buFont typeface="Arial" pitchFamily="34" charset="0"/>
              <a:buChar char="•"/>
            </a:pPr>
            <a:r>
              <a:rPr lang="en-US" dirty="0"/>
              <a:t>The Son himself assumes the just penalty of sin for all of sinful mankind.    </a:t>
            </a:r>
          </a:p>
          <a:p>
            <a:pPr marL="123798" indent="-123798">
              <a:buFont typeface="Arial" pitchFamily="34" charset="0"/>
              <a:buChar char="•"/>
            </a:pPr>
            <a:r>
              <a:rPr lang="en-US" dirty="0"/>
              <a:t>The Father is satisfied with the just payment for sin. </a:t>
            </a:r>
          </a:p>
          <a:p>
            <a:pPr marL="123798" indent="-123798" defTabSz="660257">
              <a:buFont typeface="Arial" pitchFamily="34" charset="0"/>
              <a:buChar char="•"/>
              <a:defRPr/>
            </a:pPr>
            <a:r>
              <a:rPr lang="en-US" dirty="0"/>
              <a:t>The Father demonstrates mercy by extending the righteousness of one man to cover many.      2 Cor. 5:21</a:t>
            </a:r>
          </a:p>
          <a:p>
            <a:endParaRPr lang="en-US" dirty="0"/>
          </a:p>
          <a:p>
            <a:r>
              <a:rPr lang="en-US" b="1" dirty="0"/>
              <a:t>God demonstrates His perfect justice at the same time that he demonstrates His perfect mercy…  in the act of delivering justice, he also justifies.</a:t>
            </a:r>
          </a:p>
          <a:p>
            <a:endParaRPr lang="en-US" dirty="0"/>
          </a:p>
          <a:p>
            <a:r>
              <a:rPr lang="en-US" dirty="0"/>
              <a:t>Eph. 2:8   “For by grace you have been saved through faith, and that not of yourselves; it is the gift of God, not of works, lest anyone should boast.</a:t>
            </a:r>
          </a:p>
          <a:p>
            <a:endParaRPr lang="en-US" dirty="0"/>
          </a:p>
          <a:p>
            <a:r>
              <a:rPr lang="en-US" b="1" dirty="0"/>
              <a:t>Hallelujah!   What a Savior!</a:t>
            </a:r>
          </a:p>
          <a:p>
            <a:endParaRPr lang="en-US" b="1" dirty="0"/>
          </a:p>
          <a:p>
            <a:endParaRPr lang="en-US" b="1" dirty="0"/>
          </a:p>
          <a:p>
            <a:pPr defTabSz="766724">
              <a:defRPr/>
            </a:pPr>
            <a:r>
              <a:rPr lang="en-US" sz="1000" b="1" dirty="0"/>
              <a:t>God justifies sinners by faith, not by works, and Abraham is the pattern for all who believe.</a:t>
            </a:r>
            <a:endParaRPr lang="en-US" sz="1000" dirty="0"/>
          </a:p>
          <a:p>
            <a:endParaRPr lang="en-US" b="1"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951345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Doctrinal Comparison Chart</a:t>
            </a:r>
            <a:r>
              <a:rPr lang="en-US" dirty="0"/>
              <a:t> - </a:t>
            </a:r>
            <a:r>
              <a:rPr lang="en-US" b="1" dirty="0"/>
              <a:t>Key Areas of Debate</a:t>
            </a:r>
            <a:endParaRPr lang="en-US" dirty="0"/>
          </a:p>
          <a:p>
            <a:endParaRPr lang="en-US" dirty="0"/>
          </a:p>
          <a:p>
            <a:r>
              <a:rPr lang="en-US" b="1" dirty="0"/>
              <a:t>Discussion Reflection</a:t>
            </a:r>
            <a:endParaRPr lang="en-US" dirty="0"/>
          </a:p>
          <a:p>
            <a:pPr rtl="0" fontAlgn="ctr"/>
            <a:r>
              <a:rPr lang="en-US" dirty="0"/>
              <a:t>How does Romans define faith?</a:t>
            </a:r>
          </a:p>
          <a:p>
            <a:pPr rtl="0" fontAlgn="ctr"/>
            <a:r>
              <a:rPr lang="en-US" dirty="0"/>
              <a:t>What is the role of obedience?</a:t>
            </a:r>
          </a:p>
          <a:p>
            <a:pPr rtl="0" fontAlgn="ctr"/>
            <a:r>
              <a:rPr lang="en-US" dirty="0"/>
              <a:t>How do grace and obedience work together?</a:t>
            </a:r>
          </a:p>
          <a:p>
            <a:pPr rtl="0" fontAlgn="ctr"/>
            <a:r>
              <a:rPr lang="en-US" dirty="0"/>
              <a:t>What does it mean to be “in Christ”?</a:t>
            </a:r>
          </a:p>
          <a:p>
            <a:pPr rtl="0" fontAlgn="ctr"/>
            <a:r>
              <a:rPr lang="en-US" dirty="0"/>
              <a:t>How should this shape how you live?</a:t>
            </a:r>
          </a:p>
          <a:p>
            <a:r>
              <a:rPr lang="en-US" dirty="0"/>
              <a:t> </a:t>
            </a:r>
          </a:p>
          <a:p>
            <a:r>
              <a:rPr lang="en-US" b="1" dirty="0"/>
              <a:t>Two Ways of Understanding Salvation</a:t>
            </a:r>
            <a:endParaRPr lang="en-US" dirty="0"/>
          </a:p>
          <a:p>
            <a:pPr rtl="0" fontAlgn="t"/>
            <a:r>
              <a:rPr lang="en-US" b="1" dirty="0"/>
              <a:t>Question</a:t>
            </a:r>
            <a:r>
              <a:rPr lang="en-US" dirty="0"/>
              <a:t>		</a:t>
            </a:r>
            <a:r>
              <a:rPr lang="en-US" b="1" dirty="0"/>
              <a:t>Protestant Emphasis</a:t>
            </a:r>
            <a:r>
              <a:rPr lang="en-US" dirty="0"/>
              <a:t>		</a:t>
            </a:r>
            <a:r>
              <a:rPr lang="en-US" b="1" dirty="0"/>
              <a:t>Restoration Emphasis</a:t>
            </a:r>
            <a:endParaRPr lang="en-US" dirty="0"/>
          </a:p>
          <a:p>
            <a:pPr rtl="0" fontAlgn="t"/>
            <a:r>
              <a:rPr lang="en-US" dirty="0"/>
              <a:t>What saves?		Faith alone			Grace through obedient faith</a:t>
            </a:r>
          </a:p>
          <a:p>
            <a:pPr rtl="0" fontAlgn="t"/>
            <a:r>
              <a:rPr lang="en-US" dirty="0"/>
              <a:t>When does salvation occur?	At belief			At response to gospel (faith, repentance, baptism)</a:t>
            </a:r>
          </a:p>
          <a:p>
            <a:pPr rtl="0" fontAlgn="t"/>
            <a:r>
              <a:rPr lang="en-US" dirty="0"/>
              <a:t>What follows?		Obedience as evidence		Obedience as part of faith and ongoing life</a:t>
            </a: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1429499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E47AB-828A-E645-1EB5-C842571C5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9C5E5-238B-2A56-2A48-36AB42AFA8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5A5EE5-A0FC-E877-34D7-F85B2682BF82}"/>
              </a:ext>
            </a:extLst>
          </p:cNvPr>
          <p:cNvSpPr>
            <a:spLocks noGrp="1"/>
          </p:cNvSpPr>
          <p:nvPr>
            <p:ph type="body" idx="1"/>
          </p:nvPr>
        </p:nvSpPr>
        <p:spPr/>
        <p:txBody>
          <a:bodyPr>
            <a:normAutofit/>
          </a:bodyPr>
          <a:lstStyle/>
          <a:p>
            <a:r>
              <a:rPr lang="en-US" b="1" dirty="0"/>
              <a:t>Two Paths in Romans</a:t>
            </a:r>
            <a:endParaRPr lang="en-US" dirty="0"/>
          </a:p>
          <a:p>
            <a:pPr rtl="0" fontAlgn="t"/>
            <a:endParaRPr lang="en-US" b="1" dirty="0"/>
          </a:p>
          <a:p>
            <a:pPr rtl="0" fontAlgn="t"/>
            <a:r>
              <a:rPr lang="en-US" b="1" u="sng" dirty="0"/>
              <a:t>Path</a:t>
            </a:r>
            <a:r>
              <a:rPr lang="en-US" dirty="0"/>
              <a:t>		</a:t>
            </a:r>
            <a:r>
              <a:rPr lang="en-US" b="1" u="sng" dirty="0"/>
              <a:t>Description</a:t>
            </a:r>
            <a:r>
              <a:rPr lang="en-US" dirty="0"/>
              <a:t>			</a:t>
            </a:r>
            <a:r>
              <a:rPr lang="en-US" b="1" u="sng" dirty="0"/>
              <a:t>Key Verses</a:t>
            </a:r>
            <a:r>
              <a:rPr lang="en-US" dirty="0"/>
              <a:t>		</a:t>
            </a:r>
          </a:p>
          <a:p>
            <a:pPr rtl="0" fontAlgn="t"/>
            <a:r>
              <a:rPr lang="en-US" b="1" dirty="0"/>
              <a:t>Man’s Righteousness   	</a:t>
            </a:r>
            <a:r>
              <a:rPr lang="en-US" dirty="0"/>
              <a:t>Self-trust, works, law-keeping		Romans 10:3</a:t>
            </a:r>
          </a:p>
          <a:p>
            <a:pPr rtl="0" fontAlgn="t"/>
            <a:r>
              <a:rPr lang="en-US" b="1" dirty="0"/>
              <a:t>God’s Righteousness	</a:t>
            </a:r>
            <a:r>
              <a:rPr lang="en-US" dirty="0"/>
              <a:t>Grace, faith, Christ, new life		Romans 3:22</a:t>
            </a:r>
          </a:p>
          <a:p>
            <a:pPr lvl="0"/>
            <a:endParaRPr lang="en-US" dirty="0"/>
          </a:p>
          <a:p>
            <a:r>
              <a:rPr lang="en-US" b="1" u="sng" dirty="0"/>
              <a:t>Simple Summary</a:t>
            </a:r>
            <a:endParaRPr lang="en-US" u="sng" dirty="0"/>
          </a:p>
          <a:p>
            <a:pPr rtl="0" fontAlgn="ctr"/>
            <a:r>
              <a:rPr lang="en-US" dirty="0"/>
              <a:t>All agree: salvation is by grace</a:t>
            </a:r>
          </a:p>
          <a:p>
            <a:pPr rtl="0" fontAlgn="ctr"/>
            <a:r>
              <a:rPr lang="en-US" dirty="0"/>
              <a:t>The main difference: </a:t>
            </a:r>
            <a:r>
              <a:rPr lang="en-US" b="1" dirty="0"/>
              <a:t>what faith includes</a:t>
            </a:r>
            <a:endParaRPr lang="en-US" dirty="0"/>
          </a:p>
          <a:p>
            <a:pPr rtl="0" fontAlgn="ctr"/>
            <a:r>
              <a:rPr lang="en-US" dirty="0"/>
              <a:t>Romans calls for:</a:t>
            </a:r>
          </a:p>
          <a:p>
            <a:pPr lvl="1" rtl="0" fontAlgn="ctr"/>
            <a:r>
              <a:rPr lang="en-US" dirty="0"/>
              <a:t>faith</a:t>
            </a:r>
          </a:p>
          <a:p>
            <a:pPr lvl="1" rtl="0" fontAlgn="ctr"/>
            <a:r>
              <a:rPr lang="en-US" dirty="0"/>
              <a:t>submission</a:t>
            </a:r>
          </a:p>
          <a:p>
            <a:pPr lvl="1" rtl="0" fontAlgn="ctr"/>
            <a:r>
              <a:rPr lang="en-US" dirty="0"/>
              <a:t>transformation</a:t>
            </a:r>
          </a:p>
          <a:p>
            <a:pPr lvl="1" rtl="0" fontAlgn="ctr"/>
            <a:r>
              <a:rPr lang="en-US" dirty="0"/>
              <a:t>perseverance</a:t>
            </a:r>
          </a:p>
          <a:p>
            <a:pPr lvl="0"/>
            <a:endParaRPr lang="en-US" dirty="0"/>
          </a:p>
        </p:txBody>
      </p:sp>
      <p:sp>
        <p:nvSpPr>
          <p:cNvPr id="4" name="Slide Number Placeholder 3">
            <a:extLst>
              <a:ext uri="{FF2B5EF4-FFF2-40B4-BE49-F238E27FC236}">
                <a16:creationId xmlns:a16="http://schemas.microsoft.com/office/drawing/2014/main" id="{B32CA9E5-C59C-1604-420A-8EBA34FDE2C5}"/>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3067463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b="1" dirty="0"/>
              <a:t>God’s Character in the Promise to Abraham</a:t>
            </a:r>
            <a:endParaRPr lang="en-US" dirty="0"/>
          </a:p>
          <a:p>
            <a:pPr rtl="0" fontAlgn="ctr"/>
            <a:endParaRPr lang="en-US" b="1" dirty="0"/>
          </a:p>
          <a:p>
            <a:pPr rtl="0" fontAlgn="ctr"/>
            <a:r>
              <a:rPr lang="en-US" b="1" dirty="0"/>
              <a:t>Initiator of the Covenant</a:t>
            </a:r>
            <a:endParaRPr lang="en-US" dirty="0"/>
          </a:p>
          <a:p>
            <a:pPr lvl="1" rtl="0" fontAlgn="ctr"/>
            <a:r>
              <a:rPr lang="en-US" i="1" dirty="0"/>
              <a:t>Genesis 12:1–3</a:t>
            </a:r>
            <a:r>
              <a:rPr lang="en-US" dirty="0"/>
              <a:t>  God calls Abraham to leave his homeland, initiating the promise.</a:t>
            </a:r>
          </a:p>
          <a:p>
            <a:pPr lvl="1" rtl="0" fontAlgn="ctr"/>
            <a:r>
              <a:rPr lang="en-US" dirty="0"/>
              <a:t>God’s promises are grounded in His initiative, not Abraham’s worthiness.</a:t>
            </a:r>
          </a:p>
          <a:p>
            <a:pPr rtl="0" fontAlgn="ctr"/>
            <a:r>
              <a:rPr lang="en-US" b="1" dirty="0"/>
              <a:t>Covenant Keeper</a:t>
            </a:r>
            <a:endParaRPr lang="en-US" dirty="0"/>
          </a:p>
          <a:p>
            <a:pPr lvl="1" rtl="0" fontAlgn="ctr"/>
            <a:r>
              <a:rPr lang="en-US" i="1" dirty="0"/>
              <a:t>Genesis 15:1–6</a:t>
            </a:r>
            <a:r>
              <a:rPr lang="en-US" dirty="0"/>
              <a:t>   God ratifies the covenant by passing between the pieces, showing He alone carries the responsibility of fulfillment.</a:t>
            </a:r>
          </a:p>
          <a:p>
            <a:pPr lvl="1" rtl="0" fontAlgn="ctr"/>
            <a:r>
              <a:rPr lang="en-US" i="1" dirty="0"/>
              <a:t>Genesis 17:7</a:t>
            </a:r>
            <a:r>
              <a:rPr lang="en-US" dirty="0"/>
              <a:t>   God calls it an “everlasting covenant.”</a:t>
            </a:r>
          </a:p>
          <a:p>
            <a:pPr rtl="0" fontAlgn="ctr"/>
            <a:r>
              <a:rPr lang="en-US" b="1" dirty="0"/>
              <a:t>Faithfulness Across Generations</a:t>
            </a:r>
            <a:endParaRPr lang="en-US" dirty="0"/>
          </a:p>
          <a:p>
            <a:pPr lvl="1" rtl="0" fontAlgn="ctr"/>
            <a:r>
              <a:rPr lang="en-US" dirty="0"/>
              <a:t>God reiterates His promise to Isaac (Genesis 26:3–4) and Jacob (Genesis 28:13–15).</a:t>
            </a:r>
          </a:p>
          <a:p>
            <a:endParaRPr lang="en-US" b="1" dirty="0"/>
          </a:p>
          <a:p>
            <a:r>
              <a:rPr lang="en-US" b="1" dirty="0"/>
              <a:t>Teaching Point:</a:t>
            </a:r>
            <a:r>
              <a:rPr lang="en-US" dirty="0"/>
              <a:t> God’s character is revealed in His unilateral commitment to Abraham  - He binds Himself to His promises with no possibility of failure.</a:t>
            </a:r>
          </a:p>
          <a:p>
            <a:pPr lvl="0"/>
            <a:endParaRPr lang="en-US" dirty="0"/>
          </a:p>
          <a:p>
            <a:pPr rtl="0" fontAlgn="ctr"/>
            <a:r>
              <a:rPr lang="en-US" b="1" dirty="0"/>
              <a:t>Overview:</a:t>
            </a:r>
            <a:r>
              <a:rPr lang="en-US" dirty="0"/>
              <a:t> God’s covenant with Abraham (land, descendants, blessing) sets the redemptive trajectory.</a:t>
            </a:r>
          </a:p>
          <a:p>
            <a:pPr rtl="0" fontAlgn="ctr"/>
            <a:r>
              <a:rPr lang="en-US" b="1" dirty="0"/>
              <a:t>Teaching Notes:</a:t>
            </a:r>
            <a:endParaRPr lang="en-US" dirty="0"/>
          </a:p>
          <a:p>
            <a:pPr lvl="1" rtl="0" fontAlgn="ctr"/>
            <a:r>
              <a:rPr lang="en-US" dirty="0"/>
              <a:t>Genesis 12:1–3 → Call and promise.</a:t>
            </a:r>
          </a:p>
          <a:p>
            <a:pPr lvl="1" rtl="0" fontAlgn="ctr"/>
            <a:r>
              <a:rPr lang="en-US" dirty="0"/>
              <a:t>Genesis 15 → Covenant ratified by God alone.</a:t>
            </a:r>
          </a:p>
          <a:p>
            <a:pPr lvl="1" rtl="0" fontAlgn="ctr"/>
            <a:r>
              <a:rPr lang="en-US" dirty="0"/>
              <a:t>Galatians 3:7–9 → Fulfilled in Christ for all nations.</a:t>
            </a:r>
          </a:p>
          <a:p>
            <a:pPr rtl="0" fontAlgn="ctr"/>
            <a:r>
              <a:rPr lang="en-US" b="1" dirty="0"/>
              <a:t>Cross-References:</a:t>
            </a:r>
            <a:r>
              <a:rPr lang="en-US" dirty="0"/>
              <a:t> Romans 4:20–21; Hebrews 11:8–12.</a:t>
            </a:r>
          </a:p>
          <a:p>
            <a:pPr rtl="0" fontAlgn="ctr"/>
            <a:endParaRPr lang="en-US" dirty="0"/>
          </a:p>
          <a:p>
            <a:pPr rtl="0" fontAlgn="ctr"/>
            <a:r>
              <a:rPr lang="en-US" b="1" dirty="0"/>
              <a:t>Discussion Guidance:</a:t>
            </a:r>
            <a:r>
              <a:rPr lang="en-US" dirty="0"/>
              <a:t> Highlight Abraham’s faith response; How did Abraham’s respond?   </a:t>
            </a:r>
          </a:p>
          <a:p>
            <a:pPr lvl="0"/>
            <a:endParaRPr lang="en-US" dirty="0"/>
          </a:p>
          <a:p>
            <a:pPr defTabSz="766724">
              <a:defRPr/>
            </a:pPr>
            <a:r>
              <a:rPr lang="en-US" b="1" dirty="0"/>
              <a:t>READ:  Romans 4:20–21; Hebrews 11:8–12.</a:t>
            </a:r>
          </a:p>
          <a:p>
            <a:pPr lvl="0"/>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60240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7B2D3-92A7-9CDF-1984-501A4F941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D685F-C5A6-C76F-E631-FC5ABFB061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2E2E38-7FC5-CCA8-9084-88D6BEED6A57}"/>
              </a:ext>
            </a:extLst>
          </p:cNvPr>
          <p:cNvSpPr>
            <a:spLocks noGrp="1"/>
          </p:cNvSpPr>
          <p:nvPr>
            <p:ph type="body" idx="1"/>
          </p:nvPr>
        </p:nvSpPr>
        <p:spPr/>
        <p:txBody>
          <a:bodyPr>
            <a:normAutofit fontScale="92500"/>
          </a:bodyPr>
          <a:lstStyle/>
          <a:p>
            <a:r>
              <a:rPr lang="en-US" b="1" dirty="0"/>
              <a:t>God’s Character Revealed in Christ (Abraham’s Seed)</a:t>
            </a:r>
          </a:p>
          <a:p>
            <a:endParaRPr lang="en-US" dirty="0"/>
          </a:p>
          <a:p>
            <a:pPr rtl="0" fontAlgn="ctr"/>
            <a:r>
              <a:rPr lang="en-US" b="1" dirty="0"/>
              <a:t>Jesus, the Fulfillment of the Promise</a:t>
            </a:r>
            <a:endParaRPr lang="en-US" dirty="0"/>
          </a:p>
          <a:p>
            <a:pPr lvl="1" rtl="0" fontAlgn="ctr"/>
            <a:r>
              <a:rPr lang="en-US" i="1" dirty="0"/>
              <a:t>Galatians 3:16</a:t>
            </a:r>
            <a:r>
              <a:rPr lang="en-US" dirty="0"/>
              <a:t>  The promises were ultimately to Abraham’s “seed,” Christ.</a:t>
            </a:r>
          </a:p>
          <a:p>
            <a:pPr lvl="1" rtl="0" fontAlgn="ctr"/>
            <a:r>
              <a:rPr lang="en-US" i="1" dirty="0"/>
              <a:t>Luke 3:34</a:t>
            </a:r>
            <a:r>
              <a:rPr lang="en-US" dirty="0"/>
              <a:t>   Jesus is in Abraham’s line, the heir of the covenant.</a:t>
            </a:r>
          </a:p>
          <a:p>
            <a:pPr rtl="0" fontAlgn="ctr"/>
            <a:r>
              <a:rPr lang="en-US" b="1" dirty="0"/>
              <a:t>Blessing to the Nations</a:t>
            </a:r>
            <a:endParaRPr lang="en-US" dirty="0"/>
          </a:p>
          <a:p>
            <a:pPr lvl="1" rtl="0" fontAlgn="ctr"/>
            <a:r>
              <a:rPr lang="en-US" i="1" dirty="0"/>
              <a:t>Galatians 3:8</a:t>
            </a:r>
            <a:r>
              <a:rPr lang="en-US" dirty="0"/>
              <a:t>   The gospel was announced beforehand to Abraham: all nations blessed in Christ.</a:t>
            </a:r>
          </a:p>
          <a:p>
            <a:pPr lvl="1" rtl="0" fontAlgn="ctr"/>
            <a:r>
              <a:rPr lang="en-US" i="1" dirty="0"/>
              <a:t>Matthew 28:19</a:t>
            </a:r>
            <a:r>
              <a:rPr lang="en-US" dirty="0"/>
              <a:t>   Fulfillment in the Great Commission to the nations.</a:t>
            </a:r>
          </a:p>
          <a:p>
            <a:pPr rtl="0" fontAlgn="ctr"/>
            <a:r>
              <a:rPr lang="en-US" b="1" dirty="0"/>
              <a:t>Faith as the Response</a:t>
            </a:r>
            <a:endParaRPr lang="en-US" dirty="0"/>
          </a:p>
          <a:p>
            <a:pPr lvl="1" rtl="0" fontAlgn="ctr"/>
            <a:r>
              <a:rPr lang="en-US" i="1" dirty="0"/>
              <a:t>Romans 4:20–21</a:t>
            </a:r>
            <a:r>
              <a:rPr lang="en-US" dirty="0"/>
              <a:t>   Abraham’s faith in God’s promise models how we trust in Christ.</a:t>
            </a:r>
          </a:p>
          <a:p>
            <a:pPr lvl="1" rtl="0" fontAlgn="ctr"/>
            <a:endParaRPr lang="en-US" dirty="0"/>
          </a:p>
          <a:p>
            <a:r>
              <a:rPr lang="en-US" b="1" dirty="0"/>
              <a:t>Teaching Point:</a:t>
            </a:r>
            <a:r>
              <a:rPr lang="en-US" dirty="0"/>
              <a:t> The covenant blessing reaches its climax in Jesus Christ, who brings salvation to every nation.</a:t>
            </a:r>
          </a:p>
          <a:p>
            <a:endParaRPr lang="en-US" dirty="0"/>
          </a:p>
          <a:p>
            <a:endParaRPr lang="en-US" dirty="0"/>
          </a:p>
          <a:p>
            <a:r>
              <a:rPr lang="en-US" b="1" dirty="0"/>
              <a:t>Discussion Questions</a:t>
            </a:r>
            <a:endParaRPr lang="en-US" dirty="0"/>
          </a:p>
          <a:p>
            <a:pPr rtl="0" fontAlgn="ctr"/>
            <a:r>
              <a:rPr lang="en-US" dirty="0"/>
              <a:t>Why did God’s promise to Abraham matter so much in the biblical storyline?</a:t>
            </a:r>
          </a:p>
          <a:p>
            <a:pPr rtl="0" fontAlgn="ctr"/>
            <a:r>
              <a:rPr lang="en-US" b="1" dirty="0"/>
              <a:t>How does Abraham’s faith model the way we are to trust God today?</a:t>
            </a:r>
          </a:p>
          <a:p>
            <a:pPr rtl="0" fontAlgn="ctr"/>
            <a:r>
              <a:rPr lang="en-US" dirty="0"/>
              <a:t>In what ways are you personally living as an heir of Abraham’s promise?</a:t>
            </a:r>
          </a:p>
          <a:p>
            <a:pPr rtl="0" fontAlgn="ctr"/>
            <a:r>
              <a:rPr lang="en-US" dirty="0"/>
              <a:t>How does this covenant shape our mission to bless the nations?</a:t>
            </a:r>
          </a:p>
          <a:p>
            <a:endParaRPr lang="en-US" dirty="0"/>
          </a:p>
        </p:txBody>
      </p:sp>
      <p:sp>
        <p:nvSpPr>
          <p:cNvPr id="4" name="Slide Number Placeholder 3">
            <a:extLst>
              <a:ext uri="{FF2B5EF4-FFF2-40B4-BE49-F238E27FC236}">
                <a16:creationId xmlns:a16="http://schemas.microsoft.com/office/drawing/2014/main" id="{674C1806-F0F4-D575-BA60-115600A86D76}"/>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2388430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8BF06-F966-B39B-09C5-2EC93F0CA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F5257-3A74-ED22-BC05-BE02BCD96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699129-E9F6-6023-D665-985F2DB6ECBF}"/>
              </a:ext>
            </a:extLst>
          </p:cNvPr>
          <p:cNvSpPr>
            <a:spLocks noGrp="1"/>
          </p:cNvSpPr>
          <p:nvPr>
            <p:ph type="body" idx="1"/>
          </p:nvPr>
        </p:nvSpPr>
        <p:spPr/>
        <p:txBody>
          <a:bodyPr>
            <a:normAutofit fontScale="92500" lnSpcReduction="10000"/>
          </a:bodyPr>
          <a:lstStyle/>
          <a:p>
            <a:r>
              <a:rPr lang="en-US" dirty="0"/>
              <a:t>These passages explicitly </a:t>
            </a:r>
            <a:r>
              <a:rPr lang="en-US" b="1" dirty="0"/>
              <a:t>quote or allude</a:t>
            </a:r>
            <a:r>
              <a:rPr lang="en-US" dirty="0"/>
              <a:t> to God’s words in Genesis 12:1-3, 15:5-6, or 17:7.</a:t>
            </a:r>
          </a:p>
          <a:p>
            <a:endParaRPr lang="en-US" dirty="0"/>
          </a:p>
          <a:p>
            <a:pPr defTabSz="786736"/>
            <a:endParaRPr lang="en-US" dirty="0"/>
          </a:p>
          <a:p>
            <a:endParaRPr lang="en-US" dirty="0"/>
          </a:p>
        </p:txBody>
      </p:sp>
      <p:sp>
        <p:nvSpPr>
          <p:cNvPr id="4" name="Slide Number Placeholder 3">
            <a:extLst>
              <a:ext uri="{FF2B5EF4-FFF2-40B4-BE49-F238E27FC236}">
                <a16:creationId xmlns:a16="http://schemas.microsoft.com/office/drawing/2014/main" id="{A0E90E1C-B8B1-575A-34A6-ACCF5274D2BA}"/>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dirty="0"/>
          </a:p>
        </p:txBody>
      </p:sp>
    </p:spTree>
    <p:extLst>
      <p:ext uri="{BB962C8B-B14F-4D97-AF65-F5344CB8AC3E}">
        <p14:creationId xmlns:p14="http://schemas.microsoft.com/office/powerpoint/2010/main" val="17662112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33DC2-C5AB-76E8-A362-AF21AB5983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AFD2DC-45CA-30C4-D9E1-7441A55A25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CB7B08-0738-7796-2E3B-B0A3CA99B812}"/>
              </a:ext>
            </a:extLst>
          </p:cNvPr>
          <p:cNvSpPr>
            <a:spLocks noGrp="1"/>
          </p:cNvSpPr>
          <p:nvPr>
            <p:ph type="body" idx="1"/>
          </p:nvPr>
        </p:nvSpPr>
        <p:spPr/>
        <p:txBody>
          <a:bodyPr>
            <a:normAutofit/>
          </a:bodyPr>
          <a:lstStyle/>
          <a:p>
            <a:r>
              <a:rPr lang="en-US" b="1" dirty="0"/>
              <a:t>The Promise Interpreted Theologically</a:t>
            </a:r>
          </a:p>
          <a:p>
            <a:endParaRPr lang="en-US" dirty="0"/>
          </a:p>
          <a:p>
            <a:r>
              <a:rPr lang="en-US" dirty="0"/>
              <a:t>These passages </a:t>
            </a:r>
            <a:r>
              <a:rPr lang="en-US" b="1" dirty="0"/>
              <a:t>explain the covenant’s fulfillment in Christ and believers.</a:t>
            </a:r>
          </a:p>
          <a:p>
            <a:endParaRPr lang="en-US" dirty="0"/>
          </a:p>
          <a:p>
            <a:endParaRPr lang="en-US" dirty="0"/>
          </a:p>
        </p:txBody>
      </p:sp>
      <p:sp>
        <p:nvSpPr>
          <p:cNvPr id="4" name="Slide Number Placeholder 3">
            <a:extLst>
              <a:ext uri="{FF2B5EF4-FFF2-40B4-BE49-F238E27FC236}">
                <a16:creationId xmlns:a16="http://schemas.microsoft.com/office/drawing/2014/main" id="{B046579F-C54F-1F21-C5F1-935B1AFA77A2}"/>
              </a:ext>
            </a:extLst>
          </p:cNvPr>
          <p:cNvSpPr>
            <a:spLocks noGrp="1"/>
          </p:cNvSpPr>
          <p:nvPr>
            <p:ph type="sldNum" sz="quarter" idx="10"/>
          </p:nvPr>
        </p:nvSpPr>
        <p:spPr/>
        <p:txBody>
          <a:bodyPr/>
          <a:lstStyle/>
          <a:p>
            <a:pPr>
              <a:defRPr/>
            </a:pPr>
            <a:fld id="{07776858-791E-4C8D-8FA3-473B3AFECFAC}" type="slidenum">
              <a:rPr lang="en-US" smtClean="0"/>
              <a:pPr>
                <a:defRPr/>
              </a:pPr>
              <a:t>8</a:t>
            </a:fld>
            <a:endParaRPr lang="en-US" dirty="0"/>
          </a:p>
        </p:txBody>
      </p:sp>
    </p:spTree>
    <p:extLst>
      <p:ext uri="{BB962C8B-B14F-4D97-AF65-F5344CB8AC3E}">
        <p14:creationId xmlns:p14="http://schemas.microsoft.com/office/powerpoint/2010/main" val="11577693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F01A6-1927-2D51-09DF-C841AFF90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EE553-4E9E-BD9B-8C34-814D2E64EA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422FF-292F-FD30-5E49-9FFCECD6823B}"/>
              </a:ext>
            </a:extLst>
          </p:cNvPr>
          <p:cNvSpPr>
            <a:spLocks noGrp="1"/>
          </p:cNvSpPr>
          <p:nvPr>
            <p:ph type="body" idx="1"/>
          </p:nvPr>
        </p:nvSpPr>
        <p:spPr/>
        <p:txBody>
          <a:bodyPr>
            <a:normAutofit/>
          </a:bodyPr>
          <a:lstStyle/>
          <a:p>
            <a:r>
              <a:rPr lang="en-US" b="1" dirty="0"/>
              <a:t>The Promise Extended to the Nations</a:t>
            </a:r>
            <a:endParaRPr lang="en-US" dirty="0"/>
          </a:p>
          <a:p>
            <a:endParaRPr lang="en-US" dirty="0"/>
          </a:p>
          <a:p>
            <a:r>
              <a:rPr lang="en-US" dirty="0"/>
              <a:t>These passages </a:t>
            </a:r>
            <a:r>
              <a:rPr lang="en-US" b="1" dirty="0"/>
              <a:t>apply Abraham’s blessing to the global mission of the church.</a:t>
            </a:r>
          </a:p>
          <a:p>
            <a:endParaRPr lang="en-US" dirty="0"/>
          </a:p>
          <a:p>
            <a:pPr rtl="0" fontAlgn="ctr"/>
            <a:r>
              <a:rPr lang="en-US" b="1" dirty="0"/>
              <a:t>Matthew 8:11–12</a:t>
            </a:r>
            <a:r>
              <a:rPr lang="en-US" dirty="0"/>
              <a:t>  Jesus says many from east and west will recline with Abraham in the kingdom.</a:t>
            </a:r>
          </a:p>
          <a:p>
            <a:pPr rtl="0" fontAlgn="ctr"/>
            <a:r>
              <a:rPr lang="en-US" b="1" dirty="0"/>
              <a:t>Luke 13:28–29</a:t>
            </a:r>
            <a:r>
              <a:rPr lang="en-US" dirty="0"/>
              <a:t>  Echoes the same image of Gentiles included with the patriarchs.</a:t>
            </a:r>
          </a:p>
          <a:p>
            <a:pPr rtl="0" fontAlgn="ctr"/>
            <a:r>
              <a:rPr lang="en-US" b="1" dirty="0"/>
              <a:t>Acts 13:32–33</a:t>
            </a:r>
            <a:r>
              <a:rPr lang="en-US" dirty="0"/>
              <a:t>  Paul calls the resurrection “the good news that God promised to the fathers.”</a:t>
            </a:r>
          </a:p>
          <a:p>
            <a:pPr rtl="0" fontAlgn="ctr"/>
            <a:r>
              <a:rPr lang="en-US" b="1" dirty="0"/>
              <a:t>Romans 15:8–12</a:t>
            </a:r>
            <a:r>
              <a:rPr lang="en-US" dirty="0"/>
              <a:t>  Paul teaches that Christ confirmed the promises to the patriarchs so the Gentiles might glorify God.</a:t>
            </a:r>
          </a:p>
          <a:p>
            <a:pPr rtl="0" fontAlgn="ctr"/>
            <a:r>
              <a:rPr lang="en-US" b="1" dirty="0"/>
              <a:t>Galatians 3:7–9</a:t>
            </a:r>
            <a:r>
              <a:rPr lang="en-US" dirty="0"/>
              <a:t>  Those of faith are blessed along with Abraham, the man of faith.</a:t>
            </a:r>
          </a:p>
          <a:p>
            <a:pPr rtl="0" fontAlgn="ctr"/>
            <a:r>
              <a:rPr lang="en-US" b="1" dirty="0"/>
              <a:t>Galatians 3:28–29</a:t>
            </a:r>
            <a:r>
              <a:rPr lang="en-US" dirty="0"/>
              <a:t>  In Christ, all are one; Jew, Greek, slave, free, male, female; and heirs according to promise.</a:t>
            </a:r>
          </a:p>
          <a:p>
            <a:pPr rtl="0" fontAlgn="ctr"/>
            <a:r>
              <a:rPr lang="en-US" b="1" dirty="0"/>
              <a:t>Ephesians 3:6</a:t>
            </a:r>
            <a:r>
              <a:rPr lang="en-US" dirty="0"/>
              <a:t> – Gentiles are “fellow heirs, members of the same body, and partakers of the promise in Christ Jesus through the gospel.”</a:t>
            </a:r>
          </a:p>
          <a:p>
            <a:endParaRPr lang="en-US" dirty="0"/>
          </a:p>
        </p:txBody>
      </p:sp>
      <p:sp>
        <p:nvSpPr>
          <p:cNvPr id="4" name="Slide Number Placeholder 3">
            <a:extLst>
              <a:ext uri="{FF2B5EF4-FFF2-40B4-BE49-F238E27FC236}">
                <a16:creationId xmlns:a16="http://schemas.microsoft.com/office/drawing/2014/main" id="{20BDD4E2-E0B8-5B0E-0877-6C185C05C0AD}"/>
              </a:ext>
            </a:extLst>
          </p:cNvPr>
          <p:cNvSpPr>
            <a:spLocks noGrp="1"/>
          </p:cNvSpPr>
          <p:nvPr>
            <p:ph type="sldNum" sz="quarter" idx="10"/>
          </p:nvPr>
        </p:nvSpPr>
        <p:spPr/>
        <p:txBody>
          <a:bodyPr/>
          <a:lstStyle/>
          <a:p>
            <a:pPr>
              <a:defRPr/>
            </a:pPr>
            <a:fld id="{07776858-791E-4C8D-8FA3-473B3AFECFAC}" type="slidenum">
              <a:rPr lang="en-US" smtClean="0"/>
              <a:pPr>
                <a:defRPr/>
              </a:pPr>
              <a:t>9</a:t>
            </a:fld>
            <a:endParaRPr lang="en-US" dirty="0"/>
          </a:p>
        </p:txBody>
      </p:sp>
    </p:spTree>
    <p:extLst>
      <p:ext uri="{BB962C8B-B14F-4D97-AF65-F5344CB8AC3E}">
        <p14:creationId xmlns:p14="http://schemas.microsoft.com/office/powerpoint/2010/main" val="1318454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386EA-E7EA-6111-25EB-588B5D397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E9994A-98E8-4F14-02D9-784D9F4F0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A4A714-9AAE-AA0D-752E-8ABAA9220192}"/>
              </a:ext>
            </a:extLst>
          </p:cNvPr>
          <p:cNvSpPr>
            <a:spLocks noGrp="1"/>
          </p:cNvSpPr>
          <p:nvPr>
            <p:ph type="body" idx="1"/>
          </p:nvPr>
        </p:nvSpPr>
        <p:spPr/>
        <p:txBody>
          <a:bodyPr>
            <a:normAutofit lnSpcReduction="10000"/>
          </a:bodyPr>
          <a:lstStyle/>
          <a:p>
            <a:r>
              <a:rPr lang="en-US" b="1" dirty="0"/>
              <a:t>The Promise as Eschatological Hope</a:t>
            </a:r>
          </a:p>
          <a:p>
            <a:endParaRPr lang="en-US" dirty="0"/>
          </a:p>
          <a:p>
            <a:r>
              <a:rPr lang="en-US" dirty="0"/>
              <a:t>These passages </a:t>
            </a:r>
            <a:r>
              <a:rPr lang="en-US" b="1" dirty="0"/>
              <a:t>tie Abraham’s promise to final inheritance and eternal life.</a:t>
            </a:r>
          </a:p>
          <a:p>
            <a:endParaRPr lang="en-US" dirty="0"/>
          </a:p>
          <a:p>
            <a:pPr rtl="0" fontAlgn="ctr"/>
            <a:r>
              <a:rPr lang="en-US" b="1" dirty="0"/>
              <a:t>Romans 4:13</a:t>
            </a:r>
            <a:r>
              <a:rPr lang="en-US" dirty="0"/>
              <a:t>  Abraham and his offspring receive “the promise that he would be heir of the world.”</a:t>
            </a:r>
          </a:p>
          <a:p>
            <a:pPr rtl="0" fontAlgn="ctr"/>
            <a:r>
              <a:rPr lang="en-US" b="1" dirty="0"/>
              <a:t>Hebrews 6:18–20</a:t>
            </a:r>
            <a:r>
              <a:rPr lang="en-US" dirty="0"/>
              <a:t>  The hope set before us is anchored in God’s unchangeable promise to Abraham.</a:t>
            </a:r>
          </a:p>
          <a:p>
            <a:pPr rtl="0" fontAlgn="ctr"/>
            <a:r>
              <a:rPr lang="en-US" b="1" dirty="0"/>
              <a:t>Hebrews 11:39–40 </a:t>
            </a:r>
            <a:r>
              <a:rPr lang="en-US" dirty="0"/>
              <a:t> The faithful, including Abraham, did not receive the promise in full, anticipating perfection in Christ.</a:t>
            </a:r>
          </a:p>
          <a:p>
            <a:pPr rtl="0" fontAlgn="ctr"/>
            <a:r>
              <a:rPr lang="en-US" b="1" dirty="0"/>
              <a:t>2 Peter 3:13</a:t>
            </a:r>
            <a:r>
              <a:rPr lang="en-US" dirty="0"/>
              <a:t>  The ultimate inheritance of the new heavens and new earth fulfills the faith of Abraham, the “heir of the world.”</a:t>
            </a:r>
          </a:p>
          <a:p>
            <a:endParaRPr lang="en-US" dirty="0"/>
          </a:p>
          <a:p>
            <a:endParaRPr lang="en-US" dirty="0"/>
          </a:p>
          <a:p>
            <a:r>
              <a:rPr lang="en-US" b="1" dirty="0"/>
              <a:t>Summary Application Points</a:t>
            </a:r>
            <a:endParaRPr lang="en-US" dirty="0"/>
          </a:p>
          <a:p>
            <a:pPr rtl="0" fontAlgn="ctr"/>
            <a:r>
              <a:rPr lang="en-US" b="1" dirty="0"/>
              <a:t>Trust God’s Promises:</a:t>
            </a:r>
            <a:r>
              <a:rPr lang="en-US" dirty="0"/>
              <a:t> Identify one area in life that feels impossible (like Abraham’s childlessness) and bring it before God in faith.</a:t>
            </a:r>
          </a:p>
          <a:p>
            <a:pPr rtl="0" fontAlgn="ctr"/>
            <a:r>
              <a:rPr lang="en-US" b="1" dirty="0"/>
              <a:t>Embrace Identity:</a:t>
            </a:r>
            <a:r>
              <a:rPr lang="en-US" dirty="0"/>
              <a:t> Reflect on Galatians 3:29 - “If you are Christ’s, then you are Abraham’s offspring, heirs according to promise.”</a:t>
            </a:r>
          </a:p>
          <a:p>
            <a:pPr rtl="0" fontAlgn="ctr"/>
            <a:r>
              <a:rPr lang="en-US" b="1" dirty="0"/>
              <a:t>Be a Blessing:</a:t>
            </a:r>
            <a:r>
              <a:rPr lang="en-US" dirty="0"/>
              <a:t> Look for one practical way to bless someone outside your immediate circle (an unbeliever, a neighbor, someone from another culture).</a:t>
            </a:r>
          </a:p>
          <a:p>
            <a:pPr rtl="0" fontAlgn="ctr"/>
            <a:r>
              <a:rPr lang="en-US" b="1" dirty="0"/>
              <a:t>Global Vision:</a:t>
            </a:r>
            <a:r>
              <a:rPr lang="en-US" dirty="0"/>
              <a:t> Pray for one nation each day to receive the blessing of the gospel.</a:t>
            </a:r>
          </a:p>
          <a:p>
            <a:endParaRPr lang="en-US" dirty="0"/>
          </a:p>
        </p:txBody>
      </p:sp>
      <p:sp>
        <p:nvSpPr>
          <p:cNvPr id="4" name="Slide Number Placeholder 3">
            <a:extLst>
              <a:ext uri="{FF2B5EF4-FFF2-40B4-BE49-F238E27FC236}">
                <a16:creationId xmlns:a16="http://schemas.microsoft.com/office/drawing/2014/main" id="{EE0F197B-E882-B884-3038-393914A1249B}"/>
              </a:ext>
            </a:extLst>
          </p:cNvPr>
          <p:cNvSpPr>
            <a:spLocks noGrp="1"/>
          </p:cNvSpPr>
          <p:nvPr>
            <p:ph type="sldNum" sz="quarter" idx="10"/>
          </p:nvPr>
        </p:nvSpPr>
        <p:spPr/>
        <p:txBody>
          <a:bodyPr/>
          <a:lstStyle/>
          <a:p>
            <a:pPr>
              <a:defRPr/>
            </a:pPr>
            <a:fld id="{07776858-791E-4C8D-8FA3-473B3AFECFAC}" type="slidenum">
              <a:rPr lang="en-US" smtClean="0"/>
              <a:pPr>
                <a:defRPr/>
              </a:pPr>
              <a:t>10</a:t>
            </a:fld>
            <a:endParaRPr lang="en-US" dirty="0"/>
          </a:p>
        </p:txBody>
      </p:sp>
    </p:spTree>
    <p:extLst>
      <p:ext uri="{BB962C8B-B14F-4D97-AF65-F5344CB8AC3E}">
        <p14:creationId xmlns:p14="http://schemas.microsoft.com/office/powerpoint/2010/main" val="507734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23555-AEE2-6653-DF12-F979EAC16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C7D1C-AA1E-0943-9CEB-758AA0465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712D7-843F-AD13-479D-EA2D779769D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FC993BAD-60F9-D7B1-5474-004E860ADBF7}"/>
              </a:ext>
            </a:extLst>
          </p:cNvPr>
          <p:cNvSpPr>
            <a:spLocks noGrp="1"/>
          </p:cNvSpPr>
          <p:nvPr>
            <p:ph type="sldNum" sz="quarter" idx="5"/>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2378845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685800" y="965746"/>
            <a:ext cx="7772400" cy="1470025"/>
          </a:xfrm>
        </p:spPr>
        <p:txBody>
          <a:bodyPr/>
          <a:lstStyle/>
          <a:p>
            <a:pPr eaLnBrk="1" hangingPunct="1"/>
            <a:r>
              <a:rPr lang="en-US" sz="7200" dirty="0"/>
              <a:t>Romans</a:t>
            </a:r>
            <a:endParaRPr sz="7200" dirty="0"/>
          </a:p>
        </p:txBody>
      </p:sp>
      <p:sp>
        <p:nvSpPr>
          <p:cNvPr id="6147" name="Subtitle 2"/>
          <p:cNvSpPr>
            <a:spLocks noGrp="1"/>
          </p:cNvSpPr>
          <p:nvPr>
            <p:ph type="subTitle" idx="1"/>
          </p:nvPr>
        </p:nvSpPr>
        <p:spPr>
          <a:xfrm>
            <a:off x="1371600" y="3029495"/>
            <a:ext cx="6400800" cy="1470025"/>
          </a:xfrm>
        </p:spPr>
        <p:txBody>
          <a:bodyPr/>
          <a:lstStyle/>
          <a:p>
            <a:pPr eaLnBrk="1" hangingPunct="1"/>
            <a:r>
              <a:rPr lang="en-US" sz="4000" dirty="0"/>
              <a:t>Imputed Righteousness</a:t>
            </a:r>
          </a:p>
          <a:p>
            <a:pPr eaLnBrk="1" hangingPunct="1"/>
            <a:r>
              <a:rPr lang="en-US" sz="4000" dirty="0"/>
              <a:t>Ch. 4</a:t>
            </a:r>
          </a:p>
        </p:txBody>
      </p:sp>
      <p:sp>
        <p:nvSpPr>
          <p:cNvPr id="2" name="TextBox 1">
            <a:extLst>
              <a:ext uri="{FF2B5EF4-FFF2-40B4-BE49-F238E27FC236}">
                <a16:creationId xmlns:a16="http://schemas.microsoft.com/office/drawing/2014/main" id="{079DC8F4-1FC6-0254-E488-A9BC99CE4940}"/>
              </a:ext>
            </a:extLst>
          </p:cNvPr>
          <p:cNvSpPr txBox="1"/>
          <p:nvPr/>
        </p:nvSpPr>
        <p:spPr>
          <a:xfrm>
            <a:off x="2286000" y="5375819"/>
            <a:ext cx="4572000" cy="461665"/>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r>
              <a:rPr lang="en-US" sz="2400" dirty="0"/>
              <a:t>https://tinyurl.com/RomeGospel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228600"/>
            <a:ext cx="8229600" cy="1143000"/>
          </a:xfrm>
        </p:spPr>
        <p:txBody>
          <a:bodyPr>
            <a:normAutofit/>
          </a:bodyPr>
          <a:lstStyle/>
          <a:p>
            <a:r>
              <a:rPr lang="en-US" dirty="0"/>
              <a:t>The Grace of God Revealed</a:t>
            </a:r>
            <a:br>
              <a:rPr lang="en-US" dirty="0"/>
            </a:br>
            <a:r>
              <a:rPr lang="en-US" sz="2400" dirty="0">
                <a:solidFill>
                  <a:schemeClr val="tx2">
                    <a:lumMod val="60000"/>
                    <a:lumOff val="40000"/>
                  </a:schemeClr>
                </a:solidFill>
              </a:rPr>
              <a:t>How </a:t>
            </a:r>
            <a:r>
              <a:rPr lang="en-US" sz="2400" i="1" dirty="0">
                <a:solidFill>
                  <a:schemeClr val="tx2">
                    <a:lumMod val="60000"/>
                    <a:lumOff val="40000"/>
                  </a:schemeClr>
                </a:solidFill>
              </a:rPr>
              <a:t>the</a:t>
            </a:r>
            <a:r>
              <a:rPr lang="en-US" sz="2400" dirty="0">
                <a:solidFill>
                  <a:schemeClr val="tx2">
                    <a:lumMod val="60000"/>
                    <a:lumOff val="40000"/>
                  </a:schemeClr>
                </a:solidFill>
              </a:rPr>
              <a:t> perfectly just LORD </a:t>
            </a:r>
            <a:r>
              <a:rPr lang="en-US" sz="2400" i="1" dirty="0">
                <a:solidFill>
                  <a:schemeClr val="tx2">
                    <a:lumMod val="60000"/>
                    <a:lumOff val="40000"/>
                  </a:schemeClr>
                </a:solidFill>
              </a:rPr>
              <a:t>has</a:t>
            </a:r>
            <a:r>
              <a:rPr lang="en-US" sz="2400" dirty="0">
                <a:solidFill>
                  <a:schemeClr val="tx2">
                    <a:lumMod val="60000"/>
                    <a:lumOff val="40000"/>
                  </a:schemeClr>
                </a:solidFill>
              </a:rPr>
              <a:t> forgiven sin…!</a:t>
            </a:r>
          </a:p>
        </p:txBody>
      </p:sp>
      <p:sp>
        <p:nvSpPr>
          <p:cNvPr id="4" name="TextBox 3"/>
          <p:cNvSpPr txBox="1"/>
          <p:nvPr/>
        </p:nvSpPr>
        <p:spPr>
          <a:xfrm>
            <a:off x="571500" y="1600200"/>
            <a:ext cx="8001000" cy="2677656"/>
          </a:xfrm>
          <a:prstGeom prst="rect">
            <a:avLst/>
          </a:prstGeom>
          <a:noFill/>
        </p:spPr>
        <p:txBody>
          <a:bodyPr wrap="square" rtlCol="0">
            <a:spAutoFit/>
          </a:bodyPr>
          <a:lstStyle/>
          <a:p>
            <a:r>
              <a:rPr lang="en-US" sz="2800" i="1" dirty="0"/>
              <a:t>“Blessed is he whose transgression is </a:t>
            </a:r>
            <a:r>
              <a:rPr lang="en-US" sz="2800" b="1" i="1" dirty="0"/>
              <a:t>forgiven</a:t>
            </a:r>
            <a:r>
              <a:rPr lang="en-US" sz="2800" i="1" dirty="0"/>
              <a:t>, </a:t>
            </a:r>
          </a:p>
          <a:p>
            <a:r>
              <a:rPr lang="en-US" sz="2800" i="1" dirty="0"/>
              <a:t>	whose sin is </a:t>
            </a:r>
            <a:r>
              <a:rPr lang="en-US" sz="2800" b="1" i="1" dirty="0"/>
              <a:t>covered</a:t>
            </a:r>
            <a:r>
              <a:rPr lang="en-US" sz="2800" i="1" dirty="0"/>
              <a:t>,</a:t>
            </a:r>
          </a:p>
          <a:p>
            <a:r>
              <a:rPr lang="en-US" sz="2800" i="1" dirty="0"/>
              <a:t>Blessed is the man to whom </a:t>
            </a:r>
          </a:p>
          <a:p>
            <a:r>
              <a:rPr lang="en-US" sz="2800" i="1" dirty="0"/>
              <a:t>	the </a:t>
            </a:r>
            <a:r>
              <a:rPr lang="en-US" sz="2800" b="1" i="1" dirty="0"/>
              <a:t>LORD</a:t>
            </a:r>
            <a:r>
              <a:rPr lang="en-US" sz="2800" i="1" dirty="0"/>
              <a:t> does </a:t>
            </a:r>
            <a:r>
              <a:rPr lang="en-US" sz="2800" b="1" i="1" dirty="0"/>
              <a:t>not</a:t>
            </a:r>
            <a:r>
              <a:rPr lang="en-US" sz="2800" i="1" dirty="0"/>
              <a:t> </a:t>
            </a:r>
            <a:r>
              <a:rPr lang="en-US" sz="2800" b="1" i="1" dirty="0"/>
              <a:t>impute</a:t>
            </a:r>
            <a:r>
              <a:rPr lang="en-US" sz="2800" i="1" dirty="0"/>
              <a:t> </a:t>
            </a:r>
            <a:r>
              <a:rPr lang="en-US" sz="2800" b="1" i="1" dirty="0"/>
              <a:t>iniquity</a:t>
            </a:r>
            <a:r>
              <a:rPr lang="en-US" sz="2800" i="1" dirty="0"/>
              <a:t>, </a:t>
            </a:r>
          </a:p>
          <a:p>
            <a:r>
              <a:rPr lang="en-US" sz="2800" i="1" dirty="0"/>
              <a:t>And in whose spirit there is </a:t>
            </a:r>
            <a:r>
              <a:rPr lang="en-US" sz="2800" b="1" i="1" dirty="0"/>
              <a:t>no</a:t>
            </a:r>
            <a:r>
              <a:rPr lang="en-US" sz="2800" i="1" dirty="0"/>
              <a:t> </a:t>
            </a:r>
            <a:r>
              <a:rPr lang="en-US" sz="2800" b="1" i="1" dirty="0"/>
              <a:t>deceit</a:t>
            </a:r>
            <a:r>
              <a:rPr lang="en-US" sz="2800" i="1" dirty="0"/>
              <a:t>.”   </a:t>
            </a:r>
          </a:p>
          <a:p>
            <a:pPr marL="800100" lvl="1" indent="-342900">
              <a:buFont typeface="Arial" pitchFamily="34" charset="0"/>
              <a:buChar char="•"/>
            </a:pPr>
            <a:r>
              <a:rPr lang="en-US" sz="2800" b="1" i="1" dirty="0"/>
              <a:t>Psalm 32:1-2</a:t>
            </a:r>
            <a:r>
              <a:rPr lang="en-US" sz="2800" i="1" dirty="0"/>
              <a:t>; </a:t>
            </a:r>
            <a:r>
              <a:rPr lang="en-US" sz="2800" b="1" i="1" dirty="0"/>
              <a:t>Romans 4:7-8</a:t>
            </a:r>
            <a:endParaRPr lang="en-US" sz="2400" b="1" i="1" dirty="0"/>
          </a:p>
        </p:txBody>
      </p:sp>
      <p:sp>
        <p:nvSpPr>
          <p:cNvPr id="5" name="TextBox 4"/>
          <p:cNvSpPr txBox="1"/>
          <p:nvPr/>
        </p:nvSpPr>
        <p:spPr>
          <a:xfrm>
            <a:off x="533400" y="5410200"/>
            <a:ext cx="8191500" cy="954107"/>
          </a:xfrm>
          <a:prstGeom prst="rect">
            <a:avLst/>
          </a:prstGeom>
          <a:noFill/>
        </p:spPr>
        <p:txBody>
          <a:bodyPr wrap="square" rtlCol="0">
            <a:spAutoFit/>
          </a:bodyPr>
          <a:lstStyle/>
          <a:p>
            <a:r>
              <a:rPr lang="en-US" sz="2800" i="1" dirty="0"/>
              <a:t>“…</a:t>
            </a:r>
            <a:r>
              <a:rPr lang="en-US" sz="2800" i="1" dirty="0">
                <a:highlight>
                  <a:srgbClr val="FFFF00"/>
                </a:highlight>
              </a:rPr>
              <a:t>that </a:t>
            </a:r>
            <a:r>
              <a:rPr lang="en-US" sz="2800" b="1" i="1" dirty="0">
                <a:highlight>
                  <a:srgbClr val="FFFF00"/>
                </a:highlight>
              </a:rPr>
              <a:t>He</a:t>
            </a:r>
            <a:r>
              <a:rPr lang="en-US" sz="2800" i="1" dirty="0">
                <a:highlight>
                  <a:srgbClr val="FFFF00"/>
                </a:highlight>
              </a:rPr>
              <a:t> might </a:t>
            </a:r>
            <a:r>
              <a:rPr lang="en-US" sz="2800" b="1" i="1" dirty="0">
                <a:highlight>
                  <a:srgbClr val="FFFF00"/>
                </a:highlight>
              </a:rPr>
              <a:t>be just and the justifier </a:t>
            </a:r>
            <a:r>
              <a:rPr lang="en-US" sz="2800" i="1" dirty="0">
                <a:highlight>
                  <a:srgbClr val="FFFF00"/>
                </a:highlight>
              </a:rPr>
              <a:t>of the one who has faith in Jesus</a:t>
            </a:r>
            <a:r>
              <a:rPr lang="en-US" sz="2800" i="1" dirty="0"/>
              <a:t>.”    Romans 3:26</a:t>
            </a:r>
          </a:p>
        </p:txBody>
      </p:sp>
    </p:spTree>
    <p:extLst>
      <p:ext uri="{BB962C8B-B14F-4D97-AF65-F5344CB8AC3E}">
        <p14:creationId xmlns:p14="http://schemas.microsoft.com/office/powerpoint/2010/main" val="2637189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9C7D28C-F5E8-857E-2988-C793930BFA6A}"/>
              </a:ext>
            </a:extLst>
          </p:cNvPr>
          <p:cNvGraphicFramePr>
            <a:graphicFrameLocks noGrp="1"/>
          </p:cNvGraphicFramePr>
          <p:nvPr>
            <p:extLst>
              <p:ext uri="{D42A27DB-BD31-4B8C-83A1-F6EECF244321}">
                <p14:modId xmlns:p14="http://schemas.microsoft.com/office/powerpoint/2010/main" val="159893823"/>
              </p:ext>
            </p:extLst>
          </p:nvPr>
        </p:nvGraphicFramePr>
        <p:xfrm>
          <a:off x="0" y="-70716"/>
          <a:ext cx="9144000" cy="6921339"/>
        </p:xfrm>
        <a:graphic>
          <a:graphicData uri="http://schemas.openxmlformats.org/drawingml/2006/table">
            <a:tbl>
              <a:tblPr>
                <a:tableStyleId>{46F890A9-2807-4EBB-B81D-B2AA78EC7F39}</a:tableStyleId>
              </a:tblPr>
              <a:tblGrid>
                <a:gridCol w="1600200">
                  <a:extLst>
                    <a:ext uri="{9D8B030D-6E8A-4147-A177-3AD203B41FA5}">
                      <a16:colId xmlns:a16="http://schemas.microsoft.com/office/drawing/2014/main" val="3511153360"/>
                    </a:ext>
                  </a:extLst>
                </a:gridCol>
                <a:gridCol w="2816003">
                  <a:extLst>
                    <a:ext uri="{9D8B030D-6E8A-4147-A177-3AD203B41FA5}">
                      <a16:colId xmlns:a16="http://schemas.microsoft.com/office/drawing/2014/main" val="3414336291"/>
                    </a:ext>
                  </a:extLst>
                </a:gridCol>
                <a:gridCol w="3508597">
                  <a:extLst>
                    <a:ext uri="{9D8B030D-6E8A-4147-A177-3AD203B41FA5}">
                      <a16:colId xmlns:a16="http://schemas.microsoft.com/office/drawing/2014/main" val="463675269"/>
                    </a:ext>
                  </a:extLst>
                </a:gridCol>
                <a:gridCol w="1219200">
                  <a:extLst>
                    <a:ext uri="{9D8B030D-6E8A-4147-A177-3AD203B41FA5}">
                      <a16:colId xmlns:a16="http://schemas.microsoft.com/office/drawing/2014/main" val="1620961186"/>
                    </a:ext>
                  </a:extLst>
                </a:gridCol>
              </a:tblGrid>
              <a:tr h="376230">
                <a:tc>
                  <a:txBody>
                    <a:bodyPr/>
                    <a:lstStyle/>
                    <a:p>
                      <a:pPr marL="0" marR="0" fontAlgn="t">
                        <a:buNone/>
                      </a:pPr>
                      <a:r>
                        <a:rPr lang="en-US" sz="1600" b="1" u="sng" dirty="0">
                          <a:effectLst/>
                        </a:rPr>
                        <a:t>Topic</a:t>
                      </a:r>
                      <a:endParaRPr lang="en-US" sz="1600" u="sng" dirty="0">
                        <a:effectLst/>
                        <a:latin typeface="Calibri" panose="020F0502020204030204" pitchFamily="34" charset="0"/>
                      </a:endParaRPr>
                    </a:p>
                  </a:txBody>
                  <a:tcPr marL="50800" marR="50800" marT="50800" marB="50800"/>
                </a:tc>
                <a:tc>
                  <a:txBody>
                    <a:bodyPr/>
                    <a:lstStyle/>
                    <a:p>
                      <a:pPr marL="0" marR="0" fontAlgn="t">
                        <a:buNone/>
                      </a:pPr>
                      <a:r>
                        <a:rPr lang="en-US" sz="1600" b="1" u="sng" dirty="0">
                          <a:effectLst/>
                        </a:rPr>
                        <a:t>Common Protestant View</a:t>
                      </a:r>
                      <a:endParaRPr lang="en-US" sz="1600" u="sng" dirty="0">
                        <a:effectLst/>
                        <a:latin typeface="Calibri" panose="020F0502020204030204" pitchFamily="34" charset="0"/>
                      </a:endParaRPr>
                    </a:p>
                  </a:txBody>
                  <a:tcPr marL="50800" marR="50800" marT="50800" marB="50800"/>
                </a:tc>
                <a:tc>
                  <a:txBody>
                    <a:bodyPr/>
                    <a:lstStyle/>
                    <a:p>
                      <a:pPr marL="0" marR="0" fontAlgn="t">
                        <a:buNone/>
                      </a:pPr>
                      <a:r>
                        <a:rPr lang="en-US" sz="1600" b="1" u="sng" dirty="0">
                          <a:effectLst/>
                        </a:rPr>
                        <a:t>Restoration Theology Emphasis</a:t>
                      </a:r>
                      <a:endParaRPr lang="en-US" sz="1600" u="sng" dirty="0">
                        <a:effectLst/>
                        <a:latin typeface="Calibri" panose="020F0502020204030204" pitchFamily="34" charset="0"/>
                      </a:endParaRPr>
                    </a:p>
                  </a:txBody>
                  <a:tcPr marL="50800" marR="50800" marT="50800" marB="50800"/>
                </a:tc>
                <a:tc>
                  <a:txBody>
                    <a:bodyPr/>
                    <a:lstStyle/>
                    <a:p>
                      <a:pPr marL="0" marR="0" fontAlgn="t">
                        <a:buNone/>
                      </a:pPr>
                      <a:r>
                        <a:rPr lang="en-US" sz="1600" b="1" u="sng" dirty="0">
                          <a:effectLst/>
                        </a:rPr>
                        <a:t>Key Text</a:t>
                      </a:r>
                      <a:endParaRPr lang="en-US" sz="1600" u="sng" dirty="0">
                        <a:effectLst/>
                        <a:latin typeface="Calibri" panose="020F0502020204030204" pitchFamily="34" charset="0"/>
                      </a:endParaRPr>
                    </a:p>
                  </a:txBody>
                  <a:tcPr marL="50800" marR="50800" marT="50800" marB="50800"/>
                </a:tc>
                <a:extLst>
                  <a:ext uri="{0D108BD9-81ED-4DB2-BD59-A6C34878D82A}">
                    <a16:rowId xmlns:a16="http://schemas.microsoft.com/office/drawing/2014/main" val="4151071231"/>
                  </a:ext>
                </a:extLst>
              </a:tr>
              <a:tr h="581903">
                <a:tc>
                  <a:txBody>
                    <a:bodyPr/>
                    <a:lstStyle/>
                    <a:p>
                      <a:pPr marL="0" marR="0" fontAlgn="t">
                        <a:buNone/>
                      </a:pPr>
                      <a:r>
                        <a:rPr lang="en-US" sz="1600" b="1">
                          <a:effectLst/>
                        </a:rPr>
                        <a:t>Nature of Faith</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Faith = belief/trust alone</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Faith = belief that responds in obedience</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Rom. 1:5</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1083431917"/>
                  </a:ext>
                </a:extLst>
              </a:tr>
              <a:tr h="581903">
                <a:tc>
                  <a:txBody>
                    <a:bodyPr/>
                    <a:lstStyle/>
                    <a:p>
                      <a:pPr marL="0" marR="0" fontAlgn="t">
                        <a:buNone/>
                      </a:pPr>
                      <a:r>
                        <a:rPr lang="en-US" sz="1600" b="1">
                          <a:effectLst/>
                        </a:rPr>
                        <a:t>Justification</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By faith alone (no role of obedience)</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By grace through faith that obeys</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Rom. 3:28</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512392758"/>
                  </a:ext>
                </a:extLst>
              </a:tr>
              <a:tr h="581903">
                <a:tc>
                  <a:txBody>
                    <a:bodyPr/>
                    <a:lstStyle/>
                    <a:p>
                      <a:pPr marL="0" marR="0" fontAlgn="t">
                        <a:buNone/>
                      </a:pPr>
                      <a:r>
                        <a:rPr lang="en-US" sz="1600" b="1">
                          <a:effectLst/>
                        </a:rPr>
                        <a:t>Works</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All “works” excluded</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Works of law excluded; obedient faith included</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Rom. 4:3</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848607105"/>
                  </a:ext>
                </a:extLst>
              </a:tr>
              <a:tr h="451763">
                <a:tc>
                  <a:txBody>
                    <a:bodyPr/>
                    <a:lstStyle/>
                    <a:p>
                      <a:pPr marL="0" marR="0" fontAlgn="t">
                        <a:buNone/>
                      </a:pPr>
                      <a:r>
                        <a:rPr lang="en-US" sz="1600" b="1">
                          <a:effectLst/>
                        </a:rPr>
                        <a:t>Baptism</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Symbol after salvation</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Part of union with Christ</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Rom. 6:3-4</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510897649"/>
                  </a:ext>
                </a:extLst>
              </a:tr>
              <a:tr h="581903">
                <a:tc>
                  <a:txBody>
                    <a:bodyPr/>
                    <a:lstStyle/>
                    <a:p>
                      <a:pPr marL="0" marR="0" fontAlgn="t">
                        <a:buNone/>
                      </a:pPr>
                      <a:r>
                        <a:rPr lang="en-US" sz="1600" b="1" dirty="0">
                          <a:effectLst/>
                        </a:rPr>
                        <a:t>Righteousness</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Imputed only (legal standing)</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Imputed &amp; lived out (transformation)</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Rom. 6:18</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448802324"/>
                  </a:ext>
                </a:extLst>
              </a:tr>
              <a:tr h="581903">
                <a:tc>
                  <a:txBody>
                    <a:bodyPr/>
                    <a:lstStyle/>
                    <a:p>
                      <a:pPr marL="0" marR="0" fontAlgn="t">
                        <a:buNone/>
                      </a:pPr>
                      <a:r>
                        <a:rPr lang="en-US" sz="1600" b="1">
                          <a:effectLst/>
                        </a:rPr>
                        <a:t>Human Ability</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Total inability without prior regeneration</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Sinful but able to respond to the gospel</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Rom. 10:17</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773364164"/>
                  </a:ext>
                </a:extLst>
              </a:tr>
              <a:tr h="581903">
                <a:tc>
                  <a:txBody>
                    <a:bodyPr/>
                    <a:lstStyle/>
                    <a:p>
                      <a:pPr marL="0" marR="0" fontAlgn="t">
                        <a:buNone/>
                      </a:pPr>
                      <a:r>
                        <a:rPr lang="en-US" sz="1600" b="1">
                          <a:effectLst/>
                        </a:rPr>
                        <a:t>Election</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Often individual and unconditional</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Often corporate / based in God’s plan</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Rom. 9:16</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1858964238"/>
                  </a:ext>
                </a:extLst>
              </a:tr>
              <a:tr h="581903">
                <a:tc>
                  <a:txBody>
                    <a:bodyPr/>
                    <a:lstStyle/>
                    <a:p>
                      <a:pPr marL="0" marR="0" fontAlgn="t">
                        <a:buNone/>
                      </a:pPr>
                      <a:r>
                        <a:rPr lang="en-US" sz="1600" b="1">
                          <a:effectLst/>
                        </a:rPr>
                        <a:t>Assurance</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Eternal security (cannot fall away)</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Assurance + need to remain faithful</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Rom. 11:22</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085457700"/>
                  </a:ext>
                </a:extLst>
              </a:tr>
              <a:tr h="581903">
                <a:tc>
                  <a:txBody>
                    <a:bodyPr/>
                    <a:lstStyle/>
                    <a:p>
                      <a:pPr marL="0" marR="0" fontAlgn="t">
                        <a:buNone/>
                      </a:pPr>
                      <a:r>
                        <a:rPr lang="en-US" sz="1600" b="1">
                          <a:effectLst/>
                        </a:rPr>
                        <a:t>Grace &amp; Obedience</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Sometimes separated</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a:effectLst/>
                        </a:rPr>
                        <a:t>Grace produces obedience</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Rom. 6:1-2</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1378851582"/>
                  </a:ext>
                </a:extLst>
              </a:tr>
              <a:tr h="341116">
                <a:tc>
                  <a:txBody>
                    <a:bodyPr/>
                    <a:lstStyle/>
                    <a:p>
                      <a:pPr marL="0" marR="0" fontAlgn="t">
                        <a:buNone/>
                      </a:pPr>
                      <a:r>
                        <a:rPr lang="en-US" sz="1600" b="1">
                          <a:effectLst/>
                        </a:rPr>
                        <a:t>Law</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Reveals sin, not binding</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Same, but emphasis on Spirit-led life</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Rom. 7:6</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045636852"/>
                  </a:ext>
                </a:extLst>
              </a:tr>
              <a:tr h="451763">
                <a:tc>
                  <a:txBody>
                    <a:bodyPr/>
                    <a:lstStyle/>
                    <a:p>
                      <a:pPr marL="0" marR="0" fontAlgn="t">
                        <a:buNone/>
                      </a:pPr>
                      <a:r>
                        <a:rPr lang="en-US" sz="1600" b="1">
                          <a:effectLst/>
                        </a:rPr>
                        <a:t>Christian Life</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Ongoing struggle emphasized</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Victory through the Spirit emphasized</a:t>
                      </a:r>
                      <a:endParaRPr lang="en-US" sz="1600" dirty="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Rom. 8:1-4</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4059883261"/>
                  </a:ext>
                </a:extLst>
              </a:tr>
              <a:tr h="581903">
                <a:tc>
                  <a:txBody>
                    <a:bodyPr/>
                    <a:lstStyle/>
                    <a:p>
                      <a:pPr marL="0" marR="0" fontAlgn="t">
                        <a:buNone/>
                      </a:pPr>
                      <a:r>
                        <a:rPr lang="en-US" sz="1600" b="1">
                          <a:effectLst/>
                        </a:rPr>
                        <a:t>Unity &amp; Liberty</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Wide variation</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a:effectLst/>
                        </a:rPr>
                        <a:t>Strong emphasis on unity, avoid binding opinions</a:t>
                      </a:r>
                      <a:endParaRPr lang="en-US" sz="1600">
                        <a:effectLst/>
                        <a:latin typeface="Calibri" panose="020F0502020204030204" pitchFamily="34" charset="0"/>
                      </a:endParaRPr>
                    </a:p>
                  </a:txBody>
                  <a:tcPr marL="50800" marR="50800" marT="50800" marB="50800"/>
                </a:tc>
                <a:tc>
                  <a:txBody>
                    <a:bodyPr/>
                    <a:lstStyle/>
                    <a:p>
                      <a:pPr marL="0" marR="0" fontAlgn="t">
                        <a:buNone/>
                      </a:pPr>
                      <a:r>
                        <a:rPr lang="en-US" sz="1600" dirty="0">
                          <a:effectLst/>
                        </a:rPr>
                        <a:t>Rom. 14:13</a:t>
                      </a:r>
                      <a:endParaRPr lang="en-US" sz="16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2721797339"/>
                  </a:ext>
                </a:extLst>
              </a:tr>
            </a:tbl>
          </a:graphicData>
        </a:graphic>
      </p:graphicFrame>
    </p:spTree>
    <p:extLst>
      <p:ext uri="{BB962C8B-B14F-4D97-AF65-F5344CB8AC3E}">
        <p14:creationId xmlns:p14="http://schemas.microsoft.com/office/powerpoint/2010/main" val="3310298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3DCD3-72D4-9EED-E00C-AA52D017EAE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11A443C-421A-9B10-C0B1-B2C6E9B6769F}"/>
              </a:ext>
            </a:extLst>
          </p:cNvPr>
          <p:cNvSpPr txBox="1">
            <a:spLocks/>
          </p:cNvSpPr>
          <p:nvPr/>
        </p:nvSpPr>
        <p:spPr bwMode="auto">
          <a:xfrm>
            <a:off x="175260" y="9236"/>
            <a:ext cx="866394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Two Ways of Understanding Salvation</a:t>
            </a:r>
            <a:br>
              <a:rPr lang="en-US" dirty="0"/>
            </a:br>
            <a:r>
              <a:rPr lang="en-US" sz="2400" dirty="0">
                <a:solidFill>
                  <a:schemeClr val="tx2">
                    <a:lumMod val="60000"/>
                    <a:lumOff val="40000"/>
                  </a:schemeClr>
                </a:solidFill>
              </a:rPr>
              <a:t>Doctrinal Comparisons</a:t>
            </a:r>
          </a:p>
        </p:txBody>
      </p:sp>
      <p:graphicFrame>
        <p:nvGraphicFramePr>
          <p:cNvPr id="2" name="Table 1">
            <a:extLst>
              <a:ext uri="{FF2B5EF4-FFF2-40B4-BE49-F238E27FC236}">
                <a16:creationId xmlns:a16="http://schemas.microsoft.com/office/drawing/2014/main" id="{FE78BADA-9ECE-4244-E1D0-E4F3A0C1F8D7}"/>
              </a:ext>
            </a:extLst>
          </p:cNvPr>
          <p:cNvGraphicFramePr>
            <a:graphicFrameLocks noGrp="1"/>
          </p:cNvGraphicFramePr>
          <p:nvPr>
            <p:extLst>
              <p:ext uri="{D42A27DB-BD31-4B8C-83A1-F6EECF244321}">
                <p14:modId xmlns:p14="http://schemas.microsoft.com/office/powerpoint/2010/main" val="3443334378"/>
              </p:ext>
            </p:extLst>
          </p:nvPr>
        </p:nvGraphicFramePr>
        <p:xfrm>
          <a:off x="228600" y="990600"/>
          <a:ext cx="8663940" cy="2326640"/>
        </p:xfrm>
        <a:graphic>
          <a:graphicData uri="http://schemas.openxmlformats.org/drawingml/2006/table">
            <a:tbl>
              <a:tblPr>
                <a:tableStyleId>{46F890A9-2807-4EBB-B81D-B2AA78EC7F39}</a:tableStyleId>
              </a:tblPr>
              <a:tblGrid>
                <a:gridCol w="2599182">
                  <a:extLst>
                    <a:ext uri="{9D8B030D-6E8A-4147-A177-3AD203B41FA5}">
                      <a16:colId xmlns:a16="http://schemas.microsoft.com/office/drawing/2014/main" val="3883346476"/>
                    </a:ext>
                  </a:extLst>
                </a:gridCol>
                <a:gridCol w="1927326">
                  <a:extLst>
                    <a:ext uri="{9D8B030D-6E8A-4147-A177-3AD203B41FA5}">
                      <a16:colId xmlns:a16="http://schemas.microsoft.com/office/drawing/2014/main" val="2030859552"/>
                    </a:ext>
                  </a:extLst>
                </a:gridCol>
                <a:gridCol w="4137432">
                  <a:extLst>
                    <a:ext uri="{9D8B030D-6E8A-4147-A177-3AD203B41FA5}">
                      <a16:colId xmlns:a16="http://schemas.microsoft.com/office/drawing/2014/main" val="1510161248"/>
                    </a:ext>
                  </a:extLst>
                </a:gridCol>
              </a:tblGrid>
              <a:tr h="0">
                <a:tc>
                  <a:txBody>
                    <a:bodyPr/>
                    <a:lstStyle/>
                    <a:p>
                      <a:pPr marL="0" marR="0" fontAlgn="t">
                        <a:buNone/>
                      </a:pPr>
                      <a:r>
                        <a:rPr lang="en-US" sz="1800" b="1">
                          <a:effectLst/>
                        </a:rPr>
                        <a:t>Question</a:t>
                      </a:r>
                      <a:endParaRPr lang="en-US" sz="1800">
                        <a:effectLst/>
                        <a:latin typeface="Calibri" panose="020F0502020204030204" pitchFamily="34" charset="0"/>
                      </a:endParaRPr>
                    </a:p>
                  </a:txBody>
                  <a:tcPr marL="50800" marR="50800" marT="50800" marB="50800"/>
                </a:tc>
                <a:tc>
                  <a:txBody>
                    <a:bodyPr/>
                    <a:lstStyle/>
                    <a:p>
                      <a:pPr marL="0" marR="0" fontAlgn="t">
                        <a:buNone/>
                      </a:pPr>
                      <a:r>
                        <a:rPr lang="en-US" sz="1800" b="1" dirty="0">
                          <a:effectLst/>
                        </a:rPr>
                        <a:t>Protestant Emphasis</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b="1">
                          <a:effectLst/>
                        </a:rPr>
                        <a:t>Restoration Emphasis</a:t>
                      </a:r>
                      <a:endParaRPr lang="en-US" sz="1800">
                        <a:effectLst/>
                        <a:latin typeface="Calibri" panose="020F0502020204030204" pitchFamily="34" charset="0"/>
                      </a:endParaRPr>
                    </a:p>
                  </a:txBody>
                  <a:tcPr marL="50800" marR="50800" marT="50800" marB="50800"/>
                </a:tc>
                <a:extLst>
                  <a:ext uri="{0D108BD9-81ED-4DB2-BD59-A6C34878D82A}">
                    <a16:rowId xmlns:a16="http://schemas.microsoft.com/office/drawing/2014/main" val="1349155453"/>
                  </a:ext>
                </a:extLst>
              </a:tr>
              <a:tr h="0">
                <a:tc>
                  <a:txBody>
                    <a:bodyPr/>
                    <a:lstStyle/>
                    <a:p>
                      <a:pPr marL="0" marR="0" fontAlgn="t">
                        <a:buNone/>
                      </a:pPr>
                      <a:r>
                        <a:rPr lang="en-US" sz="1800">
                          <a:effectLst/>
                        </a:rPr>
                        <a:t>What saves?</a:t>
                      </a:r>
                      <a:endParaRPr lang="en-US" sz="1800">
                        <a:effectLst/>
                        <a:latin typeface="Calibri" panose="020F0502020204030204" pitchFamily="34" charset="0"/>
                      </a:endParaRPr>
                    </a:p>
                  </a:txBody>
                  <a:tcPr marL="50800" marR="50800" marT="50800" marB="50800"/>
                </a:tc>
                <a:tc>
                  <a:txBody>
                    <a:bodyPr/>
                    <a:lstStyle/>
                    <a:p>
                      <a:pPr marL="0" marR="0" fontAlgn="t">
                        <a:buNone/>
                      </a:pPr>
                      <a:r>
                        <a:rPr lang="en-US" sz="1800">
                          <a:effectLst/>
                        </a:rPr>
                        <a:t>Faith alone</a:t>
                      </a:r>
                      <a:endParaRPr lang="en-US" sz="1800">
                        <a:effectLst/>
                        <a:latin typeface="Calibri" panose="020F0502020204030204" pitchFamily="34" charset="0"/>
                      </a:endParaRPr>
                    </a:p>
                  </a:txBody>
                  <a:tcPr marL="50800" marR="50800" marT="50800" marB="50800"/>
                </a:tc>
                <a:tc>
                  <a:txBody>
                    <a:bodyPr/>
                    <a:lstStyle/>
                    <a:p>
                      <a:pPr marL="0" marR="0" fontAlgn="t">
                        <a:buNone/>
                      </a:pPr>
                      <a:r>
                        <a:rPr lang="en-US" sz="1800">
                          <a:effectLst/>
                        </a:rPr>
                        <a:t>Grace through obedient faith</a:t>
                      </a:r>
                      <a:endParaRPr lang="en-US" sz="1800">
                        <a:effectLst/>
                        <a:latin typeface="Calibri" panose="020F0502020204030204" pitchFamily="34" charset="0"/>
                      </a:endParaRPr>
                    </a:p>
                  </a:txBody>
                  <a:tcPr marL="50800" marR="50800" marT="50800" marB="50800"/>
                </a:tc>
                <a:extLst>
                  <a:ext uri="{0D108BD9-81ED-4DB2-BD59-A6C34878D82A}">
                    <a16:rowId xmlns:a16="http://schemas.microsoft.com/office/drawing/2014/main" val="1916677649"/>
                  </a:ext>
                </a:extLst>
              </a:tr>
              <a:tr h="0">
                <a:tc>
                  <a:txBody>
                    <a:bodyPr/>
                    <a:lstStyle/>
                    <a:p>
                      <a:pPr marL="0" marR="0" fontAlgn="t">
                        <a:buNone/>
                      </a:pPr>
                      <a:r>
                        <a:rPr lang="en-US" sz="1800" dirty="0">
                          <a:effectLst/>
                        </a:rPr>
                        <a:t>When does salvation occur?</a:t>
                      </a:r>
                      <a:endParaRPr lang="en-US" sz="1800" dirty="0">
                        <a:effectLst/>
                        <a:latin typeface="Calibri" panose="020F0502020204030204" pitchFamily="34" charset="0"/>
                      </a:endParaRPr>
                    </a:p>
                  </a:txBody>
                  <a:tcPr marL="50800" marR="50800" marT="50800" marB="50800"/>
                </a:tc>
                <a:tc>
                  <a:txBody>
                    <a:bodyPr/>
                    <a:lstStyle/>
                    <a:p>
                      <a:pPr marL="0" marR="0" fontAlgn="t">
                        <a:buNone/>
                      </a:pPr>
                      <a:r>
                        <a:rPr lang="en-US" sz="1800">
                          <a:effectLst/>
                        </a:rPr>
                        <a:t>At belief</a:t>
                      </a:r>
                      <a:endParaRPr lang="en-US" sz="1800">
                        <a:effectLst/>
                        <a:latin typeface="Calibri" panose="020F0502020204030204" pitchFamily="34" charset="0"/>
                      </a:endParaRPr>
                    </a:p>
                  </a:txBody>
                  <a:tcPr marL="50800" marR="50800" marT="50800" marB="50800"/>
                </a:tc>
                <a:tc>
                  <a:txBody>
                    <a:bodyPr/>
                    <a:lstStyle/>
                    <a:p>
                      <a:pPr marL="0" marR="0" fontAlgn="t">
                        <a:buNone/>
                      </a:pPr>
                      <a:r>
                        <a:rPr lang="en-US" sz="1800" dirty="0">
                          <a:effectLst/>
                        </a:rPr>
                        <a:t>At response to gospel (faith, repentance, baptism)</a:t>
                      </a:r>
                      <a:endParaRPr lang="en-US" sz="18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3219083247"/>
                  </a:ext>
                </a:extLst>
              </a:tr>
              <a:tr h="0">
                <a:tc>
                  <a:txBody>
                    <a:bodyPr/>
                    <a:lstStyle/>
                    <a:p>
                      <a:pPr marL="0" marR="0" fontAlgn="t">
                        <a:buNone/>
                      </a:pPr>
                      <a:r>
                        <a:rPr lang="en-US" sz="1800">
                          <a:effectLst/>
                        </a:rPr>
                        <a:t>What follows?</a:t>
                      </a:r>
                      <a:endParaRPr lang="en-US" sz="1800">
                        <a:effectLst/>
                        <a:latin typeface="Calibri" panose="020F0502020204030204" pitchFamily="34" charset="0"/>
                      </a:endParaRPr>
                    </a:p>
                  </a:txBody>
                  <a:tcPr marL="50800" marR="50800" marT="50800" marB="50800"/>
                </a:tc>
                <a:tc>
                  <a:txBody>
                    <a:bodyPr/>
                    <a:lstStyle/>
                    <a:p>
                      <a:pPr marL="0" marR="0" fontAlgn="t">
                        <a:buNone/>
                      </a:pPr>
                      <a:r>
                        <a:rPr lang="en-US" sz="1800">
                          <a:effectLst/>
                        </a:rPr>
                        <a:t>Obedience as evidence</a:t>
                      </a:r>
                      <a:endParaRPr lang="en-US" sz="1800">
                        <a:effectLst/>
                        <a:latin typeface="Calibri" panose="020F0502020204030204" pitchFamily="34" charset="0"/>
                      </a:endParaRPr>
                    </a:p>
                  </a:txBody>
                  <a:tcPr marL="50800" marR="50800" marT="50800" marB="50800"/>
                </a:tc>
                <a:tc>
                  <a:txBody>
                    <a:bodyPr/>
                    <a:lstStyle/>
                    <a:p>
                      <a:pPr marL="0" marR="0" fontAlgn="t">
                        <a:buNone/>
                      </a:pPr>
                      <a:r>
                        <a:rPr lang="en-US" sz="1800" dirty="0">
                          <a:effectLst/>
                        </a:rPr>
                        <a:t>Obedience as part of faith and ongoing life</a:t>
                      </a:r>
                      <a:endParaRPr lang="en-US" sz="1800" dirty="0">
                        <a:effectLst/>
                        <a:latin typeface="Calibri" panose="020F0502020204030204" pitchFamily="34" charset="0"/>
                      </a:endParaRPr>
                    </a:p>
                  </a:txBody>
                  <a:tcPr marL="50800" marR="50800" marT="50800" marB="50800"/>
                </a:tc>
                <a:extLst>
                  <a:ext uri="{0D108BD9-81ED-4DB2-BD59-A6C34878D82A}">
                    <a16:rowId xmlns:a16="http://schemas.microsoft.com/office/drawing/2014/main" val="1297475994"/>
                  </a:ext>
                </a:extLst>
              </a:tr>
            </a:tbl>
          </a:graphicData>
        </a:graphic>
      </p:graphicFrame>
      <p:sp>
        <p:nvSpPr>
          <p:cNvPr id="3" name="TextBox 2">
            <a:extLst>
              <a:ext uri="{FF2B5EF4-FFF2-40B4-BE49-F238E27FC236}">
                <a16:creationId xmlns:a16="http://schemas.microsoft.com/office/drawing/2014/main" id="{80C9DDF0-6587-A2BC-29BD-1A459AABEFDA}"/>
              </a:ext>
            </a:extLst>
          </p:cNvPr>
          <p:cNvSpPr txBox="1"/>
          <p:nvPr/>
        </p:nvSpPr>
        <p:spPr>
          <a:xfrm>
            <a:off x="175260" y="3526749"/>
            <a:ext cx="8001000" cy="3170099"/>
          </a:xfrm>
          <a:prstGeom prst="rect">
            <a:avLst/>
          </a:prstGeom>
          <a:noFill/>
        </p:spPr>
        <p:txBody>
          <a:bodyPr wrap="square" rtlCol="0">
            <a:spAutoFit/>
          </a:bodyPr>
          <a:lstStyle/>
          <a:p>
            <a:r>
              <a:rPr lang="en-US" sz="2000" b="1" dirty="0"/>
              <a:t>Key Balancing Truths in Romans</a:t>
            </a:r>
            <a:endParaRPr lang="en-US" sz="2000" dirty="0"/>
          </a:p>
          <a:p>
            <a:endParaRPr lang="en-US" dirty="0"/>
          </a:p>
          <a:p>
            <a:r>
              <a:rPr lang="en-US" dirty="0"/>
              <a:t>These help avoid extremes:</a:t>
            </a:r>
          </a:p>
          <a:p>
            <a:pPr marL="285750" indent="-285750" fontAlgn="ctr">
              <a:buFont typeface="Arial" panose="020B0604020202020204" pitchFamily="34" charset="0"/>
              <a:buChar char="•"/>
            </a:pPr>
            <a:r>
              <a:rPr lang="en-US" b="1" dirty="0"/>
              <a:t>Faith and obedience belong together</a:t>
            </a:r>
          </a:p>
          <a:p>
            <a:pPr marL="742950" lvl="1" indent="-285750" fontAlgn="ctr">
              <a:buFont typeface="Arial" panose="020B0604020202020204" pitchFamily="34" charset="0"/>
              <a:buChar char="•"/>
            </a:pPr>
            <a:r>
              <a:rPr lang="en-US" dirty="0"/>
              <a:t>Romans 1:5 - “obedience of faith”</a:t>
            </a:r>
          </a:p>
          <a:p>
            <a:pPr marL="285750" indent="-285750" fontAlgn="ctr">
              <a:buFont typeface="Arial" panose="020B0604020202020204" pitchFamily="34" charset="0"/>
              <a:buChar char="•"/>
            </a:pPr>
            <a:r>
              <a:rPr lang="en-US" b="1" dirty="0"/>
              <a:t>Grace does not allow sin</a:t>
            </a:r>
          </a:p>
          <a:p>
            <a:pPr marL="742950" lvl="1" indent="-285750" fontAlgn="ctr">
              <a:buFont typeface="Arial" panose="020B0604020202020204" pitchFamily="34" charset="0"/>
              <a:buChar char="•"/>
            </a:pPr>
            <a:r>
              <a:rPr lang="en-US" dirty="0"/>
              <a:t>Romans 6:1-2 - “Absolutely not!”</a:t>
            </a:r>
          </a:p>
          <a:p>
            <a:pPr marL="285750" indent="-285750" fontAlgn="ctr">
              <a:buFont typeface="Arial" panose="020B0604020202020204" pitchFamily="34" charset="0"/>
              <a:buChar char="•"/>
            </a:pPr>
            <a:r>
              <a:rPr lang="en-US" b="1" dirty="0"/>
              <a:t>No condemnation in Christ</a:t>
            </a:r>
          </a:p>
          <a:p>
            <a:pPr marL="742950" lvl="1" indent="-285750" fontAlgn="ctr">
              <a:buFont typeface="Arial" panose="020B0604020202020204" pitchFamily="34" charset="0"/>
              <a:buChar char="•"/>
            </a:pPr>
            <a:r>
              <a:rPr lang="en-US" dirty="0"/>
              <a:t>Romans 8:1</a:t>
            </a:r>
          </a:p>
          <a:p>
            <a:pPr marL="285750" indent="-285750" fontAlgn="ctr">
              <a:buFont typeface="Arial" panose="020B0604020202020204" pitchFamily="34" charset="0"/>
              <a:buChar char="•"/>
            </a:pPr>
            <a:r>
              <a:rPr lang="en-US" b="1" dirty="0"/>
              <a:t>But continue in God’s kindness</a:t>
            </a:r>
          </a:p>
          <a:p>
            <a:pPr marL="742950" lvl="1" indent="-285750" fontAlgn="ctr">
              <a:buFont typeface="Arial" panose="020B0604020202020204" pitchFamily="34" charset="0"/>
              <a:buChar char="•"/>
            </a:pPr>
            <a:r>
              <a:rPr lang="en-US" dirty="0"/>
              <a:t>Romans 11:22</a:t>
            </a:r>
          </a:p>
        </p:txBody>
      </p:sp>
    </p:spTree>
    <p:extLst>
      <p:ext uri="{BB962C8B-B14F-4D97-AF65-F5344CB8AC3E}">
        <p14:creationId xmlns:p14="http://schemas.microsoft.com/office/powerpoint/2010/main" val="3816780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God’s Character Revealed</a:t>
            </a:r>
            <a:br>
              <a:rPr lang="en-US" dirty="0"/>
            </a:br>
            <a:r>
              <a:rPr lang="en-US" sz="2400" dirty="0">
                <a:solidFill>
                  <a:schemeClr val="tx2">
                    <a:lumMod val="60000"/>
                    <a:lumOff val="40000"/>
                  </a:schemeClr>
                </a:solidFill>
              </a:rPr>
              <a:t>The Promises to Abraham</a:t>
            </a:r>
          </a:p>
        </p:txBody>
      </p:sp>
      <p:sp>
        <p:nvSpPr>
          <p:cNvPr id="6" name="TextBox 5"/>
          <p:cNvSpPr txBox="1"/>
          <p:nvPr/>
        </p:nvSpPr>
        <p:spPr>
          <a:xfrm>
            <a:off x="365760" y="1329788"/>
            <a:ext cx="8442960" cy="1231106"/>
          </a:xfrm>
          <a:prstGeom prst="rect">
            <a:avLst/>
          </a:prstGeom>
          <a:noFill/>
        </p:spPr>
        <p:txBody>
          <a:bodyPr wrap="square" rtlCol="0">
            <a:spAutoFit/>
          </a:bodyPr>
          <a:lstStyle/>
          <a:p>
            <a:r>
              <a:rPr lang="en-US" sz="2000" b="1" i="1" u="sng" dirty="0">
                <a:solidFill>
                  <a:schemeClr val="accent1"/>
                </a:solidFill>
              </a:rPr>
              <a:t>Initiator of the Covenant</a:t>
            </a:r>
          </a:p>
          <a:p>
            <a:pPr marL="285750" indent="-285750" fontAlgn="ctr">
              <a:buFont typeface="Arial" panose="020B0604020202020204" pitchFamily="34" charset="0"/>
              <a:buChar char="•"/>
            </a:pPr>
            <a:r>
              <a:rPr lang="en-US" b="1" i="1" dirty="0"/>
              <a:t>Genesis 12:1-3</a:t>
            </a:r>
            <a:r>
              <a:rPr lang="en-US" b="1" dirty="0"/>
              <a:t>  </a:t>
            </a:r>
            <a:r>
              <a:rPr lang="en-US" dirty="0"/>
              <a:t>God calls Abraham to leave his homeland, initiating the promise.</a:t>
            </a:r>
          </a:p>
          <a:p>
            <a:pPr marL="285750" indent="-285750" fontAlgn="ctr">
              <a:buFont typeface="Arial" panose="020B0604020202020204" pitchFamily="34" charset="0"/>
              <a:buChar char="•"/>
            </a:pPr>
            <a:r>
              <a:rPr lang="en-US" dirty="0"/>
              <a:t>God’s promises are grounded in His initiative, not Abraham’s worthiness.</a:t>
            </a:r>
          </a:p>
        </p:txBody>
      </p:sp>
      <p:sp>
        <p:nvSpPr>
          <p:cNvPr id="7" name="TextBox 6"/>
          <p:cNvSpPr txBox="1"/>
          <p:nvPr/>
        </p:nvSpPr>
        <p:spPr>
          <a:xfrm>
            <a:off x="365760" y="2747682"/>
            <a:ext cx="8458200" cy="1231106"/>
          </a:xfrm>
          <a:prstGeom prst="rect">
            <a:avLst/>
          </a:prstGeom>
          <a:noFill/>
        </p:spPr>
        <p:txBody>
          <a:bodyPr wrap="square" rtlCol="0">
            <a:spAutoFit/>
          </a:bodyPr>
          <a:lstStyle/>
          <a:p>
            <a:r>
              <a:rPr lang="en-US" sz="2000" b="1" i="1" u="sng" dirty="0">
                <a:solidFill>
                  <a:schemeClr val="accent1"/>
                </a:solidFill>
              </a:rPr>
              <a:t>Covenant Keeper</a:t>
            </a:r>
          </a:p>
          <a:p>
            <a:pPr marL="285750" indent="-285750" fontAlgn="ctr">
              <a:buFont typeface="Arial" panose="020B0604020202020204" pitchFamily="34" charset="0"/>
              <a:buChar char="•"/>
            </a:pPr>
            <a:r>
              <a:rPr lang="en-US" b="1" i="1" dirty="0"/>
              <a:t>Genesis 15:1-6</a:t>
            </a:r>
            <a:r>
              <a:rPr lang="en-US" b="1" dirty="0"/>
              <a:t>  </a:t>
            </a:r>
            <a:r>
              <a:rPr lang="en-US" dirty="0"/>
              <a:t>God ratifies the covenant by passing between the pieces, showing He alone carries the responsibility of fulfillment.</a:t>
            </a:r>
          </a:p>
          <a:p>
            <a:pPr marL="285750" indent="-285750" fontAlgn="ctr">
              <a:buFont typeface="Arial" panose="020B0604020202020204" pitchFamily="34" charset="0"/>
              <a:buChar char="•"/>
            </a:pPr>
            <a:r>
              <a:rPr lang="en-US" b="1" i="1" dirty="0"/>
              <a:t>Genesis 17:7</a:t>
            </a:r>
            <a:r>
              <a:rPr lang="en-US" b="1" dirty="0"/>
              <a:t>  </a:t>
            </a:r>
            <a:r>
              <a:rPr lang="en-US" dirty="0"/>
              <a:t>God calls it an “everlasting covenant.”</a:t>
            </a:r>
          </a:p>
        </p:txBody>
      </p:sp>
      <p:sp>
        <p:nvSpPr>
          <p:cNvPr id="8" name="TextBox 7"/>
          <p:cNvSpPr txBox="1"/>
          <p:nvPr/>
        </p:nvSpPr>
        <p:spPr>
          <a:xfrm>
            <a:off x="365760" y="4165576"/>
            <a:ext cx="8001000" cy="2062103"/>
          </a:xfrm>
          <a:prstGeom prst="rect">
            <a:avLst/>
          </a:prstGeom>
          <a:noFill/>
        </p:spPr>
        <p:txBody>
          <a:bodyPr wrap="square" rtlCol="0">
            <a:spAutoFit/>
          </a:bodyPr>
          <a:lstStyle/>
          <a:p>
            <a:r>
              <a:rPr lang="en-US" sz="2000" b="1" i="1" u="sng" dirty="0">
                <a:solidFill>
                  <a:schemeClr val="accent1"/>
                </a:solidFill>
              </a:rPr>
              <a:t>Faithfulness Across Generations</a:t>
            </a:r>
          </a:p>
          <a:p>
            <a:pPr marL="342900" indent="-342900">
              <a:buFont typeface="Arial" pitchFamily="34" charset="0"/>
              <a:buChar char="•"/>
            </a:pPr>
            <a:r>
              <a:rPr lang="en-US" dirty="0"/>
              <a:t>God reiterates His promise to Isaac (</a:t>
            </a:r>
            <a:r>
              <a:rPr lang="en-US" b="1" dirty="0"/>
              <a:t>Genesis 26:3-4</a:t>
            </a:r>
            <a:r>
              <a:rPr lang="en-US" dirty="0"/>
              <a:t>) and Jacob (</a:t>
            </a:r>
            <a:r>
              <a:rPr lang="en-US" b="1" dirty="0"/>
              <a:t>Genesis 28:13-15</a:t>
            </a:r>
            <a:r>
              <a:rPr lang="en-US" dirty="0"/>
              <a:t>).</a:t>
            </a:r>
          </a:p>
          <a:p>
            <a:pPr marL="342900" indent="-342900">
              <a:buFont typeface="Arial" pitchFamily="34" charset="0"/>
              <a:buChar char="•"/>
            </a:pPr>
            <a:r>
              <a:rPr lang="en-US" dirty="0"/>
              <a:t>God’s character is revealed in His unilateral commitment to Abraham; He binds Himself to His promises with no possibility of failure.</a:t>
            </a:r>
          </a:p>
          <a:p>
            <a:pPr marL="342900" indent="-342900">
              <a:buFont typeface="Arial" pitchFamily="34" charset="0"/>
              <a:buChar char="•"/>
            </a:pPr>
            <a:r>
              <a:rPr lang="en-US" b="1" dirty="0"/>
              <a:t>Romans 1:17  </a:t>
            </a:r>
            <a:r>
              <a:rPr lang="en-US" i="1" dirty="0"/>
              <a:t>For the righteousness of God is revealed in the gospel </a:t>
            </a:r>
            <a:r>
              <a:rPr lang="en-US" i="1" u="sng" dirty="0"/>
              <a:t>from faith to faith</a:t>
            </a:r>
            <a:r>
              <a:rPr lang="en-US" i="1" dirty="0"/>
              <a:t>, just as it is written, </a:t>
            </a:r>
            <a:r>
              <a:rPr lang="en-US" dirty="0"/>
              <a:t>“</a:t>
            </a:r>
            <a:r>
              <a:rPr lang="en-US" b="1" i="1" dirty="0"/>
              <a:t>The righteous by faith will live</a:t>
            </a:r>
            <a:r>
              <a:rPr lang="en-US" dirty="0"/>
              <a:t>.”</a:t>
            </a:r>
          </a:p>
        </p:txBody>
      </p:sp>
    </p:spTree>
    <p:extLst>
      <p:ext uri="{BB962C8B-B14F-4D97-AF65-F5344CB8AC3E}">
        <p14:creationId xmlns:p14="http://schemas.microsoft.com/office/powerpoint/2010/main" val="80550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A0A04-9765-41F5-8F5C-29CCCE2F87D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17A95EA-8598-8A4F-D8C2-B4CAB4067D2A}"/>
              </a:ext>
            </a:extLst>
          </p:cNvPr>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God’s Character Revealed in Christ</a:t>
            </a:r>
            <a:br>
              <a:rPr lang="en-US" dirty="0"/>
            </a:br>
            <a:r>
              <a:rPr lang="en-US" sz="2600" dirty="0">
                <a:solidFill>
                  <a:schemeClr val="tx2">
                    <a:lumMod val="60000"/>
                    <a:lumOff val="40000"/>
                  </a:schemeClr>
                </a:solidFill>
              </a:rPr>
              <a:t>Abraham’s Seed</a:t>
            </a:r>
          </a:p>
        </p:txBody>
      </p:sp>
      <p:sp>
        <p:nvSpPr>
          <p:cNvPr id="6" name="TextBox 5">
            <a:extLst>
              <a:ext uri="{FF2B5EF4-FFF2-40B4-BE49-F238E27FC236}">
                <a16:creationId xmlns:a16="http://schemas.microsoft.com/office/drawing/2014/main" id="{0120B2DF-8B8B-A782-E6DF-D81F3D2239F9}"/>
              </a:ext>
            </a:extLst>
          </p:cNvPr>
          <p:cNvSpPr txBox="1"/>
          <p:nvPr/>
        </p:nvSpPr>
        <p:spPr>
          <a:xfrm>
            <a:off x="350520" y="1406723"/>
            <a:ext cx="8442960" cy="954107"/>
          </a:xfrm>
          <a:prstGeom prst="rect">
            <a:avLst/>
          </a:prstGeom>
          <a:noFill/>
        </p:spPr>
        <p:txBody>
          <a:bodyPr wrap="square" rtlCol="0">
            <a:spAutoFit/>
          </a:bodyPr>
          <a:lstStyle/>
          <a:p>
            <a:r>
              <a:rPr lang="en-US" sz="2000" b="1" i="1" u="sng" dirty="0">
                <a:solidFill>
                  <a:schemeClr val="accent1"/>
                </a:solidFill>
              </a:rPr>
              <a:t>Jesus, the Fulfillment of the Promise</a:t>
            </a:r>
          </a:p>
          <a:p>
            <a:pPr marL="285750" indent="-285750" fontAlgn="ctr">
              <a:buFont typeface="Arial" panose="020B0604020202020204" pitchFamily="34" charset="0"/>
              <a:buChar char="•"/>
            </a:pPr>
            <a:r>
              <a:rPr lang="en-US" b="1" i="1" dirty="0"/>
              <a:t>Galatians 3:16</a:t>
            </a:r>
            <a:r>
              <a:rPr lang="en-US" b="1" dirty="0"/>
              <a:t>  </a:t>
            </a:r>
            <a:r>
              <a:rPr lang="en-US" dirty="0"/>
              <a:t>The promises were ultimately to Abraham’s “seed,” Christ.</a:t>
            </a:r>
          </a:p>
          <a:p>
            <a:pPr marL="285750" indent="-285750" fontAlgn="ctr">
              <a:buFont typeface="Arial" panose="020B0604020202020204" pitchFamily="34" charset="0"/>
              <a:buChar char="•"/>
            </a:pPr>
            <a:r>
              <a:rPr lang="en-US" b="1" i="1" dirty="0"/>
              <a:t>Luke 3:34</a:t>
            </a:r>
            <a:r>
              <a:rPr lang="en-US" b="1" dirty="0"/>
              <a:t>  </a:t>
            </a:r>
            <a:r>
              <a:rPr lang="en-US" dirty="0"/>
              <a:t>Jesus is in Abraham’s line, the heir of the covenant.</a:t>
            </a:r>
          </a:p>
        </p:txBody>
      </p:sp>
      <p:sp>
        <p:nvSpPr>
          <p:cNvPr id="7" name="TextBox 6">
            <a:extLst>
              <a:ext uri="{FF2B5EF4-FFF2-40B4-BE49-F238E27FC236}">
                <a16:creationId xmlns:a16="http://schemas.microsoft.com/office/drawing/2014/main" id="{A72111AE-1843-9AB9-7417-26A694D00086}"/>
              </a:ext>
            </a:extLst>
          </p:cNvPr>
          <p:cNvSpPr txBox="1"/>
          <p:nvPr/>
        </p:nvSpPr>
        <p:spPr>
          <a:xfrm>
            <a:off x="350520" y="2584162"/>
            <a:ext cx="8458200" cy="1231106"/>
          </a:xfrm>
          <a:prstGeom prst="rect">
            <a:avLst/>
          </a:prstGeom>
          <a:noFill/>
        </p:spPr>
        <p:txBody>
          <a:bodyPr wrap="square" rtlCol="0">
            <a:spAutoFit/>
          </a:bodyPr>
          <a:lstStyle/>
          <a:p>
            <a:r>
              <a:rPr lang="en-US" sz="2000" b="1" i="1" u="sng" dirty="0">
                <a:solidFill>
                  <a:schemeClr val="accent1"/>
                </a:solidFill>
              </a:rPr>
              <a:t>Blessing to the Nations</a:t>
            </a:r>
          </a:p>
          <a:p>
            <a:pPr marL="285750" indent="-285750" fontAlgn="ctr">
              <a:buFont typeface="Arial" panose="020B0604020202020204" pitchFamily="34" charset="0"/>
              <a:buChar char="•"/>
            </a:pPr>
            <a:r>
              <a:rPr lang="en-US" b="1" i="1" dirty="0"/>
              <a:t>Galatians 3:8</a:t>
            </a:r>
            <a:r>
              <a:rPr lang="en-US" b="1" dirty="0"/>
              <a:t>  </a:t>
            </a:r>
            <a:r>
              <a:rPr lang="en-US" dirty="0"/>
              <a:t>The gospel was announced beforehand to Abraham: all nations blessed in Christ.</a:t>
            </a:r>
          </a:p>
          <a:p>
            <a:pPr marL="285750" indent="-285750" fontAlgn="ctr">
              <a:buFont typeface="Arial" panose="020B0604020202020204" pitchFamily="34" charset="0"/>
              <a:buChar char="•"/>
            </a:pPr>
            <a:r>
              <a:rPr lang="en-US" b="1" i="1" dirty="0"/>
              <a:t>Matthew 28:19</a:t>
            </a:r>
            <a:r>
              <a:rPr lang="en-US" b="1" dirty="0"/>
              <a:t>  </a:t>
            </a:r>
            <a:r>
              <a:rPr lang="en-US" dirty="0"/>
              <a:t>Fulfillment in the Great Commission to the nations.</a:t>
            </a:r>
          </a:p>
        </p:txBody>
      </p:sp>
      <p:sp>
        <p:nvSpPr>
          <p:cNvPr id="8" name="TextBox 7">
            <a:extLst>
              <a:ext uri="{FF2B5EF4-FFF2-40B4-BE49-F238E27FC236}">
                <a16:creationId xmlns:a16="http://schemas.microsoft.com/office/drawing/2014/main" id="{55E837E3-F4CF-0369-24B2-B323BA51C139}"/>
              </a:ext>
            </a:extLst>
          </p:cNvPr>
          <p:cNvSpPr txBox="1"/>
          <p:nvPr/>
        </p:nvSpPr>
        <p:spPr>
          <a:xfrm>
            <a:off x="350520" y="4038600"/>
            <a:ext cx="8001000" cy="954107"/>
          </a:xfrm>
          <a:prstGeom prst="rect">
            <a:avLst/>
          </a:prstGeom>
          <a:noFill/>
        </p:spPr>
        <p:txBody>
          <a:bodyPr wrap="square" rtlCol="0">
            <a:spAutoFit/>
          </a:bodyPr>
          <a:lstStyle/>
          <a:p>
            <a:r>
              <a:rPr lang="en-US" sz="2000" b="1" i="1" u="sng" dirty="0">
                <a:solidFill>
                  <a:schemeClr val="accent1"/>
                </a:solidFill>
              </a:rPr>
              <a:t>Faith as the Response</a:t>
            </a:r>
          </a:p>
          <a:p>
            <a:pPr marL="342900" indent="-342900">
              <a:buFont typeface="Arial" pitchFamily="34" charset="0"/>
              <a:buChar char="•"/>
            </a:pPr>
            <a:r>
              <a:rPr lang="en-US" b="1" i="1" dirty="0"/>
              <a:t>Romans 4:20-21</a:t>
            </a:r>
            <a:r>
              <a:rPr lang="en-US" b="1" dirty="0"/>
              <a:t>  </a:t>
            </a:r>
            <a:r>
              <a:rPr lang="en-US" dirty="0"/>
              <a:t>Abraham’s faith in God’s promise models how we trust in Christ.</a:t>
            </a:r>
          </a:p>
        </p:txBody>
      </p:sp>
      <p:sp>
        <p:nvSpPr>
          <p:cNvPr id="2" name="TextBox 1">
            <a:extLst>
              <a:ext uri="{FF2B5EF4-FFF2-40B4-BE49-F238E27FC236}">
                <a16:creationId xmlns:a16="http://schemas.microsoft.com/office/drawing/2014/main" id="{A45BA998-A323-F96F-71E9-A37EA5A5CFB2}"/>
              </a:ext>
            </a:extLst>
          </p:cNvPr>
          <p:cNvSpPr txBox="1"/>
          <p:nvPr/>
        </p:nvSpPr>
        <p:spPr>
          <a:xfrm>
            <a:off x="381000" y="5216039"/>
            <a:ext cx="8001000" cy="954107"/>
          </a:xfrm>
          <a:prstGeom prst="rect">
            <a:avLst/>
          </a:prstGeom>
          <a:noFill/>
        </p:spPr>
        <p:txBody>
          <a:bodyPr wrap="square" rtlCol="0">
            <a:spAutoFit/>
          </a:bodyPr>
          <a:lstStyle/>
          <a:p>
            <a:r>
              <a:rPr lang="en-US" sz="2000" b="1" i="1" u="sng" dirty="0">
                <a:solidFill>
                  <a:schemeClr val="accent1"/>
                </a:solidFill>
              </a:rPr>
              <a:t>Observation</a:t>
            </a:r>
          </a:p>
          <a:p>
            <a:pPr marL="342900" indent="-342900">
              <a:buFont typeface="Arial" pitchFamily="34" charset="0"/>
              <a:buChar char="•"/>
            </a:pPr>
            <a:r>
              <a:rPr lang="en-US" dirty="0"/>
              <a:t>The covenant blessing reaches its fulfillment in </a:t>
            </a:r>
            <a:r>
              <a:rPr lang="en-US" i="1" dirty="0"/>
              <a:t>Jesus Christ, who brings salvation to every nation</a:t>
            </a:r>
            <a:r>
              <a:rPr lang="en-US" dirty="0"/>
              <a:t>.</a:t>
            </a:r>
            <a:endParaRPr lang="en-US" dirty="0">
              <a:ea typeface="ＭＳ Ｐゴシック" pitchFamily="-106" charset="-128"/>
            </a:endParaRPr>
          </a:p>
        </p:txBody>
      </p:sp>
    </p:spTree>
    <p:extLst>
      <p:ext uri="{BB962C8B-B14F-4D97-AF65-F5344CB8AC3E}">
        <p14:creationId xmlns:p14="http://schemas.microsoft.com/office/powerpoint/2010/main" val="450327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89228-8411-2EC3-7CE1-EB7252C94DE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7BEE45E-2145-82FA-434B-AB5E62EE4C8F}"/>
              </a:ext>
            </a:extLst>
          </p:cNvPr>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References to the Promise of Abraham</a:t>
            </a:r>
            <a:br>
              <a:rPr lang="en-US" dirty="0"/>
            </a:br>
            <a:r>
              <a:rPr lang="en-US" sz="2400" dirty="0">
                <a:solidFill>
                  <a:schemeClr val="tx2">
                    <a:lumMod val="60000"/>
                    <a:lumOff val="40000"/>
                  </a:schemeClr>
                </a:solidFill>
              </a:rPr>
              <a:t>In the NT – Promise Quoted or Paraphrased</a:t>
            </a:r>
          </a:p>
        </p:txBody>
      </p:sp>
      <p:sp>
        <p:nvSpPr>
          <p:cNvPr id="3" name="TextBox 2">
            <a:extLst>
              <a:ext uri="{FF2B5EF4-FFF2-40B4-BE49-F238E27FC236}">
                <a16:creationId xmlns:a16="http://schemas.microsoft.com/office/drawing/2014/main" id="{8BF7D094-8EBD-8A98-A206-37280D070A83}"/>
              </a:ext>
            </a:extLst>
          </p:cNvPr>
          <p:cNvSpPr txBox="1"/>
          <p:nvPr/>
        </p:nvSpPr>
        <p:spPr>
          <a:xfrm>
            <a:off x="381000" y="1143000"/>
            <a:ext cx="8534400" cy="5262979"/>
          </a:xfrm>
          <a:prstGeom prst="rect">
            <a:avLst/>
          </a:prstGeom>
          <a:noFill/>
        </p:spPr>
        <p:txBody>
          <a:bodyPr wrap="square" rtlCol="0">
            <a:spAutoFit/>
          </a:bodyPr>
          <a:lstStyle/>
          <a:p>
            <a:pPr fontAlgn="ctr"/>
            <a:r>
              <a:rPr lang="en-US" sz="1600" b="1" dirty="0">
                <a:ea typeface="ＭＳ Ｐゴシック" pitchFamily="-106" charset="-128"/>
                <a:cs typeface="ＭＳ Ｐゴシック" pitchFamily="-106" charset="-128"/>
              </a:rPr>
              <a:t>Luke 1:54-55</a:t>
            </a:r>
            <a:r>
              <a:rPr lang="en-US" sz="1600" dirty="0">
                <a:ea typeface="ＭＳ Ｐゴシック" pitchFamily="-106" charset="-128"/>
                <a:cs typeface="ＭＳ Ｐゴシック" pitchFamily="-106" charset="-128"/>
              </a:rPr>
              <a:t>  Mary’s </a:t>
            </a:r>
            <a:r>
              <a:rPr lang="en-US" sz="1600" i="1" dirty="0">
                <a:ea typeface="ＭＳ Ｐゴシック" pitchFamily="-106" charset="-128"/>
                <a:cs typeface="ＭＳ Ｐゴシック" pitchFamily="-106" charset="-128"/>
              </a:rPr>
              <a:t>Magnificat</a:t>
            </a:r>
            <a:r>
              <a:rPr lang="en-US" sz="1600" dirty="0">
                <a:ea typeface="ＭＳ Ｐゴシック" pitchFamily="-106" charset="-128"/>
                <a:cs typeface="ＭＳ Ｐゴシック" pitchFamily="-106" charset="-128"/>
              </a:rPr>
              <a:t> praises God for remembering His promise to Abraham and his offspring.</a:t>
            </a:r>
          </a:p>
          <a:p>
            <a:pPr fontAlgn="ctr"/>
            <a:r>
              <a:rPr lang="en-US" sz="1600" b="1" dirty="0">
                <a:ea typeface="ＭＳ Ｐゴシック" pitchFamily="-106" charset="-128"/>
                <a:cs typeface="ＭＳ Ｐゴシック" pitchFamily="-106" charset="-128"/>
              </a:rPr>
              <a:t>Luke 1:68-73</a:t>
            </a:r>
            <a:r>
              <a:rPr lang="en-US" sz="1600" dirty="0">
                <a:ea typeface="ＭＳ Ｐゴシック" pitchFamily="-106" charset="-128"/>
                <a:cs typeface="ＭＳ Ｐゴシック" pitchFamily="-106" charset="-128"/>
              </a:rPr>
              <a:t>  Zechariah rejoices that God has “remembered His holy covenant, the oath that He swore to Abraham.”</a:t>
            </a:r>
          </a:p>
          <a:p>
            <a:pPr fontAlgn="ctr"/>
            <a:r>
              <a:rPr lang="en-US" sz="1600" b="1" dirty="0">
                <a:ea typeface="ＭＳ Ｐゴシック" pitchFamily="-106" charset="-128"/>
                <a:cs typeface="ＭＳ Ｐゴシック" pitchFamily="-106" charset="-128"/>
              </a:rPr>
              <a:t>Acts 3:25</a:t>
            </a:r>
            <a:r>
              <a:rPr lang="en-US" sz="1600" dirty="0">
                <a:ea typeface="ＭＳ Ｐゴシック" pitchFamily="-106" charset="-128"/>
                <a:cs typeface="ＭＳ Ｐゴシック" pitchFamily="-106" charset="-128"/>
              </a:rPr>
              <a:t>  Peter cites Genesis 12:3: </a:t>
            </a:r>
            <a:r>
              <a:rPr lang="en-US" sz="1600" i="1" dirty="0">
                <a:ea typeface="ＭＳ Ｐゴシック" pitchFamily="-106" charset="-128"/>
                <a:cs typeface="ＭＳ Ｐゴシック" pitchFamily="-106" charset="-128"/>
              </a:rPr>
              <a:t>“In your offspring shall all the families of the earth be blessed.”</a:t>
            </a:r>
            <a:endParaRPr lang="en-US" sz="1600" dirty="0">
              <a:ea typeface="ＭＳ Ｐゴシック" pitchFamily="-106" charset="-128"/>
              <a:cs typeface="ＭＳ Ｐゴシック" pitchFamily="-106" charset="-128"/>
            </a:endParaRPr>
          </a:p>
          <a:p>
            <a:pPr fontAlgn="ctr"/>
            <a:r>
              <a:rPr lang="en-US" sz="1600" b="1" dirty="0">
                <a:ea typeface="ＭＳ Ｐゴシック" pitchFamily="-106" charset="-128"/>
                <a:cs typeface="ＭＳ Ｐゴシック" pitchFamily="-106" charset="-128"/>
              </a:rPr>
              <a:t>Acts 7:2-8</a:t>
            </a:r>
            <a:r>
              <a:rPr lang="en-US" sz="1600" dirty="0">
                <a:ea typeface="ＭＳ Ｐゴシック" pitchFamily="-106" charset="-128"/>
                <a:cs typeface="ＭＳ Ｐゴシック" pitchFamily="-106" charset="-128"/>
              </a:rPr>
              <a:t>  Stephen recounts the covenant with Abraham, including the promise of land and descendants.</a:t>
            </a:r>
          </a:p>
          <a:p>
            <a:pPr fontAlgn="ctr"/>
            <a:r>
              <a:rPr lang="en-US" sz="1600" b="1" dirty="0">
                <a:ea typeface="ＭＳ Ｐゴシック" pitchFamily="-106" charset="-128"/>
                <a:cs typeface="ＭＳ Ｐゴシック" pitchFamily="-106" charset="-128"/>
              </a:rPr>
              <a:t>Romans 4:3</a:t>
            </a:r>
            <a:r>
              <a:rPr lang="en-US" sz="1600" dirty="0">
                <a:ea typeface="ＭＳ Ｐゴシック" pitchFamily="-106" charset="-128"/>
                <a:cs typeface="ＭＳ Ｐゴシック" pitchFamily="-106" charset="-128"/>
              </a:rPr>
              <a:t>  Paul quotes Genesis 15:6: </a:t>
            </a:r>
            <a:r>
              <a:rPr lang="en-US" sz="1600" i="1" dirty="0">
                <a:ea typeface="ＭＳ Ｐゴシック" pitchFamily="-106" charset="-128"/>
                <a:cs typeface="ＭＳ Ｐゴシック" pitchFamily="-106" charset="-128"/>
              </a:rPr>
              <a:t>“Abraham believed God, and it was counted to him as righteousness.”</a:t>
            </a:r>
            <a:endParaRPr lang="en-US" sz="1600" dirty="0">
              <a:ea typeface="ＭＳ Ｐゴシック" pitchFamily="-106" charset="-128"/>
              <a:cs typeface="ＭＳ Ｐゴシック" pitchFamily="-106" charset="-128"/>
            </a:endParaRPr>
          </a:p>
          <a:p>
            <a:pPr fontAlgn="ctr"/>
            <a:r>
              <a:rPr lang="en-US" sz="1600" b="1" dirty="0">
                <a:ea typeface="ＭＳ Ｐゴシック" pitchFamily="-106" charset="-128"/>
                <a:cs typeface="ＭＳ Ｐゴシック" pitchFamily="-106" charset="-128"/>
              </a:rPr>
              <a:t>Romans 4:17-18</a:t>
            </a:r>
            <a:r>
              <a:rPr lang="en-US" sz="1600" dirty="0">
                <a:ea typeface="ＭＳ Ｐゴシック" pitchFamily="-106" charset="-128"/>
                <a:cs typeface="ＭＳ Ｐゴシック" pitchFamily="-106" charset="-128"/>
              </a:rPr>
              <a:t>  References God’s word in Genesis 17:5, </a:t>
            </a:r>
            <a:r>
              <a:rPr lang="en-US" sz="1600" i="1" dirty="0">
                <a:ea typeface="ＭＳ Ｐゴシック" pitchFamily="-106" charset="-128"/>
                <a:cs typeface="ＭＳ Ｐゴシック" pitchFamily="-106" charset="-128"/>
              </a:rPr>
              <a:t>“I have made you the father of many nations.”</a:t>
            </a:r>
            <a:endParaRPr lang="en-US" sz="1600" dirty="0">
              <a:ea typeface="ＭＳ Ｐゴシック" pitchFamily="-106" charset="-128"/>
              <a:cs typeface="ＭＳ Ｐゴシック" pitchFamily="-106" charset="-128"/>
            </a:endParaRPr>
          </a:p>
          <a:p>
            <a:pPr fontAlgn="ctr"/>
            <a:r>
              <a:rPr lang="en-US" sz="1600" b="1" dirty="0">
                <a:ea typeface="ＭＳ Ｐゴシック" pitchFamily="-106" charset="-128"/>
                <a:cs typeface="ＭＳ Ｐゴシック" pitchFamily="-106" charset="-128"/>
              </a:rPr>
              <a:t>Galatians 3:6-9</a:t>
            </a:r>
            <a:r>
              <a:rPr lang="en-US" sz="1600" dirty="0">
                <a:ea typeface="ＭＳ Ｐゴシック" pitchFamily="-106" charset="-128"/>
                <a:cs typeface="ＭＳ Ｐゴシック" pitchFamily="-106" charset="-128"/>
              </a:rPr>
              <a:t>  Cites Genesis 15:6 and 12:3 to show that the gospel was proclaimed beforehand to Abraham.</a:t>
            </a:r>
          </a:p>
          <a:p>
            <a:pPr fontAlgn="ctr"/>
            <a:r>
              <a:rPr lang="en-US" sz="1600" b="1" dirty="0">
                <a:ea typeface="ＭＳ Ｐゴシック" pitchFamily="-106" charset="-128"/>
                <a:cs typeface="ＭＳ Ｐゴシック" pitchFamily="-106" charset="-128"/>
              </a:rPr>
              <a:t>Galatians 3:16</a:t>
            </a:r>
            <a:r>
              <a:rPr lang="en-US" sz="1600" dirty="0">
                <a:ea typeface="ＭＳ Ｐゴシック" pitchFamily="-106" charset="-128"/>
                <a:cs typeface="ＭＳ Ｐゴシック" pitchFamily="-106" charset="-128"/>
              </a:rPr>
              <a:t>  Interprets “seed/offspring” in Genesis 12:7 as singular—fulfilled in Christ.</a:t>
            </a:r>
          </a:p>
          <a:p>
            <a:pPr fontAlgn="ctr"/>
            <a:r>
              <a:rPr lang="en-US" sz="1600" b="1" dirty="0">
                <a:ea typeface="ＭＳ Ｐゴシック" pitchFamily="-106" charset="-128"/>
                <a:cs typeface="ＭＳ Ｐゴシック" pitchFamily="-106" charset="-128"/>
              </a:rPr>
              <a:t>Hebrews 6:13-15</a:t>
            </a:r>
            <a:r>
              <a:rPr lang="en-US" sz="1600" dirty="0">
                <a:ea typeface="ＭＳ Ｐゴシック" pitchFamily="-106" charset="-128"/>
                <a:cs typeface="ＭＳ Ｐゴシック" pitchFamily="-106" charset="-128"/>
              </a:rPr>
              <a:t>  Mentions God swearing by Himself when He promised to bless and multiply Abraham (Genesis 22:16-17).</a:t>
            </a:r>
          </a:p>
          <a:p>
            <a:pPr fontAlgn="ctr"/>
            <a:r>
              <a:rPr lang="en-US" sz="1600" b="1" dirty="0">
                <a:ea typeface="ＭＳ Ｐゴシック" pitchFamily="-106" charset="-128"/>
                <a:cs typeface="ＭＳ Ｐゴシック" pitchFamily="-106" charset="-128"/>
              </a:rPr>
              <a:t>Hebrews 11:8-12, 17-19</a:t>
            </a:r>
            <a:r>
              <a:rPr lang="en-US" sz="1600" dirty="0">
                <a:ea typeface="ＭＳ Ｐゴシック" pitchFamily="-106" charset="-128"/>
                <a:cs typeface="ＭＳ Ｐゴシック" pitchFamily="-106" charset="-128"/>
              </a:rPr>
              <a:t>  Recounts Abraham’s faith in God’s promise of land, descendants, and resurrection hope.</a:t>
            </a:r>
          </a:p>
          <a:p>
            <a:pPr fontAlgn="ctr"/>
            <a:r>
              <a:rPr lang="en-US" sz="1600" b="1" dirty="0">
                <a:ea typeface="ＭＳ Ｐゴシック" pitchFamily="-106" charset="-128"/>
                <a:cs typeface="ＭＳ Ｐゴシック" pitchFamily="-106" charset="-128"/>
              </a:rPr>
              <a:t>James 2:21-23</a:t>
            </a:r>
            <a:r>
              <a:rPr lang="en-US" sz="1600" dirty="0">
                <a:ea typeface="ＭＳ Ｐゴシック" pitchFamily="-106" charset="-128"/>
                <a:cs typeface="ＭＳ Ｐゴシック" pitchFamily="-106" charset="-128"/>
              </a:rPr>
              <a:t>  Quotes Genesis 15:6, showing faith and works united in Abraham’s obedience.</a:t>
            </a:r>
            <a:endParaRPr lang="en-US" sz="2000"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290825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CF0DB-75BE-F127-324F-84032AA107F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F027ACF-AB54-DBB0-A9DE-034F9C64AE7D}"/>
              </a:ext>
            </a:extLst>
          </p:cNvPr>
          <p:cNvSpPr txBox="1">
            <a:spLocks/>
          </p:cNvSpPr>
          <p:nvPr/>
        </p:nvSpPr>
        <p:spPr bwMode="auto">
          <a:xfrm>
            <a:off x="350982" y="0"/>
            <a:ext cx="8382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Theology of the Promise</a:t>
            </a:r>
            <a:endParaRPr lang="en-US" sz="2400" dirty="0">
              <a:solidFill>
                <a:schemeClr val="tx2">
                  <a:lumMod val="60000"/>
                  <a:lumOff val="40000"/>
                </a:schemeClr>
              </a:solidFill>
            </a:endParaRPr>
          </a:p>
        </p:txBody>
      </p:sp>
      <p:sp>
        <p:nvSpPr>
          <p:cNvPr id="3" name="TextBox 2">
            <a:extLst>
              <a:ext uri="{FF2B5EF4-FFF2-40B4-BE49-F238E27FC236}">
                <a16:creationId xmlns:a16="http://schemas.microsoft.com/office/drawing/2014/main" id="{C7689755-0C3E-7EDC-C1E8-ADB8F1195547}"/>
              </a:ext>
            </a:extLst>
          </p:cNvPr>
          <p:cNvSpPr txBox="1"/>
          <p:nvPr/>
        </p:nvSpPr>
        <p:spPr>
          <a:xfrm>
            <a:off x="381000" y="533400"/>
            <a:ext cx="8534400" cy="6186309"/>
          </a:xfrm>
          <a:prstGeom prst="rect">
            <a:avLst/>
          </a:prstGeom>
          <a:noFill/>
        </p:spPr>
        <p:txBody>
          <a:bodyPr wrap="square" rtlCol="0">
            <a:spAutoFit/>
          </a:bodyPr>
          <a:lstStyle/>
          <a:p>
            <a:pPr fontAlgn="ctr"/>
            <a:r>
              <a:rPr lang="en-US" b="1" dirty="0">
                <a:ea typeface="ＭＳ Ｐゴシック" pitchFamily="-106" charset="-128"/>
                <a:cs typeface="ＭＳ Ｐゴシック" pitchFamily="-106" charset="-128"/>
              </a:rPr>
              <a:t>John 8:39-40, 56</a:t>
            </a:r>
            <a:r>
              <a:rPr lang="en-US" dirty="0">
                <a:ea typeface="ＭＳ Ｐゴシック" pitchFamily="-106" charset="-128"/>
                <a:cs typeface="ＭＳ Ｐゴシック" pitchFamily="-106" charset="-128"/>
              </a:rPr>
              <a:t>  </a:t>
            </a:r>
            <a:r>
              <a:rPr lang="en-US" i="1" dirty="0">
                <a:ea typeface="ＭＳ Ｐゴシック" pitchFamily="-106" charset="-128"/>
                <a:cs typeface="ＭＳ Ｐゴシック" pitchFamily="-106" charset="-128"/>
              </a:rPr>
              <a:t>Jesus claims Abraham rejoiced to see His day</a:t>
            </a:r>
            <a:r>
              <a:rPr lang="en-US" dirty="0">
                <a:ea typeface="ＭＳ Ｐゴシック" pitchFamily="-106" charset="-128"/>
                <a:cs typeface="ＭＳ Ｐゴシック" pitchFamily="-106" charset="-128"/>
              </a:rPr>
              <a:t>, revealing Abraham’s faith in the coming Messiah.</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Romans 4:9-25</a:t>
            </a:r>
            <a:r>
              <a:rPr lang="en-US" dirty="0">
                <a:ea typeface="ＭＳ Ｐゴシック" pitchFamily="-106" charset="-128"/>
                <a:cs typeface="ＭＳ Ｐゴシック" pitchFamily="-106" charset="-128"/>
              </a:rPr>
              <a:t>  Paul argues that </a:t>
            </a:r>
            <a:r>
              <a:rPr lang="en-US" i="1" dirty="0">
                <a:ea typeface="ＭＳ Ｐゴシック" pitchFamily="-106" charset="-128"/>
                <a:cs typeface="ＭＳ Ｐゴシック" pitchFamily="-106" charset="-128"/>
              </a:rPr>
              <a:t>Abraham was justified by faith before circumcision, making him the father of all who believe</a:t>
            </a:r>
            <a:r>
              <a:rPr lang="en-US" dirty="0">
                <a:ea typeface="ＭＳ Ｐゴシック" pitchFamily="-106" charset="-128"/>
                <a:cs typeface="ＭＳ Ｐゴシック" pitchFamily="-106" charset="-128"/>
              </a:rPr>
              <a:t>.</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Romans 9:6-8</a:t>
            </a:r>
            <a:r>
              <a:rPr lang="en-US" dirty="0">
                <a:ea typeface="ＭＳ Ｐゴシック" pitchFamily="-106" charset="-128"/>
                <a:cs typeface="ＭＳ Ｐゴシック" pitchFamily="-106" charset="-128"/>
              </a:rPr>
              <a:t>  “Not all who are descended from Israel belong to Israel”; </a:t>
            </a:r>
            <a:r>
              <a:rPr lang="en-US" i="1" dirty="0">
                <a:ea typeface="ＭＳ Ｐゴシック" pitchFamily="-106" charset="-128"/>
                <a:cs typeface="ＭＳ Ｐゴシック" pitchFamily="-106" charset="-128"/>
              </a:rPr>
              <a:t>true children of Abraham are those of the promise</a:t>
            </a:r>
            <a:r>
              <a:rPr lang="en-US" dirty="0">
                <a:ea typeface="ＭＳ Ｐゴシック" pitchFamily="-106" charset="-128"/>
                <a:cs typeface="ＭＳ Ｐゴシック" pitchFamily="-106" charset="-128"/>
              </a:rPr>
              <a:t>.</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Galatians 3:14, 29</a:t>
            </a:r>
            <a:r>
              <a:rPr lang="en-US" dirty="0">
                <a:ea typeface="ＭＳ Ｐゴシック" pitchFamily="-106" charset="-128"/>
                <a:cs typeface="ＭＳ Ｐゴシック" pitchFamily="-106" charset="-128"/>
              </a:rPr>
              <a:t>  Believers in Christ receive </a:t>
            </a:r>
            <a:r>
              <a:rPr lang="en-US" i="1" dirty="0">
                <a:ea typeface="ＭＳ Ｐゴシック" pitchFamily="-106" charset="-128"/>
                <a:cs typeface="ＭＳ Ｐゴシック" pitchFamily="-106" charset="-128"/>
              </a:rPr>
              <a:t>the blessing of Abraham</a:t>
            </a:r>
            <a:r>
              <a:rPr lang="en-US" dirty="0">
                <a:ea typeface="ＭＳ Ｐゴシック" pitchFamily="-106" charset="-128"/>
                <a:cs typeface="ＭＳ Ｐゴシック" pitchFamily="-106" charset="-128"/>
              </a:rPr>
              <a:t>; </a:t>
            </a:r>
            <a:r>
              <a:rPr lang="en-US" i="1" dirty="0">
                <a:ea typeface="ＭＳ Ｐゴシック" pitchFamily="-106" charset="-128"/>
                <a:cs typeface="ＭＳ Ｐゴシック" pitchFamily="-106" charset="-128"/>
              </a:rPr>
              <a:t>the Spirit and inclusion as heirs</a:t>
            </a:r>
            <a:r>
              <a:rPr lang="en-US" dirty="0">
                <a:ea typeface="ＭＳ Ｐゴシック" pitchFamily="-106" charset="-128"/>
                <a:cs typeface="ＭＳ Ｐゴシック" pitchFamily="-106" charset="-128"/>
              </a:rPr>
              <a:t>.</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Galatians 4:21-31</a:t>
            </a:r>
            <a:r>
              <a:rPr lang="en-US" dirty="0">
                <a:ea typeface="ＭＳ Ｐゴシック" pitchFamily="-106" charset="-128"/>
                <a:cs typeface="ＭＳ Ｐゴシック" pitchFamily="-106" charset="-128"/>
              </a:rPr>
              <a:t>  The allegory of Sarah and Hagar </a:t>
            </a:r>
            <a:r>
              <a:rPr lang="en-US" i="1" dirty="0">
                <a:ea typeface="ＭＳ Ｐゴシック" pitchFamily="-106" charset="-128"/>
                <a:cs typeface="ＭＳ Ｐゴシック" pitchFamily="-106" charset="-128"/>
              </a:rPr>
              <a:t>contrasts promise vs. law</a:t>
            </a:r>
            <a:r>
              <a:rPr lang="en-US" dirty="0">
                <a:ea typeface="ＭＳ Ｐゴシック" pitchFamily="-106" charset="-128"/>
                <a:cs typeface="ＭＳ Ｐゴシック" pitchFamily="-106" charset="-128"/>
              </a:rPr>
              <a:t>.</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Ephesians 2:11-19</a:t>
            </a:r>
            <a:r>
              <a:rPr lang="en-US" dirty="0">
                <a:ea typeface="ＭＳ Ｐゴシック" pitchFamily="-106" charset="-128"/>
                <a:cs typeface="ＭＳ Ｐゴシック" pitchFamily="-106" charset="-128"/>
              </a:rPr>
              <a:t>  </a:t>
            </a:r>
            <a:r>
              <a:rPr lang="en-US" i="1" dirty="0">
                <a:ea typeface="ＭＳ Ｐゴシック" pitchFamily="-106" charset="-128"/>
                <a:cs typeface="ＭＳ Ｐゴシック" pitchFamily="-106" charset="-128"/>
              </a:rPr>
              <a:t>Gentiles are brought near and made fellow citizens</a:t>
            </a:r>
            <a:r>
              <a:rPr lang="en-US" dirty="0">
                <a:ea typeface="ＭＳ Ｐゴシック" pitchFamily="-106" charset="-128"/>
                <a:cs typeface="ＭＳ Ｐゴシック" pitchFamily="-106" charset="-128"/>
              </a:rPr>
              <a:t>, heirs of the promises once given to Israel.</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Hebrews 11:13-16</a:t>
            </a:r>
            <a:r>
              <a:rPr lang="en-US" dirty="0">
                <a:ea typeface="ＭＳ Ｐゴシック" pitchFamily="-106" charset="-128"/>
                <a:cs typeface="ＭＳ Ｐゴシック" pitchFamily="-106" charset="-128"/>
              </a:rPr>
              <a:t>  Abraham looked for a heavenly city, </a:t>
            </a:r>
            <a:r>
              <a:rPr lang="en-US" i="1" dirty="0">
                <a:ea typeface="ＭＳ Ｐゴシック" pitchFamily="-106" charset="-128"/>
                <a:cs typeface="ＭＳ Ｐゴシック" pitchFamily="-106" charset="-128"/>
              </a:rPr>
              <a:t>showing the spiritual dimension of the promise</a:t>
            </a:r>
            <a:r>
              <a:rPr lang="en-US" dirty="0">
                <a:ea typeface="ＭＳ Ｐゴシック" pitchFamily="-106" charset="-128"/>
                <a:cs typeface="ＭＳ Ｐゴシック" pitchFamily="-106" charset="-128"/>
              </a:rPr>
              <a:t>.</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Hebrews 13:20</a:t>
            </a:r>
            <a:r>
              <a:rPr lang="en-US" dirty="0">
                <a:ea typeface="ＭＳ Ｐゴシック" pitchFamily="-106" charset="-128"/>
                <a:cs typeface="ＭＳ Ｐゴシック" pitchFamily="-106" charset="-128"/>
              </a:rPr>
              <a:t>  Refers to the </a:t>
            </a:r>
            <a:r>
              <a:rPr lang="en-US" i="1" dirty="0">
                <a:ea typeface="ＭＳ Ｐゴシック" pitchFamily="-106" charset="-128"/>
                <a:cs typeface="ＭＳ Ｐゴシック" pitchFamily="-106" charset="-128"/>
              </a:rPr>
              <a:t>eternal covenant</a:t>
            </a:r>
            <a:r>
              <a:rPr lang="en-US" dirty="0">
                <a:ea typeface="ＭＳ Ｐゴシック" pitchFamily="-106" charset="-128"/>
                <a:cs typeface="ＭＳ Ｐゴシック" pitchFamily="-106" charset="-128"/>
              </a:rPr>
              <a:t> that fulfills God’s promises </a:t>
            </a:r>
            <a:r>
              <a:rPr lang="en-US" i="1" dirty="0">
                <a:ea typeface="ＭＳ Ｐゴシック" pitchFamily="-106" charset="-128"/>
                <a:cs typeface="ＭＳ Ｐゴシック" pitchFamily="-106" charset="-128"/>
              </a:rPr>
              <a:t>through Christ’s blood</a:t>
            </a:r>
            <a:r>
              <a:rPr lang="en-US" dirty="0">
                <a:ea typeface="ＭＳ Ｐゴシック" pitchFamily="-106" charset="-128"/>
                <a:cs typeface="ＭＳ Ｐゴシック" pitchFamily="-106" charset="-128"/>
              </a:rPr>
              <a:t>.</a:t>
            </a:r>
          </a:p>
        </p:txBody>
      </p:sp>
    </p:spTree>
    <p:extLst>
      <p:ext uri="{BB962C8B-B14F-4D97-AF65-F5344CB8AC3E}">
        <p14:creationId xmlns:p14="http://schemas.microsoft.com/office/powerpoint/2010/main" val="217787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8ADE1-2C8C-21E7-5FDE-FFE1A071B00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94A5CF1-165E-DAAA-3E87-1F7577626A14}"/>
              </a:ext>
            </a:extLst>
          </p:cNvPr>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Promise Extended to the Nations</a:t>
            </a:r>
            <a:br>
              <a:rPr lang="en-US" dirty="0"/>
            </a:br>
            <a:r>
              <a:rPr lang="en-US" sz="2400" dirty="0">
                <a:solidFill>
                  <a:schemeClr val="tx2">
                    <a:lumMod val="60000"/>
                    <a:lumOff val="40000"/>
                  </a:schemeClr>
                </a:solidFill>
              </a:rPr>
              <a:t>Abraham’s Blessing &amp; the Global Mission of the Church</a:t>
            </a:r>
          </a:p>
        </p:txBody>
      </p:sp>
      <p:sp>
        <p:nvSpPr>
          <p:cNvPr id="3" name="TextBox 2">
            <a:extLst>
              <a:ext uri="{FF2B5EF4-FFF2-40B4-BE49-F238E27FC236}">
                <a16:creationId xmlns:a16="http://schemas.microsoft.com/office/drawing/2014/main" id="{A47AE336-45F3-7EB0-7AAC-208FEB422137}"/>
              </a:ext>
            </a:extLst>
          </p:cNvPr>
          <p:cNvSpPr txBox="1"/>
          <p:nvPr/>
        </p:nvSpPr>
        <p:spPr>
          <a:xfrm>
            <a:off x="374073" y="1154545"/>
            <a:ext cx="8534400" cy="5078313"/>
          </a:xfrm>
          <a:prstGeom prst="rect">
            <a:avLst/>
          </a:prstGeom>
          <a:noFill/>
        </p:spPr>
        <p:txBody>
          <a:bodyPr wrap="square" rtlCol="0">
            <a:spAutoFit/>
          </a:bodyPr>
          <a:lstStyle/>
          <a:p>
            <a:pPr fontAlgn="ctr"/>
            <a:r>
              <a:rPr lang="en-US" b="1" dirty="0">
                <a:ea typeface="ＭＳ Ｐゴシック" pitchFamily="-106" charset="-128"/>
                <a:cs typeface="ＭＳ Ｐゴシック" pitchFamily="-106" charset="-128"/>
              </a:rPr>
              <a:t>Matthew 8:11-12</a:t>
            </a:r>
            <a:r>
              <a:rPr lang="en-US" dirty="0">
                <a:ea typeface="ＭＳ Ｐゴシック" pitchFamily="-106" charset="-128"/>
                <a:cs typeface="ＭＳ Ｐゴシック" pitchFamily="-106" charset="-128"/>
              </a:rPr>
              <a:t>  Jesus says many from east and west will </a:t>
            </a:r>
            <a:r>
              <a:rPr lang="en-US" i="1" dirty="0">
                <a:ea typeface="ＭＳ Ｐゴシック" pitchFamily="-106" charset="-128"/>
                <a:cs typeface="ＭＳ Ｐゴシック" pitchFamily="-106" charset="-128"/>
              </a:rPr>
              <a:t>recline with Abraham in the kingdom</a:t>
            </a:r>
            <a:r>
              <a:rPr lang="en-US" dirty="0">
                <a:ea typeface="ＭＳ Ｐゴシック" pitchFamily="-106" charset="-128"/>
                <a:cs typeface="ＭＳ Ｐゴシック" pitchFamily="-106" charset="-128"/>
              </a:rPr>
              <a:t>.</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Luke 13:28-29</a:t>
            </a:r>
            <a:r>
              <a:rPr lang="en-US" dirty="0">
                <a:ea typeface="ＭＳ Ｐゴシック" pitchFamily="-106" charset="-128"/>
                <a:cs typeface="ＭＳ Ｐゴシック" pitchFamily="-106" charset="-128"/>
              </a:rPr>
              <a:t>  Echoes the same image of </a:t>
            </a:r>
            <a:r>
              <a:rPr lang="en-US" i="1" dirty="0">
                <a:ea typeface="ＭＳ Ｐゴシック" pitchFamily="-106" charset="-128"/>
                <a:cs typeface="ＭＳ Ｐゴシック" pitchFamily="-106" charset="-128"/>
              </a:rPr>
              <a:t>Gentiles included with the patriarchs</a:t>
            </a:r>
            <a:r>
              <a:rPr lang="en-US" dirty="0">
                <a:ea typeface="ＭＳ Ｐゴシック" pitchFamily="-106" charset="-128"/>
                <a:cs typeface="ＭＳ Ｐゴシック" pitchFamily="-106" charset="-128"/>
              </a:rPr>
              <a:t>.</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Acts 13:32-33</a:t>
            </a:r>
            <a:r>
              <a:rPr lang="en-US" dirty="0">
                <a:ea typeface="ＭＳ Ｐゴシック" pitchFamily="-106" charset="-128"/>
                <a:cs typeface="ＭＳ Ｐゴシック" pitchFamily="-106" charset="-128"/>
              </a:rPr>
              <a:t>  Paul calls the </a:t>
            </a:r>
            <a:r>
              <a:rPr lang="en-US" i="1" dirty="0">
                <a:ea typeface="ＭＳ Ｐゴシック" pitchFamily="-106" charset="-128"/>
                <a:cs typeface="ＭＳ Ｐゴシック" pitchFamily="-106" charset="-128"/>
              </a:rPr>
              <a:t>resurrection</a:t>
            </a:r>
            <a:r>
              <a:rPr lang="en-US" dirty="0">
                <a:ea typeface="ＭＳ Ｐゴシック" pitchFamily="-106" charset="-128"/>
                <a:cs typeface="ＭＳ Ｐゴシック" pitchFamily="-106" charset="-128"/>
              </a:rPr>
              <a:t> “the good news that God promised to the fathers.”</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Romans 15:8-12</a:t>
            </a:r>
            <a:r>
              <a:rPr lang="en-US" dirty="0">
                <a:ea typeface="ＭＳ Ｐゴシック" pitchFamily="-106" charset="-128"/>
                <a:cs typeface="ＭＳ Ｐゴシック" pitchFamily="-106" charset="-128"/>
              </a:rPr>
              <a:t>  Paul teaches that </a:t>
            </a:r>
            <a:r>
              <a:rPr lang="en-US" i="1" dirty="0">
                <a:ea typeface="ＭＳ Ｐゴシック" pitchFamily="-106" charset="-128"/>
                <a:cs typeface="ＭＳ Ｐゴシック" pitchFamily="-106" charset="-128"/>
              </a:rPr>
              <a:t>Christ confirmed the promises to the patriarchs so the Gentiles might glorify God</a:t>
            </a:r>
            <a:r>
              <a:rPr lang="en-US" dirty="0">
                <a:ea typeface="ＭＳ Ｐゴシック" pitchFamily="-106" charset="-128"/>
                <a:cs typeface="ＭＳ Ｐゴシック" pitchFamily="-106" charset="-128"/>
              </a:rPr>
              <a:t>.</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Galatians 3:7-9</a:t>
            </a:r>
            <a:r>
              <a:rPr lang="en-US" dirty="0">
                <a:ea typeface="ＭＳ Ｐゴシック" pitchFamily="-106" charset="-128"/>
                <a:cs typeface="ＭＳ Ｐゴシック" pitchFamily="-106" charset="-128"/>
              </a:rPr>
              <a:t>  </a:t>
            </a:r>
            <a:r>
              <a:rPr lang="en-US" i="1" dirty="0">
                <a:ea typeface="ＭＳ Ｐゴシック" pitchFamily="-106" charset="-128"/>
                <a:cs typeface="ＭＳ Ｐゴシック" pitchFamily="-106" charset="-128"/>
              </a:rPr>
              <a:t>Those of faith are blessed along with Abraham</a:t>
            </a:r>
            <a:r>
              <a:rPr lang="en-US" dirty="0">
                <a:ea typeface="ＭＳ Ｐゴシック" pitchFamily="-106" charset="-128"/>
                <a:cs typeface="ＭＳ Ｐゴシック" pitchFamily="-106" charset="-128"/>
              </a:rPr>
              <a:t>, the man of faith.</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Galatians 3:28-29</a:t>
            </a:r>
            <a:r>
              <a:rPr lang="en-US" dirty="0">
                <a:ea typeface="ＭＳ Ｐゴシック" pitchFamily="-106" charset="-128"/>
                <a:cs typeface="ＭＳ Ｐゴシック" pitchFamily="-106" charset="-128"/>
              </a:rPr>
              <a:t>  In Christ, all are one; Jew, Greek, slave, free, male, female; and </a:t>
            </a:r>
            <a:r>
              <a:rPr lang="en-US" i="1" dirty="0">
                <a:ea typeface="ＭＳ Ｐゴシック" pitchFamily="-106" charset="-128"/>
                <a:cs typeface="ＭＳ Ｐゴシック" pitchFamily="-106" charset="-128"/>
              </a:rPr>
              <a:t>heirs according to promise</a:t>
            </a:r>
            <a:r>
              <a:rPr lang="en-US" dirty="0">
                <a:ea typeface="ＭＳ Ｐゴシック" pitchFamily="-106" charset="-128"/>
                <a:cs typeface="ＭＳ Ｐゴシック" pitchFamily="-106" charset="-128"/>
              </a:rPr>
              <a:t>.</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Ephesians 3:6</a:t>
            </a:r>
            <a:r>
              <a:rPr lang="en-US" dirty="0">
                <a:ea typeface="ＭＳ Ｐゴシック" pitchFamily="-106" charset="-128"/>
                <a:cs typeface="ＭＳ Ｐゴシック" pitchFamily="-106" charset="-128"/>
              </a:rPr>
              <a:t>  Gentiles are “</a:t>
            </a:r>
            <a:r>
              <a:rPr lang="en-US" i="1" dirty="0">
                <a:ea typeface="ＭＳ Ｐゴシック" pitchFamily="-106" charset="-128"/>
                <a:cs typeface="ＭＳ Ｐゴシック" pitchFamily="-106" charset="-128"/>
              </a:rPr>
              <a:t>fellow heirs, members of the same body, and partakers of the promise in Christ Jesus through the gospel</a:t>
            </a:r>
            <a:r>
              <a:rPr lang="en-US" dirty="0">
                <a:ea typeface="ＭＳ Ｐゴシック" pitchFamily="-106" charset="-128"/>
                <a:cs typeface="ＭＳ Ｐゴシック" pitchFamily="-106" charset="-128"/>
              </a:rPr>
              <a:t>.”</a:t>
            </a:r>
          </a:p>
        </p:txBody>
      </p:sp>
    </p:spTree>
    <p:extLst>
      <p:ext uri="{BB962C8B-B14F-4D97-AF65-F5344CB8AC3E}">
        <p14:creationId xmlns:p14="http://schemas.microsoft.com/office/powerpoint/2010/main" val="4292894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11EA5-1E10-E18B-40F3-C2C9E1870F2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5B9AF25-C344-3519-A4C1-F4782326F362}"/>
              </a:ext>
            </a:extLst>
          </p:cNvPr>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Promise as our Destiny in Hope</a:t>
            </a:r>
            <a:br>
              <a:rPr lang="en-US" dirty="0"/>
            </a:br>
            <a:r>
              <a:rPr lang="en-US" sz="2400" dirty="0">
                <a:solidFill>
                  <a:schemeClr val="tx2">
                    <a:lumMod val="60000"/>
                    <a:lumOff val="40000"/>
                  </a:schemeClr>
                </a:solidFill>
              </a:rPr>
              <a:t>Our Final Inheritance and Eternal Life</a:t>
            </a:r>
          </a:p>
        </p:txBody>
      </p:sp>
      <p:sp>
        <p:nvSpPr>
          <p:cNvPr id="3" name="TextBox 2">
            <a:extLst>
              <a:ext uri="{FF2B5EF4-FFF2-40B4-BE49-F238E27FC236}">
                <a16:creationId xmlns:a16="http://schemas.microsoft.com/office/drawing/2014/main" id="{540E4BD6-6B7F-6E5D-5A22-55221F83ECC8}"/>
              </a:ext>
            </a:extLst>
          </p:cNvPr>
          <p:cNvSpPr txBox="1"/>
          <p:nvPr/>
        </p:nvSpPr>
        <p:spPr>
          <a:xfrm>
            <a:off x="381000" y="1305341"/>
            <a:ext cx="8534400" cy="3139321"/>
          </a:xfrm>
          <a:prstGeom prst="rect">
            <a:avLst/>
          </a:prstGeom>
          <a:noFill/>
        </p:spPr>
        <p:txBody>
          <a:bodyPr wrap="square" rtlCol="0">
            <a:spAutoFit/>
          </a:bodyPr>
          <a:lstStyle/>
          <a:p>
            <a:pPr fontAlgn="ctr"/>
            <a:r>
              <a:rPr lang="en-US" b="1" dirty="0">
                <a:ea typeface="ＭＳ Ｐゴシック" pitchFamily="-106" charset="-128"/>
                <a:cs typeface="ＭＳ Ｐゴシック" pitchFamily="-106" charset="-128"/>
              </a:rPr>
              <a:t>Romans 4:13</a:t>
            </a:r>
            <a:r>
              <a:rPr lang="en-US" dirty="0">
                <a:ea typeface="ＭＳ Ｐゴシック" pitchFamily="-106" charset="-128"/>
                <a:cs typeface="ＭＳ Ｐゴシック" pitchFamily="-106" charset="-128"/>
              </a:rPr>
              <a:t>  Abraham and his offspring receive “</a:t>
            </a:r>
            <a:r>
              <a:rPr lang="en-US" i="1" dirty="0">
                <a:ea typeface="ＭＳ Ｐゴシック" pitchFamily="-106" charset="-128"/>
                <a:cs typeface="ＭＳ Ｐゴシック" pitchFamily="-106" charset="-128"/>
              </a:rPr>
              <a:t>the promise that he would be heir of the world</a:t>
            </a:r>
            <a:r>
              <a:rPr lang="en-US" dirty="0">
                <a:ea typeface="ＭＳ Ｐゴシック" pitchFamily="-106" charset="-128"/>
                <a:cs typeface="ＭＳ Ｐゴシック" pitchFamily="-106" charset="-128"/>
              </a:rPr>
              <a:t>.”</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Hebrews 6:18-20</a:t>
            </a:r>
            <a:r>
              <a:rPr lang="en-US" dirty="0">
                <a:ea typeface="ＭＳ Ｐゴシック" pitchFamily="-106" charset="-128"/>
                <a:cs typeface="ＭＳ Ｐゴシック" pitchFamily="-106" charset="-128"/>
              </a:rPr>
              <a:t>  The hope set before us is anchored in </a:t>
            </a:r>
            <a:r>
              <a:rPr lang="en-US" i="1" dirty="0">
                <a:ea typeface="ＭＳ Ｐゴシック" pitchFamily="-106" charset="-128"/>
                <a:cs typeface="ＭＳ Ｐゴシック" pitchFamily="-106" charset="-128"/>
              </a:rPr>
              <a:t>God’s unchangeable promise to Abraham</a:t>
            </a:r>
            <a:r>
              <a:rPr lang="en-US" dirty="0">
                <a:ea typeface="ＭＳ Ｐゴシック" pitchFamily="-106" charset="-128"/>
                <a:cs typeface="ＭＳ Ｐゴシック" pitchFamily="-106" charset="-128"/>
              </a:rPr>
              <a:t>.</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Hebrews 11:39-40 </a:t>
            </a:r>
            <a:r>
              <a:rPr lang="en-US" dirty="0">
                <a:ea typeface="ＭＳ Ｐゴシック" pitchFamily="-106" charset="-128"/>
                <a:cs typeface="ＭＳ Ｐゴシック" pitchFamily="-106" charset="-128"/>
              </a:rPr>
              <a:t> The faithful, including Abraham, did not receive the promise in full, </a:t>
            </a:r>
            <a:r>
              <a:rPr lang="en-US" i="1" dirty="0">
                <a:ea typeface="ＭＳ Ｐゴシック" pitchFamily="-106" charset="-128"/>
                <a:cs typeface="ＭＳ Ｐゴシック" pitchFamily="-106" charset="-128"/>
              </a:rPr>
              <a:t>anticipating perfection in Christ</a:t>
            </a:r>
            <a:r>
              <a:rPr lang="en-US" dirty="0">
                <a:ea typeface="ＭＳ Ｐゴシック" pitchFamily="-106" charset="-128"/>
                <a:cs typeface="ＭＳ Ｐゴシック" pitchFamily="-106" charset="-128"/>
              </a:rPr>
              <a:t>.</a:t>
            </a:r>
          </a:p>
          <a:p>
            <a:pPr fontAlgn="ctr"/>
            <a:endParaRPr lang="en-US" b="1" dirty="0">
              <a:ea typeface="ＭＳ Ｐゴシック" pitchFamily="-106" charset="-128"/>
              <a:cs typeface="ＭＳ Ｐゴシック" pitchFamily="-106" charset="-128"/>
            </a:endParaRPr>
          </a:p>
          <a:p>
            <a:pPr fontAlgn="ctr"/>
            <a:r>
              <a:rPr lang="en-US" b="1" dirty="0">
                <a:ea typeface="ＭＳ Ｐゴシック" pitchFamily="-106" charset="-128"/>
                <a:cs typeface="ＭＳ Ｐゴシック" pitchFamily="-106" charset="-128"/>
              </a:rPr>
              <a:t>2 Peter 3:13</a:t>
            </a:r>
            <a:r>
              <a:rPr lang="en-US" dirty="0">
                <a:ea typeface="ＭＳ Ｐゴシック" pitchFamily="-106" charset="-128"/>
                <a:cs typeface="ＭＳ Ｐゴシック" pitchFamily="-106" charset="-128"/>
              </a:rPr>
              <a:t>  The ultimate inheritance of the new heavens and new earth fulfills the faith of Abraham, the “</a:t>
            </a:r>
            <a:r>
              <a:rPr lang="en-US" i="1" dirty="0">
                <a:ea typeface="ＭＳ Ｐゴシック" pitchFamily="-106" charset="-128"/>
                <a:cs typeface="ＭＳ Ｐゴシック" pitchFamily="-106" charset="-128"/>
              </a:rPr>
              <a:t>heir of the world</a:t>
            </a:r>
            <a:r>
              <a:rPr lang="en-US" dirty="0">
                <a:ea typeface="ＭＳ Ｐゴシック" pitchFamily="-106" charset="-128"/>
                <a:cs typeface="ＭＳ Ｐゴシック" pitchFamily="-106" charset="-128"/>
              </a:rPr>
              <a:t>.”</a:t>
            </a:r>
          </a:p>
        </p:txBody>
      </p:sp>
    </p:spTree>
    <p:extLst>
      <p:ext uri="{BB962C8B-B14F-4D97-AF65-F5344CB8AC3E}">
        <p14:creationId xmlns:p14="http://schemas.microsoft.com/office/powerpoint/2010/main" val="3529601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47451-AEDC-DD1E-3E50-0211C6E181B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0BA9067-B60B-D7FC-F21C-8DC0B0D83170}"/>
              </a:ext>
            </a:extLst>
          </p:cNvPr>
          <p:cNvSpPr>
            <a:spLocks noGrp="1"/>
          </p:cNvSpPr>
          <p:nvPr>
            <p:ph type="title"/>
          </p:nvPr>
        </p:nvSpPr>
        <p:spPr>
          <a:xfrm>
            <a:off x="228600" y="7088"/>
            <a:ext cx="8839200" cy="914400"/>
          </a:xfrm>
        </p:spPr>
        <p:txBody>
          <a:bodyPr>
            <a:normAutofit fontScale="90000"/>
          </a:bodyPr>
          <a:lstStyle/>
          <a:p>
            <a:pPr algn="l"/>
            <a:r>
              <a:rPr lang="en-US" sz="3600" dirty="0"/>
              <a:t>Encouraging Self-Reflection</a:t>
            </a:r>
            <a:br>
              <a:rPr lang="en-US" sz="3600" dirty="0"/>
            </a:br>
            <a:r>
              <a:rPr lang="en-US" sz="2400" dirty="0">
                <a:solidFill>
                  <a:schemeClr val="tx2">
                    <a:lumMod val="60000"/>
                    <a:lumOff val="40000"/>
                  </a:schemeClr>
                </a:solidFill>
              </a:rPr>
              <a:t>Questions for the “Just Man” of Romans 4</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CA7CD438-CFC5-107B-0244-14B4F2F073FF}"/>
              </a:ext>
            </a:extLst>
          </p:cNvPr>
          <p:cNvSpPr txBox="1"/>
          <p:nvPr/>
        </p:nvSpPr>
        <p:spPr>
          <a:xfrm>
            <a:off x="76200" y="990600"/>
            <a:ext cx="8991600" cy="5940088"/>
          </a:xfrm>
          <a:prstGeom prst="rect">
            <a:avLst/>
          </a:prstGeom>
          <a:noFill/>
        </p:spPr>
        <p:txBody>
          <a:bodyPr wrap="square">
            <a:spAutoFit/>
          </a:bodyPr>
          <a:lstStyle/>
          <a:p>
            <a:r>
              <a:rPr lang="en-US" sz="2000" b="1" dirty="0"/>
              <a:t>Focus: </a:t>
            </a:r>
            <a:r>
              <a:rPr lang="en-US" sz="2000" b="1" u="sng" dirty="0"/>
              <a:t>Faith as the channel through which we are made right with God</a:t>
            </a:r>
            <a:r>
              <a:rPr lang="en-US" sz="2000" b="1" dirty="0"/>
              <a:t>, illustrated by Abraham and fulfilled in Christ.</a:t>
            </a:r>
          </a:p>
          <a:p>
            <a:endParaRPr lang="en-US" sz="2000" b="1" dirty="0"/>
          </a:p>
          <a:p>
            <a:pPr marL="342900" indent="-342900">
              <a:buFontTx/>
              <a:buChar char="-"/>
            </a:pPr>
            <a:r>
              <a:rPr lang="en-US" sz="2000" b="1" dirty="0"/>
              <a:t>“You trust that God keeps His promises, as Abraham did. Why would you believe that God is both faithful and true unless He has revealed Himself as unchanging, trustworthy, and righteous?”  </a:t>
            </a:r>
          </a:p>
          <a:p>
            <a:endParaRPr lang="en-US" sz="2000" b="1" dirty="0"/>
          </a:p>
          <a:p>
            <a:pPr marL="342900" indent="-342900">
              <a:buFontTx/>
              <a:buChar char="-"/>
            </a:pPr>
            <a:r>
              <a:rPr lang="en-US" sz="2000" b="1" dirty="0"/>
              <a:t>“Your faith points beyond your own goodness to something greater. If your moral efforts are never perfect, on what basis can you stand before a holy God, if not on the righteousness He provides by faith?”  </a:t>
            </a:r>
          </a:p>
          <a:p>
            <a:endParaRPr lang="en-US" sz="2000" b="1" dirty="0"/>
          </a:p>
          <a:p>
            <a:pPr marL="342900" indent="-342900">
              <a:buFontTx/>
              <a:buChar char="-"/>
            </a:pPr>
            <a:r>
              <a:rPr lang="en-US" sz="2000" b="1" dirty="0"/>
              <a:t>“Consider Abraham: he trusted God’s word before it was fulfilled. Has God’s faithfulness to Abraham and to countless believers since not shown that He is real and that we can be certain of His character?” </a:t>
            </a:r>
          </a:p>
          <a:p>
            <a:r>
              <a:rPr lang="en-US" sz="2000" b="1" dirty="0"/>
              <a:t> </a:t>
            </a:r>
          </a:p>
          <a:p>
            <a:pPr marL="342900" indent="-342900">
              <a:buFontTx/>
              <a:buChar char="-"/>
            </a:pPr>
            <a:r>
              <a:rPr lang="en-US" sz="2000" b="1" dirty="0"/>
              <a:t>“When you put your faith in </a:t>
            </a:r>
            <a:r>
              <a:rPr lang="en-US" sz="2000" b="1" u="sng" dirty="0"/>
              <a:t>Jesus Christ as the Just One</a:t>
            </a:r>
            <a:r>
              <a:rPr lang="en-US" sz="2000" b="1" dirty="0"/>
              <a:t>, how does this confirm for you that God has revealed Himself in history, both through His written word and through the life, death, and resurrection of Jesus?”</a:t>
            </a:r>
          </a:p>
        </p:txBody>
      </p:sp>
    </p:spTree>
    <p:extLst>
      <p:ext uri="{BB962C8B-B14F-4D97-AF65-F5344CB8AC3E}">
        <p14:creationId xmlns:p14="http://schemas.microsoft.com/office/powerpoint/2010/main" val="176321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fade">
                                      <p:cBhvr>
                                        <p:cTn id="35" dur="1000"/>
                                        <p:tgtEl>
                                          <p:spTgt spid="7">
                                            <p:txEl>
                                              <p:pRg st="8" end="8"/>
                                            </p:txEl>
                                          </p:spTgt>
                                        </p:tgtEl>
                                      </p:cBhvr>
                                    </p:animEffect>
                                    <p:anim calcmode="lin" valueType="num">
                                      <p:cBhvr>
                                        <p:cTn id="36"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13624</TotalTime>
  <Words>2612</Words>
  <Application>Microsoft Office PowerPoint</Application>
  <PresentationFormat>On-screen Show (4:3)</PresentationFormat>
  <Paragraphs>304</Paragraphs>
  <Slides>11</Slides>
  <Notes>11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ＭＳ Ｐゴシック</vt:lpstr>
      <vt:lpstr>Arial</vt:lpstr>
      <vt:lpstr>Arial Narrow</vt:lpstr>
      <vt:lpstr>Calibri</vt:lpstr>
      <vt:lpstr>PPT_Template_2010SummerSchool</vt:lpstr>
      <vt:lpstr>1_UPCRC_Powerpoint_Template_with I-Mark</vt:lpstr>
      <vt:lpstr>Romans</vt:lpstr>
      <vt:lpstr>The Grace of God Revealed How the perfectly just LORD has forgiven sin…!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Encouraging Self-Reflection Questions for the “Just Man” of Romans 4</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632</cp:revision>
  <cp:lastPrinted>2026-05-10T11:47:48Z</cp:lastPrinted>
  <dcterms:created xsi:type="dcterms:W3CDTF">2010-06-16T02:58:04Z</dcterms:created>
  <dcterms:modified xsi:type="dcterms:W3CDTF">2026-05-10T11:47:58Z</dcterms:modified>
</cp:coreProperties>
</file>