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6"/>
  </p:notesMasterIdLst>
  <p:sldIdLst>
    <p:sldId id="256" r:id="rId3"/>
    <p:sldId id="335" r:id="rId4"/>
    <p:sldId id="344" r:id="rId5"/>
    <p:sldId id="341" r:id="rId6"/>
    <p:sldId id="337" r:id="rId7"/>
    <p:sldId id="339" r:id="rId8"/>
    <p:sldId id="346" r:id="rId9"/>
    <p:sldId id="348" r:id="rId10"/>
    <p:sldId id="349" r:id="rId11"/>
    <p:sldId id="336" r:id="rId12"/>
    <p:sldId id="340" r:id="rId13"/>
    <p:sldId id="542" r:id="rId14"/>
    <p:sldId id="555" r:id="rId15"/>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230" autoAdjust="0"/>
    <p:restoredTop sz="79727" autoAdjust="0"/>
  </p:normalViewPr>
  <p:slideViewPr>
    <p:cSldViewPr>
      <p:cViewPr varScale="1">
        <p:scale>
          <a:sx n="122" d="100"/>
          <a:sy n="122" d="100"/>
        </p:scale>
        <p:origin x="1380" y="11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endParaRPr lang="en-US" dirty="0"/>
          </a:p>
          <a:p>
            <a:pPr marL="0" marR="0"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baseline="0" dirty="0"/>
              <a:t>The first step in the revelation of the righteousness that God provides for people by faith is to set forth our need for it because we are under God’s judgment.   We are born into a fallen race.   The human race stands condemned before God and is helpless and hopeless apart from God’s grace.</a:t>
            </a:r>
          </a:p>
          <a:p>
            <a:pPr marL="0" indent="0">
              <a:buFont typeface="Arial" pitchFamily="34" charset="0"/>
              <a:buNone/>
            </a:pPr>
            <a:endParaRPr lang="en-US" baseline="0" dirty="0"/>
          </a:p>
          <a:p>
            <a:r>
              <a:rPr lang="en-US" b="1" baseline="0" dirty="0"/>
              <a:t>Read the summary statement of the first three chapters...   3:23-26</a:t>
            </a:r>
          </a:p>
          <a:p>
            <a:endParaRPr lang="en-US" baseline="0" dirty="0"/>
          </a:p>
          <a:p>
            <a:pPr marL="0" indent="0">
              <a:buFont typeface="Arial" pitchFamily="34" charset="0"/>
              <a:buNone/>
            </a:pPr>
            <a:r>
              <a:rPr lang="en-US" b="1" baseline="0" dirty="0"/>
              <a:t>They Became Fools…</a:t>
            </a:r>
          </a:p>
          <a:p>
            <a:pPr marL="0" indent="0">
              <a:buFont typeface="Arial" pitchFamily="34" charset="0"/>
              <a:buNone/>
            </a:pPr>
            <a:endParaRPr lang="en-US" baseline="0" dirty="0"/>
          </a:p>
          <a:p>
            <a:pPr marL="171450" indent="-171450">
              <a:buFont typeface="Arial" pitchFamily="34" charset="0"/>
              <a:buChar char="•"/>
            </a:pPr>
            <a:r>
              <a:rPr lang="en-US" baseline="0" dirty="0"/>
              <a:t>Man’s refusal to acknowledge and glorify God leads to a downward path:</a:t>
            </a:r>
          </a:p>
          <a:p>
            <a:pPr marL="628650" lvl="1" indent="-171450">
              <a:buFont typeface="Arial" pitchFamily="34" charset="0"/>
              <a:buChar char="•"/>
            </a:pPr>
            <a:r>
              <a:rPr lang="en-US" baseline="0" dirty="0"/>
              <a:t>First, worthless thinking;</a:t>
            </a:r>
          </a:p>
          <a:p>
            <a:pPr marL="628650" lvl="1" indent="-171450">
              <a:buFont typeface="Arial" pitchFamily="34" charset="0"/>
              <a:buChar char="•"/>
            </a:pPr>
            <a:r>
              <a:rPr lang="en-US" baseline="0" dirty="0"/>
              <a:t>Next, moral insensitivity; and</a:t>
            </a:r>
          </a:p>
          <a:p>
            <a:pPr marL="628650" lvl="1" indent="-171450">
              <a:buFont typeface="Arial" pitchFamily="34" charset="0"/>
              <a:buChar char="•"/>
            </a:pPr>
            <a:r>
              <a:rPr lang="en-US" baseline="0" dirty="0"/>
              <a:t>Then, religious stupidity as seen in idol-worship!</a:t>
            </a:r>
          </a:p>
          <a:p>
            <a:pPr marL="171450" lvl="0" indent="-171450">
              <a:buFont typeface="Arial" pitchFamily="34" charset="0"/>
              <a:buChar char="•"/>
            </a:pPr>
            <a:r>
              <a:rPr lang="en-US" baseline="0" dirty="0"/>
              <a:t>And we become like the gods we worship    (Ps 115:8, 135:15-18)</a:t>
            </a:r>
          </a:p>
          <a:p>
            <a:pPr marL="171450" lvl="0" indent="-171450">
              <a:buFont typeface="Arial" pitchFamily="34" charset="0"/>
              <a:buChar char="•"/>
            </a:pPr>
            <a:endParaRPr lang="en-US" baseline="0" dirty="0"/>
          </a:p>
          <a:p>
            <a:pPr marL="0" lvl="0" indent="0">
              <a:buFont typeface="Arial" pitchFamily="34" charset="0"/>
              <a:buNone/>
            </a:pPr>
            <a:endParaRPr lang="en-US" baseline="0" dirty="0"/>
          </a:p>
          <a:p>
            <a:pPr marL="0" lvl="0" indent="0">
              <a:buFont typeface="Arial" pitchFamily="34" charset="0"/>
              <a:buNone/>
            </a:pPr>
            <a:r>
              <a:rPr lang="en-US" b="1" baseline="0" dirty="0"/>
              <a:t>The Pagan Man</a:t>
            </a:r>
          </a:p>
          <a:p>
            <a:pPr marL="0" lvl="1" defTabSz="941100"/>
            <a:r>
              <a:rPr lang="en-US" dirty="0"/>
              <a:t>Naturalism – the belief that nature is all that there is.   </a:t>
            </a:r>
          </a:p>
          <a:p>
            <a:endParaRPr lang="en-US" dirty="0"/>
          </a:p>
          <a:p>
            <a:pPr marL="0" lvl="1" defTabSz="941100"/>
            <a:r>
              <a:rPr lang="en-US" dirty="0"/>
              <a:t>The Empiricist looks to nature for truth; what he observes.   God reveals Himself to men of this type via his creation.</a:t>
            </a:r>
          </a:p>
          <a:p>
            <a:pPr marL="0" lvl="1" defTabSz="941100"/>
            <a:endParaRPr lang="en-US" dirty="0"/>
          </a:p>
          <a:p>
            <a:pPr marL="0" lvl="1" defTabSz="941100"/>
            <a:r>
              <a:rPr lang="en-US" dirty="0"/>
              <a:t>Uniformity of Nature (e.g. the “Laws of Nature” being uniform across time &amp; space) speak to the character of God.   Such uniformity cannot be explained if the natural world were based upon mere randomness.   </a:t>
            </a:r>
          </a:p>
          <a:p>
            <a:pPr marL="0" lvl="1" defTabSz="941100"/>
            <a:endParaRPr lang="en-US" dirty="0"/>
          </a:p>
          <a:p>
            <a:pPr marL="0" lvl="1" defTabSz="941100"/>
            <a:r>
              <a:rPr lang="en-US" dirty="0"/>
              <a:t>e.g.    “Why is the universe discoverable?   Understandable?   Bound by natural laws?   Comprising information?”</a:t>
            </a:r>
          </a:p>
          <a:p>
            <a:pPr marL="0" lvl="1" defTabSz="941100"/>
            <a:endParaRPr lang="en-US" dirty="0"/>
          </a:p>
          <a:p>
            <a:r>
              <a:rPr lang="en-US" dirty="0"/>
              <a:t>The universe reflects</a:t>
            </a:r>
            <a:r>
              <a:rPr lang="en-US" baseline="0" dirty="0"/>
              <a:t> the unchanging character of God.   We are made in his image and thus able to understand his creation.</a:t>
            </a:r>
          </a:p>
          <a:p>
            <a:endParaRPr lang="en-US" baseline="0" dirty="0"/>
          </a:p>
          <a:p>
            <a:pPr marL="0" lvl="1" defTabSz="941100"/>
            <a:endParaRPr lang="en-US" dirty="0"/>
          </a:p>
          <a:p>
            <a:pPr marL="0" lvl="1" defTabSz="941100"/>
            <a:r>
              <a:rPr lang="en-US" b="1" dirty="0"/>
              <a:t>The Moral Man – The Philosopher</a:t>
            </a:r>
          </a:p>
          <a:p>
            <a:pPr marL="0" lvl="1" defTabSz="941100"/>
            <a:r>
              <a:rPr lang="en-US" dirty="0"/>
              <a:t>The Moral Man looks inward for truth; what he reasons (i.e. Logic) </a:t>
            </a:r>
          </a:p>
          <a:p>
            <a:pPr marL="0" lvl="1" defTabSz="941100"/>
            <a:endParaRPr lang="en-US" dirty="0"/>
          </a:p>
          <a:p>
            <a:pPr marL="0" lvl="1" defTabSz="941100"/>
            <a:r>
              <a:rPr lang="en-US" dirty="0"/>
              <a:t>God has reveals Himself to this type of man within the concepts of right and wrong.   </a:t>
            </a:r>
          </a:p>
          <a:p>
            <a:pPr marL="0" lvl="1" defTabSz="941100"/>
            <a:endParaRPr lang="en-US" dirty="0"/>
          </a:p>
          <a:p>
            <a:pPr marL="0" lvl="1" defTabSz="941100"/>
            <a:r>
              <a:rPr lang="en-US" dirty="0"/>
              <a:t>Morals</a:t>
            </a:r>
            <a:r>
              <a:rPr lang="en-US" baseline="0" dirty="0"/>
              <a:t> reflect the character of God.   We are made in His image and thus able to reason using logic of which he is the source.</a:t>
            </a:r>
          </a:p>
          <a:p>
            <a:pPr marL="0" lvl="1" defTabSz="941100"/>
            <a:endParaRPr lang="en-US" baseline="0" dirty="0"/>
          </a:p>
          <a:p>
            <a:pPr marL="0" lvl="1" defTabSz="941100"/>
            <a:endParaRPr lang="en-US" dirty="0"/>
          </a:p>
          <a:p>
            <a:pPr marL="0" lvl="1" defTabSz="941100"/>
            <a:r>
              <a:rPr lang="en-US" b="1" dirty="0"/>
              <a:t>The Spiritual</a:t>
            </a:r>
            <a:r>
              <a:rPr lang="en-US" b="1" baseline="0" dirty="0"/>
              <a:t> Man</a:t>
            </a:r>
            <a:endParaRPr lang="en-US" b="1" dirty="0"/>
          </a:p>
          <a:p>
            <a:pPr marL="0" lvl="1" defTabSz="941100"/>
            <a:r>
              <a:rPr lang="en-US" dirty="0"/>
              <a:t>One</a:t>
            </a:r>
            <a:r>
              <a:rPr lang="en-US" baseline="0" dirty="0"/>
              <a:t> who recognizes the Sin Nature of Man.  He seeks to “work” his way to a “right” relationship with his god.</a:t>
            </a:r>
          </a:p>
          <a:p>
            <a:pPr marL="0" lvl="1" defTabSz="941100"/>
            <a:endParaRPr lang="en-US" dirty="0"/>
          </a:p>
          <a:p>
            <a:pPr marL="0" lvl="1" defTabSz="941100"/>
            <a:r>
              <a:rPr lang="en-US" dirty="0"/>
              <a:t>The Religious Man looks to religion for truth; what he believes.</a:t>
            </a:r>
            <a:r>
              <a:rPr lang="en-US" baseline="0" dirty="0"/>
              <a:t>   A “heart” centric conditioned response.</a:t>
            </a:r>
            <a:r>
              <a:rPr lang="en-US" dirty="0"/>
              <a:t>  </a:t>
            </a:r>
          </a:p>
          <a:p>
            <a:pPr marL="0" lvl="1" defTabSz="941100"/>
            <a:endParaRPr lang="en-US" dirty="0"/>
          </a:p>
          <a:p>
            <a:pPr marL="0" lvl="1" defTabSz="941100"/>
            <a:r>
              <a:rPr lang="en-US" dirty="0"/>
              <a:t>God reveals Himself to men of this type via his special revelation of sin under the law (e.g. via the prototypical Jew) and redemption by grace within Christ.</a:t>
            </a:r>
          </a:p>
          <a:p>
            <a:pPr marL="0" lvl="1" defTabSz="941100"/>
            <a:endParaRPr lang="en-US" dirty="0"/>
          </a:p>
          <a:p>
            <a:pPr marL="0" lvl="1" defTabSz="941100"/>
            <a:r>
              <a:rPr lang="en-US" dirty="0"/>
              <a:t>Man says…</a:t>
            </a:r>
          </a:p>
          <a:p>
            <a:endParaRPr lang="en-US" dirty="0"/>
          </a:p>
          <a:p>
            <a:pPr lvl="0"/>
            <a:r>
              <a:rPr lang="en-US" dirty="0"/>
              <a:t>Humanism – man is the measure of all things.</a:t>
            </a:r>
          </a:p>
          <a:p>
            <a:pPr lvl="0"/>
            <a:r>
              <a:rPr lang="en-US" dirty="0"/>
              <a:t>Atheism – god doesn’t exist.</a:t>
            </a:r>
          </a:p>
          <a:p>
            <a:pPr lvl="0"/>
            <a:r>
              <a:rPr lang="en-US" dirty="0"/>
              <a:t>Pantheism – creation</a:t>
            </a:r>
            <a:r>
              <a:rPr lang="en-US" baseline="0" dirty="0"/>
              <a:t> itself is the measure of all things.</a:t>
            </a:r>
            <a:endParaRPr lang="en-US" dirty="0"/>
          </a:p>
          <a:p>
            <a:endParaRPr lang="en-US" dirty="0"/>
          </a:p>
          <a:p>
            <a:r>
              <a:rPr lang="en-US" dirty="0"/>
              <a:t>God</a:t>
            </a:r>
            <a:r>
              <a:rPr lang="en-US" baseline="0" dirty="0"/>
              <a:t> says…</a:t>
            </a:r>
          </a:p>
          <a:p>
            <a:endParaRPr lang="en-US" baseline="0" dirty="0"/>
          </a:p>
          <a:p>
            <a:r>
              <a:rPr lang="en-US" i="1" baseline="0" dirty="0"/>
              <a:t>Hebrews 1:1    “God, who are various times and in various ways spoke in time past to the fathers by the prophets, has in these last days spoken to us by His Son, whom He has appointed heir of all things, through whom also He made the worlds; who being the brightness of His glory and the express image of His person, and upholding all things by the word of His power, when He had by Himself purged our sins, sat down at the right hand of the Majesty on high,…”</a:t>
            </a:r>
          </a:p>
          <a:p>
            <a:r>
              <a:rPr lang="en-US" i="1" baseline="0" dirty="0"/>
              <a:t> </a:t>
            </a:r>
            <a:endParaRPr lang="en-US" i="1" dirty="0"/>
          </a:p>
          <a:p>
            <a:pPr marL="0" lvl="1" defTabSz="941100"/>
            <a:endParaRPr lang="en-US" dirty="0"/>
          </a:p>
          <a:p>
            <a:endParaRPr lang="en-US" dirty="0"/>
          </a:p>
          <a:p>
            <a:endParaRPr lang="en-US" dirty="0"/>
          </a:p>
          <a:p>
            <a:endParaRPr lang="en-US" dirty="0"/>
          </a:p>
          <a:p>
            <a:pPr marL="0" lvl="0" indent="0">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endParaRPr lang="en-US" sz="1200" dirty="0"/>
          </a:p>
          <a:p>
            <a:r>
              <a:rPr lang="en-US" sz="1200" dirty="0"/>
              <a:t>The Substance of Truth:</a:t>
            </a:r>
          </a:p>
          <a:p>
            <a:endParaRPr lang="en-US" sz="1200" dirty="0"/>
          </a:p>
          <a:p>
            <a:r>
              <a:rPr lang="en-US" sz="1200" dirty="0"/>
              <a:t>Biblically</a:t>
            </a:r>
            <a:r>
              <a:rPr lang="en-US" sz="1200" baseline="0" dirty="0"/>
              <a:t> speaking, Truth is both relational and propositional.   It is at one and the same time a Person – Jesus Christ, God in the Flesh – and a set of verbally expressible, mentally comprehensible statements about that Person and the invisible God He reveals.</a:t>
            </a:r>
            <a:endParaRPr lang="en-US" sz="1200" dirty="0"/>
          </a:p>
          <a:p>
            <a:endParaRPr lang="en-US" sz="1200" dirty="0"/>
          </a:p>
          <a:p>
            <a:r>
              <a:rPr lang="en-US" sz="1200" dirty="0"/>
              <a:t>The Truth</a:t>
            </a:r>
            <a:r>
              <a:rPr lang="en-US" sz="1200" baseline="0" dirty="0"/>
              <a:t> is consistent with reality; it matches the observable facts of the universe while simultaneously explaining realities we cannot see.   </a:t>
            </a:r>
          </a:p>
          <a:p>
            <a:endParaRPr lang="en-US" sz="1200" baseline="0" dirty="0"/>
          </a:p>
          <a:p>
            <a:r>
              <a:rPr lang="en-US" sz="1200" b="1" dirty="0"/>
              <a:t>Truth and Faith:</a:t>
            </a:r>
          </a:p>
          <a:p>
            <a:endParaRPr lang="en-US" sz="1200" dirty="0"/>
          </a:p>
          <a:p>
            <a:r>
              <a:rPr lang="en-US" sz="1200" i="1" dirty="0"/>
              <a:t>“Now </a:t>
            </a:r>
            <a:r>
              <a:rPr lang="en-US" sz="1200" b="1" i="1" dirty="0"/>
              <a:t>faith</a:t>
            </a:r>
            <a:r>
              <a:rPr lang="en-US" sz="1200" i="1" dirty="0"/>
              <a:t> is the substance of things hoped for, the </a:t>
            </a:r>
            <a:r>
              <a:rPr lang="en-US" sz="1200" b="1" i="1" dirty="0"/>
              <a:t>evidence</a:t>
            </a:r>
            <a:r>
              <a:rPr lang="en-US" sz="1200" i="1" dirty="0"/>
              <a:t> of things not seen.”   Hebrews 11:1</a:t>
            </a:r>
          </a:p>
          <a:p>
            <a:endParaRPr lang="en-US" sz="1200" dirty="0"/>
          </a:p>
          <a:p>
            <a:r>
              <a:rPr lang="en-US" sz="1200" dirty="0"/>
              <a:t>There is a tendency in our day to separate “reality” from “spirituality”.   It’s part of the innate human propensity for compartmentalizing knowledge,</a:t>
            </a:r>
            <a:r>
              <a:rPr lang="en-US" sz="1200" baseline="0" dirty="0"/>
              <a:t> belief, and behavior – in other words, for hypocrisy.   Biblical Truth demands a total response.   It elicits action as well as mental assent.   If I believe that what I believe is really real, I will step out and act upon it.   This is the meaning of the biblical word “faith”.</a:t>
            </a:r>
          </a:p>
          <a:p>
            <a:endParaRPr lang="en-US" sz="1200" baseline="0" dirty="0"/>
          </a:p>
          <a:p>
            <a:pPr lvl="0"/>
            <a:r>
              <a:rPr lang="en-US" sz="1200" b="1" baseline="0" dirty="0"/>
              <a:t>Truth and Division:</a:t>
            </a:r>
          </a:p>
          <a:p>
            <a:endParaRPr lang="en-US" sz="1200" baseline="0" dirty="0"/>
          </a:p>
          <a:p>
            <a:r>
              <a:rPr lang="en-US" sz="1200" baseline="0" dirty="0"/>
              <a:t>The light of Christ disperses the darkness of the devil’s lies.   But in so doing, it splits human society and draws a line through the center of every human heart.   In a fallen world – a world divided into warring camps – the Truth gains enemies simply by being true.</a:t>
            </a:r>
          </a:p>
          <a:p>
            <a:endParaRPr lang="en-US" sz="1200"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aseline="0" dirty="0"/>
              <a:t>We must view those in opposition to truth as captives of a lie…  </a:t>
            </a:r>
            <a:r>
              <a:rPr lang="en-US" sz="1200" i="1" dirty="0"/>
              <a:t>(Isaiah 44:14-20,</a:t>
            </a:r>
            <a:r>
              <a:rPr lang="en-US" sz="1200" i="1" baseline="0" dirty="0"/>
              <a:t> v20)</a:t>
            </a:r>
            <a:endParaRPr lang="en-US" sz="1200" dirty="0"/>
          </a:p>
          <a:p>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3462366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endParaRPr lang="en-US" baseline="0" dirty="0"/>
          </a:p>
          <a:p>
            <a:pPr marL="0" lvl="0" indent="0">
              <a:buFont typeface="Arial" pitchFamily="34" charset="0"/>
              <a:buNone/>
            </a:pPr>
            <a:r>
              <a:rPr lang="en-US" sz="1200" b="1" kern="1200" dirty="0">
                <a:solidFill>
                  <a:schemeClr val="tx1"/>
                </a:solidFill>
                <a:effectLst/>
                <a:latin typeface="+mn-lt"/>
                <a:ea typeface="ＭＳ Ｐゴシック" pitchFamily="-106" charset="-128"/>
                <a:cs typeface="ＭＳ Ｐゴシック" pitchFamily="-106" charset="-128"/>
              </a:rPr>
              <a:t>Read 1:18-32</a:t>
            </a:r>
            <a:r>
              <a:rPr lang="en-US" sz="1200" b="1" kern="1200" baseline="0" dirty="0">
                <a:solidFill>
                  <a:schemeClr val="tx1"/>
                </a:solidFill>
                <a:effectLst/>
                <a:latin typeface="+mn-lt"/>
                <a:ea typeface="ＭＳ Ｐゴシック" pitchFamily="-106" charset="-128"/>
                <a:cs typeface="ＭＳ Ｐゴシック" pitchFamily="-106" charset="-128"/>
              </a:rPr>
              <a:t> and then return to this section.   Ask questions before next slide.</a:t>
            </a:r>
            <a:endParaRPr lang="en-US" sz="1200" b="1" kern="1200" dirty="0">
              <a:solidFill>
                <a:schemeClr val="tx1"/>
              </a:solidFill>
              <a:effectLst/>
              <a:latin typeface="+mn-lt"/>
              <a:ea typeface="ＭＳ Ｐゴシック" pitchFamily="-106" charset="-128"/>
              <a:cs typeface="ＭＳ Ｐゴシック" pitchFamily="-106" charset="-128"/>
            </a:endParaRPr>
          </a:p>
          <a:p>
            <a:pPr marL="0" lvl="0" indent="0">
              <a:buFont typeface="Arial" pitchFamily="34" charset="0"/>
              <a:buNone/>
            </a:pPr>
            <a:endParaRPr lang="en-US" sz="1200" b="1" kern="1200" dirty="0">
              <a:solidFill>
                <a:schemeClr val="tx1"/>
              </a:solidFill>
              <a:effectLst/>
              <a:latin typeface="+mn-lt"/>
              <a:ea typeface="ＭＳ Ｐゴシック" pitchFamily="-106" charset="-128"/>
              <a:cs typeface="ＭＳ Ｐゴシック" pitchFamily="-106" charset="-128"/>
            </a:endParaRPr>
          </a:p>
          <a:p>
            <a:pPr marL="0" lvl="0" indent="0">
              <a:buFont typeface="Arial" pitchFamily="34" charset="0"/>
              <a:buNone/>
            </a:pPr>
            <a:r>
              <a:rPr lang="en-US" sz="1200" b="1" kern="1200" dirty="0">
                <a:solidFill>
                  <a:schemeClr val="tx1"/>
                </a:solidFill>
                <a:effectLst/>
                <a:latin typeface="+mn-lt"/>
                <a:ea typeface="ＭＳ Ｐゴシック" pitchFamily="-106" charset="-128"/>
                <a:cs typeface="ＭＳ Ｐゴシック" pitchFamily="-106" charset="-128"/>
              </a:rPr>
              <a:t>What are the basis stated</a:t>
            </a:r>
            <a:r>
              <a:rPr lang="en-US" sz="1200" b="1" kern="1200" baseline="0" dirty="0">
                <a:solidFill>
                  <a:schemeClr val="tx1"/>
                </a:solidFill>
                <a:effectLst/>
                <a:latin typeface="+mn-lt"/>
                <a:ea typeface="ＭＳ Ｐゴシック" pitchFamily="-106" charset="-128"/>
                <a:cs typeface="ＭＳ Ｐゴシック" pitchFamily="-106" charset="-128"/>
              </a:rPr>
              <a:t> for God’s judgment of the pagan world?</a:t>
            </a:r>
          </a:p>
          <a:p>
            <a:pPr marL="171450" lvl="0" indent="-171450">
              <a:buFont typeface="Arial" pitchFamily="34" charset="0"/>
              <a:buChar char="•"/>
            </a:pPr>
            <a:r>
              <a:rPr lang="en-US" sz="1200" kern="1200" baseline="0" dirty="0">
                <a:solidFill>
                  <a:schemeClr val="tx1"/>
                </a:solidFill>
                <a:effectLst/>
                <a:latin typeface="+mn-lt"/>
                <a:ea typeface="ＭＳ Ｐゴシック" pitchFamily="-106" charset="-128"/>
                <a:cs typeface="ＭＳ Ｐゴシック" pitchFamily="-106" charset="-128"/>
              </a:rPr>
              <a:t>For Suppressing God’s Truth (v.18)           (King James correctly translates this as “Holding” Truth but by implication suppressing it.)</a:t>
            </a:r>
          </a:p>
          <a:p>
            <a:pPr marL="171450" lvl="0" indent="-171450">
              <a:buFont typeface="Arial" pitchFamily="34" charset="0"/>
              <a:buChar char="•"/>
            </a:pPr>
            <a:r>
              <a:rPr lang="en-US" sz="1200" kern="1200" baseline="0" dirty="0">
                <a:solidFill>
                  <a:schemeClr val="tx1"/>
                </a:solidFill>
                <a:effectLst/>
                <a:latin typeface="+mn-lt"/>
                <a:ea typeface="ＭＳ Ｐゴシック" pitchFamily="-106" charset="-128"/>
                <a:cs typeface="ＭＳ Ｐゴシック" pitchFamily="-106" charset="-128"/>
              </a:rPr>
              <a:t>For Ignoring God’s revelation (v.19-20)</a:t>
            </a:r>
          </a:p>
          <a:p>
            <a:pPr marL="171450" lvl="0" indent="-171450">
              <a:buFont typeface="Arial" pitchFamily="34" charset="0"/>
              <a:buChar char="•"/>
            </a:pPr>
            <a:r>
              <a:rPr lang="en-US" sz="1200" kern="1200" baseline="0" dirty="0">
                <a:solidFill>
                  <a:schemeClr val="tx1"/>
                </a:solidFill>
                <a:effectLst/>
                <a:latin typeface="+mn-lt"/>
                <a:ea typeface="ＭＳ Ｐゴシック" pitchFamily="-106" charset="-128"/>
                <a:cs typeface="ＭＳ Ｐゴシック" pitchFamily="-106" charset="-128"/>
              </a:rPr>
              <a:t>For Perverting God’s glory (v.21-23)</a:t>
            </a:r>
          </a:p>
          <a:p>
            <a:endParaRPr lang="en-US" baseline="0" dirty="0"/>
          </a:p>
          <a:p>
            <a:r>
              <a:rPr lang="en-US" sz="1200" b="1" kern="1200" dirty="0">
                <a:solidFill>
                  <a:schemeClr val="tx1"/>
                </a:solidFill>
                <a:effectLst/>
                <a:latin typeface="+mn-lt"/>
                <a:ea typeface="ＭＳ Ｐゴシック" pitchFamily="-106" charset="-128"/>
                <a:cs typeface="ＭＳ Ｐゴシック" pitchFamily="-106" charset="-128"/>
              </a:rPr>
              <a:t>How do men suppress the truth in unrighteousness?</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Philosophies of Man (e.g. Humanism)</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Lies, False Teaching, and Artificial Authority</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Pride, Selfishness, and Hatred</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Claiming Presuppositions</a:t>
            </a:r>
          </a:p>
          <a:p>
            <a:pPr marL="0" lvl="0" indent="0">
              <a:buFont typeface="Arial" pitchFamily="34" charset="0"/>
              <a:buNone/>
            </a:pP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What are</a:t>
            </a:r>
            <a:r>
              <a:rPr lang="en-US" sz="1200" b="1" kern="1200" baseline="0" dirty="0">
                <a:solidFill>
                  <a:schemeClr val="tx1"/>
                </a:solidFill>
                <a:effectLst/>
                <a:latin typeface="+mn-lt"/>
                <a:ea typeface="ＭＳ Ｐゴシック" pitchFamily="-106" charset="-128"/>
                <a:cs typeface="ＭＳ Ｐゴシック" pitchFamily="-106" charset="-128"/>
              </a:rPr>
              <a:t> some s</a:t>
            </a:r>
            <a:r>
              <a:rPr lang="en-US" sz="1200" b="1" kern="1200" dirty="0">
                <a:solidFill>
                  <a:schemeClr val="tx1"/>
                </a:solidFill>
                <a:effectLst/>
                <a:latin typeface="+mn-lt"/>
                <a:ea typeface="ＭＳ Ｐゴシック" pitchFamily="-106" charset="-128"/>
                <a:cs typeface="ＭＳ Ｐゴシック" pitchFamily="-106" charset="-128"/>
              </a:rPr>
              <a:t>ecular presuppositions?</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Naturalism – Nature is all that there is</a:t>
            </a:r>
            <a:r>
              <a:rPr lang="en-US" sz="1200" kern="1200" baseline="0" dirty="0">
                <a:solidFill>
                  <a:schemeClr val="tx1"/>
                </a:solidFill>
                <a:effectLst/>
                <a:latin typeface="+mn-lt"/>
                <a:ea typeface="ＭＳ Ｐゴシック" pitchFamily="-106" charset="-128"/>
                <a:cs typeface="ＭＳ Ｐゴシック" pitchFamily="-106" charset="-128"/>
              </a:rPr>
              <a:t> (e.g. It is now illegal to teach Biblical Creation in public schools).</a:t>
            </a:r>
            <a:endParaRPr lang="en-US" sz="1200" kern="1200" dirty="0">
              <a:solidFill>
                <a:schemeClr val="tx1"/>
              </a:solidFill>
              <a:effectLst/>
              <a:latin typeface="+mn-lt"/>
              <a:ea typeface="ＭＳ Ｐゴシック" pitchFamily="-106" charset="-128"/>
              <a:cs typeface="ＭＳ Ｐゴシック" pitchFamily="-106" charset="-128"/>
            </a:endParaRP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Empiricism – “Science” is the authority</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Relativism – There</a:t>
            </a:r>
            <a:r>
              <a:rPr lang="en-US" sz="1200" kern="1200" baseline="0" dirty="0">
                <a:solidFill>
                  <a:schemeClr val="tx1"/>
                </a:solidFill>
                <a:effectLst/>
                <a:latin typeface="+mn-lt"/>
                <a:ea typeface="ＭＳ Ｐゴシック" pitchFamily="-106" charset="-128"/>
                <a:cs typeface="ＭＳ Ｐゴシック" pitchFamily="-106" charset="-128"/>
              </a:rPr>
              <a:t> is no standard of Truth.</a:t>
            </a:r>
            <a:endParaRPr lang="en-US" sz="1200" kern="1200" dirty="0">
              <a:solidFill>
                <a:schemeClr val="tx1"/>
              </a:solidFill>
              <a:effectLst/>
              <a:latin typeface="+mn-lt"/>
              <a:ea typeface="ＭＳ Ｐゴシック" pitchFamily="-106" charset="-128"/>
              <a:cs typeface="ＭＳ Ｐゴシック" pitchFamily="-106" charset="-128"/>
            </a:endParaRP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Neutrality – All religions</a:t>
            </a:r>
            <a:r>
              <a:rPr lang="en-US" sz="1200" kern="1200" baseline="0" dirty="0">
                <a:solidFill>
                  <a:schemeClr val="tx1"/>
                </a:solidFill>
                <a:effectLst/>
                <a:latin typeface="+mn-lt"/>
                <a:ea typeface="ＭＳ Ｐゴシック" pitchFamily="-106" charset="-128"/>
                <a:cs typeface="ＭＳ Ｐゴシック" pitchFamily="-106" charset="-128"/>
              </a:rPr>
              <a:t> are equal.</a:t>
            </a:r>
            <a:endParaRPr lang="en-US" sz="1200" kern="1200" dirty="0">
              <a:solidFill>
                <a:schemeClr val="tx1"/>
              </a:solidFill>
              <a:effectLst/>
              <a:latin typeface="+mn-lt"/>
              <a:ea typeface="ＭＳ Ｐゴシック" pitchFamily="-106" charset="-128"/>
              <a:cs typeface="ＭＳ Ｐゴシック" pitchFamily="-106" charset="-128"/>
            </a:endParaRP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Bible is irrelevant to science – Exclusion</a:t>
            </a:r>
            <a:r>
              <a:rPr lang="en-US" sz="1200" kern="1200" baseline="0" dirty="0">
                <a:solidFill>
                  <a:schemeClr val="tx1"/>
                </a:solidFill>
                <a:effectLst/>
                <a:latin typeface="+mn-lt"/>
                <a:ea typeface="ＭＳ Ｐゴシック" pitchFamily="-106" charset="-128"/>
                <a:cs typeface="ＭＳ Ｐゴシック" pitchFamily="-106" charset="-128"/>
              </a:rPr>
              <a:t> of Faith from public discourse.</a:t>
            </a:r>
            <a:endParaRPr lang="en-US" sz="1200" kern="1200" dirty="0">
              <a:solidFill>
                <a:schemeClr val="tx1"/>
              </a:solidFill>
              <a:effectLst/>
              <a:latin typeface="+mn-lt"/>
              <a:ea typeface="ＭＳ Ｐゴシック" pitchFamily="-106" charset="-128"/>
              <a:cs typeface="ＭＳ Ｐゴシック" pitchFamily="-106" charset="-128"/>
            </a:endParaRPr>
          </a:p>
          <a:p>
            <a:pPr marL="0" lvl="0" indent="0">
              <a:buFont typeface="Arial" pitchFamily="34" charset="0"/>
              <a:buNone/>
            </a:pPr>
            <a:endParaRPr lang="en-US" sz="1200" kern="1200" dirty="0">
              <a:solidFill>
                <a:schemeClr val="tx1"/>
              </a:solidFill>
              <a:effectLst/>
              <a:latin typeface="+mn-lt"/>
              <a:ea typeface="ＭＳ Ｐゴシック" pitchFamily="-106" charset="-128"/>
              <a:cs typeface="ＭＳ Ｐゴシック" pitchFamily="-106" charset="-128"/>
            </a:endParaRPr>
          </a:p>
          <a:p>
            <a:r>
              <a:rPr lang="en-US" sz="1200" b="1" kern="1200" dirty="0">
                <a:solidFill>
                  <a:schemeClr val="tx1"/>
                </a:solidFill>
                <a:effectLst/>
                <a:latin typeface="+mn-lt"/>
                <a:ea typeface="ＭＳ Ｐゴシック" pitchFamily="-106" charset="-128"/>
                <a:cs typeface="ＭＳ Ｐゴシック" pitchFamily="-106" charset="-128"/>
              </a:rPr>
              <a:t>What are some Biblical presuppositions?</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The Bible is true</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Moral Absolutes</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Laws of logic</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Laws of morality</a:t>
            </a:r>
          </a:p>
          <a:p>
            <a:pPr marL="171450" lvl="0" indent="-171450">
              <a:buFont typeface="Arial" pitchFamily="34" charset="0"/>
              <a:buChar char="•"/>
            </a:pPr>
            <a:r>
              <a:rPr lang="en-US" sz="1200" kern="1200" dirty="0">
                <a:solidFill>
                  <a:schemeClr val="tx1"/>
                </a:solidFill>
                <a:effectLst/>
                <a:latin typeface="+mn-lt"/>
                <a:ea typeface="ＭＳ Ｐゴシック" pitchFamily="-106" charset="-128"/>
                <a:cs typeface="ＭＳ Ｐゴシック" pitchFamily="-106" charset="-128"/>
              </a:rPr>
              <a:t>Uniformity and Induction</a:t>
            </a:r>
          </a:p>
          <a:p>
            <a:pPr marL="171450" lvl="0" indent="-171450">
              <a:buFont typeface="Arial" pitchFamily="34" charset="0"/>
              <a:buChar char="•"/>
            </a:pPr>
            <a:endParaRPr lang="en-US" sz="1200" kern="1200" baseline="0" dirty="0">
              <a:solidFill>
                <a:schemeClr val="tx1"/>
              </a:solidFill>
              <a:effectLst/>
              <a:latin typeface="+mn-lt"/>
              <a:ea typeface="ＭＳ Ｐゴシック" pitchFamily="-106" charset="-128"/>
              <a:cs typeface="ＭＳ Ｐゴシック" pitchFamily="-106" charset="-128"/>
            </a:endParaRPr>
          </a:p>
          <a:p>
            <a:pPr marL="0" lvl="0" indent="0">
              <a:buFont typeface="Arial" pitchFamily="34" charset="0"/>
              <a:buNone/>
            </a:pP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3016183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dirty="0"/>
          </a:p>
          <a:p>
            <a:pPr marL="0" indent="0">
              <a:buFont typeface="Arial" pitchFamily="34" charset="0"/>
              <a:buNone/>
            </a:pPr>
            <a:r>
              <a:rPr lang="en-US" b="1" dirty="0"/>
              <a:t>How can something that’s invisible testify to something that’s clearly seen?</a:t>
            </a:r>
          </a:p>
          <a:p>
            <a:pPr marL="0" indent="0">
              <a:buFont typeface="Arial" pitchFamily="34" charset="0"/>
              <a:buNone/>
            </a:pPr>
            <a:endParaRPr lang="en-US" b="1" dirty="0"/>
          </a:p>
          <a:p>
            <a:pPr marL="171450" indent="-171450">
              <a:buFont typeface="Arial" pitchFamily="34" charset="0"/>
              <a:buChar char="•"/>
            </a:pPr>
            <a:r>
              <a:rPr lang="en-US" b="1" dirty="0"/>
              <a:t>Design – It was designed that way from the beginning</a:t>
            </a:r>
            <a:r>
              <a:rPr lang="en-US" b="1" baseline="0" dirty="0"/>
              <a:t> of creation!</a:t>
            </a:r>
          </a:p>
          <a:p>
            <a:pPr marL="628650" lvl="1" indent="-171450">
              <a:buFont typeface="Arial" pitchFamily="34" charset="0"/>
              <a:buChar char="•"/>
            </a:pPr>
            <a:r>
              <a:rPr lang="en-US" b="1" baseline="0" dirty="0"/>
              <a:t>Example:   DNA</a:t>
            </a:r>
          </a:p>
          <a:p>
            <a:pPr marL="628650" lvl="1" indent="-171450">
              <a:buFont typeface="Arial" pitchFamily="34" charset="0"/>
              <a:buChar char="•"/>
            </a:pPr>
            <a:r>
              <a:rPr lang="en-US" b="1" baseline="0" dirty="0"/>
              <a:t>DNA – 3 out of 4 error correcting digital code (could not have arisen from randomness)</a:t>
            </a:r>
          </a:p>
          <a:p>
            <a:pPr marL="628650" lvl="1" indent="-171450">
              <a:buFont typeface="Arial" pitchFamily="34" charset="0"/>
              <a:buChar char="•"/>
            </a:pPr>
            <a:r>
              <a:rPr lang="en-US" b="1" baseline="0" dirty="0"/>
              <a:t>Everywhere in the universe is evidence of design</a:t>
            </a:r>
          </a:p>
          <a:p>
            <a:pPr marL="171450" lvl="0" indent="-171450">
              <a:buFont typeface="Arial" pitchFamily="34" charset="0"/>
              <a:buChar char="•"/>
            </a:pPr>
            <a:endParaRPr lang="en-US" b="1" baseline="0" dirty="0"/>
          </a:p>
          <a:p>
            <a:pPr marL="457200" lvl="1" indent="0">
              <a:buFont typeface="Arial" pitchFamily="34" charset="0"/>
              <a:buNone/>
            </a:pPr>
            <a:endParaRPr lang="en-US" b="1" baseline="0" dirty="0"/>
          </a:p>
          <a:p>
            <a:pPr marL="171450" lvl="0" indent="-171450">
              <a:buFont typeface="Arial" pitchFamily="34" charset="0"/>
              <a:buChar char="•"/>
            </a:pPr>
            <a:endParaRPr lang="en-US" b="1" baseline="0" dirty="0"/>
          </a:p>
          <a:p>
            <a:pPr marL="0" lvl="0" indent="0">
              <a:buFont typeface="Arial" pitchFamily="34" charset="0"/>
              <a:buNone/>
            </a:pPr>
            <a:endParaRPr lang="en-US" b="1" baseline="0" dirty="0"/>
          </a:p>
          <a:p>
            <a:pPr marL="171450" indent="-171450">
              <a:buFont typeface="Arial" pitchFamily="34" charset="0"/>
              <a:buChar char="•"/>
            </a:pPr>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 typeface="Arial" pitchFamily="34" charset="0"/>
              <a:buNone/>
            </a:pPr>
            <a:endParaRPr lang="en-US" baseline="0" dirty="0"/>
          </a:p>
          <a:p>
            <a:pPr marL="171450" indent="-171450">
              <a:buFont typeface="Arial" pitchFamily="34" charset="0"/>
              <a:buChar char="•"/>
            </a:pPr>
            <a:r>
              <a:rPr lang="en-US" dirty="0"/>
              <a:t>Natural Information Systems complexity is a clue to God’s creative</a:t>
            </a:r>
            <a:r>
              <a:rPr lang="en-US" baseline="0" dirty="0"/>
              <a:t> design.   Each higher level of complexity requires adding information to the system.</a:t>
            </a:r>
          </a:p>
          <a:p>
            <a:pPr marL="457200" lvl="1" indent="0">
              <a:buFont typeface="Arial" pitchFamily="34" charset="0"/>
              <a:buNone/>
            </a:pPr>
            <a:endParaRPr lang="en-US" baseline="0" dirty="0"/>
          </a:p>
          <a:p>
            <a:pPr marL="0" lvl="0" indent="0">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mathematical</a:t>
            </a:r>
            <a:r>
              <a:rPr lang="en-US" baseline="0" dirty="0"/>
              <a:t>, probabilistic, risk analysis perspective:</a:t>
            </a:r>
          </a:p>
          <a:p>
            <a:endParaRPr lang="en-US" dirty="0"/>
          </a:p>
          <a:p>
            <a:r>
              <a:rPr lang="en-US" dirty="0"/>
              <a:t>	Type I Error: Rejecting a true hypothesis.</a:t>
            </a:r>
          </a:p>
          <a:p>
            <a:r>
              <a:rPr lang="en-US" dirty="0"/>
              <a:t>	Type II Error: Accepting a false hypothesis.</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2320116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Molecules:</a:t>
            </a:r>
            <a:r>
              <a:rPr lang="en-US" baseline="0" dirty="0"/>
              <a:t>    behave like groups of ball magnets</a:t>
            </a:r>
          </a:p>
          <a:p>
            <a:endParaRPr lang="en-US" baseline="0" dirty="0"/>
          </a:p>
          <a:p>
            <a:r>
              <a:rPr lang="en-US" baseline="0" dirty="0"/>
              <a:t>Amino Acids:   Consider the 20 essential amino acids that make-up all proteins in living cells.   10 our bodies manufacturer; 10 we obtain from our food</a:t>
            </a:r>
          </a:p>
          <a:p>
            <a:endParaRPr lang="en-US" baseline="0" dirty="0"/>
          </a:p>
          <a:p>
            <a:r>
              <a:rPr lang="en-US" sz="1200" b="0" i="0" kern="1200" dirty="0">
                <a:solidFill>
                  <a:schemeClr val="tx1"/>
                </a:solidFill>
                <a:effectLst/>
                <a:latin typeface="+mn-lt"/>
                <a:ea typeface="ＭＳ Ｐゴシック" pitchFamily="-106" charset="-128"/>
                <a:cs typeface="ＭＳ Ｐゴシック" pitchFamily="-106" charset="-128"/>
              </a:rPr>
              <a:t>All amino acids found in proteins have this basic structure, differing only in the structure of the R-group or the side chain.</a:t>
            </a:r>
          </a:p>
          <a:p>
            <a:endParaRPr lang="en-US" sz="1200" b="0" i="0" kern="1200" dirty="0">
              <a:solidFill>
                <a:schemeClr val="tx1"/>
              </a:solidFill>
              <a:effectLst/>
              <a:latin typeface="+mn-lt"/>
              <a:ea typeface="ＭＳ Ｐゴシック" pitchFamily="-106" charset="-128"/>
            </a:endParaRPr>
          </a:p>
          <a:p>
            <a:r>
              <a:rPr lang="en-US" sz="1200" b="0" i="0" kern="1200" dirty="0">
                <a:solidFill>
                  <a:schemeClr val="tx1"/>
                </a:solidFill>
                <a:effectLst/>
                <a:latin typeface="+mn-lt"/>
                <a:ea typeface="ＭＳ Ｐゴシック" pitchFamily="-106" charset="-128"/>
              </a:rPr>
              <a:t>	Right-handed</a:t>
            </a:r>
            <a:r>
              <a:rPr lang="en-US" sz="1200" b="0" i="0" kern="1200" baseline="0" dirty="0">
                <a:solidFill>
                  <a:schemeClr val="tx1"/>
                </a:solidFill>
                <a:effectLst/>
                <a:latin typeface="+mn-lt"/>
                <a:ea typeface="ＭＳ Ｐゴシック" pitchFamily="-106" charset="-128"/>
              </a:rPr>
              <a:t> versus Left-handed?</a:t>
            </a:r>
          </a:p>
          <a:p>
            <a:r>
              <a:rPr lang="en-US" sz="1200" b="0" i="0" kern="1200" baseline="0" dirty="0">
                <a:solidFill>
                  <a:schemeClr val="tx1"/>
                </a:solidFill>
                <a:effectLst/>
                <a:latin typeface="+mn-lt"/>
                <a:ea typeface="ＭＳ Ｐゴシック" pitchFamily="-106" charset="-128"/>
              </a:rPr>
              <a:t>	What happens in presence of Oxygen?</a:t>
            </a:r>
            <a:endParaRPr lang="en-US" dirty="0"/>
          </a:p>
          <a:p>
            <a:endParaRPr lang="en-US" dirty="0"/>
          </a:p>
          <a:p>
            <a:r>
              <a:rPr lang="en-US" dirty="0"/>
              <a:t>Language</a:t>
            </a:r>
            <a:r>
              <a:rPr lang="en-US" baseline="0" dirty="0"/>
              <a:t> of Protein Sequencing:</a:t>
            </a:r>
          </a:p>
          <a:p>
            <a:endParaRPr lang="en-US" baseline="0" dirty="0"/>
          </a:p>
          <a:p>
            <a:pPr marL="171450" indent="-171450">
              <a:buFont typeface="Arial" panose="020B0604020202020204" pitchFamily="34" charset="0"/>
              <a:buChar char="•"/>
            </a:pPr>
            <a:r>
              <a:rPr lang="en-US" dirty="0"/>
              <a:t>20 Symbols;</a:t>
            </a:r>
            <a:r>
              <a:rPr lang="en-US" baseline="0" dirty="0"/>
              <a:t>  20 Essential Amino Acids</a:t>
            </a:r>
          </a:p>
          <a:p>
            <a:pPr marL="171450" indent="-171450">
              <a:buFont typeface="Arial" panose="020B0604020202020204" pitchFamily="34" charset="0"/>
              <a:buChar char="•"/>
            </a:pPr>
            <a:r>
              <a:rPr lang="en-US" baseline="0" dirty="0"/>
              <a:t>Arrange these in specific sequence to produce all proteins (i.e. to convey information)</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3981427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normAutofit fontScale="70000" lnSpcReduction="20000"/>
              </a:bodyPr>
              <a:lstStyle/>
              <a:p>
                <a:r>
                  <a:rPr lang="en-US" dirty="0"/>
                  <a:t>Chemical Composition: </a:t>
                </a:r>
              </a:p>
              <a:p>
                <a:r>
                  <a:rPr lang="en-US" baseline="0" dirty="0"/>
                  <a:t>   </a:t>
                </a:r>
                <a:r>
                  <a:rPr lang="en-US" dirty="0"/>
                  <a:t>Hemoglobin;</a:t>
                </a:r>
                <a:r>
                  <a:rPr lang="en-US" baseline="0" dirty="0"/>
                  <a:t> </a:t>
                </a:r>
                <a:r>
                  <a:rPr lang="en-US" dirty="0"/>
                  <a:t> about</a:t>
                </a:r>
                <a:r>
                  <a:rPr lang="en-US" baseline="0" dirty="0"/>
                  <a:t> 96% of red blood cell (dry weight) is the protein molecule Hemoglobin; binds and transports Oxygen and other gases to/from cells. </a:t>
                </a:r>
                <a:endParaRPr lang="en-US" dirty="0"/>
              </a:p>
              <a:p>
                <a:endParaRPr lang="en-US" dirty="0"/>
              </a:p>
              <a:p>
                <a:r>
                  <a:rPr lang="en-US" dirty="0"/>
                  <a:t>Specificity</a:t>
                </a:r>
                <a:r>
                  <a:rPr lang="en-US" baseline="0" dirty="0"/>
                  <a:t> : </a:t>
                </a:r>
                <a:r>
                  <a:rPr lang="en-US" dirty="0"/>
                  <a:t>Formula for linear arrangements: N=n!/(p! x q! x r! …) </a:t>
                </a:r>
              </a:p>
              <a:p>
                <a:endParaRPr lang="en-US" dirty="0"/>
              </a:p>
              <a:p>
                <a:r>
                  <a:rPr lang="en-US" dirty="0"/>
                  <a:t>There are 10^650</a:t>
                </a:r>
                <a:r>
                  <a:rPr lang="en-US" baseline="0" dirty="0"/>
                  <a:t> </a:t>
                </a:r>
                <a:r>
                  <a:rPr lang="en-US" dirty="0"/>
                  <a:t>permutations possible; only one of them is hemoglobin (change just one</a:t>
                </a:r>
                <a:r>
                  <a:rPr lang="en-US" baseline="0" dirty="0"/>
                  <a:t> </a:t>
                </a:r>
                <a:r>
                  <a:rPr lang="en-US" dirty="0"/>
                  <a:t>of them? = Hemoglobin </a:t>
                </a:r>
                <a:r>
                  <a:rPr lang="en-US" dirty="0" err="1"/>
                  <a:t>Opathy</a:t>
                </a:r>
                <a:r>
                  <a:rPr lang="en-US" dirty="0"/>
                  <a:t>).</a:t>
                </a:r>
              </a:p>
              <a:p>
                <a:endParaRPr lang="en-US" dirty="0"/>
              </a:p>
              <a:p>
                <a:r>
                  <a:rPr lang="en-US" dirty="0"/>
                  <a:t>Far beyond “chance”.</a:t>
                </a:r>
              </a:p>
              <a:p>
                <a:endParaRPr lang="en-US" dirty="0"/>
              </a:p>
              <a:p>
                <a:r>
                  <a:rPr lang="en-US" dirty="0"/>
                  <a:t>The Elements of Language:</a:t>
                </a:r>
              </a:p>
              <a:p>
                <a:pPr marL="171450" indent="-171450">
                  <a:buFont typeface="Arial" panose="020B0604020202020204" pitchFamily="34" charset="0"/>
                  <a:buChar char="•"/>
                </a:pPr>
                <a:r>
                  <a:rPr lang="en-US" dirty="0"/>
                  <a:t>Syntactic</a:t>
                </a:r>
              </a:p>
              <a:p>
                <a:pPr marL="171450" indent="-171450">
                  <a:buFont typeface="Arial" panose="020B0604020202020204" pitchFamily="34" charset="0"/>
                  <a:buChar char="•"/>
                </a:pPr>
                <a:r>
                  <a:rPr lang="en-US" dirty="0"/>
                  <a:t>Symantec</a:t>
                </a:r>
              </a:p>
              <a:p>
                <a:pPr marL="171450" indent="-171450">
                  <a:buFont typeface="Arial" panose="020B0604020202020204" pitchFamily="34" charset="0"/>
                  <a:buChar char="•"/>
                </a:pPr>
                <a:endParaRPr lang="en-US" dirty="0"/>
              </a:p>
              <a:p>
                <a:r>
                  <a:rPr lang="en-US" sz="1200" i="1" dirty="0">
                    <a:latin typeface="Cambria Math" panose="02040503050406030204" pitchFamily="18" charset="0"/>
                  </a:rPr>
                  <a:t>Absurd?</a:t>
                </a:r>
              </a:p>
              <a:p>
                <a:endParaRPr lang="en-US" sz="12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𝑷</m:t>
                      </m:r>
                      <m:r>
                        <a:rPr lang="en-US" sz="1200" b="1" i="1" smtClean="0">
                          <a:latin typeface="Cambria Math" panose="02040503050406030204" pitchFamily="18" charset="0"/>
                        </a:rPr>
                        <m:t>=</m:t>
                      </m:r>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𝟏𝟎</m:t>
                          </m:r>
                        </m:e>
                        <m:sup>
                          <m:r>
                            <a:rPr lang="en-US" sz="1200" b="1" i="1" smtClean="0">
                              <a:latin typeface="Cambria Math" panose="02040503050406030204" pitchFamily="18" charset="0"/>
                            </a:rPr>
                            <m:t>−</m:t>
                          </m:r>
                          <m:r>
                            <a:rPr lang="en-US" sz="1200" b="1" i="1" smtClean="0">
                              <a:latin typeface="Cambria Math" panose="02040503050406030204" pitchFamily="18" charset="0"/>
                            </a:rPr>
                            <m:t>𝟓𝟎</m:t>
                          </m:r>
                        </m:sup>
                      </m:sSup>
                      <m:r>
                        <a:rPr lang="en-US" sz="1200" b="0" i="1" smtClean="0">
                          <a:latin typeface="Cambria Math" panose="02040503050406030204" pitchFamily="18" charset="0"/>
                        </a:rPr>
                        <m:t> </m:t>
                      </m:r>
                      <m:r>
                        <a:rPr lang="en-US" sz="1200" b="0" i="1" smtClean="0">
                          <a:latin typeface="Cambria Math" panose="02040503050406030204" pitchFamily="18" charset="0"/>
                        </a:rPr>
                        <m:t>𝑖𝑠</m:t>
                      </m:r>
                      <m:r>
                        <a:rPr lang="en-US" sz="1200" b="0" i="1" smtClean="0">
                          <a:latin typeface="Cambria Math" panose="02040503050406030204" pitchFamily="18" charset="0"/>
                        </a:rPr>
                        <m:t> </m:t>
                      </m:r>
                      <m:r>
                        <a:rPr lang="en-US" sz="1200" b="0" i="1" smtClean="0">
                          <a:latin typeface="Cambria Math" panose="02040503050406030204" pitchFamily="18" charset="0"/>
                        </a:rPr>
                        <m:t>𝑔𝑒𝑛𝑒𝑟𝑎𝑙𝑙𝑦</m:t>
                      </m:r>
                      <m:r>
                        <a:rPr lang="en-US" sz="1200" b="0" i="1" smtClean="0">
                          <a:latin typeface="Cambria Math" panose="02040503050406030204" pitchFamily="18" charset="0"/>
                        </a:rPr>
                        <m:t> </m:t>
                      </m:r>
                      <m:r>
                        <a:rPr lang="en-US" sz="1200" b="0" i="1" smtClean="0">
                          <a:latin typeface="Cambria Math" panose="02040503050406030204" pitchFamily="18" charset="0"/>
                        </a:rPr>
                        <m:t>𝑟𝑒𝑔𝑎𝑟𝑑𝑒𝑑</m:t>
                      </m:r>
                      <m:r>
                        <a:rPr lang="en-US" sz="1200" b="0" i="1" smtClean="0">
                          <a:latin typeface="Cambria Math" panose="02040503050406030204" pitchFamily="18" charset="0"/>
                        </a:rPr>
                        <m:t> </m:t>
                      </m:r>
                      <m:r>
                        <a:rPr lang="en-US" sz="1200" b="0" i="1" smtClean="0">
                          <a:latin typeface="Cambria Math" panose="02040503050406030204" pitchFamily="18" charset="0"/>
                        </a:rPr>
                        <m:t>𝑎𝑠</m:t>
                      </m:r>
                      <m:r>
                        <a:rPr lang="en-US" sz="1200" b="0" i="1" smtClean="0">
                          <a:latin typeface="Cambria Math" panose="02040503050406030204" pitchFamily="18" charset="0"/>
                        </a:rPr>
                        <m:t> </m:t>
                      </m:r>
                      <m:r>
                        <a:rPr lang="en-US" sz="1200" b="0" i="1" smtClean="0">
                          <a:latin typeface="Cambria Math" panose="02040503050406030204" pitchFamily="18" charset="0"/>
                        </a:rPr>
                        <m:t>𝑖𝑚𝑝𝑜𝑠𝑠𝑖𝑏𝑙𝑒</m:t>
                      </m:r>
                    </m:oMath>
                  </m:oMathPara>
                </a14:m>
                <a:endParaRPr lang="en-US" sz="1200" b="0" i="1" dirty="0">
                  <a:latin typeface="Cambria Math" panose="02040503050406030204" pitchFamily="18" charset="0"/>
                </a:endParaRPr>
              </a:p>
              <a:p>
                <a:endParaRPr lang="en-US" sz="12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sz="1200" b="1" i="1">
                              <a:latin typeface="Cambria Math" panose="02040503050406030204" pitchFamily="18" charset="0"/>
                            </a:rPr>
                          </m:ctrlPr>
                        </m:sSupPr>
                        <m:e>
                          <m:r>
                            <a:rPr lang="en-US" sz="1200" b="1" i="1">
                              <a:latin typeface="Cambria Math" panose="02040503050406030204" pitchFamily="18" charset="0"/>
                            </a:rPr>
                            <m:t>𝟏𝟎</m:t>
                          </m:r>
                        </m:e>
                        <m:sup>
                          <m:r>
                            <a:rPr lang="en-US" sz="1200" b="1" i="1" smtClean="0">
                              <a:latin typeface="Cambria Math" panose="02040503050406030204" pitchFamily="18" charset="0"/>
                            </a:rPr>
                            <m:t>𝟏𝟖</m:t>
                          </m:r>
                        </m:sup>
                      </m:sSup>
                      <m:r>
                        <a:rPr lang="en-US" sz="1200" i="1">
                          <a:latin typeface="Cambria Math" panose="02040503050406030204" pitchFamily="18" charset="0"/>
                        </a:rPr>
                        <m:t> </m:t>
                      </m:r>
                      <m:r>
                        <a:rPr lang="en-US" sz="1200" b="0" i="1" smtClean="0">
                          <a:latin typeface="Cambria Math" panose="02040503050406030204" pitchFamily="18" charset="0"/>
                        </a:rPr>
                        <m:t>𝑠𝑒𝑐𝑜𝑛𝑑𝑠</m:t>
                      </m:r>
                      <m:r>
                        <a:rPr lang="en-US" sz="1200" b="0" i="1" smtClean="0">
                          <a:latin typeface="Cambria Math" panose="02040503050406030204" pitchFamily="18" charset="0"/>
                        </a:rPr>
                        <m:t> </m:t>
                      </m:r>
                      <m:r>
                        <a:rPr lang="en-US" sz="1200" b="0" i="1" smtClean="0">
                          <a:latin typeface="Cambria Math" panose="02040503050406030204" pitchFamily="18" charset="0"/>
                        </a:rPr>
                        <m:t>𝑠𝑖𝑛𝑐𝑒</m:t>
                      </m:r>
                      <m:r>
                        <a:rPr lang="en-US" sz="1200" b="0" i="1" smtClean="0">
                          <a:latin typeface="Cambria Math" panose="02040503050406030204" pitchFamily="18" charset="0"/>
                        </a:rPr>
                        <m:t> </m:t>
                      </m:r>
                      <m:r>
                        <a:rPr lang="en-US" sz="1200" b="0" i="1" smtClean="0">
                          <a:latin typeface="Cambria Math" panose="02040503050406030204" pitchFamily="18" charset="0"/>
                        </a:rPr>
                        <m:t>𝑏𝑒𝑔𝑖𝑛𝑛𝑖𝑛𝑔</m:t>
                      </m:r>
                      <m:r>
                        <a:rPr lang="en-US" sz="1200" b="0" i="1" smtClean="0">
                          <a:latin typeface="Cambria Math" panose="02040503050406030204" pitchFamily="18" charset="0"/>
                        </a:rPr>
                        <m:t> </m:t>
                      </m:r>
                      <m:r>
                        <a:rPr lang="en-US" sz="1200" b="0" i="1" smtClean="0">
                          <a:latin typeface="Cambria Math" panose="02040503050406030204" pitchFamily="18" charset="0"/>
                        </a:rPr>
                        <m:t>𝑜𝑓</m:t>
                      </m:r>
                      <m:r>
                        <a:rPr lang="en-US" sz="1200" b="0" i="1" smtClean="0">
                          <a:latin typeface="Cambria Math" panose="02040503050406030204" pitchFamily="18" charset="0"/>
                        </a:rPr>
                        <m:t> </m:t>
                      </m:r>
                      <m:r>
                        <a:rPr lang="en-US" sz="1200" b="0" i="1" smtClean="0">
                          <a:latin typeface="Cambria Math" panose="02040503050406030204" pitchFamily="18" charset="0"/>
                        </a:rPr>
                        <m:t>𝑎</m:t>
                      </m:r>
                      <m:r>
                        <a:rPr lang="en-US" sz="1200" b="0" i="1" smtClean="0">
                          <a:latin typeface="Cambria Math" panose="02040503050406030204" pitchFamily="18" charset="0"/>
                        </a:rPr>
                        <m:t> 15 </m:t>
                      </m:r>
                      <m:r>
                        <a:rPr lang="en-US" sz="1200" b="0" i="1" smtClean="0">
                          <a:latin typeface="Cambria Math" panose="02040503050406030204" pitchFamily="18" charset="0"/>
                        </a:rPr>
                        <m:t>𝑏𝑖𝑙𝑙𝑖𝑜𝑛</m:t>
                      </m:r>
                      <m:r>
                        <a:rPr lang="en-US" sz="1200" b="0" i="1" smtClean="0">
                          <a:latin typeface="Cambria Math" panose="02040503050406030204" pitchFamily="18" charset="0"/>
                        </a:rPr>
                        <m:t> </m:t>
                      </m:r>
                      <m:r>
                        <a:rPr lang="en-US" sz="1200" b="0" i="1" smtClean="0">
                          <a:latin typeface="Cambria Math" panose="02040503050406030204" pitchFamily="18" charset="0"/>
                        </a:rPr>
                        <m:t>𝑦𝑒𝑎𝑟</m:t>
                      </m:r>
                      <m:r>
                        <a:rPr lang="en-US" sz="1200" b="0" i="1" smtClean="0">
                          <a:latin typeface="Cambria Math" panose="02040503050406030204" pitchFamily="18" charset="0"/>
                        </a:rPr>
                        <m:t> </m:t>
                      </m:r>
                      <m:r>
                        <a:rPr lang="en-US" sz="1200" b="0" i="1" smtClean="0">
                          <a:latin typeface="Cambria Math" panose="02040503050406030204" pitchFamily="18" charset="0"/>
                        </a:rPr>
                        <m:t>𝑢𝑛𝑖𝑣𝑒𝑟𝑠𝑒</m:t>
                      </m:r>
                    </m:oMath>
                  </m:oMathPara>
                </a14:m>
                <a:endParaRPr lang="en-US" sz="12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sz="1200" b="1" i="1" smtClean="0">
                              <a:latin typeface="Cambria Math" panose="02040503050406030204" pitchFamily="18" charset="0"/>
                            </a:rPr>
                          </m:ctrlPr>
                        </m:sSupPr>
                        <m:e>
                          <m:r>
                            <a:rPr lang="en-US" sz="1200" b="1" i="1">
                              <a:latin typeface="Cambria Math" panose="02040503050406030204" pitchFamily="18" charset="0"/>
                            </a:rPr>
                            <m:t>𝟏𝟎</m:t>
                          </m:r>
                        </m:e>
                        <m:sup>
                          <m:r>
                            <a:rPr lang="en-US" sz="1200" b="1" i="1" smtClean="0">
                              <a:latin typeface="Cambria Math" panose="02040503050406030204" pitchFamily="18" charset="0"/>
                            </a:rPr>
                            <m:t>𝟔𝟔</m:t>
                          </m:r>
                        </m:sup>
                      </m:sSup>
                      <m:r>
                        <a:rPr lang="en-US" sz="1200" i="1">
                          <a:latin typeface="Cambria Math" panose="02040503050406030204" pitchFamily="18" charset="0"/>
                        </a:rPr>
                        <m:t> </m:t>
                      </m:r>
                      <m:r>
                        <a:rPr lang="en-US" sz="1200" b="0" i="1" smtClean="0">
                          <a:latin typeface="Cambria Math" panose="02040503050406030204" pitchFamily="18" charset="0"/>
                        </a:rPr>
                        <m:t> </m:t>
                      </m:r>
                      <m:r>
                        <a:rPr lang="en-US" sz="1200" b="0" i="1" smtClean="0">
                          <a:latin typeface="Cambria Math" panose="02040503050406030204" pitchFamily="18" charset="0"/>
                        </a:rPr>
                        <m:t>𝑎𝑡𝑜𝑚𝑠</m:t>
                      </m:r>
                      <m:r>
                        <a:rPr lang="en-US" sz="1200" b="0" i="1" smtClean="0">
                          <a:latin typeface="Cambria Math" panose="02040503050406030204" pitchFamily="18" charset="0"/>
                        </a:rPr>
                        <m:t> </m:t>
                      </m:r>
                      <m:r>
                        <a:rPr lang="en-US" sz="1200" b="0" i="1" smtClean="0">
                          <a:latin typeface="Cambria Math" panose="02040503050406030204" pitchFamily="18" charset="0"/>
                        </a:rPr>
                        <m:t>𝑤𝑖𝑡h𝑖𝑛</m:t>
                      </m:r>
                      <m:r>
                        <a:rPr lang="en-US" sz="1200" b="0" i="1" smtClean="0">
                          <a:latin typeface="Cambria Math" panose="02040503050406030204" pitchFamily="18" charset="0"/>
                        </a:rPr>
                        <m:t> </m:t>
                      </m:r>
                      <m:r>
                        <a:rPr lang="en-US" sz="1200" b="0" i="1" smtClean="0">
                          <a:latin typeface="Cambria Math" panose="02040503050406030204" pitchFamily="18" charset="0"/>
                        </a:rPr>
                        <m:t>𝑡h𝑒</m:t>
                      </m:r>
                      <m:r>
                        <a:rPr lang="en-US" sz="1200" b="0" i="1" smtClean="0">
                          <a:latin typeface="Cambria Math" panose="02040503050406030204" pitchFamily="18" charset="0"/>
                        </a:rPr>
                        <m:t> </m:t>
                      </m:r>
                      <m:r>
                        <a:rPr lang="en-US" sz="1200" b="0" i="1" smtClean="0">
                          <a:latin typeface="Cambria Math" panose="02040503050406030204" pitchFamily="18" charset="0"/>
                        </a:rPr>
                        <m:t>𝑒𝑛𝑡𝑖𝑟𝑒</m:t>
                      </m:r>
                      <m:r>
                        <a:rPr lang="en-US" sz="1200" b="0" i="1" smtClean="0">
                          <a:latin typeface="Cambria Math" panose="02040503050406030204" pitchFamily="18" charset="0"/>
                        </a:rPr>
                        <m:t> </m:t>
                      </m:r>
                      <m:r>
                        <a:rPr lang="en-US" sz="1200" b="0" i="1" smtClean="0">
                          <a:latin typeface="Cambria Math" panose="02040503050406030204" pitchFamily="18" charset="0"/>
                        </a:rPr>
                        <m:t>𝑀𝑖𝑙𝑘𝑦𝑊𝑎𝑦</m:t>
                      </m:r>
                      <m:r>
                        <a:rPr lang="en-US" sz="1200" b="0" i="1" smtClean="0">
                          <a:latin typeface="Cambria Math" panose="02040503050406030204" pitchFamily="18" charset="0"/>
                        </a:rPr>
                        <m:t> </m:t>
                      </m:r>
                      <m:r>
                        <a:rPr lang="en-US" sz="1200" b="0" i="1" smtClean="0">
                          <a:latin typeface="Cambria Math" panose="02040503050406030204" pitchFamily="18" charset="0"/>
                        </a:rPr>
                        <m:t>𝑔𝑎𝑙𝑎𝑥𝑦</m:t>
                      </m:r>
                    </m:oMath>
                  </m:oMathPara>
                </a14:m>
                <a:endParaRPr lang="en-US" sz="1200" dirty="0"/>
              </a:p>
              <a:p>
                <a:endParaRPr lang="en-US" sz="1200" dirty="0"/>
              </a:p>
              <a:p>
                <a:r>
                  <a:rPr lang="en-US" sz="1200" dirty="0"/>
                  <a:t>Chance is too inefficient in both time and material.</a:t>
                </a:r>
                <a:r>
                  <a:rPr lang="en-US" sz="1200" i="1" dirty="0">
                    <a:latin typeface="Cambria Math" panose="02040503050406030204" pitchFamily="18" charset="0"/>
                  </a:rPr>
                  <a:t> Absurd?</a:t>
                </a:r>
              </a:p>
              <a:p>
                <a:endParaRPr lang="en-US" sz="12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𝑷</m:t>
                      </m:r>
                      <m:r>
                        <a:rPr lang="en-US" sz="1200" b="1" i="1" smtClean="0">
                          <a:latin typeface="Cambria Math" panose="02040503050406030204" pitchFamily="18" charset="0"/>
                        </a:rPr>
                        <m:t>=</m:t>
                      </m:r>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𝟏𝟎</m:t>
                          </m:r>
                        </m:e>
                        <m:sup>
                          <m:r>
                            <a:rPr lang="en-US" sz="1200" b="1" i="1" smtClean="0">
                              <a:latin typeface="Cambria Math" panose="02040503050406030204" pitchFamily="18" charset="0"/>
                            </a:rPr>
                            <m:t>−</m:t>
                          </m:r>
                          <m:r>
                            <a:rPr lang="en-US" sz="1200" b="1" i="1" smtClean="0">
                              <a:latin typeface="Cambria Math" panose="02040503050406030204" pitchFamily="18" charset="0"/>
                            </a:rPr>
                            <m:t>𝟓𝟎</m:t>
                          </m:r>
                        </m:sup>
                      </m:sSup>
                      <m:r>
                        <a:rPr lang="en-US" sz="1200" b="0" i="1" smtClean="0">
                          <a:latin typeface="Cambria Math" panose="02040503050406030204" pitchFamily="18" charset="0"/>
                        </a:rPr>
                        <m:t> </m:t>
                      </m:r>
                      <m:r>
                        <a:rPr lang="en-US" sz="1200" b="0" i="1" smtClean="0">
                          <a:latin typeface="Cambria Math" panose="02040503050406030204" pitchFamily="18" charset="0"/>
                        </a:rPr>
                        <m:t>𝑖𝑠</m:t>
                      </m:r>
                      <m:r>
                        <a:rPr lang="en-US" sz="1200" b="0" i="1" smtClean="0">
                          <a:latin typeface="Cambria Math" panose="02040503050406030204" pitchFamily="18" charset="0"/>
                        </a:rPr>
                        <m:t> </m:t>
                      </m:r>
                      <m:r>
                        <a:rPr lang="en-US" sz="1200" b="0" i="1" smtClean="0">
                          <a:latin typeface="Cambria Math" panose="02040503050406030204" pitchFamily="18" charset="0"/>
                        </a:rPr>
                        <m:t>𝑔𝑒𝑛𝑒𝑟𝑎𝑙𝑙𝑦</m:t>
                      </m:r>
                      <m:r>
                        <a:rPr lang="en-US" sz="1200" b="0" i="1" smtClean="0">
                          <a:latin typeface="Cambria Math" panose="02040503050406030204" pitchFamily="18" charset="0"/>
                        </a:rPr>
                        <m:t> </m:t>
                      </m:r>
                      <m:r>
                        <a:rPr lang="en-US" sz="1200" b="0" i="1" smtClean="0">
                          <a:latin typeface="Cambria Math" panose="02040503050406030204" pitchFamily="18" charset="0"/>
                        </a:rPr>
                        <m:t>𝑟𝑒𝑔𝑎𝑟𝑑𝑒𝑑</m:t>
                      </m:r>
                      <m:r>
                        <a:rPr lang="en-US" sz="1200" b="0" i="1" smtClean="0">
                          <a:latin typeface="Cambria Math" panose="02040503050406030204" pitchFamily="18" charset="0"/>
                        </a:rPr>
                        <m:t> </m:t>
                      </m:r>
                      <m:r>
                        <a:rPr lang="en-US" sz="1200" b="0" i="1" smtClean="0">
                          <a:latin typeface="Cambria Math" panose="02040503050406030204" pitchFamily="18" charset="0"/>
                        </a:rPr>
                        <m:t>𝑎𝑠</m:t>
                      </m:r>
                      <m:r>
                        <a:rPr lang="en-US" sz="1200" b="0" i="1" smtClean="0">
                          <a:latin typeface="Cambria Math" panose="02040503050406030204" pitchFamily="18" charset="0"/>
                        </a:rPr>
                        <m:t> </m:t>
                      </m:r>
                      <m:r>
                        <a:rPr lang="en-US" sz="1200" b="0" i="1" smtClean="0">
                          <a:latin typeface="Cambria Math" panose="02040503050406030204" pitchFamily="18" charset="0"/>
                        </a:rPr>
                        <m:t>𝑖𝑚𝑝𝑜𝑠𝑠𝑖𝑏𝑙𝑒</m:t>
                      </m:r>
                    </m:oMath>
                  </m:oMathPara>
                </a14:m>
                <a:endParaRPr lang="en-US" sz="1200" b="0" i="1" dirty="0">
                  <a:latin typeface="Cambria Math" panose="02040503050406030204" pitchFamily="18" charset="0"/>
                </a:endParaRPr>
              </a:p>
              <a:p>
                <a:endParaRPr lang="en-US" sz="12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sz="1200" b="1" i="1">
                              <a:latin typeface="Cambria Math" panose="02040503050406030204" pitchFamily="18" charset="0"/>
                            </a:rPr>
                          </m:ctrlPr>
                        </m:sSupPr>
                        <m:e>
                          <m:r>
                            <a:rPr lang="en-US" sz="1200" b="1" i="1">
                              <a:latin typeface="Cambria Math" panose="02040503050406030204" pitchFamily="18" charset="0"/>
                            </a:rPr>
                            <m:t>𝟏𝟎</m:t>
                          </m:r>
                        </m:e>
                        <m:sup>
                          <m:r>
                            <a:rPr lang="en-US" sz="1200" b="1" i="1" smtClean="0">
                              <a:latin typeface="Cambria Math" panose="02040503050406030204" pitchFamily="18" charset="0"/>
                            </a:rPr>
                            <m:t>𝟏𝟖</m:t>
                          </m:r>
                        </m:sup>
                      </m:sSup>
                      <m:r>
                        <a:rPr lang="en-US" sz="1200" i="1">
                          <a:latin typeface="Cambria Math" panose="02040503050406030204" pitchFamily="18" charset="0"/>
                        </a:rPr>
                        <m:t> </m:t>
                      </m:r>
                      <m:r>
                        <a:rPr lang="en-US" sz="1200" b="0" i="1" smtClean="0">
                          <a:latin typeface="Cambria Math" panose="02040503050406030204" pitchFamily="18" charset="0"/>
                        </a:rPr>
                        <m:t>𝑠𝑒𝑐𝑜𝑛𝑑𝑠</m:t>
                      </m:r>
                      <m:r>
                        <a:rPr lang="en-US" sz="1200" b="0" i="1" smtClean="0">
                          <a:latin typeface="Cambria Math" panose="02040503050406030204" pitchFamily="18" charset="0"/>
                        </a:rPr>
                        <m:t> </m:t>
                      </m:r>
                      <m:r>
                        <a:rPr lang="en-US" sz="1200" b="0" i="1" smtClean="0">
                          <a:latin typeface="Cambria Math" panose="02040503050406030204" pitchFamily="18" charset="0"/>
                        </a:rPr>
                        <m:t>𝑠𝑖𝑛𝑐𝑒</m:t>
                      </m:r>
                      <m:r>
                        <a:rPr lang="en-US" sz="1200" b="0" i="1" smtClean="0">
                          <a:latin typeface="Cambria Math" panose="02040503050406030204" pitchFamily="18" charset="0"/>
                        </a:rPr>
                        <m:t> </m:t>
                      </m:r>
                      <m:r>
                        <a:rPr lang="en-US" sz="1200" b="0" i="1" smtClean="0">
                          <a:latin typeface="Cambria Math" panose="02040503050406030204" pitchFamily="18" charset="0"/>
                        </a:rPr>
                        <m:t>𝑏𝑒𝑔𝑖𝑛𝑛𝑖𝑛𝑔</m:t>
                      </m:r>
                      <m:r>
                        <a:rPr lang="en-US" sz="1200" b="0" i="1" smtClean="0">
                          <a:latin typeface="Cambria Math" panose="02040503050406030204" pitchFamily="18" charset="0"/>
                        </a:rPr>
                        <m:t> </m:t>
                      </m:r>
                      <m:r>
                        <a:rPr lang="en-US" sz="1200" b="0" i="1" smtClean="0">
                          <a:latin typeface="Cambria Math" panose="02040503050406030204" pitchFamily="18" charset="0"/>
                        </a:rPr>
                        <m:t>𝑜𝑓</m:t>
                      </m:r>
                      <m:r>
                        <a:rPr lang="en-US" sz="1200" b="0" i="1" smtClean="0">
                          <a:latin typeface="Cambria Math" panose="02040503050406030204" pitchFamily="18" charset="0"/>
                        </a:rPr>
                        <m:t> </m:t>
                      </m:r>
                      <m:r>
                        <a:rPr lang="en-US" sz="1200" b="0" i="1" smtClean="0">
                          <a:latin typeface="Cambria Math" panose="02040503050406030204" pitchFamily="18" charset="0"/>
                        </a:rPr>
                        <m:t>𝑎</m:t>
                      </m:r>
                      <m:r>
                        <a:rPr lang="en-US" sz="1200" b="0" i="1" smtClean="0">
                          <a:latin typeface="Cambria Math" panose="02040503050406030204" pitchFamily="18" charset="0"/>
                        </a:rPr>
                        <m:t> 15 </m:t>
                      </m:r>
                      <m:r>
                        <a:rPr lang="en-US" sz="1200" b="0" i="1" smtClean="0">
                          <a:latin typeface="Cambria Math" panose="02040503050406030204" pitchFamily="18" charset="0"/>
                        </a:rPr>
                        <m:t>𝑏𝑖𝑙𝑙𝑖𝑜𝑛</m:t>
                      </m:r>
                      <m:r>
                        <a:rPr lang="en-US" sz="1200" b="0" i="1" smtClean="0">
                          <a:latin typeface="Cambria Math" panose="02040503050406030204" pitchFamily="18" charset="0"/>
                        </a:rPr>
                        <m:t> </m:t>
                      </m:r>
                      <m:r>
                        <a:rPr lang="en-US" sz="1200" b="0" i="1" smtClean="0">
                          <a:latin typeface="Cambria Math" panose="02040503050406030204" pitchFamily="18" charset="0"/>
                        </a:rPr>
                        <m:t>𝑦𝑒𝑎𝑟</m:t>
                      </m:r>
                      <m:r>
                        <a:rPr lang="en-US" sz="1200" b="0" i="1" smtClean="0">
                          <a:latin typeface="Cambria Math" panose="02040503050406030204" pitchFamily="18" charset="0"/>
                        </a:rPr>
                        <m:t> </m:t>
                      </m:r>
                      <m:r>
                        <a:rPr lang="en-US" sz="1200" b="0" i="1" smtClean="0">
                          <a:latin typeface="Cambria Math" panose="02040503050406030204" pitchFamily="18" charset="0"/>
                        </a:rPr>
                        <m:t>𝑢𝑛𝑖𝑣𝑒𝑟𝑠𝑒</m:t>
                      </m:r>
                    </m:oMath>
                  </m:oMathPara>
                </a14:m>
                <a:endParaRPr lang="en-US" sz="12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sz="1200" b="1" i="1" smtClean="0">
                              <a:latin typeface="Cambria Math" panose="02040503050406030204" pitchFamily="18" charset="0"/>
                            </a:rPr>
                          </m:ctrlPr>
                        </m:sSupPr>
                        <m:e>
                          <m:r>
                            <a:rPr lang="en-US" sz="1200" b="1" i="1">
                              <a:latin typeface="Cambria Math" panose="02040503050406030204" pitchFamily="18" charset="0"/>
                            </a:rPr>
                            <m:t>𝟏𝟎</m:t>
                          </m:r>
                        </m:e>
                        <m:sup>
                          <m:r>
                            <a:rPr lang="en-US" sz="1200" b="1" i="1" smtClean="0">
                              <a:latin typeface="Cambria Math" panose="02040503050406030204" pitchFamily="18" charset="0"/>
                            </a:rPr>
                            <m:t>𝟔𝟔</m:t>
                          </m:r>
                        </m:sup>
                      </m:sSup>
                      <m:r>
                        <a:rPr lang="en-US" sz="1200" i="1">
                          <a:latin typeface="Cambria Math" panose="02040503050406030204" pitchFamily="18" charset="0"/>
                        </a:rPr>
                        <m:t> </m:t>
                      </m:r>
                      <m:r>
                        <a:rPr lang="en-US" sz="1200" b="0" i="1" smtClean="0">
                          <a:latin typeface="Cambria Math" panose="02040503050406030204" pitchFamily="18" charset="0"/>
                        </a:rPr>
                        <m:t> </m:t>
                      </m:r>
                      <m:r>
                        <a:rPr lang="en-US" sz="1200" b="0" i="1" smtClean="0">
                          <a:latin typeface="Cambria Math" panose="02040503050406030204" pitchFamily="18" charset="0"/>
                        </a:rPr>
                        <m:t>𝑎𝑡𝑜𝑚𝑠</m:t>
                      </m:r>
                      <m:r>
                        <a:rPr lang="en-US" sz="1200" b="0" i="1" smtClean="0">
                          <a:latin typeface="Cambria Math" panose="02040503050406030204" pitchFamily="18" charset="0"/>
                        </a:rPr>
                        <m:t> </m:t>
                      </m:r>
                      <m:r>
                        <a:rPr lang="en-US" sz="1200" b="0" i="1" smtClean="0">
                          <a:latin typeface="Cambria Math" panose="02040503050406030204" pitchFamily="18" charset="0"/>
                        </a:rPr>
                        <m:t>𝑤𝑖𝑡h𝑖𝑛</m:t>
                      </m:r>
                      <m:r>
                        <a:rPr lang="en-US" sz="1200" b="0" i="1" smtClean="0">
                          <a:latin typeface="Cambria Math" panose="02040503050406030204" pitchFamily="18" charset="0"/>
                        </a:rPr>
                        <m:t> </m:t>
                      </m:r>
                      <m:r>
                        <a:rPr lang="en-US" sz="1200" b="0" i="1" smtClean="0">
                          <a:latin typeface="Cambria Math" panose="02040503050406030204" pitchFamily="18" charset="0"/>
                        </a:rPr>
                        <m:t>𝑡h𝑒</m:t>
                      </m:r>
                      <m:r>
                        <a:rPr lang="en-US" sz="1200" b="0" i="1" smtClean="0">
                          <a:latin typeface="Cambria Math" panose="02040503050406030204" pitchFamily="18" charset="0"/>
                        </a:rPr>
                        <m:t> </m:t>
                      </m:r>
                      <m:r>
                        <a:rPr lang="en-US" sz="1200" b="0" i="1" smtClean="0">
                          <a:latin typeface="Cambria Math" panose="02040503050406030204" pitchFamily="18" charset="0"/>
                        </a:rPr>
                        <m:t>𝑒𝑛𝑡𝑖𝑟𝑒</m:t>
                      </m:r>
                      <m:r>
                        <a:rPr lang="en-US" sz="1200" b="0" i="1" smtClean="0">
                          <a:latin typeface="Cambria Math" panose="02040503050406030204" pitchFamily="18" charset="0"/>
                        </a:rPr>
                        <m:t> </m:t>
                      </m:r>
                      <m:r>
                        <a:rPr lang="en-US" sz="1200" b="0" i="1" smtClean="0">
                          <a:latin typeface="Cambria Math" panose="02040503050406030204" pitchFamily="18" charset="0"/>
                        </a:rPr>
                        <m:t>𝑀𝑖𝑙𝑘𝑦𝑊𝑎𝑦</m:t>
                      </m:r>
                      <m:r>
                        <a:rPr lang="en-US" sz="1200" b="0" i="1" smtClean="0">
                          <a:latin typeface="Cambria Math" panose="02040503050406030204" pitchFamily="18" charset="0"/>
                        </a:rPr>
                        <m:t> </m:t>
                      </m:r>
                      <m:r>
                        <a:rPr lang="en-US" sz="1200" b="0" i="1" smtClean="0">
                          <a:latin typeface="Cambria Math" panose="02040503050406030204" pitchFamily="18" charset="0"/>
                        </a:rPr>
                        <m:t>𝑔𝑎𝑙𝑎𝑥𝑦</m:t>
                      </m:r>
                    </m:oMath>
                  </m:oMathPara>
                </a14:m>
                <a:endParaRPr lang="en-US" sz="1200" dirty="0"/>
              </a:p>
              <a:p>
                <a:endParaRPr lang="en-US" sz="1200" dirty="0"/>
              </a:p>
              <a:p>
                <a:r>
                  <a:rPr lang="en-US" sz="1200" dirty="0"/>
                  <a:t>Chance is too inefficient in both time and material.</a:t>
                </a:r>
              </a:p>
              <a:p>
                <a:endParaRPr lang="en-US" sz="1200" dirty="0"/>
              </a:p>
            </p:txBody>
          </p:sp>
        </mc:Choice>
        <mc:Fallback xmlns="">
          <p:sp>
            <p:nvSpPr>
              <p:cNvPr id="3" name="Notes Placeholder 2"/>
              <p:cNvSpPr>
                <a:spLocks noGrp="1"/>
              </p:cNvSpPr>
              <p:nvPr>
                <p:ph type="body" idx="1"/>
              </p:nvPr>
            </p:nvSpPr>
            <p:spPr/>
            <p:txBody>
              <a:bodyPr>
                <a:normAutofit fontScale="70000" lnSpcReduction="20000"/>
              </a:bodyPr>
              <a:lstStyle/>
              <a:p>
                <a:r>
                  <a:rPr lang="en-US" dirty="0"/>
                  <a:t>Chemical Composition: </a:t>
                </a:r>
              </a:p>
              <a:p>
                <a:r>
                  <a:rPr lang="en-US" baseline="0" dirty="0"/>
                  <a:t>   </a:t>
                </a:r>
                <a:r>
                  <a:rPr lang="en-US" dirty="0"/>
                  <a:t>Hemoglobin;</a:t>
                </a:r>
                <a:r>
                  <a:rPr lang="en-US" baseline="0" dirty="0"/>
                  <a:t> </a:t>
                </a:r>
                <a:r>
                  <a:rPr lang="en-US" dirty="0"/>
                  <a:t> about</a:t>
                </a:r>
                <a:r>
                  <a:rPr lang="en-US" baseline="0" dirty="0"/>
                  <a:t> 96% of red blood cell (dry weight) is the protein molecule Hemoglobin; binds and transports Oxygen and other gases to/from cells. </a:t>
                </a:r>
                <a:endParaRPr lang="en-US" dirty="0"/>
              </a:p>
              <a:p>
                <a:endParaRPr lang="en-US" dirty="0"/>
              </a:p>
              <a:p>
                <a:r>
                  <a:rPr lang="en-US" dirty="0"/>
                  <a:t>Specificity</a:t>
                </a:r>
                <a:r>
                  <a:rPr lang="en-US" baseline="0" dirty="0"/>
                  <a:t> : </a:t>
                </a:r>
                <a:r>
                  <a:rPr lang="en-US" dirty="0"/>
                  <a:t>Formula for linear arrangements: N=n!/(p! x q! x r! …) </a:t>
                </a:r>
              </a:p>
              <a:p>
                <a:endParaRPr lang="en-US" dirty="0"/>
              </a:p>
              <a:p>
                <a:r>
                  <a:rPr lang="en-US" dirty="0"/>
                  <a:t>There are 10^650</a:t>
                </a:r>
                <a:r>
                  <a:rPr lang="en-US" baseline="0" dirty="0"/>
                  <a:t> </a:t>
                </a:r>
                <a:r>
                  <a:rPr lang="en-US" dirty="0"/>
                  <a:t>permutations possible; only one of them is hemoglobin (change just one</a:t>
                </a:r>
                <a:r>
                  <a:rPr lang="en-US" baseline="0" dirty="0"/>
                  <a:t> </a:t>
                </a:r>
                <a:r>
                  <a:rPr lang="en-US" dirty="0"/>
                  <a:t>of them? = Hemoglobin </a:t>
                </a:r>
                <a:r>
                  <a:rPr lang="en-US" dirty="0" err="1"/>
                  <a:t>Opathy</a:t>
                </a:r>
                <a:r>
                  <a:rPr lang="en-US" dirty="0"/>
                  <a:t>).</a:t>
                </a:r>
              </a:p>
              <a:p>
                <a:endParaRPr lang="en-US" dirty="0"/>
              </a:p>
              <a:p>
                <a:r>
                  <a:rPr lang="en-US" dirty="0"/>
                  <a:t>Far beyond “chance”.</a:t>
                </a:r>
              </a:p>
              <a:p>
                <a:endParaRPr lang="en-US" dirty="0"/>
              </a:p>
              <a:p>
                <a:r>
                  <a:rPr lang="en-US" dirty="0"/>
                  <a:t>The Elements of Language:</a:t>
                </a:r>
              </a:p>
              <a:p>
                <a:pPr marL="171450" indent="-171450">
                  <a:buFont typeface="Arial" panose="020B0604020202020204" pitchFamily="34" charset="0"/>
                  <a:buChar char="•"/>
                </a:pPr>
                <a:r>
                  <a:rPr lang="en-US" dirty="0"/>
                  <a:t>Syntactic</a:t>
                </a:r>
              </a:p>
              <a:p>
                <a:pPr marL="171450" indent="-171450">
                  <a:buFont typeface="Arial" panose="020B0604020202020204" pitchFamily="34" charset="0"/>
                  <a:buChar char="•"/>
                </a:pPr>
                <a:r>
                  <a:rPr lang="en-US" dirty="0"/>
                  <a:t>Symantec</a:t>
                </a:r>
              </a:p>
              <a:p>
                <a:pPr marL="171450" indent="-171450">
                  <a:buFont typeface="Arial" panose="020B0604020202020204" pitchFamily="34" charset="0"/>
                  <a:buChar char="•"/>
                </a:pPr>
                <a:endParaRPr lang="en-US" dirty="0"/>
              </a:p>
              <a:p>
                <a:r>
                  <a:rPr lang="en-US" sz="1200" i="1" dirty="0">
                    <a:latin typeface="Cambria Math" panose="02040503050406030204" pitchFamily="18" charset="0"/>
                  </a:rPr>
                  <a:t>Absurd?</a:t>
                </a:r>
              </a:p>
              <a:p>
                <a:endParaRPr lang="en-US" sz="1200" i="1" dirty="0">
                  <a:latin typeface="Cambria Math" panose="02040503050406030204" pitchFamily="18" charset="0"/>
                </a:endParaRPr>
              </a:p>
              <a:p>
                <a:pPr/>
                <a:r>
                  <a:rPr lang="en-US" sz="1200" b="1" i="0">
                    <a:latin typeface="Cambria Math" panose="02040503050406030204" pitchFamily="18" charset="0"/>
                  </a:rPr>
                  <a:t>𝑷=〖𝟏𝟎〗^(−𝟓𝟎)</a:t>
                </a:r>
                <a:r>
                  <a:rPr lang="en-US" sz="1200" b="0" i="0">
                    <a:latin typeface="Cambria Math" panose="02040503050406030204" pitchFamily="18" charset="0"/>
                  </a:rPr>
                  <a:t>  𝑖𝑠 𝑔𝑒𝑛𝑒𝑟𝑎𝑙𝑙𝑦 𝑟𝑒𝑔𝑎𝑟𝑑𝑒𝑑 𝑎𝑠 𝑖𝑚𝑝𝑜𝑠𝑠𝑖𝑏𝑙𝑒</a:t>
                </a:r>
                <a:endParaRPr lang="en-US" sz="1200" b="0" i="1" dirty="0">
                  <a:latin typeface="Cambria Math" panose="02040503050406030204" pitchFamily="18" charset="0"/>
                </a:endParaRPr>
              </a:p>
              <a:p>
                <a:endParaRPr lang="en-US" sz="1200" i="1" dirty="0">
                  <a:latin typeface="Cambria Math" panose="02040503050406030204" pitchFamily="18" charset="0"/>
                </a:endParaRPr>
              </a:p>
              <a:p>
                <a:pPr/>
                <a:r>
                  <a:rPr lang="en-US" sz="1200" b="1" i="0">
                    <a:latin typeface="Cambria Math" panose="02040503050406030204" pitchFamily="18" charset="0"/>
                  </a:rPr>
                  <a:t>〖𝟏𝟎〗^𝟏𝟖 </a:t>
                </a:r>
                <a:r>
                  <a:rPr lang="en-US" sz="1200" i="0">
                    <a:latin typeface="Cambria Math" panose="02040503050406030204" pitchFamily="18" charset="0"/>
                  </a:rPr>
                  <a:t> </a:t>
                </a:r>
                <a:r>
                  <a:rPr lang="en-US" sz="1200" b="0" i="0">
                    <a:latin typeface="Cambria Math" panose="02040503050406030204" pitchFamily="18" charset="0"/>
                  </a:rPr>
                  <a:t>𝑠𝑒𝑐𝑜𝑛𝑑𝑠 𝑠𝑖𝑛𝑐𝑒 𝑏𝑒𝑔𝑖𝑛𝑛𝑖𝑛𝑔 𝑜𝑓 𝑎 15 𝑏𝑖𝑙𝑙𝑖𝑜𝑛 𝑦𝑒𝑎𝑟 𝑢𝑛𝑖𝑣𝑒𝑟𝑠𝑒</a:t>
                </a:r>
                <a:endParaRPr lang="en-US" sz="1200" b="0" i="1" dirty="0">
                  <a:latin typeface="Cambria Math" panose="02040503050406030204" pitchFamily="18" charset="0"/>
                </a:endParaRPr>
              </a:p>
              <a:p>
                <a:pPr/>
                <a:r>
                  <a:rPr lang="en-US" sz="1200" b="1" i="0">
                    <a:latin typeface="Cambria Math" panose="02040503050406030204" pitchFamily="18" charset="0"/>
                  </a:rPr>
                  <a:t>〖𝟏𝟎〗^𝟔𝟔 </a:t>
                </a:r>
                <a:r>
                  <a:rPr lang="en-US" sz="1200" i="0">
                    <a:latin typeface="Cambria Math" panose="02040503050406030204" pitchFamily="18" charset="0"/>
                  </a:rPr>
                  <a:t> </a:t>
                </a:r>
                <a:r>
                  <a:rPr lang="en-US" sz="1200" b="0" i="0">
                    <a:latin typeface="Cambria Math" panose="02040503050406030204" pitchFamily="18" charset="0"/>
                  </a:rPr>
                  <a:t> 𝑎𝑡𝑜𝑚𝑠 𝑤𝑖𝑡ℎ𝑖𝑛 𝑡ℎ𝑒 𝑒𝑛𝑡𝑖𝑟𝑒 𝑀𝑖𝑙𝑘𝑦𝑊𝑎𝑦 𝑔𝑎𝑙𝑎𝑥𝑦</a:t>
                </a:r>
                <a:endParaRPr lang="en-US" sz="1200" dirty="0"/>
              </a:p>
              <a:p>
                <a:endParaRPr lang="en-US" sz="1200" dirty="0"/>
              </a:p>
              <a:p>
                <a:r>
                  <a:rPr lang="en-US" sz="1200" dirty="0"/>
                  <a:t>Chance is too inefficient in both time and material.</a:t>
                </a:r>
                <a:r>
                  <a:rPr lang="en-US" sz="1200" i="1" dirty="0">
                    <a:latin typeface="Cambria Math" panose="02040503050406030204" pitchFamily="18" charset="0"/>
                  </a:rPr>
                  <a:t> Absurd?</a:t>
                </a:r>
              </a:p>
              <a:p>
                <a:endParaRPr lang="en-US" sz="1200" i="1" dirty="0">
                  <a:latin typeface="Cambria Math" panose="02040503050406030204" pitchFamily="18" charset="0"/>
                </a:endParaRPr>
              </a:p>
              <a:p>
                <a:pPr/>
                <a:r>
                  <a:rPr lang="en-US" sz="1200" b="1" i="0">
                    <a:latin typeface="Cambria Math" panose="02040503050406030204" pitchFamily="18" charset="0"/>
                  </a:rPr>
                  <a:t>𝑷=〖𝟏𝟎〗^(−𝟓𝟎)</a:t>
                </a:r>
                <a:r>
                  <a:rPr lang="en-US" sz="1200" b="0" i="0">
                    <a:latin typeface="Cambria Math" panose="02040503050406030204" pitchFamily="18" charset="0"/>
                  </a:rPr>
                  <a:t>  𝑖𝑠 𝑔𝑒𝑛𝑒𝑟𝑎𝑙𝑙𝑦 𝑟𝑒𝑔𝑎𝑟𝑑𝑒𝑑 𝑎𝑠 𝑖𝑚𝑝𝑜𝑠𝑠𝑖𝑏𝑙𝑒</a:t>
                </a:r>
                <a:endParaRPr lang="en-US" sz="1200" b="0" i="1" dirty="0">
                  <a:latin typeface="Cambria Math" panose="02040503050406030204" pitchFamily="18" charset="0"/>
                </a:endParaRPr>
              </a:p>
              <a:p>
                <a:endParaRPr lang="en-US" sz="1200" i="1" dirty="0">
                  <a:latin typeface="Cambria Math" panose="02040503050406030204" pitchFamily="18" charset="0"/>
                </a:endParaRPr>
              </a:p>
              <a:p>
                <a:pPr/>
                <a:r>
                  <a:rPr lang="en-US" sz="1200" b="1" i="0">
                    <a:latin typeface="Cambria Math" panose="02040503050406030204" pitchFamily="18" charset="0"/>
                  </a:rPr>
                  <a:t>〖𝟏𝟎〗^𝟏𝟖 </a:t>
                </a:r>
                <a:r>
                  <a:rPr lang="en-US" sz="1200" i="0">
                    <a:latin typeface="Cambria Math" panose="02040503050406030204" pitchFamily="18" charset="0"/>
                  </a:rPr>
                  <a:t> </a:t>
                </a:r>
                <a:r>
                  <a:rPr lang="en-US" sz="1200" b="0" i="0">
                    <a:latin typeface="Cambria Math" panose="02040503050406030204" pitchFamily="18" charset="0"/>
                  </a:rPr>
                  <a:t>𝑠𝑒𝑐𝑜𝑛𝑑𝑠 𝑠𝑖𝑛𝑐𝑒 𝑏𝑒𝑔𝑖𝑛𝑛𝑖𝑛𝑔 𝑜𝑓 𝑎 15 𝑏𝑖𝑙𝑙𝑖𝑜𝑛 𝑦𝑒𝑎𝑟 𝑢𝑛𝑖𝑣𝑒𝑟𝑠𝑒</a:t>
                </a:r>
                <a:endParaRPr lang="en-US" sz="1200" b="0" i="1" dirty="0">
                  <a:latin typeface="Cambria Math" panose="02040503050406030204" pitchFamily="18" charset="0"/>
                </a:endParaRPr>
              </a:p>
              <a:p>
                <a:pPr/>
                <a:r>
                  <a:rPr lang="en-US" sz="1200" b="1" i="0">
                    <a:latin typeface="Cambria Math" panose="02040503050406030204" pitchFamily="18" charset="0"/>
                  </a:rPr>
                  <a:t>〖𝟏𝟎〗^𝟔𝟔 </a:t>
                </a:r>
                <a:r>
                  <a:rPr lang="en-US" sz="1200" i="0">
                    <a:latin typeface="Cambria Math" panose="02040503050406030204" pitchFamily="18" charset="0"/>
                  </a:rPr>
                  <a:t> </a:t>
                </a:r>
                <a:r>
                  <a:rPr lang="en-US" sz="1200" b="0" i="0">
                    <a:latin typeface="Cambria Math" panose="02040503050406030204" pitchFamily="18" charset="0"/>
                  </a:rPr>
                  <a:t> 𝑎𝑡𝑜𝑚𝑠 𝑤𝑖𝑡ℎ𝑖𝑛 𝑡ℎ𝑒 𝑒𝑛𝑡𝑖𝑟𝑒 𝑀𝑖𝑙𝑘𝑦𝑊𝑎𝑦 𝑔𝑎𝑙𝑎𝑥𝑦</a:t>
                </a:r>
                <a:endParaRPr lang="en-US" sz="1200" dirty="0"/>
              </a:p>
              <a:p>
                <a:endParaRPr lang="en-US" sz="1200" dirty="0"/>
              </a:p>
              <a:p>
                <a:r>
                  <a:rPr lang="en-US" sz="1200" dirty="0"/>
                  <a:t>Chance is too inefficient in both time and material.</a:t>
                </a:r>
              </a:p>
              <a:p>
                <a:endParaRPr lang="en-US" sz="1200" dirty="0"/>
              </a:p>
            </p:txBody>
          </p:sp>
        </mc:Fallback>
      </mc:AlternateContent>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658281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pPr marL="0" marR="0" lvl="1" indent="0" algn="l" defTabSz="914400" rtl="0" eaLnBrk="0" fontAlgn="base" latinLnBrk="0" hangingPunct="0">
              <a:lnSpc>
                <a:spcPct val="100000"/>
              </a:lnSpc>
              <a:spcBef>
                <a:spcPct val="30000"/>
              </a:spcBef>
              <a:spcAft>
                <a:spcPct val="0"/>
              </a:spcAft>
              <a:buClrTx/>
              <a:buSzTx/>
              <a:buFont typeface="Arial" pitchFamily="34" charset="0"/>
              <a:buNone/>
              <a:tabLst/>
              <a:defRPr/>
            </a:pPr>
            <a:r>
              <a:rPr lang="en-US" sz="1200" b="1" kern="1200" baseline="0" dirty="0">
                <a:solidFill>
                  <a:schemeClr val="tx1"/>
                </a:solidFill>
                <a:effectLst/>
                <a:latin typeface="+mn-lt"/>
                <a:ea typeface="ＭＳ Ｐゴシック" pitchFamily="-106" charset="-128"/>
                <a:cs typeface="ＭＳ Ｐゴシック" pitchFamily="-106" charset="-128"/>
              </a:rPr>
              <a:t>Psalm 19</a:t>
            </a:r>
            <a:endParaRPr lang="en-US" b="1" baseline="0" dirty="0"/>
          </a:p>
          <a:p>
            <a:pPr marL="171450" lvl="0" indent="-171450">
              <a:buFont typeface="Arial" pitchFamily="34" charset="0"/>
              <a:buChar char="•"/>
            </a:pPr>
            <a:r>
              <a:rPr lang="en-US" sz="1200" kern="1200" baseline="0" dirty="0">
                <a:solidFill>
                  <a:schemeClr val="tx1"/>
                </a:solidFill>
                <a:effectLst/>
                <a:latin typeface="+mn-lt"/>
                <a:ea typeface="ＭＳ Ｐゴシック" pitchFamily="-106" charset="-128"/>
                <a:cs typeface="ＭＳ Ｐゴシック" pitchFamily="-106" charset="-128"/>
              </a:rPr>
              <a:t>For Suppressing God’s Truth (v.18)</a:t>
            </a:r>
          </a:p>
          <a:p>
            <a:pPr marL="171450" lvl="0" indent="-171450">
              <a:buFont typeface="Arial" pitchFamily="34" charset="0"/>
              <a:buChar char="•"/>
            </a:pPr>
            <a:r>
              <a:rPr lang="en-US" sz="1200" kern="1200" baseline="0" dirty="0">
                <a:solidFill>
                  <a:schemeClr val="tx1"/>
                </a:solidFill>
                <a:effectLst/>
                <a:latin typeface="+mn-lt"/>
                <a:ea typeface="ＭＳ Ｐゴシック" pitchFamily="-106" charset="-128"/>
                <a:cs typeface="ＭＳ Ｐゴシック" pitchFamily="-106" charset="-128"/>
              </a:rPr>
              <a:t>For Ignoring God’s revelation (v.19-20)</a:t>
            </a:r>
          </a:p>
          <a:p>
            <a:pPr marL="171450" lvl="0" indent="-171450">
              <a:buFont typeface="Arial" pitchFamily="34" charset="0"/>
              <a:buChar char="•"/>
            </a:pPr>
            <a:r>
              <a:rPr lang="en-US" sz="1200" kern="1200" baseline="0" dirty="0">
                <a:solidFill>
                  <a:schemeClr val="tx1"/>
                </a:solidFill>
                <a:effectLst/>
                <a:latin typeface="+mn-lt"/>
                <a:ea typeface="ＭＳ Ｐゴシック" pitchFamily="-106" charset="-128"/>
                <a:cs typeface="ＭＳ Ｐゴシック" pitchFamily="-106" charset="-128"/>
              </a:rPr>
              <a:t>For Perverting God’s glory (v.21-23)</a:t>
            </a:r>
          </a:p>
          <a:p>
            <a:pPr marL="0" indent="0">
              <a:buFont typeface="Arial" pitchFamily="34" charset="0"/>
              <a:buNone/>
            </a:pPr>
            <a:endParaRPr lang="en-US" baseline="0" dirty="0"/>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a:p>
            <a:pPr marL="0" indent="0">
              <a:buFont typeface="Arial" pitchFamily="34" charset="0"/>
              <a:buNone/>
            </a:pPr>
            <a:endParaRPr lang="en-US" baseline="0" dirty="0"/>
          </a:p>
          <a:p>
            <a:pPr marL="0" indent="0">
              <a:buFont typeface="Arial" pitchFamily="34" charset="0"/>
              <a:buNone/>
            </a:pPr>
            <a:r>
              <a:rPr lang="en-US" b="1" baseline="0" dirty="0"/>
              <a:t>How do we reach the pagan man with the Gospel?</a:t>
            </a:r>
          </a:p>
          <a:p>
            <a:pPr marL="0" indent="0">
              <a:buFont typeface="Arial" pitchFamily="34" charset="0"/>
              <a:buNone/>
            </a:pPr>
            <a:endParaRPr lang="en-US" baseline="0" dirty="0"/>
          </a:p>
          <a:p>
            <a:pPr marL="228600" indent="-228600">
              <a:buFont typeface="Arial" pitchFamily="34" charset="0"/>
              <a:buAutoNum type="arabicPeriod"/>
            </a:pPr>
            <a:r>
              <a:rPr lang="en-US" baseline="0" dirty="0"/>
              <a:t>Argument from Design</a:t>
            </a:r>
          </a:p>
          <a:p>
            <a:pPr marL="685800" lvl="1" indent="-228600">
              <a:buFont typeface="Arial" pitchFamily="34" charset="0"/>
              <a:buAutoNum type="arabicPeriod"/>
            </a:pPr>
            <a:r>
              <a:rPr lang="en-US" baseline="0" dirty="0"/>
              <a:t>All Designs imply a s Designer</a:t>
            </a:r>
          </a:p>
          <a:p>
            <a:pPr marL="685800" lvl="1" indent="-228600">
              <a:buFont typeface="Arial" pitchFamily="34" charset="0"/>
              <a:buAutoNum type="arabicPeriod"/>
            </a:pPr>
            <a:r>
              <a:rPr lang="en-US" baseline="0" dirty="0"/>
              <a:t>There is great design in the universe</a:t>
            </a:r>
          </a:p>
          <a:p>
            <a:pPr marL="685800" lvl="1" indent="-228600">
              <a:buFont typeface="Arial" pitchFamily="34" charset="0"/>
              <a:buAutoNum type="arabicPeriod"/>
            </a:pPr>
            <a:r>
              <a:rPr lang="en-US" baseline="0" dirty="0"/>
              <a:t>Therefore, there must be a Great designer of the Universe</a:t>
            </a:r>
          </a:p>
          <a:p>
            <a:pPr marL="228600" indent="-228600">
              <a:buFont typeface="Arial" pitchFamily="34" charset="0"/>
              <a:buAutoNum type="arabicPeriod"/>
            </a:pPr>
            <a:endParaRPr lang="en-US" baseline="0" dirty="0"/>
          </a:p>
          <a:p>
            <a:pPr marL="228600" indent="-228600">
              <a:buFont typeface="Arial" pitchFamily="34" charset="0"/>
              <a:buAutoNum type="arabicPeriod"/>
            </a:pPr>
            <a:r>
              <a:rPr lang="en-US" baseline="0" dirty="0"/>
              <a:t>Argument from Creation</a:t>
            </a:r>
          </a:p>
          <a:p>
            <a:pPr marL="685800" lvl="1" indent="-228600">
              <a:buFont typeface="Arial" pitchFamily="34" charset="0"/>
              <a:buAutoNum type="arabicPeriod"/>
            </a:pPr>
            <a:r>
              <a:rPr lang="en-US" baseline="0" dirty="0"/>
              <a:t>The Universe had a beginning</a:t>
            </a:r>
          </a:p>
          <a:p>
            <a:pPr marL="685800" lvl="1" indent="-228600">
              <a:buFont typeface="Arial" pitchFamily="34" charset="0"/>
              <a:buAutoNum type="arabicPeriod"/>
            </a:pPr>
            <a:r>
              <a:rPr lang="en-US" baseline="0" dirty="0"/>
              <a:t>Anything that has a beginning must have been caused by something else</a:t>
            </a:r>
          </a:p>
          <a:p>
            <a:pPr marL="685800" lvl="1" indent="-228600">
              <a:buFont typeface="Arial" pitchFamily="34" charset="0"/>
              <a:buAutoNum type="arabicPeriod"/>
            </a:pPr>
            <a:r>
              <a:rPr lang="en-US" baseline="0" dirty="0"/>
              <a:t>Therefore, the universe was caused by something else, and this cause was God</a:t>
            </a:r>
          </a:p>
          <a:p>
            <a:pPr marL="0" indent="0">
              <a:buFont typeface="Arial" pitchFamily="34" charset="0"/>
              <a:buNone/>
            </a:pPr>
            <a:endParaRPr lang="en-US" dirty="0"/>
          </a:p>
          <a:p>
            <a:pPr marL="171450" indent="-171450">
              <a:buFont typeface="Arial" pitchFamily="34" charset="0"/>
              <a:buChar char="•"/>
            </a:pPr>
            <a:endParaRPr lang="en-US" dirty="0"/>
          </a:p>
          <a:p>
            <a:r>
              <a:rPr lang="en-US" baseline="0" dirty="0"/>
              <a:t>Five key questions to focus conversation with non-believers:</a:t>
            </a:r>
          </a:p>
          <a:p>
            <a:endParaRPr lang="en-US" baseline="0" dirty="0"/>
          </a:p>
          <a:p>
            <a:pPr marL="228600" indent="-228600">
              <a:buAutoNum type="arabicPeriod"/>
            </a:pPr>
            <a:r>
              <a:rPr lang="en-US" baseline="0" dirty="0"/>
              <a:t>What do you mean by __________?</a:t>
            </a:r>
          </a:p>
          <a:p>
            <a:pPr marL="228600" indent="-228600">
              <a:buAutoNum type="arabicPeriod"/>
            </a:pPr>
            <a:r>
              <a:rPr lang="en-US" baseline="0" dirty="0"/>
              <a:t>How do you know?</a:t>
            </a:r>
          </a:p>
          <a:p>
            <a:pPr marL="228600" indent="-228600">
              <a:buAutoNum type="arabicPeriod"/>
            </a:pPr>
            <a:r>
              <a:rPr lang="en-US" baseline="0" dirty="0"/>
              <a:t>What difference does that make?</a:t>
            </a:r>
          </a:p>
          <a:p>
            <a:pPr marL="228600" indent="-228600">
              <a:buAutoNum type="arabicPeriod"/>
            </a:pPr>
            <a:r>
              <a:rPr lang="en-US" baseline="0" dirty="0"/>
              <a:t>What if you are wrong?</a:t>
            </a:r>
          </a:p>
          <a:p>
            <a:pPr marL="228600" indent="-228600">
              <a:buAutoNum type="arabicPeriod"/>
            </a:pPr>
            <a:r>
              <a:rPr lang="en-US" baseline="0" dirty="0"/>
              <a:t>What would you accept as evidence?</a:t>
            </a:r>
          </a:p>
          <a:p>
            <a:pPr marL="0" indent="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lnSpcReduction="10000"/>
          </a:bodyPr>
          <a:lstStyle/>
          <a:p>
            <a:r>
              <a:rPr lang="en-US" sz="1400" b="1" dirty="0"/>
              <a:t>PSALMS</a:t>
            </a:r>
          </a:p>
          <a:p>
            <a:endParaRPr lang="en-US" sz="1400" dirty="0"/>
          </a:p>
          <a:p>
            <a:r>
              <a:rPr lang="en-US" sz="1400" dirty="0"/>
              <a:t>Key worldview categories—origins, meaning, morality, and destiny. While these selections are not exhaustive, they provide starting points for exploring how the Psalms address fundamental questions about life and existence.</a:t>
            </a:r>
          </a:p>
          <a:p>
            <a:endParaRPr lang="en-US" sz="1400" dirty="0"/>
          </a:p>
          <a:p>
            <a:r>
              <a:rPr lang="en-US" sz="1400" b="1" dirty="0"/>
              <a:t>Origins (Where did we come from?)</a:t>
            </a:r>
            <a:endParaRPr lang="en-US" sz="1400" dirty="0"/>
          </a:p>
          <a:p>
            <a:pPr>
              <a:buFont typeface="Arial" panose="020B0604020202020204" pitchFamily="34" charset="0"/>
              <a:buChar char="•"/>
            </a:pPr>
            <a:r>
              <a:rPr lang="en-US" sz="1400" b="1" dirty="0"/>
              <a:t>Psalm 8:3–4</a:t>
            </a:r>
            <a:r>
              <a:rPr lang="en-US" sz="1400" dirty="0"/>
              <a:t>: Reflects on the wonder of the night sky and God’s creative role, prompting awe that the Creator cares for humanity.</a:t>
            </a:r>
          </a:p>
          <a:p>
            <a:pPr>
              <a:buFont typeface="Arial" panose="020B0604020202020204" pitchFamily="34" charset="0"/>
              <a:buChar char="•"/>
            </a:pPr>
            <a:r>
              <a:rPr lang="en-US" sz="1400" b="1" dirty="0"/>
              <a:t>Psalm 19:1–2</a:t>
            </a:r>
            <a:r>
              <a:rPr lang="en-US" sz="1400" dirty="0"/>
              <a:t>: Declares that the heavens and the sky reveal God’s handiwork, pointing to Him as the source of all that exists.</a:t>
            </a:r>
          </a:p>
          <a:p>
            <a:pPr>
              <a:buFont typeface="Arial" panose="020B0604020202020204" pitchFamily="34" charset="0"/>
              <a:buChar char="•"/>
            </a:pPr>
            <a:r>
              <a:rPr lang="en-US" sz="1400" b="1" dirty="0"/>
              <a:t>Psalm 24:1–2</a:t>
            </a:r>
            <a:r>
              <a:rPr lang="en-US" sz="1400" dirty="0"/>
              <a:t>: Proclaims that the earth and all its inhabitants belong to the LORD, who established it upon the waters.</a:t>
            </a:r>
          </a:p>
          <a:p>
            <a:pPr>
              <a:buFont typeface="Arial" panose="020B0604020202020204" pitchFamily="34" charset="0"/>
              <a:buChar char="•"/>
            </a:pPr>
            <a:r>
              <a:rPr lang="en-US" sz="1400" b="1" dirty="0"/>
              <a:t>Psalm 33:6–9</a:t>
            </a:r>
            <a:r>
              <a:rPr lang="en-US" sz="1400" dirty="0"/>
              <a:t>: Emphasizes that God created the heavens and the earth by His word, underscoring His authority as the originator of all things.</a:t>
            </a:r>
          </a:p>
          <a:p>
            <a:pPr>
              <a:buFont typeface="Arial" panose="020B0604020202020204" pitchFamily="34" charset="0"/>
              <a:buChar char="•"/>
            </a:pPr>
            <a:r>
              <a:rPr lang="en-US" sz="1400" b="1" dirty="0"/>
              <a:t>Psalm 90:2</a:t>
            </a:r>
            <a:r>
              <a:rPr lang="en-US" sz="1400" dirty="0"/>
              <a:t>: Acknowledges God’s eternal nature and presence before the creation of the mountains and the formation of the earth.</a:t>
            </a:r>
          </a:p>
          <a:p>
            <a:pPr>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3242-48F8-D4A3-FF7E-C0DC44D18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94CD2-87AC-164B-141E-FE97C7DA7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4BBF6-EBD9-4C95-D27F-15F253EA7C72}"/>
              </a:ext>
            </a:extLst>
          </p:cNvPr>
          <p:cNvSpPr>
            <a:spLocks noGrp="1"/>
          </p:cNvSpPr>
          <p:nvPr>
            <p:ph type="body" idx="1"/>
          </p:nvPr>
        </p:nvSpPr>
        <p:spPr/>
        <p:txBody>
          <a:bodyPr>
            <a:normAutofit/>
          </a:bodyPr>
          <a:lstStyle/>
          <a:p>
            <a:r>
              <a:rPr lang="en-US" b="1" dirty="0"/>
              <a:t>NT</a:t>
            </a:r>
          </a:p>
          <a:p>
            <a:endParaRPr lang="en-US" dirty="0"/>
          </a:p>
          <a:p>
            <a:r>
              <a:rPr lang="en-US" sz="1400" dirty="0"/>
              <a:t> </a:t>
            </a:r>
            <a:r>
              <a:rPr lang="en-US" sz="1400" b="1" dirty="0"/>
              <a:t>Origins (Where did we come from?)   </a:t>
            </a:r>
          </a:p>
          <a:p>
            <a:endParaRPr lang="en-US" sz="1400" b="1" dirty="0"/>
          </a:p>
          <a:p>
            <a:r>
              <a:rPr lang="en-US" sz="1400" dirty="0"/>
              <a:t>-  </a:t>
            </a:r>
            <a:r>
              <a:rPr lang="en-US" sz="1400" b="1" dirty="0"/>
              <a:t>Matthew 19:4–6 </a:t>
            </a:r>
            <a:r>
              <a:rPr lang="en-US" sz="1400" dirty="0"/>
              <a:t>;  </a:t>
            </a:r>
            <a:r>
              <a:rPr lang="en-US" sz="1400" b="1" dirty="0"/>
              <a:t>Mark 10:6 </a:t>
            </a:r>
            <a:r>
              <a:rPr lang="en-US" sz="1400" dirty="0"/>
              <a:t>: Jesus refers back to the creation account, stating that “at the beginning” God made humanity male and female. This acknowledgment situates human existence within God’s creative work from the start.  </a:t>
            </a:r>
          </a:p>
          <a:p>
            <a:r>
              <a:rPr lang="en-US" sz="1400" dirty="0"/>
              <a:t>-  </a:t>
            </a:r>
            <a:r>
              <a:rPr lang="en-US" sz="1400" b="1" dirty="0"/>
              <a:t>John 5:17–18 </a:t>
            </a:r>
            <a:r>
              <a:rPr lang="en-US" sz="1400" dirty="0"/>
              <a:t>, </a:t>
            </a:r>
            <a:r>
              <a:rPr lang="en-US" sz="1400" b="1" dirty="0"/>
              <a:t>John 8:58  </a:t>
            </a:r>
            <a:r>
              <a:rPr lang="en-US" sz="1400" dirty="0"/>
              <a:t>Jesus affirms His divine origin and relationship with the Father throughout John’s Gospel</a:t>
            </a:r>
          </a:p>
          <a:p>
            <a:r>
              <a:rPr lang="en-US" sz="1400" dirty="0"/>
              <a:t>-  </a:t>
            </a:r>
            <a:r>
              <a:rPr lang="en-US" sz="1400" b="1" dirty="0"/>
              <a:t>John 1:1–3 </a:t>
            </a:r>
            <a:r>
              <a:rPr lang="en-US" sz="1400" dirty="0"/>
              <a:t>: Establishes that all things were made through the Word (Christ), affirming God as the Creator of all existence.  </a:t>
            </a:r>
          </a:p>
          <a:p>
            <a:r>
              <a:rPr lang="en-US" sz="1400" dirty="0"/>
              <a:t>-  </a:t>
            </a:r>
            <a:r>
              <a:rPr lang="en-US" sz="1400" b="1" dirty="0"/>
              <a:t>Acts 17:24–26 </a:t>
            </a:r>
            <a:r>
              <a:rPr lang="en-US" sz="1400" dirty="0"/>
              <a:t>: Paul’s sermon at the Areopagus proclaims that God made the world and everything in it, creating all nations from one ancestor.  </a:t>
            </a:r>
          </a:p>
          <a:p>
            <a:r>
              <a:rPr lang="en-US" sz="1400" dirty="0"/>
              <a:t>-  </a:t>
            </a:r>
            <a:r>
              <a:rPr lang="en-US" sz="1400" b="1" dirty="0"/>
              <a:t>Colossians 1:16–17 </a:t>
            </a:r>
            <a:r>
              <a:rPr lang="en-US" sz="1400" dirty="0"/>
              <a:t>: States that all things, visible and invisible, were created through and for Christ, who holds all creation together.</a:t>
            </a:r>
          </a:p>
        </p:txBody>
      </p:sp>
      <p:sp>
        <p:nvSpPr>
          <p:cNvPr id="4" name="Slide Number Placeholder 3">
            <a:extLst>
              <a:ext uri="{FF2B5EF4-FFF2-40B4-BE49-F238E27FC236}">
                <a16:creationId xmlns:a16="http://schemas.microsoft.com/office/drawing/2014/main" id="{76647EFE-2D69-9C7B-0869-33628CA27B52}"/>
              </a:ext>
            </a:extLst>
          </p:cNvPr>
          <p:cNvSpPr>
            <a:spLocks noGrp="1"/>
          </p:cNvSpPr>
          <p:nvPr>
            <p:ph type="sldNum" sz="quarter" idx="5"/>
          </p:nvPr>
        </p:nvSpPr>
        <p:spPr/>
        <p:txBody>
          <a:bodyPr/>
          <a:lstStyle/>
          <a:p>
            <a:pPr>
              <a:defRPr/>
            </a:pPr>
            <a:fld id="{07776858-791E-4C8D-8FA3-473B3AFECFAC}" type="slidenum">
              <a:rPr lang="en-US" smtClean="0"/>
              <a:pPr>
                <a:defRPr/>
              </a:pPr>
              <a:t>13</a:t>
            </a:fld>
            <a:endParaRPr lang="en-US"/>
          </a:p>
        </p:txBody>
      </p:sp>
    </p:spTree>
    <p:extLst>
      <p:ext uri="{BB962C8B-B14F-4D97-AF65-F5344CB8AC3E}">
        <p14:creationId xmlns:p14="http://schemas.microsoft.com/office/powerpoint/2010/main" val="2409314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pPr eaLnBrk="1" hangingPunct="1"/>
            <a:r>
              <a:rPr lang="en-US" dirty="0"/>
              <a:t>Romans</a:t>
            </a:r>
            <a:endParaRPr dirty="0"/>
          </a:p>
        </p:txBody>
      </p:sp>
      <p:sp>
        <p:nvSpPr>
          <p:cNvPr id="6147" name="Subtitle 2"/>
          <p:cNvSpPr>
            <a:spLocks noGrp="1"/>
          </p:cNvSpPr>
          <p:nvPr>
            <p:ph type="subTitle" idx="1"/>
          </p:nvPr>
        </p:nvSpPr>
        <p:spPr/>
        <p:txBody>
          <a:bodyPr/>
          <a:lstStyle/>
          <a:p>
            <a:pPr eaLnBrk="1" hangingPunct="1"/>
            <a:r>
              <a:rPr lang="en-US" dirty="0"/>
              <a:t>God’s Judgment of </a:t>
            </a:r>
          </a:p>
          <a:p>
            <a:pPr eaLnBrk="1" hangingPunct="1"/>
            <a:r>
              <a:rPr lang="en-US" dirty="0"/>
              <a:t>Pagan Mankind</a:t>
            </a:r>
          </a:p>
          <a:p>
            <a:pPr eaLnBrk="1" hangingPunct="1"/>
            <a:r>
              <a:rPr lang="en-US" dirty="0"/>
              <a:t>1:18-32</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2</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Predicament of Mankind</a:t>
            </a:r>
            <a:br>
              <a:rPr lang="en-US" dirty="0"/>
            </a:br>
            <a:r>
              <a:rPr lang="en-US" sz="2400" dirty="0">
                <a:solidFill>
                  <a:schemeClr val="tx2">
                    <a:lumMod val="60000"/>
                    <a:lumOff val="40000"/>
                  </a:schemeClr>
                </a:solidFill>
              </a:rPr>
              <a:t>“The wrath of God is revealed…” “…For all have sinned…”</a:t>
            </a:r>
          </a:p>
        </p:txBody>
      </p:sp>
      <p:sp>
        <p:nvSpPr>
          <p:cNvPr id="6" name="TextBox 5"/>
          <p:cNvSpPr txBox="1"/>
          <p:nvPr/>
        </p:nvSpPr>
        <p:spPr>
          <a:xfrm>
            <a:off x="521208" y="1447800"/>
            <a:ext cx="8001000" cy="400110"/>
          </a:xfrm>
          <a:prstGeom prst="rect">
            <a:avLst/>
          </a:prstGeom>
          <a:noFill/>
        </p:spPr>
        <p:txBody>
          <a:bodyPr wrap="square" rtlCol="0">
            <a:spAutoFit/>
          </a:bodyPr>
          <a:lstStyle/>
          <a:p>
            <a:r>
              <a:rPr lang="en-US" sz="2000" b="1" i="1" dirty="0"/>
              <a:t>Romans 1 : The “Pagan Man” </a:t>
            </a:r>
          </a:p>
        </p:txBody>
      </p:sp>
      <p:sp>
        <p:nvSpPr>
          <p:cNvPr id="7" name="TextBox 6"/>
          <p:cNvSpPr txBox="1"/>
          <p:nvPr/>
        </p:nvSpPr>
        <p:spPr>
          <a:xfrm>
            <a:off x="521208" y="2080517"/>
            <a:ext cx="8001000" cy="400110"/>
          </a:xfrm>
          <a:prstGeom prst="rect">
            <a:avLst/>
          </a:prstGeom>
          <a:noFill/>
        </p:spPr>
        <p:txBody>
          <a:bodyPr wrap="square" rtlCol="0">
            <a:spAutoFit/>
          </a:bodyPr>
          <a:lstStyle/>
          <a:p>
            <a:r>
              <a:rPr lang="en-US" sz="2000" i="1" dirty="0"/>
              <a:t>Romans 2 : The “Moral Man”</a:t>
            </a:r>
          </a:p>
        </p:txBody>
      </p:sp>
      <p:sp>
        <p:nvSpPr>
          <p:cNvPr id="9" name="TextBox 8"/>
          <p:cNvSpPr txBox="1"/>
          <p:nvPr/>
        </p:nvSpPr>
        <p:spPr>
          <a:xfrm>
            <a:off x="521208" y="2667000"/>
            <a:ext cx="8001000" cy="400110"/>
          </a:xfrm>
          <a:prstGeom prst="rect">
            <a:avLst/>
          </a:prstGeom>
          <a:noFill/>
        </p:spPr>
        <p:txBody>
          <a:bodyPr wrap="square" rtlCol="0">
            <a:spAutoFit/>
          </a:bodyPr>
          <a:lstStyle/>
          <a:p>
            <a:r>
              <a:rPr lang="en-US" sz="2000" i="1" dirty="0"/>
              <a:t>Romans 3 : The “Spiritual Man”</a:t>
            </a:r>
          </a:p>
        </p:txBody>
      </p:sp>
      <p:sp>
        <p:nvSpPr>
          <p:cNvPr id="2" name="TextBox 1">
            <a:extLst>
              <a:ext uri="{FF2B5EF4-FFF2-40B4-BE49-F238E27FC236}">
                <a16:creationId xmlns:a16="http://schemas.microsoft.com/office/drawing/2014/main" id="{D886A040-9376-CD0D-5833-A6C4AF52BBD2}"/>
              </a:ext>
            </a:extLst>
          </p:cNvPr>
          <p:cNvSpPr txBox="1"/>
          <p:nvPr/>
        </p:nvSpPr>
        <p:spPr>
          <a:xfrm>
            <a:off x="521208" y="3941915"/>
            <a:ext cx="8001000" cy="1631216"/>
          </a:xfrm>
          <a:prstGeom prst="rect">
            <a:avLst/>
          </a:prstGeom>
          <a:noFill/>
        </p:spPr>
        <p:txBody>
          <a:bodyPr wrap="square" rtlCol="0">
            <a:spAutoFit/>
          </a:bodyPr>
          <a:lstStyle/>
          <a:p>
            <a:r>
              <a:rPr lang="en-US" sz="2000" i="1" dirty="0"/>
              <a:t>“For I am not ashamed of the </a:t>
            </a:r>
            <a:r>
              <a:rPr lang="en-US" sz="2000" b="1" i="1" dirty="0"/>
              <a:t>gospel</a:t>
            </a:r>
            <a:r>
              <a:rPr lang="en-US" sz="2000" i="1" dirty="0"/>
              <a:t> </a:t>
            </a:r>
            <a:r>
              <a:rPr lang="en-US" sz="2000" b="1" i="1" dirty="0"/>
              <a:t>of Christ</a:t>
            </a:r>
            <a:r>
              <a:rPr lang="en-US" sz="2000" i="1" dirty="0"/>
              <a:t>, for </a:t>
            </a:r>
            <a:r>
              <a:rPr lang="en-US" sz="2000" b="1" i="1" dirty="0"/>
              <a:t>it is the power of God to salvation for everyone</a:t>
            </a:r>
            <a:r>
              <a:rPr lang="en-US" sz="2000" i="1" dirty="0"/>
              <a:t> </a:t>
            </a:r>
            <a:r>
              <a:rPr lang="en-US" sz="2000" b="1" i="1" dirty="0"/>
              <a:t>who believes</a:t>
            </a:r>
            <a:r>
              <a:rPr lang="en-US" sz="2000" i="1" dirty="0"/>
              <a:t>, for the Jew first and also for the Greek.   For in it the </a:t>
            </a:r>
            <a:r>
              <a:rPr lang="en-US" sz="2000" b="1" i="1" dirty="0"/>
              <a:t>righteousness of God is revealed</a:t>
            </a:r>
            <a:r>
              <a:rPr lang="en-US" sz="2000" i="1" dirty="0"/>
              <a:t> </a:t>
            </a:r>
            <a:r>
              <a:rPr lang="en-US" sz="2000" b="1" i="1" dirty="0"/>
              <a:t>from faith to faith</a:t>
            </a:r>
            <a:r>
              <a:rPr lang="en-US" sz="2000" i="1" dirty="0"/>
              <a:t>; as it is written, ‘</a:t>
            </a:r>
            <a:r>
              <a:rPr lang="en-US" sz="2000" b="1" i="1" dirty="0"/>
              <a:t>The just shall live by faith</a:t>
            </a:r>
            <a:r>
              <a:rPr lang="en-US" sz="2000" i="1" dirty="0"/>
              <a:t>.””   </a:t>
            </a:r>
          </a:p>
          <a:p>
            <a:r>
              <a:rPr lang="en-US" sz="2000" i="1" dirty="0"/>
              <a:t>Romans 1:16-17</a:t>
            </a:r>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Substance of Truth</a:t>
            </a:r>
            <a:br>
              <a:rPr lang="en-US" dirty="0"/>
            </a:br>
            <a:r>
              <a:rPr lang="en-US" sz="2400" dirty="0">
                <a:solidFill>
                  <a:schemeClr val="tx2">
                    <a:lumMod val="60000"/>
                    <a:lumOff val="40000"/>
                  </a:schemeClr>
                </a:solidFill>
              </a:rPr>
              <a:t>A Spiritual Battleground – Freeing Captives of a Lie</a:t>
            </a:r>
          </a:p>
        </p:txBody>
      </p:sp>
      <p:sp>
        <p:nvSpPr>
          <p:cNvPr id="3" name="TextBox 2"/>
          <p:cNvSpPr txBox="1"/>
          <p:nvPr/>
        </p:nvSpPr>
        <p:spPr>
          <a:xfrm>
            <a:off x="533400" y="1143000"/>
            <a:ext cx="8001000" cy="5632311"/>
          </a:xfrm>
          <a:prstGeom prst="rect">
            <a:avLst/>
          </a:prstGeom>
          <a:noFill/>
        </p:spPr>
        <p:txBody>
          <a:bodyPr wrap="square" rtlCol="0">
            <a:spAutoFit/>
          </a:bodyPr>
          <a:lstStyle/>
          <a:p>
            <a:r>
              <a:rPr lang="en-US" sz="2000" i="1" dirty="0"/>
              <a:t>“Jesus said to him, ‘</a:t>
            </a:r>
            <a:r>
              <a:rPr lang="en-US" sz="2000" b="1" i="1" dirty="0"/>
              <a:t>I am the way, the truth, and the life.   No one comes to the Father except through Me.</a:t>
            </a:r>
            <a:r>
              <a:rPr lang="en-US" sz="2000" i="1" dirty="0"/>
              <a:t>’”   John 14:6</a:t>
            </a:r>
          </a:p>
          <a:p>
            <a:endParaRPr lang="en-US" sz="2000" i="1" dirty="0"/>
          </a:p>
          <a:p>
            <a:r>
              <a:rPr lang="en-US" sz="2000" i="1" dirty="0"/>
              <a:t>“…Attaining to all riches of the full assurance of understanding, to the knowledge of the mystery of God, </a:t>
            </a:r>
            <a:r>
              <a:rPr lang="en-US" sz="2000" b="1" i="1" dirty="0"/>
              <a:t>both of the Father and of Christ, in whom are hidden all the treasures of wisdom and knowledge </a:t>
            </a:r>
            <a:r>
              <a:rPr lang="en-US" sz="2000" i="1" dirty="0"/>
              <a:t>… For in Him dwells all the fullness of the Godhead bodily …”   </a:t>
            </a:r>
          </a:p>
          <a:p>
            <a:r>
              <a:rPr lang="en-US" sz="2000" i="1" dirty="0"/>
              <a:t>Colossians 2:2,3,9</a:t>
            </a:r>
          </a:p>
          <a:p>
            <a:endParaRPr lang="en-US" sz="2000" i="1" dirty="0"/>
          </a:p>
          <a:p>
            <a:r>
              <a:rPr lang="en-US" sz="2000" i="1" dirty="0"/>
              <a:t>“Do not think that I came to bring peace on earth.   I did not come to bring peace but a </a:t>
            </a:r>
            <a:r>
              <a:rPr lang="en-US" sz="2000" b="1" i="1" dirty="0"/>
              <a:t>sword</a:t>
            </a:r>
            <a:r>
              <a:rPr lang="en-US" sz="2000" i="1" dirty="0"/>
              <a:t>.”   Matthew 10:34</a:t>
            </a:r>
          </a:p>
          <a:p>
            <a:endParaRPr lang="en-US" sz="2000" i="1" dirty="0"/>
          </a:p>
          <a:p>
            <a:r>
              <a:rPr lang="en-US" sz="2000" i="1" dirty="0"/>
              <a:t>A servant of the Lord must not quarrel but be gentle to all, able to teach, patient, in humility </a:t>
            </a:r>
            <a:r>
              <a:rPr lang="en-US" sz="2000" b="1" i="1" dirty="0"/>
              <a:t>correcting those who are in opposition</a:t>
            </a:r>
            <a:r>
              <a:rPr lang="en-US" sz="2000" i="1" dirty="0"/>
              <a:t>, if God perhaps will grant them repentance, </a:t>
            </a:r>
            <a:r>
              <a:rPr lang="en-US" sz="2000" b="1" i="1" dirty="0"/>
              <a:t>so that they may know the truth</a:t>
            </a:r>
            <a:r>
              <a:rPr lang="en-US" sz="2000" i="1" dirty="0"/>
              <a:t>, and </a:t>
            </a:r>
            <a:r>
              <a:rPr lang="en-US" sz="2000" b="1" i="1" dirty="0"/>
              <a:t>that they may come to their senses and escape </a:t>
            </a:r>
            <a:r>
              <a:rPr lang="en-US" sz="2000" i="1" dirty="0"/>
              <a:t>the snare of the devil, </a:t>
            </a:r>
            <a:r>
              <a:rPr lang="en-US" sz="2000" b="1" i="1" dirty="0"/>
              <a:t>having been taken captive </a:t>
            </a:r>
            <a:r>
              <a:rPr lang="en-US" sz="2000" i="1" dirty="0"/>
              <a:t>by him to do his will.</a:t>
            </a:r>
          </a:p>
          <a:p>
            <a:r>
              <a:rPr lang="en-US" sz="2000" i="1" dirty="0"/>
              <a:t>2 Timothy 2:24-26</a:t>
            </a:r>
          </a:p>
        </p:txBody>
      </p:sp>
    </p:spTree>
    <p:extLst>
      <p:ext uri="{BB962C8B-B14F-4D97-AF65-F5344CB8AC3E}">
        <p14:creationId xmlns:p14="http://schemas.microsoft.com/office/powerpoint/2010/main" val="272732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Pagan Man</a:t>
            </a:r>
            <a:br>
              <a:rPr lang="en-US" dirty="0"/>
            </a:br>
            <a:r>
              <a:rPr lang="en-US" sz="2400" dirty="0">
                <a:solidFill>
                  <a:schemeClr val="tx2">
                    <a:lumMod val="60000"/>
                    <a:lumOff val="40000"/>
                  </a:schemeClr>
                </a:solidFill>
              </a:rPr>
              <a:t>“…who suppress the truth…”</a:t>
            </a:r>
          </a:p>
        </p:txBody>
      </p:sp>
      <p:sp>
        <p:nvSpPr>
          <p:cNvPr id="3" name="TextBox 2"/>
          <p:cNvSpPr txBox="1"/>
          <p:nvPr/>
        </p:nvSpPr>
        <p:spPr>
          <a:xfrm>
            <a:off x="457200" y="1310640"/>
            <a:ext cx="8001000" cy="4801314"/>
          </a:xfrm>
          <a:prstGeom prst="rect">
            <a:avLst/>
          </a:prstGeom>
          <a:noFill/>
        </p:spPr>
        <p:txBody>
          <a:bodyPr wrap="square" rtlCol="0">
            <a:spAutoFit/>
          </a:bodyPr>
          <a:lstStyle/>
          <a:p>
            <a:r>
              <a:rPr lang="en-US" i="1" dirty="0"/>
              <a:t>“For the wrath of God is revealed from heaven against all ungodliness and unrighteousness of men, </a:t>
            </a:r>
            <a:r>
              <a:rPr lang="en-US" b="1" i="1" dirty="0"/>
              <a:t>who suppress the truth in unrighteousness</a:t>
            </a:r>
            <a:r>
              <a:rPr lang="en-US" i="1" dirty="0"/>
              <a:t>, because what may be known of God is manifest in them, for God has shown it to them.   </a:t>
            </a:r>
          </a:p>
          <a:p>
            <a:endParaRPr lang="en-US" i="1" dirty="0"/>
          </a:p>
          <a:p>
            <a:r>
              <a:rPr lang="en-US" i="1" dirty="0"/>
              <a:t>For </a:t>
            </a:r>
            <a:r>
              <a:rPr lang="en-US" b="1" i="1" dirty="0"/>
              <a:t>since the creation of the world His invisible attributes are clearly seen</a:t>
            </a:r>
            <a:r>
              <a:rPr lang="en-US" i="1" dirty="0"/>
              <a:t>, being understood by the things that are made, even His eternal power and Godhead, so that </a:t>
            </a:r>
            <a:r>
              <a:rPr lang="en-US" b="1" i="1" dirty="0"/>
              <a:t>they are without excuse</a:t>
            </a:r>
            <a:r>
              <a:rPr lang="en-US" i="1" dirty="0"/>
              <a:t>, because, although they knew God, they did not glorify Him as God, nor were thankful, but became futile in their thoughts, and their foolish hearts were darkened.   </a:t>
            </a:r>
          </a:p>
          <a:p>
            <a:endParaRPr lang="en-US" i="1" dirty="0"/>
          </a:p>
          <a:p>
            <a:r>
              <a:rPr lang="en-US" b="1" i="1" dirty="0"/>
              <a:t>Professing to be wise, they became fools</a:t>
            </a:r>
            <a:r>
              <a:rPr lang="en-US" i="1" dirty="0"/>
              <a:t>, and changed the glory of the incorruptible God into an image made like corruptible man – and birds and four-footed animals and creeping things.”   </a:t>
            </a:r>
          </a:p>
          <a:p>
            <a:endParaRPr lang="en-US" i="1" dirty="0"/>
          </a:p>
          <a:p>
            <a:r>
              <a:rPr lang="en-US" i="1" dirty="0"/>
              <a:t>Romans 1:18-23</a:t>
            </a:r>
          </a:p>
          <a:p>
            <a:r>
              <a:rPr lang="en-US" i="1" dirty="0"/>
              <a:t>(Isaiah 44:14-20)</a:t>
            </a:r>
            <a:endParaRPr lang="en-US" dirty="0"/>
          </a:p>
        </p:txBody>
      </p:sp>
    </p:spTree>
    <p:extLst>
      <p:ext uri="{BB962C8B-B14F-4D97-AF65-F5344CB8AC3E}">
        <p14:creationId xmlns:p14="http://schemas.microsoft.com/office/powerpoint/2010/main" val="770969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5</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His Invisible Attributes </a:t>
            </a:r>
            <a:br>
              <a:rPr lang="en-US" dirty="0"/>
            </a:br>
            <a:r>
              <a:rPr lang="en-US" sz="2400" dirty="0">
                <a:solidFill>
                  <a:schemeClr val="tx2">
                    <a:lumMod val="60000"/>
                    <a:lumOff val="40000"/>
                  </a:schemeClr>
                </a:solidFill>
              </a:rPr>
              <a:t>Are Clearly Seen</a:t>
            </a:r>
          </a:p>
        </p:txBody>
      </p:sp>
      <p:sp>
        <p:nvSpPr>
          <p:cNvPr id="6" name="TextBox 5"/>
          <p:cNvSpPr txBox="1"/>
          <p:nvPr/>
        </p:nvSpPr>
        <p:spPr>
          <a:xfrm>
            <a:off x="521208" y="1447800"/>
            <a:ext cx="8001000" cy="4278094"/>
          </a:xfrm>
          <a:prstGeom prst="rect">
            <a:avLst/>
          </a:prstGeom>
          <a:noFill/>
        </p:spPr>
        <p:txBody>
          <a:bodyPr wrap="square" rtlCol="0">
            <a:spAutoFit/>
          </a:bodyPr>
          <a:lstStyle/>
          <a:p>
            <a:r>
              <a:rPr lang="en-US" sz="2800" i="1" dirty="0"/>
              <a:t>“The heavens </a:t>
            </a:r>
            <a:r>
              <a:rPr lang="en-US" sz="2800" b="1" i="1" dirty="0"/>
              <a:t>declare</a:t>
            </a:r>
            <a:r>
              <a:rPr lang="en-US" sz="2800" i="1" dirty="0"/>
              <a:t> the glory of God; </a:t>
            </a:r>
          </a:p>
          <a:p>
            <a:r>
              <a:rPr lang="en-US" sz="2800" i="1" dirty="0"/>
              <a:t>	And the firmament </a:t>
            </a:r>
            <a:r>
              <a:rPr lang="en-US" sz="2800" b="1" i="1" dirty="0"/>
              <a:t>shows</a:t>
            </a:r>
            <a:r>
              <a:rPr lang="en-US" sz="2800" i="1" dirty="0"/>
              <a:t> </a:t>
            </a:r>
            <a:r>
              <a:rPr lang="en-US" sz="2800" b="1" i="1" dirty="0"/>
              <a:t>His handiwork</a:t>
            </a:r>
            <a:r>
              <a:rPr lang="en-US" sz="2800" i="1" dirty="0"/>
              <a:t>.</a:t>
            </a:r>
          </a:p>
          <a:p>
            <a:r>
              <a:rPr lang="en-US" sz="2800" i="1" dirty="0"/>
              <a:t>Day unto day </a:t>
            </a:r>
            <a:r>
              <a:rPr lang="en-US" sz="2800" b="1" i="1" dirty="0"/>
              <a:t>utters speech</a:t>
            </a:r>
            <a:r>
              <a:rPr lang="en-US" sz="2800" i="1" dirty="0"/>
              <a:t>,</a:t>
            </a:r>
          </a:p>
          <a:p>
            <a:r>
              <a:rPr lang="en-US" sz="2800" i="1" dirty="0"/>
              <a:t>	And night unto night </a:t>
            </a:r>
            <a:r>
              <a:rPr lang="en-US" sz="2800" b="1" i="1" dirty="0"/>
              <a:t>reveals knowledge</a:t>
            </a:r>
            <a:r>
              <a:rPr lang="en-US" sz="2800" i="1" dirty="0"/>
              <a:t>.</a:t>
            </a:r>
          </a:p>
          <a:p>
            <a:r>
              <a:rPr lang="en-US" sz="2800" i="1" dirty="0"/>
              <a:t>There is no </a:t>
            </a:r>
            <a:r>
              <a:rPr lang="en-US" sz="2800" b="1" i="1" dirty="0"/>
              <a:t>speech</a:t>
            </a:r>
            <a:r>
              <a:rPr lang="en-US" sz="2800" i="1" dirty="0"/>
              <a:t> nor </a:t>
            </a:r>
            <a:r>
              <a:rPr lang="en-US" sz="2800" b="1" i="1" dirty="0"/>
              <a:t>language </a:t>
            </a:r>
          </a:p>
          <a:p>
            <a:r>
              <a:rPr lang="en-US" sz="2800" i="1" dirty="0"/>
              <a:t>	Where their </a:t>
            </a:r>
            <a:r>
              <a:rPr lang="en-US" sz="2800" b="1" i="1" dirty="0"/>
              <a:t>voice</a:t>
            </a:r>
            <a:r>
              <a:rPr lang="en-US" sz="2800" i="1" dirty="0"/>
              <a:t> is not heard.</a:t>
            </a:r>
          </a:p>
          <a:p>
            <a:r>
              <a:rPr lang="en-US" sz="2800" i="1" dirty="0"/>
              <a:t>Their </a:t>
            </a:r>
            <a:r>
              <a:rPr lang="en-US" sz="2800" b="1" i="1" dirty="0"/>
              <a:t>line</a:t>
            </a:r>
            <a:r>
              <a:rPr lang="en-US" sz="2800" i="1" dirty="0"/>
              <a:t> has gone out through all the earth,</a:t>
            </a:r>
          </a:p>
          <a:p>
            <a:r>
              <a:rPr lang="en-US" sz="2800" i="1" dirty="0"/>
              <a:t>	And their </a:t>
            </a:r>
            <a:r>
              <a:rPr lang="en-US" sz="2800" b="1" i="1" dirty="0"/>
              <a:t>words</a:t>
            </a:r>
            <a:r>
              <a:rPr lang="en-US" sz="2800" i="1" dirty="0"/>
              <a:t> to the end of the world.”</a:t>
            </a:r>
          </a:p>
          <a:p>
            <a:endParaRPr lang="en-US" sz="2000" i="1" dirty="0"/>
          </a:p>
          <a:p>
            <a:r>
              <a:rPr lang="en-US" sz="2800" i="1" dirty="0"/>
              <a:t>Psalm 19:1-4</a:t>
            </a:r>
          </a:p>
        </p:txBody>
      </p:sp>
    </p:spTree>
    <p:extLst>
      <p:ext uri="{BB962C8B-B14F-4D97-AF65-F5344CB8AC3E}">
        <p14:creationId xmlns:p14="http://schemas.microsoft.com/office/powerpoint/2010/main" val="4055773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a:xfrm>
            <a:off x="4267200" y="5831900"/>
            <a:ext cx="685800" cy="365125"/>
          </a:xfrm>
        </p:spPr>
        <p:txBody>
          <a:bodyPr/>
          <a:lstStyle/>
          <a:p>
            <a:pPr>
              <a:defRPr/>
            </a:pPr>
            <a:fld id="{90314B7E-EB23-4DAB-A3F0-0F7BBB6CDA33}" type="slidenum">
              <a:rPr lang="en-US" smtClean="0"/>
              <a:pPr>
                <a:defRPr/>
              </a:pPr>
              <a:t>6</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Evidence of His Handiwork</a:t>
            </a:r>
            <a:br>
              <a:rPr lang="en-US" dirty="0"/>
            </a:br>
            <a:r>
              <a:rPr lang="en-US" sz="2400" dirty="0">
                <a:solidFill>
                  <a:schemeClr val="tx2">
                    <a:lumMod val="60000"/>
                    <a:lumOff val="40000"/>
                  </a:schemeClr>
                </a:solidFill>
              </a:rPr>
              <a:t>Creative Design – Hierarchy of Information Systems</a:t>
            </a:r>
          </a:p>
        </p:txBody>
      </p:sp>
      <p:sp>
        <p:nvSpPr>
          <p:cNvPr id="6" name="TextBox 5"/>
          <p:cNvSpPr txBox="1"/>
          <p:nvPr/>
        </p:nvSpPr>
        <p:spPr>
          <a:xfrm>
            <a:off x="521208" y="1301115"/>
            <a:ext cx="8001000" cy="584775"/>
          </a:xfrm>
          <a:prstGeom prst="rect">
            <a:avLst/>
          </a:prstGeom>
          <a:noFill/>
        </p:spPr>
        <p:txBody>
          <a:bodyPr wrap="square" rtlCol="0" anchor="ctr">
            <a:spAutoFit/>
          </a:bodyPr>
          <a:lstStyle/>
          <a:p>
            <a:r>
              <a:rPr lang="en-US" sz="3200" b="1" i="1" dirty="0"/>
              <a:t>Open Loop Systems</a:t>
            </a:r>
          </a:p>
        </p:txBody>
      </p:sp>
      <p:sp>
        <p:nvSpPr>
          <p:cNvPr id="7" name="TextBox 6"/>
          <p:cNvSpPr txBox="1"/>
          <p:nvPr/>
        </p:nvSpPr>
        <p:spPr>
          <a:xfrm>
            <a:off x="521208" y="1933832"/>
            <a:ext cx="8001000" cy="584775"/>
          </a:xfrm>
          <a:prstGeom prst="rect">
            <a:avLst/>
          </a:prstGeom>
          <a:noFill/>
        </p:spPr>
        <p:txBody>
          <a:bodyPr wrap="square" rtlCol="0" anchor="ctr">
            <a:spAutoFit/>
          </a:bodyPr>
          <a:lstStyle/>
          <a:p>
            <a:r>
              <a:rPr lang="en-US" sz="3200" b="1" i="1" dirty="0"/>
              <a:t>Closed Loop Systems</a:t>
            </a:r>
          </a:p>
        </p:txBody>
      </p:sp>
      <p:sp>
        <p:nvSpPr>
          <p:cNvPr id="9" name="TextBox 8"/>
          <p:cNvSpPr txBox="1"/>
          <p:nvPr/>
        </p:nvSpPr>
        <p:spPr>
          <a:xfrm>
            <a:off x="521208" y="2589096"/>
            <a:ext cx="8001000" cy="584775"/>
          </a:xfrm>
          <a:prstGeom prst="rect">
            <a:avLst/>
          </a:prstGeom>
          <a:noFill/>
        </p:spPr>
        <p:txBody>
          <a:bodyPr wrap="square" rtlCol="0" anchor="ctr">
            <a:spAutoFit/>
          </a:bodyPr>
          <a:lstStyle/>
          <a:p>
            <a:r>
              <a:rPr lang="en-US" sz="3200" b="1" i="1" dirty="0"/>
              <a:t>Adaptive Systems</a:t>
            </a:r>
          </a:p>
        </p:txBody>
      </p:sp>
      <p:sp>
        <p:nvSpPr>
          <p:cNvPr id="10" name="TextBox 9"/>
          <p:cNvSpPr txBox="1"/>
          <p:nvPr/>
        </p:nvSpPr>
        <p:spPr>
          <a:xfrm>
            <a:off x="521208" y="3258978"/>
            <a:ext cx="8001000" cy="2739211"/>
          </a:xfrm>
          <a:prstGeom prst="rect">
            <a:avLst/>
          </a:prstGeom>
          <a:noFill/>
        </p:spPr>
        <p:txBody>
          <a:bodyPr wrap="square" rtlCol="0" anchor="ctr">
            <a:spAutoFit/>
          </a:bodyPr>
          <a:lstStyle/>
          <a:p>
            <a:r>
              <a:rPr lang="en-US" sz="3200" b="1" i="1" dirty="0"/>
              <a:t>Intelligent Systems</a:t>
            </a:r>
          </a:p>
          <a:p>
            <a:pPr marL="457200" indent="-457200">
              <a:buFont typeface="Arial" pitchFamily="34" charset="0"/>
              <a:buChar char="•"/>
            </a:pPr>
            <a:r>
              <a:rPr lang="en-US" sz="2800" b="1" i="1" dirty="0"/>
              <a:t>Self-Modifying</a:t>
            </a:r>
          </a:p>
          <a:p>
            <a:pPr marL="457200" indent="-457200">
              <a:buFont typeface="Arial" pitchFamily="34" charset="0"/>
              <a:buChar char="•"/>
            </a:pPr>
            <a:r>
              <a:rPr lang="en-US" sz="2800" b="1" i="1" dirty="0"/>
              <a:t>Self-Programming</a:t>
            </a:r>
          </a:p>
          <a:p>
            <a:pPr marL="457200" indent="-457200">
              <a:buFont typeface="Arial" pitchFamily="34" charset="0"/>
              <a:buChar char="•"/>
            </a:pPr>
            <a:r>
              <a:rPr lang="en-US" sz="2800" b="1" i="1" dirty="0"/>
              <a:t>Self-Diagnosing</a:t>
            </a:r>
          </a:p>
          <a:p>
            <a:pPr marL="457200" indent="-457200">
              <a:buFont typeface="Arial" pitchFamily="34" charset="0"/>
              <a:buChar char="•"/>
            </a:pPr>
            <a:r>
              <a:rPr lang="en-US" sz="2800" b="1" i="1" dirty="0"/>
              <a:t>Self-Repairing</a:t>
            </a:r>
          </a:p>
          <a:p>
            <a:pPr marL="457200" indent="-457200">
              <a:buFont typeface="Arial" pitchFamily="34" charset="0"/>
              <a:buChar char="•"/>
            </a:pPr>
            <a:r>
              <a:rPr lang="en-US" sz="2800" b="1" i="1" dirty="0"/>
              <a:t>Self-Reproducing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3408" y="3657600"/>
            <a:ext cx="1828800" cy="2824360"/>
          </a:xfrm>
          <a:prstGeom prst="rect">
            <a:avLst/>
          </a:prstGeom>
        </p:spPr>
      </p:pic>
    </p:spTree>
    <p:extLst>
      <p:ext uri="{BB962C8B-B14F-4D97-AF65-F5344CB8AC3E}">
        <p14:creationId xmlns:p14="http://schemas.microsoft.com/office/powerpoint/2010/main" val="40557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42"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
            <a:ext cx="8229600" cy="1143000"/>
          </a:xfrm>
        </p:spPr>
        <p:txBody>
          <a:bodyPr/>
          <a:lstStyle/>
          <a:p>
            <a:r>
              <a:rPr lang="en-US" dirty="0"/>
              <a:t>Evidence of His Handiwork (2)</a:t>
            </a:r>
            <a:br>
              <a:rPr lang="en-US" dirty="0"/>
            </a:br>
            <a:r>
              <a:rPr lang="en-US" sz="2400" dirty="0">
                <a:solidFill>
                  <a:schemeClr val="tx2">
                    <a:lumMod val="60000"/>
                    <a:lumOff val="40000"/>
                  </a:schemeClr>
                </a:solidFill>
              </a:rPr>
              <a:t>Probability Reveals Knowledge</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7</a:t>
            </a:fld>
            <a:endParaRPr lang="en-US" dirty="0"/>
          </a:p>
        </p:txBody>
      </p:sp>
      <p:sp>
        <p:nvSpPr>
          <p:cNvPr id="5" name="TextBox 4"/>
          <p:cNvSpPr txBox="1"/>
          <p:nvPr/>
        </p:nvSpPr>
        <p:spPr>
          <a:xfrm>
            <a:off x="457200" y="1122680"/>
            <a:ext cx="8229600" cy="5632311"/>
          </a:xfrm>
          <a:prstGeom prst="rect">
            <a:avLst/>
          </a:prstGeom>
          <a:noFill/>
        </p:spPr>
        <p:txBody>
          <a:bodyPr wrap="square" rtlCol="0">
            <a:spAutoFit/>
          </a:bodyPr>
          <a:lstStyle/>
          <a:p>
            <a:r>
              <a:rPr lang="en-US" sz="2000" dirty="0"/>
              <a:t>“Yes, but you must wager. There is no choice, you are already committed. Which will you choose then? </a:t>
            </a:r>
          </a:p>
          <a:p>
            <a:endParaRPr lang="en-US" sz="2000" dirty="0"/>
          </a:p>
          <a:p>
            <a:r>
              <a:rPr lang="en-US" sz="2000" dirty="0"/>
              <a:t>Let us see: since a choice must be made, let us see which offers you the least interest. You have two things to lose: the true and the good; and two things to stake: your reason and your will; and, your knowledge and your happiness.</a:t>
            </a:r>
          </a:p>
          <a:p>
            <a:r>
              <a:rPr lang="en-US" sz="2000" dirty="0"/>
              <a:t> </a:t>
            </a:r>
          </a:p>
          <a:p>
            <a:r>
              <a:rPr lang="en-US" sz="2000" dirty="0"/>
              <a:t>Your nature has two things to avoid: error and wretchedness. Since you must necessarily choose, your reason is no more affronted by choosing one rather than the other. That is one point cleared up.</a:t>
            </a:r>
          </a:p>
          <a:p>
            <a:endParaRPr lang="en-US" sz="2000" dirty="0"/>
          </a:p>
          <a:p>
            <a:r>
              <a:rPr lang="en-US" sz="2000" dirty="0"/>
              <a:t>But your happiness? Let us weigh up the gain and the loss involved</a:t>
            </a:r>
          </a:p>
          <a:p>
            <a:r>
              <a:rPr lang="en-US" sz="2000" dirty="0"/>
              <a:t>in calling heads that God exists. </a:t>
            </a:r>
            <a:r>
              <a:rPr lang="en-US" sz="2000" b="1" dirty="0"/>
              <a:t>Let us assess the two cases: if you win you win everything, if you lose you lose nothing. Do not hesitate then; wager that he does exist.</a:t>
            </a:r>
            <a:r>
              <a:rPr lang="en-US" sz="2000" dirty="0"/>
              <a:t>”</a:t>
            </a:r>
          </a:p>
          <a:p>
            <a:endParaRPr lang="en-US" sz="2000" dirty="0"/>
          </a:p>
          <a:p>
            <a:r>
              <a:rPr lang="en-US" sz="2000" b="1" dirty="0"/>
              <a:t>Pascal’s Wager, Blaise Pascal, </a:t>
            </a:r>
            <a:r>
              <a:rPr lang="en-US" sz="2000" b="1" dirty="0" err="1"/>
              <a:t>Pensées</a:t>
            </a:r>
            <a:r>
              <a:rPr lang="en-US" sz="2000" b="1" dirty="0"/>
              <a:t>, 1670</a:t>
            </a:r>
          </a:p>
        </p:txBody>
      </p:sp>
    </p:spTree>
    <p:extLst>
      <p:ext uri="{BB962C8B-B14F-4D97-AF65-F5344CB8AC3E}">
        <p14:creationId xmlns:p14="http://schemas.microsoft.com/office/powerpoint/2010/main" val="25701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
            <a:ext cx="8229600" cy="1143000"/>
          </a:xfrm>
        </p:spPr>
        <p:txBody>
          <a:bodyPr/>
          <a:lstStyle/>
          <a:p>
            <a:r>
              <a:rPr lang="en-US" dirty="0"/>
              <a:t>Evidence of His Handiwork (2)</a:t>
            </a:r>
            <a:br>
              <a:rPr lang="en-US" dirty="0"/>
            </a:br>
            <a:r>
              <a:rPr lang="en-US" sz="2400" dirty="0">
                <a:solidFill>
                  <a:schemeClr val="tx2">
                    <a:lumMod val="60000"/>
                    <a:lumOff val="40000"/>
                  </a:schemeClr>
                </a:solidFill>
              </a:rPr>
              <a:t>Probability Reveals Knowledge</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8</a:t>
            </a:fld>
            <a:endParaRPr lang="en-US"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2815" y="1136405"/>
            <a:ext cx="3834384" cy="272591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7400" y="3889248"/>
            <a:ext cx="4648200" cy="2849232"/>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67199" y="1112520"/>
            <a:ext cx="4731103" cy="2545080"/>
          </a:xfrm>
          <a:prstGeom prst="rect">
            <a:avLst/>
          </a:prstGeom>
        </p:spPr>
      </p:pic>
    </p:spTree>
    <p:extLst>
      <p:ext uri="{BB962C8B-B14F-4D97-AF65-F5344CB8AC3E}">
        <p14:creationId xmlns:p14="http://schemas.microsoft.com/office/powerpoint/2010/main" val="87289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
            <a:ext cx="8229600" cy="1143000"/>
          </a:xfrm>
        </p:spPr>
        <p:txBody>
          <a:bodyPr/>
          <a:lstStyle/>
          <a:p>
            <a:r>
              <a:rPr lang="en-US" dirty="0"/>
              <a:t>Evidence of His Handiwork (2)</a:t>
            </a:r>
            <a:br>
              <a:rPr lang="en-US" dirty="0"/>
            </a:br>
            <a:r>
              <a:rPr lang="en-US" sz="2400" dirty="0">
                <a:solidFill>
                  <a:schemeClr val="tx2">
                    <a:lumMod val="60000"/>
                    <a:lumOff val="40000"/>
                  </a:schemeClr>
                </a:solidFill>
              </a:rPr>
              <a:t>Probability Reveals Knowledge</a:t>
            </a:r>
          </a:p>
        </p:txBody>
      </p:sp>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9</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143000"/>
            <a:ext cx="3276600" cy="32766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0600" y="1109472"/>
            <a:ext cx="3200400" cy="3200400"/>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304800" y="4541127"/>
                <a:ext cx="8229600" cy="2246769"/>
              </a:xfrm>
              <a:prstGeom prst="rect">
                <a:avLst/>
              </a:prstGeom>
              <a:noFill/>
            </p:spPr>
            <p:txBody>
              <a:bodyPr wrap="square" rtlCol="0">
                <a:spAutoFit/>
              </a:bodyPr>
              <a:lstStyle/>
              <a:p>
                <a:r>
                  <a:rPr lang="en-US" sz="2000" b="0" i="1" dirty="0">
                    <a:latin typeface="Cambria Math" panose="02040503050406030204" pitchFamily="18" charset="0"/>
                  </a:rPr>
                  <a:t>What is the probability  that a  random sequence of  molecules spells-out the protein </a:t>
                </a:r>
                <a:r>
                  <a:rPr lang="en-US" sz="2000" b="1" i="1" dirty="0">
                    <a:latin typeface="Cambria Math" panose="02040503050406030204" pitchFamily="18" charset="0"/>
                  </a:rPr>
                  <a:t>Hemoglobin</a:t>
                </a:r>
                <a:r>
                  <a:rPr lang="en-US" sz="2000" b="0" i="1" dirty="0">
                    <a:latin typeface="Cambria Math" panose="02040503050406030204" pitchFamily="18" charset="0"/>
                  </a:rPr>
                  <a:t> using the 20 symbols of amino acids code?</a:t>
                </a:r>
              </a:p>
              <a:p>
                <a:endParaRPr lang="en-US" sz="2000" i="1" dirty="0">
                  <a:latin typeface="Cambria Math" panose="02040503050406030204" pitchFamily="18" charset="0"/>
                </a:endParaRPr>
              </a:p>
              <a:p>
                <a:r>
                  <a:rPr lang="en-US" sz="2000" b="0" i="1" dirty="0">
                    <a:latin typeface="Cambria Math" panose="02040503050406030204" pitchFamily="18" charset="0"/>
                  </a:rPr>
                  <a:t>		           547  molecules, 20 Symbols (amino acids)</a:t>
                </a:r>
              </a:p>
              <a:p>
                <a:endParaRPr lang="en-US"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𝟐𝟎</m:t>
                          </m:r>
                        </m:e>
                        <m:sup>
                          <m:r>
                            <a:rPr lang="en-US" sz="2000" b="1" i="1" smtClean="0">
                              <a:latin typeface="Cambria Math" panose="02040503050406030204" pitchFamily="18" charset="0"/>
                            </a:rPr>
                            <m:t>−</m:t>
                          </m:r>
                          <m:r>
                            <a:rPr lang="en-US" sz="2000" b="1" i="1" smtClean="0">
                              <a:latin typeface="Cambria Math" panose="02040503050406030204" pitchFamily="18" charset="0"/>
                            </a:rPr>
                            <m:t>𝟓𝟒𝟕</m:t>
                          </m:r>
                        </m:sup>
                      </m:sSup>
                      <m:r>
                        <a:rPr lang="en-US" sz="2000" b="0" i="1" smtClean="0">
                          <a:latin typeface="Cambria Math" panose="02040503050406030204" pitchFamily="18" charset="0"/>
                        </a:rPr>
                        <m:t>=</m:t>
                      </m:r>
                      <m:r>
                        <a:rPr lang="en-US" sz="2000" b="1" i="1" smtClean="0">
                          <a:latin typeface="Cambria Math" panose="02040503050406030204" pitchFamily="18" charset="0"/>
                        </a:rPr>
                        <m:t>𝒂𝒑𝒑𝒓𝒐𝒙𝒊𝒎𝒂𝒕𝒆𝒍𝒚</m:t>
                      </m:r>
                      <m:r>
                        <a:rPr lang="en-US" sz="2000" b="1" i="1" smtClean="0">
                          <a:latin typeface="Cambria Math" panose="02040503050406030204" pitchFamily="18" charset="0"/>
                        </a:rPr>
                        <m:t> </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𝟏𝟎</m:t>
                          </m:r>
                        </m:e>
                        <m:sup>
                          <m:r>
                            <a:rPr lang="en-US" sz="2000" b="1" i="1" smtClean="0">
                              <a:latin typeface="Cambria Math" panose="02040503050406030204" pitchFamily="18" charset="0"/>
                            </a:rPr>
                            <m:t>−</m:t>
                          </m:r>
                          <m:r>
                            <a:rPr lang="en-US" sz="2000" b="1" i="1" smtClean="0">
                              <a:latin typeface="Cambria Math" panose="02040503050406030204" pitchFamily="18" charset="0"/>
                            </a:rPr>
                            <m:t>𝟔𝟓𝟎</m:t>
                          </m:r>
                        </m:sup>
                      </m:sSup>
                    </m:oMath>
                  </m:oMathPara>
                </a14:m>
                <a:endParaRPr lang="en-US" sz="2000" b="1" dirty="0"/>
              </a:p>
              <a:p>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304800" y="4541127"/>
                <a:ext cx="8229600" cy="2246769"/>
              </a:xfrm>
              <a:prstGeom prst="rect">
                <a:avLst/>
              </a:prstGeom>
              <a:blipFill rotWithShape="0">
                <a:blip r:embed="rId5"/>
                <a:stretch>
                  <a:fillRect l="-741" t="-1626"/>
                </a:stretch>
              </a:blipFill>
            </p:spPr>
            <p:txBody>
              <a:bodyPr/>
              <a:lstStyle/>
              <a:p>
                <a:r>
                  <a:rPr lang="en-US">
                    <a:noFill/>
                  </a:rPr>
                  <a:t> </a:t>
                </a:r>
              </a:p>
            </p:txBody>
          </p:sp>
        </mc:Fallback>
      </mc:AlternateContent>
    </p:spTree>
    <p:extLst>
      <p:ext uri="{BB962C8B-B14F-4D97-AF65-F5344CB8AC3E}">
        <p14:creationId xmlns:p14="http://schemas.microsoft.com/office/powerpoint/2010/main" val="224559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10</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Judgment with Cause</a:t>
            </a:r>
            <a:br>
              <a:rPr lang="en-US" dirty="0"/>
            </a:br>
            <a:r>
              <a:rPr lang="en-US" sz="2400" dirty="0">
                <a:solidFill>
                  <a:schemeClr val="tx2">
                    <a:lumMod val="60000"/>
                    <a:lumOff val="40000"/>
                  </a:schemeClr>
                </a:solidFill>
              </a:rPr>
              <a:t>Three bases for His judgment of the Pagan world…</a:t>
            </a:r>
          </a:p>
        </p:txBody>
      </p:sp>
      <p:sp>
        <p:nvSpPr>
          <p:cNvPr id="6" name="TextBox 5"/>
          <p:cNvSpPr txBox="1"/>
          <p:nvPr/>
        </p:nvSpPr>
        <p:spPr>
          <a:xfrm>
            <a:off x="533400" y="1447800"/>
            <a:ext cx="8001000" cy="400110"/>
          </a:xfrm>
          <a:prstGeom prst="rect">
            <a:avLst/>
          </a:prstGeom>
          <a:noFill/>
        </p:spPr>
        <p:txBody>
          <a:bodyPr wrap="square" rtlCol="0">
            <a:spAutoFit/>
          </a:bodyPr>
          <a:lstStyle/>
          <a:p>
            <a:r>
              <a:rPr lang="en-US" sz="2000" i="1" dirty="0"/>
              <a:t>For Suppressing God’s Truth (v.18)</a:t>
            </a:r>
          </a:p>
        </p:txBody>
      </p:sp>
      <p:sp>
        <p:nvSpPr>
          <p:cNvPr id="7" name="TextBox 6"/>
          <p:cNvSpPr txBox="1"/>
          <p:nvPr/>
        </p:nvSpPr>
        <p:spPr>
          <a:xfrm>
            <a:off x="521208" y="2080517"/>
            <a:ext cx="8001000" cy="400110"/>
          </a:xfrm>
          <a:prstGeom prst="rect">
            <a:avLst/>
          </a:prstGeom>
          <a:noFill/>
        </p:spPr>
        <p:txBody>
          <a:bodyPr wrap="square" rtlCol="0">
            <a:spAutoFit/>
          </a:bodyPr>
          <a:lstStyle/>
          <a:p>
            <a:r>
              <a:rPr lang="en-US" sz="2000" i="1" dirty="0"/>
              <a:t>For Ignoring God’s Revelation (v.19-20)</a:t>
            </a:r>
          </a:p>
        </p:txBody>
      </p:sp>
      <p:sp>
        <p:nvSpPr>
          <p:cNvPr id="9" name="TextBox 8"/>
          <p:cNvSpPr txBox="1"/>
          <p:nvPr/>
        </p:nvSpPr>
        <p:spPr>
          <a:xfrm>
            <a:off x="521208" y="2667000"/>
            <a:ext cx="8001000" cy="400110"/>
          </a:xfrm>
          <a:prstGeom prst="rect">
            <a:avLst/>
          </a:prstGeom>
          <a:noFill/>
        </p:spPr>
        <p:txBody>
          <a:bodyPr wrap="square" rtlCol="0">
            <a:spAutoFit/>
          </a:bodyPr>
          <a:lstStyle/>
          <a:p>
            <a:r>
              <a:rPr lang="en-US" sz="2000" i="1" dirty="0"/>
              <a:t>For Perverting God’s Glory (v.21-23)</a:t>
            </a:r>
          </a:p>
        </p:txBody>
      </p:sp>
    </p:spTree>
    <p:extLst>
      <p:ext uri="{BB962C8B-B14F-4D97-AF65-F5344CB8AC3E}">
        <p14:creationId xmlns:p14="http://schemas.microsoft.com/office/powerpoint/2010/main" val="40557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11</a:t>
            </a:fld>
            <a:endParaRPr lang="en-US" dirty="0"/>
          </a:p>
        </p:txBody>
      </p:sp>
      <p:sp>
        <p:nvSpPr>
          <p:cNvPr id="5" name="Title 1"/>
          <p:cNvSpPr txBox="1">
            <a:spLocks/>
          </p:cNvSpPr>
          <p:nvPr/>
        </p:nvSpPr>
        <p:spPr bwMode="auto">
          <a:xfrm>
            <a:off x="381000" y="-46495"/>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Judgment with Cause</a:t>
            </a:r>
            <a:br>
              <a:rPr lang="en-US" dirty="0"/>
            </a:br>
            <a:r>
              <a:rPr lang="en-US" sz="2400" dirty="0">
                <a:solidFill>
                  <a:schemeClr val="tx2">
                    <a:lumMod val="60000"/>
                    <a:lumOff val="40000"/>
                  </a:schemeClr>
                </a:solidFill>
              </a:rPr>
              <a:t>Ignoring God’s Revelation</a:t>
            </a:r>
          </a:p>
        </p:txBody>
      </p:sp>
      <p:sp>
        <p:nvSpPr>
          <p:cNvPr id="8" name="TextBox 7"/>
          <p:cNvSpPr txBox="1"/>
          <p:nvPr/>
        </p:nvSpPr>
        <p:spPr>
          <a:xfrm>
            <a:off x="486337" y="1195953"/>
            <a:ext cx="8001000" cy="5262979"/>
          </a:xfrm>
          <a:prstGeom prst="rect">
            <a:avLst/>
          </a:prstGeom>
          <a:noFill/>
        </p:spPr>
        <p:txBody>
          <a:bodyPr wrap="square" rtlCol="0">
            <a:spAutoFit/>
          </a:bodyPr>
          <a:lstStyle/>
          <a:p>
            <a:r>
              <a:rPr lang="en-US" sz="2800" dirty="0"/>
              <a:t>The witness to God in nature is so clear and so constant that ignoring it is indefensible.</a:t>
            </a:r>
          </a:p>
          <a:p>
            <a:pPr marL="457200" indent="-457200">
              <a:buFont typeface="Arial" pitchFamily="34" charset="0"/>
              <a:buChar char="•"/>
            </a:pPr>
            <a:r>
              <a:rPr lang="en-US" sz="2800" dirty="0"/>
              <a:t>The pagan man’s condemnation is based not on their rejecting Christ of whom they have not heard,</a:t>
            </a:r>
          </a:p>
          <a:p>
            <a:pPr marL="457200" indent="-457200">
              <a:buFont typeface="Arial" pitchFamily="34" charset="0"/>
              <a:buChar char="•"/>
            </a:pPr>
            <a:r>
              <a:rPr lang="en-US" sz="2800" b="1" dirty="0"/>
              <a:t>But sinning against the Light that they do have</a:t>
            </a:r>
            <a:r>
              <a:rPr lang="en-US" sz="2800" dirty="0"/>
              <a:t>. </a:t>
            </a:r>
            <a:r>
              <a:rPr lang="en-US" sz="2800" i="1" dirty="0"/>
              <a:t>  2 Corinthians 8:12</a:t>
            </a:r>
          </a:p>
          <a:p>
            <a:endParaRPr lang="en-US" sz="2800" i="1" dirty="0"/>
          </a:p>
          <a:p>
            <a:r>
              <a:rPr lang="en-US" sz="2800" dirty="0"/>
              <a:t>Examples:</a:t>
            </a:r>
          </a:p>
          <a:p>
            <a:pPr marL="457200" indent="-457200">
              <a:buFont typeface="Arial" pitchFamily="34" charset="0"/>
              <a:buChar char="•"/>
            </a:pPr>
            <a:r>
              <a:rPr lang="en-US" sz="2800" dirty="0"/>
              <a:t>Pharaoh</a:t>
            </a:r>
            <a:r>
              <a:rPr lang="en-US" sz="2800" i="1" dirty="0"/>
              <a:t>, Exodus 10:16</a:t>
            </a:r>
          </a:p>
          <a:p>
            <a:pPr marL="457200" indent="-457200">
              <a:buFont typeface="Arial" pitchFamily="34" charset="0"/>
              <a:buChar char="•"/>
            </a:pPr>
            <a:r>
              <a:rPr lang="en-US" sz="2800" dirty="0"/>
              <a:t>Philistines</a:t>
            </a:r>
            <a:r>
              <a:rPr lang="en-US" sz="2800" i="1" dirty="0"/>
              <a:t>, 1 Samuel 4:7,8; 5:7,8,11</a:t>
            </a:r>
          </a:p>
          <a:p>
            <a:pPr marL="457200" indent="-457200">
              <a:buFont typeface="Arial" pitchFamily="34" charset="0"/>
              <a:buChar char="•"/>
            </a:pPr>
            <a:r>
              <a:rPr lang="en-US" sz="2800" dirty="0"/>
              <a:t>King of Nineveh</a:t>
            </a:r>
            <a:r>
              <a:rPr lang="en-US" sz="2800" i="1" dirty="0"/>
              <a:t>, Jonah 3:7-9</a:t>
            </a:r>
          </a:p>
        </p:txBody>
      </p:sp>
    </p:spTree>
    <p:extLst>
      <p:ext uri="{BB962C8B-B14F-4D97-AF65-F5344CB8AC3E}">
        <p14:creationId xmlns:p14="http://schemas.microsoft.com/office/powerpoint/2010/main" val="4055773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Origins (Where do we come from?)</a:t>
            </a:r>
            <a:br>
              <a:rPr lang="en-US" sz="3600" dirty="0"/>
            </a:br>
            <a:r>
              <a:rPr lang="en-US" sz="2400" dirty="0">
                <a:solidFill>
                  <a:schemeClr val="tx2">
                    <a:lumMod val="60000"/>
                    <a:lumOff val="40000"/>
                  </a:schemeClr>
                </a:solidFill>
              </a:rPr>
              <a:t>Acknowledging God as Creator</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066800"/>
            <a:ext cx="8686800" cy="5355312"/>
          </a:xfrm>
          <a:prstGeom prst="rect">
            <a:avLst/>
          </a:prstGeom>
          <a:noFill/>
        </p:spPr>
        <p:txBody>
          <a:bodyPr wrap="square">
            <a:spAutoFit/>
          </a:bodyPr>
          <a:lstStyle/>
          <a:p>
            <a:r>
              <a:rPr lang="en-US" b="1" i="1" dirty="0">
                <a:latin typeface="+mn-lt"/>
              </a:rPr>
              <a:t>Psalm 8:3-4</a:t>
            </a:r>
            <a:r>
              <a:rPr lang="en-US" i="1" dirty="0">
                <a:latin typeface="+mn-lt"/>
              </a:rPr>
              <a:t>  </a:t>
            </a:r>
            <a:r>
              <a:rPr lang="en-US" i="1" u="sng" dirty="0">
                <a:latin typeface="+mn-lt"/>
              </a:rPr>
              <a:t>When I consider Your heavens, the work of Your fingers</a:t>
            </a:r>
            <a:r>
              <a:rPr lang="en-US" i="1" dirty="0">
                <a:latin typeface="+mn-lt"/>
              </a:rPr>
              <a:t>, The moon and the stars, which You have ordained, What is man that You are mindful of him, And the son of man that You visit him? </a:t>
            </a:r>
          </a:p>
          <a:p>
            <a:endParaRPr lang="en-US" b="1" i="1" dirty="0">
              <a:latin typeface="+mn-lt"/>
            </a:endParaRPr>
          </a:p>
          <a:p>
            <a:r>
              <a:rPr lang="en-US" b="1" i="1" dirty="0">
                <a:latin typeface="+mn-lt"/>
              </a:rPr>
              <a:t>Psalm 19:1-2  </a:t>
            </a:r>
            <a:r>
              <a:rPr lang="en-US" i="1" u="sng" dirty="0">
                <a:latin typeface="+mn-lt"/>
              </a:rPr>
              <a:t>The heavens declare the glory of  God</a:t>
            </a:r>
            <a:r>
              <a:rPr lang="en-US" i="1" dirty="0">
                <a:latin typeface="+mn-lt"/>
              </a:rPr>
              <a:t>; And the firmament shows His handiwork. Day unto day utters speech, And night unto night reveals knowledge. </a:t>
            </a:r>
          </a:p>
          <a:p>
            <a:endParaRPr lang="en-US" i="1" dirty="0">
              <a:latin typeface="+mn-lt"/>
            </a:endParaRPr>
          </a:p>
          <a:p>
            <a:r>
              <a:rPr lang="en-US" b="1" i="1" dirty="0">
                <a:latin typeface="+mn-lt"/>
              </a:rPr>
              <a:t>Psalm 24:1-2  </a:t>
            </a:r>
            <a:r>
              <a:rPr lang="en-US" i="1" dirty="0">
                <a:latin typeface="+mn-lt"/>
              </a:rPr>
              <a:t>The earth is the LORD's, and all its fullness, The world and those who dwell therein. </a:t>
            </a:r>
            <a:r>
              <a:rPr lang="en-US" i="1" u="sng" dirty="0">
                <a:latin typeface="+mn-lt"/>
              </a:rPr>
              <a:t>For He has founded it </a:t>
            </a:r>
            <a:r>
              <a:rPr lang="en-US" i="1" dirty="0">
                <a:latin typeface="+mn-lt"/>
              </a:rPr>
              <a:t>upon the seas and established it upon the waters. </a:t>
            </a:r>
          </a:p>
          <a:p>
            <a:endParaRPr lang="en-US" i="1" dirty="0">
              <a:latin typeface="+mn-lt"/>
            </a:endParaRPr>
          </a:p>
          <a:p>
            <a:r>
              <a:rPr lang="en-US" b="1" i="1" dirty="0">
                <a:latin typeface="+mn-lt"/>
              </a:rPr>
              <a:t>Psalm 33:6-9  </a:t>
            </a:r>
            <a:r>
              <a:rPr lang="en-US" i="1" u="sng" dirty="0">
                <a:latin typeface="+mn-lt"/>
              </a:rPr>
              <a:t>By the word of the LORD the heavens were made</a:t>
            </a:r>
            <a:r>
              <a:rPr lang="en-US" i="1" dirty="0">
                <a:latin typeface="+mn-lt"/>
              </a:rPr>
              <a:t>, And all the host of them by the breath of His mouth. He gathers the waters of the sea together as a heap; He lays up the deep in storehouses. Let all the earth fear the LORD; Let all the inhabitants of the world stand in awe of Him. For He spoke, and it was done; He commanded, and it stood fast. </a:t>
            </a:r>
          </a:p>
          <a:p>
            <a:endParaRPr lang="en-US" i="1" dirty="0">
              <a:latin typeface="+mn-lt"/>
            </a:endParaRPr>
          </a:p>
          <a:p>
            <a:r>
              <a:rPr lang="en-US" b="1" i="1" dirty="0">
                <a:latin typeface="+mn-lt"/>
              </a:rPr>
              <a:t>Psalm 90:2  </a:t>
            </a:r>
            <a:r>
              <a:rPr lang="en-US" i="1" dirty="0">
                <a:latin typeface="+mn-lt"/>
              </a:rPr>
              <a:t>Before the mountains were brought forth, Or ever You had formed the earth and the world, </a:t>
            </a:r>
            <a:r>
              <a:rPr lang="en-US" i="1" u="sng" dirty="0">
                <a:latin typeface="+mn-lt"/>
              </a:rPr>
              <a:t>Even from everlasting to everlasting, You are God</a:t>
            </a:r>
            <a:r>
              <a:rPr lang="en-US" i="1" dirty="0">
                <a:latin typeface="+mn-lt"/>
              </a:rPr>
              <a:t>. </a:t>
            </a:r>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F823D-983B-3D86-802C-7FA738EEFFE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2E3C47F-29B3-D46A-AEA1-A1B61E44C472}"/>
              </a:ext>
            </a:extLst>
          </p:cNvPr>
          <p:cNvSpPr>
            <a:spLocks noGrp="1"/>
          </p:cNvSpPr>
          <p:nvPr>
            <p:ph type="title"/>
          </p:nvPr>
        </p:nvSpPr>
        <p:spPr>
          <a:xfrm>
            <a:off x="228600" y="7088"/>
            <a:ext cx="8839200" cy="914400"/>
          </a:xfrm>
        </p:spPr>
        <p:txBody>
          <a:bodyPr>
            <a:normAutofit fontScale="90000"/>
          </a:bodyPr>
          <a:lstStyle/>
          <a:p>
            <a:pPr algn="l"/>
            <a:r>
              <a:rPr lang="en-US" sz="3600" dirty="0"/>
              <a:t>Origins (Where do we come from?)</a:t>
            </a:r>
            <a:br>
              <a:rPr lang="en-US" sz="3600" dirty="0"/>
            </a:br>
            <a:r>
              <a:rPr lang="en-US" sz="2400" dirty="0">
                <a:solidFill>
                  <a:schemeClr val="tx2">
                    <a:lumMod val="60000"/>
                    <a:lumOff val="40000"/>
                  </a:schemeClr>
                </a:solidFill>
              </a:rPr>
              <a:t>Acknowledging God as Creator</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1AB0185-3B24-92E1-ADE5-7D07135851A9}"/>
              </a:ext>
            </a:extLst>
          </p:cNvPr>
          <p:cNvSpPr txBox="1"/>
          <p:nvPr/>
        </p:nvSpPr>
        <p:spPr>
          <a:xfrm>
            <a:off x="228600" y="921488"/>
            <a:ext cx="8686800" cy="5909310"/>
          </a:xfrm>
          <a:prstGeom prst="rect">
            <a:avLst/>
          </a:prstGeom>
          <a:noFill/>
        </p:spPr>
        <p:txBody>
          <a:bodyPr wrap="square">
            <a:spAutoFit/>
          </a:bodyPr>
          <a:lstStyle/>
          <a:p>
            <a:r>
              <a:rPr lang="en-US" b="1" i="1" dirty="0">
                <a:latin typeface="+mn-lt"/>
              </a:rPr>
              <a:t>Mark 10:6-8  </a:t>
            </a:r>
            <a:r>
              <a:rPr lang="en-US" i="1" dirty="0">
                <a:latin typeface="+mn-lt"/>
              </a:rPr>
              <a:t>But </a:t>
            </a:r>
            <a:r>
              <a:rPr lang="en-US" i="1" u="sng" dirty="0">
                <a:latin typeface="+mn-lt"/>
              </a:rPr>
              <a:t>from the beginning of the creation</a:t>
            </a:r>
            <a:r>
              <a:rPr lang="en-US" i="1" dirty="0">
                <a:latin typeface="+mn-lt"/>
              </a:rPr>
              <a:t>, God 'MADE THEM MALE AND FEMALE.' 'FOR THIS REASON A MAN SHALL LEAVE HIS FATHER AND MOTHER AND BE JOINED TO HIS WIFE, AND THE TWO SHALL BECOME ONE FLESH'; so then they are no longer two, but one flesh. </a:t>
            </a:r>
          </a:p>
          <a:p>
            <a:endParaRPr lang="en-US" i="1" dirty="0">
              <a:latin typeface="+mn-lt"/>
            </a:endParaRPr>
          </a:p>
          <a:p>
            <a:r>
              <a:rPr lang="en-US" b="1" i="1" dirty="0">
                <a:latin typeface="+mn-lt"/>
              </a:rPr>
              <a:t>John 5:17-18  </a:t>
            </a:r>
            <a:r>
              <a:rPr lang="en-US" i="1" dirty="0">
                <a:latin typeface="+mn-lt"/>
              </a:rPr>
              <a:t>But Jesus answered them, "</a:t>
            </a:r>
            <a:r>
              <a:rPr lang="en-US" i="1" u="sng" dirty="0">
                <a:latin typeface="+mn-lt"/>
              </a:rPr>
              <a:t>My Father has been working until now, and I have been working</a:t>
            </a:r>
            <a:r>
              <a:rPr lang="en-US" i="1" dirty="0">
                <a:latin typeface="+mn-lt"/>
              </a:rPr>
              <a:t>.“  …</a:t>
            </a:r>
          </a:p>
          <a:p>
            <a:endParaRPr lang="en-US" i="1" dirty="0">
              <a:latin typeface="+mn-lt"/>
            </a:endParaRPr>
          </a:p>
          <a:p>
            <a:r>
              <a:rPr lang="en-US" b="1" i="1" dirty="0">
                <a:latin typeface="+mn-lt"/>
              </a:rPr>
              <a:t>John 1:1-3  </a:t>
            </a:r>
            <a:r>
              <a:rPr lang="en-US" i="1" dirty="0">
                <a:latin typeface="+mn-lt"/>
              </a:rPr>
              <a:t>In the beginning was the Word, and the Word was with God, and the Word was God. He was in the beginning with God. </a:t>
            </a:r>
            <a:r>
              <a:rPr lang="en-US" i="1" u="sng" dirty="0">
                <a:latin typeface="+mn-lt"/>
              </a:rPr>
              <a:t>All things were made through Him, and without Him nothing was made that was made</a:t>
            </a:r>
            <a:r>
              <a:rPr lang="en-US" i="1" dirty="0">
                <a:latin typeface="+mn-lt"/>
              </a:rPr>
              <a:t>. </a:t>
            </a:r>
          </a:p>
          <a:p>
            <a:endParaRPr lang="en-US" i="1" dirty="0">
              <a:latin typeface="+mn-lt"/>
            </a:endParaRPr>
          </a:p>
          <a:p>
            <a:r>
              <a:rPr lang="en-US" b="1" i="1" dirty="0">
                <a:latin typeface="+mn-lt"/>
              </a:rPr>
              <a:t>Acts 17:24-26  </a:t>
            </a:r>
            <a:r>
              <a:rPr lang="en-US" i="1" u="sng" dirty="0">
                <a:latin typeface="+mn-lt"/>
              </a:rPr>
              <a:t>God, who made the world and everything in it</a:t>
            </a:r>
            <a:r>
              <a:rPr lang="en-US" i="1" dirty="0">
                <a:latin typeface="+mn-lt"/>
              </a:rPr>
              <a:t>, since He is Lord of heaven and earth, does not dwell in temples made with hands. Nor is He worshiped with men's hands, as though He needed anything, since He gives to all life, breath, and all things. </a:t>
            </a:r>
          </a:p>
          <a:p>
            <a:endParaRPr lang="en-US" i="1" dirty="0">
              <a:latin typeface="+mn-lt"/>
            </a:endParaRPr>
          </a:p>
          <a:p>
            <a:r>
              <a:rPr lang="en-US" b="1" i="1" dirty="0">
                <a:latin typeface="+mn-lt"/>
              </a:rPr>
              <a:t>Colossians 1:16-17  </a:t>
            </a:r>
            <a:r>
              <a:rPr lang="en-US" i="1" u="sng" dirty="0">
                <a:latin typeface="+mn-lt"/>
              </a:rPr>
              <a:t>For by Him all things were created </a:t>
            </a:r>
            <a:r>
              <a:rPr lang="en-US" i="1" dirty="0">
                <a:latin typeface="+mn-lt"/>
              </a:rPr>
              <a:t>that are in heaven and that are on earth, visible and invisible, whether thrones or dominions or principalities or powers. </a:t>
            </a:r>
            <a:r>
              <a:rPr lang="en-US" i="1" u="sng" dirty="0">
                <a:latin typeface="+mn-lt"/>
              </a:rPr>
              <a:t>All things were created through Him and for Him</a:t>
            </a:r>
            <a:r>
              <a:rPr lang="en-US" i="1" dirty="0">
                <a:latin typeface="+mn-lt"/>
              </a:rPr>
              <a:t>. And He is before all things, and in Him all things consist. </a:t>
            </a:r>
          </a:p>
        </p:txBody>
      </p:sp>
    </p:spTree>
    <p:extLst>
      <p:ext uri="{BB962C8B-B14F-4D97-AF65-F5344CB8AC3E}">
        <p14:creationId xmlns:p14="http://schemas.microsoft.com/office/powerpoint/2010/main" val="1288386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9956</TotalTime>
  <Words>3296</Words>
  <Application>Microsoft Office PowerPoint</Application>
  <PresentationFormat>On-screen Show (4:3)</PresentationFormat>
  <Paragraphs>326</Paragraphs>
  <Slides>13</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Arial Narrow</vt:lpstr>
      <vt:lpstr>Calibri</vt:lpstr>
      <vt:lpstr>Cambria Math</vt:lpstr>
      <vt:lpstr>PPT_Template_2010SummerSchool</vt:lpstr>
      <vt:lpstr>1_UPCRC_Powerpoint_Template_with I-Mark</vt:lpstr>
      <vt:lpstr>Romans</vt:lpstr>
      <vt:lpstr>PowerPoint Presentation</vt:lpstr>
      <vt:lpstr>The Substance of Truth A Spiritual Battleground – Freeing Captives of a Lie</vt:lpstr>
      <vt:lpstr>The Pagan Man “…who suppress the truth…”</vt:lpstr>
      <vt:lpstr>PowerPoint Presentation</vt:lpstr>
      <vt:lpstr>PowerPoint Presentation</vt:lpstr>
      <vt:lpstr>Evidence of His Handiwork (2) Probability Reveals Knowledge</vt:lpstr>
      <vt:lpstr>Evidence of His Handiwork (2) Probability Reveals Knowledge</vt:lpstr>
      <vt:lpstr>Evidence of His Handiwork (2) Probability Reveals Knowledge</vt:lpstr>
      <vt:lpstr>PowerPoint Presentation</vt:lpstr>
      <vt:lpstr>PowerPoint Presentation</vt:lpstr>
      <vt:lpstr>Origins (Where do we come from?) Acknowledging God as Creator</vt:lpstr>
      <vt:lpstr>Origins (Where do we come from?) Acknowledging God as Creator</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482</cp:revision>
  <cp:lastPrinted>2014-08-17T15:56:48Z</cp:lastPrinted>
  <dcterms:created xsi:type="dcterms:W3CDTF">2010-06-16T02:58:04Z</dcterms:created>
  <dcterms:modified xsi:type="dcterms:W3CDTF">2026-04-02T12:36:02Z</dcterms:modified>
</cp:coreProperties>
</file>