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5"/>
  </p:notesMasterIdLst>
  <p:sldIdLst>
    <p:sldId id="256" r:id="rId3"/>
    <p:sldId id="335" r:id="rId4"/>
    <p:sldId id="336" r:id="rId5"/>
    <p:sldId id="340" r:id="rId6"/>
    <p:sldId id="341" r:id="rId7"/>
    <p:sldId id="342" r:id="rId8"/>
    <p:sldId id="339" r:id="rId9"/>
    <p:sldId id="343" r:id="rId10"/>
    <p:sldId id="548" r:id="rId11"/>
    <p:sldId id="556" r:id="rId12"/>
    <p:sldId id="549" r:id="rId13"/>
    <p:sldId id="557" r:id="rId14"/>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230" autoAdjust="0"/>
    <p:restoredTop sz="83713" autoAdjust="0"/>
  </p:normalViewPr>
  <p:slideViewPr>
    <p:cSldViewPr>
      <p:cViewPr varScale="1">
        <p:scale>
          <a:sx n="129" d="100"/>
          <a:sy n="129" d="100"/>
        </p:scale>
        <p:origin x="1200" y="13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b="1" kern="1200" dirty="0">
                <a:solidFill>
                  <a:schemeClr val="tx1"/>
                </a:solidFill>
                <a:effectLst/>
                <a:latin typeface="+mn-lt"/>
                <a:ea typeface="ＭＳ Ｐゴシック" pitchFamily="-106" charset="-128"/>
                <a:cs typeface="ＭＳ Ｐゴシック" pitchFamily="-106" charset="-128"/>
              </a:rPr>
              <a:t>REVIEW</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The Pagan Man - They Became Fools…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Man’s refusal to acknowledge and glorify God leads to a downward path:</a:t>
            </a:r>
          </a:p>
          <a:p>
            <a:pPr lvl="0"/>
            <a:r>
              <a:rPr lang="en-US" sz="1200" kern="1200" dirty="0">
                <a:solidFill>
                  <a:schemeClr val="tx1"/>
                </a:solidFill>
                <a:effectLst/>
                <a:latin typeface="+mn-lt"/>
                <a:ea typeface="ＭＳ Ｐゴシック" pitchFamily="-106" charset="-128"/>
                <a:cs typeface="ＭＳ Ｐゴシック" pitchFamily="-106" charset="-128"/>
              </a:rPr>
              <a:t>First, worthless thinking;</a:t>
            </a:r>
          </a:p>
          <a:p>
            <a:pPr lvl="0"/>
            <a:r>
              <a:rPr lang="en-US" sz="1200" kern="1200" dirty="0">
                <a:solidFill>
                  <a:schemeClr val="tx1"/>
                </a:solidFill>
                <a:effectLst/>
                <a:latin typeface="+mn-lt"/>
                <a:ea typeface="ＭＳ Ｐゴシック" pitchFamily="-106" charset="-128"/>
                <a:cs typeface="ＭＳ Ｐゴシック" pitchFamily="-106" charset="-128"/>
              </a:rPr>
              <a:t>Next, moral insensitivity; and</a:t>
            </a:r>
          </a:p>
          <a:p>
            <a:pPr lvl="0"/>
            <a:r>
              <a:rPr lang="en-US" sz="1200" kern="1200" dirty="0">
                <a:solidFill>
                  <a:schemeClr val="tx1"/>
                </a:solidFill>
                <a:effectLst/>
                <a:latin typeface="+mn-lt"/>
                <a:ea typeface="ＭＳ Ｐゴシック" pitchFamily="-106" charset="-128"/>
                <a:cs typeface="ＭＳ Ｐゴシック" pitchFamily="-106" charset="-128"/>
              </a:rPr>
              <a:t>Then, religious stupidity as seen in idol-worship!</a:t>
            </a:r>
          </a:p>
          <a:p>
            <a:r>
              <a:rPr lang="en-US" sz="1200" kern="1200" dirty="0">
                <a:solidFill>
                  <a:schemeClr val="tx1"/>
                </a:solidFill>
                <a:effectLst/>
                <a:latin typeface="+mn-lt"/>
                <a:ea typeface="ＭＳ Ｐゴシック" pitchFamily="-106" charset="-128"/>
                <a:cs typeface="ＭＳ Ｐゴシック" pitchFamily="-106" charset="-128"/>
              </a:rPr>
              <a:t>The witness to God in nature is so clear and so constant that ignoring it is indefensible.</a:t>
            </a:r>
          </a:p>
          <a:p>
            <a:pPr lvl="0"/>
            <a:r>
              <a:rPr lang="en-US" sz="1200" kern="1200" dirty="0">
                <a:solidFill>
                  <a:schemeClr val="tx1"/>
                </a:solidFill>
                <a:effectLst/>
                <a:latin typeface="+mn-lt"/>
                <a:ea typeface="ＭＳ Ｐゴシック" pitchFamily="-106" charset="-128"/>
                <a:cs typeface="ＭＳ Ｐゴシック" pitchFamily="-106" charset="-128"/>
              </a:rPr>
              <a:t>The pagan man’s condemnation is based not on their rejecting Christ of whom they have not heard,</a:t>
            </a:r>
          </a:p>
          <a:p>
            <a:pPr lvl="0"/>
            <a:r>
              <a:rPr lang="en-US" sz="1200" b="1" kern="1200" dirty="0">
                <a:solidFill>
                  <a:schemeClr val="tx1"/>
                </a:solidFill>
                <a:effectLst/>
                <a:latin typeface="+mn-lt"/>
                <a:ea typeface="ＭＳ Ｐゴシック" pitchFamily="-106" charset="-128"/>
                <a:cs typeface="ＭＳ Ｐゴシック" pitchFamily="-106" charset="-128"/>
              </a:rPr>
              <a:t>But sinning against the Light that they do have</a:t>
            </a:r>
            <a:r>
              <a:rPr lang="en-US" sz="1200" kern="1200" dirty="0">
                <a:solidFill>
                  <a:schemeClr val="tx1"/>
                </a:solidFill>
                <a:effectLst/>
                <a:latin typeface="+mn-lt"/>
                <a:ea typeface="ＭＳ Ｐゴシック" pitchFamily="-106" charset="-128"/>
                <a:cs typeface="ＭＳ Ｐゴシック" pitchFamily="-106" charset="-128"/>
              </a:rPr>
              <a:t>. </a:t>
            </a:r>
            <a:r>
              <a:rPr lang="en-US" sz="1200" i="1" kern="1200" dirty="0">
                <a:solidFill>
                  <a:schemeClr val="tx1"/>
                </a:solidFill>
                <a:effectLst/>
                <a:latin typeface="+mn-lt"/>
                <a:ea typeface="ＭＳ Ｐゴシック" pitchFamily="-106" charset="-128"/>
                <a:cs typeface="ＭＳ Ｐゴシック" pitchFamily="-106" charset="-128"/>
              </a:rPr>
              <a:t>  2 Corinthians 8:12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i="1" kern="1200" dirty="0">
                <a:solidFill>
                  <a:schemeClr val="tx1"/>
                </a:solidFill>
                <a:effectLst/>
                <a:latin typeface="+mn-lt"/>
                <a:ea typeface="ＭＳ Ｐゴシック" pitchFamily="-106" charset="-128"/>
                <a:cs typeface="ＭＳ Ｐゴシック" pitchFamily="-106" charset="-128"/>
              </a:rPr>
              <a:t>Case Study: Sodom</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i="1" kern="1200" dirty="0">
                <a:solidFill>
                  <a:schemeClr val="tx1"/>
                </a:solidFill>
                <a:effectLst/>
                <a:latin typeface="+mn-lt"/>
                <a:ea typeface="ＭＳ Ｐゴシック" pitchFamily="-106" charset="-128"/>
                <a:cs typeface="ＭＳ Ｐゴシック" pitchFamily="-106" charset="-128"/>
              </a:rPr>
              <a:t>Ezekiel 16:48-50</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i="1" kern="1200" dirty="0">
                <a:solidFill>
                  <a:schemeClr val="tx1"/>
                </a:solidFill>
                <a:effectLst/>
                <a:latin typeface="+mn-lt"/>
                <a:ea typeface="ＭＳ Ｐゴシック" pitchFamily="-106" charset="-128"/>
                <a:cs typeface="ＭＳ Ｐゴシック" pitchFamily="-106" charset="-128"/>
              </a:rPr>
              <a:t>For what cause did God “take them away”?</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i="1" kern="1200" dirty="0">
                <a:solidFill>
                  <a:schemeClr val="tx1"/>
                </a:solidFill>
                <a:effectLst/>
                <a:latin typeface="+mn-lt"/>
                <a:ea typeface="ＭＳ Ｐゴシック" pitchFamily="-106" charset="-128"/>
                <a:cs typeface="ＭＳ Ｐゴシック" pitchFamily="-106" charset="-128"/>
              </a:rPr>
              <a:t>Was this “fair” of God?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first step in the revelation of the righteousness that God provides for people by faith is to set forth our </a:t>
            </a:r>
            <a:r>
              <a:rPr lang="en-US" sz="1200" b="1" kern="1200" dirty="0">
                <a:solidFill>
                  <a:schemeClr val="tx1"/>
                </a:solidFill>
                <a:effectLst/>
                <a:latin typeface="+mn-lt"/>
                <a:ea typeface="ＭＳ Ｐゴシック" pitchFamily="-106" charset="-128"/>
                <a:cs typeface="ＭＳ Ｐゴシック" pitchFamily="-106" charset="-128"/>
              </a:rPr>
              <a:t>need</a:t>
            </a:r>
            <a:r>
              <a:rPr lang="en-US" sz="1200" kern="1200" dirty="0">
                <a:solidFill>
                  <a:schemeClr val="tx1"/>
                </a:solidFill>
                <a:effectLst/>
                <a:latin typeface="+mn-lt"/>
                <a:ea typeface="ＭＳ Ｐゴシック" pitchFamily="-106" charset="-128"/>
                <a:cs typeface="ＭＳ Ｐゴシック" pitchFamily="-106" charset="-128"/>
              </a:rPr>
              <a:t> for it because we are under God’s judgment.   We are born into a fallen race.   The human race stands condemned before God and is helpless and hopeless apart from God’s grace.</a:t>
            </a:r>
          </a:p>
          <a:p>
            <a:r>
              <a:rPr lang="en-US" sz="1200" b="1" kern="1200" dirty="0">
                <a:solidFill>
                  <a:schemeClr val="tx1"/>
                </a:solidFill>
                <a:effectLst/>
                <a:latin typeface="+mn-lt"/>
                <a:ea typeface="ＭＳ Ｐゴシック" pitchFamily="-106" charset="-128"/>
                <a:cs typeface="ＭＳ Ｐゴシック" pitchFamily="-106" charset="-128"/>
              </a:rPr>
              <a:t>What Law is at play in this judgment scenario?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kern="1200" dirty="0">
                <a:solidFill>
                  <a:schemeClr val="tx1"/>
                </a:solidFill>
                <a:effectLst/>
                <a:latin typeface="+mn-lt"/>
                <a:ea typeface="ＭＳ Ｐゴシック" pitchFamily="-106" charset="-128"/>
                <a:cs typeface="ＭＳ Ｐゴシック" pitchFamily="-106" charset="-128"/>
              </a:rPr>
              <a:t>The Law of Sin and Death (Romans 8:2)</a:t>
            </a:r>
          </a:p>
          <a:p>
            <a:r>
              <a:rPr lang="en-US" sz="1200" b="1" kern="1200" dirty="0">
                <a:solidFill>
                  <a:schemeClr val="tx1"/>
                </a:solidFill>
                <a:effectLst/>
                <a:latin typeface="+mn-lt"/>
                <a:ea typeface="ＭＳ Ｐゴシック" pitchFamily="-106" charset="-128"/>
                <a:cs typeface="ＭＳ Ｐゴシック" pitchFamily="-106" charset="-128"/>
              </a:rPr>
              <a:t>Is this a real law?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kern="1200" dirty="0">
                <a:solidFill>
                  <a:schemeClr val="tx1"/>
                </a:solidFill>
                <a:effectLst/>
                <a:latin typeface="+mn-lt"/>
                <a:ea typeface="ＭＳ Ｐゴシック" pitchFamily="-106" charset="-128"/>
                <a:cs typeface="ＭＳ Ｐゴシック" pitchFamily="-106" charset="-128"/>
              </a:rPr>
              <a:t>Compare to other “natural laws” like gravity, cause and effect, entropy, others.</a:t>
            </a:r>
          </a:p>
          <a:p>
            <a:r>
              <a:rPr lang="en-US" sz="1200" b="1" kern="1200" dirty="0">
                <a:solidFill>
                  <a:schemeClr val="tx1"/>
                </a:solidFill>
                <a:effectLst/>
                <a:latin typeface="+mn-lt"/>
                <a:ea typeface="ＭＳ Ｐゴシック" pitchFamily="-106" charset="-128"/>
                <a:cs typeface="ＭＳ Ｐゴシック" pitchFamily="-106" charset="-128"/>
              </a:rPr>
              <a:t>Review our “court-room” scenario…   The 3 men in the dock; the Judge; the Jury…   What type of glasses are we all wearing?</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Is pagan mankind guilty?</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How do you know?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Do you now judge the Pagan man guilty?</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Read Romans 2:1-3 (PAUSE)</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about Matthew 7:1-2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about I Cor. 2:13-16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is the common thread?   A common measuring stick that we all possess and recognize?</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Aren’t we (i.e. the jurist) now also defendants?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Read I Corinthians 2:13-16</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How can we “know” anything?   (“But we have the mind of Christ.”)   How is this possible?   John 18:37</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is meant by v15?   What is meant by “rightly judged”?</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Is this passage a clue as to the meaning of Jesus’ statement, “Everyone who is of the Truth hears My voice.” …?</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Is this a clue as to the power of the glasses we are given to wear as jurors within the Romans 1-3 court-room?</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is the correlation within I </a:t>
            </a:r>
            <a:r>
              <a:rPr lang="en-US" sz="1200" b="1" kern="1200" dirty="0" err="1">
                <a:solidFill>
                  <a:schemeClr val="tx1"/>
                </a:solidFill>
                <a:effectLst/>
                <a:latin typeface="+mn-lt"/>
                <a:ea typeface="ＭＳ Ｐゴシック" pitchFamily="-106" charset="-128"/>
                <a:cs typeface="ＭＳ Ｐゴシック" pitchFamily="-106" charset="-128"/>
              </a:rPr>
              <a:t>Cor</a:t>
            </a:r>
            <a:r>
              <a:rPr lang="en-US" sz="1200" b="1" kern="1200" dirty="0">
                <a:solidFill>
                  <a:schemeClr val="tx1"/>
                </a:solidFill>
                <a:effectLst/>
                <a:latin typeface="+mn-lt"/>
                <a:ea typeface="ＭＳ Ｐゴシック" pitchFamily="-106" charset="-128"/>
                <a:cs typeface="ＭＳ Ｐゴシック" pitchFamily="-106" charset="-128"/>
              </a:rPr>
              <a:t> 3:9-15 …?</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Review how the court-room changes as we enter chapter 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Let us not confuse Romans 2 with Revelation 20…  at Judgment Day (Rev 20), there will be no reasoning or preaching; only condemnation; based upon the Principles of God’s Judgment.</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The Agent of divine judgment is Jesus Christ.   John 5:22, 27;    Acts 17:29-31</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Now that Jesus is the divine judge within our court-room…</a:t>
            </a:r>
            <a:endParaRPr lang="en-US" sz="1200" kern="1200" dirty="0">
              <a:solidFill>
                <a:schemeClr val="tx1"/>
              </a:solidFill>
              <a:effectLst/>
              <a:latin typeface="+mn-lt"/>
              <a:ea typeface="ＭＳ Ｐゴシック" pitchFamily="-106" charset="-128"/>
              <a:cs typeface="ＭＳ Ｐゴシック" pitchFamily="-106" charset="-128"/>
            </a:endParaRPr>
          </a:p>
          <a:p>
            <a:pPr lvl="0"/>
            <a:r>
              <a:rPr lang="en-US" sz="1200" b="1" kern="1200" dirty="0">
                <a:solidFill>
                  <a:schemeClr val="tx1"/>
                </a:solidFill>
                <a:effectLst/>
                <a:latin typeface="+mn-lt"/>
                <a:ea typeface="ＭＳ Ｐゴシック" pitchFamily="-106" charset="-128"/>
                <a:cs typeface="ＭＳ Ｐゴシック" pitchFamily="-106" charset="-128"/>
              </a:rPr>
              <a:t>What does this say about God’s “fairness”?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indent="0">
              <a:buFont typeface="Arial" pitchFamily="34" charset="0"/>
              <a:buNone/>
            </a:pPr>
            <a:r>
              <a:rPr lang="en-US" b="1" baseline="0" dirty="0"/>
              <a:t>What is the greatest thought that ever entered the mind of Man?</a:t>
            </a:r>
          </a:p>
          <a:p>
            <a:pPr marL="0" indent="0">
              <a:buFont typeface="Arial" pitchFamily="34" charset="0"/>
              <a:buNone/>
            </a:pPr>
            <a:endParaRPr lang="en-US"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	“My responsibility to my Maker!”   Daniel Webster</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How does God deal with Man individually?   Ezekiel 18…?     Mankind Corporately?   </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According to Truth…</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In this court-room, we are privileged to be wear (as jurists) the glasses of God’s Truth… to see the evidence with the Mind of Christ (1 </a:t>
            </a:r>
            <a:r>
              <a:rPr lang="en-US" b="1" baseline="0" dirty="0" err="1"/>
              <a:t>Cor</a:t>
            </a:r>
            <a:r>
              <a:rPr lang="en-US" b="1" baseline="0" dirty="0"/>
              <a:t> 2:15).  </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Emphatically!   We MUST always wear these when doing Kingdom work (in humility, planting, watering, answering, with compassion).</a:t>
            </a:r>
          </a:p>
          <a:p>
            <a:pPr marL="0" indent="0">
              <a:buFont typeface="Arial" pitchFamily="34" charset="0"/>
              <a:buNone/>
            </a:pPr>
            <a:endParaRPr lang="en-US" baseline="0" dirty="0"/>
          </a:p>
          <a:p>
            <a:pPr marL="0" lvl="0" indent="0">
              <a:buFont typeface="Arial" pitchFamily="34" charset="0"/>
              <a:buNone/>
            </a:pPr>
            <a:endParaRPr lang="en-US" b="0" baseline="0" dirty="0"/>
          </a:p>
          <a:p>
            <a:pPr marL="0" lvl="0" indent="0">
              <a:buFont typeface="Arial" pitchFamily="34" charset="0"/>
              <a:buNone/>
            </a:pPr>
            <a:r>
              <a:rPr lang="en-US" b="1" baseline="0" dirty="0"/>
              <a:t>Seven principles dealing with how God will decide and respond to mankind.</a:t>
            </a:r>
          </a:p>
          <a:p>
            <a:pPr marL="0" indent="0">
              <a:buFont typeface="Arial" pitchFamily="34" charset="0"/>
              <a:buNone/>
            </a:pPr>
            <a:endParaRPr lang="en-US" baseline="0" dirty="0"/>
          </a:p>
          <a:p>
            <a:pPr marL="228600" indent="-228600">
              <a:buFont typeface="Arial" pitchFamily="34" charset="0"/>
              <a:buAutoNum type="arabicParenBoth"/>
            </a:pPr>
            <a:r>
              <a:rPr lang="en-US" baseline="0" dirty="0"/>
              <a:t>According to Truth</a:t>
            </a:r>
          </a:p>
          <a:p>
            <a:pPr marL="171450" indent="-171450">
              <a:buFont typeface="Arial" pitchFamily="34" charset="0"/>
              <a:buChar char="•"/>
            </a:pPr>
            <a:r>
              <a:rPr lang="en-US" baseline="0" dirty="0"/>
              <a:t>Do you think that you will escape judgment – You?   Self righteousness is a death sentence that we all share in.  (Ezekiel 16:48-50)</a:t>
            </a:r>
          </a:p>
          <a:p>
            <a:pPr marL="171450" indent="-171450">
              <a:buFont typeface="Arial" pitchFamily="34" charset="0"/>
              <a:buChar char="•"/>
            </a:pPr>
            <a:r>
              <a:rPr lang="en-US" baseline="0" dirty="0"/>
              <a:t>The principle that keeps us in ignorance is condemnation (coming to a conclusion) before investigation.</a:t>
            </a:r>
          </a:p>
          <a:p>
            <a:pPr marL="171450" indent="-171450">
              <a:buFont typeface="Arial" pitchFamily="34" charset="0"/>
              <a:buChar char="•"/>
            </a:pPr>
            <a:r>
              <a:rPr lang="en-US" baseline="0" dirty="0"/>
              <a:t>v4, Not only do we feel ourselves innocent, but the riches of God should be leading us to repentance.   </a:t>
            </a:r>
          </a:p>
          <a:p>
            <a:pPr marL="171450" indent="-171450">
              <a:buFont typeface="Arial" pitchFamily="34" charset="0"/>
              <a:buChar char="•"/>
            </a:pPr>
            <a:r>
              <a:rPr lang="en-US" baseline="0" dirty="0"/>
              <a:t>Note God’s progressive degrees – goodness, forbearance, and longsuffering – in responding to our ingratitude.</a:t>
            </a:r>
          </a:p>
          <a:p>
            <a:pPr marL="0" indent="0">
              <a:buFont typeface="Arial" pitchFamily="34" charset="0"/>
              <a:buNone/>
            </a:pPr>
            <a:endParaRPr lang="en-US" baseline="0" dirty="0"/>
          </a:p>
          <a:p>
            <a:pPr marL="0" indent="0">
              <a:buFont typeface="Arial" pitchFamily="34" charset="0"/>
              <a:buNone/>
            </a:pPr>
            <a:r>
              <a:rPr lang="en-US" baseline="0" dirty="0"/>
              <a:t>(2)  According to Accumulated Guilt</a:t>
            </a:r>
          </a:p>
          <a:p>
            <a:pPr marL="171450" indent="-171450">
              <a:buFont typeface="Arial" pitchFamily="34" charset="0"/>
              <a:buChar char="•"/>
            </a:pPr>
            <a:r>
              <a:rPr lang="en-US" baseline="0" dirty="0"/>
              <a:t>The First Law of Holes…  stop digging.</a:t>
            </a:r>
          </a:p>
          <a:p>
            <a:pPr marL="171450" indent="-171450">
              <a:buFont typeface="Arial" pitchFamily="34" charset="0"/>
              <a:buChar char="•"/>
            </a:pPr>
            <a:r>
              <a:rPr lang="en-US" baseline="0" dirty="0"/>
              <a:t>Ezekiel 16:49-50 – Example Sodom and Gomorrah – pride; more than homosexuality</a:t>
            </a:r>
          </a:p>
          <a:p>
            <a:pPr marL="171450" indent="-171450">
              <a:buFont typeface="Arial" pitchFamily="34" charset="0"/>
              <a:buChar char="•"/>
            </a:pPr>
            <a:r>
              <a:rPr lang="en-US" baseline="0" dirty="0"/>
              <a:t>Luke 17:28-30</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Prosperity always feeds pride; it’s easy to be humble when you are poor.</a:t>
            </a:r>
          </a:p>
          <a:p>
            <a:pPr marL="0" indent="0">
              <a:buFont typeface="Arial" pitchFamily="34" charset="0"/>
              <a:buNone/>
            </a:pPr>
            <a:endParaRPr lang="en-US" baseline="0" dirty="0"/>
          </a:p>
          <a:p>
            <a:pPr marL="0" indent="0">
              <a:buFont typeface="Arial" pitchFamily="34" charset="0"/>
              <a:buNone/>
            </a:pPr>
            <a:endParaRPr lang="en-US" baseline="0" dirty="0"/>
          </a:p>
          <a:p>
            <a:pPr marL="171450" indent="-171450">
              <a:buFont typeface="Arial" pitchFamily="34" charset="0"/>
              <a:buChar char="•"/>
            </a:pPr>
            <a:endParaRPr lang="en-US" baseline="0" dirty="0"/>
          </a:p>
          <a:p>
            <a:pPr marL="0" indent="0">
              <a:buFont typeface="Arial" pitchFamily="34" charset="0"/>
              <a:buNone/>
            </a:pPr>
            <a:endParaRPr lang="en-US" baseline="0"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pPr marL="0" indent="0">
              <a:buFont typeface="Arial" pitchFamily="34" charset="0"/>
              <a:buNone/>
            </a:pPr>
            <a:r>
              <a:rPr lang="en-US" b="1" dirty="0"/>
              <a:t>Let us not confuse Romans 2 with</a:t>
            </a:r>
            <a:r>
              <a:rPr lang="en-US" b="1" baseline="0" dirty="0"/>
              <a:t> Revelation 20…  at Judgment Day, there will be no reasoning or preaching; only condemnation; based upon the Principles of God’s Judgment.</a:t>
            </a:r>
          </a:p>
          <a:p>
            <a:pPr marL="0" indent="0">
              <a:buFont typeface="Arial" pitchFamily="34" charset="0"/>
              <a:buNone/>
            </a:pPr>
            <a:endParaRPr lang="en-US" baseline="0" dirty="0"/>
          </a:p>
          <a:p>
            <a:pPr marL="0" indent="0">
              <a:buFont typeface="Arial" pitchFamily="34" charset="0"/>
              <a:buNone/>
            </a:pPr>
            <a:r>
              <a:rPr lang="en-US" b="1" dirty="0"/>
              <a:t>The Agent of divine judgment is Jesus Christ.   John 5:22,</a:t>
            </a:r>
            <a:r>
              <a:rPr lang="en-US" b="1" baseline="0" dirty="0"/>
              <a:t> 27;    Acts 17:31;     Hebrews 9:27</a:t>
            </a:r>
          </a:p>
          <a:p>
            <a:pPr marL="0" indent="0">
              <a:buFont typeface="Arial" pitchFamily="34" charset="0"/>
              <a:buNone/>
            </a:pPr>
            <a:endParaRPr lang="en-US" b="1" baseline="0" dirty="0"/>
          </a:p>
          <a:p>
            <a:pPr marL="0" indent="0">
              <a:buFont typeface="Arial" pitchFamily="34" charset="0"/>
              <a:buNone/>
            </a:pPr>
            <a:r>
              <a:rPr lang="en-US" b="1" dirty="0"/>
              <a:t>How to evangelize</a:t>
            </a:r>
            <a:r>
              <a:rPr lang="en-US" b="1" baseline="0" dirty="0"/>
              <a:t> to The Moral Man?   </a:t>
            </a:r>
          </a:p>
          <a:p>
            <a:pPr marL="0" indent="0">
              <a:buFont typeface="Arial" pitchFamily="34" charset="0"/>
              <a:buNone/>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How do we think about this predicament in order to help mankind?</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Situation</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Problems</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Implications</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1" baseline="0" dirty="0"/>
              <a:t>Needs</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Within the context of Truth…</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Origins</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Meaning</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Morality</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Destiny</a:t>
            </a:r>
          </a:p>
          <a:p>
            <a:pPr marL="0" indent="0">
              <a:buFont typeface="Arial" pitchFamily="34" charset="0"/>
              <a:buNone/>
            </a:pPr>
            <a:endParaRPr lang="en-US" baseline="0" dirty="0"/>
          </a:p>
          <a:p>
            <a:pPr marL="0" indent="0">
              <a:buFont typeface="Arial" pitchFamily="34" charset="0"/>
              <a:buNone/>
            </a:pPr>
            <a:r>
              <a:rPr lang="en-US" b="1" i="1" baseline="0" dirty="0"/>
              <a:t>The Righteousness of God Revealed</a:t>
            </a:r>
          </a:p>
          <a:p>
            <a:pPr marL="171450" indent="-171450">
              <a:buFont typeface="Arial" pitchFamily="34" charset="0"/>
              <a:buChar char="•"/>
            </a:pPr>
            <a:r>
              <a:rPr lang="en-US" baseline="0" dirty="0"/>
              <a:t>God created man “in His own image.”</a:t>
            </a:r>
          </a:p>
          <a:p>
            <a:pPr marL="628650" lvl="1" indent="-171450">
              <a:buFont typeface="Arial" pitchFamily="34" charset="0"/>
              <a:buChar char="•"/>
            </a:pPr>
            <a:r>
              <a:rPr lang="en-US" baseline="0" dirty="0"/>
              <a:t>Since we are persons, so is God</a:t>
            </a:r>
          </a:p>
          <a:p>
            <a:pPr marL="628650" lvl="1" indent="-171450">
              <a:buFont typeface="Arial" pitchFamily="34" charset="0"/>
              <a:buChar char="•"/>
            </a:pPr>
            <a:r>
              <a:rPr lang="en-US" baseline="0" dirty="0"/>
              <a:t>Since we have personal feelings, so has God</a:t>
            </a:r>
          </a:p>
          <a:p>
            <a:pPr marL="628650" lvl="1" indent="-171450">
              <a:buFont typeface="Arial" pitchFamily="34" charset="0"/>
              <a:buChar char="•"/>
            </a:pPr>
            <a:r>
              <a:rPr lang="en-US" b="1" baseline="0" dirty="0"/>
              <a:t>Implications?</a:t>
            </a:r>
          </a:p>
          <a:p>
            <a:pPr marL="1085850" lvl="2" indent="-171450">
              <a:buFont typeface="Arial" pitchFamily="34" charset="0"/>
              <a:buChar char="•"/>
            </a:pPr>
            <a:r>
              <a:rPr lang="en-US" b="0" baseline="0" dirty="0"/>
              <a:t>If God be God, He must be the judge of all.</a:t>
            </a:r>
          </a:p>
          <a:p>
            <a:pPr marL="1085850" lvl="2" indent="-171450">
              <a:buFont typeface="Arial" pitchFamily="34" charset="0"/>
              <a:buChar char="•"/>
            </a:pPr>
            <a:r>
              <a:rPr lang="en-US" b="0" baseline="0" dirty="0"/>
              <a:t>We must meet God as He is, not as we wish Him to be.</a:t>
            </a:r>
          </a:p>
          <a:p>
            <a:pPr marL="1085850" lvl="2" indent="-171450">
              <a:buFont typeface="Arial" pitchFamily="34" charset="0"/>
              <a:buChar char="•"/>
            </a:pPr>
            <a:r>
              <a:rPr lang="en-US" b="0" baseline="0" dirty="0"/>
              <a:t>We need to really understand how He sees things…  not as how we imagine Him to be.</a:t>
            </a:r>
          </a:p>
          <a:p>
            <a:pPr marL="1085850" lvl="2" indent="-171450">
              <a:buFont typeface="Arial" pitchFamily="34" charset="0"/>
              <a:buChar char="•"/>
            </a:pPr>
            <a:r>
              <a:rPr lang="en-US" b="0" baseline="0" dirty="0"/>
              <a:t>We don’t want to hug our own delusions to our own damnation.</a:t>
            </a:r>
          </a:p>
          <a:p>
            <a:pPr marL="0" indent="0">
              <a:buFont typeface="Arial" pitchFamily="34" charset="0"/>
              <a:buNone/>
            </a:pPr>
            <a:endParaRPr lang="en-US" dirty="0"/>
          </a:p>
          <a:p>
            <a:pPr marL="0" indent="0">
              <a:buFont typeface="Arial" pitchFamily="34" charset="0"/>
              <a:buNone/>
            </a:pPr>
            <a:r>
              <a:rPr lang="en-US" b="1" dirty="0"/>
              <a:t>Needs?</a:t>
            </a:r>
          </a:p>
          <a:p>
            <a:pPr marL="171450" indent="-171450">
              <a:buFont typeface="Arial" pitchFamily="34" charset="0"/>
              <a:buChar char="•"/>
            </a:pPr>
            <a:r>
              <a:rPr lang="en-US" dirty="0"/>
              <a:t>Truth</a:t>
            </a:r>
          </a:p>
          <a:p>
            <a:pPr marL="171450" indent="-171450">
              <a:buFont typeface="Arial" pitchFamily="34" charset="0"/>
              <a:buChar char="•"/>
            </a:pPr>
            <a:r>
              <a:rPr lang="en-US" dirty="0"/>
              <a:t>Compassion Now! (Luke</a:t>
            </a:r>
            <a:r>
              <a:rPr lang="en-US" baseline="0" dirty="0"/>
              <a:t> 16, Lazarus, too late to help the lost)</a:t>
            </a:r>
          </a:p>
          <a:p>
            <a:pPr marL="171450" indent="-171450">
              <a:buFont typeface="Arial" pitchFamily="34" charset="0"/>
              <a:buChar char="•"/>
            </a:pPr>
            <a:r>
              <a:rPr lang="en-US" baseline="0" dirty="0"/>
              <a:t>How would you describe your current attitude about the fate of the lost?</a:t>
            </a:r>
          </a:p>
          <a:p>
            <a:pPr marL="628650" lvl="1" indent="-171450">
              <a:buFont typeface="Arial" pitchFamily="34" charset="0"/>
              <a:buChar char="•"/>
            </a:pPr>
            <a:r>
              <a:rPr lang="en-US" baseline="0" dirty="0"/>
              <a:t>Unconcerned</a:t>
            </a:r>
          </a:p>
          <a:p>
            <a:pPr marL="628650" lvl="1" indent="-171450">
              <a:buFont typeface="Arial" pitchFamily="34" charset="0"/>
              <a:buChar char="•"/>
            </a:pPr>
            <a:r>
              <a:rPr lang="en-US" baseline="0" dirty="0"/>
              <a:t>Concerned</a:t>
            </a:r>
          </a:p>
          <a:p>
            <a:pPr marL="628650" lvl="1" indent="-171450">
              <a:buFont typeface="Arial" pitchFamily="34" charset="0"/>
              <a:buChar char="•"/>
            </a:pPr>
            <a:r>
              <a:rPr lang="en-US" baseline="0" dirty="0"/>
              <a:t>Alarmed</a:t>
            </a:r>
          </a:p>
          <a:p>
            <a:pPr marL="628650" lvl="1" indent="-171450">
              <a:buFont typeface="Arial" pitchFamily="34" charset="0"/>
              <a:buChar char="•"/>
            </a:pPr>
            <a:r>
              <a:rPr lang="en-US" baseline="0" dirty="0"/>
              <a:t>Horrified</a:t>
            </a:r>
          </a:p>
          <a:p>
            <a:pPr marL="628650" lvl="1" indent="-171450">
              <a:buFont typeface="Arial" pitchFamily="34" charset="0"/>
              <a:buChar char="•"/>
            </a:pPr>
            <a:endParaRPr lang="en-US" baseline="0" dirty="0"/>
          </a:p>
          <a:p>
            <a:pPr marL="0" indent="0">
              <a:buFont typeface="Arial" pitchFamily="34" charset="0"/>
              <a:buNone/>
            </a:pPr>
            <a:r>
              <a:rPr lang="en-US" b="1" baseline="0" dirty="0"/>
              <a:t>What about you and I?</a:t>
            </a:r>
          </a:p>
          <a:p>
            <a:pPr marL="171450" indent="-171450">
              <a:buFont typeface="Arial" pitchFamily="34" charset="0"/>
              <a:buChar char="•"/>
            </a:pPr>
            <a:r>
              <a:rPr lang="en-US" baseline="0" dirty="0"/>
              <a:t>Psalm 139</a:t>
            </a:r>
          </a:p>
          <a:p>
            <a:pPr marL="171450" indent="-171450">
              <a:buFont typeface="Arial" pitchFamily="34" charset="0"/>
              <a:buChar char="•"/>
            </a:pPr>
            <a:r>
              <a:rPr lang="en-US" baseline="0" dirty="0"/>
              <a:t>Jeremiah 1:5-10</a:t>
            </a:r>
          </a:p>
          <a:p>
            <a:pPr marL="628650" lvl="1" indent="-171450">
              <a:buFont typeface="Arial" pitchFamily="34" charset="0"/>
              <a:buChar char="•"/>
            </a:pPr>
            <a:r>
              <a:rPr lang="en-US" baseline="0" dirty="0"/>
              <a:t>What was Jeremiah’s response (v6)?</a:t>
            </a:r>
          </a:p>
          <a:p>
            <a:pPr marL="628650" lvl="1" indent="-171450">
              <a:buFont typeface="Arial" pitchFamily="34" charset="0"/>
              <a:buChar char="•"/>
            </a:pPr>
            <a:r>
              <a:rPr lang="en-US" baseline="0" dirty="0"/>
              <a:t>What was the real underlying reason (v8)?</a:t>
            </a:r>
          </a:p>
          <a:p>
            <a:pPr marL="628650" lvl="1" indent="-171450">
              <a:buFont typeface="Arial" pitchFamily="34" charset="0"/>
              <a:buChar char="•"/>
            </a:pPr>
            <a:r>
              <a:rPr lang="en-US" baseline="0" dirty="0"/>
              <a:t>What was Jeremiah given (v9-10)?   Do we have this same knowledge?  (Jeremiah 31:31; Hebrews 8:10)</a:t>
            </a:r>
          </a:p>
          <a:p>
            <a:pPr marL="171450" lvl="0" indent="-171450">
              <a:buFont typeface="Arial" pitchFamily="34" charset="0"/>
              <a:buChar char="•"/>
            </a:pPr>
            <a:r>
              <a:rPr lang="en-US" baseline="0" dirty="0"/>
              <a:t>Paul </a:t>
            </a:r>
          </a:p>
          <a:p>
            <a:pPr marL="628650" lvl="1" indent="-171450">
              <a:buFont typeface="Arial" pitchFamily="34" charset="0"/>
              <a:buChar char="•"/>
            </a:pPr>
            <a:r>
              <a:rPr lang="en-US" baseline="0" dirty="0"/>
              <a:t>I Corinthians 2:1-5</a:t>
            </a:r>
          </a:p>
          <a:p>
            <a:pPr marL="171450" indent="-171450">
              <a:buFont typeface="Arial" pitchFamily="34" charset="0"/>
              <a:buChar char="•"/>
            </a:pPr>
            <a:endParaRPr lang="en-US" baseline="0" dirty="0"/>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902549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7D460-4975-53A0-7E04-AADC59DC2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FA42E-F7C7-2AED-ACEE-6F2FB0B00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FF019-E13D-4BF2-3164-5DBAF9342BE4}"/>
              </a:ext>
            </a:extLst>
          </p:cNvPr>
          <p:cNvSpPr>
            <a:spLocks noGrp="1"/>
          </p:cNvSpPr>
          <p:nvPr>
            <p:ph type="body" idx="1"/>
          </p:nvPr>
        </p:nvSpPr>
        <p:spPr/>
        <p:txBody>
          <a:bodyPr>
            <a:normAutofit/>
          </a:bodyPr>
          <a:lstStyle/>
          <a:p>
            <a:r>
              <a:rPr lang="en-US" sz="1400" b="1" dirty="0"/>
              <a:t>PSALMS</a:t>
            </a:r>
          </a:p>
          <a:p>
            <a:endParaRPr lang="en-US" sz="1400" dirty="0"/>
          </a:p>
          <a:p>
            <a:r>
              <a:rPr lang="en-US" sz="1400" b="1" dirty="0"/>
              <a:t>Meaning (Why are we here?)</a:t>
            </a:r>
            <a:endParaRPr lang="en-US" sz="1400" dirty="0"/>
          </a:p>
          <a:p>
            <a:pPr>
              <a:buFont typeface="Arial" panose="020B0604020202020204" pitchFamily="34" charset="0"/>
              <a:buChar char="•"/>
            </a:pPr>
            <a:r>
              <a:rPr lang="en-US" sz="1400" b="1" dirty="0"/>
              <a:t>Psalm 8:4–6</a:t>
            </a:r>
            <a:r>
              <a:rPr lang="en-US" sz="1400" dirty="0"/>
              <a:t>: Questions the significance of humanity and reveals that humans, though seemingly insignificant, are given honor and responsibility by God.</a:t>
            </a:r>
          </a:p>
          <a:p>
            <a:pPr>
              <a:buFont typeface="Arial" panose="020B0604020202020204" pitchFamily="34" charset="0"/>
              <a:buChar char="•"/>
            </a:pPr>
            <a:r>
              <a:rPr lang="en-US" sz="1400" b="1" dirty="0"/>
              <a:t>Psalm 16:11</a:t>
            </a:r>
            <a:r>
              <a:rPr lang="en-US" sz="1400" dirty="0"/>
              <a:t>: Expresses that true meaning and fullness of life come from God’s presence, as He reveals the path of life.</a:t>
            </a:r>
          </a:p>
          <a:p>
            <a:pPr>
              <a:buFont typeface="Arial" panose="020B0604020202020204" pitchFamily="34" charset="0"/>
              <a:buChar char="•"/>
            </a:pPr>
            <a:r>
              <a:rPr lang="en-US" sz="1400" b="1" dirty="0"/>
              <a:t>Psalm 57:2</a:t>
            </a:r>
            <a:r>
              <a:rPr lang="en-US" sz="1400" dirty="0"/>
              <a:t>: Affirms that God fulfills His purpose for the individual, suggesting our lives have meaning aligned with divine intention.</a:t>
            </a:r>
          </a:p>
          <a:p>
            <a:pPr>
              <a:buFont typeface="Arial" panose="020B0604020202020204" pitchFamily="34" charset="0"/>
              <a:buChar char="•"/>
            </a:pPr>
            <a:r>
              <a:rPr lang="en-US" sz="1400" b="1" dirty="0"/>
              <a:t>Psalm 139:13–16</a:t>
            </a:r>
            <a:r>
              <a:rPr lang="en-US" sz="1400" dirty="0"/>
              <a:t>: Highlights that God intentionally formed each person, with days ordained and recorded, showing purpose and design.</a:t>
            </a:r>
          </a:p>
          <a:p>
            <a:pPr>
              <a:buFont typeface="Arial" panose="020B0604020202020204" pitchFamily="34" charset="0"/>
              <a:buChar char="•"/>
            </a:pPr>
            <a:r>
              <a:rPr lang="en-US" sz="1400" b="1" dirty="0"/>
              <a:t>Psalm 73:23–26</a:t>
            </a:r>
            <a:r>
              <a:rPr lang="en-US" sz="1400" dirty="0"/>
              <a:t>: Finds meaning in relationship with God, stating that even when everything else fails, God Himself is our ultimate purpose and strength.</a:t>
            </a:r>
          </a:p>
          <a:p>
            <a:endParaRPr lang="en-US" dirty="0"/>
          </a:p>
        </p:txBody>
      </p:sp>
      <p:sp>
        <p:nvSpPr>
          <p:cNvPr id="4" name="Slide Number Placeholder 3">
            <a:extLst>
              <a:ext uri="{FF2B5EF4-FFF2-40B4-BE49-F238E27FC236}">
                <a16:creationId xmlns:a16="http://schemas.microsoft.com/office/drawing/2014/main" id="{44C413C6-8F12-DF09-A3F6-483BE5642CC6}"/>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346217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3A8D-272A-DE32-F5C3-7D1379D49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9A30C-4E66-95BA-2827-1DB2C0BE1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D219A-F1BE-6A31-E453-2CDAA0D14A97}"/>
              </a:ext>
            </a:extLst>
          </p:cNvPr>
          <p:cNvSpPr>
            <a:spLocks noGrp="1"/>
          </p:cNvSpPr>
          <p:nvPr>
            <p:ph type="body" idx="1"/>
          </p:nvPr>
        </p:nvSpPr>
        <p:spPr/>
        <p:txBody>
          <a:bodyPr>
            <a:normAutofit fontScale="92500" lnSpcReduction="10000"/>
          </a:bodyPr>
          <a:lstStyle/>
          <a:p>
            <a:r>
              <a:rPr lang="en-US" sz="1400" b="1" dirty="0"/>
              <a:t>NT</a:t>
            </a:r>
          </a:p>
          <a:p>
            <a:endParaRPr lang="en-US" dirty="0"/>
          </a:p>
          <a:p>
            <a:r>
              <a:rPr lang="en-US" sz="1400" b="1" dirty="0"/>
              <a:t>Meaning (Why are we here?)</a:t>
            </a:r>
            <a:endParaRPr lang="en-US" sz="1400" dirty="0"/>
          </a:p>
          <a:p>
            <a:endParaRPr lang="en-US" sz="1400" dirty="0"/>
          </a:p>
          <a:p>
            <a:r>
              <a:rPr lang="en-US" sz="1400" dirty="0"/>
              <a:t>-  </a:t>
            </a:r>
            <a:r>
              <a:rPr lang="en-US" sz="1400" b="1" dirty="0"/>
              <a:t>Matthew 5:13–16 </a:t>
            </a:r>
            <a:r>
              <a:rPr lang="en-US" sz="1400" dirty="0"/>
              <a:t>: Jesus tells His disciples they are “the salt of the earth” and “the light of the world,” giving them a sense of purpose: to preserve goodness, illuminate truth, and lead others to glorify God.  </a:t>
            </a:r>
          </a:p>
          <a:p>
            <a:r>
              <a:rPr lang="en-US" sz="1400" dirty="0"/>
              <a:t>-  </a:t>
            </a:r>
            <a:r>
              <a:rPr lang="en-US" sz="1400" b="1" dirty="0"/>
              <a:t>John 10:10</a:t>
            </a:r>
            <a:r>
              <a:rPr lang="en-US" sz="1400" dirty="0"/>
              <a:t> : Jesus says He came so that people “may have life, and have it abundantly.” This suggests that meaningful existence is found in Him, defined by a fullness of life rather than mere survival.  </a:t>
            </a:r>
          </a:p>
          <a:p>
            <a:pPr marL="171450" indent="-171450">
              <a:buFontTx/>
              <a:buChar char="-"/>
            </a:pPr>
            <a:r>
              <a:rPr lang="en-US" sz="1400" b="1" dirty="0"/>
              <a:t>John 15:1–11 </a:t>
            </a:r>
            <a:r>
              <a:rPr lang="en-US" sz="1400" dirty="0"/>
              <a:t>: Using the vine and branches metaphor, Jesus explains that abiding in Him leads to fruitful living. This indicates that human purpose is fulfilled in relationship with Christ, resulting in spiritual growth and joy.</a:t>
            </a:r>
          </a:p>
          <a:p>
            <a:pPr marL="0" indent="0">
              <a:buFontTx/>
              <a:buNone/>
            </a:pPr>
            <a:r>
              <a:rPr lang="en-US" sz="1400" dirty="0"/>
              <a:t>-  </a:t>
            </a:r>
            <a:r>
              <a:rPr lang="en-US" sz="1400" b="1" dirty="0"/>
              <a:t>Ephesians 2:10 </a:t>
            </a:r>
            <a:r>
              <a:rPr lang="en-US" sz="1400" dirty="0"/>
              <a:t>: Declares believers are God’s workmanship, created in Christ for good works—implying a purposeful existence rooted in God’s design.  </a:t>
            </a:r>
          </a:p>
          <a:p>
            <a:pPr marL="0" indent="0">
              <a:buFontTx/>
              <a:buNone/>
            </a:pPr>
            <a:r>
              <a:rPr lang="en-US" sz="1400" dirty="0"/>
              <a:t>-  </a:t>
            </a:r>
            <a:r>
              <a:rPr lang="en-US" sz="1400" b="1" dirty="0"/>
              <a:t>John 15:4–5, 8 </a:t>
            </a:r>
            <a:r>
              <a:rPr lang="en-US" sz="1400" dirty="0"/>
              <a:t>: The vine and branches analogy shows life’s meaning is found in abiding in Christ, bearing fruit that glorifies God.  </a:t>
            </a:r>
          </a:p>
          <a:p>
            <a:pPr marL="0" indent="0">
              <a:buFontTx/>
              <a:buNone/>
            </a:pPr>
            <a:r>
              <a:rPr lang="en-US" sz="1400" dirty="0"/>
              <a:t>-  </a:t>
            </a:r>
            <a:r>
              <a:rPr lang="en-US" sz="1400" b="1" dirty="0"/>
              <a:t>Philippians 1:21 </a:t>
            </a:r>
            <a:r>
              <a:rPr lang="en-US" sz="1400" dirty="0"/>
              <a:t>: Paul finds life’s meaning in Christ, stating, “To live is Christ,” which suggests our ultimate purpose involves knowing and serving Him.</a:t>
            </a:r>
          </a:p>
        </p:txBody>
      </p:sp>
      <p:sp>
        <p:nvSpPr>
          <p:cNvPr id="4" name="Slide Number Placeholder 3">
            <a:extLst>
              <a:ext uri="{FF2B5EF4-FFF2-40B4-BE49-F238E27FC236}">
                <a16:creationId xmlns:a16="http://schemas.microsoft.com/office/drawing/2014/main" id="{4369D296-CFAA-1E48-E826-D678476DF8BA}"/>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2606303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DA23-46C2-0B8C-84A2-413826FA5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F276-8CB6-1ECD-90F5-4D08A1AC6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CB3D8-3393-A3CE-0FF3-ED7B33DFB2E2}"/>
              </a:ext>
            </a:extLst>
          </p:cNvPr>
          <p:cNvSpPr>
            <a:spLocks noGrp="1"/>
          </p:cNvSpPr>
          <p:nvPr>
            <p:ph type="body" idx="1"/>
          </p:nvPr>
        </p:nvSpPr>
        <p:spPr/>
        <p:txBody>
          <a:bodyPr>
            <a:normAutofit lnSpcReduction="10000"/>
          </a:bodyPr>
          <a:lstStyle/>
          <a:p>
            <a:r>
              <a:rPr lang="en-US" sz="1400" b="1" dirty="0"/>
              <a:t>PSALMS</a:t>
            </a:r>
          </a:p>
          <a:p>
            <a:endParaRPr lang="en-US" sz="1400" dirty="0"/>
          </a:p>
          <a:p>
            <a:r>
              <a:rPr lang="en-US" sz="1400" b="1" dirty="0"/>
              <a:t>Morality (How should we live?)</a:t>
            </a:r>
          </a:p>
          <a:p>
            <a:endParaRPr lang="en-US" sz="1400" dirty="0"/>
          </a:p>
          <a:p>
            <a:pPr>
              <a:buFont typeface="Arial" panose="020B0604020202020204" pitchFamily="34" charset="0"/>
              <a:buChar char="•"/>
            </a:pPr>
            <a:r>
              <a:rPr lang="en-US" sz="1400" b="1" dirty="0"/>
              <a:t>Psalm 1:1–3</a:t>
            </a:r>
            <a:r>
              <a:rPr lang="en-US" sz="1400" dirty="0"/>
              <a:t>: Contrasts the life of the righteous—those who delight in God’s law—with the life of the wicked, setting a moral path for blessed living.</a:t>
            </a:r>
          </a:p>
          <a:p>
            <a:pPr>
              <a:buFont typeface="Arial" panose="020B0604020202020204" pitchFamily="34" charset="0"/>
              <a:buChar char="•"/>
            </a:pPr>
            <a:r>
              <a:rPr lang="en-US" sz="1400" b="1" dirty="0"/>
              <a:t>Psalm 15:1–5</a:t>
            </a:r>
            <a:r>
              <a:rPr lang="en-US" sz="1400" dirty="0"/>
              <a:t>: Describes the qualities of a person who may dwell in God’s presence—integrity, righteousness, honesty—defining moral character.</a:t>
            </a:r>
          </a:p>
          <a:p>
            <a:pPr>
              <a:buFont typeface="Arial" panose="020B0604020202020204" pitchFamily="34" charset="0"/>
              <a:buChar char="•"/>
            </a:pPr>
            <a:r>
              <a:rPr lang="en-US" sz="1400" b="1" dirty="0"/>
              <a:t>Psalm 19:7–11</a:t>
            </a:r>
            <a:r>
              <a:rPr lang="en-US" sz="1400" dirty="0"/>
              <a:t>: Celebrates God’s law as perfect, trustworthy, and enlightening, underscoring that moral direction comes from divine instruction.</a:t>
            </a:r>
          </a:p>
          <a:p>
            <a:pPr>
              <a:buFont typeface="Arial" panose="020B0604020202020204" pitchFamily="34" charset="0"/>
              <a:buChar char="•"/>
            </a:pPr>
            <a:r>
              <a:rPr lang="en-US" sz="1400" b="1" dirty="0"/>
              <a:t>Psalm 24:3–4</a:t>
            </a:r>
            <a:r>
              <a:rPr lang="en-US" sz="1400" dirty="0"/>
              <a:t>: Speaks of moral purity (clean hands and pure heart) as a prerequisite for approaching God’s holy presence.</a:t>
            </a:r>
          </a:p>
          <a:p>
            <a:pPr>
              <a:buFont typeface="Arial" panose="020B0604020202020204" pitchFamily="34" charset="0"/>
              <a:buChar char="•"/>
            </a:pPr>
            <a:r>
              <a:rPr lang="en-US" sz="1400" b="1" dirty="0"/>
              <a:t>Psalm 51:10</a:t>
            </a:r>
            <a:r>
              <a:rPr lang="en-US" sz="1400" dirty="0"/>
              <a:t>: Seeks God’s transformation of the heart, “Create in me a clean heart, O God,” showing morality rooted in inner renewal.</a:t>
            </a:r>
          </a:p>
          <a:p>
            <a:pPr>
              <a:buFont typeface="Arial" panose="020B0604020202020204" pitchFamily="34" charset="0"/>
              <a:buChar char="•"/>
            </a:pPr>
            <a:r>
              <a:rPr lang="en-US" sz="1400" b="1" dirty="0"/>
              <a:t>Psalm 119 (entire chapter, e.g. v. 9, 105)</a:t>
            </a:r>
            <a:r>
              <a:rPr lang="en-US" sz="1400" dirty="0"/>
              <a:t>: Extensively upholds God’s commandments as the true guide for living rightly and morally.</a:t>
            </a:r>
          </a:p>
          <a:p>
            <a:endParaRPr lang="en-US" dirty="0"/>
          </a:p>
        </p:txBody>
      </p:sp>
      <p:sp>
        <p:nvSpPr>
          <p:cNvPr id="4" name="Slide Number Placeholder 3">
            <a:extLst>
              <a:ext uri="{FF2B5EF4-FFF2-40B4-BE49-F238E27FC236}">
                <a16:creationId xmlns:a16="http://schemas.microsoft.com/office/drawing/2014/main" id="{9C43E95B-B936-F83E-AA05-7D7BC9969887}"/>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910559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DD59C-DC80-E44E-1674-95B974219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091D3-B7C0-CE47-AD1E-E09BF5796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DC708-B900-26E0-170D-30441B1E3726}"/>
              </a:ext>
            </a:extLst>
          </p:cNvPr>
          <p:cNvSpPr>
            <a:spLocks noGrp="1"/>
          </p:cNvSpPr>
          <p:nvPr>
            <p:ph type="body" idx="1"/>
          </p:nvPr>
        </p:nvSpPr>
        <p:spPr/>
        <p:txBody>
          <a:bodyPr>
            <a:normAutofit fontScale="77500" lnSpcReduction="20000"/>
          </a:bodyPr>
          <a:lstStyle/>
          <a:p>
            <a:r>
              <a:rPr lang="en-US" sz="1400" b="1" dirty="0"/>
              <a:t>NT</a:t>
            </a:r>
          </a:p>
          <a:p>
            <a:endParaRPr lang="en-US" sz="1400" dirty="0"/>
          </a:p>
          <a:p>
            <a:r>
              <a:rPr lang="en-US" sz="1400" b="1" dirty="0"/>
              <a:t>Morality (How should we live?)</a:t>
            </a:r>
            <a:endParaRPr lang="en-US" sz="1400" dirty="0"/>
          </a:p>
          <a:p>
            <a:pPr>
              <a:buFont typeface="Arial" panose="020B0604020202020204" pitchFamily="34" charset="0"/>
              <a:buChar char="•"/>
            </a:pPr>
            <a:endParaRPr lang="en-US" sz="1400" b="1" dirty="0"/>
          </a:p>
          <a:p>
            <a:r>
              <a:rPr lang="en-US" sz="1400" dirty="0"/>
              <a:t>-  </a:t>
            </a:r>
            <a:r>
              <a:rPr lang="en-US" sz="1400" b="1" dirty="0"/>
              <a:t>Matthew 5–7 </a:t>
            </a:r>
            <a:r>
              <a:rPr lang="en-US" sz="1400" dirty="0"/>
              <a:t>(Sermon on the Mount) : Jesus’ most comprehensive moral instruction—teaching on humility, righteousness, love for enemies, purity, integrity, and trusting God—provides an ethical framework that goes beyond external conformity to internal transformation.  </a:t>
            </a:r>
          </a:p>
          <a:p>
            <a:r>
              <a:rPr lang="en-US" sz="1400" dirty="0"/>
              <a:t>-  </a:t>
            </a:r>
            <a:r>
              <a:rPr lang="en-US" sz="1400" b="1" dirty="0"/>
              <a:t>Mark 12:30–31 </a:t>
            </a:r>
            <a:r>
              <a:rPr lang="en-US" sz="1400" dirty="0"/>
              <a:t>: Jesus summarizes the Law by instructing His followers to love God with their whole being and to love their neighbors as themselves. This dual command shapes moral priorities and principles for living.  </a:t>
            </a:r>
          </a:p>
          <a:p>
            <a:r>
              <a:rPr lang="en-US" sz="1400" dirty="0"/>
              <a:t>-  </a:t>
            </a:r>
            <a:r>
              <a:rPr lang="en-US" sz="1400" b="1" dirty="0"/>
              <a:t>Luke 10:25–37 </a:t>
            </a:r>
            <a:r>
              <a:rPr lang="en-US" sz="1400" dirty="0"/>
              <a:t>(Parable of the Good Samaritan) : Jesus uses a parable to redefine who our “neighbor” is and exhorts compassionate, sacrificial love as the highest moral responsibility.  </a:t>
            </a:r>
          </a:p>
          <a:p>
            <a:pPr marL="171450" indent="-171450">
              <a:buFontTx/>
              <a:buChar char="-"/>
            </a:pPr>
            <a:r>
              <a:rPr lang="en-US" sz="1400" b="1" dirty="0"/>
              <a:t>John 13:34–35 </a:t>
            </a:r>
            <a:r>
              <a:rPr lang="en-US" sz="1400" dirty="0"/>
              <a:t>: Jesus commands His disciples to love one another as He has loved them, making self-giving love the defining mark of Christian morality.</a:t>
            </a:r>
            <a:endParaRPr lang="en-US" sz="1400" b="1" dirty="0"/>
          </a:p>
          <a:p>
            <a:pPr marL="0" indent="0">
              <a:buFontTx/>
              <a:buNone/>
            </a:pPr>
            <a:r>
              <a:rPr lang="en-US" sz="1400" b="0" dirty="0"/>
              <a:t>-  </a:t>
            </a:r>
            <a:r>
              <a:rPr lang="en-US" sz="1400" b="1" dirty="0"/>
              <a:t>Matthew 5–7 </a:t>
            </a:r>
            <a:r>
              <a:rPr lang="en-US" sz="1400" b="0" dirty="0"/>
              <a:t>(Sermon on the Mount) : Jesus provides ethical teachings that set the moral standard for His followers, emphasizing inner transformation, love for enemies, and righteousness exceeding that of religious formalism.  </a:t>
            </a:r>
          </a:p>
          <a:p>
            <a:pPr marL="0" indent="0">
              <a:buFontTx/>
              <a:buNone/>
            </a:pPr>
            <a:r>
              <a:rPr lang="en-US" sz="1400" b="0" dirty="0"/>
              <a:t>-  </a:t>
            </a:r>
            <a:r>
              <a:rPr lang="en-US" sz="1400" b="1" dirty="0"/>
              <a:t>Romans 12:1–2 </a:t>
            </a:r>
            <a:r>
              <a:rPr lang="en-US" sz="1400" b="0" dirty="0"/>
              <a:t>: Encourages believers to present themselves as living sacrifices, be transformed by renewing their minds, and thereby discern God’s will—moral living through spiritual renewal.  </a:t>
            </a:r>
          </a:p>
          <a:p>
            <a:pPr marL="0" indent="0">
              <a:buFontTx/>
              <a:buNone/>
            </a:pPr>
            <a:r>
              <a:rPr lang="en-US" sz="1400" b="0" dirty="0"/>
              <a:t>-  </a:t>
            </a:r>
            <a:r>
              <a:rPr lang="en-US" sz="1400" b="1" dirty="0"/>
              <a:t>Galatians 5:22–23 </a:t>
            </a:r>
            <a:r>
              <a:rPr lang="en-US" sz="1400" b="0" dirty="0"/>
              <a:t>: Lists the Fruit of the Spirit, virtues like love, joy, peace, and self-control that form the moral character of a Christian.  </a:t>
            </a:r>
          </a:p>
          <a:p>
            <a:pPr marL="0" indent="0">
              <a:buFontTx/>
              <a:buNone/>
            </a:pPr>
            <a:r>
              <a:rPr lang="en-US" sz="1400" b="0" dirty="0"/>
              <a:t>-  </a:t>
            </a:r>
            <a:r>
              <a:rPr lang="en-US" sz="1400" b="1" dirty="0"/>
              <a:t>James 1:22–27 </a:t>
            </a:r>
            <a:r>
              <a:rPr lang="en-US" sz="1400" b="0" dirty="0"/>
              <a:t>: Urges action, not just hearing the Word, and highlights caring for orphans and widows as a hallmark of true religion.</a:t>
            </a:r>
          </a:p>
        </p:txBody>
      </p:sp>
      <p:sp>
        <p:nvSpPr>
          <p:cNvPr id="4" name="Slide Number Placeholder 3">
            <a:extLst>
              <a:ext uri="{FF2B5EF4-FFF2-40B4-BE49-F238E27FC236}">
                <a16:creationId xmlns:a16="http://schemas.microsoft.com/office/drawing/2014/main" id="{5FE824EE-E2D4-958C-EC12-4E4B2EF9EA05}"/>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245011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pPr eaLnBrk="1" hangingPunct="1"/>
            <a:r>
              <a:rPr lang="en-US" dirty="0"/>
              <a:t>Romans</a:t>
            </a:r>
            <a:endParaRPr dirty="0"/>
          </a:p>
        </p:txBody>
      </p:sp>
      <p:sp>
        <p:nvSpPr>
          <p:cNvPr id="6147" name="Subtitle 2"/>
          <p:cNvSpPr>
            <a:spLocks noGrp="1"/>
          </p:cNvSpPr>
          <p:nvPr>
            <p:ph type="subTitle" idx="1"/>
          </p:nvPr>
        </p:nvSpPr>
        <p:spPr/>
        <p:txBody>
          <a:bodyPr/>
          <a:lstStyle/>
          <a:p>
            <a:pPr eaLnBrk="1" hangingPunct="1"/>
            <a:r>
              <a:rPr lang="en-US" dirty="0"/>
              <a:t>God’s Judgment of </a:t>
            </a:r>
          </a:p>
          <a:p>
            <a:pPr eaLnBrk="1" hangingPunct="1"/>
            <a:r>
              <a:rPr lang="en-US" dirty="0"/>
              <a:t>The Moral Man</a:t>
            </a:r>
          </a:p>
          <a:p>
            <a:pPr eaLnBrk="1" hangingPunct="1"/>
            <a:r>
              <a:rPr lang="en-US" dirty="0"/>
              <a:t>Ch. 2</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71500" y="3200400"/>
            <a:ext cx="8001000" cy="1323439"/>
          </a:xfrm>
          <a:prstGeom prst="rect">
            <a:avLst/>
          </a:prstGeom>
          <a:noFill/>
        </p:spPr>
        <p:txBody>
          <a:bodyPr wrap="square" rtlCol="0">
            <a:spAutoFit/>
          </a:bodyPr>
          <a:lstStyle/>
          <a:p>
            <a:r>
              <a:rPr lang="en-US" sz="2000" b="1" i="1" dirty="0"/>
              <a:t>Romans 1 : The “Pagan Man” </a:t>
            </a:r>
          </a:p>
          <a:p>
            <a:pPr marL="342900" lvl="0" indent="-342900">
              <a:buFont typeface="Arial" pitchFamily="34" charset="0"/>
              <a:buChar char="•"/>
            </a:pPr>
            <a:r>
              <a:rPr lang="en-US" sz="2000" i="1" dirty="0"/>
              <a:t>For </a:t>
            </a:r>
            <a:r>
              <a:rPr lang="en-US" sz="2000" b="1" i="1" dirty="0"/>
              <a:t>Suppressing</a:t>
            </a:r>
            <a:r>
              <a:rPr lang="en-US" sz="2000" i="1" dirty="0"/>
              <a:t> God’s Truth (v.18)</a:t>
            </a:r>
          </a:p>
          <a:p>
            <a:pPr marL="342900" lvl="0" indent="-342900">
              <a:buFont typeface="Arial" pitchFamily="34" charset="0"/>
              <a:buChar char="•"/>
            </a:pPr>
            <a:r>
              <a:rPr lang="en-US" sz="2000" i="1" dirty="0"/>
              <a:t>For </a:t>
            </a:r>
            <a:r>
              <a:rPr lang="en-US" sz="2000" b="1" i="1" dirty="0"/>
              <a:t>Ignoring</a:t>
            </a:r>
            <a:r>
              <a:rPr lang="en-US" sz="2000" i="1" dirty="0"/>
              <a:t> God’s Revelation (v.19-20)</a:t>
            </a:r>
          </a:p>
          <a:p>
            <a:pPr marL="342900" lvl="0" indent="-342900">
              <a:buFont typeface="Arial" pitchFamily="34" charset="0"/>
              <a:buChar char="•"/>
            </a:pPr>
            <a:r>
              <a:rPr lang="en-US" sz="2000" i="1" dirty="0"/>
              <a:t>For </a:t>
            </a:r>
            <a:r>
              <a:rPr lang="en-US" sz="2000" b="1" i="1" dirty="0"/>
              <a:t>Perverting</a:t>
            </a:r>
            <a:r>
              <a:rPr lang="en-US" sz="2000" i="1" dirty="0"/>
              <a:t> God’s Glory (v.21-23)</a:t>
            </a:r>
          </a:p>
        </p:txBody>
      </p:sp>
      <p:sp>
        <p:nvSpPr>
          <p:cNvPr id="7" name="TextBox 6"/>
          <p:cNvSpPr txBox="1"/>
          <p:nvPr/>
        </p:nvSpPr>
        <p:spPr>
          <a:xfrm>
            <a:off x="527069" y="4660333"/>
            <a:ext cx="8001000" cy="400110"/>
          </a:xfrm>
          <a:prstGeom prst="rect">
            <a:avLst/>
          </a:prstGeom>
          <a:noFill/>
        </p:spPr>
        <p:txBody>
          <a:bodyPr wrap="square" rtlCol="0">
            <a:spAutoFit/>
          </a:bodyPr>
          <a:lstStyle/>
          <a:p>
            <a:r>
              <a:rPr lang="en-US" sz="2000" b="1" i="1" dirty="0"/>
              <a:t>Romans 2 : The “Moral Man”</a:t>
            </a:r>
          </a:p>
        </p:txBody>
      </p:sp>
      <p:sp>
        <p:nvSpPr>
          <p:cNvPr id="9" name="TextBox 8"/>
          <p:cNvSpPr txBox="1"/>
          <p:nvPr/>
        </p:nvSpPr>
        <p:spPr>
          <a:xfrm>
            <a:off x="515228" y="5230073"/>
            <a:ext cx="8001000" cy="400110"/>
          </a:xfrm>
          <a:prstGeom prst="rect">
            <a:avLst/>
          </a:prstGeom>
          <a:noFill/>
        </p:spPr>
        <p:txBody>
          <a:bodyPr wrap="square" rtlCol="0">
            <a:spAutoFit/>
          </a:bodyPr>
          <a:lstStyle/>
          <a:p>
            <a:r>
              <a:rPr lang="en-US" sz="2000" b="1" i="1" dirty="0"/>
              <a:t>Romans 3 : The “Spiritual Man”</a:t>
            </a:r>
          </a:p>
        </p:txBody>
      </p:sp>
      <p:sp>
        <p:nvSpPr>
          <p:cNvPr id="8" name="TextBox 7"/>
          <p:cNvSpPr txBox="1"/>
          <p:nvPr/>
        </p:nvSpPr>
        <p:spPr>
          <a:xfrm>
            <a:off x="537620" y="1524000"/>
            <a:ext cx="8001000" cy="1384995"/>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400" b="1" i="1" dirty="0"/>
              <a:t>1-3 Sin (All men are without excuse.) </a:t>
            </a:r>
          </a:p>
          <a:p>
            <a:pPr marL="342900" indent="-342900">
              <a:buFont typeface="Arial" pitchFamily="34" charset="0"/>
              <a:buChar char="•"/>
            </a:pPr>
            <a:r>
              <a:rPr lang="en-US" sz="2000" i="1" dirty="0"/>
              <a:t>4-5 Salvation</a:t>
            </a:r>
          </a:p>
          <a:p>
            <a:pPr marL="342900" indent="-342900">
              <a:buFont typeface="Arial" pitchFamily="34" charset="0"/>
              <a:buChar char="•"/>
            </a:pPr>
            <a:r>
              <a:rPr lang="en-US" sz="2000" i="1" dirty="0"/>
              <a:t>6-8 Sanctification</a:t>
            </a:r>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3</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Righteous Judgment</a:t>
            </a:r>
          </a:p>
        </p:txBody>
      </p:sp>
      <p:sp>
        <p:nvSpPr>
          <p:cNvPr id="6" name="TextBox 5"/>
          <p:cNvSpPr txBox="1"/>
          <p:nvPr/>
        </p:nvSpPr>
        <p:spPr>
          <a:xfrm>
            <a:off x="533400" y="1295400"/>
            <a:ext cx="8001000" cy="2554545"/>
          </a:xfrm>
          <a:prstGeom prst="rect">
            <a:avLst/>
          </a:prstGeom>
          <a:noFill/>
        </p:spPr>
        <p:txBody>
          <a:bodyPr wrap="square" rtlCol="0">
            <a:spAutoFit/>
          </a:bodyPr>
          <a:lstStyle/>
          <a:p>
            <a:pPr marL="457200" indent="-457200">
              <a:buAutoNum type="arabicParenBoth"/>
            </a:pPr>
            <a:r>
              <a:rPr lang="en-US" sz="2000" b="1" i="1" dirty="0"/>
              <a:t>According to Truth</a:t>
            </a:r>
          </a:p>
          <a:p>
            <a:endParaRPr lang="en-US" sz="2000" b="1" i="1" dirty="0"/>
          </a:p>
          <a:p>
            <a:r>
              <a:rPr lang="en-US" sz="2000" i="1" dirty="0"/>
              <a:t>“</a:t>
            </a:r>
            <a:r>
              <a:rPr lang="en-US" sz="2000" b="1" i="1" dirty="0"/>
              <a:t>But we know that the judgment of God is according to truth against those who practice such things</a:t>
            </a:r>
            <a:r>
              <a:rPr lang="en-US" sz="2000" i="1" dirty="0"/>
              <a:t>.” v.2</a:t>
            </a:r>
          </a:p>
          <a:p>
            <a:pPr marL="800100" lvl="1" indent="-342900">
              <a:buFont typeface="Arial" pitchFamily="34" charset="0"/>
              <a:buChar char="•"/>
            </a:pPr>
            <a:r>
              <a:rPr lang="en-US" sz="2000" i="1" dirty="0"/>
              <a:t>Self-righteousness</a:t>
            </a:r>
          </a:p>
          <a:p>
            <a:pPr marL="800100" lvl="1" indent="-342900">
              <a:buFont typeface="Arial" pitchFamily="34" charset="0"/>
              <a:buChar char="•"/>
            </a:pPr>
            <a:r>
              <a:rPr lang="en-US" sz="2000" i="1" dirty="0"/>
              <a:t>Condemnation before investigation</a:t>
            </a:r>
          </a:p>
          <a:p>
            <a:pPr marL="800100" lvl="1" indent="-342900">
              <a:buFont typeface="Arial" pitchFamily="34" charset="0"/>
              <a:buChar char="•"/>
            </a:pPr>
            <a:r>
              <a:rPr lang="en-US" sz="2000" i="1" dirty="0"/>
              <a:t>The only barrier to receiving the Truth is the assumption that you already have it.  (pride vs. “ask, seek, knock” humility)</a:t>
            </a:r>
          </a:p>
        </p:txBody>
      </p:sp>
      <p:sp>
        <p:nvSpPr>
          <p:cNvPr id="8" name="TextBox 7"/>
          <p:cNvSpPr txBox="1"/>
          <p:nvPr/>
        </p:nvSpPr>
        <p:spPr>
          <a:xfrm>
            <a:off x="526363" y="4267200"/>
            <a:ext cx="8001000" cy="1938992"/>
          </a:xfrm>
          <a:prstGeom prst="rect">
            <a:avLst/>
          </a:prstGeom>
          <a:noFill/>
        </p:spPr>
        <p:txBody>
          <a:bodyPr wrap="square" rtlCol="0">
            <a:spAutoFit/>
          </a:bodyPr>
          <a:lstStyle/>
          <a:p>
            <a:r>
              <a:rPr lang="en-US" sz="2000" b="1" i="1" dirty="0"/>
              <a:t>(2)  According to Accumulated Guilt</a:t>
            </a:r>
          </a:p>
          <a:p>
            <a:endParaRPr lang="en-US" sz="2000" b="1" i="1" dirty="0"/>
          </a:p>
          <a:p>
            <a:r>
              <a:rPr lang="en-US" sz="2000" b="1" i="1" dirty="0"/>
              <a:t>“…treasuring up for yourself wrath…</a:t>
            </a:r>
            <a:r>
              <a:rPr lang="en-US" sz="2000" i="1" dirty="0"/>
              <a:t>” v.5</a:t>
            </a:r>
          </a:p>
          <a:p>
            <a:pPr marL="800100" lvl="1" indent="-342900">
              <a:buFont typeface="Arial" pitchFamily="34" charset="0"/>
              <a:buChar char="•"/>
            </a:pPr>
            <a:r>
              <a:rPr lang="en-US" sz="2000" i="1" dirty="0"/>
              <a:t>Not until the last evil result of a life of sin can the final condemnation of the sinner be known.</a:t>
            </a:r>
          </a:p>
          <a:p>
            <a:pPr marL="800100" lvl="1" indent="-342900">
              <a:buFont typeface="Arial" pitchFamily="34" charset="0"/>
              <a:buChar char="•"/>
            </a:pPr>
            <a:r>
              <a:rPr lang="en-US" sz="2000" b="1" i="1" dirty="0"/>
              <a:t>Unless</a:t>
            </a:r>
            <a:r>
              <a:rPr lang="en-US" sz="2000" i="1" dirty="0"/>
              <a:t>…   John 5:24; Romans 8:1;   (The Good News!)</a:t>
            </a:r>
          </a:p>
        </p:txBody>
      </p:sp>
    </p:spTree>
    <p:extLst>
      <p:ext uri="{BB962C8B-B14F-4D97-AF65-F5344CB8AC3E}">
        <p14:creationId xmlns:p14="http://schemas.microsoft.com/office/powerpoint/2010/main" val="40557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Righteous Judgment</a:t>
            </a:r>
          </a:p>
        </p:txBody>
      </p:sp>
      <p:sp>
        <p:nvSpPr>
          <p:cNvPr id="6" name="TextBox 5"/>
          <p:cNvSpPr txBox="1"/>
          <p:nvPr/>
        </p:nvSpPr>
        <p:spPr>
          <a:xfrm>
            <a:off x="533400" y="1295400"/>
            <a:ext cx="8001000" cy="2554545"/>
          </a:xfrm>
          <a:prstGeom prst="rect">
            <a:avLst/>
          </a:prstGeom>
          <a:noFill/>
        </p:spPr>
        <p:txBody>
          <a:bodyPr wrap="square" rtlCol="0">
            <a:spAutoFit/>
          </a:bodyPr>
          <a:lstStyle/>
          <a:p>
            <a:r>
              <a:rPr lang="en-US" sz="2000" b="1" i="1" dirty="0"/>
              <a:t>(3)  According to Works</a:t>
            </a:r>
          </a:p>
          <a:p>
            <a:endParaRPr lang="en-US" sz="2000" b="1" i="1" dirty="0"/>
          </a:p>
          <a:p>
            <a:r>
              <a:rPr lang="en-US" sz="2000" i="1" dirty="0"/>
              <a:t>“</a:t>
            </a:r>
            <a:r>
              <a:rPr lang="en-US" sz="2000" b="1" i="1" dirty="0"/>
              <a:t>Who will render  to each one according to his deeds:</a:t>
            </a:r>
            <a:r>
              <a:rPr lang="en-US" sz="2000" i="1" dirty="0"/>
              <a:t>” v.6</a:t>
            </a:r>
          </a:p>
          <a:p>
            <a:pPr marL="342900" indent="-342900">
              <a:buFont typeface="Arial" pitchFamily="34" charset="0"/>
              <a:buChar char="•"/>
            </a:pPr>
            <a:r>
              <a:rPr lang="en-US" sz="2000" i="1" dirty="0"/>
              <a:t>Revelation 20:13-15</a:t>
            </a:r>
          </a:p>
          <a:p>
            <a:pPr marL="342900" indent="-342900">
              <a:buFont typeface="Arial" pitchFamily="34" charset="0"/>
              <a:buChar char="•"/>
            </a:pPr>
            <a:r>
              <a:rPr lang="en-US" sz="2000" i="1" dirty="0"/>
              <a:t>Not a revelation of the way of salvation, but a general description of the character of the saved.</a:t>
            </a:r>
          </a:p>
          <a:p>
            <a:pPr marL="342900" indent="-342900">
              <a:buFont typeface="Arial" pitchFamily="34" charset="0"/>
              <a:buChar char="•"/>
            </a:pPr>
            <a:r>
              <a:rPr lang="en-US" sz="2000" i="1" dirty="0"/>
              <a:t>“Doing good” demonstrates a heart that is right with God.</a:t>
            </a:r>
          </a:p>
          <a:p>
            <a:pPr marL="800100" lvl="1" indent="-342900">
              <a:buFont typeface="Arial" pitchFamily="34" charset="0"/>
              <a:buChar char="•"/>
            </a:pPr>
            <a:endParaRPr lang="en-US" sz="2000" i="1" dirty="0"/>
          </a:p>
        </p:txBody>
      </p:sp>
      <p:sp>
        <p:nvSpPr>
          <p:cNvPr id="8" name="TextBox 7"/>
          <p:cNvSpPr txBox="1"/>
          <p:nvPr/>
        </p:nvSpPr>
        <p:spPr>
          <a:xfrm>
            <a:off x="582635" y="4002345"/>
            <a:ext cx="8001000" cy="2246769"/>
          </a:xfrm>
          <a:prstGeom prst="rect">
            <a:avLst/>
          </a:prstGeom>
          <a:noFill/>
        </p:spPr>
        <p:txBody>
          <a:bodyPr wrap="square" rtlCol="0">
            <a:spAutoFit/>
          </a:bodyPr>
          <a:lstStyle/>
          <a:p>
            <a:r>
              <a:rPr lang="en-US" sz="2000" b="1" i="1" dirty="0"/>
              <a:t>(4)  Without Respect of Persons</a:t>
            </a:r>
          </a:p>
          <a:p>
            <a:endParaRPr lang="en-US" sz="2000" b="1" i="1" dirty="0"/>
          </a:p>
          <a:p>
            <a:r>
              <a:rPr lang="en-US" sz="2000" i="1" dirty="0"/>
              <a:t>“</a:t>
            </a:r>
            <a:r>
              <a:rPr lang="en-US" sz="2000" b="1" i="1" dirty="0"/>
              <a:t>For there is no respect of persons with God.</a:t>
            </a:r>
            <a:r>
              <a:rPr lang="en-US" sz="2000" i="1" dirty="0"/>
              <a:t>” v.11</a:t>
            </a:r>
          </a:p>
          <a:p>
            <a:pPr marL="342900" indent="-342900">
              <a:buFont typeface="Arial" pitchFamily="34" charset="0"/>
              <a:buChar char="•"/>
            </a:pPr>
            <a:r>
              <a:rPr lang="en-US" sz="2000" i="1" dirty="0"/>
              <a:t>Just recompense by God is without regard to:</a:t>
            </a:r>
          </a:p>
          <a:p>
            <a:pPr marL="800100" lvl="1" indent="-342900">
              <a:buFont typeface="Arial" pitchFamily="34" charset="0"/>
              <a:buChar char="•"/>
            </a:pPr>
            <a:r>
              <a:rPr lang="en-US" sz="2000" i="1" dirty="0"/>
              <a:t>Ethnic background or any other consideration,</a:t>
            </a:r>
          </a:p>
          <a:p>
            <a:pPr marL="800100" lvl="1" indent="-342900">
              <a:buFont typeface="Arial" pitchFamily="34" charset="0"/>
              <a:buChar char="•"/>
            </a:pPr>
            <a:r>
              <a:rPr lang="en-US" sz="2000" i="1" dirty="0"/>
              <a:t>Except what each person has done.</a:t>
            </a:r>
          </a:p>
          <a:p>
            <a:pPr marL="342900" indent="-342900">
              <a:buFont typeface="Arial" pitchFamily="34" charset="0"/>
              <a:buChar char="•"/>
            </a:pPr>
            <a:r>
              <a:rPr lang="en-US" sz="2000" i="1" dirty="0"/>
              <a:t>Law – specific and general (according to the Light given)</a:t>
            </a:r>
          </a:p>
        </p:txBody>
      </p:sp>
    </p:spTree>
    <p:extLst>
      <p:ext uri="{BB962C8B-B14F-4D97-AF65-F5344CB8AC3E}">
        <p14:creationId xmlns:p14="http://schemas.microsoft.com/office/powerpoint/2010/main" val="394331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5</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Righteous Judgment</a:t>
            </a:r>
          </a:p>
        </p:txBody>
      </p:sp>
      <p:sp>
        <p:nvSpPr>
          <p:cNvPr id="6" name="TextBox 5"/>
          <p:cNvSpPr txBox="1"/>
          <p:nvPr/>
        </p:nvSpPr>
        <p:spPr>
          <a:xfrm>
            <a:off x="533400" y="1295400"/>
            <a:ext cx="8001000" cy="2554545"/>
          </a:xfrm>
          <a:prstGeom prst="rect">
            <a:avLst/>
          </a:prstGeom>
          <a:noFill/>
        </p:spPr>
        <p:txBody>
          <a:bodyPr wrap="square" rtlCol="0">
            <a:spAutoFit/>
          </a:bodyPr>
          <a:lstStyle/>
          <a:p>
            <a:r>
              <a:rPr lang="en-US" sz="2000" b="1" i="1" dirty="0"/>
              <a:t>(5)  According to Obedience</a:t>
            </a:r>
          </a:p>
          <a:p>
            <a:endParaRPr lang="en-US" sz="2000" b="1" i="1" dirty="0"/>
          </a:p>
          <a:p>
            <a:r>
              <a:rPr lang="en-US" sz="2000" i="1" dirty="0"/>
              <a:t>“</a:t>
            </a:r>
            <a:r>
              <a:rPr lang="en-US" sz="2000" b="1" i="1" dirty="0"/>
              <a:t>…for not the hearers of the law are just in the sight of God, but the doers of the law will be justified;…</a:t>
            </a:r>
            <a:r>
              <a:rPr lang="en-US" sz="2000" i="1" dirty="0"/>
              <a:t>”  v.13</a:t>
            </a:r>
          </a:p>
          <a:p>
            <a:pPr marL="342900" indent="-342900">
              <a:buFont typeface="Arial" pitchFamily="34" charset="0"/>
              <a:buChar char="•"/>
            </a:pPr>
            <a:r>
              <a:rPr lang="en-US" sz="2000" i="1" dirty="0"/>
              <a:t>Addresses the false comfort or false peace (i.e. false teaching) of justification by merely “knowing God’s Truth”.</a:t>
            </a:r>
          </a:p>
          <a:p>
            <a:pPr marL="342900" indent="-342900">
              <a:buFont typeface="Arial" pitchFamily="34" charset="0"/>
              <a:buChar char="•"/>
            </a:pPr>
            <a:r>
              <a:rPr lang="en-US" sz="2000" i="1" dirty="0"/>
              <a:t>Gospel speaks of the “obedience of faith”. </a:t>
            </a:r>
          </a:p>
          <a:p>
            <a:pPr marL="342900" indent="-342900">
              <a:buFont typeface="Arial" pitchFamily="34" charset="0"/>
              <a:buChar char="•"/>
            </a:pPr>
            <a:r>
              <a:rPr lang="en-US" sz="2000" i="1" dirty="0"/>
              <a:t>Habitual conduct reveals one’s heart.</a:t>
            </a:r>
          </a:p>
        </p:txBody>
      </p:sp>
      <p:sp>
        <p:nvSpPr>
          <p:cNvPr id="8" name="TextBox 7"/>
          <p:cNvSpPr txBox="1"/>
          <p:nvPr/>
        </p:nvSpPr>
        <p:spPr>
          <a:xfrm>
            <a:off x="582635" y="4002345"/>
            <a:ext cx="8001000" cy="1938992"/>
          </a:xfrm>
          <a:prstGeom prst="rect">
            <a:avLst/>
          </a:prstGeom>
          <a:noFill/>
        </p:spPr>
        <p:txBody>
          <a:bodyPr wrap="square" rtlCol="0">
            <a:spAutoFit/>
          </a:bodyPr>
          <a:lstStyle/>
          <a:p>
            <a:r>
              <a:rPr lang="en-US" sz="2000" b="1" i="1" dirty="0"/>
              <a:t>(6)   According to Secrets of the Heart</a:t>
            </a:r>
          </a:p>
          <a:p>
            <a:endParaRPr lang="en-US" sz="2000" b="1" i="1" dirty="0"/>
          </a:p>
          <a:p>
            <a:r>
              <a:rPr lang="en-US" sz="2000" b="1" i="1" dirty="0"/>
              <a:t>“In the day when God will judge the secrets of men by Jesus Christ, according to my gospel.</a:t>
            </a:r>
            <a:r>
              <a:rPr lang="en-US" sz="2000" i="1" dirty="0"/>
              <a:t>” v.16</a:t>
            </a:r>
          </a:p>
          <a:p>
            <a:pPr marL="800100" lvl="1" indent="-342900">
              <a:buFont typeface="Arial" pitchFamily="34" charset="0"/>
              <a:buChar char="•"/>
            </a:pPr>
            <a:r>
              <a:rPr lang="en-US" sz="2000" i="1" dirty="0"/>
              <a:t>In accord with theme of verses  2:5-13</a:t>
            </a:r>
          </a:p>
          <a:p>
            <a:pPr marL="800100" lvl="1" indent="-342900">
              <a:buFont typeface="Arial" pitchFamily="34" charset="0"/>
              <a:buChar char="•"/>
            </a:pPr>
            <a:r>
              <a:rPr lang="en-US" sz="2000" i="1" dirty="0"/>
              <a:t>Judgment will deal with men’s secrets.   1 Cor. 4:5</a:t>
            </a:r>
          </a:p>
        </p:txBody>
      </p:sp>
    </p:spTree>
    <p:extLst>
      <p:ext uri="{BB962C8B-B14F-4D97-AF65-F5344CB8AC3E}">
        <p14:creationId xmlns:p14="http://schemas.microsoft.com/office/powerpoint/2010/main" val="260554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6</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Seven Principles of God’s Judgment</a:t>
            </a:r>
          </a:p>
        </p:txBody>
      </p:sp>
      <p:sp>
        <p:nvSpPr>
          <p:cNvPr id="6" name="TextBox 5"/>
          <p:cNvSpPr txBox="1"/>
          <p:nvPr/>
        </p:nvSpPr>
        <p:spPr>
          <a:xfrm>
            <a:off x="533400" y="1295400"/>
            <a:ext cx="8001000" cy="5324535"/>
          </a:xfrm>
          <a:prstGeom prst="rect">
            <a:avLst/>
          </a:prstGeom>
          <a:noFill/>
        </p:spPr>
        <p:txBody>
          <a:bodyPr wrap="square" rtlCol="0">
            <a:spAutoFit/>
          </a:bodyPr>
          <a:lstStyle/>
          <a:p>
            <a:r>
              <a:rPr lang="en-US" sz="2000" b="1" i="1" dirty="0"/>
              <a:t>(7)  According to Reality</a:t>
            </a:r>
          </a:p>
          <a:p>
            <a:endParaRPr lang="en-US" sz="2000" b="1" i="1" dirty="0"/>
          </a:p>
          <a:p>
            <a:r>
              <a:rPr lang="en-US" sz="2000" b="1" i="1" dirty="0"/>
              <a:t>Romans 2:17-29</a:t>
            </a:r>
          </a:p>
          <a:p>
            <a:pPr marL="342900" indent="-342900">
              <a:buFont typeface="Arial" pitchFamily="34" charset="0"/>
              <a:buChar char="•"/>
            </a:pPr>
            <a:r>
              <a:rPr lang="en-US" sz="2000" i="1" dirty="0"/>
              <a:t>Specifically addressing the Jew; exemplar of the religious person; who is proud of the law, but not keeping it.</a:t>
            </a:r>
          </a:p>
          <a:p>
            <a:pPr marL="342900" indent="-342900">
              <a:buFont typeface="Arial" pitchFamily="34" charset="0"/>
              <a:buChar char="•"/>
            </a:pPr>
            <a:r>
              <a:rPr lang="en-US" sz="2000" i="1" dirty="0"/>
              <a:t>Religion – man’s attempt to cover himself.</a:t>
            </a:r>
          </a:p>
          <a:p>
            <a:pPr marL="342900" indent="-342900">
              <a:buFont typeface="Arial" pitchFamily="34" charset="0"/>
              <a:buChar char="•"/>
            </a:pPr>
            <a:r>
              <a:rPr lang="en-US" sz="2000" i="1" dirty="0"/>
              <a:t>Basis of Jewish Pride</a:t>
            </a:r>
          </a:p>
          <a:p>
            <a:pPr marL="800100" lvl="1" indent="-342900">
              <a:buFont typeface="Arial" pitchFamily="34" charset="0"/>
              <a:buChar char="•"/>
            </a:pPr>
            <a:r>
              <a:rPr lang="en-US" sz="2000" i="1" dirty="0"/>
              <a:t>Being called a Jew</a:t>
            </a:r>
          </a:p>
          <a:p>
            <a:pPr marL="800100" lvl="1" indent="-342900">
              <a:buFont typeface="Arial" pitchFamily="34" charset="0"/>
              <a:buChar char="•"/>
            </a:pPr>
            <a:r>
              <a:rPr lang="en-US" sz="2000" i="1" dirty="0"/>
              <a:t>Relied on the Law</a:t>
            </a:r>
          </a:p>
          <a:p>
            <a:pPr marL="800100" lvl="1" indent="-342900">
              <a:buFont typeface="Arial" pitchFamily="34" charset="0"/>
              <a:buChar char="•"/>
            </a:pPr>
            <a:r>
              <a:rPr lang="en-US" sz="2000" i="1" dirty="0"/>
              <a:t>Boasting of God</a:t>
            </a:r>
          </a:p>
          <a:p>
            <a:pPr marL="800100" lvl="1" indent="-342900">
              <a:buFont typeface="Arial" pitchFamily="34" charset="0"/>
              <a:buChar char="•"/>
            </a:pPr>
            <a:r>
              <a:rPr lang="en-US" sz="2000" i="1" dirty="0"/>
              <a:t>Knowing God’s Will</a:t>
            </a:r>
          </a:p>
          <a:p>
            <a:pPr marL="800100" lvl="1" indent="-342900">
              <a:buFont typeface="Arial" pitchFamily="34" charset="0"/>
              <a:buChar char="•"/>
            </a:pPr>
            <a:r>
              <a:rPr lang="en-US" sz="2000" i="1" dirty="0"/>
              <a:t>Being instructed of the Law</a:t>
            </a:r>
          </a:p>
          <a:p>
            <a:pPr marL="342900" indent="-342900">
              <a:buFont typeface="Arial" pitchFamily="34" charset="0"/>
              <a:buChar char="•"/>
            </a:pPr>
            <a:r>
              <a:rPr lang="en-US" sz="2000" i="1" dirty="0"/>
              <a:t>“</a:t>
            </a:r>
            <a:r>
              <a:rPr lang="en-US" sz="2000" b="1" i="1" dirty="0"/>
              <a:t>For ‘the name of God is blasphemed among the Gentiles because of you’…”  </a:t>
            </a:r>
            <a:r>
              <a:rPr lang="en-US" sz="2000" i="1" dirty="0"/>
              <a:t>Isaiah 52:5;  Ezekiel 36:22</a:t>
            </a:r>
          </a:p>
          <a:p>
            <a:pPr marL="342900" indent="-342900">
              <a:buFont typeface="Arial" pitchFamily="34" charset="0"/>
              <a:buChar char="•"/>
            </a:pPr>
            <a:r>
              <a:rPr lang="en-US" sz="2000" i="1" dirty="0"/>
              <a:t>Reality counts with God…  the true “Jew” exemplar is one who is circumcised in heart; one who seeks to walk in accordance with the revealed will of God.</a:t>
            </a:r>
          </a:p>
        </p:txBody>
      </p:sp>
    </p:spTree>
    <p:extLst>
      <p:ext uri="{BB962C8B-B14F-4D97-AF65-F5344CB8AC3E}">
        <p14:creationId xmlns:p14="http://schemas.microsoft.com/office/powerpoint/2010/main" val="260554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7</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Conscience, v. 14-15</a:t>
            </a:r>
          </a:p>
        </p:txBody>
      </p:sp>
      <p:sp>
        <p:nvSpPr>
          <p:cNvPr id="6" name="TextBox 5"/>
          <p:cNvSpPr txBox="1"/>
          <p:nvPr/>
        </p:nvSpPr>
        <p:spPr>
          <a:xfrm>
            <a:off x="533400" y="1198098"/>
            <a:ext cx="8001000" cy="1015663"/>
          </a:xfrm>
          <a:prstGeom prst="rect">
            <a:avLst/>
          </a:prstGeom>
          <a:noFill/>
        </p:spPr>
        <p:txBody>
          <a:bodyPr wrap="square" rtlCol="0">
            <a:spAutoFit/>
          </a:bodyPr>
          <a:lstStyle/>
          <a:p>
            <a:r>
              <a:rPr lang="en-US" sz="2000" i="1" dirty="0"/>
              <a:t>Conscience is an important part of human nature…</a:t>
            </a:r>
          </a:p>
          <a:p>
            <a:pPr marL="342900" indent="-342900">
              <a:buFont typeface="Arial" pitchFamily="34" charset="0"/>
              <a:buChar char="•"/>
            </a:pPr>
            <a:r>
              <a:rPr lang="en-US" sz="2000" i="1" dirty="0"/>
              <a:t>But, not an absolutely trustworthy indicator of what is right.</a:t>
            </a:r>
          </a:p>
          <a:p>
            <a:pPr marL="342900" indent="-342900">
              <a:buFont typeface="Arial" pitchFamily="34" charset="0"/>
              <a:buChar char="•"/>
            </a:pPr>
            <a:r>
              <a:rPr lang="en-US" sz="2000" i="1" dirty="0"/>
              <a:t>Romans 2:14,15 are an explanation of verses 2:12,13</a:t>
            </a:r>
          </a:p>
        </p:txBody>
      </p:sp>
      <p:sp>
        <p:nvSpPr>
          <p:cNvPr id="7" name="TextBox 6"/>
          <p:cNvSpPr txBox="1"/>
          <p:nvPr/>
        </p:nvSpPr>
        <p:spPr>
          <a:xfrm>
            <a:off x="571500" y="2362200"/>
            <a:ext cx="8191500" cy="1015663"/>
          </a:xfrm>
          <a:prstGeom prst="rect">
            <a:avLst/>
          </a:prstGeom>
          <a:noFill/>
        </p:spPr>
        <p:txBody>
          <a:bodyPr wrap="square" rtlCol="0">
            <a:spAutoFit/>
          </a:bodyPr>
          <a:lstStyle/>
          <a:p>
            <a:r>
              <a:rPr lang="en-US" sz="2000" i="1" dirty="0"/>
              <a:t>One’s conscience can be…</a:t>
            </a:r>
          </a:p>
          <a:p>
            <a:pPr marL="342900" indent="-342900">
              <a:buFont typeface="Arial" pitchFamily="34" charset="0"/>
              <a:buChar char="•"/>
            </a:pPr>
            <a:r>
              <a:rPr lang="en-US" sz="2000" i="1" dirty="0"/>
              <a:t>“good”  -  Acts 23:1;  1 Timothy 1:5,19</a:t>
            </a:r>
          </a:p>
          <a:p>
            <a:pPr marL="342900" indent="-342900">
              <a:buFont typeface="Arial" pitchFamily="34" charset="0"/>
              <a:buChar char="•"/>
            </a:pPr>
            <a:r>
              <a:rPr lang="en-US" sz="2000" i="1" dirty="0"/>
              <a:t>“clear”  -  Acts 24:16;  1 Timothy 3:9; 2 Timothy 1:3; Hebrews 13:18</a:t>
            </a:r>
          </a:p>
        </p:txBody>
      </p:sp>
      <p:sp>
        <p:nvSpPr>
          <p:cNvPr id="9" name="TextBox 8"/>
          <p:cNvSpPr txBox="1"/>
          <p:nvPr/>
        </p:nvSpPr>
        <p:spPr>
          <a:xfrm>
            <a:off x="571500" y="3581400"/>
            <a:ext cx="8001000" cy="1631216"/>
          </a:xfrm>
          <a:prstGeom prst="rect">
            <a:avLst/>
          </a:prstGeom>
          <a:noFill/>
        </p:spPr>
        <p:txBody>
          <a:bodyPr wrap="square" rtlCol="0">
            <a:spAutoFit/>
          </a:bodyPr>
          <a:lstStyle/>
          <a:p>
            <a:r>
              <a:rPr lang="en-US" sz="2000" i="1" dirty="0"/>
              <a:t>But, it can also be…</a:t>
            </a:r>
          </a:p>
          <a:p>
            <a:pPr marL="342900" indent="-342900">
              <a:buFont typeface="Arial" pitchFamily="34" charset="0"/>
              <a:buChar char="•"/>
            </a:pPr>
            <a:r>
              <a:rPr lang="en-US" sz="2000" i="1" dirty="0"/>
              <a:t>“guilty”  -  Hebrews 10:22</a:t>
            </a:r>
          </a:p>
          <a:p>
            <a:pPr marL="342900" indent="-342900">
              <a:buFont typeface="Arial" pitchFamily="34" charset="0"/>
              <a:buChar char="•"/>
            </a:pPr>
            <a:r>
              <a:rPr lang="en-US" sz="2000" i="1" dirty="0"/>
              <a:t>“corrupted”  -  Titus 1:15</a:t>
            </a:r>
          </a:p>
          <a:p>
            <a:pPr marL="342900" indent="-342900">
              <a:buFont typeface="Arial" pitchFamily="34" charset="0"/>
              <a:buChar char="•"/>
            </a:pPr>
            <a:r>
              <a:rPr lang="en-US" sz="2000" i="1" dirty="0"/>
              <a:t>“weak”  -   1 Corinthians 8:7,10,12</a:t>
            </a:r>
          </a:p>
          <a:p>
            <a:pPr marL="342900" indent="-342900">
              <a:buFont typeface="Arial" pitchFamily="34" charset="0"/>
              <a:buChar char="•"/>
            </a:pPr>
            <a:r>
              <a:rPr lang="en-US" sz="2000" i="1" dirty="0"/>
              <a:t>“seared”  -  1 Timothy 4:2 </a:t>
            </a:r>
          </a:p>
        </p:txBody>
      </p:sp>
      <p:sp>
        <p:nvSpPr>
          <p:cNvPr id="8" name="TextBox 7"/>
          <p:cNvSpPr txBox="1"/>
          <p:nvPr/>
        </p:nvSpPr>
        <p:spPr>
          <a:xfrm>
            <a:off x="494422" y="5410200"/>
            <a:ext cx="8191500" cy="707886"/>
          </a:xfrm>
          <a:prstGeom prst="rect">
            <a:avLst/>
          </a:prstGeom>
          <a:noFill/>
        </p:spPr>
        <p:txBody>
          <a:bodyPr wrap="square" rtlCol="0">
            <a:spAutoFit/>
          </a:bodyPr>
          <a:lstStyle/>
          <a:p>
            <a:r>
              <a:rPr lang="en-US" sz="2000" i="1" dirty="0"/>
              <a:t>By way of the blood of Jesus Christ, our conscience may be…</a:t>
            </a:r>
          </a:p>
          <a:p>
            <a:pPr marL="342900" indent="-342900">
              <a:buFont typeface="Arial" pitchFamily="34" charset="0"/>
              <a:buChar char="•"/>
            </a:pPr>
            <a:r>
              <a:rPr lang="en-US" sz="2000" i="1" dirty="0"/>
              <a:t>“cleansed”  -  Hebrews 9:14</a:t>
            </a:r>
          </a:p>
        </p:txBody>
      </p:sp>
    </p:spTree>
    <p:extLst>
      <p:ext uri="{BB962C8B-B14F-4D97-AF65-F5344CB8AC3E}">
        <p14:creationId xmlns:p14="http://schemas.microsoft.com/office/powerpoint/2010/main" val="79054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8</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a:t>
            </a:r>
            <a:br>
              <a:rPr lang="en-US" dirty="0"/>
            </a:br>
            <a:r>
              <a:rPr lang="en-US" sz="2400" dirty="0">
                <a:solidFill>
                  <a:schemeClr val="tx2">
                    <a:lumMod val="60000"/>
                    <a:lumOff val="40000"/>
                  </a:schemeClr>
                </a:solidFill>
              </a:rPr>
              <a:t>Regarding his Fate</a:t>
            </a:r>
          </a:p>
        </p:txBody>
      </p:sp>
      <p:sp>
        <p:nvSpPr>
          <p:cNvPr id="6" name="TextBox 5"/>
          <p:cNvSpPr txBox="1"/>
          <p:nvPr/>
        </p:nvSpPr>
        <p:spPr>
          <a:xfrm>
            <a:off x="571500" y="1295400"/>
            <a:ext cx="8001000" cy="5016758"/>
          </a:xfrm>
          <a:prstGeom prst="rect">
            <a:avLst/>
          </a:prstGeom>
          <a:noFill/>
        </p:spPr>
        <p:txBody>
          <a:bodyPr wrap="square" rtlCol="0">
            <a:spAutoFit/>
          </a:bodyPr>
          <a:lstStyle/>
          <a:p>
            <a:r>
              <a:rPr lang="en-US" sz="2000" i="1" dirty="0"/>
              <a:t>“The saving of souls, if a man has once gained love to perishing sinners and his blessed master, will be an all-absorbing passion to him.</a:t>
            </a:r>
          </a:p>
          <a:p>
            <a:endParaRPr lang="en-US" sz="2000" i="1" dirty="0"/>
          </a:p>
          <a:p>
            <a:r>
              <a:rPr lang="en-US" sz="2000" i="1" dirty="0"/>
              <a:t>It will so carry him away, that he will almost forget himself in the saving of others.  He will be like the brave fireman, who cares not for the scorch or the heat, so that he may rescue the poor creature on whom true humanity has set its heart.</a:t>
            </a:r>
          </a:p>
          <a:p>
            <a:endParaRPr lang="en-US" sz="2000" i="1" dirty="0"/>
          </a:p>
          <a:p>
            <a:r>
              <a:rPr lang="en-US" sz="2000" i="1" dirty="0"/>
              <a:t>If sinners be damned, at least let them leap to hell over our bodies.   And if they will perish, let them perish with our arms about their knees, imploring them to stay.  If hell must be filled, at least let it be filled in the teeth of our exertions, and let none go there unwarned and unprayed for.”</a:t>
            </a:r>
          </a:p>
          <a:p>
            <a:endParaRPr lang="en-US" sz="2000" i="1" dirty="0"/>
          </a:p>
          <a:p>
            <a:r>
              <a:rPr lang="en-US" sz="2000" i="1" dirty="0"/>
              <a:t>Charles Spurgeon</a:t>
            </a:r>
          </a:p>
        </p:txBody>
      </p:sp>
    </p:spTree>
    <p:extLst>
      <p:ext uri="{BB962C8B-B14F-4D97-AF65-F5344CB8AC3E}">
        <p14:creationId xmlns:p14="http://schemas.microsoft.com/office/powerpoint/2010/main" val="359189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8953-21E3-B64A-B387-AE0EB91424C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B3967C0-C896-115F-A02C-942C7255E1A5}"/>
              </a:ext>
            </a:extLst>
          </p:cNvPr>
          <p:cNvSpPr>
            <a:spLocks noGrp="1"/>
          </p:cNvSpPr>
          <p:nvPr>
            <p:ph type="title"/>
          </p:nvPr>
        </p:nvSpPr>
        <p:spPr>
          <a:xfrm>
            <a:off x="228600" y="7088"/>
            <a:ext cx="8839200" cy="914400"/>
          </a:xfrm>
        </p:spPr>
        <p:txBody>
          <a:bodyPr>
            <a:normAutofit fontScale="90000"/>
          </a:bodyPr>
          <a:lstStyle/>
          <a:p>
            <a:pPr algn="l"/>
            <a:r>
              <a:rPr lang="en-US" sz="3600" dirty="0"/>
              <a:t>Meaning (Why are we here?)</a:t>
            </a:r>
            <a:br>
              <a:rPr lang="en-US" sz="3600" dirty="0"/>
            </a:br>
            <a:r>
              <a:rPr lang="en-US" sz="2200" dirty="0">
                <a:solidFill>
                  <a:schemeClr val="tx2">
                    <a:lumMod val="60000"/>
                    <a:lumOff val="40000"/>
                  </a:schemeClr>
                </a:solidFill>
              </a:rPr>
              <a:t>Revealing Human Life as Purposeful and Precious </a:t>
            </a:r>
          </a:p>
        </p:txBody>
      </p:sp>
      <p:sp>
        <p:nvSpPr>
          <p:cNvPr id="7" name="TextBox 6">
            <a:extLst>
              <a:ext uri="{FF2B5EF4-FFF2-40B4-BE49-F238E27FC236}">
                <a16:creationId xmlns:a16="http://schemas.microsoft.com/office/drawing/2014/main" id="{02B34694-DF74-6725-165C-A1B3D4784985}"/>
              </a:ext>
            </a:extLst>
          </p:cNvPr>
          <p:cNvSpPr txBox="1"/>
          <p:nvPr/>
        </p:nvSpPr>
        <p:spPr>
          <a:xfrm>
            <a:off x="228600" y="944348"/>
            <a:ext cx="8686800" cy="5632311"/>
          </a:xfrm>
          <a:prstGeom prst="rect">
            <a:avLst/>
          </a:prstGeom>
          <a:noFill/>
        </p:spPr>
        <p:txBody>
          <a:bodyPr wrap="square">
            <a:spAutoFit/>
          </a:bodyPr>
          <a:lstStyle/>
          <a:p>
            <a:r>
              <a:rPr lang="en-US" b="1" i="1" dirty="0">
                <a:latin typeface="+mn-lt"/>
              </a:rPr>
              <a:t>Psalm 8:4-6</a:t>
            </a:r>
            <a:r>
              <a:rPr lang="en-US" i="1" dirty="0">
                <a:latin typeface="+mn-lt"/>
              </a:rPr>
              <a:t>  </a:t>
            </a:r>
            <a:r>
              <a:rPr lang="en-US" i="1" u="sng" dirty="0">
                <a:latin typeface="+mn-lt"/>
              </a:rPr>
              <a:t>What is man that You are mindful of him</a:t>
            </a:r>
            <a:r>
              <a:rPr lang="en-US" i="1" dirty="0">
                <a:latin typeface="+mn-lt"/>
              </a:rPr>
              <a:t>, And the son of man that You visit him? For You have made him a little lower than the angels, And </a:t>
            </a:r>
            <a:r>
              <a:rPr lang="en-US" i="1" u="sng" dirty="0">
                <a:latin typeface="+mn-lt"/>
              </a:rPr>
              <a:t>You have crowned him with glory and honor</a:t>
            </a:r>
            <a:r>
              <a:rPr lang="en-US" i="1" dirty="0">
                <a:latin typeface="+mn-lt"/>
              </a:rPr>
              <a:t>. You have made him to have dominion over the works of Your hands; You have put all things under his feet…</a:t>
            </a:r>
            <a:endParaRPr lang="en-US" b="1" i="1" dirty="0">
              <a:latin typeface="+mn-lt"/>
            </a:endParaRPr>
          </a:p>
          <a:p>
            <a:endParaRPr lang="en-US" b="1" i="1" dirty="0">
              <a:latin typeface="+mn-lt"/>
            </a:endParaRPr>
          </a:p>
          <a:p>
            <a:r>
              <a:rPr lang="en-US" b="1" i="1" dirty="0">
                <a:latin typeface="+mn-lt"/>
              </a:rPr>
              <a:t>Psalm 16:11  </a:t>
            </a:r>
            <a:r>
              <a:rPr lang="en-US" i="1" u="sng" dirty="0">
                <a:latin typeface="+mn-lt"/>
              </a:rPr>
              <a:t>You will show me the path of life</a:t>
            </a:r>
            <a:r>
              <a:rPr lang="en-US" i="1" dirty="0">
                <a:latin typeface="+mn-lt"/>
              </a:rPr>
              <a:t>; In Your presence is fullness of joy; At Your right hand are pleasures forevermore. </a:t>
            </a:r>
          </a:p>
          <a:p>
            <a:endParaRPr lang="en-US" i="1" dirty="0">
              <a:latin typeface="+mn-lt"/>
            </a:endParaRPr>
          </a:p>
          <a:p>
            <a:r>
              <a:rPr lang="en-US" b="1" i="1" dirty="0">
                <a:latin typeface="+mn-lt"/>
              </a:rPr>
              <a:t>Psalm 139:13-16  </a:t>
            </a:r>
            <a:r>
              <a:rPr lang="en-US" i="1" dirty="0">
                <a:latin typeface="+mn-lt"/>
              </a:rPr>
              <a:t>For You formed my inward parts; You covered me in my mother's womb. </a:t>
            </a:r>
            <a:r>
              <a:rPr lang="en-US" i="1" u="sng" dirty="0">
                <a:latin typeface="+mn-lt"/>
              </a:rPr>
              <a:t>I will praise You, for I am fearfully and wonderfully made; Marvelous are Your works, And that my soul knows very well. </a:t>
            </a:r>
            <a:r>
              <a:rPr lang="en-US" i="1" dirty="0">
                <a:latin typeface="+mn-lt"/>
              </a:rPr>
              <a:t>My frame was not hidden from You, When I was made in secret, And skillfully wrought in the lowest parts of the earth. Your eyes saw my substance, being yet unformed. And in Your book they all were written, The days fashioned for me, When as yet there were none of them. </a:t>
            </a:r>
          </a:p>
          <a:p>
            <a:endParaRPr lang="en-US" i="1" dirty="0">
              <a:latin typeface="+mn-lt"/>
            </a:endParaRPr>
          </a:p>
          <a:p>
            <a:r>
              <a:rPr lang="en-US" b="1" i="1" dirty="0">
                <a:latin typeface="+mn-lt"/>
              </a:rPr>
              <a:t>Psalm 73:23-26  </a:t>
            </a:r>
            <a:r>
              <a:rPr lang="en-US" i="1" dirty="0">
                <a:latin typeface="+mn-lt"/>
              </a:rPr>
              <a:t>Nevertheless I am continually with You; You hold me by my right hand. You will guide me with Your counsel, And afterward receive me to glory. Whom have I in heaven but You? And there is none upon earth that I desire besides You. My flesh and my heart fail; </a:t>
            </a:r>
            <a:r>
              <a:rPr lang="en-US" i="1" u="sng" dirty="0">
                <a:latin typeface="+mn-lt"/>
              </a:rPr>
              <a:t>But God is the strength of my heart and my portion forever. </a:t>
            </a:r>
          </a:p>
        </p:txBody>
      </p:sp>
    </p:spTree>
    <p:extLst>
      <p:ext uri="{BB962C8B-B14F-4D97-AF65-F5344CB8AC3E}">
        <p14:creationId xmlns:p14="http://schemas.microsoft.com/office/powerpoint/2010/main" val="244147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53C8F-BA26-6624-889E-65AD9535FCE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44B2739-7A85-EF06-5C6C-893CD7AB34A1}"/>
              </a:ext>
            </a:extLst>
          </p:cNvPr>
          <p:cNvSpPr>
            <a:spLocks noGrp="1"/>
          </p:cNvSpPr>
          <p:nvPr>
            <p:ph type="title"/>
          </p:nvPr>
        </p:nvSpPr>
        <p:spPr>
          <a:xfrm>
            <a:off x="228600" y="7088"/>
            <a:ext cx="8839200" cy="914400"/>
          </a:xfrm>
        </p:spPr>
        <p:txBody>
          <a:bodyPr>
            <a:normAutofit fontScale="90000"/>
          </a:bodyPr>
          <a:lstStyle/>
          <a:p>
            <a:pPr algn="l"/>
            <a:r>
              <a:rPr lang="en-US" sz="3600" dirty="0"/>
              <a:t>Meaning (Why are we here?)</a:t>
            </a:r>
            <a:br>
              <a:rPr lang="en-US" sz="3600" dirty="0"/>
            </a:br>
            <a:r>
              <a:rPr lang="en-US" sz="2200" dirty="0">
                <a:solidFill>
                  <a:schemeClr val="tx2">
                    <a:lumMod val="60000"/>
                    <a:lumOff val="40000"/>
                  </a:schemeClr>
                </a:solidFill>
              </a:rPr>
              <a:t>Revealing Human Life as Purposeful and Precious </a:t>
            </a:r>
          </a:p>
        </p:txBody>
      </p:sp>
      <p:sp>
        <p:nvSpPr>
          <p:cNvPr id="7" name="TextBox 6">
            <a:extLst>
              <a:ext uri="{FF2B5EF4-FFF2-40B4-BE49-F238E27FC236}">
                <a16:creationId xmlns:a16="http://schemas.microsoft.com/office/drawing/2014/main" id="{E4F640E7-3B95-5AA7-A603-7E6A4B9D72F5}"/>
              </a:ext>
            </a:extLst>
          </p:cNvPr>
          <p:cNvSpPr txBox="1"/>
          <p:nvPr/>
        </p:nvSpPr>
        <p:spPr>
          <a:xfrm>
            <a:off x="228600" y="944348"/>
            <a:ext cx="8686800" cy="5632311"/>
          </a:xfrm>
          <a:prstGeom prst="rect">
            <a:avLst/>
          </a:prstGeom>
          <a:noFill/>
        </p:spPr>
        <p:txBody>
          <a:bodyPr wrap="square">
            <a:spAutoFit/>
          </a:bodyPr>
          <a:lstStyle/>
          <a:p>
            <a:r>
              <a:rPr lang="en-US" b="1" i="1" dirty="0">
                <a:latin typeface="+mn-lt"/>
              </a:rPr>
              <a:t>Matthew 5:13-16  </a:t>
            </a:r>
            <a:r>
              <a:rPr lang="en-US" i="1" u="sng" dirty="0">
                <a:latin typeface="+mn-lt"/>
              </a:rPr>
              <a:t>You are the salt of the earth</a:t>
            </a:r>
            <a:r>
              <a:rPr lang="en-US" i="1" dirty="0">
                <a:latin typeface="+mn-lt"/>
              </a:rPr>
              <a:t>; but if the salt loses its flavor, how shall it be seasoned? It is then good for nothing but to be thrown out and trampled underfoot by men. </a:t>
            </a:r>
            <a:r>
              <a:rPr lang="en-US" i="1" u="sng" dirty="0">
                <a:latin typeface="+mn-lt"/>
              </a:rPr>
              <a:t>You are the light of the world</a:t>
            </a:r>
            <a:r>
              <a:rPr lang="en-US" i="1" dirty="0">
                <a:latin typeface="+mn-lt"/>
              </a:rPr>
              <a:t>. A city that is set on a hill cannot be hidden. Nor do they light a lamp and put it under a basket, but on a lampstand, and it gives light to all who are in the house. </a:t>
            </a:r>
            <a:r>
              <a:rPr lang="en-US" i="1" u="sng" dirty="0">
                <a:latin typeface="+mn-lt"/>
              </a:rPr>
              <a:t>Let your light so shine before men, that they may see your good works and glorify your Father in heaven</a:t>
            </a:r>
            <a:r>
              <a:rPr lang="en-US" i="1" dirty="0">
                <a:latin typeface="+mn-lt"/>
              </a:rPr>
              <a:t>. </a:t>
            </a:r>
          </a:p>
          <a:p>
            <a:endParaRPr lang="en-US" i="1" u="sng" dirty="0">
              <a:latin typeface="+mn-lt"/>
            </a:endParaRPr>
          </a:p>
          <a:p>
            <a:r>
              <a:rPr lang="en-US" b="1" i="1" dirty="0">
                <a:latin typeface="+mn-lt"/>
              </a:rPr>
              <a:t>John 10:10  </a:t>
            </a:r>
            <a:r>
              <a:rPr lang="en-US" i="1" dirty="0">
                <a:latin typeface="+mn-lt"/>
              </a:rPr>
              <a:t>The thief does not come except to steal, and to kill, and to destroy. I have come </a:t>
            </a:r>
            <a:r>
              <a:rPr lang="en-US" i="1" u="sng" dirty="0">
                <a:latin typeface="+mn-lt"/>
              </a:rPr>
              <a:t>that they may have life</a:t>
            </a:r>
            <a:r>
              <a:rPr lang="en-US" i="1" dirty="0">
                <a:latin typeface="+mn-lt"/>
              </a:rPr>
              <a:t>, and </a:t>
            </a:r>
            <a:r>
              <a:rPr lang="en-US" i="1" u="sng" dirty="0">
                <a:latin typeface="+mn-lt"/>
              </a:rPr>
              <a:t>that they may have it more abundantly</a:t>
            </a:r>
            <a:r>
              <a:rPr lang="en-US" i="1" dirty="0">
                <a:latin typeface="+mn-lt"/>
              </a:rPr>
              <a:t>. </a:t>
            </a:r>
          </a:p>
          <a:p>
            <a:endParaRPr lang="en-US" i="1" dirty="0">
              <a:latin typeface="+mn-lt"/>
            </a:endParaRPr>
          </a:p>
          <a:p>
            <a:r>
              <a:rPr lang="en-US" b="1" i="1" dirty="0">
                <a:latin typeface="+mn-lt"/>
              </a:rPr>
              <a:t>Ephesians 2:10  </a:t>
            </a:r>
            <a:r>
              <a:rPr lang="en-US" i="1" u="sng" dirty="0">
                <a:latin typeface="+mn-lt"/>
              </a:rPr>
              <a:t>For we are His workmanship</a:t>
            </a:r>
            <a:r>
              <a:rPr lang="en-US" i="1" dirty="0">
                <a:latin typeface="+mn-lt"/>
              </a:rPr>
              <a:t>, created in Christ Jesus for good works, which God prepared beforehand that we should walk in them. </a:t>
            </a:r>
          </a:p>
          <a:p>
            <a:endParaRPr lang="en-US" i="1" dirty="0">
              <a:latin typeface="+mn-lt"/>
            </a:endParaRPr>
          </a:p>
          <a:p>
            <a:r>
              <a:rPr lang="en-US" b="1" i="1" dirty="0">
                <a:latin typeface="+mn-lt"/>
              </a:rPr>
              <a:t>John 15:4-5  </a:t>
            </a:r>
            <a:r>
              <a:rPr lang="en-US" i="1" u="sng" dirty="0">
                <a:latin typeface="+mn-lt"/>
              </a:rPr>
              <a:t>Abide in Me, and I in you</a:t>
            </a:r>
            <a:r>
              <a:rPr lang="en-US" i="1" dirty="0">
                <a:latin typeface="+mn-lt"/>
              </a:rPr>
              <a:t>. As the branch cannot bear fruit of itself, unless it abides in the vine, neither can you, unless you abide in Me. "I am the vine, you are the branches. He who abides in Me, and I in him, bears much fruit; for without Me you can do nothing. … </a:t>
            </a:r>
            <a:r>
              <a:rPr lang="en-US" i="1" u="sng" dirty="0">
                <a:latin typeface="+mn-lt"/>
              </a:rPr>
              <a:t>By this My Father is glorified, that you bear much fruit; so you will be My disciples</a:t>
            </a:r>
            <a:r>
              <a:rPr lang="en-US" i="1" dirty="0">
                <a:latin typeface="+mn-lt"/>
              </a:rPr>
              <a:t>.</a:t>
            </a:r>
          </a:p>
          <a:p>
            <a:endParaRPr lang="en-US" i="1" dirty="0">
              <a:latin typeface="+mn-lt"/>
            </a:endParaRPr>
          </a:p>
          <a:p>
            <a:r>
              <a:rPr lang="en-US" b="1" i="1" dirty="0">
                <a:latin typeface="+mn-lt"/>
              </a:rPr>
              <a:t>Philippians 1:21</a:t>
            </a:r>
            <a:r>
              <a:rPr lang="en-US" i="1" dirty="0">
                <a:latin typeface="+mn-lt"/>
              </a:rPr>
              <a:t>  For to me, </a:t>
            </a:r>
            <a:r>
              <a:rPr lang="en-US" i="1" u="sng" dirty="0">
                <a:latin typeface="+mn-lt"/>
              </a:rPr>
              <a:t>to live is Christ, and to die is gain</a:t>
            </a:r>
            <a:r>
              <a:rPr lang="en-US" i="1" dirty="0">
                <a:latin typeface="+mn-lt"/>
              </a:rPr>
              <a:t>. </a:t>
            </a:r>
          </a:p>
        </p:txBody>
      </p:sp>
    </p:spTree>
    <p:extLst>
      <p:ext uri="{BB962C8B-B14F-4D97-AF65-F5344CB8AC3E}">
        <p14:creationId xmlns:p14="http://schemas.microsoft.com/office/powerpoint/2010/main" val="885763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3C792-3C39-C5D7-F024-649A0D136F1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9BDCA67-BF8C-8C50-DFA5-0DEADC098F35}"/>
              </a:ext>
            </a:extLst>
          </p:cNvPr>
          <p:cNvSpPr>
            <a:spLocks noGrp="1"/>
          </p:cNvSpPr>
          <p:nvPr>
            <p:ph type="title"/>
          </p:nvPr>
        </p:nvSpPr>
        <p:spPr>
          <a:xfrm>
            <a:off x="228600" y="7088"/>
            <a:ext cx="8839200" cy="914400"/>
          </a:xfrm>
        </p:spPr>
        <p:txBody>
          <a:bodyPr>
            <a:normAutofit fontScale="90000"/>
          </a:bodyPr>
          <a:lstStyle/>
          <a:p>
            <a:pPr algn="l"/>
            <a:r>
              <a:rPr lang="en-US" sz="3600" dirty="0"/>
              <a:t>Morality (How should we live?)</a:t>
            </a:r>
            <a:br>
              <a:rPr lang="en-US" sz="3600" dirty="0"/>
            </a:br>
            <a:r>
              <a:rPr lang="en-US" sz="2000" dirty="0">
                <a:solidFill>
                  <a:schemeClr val="tx2">
                    <a:lumMod val="60000"/>
                    <a:lumOff val="40000"/>
                  </a:schemeClr>
                </a:solidFill>
              </a:rPr>
              <a:t>Upholding Divine Law as the Moral Guide </a:t>
            </a:r>
          </a:p>
        </p:txBody>
      </p:sp>
      <p:sp>
        <p:nvSpPr>
          <p:cNvPr id="7" name="TextBox 6">
            <a:extLst>
              <a:ext uri="{FF2B5EF4-FFF2-40B4-BE49-F238E27FC236}">
                <a16:creationId xmlns:a16="http://schemas.microsoft.com/office/drawing/2014/main" id="{880CAB83-6AF0-166C-2F3F-7CB2398B3892}"/>
              </a:ext>
            </a:extLst>
          </p:cNvPr>
          <p:cNvSpPr txBox="1"/>
          <p:nvPr/>
        </p:nvSpPr>
        <p:spPr>
          <a:xfrm>
            <a:off x="228600" y="902438"/>
            <a:ext cx="8686800" cy="5909310"/>
          </a:xfrm>
          <a:prstGeom prst="rect">
            <a:avLst/>
          </a:prstGeom>
          <a:noFill/>
        </p:spPr>
        <p:txBody>
          <a:bodyPr wrap="square">
            <a:spAutoFit/>
          </a:bodyPr>
          <a:lstStyle/>
          <a:p>
            <a:r>
              <a:rPr lang="en-US" b="1" i="1" dirty="0">
                <a:latin typeface="+mn-lt"/>
              </a:rPr>
              <a:t>Psalm 1:1-3 </a:t>
            </a:r>
            <a:r>
              <a:rPr lang="en-US" i="1" dirty="0">
                <a:latin typeface="+mn-lt"/>
              </a:rPr>
              <a:t> Blessed is the man Who walks not in the counsel of the ungodly, Nor stands in the path of sinners, Nor sits in the seat of the scornful; </a:t>
            </a:r>
            <a:r>
              <a:rPr lang="en-US" i="1" u="sng" dirty="0">
                <a:latin typeface="+mn-lt"/>
              </a:rPr>
              <a:t>But his delight is in the law of the LORD, And in His law he meditates day and night</a:t>
            </a:r>
            <a:r>
              <a:rPr lang="en-US" i="1" dirty="0">
                <a:latin typeface="+mn-lt"/>
              </a:rPr>
              <a:t>. He shall be like a tree Planted by the rivers of water, That brings forth its fruit in its season, Whose leaf also shall not wither; And whatever he does shall prosper. </a:t>
            </a:r>
            <a:endParaRPr lang="en-US" b="1" i="1" dirty="0">
              <a:latin typeface="+mn-lt"/>
            </a:endParaRPr>
          </a:p>
          <a:p>
            <a:endParaRPr lang="en-US" b="1" i="1" dirty="0">
              <a:latin typeface="+mn-lt"/>
            </a:endParaRPr>
          </a:p>
          <a:p>
            <a:r>
              <a:rPr lang="en-US" b="1" i="1" dirty="0">
                <a:latin typeface="+mn-lt"/>
              </a:rPr>
              <a:t>Psalm 15:1-5  </a:t>
            </a:r>
            <a:r>
              <a:rPr lang="en-US" i="1" u="sng" dirty="0">
                <a:latin typeface="+mn-lt"/>
              </a:rPr>
              <a:t>LORD, who may abide in Your tabernacle? </a:t>
            </a:r>
            <a:r>
              <a:rPr lang="en-US" i="1" dirty="0">
                <a:latin typeface="+mn-lt"/>
              </a:rPr>
              <a:t>Who may dwell in Your holy hill? He who walks uprightly, And works righteousness, And speaks the truth in his heart; ... </a:t>
            </a:r>
            <a:r>
              <a:rPr lang="en-US" i="1" u="sng" dirty="0">
                <a:latin typeface="+mn-lt"/>
              </a:rPr>
              <a:t>He who does these things shall never be moved.</a:t>
            </a:r>
          </a:p>
          <a:p>
            <a:endParaRPr lang="en-US" i="1" dirty="0">
              <a:latin typeface="+mn-lt"/>
            </a:endParaRPr>
          </a:p>
          <a:p>
            <a:r>
              <a:rPr lang="en-US" b="1" i="1" dirty="0">
                <a:latin typeface="+mn-lt"/>
              </a:rPr>
              <a:t>Psalm 19:11  </a:t>
            </a:r>
            <a:r>
              <a:rPr lang="en-US" i="1" dirty="0"/>
              <a:t>Moreover by them Your servant is warned, </a:t>
            </a:r>
            <a:r>
              <a:rPr lang="en-US" i="1" u="sng" dirty="0"/>
              <a:t>And in keeping them there is great reward. </a:t>
            </a:r>
          </a:p>
          <a:p>
            <a:endParaRPr lang="en-US" i="1" dirty="0"/>
          </a:p>
          <a:p>
            <a:r>
              <a:rPr lang="en-US" b="1" i="1" dirty="0"/>
              <a:t>Psalm 24:3-4  </a:t>
            </a:r>
            <a:r>
              <a:rPr lang="en-US" i="1" dirty="0"/>
              <a:t>Who may ascend into the hill of the LORD? Or who may stand in His holy place? </a:t>
            </a:r>
            <a:r>
              <a:rPr lang="en-US" i="1" u="sng" dirty="0"/>
              <a:t>He who has clean hands and a pure heart</a:t>
            </a:r>
            <a:r>
              <a:rPr lang="en-US" i="1" dirty="0"/>
              <a:t>, Who has not lifted up his soul to an idol, Nor sworn deceitfully. </a:t>
            </a:r>
          </a:p>
          <a:p>
            <a:endParaRPr lang="en-US" i="1" dirty="0"/>
          </a:p>
          <a:p>
            <a:r>
              <a:rPr lang="en-US" b="1" i="1" dirty="0"/>
              <a:t>Psalm 51:10  </a:t>
            </a:r>
            <a:r>
              <a:rPr lang="en-US" i="1" u="sng" dirty="0"/>
              <a:t>Create in me a clean heart, O God</a:t>
            </a:r>
            <a:r>
              <a:rPr lang="en-US" i="1" dirty="0"/>
              <a:t>, And renew a steadfast spirit within me. </a:t>
            </a:r>
          </a:p>
          <a:p>
            <a:endParaRPr lang="en-US" i="1" dirty="0"/>
          </a:p>
          <a:p>
            <a:r>
              <a:rPr lang="en-US" b="1" i="1" dirty="0"/>
              <a:t>Psalm 119:105  </a:t>
            </a:r>
            <a:r>
              <a:rPr lang="en-US" i="1" u="sng" dirty="0"/>
              <a:t>Your word is a lamp </a:t>
            </a:r>
            <a:r>
              <a:rPr lang="en-US" i="1" dirty="0"/>
              <a:t>to my feet And a light to my path. </a:t>
            </a:r>
          </a:p>
        </p:txBody>
      </p:sp>
    </p:spTree>
    <p:extLst>
      <p:ext uri="{BB962C8B-B14F-4D97-AF65-F5344CB8AC3E}">
        <p14:creationId xmlns:p14="http://schemas.microsoft.com/office/powerpoint/2010/main" val="18222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E20C-AE35-8A84-B8F3-88101EE2D72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05AC33A-0671-08BD-D0DC-8D31C2B04177}"/>
              </a:ext>
            </a:extLst>
          </p:cNvPr>
          <p:cNvSpPr>
            <a:spLocks noGrp="1"/>
          </p:cNvSpPr>
          <p:nvPr>
            <p:ph type="title"/>
          </p:nvPr>
        </p:nvSpPr>
        <p:spPr>
          <a:xfrm>
            <a:off x="228600" y="7088"/>
            <a:ext cx="8839200" cy="914400"/>
          </a:xfrm>
        </p:spPr>
        <p:txBody>
          <a:bodyPr>
            <a:normAutofit fontScale="90000"/>
          </a:bodyPr>
          <a:lstStyle/>
          <a:p>
            <a:pPr algn="l"/>
            <a:r>
              <a:rPr lang="en-US" sz="3600" dirty="0"/>
              <a:t>Morality (How should we live?)</a:t>
            </a:r>
            <a:br>
              <a:rPr lang="en-US" sz="3600" dirty="0"/>
            </a:br>
            <a:r>
              <a:rPr lang="en-US" sz="2000" dirty="0">
                <a:solidFill>
                  <a:schemeClr val="tx2">
                    <a:lumMod val="60000"/>
                    <a:lumOff val="40000"/>
                  </a:schemeClr>
                </a:solidFill>
              </a:rPr>
              <a:t>Upholding Divine Law as the Moral Guide </a:t>
            </a:r>
          </a:p>
        </p:txBody>
      </p:sp>
      <p:sp>
        <p:nvSpPr>
          <p:cNvPr id="7" name="TextBox 6">
            <a:extLst>
              <a:ext uri="{FF2B5EF4-FFF2-40B4-BE49-F238E27FC236}">
                <a16:creationId xmlns:a16="http://schemas.microsoft.com/office/drawing/2014/main" id="{E64F769C-3C9A-5ED3-18D7-94593D63E2D0}"/>
              </a:ext>
            </a:extLst>
          </p:cNvPr>
          <p:cNvSpPr txBox="1"/>
          <p:nvPr/>
        </p:nvSpPr>
        <p:spPr>
          <a:xfrm>
            <a:off x="228600" y="902438"/>
            <a:ext cx="8686800" cy="5909310"/>
          </a:xfrm>
          <a:prstGeom prst="rect">
            <a:avLst/>
          </a:prstGeom>
          <a:noFill/>
        </p:spPr>
        <p:txBody>
          <a:bodyPr wrap="square">
            <a:spAutoFit/>
          </a:bodyPr>
          <a:lstStyle/>
          <a:p>
            <a:r>
              <a:rPr lang="en-US" b="1" i="1" dirty="0">
                <a:latin typeface="+mn-lt"/>
              </a:rPr>
              <a:t>Matthew 5-7  </a:t>
            </a:r>
            <a:r>
              <a:rPr lang="en-US" i="1" dirty="0">
                <a:latin typeface="+mn-lt"/>
              </a:rPr>
              <a:t>(</a:t>
            </a:r>
            <a:r>
              <a:rPr lang="en-US" i="1" u="sng" dirty="0">
                <a:latin typeface="+mn-lt"/>
              </a:rPr>
              <a:t>Sermon on the Mount </a:t>
            </a:r>
            <a:r>
              <a:rPr lang="en-US" i="1" dirty="0">
                <a:latin typeface="+mn-lt"/>
              </a:rPr>
              <a:t>: Jesus’ most comprehensive moral instruction; teaching on humility, righteousness, love for enemies, purity, integrity, and trusting God – provides an ethical framework that goes beyond conformity to internal transformation.)</a:t>
            </a:r>
          </a:p>
          <a:p>
            <a:endParaRPr lang="en-US" i="1" dirty="0">
              <a:latin typeface="+mn-lt"/>
            </a:endParaRPr>
          </a:p>
          <a:p>
            <a:r>
              <a:rPr lang="en-US" b="1" i="1" dirty="0">
                <a:latin typeface="+mn-lt"/>
              </a:rPr>
              <a:t>Mark 12:30-31  </a:t>
            </a:r>
            <a:r>
              <a:rPr lang="en-US" i="1" dirty="0">
                <a:latin typeface="+mn-lt"/>
              </a:rPr>
              <a:t>And the second, like it, is this: 'YOU SHALL LOVE YOUR NEIGHBOR AS YOURSELF.' </a:t>
            </a:r>
            <a:r>
              <a:rPr lang="en-US" i="1" u="sng" dirty="0">
                <a:latin typeface="+mn-lt"/>
              </a:rPr>
              <a:t>There is no other commandment greater than these</a:t>
            </a:r>
            <a:r>
              <a:rPr lang="en-US" i="1" dirty="0">
                <a:latin typeface="+mn-lt"/>
              </a:rPr>
              <a:t>." </a:t>
            </a:r>
          </a:p>
          <a:p>
            <a:endParaRPr lang="en-US" i="1" dirty="0">
              <a:latin typeface="+mn-lt"/>
            </a:endParaRPr>
          </a:p>
          <a:p>
            <a:r>
              <a:rPr lang="en-US" b="1" i="1" dirty="0">
                <a:latin typeface="+mn-lt"/>
              </a:rPr>
              <a:t>Luke 10:25-37  </a:t>
            </a:r>
            <a:r>
              <a:rPr lang="en-US" i="1" dirty="0">
                <a:latin typeface="+mn-lt"/>
              </a:rPr>
              <a:t>(</a:t>
            </a:r>
            <a:r>
              <a:rPr lang="en-US" i="1" u="sng" dirty="0">
                <a:latin typeface="+mn-lt"/>
              </a:rPr>
              <a:t>Parable of the Good Samaritan </a:t>
            </a:r>
            <a:r>
              <a:rPr lang="en-US" i="1" dirty="0">
                <a:latin typeface="+mn-lt"/>
              </a:rPr>
              <a:t>: Jesus uses this parable to redefine who our “neighbor” is and exhorts compassionate, sacrificial love as the highest moral responsibility.)</a:t>
            </a:r>
          </a:p>
          <a:p>
            <a:endParaRPr lang="en-US" i="1" dirty="0">
              <a:latin typeface="+mn-lt"/>
            </a:endParaRPr>
          </a:p>
          <a:p>
            <a:r>
              <a:rPr lang="en-US" b="1" i="1" dirty="0">
                <a:latin typeface="+mn-lt"/>
              </a:rPr>
              <a:t>John 13:34-35  </a:t>
            </a:r>
            <a:r>
              <a:rPr lang="en-US" i="1" u="sng" dirty="0">
                <a:latin typeface="+mn-lt"/>
              </a:rPr>
              <a:t>A new commandment I give to you, that you love one another</a:t>
            </a:r>
            <a:r>
              <a:rPr lang="en-US" i="1" dirty="0">
                <a:latin typeface="+mn-lt"/>
              </a:rPr>
              <a:t>; as I have loved you, that you also love one another. By this all will know that you are My disciples, if you have love for one another. </a:t>
            </a:r>
          </a:p>
          <a:p>
            <a:endParaRPr lang="en-US" i="1" dirty="0">
              <a:latin typeface="+mn-lt"/>
            </a:endParaRPr>
          </a:p>
          <a:p>
            <a:r>
              <a:rPr lang="en-US" b="1" i="1" dirty="0">
                <a:latin typeface="+mn-lt"/>
              </a:rPr>
              <a:t>Romans 12:1-2  </a:t>
            </a:r>
            <a:r>
              <a:rPr lang="en-US" i="1" dirty="0">
                <a:latin typeface="+mn-lt"/>
              </a:rPr>
              <a:t>I beseech you therefore, brethren, by the mercies of God, that you present your bodies a living sacrifice, holy, acceptable to God, which is your reasonable service. And do not be conformed to this world, </a:t>
            </a:r>
            <a:r>
              <a:rPr lang="en-US" i="1" u="sng" dirty="0">
                <a:latin typeface="+mn-lt"/>
              </a:rPr>
              <a:t>but be transformed by the renewing of your mind, that you may prove what is that good and acceptable and perfect will of God</a:t>
            </a:r>
            <a:r>
              <a:rPr lang="en-US" i="1" dirty="0">
                <a:latin typeface="+mn-lt"/>
              </a:rPr>
              <a:t>. </a:t>
            </a:r>
            <a:endParaRPr lang="en-US" i="1" dirty="0"/>
          </a:p>
        </p:txBody>
      </p:sp>
    </p:spTree>
    <p:extLst>
      <p:ext uri="{BB962C8B-B14F-4D97-AF65-F5344CB8AC3E}">
        <p14:creationId xmlns:p14="http://schemas.microsoft.com/office/powerpoint/2010/main" val="75301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10681</TotalTime>
  <Words>3794</Words>
  <Application>Microsoft Office PowerPoint</Application>
  <PresentationFormat>On-screen Show (4:3)</PresentationFormat>
  <Paragraphs>299</Paragraphs>
  <Slides>12</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Arial Narrow</vt:lpstr>
      <vt:lpstr>Calibri</vt:lpstr>
      <vt:lpstr>PPT_Template_2010SummerSchool</vt:lpstr>
      <vt:lpstr>1_UPCRC_Powerpoint_Template_with I-Mark</vt:lpstr>
      <vt:lpstr>Romans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Meaning (Why are we here?) Revealing Human Life as Purposeful and Precious </vt:lpstr>
      <vt:lpstr>Meaning (Why are we here?) Revealing Human Life as Purposeful and Precious </vt:lpstr>
      <vt:lpstr>Morality (How should we live?) Upholding Divine Law as the Moral Guide </vt:lpstr>
      <vt:lpstr>Morality (How should we live?) Upholding Divine Law as the Moral Guide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541</cp:revision>
  <cp:lastPrinted>2012-03-25T05:20:45Z</cp:lastPrinted>
  <dcterms:created xsi:type="dcterms:W3CDTF">2010-06-16T02:58:04Z</dcterms:created>
  <dcterms:modified xsi:type="dcterms:W3CDTF">2026-04-02T12:34:34Z</dcterms:modified>
</cp:coreProperties>
</file>