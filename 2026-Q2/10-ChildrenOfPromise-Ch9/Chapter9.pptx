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2"/>
  </p:notesMasterIdLst>
  <p:sldIdLst>
    <p:sldId id="256" r:id="rId3"/>
    <p:sldId id="382" r:id="rId4"/>
    <p:sldId id="383" r:id="rId5"/>
    <p:sldId id="385" r:id="rId6"/>
    <p:sldId id="381" r:id="rId7"/>
    <p:sldId id="387" r:id="rId8"/>
    <p:sldId id="386" r:id="rId9"/>
    <p:sldId id="384" r:id="rId10"/>
    <p:sldId id="388" r:id="rId11"/>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8" autoAdjust="0"/>
    <p:restoredTop sz="76164" autoAdjust="0"/>
  </p:normalViewPr>
  <p:slideViewPr>
    <p:cSldViewPr>
      <p:cViewPr varScale="1">
        <p:scale>
          <a:sx n="95" d="100"/>
          <a:sy n="95" d="100"/>
        </p:scale>
        <p:origin x="2680" y="1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6/5/26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3813323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219894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baseline="0" dirty="0"/>
              <a:t>Read 2:17 thru 3:8</a:t>
            </a:r>
            <a:endParaRPr lang="en-US" b="1" dirty="0"/>
          </a:p>
          <a:p>
            <a:pPr marL="0" indent="0">
              <a:buFont typeface="Arial" pitchFamily="34" charset="0"/>
              <a:buNone/>
            </a:pPr>
            <a:endParaRPr lang="en-US" dirty="0"/>
          </a:p>
          <a:p>
            <a:pPr marL="0" indent="0">
              <a:buFont typeface="Arial" pitchFamily="34" charset="0"/>
              <a:buNone/>
            </a:pPr>
            <a:r>
              <a:rPr lang="en-US" dirty="0"/>
              <a:t>Were</a:t>
            </a:r>
            <a:r>
              <a:rPr lang="en-US" baseline="0" dirty="0"/>
              <a:t> the Jewish people “better” (e.g. culturally) than others?</a:t>
            </a:r>
          </a:p>
          <a:p>
            <a:pPr marL="0" indent="0">
              <a:buFont typeface="Arial" pitchFamily="34" charset="0"/>
              <a:buNone/>
            </a:pPr>
            <a:endParaRPr lang="en-US" baseline="0" dirty="0"/>
          </a:p>
          <a:p>
            <a:pPr marL="171450" indent="-171450">
              <a:buFont typeface="Arial" pitchFamily="34" charset="0"/>
              <a:buChar char="•"/>
            </a:pPr>
            <a:r>
              <a:rPr lang="en-US" baseline="0" dirty="0"/>
              <a:t>Arguably “yes”…   compare OT laws about health and living systems vs. others (e.g. hygiene, food restrictions, “keepers of God’s Laws”)</a:t>
            </a:r>
          </a:p>
          <a:p>
            <a:pPr marL="171450" indent="-171450">
              <a:buFont typeface="Arial" pitchFamily="34" charset="0"/>
              <a:buChar char="•"/>
            </a:pPr>
            <a:r>
              <a:rPr lang="en-US" baseline="0" dirty="0"/>
              <a:t>Jews had set aside the “hope of the Messiah” as the Light (even unto Gentiles) and assumed themselves to be the Light.</a:t>
            </a:r>
          </a:p>
          <a:p>
            <a:pPr marL="171450" indent="-171450">
              <a:buFont typeface="Arial" pitchFamily="34" charset="0"/>
              <a:buChar char="•"/>
            </a:pPr>
            <a:r>
              <a:rPr lang="en-US" baseline="0" dirty="0"/>
              <a:t>i.e. arrogant conceit</a:t>
            </a:r>
          </a:p>
          <a:p>
            <a:pPr marL="171450" indent="-171450">
              <a:buFont typeface="Arial" pitchFamily="34" charset="0"/>
              <a:buChar char="•"/>
            </a:pPr>
            <a:r>
              <a:rPr lang="en-US" baseline="0" dirty="0"/>
              <a:t>They had the “form of the Law”, an adaptation of the “original Law”</a:t>
            </a:r>
          </a:p>
          <a:p>
            <a:pPr marL="171450" indent="-171450">
              <a:buFont typeface="Arial" pitchFamily="34" charset="0"/>
              <a:buChar char="•"/>
            </a:pPr>
            <a:r>
              <a:rPr lang="en-US" baseline="0" dirty="0"/>
              <a:t>Paul uses the very Law the Jew trusts in to “root him out”….</a:t>
            </a:r>
          </a:p>
          <a:p>
            <a:pPr marL="171450" indent="-171450">
              <a:buFont typeface="Arial" pitchFamily="34" charset="0"/>
              <a:buChar char="•"/>
            </a:pPr>
            <a:endParaRPr lang="en-US" baseline="0" dirty="0"/>
          </a:p>
          <a:p>
            <a:pPr marL="0" indent="0">
              <a:buFont typeface="Arial" pitchFamily="34" charset="0"/>
              <a:buNone/>
            </a:pPr>
            <a:r>
              <a:rPr lang="en-US" baseline="0" dirty="0"/>
              <a:t>Note:  Historically, the Church had begun in the Jewish community; most of the early Christians (in the years after </a:t>
            </a:r>
            <a:r>
              <a:rPr lang="en-US" baseline="0" dirty="0" err="1"/>
              <a:t>pentecost</a:t>
            </a:r>
            <a:r>
              <a:rPr lang="en-US" baseline="0" dirty="0"/>
              <a:t>) were Jews.   But, here we are 30-40 years since then and the Church had largely become a Gentile phenomenon.   Paul (as he traveled and preached in the synagogues) undoubtedly faced a hostile, taunting, perhaps demeaning audience of Jews.   Hence, his focus on a Jewish centered argument from that perspective.</a:t>
            </a:r>
          </a:p>
          <a:p>
            <a:pPr marL="0" indent="0">
              <a:buFont typeface="Arial" pitchFamily="34" charset="0"/>
              <a:buNone/>
            </a:pPr>
            <a:endParaRPr lang="en-US" baseline="0" dirty="0"/>
          </a:p>
          <a:p>
            <a:pPr marL="0" indent="0">
              <a:buFont typeface="Arial" pitchFamily="34" charset="0"/>
              <a:buNone/>
            </a:pPr>
            <a:r>
              <a:rPr lang="en-US" baseline="0" dirty="0"/>
              <a:t>Sub-argument (circumcision is of the heart – </a:t>
            </a:r>
            <a:r>
              <a:rPr lang="en-US" b="1" baseline="0" dirty="0" err="1"/>
              <a:t>Deut</a:t>
            </a:r>
            <a:r>
              <a:rPr lang="en-US" b="1" baseline="0" dirty="0"/>
              <a:t> 10:16</a:t>
            </a:r>
            <a:r>
              <a:rPr lang="en-US" baseline="0" dirty="0"/>
              <a:t>):</a:t>
            </a:r>
          </a:p>
          <a:p>
            <a:pPr marL="171450" indent="-171450">
              <a:buFont typeface="Arial" pitchFamily="34" charset="0"/>
              <a:buChar char="•"/>
            </a:pPr>
            <a:r>
              <a:rPr lang="en-US" baseline="0" dirty="0"/>
              <a:t>The Jew (</a:t>
            </a:r>
            <a:r>
              <a:rPr lang="en-US" i="1" baseline="0" dirty="0"/>
              <a:t>being</a:t>
            </a:r>
            <a:r>
              <a:rPr lang="en-US" baseline="0" dirty="0"/>
              <a:t> circumcised under the law) would not receive covering under the law </a:t>
            </a:r>
            <a:r>
              <a:rPr lang="en-US" i="1" baseline="0" dirty="0"/>
              <a:t>without</a:t>
            </a:r>
            <a:r>
              <a:rPr lang="en-US" baseline="0" dirty="0"/>
              <a:t> obedience…</a:t>
            </a:r>
          </a:p>
          <a:p>
            <a:pPr marL="171450" indent="-171450">
              <a:buFont typeface="Arial" pitchFamily="34" charset="0"/>
              <a:buChar char="•"/>
            </a:pPr>
            <a:r>
              <a:rPr lang="en-US" baseline="0" dirty="0"/>
              <a:t>And, the Gentile (</a:t>
            </a:r>
            <a:r>
              <a:rPr lang="en-US" i="1" baseline="0" dirty="0"/>
              <a:t>not</a:t>
            </a:r>
            <a:r>
              <a:rPr lang="en-US" baseline="0" dirty="0"/>
              <a:t> </a:t>
            </a:r>
            <a:r>
              <a:rPr lang="en-US" i="1" baseline="0" dirty="0"/>
              <a:t>being</a:t>
            </a:r>
            <a:r>
              <a:rPr lang="en-US" baseline="0" dirty="0"/>
              <a:t> circumcised under the law) could receive covering under the law </a:t>
            </a:r>
            <a:r>
              <a:rPr lang="en-US" i="1" baseline="0" dirty="0"/>
              <a:t>with</a:t>
            </a:r>
            <a:r>
              <a:rPr lang="en-US" baseline="0" dirty="0"/>
              <a:t> obedience (argument from v. 2:13)…</a:t>
            </a:r>
          </a:p>
          <a:p>
            <a:pPr marL="171450" indent="-171450">
              <a:buFont typeface="Arial" pitchFamily="34" charset="0"/>
              <a:buChar char="•"/>
            </a:pPr>
            <a:r>
              <a:rPr lang="en-US" baseline="0" dirty="0"/>
              <a:t>Therefore, the Jew would argue (tauntingly)…   </a:t>
            </a:r>
            <a:r>
              <a:rPr lang="en-US" b="1" baseline="0" dirty="0"/>
              <a:t>Romans 3:1-8</a:t>
            </a:r>
          </a:p>
          <a:p>
            <a:pPr marL="628650" lvl="1" indent="-171450">
              <a:buFont typeface="Arial" pitchFamily="34" charset="0"/>
              <a:buChar char="•"/>
            </a:pPr>
            <a:r>
              <a:rPr lang="en-US" baseline="0" dirty="0"/>
              <a:t>What advantage is there in being a Jew…?   If we are made right with God by His Grace alone, then…</a:t>
            </a:r>
          </a:p>
          <a:p>
            <a:pPr marL="628650" lvl="1" indent="-171450">
              <a:buFont typeface="Arial" pitchFamily="34" charset="0"/>
              <a:buChar char="•"/>
            </a:pPr>
            <a:r>
              <a:rPr lang="en-US" baseline="0" dirty="0"/>
              <a:t>Isn’t it the case then that our unrighteousness further increase God’s glory…?</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b="1" i="1" baseline="0" dirty="0"/>
              <a:t>Discuss Job 38:1-3; Job 40:2; Job 40:8</a:t>
            </a:r>
          </a:p>
          <a:p>
            <a:pPr marL="628650" lvl="1" indent="-171450">
              <a:buFont typeface="Arial" pitchFamily="34" charset="0"/>
              <a:buChar char="•"/>
            </a:pPr>
            <a:r>
              <a:rPr lang="en-US" baseline="0" dirty="0"/>
              <a:t>Discuss Psalm 51:4</a:t>
            </a:r>
          </a:p>
          <a:p>
            <a:pPr marL="628650" lvl="1" indent="-171450">
              <a:buFont typeface="Arial" pitchFamily="34" charset="0"/>
              <a:buChar char="•"/>
            </a:pPr>
            <a:r>
              <a:rPr lang="en-US" baseline="0" dirty="0"/>
              <a:t>(similar argument today – is baptism really necessary then? )</a:t>
            </a:r>
          </a:p>
          <a:p>
            <a:pPr marL="0" indent="0">
              <a:buFont typeface="Arial" pitchFamily="34" charset="0"/>
              <a:buNone/>
            </a:pPr>
            <a:endParaRPr lang="en-US"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200" b="1" i="0" baseline="0" dirty="0"/>
              <a:t>The Starting Place of Faith (God’s Truth is not determined by our assessment of it…):</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200" b="1" i="0"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baseline="0" dirty="0"/>
              <a:t>3:3      “Let God be true and every man a liar…”     </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baseline="0" dirty="0"/>
              <a:t>We all know about truth because we all comprehend what a lie is…  (the negative reveals the positive)</a:t>
            </a:r>
          </a:p>
          <a:p>
            <a:pPr marL="457200" marR="0" lvl="1"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200" i="1"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baseline="0" dirty="0"/>
              <a:t>3:4      Men are judging God…!     (Psalm 51:4)    Man says…  “God doesn’t have the right to judge me..!   I am as he has made me…”   Discuss Job 40:8</a:t>
            </a:r>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lang="en-US" sz="1200" i="1"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sz="1200" i="1" baseline="0" dirty="0"/>
              <a:t>3:5-9    Paul assents to their argument and then demonstrates how the argument can’t be true because it contradicts God’s own nature…   (How can a perfectly just God not apply justice?)</a:t>
            </a:r>
            <a:endParaRPr lang="en-US" sz="1200" i="0" baseline="0" dirty="0"/>
          </a:p>
          <a:p>
            <a:pPr marL="171450" marR="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lang="en-US" baseline="0" dirty="0"/>
              <a:t>Sin is born of motivation….!   Who is really good?</a:t>
            </a:r>
          </a:p>
          <a:p>
            <a:pPr marL="0" indent="0">
              <a:buFont typeface="Arial" pitchFamily="34" charset="0"/>
              <a:buNone/>
            </a:pPr>
            <a:endParaRPr lang="en-US" baseline="0" dirty="0"/>
          </a:p>
          <a:p>
            <a:pPr marL="0" indent="0">
              <a:buFont typeface="Arial" pitchFamily="34" charset="0"/>
              <a:buNone/>
            </a:pPr>
            <a:endParaRPr lang="en-US" baseline="0" dirty="0"/>
          </a:p>
          <a:p>
            <a:pPr marL="0" indent="0">
              <a:buFont typeface="Arial" pitchFamily="34" charse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76939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35804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2216509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609565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a:p>
            <a:pPr marL="0" indent="0">
              <a:buFont typeface="Arial" pitchFamily="34" charset="0"/>
              <a:buNone/>
            </a:pPr>
            <a:endParaRPr lang="en-US" b="1" baseline="0" dirty="0"/>
          </a:p>
          <a:p>
            <a:pPr marL="0" indent="0">
              <a:buFont typeface="Arial" pitchFamily="34" charset="0"/>
              <a:buNone/>
            </a:pPr>
            <a:r>
              <a:rPr lang="en-US" b="1" baseline="0" dirty="0"/>
              <a:t>The Promises of GOD are the currency upon which man-kind’s ultimate hope and destiny rest.  Discuss how GOD made promises to Abraham, Moses and the Israelites, and to us (</a:t>
            </a:r>
            <a:r>
              <a:rPr lang="en-US" b="1" baseline="0" dirty="0" err="1"/>
              <a:t>Jer</a:t>
            </a:r>
            <a:r>
              <a:rPr lang="en-US" b="1" baseline="0" dirty="0"/>
              <a:t> 31:31).</a:t>
            </a:r>
          </a:p>
          <a:p>
            <a:pPr marL="0" indent="0">
              <a:buFont typeface="Arial" pitchFamily="34" charset="0"/>
              <a:buNone/>
            </a:pPr>
            <a:endParaRPr lang="en-US" b="1" baseline="0" dirty="0"/>
          </a:p>
          <a:p>
            <a:pPr marL="0" indent="0">
              <a:buFont typeface="Arial" pitchFamily="34" charset="0"/>
              <a:buNone/>
            </a:pPr>
            <a:endParaRPr lang="en-US" b="1" baseline="0"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1" dirty="0"/>
              <a:t>Read</a:t>
            </a:r>
            <a:r>
              <a:rPr lang="en-US" b="1" baseline="0" dirty="0"/>
              <a:t> Galatians 3:19-29</a:t>
            </a:r>
          </a:p>
          <a:p>
            <a:pPr marL="0" indent="0">
              <a:buFont typeface="Arial" pitchFamily="34" charset="0"/>
              <a:buNone/>
            </a:pPr>
            <a:endParaRPr lang="en-US" b="1"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4272493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27433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p:txBody>
          <a:bodyPr/>
          <a:lstStyle/>
          <a:p>
            <a:pPr eaLnBrk="1" hangingPunct="1"/>
            <a:r>
              <a:rPr lang="en-US" sz="6600" dirty="0"/>
              <a:t>Romans</a:t>
            </a:r>
            <a:endParaRPr dirty="0"/>
          </a:p>
        </p:txBody>
      </p:sp>
      <p:sp>
        <p:nvSpPr>
          <p:cNvPr id="6147" name="Subtitle 2"/>
          <p:cNvSpPr>
            <a:spLocks noGrp="1"/>
          </p:cNvSpPr>
          <p:nvPr>
            <p:ph type="subTitle" idx="1"/>
          </p:nvPr>
        </p:nvSpPr>
        <p:spPr>
          <a:xfrm>
            <a:off x="1371600" y="3600450"/>
            <a:ext cx="6400800" cy="2438400"/>
          </a:xfrm>
        </p:spPr>
        <p:txBody>
          <a:bodyPr/>
          <a:lstStyle/>
          <a:p>
            <a:pPr eaLnBrk="1" hangingPunct="1"/>
            <a:r>
              <a:rPr lang="en-US" dirty="0"/>
              <a:t>Have God’s Promises Failed?</a:t>
            </a:r>
          </a:p>
          <a:p>
            <a:pPr eaLnBrk="1" hangingPunct="1"/>
            <a:r>
              <a:rPr lang="en-US" dirty="0"/>
              <a:t>What about the Jew?</a:t>
            </a:r>
          </a:p>
          <a:p>
            <a:pPr eaLnBrk="1" hangingPunct="1"/>
            <a:r>
              <a:rPr lang="en-US" dirty="0"/>
              <a:t>Chapter 9</a:t>
            </a:r>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Faith, Hope, and Love</a:t>
            </a:r>
            <a:br>
              <a:rPr lang="en-US" dirty="0"/>
            </a:br>
            <a:r>
              <a:rPr lang="en-US" sz="2400" dirty="0">
                <a:solidFill>
                  <a:schemeClr val="tx2">
                    <a:lumMod val="60000"/>
                    <a:lumOff val="40000"/>
                  </a:schemeClr>
                </a:solidFill>
              </a:rPr>
              <a:t>The Outline - Review</a:t>
            </a:r>
          </a:p>
        </p:txBody>
      </p:sp>
      <p:sp>
        <p:nvSpPr>
          <p:cNvPr id="6" name="TextBox 5"/>
          <p:cNvSpPr txBox="1"/>
          <p:nvPr/>
        </p:nvSpPr>
        <p:spPr>
          <a:xfrm>
            <a:off x="521208" y="1447800"/>
            <a:ext cx="8001000" cy="1323439"/>
          </a:xfrm>
          <a:prstGeom prst="rect">
            <a:avLst/>
          </a:prstGeom>
          <a:noFill/>
        </p:spPr>
        <p:txBody>
          <a:bodyPr wrap="square" rtlCol="0">
            <a:spAutoFit/>
          </a:bodyPr>
          <a:lstStyle/>
          <a:p>
            <a:r>
              <a:rPr lang="en-US" sz="2000" b="1" i="1" dirty="0"/>
              <a:t>FAITH</a:t>
            </a:r>
            <a:r>
              <a:rPr lang="en-US" sz="2000" i="1" dirty="0"/>
              <a:t>, chapters 1-8</a:t>
            </a:r>
          </a:p>
          <a:p>
            <a:pPr marL="342900" indent="-342900">
              <a:buFont typeface="Arial" pitchFamily="34" charset="0"/>
              <a:buChar char="•"/>
            </a:pPr>
            <a:r>
              <a:rPr lang="en-US" sz="2000" i="1" dirty="0"/>
              <a:t>1-3 Sin</a:t>
            </a:r>
          </a:p>
          <a:p>
            <a:pPr marL="342900" indent="-342900">
              <a:buFont typeface="Arial" pitchFamily="34" charset="0"/>
              <a:buChar char="•"/>
            </a:pPr>
            <a:r>
              <a:rPr lang="en-US" sz="2000" i="1" dirty="0"/>
              <a:t>4-5 Salvation </a:t>
            </a:r>
          </a:p>
          <a:p>
            <a:pPr marL="342900" indent="-342900">
              <a:buFont typeface="Arial" pitchFamily="34" charset="0"/>
              <a:buChar char="•"/>
            </a:pPr>
            <a:r>
              <a:rPr lang="en-US" sz="2000" i="1" dirty="0"/>
              <a:t>6-8 Sanctification</a:t>
            </a:r>
          </a:p>
        </p:txBody>
      </p:sp>
      <p:sp>
        <p:nvSpPr>
          <p:cNvPr id="7" name="TextBox 6"/>
          <p:cNvSpPr txBox="1"/>
          <p:nvPr/>
        </p:nvSpPr>
        <p:spPr>
          <a:xfrm>
            <a:off x="519031" y="3137595"/>
            <a:ext cx="8001000" cy="1323439"/>
          </a:xfrm>
          <a:prstGeom prst="rect">
            <a:avLst/>
          </a:prstGeom>
          <a:noFill/>
        </p:spPr>
        <p:txBody>
          <a:bodyPr wrap="square" rtlCol="0">
            <a:spAutoFit/>
          </a:bodyPr>
          <a:lstStyle/>
          <a:p>
            <a:r>
              <a:rPr lang="en-US" sz="2000" b="1" i="1" dirty="0"/>
              <a:t>HOPE</a:t>
            </a:r>
            <a:r>
              <a:rPr lang="en-US" sz="2000" i="1" dirty="0"/>
              <a:t>, chapters 9-11</a:t>
            </a:r>
          </a:p>
          <a:p>
            <a:pPr marL="342900" indent="-342900">
              <a:buFont typeface="Arial" pitchFamily="34" charset="0"/>
              <a:buChar char="•"/>
            </a:pPr>
            <a:r>
              <a:rPr lang="en-US" sz="2000" b="1" i="1" dirty="0"/>
              <a:t>9 Israel – Past</a:t>
            </a:r>
          </a:p>
          <a:p>
            <a:pPr marL="342900" indent="-342900">
              <a:buFont typeface="Arial" pitchFamily="34" charset="0"/>
              <a:buChar char="•"/>
            </a:pPr>
            <a:r>
              <a:rPr lang="en-US" sz="2000" i="1" dirty="0"/>
              <a:t>10 Israel – Present</a:t>
            </a:r>
          </a:p>
          <a:p>
            <a:pPr marL="342900" indent="-342900">
              <a:buFont typeface="Arial" pitchFamily="34" charset="0"/>
              <a:buChar char="•"/>
            </a:pPr>
            <a:r>
              <a:rPr lang="en-US" sz="2000" i="1" dirty="0"/>
              <a:t>11 Israel - Future</a:t>
            </a:r>
          </a:p>
        </p:txBody>
      </p:sp>
      <p:sp>
        <p:nvSpPr>
          <p:cNvPr id="8" name="TextBox 7"/>
          <p:cNvSpPr txBox="1"/>
          <p:nvPr/>
        </p:nvSpPr>
        <p:spPr>
          <a:xfrm>
            <a:off x="571500" y="4724400"/>
            <a:ext cx="8001000" cy="1323439"/>
          </a:xfrm>
          <a:prstGeom prst="rect">
            <a:avLst/>
          </a:prstGeom>
          <a:noFill/>
        </p:spPr>
        <p:txBody>
          <a:bodyPr wrap="square" rtlCol="0">
            <a:spAutoFit/>
          </a:bodyPr>
          <a:lstStyle/>
          <a:p>
            <a:r>
              <a:rPr lang="en-US" sz="2000" b="1" i="1" dirty="0"/>
              <a:t>LOVE</a:t>
            </a:r>
            <a:r>
              <a:rPr lang="en-US" sz="2000" i="1" dirty="0"/>
              <a:t>, chapters 12-16</a:t>
            </a:r>
          </a:p>
          <a:p>
            <a:pPr marL="342900" indent="-342900">
              <a:buFont typeface="Arial" pitchFamily="34" charset="0"/>
              <a:buChar char="•"/>
            </a:pPr>
            <a:r>
              <a:rPr lang="en-US" sz="2000" i="1" dirty="0"/>
              <a:t>Practical Christian Living</a:t>
            </a:r>
          </a:p>
          <a:p>
            <a:pPr marL="342900" indent="-342900">
              <a:buFont typeface="Arial" pitchFamily="34" charset="0"/>
              <a:buChar char="•"/>
            </a:pPr>
            <a:r>
              <a:rPr lang="en-US" sz="2000" i="1" dirty="0"/>
              <a:t>The </a:t>
            </a:r>
            <a:r>
              <a:rPr lang="en-US" sz="2000" b="1" i="1" dirty="0"/>
              <a:t>Just</a:t>
            </a:r>
            <a:r>
              <a:rPr lang="en-US" sz="2000" i="1" dirty="0"/>
              <a:t> shall </a:t>
            </a:r>
            <a:r>
              <a:rPr lang="en-US" sz="2000" b="1" i="1" dirty="0"/>
              <a:t>live</a:t>
            </a:r>
            <a:r>
              <a:rPr lang="en-US" sz="2000" i="1" dirty="0"/>
              <a:t> by </a:t>
            </a:r>
            <a:r>
              <a:rPr lang="en-US" sz="2000" b="1" i="1" dirty="0"/>
              <a:t>Faith</a:t>
            </a:r>
            <a:r>
              <a:rPr lang="en-US" sz="2000" i="1" dirty="0"/>
              <a:t>…</a:t>
            </a:r>
          </a:p>
          <a:p>
            <a:endParaRPr lang="en-US" sz="2000" i="1" dirty="0"/>
          </a:p>
        </p:txBody>
      </p:sp>
    </p:spTree>
    <p:extLst>
      <p:ext uri="{BB962C8B-B14F-4D97-AF65-F5344CB8AC3E}">
        <p14:creationId xmlns:p14="http://schemas.microsoft.com/office/powerpoint/2010/main" val="383504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What about the Jew? </a:t>
            </a:r>
            <a:br>
              <a:rPr lang="en-US" dirty="0"/>
            </a:br>
            <a:r>
              <a:rPr lang="en-US" sz="2400" dirty="0">
                <a:solidFill>
                  <a:schemeClr val="tx2">
                    <a:lumMod val="60000"/>
                    <a:lumOff val="40000"/>
                  </a:schemeClr>
                </a:solidFill>
              </a:rPr>
              <a:t>How are we to relate?</a:t>
            </a:r>
          </a:p>
        </p:txBody>
      </p:sp>
      <p:sp>
        <p:nvSpPr>
          <p:cNvPr id="6" name="TextBox 5"/>
          <p:cNvSpPr txBox="1"/>
          <p:nvPr/>
        </p:nvSpPr>
        <p:spPr>
          <a:xfrm>
            <a:off x="455579" y="1295400"/>
            <a:ext cx="8001000" cy="1631216"/>
          </a:xfrm>
          <a:prstGeom prst="rect">
            <a:avLst/>
          </a:prstGeom>
          <a:noFill/>
        </p:spPr>
        <p:txBody>
          <a:bodyPr wrap="square" rtlCol="0">
            <a:spAutoFit/>
          </a:bodyPr>
          <a:lstStyle/>
          <a:p>
            <a:r>
              <a:rPr lang="en-US" sz="2000" i="1" dirty="0"/>
              <a:t>“What advantage then has the Jew, or what is the profit of circumcision?  Much in every way!  Chiefly because to them were committed the oracles of God.  For what if some did not believe?   Shall their unbelief make the faith of God without effect?”    </a:t>
            </a:r>
          </a:p>
          <a:p>
            <a:r>
              <a:rPr lang="en-US" sz="2000" i="1" dirty="0"/>
              <a:t>Romans 3:1-3</a:t>
            </a:r>
          </a:p>
        </p:txBody>
      </p:sp>
      <p:sp>
        <p:nvSpPr>
          <p:cNvPr id="8" name="TextBox 7"/>
          <p:cNvSpPr txBox="1"/>
          <p:nvPr/>
        </p:nvSpPr>
        <p:spPr>
          <a:xfrm>
            <a:off x="437745" y="3114644"/>
            <a:ext cx="8001000" cy="1631216"/>
          </a:xfrm>
          <a:prstGeom prst="rect">
            <a:avLst/>
          </a:prstGeom>
          <a:noFill/>
        </p:spPr>
        <p:txBody>
          <a:bodyPr wrap="square" rtlCol="0">
            <a:spAutoFit/>
          </a:bodyPr>
          <a:lstStyle/>
          <a:p>
            <a:r>
              <a:rPr lang="en-US" sz="2000" i="1" dirty="0"/>
              <a:t>How are the Gentiles to relate to the Jews?  </a:t>
            </a:r>
          </a:p>
          <a:p>
            <a:pPr marL="342900" indent="-342900">
              <a:buFont typeface="Arial" panose="020B0604020202020204" pitchFamily="34" charset="0"/>
              <a:buChar char="•"/>
            </a:pPr>
            <a:r>
              <a:rPr lang="en-US" sz="2000" dirty="0"/>
              <a:t>This same question was prominent in </a:t>
            </a:r>
            <a:r>
              <a:rPr lang="en-US" sz="2000" b="1" u="sng" dirty="0"/>
              <a:t>Acts 15 </a:t>
            </a:r>
            <a:r>
              <a:rPr lang="en-US" sz="2000" dirty="0"/>
              <a:t>and will be answered in Romans chapters 9, 10, and 11.</a:t>
            </a:r>
          </a:p>
          <a:p>
            <a:pPr marL="342900" indent="-342900">
              <a:buFont typeface="Arial" panose="020B0604020202020204" pitchFamily="34" charset="0"/>
              <a:buChar char="•"/>
            </a:pPr>
            <a:r>
              <a:rPr lang="en-US" sz="2000" dirty="0"/>
              <a:t>The issue behind all of this is a demonstration by God to the world that He keeps His promises.</a:t>
            </a:r>
          </a:p>
        </p:txBody>
      </p:sp>
      <p:sp>
        <p:nvSpPr>
          <p:cNvPr id="5" name="TextBox 4"/>
          <p:cNvSpPr txBox="1"/>
          <p:nvPr/>
        </p:nvSpPr>
        <p:spPr>
          <a:xfrm>
            <a:off x="437745" y="4937131"/>
            <a:ext cx="8001000" cy="1631216"/>
          </a:xfrm>
          <a:prstGeom prst="rect">
            <a:avLst/>
          </a:prstGeom>
          <a:noFill/>
        </p:spPr>
        <p:txBody>
          <a:bodyPr wrap="square" rtlCol="0">
            <a:spAutoFit/>
          </a:bodyPr>
          <a:lstStyle/>
          <a:p>
            <a:r>
              <a:rPr lang="en-US" sz="2000" i="1" dirty="0"/>
              <a:t>The Problem (chapter 9)…</a:t>
            </a:r>
          </a:p>
          <a:p>
            <a:pPr marL="342900" indent="-342900">
              <a:buFont typeface="Arial" panose="020B0604020202020204" pitchFamily="34" charset="0"/>
              <a:buChar char="•"/>
            </a:pPr>
            <a:r>
              <a:rPr lang="en-US" sz="2000" dirty="0"/>
              <a:t>God made </a:t>
            </a:r>
            <a:r>
              <a:rPr lang="en-US" sz="2000" u="sng" dirty="0"/>
              <a:t>promises</a:t>
            </a:r>
            <a:r>
              <a:rPr lang="en-US" sz="2000" dirty="0"/>
              <a:t> to physical Jews and, according to Paul’s teaching, the bulk of all Jews were unblessed.  </a:t>
            </a:r>
            <a:r>
              <a:rPr lang="en-US" sz="2000" i="1" dirty="0"/>
              <a:t>How do you reconcile God’s faithfulness to those to whom he gave promises when the bulk of them were cut off from those blessings?</a:t>
            </a:r>
          </a:p>
        </p:txBody>
      </p:sp>
    </p:spTree>
    <p:extLst>
      <p:ext uri="{BB962C8B-B14F-4D97-AF65-F5344CB8AC3E}">
        <p14:creationId xmlns:p14="http://schemas.microsoft.com/office/powerpoint/2010/main" val="241000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1000"/>
                                        <p:tgtEl>
                                          <p:spTgt spid="8">
                                            <p:txEl>
                                              <p:pRg st="0" end="0"/>
                                            </p:txEl>
                                          </p:spTgt>
                                        </p:tgtEl>
                                      </p:cBhvr>
                                    </p:animEffect>
                                    <p:anim calcmode="lin" valueType="num">
                                      <p:cBhvr>
                                        <p:cTn id="1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1000"/>
                                        <p:tgtEl>
                                          <p:spTgt spid="8">
                                            <p:txEl>
                                              <p:pRg st="1" end="1"/>
                                            </p:txEl>
                                          </p:spTgt>
                                        </p:tgtEl>
                                      </p:cBhvr>
                                    </p:animEffect>
                                    <p:anim calcmode="lin" valueType="num">
                                      <p:cBhvr>
                                        <p:cTn id="1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1000"/>
                                        <p:tgtEl>
                                          <p:spTgt spid="8">
                                            <p:txEl>
                                              <p:pRg st="2" end="2"/>
                                            </p:txEl>
                                          </p:spTgt>
                                        </p:tgtEl>
                                      </p:cBhvr>
                                    </p:animEffect>
                                    <p:anim calcmode="lin" valueType="num">
                                      <p:cBhvr>
                                        <p:cTn id="2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4</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Advantages of the Jews </a:t>
            </a:r>
            <a:br>
              <a:rPr lang="en-US" dirty="0"/>
            </a:br>
            <a:r>
              <a:rPr lang="en-US" sz="2400" dirty="0">
                <a:solidFill>
                  <a:schemeClr val="tx2">
                    <a:lumMod val="60000"/>
                    <a:lumOff val="40000"/>
                  </a:schemeClr>
                </a:solidFill>
              </a:rPr>
              <a:t>What Paul has already said about the prototypical Jew</a:t>
            </a:r>
          </a:p>
        </p:txBody>
      </p:sp>
      <p:sp>
        <p:nvSpPr>
          <p:cNvPr id="6" name="TextBox 5"/>
          <p:cNvSpPr txBox="1"/>
          <p:nvPr/>
        </p:nvSpPr>
        <p:spPr>
          <a:xfrm>
            <a:off x="402768" y="1295400"/>
            <a:ext cx="8001000" cy="1015663"/>
          </a:xfrm>
          <a:prstGeom prst="rect">
            <a:avLst/>
          </a:prstGeom>
          <a:noFill/>
        </p:spPr>
        <p:txBody>
          <a:bodyPr wrap="square" rtlCol="0">
            <a:spAutoFit/>
          </a:bodyPr>
          <a:lstStyle/>
          <a:p>
            <a:r>
              <a:rPr lang="en-US" sz="2000" b="1" i="1" dirty="0"/>
              <a:t>Romans 2:17-29; 3:1-8</a:t>
            </a:r>
          </a:p>
          <a:p>
            <a:pPr marL="342900" indent="-342900">
              <a:buFont typeface="Arial" pitchFamily="34" charset="0"/>
              <a:buChar char="•"/>
            </a:pPr>
            <a:r>
              <a:rPr lang="en-US" sz="2000" i="1" dirty="0"/>
              <a:t>Specifically addressing the </a:t>
            </a:r>
            <a:r>
              <a:rPr lang="en-US" sz="2000" b="1" i="1" dirty="0"/>
              <a:t>Jew</a:t>
            </a:r>
            <a:r>
              <a:rPr lang="en-US" sz="2000" i="1" dirty="0"/>
              <a:t>; </a:t>
            </a:r>
            <a:r>
              <a:rPr lang="en-US" sz="2000" b="1" i="1" dirty="0"/>
              <a:t>exemplar of the religious person</a:t>
            </a:r>
            <a:r>
              <a:rPr lang="en-US" sz="2000" i="1" dirty="0"/>
              <a:t>; who is </a:t>
            </a:r>
            <a:r>
              <a:rPr lang="en-US" sz="2000" b="1" i="1" dirty="0"/>
              <a:t>proud of the law, but not keeping it</a:t>
            </a:r>
            <a:r>
              <a:rPr lang="en-US" sz="2000" i="1" dirty="0"/>
              <a:t>.</a:t>
            </a:r>
          </a:p>
        </p:txBody>
      </p:sp>
      <p:sp>
        <p:nvSpPr>
          <p:cNvPr id="2" name="TextBox 1"/>
          <p:cNvSpPr txBox="1"/>
          <p:nvPr/>
        </p:nvSpPr>
        <p:spPr>
          <a:xfrm>
            <a:off x="408214" y="2347411"/>
            <a:ext cx="8001000" cy="1938992"/>
          </a:xfrm>
          <a:prstGeom prst="rect">
            <a:avLst/>
          </a:prstGeom>
          <a:noFill/>
        </p:spPr>
        <p:txBody>
          <a:bodyPr wrap="square" rtlCol="0">
            <a:spAutoFit/>
          </a:bodyPr>
          <a:lstStyle/>
          <a:p>
            <a:r>
              <a:rPr lang="en-US" sz="2000" i="1" dirty="0"/>
              <a:t>Basis of Jewish Pride </a:t>
            </a:r>
          </a:p>
          <a:p>
            <a:pPr marL="342900" indent="-342900">
              <a:buFont typeface="Arial" pitchFamily="34" charset="0"/>
              <a:buChar char="•"/>
            </a:pPr>
            <a:r>
              <a:rPr lang="en-US" sz="2000" i="1" dirty="0"/>
              <a:t>Being called a Jew (2:17)</a:t>
            </a:r>
          </a:p>
          <a:p>
            <a:pPr marL="342900" indent="-342900">
              <a:buFont typeface="Arial" pitchFamily="34" charset="0"/>
              <a:buChar char="•"/>
            </a:pPr>
            <a:r>
              <a:rPr lang="en-US" sz="2000" i="1" dirty="0"/>
              <a:t>Relied on the Law, “rest” (2:17)</a:t>
            </a:r>
          </a:p>
          <a:p>
            <a:pPr marL="342900" indent="-342900">
              <a:buFont typeface="Arial" pitchFamily="34" charset="0"/>
              <a:buChar char="•"/>
            </a:pPr>
            <a:r>
              <a:rPr lang="en-US" sz="2000" i="1" dirty="0"/>
              <a:t>Boasting of God (superior attitude, 2:19)</a:t>
            </a:r>
          </a:p>
          <a:p>
            <a:pPr marL="342900" indent="-342900">
              <a:buFont typeface="Arial" pitchFamily="34" charset="0"/>
              <a:buChar char="•"/>
            </a:pPr>
            <a:r>
              <a:rPr lang="en-US" sz="2000" i="1" dirty="0"/>
              <a:t>Knowing God’s Will (2:20)</a:t>
            </a:r>
          </a:p>
          <a:p>
            <a:pPr marL="342900" indent="-342900">
              <a:buFont typeface="Arial" pitchFamily="34" charset="0"/>
              <a:buChar char="•"/>
            </a:pPr>
            <a:r>
              <a:rPr lang="en-US" sz="2000" i="1" dirty="0"/>
              <a:t>Being instructors of the Law (2:21)</a:t>
            </a:r>
          </a:p>
        </p:txBody>
      </p:sp>
      <p:sp>
        <p:nvSpPr>
          <p:cNvPr id="3" name="TextBox 2"/>
          <p:cNvSpPr txBox="1"/>
          <p:nvPr/>
        </p:nvSpPr>
        <p:spPr>
          <a:xfrm>
            <a:off x="391886" y="4446813"/>
            <a:ext cx="8126186" cy="1015663"/>
          </a:xfrm>
          <a:prstGeom prst="rect">
            <a:avLst/>
          </a:prstGeom>
          <a:noFill/>
        </p:spPr>
        <p:txBody>
          <a:bodyPr wrap="square" rtlCol="0">
            <a:spAutoFit/>
          </a:bodyPr>
          <a:lstStyle/>
          <a:p>
            <a:r>
              <a:rPr lang="en-US" sz="2000" i="1" dirty="0"/>
              <a:t>But, all men could see their self-righteous hypocrisy</a:t>
            </a:r>
          </a:p>
          <a:p>
            <a:pPr marL="285750" indent="-285750">
              <a:buFont typeface="Arial" pitchFamily="34" charset="0"/>
              <a:buChar char="•"/>
            </a:pPr>
            <a:r>
              <a:rPr lang="en-US" sz="2000" i="1" dirty="0"/>
              <a:t>“</a:t>
            </a:r>
            <a:r>
              <a:rPr lang="en-US" sz="2000" b="1" i="1" dirty="0"/>
              <a:t>For ‘the name of God is blasphemed among the Gentiles because of you’…”  </a:t>
            </a:r>
            <a:r>
              <a:rPr lang="en-US" sz="2000" i="1" dirty="0"/>
              <a:t>Isaiah 52:5;  Ezekiel 36:16-36</a:t>
            </a:r>
          </a:p>
        </p:txBody>
      </p:sp>
      <p:sp>
        <p:nvSpPr>
          <p:cNvPr id="8" name="TextBox 7"/>
          <p:cNvSpPr txBox="1"/>
          <p:nvPr/>
        </p:nvSpPr>
        <p:spPr>
          <a:xfrm>
            <a:off x="454479" y="5590229"/>
            <a:ext cx="8001000" cy="1015663"/>
          </a:xfrm>
          <a:prstGeom prst="rect">
            <a:avLst/>
          </a:prstGeom>
          <a:noFill/>
        </p:spPr>
        <p:txBody>
          <a:bodyPr wrap="square" rtlCol="0">
            <a:spAutoFit/>
          </a:bodyPr>
          <a:lstStyle/>
          <a:p>
            <a:r>
              <a:rPr lang="en-US" sz="2000" b="1" i="1" dirty="0"/>
              <a:t>Reality</a:t>
            </a:r>
            <a:r>
              <a:rPr lang="en-US" sz="2000" i="1" dirty="0"/>
              <a:t> </a:t>
            </a:r>
            <a:r>
              <a:rPr lang="en-US" sz="2000" b="1" i="1" dirty="0"/>
              <a:t>counts</a:t>
            </a:r>
            <a:r>
              <a:rPr lang="en-US" sz="2000" i="1" dirty="0"/>
              <a:t> </a:t>
            </a:r>
            <a:r>
              <a:rPr lang="en-US" sz="2000" b="1" i="1" dirty="0"/>
              <a:t>with God</a:t>
            </a:r>
            <a:r>
              <a:rPr lang="en-US" sz="2000" i="1" dirty="0"/>
              <a:t>…!  </a:t>
            </a:r>
          </a:p>
          <a:p>
            <a:r>
              <a:rPr lang="en-US" sz="2000" i="1" dirty="0"/>
              <a:t>“…but </a:t>
            </a:r>
            <a:r>
              <a:rPr lang="en-US" sz="2000" b="1" i="1" dirty="0"/>
              <a:t>he is a Jew who is one inwardly</a:t>
            </a:r>
            <a:r>
              <a:rPr lang="en-US" sz="2000" i="1" dirty="0"/>
              <a:t>; and circumcision is that of the </a:t>
            </a:r>
            <a:r>
              <a:rPr lang="en-US" sz="2000" b="1" i="1" u="sng" dirty="0"/>
              <a:t>heart</a:t>
            </a:r>
            <a:r>
              <a:rPr lang="en-US" sz="2000" i="1" dirty="0"/>
              <a:t>, in the Spirit, not in the letter...”    (v. 2:29) (Deut. 10:16-17)</a:t>
            </a:r>
          </a:p>
        </p:txBody>
      </p:sp>
    </p:spTree>
    <p:extLst>
      <p:ext uri="{BB962C8B-B14F-4D97-AF65-F5344CB8AC3E}">
        <p14:creationId xmlns:p14="http://schemas.microsoft.com/office/powerpoint/2010/main" val="1806360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pPr algn="l"/>
            <a:r>
              <a:rPr lang="en-US" dirty="0"/>
              <a:t>Advantages of the Jews (9:3-5)</a:t>
            </a:r>
            <a:endParaRPr lang="en-US" sz="2400" dirty="0">
              <a:solidFill>
                <a:schemeClr val="tx2">
                  <a:lumMod val="60000"/>
                  <a:lumOff val="40000"/>
                </a:schemeClr>
              </a:solidFill>
            </a:endParaRPr>
          </a:p>
        </p:txBody>
      </p:sp>
      <p:sp>
        <p:nvSpPr>
          <p:cNvPr id="8" name="TextBox 7"/>
          <p:cNvSpPr txBox="1"/>
          <p:nvPr/>
        </p:nvSpPr>
        <p:spPr>
          <a:xfrm>
            <a:off x="457200" y="685800"/>
            <a:ext cx="8305800" cy="5940088"/>
          </a:xfrm>
          <a:prstGeom prst="rect">
            <a:avLst/>
          </a:prstGeom>
          <a:noFill/>
        </p:spPr>
        <p:txBody>
          <a:bodyPr wrap="square" rtlCol="0">
            <a:spAutoFit/>
          </a:bodyPr>
          <a:lstStyle/>
          <a:p>
            <a:pPr marL="457200" indent="-457200">
              <a:buFont typeface="+mj-lt"/>
              <a:buAutoNum type="arabicPeriod"/>
            </a:pPr>
            <a:r>
              <a:rPr lang="en-US" sz="2000" b="1" dirty="0"/>
              <a:t>Received the Words</a:t>
            </a:r>
            <a:r>
              <a:rPr lang="en-US" sz="2000" dirty="0"/>
              <a:t> </a:t>
            </a:r>
            <a:r>
              <a:rPr lang="en-US" sz="2000" b="1" dirty="0"/>
              <a:t>of God   </a:t>
            </a:r>
            <a:r>
              <a:rPr lang="en-US" sz="2000" dirty="0"/>
              <a:t>(Romans 3:1-2).</a:t>
            </a:r>
          </a:p>
          <a:p>
            <a:pPr marL="457200" indent="-457200">
              <a:buFont typeface="+mj-lt"/>
              <a:buAutoNum type="arabicPeriod"/>
            </a:pPr>
            <a:r>
              <a:rPr lang="en-US" sz="2000" b="1" dirty="0"/>
              <a:t>Called</a:t>
            </a:r>
            <a:r>
              <a:rPr lang="en-US" sz="2000" dirty="0"/>
              <a:t> “</a:t>
            </a:r>
            <a:r>
              <a:rPr lang="en-US" sz="2000" b="1" dirty="0"/>
              <a:t>Israelites</a:t>
            </a:r>
            <a:r>
              <a:rPr lang="en-US" sz="2000" dirty="0"/>
              <a:t>” </a:t>
            </a:r>
            <a:r>
              <a:rPr lang="en-US" sz="2000" dirty="0">
                <a:sym typeface="Wingdings" panose="05000000000000000000" pitchFamily="2" charset="2"/>
              </a:rPr>
              <a:t> “Princes of God”  (Genesis 32:28)</a:t>
            </a:r>
          </a:p>
          <a:p>
            <a:pPr marL="914400" lvl="1" indent="-457200">
              <a:buFont typeface="+mj-lt"/>
              <a:buAutoNum type="arabicPeriod"/>
            </a:pPr>
            <a:r>
              <a:rPr lang="en-US" sz="2000" dirty="0">
                <a:sym typeface="Wingdings" panose="05000000000000000000" pitchFamily="2" charset="2"/>
              </a:rPr>
              <a:t>Why chosen?  As a witness of His reality.</a:t>
            </a:r>
          </a:p>
          <a:p>
            <a:pPr marL="914400" lvl="1" indent="-457200">
              <a:buFont typeface="+mj-lt"/>
              <a:buAutoNum type="arabicPeriod"/>
            </a:pPr>
            <a:r>
              <a:rPr lang="en-US" sz="2000" dirty="0">
                <a:sym typeface="Wingdings" panose="05000000000000000000" pitchFamily="2" charset="2"/>
              </a:rPr>
              <a:t>All nations had excluded knowledge of God  (Rom. 1:18-26)</a:t>
            </a:r>
          </a:p>
          <a:p>
            <a:pPr marL="914400" lvl="1" indent="-457200">
              <a:buFont typeface="+mj-lt"/>
              <a:buAutoNum type="arabicPeriod"/>
            </a:pPr>
            <a:r>
              <a:rPr lang="en-US" sz="2000" dirty="0">
                <a:sym typeface="Wingdings" panose="05000000000000000000" pitchFamily="2" charset="2"/>
              </a:rPr>
              <a:t>God called an Assyrian named Abram – for His purposes </a:t>
            </a:r>
          </a:p>
          <a:p>
            <a:pPr marL="457200" indent="-457200">
              <a:buFont typeface="+mj-lt"/>
              <a:buAutoNum type="arabicPeriod"/>
            </a:pPr>
            <a:r>
              <a:rPr lang="en-US" sz="2000" dirty="0">
                <a:sym typeface="Wingdings" panose="05000000000000000000" pitchFamily="2" charset="2"/>
              </a:rPr>
              <a:t>“</a:t>
            </a:r>
            <a:r>
              <a:rPr lang="en-US" sz="2000" b="1" dirty="0">
                <a:sym typeface="Wingdings" panose="05000000000000000000" pitchFamily="2" charset="2"/>
              </a:rPr>
              <a:t>Adoption</a:t>
            </a:r>
            <a:r>
              <a:rPr lang="en-US" sz="2000" dirty="0">
                <a:sym typeface="Wingdings" panose="05000000000000000000" pitchFamily="2" charset="2"/>
              </a:rPr>
              <a:t>” as sons   (Deut. 7:6-9)</a:t>
            </a:r>
          </a:p>
          <a:p>
            <a:pPr marL="457200" indent="-457200">
              <a:buFont typeface="+mj-lt"/>
              <a:buAutoNum type="arabicPeriod"/>
            </a:pPr>
            <a:r>
              <a:rPr lang="en-US" sz="2000" dirty="0">
                <a:sym typeface="Wingdings" panose="05000000000000000000" pitchFamily="2" charset="2"/>
              </a:rPr>
              <a:t>“</a:t>
            </a:r>
            <a:r>
              <a:rPr lang="en-US" sz="2000" b="1" dirty="0">
                <a:sym typeface="Wingdings" panose="05000000000000000000" pitchFamily="2" charset="2"/>
              </a:rPr>
              <a:t>Glory</a:t>
            </a:r>
            <a:r>
              <a:rPr lang="en-US" sz="2000" dirty="0">
                <a:sym typeface="Wingdings" panose="05000000000000000000" pitchFamily="2" charset="2"/>
              </a:rPr>
              <a:t>”; “Shekinah”  (Exodus 24:16-17; 29:43; 40:34-38)</a:t>
            </a:r>
          </a:p>
          <a:p>
            <a:pPr marL="457200" indent="-457200">
              <a:buFont typeface="+mj-lt"/>
              <a:buAutoNum type="arabicPeriod"/>
            </a:pPr>
            <a:r>
              <a:rPr lang="en-US" sz="2000" dirty="0">
                <a:sym typeface="Wingdings" panose="05000000000000000000" pitchFamily="2" charset="2"/>
              </a:rPr>
              <a:t>“</a:t>
            </a:r>
            <a:r>
              <a:rPr lang="en-US" sz="2000" b="1" dirty="0">
                <a:sym typeface="Wingdings" panose="05000000000000000000" pitchFamily="2" charset="2"/>
              </a:rPr>
              <a:t>Covenants</a:t>
            </a:r>
            <a:r>
              <a:rPr lang="en-US" sz="2000" dirty="0">
                <a:sym typeface="Wingdings" panose="05000000000000000000" pitchFamily="2" charset="2"/>
              </a:rPr>
              <a:t>” (Conditional?  Unconditional?)</a:t>
            </a:r>
          </a:p>
          <a:p>
            <a:pPr marL="914400" lvl="1" indent="-457200">
              <a:buFont typeface="+mj-lt"/>
              <a:buAutoNum type="arabicPeriod"/>
            </a:pPr>
            <a:r>
              <a:rPr lang="en-US" sz="2000" i="1" dirty="0">
                <a:sym typeface="Wingdings" panose="05000000000000000000" pitchFamily="2" charset="2"/>
              </a:rPr>
              <a:t>Abrahamic</a:t>
            </a:r>
            <a:r>
              <a:rPr lang="en-US" sz="2000" dirty="0">
                <a:sym typeface="Wingdings" panose="05000000000000000000" pitchFamily="2" charset="2"/>
              </a:rPr>
              <a:t>  (Genesis 12:1-3; 15:6-21) </a:t>
            </a:r>
          </a:p>
          <a:p>
            <a:pPr marL="1371600" lvl="2" indent="-457200">
              <a:buFont typeface="+mj-lt"/>
              <a:buAutoNum type="arabicPeriod"/>
            </a:pPr>
            <a:r>
              <a:rPr lang="en-US" sz="2000" dirty="0">
                <a:sym typeface="Wingdings" panose="05000000000000000000" pitchFamily="2" charset="2"/>
              </a:rPr>
              <a:t>God’s plan for mankind follows from this covenant – Gal 3:8</a:t>
            </a:r>
          </a:p>
          <a:p>
            <a:pPr marL="1371600" lvl="2" indent="-457200">
              <a:buFont typeface="+mj-lt"/>
              <a:buAutoNum type="arabicPeriod"/>
            </a:pPr>
            <a:r>
              <a:rPr lang="en-US" sz="2000" dirty="0">
                <a:sym typeface="Wingdings" panose="05000000000000000000" pitchFamily="2" charset="2"/>
              </a:rPr>
              <a:t>Eternal – Gen. 17:7;  I Chron. 16:17;</a:t>
            </a:r>
          </a:p>
          <a:p>
            <a:pPr marL="1371600" lvl="2" indent="-457200">
              <a:buFont typeface="+mj-lt"/>
              <a:buAutoNum type="arabicPeriod"/>
            </a:pPr>
            <a:r>
              <a:rPr lang="en-US" sz="2000" dirty="0">
                <a:sym typeface="Wingdings" panose="05000000000000000000" pitchFamily="2" charset="2"/>
              </a:rPr>
              <a:t>Re-confirmed – Gen. 22:15-18; Gen. 26:2-5; Heb. 6:13-20  </a:t>
            </a:r>
          </a:p>
          <a:p>
            <a:pPr marL="914400" lvl="1" indent="-457200">
              <a:buFont typeface="+mj-lt"/>
              <a:buAutoNum type="arabicPeriod"/>
            </a:pPr>
            <a:r>
              <a:rPr lang="en-US" sz="2000" i="1" dirty="0">
                <a:sym typeface="Wingdings" panose="05000000000000000000" pitchFamily="2" charset="2"/>
              </a:rPr>
              <a:t>Land</a:t>
            </a:r>
            <a:r>
              <a:rPr lang="en-US" sz="2000" dirty="0">
                <a:sym typeface="Wingdings" panose="05000000000000000000" pitchFamily="2" charset="2"/>
              </a:rPr>
              <a:t>  (Genesis 12:7; 13:12-17; 15:9-21; 35:9-12)</a:t>
            </a:r>
          </a:p>
          <a:p>
            <a:pPr marL="914400" lvl="1" indent="-457200">
              <a:buFont typeface="+mj-lt"/>
              <a:buAutoNum type="arabicPeriod"/>
            </a:pPr>
            <a:r>
              <a:rPr lang="en-US" sz="2000" i="1" dirty="0">
                <a:sym typeface="Wingdings" panose="05000000000000000000" pitchFamily="2" charset="2"/>
              </a:rPr>
              <a:t>Mosaic</a:t>
            </a:r>
            <a:r>
              <a:rPr lang="en-US" sz="2000" dirty="0">
                <a:sym typeface="Wingdings" panose="05000000000000000000" pitchFamily="2" charset="2"/>
              </a:rPr>
              <a:t> (was a </a:t>
            </a:r>
            <a:r>
              <a:rPr lang="en-US" sz="2000" u="sng" dirty="0">
                <a:sym typeface="Wingdings" panose="05000000000000000000" pitchFamily="2" charset="2"/>
              </a:rPr>
              <a:t>conditional</a:t>
            </a:r>
            <a:r>
              <a:rPr lang="en-US" sz="2000" dirty="0">
                <a:sym typeface="Wingdings" panose="05000000000000000000" pitchFamily="2" charset="2"/>
              </a:rPr>
              <a:t> covenant)</a:t>
            </a:r>
          </a:p>
          <a:p>
            <a:pPr marL="1371600" lvl="2" indent="-457200">
              <a:buFont typeface="+mj-lt"/>
              <a:buAutoNum type="arabicPeriod"/>
            </a:pPr>
            <a:r>
              <a:rPr lang="en-US" sz="2000" dirty="0">
                <a:sym typeface="Wingdings" panose="05000000000000000000" pitchFamily="2" charset="2"/>
              </a:rPr>
              <a:t>Deut. 28:63-68; 30:1-3  Lev. 26:40-45  </a:t>
            </a:r>
          </a:p>
          <a:p>
            <a:pPr marL="914400" lvl="1" indent="-457200">
              <a:buFont typeface="+mj-lt"/>
              <a:buAutoNum type="arabicPeriod"/>
            </a:pPr>
            <a:r>
              <a:rPr lang="en-US" sz="2000" i="1" dirty="0"/>
              <a:t>Davidic</a:t>
            </a:r>
            <a:r>
              <a:rPr lang="en-US" sz="2000" dirty="0"/>
              <a:t> (Gen. 49:10; 2 Samuel 7:11-16; 1 Chron. 17:11-14)</a:t>
            </a:r>
          </a:p>
          <a:p>
            <a:pPr marL="1371600" lvl="2" indent="-457200">
              <a:buFont typeface="+mj-lt"/>
              <a:buAutoNum type="arabicPeriod"/>
            </a:pPr>
            <a:r>
              <a:rPr lang="en-US" sz="2000" dirty="0" err="1"/>
              <a:t>Jeconiah</a:t>
            </a:r>
            <a:r>
              <a:rPr lang="en-US" sz="2000" dirty="0"/>
              <a:t> was the last of David’s line to rule (Jer. 22:30)</a:t>
            </a:r>
          </a:p>
          <a:p>
            <a:pPr marL="1371600" lvl="2" indent="-457200">
              <a:buFont typeface="+mj-lt"/>
              <a:buAutoNum type="arabicPeriod"/>
            </a:pPr>
            <a:r>
              <a:rPr lang="en-US" sz="2000" dirty="0"/>
              <a:t>Confirmed of Jesus to Mary by Gabriel (Luke 1:30-33)</a:t>
            </a:r>
          </a:p>
          <a:p>
            <a:pPr marL="1371600" lvl="2" indent="-457200">
              <a:buFont typeface="+mj-lt"/>
              <a:buAutoNum type="arabicPeriod"/>
            </a:pPr>
            <a:r>
              <a:rPr lang="en-US" sz="2000" dirty="0"/>
              <a:t>Recognized by Church Council (Acts 15:16-18)</a:t>
            </a:r>
          </a:p>
        </p:txBody>
      </p:sp>
    </p:spTree>
    <p:extLst>
      <p:ext uri="{BB962C8B-B14F-4D97-AF65-F5344CB8AC3E}">
        <p14:creationId xmlns:p14="http://schemas.microsoft.com/office/powerpoint/2010/main" val="368739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anim calcmode="lin" valueType="num">
                                      <p:cBhvr>
                                        <p:cTn id="1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1000"/>
                                        <p:tgtEl>
                                          <p:spTgt spid="8">
                                            <p:txEl>
                                              <p:pRg st="3" end="3"/>
                                            </p:txEl>
                                          </p:spTgt>
                                        </p:tgtEl>
                                      </p:cBhvr>
                                    </p:animEffect>
                                    <p:anim calcmode="lin" valueType="num">
                                      <p:cBhvr>
                                        <p:cTn id="2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1000"/>
                                        <p:tgtEl>
                                          <p:spTgt spid="8">
                                            <p:txEl>
                                              <p:pRg st="4" end="4"/>
                                            </p:txEl>
                                          </p:spTgt>
                                        </p:tgtEl>
                                      </p:cBhvr>
                                    </p:animEffect>
                                    <p:anim calcmode="lin" valueType="num">
                                      <p:cBhvr>
                                        <p:cTn id="2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1000"/>
                                        <p:tgtEl>
                                          <p:spTgt spid="8">
                                            <p:txEl>
                                              <p:pRg st="5" end="5"/>
                                            </p:txEl>
                                          </p:spTgt>
                                        </p:tgtEl>
                                      </p:cBhvr>
                                    </p:animEffect>
                                    <p:anim calcmode="lin" valueType="num">
                                      <p:cBhvr>
                                        <p:cTn id="33"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1000"/>
                                        <p:tgtEl>
                                          <p:spTgt spid="8">
                                            <p:txEl>
                                              <p:pRg st="6" end="6"/>
                                            </p:txEl>
                                          </p:spTgt>
                                        </p:tgtEl>
                                      </p:cBhvr>
                                    </p:animEffect>
                                    <p:anim calcmode="lin" valueType="num">
                                      <p:cBhvr>
                                        <p:cTn id="38"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8">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fade">
                                      <p:cBhvr>
                                        <p:cTn id="42" dur="1000"/>
                                        <p:tgtEl>
                                          <p:spTgt spid="8">
                                            <p:txEl>
                                              <p:pRg st="7" end="7"/>
                                            </p:txEl>
                                          </p:spTgt>
                                        </p:tgtEl>
                                      </p:cBhvr>
                                    </p:animEffect>
                                    <p:anim calcmode="lin" valueType="num">
                                      <p:cBhvr>
                                        <p:cTn id="43"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fade">
                                      <p:cBhvr>
                                        <p:cTn id="47" dur="1000"/>
                                        <p:tgtEl>
                                          <p:spTgt spid="8">
                                            <p:txEl>
                                              <p:pRg st="8" end="8"/>
                                            </p:txEl>
                                          </p:spTgt>
                                        </p:tgtEl>
                                      </p:cBhvr>
                                    </p:animEffect>
                                    <p:anim calcmode="lin" valueType="num">
                                      <p:cBhvr>
                                        <p:cTn id="48"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8">
                                            <p:txEl>
                                              <p:pRg st="8" end="8"/>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8">
                                            <p:txEl>
                                              <p:pRg st="9" end="9"/>
                                            </p:txEl>
                                          </p:spTgt>
                                        </p:tgtEl>
                                        <p:attrNameLst>
                                          <p:attrName>style.visibility</p:attrName>
                                        </p:attrNameLst>
                                      </p:cBhvr>
                                      <p:to>
                                        <p:strVal val="visible"/>
                                      </p:to>
                                    </p:set>
                                    <p:animEffect transition="in" filter="fade">
                                      <p:cBhvr>
                                        <p:cTn id="52" dur="1000"/>
                                        <p:tgtEl>
                                          <p:spTgt spid="8">
                                            <p:txEl>
                                              <p:pRg st="9" end="9"/>
                                            </p:txEl>
                                          </p:spTgt>
                                        </p:tgtEl>
                                      </p:cBhvr>
                                    </p:animEffect>
                                    <p:anim calcmode="lin" valueType="num">
                                      <p:cBhvr>
                                        <p:cTn id="53"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8">
                                            <p:txEl>
                                              <p:pRg st="9" end="9"/>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8">
                                            <p:txEl>
                                              <p:pRg st="10" end="10"/>
                                            </p:txEl>
                                          </p:spTgt>
                                        </p:tgtEl>
                                        <p:attrNameLst>
                                          <p:attrName>style.visibility</p:attrName>
                                        </p:attrNameLst>
                                      </p:cBhvr>
                                      <p:to>
                                        <p:strVal val="visible"/>
                                      </p:to>
                                    </p:set>
                                    <p:animEffect transition="in" filter="fade">
                                      <p:cBhvr>
                                        <p:cTn id="57" dur="1000"/>
                                        <p:tgtEl>
                                          <p:spTgt spid="8">
                                            <p:txEl>
                                              <p:pRg st="10" end="10"/>
                                            </p:txEl>
                                          </p:spTgt>
                                        </p:tgtEl>
                                      </p:cBhvr>
                                    </p:animEffect>
                                    <p:anim calcmode="lin" valueType="num">
                                      <p:cBhvr>
                                        <p:cTn id="58"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59" dur="1000" fill="hold"/>
                                        <p:tgtEl>
                                          <p:spTgt spid="8">
                                            <p:txEl>
                                              <p:pRg st="10" end="10"/>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8">
                                            <p:txEl>
                                              <p:pRg st="11" end="11"/>
                                            </p:txEl>
                                          </p:spTgt>
                                        </p:tgtEl>
                                        <p:attrNameLst>
                                          <p:attrName>style.visibility</p:attrName>
                                        </p:attrNameLst>
                                      </p:cBhvr>
                                      <p:to>
                                        <p:strVal val="visible"/>
                                      </p:to>
                                    </p:set>
                                    <p:animEffect transition="in" filter="fade">
                                      <p:cBhvr>
                                        <p:cTn id="62" dur="1000"/>
                                        <p:tgtEl>
                                          <p:spTgt spid="8">
                                            <p:txEl>
                                              <p:pRg st="11" end="11"/>
                                            </p:txEl>
                                          </p:spTgt>
                                        </p:tgtEl>
                                      </p:cBhvr>
                                    </p:animEffect>
                                    <p:anim calcmode="lin" valueType="num">
                                      <p:cBhvr>
                                        <p:cTn id="63"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64" dur="1000" fill="hold"/>
                                        <p:tgtEl>
                                          <p:spTgt spid="8">
                                            <p:txEl>
                                              <p:pRg st="11" end="11"/>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8">
                                            <p:txEl>
                                              <p:pRg st="12" end="12"/>
                                            </p:txEl>
                                          </p:spTgt>
                                        </p:tgtEl>
                                        <p:attrNameLst>
                                          <p:attrName>style.visibility</p:attrName>
                                        </p:attrNameLst>
                                      </p:cBhvr>
                                      <p:to>
                                        <p:strVal val="visible"/>
                                      </p:to>
                                    </p:set>
                                    <p:animEffect transition="in" filter="fade">
                                      <p:cBhvr>
                                        <p:cTn id="67" dur="1000"/>
                                        <p:tgtEl>
                                          <p:spTgt spid="8">
                                            <p:txEl>
                                              <p:pRg st="12" end="12"/>
                                            </p:txEl>
                                          </p:spTgt>
                                        </p:tgtEl>
                                      </p:cBhvr>
                                    </p:animEffect>
                                    <p:anim calcmode="lin" valueType="num">
                                      <p:cBhvr>
                                        <p:cTn id="68" dur="1000" fill="hold"/>
                                        <p:tgtEl>
                                          <p:spTgt spid="8">
                                            <p:txEl>
                                              <p:pRg st="12" end="12"/>
                                            </p:txEl>
                                          </p:spTgt>
                                        </p:tgtEl>
                                        <p:attrNameLst>
                                          <p:attrName>ppt_x</p:attrName>
                                        </p:attrNameLst>
                                      </p:cBhvr>
                                      <p:tavLst>
                                        <p:tav tm="0">
                                          <p:val>
                                            <p:strVal val="#ppt_x"/>
                                          </p:val>
                                        </p:tav>
                                        <p:tav tm="100000">
                                          <p:val>
                                            <p:strVal val="#ppt_x"/>
                                          </p:val>
                                        </p:tav>
                                      </p:tavLst>
                                    </p:anim>
                                    <p:anim calcmode="lin" valueType="num">
                                      <p:cBhvr>
                                        <p:cTn id="69" dur="1000" fill="hold"/>
                                        <p:tgtEl>
                                          <p:spTgt spid="8">
                                            <p:txEl>
                                              <p:pRg st="12" end="12"/>
                                            </p:txEl>
                                          </p:spTgt>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8">
                                            <p:txEl>
                                              <p:pRg st="13" end="13"/>
                                            </p:txEl>
                                          </p:spTgt>
                                        </p:tgtEl>
                                        <p:attrNameLst>
                                          <p:attrName>style.visibility</p:attrName>
                                        </p:attrNameLst>
                                      </p:cBhvr>
                                      <p:to>
                                        <p:strVal val="visible"/>
                                      </p:to>
                                    </p:set>
                                    <p:animEffect transition="in" filter="fade">
                                      <p:cBhvr>
                                        <p:cTn id="72" dur="1000"/>
                                        <p:tgtEl>
                                          <p:spTgt spid="8">
                                            <p:txEl>
                                              <p:pRg st="13" end="13"/>
                                            </p:txEl>
                                          </p:spTgt>
                                        </p:tgtEl>
                                      </p:cBhvr>
                                    </p:animEffect>
                                    <p:anim calcmode="lin" valueType="num">
                                      <p:cBhvr>
                                        <p:cTn id="73" dur="1000" fill="hold"/>
                                        <p:tgtEl>
                                          <p:spTgt spid="8">
                                            <p:txEl>
                                              <p:pRg st="13" end="13"/>
                                            </p:txEl>
                                          </p:spTgt>
                                        </p:tgtEl>
                                        <p:attrNameLst>
                                          <p:attrName>ppt_x</p:attrName>
                                        </p:attrNameLst>
                                      </p:cBhvr>
                                      <p:tavLst>
                                        <p:tav tm="0">
                                          <p:val>
                                            <p:strVal val="#ppt_x"/>
                                          </p:val>
                                        </p:tav>
                                        <p:tav tm="100000">
                                          <p:val>
                                            <p:strVal val="#ppt_x"/>
                                          </p:val>
                                        </p:tav>
                                      </p:tavLst>
                                    </p:anim>
                                    <p:anim calcmode="lin" valueType="num">
                                      <p:cBhvr>
                                        <p:cTn id="74" dur="1000" fill="hold"/>
                                        <p:tgtEl>
                                          <p:spTgt spid="8">
                                            <p:txEl>
                                              <p:pRg st="13" end="13"/>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8">
                                            <p:txEl>
                                              <p:pRg st="14" end="14"/>
                                            </p:txEl>
                                          </p:spTgt>
                                        </p:tgtEl>
                                        <p:attrNameLst>
                                          <p:attrName>style.visibility</p:attrName>
                                        </p:attrNameLst>
                                      </p:cBhvr>
                                      <p:to>
                                        <p:strVal val="visible"/>
                                      </p:to>
                                    </p:set>
                                    <p:animEffect transition="in" filter="fade">
                                      <p:cBhvr>
                                        <p:cTn id="77" dur="1000"/>
                                        <p:tgtEl>
                                          <p:spTgt spid="8">
                                            <p:txEl>
                                              <p:pRg st="14" end="14"/>
                                            </p:txEl>
                                          </p:spTgt>
                                        </p:tgtEl>
                                      </p:cBhvr>
                                    </p:animEffect>
                                    <p:anim calcmode="lin" valueType="num">
                                      <p:cBhvr>
                                        <p:cTn id="78" dur="1000" fill="hold"/>
                                        <p:tgtEl>
                                          <p:spTgt spid="8">
                                            <p:txEl>
                                              <p:pRg st="14" end="14"/>
                                            </p:txEl>
                                          </p:spTgt>
                                        </p:tgtEl>
                                        <p:attrNameLst>
                                          <p:attrName>ppt_x</p:attrName>
                                        </p:attrNameLst>
                                      </p:cBhvr>
                                      <p:tavLst>
                                        <p:tav tm="0">
                                          <p:val>
                                            <p:strVal val="#ppt_x"/>
                                          </p:val>
                                        </p:tav>
                                        <p:tav tm="100000">
                                          <p:val>
                                            <p:strVal val="#ppt_x"/>
                                          </p:val>
                                        </p:tav>
                                      </p:tavLst>
                                    </p:anim>
                                    <p:anim calcmode="lin" valueType="num">
                                      <p:cBhvr>
                                        <p:cTn id="79" dur="1000" fill="hold"/>
                                        <p:tgtEl>
                                          <p:spTgt spid="8">
                                            <p:txEl>
                                              <p:pRg st="14" end="14"/>
                                            </p:txEl>
                                          </p:spTgt>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8">
                                            <p:txEl>
                                              <p:pRg st="15" end="15"/>
                                            </p:txEl>
                                          </p:spTgt>
                                        </p:tgtEl>
                                        <p:attrNameLst>
                                          <p:attrName>style.visibility</p:attrName>
                                        </p:attrNameLst>
                                      </p:cBhvr>
                                      <p:to>
                                        <p:strVal val="visible"/>
                                      </p:to>
                                    </p:set>
                                    <p:animEffect transition="in" filter="fade">
                                      <p:cBhvr>
                                        <p:cTn id="82" dur="1000"/>
                                        <p:tgtEl>
                                          <p:spTgt spid="8">
                                            <p:txEl>
                                              <p:pRg st="15" end="15"/>
                                            </p:txEl>
                                          </p:spTgt>
                                        </p:tgtEl>
                                      </p:cBhvr>
                                    </p:animEffect>
                                    <p:anim calcmode="lin" valueType="num">
                                      <p:cBhvr>
                                        <p:cTn id="83" dur="1000" fill="hold"/>
                                        <p:tgtEl>
                                          <p:spTgt spid="8">
                                            <p:txEl>
                                              <p:pRg st="15" end="15"/>
                                            </p:txEl>
                                          </p:spTgt>
                                        </p:tgtEl>
                                        <p:attrNameLst>
                                          <p:attrName>ppt_x</p:attrName>
                                        </p:attrNameLst>
                                      </p:cBhvr>
                                      <p:tavLst>
                                        <p:tav tm="0">
                                          <p:val>
                                            <p:strVal val="#ppt_x"/>
                                          </p:val>
                                        </p:tav>
                                        <p:tav tm="100000">
                                          <p:val>
                                            <p:strVal val="#ppt_x"/>
                                          </p:val>
                                        </p:tav>
                                      </p:tavLst>
                                    </p:anim>
                                    <p:anim calcmode="lin" valueType="num">
                                      <p:cBhvr>
                                        <p:cTn id="84" dur="1000" fill="hold"/>
                                        <p:tgtEl>
                                          <p:spTgt spid="8">
                                            <p:txEl>
                                              <p:pRg st="15" end="15"/>
                                            </p:txEl>
                                          </p:spTgt>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8">
                                            <p:txEl>
                                              <p:pRg st="16" end="16"/>
                                            </p:txEl>
                                          </p:spTgt>
                                        </p:tgtEl>
                                        <p:attrNameLst>
                                          <p:attrName>style.visibility</p:attrName>
                                        </p:attrNameLst>
                                      </p:cBhvr>
                                      <p:to>
                                        <p:strVal val="visible"/>
                                      </p:to>
                                    </p:set>
                                    <p:animEffect transition="in" filter="fade">
                                      <p:cBhvr>
                                        <p:cTn id="87" dur="1000"/>
                                        <p:tgtEl>
                                          <p:spTgt spid="8">
                                            <p:txEl>
                                              <p:pRg st="16" end="16"/>
                                            </p:txEl>
                                          </p:spTgt>
                                        </p:tgtEl>
                                      </p:cBhvr>
                                    </p:animEffect>
                                    <p:anim calcmode="lin" valueType="num">
                                      <p:cBhvr>
                                        <p:cTn id="88" dur="1000" fill="hold"/>
                                        <p:tgtEl>
                                          <p:spTgt spid="8">
                                            <p:txEl>
                                              <p:pRg st="16" end="16"/>
                                            </p:txEl>
                                          </p:spTgt>
                                        </p:tgtEl>
                                        <p:attrNameLst>
                                          <p:attrName>ppt_x</p:attrName>
                                        </p:attrNameLst>
                                      </p:cBhvr>
                                      <p:tavLst>
                                        <p:tav tm="0">
                                          <p:val>
                                            <p:strVal val="#ppt_x"/>
                                          </p:val>
                                        </p:tav>
                                        <p:tav tm="100000">
                                          <p:val>
                                            <p:strVal val="#ppt_x"/>
                                          </p:val>
                                        </p:tav>
                                      </p:tavLst>
                                    </p:anim>
                                    <p:anim calcmode="lin" valueType="num">
                                      <p:cBhvr>
                                        <p:cTn id="89" dur="1000" fill="hold"/>
                                        <p:tgtEl>
                                          <p:spTgt spid="8">
                                            <p:txEl>
                                              <p:pRg st="16" end="16"/>
                                            </p:txEl>
                                          </p:spTgt>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8">
                                            <p:txEl>
                                              <p:pRg st="17" end="17"/>
                                            </p:txEl>
                                          </p:spTgt>
                                        </p:tgtEl>
                                        <p:attrNameLst>
                                          <p:attrName>style.visibility</p:attrName>
                                        </p:attrNameLst>
                                      </p:cBhvr>
                                      <p:to>
                                        <p:strVal val="visible"/>
                                      </p:to>
                                    </p:set>
                                    <p:animEffect transition="in" filter="fade">
                                      <p:cBhvr>
                                        <p:cTn id="92" dur="1000"/>
                                        <p:tgtEl>
                                          <p:spTgt spid="8">
                                            <p:txEl>
                                              <p:pRg st="17" end="17"/>
                                            </p:txEl>
                                          </p:spTgt>
                                        </p:tgtEl>
                                      </p:cBhvr>
                                    </p:animEffect>
                                    <p:anim calcmode="lin" valueType="num">
                                      <p:cBhvr>
                                        <p:cTn id="93" dur="1000" fill="hold"/>
                                        <p:tgtEl>
                                          <p:spTgt spid="8">
                                            <p:txEl>
                                              <p:pRg st="17" end="17"/>
                                            </p:txEl>
                                          </p:spTgt>
                                        </p:tgtEl>
                                        <p:attrNameLst>
                                          <p:attrName>ppt_x</p:attrName>
                                        </p:attrNameLst>
                                      </p:cBhvr>
                                      <p:tavLst>
                                        <p:tav tm="0">
                                          <p:val>
                                            <p:strVal val="#ppt_x"/>
                                          </p:val>
                                        </p:tav>
                                        <p:tav tm="100000">
                                          <p:val>
                                            <p:strVal val="#ppt_x"/>
                                          </p:val>
                                        </p:tav>
                                      </p:tavLst>
                                    </p:anim>
                                    <p:anim calcmode="lin" valueType="num">
                                      <p:cBhvr>
                                        <p:cTn id="94" dur="1000" fill="hold"/>
                                        <p:tgtEl>
                                          <p:spTgt spid="8">
                                            <p:txEl>
                                              <p:pRg st="17" end="17"/>
                                            </p:txEl>
                                          </p:spTgt>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8">
                                            <p:txEl>
                                              <p:pRg st="18" end="18"/>
                                            </p:txEl>
                                          </p:spTgt>
                                        </p:tgtEl>
                                        <p:attrNameLst>
                                          <p:attrName>style.visibility</p:attrName>
                                        </p:attrNameLst>
                                      </p:cBhvr>
                                      <p:to>
                                        <p:strVal val="visible"/>
                                      </p:to>
                                    </p:set>
                                    <p:animEffect transition="in" filter="fade">
                                      <p:cBhvr>
                                        <p:cTn id="97" dur="1000"/>
                                        <p:tgtEl>
                                          <p:spTgt spid="8">
                                            <p:txEl>
                                              <p:pRg st="18" end="18"/>
                                            </p:txEl>
                                          </p:spTgt>
                                        </p:tgtEl>
                                      </p:cBhvr>
                                    </p:animEffect>
                                    <p:anim calcmode="lin" valueType="num">
                                      <p:cBhvr>
                                        <p:cTn id="98" dur="1000" fill="hold"/>
                                        <p:tgtEl>
                                          <p:spTgt spid="8">
                                            <p:txEl>
                                              <p:pRg st="18" end="18"/>
                                            </p:txEl>
                                          </p:spTgt>
                                        </p:tgtEl>
                                        <p:attrNameLst>
                                          <p:attrName>ppt_x</p:attrName>
                                        </p:attrNameLst>
                                      </p:cBhvr>
                                      <p:tavLst>
                                        <p:tav tm="0">
                                          <p:val>
                                            <p:strVal val="#ppt_x"/>
                                          </p:val>
                                        </p:tav>
                                        <p:tav tm="100000">
                                          <p:val>
                                            <p:strVal val="#ppt_x"/>
                                          </p:val>
                                        </p:tav>
                                      </p:tavLst>
                                    </p:anim>
                                    <p:anim calcmode="lin" valueType="num">
                                      <p:cBhvr>
                                        <p:cTn id="99" dur="1000" fill="hold"/>
                                        <p:tgtEl>
                                          <p:spTgt spid="8">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pPr algn="l"/>
            <a:r>
              <a:rPr lang="en-US" dirty="0"/>
              <a:t>Advantages of the Jews (9:3-5)</a:t>
            </a:r>
            <a:endParaRPr lang="en-US" sz="2400" dirty="0">
              <a:solidFill>
                <a:schemeClr val="tx2">
                  <a:lumMod val="60000"/>
                  <a:lumOff val="40000"/>
                </a:schemeClr>
              </a:solidFill>
            </a:endParaRPr>
          </a:p>
        </p:txBody>
      </p:sp>
      <p:sp>
        <p:nvSpPr>
          <p:cNvPr id="8" name="TextBox 7"/>
          <p:cNvSpPr txBox="1"/>
          <p:nvPr/>
        </p:nvSpPr>
        <p:spPr>
          <a:xfrm>
            <a:off x="457200" y="914400"/>
            <a:ext cx="8305800" cy="1631216"/>
          </a:xfrm>
          <a:prstGeom prst="rect">
            <a:avLst/>
          </a:prstGeom>
          <a:noFill/>
        </p:spPr>
        <p:txBody>
          <a:bodyPr wrap="square" rtlCol="0">
            <a:spAutoFit/>
          </a:bodyPr>
          <a:lstStyle/>
          <a:p>
            <a:pPr marL="457200" indent="-457200">
              <a:buAutoNum type="arabicPeriod" startAt="6"/>
            </a:pPr>
            <a:r>
              <a:rPr lang="en-US" sz="2000" b="1" dirty="0"/>
              <a:t>Giving of the Law</a:t>
            </a:r>
            <a:r>
              <a:rPr lang="en-US" sz="2000" dirty="0"/>
              <a:t>  (Rom. 7; Gal. 3:17-18)</a:t>
            </a:r>
          </a:p>
          <a:p>
            <a:pPr marL="457200" indent="-457200">
              <a:buAutoNum type="arabicPeriod" startAt="6"/>
            </a:pPr>
            <a:r>
              <a:rPr lang="en-US" sz="2000" b="1" dirty="0"/>
              <a:t>Service</a:t>
            </a:r>
            <a:r>
              <a:rPr lang="en-US" sz="2000" dirty="0"/>
              <a:t> of God  (e.g. temple services)</a:t>
            </a:r>
          </a:p>
          <a:p>
            <a:pPr marL="457200" indent="-457200">
              <a:buAutoNum type="arabicPeriod" startAt="6"/>
            </a:pPr>
            <a:r>
              <a:rPr lang="en-US" sz="2000" b="1" dirty="0"/>
              <a:t>Special Promises</a:t>
            </a:r>
          </a:p>
          <a:p>
            <a:pPr marL="457200" indent="-457200">
              <a:buAutoNum type="arabicPeriod" startAt="6"/>
            </a:pPr>
            <a:r>
              <a:rPr lang="en-US" sz="2000" b="1" dirty="0"/>
              <a:t>Fathers of the Faith  </a:t>
            </a:r>
            <a:r>
              <a:rPr lang="en-US" sz="2000" dirty="0"/>
              <a:t>(e.g. Abraham, Isaac, and Jacob)</a:t>
            </a:r>
          </a:p>
          <a:p>
            <a:pPr marL="457200" indent="-457200">
              <a:buAutoNum type="arabicPeriod" startAt="6"/>
            </a:pPr>
            <a:r>
              <a:rPr lang="en-US" sz="2000" b="1" dirty="0"/>
              <a:t>The Messiah </a:t>
            </a:r>
          </a:p>
        </p:txBody>
      </p:sp>
      <p:sp>
        <p:nvSpPr>
          <p:cNvPr id="4" name="TextBox 3"/>
          <p:cNvSpPr txBox="1"/>
          <p:nvPr/>
        </p:nvSpPr>
        <p:spPr>
          <a:xfrm>
            <a:off x="457200" y="2895600"/>
            <a:ext cx="8001000" cy="1323439"/>
          </a:xfrm>
          <a:prstGeom prst="rect">
            <a:avLst/>
          </a:prstGeom>
          <a:noFill/>
        </p:spPr>
        <p:txBody>
          <a:bodyPr wrap="square" rtlCol="0">
            <a:spAutoFit/>
          </a:bodyPr>
          <a:lstStyle/>
          <a:p>
            <a:r>
              <a:rPr lang="en-US" sz="2000" i="1" dirty="0"/>
              <a:t>The Everlasting Covenant…</a:t>
            </a:r>
          </a:p>
          <a:p>
            <a:pPr marL="342900" indent="-342900">
              <a:buFont typeface="Arial" panose="020B0604020202020204" pitchFamily="34" charset="0"/>
              <a:buChar char="•"/>
            </a:pPr>
            <a:r>
              <a:rPr lang="en-US" sz="2000" i="1" dirty="0"/>
              <a:t>Jeremiah 31:31-34 </a:t>
            </a:r>
          </a:p>
          <a:p>
            <a:pPr marL="342900" indent="-342900">
              <a:buFont typeface="Arial" panose="020B0604020202020204" pitchFamily="34" charset="0"/>
              <a:buChar char="•"/>
            </a:pPr>
            <a:r>
              <a:rPr lang="en-US" sz="2000" i="1" dirty="0"/>
              <a:t>Hebrews 8:6-13</a:t>
            </a:r>
          </a:p>
          <a:p>
            <a:pPr marL="342900" indent="-342900">
              <a:buFont typeface="Arial" panose="020B0604020202020204" pitchFamily="34" charset="0"/>
              <a:buChar char="•"/>
            </a:pPr>
            <a:r>
              <a:rPr lang="en-US" sz="2000" i="1" dirty="0"/>
              <a:t>Was this promise made to the Jews only?</a:t>
            </a:r>
          </a:p>
        </p:txBody>
      </p:sp>
    </p:spTree>
    <p:extLst>
      <p:ext uri="{BB962C8B-B14F-4D97-AF65-F5344CB8AC3E}">
        <p14:creationId xmlns:p14="http://schemas.microsoft.com/office/powerpoint/2010/main" val="299294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anim calcmode="lin" valueType="num">
                                      <p:cBhvr>
                                        <p:cTn id="13"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1000"/>
                                        <p:tgtEl>
                                          <p:spTgt spid="8">
                                            <p:txEl>
                                              <p:pRg st="3" end="3"/>
                                            </p:txEl>
                                          </p:spTgt>
                                        </p:tgtEl>
                                      </p:cBhvr>
                                    </p:animEffect>
                                    <p:anim calcmode="lin" valueType="num">
                                      <p:cBhvr>
                                        <p:cTn id="23"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1000"/>
                                        <p:tgtEl>
                                          <p:spTgt spid="8">
                                            <p:txEl>
                                              <p:pRg st="4" end="4"/>
                                            </p:txEl>
                                          </p:spTgt>
                                        </p:tgtEl>
                                      </p:cBhvr>
                                    </p:animEffect>
                                    <p:anim calcmode="lin" valueType="num">
                                      <p:cBhvr>
                                        <p:cTn id="28"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anim calcmode="lin" valueType="num">
                                      <p:cBhvr>
                                        <p:cTn id="35" dur="1000" fill="hold"/>
                                        <p:tgtEl>
                                          <p:spTgt spid="4"/>
                                        </p:tgtEl>
                                        <p:attrNameLst>
                                          <p:attrName>ppt_x</p:attrName>
                                        </p:attrNameLst>
                                      </p:cBhvr>
                                      <p:tavLst>
                                        <p:tav tm="0">
                                          <p:val>
                                            <p:strVal val="#ppt_x"/>
                                          </p:val>
                                        </p:tav>
                                        <p:tav tm="100000">
                                          <p:val>
                                            <p:strVal val="#ppt_x"/>
                                          </p:val>
                                        </p:tav>
                                      </p:tavLst>
                                    </p:anim>
                                    <p:anim calcmode="lin" valueType="num">
                                      <p:cBhvr>
                                        <p:cTn id="3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Did God’s Promises Fail?</a:t>
            </a:r>
            <a:br>
              <a:rPr lang="en-US" dirty="0"/>
            </a:br>
            <a:r>
              <a:rPr lang="en-US" sz="2400" dirty="0">
                <a:solidFill>
                  <a:schemeClr val="tx2">
                    <a:lumMod val="60000"/>
                    <a:lumOff val="40000"/>
                  </a:schemeClr>
                </a:solidFill>
              </a:rPr>
              <a:t>How does Paul deal with the “failure” of God’s promises?</a:t>
            </a:r>
          </a:p>
        </p:txBody>
      </p:sp>
      <p:sp>
        <p:nvSpPr>
          <p:cNvPr id="6" name="TextBox 5"/>
          <p:cNvSpPr txBox="1"/>
          <p:nvPr/>
        </p:nvSpPr>
        <p:spPr>
          <a:xfrm>
            <a:off x="455579" y="1152525"/>
            <a:ext cx="8001000" cy="2246769"/>
          </a:xfrm>
          <a:prstGeom prst="rect">
            <a:avLst/>
          </a:prstGeom>
          <a:noFill/>
        </p:spPr>
        <p:txBody>
          <a:bodyPr wrap="square" rtlCol="0">
            <a:spAutoFit/>
          </a:bodyPr>
          <a:lstStyle/>
          <a:p>
            <a:r>
              <a:rPr lang="en-US" sz="2000" i="1" dirty="0"/>
              <a:t>“But it is not that the word of God has taken no effect.  </a:t>
            </a:r>
            <a:r>
              <a:rPr lang="en-US" sz="2000" i="1" u="sng" dirty="0"/>
              <a:t>For they are not all Israel who are of Israel, nor are they all children because they are the seed of Abraham; but, ‘In Isaac your seed shall be called.’  </a:t>
            </a:r>
            <a:r>
              <a:rPr lang="en-US" sz="2000" i="1" dirty="0"/>
              <a:t>That is, those who are the children of the flesh, these are not the children of God; </a:t>
            </a:r>
            <a:r>
              <a:rPr lang="en-US" sz="2000" i="1" u="sng" dirty="0"/>
              <a:t>but the children of the promise are counted as the seed</a:t>
            </a:r>
            <a:r>
              <a:rPr lang="en-US" sz="2000" i="1" dirty="0"/>
              <a:t>.  For this is the word of promise: ‘At this time I will come and Sarah shall have a son.’”    Romans 9:6-9</a:t>
            </a:r>
          </a:p>
        </p:txBody>
      </p:sp>
      <p:sp>
        <p:nvSpPr>
          <p:cNvPr id="5" name="TextBox 4"/>
          <p:cNvSpPr txBox="1"/>
          <p:nvPr/>
        </p:nvSpPr>
        <p:spPr>
          <a:xfrm>
            <a:off x="455579" y="3427869"/>
            <a:ext cx="8001000" cy="3170099"/>
          </a:xfrm>
          <a:prstGeom prst="rect">
            <a:avLst/>
          </a:prstGeom>
          <a:noFill/>
        </p:spPr>
        <p:txBody>
          <a:bodyPr wrap="square" rtlCol="0">
            <a:spAutoFit/>
          </a:bodyPr>
          <a:lstStyle/>
          <a:p>
            <a:r>
              <a:rPr lang="en-US" sz="2000" i="1" dirty="0"/>
              <a:t>The Problem (chapter 9)…</a:t>
            </a:r>
          </a:p>
          <a:p>
            <a:pPr marL="342900" indent="-342900">
              <a:buFont typeface="Arial" panose="020B0604020202020204" pitchFamily="34" charset="0"/>
              <a:buChar char="•"/>
            </a:pPr>
            <a:r>
              <a:rPr lang="en-US" sz="2000" dirty="0"/>
              <a:t>God made </a:t>
            </a:r>
            <a:r>
              <a:rPr lang="en-US" sz="2000" u="sng" dirty="0"/>
              <a:t>promises</a:t>
            </a:r>
            <a:r>
              <a:rPr lang="en-US" sz="2000" dirty="0"/>
              <a:t> to physical Jews and, according to Paul’s teaching, the bulk of all Jews were unblessed.  </a:t>
            </a:r>
            <a:r>
              <a:rPr lang="en-US" sz="2000" i="1" dirty="0"/>
              <a:t>How do you reconcile God’s faithfulness to those to whom he gave promises when the bulk of them were cut off from those blessings?</a:t>
            </a:r>
          </a:p>
          <a:p>
            <a:pPr marL="342900" indent="-342900">
              <a:buFont typeface="Arial" panose="020B0604020202020204" pitchFamily="34" charset="0"/>
              <a:buChar char="•"/>
            </a:pPr>
            <a:r>
              <a:rPr lang="en-US" sz="2000" u="sng" dirty="0"/>
              <a:t>Paul insists that the real Israel to whom the promises were to be fulfilled was not synonymous with the whole nation of Israel.</a:t>
            </a:r>
          </a:p>
          <a:p>
            <a:pPr marL="342900" indent="-342900">
              <a:buFont typeface="Arial" panose="020B0604020202020204" pitchFamily="34" charset="0"/>
              <a:buChar char="•"/>
            </a:pPr>
            <a:r>
              <a:rPr lang="en-US" sz="2000" dirty="0"/>
              <a:t>Paul claims that the real heirs are children of faith (i.e. the believers) and promise (i.e. as Isaac was) and so the rejection of the unbelievers is not a breach of promise on God’s part.   </a:t>
            </a:r>
          </a:p>
        </p:txBody>
      </p:sp>
    </p:spTree>
    <p:extLst>
      <p:ext uri="{BB962C8B-B14F-4D97-AF65-F5344CB8AC3E}">
        <p14:creationId xmlns:p14="http://schemas.microsoft.com/office/powerpoint/2010/main" val="116492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8</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Promises </a:t>
            </a:r>
            <a:br>
              <a:rPr lang="en-US" dirty="0"/>
            </a:br>
            <a:r>
              <a:rPr lang="en-US" sz="2600" dirty="0">
                <a:solidFill>
                  <a:schemeClr val="tx2">
                    <a:lumMod val="60000"/>
                    <a:lumOff val="40000"/>
                  </a:schemeClr>
                </a:solidFill>
              </a:rPr>
              <a:t>How the LORD delights in keeping his promises…!</a:t>
            </a:r>
          </a:p>
        </p:txBody>
      </p:sp>
      <p:sp>
        <p:nvSpPr>
          <p:cNvPr id="7" name="TextBox 6"/>
          <p:cNvSpPr txBox="1"/>
          <p:nvPr/>
        </p:nvSpPr>
        <p:spPr>
          <a:xfrm>
            <a:off x="361278" y="1170791"/>
            <a:ext cx="8360230" cy="2246769"/>
          </a:xfrm>
          <a:prstGeom prst="rect">
            <a:avLst/>
          </a:prstGeom>
          <a:noFill/>
        </p:spPr>
        <p:txBody>
          <a:bodyPr wrap="square" rtlCol="0">
            <a:spAutoFit/>
          </a:bodyPr>
          <a:lstStyle/>
          <a:p>
            <a:r>
              <a:rPr lang="en-US" sz="2000" i="1" dirty="0"/>
              <a:t>Genesis 15:6 </a:t>
            </a:r>
          </a:p>
          <a:p>
            <a:pPr marL="342900" indent="-342900">
              <a:buFont typeface="Arial" panose="020B0604020202020204" pitchFamily="34" charset="0"/>
              <a:buChar char="•"/>
            </a:pPr>
            <a:r>
              <a:rPr lang="en-US" sz="2000" i="1" dirty="0"/>
              <a:t>Abraham was </a:t>
            </a:r>
            <a:r>
              <a:rPr lang="en-US" sz="2000" b="1" i="1" dirty="0"/>
              <a:t>reckoned</a:t>
            </a:r>
            <a:r>
              <a:rPr lang="en-US" sz="2000" i="1" dirty="0"/>
              <a:t> to righteousness </a:t>
            </a:r>
            <a:r>
              <a:rPr lang="en-US" sz="2000" b="1" i="1" dirty="0"/>
              <a:t>by his faith </a:t>
            </a:r>
            <a:r>
              <a:rPr lang="en-US" sz="2000" i="1" dirty="0"/>
              <a:t>when he was still a Gentile, two chapters before the covenant sign of circumcision was placed upon his flesh and 400+ years before the Mosaic Law.</a:t>
            </a:r>
          </a:p>
          <a:p>
            <a:pPr marL="342900" indent="-342900">
              <a:buFont typeface="Arial" panose="020B0604020202020204" pitchFamily="34" charset="0"/>
              <a:buChar char="•"/>
            </a:pPr>
            <a:r>
              <a:rPr lang="en-US" sz="2000" i="1" dirty="0"/>
              <a:t>At the time Abraham was “saved” he wasn’t “Jewish”. (Rom 4:9-12)</a:t>
            </a:r>
          </a:p>
          <a:p>
            <a:pPr marL="342900" indent="-342900">
              <a:buFont typeface="Arial" panose="020B0604020202020204" pitchFamily="34" charset="0"/>
              <a:buChar char="•"/>
            </a:pPr>
            <a:r>
              <a:rPr lang="en-US" sz="2000" i="1" dirty="0"/>
              <a:t>Abraham </a:t>
            </a:r>
            <a:r>
              <a:rPr lang="en-US" sz="2000" b="1" i="1" dirty="0"/>
              <a:t>did no works </a:t>
            </a:r>
            <a:r>
              <a:rPr lang="en-US" sz="2000" i="1" dirty="0"/>
              <a:t>to acquire righteousness, it was by a gift of grace.  (Romans 4:4)</a:t>
            </a:r>
          </a:p>
        </p:txBody>
      </p:sp>
      <p:sp>
        <p:nvSpPr>
          <p:cNvPr id="6" name="TextBox 5"/>
          <p:cNvSpPr txBox="1"/>
          <p:nvPr/>
        </p:nvSpPr>
        <p:spPr>
          <a:xfrm>
            <a:off x="398033" y="3542794"/>
            <a:ext cx="8001000" cy="707886"/>
          </a:xfrm>
          <a:prstGeom prst="rect">
            <a:avLst/>
          </a:prstGeom>
          <a:noFill/>
        </p:spPr>
        <p:txBody>
          <a:bodyPr wrap="square" rtlCol="0">
            <a:spAutoFit/>
          </a:bodyPr>
          <a:lstStyle/>
          <a:p>
            <a:r>
              <a:rPr lang="en-US" sz="2000" i="1" dirty="0"/>
              <a:t>The Lord delights in keeping His promises…</a:t>
            </a:r>
          </a:p>
          <a:p>
            <a:pPr marL="342900" indent="-342900">
              <a:buFont typeface="Arial" panose="020B0604020202020204" pitchFamily="34" charset="0"/>
              <a:buChar char="•"/>
            </a:pPr>
            <a:r>
              <a:rPr lang="en-US" sz="2000" i="1" dirty="0"/>
              <a:t>Galatians 3:15-29</a:t>
            </a:r>
          </a:p>
        </p:txBody>
      </p:sp>
      <p:sp>
        <p:nvSpPr>
          <p:cNvPr id="8" name="TextBox 7"/>
          <p:cNvSpPr txBox="1"/>
          <p:nvPr/>
        </p:nvSpPr>
        <p:spPr>
          <a:xfrm>
            <a:off x="398033" y="4477683"/>
            <a:ext cx="8001000" cy="1938992"/>
          </a:xfrm>
          <a:prstGeom prst="rect">
            <a:avLst/>
          </a:prstGeom>
          <a:noFill/>
        </p:spPr>
        <p:txBody>
          <a:bodyPr wrap="square" rtlCol="0">
            <a:spAutoFit/>
          </a:bodyPr>
          <a:lstStyle/>
          <a:p>
            <a:r>
              <a:rPr lang="en-US" sz="2000" b="1" i="1" dirty="0"/>
              <a:t>Jacob’s heirs include “all believers”…</a:t>
            </a:r>
          </a:p>
          <a:p>
            <a:pPr marL="342900" indent="-342900">
              <a:buFont typeface="Arial" panose="020B0604020202020204" pitchFamily="34" charset="0"/>
              <a:buChar char="•"/>
            </a:pPr>
            <a:r>
              <a:rPr lang="en-US" sz="2000" i="1" dirty="0"/>
              <a:t>Promises extended first to the Jew (Romans 1:16) then to the Gentile – but only to those who believe by faith as Abraham did.</a:t>
            </a:r>
          </a:p>
          <a:p>
            <a:pPr marL="342900" indent="-342900">
              <a:buFont typeface="Arial" panose="020B0604020202020204" pitchFamily="34" charset="0"/>
              <a:buChar char="•"/>
            </a:pPr>
            <a:r>
              <a:rPr lang="en-US" sz="2000" i="1" dirty="0"/>
              <a:t>The Israelite without faith was never regarded as a partaker of the promises.  Galatians 3:16-18</a:t>
            </a:r>
          </a:p>
          <a:p>
            <a:pPr marL="342900" indent="-342900">
              <a:buFont typeface="Arial" panose="020B0604020202020204" pitchFamily="34" charset="0"/>
              <a:buChar char="•"/>
            </a:pPr>
            <a:r>
              <a:rPr lang="en-US" sz="2000" i="1" dirty="0"/>
              <a:t>John 8:32-44; Deuteronomy 18:15-19;  Acts 3:21-23</a:t>
            </a:r>
          </a:p>
        </p:txBody>
      </p:sp>
    </p:spTree>
    <p:extLst>
      <p:ext uri="{BB962C8B-B14F-4D97-AF65-F5344CB8AC3E}">
        <p14:creationId xmlns:p14="http://schemas.microsoft.com/office/powerpoint/2010/main" val="1210830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What shall we say then?</a:t>
            </a:r>
            <a:br>
              <a:rPr lang="en-US" dirty="0"/>
            </a:br>
            <a:r>
              <a:rPr lang="en-US" sz="2400">
                <a:solidFill>
                  <a:schemeClr val="tx2">
                    <a:lumMod val="60000"/>
                    <a:lumOff val="40000"/>
                  </a:schemeClr>
                </a:solidFill>
              </a:rPr>
              <a:t>Perhaps just what </a:t>
            </a:r>
            <a:r>
              <a:rPr lang="en-US" sz="2400" dirty="0">
                <a:solidFill>
                  <a:schemeClr val="tx2">
                    <a:lumMod val="60000"/>
                    <a:lumOff val="40000"/>
                  </a:schemeClr>
                </a:solidFill>
              </a:rPr>
              <a:t>the eye-witnesses said…</a:t>
            </a:r>
          </a:p>
        </p:txBody>
      </p:sp>
      <p:sp>
        <p:nvSpPr>
          <p:cNvPr id="6" name="TextBox 5"/>
          <p:cNvSpPr txBox="1"/>
          <p:nvPr/>
        </p:nvSpPr>
        <p:spPr>
          <a:xfrm>
            <a:off x="456475" y="1313527"/>
            <a:ext cx="8001000" cy="2554545"/>
          </a:xfrm>
          <a:prstGeom prst="rect">
            <a:avLst/>
          </a:prstGeom>
          <a:noFill/>
        </p:spPr>
        <p:txBody>
          <a:bodyPr wrap="square" rtlCol="0">
            <a:spAutoFit/>
          </a:bodyPr>
          <a:lstStyle/>
          <a:p>
            <a:r>
              <a:rPr lang="en-US" sz="2000" i="1" dirty="0"/>
              <a:t>“What shall we say then?  That Gentiles, who did not pursue righteousness, have attained to righteousness, even the righteousness of faith; but Israel, pursuing the law of righteousness, has not attained to the law of righteousness.  Why?  </a:t>
            </a:r>
            <a:r>
              <a:rPr lang="en-US" sz="2000" b="1" i="1" dirty="0"/>
              <a:t>Because they did not seek it by faith, but as it were, by the works of the law</a:t>
            </a:r>
            <a:r>
              <a:rPr lang="en-US" sz="2000" i="1" dirty="0"/>
              <a:t>.  For they stumbled at that stumbling stone.   As it is written:  ‘</a:t>
            </a:r>
            <a:r>
              <a:rPr lang="en-US" sz="2000" b="1" i="1" dirty="0"/>
              <a:t>Behold, I lay in Zion a stumbling stone and rock of offense, And whoever believes on Him will not be put to shame.</a:t>
            </a:r>
            <a:r>
              <a:rPr lang="en-US" sz="2000" i="1" dirty="0"/>
              <a:t>’”  Romans 9:30-33</a:t>
            </a:r>
          </a:p>
        </p:txBody>
      </p:sp>
      <p:sp>
        <p:nvSpPr>
          <p:cNvPr id="5" name="TextBox 4"/>
          <p:cNvSpPr txBox="1"/>
          <p:nvPr/>
        </p:nvSpPr>
        <p:spPr>
          <a:xfrm>
            <a:off x="456475" y="4038600"/>
            <a:ext cx="8001000" cy="1323439"/>
          </a:xfrm>
          <a:prstGeom prst="rect">
            <a:avLst/>
          </a:prstGeom>
          <a:noFill/>
        </p:spPr>
        <p:txBody>
          <a:bodyPr wrap="square" rtlCol="0">
            <a:spAutoFit/>
          </a:bodyPr>
          <a:lstStyle/>
          <a:p>
            <a:r>
              <a:rPr lang="en-US" sz="2000" i="1" dirty="0"/>
              <a:t>“This is the ‘stone which was rejected by you builders, which has become the chief cornerstone.’  </a:t>
            </a:r>
            <a:r>
              <a:rPr lang="en-US" sz="2000" b="1" i="1" dirty="0"/>
              <a:t>Nor is there salvation in any other, for there is no other name under heaven given among men by which we must be saved</a:t>
            </a:r>
            <a:r>
              <a:rPr lang="en-US" sz="2000" i="1" dirty="0"/>
              <a:t>.”  Acts 4:11-12   </a:t>
            </a:r>
          </a:p>
        </p:txBody>
      </p:sp>
    </p:spTree>
    <p:extLst>
      <p:ext uri="{BB962C8B-B14F-4D97-AF65-F5344CB8AC3E}">
        <p14:creationId xmlns:p14="http://schemas.microsoft.com/office/powerpoint/2010/main" val="427970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18291</TotalTime>
  <Words>1753</Words>
  <Application>Microsoft Macintosh PowerPoint</Application>
  <PresentationFormat>On-screen Show (4:3)</PresentationFormat>
  <Paragraphs>142</Paragraphs>
  <Slides>9</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Arial Narrow</vt:lpstr>
      <vt:lpstr>Calibri</vt:lpstr>
      <vt:lpstr>Wingdings</vt:lpstr>
      <vt:lpstr>PPT_Template_2010SummerSchool</vt:lpstr>
      <vt:lpstr>1_UPCRC_Powerpoint_Template_with I-Mark</vt:lpstr>
      <vt:lpstr>Romans</vt:lpstr>
      <vt:lpstr>PowerPoint Presentation</vt:lpstr>
      <vt:lpstr>What about the Jew?  How are we to relate?</vt:lpstr>
      <vt:lpstr>PowerPoint Presentation</vt:lpstr>
      <vt:lpstr>Advantages of the Jews (9:3-5)</vt:lpstr>
      <vt:lpstr>Advantages of the Jews (9:3-5)</vt:lpstr>
      <vt:lpstr>Did God’s Promises Fail? How does Paul deal with the “failure” of God’s promises?</vt:lpstr>
      <vt:lpstr>PowerPoint Presentation</vt:lpstr>
      <vt:lpstr>What shall we say then? Perhaps just what the eye-witnesses said…</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805</cp:revision>
  <cp:lastPrinted>2012-04-01T14:05:10Z</cp:lastPrinted>
  <dcterms:created xsi:type="dcterms:W3CDTF">2010-06-16T02:58:04Z</dcterms:created>
  <dcterms:modified xsi:type="dcterms:W3CDTF">2026-06-05T14:25:15Z</dcterms:modified>
</cp:coreProperties>
</file>