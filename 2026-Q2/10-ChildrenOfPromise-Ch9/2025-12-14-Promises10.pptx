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0"/>
  </p:notesMasterIdLst>
  <p:sldIdLst>
    <p:sldId id="395" r:id="rId3"/>
    <p:sldId id="581" r:id="rId4"/>
    <p:sldId id="585" r:id="rId5"/>
    <p:sldId id="582" r:id="rId6"/>
    <p:sldId id="580" r:id="rId7"/>
    <p:sldId id="583" r:id="rId8"/>
    <p:sldId id="584" r:id="rId9"/>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49" autoAdjust="0"/>
    <p:restoredTop sz="55137" autoAdjust="0"/>
  </p:normalViewPr>
  <p:slideViewPr>
    <p:cSldViewPr>
      <p:cViewPr varScale="1">
        <p:scale>
          <a:sx n="67" d="100"/>
          <a:sy n="67" d="100"/>
        </p:scale>
        <p:origin x="3464" y="16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4"/>
            <a:ext cx="3169921" cy="480060"/>
          </a:xfrm>
          <a:prstGeom prst="rect">
            <a:avLst/>
          </a:prstGeom>
        </p:spPr>
        <p:txBody>
          <a:bodyPr vert="horz" wrap="square" lIns="96579" tIns="48290" rIns="96579" bIns="48290"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143589" y="4"/>
            <a:ext cx="3169921" cy="480060"/>
          </a:xfrm>
          <a:prstGeom prst="rect">
            <a:avLst/>
          </a:prstGeom>
        </p:spPr>
        <p:txBody>
          <a:bodyPr vert="horz" wrap="square" lIns="96579" tIns="48290" rIns="96579" bIns="48290"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6/10/26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wrap="square" lIns="96579" tIns="48290" rIns="96579" bIns="4829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31521" y="4560571"/>
            <a:ext cx="5852160" cy="4320540"/>
          </a:xfrm>
          <a:prstGeom prst="rect">
            <a:avLst/>
          </a:prstGeom>
        </p:spPr>
        <p:txBody>
          <a:bodyPr vert="horz" wrap="square" lIns="96579" tIns="48290" rIns="96579" bIns="4829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5" y="9119474"/>
            <a:ext cx="3169921" cy="480060"/>
          </a:xfrm>
          <a:prstGeom prst="rect">
            <a:avLst/>
          </a:prstGeom>
        </p:spPr>
        <p:txBody>
          <a:bodyPr vert="horz" wrap="square" lIns="96579" tIns="48290" rIns="96579" bIns="48290"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143589" y="9119474"/>
            <a:ext cx="3169921" cy="480060"/>
          </a:xfrm>
          <a:prstGeom prst="rect">
            <a:avLst/>
          </a:prstGeom>
        </p:spPr>
        <p:txBody>
          <a:bodyPr vert="horz" wrap="square" lIns="96579" tIns="48290" rIns="96579" bIns="48290"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fontScale="85000" lnSpcReduction="20000"/>
          </a:bodyPr>
          <a:lstStyle/>
          <a:p>
            <a:r>
              <a:rPr lang="en-US" sz="1400" b="1" kern="1200" dirty="0">
                <a:solidFill>
                  <a:schemeClr val="tx1"/>
                </a:solidFill>
                <a:effectLst/>
                <a:latin typeface="+mn-lt"/>
                <a:ea typeface="ＭＳ Ｐゴシック" pitchFamily="-106" charset="-128"/>
                <a:cs typeface="ＭＳ Ｐゴシック" pitchFamily="-106" charset="-128"/>
              </a:rPr>
              <a:t>Promise of God’s Faithfulness</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Key Verses</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1 Thessalonians 5:23-24</a:t>
            </a:r>
            <a:r>
              <a:rPr lang="en-US" sz="1200" kern="1200" dirty="0">
                <a:solidFill>
                  <a:schemeClr val="tx1"/>
                </a:solidFill>
                <a:effectLst/>
                <a:latin typeface="+mn-lt"/>
                <a:ea typeface="ＭＳ Ｐゴシック" pitchFamily="-106" charset="-128"/>
                <a:cs typeface="ＭＳ Ｐゴシック" pitchFamily="-106" charset="-128"/>
              </a:rPr>
              <a:t> Now may the God of peace himself make you completely holy and may your spirit and soul and body be kept entirely blameless at the coming of our Lord Jesus Christ. </a:t>
            </a:r>
            <a:r>
              <a:rPr lang="en-US" sz="1200" b="1" kern="1200" dirty="0">
                <a:solidFill>
                  <a:schemeClr val="tx1"/>
                </a:solidFill>
                <a:effectLst/>
                <a:latin typeface="+mn-lt"/>
                <a:ea typeface="ＭＳ Ｐゴシック" pitchFamily="-106" charset="-128"/>
                <a:cs typeface="ＭＳ Ｐゴシック" pitchFamily="-106" charset="-128"/>
              </a:rPr>
              <a:t>24</a:t>
            </a:r>
            <a:r>
              <a:rPr lang="en-US" sz="1200" kern="1200" dirty="0">
                <a:solidFill>
                  <a:schemeClr val="tx1"/>
                </a:solidFill>
                <a:effectLst/>
                <a:latin typeface="+mn-lt"/>
                <a:ea typeface="ＭＳ Ｐゴシック" pitchFamily="-106" charset="-128"/>
                <a:cs typeface="ＭＳ Ｐゴシック" pitchFamily="-106" charset="-128"/>
              </a:rPr>
              <a:t> </a:t>
            </a:r>
            <a:r>
              <a:rPr lang="en-US" sz="1200" i="1" u="sng" kern="1200" dirty="0">
                <a:solidFill>
                  <a:schemeClr val="tx1"/>
                </a:solidFill>
                <a:effectLst/>
                <a:latin typeface="+mn-lt"/>
                <a:ea typeface="ＭＳ Ｐゴシック" pitchFamily="-106" charset="-128"/>
                <a:cs typeface="ＭＳ Ｐゴシック" pitchFamily="-106" charset="-128"/>
              </a:rPr>
              <a:t>He who calls you is trustworthy, and he will in fact do this.</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200" b="1" kern="1200" dirty="0">
                <a:solidFill>
                  <a:schemeClr val="tx1"/>
                </a:solidFill>
                <a:effectLst/>
                <a:latin typeface="+mn-lt"/>
                <a:ea typeface="ＭＳ Ｐゴシック" pitchFamily="-106" charset="-128"/>
                <a:cs typeface="ＭＳ Ｐゴシック" pitchFamily="-106" charset="-128"/>
              </a:rPr>
              <a:t>2 Timothy 2:10-13</a:t>
            </a:r>
            <a:r>
              <a:rPr lang="en-US" sz="1200" kern="1200" dirty="0">
                <a:solidFill>
                  <a:schemeClr val="tx1"/>
                </a:solidFill>
                <a:effectLst/>
                <a:latin typeface="+mn-lt"/>
                <a:ea typeface="ＭＳ Ｐゴシック" pitchFamily="-106" charset="-128"/>
                <a:cs typeface="ＭＳ Ｐゴシック" pitchFamily="-106" charset="-128"/>
              </a:rPr>
              <a:t> So I endure all things for the sake of those chosen by God, that they too may obtain salvation in Christ Jesus and its eternal glory. </a:t>
            </a:r>
            <a:r>
              <a:rPr lang="en-US" sz="1200" b="1" kern="1200" dirty="0">
                <a:solidFill>
                  <a:schemeClr val="tx1"/>
                </a:solidFill>
                <a:effectLst/>
                <a:latin typeface="+mn-lt"/>
                <a:ea typeface="ＭＳ Ｐゴシック" pitchFamily="-106" charset="-128"/>
                <a:cs typeface="ＭＳ Ｐゴシック" pitchFamily="-106" charset="-128"/>
              </a:rPr>
              <a:t>11</a:t>
            </a:r>
            <a:r>
              <a:rPr lang="en-US" sz="1200" kern="1200" dirty="0">
                <a:solidFill>
                  <a:schemeClr val="tx1"/>
                </a:solidFill>
                <a:effectLst/>
                <a:latin typeface="+mn-lt"/>
                <a:ea typeface="ＭＳ Ｐゴシック" pitchFamily="-106" charset="-128"/>
                <a:cs typeface="ＭＳ Ｐゴシック" pitchFamily="-106" charset="-128"/>
              </a:rPr>
              <a:t> This saying is trustworthy: If we died with him, we will also live with him. </a:t>
            </a:r>
            <a:r>
              <a:rPr lang="en-US" sz="1200" b="1" kern="1200" dirty="0">
                <a:solidFill>
                  <a:schemeClr val="tx1"/>
                </a:solidFill>
                <a:effectLst/>
                <a:latin typeface="+mn-lt"/>
                <a:ea typeface="ＭＳ Ｐゴシック" pitchFamily="-106" charset="-128"/>
                <a:cs typeface="ＭＳ Ｐゴシック" pitchFamily="-106" charset="-128"/>
              </a:rPr>
              <a:t>12</a:t>
            </a:r>
            <a:r>
              <a:rPr lang="en-US" sz="1200" kern="1200" dirty="0">
                <a:solidFill>
                  <a:schemeClr val="tx1"/>
                </a:solidFill>
                <a:effectLst/>
                <a:latin typeface="+mn-lt"/>
                <a:ea typeface="ＭＳ Ｐゴシック" pitchFamily="-106" charset="-128"/>
                <a:cs typeface="ＭＳ Ｐゴシック" pitchFamily="-106" charset="-128"/>
              </a:rPr>
              <a:t> If we endure, we will also reign with him. If we deny him, he will also deny us. </a:t>
            </a:r>
            <a:r>
              <a:rPr lang="en-US" sz="1200" b="1" kern="1200" dirty="0">
                <a:solidFill>
                  <a:schemeClr val="tx1"/>
                </a:solidFill>
                <a:effectLst/>
                <a:latin typeface="+mn-lt"/>
                <a:ea typeface="ＭＳ Ｐゴシック" pitchFamily="-106" charset="-128"/>
                <a:cs typeface="ＭＳ Ｐゴシック" pitchFamily="-106" charset="-128"/>
              </a:rPr>
              <a:t>13</a:t>
            </a:r>
            <a:r>
              <a:rPr lang="en-US" sz="1200" kern="1200" dirty="0">
                <a:solidFill>
                  <a:schemeClr val="tx1"/>
                </a:solidFill>
                <a:effectLst/>
                <a:latin typeface="+mn-lt"/>
                <a:ea typeface="ＭＳ Ｐゴシック" pitchFamily="-106" charset="-128"/>
                <a:cs typeface="ＭＳ Ｐゴシック" pitchFamily="-106" charset="-128"/>
              </a:rPr>
              <a:t> </a:t>
            </a:r>
            <a:r>
              <a:rPr lang="en-US" sz="1200" i="1" u="sng" kern="1200" dirty="0">
                <a:solidFill>
                  <a:schemeClr val="tx1"/>
                </a:solidFill>
                <a:effectLst/>
                <a:latin typeface="+mn-lt"/>
                <a:ea typeface="ＭＳ Ｐゴシック" pitchFamily="-106" charset="-128"/>
                <a:cs typeface="ＭＳ Ｐゴシック" pitchFamily="-106" charset="-128"/>
              </a:rPr>
              <a:t>If we are unfaithful, he remains faithful, since he cannot deny himself</a:t>
            </a:r>
            <a:r>
              <a:rPr lang="en-US" sz="1200" kern="1200" dirty="0">
                <a:solidFill>
                  <a:schemeClr val="tx1"/>
                </a:solidFill>
                <a:effectLst/>
                <a:latin typeface="+mn-lt"/>
                <a:ea typeface="ＭＳ Ｐゴシック" pitchFamily="-106" charset="-128"/>
                <a:cs typeface="ＭＳ Ｐゴシック" pitchFamily="-106" charset="-128"/>
              </a:rPr>
              <a:t>.</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Core Theme</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God promises to stay faithful to His word and to His people.</a:t>
            </a:r>
          </a:p>
          <a:p>
            <a:r>
              <a:rPr lang="en-US" sz="1400" kern="1200" dirty="0">
                <a:solidFill>
                  <a:schemeClr val="tx1"/>
                </a:solidFill>
                <a:effectLst/>
                <a:latin typeface="+mn-lt"/>
                <a:ea typeface="ＭＳ Ｐゴシック" pitchFamily="-106" charset="-128"/>
                <a:cs typeface="ＭＳ Ｐゴシック" pitchFamily="-106" charset="-128"/>
              </a:rPr>
              <a:t>His faithfulness is part of His character, so it does not change.</a:t>
            </a:r>
          </a:p>
          <a:p>
            <a:endParaRPr lang="en-US" dirty="0"/>
          </a:p>
          <a:p>
            <a:r>
              <a:rPr lang="en-US" sz="1200" b="1" u="sng" kern="1200" dirty="0">
                <a:solidFill>
                  <a:schemeClr val="tx1"/>
                </a:solidFill>
                <a:effectLst/>
                <a:latin typeface="+mn-lt"/>
                <a:ea typeface="ＭＳ Ｐゴシック" pitchFamily="-106" charset="-128"/>
                <a:cs typeface="ＭＳ Ｐゴシック" pitchFamily="-106" charset="-128"/>
              </a:rPr>
              <a:t>Key Points</a:t>
            </a:r>
            <a:endParaRPr lang="en-US" sz="1200" kern="1200" dirty="0">
              <a:solidFill>
                <a:schemeClr val="tx1"/>
              </a:solidFill>
              <a:effectLst/>
              <a:latin typeface="+mn-lt"/>
              <a:ea typeface="ＭＳ Ｐゴシック" pitchFamily="-106" charset="-128"/>
              <a:cs typeface="ＭＳ Ｐゴシック" pitchFamily="-106" charset="-128"/>
            </a:endParaRP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God’s faithfulness is rooted in His character.</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God keeps covenant even when people are inconsistent.</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Jesus fulfills every promise God made.</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The New Covenant rests on God’s faithful action.</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God’s faithfulness gives the believer confidence to live and endure.</a:t>
            </a: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3562420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5C54A-0CA2-D446-FEEE-25092C128F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6C41FF-4EF1-57E1-D01F-1A7F1106F4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933434-B584-32FF-5D59-C65D97766B69}"/>
              </a:ext>
            </a:extLst>
          </p:cNvPr>
          <p:cNvSpPr>
            <a:spLocks noGrp="1"/>
          </p:cNvSpPr>
          <p:nvPr>
            <p:ph type="body" idx="1"/>
          </p:nvPr>
        </p:nvSpPr>
        <p:spPr/>
        <p:txBody>
          <a:bodyPr>
            <a:normAutofit fontScale="55000" lnSpcReduction="20000"/>
          </a:bodyPr>
          <a:lstStyle/>
          <a:p>
            <a:r>
              <a:rPr lang="en-US" sz="1600" b="1" kern="1200" dirty="0">
                <a:solidFill>
                  <a:schemeClr val="tx1"/>
                </a:solidFill>
                <a:effectLst/>
                <a:latin typeface="+mn-lt"/>
                <a:ea typeface="ＭＳ Ｐゴシック" pitchFamily="-106" charset="-128"/>
                <a:cs typeface="ＭＳ Ｐゴシック" pitchFamily="-106" charset="-128"/>
              </a:rPr>
              <a:t>God’s Faithfulness in Scripture</a:t>
            </a:r>
            <a:endParaRPr lang="en-US" sz="16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kern="1200" dirty="0">
                <a:solidFill>
                  <a:schemeClr val="tx1"/>
                </a:solidFill>
                <a:effectLst/>
                <a:latin typeface="+mn-lt"/>
                <a:ea typeface="ＭＳ Ｐゴシック" pitchFamily="-106" charset="-128"/>
                <a:cs typeface="ＭＳ Ｐゴシック" pitchFamily="-106" charset="-128"/>
              </a:rPr>
              <a:t>The Bible often describes God as faithful.</a:t>
            </a:r>
          </a:p>
          <a:p>
            <a:r>
              <a:rPr lang="en-US" sz="1400" kern="1200" dirty="0">
                <a:solidFill>
                  <a:schemeClr val="tx1"/>
                </a:solidFill>
                <a:effectLst/>
                <a:latin typeface="+mn-lt"/>
                <a:ea typeface="ＭＳ Ｐゴシック" pitchFamily="-106" charset="-128"/>
                <a:cs typeface="ＭＳ Ｐゴシック" pitchFamily="-106" charset="-128"/>
              </a:rPr>
              <a:t>It’s part of His name and nature.</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God’s faithfulness holds the whole story of Scripture together.</a:t>
            </a: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dirty="0"/>
              <a:t>Lamentations 3:22-23 </a:t>
            </a:r>
            <a:r>
              <a:rPr lang="en-US" sz="1400" dirty="0"/>
              <a:t>- The </a:t>
            </a:r>
            <a:r>
              <a:rPr lang="en-US" sz="1400" b="1" dirty="0"/>
              <a:t>steadfast love </a:t>
            </a:r>
            <a:r>
              <a:rPr lang="en-US" sz="1400" dirty="0"/>
              <a:t>of the Lord never ceases; His </a:t>
            </a:r>
            <a:r>
              <a:rPr lang="en-US" sz="1400" b="1" dirty="0"/>
              <a:t>mercies</a:t>
            </a:r>
            <a:r>
              <a:rPr lang="en-US" sz="1400" dirty="0"/>
              <a:t> never come to an end. They are new every morning; </a:t>
            </a:r>
            <a:r>
              <a:rPr lang="en-US" sz="1400" b="1" dirty="0"/>
              <a:t>Great is Thy faithfulness, O Lord,</a:t>
            </a:r>
            <a:r>
              <a:rPr lang="en-US" sz="1400" dirty="0"/>
              <a:t> </a:t>
            </a:r>
            <a:r>
              <a:rPr lang="en-US" sz="1400" b="1" dirty="0"/>
              <a:t>Great is Thy faithfulness!</a:t>
            </a:r>
          </a:p>
          <a:p>
            <a:endParaRPr lang="en-US" sz="1400" b="1"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kern="1200" dirty="0">
                <a:solidFill>
                  <a:schemeClr val="tx1"/>
                </a:solidFill>
                <a:effectLst/>
                <a:latin typeface="+mn-lt"/>
                <a:ea typeface="ＭＳ Ｐゴシック" pitchFamily="-106" charset="-128"/>
                <a:cs typeface="ＭＳ Ｐゴシック" pitchFamily="-106" charset="-128"/>
              </a:rPr>
              <a:t>Lamentations 3:22-24</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 </a:t>
            </a:r>
            <a:r>
              <a:rPr lang="en-US" sz="1400" kern="1200" dirty="0">
                <a:solidFill>
                  <a:schemeClr val="tx1"/>
                </a:solidFill>
                <a:effectLst/>
                <a:latin typeface="+mn-lt"/>
                <a:ea typeface="ＭＳ Ｐゴシック" pitchFamily="-106" charset="-128"/>
                <a:cs typeface="ＭＳ Ｐゴシック" pitchFamily="-106" charset="-128"/>
              </a:rPr>
              <a:t>The LORD’s loyal kindness never ceases; his compassions never end. </a:t>
            </a:r>
            <a:r>
              <a:rPr lang="en-US" sz="1400" b="1" kern="1200" dirty="0">
                <a:solidFill>
                  <a:schemeClr val="tx1"/>
                </a:solidFill>
                <a:effectLst/>
                <a:latin typeface="+mn-lt"/>
                <a:ea typeface="ＭＳ Ｐゴシック" pitchFamily="-106" charset="-128"/>
                <a:cs typeface="ＭＳ Ｐゴシック" pitchFamily="-106" charset="-128"/>
              </a:rPr>
              <a:t>23</a:t>
            </a:r>
            <a:r>
              <a:rPr lang="en-US" sz="1400" kern="1200" dirty="0">
                <a:solidFill>
                  <a:schemeClr val="tx1"/>
                </a:solidFill>
                <a:effectLst/>
                <a:latin typeface="+mn-lt"/>
                <a:ea typeface="ＭＳ Ｐゴシック" pitchFamily="-106" charset="-128"/>
                <a:cs typeface="ＭＳ Ｐゴシック" pitchFamily="-106" charset="-128"/>
              </a:rPr>
              <a:t> They are fresh every morning; your faithfulness is abundant! </a:t>
            </a:r>
            <a:r>
              <a:rPr lang="en-US" sz="1400" b="1" kern="1200" dirty="0">
                <a:solidFill>
                  <a:schemeClr val="tx1"/>
                </a:solidFill>
                <a:effectLst/>
                <a:latin typeface="+mn-lt"/>
                <a:ea typeface="ＭＳ Ｐゴシック" pitchFamily="-106" charset="-128"/>
                <a:cs typeface="ＭＳ Ｐゴシック" pitchFamily="-106" charset="-128"/>
              </a:rPr>
              <a:t>24</a:t>
            </a:r>
            <a:r>
              <a:rPr lang="en-US" sz="1400" kern="1200" dirty="0">
                <a:solidFill>
                  <a:schemeClr val="tx1"/>
                </a:solidFill>
                <a:effectLst/>
                <a:latin typeface="+mn-lt"/>
                <a:ea typeface="ＭＳ Ｐゴシック" pitchFamily="-106" charset="-128"/>
                <a:cs typeface="ＭＳ Ｐゴシック" pitchFamily="-106" charset="-128"/>
              </a:rPr>
              <a:t> “My portion is the LORD,” I have said to myself, so I will put my hope in him. (NET)</a:t>
            </a:r>
          </a:p>
          <a:p>
            <a:endParaRPr lang="en-US" sz="1400" b="0" kern="1200" dirty="0">
              <a:solidFill>
                <a:schemeClr val="tx1"/>
              </a:solidFill>
              <a:effectLst/>
              <a:latin typeface="+mn-lt"/>
              <a:ea typeface="ＭＳ Ｐゴシック" pitchFamily="-106" charset="-128"/>
              <a:cs typeface="ＭＳ Ｐゴシック" pitchFamily="-106" charset="-128"/>
            </a:endParaRPr>
          </a:p>
          <a:p>
            <a:r>
              <a:rPr lang="en-US" sz="1600" b="1" kern="1200" dirty="0">
                <a:solidFill>
                  <a:schemeClr val="tx1"/>
                </a:solidFill>
                <a:effectLst/>
                <a:latin typeface="+mn-lt"/>
                <a:ea typeface="ＭＳ Ｐゴシック" pitchFamily="-106" charset="-128"/>
                <a:cs typeface="ＭＳ Ｐゴシック" pitchFamily="-106" charset="-128"/>
              </a:rPr>
              <a:t>His Nature Revealed</a:t>
            </a:r>
          </a:p>
          <a:p>
            <a:endParaRPr lang="en-US" sz="1400" b="1" kern="1200" dirty="0">
              <a:solidFill>
                <a:schemeClr val="tx1"/>
              </a:solidFill>
              <a:effectLst/>
              <a:latin typeface="+mn-lt"/>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u="sng" dirty="0"/>
              <a:t>In Christ, steadfast love (i.e. </a:t>
            </a:r>
            <a:r>
              <a:rPr lang="en-US" sz="1400" i="1" u="sng" dirty="0" err="1"/>
              <a:t>ḥesed</a:t>
            </a:r>
            <a:r>
              <a:rPr lang="en-US" sz="1400" i="1" u="sng" dirty="0"/>
              <a:t>) </a:t>
            </a:r>
            <a:r>
              <a:rPr lang="en-US" sz="1400" u="sng" dirty="0"/>
              <a:t>and covenant faithfulness converge</a:t>
            </a:r>
            <a:r>
              <a:rPr lang="en-US" sz="1400" dirty="0"/>
              <a:t> — God keeping His oaths through the obedient Son.</a:t>
            </a: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dirty="0"/>
              <a:t>The revelation of true </a:t>
            </a:r>
            <a:r>
              <a:rPr lang="en-US" sz="1400" b="1" i="1" dirty="0" err="1"/>
              <a:t>ḥesed</a:t>
            </a:r>
            <a:r>
              <a:rPr lang="en-US" sz="1400" b="1" i="1" dirty="0"/>
              <a:t> (i.e. steadfast love and faithfulness)</a:t>
            </a:r>
            <a:endParaRPr lang="en-US" sz="1400" dirty="0"/>
          </a:p>
          <a:p>
            <a:r>
              <a:rPr lang="en-US" sz="1400" dirty="0"/>
              <a:t>When viewed from the cross:</a:t>
            </a:r>
          </a:p>
          <a:p>
            <a:pPr marL="171421" indent="-171421" fontAlgn="ctr">
              <a:buFont typeface="Arial" panose="020B0604020202020204" pitchFamily="34" charset="0"/>
              <a:buChar char="•"/>
            </a:pPr>
            <a:r>
              <a:rPr lang="en-US" sz="1400" i="1" dirty="0" err="1"/>
              <a:t>ḥesed</a:t>
            </a:r>
            <a:r>
              <a:rPr lang="en-US" sz="1400" dirty="0"/>
              <a:t> = God’s faithful love that fulfills every promise despite human failure.</a:t>
            </a:r>
          </a:p>
          <a:p>
            <a:pPr marL="171421" indent="-171421" fontAlgn="ctr">
              <a:buFont typeface="Arial" panose="020B0604020202020204" pitchFamily="34" charset="0"/>
              <a:buChar char="•"/>
            </a:pPr>
            <a:r>
              <a:rPr lang="en-US" sz="1400" dirty="0"/>
              <a:t>In Christ, that </a:t>
            </a:r>
            <a:r>
              <a:rPr lang="en-US" sz="1400" i="1" dirty="0" err="1"/>
              <a:t>ḥesed</a:t>
            </a:r>
            <a:r>
              <a:rPr lang="en-US" sz="1400" dirty="0"/>
              <a:t> becomes personal — poured into hearts by the spirit (Romans 5:5).</a:t>
            </a:r>
          </a:p>
          <a:p>
            <a:pPr marL="171421" indent="-171421" fontAlgn="ctr">
              <a:buFont typeface="Arial" panose="020B0604020202020204" pitchFamily="34" charset="0"/>
              <a:buChar char="•"/>
            </a:pPr>
            <a:r>
              <a:rPr lang="en-US" sz="1400" dirty="0"/>
              <a:t>The “mystery” hidden for ages (</a:t>
            </a:r>
            <a:r>
              <a:rPr lang="en-US" sz="1400" dirty="0" err="1"/>
              <a:t>Collossians</a:t>
            </a:r>
            <a:r>
              <a:rPr lang="en-US" sz="1400" dirty="0"/>
              <a:t> 1:26–27) is that gentiles and Jews together share this covenant faithfulness through union with Christ.</a:t>
            </a:r>
          </a:p>
          <a:p>
            <a:pPr marL="171421" indent="-171421">
              <a:buFont typeface="Arial" panose="020B0604020202020204" pitchFamily="34" charset="0"/>
              <a:buChar char="•"/>
            </a:pPr>
            <a:r>
              <a:rPr lang="en-US" sz="1400" dirty="0"/>
              <a:t>“Now the main point of what we are saying is this: we have such a high priest, one who sat down at the right hand of the throne of the Majesty in heaven... he is the mediator of a better covenant, enacted on better promises.” — </a:t>
            </a:r>
            <a:r>
              <a:rPr lang="en-US" sz="1400" i="1" dirty="0"/>
              <a:t>Hebrews 8:1,6</a:t>
            </a:r>
            <a:endParaRPr lang="en-US" sz="1400" dirty="0"/>
          </a:p>
          <a:p>
            <a:r>
              <a:rPr lang="en-US" sz="1400" dirty="0"/>
              <a:t> </a:t>
            </a:r>
          </a:p>
          <a:p>
            <a:r>
              <a:rPr lang="en-US" sz="1600" b="1" dirty="0"/>
              <a:t>Summary Thoughts</a:t>
            </a:r>
            <a:endParaRPr lang="en-US" sz="1600" dirty="0"/>
          </a:p>
          <a:p>
            <a:pPr marL="171421" indent="-171421">
              <a:buFont typeface="Arial" panose="020B0604020202020204" pitchFamily="34" charset="0"/>
              <a:buChar char="•"/>
            </a:pPr>
            <a:r>
              <a:rPr lang="en-US" sz="1400" dirty="0"/>
              <a:t>The ancient covenants were </a:t>
            </a:r>
            <a:r>
              <a:rPr lang="en-US" sz="1400" b="1" dirty="0"/>
              <a:t>shadows</a:t>
            </a:r>
            <a:r>
              <a:rPr lang="en-US" sz="1400" dirty="0"/>
              <a:t>; Christ is </a:t>
            </a:r>
            <a:r>
              <a:rPr lang="en-US" sz="1400" b="1" dirty="0"/>
              <a:t>substance</a:t>
            </a:r>
            <a:r>
              <a:rPr lang="en-US" sz="1400" dirty="0"/>
              <a:t>.</a:t>
            </a:r>
          </a:p>
          <a:p>
            <a:pPr marL="171421" indent="-171421">
              <a:buFont typeface="Arial" panose="020B0604020202020204" pitchFamily="34" charset="0"/>
              <a:buChar char="•"/>
            </a:pPr>
            <a:r>
              <a:rPr lang="en-US" sz="1400" dirty="0"/>
              <a:t>Their rituals hinted at what his </a:t>
            </a:r>
            <a:r>
              <a:rPr lang="en-US" sz="1400" i="1" dirty="0" err="1"/>
              <a:t>ḥesed</a:t>
            </a:r>
            <a:r>
              <a:rPr lang="en-US" sz="1400" dirty="0"/>
              <a:t> (God’s steadfast love and faithfulness) would achieve: forgiveness, transformation, and unbreakable fellowship.</a:t>
            </a:r>
          </a:p>
          <a:p>
            <a:pPr marL="171421" indent="-171421">
              <a:buFont typeface="Arial" panose="020B0604020202020204" pitchFamily="34" charset="0"/>
              <a:buChar char="•"/>
            </a:pPr>
            <a:r>
              <a:rPr lang="en-US" sz="1400" dirty="0"/>
              <a:t>So, when we read backward through the new covenant, we see the same God — steadfast, loyal, merciful — fulfilling His own covenant from the inside out.</a:t>
            </a:r>
          </a:p>
          <a:p>
            <a:endParaRPr lang="en-US" sz="1200" b="1" kern="1200" dirty="0">
              <a:solidFill>
                <a:schemeClr val="tx1"/>
              </a:solidFill>
              <a:effectLst/>
              <a:latin typeface="+mn-lt"/>
              <a:ea typeface="ＭＳ Ｐゴシック" pitchFamily="-106" charset="-128"/>
              <a:cs typeface="ＭＳ Ｐゴシック" pitchFamily="-106" charset="-128"/>
            </a:endParaRPr>
          </a:p>
          <a:p>
            <a:endParaRPr lang="en-US" sz="1200" b="1" kern="1200" dirty="0">
              <a:solidFill>
                <a:schemeClr val="tx1"/>
              </a:solidFill>
              <a:effectLst/>
              <a:latin typeface="+mn-lt"/>
              <a:ea typeface="ＭＳ Ｐゴシック" pitchFamily="-106" charset="-128"/>
              <a:cs typeface="ＭＳ Ｐゴシック" pitchFamily="-106" charset="-128"/>
            </a:endParaRPr>
          </a:p>
          <a:p>
            <a:endParaRPr lang="en-US" sz="1200" b="1"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a:extLst>
              <a:ext uri="{FF2B5EF4-FFF2-40B4-BE49-F238E27FC236}">
                <a16:creationId xmlns:a16="http://schemas.microsoft.com/office/drawing/2014/main" id="{517F07E8-A341-3E69-2E3F-81FD5E2E1368}"/>
              </a:ext>
            </a:extLst>
          </p:cNvPr>
          <p:cNvSpPr>
            <a:spLocks noGrp="1"/>
          </p:cNvSpPr>
          <p:nvPr>
            <p:ph type="sldNum" sz="quarter" idx="10"/>
          </p:nvPr>
        </p:nvSpPr>
        <p:spPr/>
        <p:txBody>
          <a:bodyPr/>
          <a:lstStyle/>
          <a:p>
            <a:pPr>
              <a:defRPr/>
            </a:pPr>
            <a:fld id="{07776858-791E-4C8D-8FA3-473B3AFECFAC}" type="slidenum">
              <a:rPr lang="en-US" smtClean="0"/>
              <a:pPr>
                <a:defRPr/>
              </a:pPr>
              <a:t>2</a:t>
            </a:fld>
            <a:endParaRPr lang="en-US" dirty="0"/>
          </a:p>
        </p:txBody>
      </p:sp>
    </p:spTree>
    <p:extLst>
      <p:ext uri="{BB962C8B-B14F-4D97-AF65-F5344CB8AC3E}">
        <p14:creationId xmlns:p14="http://schemas.microsoft.com/office/powerpoint/2010/main" val="1463107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5C54A-0CA2-D446-FEEE-25092C128F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6C41FF-4EF1-57E1-D01F-1A7F1106F4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933434-B584-32FF-5D59-C65D97766B69}"/>
              </a:ext>
            </a:extLst>
          </p:cNvPr>
          <p:cNvSpPr>
            <a:spLocks noGrp="1"/>
          </p:cNvSpPr>
          <p:nvPr>
            <p:ph type="body" idx="1"/>
          </p:nvPr>
        </p:nvSpPr>
        <p:spPr/>
        <p:txBody>
          <a:bodyPr>
            <a:normAutofit fontScale="70000" lnSpcReduction="20000"/>
          </a:bodyPr>
          <a:lstStyle/>
          <a:p>
            <a:endParaRPr lang="en-US" sz="1600" dirty="0"/>
          </a:p>
          <a:p>
            <a:r>
              <a:rPr lang="en-US" sz="1600" b="1" kern="1200" dirty="0">
                <a:solidFill>
                  <a:schemeClr val="tx1"/>
                </a:solidFill>
                <a:effectLst/>
                <a:latin typeface="+mn-lt"/>
                <a:ea typeface="ＭＳ Ｐゴシック" pitchFamily="-106" charset="-128"/>
                <a:cs typeface="ＭＳ Ｐゴシック" pitchFamily="-106" charset="-128"/>
              </a:rPr>
              <a:t>2 Timothy 2:10-13</a:t>
            </a:r>
            <a:r>
              <a:rPr lang="en-US" sz="1600" kern="1200" dirty="0">
                <a:solidFill>
                  <a:schemeClr val="tx1"/>
                </a:solidFill>
                <a:effectLst/>
                <a:latin typeface="+mn-lt"/>
                <a:ea typeface="ＭＳ Ｐゴシック" pitchFamily="-106" charset="-128"/>
                <a:cs typeface="ＭＳ Ｐゴシック" pitchFamily="-106" charset="-128"/>
              </a:rPr>
              <a:t> So I endure all things for the sake of those chosen by God, that they too may obtain salvation in Christ Jesus and its eternal glory. </a:t>
            </a:r>
            <a:r>
              <a:rPr lang="en-US" sz="1600" b="1" kern="1200" dirty="0">
                <a:solidFill>
                  <a:schemeClr val="tx1"/>
                </a:solidFill>
                <a:effectLst/>
                <a:latin typeface="+mn-lt"/>
                <a:ea typeface="ＭＳ Ｐゴシック" pitchFamily="-106" charset="-128"/>
                <a:cs typeface="ＭＳ Ｐゴシック" pitchFamily="-106" charset="-128"/>
              </a:rPr>
              <a:t>11</a:t>
            </a:r>
            <a:r>
              <a:rPr lang="en-US" sz="1600" kern="1200" dirty="0">
                <a:solidFill>
                  <a:schemeClr val="tx1"/>
                </a:solidFill>
                <a:effectLst/>
                <a:latin typeface="+mn-lt"/>
                <a:ea typeface="ＭＳ Ｐゴシック" pitchFamily="-106" charset="-128"/>
                <a:cs typeface="ＭＳ Ｐゴシック" pitchFamily="-106" charset="-128"/>
              </a:rPr>
              <a:t> This saying is trustworthy: If we died with him, we will also live with him. </a:t>
            </a:r>
            <a:r>
              <a:rPr lang="en-US" sz="1600" b="1" kern="1200" dirty="0">
                <a:solidFill>
                  <a:schemeClr val="tx1"/>
                </a:solidFill>
                <a:effectLst/>
                <a:latin typeface="+mn-lt"/>
                <a:ea typeface="ＭＳ Ｐゴシック" pitchFamily="-106" charset="-128"/>
                <a:cs typeface="ＭＳ Ｐゴシック" pitchFamily="-106" charset="-128"/>
              </a:rPr>
              <a:t>12</a:t>
            </a:r>
            <a:r>
              <a:rPr lang="en-US" sz="1600" kern="1200" dirty="0">
                <a:solidFill>
                  <a:schemeClr val="tx1"/>
                </a:solidFill>
                <a:effectLst/>
                <a:latin typeface="+mn-lt"/>
                <a:ea typeface="ＭＳ Ｐゴシック" pitchFamily="-106" charset="-128"/>
                <a:cs typeface="ＭＳ Ｐゴシック" pitchFamily="-106" charset="-128"/>
              </a:rPr>
              <a:t> If we endure, we will also reign with him. If we deny him, he will also deny us. </a:t>
            </a:r>
            <a:r>
              <a:rPr lang="en-US" sz="1600" b="1" kern="1200" dirty="0">
                <a:solidFill>
                  <a:schemeClr val="tx1"/>
                </a:solidFill>
                <a:effectLst/>
                <a:latin typeface="+mn-lt"/>
                <a:ea typeface="ＭＳ Ｐゴシック" pitchFamily="-106" charset="-128"/>
                <a:cs typeface="ＭＳ Ｐゴシック" pitchFamily="-106" charset="-128"/>
              </a:rPr>
              <a:t>13</a:t>
            </a:r>
            <a:r>
              <a:rPr lang="en-US" sz="1600" kern="1200" dirty="0">
                <a:solidFill>
                  <a:schemeClr val="tx1"/>
                </a:solidFill>
                <a:effectLst/>
                <a:latin typeface="+mn-lt"/>
                <a:ea typeface="ＭＳ Ｐゴシック" pitchFamily="-106" charset="-128"/>
                <a:cs typeface="ＭＳ Ｐゴシック" pitchFamily="-106" charset="-128"/>
              </a:rPr>
              <a:t> </a:t>
            </a:r>
            <a:r>
              <a:rPr lang="en-US" sz="1600" i="1" u="sng" kern="1200" dirty="0">
                <a:solidFill>
                  <a:schemeClr val="tx1"/>
                </a:solidFill>
                <a:effectLst/>
                <a:latin typeface="+mn-lt"/>
                <a:ea typeface="ＭＳ Ｐゴシック" pitchFamily="-106" charset="-128"/>
                <a:cs typeface="ＭＳ Ｐゴシック" pitchFamily="-106" charset="-128"/>
              </a:rPr>
              <a:t>If we are unfaithful, he remains faithful, </a:t>
            </a:r>
            <a:r>
              <a:rPr lang="en-US" sz="1600" b="1" i="1" u="sng" kern="1200" dirty="0">
                <a:solidFill>
                  <a:schemeClr val="tx1"/>
                </a:solidFill>
                <a:effectLst/>
                <a:latin typeface="+mn-lt"/>
                <a:ea typeface="ＭＳ Ｐゴシック" pitchFamily="-106" charset="-128"/>
                <a:cs typeface="ＭＳ Ｐゴシック" pitchFamily="-106" charset="-128"/>
              </a:rPr>
              <a:t>since he cannot deny himself</a:t>
            </a:r>
            <a:r>
              <a:rPr lang="en-US" sz="1600" kern="1200" dirty="0">
                <a:solidFill>
                  <a:schemeClr val="tx1"/>
                </a:solidFill>
                <a:effectLst/>
                <a:latin typeface="+mn-lt"/>
                <a:ea typeface="ＭＳ Ｐゴシック" pitchFamily="-106" charset="-128"/>
                <a:cs typeface="ＭＳ Ｐゴシック" pitchFamily="-106" charset="-128"/>
              </a:rPr>
              <a:t>.</a:t>
            </a:r>
            <a:endParaRPr lang="en-US" sz="1600" dirty="0"/>
          </a:p>
          <a:p>
            <a:endParaRPr lang="en-US" sz="1600" dirty="0"/>
          </a:p>
          <a:p>
            <a:r>
              <a:rPr lang="en-US" sz="1600" dirty="0"/>
              <a:t>Lamentations 3:22-23</a:t>
            </a:r>
          </a:p>
          <a:p>
            <a:endParaRPr lang="en-US" sz="1600" dirty="0"/>
          </a:p>
          <a:p>
            <a:pPr defTabSz="914246"/>
            <a:r>
              <a:rPr lang="en-US" sz="1600" dirty="0"/>
              <a:t>The </a:t>
            </a:r>
            <a:r>
              <a:rPr lang="en-US" sz="1600" b="1" dirty="0"/>
              <a:t>steadfast love </a:t>
            </a:r>
            <a:r>
              <a:rPr lang="en-US" sz="1600" dirty="0"/>
              <a:t>of the Lord never ceases; His </a:t>
            </a:r>
            <a:r>
              <a:rPr lang="en-US" sz="1600" b="1" dirty="0"/>
              <a:t>mercies</a:t>
            </a:r>
            <a:r>
              <a:rPr lang="en-US" sz="1600" dirty="0"/>
              <a:t> never come to an end. They are new every morning, new every morning; </a:t>
            </a:r>
            <a:r>
              <a:rPr lang="en-US" sz="1600" b="1" dirty="0"/>
              <a:t>Great is Thy faithfulness, O Lord,</a:t>
            </a:r>
            <a:r>
              <a:rPr lang="en-US" sz="1600" dirty="0"/>
              <a:t> </a:t>
            </a:r>
            <a:r>
              <a:rPr lang="en-US" sz="1600" b="1" dirty="0"/>
              <a:t>Great is Thy faithfulness!</a:t>
            </a:r>
            <a:endParaRPr lang="en-US" sz="1600" dirty="0"/>
          </a:p>
          <a:p>
            <a:endParaRPr lang="en-US" sz="1600" dirty="0"/>
          </a:p>
          <a:p>
            <a:pPr defTabSz="890991"/>
            <a:r>
              <a:rPr lang="en-US" sz="1600" b="1" dirty="0"/>
              <a:t>Mat 9:9-13  </a:t>
            </a:r>
            <a:r>
              <a:rPr lang="en-US" sz="1600" dirty="0"/>
              <a:t>As Jesus passed on from there, He saw a man named Matthew sitting at the tax office. And He said to him, "Follow Me." So he arose and followed Him.  (10)  Now it happened, as Jesus sat at the table in the house, </a:t>
            </a:r>
            <a:r>
              <a:rPr lang="en-US" sz="1600" i="1" dirty="0"/>
              <a:t>that</a:t>
            </a:r>
            <a:r>
              <a:rPr lang="en-US" sz="1600" dirty="0"/>
              <a:t> behold, many tax collectors and sinners came and sat down with Him and His disciples.  (11)  And when the Pharisees saw </a:t>
            </a:r>
            <a:r>
              <a:rPr lang="en-US" sz="1600" i="1" dirty="0"/>
              <a:t>it,</a:t>
            </a:r>
            <a:r>
              <a:rPr lang="en-US" sz="1600" dirty="0"/>
              <a:t> they said to His disciples, "Why does your Teacher eat with tax collectors and sinners?"  (12)  When Jesus heard </a:t>
            </a:r>
            <a:r>
              <a:rPr lang="en-US" sz="1600" i="1" dirty="0"/>
              <a:t>that,</a:t>
            </a:r>
            <a:r>
              <a:rPr lang="en-US" sz="1600" dirty="0"/>
              <a:t> He said to them, "Those who are well have no need of a physician, but those who are sick.  (13)  </a:t>
            </a:r>
            <a:r>
              <a:rPr lang="en-US" sz="1600" b="1" dirty="0"/>
              <a:t>But go and learn what </a:t>
            </a:r>
            <a:r>
              <a:rPr lang="en-US" sz="1600" b="1" i="1" dirty="0"/>
              <a:t>this</a:t>
            </a:r>
            <a:r>
              <a:rPr lang="en-US" sz="1600" b="1" dirty="0"/>
              <a:t> means: 'I DESIRE MERCY AND NOT SACRIFICE.' For I did not come to call the righteous, but sinners, to repentance."</a:t>
            </a:r>
          </a:p>
          <a:p>
            <a:endParaRPr lang="en-US" sz="1600" dirty="0"/>
          </a:p>
          <a:p>
            <a:pPr defTabSz="890991"/>
            <a:r>
              <a:rPr lang="en-US" sz="1600" b="1" dirty="0"/>
              <a:t>Mat 12:1-8  </a:t>
            </a:r>
            <a:r>
              <a:rPr lang="en-US" sz="1600" dirty="0"/>
              <a:t>At that time Jesus went through the grainfields on the Sabbath. And His disciples were hungry, and began to pluck heads of grain and to eat.  (2)  And when the Pharisees saw </a:t>
            </a:r>
            <a:r>
              <a:rPr lang="en-US" sz="1600" i="1" dirty="0"/>
              <a:t>it,</a:t>
            </a:r>
            <a:r>
              <a:rPr lang="en-US" sz="1600" dirty="0"/>
              <a:t> they said to Him, "Look, Your disciples are doing what is not lawful to do on the Sabbath!"  (3)  But He said to them, "Have you not read what David did when he was hungry, he and those who were with him:  (4)  how he entered the house of God and ate the showbread which was not lawful for him to eat, nor for those who were with him, but only for the priests?  (5)  Or have you not read in the law that on the Sabbath the priests in the temple profane the Sabbath, and are blameless?  (6)  Yet I say to you that in this place there is </a:t>
            </a:r>
            <a:r>
              <a:rPr lang="en-US" sz="1600" i="1" dirty="0"/>
              <a:t>One</a:t>
            </a:r>
            <a:r>
              <a:rPr lang="en-US" sz="1600" dirty="0"/>
              <a:t> greater than the temple.  (7)  </a:t>
            </a:r>
            <a:r>
              <a:rPr lang="en-US" sz="1600" b="1" dirty="0"/>
              <a:t>But if you had known what </a:t>
            </a:r>
            <a:r>
              <a:rPr lang="en-US" sz="1600" b="1" i="1" dirty="0"/>
              <a:t>this</a:t>
            </a:r>
            <a:r>
              <a:rPr lang="en-US" sz="1600" b="1" dirty="0"/>
              <a:t> means, 'I DESIRE MERCY AND NOT SACRIFICE,' you would not have condemned the guiltless.</a:t>
            </a:r>
            <a:r>
              <a:rPr lang="en-US" sz="1600" dirty="0"/>
              <a:t>  (8)  For the Son of Man is Lord even of the Sabbath."</a:t>
            </a:r>
          </a:p>
          <a:p>
            <a:endParaRPr lang="en-US" dirty="0"/>
          </a:p>
        </p:txBody>
      </p:sp>
      <p:sp>
        <p:nvSpPr>
          <p:cNvPr id="4" name="Slide Number Placeholder 3">
            <a:extLst>
              <a:ext uri="{FF2B5EF4-FFF2-40B4-BE49-F238E27FC236}">
                <a16:creationId xmlns:a16="http://schemas.microsoft.com/office/drawing/2014/main" id="{517F07E8-A341-3E69-2E3F-81FD5E2E1368}"/>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dirty="0"/>
          </a:p>
        </p:txBody>
      </p:sp>
    </p:spTree>
    <p:extLst>
      <p:ext uri="{BB962C8B-B14F-4D97-AF65-F5344CB8AC3E}">
        <p14:creationId xmlns:p14="http://schemas.microsoft.com/office/powerpoint/2010/main" val="1463107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73795-FC6E-8855-78CE-01DFFDA930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D3D3B3-04BE-E143-762D-2A935E1B257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A7B7835-DAD0-DBCD-E988-EE8FE1E603A8}"/>
              </a:ext>
            </a:extLst>
          </p:cNvPr>
          <p:cNvSpPr>
            <a:spLocks noGrp="1"/>
          </p:cNvSpPr>
          <p:nvPr>
            <p:ph type="body" idx="1"/>
          </p:nvPr>
        </p:nvSpPr>
        <p:spPr/>
        <p:txBody>
          <a:bodyPr>
            <a:normAutofit/>
          </a:bodyPr>
          <a:lstStyle/>
          <a:p>
            <a:r>
              <a:rPr lang="en-US" sz="1400" b="1" kern="1200" dirty="0">
                <a:solidFill>
                  <a:schemeClr val="tx1"/>
                </a:solidFill>
                <a:effectLst/>
                <a:latin typeface="+mn-lt"/>
                <a:ea typeface="ＭＳ Ｐゴシック" pitchFamily="-106" charset="-128"/>
                <a:cs typeface="ＭＳ Ｐゴシック" pitchFamily="-106" charset="-128"/>
              </a:rPr>
              <a:t>God’s Faithfulness Revealed in Jesus</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a:p>
            <a:endParaRPr lang="en-US" sz="1400" kern="1200" dirty="0">
              <a:solidFill>
                <a:schemeClr val="tx1"/>
              </a:solidFill>
              <a:effectLst/>
              <a:latin typeface="+mn-lt"/>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0" i="0" u="none" strike="noStrike" kern="1200" baseline="0" dirty="0">
                <a:solidFill>
                  <a:schemeClr val="tx1"/>
                </a:solidFill>
                <a:latin typeface="+mn-lt"/>
                <a:ea typeface="ＭＳ Ｐゴシック" pitchFamily="-106" charset="-128"/>
                <a:cs typeface="ＭＳ Ｐゴシック" pitchFamily="-106" charset="-128"/>
              </a:rPr>
              <a:t>1Jn 1:5-10  This is the message which we have heard from Him and declare to you, that God is light and in Him is no darkness at all.  (6)  If we say that we have fellowship with Him, and walk in darkness, we lie and do not practice the truth.  (7)  But if we walk in the light as He is in the light, we have fellowship with one another, and the blood of Jesus Christ His Son cleanses us from all sin.  (8)  If we say that we have no sin, we deceive ourselves, and the truth is not in us.  (9)  If we confess our sins, He is faithful and just to forgive us </a:t>
            </a:r>
            <a:r>
              <a:rPr lang="en-US" sz="1400" b="0" i="1" u="none" strike="noStrike" kern="1200" baseline="0" dirty="0">
                <a:solidFill>
                  <a:schemeClr val="tx1"/>
                </a:solidFill>
                <a:latin typeface="+mn-lt"/>
                <a:ea typeface="ＭＳ Ｐゴシック" pitchFamily="-106" charset="-128"/>
                <a:cs typeface="ＭＳ Ｐゴシック" pitchFamily="-106" charset="-128"/>
              </a:rPr>
              <a:t>our</a:t>
            </a:r>
            <a:r>
              <a:rPr lang="en-US" sz="1400" b="0" i="0" u="none" strike="noStrike" kern="1200" baseline="0" dirty="0">
                <a:solidFill>
                  <a:schemeClr val="tx1"/>
                </a:solidFill>
                <a:latin typeface="+mn-lt"/>
                <a:ea typeface="ＭＳ Ｐゴシック" pitchFamily="-106" charset="-128"/>
                <a:cs typeface="ＭＳ Ｐゴシック" pitchFamily="-106" charset="-128"/>
              </a:rPr>
              <a:t> sins and to cleanse us from all unrighteousness.  (10)  If we say that we have not sinned, we make Him a liar, and His word is not in us.</a:t>
            </a:r>
          </a:p>
          <a:p>
            <a:endParaRPr lang="en-US" sz="1400" kern="1200" dirty="0">
              <a:solidFill>
                <a:schemeClr val="tx1"/>
              </a:solidFill>
              <a:effectLst/>
              <a:latin typeface="+mn-lt"/>
              <a:ea typeface="ＭＳ Ｐゴシック" pitchFamily="-106" charset="-128"/>
              <a:cs typeface="ＭＳ Ｐゴシック" pitchFamily="-106" charset="-128"/>
            </a:endParaRPr>
          </a:p>
          <a:p>
            <a:endParaRPr lang="en-US" sz="1400" kern="1200" dirty="0">
              <a:solidFill>
                <a:schemeClr val="tx1"/>
              </a:solidFill>
              <a:effectLst/>
              <a:latin typeface="+mn-lt"/>
              <a:ea typeface="ＭＳ Ｐゴシック" pitchFamily="-106" charset="-128"/>
              <a:cs typeface="ＭＳ Ｐゴシック" pitchFamily="-106" charset="-128"/>
            </a:endParaRPr>
          </a:p>
        </p:txBody>
      </p:sp>
      <p:sp>
        <p:nvSpPr>
          <p:cNvPr id="4" name="Slide Number Placeholder 3">
            <a:extLst>
              <a:ext uri="{FF2B5EF4-FFF2-40B4-BE49-F238E27FC236}">
                <a16:creationId xmlns:a16="http://schemas.microsoft.com/office/drawing/2014/main" id="{9972BF0A-22D0-AD9E-9211-0A582A750F42}"/>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dirty="0"/>
          </a:p>
        </p:txBody>
      </p:sp>
    </p:spTree>
    <p:extLst>
      <p:ext uri="{BB962C8B-B14F-4D97-AF65-F5344CB8AC3E}">
        <p14:creationId xmlns:p14="http://schemas.microsoft.com/office/powerpoint/2010/main" val="512422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2F146-0464-A02B-D713-84EE5610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961DE-89AB-9163-C4FD-48A29B49429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789F741-F27C-D5A8-3F72-C3D013ADDFE4}"/>
              </a:ext>
            </a:extLst>
          </p:cNvPr>
          <p:cNvSpPr>
            <a:spLocks noGrp="1"/>
          </p:cNvSpPr>
          <p:nvPr>
            <p:ph type="body" idx="1"/>
          </p:nvPr>
        </p:nvSpPr>
        <p:spPr/>
        <p:txBody>
          <a:bodyPr>
            <a:normAutofit fontScale="40000" lnSpcReduction="20000"/>
          </a:bodyPr>
          <a:lstStyle/>
          <a:p>
            <a:r>
              <a:rPr lang="en-US" sz="1800" dirty="0"/>
              <a:t>The author of Hebrews builds a theology that ties the old covenants to the new covenant in Christ.  In Christ, </a:t>
            </a:r>
            <a:r>
              <a:rPr lang="en-US" sz="1800" i="1" dirty="0"/>
              <a:t>ḥesed</a:t>
            </a:r>
            <a:r>
              <a:rPr lang="en-US" sz="1800" dirty="0"/>
              <a:t> and covenant faithfulness converge — God keeping His oaths through the obedient Son.</a:t>
            </a:r>
          </a:p>
          <a:p>
            <a:endParaRPr lang="en-US" sz="1800" dirty="0"/>
          </a:p>
          <a:p>
            <a:r>
              <a:rPr lang="en-US" sz="1800" b="1" dirty="0"/>
              <a:t>The New Covenant promised (Jeremiah 31:31–34)</a:t>
            </a:r>
            <a:endParaRPr lang="en-US" sz="1800" dirty="0"/>
          </a:p>
          <a:p>
            <a:r>
              <a:rPr lang="en-US" sz="1800" i="1" dirty="0"/>
              <a:t>“Look, the days are coming,” says the Lord, “when I will make a new covenant with the people of Israel and Judah. It will not be like the covenant that I made with their ancestors… I will put my law within them and write it on their hearts. I will be their God, and they will be my people… for I will forgive their iniquity and their sin I will remember no more.”</a:t>
            </a:r>
          </a:p>
          <a:p>
            <a:r>
              <a:rPr lang="en-US" sz="1800" dirty="0"/>
              <a:t>— </a:t>
            </a:r>
            <a:r>
              <a:rPr lang="en-US" sz="1800" i="1" dirty="0"/>
              <a:t>Jeremiah 31:31–34, NET</a:t>
            </a:r>
            <a:endParaRPr lang="en-US" sz="1800" dirty="0"/>
          </a:p>
          <a:p>
            <a:pPr marL="171421" indent="-171421">
              <a:buFont typeface="Arial" panose="020B0604020202020204" pitchFamily="34" charset="0"/>
              <a:buChar char="•"/>
            </a:pPr>
            <a:r>
              <a:rPr lang="en-US" sz="1800" dirty="0"/>
              <a:t>In context, Jeremiah's audience imagined national restoration — land, peace, temple. but the promise went far deeper: </a:t>
            </a:r>
            <a:r>
              <a:rPr lang="en-US" sz="1800" b="1" dirty="0"/>
              <a:t>inner transformation</a:t>
            </a:r>
            <a:r>
              <a:rPr lang="en-US" sz="1800" dirty="0"/>
              <a:t>, </a:t>
            </a:r>
            <a:r>
              <a:rPr lang="en-US" sz="1800" b="1" dirty="0"/>
              <a:t>forgiveness</a:t>
            </a:r>
            <a:r>
              <a:rPr lang="en-US" sz="1800" dirty="0"/>
              <a:t>, and </a:t>
            </a:r>
            <a:r>
              <a:rPr lang="en-US" sz="1800" b="1" dirty="0"/>
              <a:t>direct relationship</a:t>
            </a:r>
            <a:r>
              <a:rPr lang="en-US" sz="1800" dirty="0"/>
              <a:t> with God.</a:t>
            </a:r>
          </a:p>
          <a:p>
            <a:pPr marL="171421" indent="-171421">
              <a:buFont typeface="Arial" panose="020B0604020202020204" pitchFamily="34" charset="0"/>
              <a:buChar char="•"/>
            </a:pPr>
            <a:r>
              <a:rPr lang="en-US" sz="1800" dirty="0"/>
              <a:t>This covenant isn’t about stone tablets but about hearts reshaped by God’s Spirit (compare Ezekiel 36:26–27). it’s the </a:t>
            </a:r>
            <a:r>
              <a:rPr lang="en-US" sz="1800" i="1" dirty="0"/>
              <a:t>ḥesed</a:t>
            </a:r>
            <a:r>
              <a:rPr lang="en-US" sz="1800" dirty="0"/>
              <a:t> of God now written inside His people.</a:t>
            </a:r>
          </a:p>
          <a:p>
            <a:pPr marL="171421" indent="-171421">
              <a:buFont typeface="Arial" panose="020B0604020202020204" pitchFamily="34" charset="0"/>
              <a:buChar char="•"/>
            </a:pPr>
            <a:r>
              <a:rPr lang="en-US" sz="1800" dirty="0"/>
              <a:t>The Israelites expected renewal </a:t>
            </a:r>
            <a:r>
              <a:rPr lang="en-US" sz="1800" i="1" dirty="0"/>
              <a:t>around</a:t>
            </a:r>
            <a:r>
              <a:rPr lang="en-US" sz="1800" dirty="0"/>
              <a:t> them; God promised renewal </a:t>
            </a:r>
            <a:r>
              <a:rPr lang="en-US" sz="1800" i="1" dirty="0"/>
              <a:t>within</a:t>
            </a:r>
            <a:r>
              <a:rPr lang="en-US" sz="1800" dirty="0"/>
              <a:t> them.</a:t>
            </a:r>
          </a:p>
          <a:p>
            <a:r>
              <a:rPr lang="en-US" sz="1800" dirty="0"/>
              <a:t> </a:t>
            </a:r>
          </a:p>
          <a:p>
            <a:r>
              <a:rPr lang="en-US" sz="1800" b="1" dirty="0"/>
              <a:t>Israel's misunderstanding of the Messiah and </a:t>
            </a:r>
            <a:r>
              <a:rPr lang="en-US" sz="1800" b="1" i="1" dirty="0"/>
              <a:t>ḥesed</a:t>
            </a:r>
            <a:endParaRPr lang="en-US" sz="1800" dirty="0"/>
          </a:p>
          <a:p>
            <a:pPr marL="171421" indent="-171421">
              <a:buFont typeface="Arial" panose="020B0604020202020204" pitchFamily="34" charset="0"/>
              <a:buChar char="•"/>
            </a:pPr>
            <a:r>
              <a:rPr lang="en-US" sz="1800" dirty="0"/>
              <a:t>Ancient Israel largely read the messianic prophecies politically — a ruler like David who would free them from gentile rule. but they missed the moral and relational nature of the Messiah’s rule: His </a:t>
            </a:r>
            <a:r>
              <a:rPr lang="en-US" sz="1800" i="1" dirty="0"/>
              <a:t>ḥesed</a:t>
            </a:r>
            <a:r>
              <a:rPr lang="en-US" sz="1800" dirty="0"/>
              <a:t>.</a:t>
            </a:r>
          </a:p>
          <a:p>
            <a:pPr marL="171421" indent="-171421">
              <a:buFont typeface="Arial" panose="020B0604020202020204" pitchFamily="34" charset="0"/>
              <a:buChar char="•"/>
            </a:pPr>
            <a:r>
              <a:rPr lang="en-US" sz="1800" b="1" dirty="0"/>
              <a:t>Isaiah 53</a:t>
            </a:r>
            <a:r>
              <a:rPr lang="en-US" sz="1800" dirty="0"/>
              <a:t> shows the suffering servant who bears sin through self-giving love — the </a:t>
            </a:r>
            <a:r>
              <a:rPr lang="en-US" sz="1800" i="1" dirty="0"/>
              <a:t>ḥesed</a:t>
            </a:r>
            <a:r>
              <a:rPr lang="en-US" sz="1800" dirty="0"/>
              <a:t> of God made flesh.</a:t>
            </a:r>
          </a:p>
          <a:p>
            <a:pPr marL="171421" indent="-171421">
              <a:buFont typeface="Arial" panose="020B0604020202020204" pitchFamily="34" charset="0"/>
              <a:buChar char="•"/>
            </a:pPr>
            <a:r>
              <a:rPr lang="en-US" sz="1800" b="1" dirty="0"/>
              <a:t>Micah 6:8</a:t>
            </a:r>
            <a:r>
              <a:rPr lang="en-US" sz="1800" dirty="0"/>
              <a:t> already summarized covenant morality: “</a:t>
            </a:r>
            <a:r>
              <a:rPr lang="en-US" sz="1800" i="1" dirty="0"/>
              <a:t>to do justice, to love ḥesed, and to walk humbly with your God.</a:t>
            </a:r>
            <a:r>
              <a:rPr lang="en-US" sz="1800" dirty="0"/>
              <a:t>” the people loved ritual but ignored covenant loyalty.</a:t>
            </a:r>
          </a:p>
          <a:p>
            <a:pPr marL="171421" indent="-171421">
              <a:buFont typeface="Arial" panose="020B0604020202020204" pitchFamily="34" charset="0"/>
              <a:buChar char="•"/>
            </a:pPr>
            <a:r>
              <a:rPr lang="en-US" sz="1800" dirty="0"/>
              <a:t>By Jesus' day, this blindness persisted. when Jesus quoted </a:t>
            </a:r>
            <a:r>
              <a:rPr lang="en-US" sz="1800" i="1" dirty="0"/>
              <a:t>Hosea 6:6</a:t>
            </a:r>
            <a:r>
              <a:rPr lang="en-US" sz="1800" dirty="0"/>
              <a:t> (“I desire </a:t>
            </a:r>
            <a:r>
              <a:rPr lang="en-US" sz="1800" i="1" dirty="0"/>
              <a:t>ḥesed</a:t>
            </a:r>
            <a:r>
              <a:rPr lang="en-US" sz="1800" dirty="0"/>
              <a:t>, not sacrifice”), he wasn’t introducing a new idea; he was restoring the original covenant ethic Israel had abandoned.</a:t>
            </a:r>
          </a:p>
          <a:p>
            <a:pPr marL="171421" indent="-171421">
              <a:buFont typeface="Arial" panose="020B0604020202020204" pitchFamily="34" charset="0"/>
              <a:buChar char="•"/>
            </a:pPr>
            <a:r>
              <a:rPr lang="en-US" sz="1800" dirty="0"/>
              <a:t>The mystery was not that the messiah would come — but </a:t>
            </a:r>
            <a:r>
              <a:rPr lang="en-US" sz="1800" i="1" dirty="0"/>
              <a:t>how</a:t>
            </a:r>
            <a:r>
              <a:rPr lang="en-US" sz="1800" dirty="0"/>
              <a:t>: as a servant, not a conqueror; as one who rules by dying, not killing.</a:t>
            </a:r>
          </a:p>
          <a:p>
            <a:pPr marL="171421" indent="-171421">
              <a:buFont typeface="Arial" panose="020B0604020202020204" pitchFamily="34" charset="0"/>
              <a:buChar char="•"/>
            </a:pPr>
            <a:r>
              <a:rPr lang="en-US" sz="1800" dirty="0"/>
              <a:t>His throne was a cross.</a:t>
            </a:r>
          </a:p>
          <a:p>
            <a:pPr marL="171421" indent="-171421">
              <a:buFont typeface="Arial" panose="020B0604020202020204" pitchFamily="34" charset="0"/>
              <a:buChar char="•"/>
            </a:pPr>
            <a:r>
              <a:rPr lang="en-US" sz="1800" dirty="0"/>
              <a:t>His victory was </a:t>
            </a:r>
            <a:r>
              <a:rPr lang="en-US" sz="1800" i="1" dirty="0"/>
              <a:t>ḥesed</a:t>
            </a:r>
            <a:r>
              <a:rPr lang="en-US" sz="1800" dirty="0"/>
              <a:t> fulfilled.</a:t>
            </a:r>
          </a:p>
          <a:p>
            <a:endParaRPr lang="en-US" sz="1800" dirty="0"/>
          </a:p>
          <a:p>
            <a:r>
              <a:rPr lang="en-US" sz="1800" b="1" dirty="0"/>
              <a:t>The revelation of true </a:t>
            </a:r>
            <a:r>
              <a:rPr lang="en-US" sz="1800" b="1" i="1" dirty="0"/>
              <a:t>ḥesed</a:t>
            </a:r>
            <a:endParaRPr lang="en-US" sz="1800" dirty="0"/>
          </a:p>
          <a:p>
            <a:r>
              <a:rPr lang="en-US" sz="1800" dirty="0"/>
              <a:t>When viewed from the cross:</a:t>
            </a:r>
          </a:p>
          <a:p>
            <a:pPr marL="171421" indent="-171421" fontAlgn="ctr">
              <a:buFont typeface="Arial" panose="020B0604020202020204" pitchFamily="34" charset="0"/>
              <a:buChar char="•"/>
            </a:pPr>
            <a:r>
              <a:rPr lang="en-US" sz="1800" i="1" dirty="0"/>
              <a:t>ḥesed</a:t>
            </a:r>
            <a:r>
              <a:rPr lang="en-US" sz="1800" dirty="0"/>
              <a:t> = God’s faithful love that fulfills every promise despite human failure.</a:t>
            </a:r>
          </a:p>
          <a:p>
            <a:pPr marL="171421" indent="-171421" fontAlgn="ctr">
              <a:buFont typeface="Arial" panose="020B0604020202020204" pitchFamily="34" charset="0"/>
              <a:buChar char="•"/>
            </a:pPr>
            <a:r>
              <a:rPr lang="en-US" sz="1800" dirty="0"/>
              <a:t>In Christ, that </a:t>
            </a:r>
            <a:r>
              <a:rPr lang="en-US" sz="1800" i="1" dirty="0"/>
              <a:t>ḥesed</a:t>
            </a:r>
            <a:r>
              <a:rPr lang="en-US" sz="1800" dirty="0"/>
              <a:t> becomes personal — poured into hearts by the spirit (rom 5:5).</a:t>
            </a:r>
          </a:p>
          <a:p>
            <a:pPr marL="171421" indent="-171421" fontAlgn="ctr">
              <a:buFont typeface="Arial" panose="020B0604020202020204" pitchFamily="34" charset="0"/>
              <a:buChar char="•"/>
            </a:pPr>
            <a:r>
              <a:rPr lang="en-US" sz="1800" dirty="0"/>
              <a:t>the “mystery” hidden for ages (Col 1:26–27) is that gentiles and jews together share this covenant faithfulness through union with Christ.</a:t>
            </a:r>
          </a:p>
          <a:p>
            <a:pPr marL="171421" indent="-171421">
              <a:buFont typeface="Arial" panose="020B0604020202020204" pitchFamily="34" charset="0"/>
              <a:buChar char="•"/>
            </a:pPr>
            <a:r>
              <a:rPr lang="en-US" sz="1800" dirty="0"/>
              <a:t>“Now the main point of what we are saying is this: we have such a high priest, one who sat down at the right hand of the throne of the Majesty in heaven... he is the mediator of a better covenant, enacted on better promises.” — </a:t>
            </a:r>
            <a:r>
              <a:rPr lang="en-US" sz="1800" i="1" dirty="0"/>
              <a:t>Hebrews 8:1,6, NET</a:t>
            </a:r>
            <a:endParaRPr lang="en-US" sz="1800" dirty="0"/>
          </a:p>
          <a:p>
            <a:r>
              <a:rPr lang="en-US" sz="1800" dirty="0"/>
              <a:t> </a:t>
            </a:r>
          </a:p>
          <a:p>
            <a:r>
              <a:rPr lang="en-US" sz="1800" b="1" dirty="0"/>
              <a:t>Summary Thoughts</a:t>
            </a:r>
            <a:endParaRPr lang="en-US" sz="1800" dirty="0"/>
          </a:p>
          <a:p>
            <a:pPr marL="171421" indent="-171421">
              <a:buFont typeface="Arial" panose="020B0604020202020204" pitchFamily="34" charset="0"/>
              <a:buChar char="•"/>
            </a:pPr>
            <a:r>
              <a:rPr lang="en-US" sz="1800" dirty="0"/>
              <a:t>The ancient covenants were </a:t>
            </a:r>
            <a:r>
              <a:rPr lang="en-US" sz="1800" b="1" dirty="0"/>
              <a:t>shadows</a:t>
            </a:r>
            <a:r>
              <a:rPr lang="en-US" sz="1800" dirty="0"/>
              <a:t>; Christ is </a:t>
            </a:r>
            <a:r>
              <a:rPr lang="en-US" sz="1800" b="1" dirty="0"/>
              <a:t>substance</a:t>
            </a:r>
            <a:r>
              <a:rPr lang="en-US" sz="1800" dirty="0"/>
              <a:t>.</a:t>
            </a:r>
          </a:p>
          <a:p>
            <a:pPr marL="171421" indent="-171421">
              <a:buFont typeface="Arial" panose="020B0604020202020204" pitchFamily="34" charset="0"/>
              <a:buChar char="•"/>
            </a:pPr>
            <a:r>
              <a:rPr lang="en-US" sz="1800" dirty="0"/>
              <a:t>Their rituals hinted at what his </a:t>
            </a:r>
            <a:r>
              <a:rPr lang="en-US" sz="1800" i="1" dirty="0"/>
              <a:t>ḥesed</a:t>
            </a:r>
            <a:r>
              <a:rPr lang="en-US" sz="1800" dirty="0"/>
              <a:t> would achieve: forgiveness, transformation, and unbreakable fellowship.</a:t>
            </a:r>
          </a:p>
          <a:p>
            <a:pPr marL="171421" indent="-171421">
              <a:buFont typeface="Arial" panose="020B0604020202020204" pitchFamily="34" charset="0"/>
              <a:buChar char="•"/>
            </a:pPr>
            <a:r>
              <a:rPr lang="en-US" sz="1800" dirty="0"/>
              <a:t>So when we read backward through the new covenant, we see the same God — steadfast, loyal, merciful — fulfilling His own covenant from the inside out.</a:t>
            </a:r>
          </a:p>
          <a:p>
            <a:endParaRPr lang="en-US" sz="1800" dirty="0"/>
          </a:p>
          <a:p>
            <a:endParaRPr lang="en-US" sz="1800" dirty="0"/>
          </a:p>
          <a:p>
            <a:endParaRPr lang="en-US" dirty="0"/>
          </a:p>
        </p:txBody>
      </p:sp>
      <p:sp>
        <p:nvSpPr>
          <p:cNvPr id="4" name="Slide Number Placeholder 3">
            <a:extLst>
              <a:ext uri="{FF2B5EF4-FFF2-40B4-BE49-F238E27FC236}">
                <a16:creationId xmlns:a16="http://schemas.microsoft.com/office/drawing/2014/main" id="{4DC260F6-9FD2-B989-3760-00EF30F03367}"/>
              </a:ext>
            </a:extLst>
          </p:cNvPr>
          <p:cNvSpPr>
            <a:spLocks noGrp="1"/>
          </p:cNvSpPr>
          <p:nvPr>
            <p:ph type="sldNum" sz="quarter" idx="10"/>
          </p:nvPr>
        </p:nvSpPr>
        <p:spPr/>
        <p:txBody>
          <a:bodyPr/>
          <a:lstStyle/>
          <a:p>
            <a:pPr>
              <a:defRPr/>
            </a:pPr>
            <a:fld id="{07776858-791E-4C8D-8FA3-473B3AFECFAC}" type="slidenum">
              <a:rPr lang="en-US" smtClean="0"/>
              <a:pPr>
                <a:defRPr/>
              </a:pPr>
              <a:t>5</a:t>
            </a:fld>
            <a:endParaRPr lang="en-US" dirty="0"/>
          </a:p>
        </p:txBody>
      </p:sp>
    </p:spTree>
    <p:extLst>
      <p:ext uri="{BB962C8B-B14F-4D97-AF65-F5344CB8AC3E}">
        <p14:creationId xmlns:p14="http://schemas.microsoft.com/office/powerpoint/2010/main" val="807811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BAC7F-7047-E8DF-A92C-187D51B31F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BBF31-88AE-FE7F-6970-B9DB33BE75C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777B0D5-0DEF-AE9D-CF67-637DFC22FD05}"/>
              </a:ext>
            </a:extLst>
          </p:cNvPr>
          <p:cNvSpPr>
            <a:spLocks noGrp="1"/>
          </p:cNvSpPr>
          <p:nvPr>
            <p:ph type="body" idx="1"/>
          </p:nvPr>
        </p:nvSpPr>
        <p:spPr/>
        <p:txBody>
          <a:bodyPr>
            <a:normAutofit fontScale="92500" lnSpcReduction="20000"/>
          </a:bodyPr>
          <a:lstStyle/>
          <a:p>
            <a:r>
              <a:rPr lang="en-US" sz="1400" b="1" kern="1200" dirty="0">
                <a:solidFill>
                  <a:schemeClr val="tx1"/>
                </a:solidFill>
                <a:effectLst/>
                <a:latin typeface="+mn-lt"/>
                <a:ea typeface="ＭＳ Ｐゴシック" pitchFamily="-106" charset="-128"/>
                <a:cs typeface="ＭＳ Ｐゴシック" pitchFamily="-106" charset="-128"/>
              </a:rPr>
              <a:t>God’s Faithfulness and the New Covenant</a:t>
            </a: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Early Christian and Restoration Themes</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kern="1200" dirty="0">
                <a:solidFill>
                  <a:schemeClr val="tx1"/>
                </a:solidFill>
                <a:effectLst/>
                <a:latin typeface="+mn-lt"/>
                <a:ea typeface="ＭＳ Ｐゴシック" pitchFamily="-106" charset="-128"/>
                <a:cs typeface="ＭＳ Ｐゴシック" pitchFamily="-106" charset="-128"/>
              </a:rPr>
              <a:t>Early Christian writers saw God’s faithfulness as the ground of Christian hope.</a:t>
            </a:r>
          </a:p>
          <a:p>
            <a:r>
              <a:rPr lang="en-US" sz="1400" kern="1200" dirty="0">
                <a:solidFill>
                  <a:schemeClr val="tx1"/>
                </a:solidFill>
                <a:effectLst/>
                <a:latin typeface="+mn-lt"/>
                <a:ea typeface="ＭＳ Ｐゴシック" pitchFamily="-106" charset="-128"/>
                <a:cs typeface="ＭＳ Ｐゴシック" pitchFamily="-106" charset="-128"/>
              </a:rPr>
              <a:t>They taught that God’s covenant loyalty (hesed) reaches its high point in Jesus.</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kern="1200" dirty="0">
                <a:solidFill>
                  <a:schemeClr val="tx1"/>
                </a:solidFill>
                <a:effectLst/>
                <a:latin typeface="+mn-lt"/>
                <a:ea typeface="ＭＳ Ｐゴシック" pitchFamily="-106" charset="-128"/>
                <a:cs typeface="ＭＳ Ｐゴシック" pitchFamily="-106" charset="-128"/>
              </a:rPr>
              <a:t>Restoration teachers often said:</a:t>
            </a:r>
          </a:p>
          <a:p>
            <a:r>
              <a:rPr lang="en-US" sz="1400" b="1" kern="1200" dirty="0">
                <a:solidFill>
                  <a:schemeClr val="tx1"/>
                </a:solidFill>
                <a:effectLst/>
                <a:latin typeface="+mn-lt"/>
                <a:ea typeface="ＭＳ Ｐゴシック" pitchFamily="-106" charset="-128"/>
                <a:cs typeface="ＭＳ Ｐゴシック" pitchFamily="-106" charset="-128"/>
              </a:rPr>
              <a:t>“God commands. God promises. God fulfills.”</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His faithfulness is the bridge between His word and our lives.</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kern="1200" dirty="0">
                <a:solidFill>
                  <a:schemeClr val="tx1"/>
                </a:solidFill>
                <a:effectLst/>
                <a:latin typeface="+mn-lt"/>
                <a:ea typeface="ＭＳ Ｐゴシック" pitchFamily="-106" charset="-128"/>
                <a:cs typeface="ＭＳ Ｐゴシック" pitchFamily="-106" charset="-128"/>
              </a:rPr>
              <a:t>They stressed that God’s faithfulness is not abstract.</a:t>
            </a:r>
          </a:p>
          <a:p>
            <a:r>
              <a:rPr lang="en-US" sz="1400" kern="1200" dirty="0">
                <a:solidFill>
                  <a:schemeClr val="tx1"/>
                </a:solidFill>
                <a:effectLst/>
                <a:latin typeface="+mn-lt"/>
                <a:ea typeface="ＭＳ Ｐゴシック" pitchFamily="-106" charset="-128"/>
                <a:cs typeface="ＭＳ Ｐゴシック" pitchFamily="-106" charset="-128"/>
              </a:rPr>
              <a:t>It shows up in baptism, in the Spirit’s work, in the gathering of the church, and in daily obedience.</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kern="1200" dirty="0">
                <a:solidFill>
                  <a:schemeClr val="tx1"/>
                </a:solidFill>
                <a:effectLst/>
                <a:latin typeface="+mn-lt"/>
                <a:ea typeface="ＭＳ Ｐゴシック" pitchFamily="-106" charset="-128"/>
                <a:cs typeface="ＭＳ Ｐゴシック" pitchFamily="-106" charset="-128"/>
              </a:rPr>
              <a:t>God’s faithfulness is the reason the church endures.</a:t>
            </a:r>
          </a:p>
          <a:p>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0" i="0" kern="1200" dirty="0">
                <a:solidFill>
                  <a:schemeClr val="tx1"/>
                </a:solidFill>
                <a:effectLst/>
                <a:latin typeface="+mn-lt"/>
                <a:ea typeface="ＭＳ Ｐゴシック" pitchFamily="-106" charset="-128"/>
                <a:cs typeface="ＭＳ Ｐゴシック" pitchFamily="-106" charset="-128"/>
              </a:rPr>
              <a:t>How does God’s faithfulness give you confidence in your walk with Him?</a:t>
            </a:r>
          </a:p>
          <a:p>
            <a:pPr rtl="0" fontAlgn="ctr"/>
            <a:r>
              <a:rPr lang="en-US" sz="1400" b="0" i="0" kern="1200" dirty="0">
                <a:solidFill>
                  <a:schemeClr val="tx1"/>
                </a:solidFill>
                <a:effectLst/>
                <a:latin typeface="+mn-lt"/>
                <a:ea typeface="ＭＳ Ｐゴシック" pitchFamily="-106" charset="-128"/>
                <a:cs typeface="ＭＳ Ｐゴシック" pitchFamily="-106" charset="-128"/>
              </a:rPr>
              <a:t>Which part of God’s faithfulness do you struggle to trust?</a:t>
            </a:r>
          </a:p>
          <a:p>
            <a:pPr rtl="0" fontAlgn="ctr"/>
            <a:r>
              <a:rPr lang="en-US" sz="1400" b="0" i="0" kern="1200" dirty="0">
                <a:solidFill>
                  <a:schemeClr val="tx1"/>
                </a:solidFill>
                <a:effectLst/>
                <a:latin typeface="+mn-lt"/>
                <a:ea typeface="ＭＳ Ｐゴシック" pitchFamily="-106" charset="-128"/>
                <a:cs typeface="ＭＳ Ｐゴシック" pitchFamily="-106" charset="-128"/>
              </a:rPr>
              <a:t>How does Jesus show God’s faithfulness to you personally?</a:t>
            </a:r>
          </a:p>
          <a:p>
            <a:pPr rtl="0" fontAlgn="ctr"/>
            <a:r>
              <a:rPr lang="en-US" sz="1400" b="0" i="0" kern="1200" dirty="0">
                <a:solidFill>
                  <a:schemeClr val="tx1"/>
                </a:solidFill>
                <a:effectLst/>
                <a:latin typeface="+mn-lt"/>
                <a:ea typeface="ＭＳ Ｐゴシック" pitchFamily="-106" charset="-128"/>
                <a:cs typeface="ＭＳ Ｐゴシック" pitchFamily="-106" charset="-128"/>
              </a:rPr>
              <a:t>What changes when you believe that God finishes what He starts?</a:t>
            </a:r>
          </a:p>
          <a:p>
            <a:pPr rtl="0" fontAlgn="ctr"/>
            <a:r>
              <a:rPr lang="en-US" sz="1400" b="0" i="0" kern="1200" dirty="0">
                <a:solidFill>
                  <a:schemeClr val="tx1"/>
                </a:solidFill>
                <a:effectLst/>
                <a:latin typeface="+mn-lt"/>
                <a:ea typeface="ＭＳ Ｐゴシック" pitchFamily="-106" charset="-128"/>
                <a:cs typeface="ＭＳ Ｐゴシック" pitchFamily="-106" charset="-128"/>
              </a:rPr>
              <a:t>How can we encourage one another to hold to God’s promises?</a:t>
            </a: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a:p>
            <a:endParaRPr lang="en-US" sz="1200" kern="1200" dirty="0">
              <a:solidFill>
                <a:schemeClr val="tx1"/>
              </a:solidFill>
              <a:effectLst/>
              <a:latin typeface="+mn-lt"/>
              <a:ea typeface="ＭＳ Ｐゴシック" pitchFamily="-106" charset="-128"/>
              <a:cs typeface="ＭＳ Ｐゴシック" pitchFamily="-106" charset="-128"/>
            </a:endParaRPr>
          </a:p>
          <a:p>
            <a:endParaRPr lang="en-US" sz="1200" kern="1200" dirty="0">
              <a:solidFill>
                <a:schemeClr val="tx1"/>
              </a:solidFill>
              <a:effectLst/>
              <a:latin typeface="+mn-lt"/>
              <a:ea typeface="ＭＳ Ｐゴシック" pitchFamily="-106" charset="-128"/>
              <a:cs typeface="ＭＳ Ｐゴシック" pitchFamily="-106" charset="-128"/>
            </a:endParaRPr>
          </a:p>
          <a:p>
            <a:endParaRPr lang="en-US" sz="1200" kern="1200" dirty="0">
              <a:solidFill>
                <a:schemeClr val="tx1"/>
              </a:solidFill>
              <a:effectLst/>
              <a:latin typeface="+mn-lt"/>
              <a:ea typeface="ＭＳ Ｐゴシック" pitchFamily="-106" charset="-128"/>
              <a:cs typeface="ＭＳ Ｐゴシック" pitchFamily="-106" charset="-128"/>
            </a:endParaRPr>
          </a:p>
        </p:txBody>
      </p:sp>
      <p:sp>
        <p:nvSpPr>
          <p:cNvPr id="4" name="Slide Number Placeholder 3">
            <a:extLst>
              <a:ext uri="{FF2B5EF4-FFF2-40B4-BE49-F238E27FC236}">
                <a16:creationId xmlns:a16="http://schemas.microsoft.com/office/drawing/2014/main" id="{2E08FD56-C739-2B65-2F61-C7F18CE4D84D}"/>
              </a:ext>
            </a:extLst>
          </p:cNvPr>
          <p:cNvSpPr>
            <a:spLocks noGrp="1"/>
          </p:cNvSpPr>
          <p:nvPr>
            <p:ph type="sldNum" sz="quarter" idx="10"/>
          </p:nvPr>
        </p:nvSpPr>
        <p:spPr/>
        <p:txBody>
          <a:bodyPr/>
          <a:lstStyle/>
          <a:p>
            <a:pPr>
              <a:defRPr/>
            </a:pPr>
            <a:fld id="{07776858-791E-4C8D-8FA3-473B3AFECFAC}" type="slidenum">
              <a:rPr lang="en-US" smtClean="0"/>
              <a:pPr>
                <a:defRPr/>
              </a:pPr>
              <a:t>6</a:t>
            </a:fld>
            <a:endParaRPr lang="en-US" dirty="0"/>
          </a:p>
        </p:txBody>
      </p:sp>
    </p:spTree>
    <p:extLst>
      <p:ext uri="{BB962C8B-B14F-4D97-AF65-F5344CB8AC3E}">
        <p14:creationId xmlns:p14="http://schemas.microsoft.com/office/powerpoint/2010/main" val="2686110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D8296-1D0F-C4C3-3E54-988ACDEF1F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FE896A-E083-9102-6190-1DEF0C721AE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636FB6D-C7DA-7F41-33BA-F52883C94FF1}"/>
              </a:ext>
            </a:extLst>
          </p:cNvPr>
          <p:cNvSpPr>
            <a:spLocks noGrp="1"/>
          </p:cNvSpPr>
          <p:nvPr>
            <p:ph type="body" idx="1"/>
          </p:nvPr>
        </p:nvSpPr>
        <p:spPr/>
        <p:txBody>
          <a:bodyPr>
            <a:normAutofit/>
          </a:bodyPr>
          <a:lstStyle/>
          <a:p>
            <a:r>
              <a:rPr lang="en-US" sz="1400" b="1" kern="1200" dirty="0">
                <a:solidFill>
                  <a:schemeClr val="tx1"/>
                </a:solidFill>
                <a:effectLst/>
                <a:latin typeface="+mn-lt"/>
                <a:ea typeface="ＭＳ Ｐゴシック" pitchFamily="-106" charset="-128"/>
                <a:cs typeface="ＭＳ Ｐゴシック" pitchFamily="-106" charset="-128"/>
              </a:rPr>
              <a:t>God’s Faithfulness and the Life of a Disciple</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i="0" u="none" strike="noStrike" kern="1200" baseline="0" dirty="0">
                <a:solidFill>
                  <a:schemeClr val="tx1"/>
                </a:solidFill>
                <a:latin typeface="+mn-lt"/>
                <a:ea typeface="ＭＳ Ｐゴシック" pitchFamily="-106" charset="-128"/>
                <a:cs typeface="ＭＳ Ｐゴシック" pitchFamily="-106" charset="-128"/>
              </a:rPr>
              <a:t>2Ti 2:10-13</a:t>
            </a:r>
            <a:r>
              <a:rPr lang="en-US" sz="1400" b="0" i="0" u="none" strike="noStrike" kern="1200" baseline="0" dirty="0">
                <a:solidFill>
                  <a:schemeClr val="tx1"/>
                </a:solidFill>
                <a:latin typeface="+mn-lt"/>
                <a:ea typeface="ＭＳ Ｐゴシック" pitchFamily="-106" charset="-128"/>
                <a:cs typeface="ＭＳ Ｐゴシック" pitchFamily="-106" charset="-128"/>
              </a:rPr>
              <a:t>  Therefore I endure all things for the sake of the elect, that they also may obtain the salvation which is in Christ Jesus with eternal glory.  (11)  This is a faithful saying: For if we died with </a:t>
            </a:r>
            <a:r>
              <a:rPr lang="en-US" sz="1400" b="0" i="1" u="none" strike="noStrike" kern="1200" baseline="0" dirty="0">
                <a:solidFill>
                  <a:schemeClr val="tx1"/>
                </a:solidFill>
                <a:latin typeface="+mn-lt"/>
                <a:ea typeface="ＭＳ Ｐゴシック" pitchFamily="-106" charset="-128"/>
                <a:cs typeface="ＭＳ Ｐゴシック" pitchFamily="-106" charset="-128"/>
              </a:rPr>
              <a:t>Him,</a:t>
            </a:r>
            <a:r>
              <a:rPr lang="en-US" sz="1400" b="0" i="0" u="none" strike="noStrike" kern="1200" baseline="0" dirty="0">
                <a:solidFill>
                  <a:schemeClr val="tx1"/>
                </a:solidFill>
                <a:latin typeface="+mn-lt"/>
                <a:ea typeface="ＭＳ Ｐゴシック" pitchFamily="-106" charset="-128"/>
                <a:cs typeface="ＭＳ Ｐゴシック" pitchFamily="-106" charset="-128"/>
              </a:rPr>
              <a:t> We shall also live with </a:t>
            </a:r>
            <a:r>
              <a:rPr lang="en-US" sz="1400" b="0" i="1" u="none" strike="noStrike" kern="1200" baseline="0" dirty="0">
                <a:solidFill>
                  <a:schemeClr val="tx1"/>
                </a:solidFill>
                <a:latin typeface="+mn-lt"/>
                <a:ea typeface="ＭＳ Ｐゴシック" pitchFamily="-106" charset="-128"/>
                <a:cs typeface="ＭＳ Ｐゴシック" pitchFamily="-106" charset="-128"/>
              </a:rPr>
              <a:t>Him.</a:t>
            </a:r>
            <a:r>
              <a:rPr lang="en-US" sz="1400" b="0" i="0" u="none" strike="noStrike" kern="1200" baseline="0" dirty="0">
                <a:solidFill>
                  <a:schemeClr val="tx1"/>
                </a:solidFill>
                <a:latin typeface="+mn-lt"/>
                <a:ea typeface="ＭＳ Ｐゴシック" pitchFamily="-106" charset="-128"/>
                <a:cs typeface="ＭＳ Ｐゴシック" pitchFamily="-106" charset="-128"/>
              </a:rPr>
              <a:t>  (12)  If we endure, We shall also reign with </a:t>
            </a:r>
            <a:r>
              <a:rPr lang="en-US" sz="1400" b="0" i="1" u="none" strike="noStrike" kern="1200" baseline="0" dirty="0">
                <a:solidFill>
                  <a:schemeClr val="tx1"/>
                </a:solidFill>
                <a:latin typeface="+mn-lt"/>
                <a:ea typeface="ＭＳ Ｐゴシック" pitchFamily="-106" charset="-128"/>
                <a:cs typeface="ＭＳ Ｐゴシック" pitchFamily="-106" charset="-128"/>
              </a:rPr>
              <a:t>Him.</a:t>
            </a:r>
            <a:r>
              <a:rPr lang="en-US" sz="1400" b="0" i="0" u="none" strike="noStrike" kern="1200" baseline="0" dirty="0">
                <a:solidFill>
                  <a:schemeClr val="tx1"/>
                </a:solidFill>
                <a:latin typeface="+mn-lt"/>
                <a:ea typeface="ＭＳ Ｐゴシック" pitchFamily="-106" charset="-128"/>
                <a:cs typeface="ＭＳ Ｐゴシック" pitchFamily="-106" charset="-128"/>
              </a:rPr>
              <a:t> If we deny </a:t>
            </a:r>
            <a:r>
              <a:rPr lang="en-US" sz="1400" b="0" i="1" u="none" strike="noStrike" kern="1200" baseline="0" dirty="0">
                <a:solidFill>
                  <a:schemeClr val="tx1"/>
                </a:solidFill>
                <a:latin typeface="+mn-lt"/>
                <a:ea typeface="ＭＳ Ｐゴシック" pitchFamily="-106" charset="-128"/>
                <a:cs typeface="ＭＳ Ｐゴシック" pitchFamily="-106" charset="-128"/>
              </a:rPr>
              <a:t>Him,</a:t>
            </a:r>
            <a:r>
              <a:rPr lang="en-US" sz="1400" b="0" i="0" u="none" strike="noStrike" kern="1200" baseline="0" dirty="0">
                <a:solidFill>
                  <a:schemeClr val="tx1"/>
                </a:solidFill>
                <a:latin typeface="+mn-lt"/>
                <a:ea typeface="ＭＳ Ｐゴシック" pitchFamily="-106" charset="-128"/>
                <a:cs typeface="ＭＳ Ｐゴシック" pitchFamily="-106" charset="-128"/>
              </a:rPr>
              <a:t> He also will deny us.  (13</a:t>
            </a:r>
            <a:r>
              <a:rPr lang="en-US" sz="1400" b="0" i="1" u="none" strike="noStrike" kern="1200" baseline="0" dirty="0">
                <a:solidFill>
                  <a:schemeClr val="tx1"/>
                </a:solidFill>
                <a:latin typeface="+mn-lt"/>
                <a:ea typeface="ＭＳ Ｐゴシック" pitchFamily="-106" charset="-128"/>
                <a:cs typeface="ＭＳ Ｐゴシック" pitchFamily="-106" charset="-128"/>
              </a:rPr>
              <a:t>)  If we are faithless, He remains faithful</a:t>
            </a:r>
            <a:r>
              <a:rPr lang="en-US" sz="1400" b="0" i="0" u="none" strike="noStrike" kern="1200" baseline="0" dirty="0">
                <a:solidFill>
                  <a:schemeClr val="tx1"/>
                </a:solidFill>
                <a:latin typeface="+mn-lt"/>
                <a:ea typeface="ＭＳ Ｐゴシック" pitchFamily="-106" charset="-128"/>
                <a:cs typeface="ＭＳ Ｐゴシック" pitchFamily="-106" charset="-128"/>
              </a:rPr>
              <a:t>; </a:t>
            </a:r>
            <a:r>
              <a:rPr lang="en-US" sz="1400" b="1" i="0" u="none" strike="noStrike" kern="1200" baseline="0" dirty="0">
                <a:solidFill>
                  <a:schemeClr val="tx1"/>
                </a:solidFill>
                <a:latin typeface="+mn-lt"/>
                <a:ea typeface="ＭＳ Ｐゴシック" pitchFamily="-106" charset="-128"/>
                <a:cs typeface="ＭＳ Ｐゴシック" pitchFamily="-106" charset="-128"/>
              </a:rPr>
              <a:t>He cannot deny Himself</a:t>
            </a:r>
            <a:r>
              <a:rPr lang="en-US" sz="1400" b="0" i="0" u="none" strike="noStrike" kern="1200" baseline="0" dirty="0">
                <a:solidFill>
                  <a:schemeClr val="tx1"/>
                </a:solidFill>
                <a:latin typeface="+mn-lt"/>
                <a:ea typeface="ＭＳ Ｐゴシック" pitchFamily="-106" charset="-128"/>
                <a:cs typeface="ＭＳ Ｐゴシック" pitchFamily="-106" charset="-128"/>
              </a:rPr>
              <a:t>.</a:t>
            </a:r>
          </a:p>
          <a:p>
            <a:endParaRPr lang="en-US" sz="1400" kern="1200" dirty="0">
              <a:solidFill>
                <a:schemeClr val="tx1"/>
              </a:solidFill>
              <a:effectLst/>
              <a:latin typeface="+mn-lt"/>
              <a:ea typeface="ＭＳ Ｐゴシック" pitchFamily="-106" charset="-128"/>
              <a:cs typeface="ＭＳ Ｐゴシック" pitchFamily="-106" charset="-128"/>
            </a:endParaRPr>
          </a:p>
        </p:txBody>
      </p:sp>
      <p:sp>
        <p:nvSpPr>
          <p:cNvPr id="4" name="Slide Number Placeholder 3">
            <a:extLst>
              <a:ext uri="{FF2B5EF4-FFF2-40B4-BE49-F238E27FC236}">
                <a16:creationId xmlns:a16="http://schemas.microsoft.com/office/drawing/2014/main" id="{644EE391-F505-7E58-83FC-F8B5C56D7F9F}"/>
              </a:ext>
            </a:extLst>
          </p:cNvPr>
          <p:cNvSpPr>
            <a:spLocks noGrp="1"/>
          </p:cNvSpPr>
          <p:nvPr>
            <p:ph type="sldNum" sz="quarter" idx="10"/>
          </p:nvPr>
        </p:nvSpPr>
        <p:spPr/>
        <p:txBody>
          <a:bodyPr/>
          <a:lstStyle/>
          <a:p>
            <a:pPr>
              <a:defRPr/>
            </a:pPr>
            <a:fld id="{07776858-791E-4C8D-8FA3-473B3AFECFAC}" type="slidenum">
              <a:rPr lang="en-US" smtClean="0"/>
              <a:pPr>
                <a:defRPr/>
              </a:pPr>
              <a:t>7</a:t>
            </a:fld>
            <a:endParaRPr lang="en-US" dirty="0"/>
          </a:p>
        </p:txBody>
      </p:sp>
    </p:spTree>
    <p:extLst>
      <p:ext uri="{BB962C8B-B14F-4D97-AF65-F5344CB8AC3E}">
        <p14:creationId xmlns:p14="http://schemas.microsoft.com/office/powerpoint/2010/main" val="3776359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A53F3-F5FA-47DF-8211-8B502AD79E23}"/>
              </a:ext>
            </a:extLst>
          </p:cNvPr>
          <p:cNvSpPr txBox="1">
            <a:spLocks/>
          </p:cNvSpPr>
          <p:nvPr/>
        </p:nvSpPr>
        <p:spPr bwMode="auto">
          <a:xfrm>
            <a:off x="457200" y="419100"/>
            <a:ext cx="8229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6700" dirty="0"/>
              <a:t>The Promises of God</a:t>
            </a:r>
            <a:br>
              <a:rPr lang="en-US" dirty="0"/>
            </a:br>
            <a:endParaRPr lang="en-US" dirty="0"/>
          </a:p>
          <a:p>
            <a:r>
              <a:rPr lang="en-US" i="1" dirty="0"/>
              <a:t>Promise of God’s Faithfulness</a:t>
            </a:r>
          </a:p>
          <a:p>
            <a:endParaRPr lang="en-US" sz="2400" dirty="0">
              <a:solidFill>
                <a:schemeClr val="tx2">
                  <a:lumMod val="60000"/>
                  <a:lumOff val="40000"/>
                </a:schemeClr>
              </a:solidFill>
            </a:endParaRPr>
          </a:p>
          <a:p>
            <a:r>
              <a:rPr lang="en-US" dirty="0"/>
              <a:t>“Now may the God of peace himself make you completely holy and may your spirit and soul and body be kept entirely blameless at the coming of our Lord Jesus Christ. He who calls you is trustworthy, and he will in fact do this.” </a:t>
            </a:r>
          </a:p>
          <a:p>
            <a:r>
              <a:rPr lang="en-US" dirty="0"/>
              <a:t>(1 Thessalonians 5:23-24)</a:t>
            </a:r>
          </a:p>
          <a:p>
            <a:endParaRPr lang="en-US" b="0" dirty="0"/>
          </a:p>
          <a:p>
            <a:r>
              <a:rPr lang="en-US" dirty="0">
                <a:solidFill>
                  <a:schemeClr val="tx2">
                    <a:lumMod val="60000"/>
                    <a:lumOff val="40000"/>
                  </a:schemeClr>
                </a:solidFill>
              </a:rPr>
              <a:t>http://tinyurl.com/GodOfPromises</a:t>
            </a:r>
          </a:p>
          <a:p>
            <a:endParaRPr lang="en-US" sz="2400" dirty="0">
              <a:solidFill>
                <a:schemeClr val="tx2">
                  <a:lumMod val="60000"/>
                  <a:lumOff val="40000"/>
                </a:schemeClr>
              </a:solidFill>
            </a:endParaRPr>
          </a:p>
        </p:txBody>
      </p:sp>
    </p:spTree>
    <p:extLst>
      <p:ext uri="{BB962C8B-B14F-4D97-AF65-F5344CB8AC3E}">
        <p14:creationId xmlns:p14="http://schemas.microsoft.com/office/powerpoint/2010/main" val="4586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16FF1C5C-098A-B7B4-29DA-163600C9EAB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9D62506-1BC3-6C6E-2FAB-806688DE005A}"/>
              </a:ext>
            </a:extLst>
          </p:cNvPr>
          <p:cNvSpPr txBox="1">
            <a:spLocks/>
          </p:cNvSpPr>
          <p:nvPr/>
        </p:nvSpPr>
        <p:spPr bwMode="auto">
          <a:xfrm>
            <a:off x="192879" y="28992"/>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4600" dirty="0"/>
              <a:t>God’s Faithfulness in Scripture</a:t>
            </a:r>
            <a:br>
              <a:rPr lang="en-US" dirty="0"/>
            </a:br>
            <a:r>
              <a:rPr lang="en-US" sz="3400" dirty="0">
                <a:solidFill>
                  <a:schemeClr val="tx2">
                    <a:lumMod val="60000"/>
                    <a:lumOff val="40000"/>
                  </a:schemeClr>
                </a:solidFill>
              </a:rPr>
              <a:t>God keeps His covenant even when His people fail.</a:t>
            </a:r>
            <a:endParaRPr lang="en-US" sz="3800" dirty="0">
              <a:solidFill>
                <a:schemeClr val="tx2">
                  <a:lumMod val="60000"/>
                  <a:lumOff val="40000"/>
                </a:schemeClr>
              </a:solidFill>
            </a:endParaRPr>
          </a:p>
        </p:txBody>
      </p:sp>
      <p:sp>
        <p:nvSpPr>
          <p:cNvPr id="3" name="TextBox 2">
            <a:extLst>
              <a:ext uri="{FF2B5EF4-FFF2-40B4-BE49-F238E27FC236}">
                <a16:creationId xmlns:a16="http://schemas.microsoft.com/office/drawing/2014/main" id="{C96E21EF-3DEE-2EB9-2120-682F4B4560B7}"/>
              </a:ext>
            </a:extLst>
          </p:cNvPr>
          <p:cNvSpPr txBox="1"/>
          <p:nvPr/>
        </p:nvSpPr>
        <p:spPr>
          <a:xfrm>
            <a:off x="192880" y="1019592"/>
            <a:ext cx="8677275" cy="1477328"/>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It’s part of His name and nature…</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Nehemiah 1:5 - </a:t>
            </a:r>
            <a:r>
              <a:rPr lang="en-US" i="1" dirty="0">
                <a:ea typeface="ＭＳ Ｐゴシック" pitchFamily="-106" charset="-128"/>
                <a:cs typeface="ＭＳ Ｐゴシック" pitchFamily="-106" charset="-128"/>
              </a:rPr>
              <a:t>“O Lord God of Heaven… the great and awesome God who keeps covenant and loyal love.”</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Psalm 138:8 - </a:t>
            </a:r>
            <a:r>
              <a:rPr lang="en-US" i="1" dirty="0">
                <a:ea typeface="ＭＳ Ｐゴシック" pitchFamily="-106" charset="-128"/>
                <a:cs typeface="ＭＳ Ｐゴシック" pitchFamily="-106" charset="-128"/>
              </a:rPr>
              <a:t>“Your loyal love, O Lord, endures forever.”</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Psalm 145:13 - </a:t>
            </a:r>
            <a:r>
              <a:rPr lang="en-US" i="1" dirty="0">
                <a:ea typeface="ＭＳ Ｐゴシック" pitchFamily="-106" charset="-128"/>
                <a:cs typeface="ＭＳ Ｐゴシック" pitchFamily="-106" charset="-128"/>
              </a:rPr>
              <a:t>“The Lord is trustworthy in all he promises.”</a:t>
            </a:r>
          </a:p>
        </p:txBody>
      </p:sp>
      <p:sp>
        <p:nvSpPr>
          <p:cNvPr id="2" name="TextBox 1">
            <a:extLst>
              <a:ext uri="{FF2B5EF4-FFF2-40B4-BE49-F238E27FC236}">
                <a16:creationId xmlns:a16="http://schemas.microsoft.com/office/drawing/2014/main" id="{D3787957-C6F8-2572-ACEE-92B8E91190C3}"/>
              </a:ext>
            </a:extLst>
          </p:cNvPr>
          <p:cNvSpPr txBox="1"/>
          <p:nvPr/>
        </p:nvSpPr>
        <p:spPr>
          <a:xfrm>
            <a:off x="192879" y="2971800"/>
            <a:ext cx="8677275" cy="1477328"/>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Examples – This truth shows-up again and again…</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God kept His word to Abraham, even when Abraham stumbled (</a:t>
            </a:r>
            <a:r>
              <a:rPr lang="en-US" b="1" dirty="0">
                <a:ea typeface="ＭＳ Ｐゴシック" pitchFamily="-106" charset="-128"/>
                <a:cs typeface="ＭＳ Ｐゴシック" pitchFamily="-106" charset="-128"/>
              </a:rPr>
              <a:t>Genesis 17</a:t>
            </a:r>
            <a:r>
              <a:rPr lang="en-US" dirty="0">
                <a:ea typeface="ＭＳ Ｐゴシック" pitchFamily="-106" charset="-128"/>
                <a:cs typeface="ＭＳ Ｐゴシック" pitchFamily="-106" charset="-128"/>
              </a:rPr>
              <a:t>).</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God kept Israel alive in the wilderness, even when they complained (</a:t>
            </a:r>
            <a:r>
              <a:rPr lang="en-US" b="1" dirty="0">
                <a:ea typeface="ＭＳ Ｐゴシック" pitchFamily="-106" charset="-128"/>
                <a:cs typeface="ＭＳ Ｐゴシック" pitchFamily="-106" charset="-128"/>
              </a:rPr>
              <a:t>Deuteronomy 7:9</a:t>
            </a:r>
            <a:r>
              <a:rPr lang="en-US" dirty="0">
                <a:ea typeface="ＭＳ Ｐゴシック" pitchFamily="-106" charset="-128"/>
                <a:cs typeface="ＭＳ Ｐゴシック" pitchFamily="-106" charset="-128"/>
              </a:rPr>
              <a:t>).</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God kept His promise to send the Messiah (</a:t>
            </a:r>
            <a:r>
              <a:rPr lang="en-US" b="1" dirty="0">
                <a:ea typeface="ＭＳ Ｐゴシック" pitchFamily="-106" charset="-128"/>
                <a:cs typeface="ＭＳ Ｐゴシック" pitchFamily="-106" charset="-128"/>
              </a:rPr>
              <a:t>Luke 1:72–73</a:t>
            </a:r>
            <a:r>
              <a:rPr lang="en-US" dirty="0">
                <a:ea typeface="ＭＳ Ｐゴシック" pitchFamily="-106" charset="-128"/>
                <a:cs typeface="ＭＳ Ｐゴシック" pitchFamily="-106" charset="-128"/>
              </a:rPr>
              <a:t>).</a:t>
            </a:r>
          </a:p>
        </p:txBody>
      </p:sp>
      <p:sp>
        <p:nvSpPr>
          <p:cNvPr id="4" name="TextBox 3">
            <a:extLst>
              <a:ext uri="{FF2B5EF4-FFF2-40B4-BE49-F238E27FC236}">
                <a16:creationId xmlns:a16="http://schemas.microsoft.com/office/drawing/2014/main" id="{D834FD90-D728-78E2-D14F-D4A91F2F2B32}"/>
              </a:ext>
            </a:extLst>
          </p:cNvPr>
          <p:cNvSpPr txBox="1"/>
          <p:nvPr/>
        </p:nvSpPr>
        <p:spPr>
          <a:xfrm>
            <a:off x="170151" y="4930935"/>
            <a:ext cx="8577262" cy="1477328"/>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God’s faithfulness holds the whole story of Scripture together.</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Lamentations 3:22-23 - </a:t>
            </a:r>
            <a:r>
              <a:rPr lang="en-US" dirty="0"/>
              <a:t>The </a:t>
            </a:r>
            <a:r>
              <a:rPr lang="en-US" b="1" dirty="0"/>
              <a:t>steadfast love (Hebrew : hesed) </a:t>
            </a:r>
            <a:r>
              <a:rPr lang="en-US" dirty="0"/>
              <a:t>of the Lord never ceases; His </a:t>
            </a:r>
            <a:r>
              <a:rPr lang="en-US" b="1" dirty="0"/>
              <a:t>mercies</a:t>
            </a:r>
            <a:r>
              <a:rPr lang="en-US" dirty="0"/>
              <a:t> never come to an end. They are new every morning; </a:t>
            </a:r>
            <a:r>
              <a:rPr lang="en-US" b="1" dirty="0"/>
              <a:t>Great is Thy faithfulness, O Lord,</a:t>
            </a:r>
            <a:r>
              <a:rPr lang="en-US" dirty="0"/>
              <a:t> </a:t>
            </a:r>
            <a:r>
              <a:rPr lang="en-US" b="1" dirty="0"/>
              <a:t>Great is Thy faithfulness!</a:t>
            </a:r>
            <a:endParaRPr lang="en-US" dirty="0"/>
          </a:p>
          <a:p>
            <a:pPr marL="285750" indent="-285750">
              <a:buFont typeface="Arial" panose="020B0604020202020204" pitchFamily="34" charset="0"/>
              <a:buChar char="•"/>
            </a:pPr>
            <a:endParaRPr lang="en-US" b="1"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270849363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F1C5C-098A-B7B4-29DA-163600C9EAB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9D62506-1BC3-6C6E-2FAB-806688DE005A}"/>
              </a:ext>
            </a:extLst>
          </p:cNvPr>
          <p:cNvSpPr txBox="1">
            <a:spLocks/>
          </p:cNvSpPr>
          <p:nvPr/>
        </p:nvSpPr>
        <p:spPr bwMode="auto">
          <a:xfrm>
            <a:off x="228600" y="0"/>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t>God’s Character – Why Faithful?</a:t>
            </a:r>
            <a:br>
              <a:rPr lang="en-US" dirty="0"/>
            </a:br>
            <a:r>
              <a:rPr lang="en-US" sz="2400" dirty="0">
                <a:solidFill>
                  <a:schemeClr val="tx2">
                    <a:lumMod val="60000"/>
                    <a:lumOff val="40000"/>
                  </a:schemeClr>
                </a:solidFill>
              </a:rPr>
              <a:t>The </a:t>
            </a:r>
            <a:r>
              <a:rPr lang="en-US" sz="2400" u="sng" dirty="0">
                <a:solidFill>
                  <a:schemeClr val="tx2">
                    <a:lumMod val="60000"/>
                    <a:lumOff val="40000"/>
                  </a:schemeClr>
                </a:solidFill>
              </a:rPr>
              <a:t>Steadfast Love</a:t>
            </a:r>
            <a:r>
              <a:rPr lang="en-US" sz="2400" dirty="0">
                <a:solidFill>
                  <a:schemeClr val="tx2">
                    <a:lumMod val="60000"/>
                    <a:lumOff val="40000"/>
                  </a:schemeClr>
                </a:solidFill>
              </a:rPr>
              <a:t> of the Lord Never Ceases…</a:t>
            </a:r>
          </a:p>
        </p:txBody>
      </p:sp>
      <p:sp>
        <p:nvSpPr>
          <p:cNvPr id="3" name="TextBox 2">
            <a:extLst>
              <a:ext uri="{FF2B5EF4-FFF2-40B4-BE49-F238E27FC236}">
                <a16:creationId xmlns:a16="http://schemas.microsoft.com/office/drawing/2014/main" id="{C96E21EF-3DEE-2EB9-2120-682F4B4560B7}"/>
              </a:ext>
            </a:extLst>
          </p:cNvPr>
          <p:cNvSpPr txBox="1"/>
          <p:nvPr/>
        </p:nvSpPr>
        <p:spPr>
          <a:xfrm>
            <a:off x="233362" y="1019175"/>
            <a:ext cx="8677275" cy="5632311"/>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Hosea 6:6 – Jesus quotes twice in Matthew</a:t>
            </a:r>
          </a:p>
          <a:p>
            <a:pPr marL="342900" indent="-342900">
              <a:buFont typeface="Arial" panose="020B0604020202020204" pitchFamily="34" charset="0"/>
              <a:buChar char="•"/>
            </a:pPr>
            <a:r>
              <a:rPr lang="en-US" u="sng" dirty="0">
                <a:ea typeface="ＭＳ Ｐゴシック" pitchFamily="-106" charset="-128"/>
                <a:cs typeface="ＭＳ Ｐゴシック" pitchFamily="-106" charset="-128"/>
              </a:rPr>
              <a:t>Mat 9:13</a:t>
            </a:r>
            <a:r>
              <a:rPr lang="en-US" dirty="0">
                <a:ea typeface="ＭＳ Ｐゴシック" pitchFamily="-106" charset="-128"/>
                <a:cs typeface="ＭＳ Ｐゴシック" pitchFamily="-106" charset="-128"/>
              </a:rPr>
              <a:t>  “</a:t>
            </a:r>
            <a:r>
              <a:rPr lang="en-US" i="1" dirty="0">
                <a:ea typeface="ＭＳ Ｐゴシック" pitchFamily="-106" charset="-128"/>
                <a:cs typeface="ＭＳ Ｐゴシック" pitchFamily="-106" charset="-128"/>
              </a:rPr>
              <a:t>Go and learn what this saying means: </a:t>
            </a:r>
            <a:r>
              <a:rPr lang="en-US" dirty="0">
                <a:ea typeface="ＭＳ Ｐゴシック" pitchFamily="-106" charset="-128"/>
                <a:cs typeface="ＭＳ Ｐゴシック" pitchFamily="-106" charset="-128"/>
              </a:rPr>
              <a:t>‘</a:t>
            </a:r>
            <a:r>
              <a:rPr lang="en-US" b="1" i="1" dirty="0">
                <a:ea typeface="ＭＳ Ｐゴシック" pitchFamily="-106" charset="-128"/>
                <a:cs typeface="ＭＳ Ｐゴシック" pitchFamily="-106" charset="-128"/>
              </a:rPr>
              <a:t>I want mercy and not sacrifice</a:t>
            </a:r>
            <a:r>
              <a:rPr lang="en-US" i="1" dirty="0">
                <a:ea typeface="ＭＳ Ｐゴシック" pitchFamily="-106" charset="-128"/>
                <a:cs typeface="ＭＳ Ｐゴシック" pitchFamily="-106" charset="-128"/>
              </a:rPr>
              <a:t>.</a:t>
            </a:r>
            <a:r>
              <a:rPr lang="en-US" dirty="0">
                <a:ea typeface="ＭＳ Ｐゴシック" pitchFamily="-106" charset="-128"/>
                <a:cs typeface="ＭＳ Ｐゴシック" pitchFamily="-106" charset="-128"/>
              </a:rPr>
              <a:t>’ </a:t>
            </a:r>
            <a:r>
              <a:rPr lang="en-US" i="1" dirty="0">
                <a:ea typeface="ＭＳ Ｐゴシック" pitchFamily="-106" charset="-128"/>
                <a:cs typeface="ＭＳ Ｐゴシック" pitchFamily="-106" charset="-128"/>
              </a:rPr>
              <a:t>For I did not come to call the righteous, but sinners</a:t>
            </a:r>
            <a:r>
              <a:rPr lang="en-US" dirty="0">
                <a:ea typeface="ＭＳ Ｐゴシック" pitchFamily="-106" charset="-128"/>
                <a:cs typeface="ＭＳ Ｐゴシック" pitchFamily="-106" charset="-128"/>
              </a:rPr>
              <a:t>.”</a:t>
            </a:r>
          </a:p>
          <a:p>
            <a:pPr marL="342900" indent="-342900">
              <a:buFont typeface="Arial" panose="020B0604020202020204" pitchFamily="34" charset="0"/>
              <a:buChar char="•"/>
            </a:pPr>
            <a:r>
              <a:rPr lang="en-US" u="sng" dirty="0"/>
              <a:t>Mat 12:7</a:t>
            </a:r>
            <a:r>
              <a:rPr lang="en-US" dirty="0"/>
              <a:t>  “</a:t>
            </a:r>
            <a:r>
              <a:rPr lang="en-US" i="1" dirty="0"/>
              <a:t>If you had known what this means: </a:t>
            </a:r>
            <a:r>
              <a:rPr lang="en-US" dirty="0"/>
              <a:t>‘</a:t>
            </a:r>
            <a:r>
              <a:rPr lang="en-US" b="1" i="1" dirty="0"/>
              <a:t>I want mercy and not sacrifice</a:t>
            </a:r>
            <a:r>
              <a:rPr lang="en-US" dirty="0"/>
              <a:t>,’ </a:t>
            </a:r>
            <a:r>
              <a:rPr lang="en-US" i="1" dirty="0"/>
              <a:t>you would not have condemned the innocent.</a:t>
            </a:r>
            <a:r>
              <a:rPr lang="en-US" dirty="0"/>
              <a:t>”</a:t>
            </a:r>
          </a:p>
          <a:p>
            <a:endParaRPr lang="en-US" b="1" dirty="0">
              <a:ea typeface="ＭＳ Ｐゴシック" pitchFamily="-106" charset="-128"/>
              <a:cs typeface="ＭＳ Ｐゴシック" pitchFamily="-106" charset="-128"/>
            </a:endParaRPr>
          </a:p>
          <a:p>
            <a:r>
              <a:rPr lang="en-US" b="1" dirty="0">
                <a:ea typeface="ＭＳ Ｐゴシック" pitchFamily="-106" charset="-128"/>
                <a:cs typeface="ＭＳ Ｐゴシック" pitchFamily="-106" charset="-128"/>
              </a:rPr>
              <a:t>‘Mercy’ is translated from Hebrew ‘</a:t>
            </a:r>
            <a:r>
              <a:rPr lang="en-US" b="1" dirty="0"/>
              <a:t>ḥesed (חֶסֶד)’</a:t>
            </a:r>
          </a:p>
          <a:p>
            <a:pPr marL="285750" indent="-285750">
              <a:buFont typeface="Arial" panose="020B0604020202020204" pitchFamily="34" charset="0"/>
              <a:buChar char="•"/>
            </a:pPr>
            <a:r>
              <a:rPr lang="en-US" u="sng" dirty="0">
                <a:ea typeface="ＭＳ Ｐゴシック" pitchFamily="-106" charset="-128"/>
                <a:cs typeface="ＭＳ Ｐゴシック" pitchFamily="-106" charset="-128"/>
              </a:rPr>
              <a:t>Hosea 6:6</a:t>
            </a:r>
            <a:r>
              <a:rPr lang="en-US" b="1" dirty="0">
                <a:ea typeface="ＭＳ Ｐゴシック" pitchFamily="-106" charset="-128"/>
                <a:cs typeface="ＭＳ Ｐゴシック" pitchFamily="-106" charset="-128"/>
              </a:rPr>
              <a:t>  ‘</a:t>
            </a:r>
            <a:r>
              <a:rPr lang="en-US" i="1" dirty="0"/>
              <a:t>I desire </a:t>
            </a:r>
            <a:r>
              <a:rPr lang="en-US" b="1" i="1" dirty="0"/>
              <a:t>mercy</a:t>
            </a:r>
            <a:r>
              <a:rPr lang="en-US" i="1" dirty="0"/>
              <a:t> (Heb. ḥesed), not sacrifice</a:t>
            </a:r>
            <a:r>
              <a:rPr lang="en-US" dirty="0"/>
              <a:t>.’</a:t>
            </a:r>
          </a:p>
          <a:p>
            <a:pPr marL="285750" indent="-285750">
              <a:buFont typeface="Arial" panose="020B0604020202020204" pitchFamily="34" charset="0"/>
              <a:buChar char="•"/>
            </a:pPr>
            <a:r>
              <a:rPr lang="en-US" u="sng" dirty="0">
                <a:ea typeface="ＭＳ Ｐゴシック" pitchFamily="-106" charset="-128"/>
                <a:cs typeface="ＭＳ Ｐゴシック" pitchFamily="-106" charset="-128"/>
              </a:rPr>
              <a:t>Psalm 89:34-35</a:t>
            </a:r>
            <a:r>
              <a:rPr lang="en-US" b="1" dirty="0">
                <a:ea typeface="ＭＳ Ｐゴシック" pitchFamily="-106" charset="-128"/>
                <a:cs typeface="ＭＳ Ｐゴシック" pitchFamily="-106" charset="-128"/>
              </a:rPr>
              <a:t>  </a:t>
            </a:r>
            <a:r>
              <a:rPr lang="en-US" dirty="0">
                <a:ea typeface="ＭＳ Ｐゴシック" pitchFamily="-106" charset="-128"/>
                <a:cs typeface="ＭＳ Ｐゴシック" pitchFamily="-106" charset="-128"/>
              </a:rPr>
              <a:t>‘</a:t>
            </a:r>
            <a:r>
              <a:rPr lang="en-US" i="1" dirty="0">
                <a:ea typeface="ＭＳ Ｐゴシック" pitchFamily="-106" charset="-128"/>
                <a:cs typeface="ＭＳ Ｐゴシック" pitchFamily="-106" charset="-128"/>
              </a:rPr>
              <a:t>I will not break my </a:t>
            </a:r>
            <a:r>
              <a:rPr lang="en-US" b="1" i="1" dirty="0">
                <a:ea typeface="ＭＳ Ｐゴシック" pitchFamily="-106" charset="-128"/>
                <a:cs typeface="ＭＳ Ｐゴシック" pitchFamily="-106" charset="-128"/>
              </a:rPr>
              <a:t>covenant </a:t>
            </a:r>
            <a:r>
              <a:rPr lang="en-US" i="1" dirty="0">
                <a:ea typeface="ＭＳ Ｐゴシック" pitchFamily="-106" charset="-128"/>
                <a:cs typeface="ＭＳ Ｐゴシック" pitchFamily="-106" charset="-128"/>
              </a:rPr>
              <a:t>(Heb. hesed) or go back on what I promised.  Once and for all I have vowed by my own holiness…’</a:t>
            </a:r>
          </a:p>
          <a:p>
            <a:endParaRPr lang="en-US" dirty="0">
              <a:ea typeface="ＭＳ Ｐゴシック" pitchFamily="-106" charset="-128"/>
              <a:cs typeface="ＭＳ Ｐゴシック" pitchFamily="-106" charset="-128"/>
            </a:endParaRPr>
          </a:p>
          <a:p>
            <a:r>
              <a:rPr lang="en-US" b="1" dirty="0">
                <a:ea typeface="ＭＳ Ｐゴシック" pitchFamily="-106" charset="-128"/>
                <a:cs typeface="ＭＳ Ｐゴシック" pitchFamily="-106" charset="-128"/>
              </a:rPr>
              <a:t>What </a:t>
            </a:r>
            <a:r>
              <a:rPr lang="en-US" b="1" u="sng" dirty="0">
                <a:ea typeface="ＭＳ Ｐゴシック" pitchFamily="-106" charset="-128"/>
                <a:cs typeface="ＭＳ Ｐゴシック" pitchFamily="-106" charset="-128"/>
              </a:rPr>
              <a:t>hesed</a:t>
            </a:r>
            <a:r>
              <a:rPr lang="en-US" b="1" dirty="0">
                <a:ea typeface="ＭＳ Ｐゴシック" pitchFamily="-106" charset="-128"/>
                <a:cs typeface="ＭＳ Ｐゴシック" pitchFamily="-106" charset="-128"/>
              </a:rPr>
              <a:t> means (and why </a:t>
            </a:r>
            <a:r>
              <a:rPr lang="en-US" b="1" u="sng" dirty="0">
                <a:ea typeface="ＭＳ Ｐゴシック" pitchFamily="-106" charset="-128"/>
                <a:cs typeface="ＭＳ Ｐゴシック" pitchFamily="-106" charset="-128"/>
              </a:rPr>
              <a:t>covenant</a:t>
            </a:r>
            <a:r>
              <a:rPr lang="en-US" b="1" dirty="0">
                <a:ea typeface="ＭＳ Ｐゴシック" pitchFamily="-106" charset="-128"/>
                <a:cs typeface="ＭＳ Ｐゴシック" pitchFamily="-106" charset="-128"/>
              </a:rPr>
              <a:t> matters)</a:t>
            </a:r>
          </a:p>
          <a:p>
            <a:pPr marL="285750" indent="-285750">
              <a:buFont typeface="Arial" panose="020B0604020202020204" pitchFamily="34" charset="0"/>
              <a:buChar char="•"/>
            </a:pPr>
            <a:r>
              <a:rPr lang="en-US" dirty="0"/>
              <a:t>Core ideas: </a:t>
            </a:r>
            <a:r>
              <a:rPr lang="en-US" b="1" u="sng" dirty="0"/>
              <a:t>covenant loyalty, steadfast love, faithful mercy</a:t>
            </a:r>
            <a:r>
              <a:rPr lang="en-US" dirty="0"/>
              <a:t>. </a:t>
            </a:r>
            <a:r>
              <a:rPr lang="en-US" u="sng" dirty="0"/>
              <a:t>Love that </a:t>
            </a:r>
            <a:r>
              <a:rPr lang="en-US" i="1" u="sng" dirty="0"/>
              <a:t>acts</a:t>
            </a:r>
            <a:r>
              <a:rPr lang="en-US" u="sng" dirty="0"/>
              <a:t> to keep promises. It’s relational, oath-shaped, and other-seeking</a:t>
            </a:r>
            <a:r>
              <a:rPr lang="en-US" dirty="0"/>
              <a:t>.</a:t>
            </a:r>
          </a:p>
          <a:p>
            <a:pPr marL="285750" indent="-285750">
              <a:buFont typeface="Arial" panose="020B0604020202020204" pitchFamily="34" charset="0"/>
              <a:buChar char="•"/>
            </a:pPr>
            <a:r>
              <a:rPr lang="en-US" dirty="0"/>
              <a:t>Hesed is </a:t>
            </a:r>
            <a:r>
              <a:rPr lang="en-US" b="1" dirty="0"/>
              <a:t>covenant love-in-action</a:t>
            </a:r>
            <a:r>
              <a:rPr lang="en-US" dirty="0"/>
              <a:t>. It’s the </a:t>
            </a:r>
            <a:r>
              <a:rPr lang="en-US" i="1" dirty="0"/>
              <a:t>moral shape </a:t>
            </a:r>
            <a:r>
              <a:rPr lang="en-US" dirty="0"/>
              <a:t>of God’s promise-keeping.</a:t>
            </a:r>
          </a:p>
          <a:p>
            <a:pPr marL="285750" indent="-285750">
              <a:buFont typeface="Arial" panose="020B0604020202020204" pitchFamily="34" charset="0"/>
              <a:buChar char="•"/>
            </a:pPr>
            <a:r>
              <a:rPr lang="en-US" b="1" dirty="0"/>
              <a:t>Implication:</a:t>
            </a:r>
            <a:r>
              <a:rPr lang="en-US" dirty="0"/>
              <a:t> Jesus operationalizes ḥesed: </a:t>
            </a:r>
            <a:r>
              <a:rPr lang="en-US" i="1" dirty="0"/>
              <a:t>mercy &gt; sacrifice</a:t>
            </a:r>
            <a:r>
              <a:rPr lang="en-US" dirty="0"/>
              <a:t>; </a:t>
            </a:r>
            <a:r>
              <a:rPr lang="en-US" i="1" dirty="0"/>
              <a:t>greatness = servanthood</a:t>
            </a:r>
            <a:r>
              <a:rPr lang="en-US" dirty="0"/>
              <a:t>; </a:t>
            </a:r>
            <a:r>
              <a:rPr lang="en-US" i="1" dirty="0"/>
              <a:t>rule = self-giving love</a:t>
            </a:r>
            <a:r>
              <a:rPr lang="en-US" dirty="0"/>
              <a:t>.</a:t>
            </a:r>
          </a:p>
          <a:p>
            <a:pPr marL="285750" indent="-285750">
              <a:buFont typeface="Arial" panose="020B0604020202020204" pitchFamily="34" charset="0"/>
              <a:buChar char="•"/>
            </a:pPr>
            <a:r>
              <a:rPr lang="en-US" dirty="0"/>
              <a:t>Paul saturates his letters with </a:t>
            </a:r>
            <a:r>
              <a:rPr lang="en-US" b="1" dirty="0"/>
              <a:t>“one another”</a:t>
            </a:r>
            <a:r>
              <a:rPr lang="en-US" dirty="0"/>
              <a:t> commands (love, bear, forgive, submit). It’s the </a:t>
            </a:r>
            <a:r>
              <a:rPr lang="en-US" u="sng" dirty="0"/>
              <a:t>communal ethic of covenant loyalty</a:t>
            </a:r>
            <a:r>
              <a:rPr lang="en-US" dirty="0"/>
              <a:t> now formed “in Christ.”</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1841211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1000"/>
                                        <p:tgtEl>
                                          <p:spTgt spid="3">
                                            <p:txEl>
                                              <p:pRg st="8" end="8"/>
                                            </p:txEl>
                                          </p:spTgt>
                                        </p:tgtEl>
                                      </p:cBhvr>
                                    </p:animEffect>
                                    <p:anim calcmode="lin" valueType="num">
                                      <p:cBhvr>
                                        <p:cTn id="4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1000"/>
                                        <p:tgtEl>
                                          <p:spTgt spid="3">
                                            <p:txEl>
                                              <p:pRg st="9" end="9"/>
                                            </p:txEl>
                                          </p:spTgt>
                                        </p:tgtEl>
                                      </p:cBhvr>
                                    </p:animEffect>
                                    <p:anim calcmode="lin" valueType="num">
                                      <p:cBhvr>
                                        <p:cTn id="47"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Effect transition="in" filter="fade">
                                      <p:cBhvr>
                                        <p:cTn id="51" dur="1000"/>
                                        <p:tgtEl>
                                          <p:spTgt spid="3">
                                            <p:txEl>
                                              <p:pRg st="10" end="10"/>
                                            </p:txEl>
                                          </p:spTgt>
                                        </p:tgtEl>
                                      </p:cBhvr>
                                    </p:animEffect>
                                    <p:anim calcmode="lin" valueType="num">
                                      <p:cBhvr>
                                        <p:cTn id="52"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3">
                                            <p:txEl>
                                              <p:pRg st="11" end="11"/>
                                            </p:txEl>
                                          </p:spTgt>
                                        </p:tgtEl>
                                        <p:attrNameLst>
                                          <p:attrName>style.visibility</p:attrName>
                                        </p:attrNameLst>
                                      </p:cBhvr>
                                      <p:to>
                                        <p:strVal val="visible"/>
                                      </p:to>
                                    </p:set>
                                    <p:animEffect transition="in" filter="fade">
                                      <p:cBhvr>
                                        <p:cTn id="56" dur="1000"/>
                                        <p:tgtEl>
                                          <p:spTgt spid="3">
                                            <p:txEl>
                                              <p:pRg st="11" end="11"/>
                                            </p:txEl>
                                          </p:spTgt>
                                        </p:tgtEl>
                                      </p:cBhvr>
                                    </p:animEffect>
                                    <p:anim calcmode="lin" valueType="num">
                                      <p:cBhvr>
                                        <p:cTn id="5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animEffect transition="in" filter="fade">
                                      <p:cBhvr>
                                        <p:cTn id="61" dur="1000"/>
                                        <p:tgtEl>
                                          <p:spTgt spid="3">
                                            <p:txEl>
                                              <p:pRg st="12" end="12"/>
                                            </p:txEl>
                                          </p:spTgt>
                                        </p:tgtEl>
                                      </p:cBhvr>
                                    </p:animEffect>
                                    <p:anim calcmode="lin" valueType="num">
                                      <p:cBhvr>
                                        <p:cTn id="6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98DC7-F56A-56E5-0931-E85A81D14F7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F6B51BB-1A7E-ED37-07C8-68E73E5D96F7}"/>
              </a:ext>
            </a:extLst>
          </p:cNvPr>
          <p:cNvSpPr txBox="1">
            <a:spLocks/>
          </p:cNvSpPr>
          <p:nvPr/>
        </p:nvSpPr>
        <p:spPr bwMode="auto">
          <a:xfrm>
            <a:off x="192879" y="28992"/>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God’s Faithfulness Revealed in Jesus</a:t>
            </a:r>
            <a:br>
              <a:rPr lang="en-US" dirty="0"/>
            </a:br>
            <a:r>
              <a:rPr lang="en-US" sz="3400" dirty="0">
                <a:solidFill>
                  <a:schemeClr val="tx2">
                    <a:lumMod val="60000"/>
                    <a:lumOff val="40000"/>
                  </a:schemeClr>
                </a:solidFill>
              </a:rPr>
              <a:t>Proof of God’s steadfast love and faithfulness</a:t>
            </a:r>
            <a:endParaRPr lang="en-US" sz="3800" dirty="0">
              <a:solidFill>
                <a:schemeClr val="tx2">
                  <a:lumMod val="60000"/>
                  <a:lumOff val="40000"/>
                </a:schemeClr>
              </a:solidFill>
            </a:endParaRPr>
          </a:p>
        </p:txBody>
      </p:sp>
      <p:sp>
        <p:nvSpPr>
          <p:cNvPr id="3" name="TextBox 2">
            <a:extLst>
              <a:ext uri="{FF2B5EF4-FFF2-40B4-BE49-F238E27FC236}">
                <a16:creationId xmlns:a16="http://schemas.microsoft.com/office/drawing/2014/main" id="{1E791201-23DA-1C71-559B-BD5BEFC8E804}"/>
              </a:ext>
            </a:extLst>
          </p:cNvPr>
          <p:cNvSpPr txBox="1"/>
          <p:nvPr/>
        </p:nvSpPr>
        <p:spPr>
          <a:xfrm>
            <a:off x="192880" y="1111605"/>
            <a:ext cx="8677275" cy="1754326"/>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Jesus is the proof that God keeps His promises.</a:t>
            </a:r>
          </a:p>
          <a:p>
            <a:r>
              <a:rPr lang="en-US" b="1" i="1" dirty="0">
                <a:ea typeface="ＭＳ Ｐゴシック" pitchFamily="-106" charset="-128"/>
                <a:cs typeface="ＭＳ Ｐゴシック" pitchFamily="-106" charset="-128"/>
              </a:rPr>
              <a:t>2 Corinthians 1:20 </a:t>
            </a:r>
            <a:r>
              <a:rPr lang="en-US" i="1" dirty="0">
                <a:ea typeface="ＭＳ Ｐゴシック" pitchFamily="-106" charset="-128"/>
                <a:cs typeface="ＭＳ Ｐゴシック" pitchFamily="-106" charset="-128"/>
              </a:rPr>
              <a:t>- “For every one of God’s promises are ‘Yes’ in him.”</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God promised a Savior.</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God promised forgiveness.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God promised a new covenant.</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Jesus is the fulfillment of all three.</a:t>
            </a:r>
          </a:p>
        </p:txBody>
      </p:sp>
      <p:sp>
        <p:nvSpPr>
          <p:cNvPr id="2" name="TextBox 1">
            <a:extLst>
              <a:ext uri="{FF2B5EF4-FFF2-40B4-BE49-F238E27FC236}">
                <a16:creationId xmlns:a16="http://schemas.microsoft.com/office/drawing/2014/main" id="{6AA223D1-11EF-E372-85F7-812C5D4CCA29}"/>
              </a:ext>
            </a:extLst>
          </p:cNvPr>
          <p:cNvSpPr txBox="1"/>
          <p:nvPr/>
        </p:nvSpPr>
        <p:spPr>
          <a:xfrm>
            <a:off x="192880" y="2967335"/>
            <a:ext cx="8677275" cy="923330"/>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Jesus also shows the Father’s faithful heart.</a:t>
            </a:r>
          </a:p>
          <a:p>
            <a:r>
              <a:rPr lang="en-US" b="1" dirty="0">
                <a:ea typeface="ＭＳ Ｐゴシック" pitchFamily="-106" charset="-128"/>
                <a:cs typeface="ＭＳ Ｐゴシック" pitchFamily="-106" charset="-128"/>
              </a:rPr>
              <a:t>Hebrews 13:5 - </a:t>
            </a:r>
            <a:r>
              <a:rPr lang="en-US" i="1" dirty="0">
                <a:ea typeface="ＭＳ Ｐゴシック" pitchFamily="-106" charset="-128"/>
                <a:cs typeface="ＭＳ Ｐゴシック" pitchFamily="-106" charset="-128"/>
              </a:rPr>
              <a:t>“I will never leave you and I will never abandon you.”</a:t>
            </a:r>
          </a:p>
          <a:p>
            <a:r>
              <a:rPr lang="en-US" b="1" dirty="0">
                <a:ea typeface="ＭＳ Ｐゴシック" pitchFamily="-106" charset="-128"/>
                <a:cs typeface="ＭＳ Ｐゴシック" pitchFamily="-106" charset="-128"/>
              </a:rPr>
              <a:t>John 10:8 - </a:t>
            </a:r>
            <a:r>
              <a:rPr lang="en-US" dirty="0">
                <a:ea typeface="ＭＳ Ｐゴシック" pitchFamily="-106" charset="-128"/>
                <a:cs typeface="ＭＳ Ｐゴシック" pitchFamily="-106" charset="-128"/>
              </a:rPr>
              <a:t>Jesus says, </a:t>
            </a:r>
            <a:r>
              <a:rPr lang="en-US" i="1" dirty="0">
                <a:ea typeface="ＭＳ Ｐゴシック" pitchFamily="-106" charset="-128"/>
                <a:cs typeface="ＭＳ Ｐゴシック" pitchFamily="-106" charset="-128"/>
              </a:rPr>
              <a:t>“No one can snatch them from my hand.”</a:t>
            </a:r>
            <a:endParaRPr lang="en-US" b="1" i="1" dirty="0">
              <a:ea typeface="ＭＳ Ｐゴシック" pitchFamily="-106" charset="-128"/>
              <a:cs typeface="ＭＳ Ｐゴシック" pitchFamily="-106" charset="-128"/>
            </a:endParaRPr>
          </a:p>
        </p:txBody>
      </p:sp>
      <p:sp>
        <p:nvSpPr>
          <p:cNvPr id="4" name="TextBox 3">
            <a:extLst>
              <a:ext uri="{FF2B5EF4-FFF2-40B4-BE49-F238E27FC236}">
                <a16:creationId xmlns:a16="http://schemas.microsoft.com/office/drawing/2014/main" id="{D4EC0F0C-C52D-37D3-08D3-8FBC052AE236}"/>
              </a:ext>
            </a:extLst>
          </p:cNvPr>
          <p:cNvSpPr txBox="1"/>
          <p:nvPr/>
        </p:nvSpPr>
        <p:spPr>
          <a:xfrm>
            <a:off x="192879" y="4191000"/>
            <a:ext cx="8577262" cy="923330"/>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God’s faithfulness is seen first in Christ’s cross, and then in His resurrection.</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cross shows God keeps His promise to deal with sin.</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resurrection shows God keeps His promise to overcome death.</a:t>
            </a:r>
          </a:p>
        </p:txBody>
      </p:sp>
      <p:sp>
        <p:nvSpPr>
          <p:cNvPr id="6" name="TextBox 5">
            <a:extLst>
              <a:ext uri="{FF2B5EF4-FFF2-40B4-BE49-F238E27FC236}">
                <a16:creationId xmlns:a16="http://schemas.microsoft.com/office/drawing/2014/main" id="{3289DBFF-425F-F91C-B414-119E36B40570}"/>
              </a:ext>
            </a:extLst>
          </p:cNvPr>
          <p:cNvSpPr txBox="1"/>
          <p:nvPr/>
        </p:nvSpPr>
        <p:spPr>
          <a:xfrm>
            <a:off x="192879" y="5236516"/>
            <a:ext cx="8577262" cy="1200329"/>
          </a:xfrm>
          <a:prstGeom prst="rect">
            <a:avLst/>
          </a:prstGeom>
          <a:noFill/>
        </p:spPr>
        <p:txBody>
          <a:bodyPr wrap="square" rtlCol="0">
            <a:spAutoFit/>
          </a:bodyPr>
          <a:lstStyle/>
          <a:p>
            <a:r>
              <a:rPr lang="en-US" b="1" u="sng" dirty="0"/>
              <a:t>Contemplations…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How does historical hind-sight reveal Jesus as the culmination of God’s plan for humanity? </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How can we encourage one another to hold to God’s promises?</a:t>
            </a:r>
          </a:p>
        </p:txBody>
      </p:sp>
    </p:spTree>
    <p:extLst>
      <p:ext uri="{BB962C8B-B14F-4D97-AF65-F5344CB8AC3E}">
        <p14:creationId xmlns:p14="http://schemas.microsoft.com/office/powerpoint/2010/main" val="1064490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4B002-6563-C900-0ADE-34BA8A73E20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ECB58E4-385F-90FD-8F71-570107515FA2}"/>
              </a:ext>
            </a:extLst>
          </p:cNvPr>
          <p:cNvSpPr txBox="1">
            <a:spLocks/>
          </p:cNvSpPr>
          <p:nvPr/>
        </p:nvSpPr>
        <p:spPr bwMode="auto">
          <a:xfrm>
            <a:off x="228600" y="0"/>
            <a:ext cx="8382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t>The Book of Hebrews - Faithfulness</a:t>
            </a:r>
            <a:br>
              <a:rPr lang="en-US" dirty="0"/>
            </a:br>
            <a:r>
              <a:rPr lang="en-US" sz="2400" dirty="0">
                <a:solidFill>
                  <a:schemeClr val="tx2">
                    <a:lumMod val="60000"/>
                    <a:lumOff val="40000"/>
                  </a:schemeClr>
                </a:solidFill>
              </a:rPr>
              <a:t>Unveiling Connections between Covenants </a:t>
            </a:r>
          </a:p>
        </p:txBody>
      </p:sp>
      <p:sp>
        <p:nvSpPr>
          <p:cNvPr id="3" name="TextBox 2">
            <a:extLst>
              <a:ext uri="{FF2B5EF4-FFF2-40B4-BE49-F238E27FC236}">
                <a16:creationId xmlns:a16="http://schemas.microsoft.com/office/drawing/2014/main" id="{C10E074F-A21B-E54F-EE8E-E971A6F43193}"/>
              </a:ext>
            </a:extLst>
          </p:cNvPr>
          <p:cNvSpPr txBox="1"/>
          <p:nvPr/>
        </p:nvSpPr>
        <p:spPr>
          <a:xfrm>
            <a:off x="223684" y="914400"/>
            <a:ext cx="8534400" cy="1477328"/>
          </a:xfrm>
          <a:prstGeom prst="rect">
            <a:avLst/>
          </a:prstGeom>
          <a:noFill/>
        </p:spPr>
        <p:txBody>
          <a:bodyPr wrap="square" rtlCol="0">
            <a:spAutoFit/>
          </a:bodyPr>
          <a:lstStyle/>
          <a:p>
            <a:r>
              <a:rPr lang="en-US" b="1" dirty="0"/>
              <a:t>Abrahamic Covenant </a:t>
            </a:r>
            <a:r>
              <a:rPr lang="en-US" dirty="0"/>
              <a:t>→</a:t>
            </a:r>
            <a:r>
              <a:rPr lang="en-US" b="1" dirty="0"/>
              <a:t> Messiah, the Faithful Seed</a:t>
            </a:r>
            <a:endParaRPr lang="en-US" dirty="0"/>
          </a:p>
          <a:p>
            <a:pPr marL="285750" indent="-285750" fontAlgn="ctr">
              <a:buFont typeface="Arial" panose="020B0604020202020204" pitchFamily="34" charset="0"/>
              <a:buChar char="•"/>
            </a:pPr>
            <a:r>
              <a:rPr lang="en-US" dirty="0"/>
              <a:t>Abraham’s promise was righteousness through faith (</a:t>
            </a:r>
            <a:r>
              <a:rPr lang="en-US" b="1" dirty="0"/>
              <a:t>Genesis 15:6</a:t>
            </a:r>
            <a:r>
              <a:rPr lang="en-US" dirty="0"/>
              <a:t>).</a:t>
            </a:r>
          </a:p>
          <a:p>
            <a:pPr marL="285750" indent="-285750" fontAlgn="ctr">
              <a:buFont typeface="Arial" panose="020B0604020202020204" pitchFamily="34" charset="0"/>
              <a:buChar char="•"/>
            </a:pPr>
            <a:r>
              <a:rPr lang="en-US" b="1" dirty="0"/>
              <a:t>Hebrews 6:13-18</a:t>
            </a:r>
            <a:r>
              <a:rPr lang="en-US" dirty="0"/>
              <a:t> says God confirmed that oath by Himself, so it cannot fail.</a:t>
            </a:r>
          </a:p>
          <a:p>
            <a:pPr marL="285750" indent="-285750" fontAlgn="ctr">
              <a:buFont typeface="Arial" panose="020B0604020202020204" pitchFamily="34" charset="0"/>
              <a:buChar char="•"/>
            </a:pPr>
            <a:r>
              <a:rPr lang="en-US" dirty="0"/>
              <a:t>Jesus is the </a:t>
            </a:r>
            <a:r>
              <a:rPr lang="en-US" b="1" dirty="0"/>
              <a:t>guarantor</a:t>
            </a:r>
            <a:r>
              <a:rPr lang="en-US" dirty="0"/>
              <a:t> (</a:t>
            </a:r>
            <a:r>
              <a:rPr lang="en-US" b="1" dirty="0"/>
              <a:t>7:22</a:t>
            </a:r>
            <a:r>
              <a:rPr lang="en-US" dirty="0"/>
              <a:t>) - the living fulfillment of God’s unbreakable </a:t>
            </a:r>
            <a:r>
              <a:rPr lang="en-US" i="1" dirty="0"/>
              <a:t>ḥesed</a:t>
            </a:r>
            <a:r>
              <a:rPr lang="en-US" dirty="0"/>
              <a:t> oath.</a:t>
            </a:r>
          </a:p>
        </p:txBody>
      </p:sp>
      <p:sp>
        <p:nvSpPr>
          <p:cNvPr id="4" name="TextBox 3">
            <a:extLst>
              <a:ext uri="{FF2B5EF4-FFF2-40B4-BE49-F238E27FC236}">
                <a16:creationId xmlns:a16="http://schemas.microsoft.com/office/drawing/2014/main" id="{95CEF3C5-E4A3-BDF6-5E65-A1FA4389D2B2}"/>
              </a:ext>
            </a:extLst>
          </p:cNvPr>
          <p:cNvSpPr txBox="1"/>
          <p:nvPr/>
        </p:nvSpPr>
        <p:spPr>
          <a:xfrm>
            <a:off x="223684" y="4572000"/>
            <a:ext cx="8534400" cy="2031325"/>
          </a:xfrm>
          <a:prstGeom prst="rect">
            <a:avLst/>
          </a:prstGeom>
          <a:noFill/>
        </p:spPr>
        <p:txBody>
          <a:bodyPr wrap="square" rtlCol="0">
            <a:spAutoFit/>
          </a:bodyPr>
          <a:lstStyle/>
          <a:p>
            <a:r>
              <a:rPr lang="en-US" b="1" dirty="0"/>
              <a:t>Davidic Covenant </a:t>
            </a:r>
            <a:r>
              <a:rPr lang="en-US" dirty="0"/>
              <a:t>→</a:t>
            </a:r>
            <a:r>
              <a:rPr lang="en-US" b="1" dirty="0"/>
              <a:t> Messiah, the Eternal King</a:t>
            </a:r>
            <a:endParaRPr lang="en-US" dirty="0"/>
          </a:p>
          <a:p>
            <a:pPr marL="285750" indent="-285750" fontAlgn="ctr">
              <a:buFont typeface="Arial" panose="020B0604020202020204" pitchFamily="34" charset="0"/>
              <a:buChar char="•"/>
            </a:pPr>
            <a:r>
              <a:rPr lang="en-US" b="1" dirty="0"/>
              <a:t>Hebrews 1:8-9</a:t>
            </a:r>
            <a:r>
              <a:rPr lang="en-US" dirty="0"/>
              <a:t> applies </a:t>
            </a:r>
            <a:r>
              <a:rPr lang="en-US" b="1" dirty="0"/>
              <a:t>Psalm 45</a:t>
            </a:r>
            <a:r>
              <a:rPr lang="en-US" dirty="0"/>
              <a:t> to the son: </a:t>
            </a:r>
            <a:r>
              <a:rPr lang="en-US" i="1" dirty="0"/>
              <a:t>“Your throne, O God, is forever and ever… you have loved righteousness and hated lawlessness.”</a:t>
            </a:r>
          </a:p>
          <a:p>
            <a:pPr marL="285750" indent="-285750" fontAlgn="ctr">
              <a:buFont typeface="Arial" panose="020B0604020202020204" pitchFamily="34" charset="0"/>
              <a:buChar char="•"/>
            </a:pPr>
            <a:r>
              <a:rPr lang="en-US" dirty="0"/>
              <a:t>Jesus reigns as king </a:t>
            </a:r>
            <a:r>
              <a:rPr lang="en-US" i="1" u="sng" dirty="0"/>
              <a:t>and</a:t>
            </a:r>
            <a:r>
              <a:rPr lang="en-US" dirty="0"/>
              <a:t> priest - a combination no Israelite king ever could hold under the Mosaic Law.</a:t>
            </a:r>
          </a:p>
          <a:p>
            <a:pPr marL="285750" indent="-285750" fontAlgn="ctr">
              <a:buFont typeface="Arial" panose="020B0604020202020204" pitchFamily="34" charset="0"/>
              <a:buChar char="•"/>
            </a:pPr>
            <a:r>
              <a:rPr lang="en-US" u="sng" dirty="0"/>
              <a:t>This unites the covenant strands</a:t>
            </a:r>
            <a:r>
              <a:rPr lang="en-US" dirty="0"/>
              <a:t>: a faithful Davidic king, a righteous high priest, and a better covenant built on better promises (</a:t>
            </a:r>
            <a:r>
              <a:rPr lang="en-US" b="1" dirty="0"/>
              <a:t>8:6</a:t>
            </a:r>
            <a:r>
              <a:rPr lang="en-US" dirty="0"/>
              <a:t>).</a:t>
            </a:r>
          </a:p>
        </p:txBody>
      </p:sp>
      <p:sp>
        <p:nvSpPr>
          <p:cNvPr id="6" name="TextBox 5">
            <a:extLst>
              <a:ext uri="{FF2B5EF4-FFF2-40B4-BE49-F238E27FC236}">
                <a16:creationId xmlns:a16="http://schemas.microsoft.com/office/drawing/2014/main" id="{08D351D0-4DBF-FE0A-618D-3D23BB9BB66F}"/>
              </a:ext>
            </a:extLst>
          </p:cNvPr>
          <p:cNvSpPr txBox="1"/>
          <p:nvPr/>
        </p:nvSpPr>
        <p:spPr>
          <a:xfrm>
            <a:off x="223684" y="2466202"/>
            <a:ext cx="8534400" cy="2031325"/>
          </a:xfrm>
          <a:prstGeom prst="rect">
            <a:avLst/>
          </a:prstGeom>
          <a:noFill/>
        </p:spPr>
        <p:txBody>
          <a:bodyPr wrap="square" rtlCol="0">
            <a:spAutoFit/>
          </a:bodyPr>
          <a:lstStyle/>
          <a:p>
            <a:r>
              <a:rPr lang="en-US" b="1" dirty="0"/>
              <a:t>Mosaic Covenant </a:t>
            </a:r>
            <a:r>
              <a:rPr lang="en-US" dirty="0"/>
              <a:t>→</a:t>
            </a:r>
            <a:r>
              <a:rPr lang="en-US" b="1" dirty="0"/>
              <a:t> Messiah, the Perfect Mediator</a:t>
            </a:r>
            <a:endParaRPr lang="en-US" dirty="0"/>
          </a:p>
          <a:p>
            <a:pPr marL="285750" indent="-285750" fontAlgn="ctr">
              <a:buFont typeface="Arial" panose="020B0604020202020204" pitchFamily="34" charset="0"/>
              <a:buChar char="•"/>
            </a:pPr>
            <a:r>
              <a:rPr lang="en-US" dirty="0"/>
              <a:t>The law exposed sin but could not change the heart (</a:t>
            </a:r>
            <a:r>
              <a:rPr lang="en-US" b="1" dirty="0"/>
              <a:t>Hebrews 10:1-4</a:t>
            </a:r>
            <a:r>
              <a:rPr lang="en-US" dirty="0"/>
              <a:t>).</a:t>
            </a:r>
          </a:p>
          <a:p>
            <a:pPr marL="285750" indent="-285750" fontAlgn="ctr">
              <a:buFont typeface="Arial" panose="020B0604020202020204" pitchFamily="34" charset="0"/>
              <a:buChar char="•"/>
            </a:pPr>
            <a:r>
              <a:rPr lang="en-US" dirty="0"/>
              <a:t>Jesus fulfills it by offering His own blood, accomplishing inward cleansing (</a:t>
            </a:r>
            <a:r>
              <a:rPr lang="en-US" b="1" dirty="0"/>
              <a:t>9:14-15</a:t>
            </a:r>
            <a:r>
              <a:rPr lang="en-US" dirty="0"/>
              <a:t>).</a:t>
            </a:r>
          </a:p>
          <a:p>
            <a:pPr marL="285750" indent="-285750" fontAlgn="ctr">
              <a:buFont typeface="Arial" panose="020B0604020202020204" pitchFamily="34" charset="0"/>
              <a:buChar char="•"/>
            </a:pPr>
            <a:r>
              <a:rPr lang="en-US" dirty="0"/>
              <a:t>His priesthood is after </a:t>
            </a:r>
            <a:r>
              <a:rPr lang="en-US" b="1" dirty="0"/>
              <a:t>Melchizedek</a:t>
            </a:r>
            <a:r>
              <a:rPr lang="en-US" dirty="0"/>
              <a:t> - eternal, righteous, and merciful (</a:t>
            </a:r>
            <a:r>
              <a:rPr lang="en-US" b="1" dirty="0"/>
              <a:t>7:23-27</a:t>
            </a:r>
            <a:r>
              <a:rPr lang="en-US" dirty="0"/>
              <a:t>).</a:t>
            </a:r>
          </a:p>
          <a:p>
            <a:pPr marL="285750" indent="-285750" fontAlgn="ctr">
              <a:buFont typeface="Arial" panose="020B0604020202020204" pitchFamily="34" charset="0"/>
              <a:buChar char="•"/>
            </a:pPr>
            <a:r>
              <a:rPr lang="en-US" dirty="0"/>
              <a:t>“</a:t>
            </a:r>
            <a:r>
              <a:rPr lang="en-US" i="1" dirty="0"/>
              <a:t>He is able to save completely those who come to God through him, because he always lives to intercede for them</a:t>
            </a:r>
            <a:r>
              <a:rPr lang="en-US" dirty="0"/>
              <a:t>.” (</a:t>
            </a:r>
            <a:r>
              <a:rPr lang="en-US" b="1" dirty="0"/>
              <a:t>7:25</a:t>
            </a:r>
            <a:r>
              <a:rPr lang="en-US" dirty="0"/>
              <a:t>)</a:t>
            </a:r>
          </a:p>
        </p:txBody>
      </p:sp>
    </p:spTree>
    <p:extLst>
      <p:ext uri="{BB962C8B-B14F-4D97-AF65-F5344CB8AC3E}">
        <p14:creationId xmlns:p14="http://schemas.microsoft.com/office/powerpoint/2010/main" val="3376043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54691-E1C4-0B84-FC4F-B80A41A6DF1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496A5EB-624C-4092-8424-BE60C307F3BC}"/>
              </a:ext>
            </a:extLst>
          </p:cNvPr>
          <p:cNvSpPr txBox="1">
            <a:spLocks/>
          </p:cNvSpPr>
          <p:nvPr/>
        </p:nvSpPr>
        <p:spPr bwMode="auto">
          <a:xfrm>
            <a:off x="192879" y="28992"/>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God’s Faithfulness and the New Covenant</a:t>
            </a:r>
            <a:br>
              <a:rPr lang="en-US" dirty="0"/>
            </a:br>
            <a:r>
              <a:rPr lang="en-US" sz="3400" dirty="0">
                <a:solidFill>
                  <a:schemeClr val="tx2">
                    <a:lumMod val="60000"/>
                    <a:lumOff val="40000"/>
                  </a:schemeClr>
                </a:solidFill>
              </a:rPr>
              <a:t>He finishes what He starts</a:t>
            </a:r>
            <a:endParaRPr lang="en-US" sz="3800" dirty="0">
              <a:solidFill>
                <a:schemeClr val="tx2">
                  <a:lumMod val="60000"/>
                  <a:lumOff val="40000"/>
                </a:schemeClr>
              </a:solidFill>
            </a:endParaRPr>
          </a:p>
        </p:txBody>
      </p:sp>
      <p:sp>
        <p:nvSpPr>
          <p:cNvPr id="3" name="TextBox 2">
            <a:extLst>
              <a:ext uri="{FF2B5EF4-FFF2-40B4-BE49-F238E27FC236}">
                <a16:creationId xmlns:a16="http://schemas.microsoft.com/office/drawing/2014/main" id="{BD6A5990-4C55-27EE-A29F-24D1E5DAD644}"/>
              </a:ext>
            </a:extLst>
          </p:cNvPr>
          <p:cNvSpPr txBox="1"/>
          <p:nvPr/>
        </p:nvSpPr>
        <p:spPr>
          <a:xfrm>
            <a:off x="192880" y="1019592"/>
            <a:ext cx="8677275" cy="1200329"/>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The promise of faithfulness is rooted in the New Covenant.</a:t>
            </a:r>
            <a:endParaRPr lang="en-US" b="1" i="1" u="sng" dirty="0">
              <a:ea typeface="ＭＳ Ｐゴシック" pitchFamily="-106" charset="-128"/>
              <a:cs typeface="ＭＳ Ｐゴシック" pitchFamily="-106" charset="-128"/>
            </a:endParaRPr>
          </a:p>
          <a:p>
            <a:r>
              <a:rPr lang="en-US" b="1" dirty="0">
                <a:ea typeface="ＭＳ Ｐゴシック" pitchFamily="-106" charset="-128"/>
                <a:cs typeface="ＭＳ Ｐゴシック" pitchFamily="-106" charset="-128"/>
              </a:rPr>
              <a:t>Jeremiah 31:33-34 - </a:t>
            </a:r>
            <a:r>
              <a:rPr lang="en-US" i="1" dirty="0">
                <a:ea typeface="ＭＳ Ｐゴシック" pitchFamily="-106" charset="-128"/>
                <a:cs typeface="ＭＳ Ｐゴシック" pitchFamily="-106" charset="-128"/>
              </a:rPr>
              <a:t>“I will put my law within them.  I will forgive their sin, and I will no longer call to mind the wrong they have done.”</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faithfulness of God guarantees both forgiveness and inner renewal.</a:t>
            </a:r>
          </a:p>
        </p:txBody>
      </p:sp>
      <p:sp>
        <p:nvSpPr>
          <p:cNvPr id="2" name="TextBox 1">
            <a:extLst>
              <a:ext uri="{FF2B5EF4-FFF2-40B4-BE49-F238E27FC236}">
                <a16:creationId xmlns:a16="http://schemas.microsoft.com/office/drawing/2014/main" id="{9444D08B-A41A-8453-B161-D6207F9E2064}"/>
              </a:ext>
            </a:extLst>
          </p:cNvPr>
          <p:cNvSpPr txBox="1"/>
          <p:nvPr/>
        </p:nvSpPr>
        <p:spPr>
          <a:xfrm>
            <a:off x="192880" y="2425809"/>
            <a:ext cx="8677275" cy="1200329"/>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The Apostles taught the same…</a:t>
            </a:r>
          </a:p>
          <a:p>
            <a:r>
              <a:rPr lang="en-US" b="1" dirty="0">
                <a:ea typeface="ＭＳ Ｐゴシック" pitchFamily="-106" charset="-128"/>
                <a:cs typeface="ＭＳ Ｐゴシック" pitchFamily="-106" charset="-128"/>
              </a:rPr>
              <a:t>Philippians 1:6 – </a:t>
            </a:r>
            <a:r>
              <a:rPr lang="en-US" i="1" dirty="0">
                <a:ea typeface="ＭＳ Ｐゴシック" pitchFamily="-106" charset="-128"/>
                <a:cs typeface="ＭＳ Ｐゴシック" pitchFamily="-106" charset="-128"/>
              </a:rPr>
              <a:t>”He who began a god work in you will perfect it.”</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This means God finishes what He starts.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He does not abandon His people halfway.</a:t>
            </a:r>
          </a:p>
        </p:txBody>
      </p:sp>
      <p:sp>
        <p:nvSpPr>
          <p:cNvPr id="4" name="TextBox 3">
            <a:extLst>
              <a:ext uri="{FF2B5EF4-FFF2-40B4-BE49-F238E27FC236}">
                <a16:creationId xmlns:a16="http://schemas.microsoft.com/office/drawing/2014/main" id="{811A6ECD-97D9-5CDC-AECD-7AE1556E228E}"/>
              </a:ext>
            </a:extLst>
          </p:cNvPr>
          <p:cNvSpPr txBox="1"/>
          <p:nvPr/>
        </p:nvSpPr>
        <p:spPr>
          <a:xfrm>
            <a:off x="242886" y="3832026"/>
            <a:ext cx="8577262" cy="1200329"/>
          </a:xfrm>
          <a:prstGeom prst="rect">
            <a:avLst/>
          </a:prstGeom>
          <a:noFill/>
        </p:spPr>
        <p:txBody>
          <a:bodyPr wrap="square" rtlCol="0">
            <a:spAutoFit/>
          </a:bodyPr>
          <a:lstStyle/>
          <a:p>
            <a:r>
              <a:rPr lang="en-US" b="1" u="sng" dirty="0"/>
              <a:t>God commands.  God promises.  God fulfills.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His faithfulness bridges His Word and our lives.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His faithfulness shows up in baptism, the Spirit’s work, the work of the church.</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God’s faithfulness is the reason the church endures.</a:t>
            </a:r>
          </a:p>
        </p:txBody>
      </p:sp>
      <p:sp>
        <p:nvSpPr>
          <p:cNvPr id="6" name="TextBox 5">
            <a:extLst>
              <a:ext uri="{FF2B5EF4-FFF2-40B4-BE49-F238E27FC236}">
                <a16:creationId xmlns:a16="http://schemas.microsoft.com/office/drawing/2014/main" id="{A70BD446-C5D9-BF18-2978-24EB351E8B4B}"/>
              </a:ext>
            </a:extLst>
          </p:cNvPr>
          <p:cNvSpPr txBox="1"/>
          <p:nvPr/>
        </p:nvSpPr>
        <p:spPr>
          <a:xfrm>
            <a:off x="208250" y="5238243"/>
            <a:ext cx="8577262" cy="1200329"/>
          </a:xfrm>
          <a:prstGeom prst="rect">
            <a:avLst/>
          </a:prstGeom>
          <a:noFill/>
        </p:spPr>
        <p:txBody>
          <a:bodyPr wrap="square" rtlCol="0">
            <a:spAutoFit/>
          </a:bodyPr>
          <a:lstStyle/>
          <a:p>
            <a:r>
              <a:rPr lang="en-US" b="1" u="sng" dirty="0"/>
              <a:t>Contemplations…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How does God’s faithfulness give you confidence in your walk with Him?</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What changes when you believe that God finishes what He starts?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How might God’s faithfulness be obscured or doubted by Christians?</a:t>
            </a:r>
          </a:p>
        </p:txBody>
      </p:sp>
    </p:spTree>
    <p:extLst>
      <p:ext uri="{BB962C8B-B14F-4D97-AF65-F5344CB8AC3E}">
        <p14:creationId xmlns:p14="http://schemas.microsoft.com/office/powerpoint/2010/main" val="4190986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E757-7FFF-8BBC-B6EB-ADAE99A676C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153D0D7-DB45-9138-03D5-4D03A2EAEC69}"/>
              </a:ext>
            </a:extLst>
          </p:cNvPr>
          <p:cNvSpPr txBox="1">
            <a:spLocks/>
          </p:cNvSpPr>
          <p:nvPr/>
        </p:nvSpPr>
        <p:spPr bwMode="auto">
          <a:xfrm>
            <a:off x="192879" y="28992"/>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God’s Faithfulness in Life of Disciples</a:t>
            </a:r>
            <a:br>
              <a:rPr lang="en-US" dirty="0"/>
            </a:br>
            <a:r>
              <a:rPr lang="en-US" sz="3400" dirty="0">
                <a:solidFill>
                  <a:schemeClr val="tx2">
                    <a:lumMod val="60000"/>
                    <a:lumOff val="40000"/>
                  </a:schemeClr>
                </a:solidFill>
              </a:rPr>
              <a:t>Gives the Believer confidence</a:t>
            </a:r>
            <a:endParaRPr lang="en-US" sz="3800" dirty="0">
              <a:solidFill>
                <a:schemeClr val="tx2">
                  <a:lumMod val="60000"/>
                  <a:lumOff val="40000"/>
                </a:schemeClr>
              </a:solidFill>
            </a:endParaRPr>
          </a:p>
        </p:txBody>
      </p:sp>
      <p:sp>
        <p:nvSpPr>
          <p:cNvPr id="3" name="TextBox 2">
            <a:extLst>
              <a:ext uri="{FF2B5EF4-FFF2-40B4-BE49-F238E27FC236}">
                <a16:creationId xmlns:a16="http://schemas.microsoft.com/office/drawing/2014/main" id="{B3250C9A-B016-89D4-44F0-FF150D575BC6}"/>
              </a:ext>
            </a:extLst>
          </p:cNvPr>
          <p:cNvSpPr txBox="1"/>
          <p:nvPr/>
        </p:nvSpPr>
        <p:spPr>
          <a:xfrm>
            <a:off x="206734" y="1067631"/>
            <a:ext cx="8677275" cy="923330"/>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God strengthens us…</a:t>
            </a:r>
          </a:p>
          <a:p>
            <a:r>
              <a:rPr lang="en-US" b="1" i="1" dirty="0">
                <a:ea typeface="ＭＳ Ｐゴシック" pitchFamily="-106" charset="-128"/>
                <a:cs typeface="ＭＳ Ｐゴシック" pitchFamily="-106" charset="-128"/>
              </a:rPr>
              <a:t>2 Thessalonians 3:3 - </a:t>
            </a:r>
            <a:r>
              <a:rPr lang="en-US" i="1" dirty="0">
                <a:ea typeface="ＭＳ Ｐゴシック" pitchFamily="-106" charset="-128"/>
                <a:cs typeface="ＭＳ Ｐゴシック" pitchFamily="-106" charset="-128"/>
              </a:rPr>
              <a:t>“The Lord is faithful, and he will strengthen you and protect you from the evil one.”</a:t>
            </a:r>
          </a:p>
        </p:txBody>
      </p:sp>
      <p:sp>
        <p:nvSpPr>
          <p:cNvPr id="2" name="TextBox 1">
            <a:extLst>
              <a:ext uri="{FF2B5EF4-FFF2-40B4-BE49-F238E27FC236}">
                <a16:creationId xmlns:a16="http://schemas.microsoft.com/office/drawing/2014/main" id="{055AB743-6309-288D-6646-39D09AE7A0B2}"/>
              </a:ext>
            </a:extLst>
          </p:cNvPr>
          <p:cNvSpPr txBox="1"/>
          <p:nvPr/>
        </p:nvSpPr>
        <p:spPr>
          <a:xfrm>
            <a:off x="206734" y="2089315"/>
            <a:ext cx="8677275" cy="646331"/>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God forgives us…</a:t>
            </a:r>
          </a:p>
          <a:p>
            <a:r>
              <a:rPr lang="en-US" b="1" dirty="0">
                <a:ea typeface="ＭＳ Ｐゴシック" pitchFamily="-106" charset="-128"/>
                <a:cs typeface="ＭＳ Ｐゴシック" pitchFamily="-106" charset="-128"/>
              </a:rPr>
              <a:t>1 John 1:9 - </a:t>
            </a:r>
            <a:r>
              <a:rPr lang="en-US" i="1" dirty="0">
                <a:ea typeface="ＭＳ Ｐゴシック" pitchFamily="-106" charset="-128"/>
                <a:cs typeface="ＭＳ Ｐゴシック" pitchFamily="-106" charset="-128"/>
              </a:rPr>
              <a:t>“He is faithful and righteous, forgiving us our sins.”</a:t>
            </a:r>
          </a:p>
        </p:txBody>
      </p:sp>
      <p:sp>
        <p:nvSpPr>
          <p:cNvPr id="4" name="TextBox 3">
            <a:extLst>
              <a:ext uri="{FF2B5EF4-FFF2-40B4-BE49-F238E27FC236}">
                <a16:creationId xmlns:a16="http://schemas.microsoft.com/office/drawing/2014/main" id="{9057D96B-12E8-8E67-3F08-31ADECE89253}"/>
              </a:ext>
            </a:extLst>
          </p:cNvPr>
          <p:cNvSpPr txBox="1"/>
          <p:nvPr/>
        </p:nvSpPr>
        <p:spPr>
          <a:xfrm>
            <a:off x="192879" y="2834000"/>
            <a:ext cx="8577262" cy="923330"/>
          </a:xfrm>
          <a:prstGeom prst="rect">
            <a:avLst/>
          </a:prstGeom>
          <a:noFill/>
        </p:spPr>
        <p:txBody>
          <a:bodyPr wrap="square" rtlCol="0">
            <a:spAutoFit/>
          </a:bodyPr>
          <a:lstStyle/>
          <a:p>
            <a:r>
              <a:rPr lang="en-US" b="1" u="sng" dirty="0"/>
              <a:t>God keeps us…</a:t>
            </a:r>
          </a:p>
          <a:p>
            <a:r>
              <a:rPr lang="en-US" b="1" dirty="0">
                <a:ea typeface="ＭＳ Ｐゴシック" pitchFamily="-106" charset="-128"/>
                <a:cs typeface="ＭＳ Ｐゴシック" pitchFamily="-106" charset="-128"/>
              </a:rPr>
              <a:t>1 Peter 1:5 - </a:t>
            </a:r>
            <a:r>
              <a:rPr lang="en-US" i="1" dirty="0">
                <a:ea typeface="ＭＳ Ｐゴシック" pitchFamily="-106" charset="-128"/>
                <a:cs typeface="ＭＳ Ｐゴシック" pitchFamily="-106" charset="-128"/>
              </a:rPr>
              <a:t>“By God’s power you are protected through faith for a salvation ready to be revealed.”</a:t>
            </a:r>
            <a:endParaRPr lang="en-US" dirty="0">
              <a:ea typeface="ＭＳ Ｐゴシック" pitchFamily="-106" charset="-128"/>
              <a:cs typeface="ＭＳ Ｐゴシック" pitchFamily="-106" charset="-128"/>
            </a:endParaRPr>
          </a:p>
        </p:txBody>
      </p:sp>
      <p:sp>
        <p:nvSpPr>
          <p:cNvPr id="6" name="TextBox 5">
            <a:extLst>
              <a:ext uri="{FF2B5EF4-FFF2-40B4-BE49-F238E27FC236}">
                <a16:creationId xmlns:a16="http://schemas.microsoft.com/office/drawing/2014/main" id="{D6CDF7A8-B3D3-63BA-E507-D0F01DA8D798}"/>
              </a:ext>
            </a:extLst>
          </p:cNvPr>
          <p:cNvSpPr txBox="1"/>
          <p:nvPr/>
        </p:nvSpPr>
        <p:spPr>
          <a:xfrm>
            <a:off x="192879" y="3855684"/>
            <a:ext cx="8577262" cy="1200329"/>
          </a:xfrm>
          <a:prstGeom prst="rect">
            <a:avLst/>
          </a:prstGeom>
          <a:noFill/>
        </p:spPr>
        <p:txBody>
          <a:bodyPr wrap="square" rtlCol="0">
            <a:spAutoFit/>
          </a:bodyPr>
          <a:lstStyle/>
          <a:p>
            <a:r>
              <a:rPr lang="en-US" b="1" u="sng" dirty="0"/>
              <a:t>God stays steady even when we fail…</a:t>
            </a:r>
          </a:p>
          <a:p>
            <a:r>
              <a:rPr lang="en-US" b="1" dirty="0">
                <a:ea typeface="ＭＳ Ｐゴシック" pitchFamily="-106" charset="-128"/>
                <a:cs typeface="ＭＳ Ｐゴシック" pitchFamily="-106" charset="-128"/>
              </a:rPr>
              <a:t>2 Timothy 2:13 - </a:t>
            </a:r>
            <a:r>
              <a:rPr lang="en-US" i="1" dirty="0">
                <a:ea typeface="ＭＳ Ｐゴシック" pitchFamily="-106" charset="-128"/>
                <a:cs typeface="ＭＳ Ｐゴシック" pitchFamily="-106" charset="-128"/>
              </a:rPr>
              <a:t>“If we are unfaithful, he remains faithful.”</a:t>
            </a:r>
          </a:p>
          <a:p>
            <a:r>
              <a:rPr lang="en-US" b="1" dirty="0">
                <a:ea typeface="ＭＳ Ｐゴシック" pitchFamily="-106" charset="-128"/>
                <a:cs typeface="ＭＳ Ｐゴシック" pitchFamily="-106" charset="-128"/>
              </a:rPr>
              <a:t>Philippians 1:6 - </a:t>
            </a:r>
            <a:r>
              <a:rPr lang="en-US" i="1" dirty="0">
                <a:ea typeface="ＭＳ Ｐゴシック" pitchFamily="-106" charset="-128"/>
                <a:cs typeface="ＭＳ Ｐゴシック" pitchFamily="-106" charset="-128"/>
              </a:rPr>
              <a:t>“For I am sure of this very thing, that the one who began a good work in you will perfect it until the day of Christ Jesus.”</a:t>
            </a:r>
          </a:p>
        </p:txBody>
      </p:sp>
      <p:sp>
        <p:nvSpPr>
          <p:cNvPr id="7" name="TextBox 6">
            <a:extLst>
              <a:ext uri="{FF2B5EF4-FFF2-40B4-BE49-F238E27FC236}">
                <a16:creationId xmlns:a16="http://schemas.microsoft.com/office/drawing/2014/main" id="{CC81DFB8-57C1-2E22-DBB3-E2909A27F51F}"/>
              </a:ext>
            </a:extLst>
          </p:cNvPr>
          <p:cNvSpPr txBox="1"/>
          <p:nvPr/>
        </p:nvSpPr>
        <p:spPr>
          <a:xfrm>
            <a:off x="206734" y="5154369"/>
            <a:ext cx="8577262" cy="1477328"/>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Contemplations…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God’s faithfulness does not excuse sin.</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But it does remind us that God does not quit on His people.</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He keeps working, correcting, restoring, and shaping us.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How might people misinterpret God’s faithfulness in theological understanding?</a:t>
            </a:r>
          </a:p>
        </p:txBody>
      </p:sp>
    </p:spTree>
    <p:extLst>
      <p:ext uri="{BB962C8B-B14F-4D97-AF65-F5344CB8AC3E}">
        <p14:creationId xmlns:p14="http://schemas.microsoft.com/office/powerpoint/2010/main" val="3786877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P spid="6" grpId="0"/>
      <p:bldP spid="7"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PPT_Template_2010SummerSchool</Template>
  <TotalTime>42783</TotalTime>
  <Words>3386</Words>
  <Application>Microsoft Macintosh PowerPoint</Application>
  <PresentationFormat>On-screen Show (4:3)</PresentationFormat>
  <Paragraphs>217</Paragraphs>
  <Slides>7</Slides>
  <Notes>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vt:i4>
      </vt:variant>
    </vt:vector>
  </HeadingPairs>
  <TitlesOfParts>
    <vt:vector size="13" baseType="lpstr">
      <vt:lpstr>ＭＳ Ｐゴシック</vt:lpstr>
      <vt:lpstr>Arial</vt:lpstr>
      <vt:lpstr>Arial Narrow</vt:lpstr>
      <vt:lpstr>Calibri</vt:lpstr>
      <vt:lpstr>PPT_Template_2010SummerSchool</vt:lpstr>
      <vt:lpstr>1_UPCRC_Powerpoint_Template_with I-Mark</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1412</cp:revision>
  <cp:lastPrinted>2025-12-08T17:37:56Z</cp:lastPrinted>
  <dcterms:created xsi:type="dcterms:W3CDTF">2010-06-16T02:58:04Z</dcterms:created>
  <dcterms:modified xsi:type="dcterms:W3CDTF">2026-06-12T14:06:24Z</dcterms:modified>
</cp:coreProperties>
</file>