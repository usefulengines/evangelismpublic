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[0:00] TONE-SET — crucial for the next two weeks. Say it plainly: “We now enter genuinely contested ground. Faithful Christians who love the same Bible disagree here. We will do exactly what this course has trained: eager AND examining. Test me against the text. Today is not even about roles yet — it is one prior question: where does teaching authority COME FROM? Answer that, and next week’s harder question gets much clearer.” Recall Week 5’s permission to test the teacher — invoke it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[0:00–10:00]
[CLICK] The prior question — conferred vs generated. This is the whole lecture in one distinction. Make sure it lands before the table.
[CLICK] The table (appears whole). Walk it: each movement relocates authority to something INSIDE the person or the moment — revelation, light, fruit, trajectory. The RIGHT column shows they’re all the same move despite different centuries and vocabularies. Be FAIR: name that some were sincere believers; we’re analyzing the structure, not smearing people.
[CLICK] The pattern named — one move, four costumes. Authority pulled from conferral to self-generation.
[CLICK] The Week-3 callback — sincerity was never the test; LOCATION is. Where does Scripture say authority comes from? That’s the only question. Transition: “Paul answers it — in the very passage people cite for spiritual gifts.”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[10:00–22:00]
[CLICK] Set the context — this is NOT an anti-gifts grump; it’s inside the great gifts passage. That placement is the whole argument.
[CLICK] Read 14:37–38 slowly. “What I write to you is the Lord’s COMMAND.” Apostolic writing outranks spiritual self-assessment.
[CLICK] The move: Paul names the TWO best credentials (prophet, spiritual) and puts both under his written word. Crucially — he affirms their gifts are real; he denies gifts settle ORDER. Gift ≠ office. This is the distinction the early church kept (next slide).
[CLICK] v.38 sanction + application. Every generated-authority claim hits this wall, and it’s located in the gifts chapter, not some anti-charismatic corner. Land: gifting is for all; authority is conferred. Transition: “So how IS it conferred? Paul shows a chain.”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[22:00–34:00]
[CLICK] The four texts — the chain. Appointed (not self-made), traditions handed on, entrusted to teach others, once-for-all deposit. Note 2 Tim 2:2 especially: it’s a RELAY (Paul→Timothy→faithful→others) — authority travels by handoff.
[CLICK] Deposit→handoff vs. discovery — a relay, not a spring. You don’t generate the baton; you receive and pass it.
[CLICK] The early-church question. Origen and Hippolytus BOTH separate gift from office — they concede the gift and still locate authority in appointment/function. Be careful &amp; fair: these are historical witnesses to how the sub-apostolic church read this, not proof texts themselves; cite them as evidence of early practice.
[CLICK] Tie to Rom 1:5 — receiving the apostolic word IS the obedience of faith. Transition: “One big objection remains — the trajectory argument. Let’s meet it honestly.”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[34:00–42:00]
[CLICK] State the objection at FULL strength — this is the fairness move that earns you the room. Webb’s trajectory/redemptive-movement argument is serious; don’t caricature it.
[CLICK] GRANT the premise — the slavery-texts history is real and humbling. Concede it warmly. Then pose the real question.
[CLICK] The distinction — slavery has no creation grounding (no “master formed first”); assembly order has one TWICE. This is next week’s bridge — plant 1 Tim 2:13 and 1 Cor 11:8–9 now.
[CLICK] The banner — cultural anchors drag, creation anchors don’t. The memorable line.
[CLICK] The inversion — the analogy doesn’t just fail, it runs the other way. Note honestly: this is an ARGUMENT, and thoughtful people still disagree; we hold it with conviction and humility. Transition to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[45:00–55:00]
Q1: The heart of the week. “God is using them” confuses FRUIT with WARRANT. God used Balaam’s donkey, Cyrus, even Caiaphas’ prophecy — usefulness never equals appointment. BUT be fair: fruit is a real confirmation of a calling already conferred (1 Tim 3, Titus 1 look for evidence). The error is making fruit the SOURCE rather than a CONFIRMATION. Draw that line carefully.
Q2: Get practical and self-implicating — not “those people out there.” We all feel it: the church that grows must be blessed; the method that works must be right (Week 3’s Moses-rock again!). Results are DATA, not AUTHORITY. When is it legitimate input vs. usurping the text? Model nuance.
[CLICK] Read the contested-ground rule. Keep it warm; nobody wins by winning.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 close, ~2 min]
[CLICK] Next week’s reading — tell them explicitly to read with BOTH sides in view, noting what Paul does AND doesn’t say. Flag v.5 (women pray/prophesy) so they arrive holding the tension, not a caricature.
[CLICK] Preview Week 11 — emphasize “narrow” and “full breadth of women’s ministry.” Reassure it will be careful and fair.
[CLICK] Carry sentence — say it together.
[CLICK] Close on 14:37. Dismiss on time — and warmly; the room may be tender.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tinyurl.com/TeachTheWor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tinyurl.com/TeachTheWor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548640" y="640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Obedience of Faith — Week 10  ·  Unit IV: God’s House</a:t>
            </a:r>
            <a:endParaRPr lang="en-US" sz="1600" dirty="0"/>
          </a:p>
        </p:txBody>
      </p:sp>
      <p:sp>
        <p:nvSpPr>
          <p:cNvPr id="3" name="t1"/>
          <p:cNvSpPr txBox="1"/>
          <p:nvPr/>
        </p:nvSpPr>
        <p:spPr>
          <a:xfrm>
            <a:off x="548640" y="11887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Apostolic Appointment</a:t>
            </a:r>
            <a:endParaRPr lang="en-US" sz="1600" dirty="0"/>
          </a:p>
        </p:txBody>
      </p:sp>
      <p:sp>
        <p:nvSpPr>
          <p:cNvPr id="4" name="t2"/>
          <p:cNvSpPr txBox="1"/>
          <p:nvPr/>
        </p:nvSpPr>
        <p:spPr>
          <a:xfrm>
            <a:off x="548640" y="21488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does doctrinal authority in the church come from?</a:t>
            </a:r>
            <a:endParaRPr lang="en-US" sz="1600" dirty="0"/>
          </a:p>
        </p:txBody>
      </p:sp>
      <p:sp>
        <p:nvSpPr>
          <p:cNvPr id="5" name="t3"/>
          <p:cNvSpPr txBox="1"/>
          <p:nvPr/>
        </p:nvSpPr>
        <p:spPr>
          <a:xfrm>
            <a:off x="914400" y="30632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“If anyone considers himself a prophet or spiritual person, he should acknowledge that what I write to you is the Lord’s command.”</a:t>
            </a:r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Corinthians 14:37)</a:t>
            </a:r>
            <a:endParaRPr lang="en-US" sz="1600" dirty="0"/>
          </a:p>
        </p:txBody>
      </p:sp>
      <p:sp>
        <p:nvSpPr>
          <p:cNvPr id="6" name="t4"/>
          <p:cNvSpPr txBox="1"/>
          <p:nvPr/>
        </p:nvSpPr>
        <p:spPr>
          <a:xfrm>
            <a:off x="914400" y="4754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https://tinyurl.com/TeachTheWord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Question Underneath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authority conferred — or generated?</a:t>
            </a:r>
            <a:endParaRPr lang="en-US" sz="1600" dirty="0"/>
          </a:p>
        </p:txBody>
      </p:sp>
      <p:sp>
        <p:nvSpPr>
          <p:cNvPr id="4" name="a1"/>
          <p:cNvSpPr txBox="1"/>
          <p:nvPr/>
        </p:nvSpPr>
        <p:spPr>
          <a:xfrm>
            <a:off x="365760" y="10058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“who may do what,” a prior question: where does teaching authority in the church come from?
</a:t>
            </a:r>
            <a:pPr algn="l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two possible answers. It is CONFERRED (delivered, handed down, appointed) — or GENERATED (produced by something in the person).</a:t>
            </a:r>
            <a:endParaRPr lang="en-US" sz="1600" dirty="0"/>
          </a:p>
        </p:txBody>
      </p:sp>
      <p:sp>
        <p:nvSpPr>
          <p:cNvPr id="5" name="hh0"/>
          <p:cNvSpPr/>
          <p:nvPr/>
        </p:nvSpPr>
        <p:spPr>
          <a:xfrm>
            <a:off x="365760" y="1965960"/>
            <a:ext cx="2011680" cy="34747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6" name="hd0"/>
          <p:cNvSpPr txBox="1"/>
          <p:nvPr/>
        </p:nvSpPr>
        <p:spPr>
          <a:xfrm>
            <a:off x="438912" y="2002536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Movement</a:t>
            </a:r>
            <a:endParaRPr lang="en-US" sz="1600" dirty="0"/>
          </a:p>
        </p:txBody>
      </p:sp>
      <p:sp>
        <p:nvSpPr>
          <p:cNvPr id="7" name="hh1"/>
          <p:cNvSpPr/>
          <p:nvPr/>
        </p:nvSpPr>
        <p:spPr>
          <a:xfrm>
            <a:off x="2377440" y="1965960"/>
            <a:ext cx="4526280" cy="34747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hd1"/>
          <p:cNvSpPr txBox="1"/>
          <p:nvPr/>
        </p:nvSpPr>
        <p:spPr>
          <a:xfrm>
            <a:off x="2450592" y="2002536"/>
            <a:ext cx="4416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claim</a:t>
            </a:r>
            <a:endParaRPr lang="en-US" sz="1600" dirty="0"/>
          </a:p>
        </p:txBody>
      </p:sp>
      <p:sp>
        <p:nvSpPr>
          <p:cNvPr id="9" name="hh2"/>
          <p:cNvSpPr/>
          <p:nvPr/>
        </p:nvSpPr>
        <p:spPr>
          <a:xfrm>
            <a:off x="6903720" y="1965960"/>
            <a:ext cx="1874520" cy="34747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hd2"/>
          <p:cNvSpPr txBox="1"/>
          <p:nvPr/>
        </p:nvSpPr>
        <p:spPr>
          <a:xfrm>
            <a:off x="6976872" y="2002536"/>
            <a:ext cx="1764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move</a:t>
            </a:r>
            <a:endParaRPr lang="en-US" sz="1600" dirty="0"/>
          </a:p>
        </p:txBody>
      </p:sp>
      <p:sp>
        <p:nvSpPr>
          <p:cNvPr id="11" name="c0_0"/>
          <p:cNvSpPr/>
          <p:nvPr/>
        </p:nvSpPr>
        <p:spPr>
          <a:xfrm>
            <a:off x="365760" y="2313432"/>
            <a:ext cx="2011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12" name="x0_0"/>
          <p:cNvSpPr txBox="1"/>
          <p:nvPr/>
        </p:nvSpPr>
        <p:spPr>
          <a:xfrm>
            <a:off x="438912" y="2340864"/>
            <a:ext cx="18836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Montanists (2nd c.)</a:t>
            </a:r>
            <a:endParaRPr lang="en-US" sz="1600" dirty="0"/>
          </a:p>
        </p:txBody>
      </p:sp>
      <p:sp>
        <p:nvSpPr>
          <p:cNvPr id="13" name="c0_1"/>
          <p:cNvSpPr/>
          <p:nvPr/>
        </p:nvSpPr>
        <p:spPr>
          <a:xfrm>
            <a:off x="2377440" y="2313432"/>
            <a:ext cx="4526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14" name="x0_1"/>
          <p:cNvSpPr txBox="1"/>
          <p:nvPr/>
        </p:nvSpPr>
        <p:spPr>
          <a:xfrm>
            <a:off x="2450592" y="2340864"/>
            <a:ext cx="43982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revelation — “the Spirit speaks now”</a:t>
            </a:r>
            <a:endParaRPr lang="en-US" sz="1600" dirty="0"/>
          </a:p>
        </p:txBody>
      </p:sp>
      <p:sp>
        <p:nvSpPr>
          <p:cNvPr id="15" name="c0_2"/>
          <p:cNvSpPr/>
          <p:nvPr/>
        </p:nvSpPr>
        <p:spPr>
          <a:xfrm>
            <a:off x="6903720" y="2313432"/>
            <a:ext cx="18745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16" name="x0_2"/>
          <p:cNvSpPr txBox="1"/>
          <p:nvPr/>
        </p:nvSpPr>
        <p:spPr>
          <a:xfrm>
            <a:off x="6976872" y="2340864"/>
            <a:ext cx="17465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B0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</a:t>
            </a:r>
            <a:endParaRPr lang="en-US" sz="1600" dirty="0"/>
          </a:p>
        </p:txBody>
      </p:sp>
      <p:sp>
        <p:nvSpPr>
          <p:cNvPr id="17" name="c1_0"/>
          <p:cNvSpPr/>
          <p:nvPr/>
        </p:nvSpPr>
        <p:spPr>
          <a:xfrm>
            <a:off x="365760" y="2880360"/>
            <a:ext cx="2011680" cy="566928"/>
          </a:xfrm>
          <a:prstGeom prst="rect">
            <a:avLst/>
          </a:prstGeom>
          <a:solidFill>
            <a:srgbClr val="F2F4F7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18" name="x1_0"/>
          <p:cNvSpPr txBox="1"/>
          <p:nvPr/>
        </p:nvSpPr>
        <p:spPr>
          <a:xfrm>
            <a:off x="438912" y="2907792"/>
            <a:ext cx="18836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Quakers (17th c.)</a:t>
            </a:r>
            <a:endParaRPr lang="en-US" sz="1600" dirty="0"/>
          </a:p>
        </p:txBody>
      </p:sp>
      <p:sp>
        <p:nvSpPr>
          <p:cNvPr id="19" name="c1_1"/>
          <p:cNvSpPr/>
          <p:nvPr/>
        </p:nvSpPr>
        <p:spPr>
          <a:xfrm>
            <a:off x="2377440" y="2880360"/>
            <a:ext cx="4526280" cy="566928"/>
          </a:xfrm>
          <a:prstGeom prst="rect">
            <a:avLst/>
          </a:prstGeom>
          <a:solidFill>
            <a:srgbClr val="F2F4F7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20" name="x1_1"/>
          <p:cNvSpPr txBox="1"/>
          <p:nvPr/>
        </p:nvSpPr>
        <p:spPr>
          <a:xfrm>
            <a:off x="2450592" y="2907792"/>
            <a:ext cx="43982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inner light speaks through anyone</a:t>
            </a:r>
            <a:endParaRPr lang="en-US" sz="1600" dirty="0"/>
          </a:p>
        </p:txBody>
      </p:sp>
      <p:sp>
        <p:nvSpPr>
          <p:cNvPr id="21" name="c1_2"/>
          <p:cNvSpPr/>
          <p:nvPr/>
        </p:nvSpPr>
        <p:spPr>
          <a:xfrm>
            <a:off x="6903720" y="2880360"/>
            <a:ext cx="1874520" cy="566928"/>
          </a:xfrm>
          <a:prstGeom prst="rect">
            <a:avLst/>
          </a:prstGeom>
          <a:solidFill>
            <a:srgbClr val="F2F4F7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22" name="x1_2"/>
          <p:cNvSpPr txBox="1"/>
          <p:nvPr/>
        </p:nvSpPr>
        <p:spPr>
          <a:xfrm>
            <a:off x="6976872" y="2907792"/>
            <a:ext cx="17465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B0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</a:t>
            </a:r>
            <a:endParaRPr lang="en-US" sz="1600" dirty="0"/>
          </a:p>
        </p:txBody>
      </p:sp>
      <p:sp>
        <p:nvSpPr>
          <p:cNvPr id="23" name="c2_0"/>
          <p:cNvSpPr/>
          <p:nvPr/>
        </p:nvSpPr>
        <p:spPr>
          <a:xfrm>
            <a:off x="365760" y="3447288"/>
            <a:ext cx="2011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24" name="x2_0"/>
          <p:cNvSpPr txBox="1"/>
          <p:nvPr/>
        </p:nvSpPr>
        <p:spPr>
          <a:xfrm>
            <a:off x="438912" y="3474720"/>
            <a:ext cx="18836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Revivalism (19th c.)</a:t>
            </a:r>
            <a:endParaRPr lang="en-US" sz="1600" dirty="0"/>
          </a:p>
        </p:txBody>
      </p:sp>
      <p:sp>
        <p:nvSpPr>
          <p:cNvPr id="25" name="c2_1"/>
          <p:cNvSpPr/>
          <p:nvPr/>
        </p:nvSpPr>
        <p:spPr>
          <a:xfrm>
            <a:off x="2377440" y="3447288"/>
            <a:ext cx="4526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26" name="x2_1"/>
          <p:cNvSpPr txBox="1"/>
          <p:nvPr/>
        </p:nvSpPr>
        <p:spPr>
          <a:xfrm>
            <a:off x="2450592" y="3474720"/>
            <a:ext cx="43982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Demonstrated fruit — “look, God is using them”</a:t>
            </a:r>
            <a:endParaRPr lang="en-US" sz="1600" dirty="0"/>
          </a:p>
        </p:txBody>
      </p:sp>
      <p:sp>
        <p:nvSpPr>
          <p:cNvPr id="27" name="c2_2"/>
          <p:cNvSpPr/>
          <p:nvPr/>
        </p:nvSpPr>
        <p:spPr>
          <a:xfrm>
            <a:off x="6903720" y="3447288"/>
            <a:ext cx="18745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28" name="x2_2"/>
          <p:cNvSpPr txBox="1"/>
          <p:nvPr/>
        </p:nvSpPr>
        <p:spPr>
          <a:xfrm>
            <a:off x="6976872" y="3474720"/>
            <a:ext cx="17465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B0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</a:t>
            </a:r>
            <a:endParaRPr lang="en-US" sz="1600" dirty="0"/>
          </a:p>
        </p:txBody>
      </p:sp>
      <p:sp>
        <p:nvSpPr>
          <p:cNvPr id="29" name="c3_0"/>
          <p:cNvSpPr/>
          <p:nvPr/>
        </p:nvSpPr>
        <p:spPr>
          <a:xfrm>
            <a:off x="365760" y="4014216"/>
            <a:ext cx="2011680" cy="566928"/>
          </a:xfrm>
          <a:prstGeom prst="rect">
            <a:avLst/>
          </a:prstGeom>
          <a:solidFill>
            <a:srgbClr val="F2F4F7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30" name="x3_0"/>
          <p:cNvSpPr txBox="1"/>
          <p:nvPr/>
        </p:nvSpPr>
        <p:spPr>
          <a:xfrm>
            <a:off x="438912" y="4041648"/>
            <a:ext cx="18836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(20th c.)</a:t>
            </a:r>
            <a:endParaRPr lang="en-US" sz="1600" dirty="0"/>
          </a:p>
        </p:txBody>
      </p:sp>
      <p:sp>
        <p:nvSpPr>
          <p:cNvPr id="31" name="c3_1"/>
          <p:cNvSpPr/>
          <p:nvPr/>
        </p:nvSpPr>
        <p:spPr>
          <a:xfrm>
            <a:off x="2377440" y="4014216"/>
            <a:ext cx="4526280" cy="566928"/>
          </a:xfrm>
          <a:prstGeom prst="rect">
            <a:avLst/>
          </a:prstGeom>
          <a:solidFill>
            <a:srgbClr val="F2F4F7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32" name="x3_1"/>
          <p:cNvSpPr txBox="1"/>
          <p:nvPr/>
        </p:nvSpPr>
        <p:spPr>
          <a:xfrm>
            <a:off x="2450592" y="4041648"/>
            <a:ext cx="43982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Reconstructed background; cultural trajectory</a:t>
            </a:r>
            <a:endParaRPr lang="en-US" sz="1600" dirty="0"/>
          </a:p>
        </p:txBody>
      </p:sp>
      <p:sp>
        <p:nvSpPr>
          <p:cNvPr id="33" name="c3_2"/>
          <p:cNvSpPr/>
          <p:nvPr/>
        </p:nvSpPr>
        <p:spPr>
          <a:xfrm>
            <a:off x="6903720" y="4014216"/>
            <a:ext cx="1874520" cy="566928"/>
          </a:xfrm>
          <a:prstGeom prst="rect">
            <a:avLst/>
          </a:prstGeom>
          <a:solidFill>
            <a:srgbClr val="F2F4F7"/>
          </a:solidFill>
          <a:ln w="6350">
            <a:solidFill>
              <a:srgbClr val="D9DDE3"/>
            </a:solidFill>
            <a:prstDash val="solid"/>
          </a:ln>
        </p:spPr>
      </p:sp>
      <p:sp>
        <p:nvSpPr>
          <p:cNvPr id="34" name="x3_2"/>
          <p:cNvSpPr txBox="1"/>
          <p:nvPr/>
        </p:nvSpPr>
        <p:spPr>
          <a:xfrm>
            <a:off x="6976872" y="4041648"/>
            <a:ext cx="17465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B0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</a:t>
            </a:r>
            <a:endParaRPr lang="en-US" sz="1600" dirty="0"/>
          </a:p>
        </p:txBody>
      </p:sp>
      <p:sp>
        <p:nvSpPr>
          <p:cNvPr id="35" name="a2"/>
          <p:cNvSpPr txBox="1"/>
          <p:nvPr/>
        </p:nvSpPr>
        <p:spPr>
          <a:xfrm>
            <a:off x="365760" y="443484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centuries, four vocabularies — one move: </a:t>
            </a:r>
            <a:pPr algn="l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authority relocated FROM appointment TO something claimable without it — revelation, fruit, insight, progress.</a:t>
            </a:r>
            <a:endParaRPr lang="en-US" sz="1600" dirty="0"/>
          </a:p>
        </p:txBody>
      </p:sp>
      <p:sp>
        <p:nvSpPr>
          <p:cNvPr id="36" name="a3"/>
          <p:cNvSpPr txBox="1"/>
          <p:nvPr/>
        </p:nvSpPr>
        <p:spPr>
          <a:xfrm>
            <a:off x="365760" y="54406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these is stupid, and some of the people were godly. </a:t>
            </a:r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 not “were they sincere?” (Week 3!) but “is that where the New Testament LOCATES authority?”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Paul Closes the Door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Corinthians 14 — gifting does not adjudicate order</a:t>
            </a:r>
            <a:endParaRPr lang="en-US" sz="1600" dirty="0"/>
          </a:p>
        </p:txBody>
      </p:sp>
      <p:sp>
        <p:nvSpPr>
          <p:cNvPr id="4" name="b1"/>
          <p:cNvSpPr txBox="1"/>
          <p:nvPr/>
        </p:nvSpPr>
        <p:spPr>
          <a:xfrm>
            <a:off x="365760" y="10515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setting matters: </a:t>
            </a:r>
            <a:pPr algn="l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Corinthians 12–14 is THE gifts passage — tongues, prophecy, the Spirit’s manifestations. And right there, Paul writes:</a:t>
            </a:r>
            <a:endParaRPr lang="en-US" sz="1600" dirty="0"/>
          </a:p>
        </p:txBody>
      </p:sp>
      <p:sp>
        <p:nvSpPr>
          <p:cNvPr id="5" name="b2"/>
          <p:cNvSpPr txBox="1"/>
          <p:nvPr/>
        </p:nvSpPr>
        <p:spPr>
          <a:xfrm>
            <a:off x="365760" y="1920240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“If anyone considers himself a prophet or spiritual person, he should acknowledge that what I write to you is the Lord’s command. If someone does not recognize this, he is not recognized.” </a:t>
            </a:r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Corinthians 14:37–38)</a:t>
            </a:r>
            <a:endParaRPr lang="en-US" sz="1600" dirty="0"/>
          </a:p>
        </p:txBody>
      </p:sp>
      <p:sp>
        <p:nvSpPr>
          <p:cNvPr id="6" name="b3"/>
          <p:cNvSpPr txBox="1"/>
          <p:nvPr/>
        </p:nvSpPr>
        <p:spPr>
          <a:xfrm>
            <a:off x="365760" y="342900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whom Paul names: </a:t>
            </a:r>
            <a:pPr algn="l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skeptics — </a:t>
            </a:r>
            <a:pPr algn="l"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prophets and spiritual people</a:t>
            </a:r>
            <a:pPr algn="l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two most impressive credentials in that church. And he subordinates BOTH to what he writes. He does not deny they have gifts — the Corinthian gifts were real. He denies that gifts adjudicate </a:t>
            </a:r>
            <a:pPr algn="l" indent="0" marL="0">
              <a:buNone/>
            </a:pPr>
            <a:r>
              <a:rPr lang="en-US" sz="145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pPr algn="l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600" dirty="0"/>
          </a:p>
        </p:txBody>
      </p:sp>
      <p:sp>
        <p:nvSpPr>
          <p:cNvPr id="7" name="b4"/>
          <p:cNvSpPr txBox="1"/>
          <p:nvPr/>
        </p:nvSpPr>
        <p:spPr>
          <a:xfrm>
            <a:off x="365760" y="4800600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v.38 attaches a sanction: </a:t>
            </a:r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refusing to recognize apostolic authority is itself disqualifying. So every claim that bypasses the apostolic word — “the Spirit told me,” “look at the fruit,” “we’ve grown past this” — runs into the wall Paul built here, in the gifts chapter itself. Gifting is given to the whole body; </a:t>
            </a:r>
            <a:pPr algn="l" indent="0" marL="0">
              <a:buNone/>
            </a:pPr>
            <a:r>
              <a:rPr lang="en-US" sz="14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authority is conferred by the apostolic word.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 and Handoff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Authority is delivered and received — never self-generated</a:t>
            </a:r>
            <a:endParaRPr lang="en-US" sz="1600" dirty="0"/>
          </a:p>
        </p:txBody>
      </p:sp>
      <p:sp>
        <p:nvSpPr>
          <p:cNvPr id="4" name="c1"/>
          <p:cNvSpPr txBox="1"/>
          <p:nvPr/>
        </p:nvSpPr>
        <p:spPr>
          <a:xfrm>
            <a:off x="365760" y="1005840"/>
            <a:ext cx="8412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Testament describes authority as a deposit passed down a chain:
</a:t>
            </a:r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Appointed, not attained — </a:t>
            </a:r>
            <a:pPr algn="l"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“For this I was appointed a preacher and apostle” </a:t>
            </a:r>
            <a:pPr algn="l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Tim 2:7)</a:t>
            </a:r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Traditions delivered &amp; held — </a:t>
            </a:r>
            <a:endParaRPr lang="en-US" sz="1600" dirty="0"/>
          </a:p>
          <a:p>
            <a:pPr algn="l"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“maintain the traditions just as I passed them on to you” </a:t>
            </a:r>
            <a:pPr algn="l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Cor 11:2)</a:t>
            </a:r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Entrusted to teach others — </a:t>
            </a:r>
            <a:endParaRPr lang="en-US" sz="1600" dirty="0"/>
          </a:p>
          <a:p>
            <a:pPr algn="l"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you heard from me… entrust to faithful people who will be competent to teach others” </a:t>
            </a:r>
            <a:pPr algn="l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 Tim 2:2)</a:t>
            </a:r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Once for all entrusted — </a:t>
            </a:r>
            <a:endParaRPr lang="en-US" sz="1600" dirty="0"/>
          </a:p>
          <a:p>
            <a:pPr algn="l"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faith that was once for all entrusted to the saints” </a:t>
            </a:r>
            <a:pPr algn="l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(Jude 3)</a:t>
            </a:r>
            <a:endParaRPr lang="en-US" sz="1600" dirty="0"/>
          </a:p>
        </p:txBody>
      </p:sp>
      <p:sp>
        <p:nvSpPr>
          <p:cNvPr id="5" name="c2"/>
          <p:cNvSpPr txBox="1"/>
          <p:nvPr/>
        </p:nvSpPr>
        <p:spPr>
          <a:xfrm>
            <a:off x="365760" y="288036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 is deposit → handoff, never discovery. </a:t>
            </a:r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Timothy 2:2 shows four generations in one verse: Paul → Timothy → faithful people → others. A relay, not a spring.</a:t>
            </a:r>
            <a:endParaRPr lang="en-US" sz="1600" dirty="0"/>
          </a:p>
        </p:txBody>
      </p:sp>
      <p:sp>
        <p:nvSpPr>
          <p:cNvPr id="6" name="c3"/>
          <p:cNvSpPr txBox="1"/>
          <p:nvPr/>
        </p:nvSpPr>
        <p:spPr>
          <a:xfrm>
            <a:off x="365760" y="3840480"/>
            <a:ext cx="8412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early church kept exactly this question. Not “who has the gift?” but “who was appointed?”
</a:t>
            </a:r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Origen concedes women may have the prophetic gift — and still restricts the venue.
</a:t>
            </a:r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Hippolytus ties ordination to liturgical function: hands are laid where there is a governing role, not merely a gift.</a:t>
            </a:r>
            <a:endParaRPr lang="en-US" sz="1600" dirty="0"/>
          </a:p>
        </p:txBody>
      </p:sp>
      <p:sp>
        <p:nvSpPr>
          <p:cNvPr id="7" name="c4"/>
          <p:cNvSpPr txBox="1"/>
          <p:nvPr/>
        </p:nvSpPr>
        <p:spPr>
          <a:xfrm>
            <a:off x="365760" y="5166360"/>
            <a:ext cx="8412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why the course’s title phrase fits: </a:t>
            </a:r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apostleship exists “to bring about the obedience of faith” (Rom 1:5). The apostolic word is the conferring authority — and receiving it is itself an act of obedient faith.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Trajectory Argument — and Why It Inverts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strongest objection, met honestly</a:t>
            </a:r>
            <a:endParaRPr lang="en-US" sz="1600" dirty="0"/>
          </a:p>
        </p:txBody>
      </p:sp>
      <p:sp>
        <p:nvSpPr>
          <p:cNvPr id="4" name="d1"/>
          <p:cNvSpPr txBox="1"/>
          <p:nvPr/>
        </p:nvSpPr>
        <p:spPr>
          <a:xfrm>
            <a:off x="365760" y="1097280"/>
            <a:ext cx="8412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objection (state it at full strength): </a:t>
            </a:r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“Scripture regulated slavery without condemning it; the church later moved past slavery. Gender order is the same — a cultural waypoint we’ve moved beyond.”  This deserves a real answer, not a dodge.</a:t>
            </a:r>
            <a:endParaRPr lang="en-US" sz="1600" dirty="0"/>
          </a:p>
        </p:txBody>
      </p:sp>
      <p:sp>
        <p:nvSpPr>
          <p:cNvPr id="5" name="d2"/>
          <p:cNvSpPr txBox="1"/>
          <p:nvPr/>
        </p:nvSpPr>
        <p:spPr>
          <a:xfrm>
            <a:off x="365760" y="224028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 the premise: </a:t>
            </a:r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church DID read the slavery texts badly for centuries, and the correction came late. That should humble everyone. So why doesn’t the analogy carry?</a:t>
            </a:r>
            <a:endParaRPr lang="en-US" sz="1600" dirty="0"/>
          </a:p>
        </p:txBody>
      </p:sp>
      <p:sp>
        <p:nvSpPr>
          <p:cNvPr id="6" name="d3"/>
          <p:cNvSpPr txBox="1"/>
          <p:nvPr/>
        </p:nvSpPr>
        <p:spPr>
          <a:xfrm>
            <a:off x="365760" y="3200400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of WHERE each is grounded:
</a:t>
            </a:r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Slavery — Paul never grounds it in creation. There is no verse “for the master was formed first.” The anchor is cultural.
</a:t>
            </a:r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Assembly order — Paul grounds it in creation, TWICE: </a:t>
            </a:r>
            <a:pPr algn="l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“Adam was formed first, then Eve” (1 Tim 2:13); “woman came from man… for man” (1 Cor 11:8–9).</a:t>
            </a:r>
            <a:endParaRPr lang="en-US" sz="1600" dirty="0"/>
          </a:p>
        </p:txBody>
      </p:sp>
      <p:sp>
        <p:nvSpPr>
          <p:cNvPr id="7" name="inv"/>
          <p:cNvSpPr/>
          <p:nvPr/>
        </p:nvSpPr>
        <p:spPr>
          <a:xfrm>
            <a:off x="822960" y="4709160"/>
            <a:ext cx="7498080" cy="777240"/>
          </a:xfrm>
          <a:prstGeom prst="roundRect">
            <a:avLst>
              <a:gd name="adj" fmla="val 9412"/>
            </a:avLst>
          </a:prstGeom>
          <a:solidFill>
            <a:srgbClr val="1F497D"/>
          </a:solidFill>
          <a:ln/>
        </p:spPr>
      </p:sp>
      <p:sp>
        <p:nvSpPr>
          <p:cNvPr id="8" name="invt"/>
          <p:cNvSpPr txBox="1"/>
          <p:nvPr/>
        </p:nvSpPr>
        <p:spPr>
          <a:xfrm>
            <a:off x="822960" y="47091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Cultural anchors drag. Creation anchors don’t.</a:t>
            </a:r>
            <a:endParaRPr lang="en-US" sz="1600" dirty="0"/>
          </a:p>
        </p:txBody>
      </p:sp>
      <p:sp>
        <p:nvSpPr>
          <p:cNvPr id="9" name="d4"/>
          <p:cNvSpPr txBox="1"/>
          <p:nvPr/>
        </p:nvSpPr>
        <p:spPr>
          <a:xfrm>
            <a:off x="365760" y="56235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analogy inverts: </a:t>
            </a:r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very feature that let the church move past slavery (no creation grounding) is the feature the assembly texts conspicuously HAVE. Same tool, opposite result.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minutes — this is the week’s practice</a:t>
            </a:r>
            <a:endParaRPr lang="en-US" sz="1600" dirty="0"/>
          </a:p>
        </p:txBody>
      </p:sp>
      <p:sp>
        <p:nvSpPr>
          <p:cNvPr id="4" name="x1"/>
          <p:cNvSpPr txBox="1"/>
          <p:nvPr/>
        </p:nvSpPr>
        <p:spPr>
          <a:xfrm>
            <a:off x="457200" y="1325880"/>
            <a:ext cx="8229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“God is clearly using them” not, by itself, a warrant for office? Where does that reasoning go wrong — and where is it partly right?</a:t>
            </a:r>
            <a:endParaRPr lang="en-US" sz="1600" dirty="0"/>
          </a:p>
        </p:txBody>
      </p:sp>
      <p:sp>
        <p:nvSpPr>
          <p:cNvPr id="5" name="x2"/>
          <p:cNvSpPr txBox="1"/>
          <p:nvPr/>
        </p:nvSpPr>
        <p:spPr>
          <a:xfrm>
            <a:off x="457200" y="29718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 WE feel the pull of results-based validation — in ministry, in decisions, in judging what’s true? Is it always wrong?</a:t>
            </a:r>
            <a:endParaRPr lang="en-US" sz="1600" dirty="0"/>
          </a:p>
        </p:txBody>
      </p:sp>
      <p:sp>
        <p:nvSpPr>
          <p:cNvPr id="6" name="x3"/>
          <p:cNvSpPr txBox="1"/>
          <p:nvPr/>
        </p:nvSpPr>
        <p:spPr>
          <a:xfrm>
            <a:off x="457200" y="4846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0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Contested-ground rule: </a:t>
            </a:r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from the text, not from certainty. Disagreement is welcome; scoring points is not.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Like a Berean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next week — the harder question</a:t>
            </a:r>
            <a:endParaRPr lang="en-US" sz="1600" dirty="0"/>
          </a:p>
        </p:txBody>
      </p:sp>
      <p:sp>
        <p:nvSpPr>
          <p:cNvPr id="4" name="z1"/>
          <p:cNvSpPr txBox="1"/>
          <p:nvPr/>
        </p:nvSpPr>
        <p:spPr>
          <a:xfrm>
            <a:off x="365760" y="114300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next week, read — slowly, both sides in view:
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1 Timothy 2:1–15  — what does Paul restrict, what reason does he give (v.13), and what does he NOT say?
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1 Corinthians 11:2–16  — note v.5: women pray and prophesy. How does that fit with restriction?</a:t>
            </a:r>
            <a:endParaRPr lang="en-US" sz="1600" dirty="0"/>
          </a:p>
        </p:txBody>
      </p:sp>
      <p:sp>
        <p:nvSpPr>
          <p:cNvPr id="5" name="z2"/>
          <p:cNvSpPr txBox="1"/>
          <p:nvPr/>
        </p:nvSpPr>
        <p:spPr>
          <a:xfrm>
            <a:off x="365760" y="2788920"/>
            <a:ext cx="8412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week: </a:t>
            </a:r>
            <a:pPr algn="l" indent="0" marL="0">
              <a:buNone/>
            </a:pPr>
            <a:r>
              <a:rPr lang="en-US" sz="15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God’s Created Order — the narrow, careful question of roles in the assembly, and the full breadth of women’s ministry Scripture shows.</a:t>
            </a:r>
            <a:endParaRPr lang="en-US" sz="1600" dirty="0"/>
          </a:p>
        </p:txBody>
      </p:sp>
      <p:sp>
        <p:nvSpPr>
          <p:cNvPr id="6" name="z3"/>
          <p:cNvSpPr txBox="1"/>
          <p:nvPr/>
        </p:nvSpPr>
        <p:spPr>
          <a:xfrm>
            <a:off x="365760" y="3931920"/>
            <a:ext cx="8412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this week in one sentence:
</a:t>
            </a:r>
            <a:pPr algn="l" indent="0" marL="0">
              <a:buNone/>
            </a:pPr>
            <a:r>
              <a:rPr lang="en-US" sz="160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Gifting is given to the whole body; authority is conferred by the apostolic word. Deposit, not discovery.</a:t>
            </a:r>
            <a:endParaRPr lang="en-US" sz="1600" dirty="0"/>
          </a:p>
        </p:txBody>
      </p:sp>
      <p:sp>
        <p:nvSpPr>
          <p:cNvPr id="7" name="z4"/>
          <p:cNvSpPr txBox="1"/>
          <p:nvPr/>
        </p:nvSpPr>
        <p:spPr>
          <a:xfrm>
            <a:off x="365760" y="51206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I write to you is the Lord’s command.”  (1 Corinthians 14:37)</a:t>
            </a:r>
            <a:endParaRPr lang="en-US" sz="1600" dirty="0"/>
          </a:p>
        </p:txBody>
      </p:sp>
      <p:sp>
        <p:nvSpPr>
          <p:cNvPr id="8" name="z5"/>
          <p:cNvSpPr txBox="1"/>
          <p:nvPr/>
        </p:nvSpPr>
        <p:spPr>
          <a:xfrm>
            <a:off x="365760" y="5989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https://tinyurl.com/TeachTheWord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2026-09-30T14:28:54Z</dcterms:created>
  <dcterms:modified xsi:type="dcterms:W3CDTF">2026-09-30T14:28:54Z</dcterms:modified>
</cp:coreProperties>
</file>