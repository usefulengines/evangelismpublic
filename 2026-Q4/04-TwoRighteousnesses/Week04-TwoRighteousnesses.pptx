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11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The pivot week. Say it plainly as they settle: “For three weeks we’ve seen that sincerity is not enough and results are not enough. If you’ve felt the ground get shaky — good. Today we put the ground back, and its name is grace.” This lecture is relief after diagnosis. Set that tone from the first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[0:00–15:00]
[CLICK] Left column — the righteousness of man. Read it as the diligent, respectable, church-going version; this is not the drunk in the ditch, it is the Pharisee. Note: this is Weeks 1–3’s failure named at its root — self-built approach to God.
[CLICK] Right column — the righteousness of God. Note the reversal of starting point: not what we do, but what Christ did. It still produces a changed life (do not let anyone hear “so behavior doesn’t matter”) — but the life flows FROM the gift, not toward it.
[CLICK] Matt 5:20 — Jesus is not asking the Pharisees to try harder at their own kind; he points past it entirely.
[CLICK] Rom 10:3–4 — Israel’s failure: not too little zeal (10:2 says they had zeal), but zeal aimed at establishing their own. Land the danger sentence. Transition: “If righteousness is a gift, then knowing God is not an achievement either. So how is He known?”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[15:00–30:00 — 5 min per stage]
[CLICK] PROMISED (15:00) — Jer 31: the OLD covenant’s problem was not the law but the location; now written inside. “They will all know me” — the Hebrew “know” is relational, covenantal, not data. This is the promise the whole NT says arrived.
[CLICK] BORN (20:00) — John 3: Nicodemus, a righteousness-of-man expert, is told he must be born from ABOVE. You cannot achieve a birth; it happens TO you. New creation begins in the spirit.
[CLICK] WITNESSED (25:00) — Rom 8: the felt reality — the Spirit’s inner witness of belonging (8:16). This is assurance grounded in God’s work, not in our performance scorecard (answers Week 1’s “invisible even to its owner” unease). Land the summary: knowing God is His work IN you. Transition: “Now — why put this week HERE, right in the middle?”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[30:00–40:00]
This is the theological keystone of the entire 12 weeks. Do not rush it.
[CLICK] Name the risk honestly — a course this heavy on obedience CAN be misheard as works-salvation. We are inoculating against that now.
[CLICK] The sentence to memorize: obedience is the SHAPE of faith, not its PRICE. Have them repeat it. This is the “mercy first, altar second” of Week 4.
[CLICK] The exodus order — this is the master pattern. Redeemed FIRST (Passover blood), tested SECOND (wilderness). Deut 8:2 comes in chapter 8, long after the rescue. The tests never bought the freedom.
[CLICK] Eph 2:8–10 seals it: saved for good works, not by them. Same grace-then-life order. Land: mercy first, altar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[40:00–42:00 — this slide previews discussion Q1 and makes it land]
[CLICK] Pride — the scoreboard is up and you’re winning. Note it is FRAGILE: one bad week and it flips.
[CLICK] Despair — same scoreboard, losing. The arrow shows they are the SAME system in two states.
[CLICK] The root: both keep score; both make my performance the measure. This is the insight discussion Q1 is fishing for — you can either teach it here and let discussion deepen it, or hold it and let them discover it. Your call by clock.
[CLICK] Rom 8:1 — the gift removes the scoreboard. Same medicine for both patients. The “depend daily” line sets up discussion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[45:00–55:00]
Q1: If slide 5 already taught the root, use this to get personal — “which is YOUR default?” Most people lean one way. Naming it is the win. Gentle; some will admit despair and that is tender ground.
Q2: The practical payoff of the whole week. Aim concrete: confession without wallowing; receiving forgiveness rather than re-earning it; serving from acceptance rather than for it; resting on a finished work when you fail by Tuesday afternoon. Seed if quiet: “What changes about how you pray after a bad day?”
[CLICK] Ground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 close, ~2 min]
[CLICK] Next week’s reading — the pivot into method: now that grace is secured, we learn to discern it from counterfeits. The bridge sentence: “A gift this valuable will be imitated — next week we learn to tell real from fake.”
[CLICK] Preview Week 5.
[CLICK] Carry sentence — have them say it with you; it is the course’s spine.
[CLICK] Close on Rom 8:1 — send them out with no condemnation, not with a to-do list. Dismiss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Obedience of Faith - Week 4  ·  Unit II: Discernment</a:t>
            </a:r>
            <a:endParaRPr lang="en-US" sz="1600" dirty="0"/>
          </a:p>
        </p:txBody>
      </p:sp>
      <p:sp>
        <p:nvSpPr>
          <p:cNvPr id="3" name="t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Righteousnesses</a:t>
            </a:r>
            <a:endParaRPr lang="en-US" sz="1600" dirty="0"/>
          </a:p>
        </p:txBody>
      </p:sp>
      <p:sp>
        <p:nvSpPr>
          <p:cNvPr id="4" name="t2"/>
          <p:cNvSpPr txBox="1"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and How God Is Known</a:t>
            </a:r>
            <a:endParaRPr lang="en-US" sz="1600" dirty="0"/>
          </a:p>
        </p:txBody>
      </p:sp>
      <p:sp>
        <p:nvSpPr>
          <p:cNvPr id="5" name="t3"/>
          <p:cNvSpPr txBox="1"/>
          <p:nvPr/>
        </p:nvSpPr>
        <p:spPr>
          <a:xfrm>
            <a:off x="914400" y="3017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ignoring the righteousness that comes from God, and seeking instead to establish their own righteousness, they did not submit to God’s righteousness.”</a:t>
            </a:r>
            <a:endParaRPr lang="en-US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10:3)</a:t>
            </a:r>
            <a:endParaRPr lang="en-US" dirty="0"/>
          </a:p>
        </p:txBody>
      </p:sp>
      <p:sp>
        <p:nvSpPr>
          <p:cNvPr id="6" name="t4"/>
          <p:cNvSpPr txBox="1"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Righteousness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lives under one or the other</a:t>
            </a:r>
            <a:endParaRPr lang="en-US" sz="2800" dirty="0"/>
          </a:p>
        </p:txBody>
      </p:sp>
      <p:sp>
        <p:nvSpPr>
          <p:cNvPr id="4" name="colL"/>
          <p:cNvSpPr/>
          <p:nvPr/>
        </p:nvSpPr>
        <p:spPr>
          <a:xfrm>
            <a:off x="365760" y="114300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2F0EA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h"/>
          <p:cNvSpPr txBox="1"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righteousness OF MAN</a:t>
            </a:r>
            <a:endParaRPr lang="en-US" sz="1600" dirty="0"/>
          </a:p>
        </p:txBody>
      </p:sp>
      <p:sp>
        <p:nvSpPr>
          <p:cNvPr id="6" name="Lb"/>
          <p:cNvSpPr txBox="1"/>
          <p:nvPr/>
        </p:nvSpPr>
        <p:spPr>
          <a:xfrm>
            <a:off x="502920" y="160020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self-trust; depends on performance.
Measures worth by effort, comparison, behavior.
The righteousness of the scribes and Pharisees.
Strong on the outside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stand before God.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Says: “prove yourself.”</a:t>
            </a:r>
            <a:endParaRPr lang="en-US" dirty="0"/>
          </a:p>
        </p:txBody>
      </p:sp>
      <p:sp>
        <p:nvSpPr>
          <p:cNvPr id="7" name="colR"/>
          <p:cNvSpPr/>
          <p:nvPr/>
        </p:nvSpPr>
        <p:spPr>
          <a:xfrm>
            <a:off x="4663440" y="114300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h"/>
          <p:cNvSpPr txBox="1"/>
          <p:nvPr/>
        </p:nvSpPr>
        <p:spPr>
          <a:xfrm>
            <a:off x="48006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righteousness OF GOD</a:t>
            </a:r>
            <a:endParaRPr lang="en-US" sz="1600" dirty="0"/>
          </a:p>
        </p:txBody>
      </p:sp>
      <p:sp>
        <p:nvSpPr>
          <p:cNvPr id="9" name="Rb"/>
          <p:cNvSpPr txBox="1"/>
          <p:nvPr/>
        </p:nvSpPr>
        <p:spPr>
          <a:xfrm>
            <a:off x="4800600" y="160020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come from us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comes from Him.
Given by grace, received through faith, grounded in Christ.
Begins not with what we do, but what Christ has done.
Produces a new life that changes how we live.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Says: “trust Christ.”</a:t>
            </a:r>
            <a:endParaRPr lang="en-US" sz="1600" dirty="0"/>
          </a:p>
        </p:txBody>
      </p:sp>
      <p:sp>
        <p:nvSpPr>
          <p:cNvPr id="10" name="m1"/>
          <p:cNvSpPr txBox="1"/>
          <p:nvPr/>
        </p:nvSpPr>
        <p:spPr>
          <a:xfrm>
            <a:off x="365760" y="420624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“Unless your righteousness goes beyond that of the experts in the law and the Pharisees, you will never enter the kingdom of heaven.”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(Matthew 5:20)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 more rule-keeping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different kind of righteousness altogether.</a:t>
            </a:r>
            <a:endParaRPr lang="en-US" sz="2000" dirty="0"/>
          </a:p>
        </p:txBody>
      </p:sp>
      <p:sp>
        <p:nvSpPr>
          <p:cNvPr id="11" name="m2"/>
          <p:cNvSpPr txBox="1"/>
          <p:nvPr/>
        </p:nvSpPr>
        <p:spPr>
          <a:xfrm>
            <a:off x="365760" y="5257800"/>
            <a:ext cx="8412480" cy="1203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“Christ is the end of the law, with the result that there is righteousness for everyone who believes.”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10:4)</a:t>
            </a:r>
            <a:endParaRPr lang="en-US" sz="2000" dirty="0"/>
          </a:p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danger: a person can be serious, religious, and sincere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still miss God by building his own.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God Is Actually Known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Promised, then given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inside work</a:t>
            </a:r>
            <a:endParaRPr lang="en-US" sz="2800" dirty="0"/>
          </a:p>
        </p:txBody>
      </p:sp>
      <p:sp>
        <p:nvSpPr>
          <p:cNvPr id="4" name="g0b"/>
          <p:cNvSpPr/>
          <p:nvPr/>
        </p:nvSpPr>
        <p:spPr>
          <a:xfrm>
            <a:off x="375808" y="1169629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0l"/>
          <p:cNvSpPr txBox="1"/>
          <p:nvPr/>
        </p:nvSpPr>
        <p:spPr>
          <a:xfrm>
            <a:off x="375808" y="1462237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PROMISED
</a:t>
            </a: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Jeremiah 31:31–34</a:t>
            </a:r>
            <a:endParaRPr lang="en-US" sz="2400" dirty="0"/>
          </a:p>
        </p:txBody>
      </p:sp>
      <p:sp>
        <p:nvSpPr>
          <p:cNvPr id="6" name="g0t"/>
          <p:cNvSpPr txBox="1"/>
          <p:nvPr/>
        </p:nvSpPr>
        <p:spPr>
          <a:xfrm>
            <a:off x="2158888" y="1242781"/>
            <a:ext cx="662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covenant: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will put my law within them… write it on their hearts.”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result: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will all know me.”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information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relationship.</a:t>
            </a:r>
            <a:endParaRPr lang="en-US" dirty="0"/>
          </a:p>
        </p:txBody>
      </p:sp>
      <p:sp>
        <p:nvSpPr>
          <p:cNvPr id="7" name="g1b"/>
          <p:cNvSpPr/>
          <p:nvPr/>
        </p:nvSpPr>
        <p:spPr>
          <a:xfrm>
            <a:off x="375808" y="2678389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F497D">
              <a:alpha val="88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1l"/>
          <p:cNvSpPr txBox="1"/>
          <p:nvPr/>
        </p:nvSpPr>
        <p:spPr>
          <a:xfrm>
            <a:off x="375808" y="2970997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
</a:t>
            </a: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3:3–6</a:t>
            </a:r>
            <a:endParaRPr lang="en-US" sz="2400" dirty="0"/>
          </a:p>
        </p:txBody>
      </p:sp>
      <p:sp>
        <p:nvSpPr>
          <p:cNvPr id="9" name="g1t"/>
          <p:cNvSpPr txBox="1"/>
          <p:nvPr/>
        </p:nvSpPr>
        <p:spPr>
          <a:xfrm>
            <a:off x="2158888" y="2751541"/>
            <a:ext cx="662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“Unless a person is born from above…”  “What is born of the Spirit is spirit.”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 brings life to the human spirit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new creation (2 Cor 5:17).</a:t>
            </a:r>
            <a:endParaRPr lang="en-US" sz="2400" dirty="0"/>
          </a:p>
        </p:txBody>
      </p:sp>
      <p:sp>
        <p:nvSpPr>
          <p:cNvPr id="10" name="g2b"/>
          <p:cNvSpPr/>
          <p:nvPr/>
        </p:nvSpPr>
        <p:spPr>
          <a:xfrm>
            <a:off x="375808" y="4187149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F497D">
              <a:alpha val="76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2l"/>
          <p:cNvSpPr txBox="1"/>
          <p:nvPr/>
        </p:nvSpPr>
        <p:spPr>
          <a:xfrm>
            <a:off x="375808" y="4479757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WITNESSED
</a:t>
            </a: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8:2, 9–16</a:t>
            </a:r>
            <a:endParaRPr lang="en-US" sz="2400" dirty="0"/>
          </a:p>
        </p:txBody>
      </p:sp>
      <p:sp>
        <p:nvSpPr>
          <p:cNvPr id="12" name="g2t"/>
          <p:cNvSpPr txBox="1"/>
          <p:nvPr/>
        </p:nvSpPr>
        <p:spPr>
          <a:xfrm>
            <a:off x="2158888" y="4260301"/>
            <a:ext cx="662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 sets free from sin and death, dwells inside, gives life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“bears witness to our spirit that we are God’s children.”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Spirit-to-spirit knowing.</a:t>
            </a:r>
            <a:endParaRPr lang="en-US" sz="2400" dirty="0"/>
          </a:p>
        </p:txBody>
      </p:sp>
      <p:sp>
        <p:nvSpPr>
          <p:cNvPr id="13" name="gk"/>
          <p:cNvSpPr txBox="1"/>
          <p:nvPr/>
        </p:nvSpPr>
        <p:spPr>
          <a:xfrm>
            <a:off x="375808" y="5833069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God is His work in you, not your climb toward Him.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will ALL know me”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least to the greatest.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Week Sits Here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load-bearing wall of the whole course</a:t>
            </a:r>
            <a:endParaRPr lang="en-US" sz="2800" dirty="0"/>
          </a:p>
        </p:txBody>
      </p:sp>
      <p:sp>
        <p:nvSpPr>
          <p:cNvPr id="4" name="w1"/>
          <p:cNvSpPr txBox="1"/>
          <p:nvPr/>
        </p:nvSpPr>
        <p:spPr>
          <a:xfrm>
            <a:off x="365760" y="1090246"/>
            <a:ext cx="8412480" cy="1195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ahead of us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covenant tests (Unit III), the living sacrifice, church order, the commission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describes 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obedience.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place this week wrong, the whole course is heard as: earn your standing with God.</a:t>
            </a:r>
            <a:endParaRPr lang="en-US" sz="2000" dirty="0"/>
          </a:p>
        </p:txBody>
      </p:sp>
      <p:sp>
        <p:nvSpPr>
          <p:cNvPr id="5" name="w2"/>
          <p:cNvSpPr txBox="1"/>
          <p:nvPr/>
        </p:nvSpPr>
        <p:spPr>
          <a:xfrm>
            <a:off x="365760" y="248927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hear it now, and hear it at Weeks 7, 9, and 12: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2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is the SHAPE of faith </a:t>
            </a:r>
            <a:r>
              <a:rPr lang="en-US" sz="22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2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its PRICE.</a:t>
            </a:r>
            <a:endParaRPr lang="en-US" sz="1600" dirty="0"/>
          </a:p>
        </p:txBody>
      </p:sp>
      <p:sp>
        <p:nvSpPr>
          <p:cNvPr id="6" name="w3"/>
          <p:cNvSpPr txBox="1"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fixed in the exodus itself: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redeemed Israel from Egypt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blood and grace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i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brought them to the wilderness to be tested (Deut 8:2).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tests came 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rescue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to accomplish it.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at Sinai followed redemption from Egypt; it did not buy it.</a:t>
            </a:r>
            <a:endParaRPr lang="en-US" sz="2000" dirty="0"/>
          </a:p>
        </p:txBody>
      </p:sp>
      <p:sp>
        <p:nvSpPr>
          <p:cNvPr id="7" name="w4"/>
          <p:cNvSpPr txBox="1"/>
          <p:nvPr/>
        </p:nvSpPr>
        <p:spPr>
          <a:xfrm>
            <a:off x="365760" y="5036234"/>
            <a:ext cx="8412480" cy="156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order in the New Covenant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grace first, then the life it produces: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grace you are saved through faith, and this is not from yourselves; it is the gift of God; it is not from works… For we are his workmanship, created in Christ Jesus for good works.”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(Ephesians 2:8–10)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for good works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by them. Mercy first. Altar second (Rom 12)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Root, Two Poisons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self-righteousness fails you either way</a:t>
            </a:r>
            <a:endParaRPr lang="en-US" sz="2800" dirty="0"/>
          </a:p>
        </p:txBody>
      </p:sp>
      <p:sp>
        <p:nvSpPr>
          <p:cNvPr id="4" name="prb"/>
          <p:cNvSpPr/>
          <p:nvPr/>
        </p:nvSpPr>
        <p:spPr>
          <a:xfrm>
            <a:off x="640080" y="1175004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2F0EA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t"/>
          <p:cNvSpPr txBox="1"/>
          <p:nvPr/>
        </p:nvSpPr>
        <p:spPr>
          <a:xfrm>
            <a:off x="777240" y="1312164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PRIDE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scorecard reads well: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“I’m doing better than they are.”</a:t>
            </a:r>
            <a:endParaRPr lang="en-US" sz="2400" i="1" dirty="0"/>
          </a:p>
        </p:txBody>
      </p:sp>
      <p:sp>
        <p:nvSpPr>
          <p:cNvPr id="6" name="deb"/>
          <p:cNvSpPr/>
          <p:nvPr/>
        </p:nvSpPr>
        <p:spPr>
          <a:xfrm>
            <a:off x="5212080" y="1175004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2F0EA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et"/>
          <p:cNvSpPr txBox="1"/>
          <p:nvPr/>
        </p:nvSpPr>
        <p:spPr>
          <a:xfrm>
            <a:off x="5349240" y="1312164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reads badly: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“I’ll never be enough.”</a:t>
            </a:r>
            <a:endParaRPr lang="en-US" sz="2400" i="1" dirty="0"/>
          </a:p>
        </p:txBody>
      </p:sp>
      <p:sp>
        <p:nvSpPr>
          <p:cNvPr id="8" name="ar1"/>
          <p:cNvSpPr/>
          <p:nvPr/>
        </p:nvSpPr>
        <p:spPr>
          <a:xfrm>
            <a:off x="3977640" y="1677924"/>
            <a:ext cx="1188720" cy="3657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oot"/>
          <p:cNvSpPr txBox="1"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root: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keep score. Both make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performance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measure of my standing. Pride and despair are the two readings of one scoreboard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gift removes the scoreboard.</a:t>
            </a:r>
            <a:endParaRPr lang="en-US" dirty="0"/>
          </a:p>
        </p:txBody>
      </p:sp>
      <p:sp>
        <p:nvSpPr>
          <p:cNvPr id="10" name="cure"/>
          <p:cNvSpPr txBox="1"/>
          <p:nvPr/>
        </p:nvSpPr>
        <p:spPr>
          <a:xfrm>
            <a:off x="640080" y="3827416"/>
            <a:ext cx="7863840" cy="2372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cure is not “score higher” or “stop caring.” It is a different righteousness entirely: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is now no condemnation for those who are in Christ Jesus.”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8:1)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The proud man and the despairing man need the same sentence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 better score, but Christ’s.
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 on Him daily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just at the beginning of faith, but all the way through. The same grace that saves is the grace that sustains.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the week’s practice</a:t>
            </a:r>
            <a:endParaRPr lang="en-US" sz="2800" dirty="0"/>
          </a:p>
        </p:txBody>
      </p:sp>
      <p:sp>
        <p:nvSpPr>
          <p:cNvPr id="4" name="x1"/>
          <p:cNvSpPr txBox="1"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pride and despair both grow from the same root of self-righteousness? Which one is your own default?</a:t>
            </a:r>
            <a:endParaRPr lang="en-US" sz="2000" dirty="0"/>
          </a:p>
        </p:txBody>
      </p:sp>
      <p:sp>
        <p:nvSpPr>
          <p:cNvPr id="5" name="x2"/>
          <p:cNvSpPr txBox="1"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daily dependence on given-righteousness actually look like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an ordinary Tuesday, not just at conversion?</a:t>
            </a:r>
            <a:endParaRPr lang="en-US" sz="2000" dirty="0"/>
          </a:p>
        </p:txBody>
      </p:sp>
      <p:sp>
        <p:nvSpPr>
          <p:cNvPr id="6" name="x3"/>
          <p:cNvSpPr txBox="1"/>
          <p:nvPr/>
        </p:nvSpPr>
        <p:spPr>
          <a:xfrm>
            <a:off x="457200" y="4800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Berean rule stands: 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goes back to the text 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eager, and examining.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Like a Berean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eager, and examining</a:t>
            </a:r>
            <a:endParaRPr lang="en-US" sz="2800" dirty="0"/>
          </a:p>
        </p:txBody>
      </p:sp>
      <p:sp>
        <p:nvSpPr>
          <p:cNvPr id="4" name="z1"/>
          <p:cNvSpPr txBox="1"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week, read: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17:10–12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exactly made the Bereans “more open-minded”? Notice both halves of what they did.
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Corinthians 2:6–16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is spiritual truth known? Why can’t it be reasoned to from the outside?</a:t>
            </a:r>
            <a:endParaRPr lang="en-US" sz="2000" dirty="0"/>
          </a:p>
        </p:txBody>
      </p:sp>
      <p:sp>
        <p:nvSpPr>
          <p:cNvPr id="5" name="z2"/>
          <p:cNvSpPr txBox="1"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Berean Method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discerning the sacred and the true. A gift this valuable must be told apart from its counterfeits.</a:t>
            </a:r>
            <a:endParaRPr lang="en-US" dirty="0"/>
          </a:p>
        </p:txBody>
      </p:sp>
      <p:sp>
        <p:nvSpPr>
          <p:cNvPr id="6" name="z3"/>
          <p:cNvSpPr txBox="1"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 in one sentence:
</a:t>
            </a:r>
            <a:r>
              <a:rPr lang="en-US" sz="24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is the shape of faith, not its price. Mercy first. Altar second.</a:t>
            </a:r>
            <a:endParaRPr lang="en-US" sz="2000" dirty="0"/>
          </a:p>
        </p:txBody>
      </p:sp>
      <p:sp>
        <p:nvSpPr>
          <p:cNvPr id="7" name="z4"/>
          <p:cNvSpPr txBox="1"/>
          <p:nvPr/>
        </p:nvSpPr>
        <p:spPr>
          <a:xfrm>
            <a:off x="365760" y="5166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is now no condemnation for those who are in Christ Jesus.”  (Romans 8:1)</a:t>
            </a:r>
            <a:endParaRPr lang="en-US" sz="2000" dirty="0"/>
          </a:p>
        </p:txBody>
      </p:sp>
      <p:sp>
        <p:nvSpPr>
          <p:cNvPr id="8" name="z5"/>
          <p:cNvSpPr txBox="1"/>
          <p:nvPr/>
        </p:nvSpPr>
        <p:spPr>
          <a:xfrm>
            <a:off x="365760" y="61081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2028</Words>
  <Application>Microsoft Macintosh PowerPoint</Application>
  <PresentationFormat>On-screen Show (4:3)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7</cp:revision>
  <dcterms:created xsi:type="dcterms:W3CDTF">2026-09-30T13:19:23Z</dcterms:created>
  <dcterms:modified xsi:type="dcterms:W3CDTF">2026-10-19T11:12:15Z</dcterms:modified>
</cp:coreProperties>
</file>