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[0:00] The pivot week. Say it plainly as they settle: “For three weeks we’ve seen that sincerity is not enough and results are not enough. If you’ve felt the ground get shaky — good. Today we put the ground back, and its name is grace.” This lecture is relief after diagnosis. Set that tone from the first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[0:00–15:00]
[CLICK] Left column — the righteousness of man. Read it as the diligent, respectable, church-going version; this is not the drunk in the ditch, it is the Pharisee. Note: this is Weeks 1–3’s failure named at its root — self-built approach to God.
[CLICK] Right column — the righteousness of God. Note the reversal of starting point: not what we do, but what Christ did. It still produces a changed life (do not let anyone hear “so behavior doesn’t matter”) — but the life flows FROM the gift, not toward it.
[CLICK] Matt 5:20 — Jesus is not asking the Pharisees to try harder at their own kind; he points past it entirely.
[CLICK] Rom 10:3–4 — Israel’s failure: not too little zeal (10:2 says they had zeal), but zeal aimed at establishing their own. Land the danger sentence. Transition: “If righteousness is a gift, then knowing God is not an achievement either. So how is He known?”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[15:00–30:00 — 5 min per stage]
[CLICK] PROMISED (15:00) — Jer 31: the OLD covenant’s problem was not the law but the location; now written inside. “They will all know me” — the Hebrew “know” is relational, covenantal, not data. This is the promise the whole NT says arrived.
[CLICK] BORN (20:00) — John 3: Nicodemus, a righteousness-of-man expert, is told he must be born from ABOVE. You cannot achieve a birth; it happens TO you. New creation begins in the spirit.
[CLICK] WITNESSED (25:00) — Rom 8: the felt reality — the Spirit’s inner witness of belonging (8:16). This is assurance grounded in God’s work, not in our performance scorecard (answers Week 1’s “invisible even to its owner” unease). Land the summary: knowing God is His work IN you. Transition: “Now — why put this week HERE, right in the middle?”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[30:00–40:00]
This is the theological keystone of the entire 12 weeks. Do not rush it.
[CLICK] Name the risk honestly — a course this heavy on obedience CAN be misheard as works-salvation. We are inoculating against that now.
[CLICK] The sentence to memorize: obedience is the SHAPE of faith, not its PRICE. Have them repeat it. This is the “mercy first, altar second” of Week 4.
[CLICK] The exodus order — this is the master pattern. Redeemed FIRST (Passover blood), tested SECOND (wilderness). Deut 8:2 comes in chapter 8, long after the rescue. The tests never bought the freedom.
[CLICK] Eph 2:8–10 seals it: saved for good works, not by them. Same grace-then-life order. Land: mercy first, altar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[40:00–42:00 — this slide previews discussion Q1 and makes it land]
[CLICK] Pride — the scoreboard is up and you’re winning. Note it is FRAGILE: one bad week and it flips.
[CLICK] Despair — same scoreboard, losing. The arrow shows they are the SAME system in two states.
[CLICK] The root: both keep score; both make my performance the measure. This is the insight discussion Q1 is fishing for — you can either teach it here and let discussion deepen it, or hold it and let them discover it. Your call by clock.
[CLICK] Rom 8:1 — the gift removes the scoreboard. Same medicine for both patients. The “depend daily” line sets up discussion Q2.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[45:00–55:00]
Q1: If slide 5 already taught the root, use this to get personal — “which is YOUR default?” Most people lean one way. Naming it is the win. Gentle; some will admit despair and that is tender ground.
Q2: The practical payoff of the whole week. Aim concrete: confession without wallowing; receiving forgiveness rather than re-earning it; serving from acceptance rather than for it; resting on a finished work when you fail by Tuesday afternoon. Seed if quiet: “What changes about how you pray after a bad day?”
[CLICK] Ground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[55:00 close, ~2 min]
[CLICK] Next week’s reading — the pivot into method: now that grace is secured, we learn to discern it from counterfeits. The bridge sentence: “A gift this valuable will be imitated — next week we learn to tell real from fake.”
[CLICK] Preview Week 5.
[CLICK] Carry sentence — have them say it with you; it is the course’s spine.
[CLICK] Close on Rom 8:1 — send them out with no condemnation, not with a to-do list. Dismiss on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tinyurl.com/TeachTheWor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tinyurl.com/TeachTheWor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548640" y="640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Obedience of Faith — Week 4  ·  Unit II: Discernment</a:t>
            </a:r>
            <a:endParaRPr lang="en-US" sz="1600" dirty="0"/>
          </a:p>
        </p:txBody>
      </p:sp>
      <p:sp>
        <p:nvSpPr>
          <p:cNvPr id="3" name="t1"/>
          <p:cNvSpPr txBox="1"/>
          <p:nvPr/>
        </p:nvSpPr>
        <p:spPr>
          <a:xfrm>
            <a:off x="548640" y="11887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Righteousnesses</a:t>
            </a:r>
            <a:endParaRPr lang="en-US" sz="1600" dirty="0"/>
          </a:p>
        </p:txBody>
      </p:sp>
      <p:sp>
        <p:nvSpPr>
          <p:cNvPr id="4" name="t2"/>
          <p:cNvSpPr txBox="1"/>
          <p:nvPr/>
        </p:nvSpPr>
        <p:spPr>
          <a:xfrm>
            <a:off x="548640" y="21488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and How God Is Known</a:t>
            </a:r>
            <a:endParaRPr lang="en-US" sz="1600" dirty="0"/>
          </a:p>
        </p:txBody>
      </p:sp>
      <p:sp>
        <p:nvSpPr>
          <p:cNvPr id="5" name="t3"/>
          <p:cNvSpPr txBox="1"/>
          <p:nvPr/>
        </p:nvSpPr>
        <p:spPr>
          <a:xfrm>
            <a:off x="914400" y="301752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“For ignoring the righteousness that comes from God, and seeking instead to establish their own righteousness, they did not submit to God’s righteousness.”</a:t>
            </a:r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(Romans 10:3)</a:t>
            </a:r>
            <a:endParaRPr lang="en-US" sz="1600" dirty="0"/>
          </a:p>
        </p:txBody>
      </p:sp>
      <p:sp>
        <p:nvSpPr>
          <p:cNvPr id="6" name="t4"/>
          <p:cNvSpPr txBox="1"/>
          <p:nvPr/>
        </p:nvSpPr>
        <p:spPr>
          <a:xfrm>
            <a:off x="914400" y="4892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u="sng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https://tinyurl.com/TeachTheWord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Kinds of Righteousness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person lives under one or the other</a:t>
            </a:r>
            <a:endParaRPr lang="en-US" sz="1600" dirty="0"/>
          </a:p>
        </p:txBody>
      </p:sp>
      <p:sp>
        <p:nvSpPr>
          <p:cNvPr id="4" name="colL"/>
          <p:cNvSpPr/>
          <p:nvPr/>
        </p:nvSpPr>
        <p:spPr>
          <a:xfrm>
            <a:off x="365760" y="1234440"/>
            <a:ext cx="4114800" cy="2788920"/>
          </a:xfrm>
          <a:prstGeom prst="roundRect">
            <a:avLst>
              <a:gd name="adj" fmla="val 2623"/>
            </a:avLst>
          </a:prstGeom>
          <a:solidFill>
            <a:srgbClr val="F2F0EA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5" name="Lh"/>
          <p:cNvSpPr txBox="1"/>
          <p:nvPr/>
        </p:nvSpPr>
        <p:spPr>
          <a:xfrm>
            <a:off x="502920" y="13716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0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righteousness OF MAN</a:t>
            </a:r>
            <a:endParaRPr lang="en-US" sz="1600" dirty="0"/>
          </a:p>
        </p:txBody>
      </p:sp>
      <p:sp>
        <p:nvSpPr>
          <p:cNvPr id="6" name="Lb"/>
          <p:cNvSpPr txBox="1"/>
          <p:nvPr/>
        </p:nvSpPr>
        <p:spPr>
          <a:xfrm>
            <a:off x="502920" y="1874520"/>
            <a:ext cx="38404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self-trust; depends on performance.
</a:t>
            </a:r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Measures worth by effort, comparison, behavior.
</a:t>
            </a:r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righteousness of the scribes and Pharisees.
</a:t>
            </a:r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on the outside — cannot stand before God.
</a:t>
            </a:r>
            <a:pPr algn="l" indent="0" marL="0">
              <a:buNone/>
            </a:pPr>
            <a:r>
              <a:rPr lang="en-US" sz="1450" b="1" dirty="0">
                <a:solidFill>
                  <a:srgbClr val="B0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Says: “prove yourself.”</a:t>
            </a:r>
            <a:endParaRPr lang="en-US" sz="1600" dirty="0"/>
          </a:p>
        </p:txBody>
      </p:sp>
      <p:sp>
        <p:nvSpPr>
          <p:cNvPr id="7" name="colR"/>
          <p:cNvSpPr/>
          <p:nvPr/>
        </p:nvSpPr>
        <p:spPr>
          <a:xfrm>
            <a:off x="4663440" y="1234440"/>
            <a:ext cx="4114800" cy="2788920"/>
          </a:xfrm>
          <a:prstGeom prst="roundRect">
            <a:avLst>
              <a:gd name="adj" fmla="val 2623"/>
            </a:avLst>
          </a:prstGeom>
          <a:solidFill>
            <a:srgbClr val="1F497D"/>
          </a:solidFill>
          <a:ln/>
        </p:spPr>
      </p:sp>
      <p:sp>
        <p:nvSpPr>
          <p:cNvPr id="8" name="Rh"/>
          <p:cNvSpPr txBox="1"/>
          <p:nvPr/>
        </p:nvSpPr>
        <p:spPr>
          <a:xfrm>
            <a:off x="4800600" y="13716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righteousness OF GOD</a:t>
            </a:r>
            <a:endParaRPr lang="en-US" sz="1600" dirty="0"/>
          </a:p>
        </p:txBody>
      </p:sp>
      <p:sp>
        <p:nvSpPr>
          <p:cNvPr id="9" name="Rb"/>
          <p:cNvSpPr txBox="1"/>
          <p:nvPr/>
        </p:nvSpPr>
        <p:spPr>
          <a:xfrm>
            <a:off x="4800600" y="1874520"/>
            <a:ext cx="38404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not come from us — it comes from Him.
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 by grace, received through faith, grounded in Christ.
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Begins not with what we do, but what Christ has done.
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Produces a new life that changes how we live.
</a:t>
            </a:r>
            <a:pPr algn="l" indent="0" marL="0">
              <a:buNone/>
            </a:pPr>
            <a:r>
              <a:rPr lang="en-US" sz="145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Says: “trust Christ.”</a:t>
            </a:r>
            <a:endParaRPr lang="en-US" sz="1600" dirty="0"/>
          </a:p>
        </p:txBody>
      </p:sp>
      <p:sp>
        <p:nvSpPr>
          <p:cNvPr id="10" name="m1"/>
          <p:cNvSpPr txBox="1"/>
          <p:nvPr/>
        </p:nvSpPr>
        <p:spPr>
          <a:xfrm>
            <a:off x="365760" y="4206240"/>
            <a:ext cx="8412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“Unless your righteousness goes beyond that of the experts in the law and the Pharisees, you will never enter the kingdom of heaven.” 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(Matthew 5:20)</a:t>
            </a:r>
            <a:pPr algn="l" indent="0" marL="0">
              <a:buNone/>
            </a:pPr>
            <a:r>
              <a:rPr lang="en-US" sz="14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Not more rule-keeping — a different kind of righteousness altogether.</a:t>
            </a:r>
            <a:endParaRPr lang="en-US" sz="1600" dirty="0"/>
          </a:p>
        </p:txBody>
      </p:sp>
      <p:sp>
        <p:nvSpPr>
          <p:cNvPr id="11" name="m2"/>
          <p:cNvSpPr txBox="1"/>
          <p:nvPr/>
        </p:nvSpPr>
        <p:spPr>
          <a:xfrm>
            <a:off x="365760" y="525780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“Christ is the end of the law, with the result that there is righteousness for everyone who believes.” 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(Romans 10:4)</a:t>
            </a:r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danger: a person can be serious, religious, and sincere — and still miss God by building his own.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God Is Actually Known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Promised, then given — an inside work</a:t>
            </a:r>
            <a:endParaRPr lang="en-US" sz="1600" dirty="0"/>
          </a:p>
        </p:txBody>
      </p:sp>
      <p:sp>
        <p:nvSpPr>
          <p:cNvPr id="4" name="g0b"/>
          <p:cNvSpPr/>
          <p:nvPr/>
        </p:nvSpPr>
        <p:spPr>
          <a:xfrm>
            <a:off x="365760" y="128016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5" name="g0l"/>
          <p:cNvSpPr txBox="1"/>
          <p:nvPr/>
        </p:nvSpPr>
        <p:spPr>
          <a:xfrm>
            <a:off x="365760" y="1572768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PROMISED
</a:t>
            </a:r>
            <a:pPr algn="ctr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Jeremiah 31:31–34</a:t>
            </a:r>
            <a:endParaRPr lang="en-US" sz="1600" dirty="0"/>
          </a:p>
        </p:txBody>
      </p:sp>
      <p:sp>
        <p:nvSpPr>
          <p:cNvPr id="6" name="g0t"/>
          <p:cNvSpPr txBox="1"/>
          <p:nvPr/>
        </p:nvSpPr>
        <p:spPr>
          <a:xfrm>
            <a:off x="2148840" y="1353312"/>
            <a:ext cx="662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covenant: “I will put my law within them… write it on their hearts.” The result: “they will all know me.” Not information — relationship.</a:t>
            </a:r>
            <a:endParaRPr lang="en-US" sz="1600" dirty="0"/>
          </a:p>
        </p:txBody>
      </p:sp>
      <p:sp>
        <p:nvSpPr>
          <p:cNvPr id="7" name="g1b"/>
          <p:cNvSpPr/>
          <p:nvPr/>
        </p:nvSpPr>
        <p:spPr>
          <a:xfrm>
            <a:off x="365760" y="278892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1F497D">
              <a:alpha val="88000"/>
            </a:srgbClr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8" name="g1l"/>
          <p:cNvSpPr txBox="1"/>
          <p:nvPr/>
        </p:nvSpPr>
        <p:spPr>
          <a:xfrm>
            <a:off x="365760" y="3081528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BORN
</a:t>
            </a:r>
            <a:pPr algn="ctr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 3:3–6</a:t>
            </a:r>
            <a:endParaRPr lang="en-US" sz="1600" dirty="0"/>
          </a:p>
        </p:txBody>
      </p:sp>
      <p:sp>
        <p:nvSpPr>
          <p:cNvPr id="9" name="g1t"/>
          <p:cNvSpPr txBox="1"/>
          <p:nvPr/>
        </p:nvSpPr>
        <p:spPr>
          <a:xfrm>
            <a:off x="2148840" y="2862072"/>
            <a:ext cx="662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“Unless a person is born from above…”  “What is born of the Spirit is spirit.” The Spirit brings life to the human spirit — a new creation (2 Cor 5:17).</a:t>
            </a:r>
            <a:endParaRPr lang="en-US" sz="1600" dirty="0"/>
          </a:p>
        </p:txBody>
      </p:sp>
      <p:sp>
        <p:nvSpPr>
          <p:cNvPr id="10" name="g2b"/>
          <p:cNvSpPr/>
          <p:nvPr/>
        </p:nvSpPr>
        <p:spPr>
          <a:xfrm>
            <a:off x="365760" y="429768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1F497D">
              <a:alpha val="76000"/>
            </a:srgbClr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1" name="g2l"/>
          <p:cNvSpPr txBox="1"/>
          <p:nvPr/>
        </p:nvSpPr>
        <p:spPr>
          <a:xfrm>
            <a:off x="365760" y="4590288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WITNESSED
</a:t>
            </a:r>
            <a:pPr algn="ctr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Romans 8:2, 9–16</a:t>
            </a:r>
            <a:endParaRPr lang="en-US" sz="1600" dirty="0"/>
          </a:p>
        </p:txBody>
      </p:sp>
      <p:sp>
        <p:nvSpPr>
          <p:cNvPr id="12" name="g2t"/>
          <p:cNvSpPr txBox="1"/>
          <p:nvPr/>
        </p:nvSpPr>
        <p:spPr>
          <a:xfrm>
            <a:off x="2148840" y="4370832"/>
            <a:ext cx="662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Spirit sets free from sin and death, dwells inside, gives life — and “bears witness to our spirit that we are God’s children.” Spirit-to-spirit knowing.</a:t>
            </a:r>
            <a:endParaRPr lang="en-US" sz="1600" dirty="0"/>
          </a:p>
        </p:txBody>
      </p:sp>
      <p:sp>
        <p:nvSpPr>
          <p:cNvPr id="13" name="gk"/>
          <p:cNvSpPr txBox="1"/>
          <p:nvPr/>
        </p:nvSpPr>
        <p:spPr>
          <a:xfrm>
            <a:off x="365760" y="59436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Knowing God is His work in you, not your climb toward Him. </a:t>
            </a:r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“They will ALL know me” — from the least to the greatest.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Week Sits Here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load-bearing wall of the whole course</a:t>
            </a:r>
            <a:endParaRPr lang="en-US" sz="1600" dirty="0"/>
          </a:p>
        </p:txBody>
      </p:sp>
      <p:sp>
        <p:nvSpPr>
          <p:cNvPr id="4" name="w1"/>
          <p:cNvSpPr txBox="1"/>
          <p:nvPr/>
        </p:nvSpPr>
        <p:spPr>
          <a:xfrm>
            <a:off x="365760" y="1188720"/>
            <a:ext cx="8412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ahead of us — the covenant tests (Unit III), the living sacrifice, church order, the commission — describes </a:t>
            </a:r>
            <a:pPr algn="l" indent="0" marL="0">
              <a:buNone/>
            </a:pPr>
            <a:r>
              <a:rPr lang="en-US" sz="1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obedience.
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 place this week wrong, the whole course is heard as: earn your standing with God.</a:t>
            </a:r>
            <a:endParaRPr lang="en-US" sz="1600" dirty="0"/>
          </a:p>
        </p:txBody>
      </p:sp>
      <p:sp>
        <p:nvSpPr>
          <p:cNvPr id="5" name="w2"/>
          <p:cNvSpPr txBox="1"/>
          <p:nvPr/>
        </p:nvSpPr>
        <p:spPr>
          <a:xfrm>
            <a:off x="365760" y="233172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hear it now, and hear it at Weeks 7, 9, and 12:
</a:t>
            </a:r>
            <a:pPr algn="l" indent="0" marL="0">
              <a:buNone/>
            </a:pPr>
            <a:r>
              <a:rPr lang="en-US" sz="2200" b="1" u="sng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Obedience is the SHAPE of faith — not its PRICE.</a:t>
            </a:r>
            <a:endParaRPr lang="en-US" sz="1600" dirty="0"/>
          </a:p>
        </p:txBody>
      </p:sp>
      <p:sp>
        <p:nvSpPr>
          <p:cNvPr id="6" name="w3"/>
          <p:cNvSpPr txBox="1"/>
          <p:nvPr/>
        </p:nvSpPr>
        <p:spPr>
          <a:xfrm>
            <a:off x="365760" y="3383280"/>
            <a:ext cx="8412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pattern is fixed in the exodus itself:
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redeemed Israel from Egypt — by blood and grace — </a:t>
            </a:r>
            <a:pPr algn="l" indent="0" marL="0">
              <a:buNone/>
            </a:pPr>
            <a:r>
              <a:rPr lang="en-US" sz="1500" b="1" i="1" dirty="0">
                <a:solidFill>
                  <a:srgbClr val="B0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THEN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brought them to the wilderness to be tested (Deut 8:2). The tests came </a:t>
            </a:r>
            <a:pPr algn="l"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rescue — never to accomplish it. Law at Sinai followed redemption from Egypt; it did not buy it.</a:t>
            </a:r>
            <a:endParaRPr lang="en-US" sz="1600" dirty="0"/>
          </a:p>
        </p:txBody>
      </p:sp>
      <p:sp>
        <p:nvSpPr>
          <p:cNvPr id="7" name="w4"/>
          <p:cNvSpPr txBox="1"/>
          <p:nvPr/>
        </p:nvSpPr>
        <p:spPr>
          <a:xfrm>
            <a:off x="365760" y="4754880"/>
            <a:ext cx="8412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order in the New Covenant — grace first, then the life it produces:
</a:t>
            </a:r>
            <a:pPr algn="l" indent="0" marL="0">
              <a:buNone/>
            </a:pPr>
            <a:r>
              <a:rPr lang="en-US" sz="145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“By grace you are saved through faith, and this is not from yourselves; it is the gift of God; it is not from works… For we are his workmanship, created in Christ Jesus for good works.” </a:t>
            </a:r>
            <a:pPr algn="l"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(Ephesians 2:8–10)</a:t>
            </a:r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for good works — not by them. Mercy first. Altar second.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Root, Two Poisons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self-righteousness fails you either way</a:t>
            </a:r>
            <a:endParaRPr lang="en-US" sz="1600" dirty="0"/>
          </a:p>
        </p:txBody>
      </p:sp>
      <p:sp>
        <p:nvSpPr>
          <p:cNvPr id="4" name="prb"/>
          <p:cNvSpPr/>
          <p:nvPr/>
        </p:nvSpPr>
        <p:spPr>
          <a:xfrm>
            <a:off x="640080" y="146304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F2F0EA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5" name="prt"/>
          <p:cNvSpPr txBox="1"/>
          <p:nvPr/>
        </p:nvSpPr>
        <p:spPr>
          <a:xfrm>
            <a:off x="777240" y="160020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0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PRIDE
</a:t>
            </a:r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scorecard reads well: “I’m doing better than they are.”</a:t>
            </a:r>
            <a:endParaRPr lang="en-US" sz="1600" dirty="0"/>
          </a:p>
        </p:txBody>
      </p:sp>
      <p:sp>
        <p:nvSpPr>
          <p:cNvPr id="6" name="deb"/>
          <p:cNvSpPr/>
          <p:nvPr/>
        </p:nvSpPr>
        <p:spPr>
          <a:xfrm>
            <a:off x="5212080" y="146304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F2F0EA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7" name="det"/>
          <p:cNvSpPr txBox="1"/>
          <p:nvPr/>
        </p:nvSpPr>
        <p:spPr>
          <a:xfrm>
            <a:off x="5349240" y="160020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0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DESPAIR
</a:t>
            </a:r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it reads badly: “I’ll never be enough.”</a:t>
            </a:r>
            <a:endParaRPr lang="en-US" sz="1600" dirty="0"/>
          </a:p>
        </p:txBody>
      </p:sp>
      <p:sp>
        <p:nvSpPr>
          <p:cNvPr id="8" name="ar1"/>
          <p:cNvSpPr/>
          <p:nvPr/>
        </p:nvSpPr>
        <p:spPr>
          <a:xfrm>
            <a:off x="3977640" y="1965960"/>
            <a:ext cx="1188720" cy="365760"/>
          </a:xfrm>
          <a:prstGeom prst="rightArrow">
            <a:avLst/>
          </a:prstGeom>
          <a:solidFill>
            <a:srgbClr val="595959"/>
          </a:solidFill>
          <a:ln/>
        </p:spPr>
      </p:sp>
      <p:sp>
        <p:nvSpPr>
          <p:cNvPr id="9" name="root"/>
          <p:cNvSpPr txBox="1"/>
          <p:nvPr/>
        </p:nvSpPr>
        <p:spPr>
          <a:xfrm>
            <a:off x="640080" y="30632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root: </a:t>
            </a:r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keep score. Both make </a:t>
            </a:r>
            <a:pPr algn="l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performance</a:t>
            </a:r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measure of my standing. Pride and despair are the two readings of one scoreboard — and the gift removes the scoreboard.</a:t>
            </a:r>
            <a:endParaRPr lang="en-US" sz="1600" dirty="0"/>
          </a:p>
        </p:txBody>
      </p:sp>
      <p:sp>
        <p:nvSpPr>
          <p:cNvPr id="10" name="cure"/>
          <p:cNvSpPr txBox="1"/>
          <p:nvPr/>
        </p:nvSpPr>
        <p:spPr>
          <a:xfrm>
            <a:off x="640080" y="420624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cure is not “score higher” or “stop caring.” It is a different righteousness entirely:
</a:t>
            </a:r>
            <a:pPr algn="l" indent="0" marL="0">
              <a:buNone/>
            </a:pPr>
            <a:r>
              <a:rPr lang="en-US" sz="16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“There is now no condemnation for those who are in Christ Jesus.” </a:t>
            </a:r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(Romans 8:1)</a:t>
            </a:r>
            <a:pPr algn="l"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The proud man and the despairing man need the same sentence — not a better score, but Christ’s.
</a:t>
            </a:r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 on Him daily — not just at the beginning of faith, but all the way through. The same grace that saves is the grace that sustains.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minutes — this is the week’s practice</a:t>
            </a:r>
            <a:endParaRPr lang="en-US" sz="1600" dirty="0"/>
          </a:p>
        </p:txBody>
      </p:sp>
      <p:sp>
        <p:nvSpPr>
          <p:cNvPr id="4" name="x1"/>
          <p:cNvSpPr txBox="1"/>
          <p:nvPr/>
        </p:nvSpPr>
        <p:spPr>
          <a:xfrm>
            <a:off x="457200" y="1325880"/>
            <a:ext cx="8229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</a:t>
            </a:r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pride and despair both grow from the same root of self-righteousness? Which one is your own default?</a:t>
            </a:r>
            <a:endParaRPr lang="en-US" sz="1600" dirty="0"/>
          </a:p>
        </p:txBody>
      </p:sp>
      <p:sp>
        <p:nvSpPr>
          <p:cNvPr id="5" name="x2"/>
          <p:cNvSpPr txBox="1"/>
          <p:nvPr/>
        </p:nvSpPr>
        <p:spPr>
          <a:xfrm>
            <a:off x="457200" y="2971800"/>
            <a:ext cx="8229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</a:t>
            </a:r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daily dependence on given-righteousness actually look like — on an ordinary Tuesday, not just at conversion?</a:t>
            </a:r>
            <a:endParaRPr lang="en-US" sz="1600" dirty="0"/>
          </a:p>
        </p:txBody>
      </p:sp>
      <p:sp>
        <p:nvSpPr>
          <p:cNvPr id="6" name="x3"/>
          <p:cNvSpPr txBox="1"/>
          <p:nvPr/>
        </p:nvSpPr>
        <p:spPr>
          <a:xfrm>
            <a:off x="457200" y="4800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Berean rule stands: </a:t>
            </a:r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 goes back to the text — eager, and examining.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Like a Berean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next week — eager, and examining</a:t>
            </a:r>
            <a:endParaRPr lang="en-US" sz="1600" dirty="0"/>
          </a:p>
        </p:txBody>
      </p:sp>
      <p:sp>
        <p:nvSpPr>
          <p:cNvPr id="4" name="z1"/>
          <p:cNvSpPr txBox="1"/>
          <p:nvPr/>
        </p:nvSpPr>
        <p:spPr>
          <a:xfrm>
            <a:off x="365760" y="118872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next week, read:
</a:t>
            </a:r>
            <a:pPr algn="l" indent="0" marL="0">
              <a:buNone/>
            </a:pPr>
            <a:r>
              <a:rPr lang="en-US" sz="15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Acts 17:10–12  — what exactly made the Bereans “more open-minded”? Notice both halves of what they did.
</a:t>
            </a:r>
            <a:pPr algn="l" indent="0" marL="0">
              <a:buNone/>
            </a:pPr>
            <a:r>
              <a:rPr lang="en-US" sz="15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1 Corinthians 2:6–16  — how is spiritual truth known? Why can’t it be reasoned to from the outside?</a:t>
            </a:r>
            <a:endParaRPr lang="en-US" sz="1600" dirty="0"/>
          </a:p>
        </p:txBody>
      </p:sp>
      <p:sp>
        <p:nvSpPr>
          <p:cNvPr id="5" name="z2"/>
          <p:cNvSpPr txBox="1"/>
          <p:nvPr/>
        </p:nvSpPr>
        <p:spPr>
          <a:xfrm>
            <a:off x="365760" y="28346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week: </a:t>
            </a:r>
            <a:pPr algn="l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Berean Method — discerning the sacred and the true. A gift this valuable must be told apart from its counterfeits.</a:t>
            </a:r>
            <a:endParaRPr lang="en-US" sz="1600" dirty="0"/>
          </a:p>
        </p:txBody>
      </p:sp>
      <p:sp>
        <p:nvSpPr>
          <p:cNvPr id="6" name="z3"/>
          <p:cNvSpPr txBox="1"/>
          <p:nvPr/>
        </p:nvSpPr>
        <p:spPr>
          <a:xfrm>
            <a:off x="365760" y="3977640"/>
            <a:ext cx="8412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this week in one sentence:
</a:t>
            </a:r>
            <a:pPr algn="l" indent="0" marL="0">
              <a:buNone/>
            </a:pPr>
            <a:r>
              <a:rPr lang="en-US" sz="1700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Obedience is the shape of faith, not its price. Mercy first. Altar second.</a:t>
            </a:r>
            <a:endParaRPr lang="en-US" sz="1600" dirty="0"/>
          </a:p>
        </p:txBody>
      </p:sp>
      <p:sp>
        <p:nvSpPr>
          <p:cNvPr id="7" name="z4"/>
          <p:cNvSpPr txBox="1"/>
          <p:nvPr/>
        </p:nvSpPr>
        <p:spPr>
          <a:xfrm>
            <a:off x="365760" y="516636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“There is now no condemnation for those who are in Christ Jesus.”  (Romans 8:1)</a:t>
            </a:r>
            <a:endParaRPr lang="en-US" sz="1600" dirty="0"/>
          </a:p>
        </p:txBody>
      </p:sp>
      <p:sp>
        <p:nvSpPr>
          <p:cNvPr id="8" name="z5"/>
          <p:cNvSpPr txBox="1"/>
          <p:nvPr/>
        </p:nvSpPr>
        <p:spPr>
          <a:xfrm>
            <a:off x="365760" y="60350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https://tinyurl.com/TeachTheWord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2026-09-30T13:19:23Z</dcterms:created>
  <dcterms:modified xsi:type="dcterms:W3CDTF">2026-09-30T13:19:23Z</dcterms:modified>
</cp:coreProperties>
</file>