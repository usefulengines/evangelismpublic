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5"/>
  </p:notesMasterIdLst>
  <p:sldIdLst>
    <p:sldId id="629" r:id="rId3"/>
    <p:sldId id="632" r:id="rId4"/>
    <p:sldId id="633" r:id="rId5"/>
    <p:sldId id="636" r:id="rId6"/>
    <p:sldId id="634" r:id="rId7"/>
    <p:sldId id="627" r:id="rId8"/>
    <p:sldId id="630" r:id="rId9"/>
    <p:sldId id="631" r:id="rId10"/>
    <p:sldId id="637" r:id="rId11"/>
    <p:sldId id="628" r:id="rId12"/>
    <p:sldId id="638" r:id="rId13"/>
    <p:sldId id="644" r:id="rId14"/>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A6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62005" autoAdjust="0"/>
  </p:normalViewPr>
  <p:slideViewPr>
    <p:cSldViewPr>
      <p:cViewPr varScale="1">
        <p:scale>
          <a:sx n="85" d="100"/>
          <a:sy n="85" d="100"/>
        </p:scale>
        <p:origin x="2928" y="16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169921" cy="480060"/>
          </a:xfrm>
          <a:prstGeom prst="rect">
            <a:avLst/>
          </a:prstGeom>
        </p:spPr>
        <p:txBody>
          <a:bodyPr vert="horz" wrap="square" lIns="96579" tIns="48290" rIns="96579" bIns="48290"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89" y="4"/>
            <a:ext cx="3169921" cy="480060"/>
          </a:xfrm>
          <a:prstGeom prst="rect">
            <a:avLst/>
          </a:prstGeom>
        </p:spPr>
        <p:txBody>
          <a:bodyPr vert="horz" wrap="square" lIns="96579" tIns="48290" rIns="96579" bIns="48290"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3/8/26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wrap="square" lIns="96579" tIns="48290" rIns="96579" bIns="4829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4560571"/>
            <a:ext cx="5852160" cy="4320540"/>
          </a:xfrm>
          <a:prstGeom prst="rect">
            <a:avLst/>
          </a:prstGeom>
        </p:spPr>
        <p:txBody>
          <a:bodyPr vert="horz" wrap="square" lIns="96579" tIns="48290" rIns="96579" bIns="4829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9119474"/>
            <a:ext cx="3169921" cy="480060"/>
          </a:xfrm>
          <a:prstGeom prst="rect">
            <a:avLst/>
          </a:prstGeom>
        </p:spPr>
        <p:txBody>
          <a:bodyPr vert="horz" wrap="square" lIns="96579" tIns="48290" rIns="96579" bIns="48290"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89" y="9119474"/>
            <a:ext cx="3169921" cy="480060"/>
          </a:xfrm>
          <a:prstGeom prst="rect">
            <a:avLst/>
          </a:prstGeom>
        </p:spPr>
        <p:txBody>
          <a:bodyPr vert="horz" wrap="square" lIns="96579" tIns="48290" rIns="96579" bIns="48290"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8CBE0-8759-6627-93F4-AA84641D1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F4D04-E101-2EEF-C76A-8EB4C9331E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D401B5-AFBE-D1A7-D71C-3C31F203A1DD}"/>
              </a:ext>
            </a:extLst>
          </p:cNvPr>
          <p:cNvSpPr>
            <a:spLocks noGrp="1"/>
          </p:cNvSpPr>
          <p:nvPr>
            <p:ph type="body" idx="1"/>
          </p:nvPr>
        </p:nvSpPr>
        <p:spPr/>
        <p:txBody>
          <a:bodyPr>
            <a:normAutofit fontScale="62500" lnSpcReduction="20000"/>
          </a:bodyPr>
          <a:lstStyle/>
          <a:p>
            <a:r>
              <a:rPr lang="en-US" sz="1400" b="1" dirty="0"/>
              <a:t>Expanded Discussion Questions</a:t>
            </a:r>
            <a:endParaRPr lang="en-US" sz="1400" dirty="0"/>
          </a:p>
          <a:p>
            <a:pPr lvl="1" rtl="0" fontAlgn="ctr"/>
            <a:r>
              <a:rPr lang="en-US" sz="1400" b="1" dirty="0">
                <a:cs typeface="ＭＳ Ｐゴシック" pitchFamily="-106" charset="-128"/>
              </a:rPr>
              <a:t>Why is it dangerous to define righteousness by culture or personal experience?   (“Man” becomes the measure of all things.)</a:t>
            </a:r>
          </a:p>
          <a:p>
            <a:pPr lvl="1" rtl="0" fontAlgn="ctr"/>
            <a:r>
              <a:rPr lang="en-US" sz="1400" b="1" dirty="0">
                <a:cs typeface="ＭＳ Ｐゴシック" pitchFamily="-106" charset="-128"/>
              </a:rPr>
              <a:t>Why does God’s righteousness expose both our sin and our hope?  (God is thus recognized as the measure of all things.)</a:t>
            </a:r>
            <a:endParaRPr lang="en-US" sz="1400" dirty="0">
              <a:cs typeface="ＭＳ Ｐゴシック" pitchFamily="-106" charset="-128"/>
            </a:endParaRPr>
          </a:p>
          <a:p>
            <a:r>
              <a:rPr lang="en-US" sz="1400" dirty="0"/>
              <a:t>  </a:t>
            </a:r>
          </a:p>
          <a:p>
            <a:r>
              <a:rPr lang="en-US" sz="1400" b="1" dirty="0"/>
              <a:t>Why This Matters for the Whole Study</a:t>
            </a:r>
            <a:endParaRPr lang="en-US" sz="1400" dirty="0"/>
          </a:p>
          <a:p>
            <a:pPr marL="167061" indent="-167061">
              <a:buFont typeface="Arial" panose="020B0604020202020204" pitchFamily="34" charset="0"/>
              <a:buChar char="•"/>
            </a:pPr>
            <a:r>
              <a:rPr lang="en-US" sz="1400" dirty="0"/>
              <a:t>If we misunderstand righteousness at the start, everything else breaks.</a:t>
            </a:r>
          </a:p>
          <a:p>
            <a:pPr marL="167061" indent="-167061" fontAlgn="ctr">
              <a:buFont typeface="Arial" panose="020B0604020202020204" pitchFamily="34" charset="0"/>
              <a:buChar char="•"/>
            </a:pPr>
            <a:r>
              <a:rPr lang="en-US" sz="1400" u="sng" dirty="0"/>
              <a:t>If righteousness starts with man, we end in pride or despair.</a:t>
            </a:r>
          </a:p>
          <a:p>
            <a:pPr marL="167061" indent="-167061" fontAlgn="ctr">
              <a:buFont typeface="Arial" panose="020B0604020202020204" pitchFamily="34" charset="0"/>
              <a:buChar char="•"/>
            </a:pPr>
            <a:r>
              <a:rPr lang="en-US" sz="1400" u="sng" dirty="0"/>
              <a:t>If righteousness starts with God, we end in humility and trust.</a:t>
            </a:r>
          </a:p>
          <a:p>
            <a:r>
              <a:rPr lang="en-US" sz="1400" dirty="0"/>
              <a:t>This sets up the entire contrast of the study:</a:t>
            </a:r>
          </a:p>
          <a:p>
            <a:pPr marL="167061" indent="-167061" fontAlgn="ctr">
              <a:buFont typeface="Arial" panose="020B0604020202020204" pitchFamily="34" charset="0"/>
              <a:buChar char="•"/>
            </a:pPr>
            <a:r>
              <a:rPr lang="en-US" sz="1400" b="1" dirty="0"/>
              <a:t>The righteousness of man</a:t>
            </a:r>
            <a:r>
              <a:rPr lang="en-US" sz="1400" dirty="0"/>
              <a:t> is self-made and unstable.</a:t>
            </a:r>
          </a:p>
          <a:p>
            <a:pPr marL="167061" indent="-167061" fontAlgn="ctr">
              <a:buFont typeface="Arial" panose="020B0604020202020204" pitchFamily="34" charset="0"/>
              <a:buChar char="•"/>
            </a:pPr>
            <a:r>
              <a:rPr lang="en-US" sz="1400" b="1" dirty="0"/>
              <a:t>The righteousness of God</a:t>
            </a:r>
            <a:r>
              <a:rPr lang="en-US" sz="1400" dirty="0"/>
              <a:t> is </a:t>
            </a:r>
            <a:r>
              <a:rPr lang="en-US" sz="1400" u="sng" dirty="0"/>
              <a:t>revealed</a:t>
            </a:r>
            <a:r>
              <a:rPr lang="en-US" sz="1400" dirty="0"/>
              <a:t>, </a:t>
            </a:r>
            <a:r>
              <a:rPr lang="en-US" sz="1400" u="sng" dirty="0"/>
              <a:t>given</a:t>
            </a:r>
            <a:r>
              <a:rPr lang="en-US" sz="1400" dirty="0"/>
              <a:t>, and </a:t>
            </a:r>
            <a:r>
              <a:rPr lang="en-US" sz="1400" u="sng" dirty="0"/>
              <a:t>life-giving</a:t>
            </a:r>
            <a:r>
              <a:rPr lang="en-US" sz="1400" dirty="0"/>
              <a:t>.</a:t>
            </a:r>
          </a:p>
          <a:p>
            <a:endParaRPr lang="en-US" sz="1400" dirty="0"/>
          </a:p>
          <a:p>
            <a:pPr defTabSz="890991"/>
            <a:r>
              <a:rPr lang="en-US" sz="1400" b="1" dirty="0"/>
              <a:t>Rom 3:9-26  </a:t>
            </a:r>
            <a:r>
              <a:rPr lang="en-US" sz="1400" dirty="0"/>
              <a:t>What then? Are we better </a:t>
            </a:r>
            <a:r>
              <a:rPr lang="en-US" sz="1400" i="1" dirty="0"/>
              <a:t>than they?</a:t>
            </a:r>
            <a:r>
              <a:rPr lang="en-US" sz="1400" dirty="0"/>
              <a:t> Not at all. For we have previously charged both Jews and Greeks that they are all under sin.  (10)  </a:t>
            </a:r>
            <a:r>
              <a:rPr lang="en-US" sz="1400" u="sng" dirty="0"/>
              <a:t>As it is written: "THERE IS NONE RIGHTEOUS, NO, NOT ONE;  </a:t>
            </a:r>
            <a:r>
              <a:rPr lang="en-US" sz="1400" dirty="0"/>
              <a:t>(11)  THERE IS NONE WHO UNDERSTANDS; THERE IS NONE WHO SEEKS AFTER GOD.  (12)  THEY HAVE ALL TURNED ASIDE; THEY HAVE TOGETHER BECOME UNPROFITABLE; THERE IS NONE WHO DOES GOOD, NO, NOT ONE."  (13)  "THEIR THROAT IS AN OPEN TOMB; WITH THEIR TONGUES THEY HAVE PRACTICED DECEIT"; "THE POISON OF ASPS IS UNDER THEIR LIPS";  (14)  "WHOSE MOUTH IS FULL OF CURSING AND BITTERNESS."  (15)  "THEIR FEET ARE SWIFT TO SHED BLOOD;  (16)  DESTRUCTION AND MISERY ARE IN THEIR WAYS;  (17)  AND THE WAY OF PEACE THEY HAVE NOT KNOWN."  (18</a:t>
            </a:r>
            <a:r>
              <a:rPr lang="en-US" sz="1400" u="sng" dirty="0"/>
              <a:t>)  "THERE IS NO FEAR OF GOD BEFORE THEIR EYES."</a:t>
            </a:r>
            <a:r>
              <a:rPr lang="en-US" sz="1400" dirty="0"/>
              <a:t>  (19)  Now we know that whatever the law says, it says to those who are under the law, that every mouth may be stopped, and all the world may become guilty before God.  (20)  Therefore by the deeds of the law no flesh will be justified in His sight, for by the law </a:t>
            </a:r>
            <a:r>
              <a:rPr lang="en-US" sz="1400" i="1" dirty="0"/>
              <a:t>is</a:t>
            </a:r>
            <a:r>
              <a:rPr lang="en-US" sz="1400" dirty="0"/>
              <a:t> the knowledge of sin.  (21)  </a:t>
            </a:r>
            <a:r>
              <a:rPr lang="en-US" sz="1400" u="sng" dirty="0"/>
              <a:t>But now the righteousness of God apart from the law is revealed,</a:t>
            </a:r>
            <a:r>
              <a:rPr lang="en-US" sz="1400" dirty="0"/>
              <a:t> being witnessed by the Law and the Prophets,  (22)  even the righteousness of God, through faith in Jesus Christ, to all and on all who believe. For there is no difference;  (23</a:t>
            </a:r>
            <a:r>
              <a:rPr lang="en-US" sz="1400" u="sng" dirty="0"/>
              <a:t>)  for all have sinned and fall short of the glory of God,  </a:t>
            </a:r>
            <a:r>
              <a:rPr lang="en-US" sz="1400" dirty="0"/>
              <a:t>(24)  being justified freely by His grace through the redemption that is in Christ Jesus,  (25)  whom God set forth </a:t>
            </a:r>
            <a:r>
              <a:rPr lang="en-US" sz="1400" i="1" dirty="0"/>
              <a:t>as</a:t>
            </a:r>
            <a:r>
              <a:rPr lang="en-US" sz="1400" dirty="0"/>
              <a:t> a propitiation by His blood, through faith, to demonstrate His righteousness, because in His forbearance God had passed over the sins that were previously committed,  (26)  to demonstrate at the present time His righteousness, that He might be just and the justifier of the one who has faith in Jesus.</a:t>
            </a:r>
          </a:p>
          <a:p>
            <a:endParaRPr lang="en-US" dirty="0"/>
          </a:p>
        </p:txBody>
      </p:sp>
      <p:sp>
        <p:nvSpPr>
          <p:cNvPr id="4" name="Slide Number Placeholder 3">
            <a:extLst>
              <a:ext uri="{FF2B5EF4-FFF2-40B4-BE49-F238E27FC236}">
                <a16:creationId xmlns:a16="http://schemas.microsoft.com/office/drawing/2014/main" id="{5590D934-881A-33E6-E051-ECDEEA6B301F}"/>
              </a:ext>
            </a:extLst>
          </p:cNvPr>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016189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2000" b="1" dirty="0">
                <a:ea typeface="ＭＳ Ｐゴシック" pitchFamily="-106" charset="-128"/>
                <a:cs typeface="ＭＳ Ｐゴシック" pitchFamily="-106" charset="-128"/>
              </a:rPr>
              <a:t>Uncertainty, Human Righteousness, the Rise of Man-Made Systems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From the beginning, sin introduced uncertainty.</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When man lost trust in God, he gained fear.</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Fear demands control.</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Control produces systems.</a:t>
            </a:r>
          </a:p>
          <a:p>
            <a:endParaRPr lang="en-US" sz="2000" b="1" dirty="0">
              <a:ea typeface="ＭＳ Ｐゴシック" pitchFamily="-106" charset="-128"/>
              <a:cs typeface="ＭＳ Ｐゴシック" pitchFamily="-106" charset="-128"/>
            </a:endParaRPr>
          </a:p>
          <a:p>
            <a:r>
              <a:rPr lang="en-US" sz="2000" dirty="0">
                <a:ea typeface="ＭＳ Ｐゴシック" pitchFamily="-106" charset="-128"/>
                <a:cs typeface="ＭＳ Ｐゴシック" pitchFamily="-106" charset="-128"/>
              </a:rPr>
              <a:t>Instead of resting in God’s righteousness, </a:t>
            </a:r>
            <a:r>
              <a:rPr lang="en-US" sz="2000" u="sng" dirty="0">
                <a:ea typeface="ＭＳ Ｐゴシック" pitchFamily="-106" charset="-128"/>
                <a:cs typeface="ＭＳ Ｐゴシック" pitchFamily="-106" charset="-128"/>
              </a:rPr>
              <a:t>humans build substitutes</a:t>
            </a:r>
            <a:r>
              <a:rPr lang="en-US" sz="2000" dirty="0">
                <a:ea typeface="ＭＳ Ｐゴシック" pitchFamily="-106" charset="-128"/>
                <a:cs typeface="ＭＳ Ｐゴシック" pitchFamily="-106" charset="-128"/>
              </a:rPr>
              <a:t>.</a:t>
            </a:r>
          </a:p>
          <a:p>
            <a:endParaRPr lang="en-US" dirty="0"/>
          </a:p>
          <a:p>
            <a:r>
              <a:rPr lang="en-US" dirty="0"/>
              <a:t>Image from:  https://commons.wikimedia.org</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4028717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dirty="0">
                <a:ea typeface="ＭＳ Ｐゴシック" pitchFamily="-106" charset="-128"/>
                <a:cs typeface="ＭＳ Ｐゴシック" pitchFamily="-106" charset="-128"/>
              </a:rPr>
              <a:t>Jeremiah 17:5  </a:t>
            </a:r>
            <a:r>
              <a:rPr lang="en-US" sz="1400" i="1" dirty="0">
                <a:ea typeface="ＭＳ Ｐゴシック" pitchFamily="-106" charset="-128"/>
                <a:cs typeface="ＭＳ Ｐゴシック" pitchFamily="-106" charset="-128"/>
              </a:rPr>
              <a:t>“Cursed is the one who </a:t>
            </a:r>
            <a:r>
              <a:rPr lang="en-US" sz="1400" i="1" u="sng" dirty="0">
                <a:ea typeface="ＭＳ Ｐゴシック" pitchFamily="-106" charset="-128"/>
                <a:cs typeface="ＭＳ Ｐゴシック" pitchFamily="-106" charset="-128"/>
              </a:rPr>
              <a:t>trusts in human beings</a:t>
            </a:r>
            <a:r>
              <a:rPr lang="en-US" sz="1400" i="1" dirty="0">
                <a:ea typeface="ＭＳ Ｐゴシック" pitchFamily="-106" charset="-128"/>
                <a:cs typeface="ＭＳ Ｐゴシック" pitchFamily="-106" charset="-128"/>
              </a:rPr>
              <a:t>… and whose heart turns away from the LORD.”</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i="1" dirty="0">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dirty="0">
                <a:ea typeface="ＭＳ Ｐゴシック" pitchFamily="-106" charset="-128"/>
                <a:cs typeface="ＭＳ Ｐゴシック" pitchFamily="-106" charset="-128"/>
              </a:rPr>
              <a:t>Social contracts replace trust in God with </a:t>
            </a:r>
            <a:r>
              <a:rPr lang="en-US" sz="1400" b="1" u="sng" dirty="0">
                <a:ea typeface="ＭＳ Ｐゴシック" pitchFamily="-106" charset="-128"/>
                <a:cs typeface="ＭＳ Ｐゴシック" pitchFamily="-106" charset="-128"/>
              </a:rPr>
              <a:t>trust in consensus</a:t>
            </a:r>
            <a:r>
              <a:rPr lang="en-US" sz="1400" b="1" dirty="0">
                <a:ea typeface="ＭＳ Ｐゴシック" pitchFamily="-106" charset="-128"/>
                <a:cs typeface="ＭＳ Ｐゴシック" pitchFamily="-106" charset="-128"/>
              </a:rPr>
              <a: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i="1" dirty="0">
              <a:ea typeface="ＭＳ Ｐゴシック" pitchFamily="-106" charset="-128"/>
              <a:cs typeface="ＭＳ Ｐゴシック" pitchFamily="-106" charset="-128"/>
            </a:endParaRPr>
          </a:p>
          <a:p>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Image from:  https://commons.wikimedia.org</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922163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Image from:  https://www.gospelimages.com/paintings/52/birth-of-isaac</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3396899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dirty="0">
                <a:ea typeface="ＭＳ Ｐゴシック" pitchFamily="-106" charset="-128"/>
                <a:cs typeface="ＭＳ Ｐゴシック" pitchFamily="-106" charset="-128"/>
              </a:rPr>
              <a:t>Pharisees</a:t>
            </a:r>
            <a:r>
              <a:rPr lang="en-US" sz="1200" dirty="0">
                <a:ea typeface="ＭＳ Ｐゴシック" pitchFamily="-106" charset="-128"/>
                <a:cs typeface="ＭＳ Ｐゴシック" pitchFamily="-106" charset="-128"/>
              </a:rPr>
              <a:t> - </a:t>
            </a:r>
            <a:r>
              <a:rPr lang="en-US" sz="1200" b="1" dirty="0">
                <a:ea typeface="ＭＳ Ｐゴシック" pitchFamily="-106" charset="-128"/>
                <a:cs typeface="ＭＳ Ｐゴシック" pitchFamily="-106" charset="-128"/>
              </a:rPr>
              <a:t>Cultural Codes </a:t>
            </a:r>
            <a:r>
              <a:rPr lang="en-US" sz="1200" dirty="0">
                <a:ea typeface="ＭＳ Ｐゴシック" pitchFamily="-106" charset="-128"/>
                <a:cs typeface="ＭＳ Ｐゴシック" pitchFamily="-106" charset="-128"/>
              </a:rPr>
              <a:t>- God had stopped speaking to them and hadn't sent a prophet to them in about 400 years. So, they believed that if every Israelite were to perfectly observe all 613 commands in the Torah, then it would appease God and He would restore the Judean kingdom in Israel.</a:t>
            </a:r>
          </a:p>
          <a:p>
            <a:endParaRPr lang="en-US" dirty="0"/>
          </a:p>
          <a:p>
            <a:r>
              <a:rPr lang="en-US" sz="1400" b="1" dirty="0"/>
              <a:t>Cultural Identity – the Pharisees, the Sadducees – Developed Theological Systems – Drove Culture – Enforced Their Own Righteousness</a:t>
            </a:r>
          </a:p>
          <a:p>
            <a:pPr marL="285750" indent="-285750">
              <a:buFont typeface="Arial" panose="020B0604020202020204" pitchFamily="34" charset="0"/>
              <a:buChar char="•"/>
            </a:pPr>
            <a:r>
              <a:rPr lang="en-US" sz="1400" dirty="0"/>
              <a:t>The Levites (scribes and priests) were prohibited from owning their own land, so they depended on contributions for food and goods.</a:t>
            </a:r>
          </a:p>
          <a:p>
            <a:pPr marL="285750" indent="-285750">
              <a:buFont typeface="Arial" panose="020B0604020202020204" pitchFamily="34" charset="0"/>
              <a:buChar char="•"/>
            </a:pPr>
            <a:r>
              <a:rPr lang="en-US" sz="1400" dirty="0"/>
              <a:t>That also means they never had to work the land or do the manual labor needed to produce what they ate.</a:t>
            </a:r>
          </a:p>
          <a:p>
            <a:pPr marL="285750" indent="-285750">
              <a:buFont typeface="Arial" panose="020B0604020202020204" pitchFamily="34" charset="0"/>
              <a:buChar char="•"/>
            </a:pPr>
            <a:r>
              <a:rPr lang="en-US" sz="1400" dirty="0"/>
              <a:t>They were of a higher class in society and culture.</a:t>
            </a:r>
          </a:p>
          <a:p>
            <a:pPr marL="285750" indent="-285750">
              <a:buFont typeface="Arial" panose="020B0604020202020204" pitchFamily="34" charset="0"/>
              <a:buChar char="•"/>
            </a:pPr>
            <a:r>
              <a:rPr lang="en-US" sz="1400" dirty="0"/>
              <a:t>They were insulated from the consequences of their own teaching.</a:t>
            </a:r>
          </a:p>
          <a:p>
            <a:pPr marL="285750" indent="-285750">
              <a:buFont typeface="Arial" panose="020B0604020202020204" pitchFamily="34" charset="0"/>
              <a:buChar char="•"/>
            </a:pPr>
            <a:r>
              <a:rPr lang="en-US" sz="1400" dirty="0"/>
              <a:t>Jesus identifies this problem…</a:t>
            </a:r>
          </a:p>
          <a:p>
            <a:pPr marL="742950" lvl="1" indent="-285750">
              <a:buFont typeface="Arial" panose="020B0604020202020204" pitchFamily="34" charset="0"/>
              <a:buChar char="•"/>
            </a:pPr>
            <a:r>
              <a:rPr lang="en-US" sz="1400" dirty="0"/>
              <a:t>It’s easy to write a law that says “don’t pick heads of grain on the Sabbath because that’s work” when you yourself are never starving or hungry enough to consider doing that.</a:t>
            </a:r>
          </a:p>
          <a:p>
            <a:pPr marL="742950" lvl="1" indent="-285750">
              <a:buFont typeface="Arial" panose="020B0604020202020204" pitchFamily="34" charset="0"/>
              <a:buChar char="•"/>
            </a:pPr>
            <a:r>
              <a:rPr lang="en-US" sz="1400" b="1" dirty="0"/>
              <a:t>Matthew 23:4 </a:t>
            </a:r>
            <a:r>
              <a:rPr lang="en-US" sz="1400" dirty="0"/>
              <a:t>: </a:t>
            </a:r>
            <a:r>
              <a:rPr lang="en-US" sz="1400" i="1" dirty="0"/>
              <a:t>“They tie up heavy, cumbersome loads and put them on other people’s shoulders, but they themselves are not willing to life a finger to move them.”</a:t>
            </a:r>
          </a:p>
          <a:p>
            <a:pPr marL="285750" indent="-285750">
              <a:buFont typeface="Arial" panose="020B0604020202020204" pitchFamily="34" charset="0"/>
              <a:buChar char="•"/>
            </a:pPr>
            <a:endParaRPr lang="en-US" sz="1400"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Image from:  https://commons.wikimedia.org</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406240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B3DC-8972-4BE1-31B1-AD99F9BB69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A327F-C5E4-D218-6672-DAF260629B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B87A888-7647-E728-FBC8-5C47E34E0FB7}"/>
              </a:ext>
            </a:extLst>
          </p:cNvPr>
          <p:cNvSpPr>
            <a:spLocks noGrp="1"/>
          </p:cNvSpPr>
          <p:nvPr>
            <p:ph type="body" idx="1"/>
          </p:nvPr>
        </p:nvSpPr>
        <p:spPr/>
        <p:txBody>
          <a:bodyPr>
            <a:normAutofit/>
          </a:bodyPr>
          <a:lstStyle/>
          <a:p>
            <a:r>
              <a:rPr lang="en-US" sz="1400" dirty="0"/>
              <a:t> </a:t>
            </a:r>
          </a:p>
          <a:p>
            <a:r>
              <a:rPr lang="en-US" dirty="0"/>
              <a:t>Luke 24 – Emmaus Road – Jesus had to “open their minds” to understanding.</a:t>
            </a:r>
          </a:p>
          <a:p>
            <a:endParaRPr lang="en-US" dirty="0"/>
          </a:p>
        </p:txBody>
      </p:sp>
      <p:sp>
        <p:nvSpPr>
          <p:cNvPr id="4" name="Slide Number Placeholder 3">
            <a:extLst>
              <a:ext uri="{FF2B5EF4-FFF2-40B4-BE49-F238E27FC236}">
                <a16:creationId xmlns:a16="http://schemas.microsoft.com/office/drawing/2014/main" id="{A7CE7DF6-6D38-8613-BC43-711B63631340}"/>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2586265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902787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1601613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r>
              <a:rPr lang="en-US" sz="1600" b="1" dirty="0"/>
              <a:t>Ecce Homo  </a:t>
            </a:r>
            <a:r>
              <a:rPr lang="en-US" sz="1600" dirty="0"/>
              <a:t>(“Behold the Man”) by </a:t>
            </a:r>
            <a:r>
              <a:rPr lang="en-US" sz="1600" b="1" dirty="0"/>
              <a:t>Antonio </a:t>
            </a:r>
            <a:r>
              <a:rPr lang="en-US" sz="1600" b="1" dirty="0" err="1"/>
              <a:t>Ciseri</a:t>
            </a:r>
            <a:r>
              <a:rPr lang="en-US" sz="1600" b="1" dirty="0"/>
              <a:t>, 1871</a:t>
            </a:r>
            <a:r>
              <a:rPr lang="en-US" sz="1600" dirty="0"/>
              <a:t> </a:t>
            </a:r>
          </a:p>
          <a:p>
            <a:pPr lvl="1"/>
            <a:r>
              <a:rPr lang="en-US" sz="1600" dirty="0">
                <a:cs typeface="ＭＳ Ｐゴシック" pitchFamily="-106" charset="-128"/>
              </a:rPr>
              <a:t>The title comes from </a:t>
            </a:r>
            <a:r>
              <a:rPr lang="en-US" sz="1600" b="1" dirty="0">
                <a:cs typeface="ＭＳ Ｐゴシック" pitchFamily="-106" charset="-128"/>
              </a:rPr>
              <a:t>John 19:5</a:t>
            </a:r>
            <a:r>
              <a:rPr lang="en-US" sz="1600" dirty="0">
                <a:cs typeface="ＭＳ Ｐゴシック" pitchFamily="-106" charset="-128"/>
              </a:rPr>
              <a:t>:  </a:t>
            </a:r>
            <a:r>
              <a:rPr lang="en-US" sz="1600" i="1" dirty="0">
                <a:cs typeface="ＭＳ Ｐゴシック" pitchFamily="-106" charset="-128"/>
              </a:rPr>
              <a:t>“So Jesus came out, wearing the crown of thorns and the purple robe. Pilate said to them,</a:t>
            </a:r>
            <a:r>
              <a:rPr lang="en-US" sz="1600" b="1" i="1" dirty="0">
                <a:cs typeface="ＭＳ Ｐゴシック" pitchFamily="-106" charset="-128"/>
              </a:rPr>
              <a:t> ‘Look, here is the man!’</a:t>
            </a:r>
            <a:r>
              <a:rPr lang="en-US" sz="1600" i="1" dirty="0">
                <a:cs typeface="ＭＳ Ｐゴシック" pitchFamily="-106" charset="-128"/>
              </a:rPr>
              <a:t>”</a:t>
            </a:r>
          </a:p>
          <a:p>
            <a:pPr marL="445496" lvl="1" defTabSz="890991"/>
            <a:endParaRPr lang="en-US" sz="1600" b="1" dirty="0">
              <a:cs typeface="ＭＳ Ｐゴシック" pitchFamily="-106" charset="-128"/>
            </a:endParaRPr>
          </a:p>
          <a:p>
            <a:pPr marL="445496" lvl="1" defTabSz="890991"/>
            <a:r>
              <a:rPr lang="en-US" sz="1600" b="1" dirty="0">
                <a:cs typeface="ＭＳ Ｐゴシック" pitchFamily="-106" charset="-128"/>
              </a:rPr>
              <a:t>John 19:4–6 : </a:t>
            </a:r>
            <a:r>
              <a:rPr lang="en-US" sz="1600" i="1" dirty="0">
                <a:cs typeface="ＭＳ Ｐゴシック" pitchFamily="-106" charset="-128"/>
              </a:rPr>
              <a:t>“Then Pilate went outside again and said to them, ‘Look, I am bringing him out to you, so that you may know that I find no reason for an accusation against him.’  So Jesus came out… When the chief priests and their officers saw him, they shouted out, ‘Crucify! Crucify!’”</a:t>
            </a:r>
          </a:p>
          <a:p>
            <a:pPr marL="445496" lvl="1" defTabSz="890991"/>
            <a:endParaRPr lang="en-US" sz="1600" i="1" dirty="0">
              <a:cs typeface="ＭＳ Ｐゴシック" pitchFamily="-106" charset="-128"/>
            </a:endParaRPr>
          </a:p>
          <a:p>
            <a:pPr marL="445496" lvl="1" defTabSz="890991"/>
            <a:r>
              <a:rPr lang="en-US" sz="1600" dirty="0">
                <a:cs typeface="ＭＳ Ｐゴシック" pitchFamily="-106" charset="-128"/>
              </a:rPr>
              <a:t>This reflects </a:t>
            </a:r>
            <a:r>
              <a:rPr lang="en-US" sz="1600" b="1" dirty="0">
                <a:cs typeface="ＭＳ Ｐゴシック" pitchFamily="-106" charset="-128"/>
              </a:rPr>
              <a:t>Isaiah 53:7</a:t>
            </a:r>
            <a:r>
              <a:rPr lang="en-US" sz="1600" dirty="0">
                <a:cs typeface="ＭＳ Ｐゴシック" pitchFamily="-106" charset="-128"/>
              </a:rPr>
              <a:t>:  </a:t>
            </a:r>
            <a:r>
              <a:rPr lang="en-US" sz="1600" b="1" i="1" dirty="0">
                <a:cs typeface="ＭＳ Ｐゴシック" pitchFamily="-106" charset="-128"/>
              </a:rPr>
              <a:t>“He was oppressed and afflicted, yet he did not open his mouth.”</a:t>
            </a:r>
            <a:r>
              <a:rPr lang="en-US" sz="1600" dirty="0">
                <a:cs typeface="ＭＳ Ｐゴシック" pitchFamily="-106" charset="-128"/>
              </a:rPr>
              <a:t> </a:t>
            </a:r>
            <a:endParaRPr lang="en-US" sz="1600" i="1" dirty="0">
              <a:cs typeface="ＭＳ Ｐゴシック" pitchFamily="-106" charset="-128"/>
            </a:endParaRPr>
          </a:p>
          <a:p>
            <a:pPr lvl="1"/>
            <a:endParaRPr lang="en-US" sz="1600" b="1" dirty="0">
              <a:cs typeface="ＭＳ Ｐゴシック" pitchFamily="-106" charset="-128"/>
            </a:endParaRPr>
          </a:p>
          <a:p>
            <a:r>
              <a:rPr lang="en-US" sz="1600" b="1" dirty="0"/>
              <a:t>Connection to this Study Theme</a:t>
            </a:r>
            <a:endParaRPr lang="en-US" sz="1600" dirty="0"/>
          </a:p>
          <a:p>
            <a:pPr lvl="1"/>
            <a:r>
              <a:rPr lang="en-US" sz="1600" dirty="0">
                <a:cs typeface="ＭＳ Ｐゴシック" pitchFamily="-106" charset="-128"/>
              </a:rPr>
              <a:t>This image visually captures:</a:t>
            </a:r>
          </a:p>
          <a:p>
            <a:pPr lvl="2" rtl="0" fontAlgn="ctr"/>
            <a:r>
              <a:rPr lang="en-US" sz="1600" b="1" dirty="0">
                <a:cs typeface="ＭＳ Ｐゴシック" pitchFamily="-106" charset="-128"/>
              </a:rPr>
              <a:t>the righteousness of God</a:t>
            </a:r>
            <a:r>
              <a:rPr lang="en-US" sz="1600" dirty="0">
                <a:cs typeface="ＭＳ Ｐゴシック" pitchFamily="-106" charset="-128"/>
              </a:rPr>
              <a:t> standing silent</a:t>
            </a:r>
          </a:p>
          <a:p>
            <a:pPr lvl="2" rtl="0" fontAlgn="ctr"/>
            <a:r>
              <a:rPr lang="en-US" sz="1600" b="1" dirty="0">
                <a:cs typeface="ＭＳ Ｐゴシック" pitchFamily="-106" charset="-128"/>
              </a:rPr>
              <a:t>the righteousness of man</a:t>
            </a:r>
            <a:r>
              <a:rPr lang="en-US" sz="1600" dirty="0">
                <a:cs typeface="ＭＳ Ｐゴシック" pitchFamily="-106" charset="-128"/>
              </a:rPr>
              <a:t> expressed through law, crowd pressure, and political calculation</a:t>
            </a:r>
          </a:p>
          <a:p>
            <a:pPr lvl="1"/>
            <a:r>
              <a:rPr lang="en-US" sz="1600" dirty="0">
                <a:cs typeface="ＭＳ Ｐゴシック" pitchFamily="-106" charset="-128"/>
              </a:rPr>
              <a:t> </a:t>
            </a:r>
          </a:p>
          <a:p>
            <a:pPr lvl="1"/>
            <a:r>
              <a:rPr lang="en-US" sz="1600" b="1" dirty="0">
                <a:cs typeface="ＭＳ Ｐゴシック" pitchFamily="-106" charset="-128"/>
              </a:rPr>
              <a:t>Pilate represents </a:t>
            </a:r>
            <a:r>
              <a:rPr lang="en-US" sz="1600" b="1" u="sng" dirty="0">
                <a:cs typeface="ＭＳ Ｐゴシック" pitchFamily="-106" charset="-128"/>
              </a:rPr>
              <a:t>system-driven order</a:t>
            </a:r>
            <a:r>
              <a:rPr lang="en-US" sz="1600" b="1" dirty="0">
                <a:cs typeface="ＭＳ Ｐゴシック" pitchFamily="-106" charset="-128"/>
              </a:rPr>
              <a:t>.</a:t>
            </a:r>
          </a:p>
          <a:p>
            <a:pPr lvl="1"/>
            <a:r>
              <a:rPr lang="en-US" sz="1600" b="1" dirty="0">
                <a:cs typeface="ＭＳ Ｐゴシック" pitchFamily="-106" charset="-128"/>
              </a:rPr>
              <a:t>The crowd represents </a:t>
            </a:r>
            <a:r>
              <a:rPr lang="en-US" sz="1600" b="1" u="sng" dirty="0">
                <a:cs typeface="ＭＳ Ｐゴシック" pitchFamily="-106" charset="-128"/>
              </a:rPr>
              <a:t>fear-driven morality</a:t>
            </a:r>
            <a:r>
              <a:rPr lang="en-US" sz="1600" b="1" dirty="0">
                <a:cs typeface="ＭＳ Ｐゴシック" pitchFamily="-106" charset="-128"/>
              </a:rPr>
              <a:t>.</a:t>
            </a:r>
          </a:p>
          <a:p>
            <a:pPr lvl="1"/>
            <a:r>
              <a:rPr lang="en-US" sz="1600" b="1" dirty="0">
                <a:cs typeface="ＭＳ Ｐゴシック" pitchFamily="-106" charset="-128"/>
              </a:rPr>
              <a:t>Jesus represents </a:t>
            </a:r>
            <a:r>
              <a:rPr lang="en-US" sz="1600" b="1" u="sng" dirty="0">
                <a:cs typeface="ＭＳ Ｐゴシック" pitchFamily="-106" charset="-128"/>
              </a:rPr>
              <a:t>God’s righteousness without control</a:t>
            </a:r>
            <a:r>
              <a:rPr lang="en-US" sz="1600" b="1" dirty="0">
                <a:cs typeface="ＭＳ Ｐゴシック" pitchFamily="-106" charset="-128"/>
              </a:rPr>
              <a:t>.</a:t>
            </a:r>
          </a:p>
          <a:p>
            <a:pPr lvl="1"/>
            <a:r>
              <a:rPr lang="en-US" sz="1600" dirty="0">
                <a:cs typeface="ＭＳ Ｐゴシック" pitchFamily="-106" charset="-128"/>
              </a:rPr>
              <a:t> </a:t>
            </a:r>
          </a:p>
          <a:p>
            <a:pPr lvl="1"/>
            <a:r>
              <a:rPr lang="en-US" sz="1600" b="1" dirty="0">
                <a:cs typeface="ＭＳ Ｐゴシック" pitchFamily="-106" charset="-128"/>
              </a:rPr>
              <a:t>John 18:36</a:t>
            </a:r>
            <a:r>
              <a:rPr lang="en-US" sz="1600" dirty="0">
                <a:cs typeface="ＭＳ Ｐゴシック" pitchFamily="-106" charset="-128"/>
              </a:rPr>
              <a:t> : </a:t>
            </a:r>
            <a:r>
              <a:rPr lang="en-US" sz="1600" b="1" i="1" dirty="0">
                <a:cs typeface="ＭＳ Ｐゴシック" pitchFamily="-106" charset="-128"/>
              </a:rPr>
              <a:t>“My kingdom is not from this world.”</a:t>
            </a:r>
          </a:p>
          <a:p>
            <a:pPr lvl="1"/>
            <a:r>
              <a:rPr lang="en-US" sz="1600" dirty="0">
                <a:cs typeface="ＭＳ Ｐゴシック" pitchFamily="-106" charset="-128"/>
              </a:rPr>
              <a:t> </a:t>
            </a:r>
          </a:p>
          <a:p>
            <a:pPr lvl="1"/>
            <a:r>
              <a:rPr lang="en-US" sz="1600" dirty="0">
                <a:cs typeface="ＭＳ Ｐゴシック" pitchFamily="-106" charset="-128"/>
              </a:rPr>
              <a:t>That contrast is the heart of the painting.</a:t>
            </a:r>
            <a:endParaRPr lang="en-US" sz="1600" b="1" dirty="0">
              <a:cs typeface="ＭＳ Ｐゴシック" pitchFamily="-106" charset="-128"/>
            </a:endParaRPr>
          </a:p>
          <a:p>
            <a:pPr lvl="1"/>
            <a:r>
              <a:rPr lang="en-US" sz="1400" dirty="0">
                <a:cs typeface="ＭＳ Ｐゴシック" pitchFamily="-106" charset="-128"/>
              </a:rPr>
              <a:t>  </a:t>
            </a:r>
          </a:p>
          <a:p>
            <a:pPr lvl="1"/>
            <a:endParaRPr lang="en-US" dirty="0"/>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35078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21391-B1FE-D3D0-C2CF-1770005C0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1923A-6D15-2A27-B425-28B065E4D8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0F3C83-6DDE-7CE4-9A32-3FB311ADC109}"/>
              </a:ext>
            </a:extLst>
          </p:cNvPr>
          <p:cNvSpPr>
            <a:spLocks noGrp="1"/>
          </p:cNvSpPr>
          <p:nvPr>
            <p:ph type="body" idx="1"/>
          </p:nvPr>
        </p:nvSpPr>
        <p:spPr/>
        <p:txBody>
          <a:bodyPr>
            <a:normAutofit/>
          </a:bodyPr>
          <a:lstStyle/>
          <a:p>
            <a:r>
              <a:rPr lang="en-US" sz="1400" dirty="0"/>
              <a:t> </a:t>
            </a:r>
          </a:p>
          <a:p>
            <a:r>
              <a:rPr lang="en-US" sz="1600" b="1" dirty="0"/>
              <a:t>Reclaim the Sacred Space</a:t>
            </a:r>
          </a:p>
          <a:p>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Matt 28:16-20  </a:t>
            </a:r>
            <a:r>
              <a:rPr lang="en-US" sz="1400" b="0" i="0" u="none" strike="noStrike" kern="1200" baseline="0" dirty="0">
                <a:solidFill>
                  <a:schemeClr val="tx1"/>
                </a:solidFill>
                <a:latin typeface="+mn-lt"/>
                <a:ea typeface="ＭＳ Ｐゴシック" pitchFamily="-106" charset="-128"/>
                <a:cs typeface="ＭＳ Ｐゴシック" pitchFamily="-106" charset="-128"/>
              </a:rPr>
              <a:t>So the eleven disciples went to Galilee to the mountain Jesus had designated.  (17)  When they saw him, they worshiped him, but some doubted.  (18)  Then Jesus came up and said to them, “All authority in heaven and on earth has been given to me.  (19)  Therefore go and make disciples of all nations, baptizing them in the name of the Father and the Son and the Holy Spirit,  (20)  teaching them to obey everything I have commanded you. And remember, I am with you always, to the end of the age.”</a:t>
            </a:r>
          </a:p>
          <a:p>
            <a:endParaRPr lang="en-US" dirty="0"/>
          </a:p>
          <a:p>
            <a:r>
              <a:rPr lang="en-US" dirty="0"/>
              <a:t>The Temple is now represented by each Human Being.  The sacred space.  Take the Kingdom back one temple at a time.</a:t>
            </a:r>
          </a:p>
          <a:p>
            <a:endParaRPr lang="en-US" dirty="0"/>
          </a:p>
          <a:p>
            <a:endParaRPr lang="en-US" dirty="0"/>
          </a:p>
        </p:txBody>
      </p:sp>
      <p:sp>
        <p:nvSpPr>
          <p:cNvPr id="4" name="Slide Number Placeholder 3">
            <a:extLst>
              <a:ext uri="{FF2B5EF4-FFF2-40B4-BE49-F238E27FC236}">
                <a16:creationId xmlns:a16="http://schemas.microsoft.com/office/drawing/2014/main" id="{5C1C2251-FD7E-0E63-53E2-4965922D0AEE}"/>
              </a:ext>
            </a:extLst>
          </p:cNvPr>
          <p:cNvSpPr>
            <a:spLocks noGrp="1"/>
          </p:cNvSpPr>
          <p:nvPr>
            <p:ph type="sldNum" sz="quarter" idx="10"/>
          </p:nvPr>
        </p:nvSpPr>
        <p:spPr/>
        <p:txBody>
          <a:bodyPr/>
          <a:lstStyle/>
          <a:p>
            <a:pPr>
              <a:defRPr/>
            </a:pPr>
            <a:fld id="{07776858-791E-4C8D-8FA3-473B3AFECFAC}" type="slidenum">
              <a:rPr lang="en-US" smtClean="0"/>
              <a:pPr>
                <a:defRPr/>
              </a:pPr>
              <a:t>10</a:t>
            </a:fld>
            <a:endParaRPr lang="en-US" dirty="0"/>
          </a:p>
        </p:txBody>
      </p:sp>
    </p:spTree>
    <p:extLst>
      <p:ext uri="{BB962C8B-B14F-4D97-AF65-F5344CB8AC3E}">
        <p14:creationId xmlns:p14="http://schemas.microsoft.com/office/powerpoint/2010/main" val="249499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Reclaim the Sacred Space</a:t>
            </a:r>
          </a:p>
          <a:p>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mn-lt"/>
                <a:ea typeface="ＭＳ Ｐゴシック" pitchFamily="-106" charset="-128"/>
                <a:cs typeface="ＭＳ Ｐゴシック" pitchFamily="-106" charset="-128"/>
              </a:rPr>
              <a:t>Matt 28:16-20  </a:t>
            </a:r>
            <a:r>
              <a:rPr lang="en-US" sz="1200" b="0" i="0" u="none" strike="noStrike" kern="1200" baseline="0" dirty="0">
                <a:solidFill>
                  <a:schemeClr val="tx1"/>
                </a:solidFill>
                <a:latin typeface="+mn-lt"/>
                <a:ea typeface="ＭＳ Ｐゴシック" pitchFamily="-106" charset="-128"/>
                <a:cs typeface="ＭＳ Ｐゴシック" pitchFamily="-106" charset="-128"/>
              </a:rPr>
              <a:t>So the eleven disciples went to Galilee to the mountain Jesus had designated.  (17)  When they saw him, they worshiped him, but some doubted.  (18)  Then Jesus came up and said to them, “All authority in heaven and on earth has been given to me.  (19)  Therefore go and make disciples of all nations, baptizing them in the name of the Father and the Son and the Holy Spirit,  (20)  teaching them to obey everything I have commanded you. And remember, I am with you always, to the end of the age.”</a:t>
            </a:r>
          </a:p>
          <a:p>
            <a:endParaRPr lang="en-US" dirty="0"/>
          </a:p>
          <a:p>
            <a:r>
              <a:rPr lang="en-US" dirty="0"/>
              <a:t>The Temple is now represented by each Human Being.  The sacred space.  Take the Kingdom back one temple at a time.</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3869795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1B98D-28EA-28F7-7DDD-3F17E866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E2C25-F900-C61E-F0BF-3BFC48DCA3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FF15D1-E308-16E3-E31F-A2D9079D7EA6}"/>
              </a:ext>
            </a:extLst>
          </p:cNvPr>
          <p:cNvSpPr>
            <a:spLocks noGrp="1"/>
          </p:cNvSpPr>
          <p:nvPr>
            <p:ph type="body" idx="1"/>
          </p:nvPr>
        </p:nvSpPr>
        <p:spPr/>
        <p:txBody>
          <a:bodyPr>
            <a:normAutofit/>
          </a:bodyPr>
          <a:lstStyle/>
          <a:p>
            <a:r>
              <a:rPr lang="en-US" sz="1600" dirty="0">
                <a:solidFill>
                  <a:schemeClr val="tx2">
                    <a:lumMod val="60000"/>
                    <a:lumOff val="40000"/>
                  </a:schemeClr>
                </a:solidFill>
              </a:rPr>
              <a:t>God’s Plan to Restore His Human Family</a:t>
            </a:r>
          </a:p>
          <a:p>
            <a:endParaRPr lang="en-US" sz="1400" dirty="0"/>
          </a:p>
          <a:p>
            <a:r>
              <a:rPr lang="en-US" sz="1400" b="1" dirty="0"/>
              <a:t>The Gospel Narrative</a:t>
            </a:r>
          </a:p>
          <a:p>
            <a:pPr marL="285750" indent="-285750" fontAlgn="ctr">
              <a:buFont typeface="Arial" panose="020B0604020202020204" pitchFamily="34" charset="0"/>
              <a:buChar char="•"/>
            </a:pPr>
            <a:r>
              <a:rPr lang="en-US" sz="1400" dirty="0"/>
              <a:t>Christ reveals God’s righteousness.</a:t>
            </a:r>
          </a:p>
          <a:p>
            <a:pPr marL="285750" indent="-285750" fontAlgn="ctr">
              <a:buFont typeface="Arial" panose="020B0604020202020204" pitchFamily="34" charset="0"/>
              <a:buChar char="•"/>
            </a:pPr>
            <a:r>
              <a:rPr lang="en-US" sz="1400" dirty="0"/>
              <a:t>Justification receives God’s righteousness.</a:t>
            </a:r>
          </a:p>
          <a:p>
            <a:pPr marL="285750" indent="-285750" fontAlgn="ctr">
              <a:buFont typeface="Arial" panose="020B0604020202020204" pitchFamily="34" charset="0"/>
              <a:buChar char="•"/>
            </a:pPr>
            <a:r>
              <a:rPr lang="en-US" sz="1400" dirty="0"/>
              <a:t>New birth implants God’s righteousness as new life.</a:t>
            </a:r>
          </a:p>
          <a:p>
            <a:pPr marL="285750" indent="-285750" fontAlgn="ctr">
              <a:buFont typeface="Arial" panose="020B0604020202020204" pitchFamily="34" charset="0"/>
              <a:buChar char="•"/>
            </a:pPr>
            <a:r>
              <a:rPr lang="en-US" sz="1400" dirty="0"/>
              <a:t>Sanctification expresses God’s righteousness in character and conduct.</a:t>
            </a:r>
          </a:p>
          <a:p>
            <a:endParaRPr lang="en-US" sz="1400" dirty="0"/>
          </a:p>
          <a:p>
            <a:r>
              <a:rPr lang="en-US" sz="1400" b="1" dirty="0"/>
              <a:t>Key Contrasts  </a:t>
            </a:r>
          </a:p>
          <a:p>
            <a:pPr marL="285750" indent="-285750" fontAlgn="ctr">
              <a:buFont typeface="Arial" panose="020B0604020202020204" pitchFamily="34" charset="0"/>
              <a:buChar char="•"/>
            </a:pPr>
            <a:r>
              <a:rPr lang="en-US" sz="1400" dirty="0"/>
              <a:t>Not human achievement, but divine provision.</a:t>
            </a:r>
          </a:p>
          <a:p>
            <a:pPr marL="285750" indent="-285750" fontAlgn="ctr">
              <a:buFont typeface="Arial" panose="020B0604020202020204" pitchFamily="34" charset="0"/>
              <a:buChar char="•"/>
            </a:pPr>
            <a:r>
              <a:rPr lang="en-US" sz="1400" dirty="0"/>
              <a:t>Not works as the basis, but faith as the means.</a:t>
            </a:r>
          </a:p>
          <a:p>
            <a:pPr marL="285750" indent="-285750" fontAlgn="ctr">
              <a:buFont typeface="Arial" panose="020B0604020202020204" pitchFamily="34" charset="0"/>
              <a:buChar char="•"/>
            </a:pPr>
            <a:r>
              <a:rPr lang="en-US" sz="1400" dirty="0"/>
              <a:t>Not outward conformity alone, but inward transformation.</a:t>
            </a:r>
          </a:p>
          <a:p>
            <a:pPr marL="285750" indent="-285750" fontAlgn="ctr">
              <a:buFont typeface="Arial" panose="020B0604020202020204" pitchFamily="34" charset="0"/>
              <a:buChar char="•"/>
            </a:pPr>
            <a:r>
              <a:rPr lang="en-US" sz="1400" dirty="0"/>
              <a:t>Not a one-time decision only, but a life continually shaped by grace.</a:t>
            </a:r>
          </a:p>
          <a:p>
            <a:endParaRPr lang="en-US" dirty="0"/>
          </a:p>
        </p:txBody>
      </p:sp>
      <p:sp>
        <p:nvSpPr>
          <p:cNvPr id="4" name="Slide Number Placeholder 3">
            <a:extLst>
              <a:ext uri="{FF2B5EF4-FFF2-40B4-BE49-F238E27FC236}">
                <a16:creationId xmlns:a16="http://schemas.microsoft.com/office/drawing/2014/main" id="{57875508-8739-2EA1-7EAC-CEE7CD955AA5}"/>
              </a:ext>
            </a:extLst>
          </p:cNvPr>
          <p:cNvSpPr>
            <a:spLocks noGrp="1"/>
          </p:cNvSpPr>
          <p:nvPr>
            <p:ph type="sldNum" sz="quarter" idx="10"/>
          </p:nvPr>
        </p:nvSpPr>
        <p:spPr/>
        <p:txBody>
          <a:bodyPr/>
          <a:lstStyle/>
          <a:p>
            <a:pPr>
              <a:defRPr/>
            </a:pPr>
            <a:fld id="{07776858-791E-4C8D-8FA3-473B3AFECFAC}" type="slidenum">
              <a:rPr lang="en-US" smtClean="0"/>
              <a:pPr>
                <a:defRPr/>
              </a:pPr>
              <a:t>12</a:t>
            </a:fld>
            <a:endParaRPr lang="en-US" dirty="0"/>
          </a:p>
        </p:txBody>
      </p:sp>
    </p:spTree>
    <p:extLst>
      <p:ext uri="{BB962C8B-B14F-4D97-AF65-F5344CB8AC3E}">
        <p14:creationId xmlns:p14="http://schemas.microsoft.com/office/powerpoint/2010/main" val="3388254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ightWithGo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243EB-A19E-5ED1-CFA5-860A2DA6E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223CA-BF56-C414-56BF-D76E4E24E13E}"/>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550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Righteousness Revealed</a:t>
            </a:r>
            <a:br>
              <a:rPr lang="en-US" dirty="0"/>
            </a:br>
            <a:endParaRPr lang="en-US" dirty="0"/>
          </a:p>
          <a:p>
            <a:endParaRPr lang="en-US" sz="2400" dirty="0">
              <a:solidFill>
                <a:schemeClr val="tx2">
                  <a:lumMod val="60000"/>
                  <a:lumOff val="40000"/>
                </a:schemeClr>
              </a:solidFill>
            </a:endParaRPr>
          </a:p>
          <a:p>
            <a:pPr>
              <a:lnSpc>
                <a:spcPct val="170000"/>
              </a:lnSpc>
            </a:pPr>
            <a:r>
              <a:rPr lang="en-US" b="0" dirty="0"/>
              <a:t>For I am not ashamed of the </a:t>
            </a:r>
            <a:r>
              <a:rPr lang="en-US" dirty="0"/>
              <a:t>gospel</a:t>
            </a:r>
            <a:r>
              <a:rPr lang="en-US" b="0" dirty="0"/>
              <a:t> </a:t>
            </a:r>
            <a:r>
              <a:rPr lang="en-US" dirty="0"/>
              <a:t>of</a:t>
            </a:r>
            <a:r>
              <a:rPr lang="en-US" b="0" dirty="0"/>
              <a:t> </a:t>
            </a:r>
            <a:r>
              <a:rPr lang="en-US" dirty="0"/>
              <a:t>Christ</a:t>
            </a:r>
            <a:r>
              <a:rPr lang="en-US" b="0" dirty="0"/>
              <a:t>, for it is the power of God to salvation for everyone who believes, for the Jew first and also for the Greek. For in it the</a:t>
            </a:r>
            <a:r>
              <a:rPr lang="en-US" dirty="0"/>
              <a:t> </a:t>
            </a:r>
            <a:r>
              <a:rPr lang="en-US" u="sng" dirty="0"/>
              <a:t>righteousness</a:t>
            </a:r>
            <a:r>
              <a:rPr lang="en-US" dirty="0"/>
              <a:t> of God is </a:t>
            </a:r>
            <a:r>
              <a:rPr lang="en-US" u="sng" dirty="0"/>
              <a:t>revealed</a:t>
            </a:r>
            <a:r>
              <a:rPr lang="en-US" b="0" dirty="0"/>
              <a:t> from faith to faith; as it is written, </a:t>
            </a:r>
          </a:p>
          <a:p>
            <a:pPr>
              <a:lnSpc>
                <a:spcPct val="170000"/>
              </a:lnSpc>
            </a:pPr>
            <a:r>
              <a:rPr lang="en-US" b="0" dirty="0"/>
              <a:t>"</a:t>
            </a:r>
            <a:r>
              <a:rPr lang="en-US" sz="4100" b="0" dirty="0"/>
              <a:t>THE JUST SHALL LIVE BY FAITH</a:t>
            </a:r>
            <a:r>
              <a:rPr lang="en-US" b="0" dirty="0"/>
              <a:t>."</a:t>
            </a:r>
          </a:p>
          <a:p>
            <a:pPr>
              <a:lnSpc>
                <a:spcPct val="170000"/>
              </a:lnSpc>
            </a:pPr>
            <a:r>
              <a:rPr lang="en-US" b="0" dirty="0"/>
              <a:t>(Romans 1:16-17)</a:t>
            </a:r>
          </a:p>
          <a:p>
            <a:endParaRPr lang="en-US" dirty="0">
              <a:solidFill>
                <a:schemeClr val="tx2">
                  <a:lumMod val="60000"/>
                  <a:lumOff val="40000"/>
                </a:schemeClr>
              </a:solidFill>
            </a:endParaRPr>
          </a:p>
          <a:p>
            <a:r>
              <a:rPr lang="en-US" dirty="0">
                <a:solidFill>
                  <a:schemeClr val="tx2">
                    <a:lumMod val="60000"/>
                    <a:lumOff val="40000"/>
                  </a:schemeClr>
                </a:solidFill>
                <a:hlinkClick r:id="rId3"/>
              </a:rPr>
              <a:t>https://tinyurl.com/RightWithGod</a:t>
            </a:r>
            <a:endParaRPr lang="en-US" dirty="0">
              <a:solidFill>
                <a:schemeClr val="tx2">
                  <a:lumMod val="60000"/>
                  <a:lumOff val="40000"/>
                </a:schemeClr>
              </a:solidFill>
            </a:endParaRPr>
          </a:p>
          <a:p>
            <a:endParaRPr lang="en-US" dirty="0">
              <a:solidFill>
                <a:schemeClr val="tx2">
                  <a:lumMod val="60000"/>
                  <a:lumOff val="40000"/>
                </a:schemeClr>
              </a:solidFill>
            </a:endParaRPr>
          </a:p>
        </p:txBody>
      </p:sp>
    </p:spTree>
    <p:extLst>
      <p:ext uri="{BB962C8B-B14F-4D97-AF65-F5344CB8AC3E}">
        <p14:creationId xmlns:p14="http://schemas.microsoft.com/office/powerpoint/2010/main" val="1185836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081432-74B1-5F65-B322-33931A4F4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327" y="0"/>
            <a:ext cx="5400674" cy="6858000"/>
          </a:xfrm>
          <a:prstGeom prst="rect">
            <a:avLst/>
          </a:prstGeom>
          <a:noFill/>
        </p:spPr>
      </p:pic>
      <p:sp>
        <p:nvSpPr>
          <p:cNvPr id="7" name="Title 1">
            <a:extLst>
              <a:ext uri="{FF2B5EF4-FFF2-40B4-BE49-F238E27FC236}">
                <a16:creationId xmlns:a16="http://schemas.microsoft.com/office/drawing/2014/main" id="{A2C995D5-D075-D415-8E26-22FBE9BF6C58}"/>
              </a:ext>
            </a:extLst>
          </p:cNvPr>
          <p:cNvSpPr txBox="1">
            <a:spLocks/>
          </p:cNvSpPr>
          <p:nvPr/>
        </p:nvSpPr>
        <p:spPr bwMode="auto">
          <a:xfrm>
            <a:off x="152400" y="76200"/>
            <a:ext cx="3509965" cy="80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2600" dirty="0">
                <a:solidFill>
                  <a:schemeClr val="accent1"/>
                </a:solidFill>
              </a:rPr>
              <a:t>Uncertainty - The Soil of Human Righteousness</a:t>
            </a:r>
          </a:p>
        </p:txBody>
      </p:sp>
      <p:sp>
        <p:nvSpPr>
          <p:cNvPr id="8" name="TextBox 7">
            <a:extLst>
              <a:ext uri="{FF2B5EF4-FFF2-40B4-BE49-F238E27FC236}">
                <a16:creationId xmlns:a16="http://schemas.microsoft.com/office/drawing/2014/main" id="{050E03F8-EF1E-2ECC-509B-CE5544773AA3}"/>
              </a:ext>
            </a:extLst>
          </p:cNvPr>
          <p:cNvSpPr txBox="1"/>
          <p:nvPr/>
        </p:nvSpPr>
        <p:spPr>
          <a:xfrm>
            <a:off x="152397" y="956495"/>
            <a:ext cx="350996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Genesis 3:10</a:t>
            </a:r>
            <a:r>
              <a:rPr lang="en-US" sz="2000" dirty="0">
                <a:ea typeface="ＭＳ Ｐゴシック" pitchFamily="-106" charset="-128"/>
                <a:cs typeface="ＭＳ Ｐゴシック" pitchFamily="-106" charset="-128"/>
              </a:rPr>
              <a:t>  </a:t>
            </a:r>
            <a:r>
              <a:rPr lang="en-US" sz="2000" b="1" i="1" dirty="0">
                <a:ea typeface="ＭＳ Ｐゴシック" pitchFamily="-106" charset="-128"/>
                <a:cs typeface="ＭＳ Ｐゴシック" pitchFamily="-106" charset="-128"/>
              </a:rPr>
              <a:t>“I was afraid …, so I hid.”</a:t>
            </a:r>
            <a:endParaRPr lang="en-US" sz="2000" i="1" dirty="0">
              <a:ea typeface="ＭＳ Ｐゴシック" pitchFamily="-106" charset="-128"/>
              <a:cs typeface="ＭＳ Ｐゴシック" pitchFamily="-106" charset="-128"/>
            </a:endParaRPr>
          </a:p>
        </p:txBody>
      </p:sp>
      <p:sp>
        <p:nvSpPr>
          <p:cNvPr id="9" name="TextBox 8">
            <a:extLst>
              <a:ext uri="{FF2B5EF4-FFF2-40B4-BE49-F238E27FC236}">
                <a16:creationId xmlns:a16="http://schemas.microsoft.com/office/drawing/2014/main" id="{234CC2EE-F21A-FD99-05C8-9B7CD0D3C4AC}"/>
              </a:ext>
            </a:extLst>
          </p:cNvPr>
          <p:cNvSpPr txBox="1"/>
          <p:nvPr/>
        </p:nvSpPr>
        <p:spPr>
          <a:xfrm>
            <a:off x="152396" y="1739133"/>
            <a:ext cx="3509965" cy="132343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Fear leads people to ask:</a:t>
            </a:r>
          </a:p>
          <a:p>
            <a:pPr lvl="1" fontAlgn="ctr"/>
            <a:r>
              <a:rPr lang="en-US" sz="2000" b="1" i="1" dirty="0">
                <a:ea typeface="ＭＳ Ｐゴシック" pitchFamily="-106" charset="-128"/>
                <a:cs typeface="ＭＳ Ｐゴシック" pitchFamily="-106" charset="-128"/>
              </a:rPr>
              <a:t>Am I safe?</a:t>
            </a:r>
            <a:endParaRPr lang="en-US" sz="2000" b="1" dirty="0">
              <a:ea typeface="ＭＳ Ｐゴシック" pitchFamily="-106" charset="-128"/>
              <a:cs typeface="ＭＳ Ｐゴシック" pitchFamily="-106" charset="-128"/>
            </a:endParaRPr>
          </a:p>
          <a:p>
            <a:pPr lvl="1" fontAlgn="ctr"/>
            <a:r>
              <a:rPr lang="en-US" sz="2000" b="1" i="1" dirty="0">
                <a:ea typeface="ＭＳ Ｐゴシック" pitchFamily="-106" charset="-128"/>
                <a:cs typeface="ＭＳ Ｐゴシック" pitchFamily="-106" charset="-128"/>
              </a:rPr>
              <a:t>Am I accepted?</a:t>
            </a:r>
            <a:endParaRPr lang="en-US" sz="2000" b="1" dirty="0">
              <a:ea typeface="ＭＳ Ｐゴシック" pitchFamily="-106" charset="-128"/>
              <a:cs typeface="ＭＳ Ｐゴシック" pitchFamily="-106" charset="-128"/>
            </a:endParaRPr>
          </a:p>
          <a:p>
            <a:pPr lvl="1" fontAlgn="ctr"/>
            <a:r>
              <a:rPr lang="en-US" sz="2000" b="1" i="1" dirty="0">
                <a:ea typeface="ＭＳ Ｐゴシック" pitchFamily="-106" charset="-128"/>
                <a:cs typeface="ＭＳ Ｐゴシック" pitchFamily="-106" charset="-128"/>
              </a:rPr>
              <a:t>Am I right?</a:t>
            </a:r>
            <a:endParaRPr lang="en-US" sz="2000" b="1" dirty="0">
              <a:ea typeface="ＭＳ Ｐゴシック" pitchFamily="-106" charset="-128"/>
              <a:cs typeface="ＭＳ Ｐゴシック" pitchFamily="-106" charset="-128"/>
            </a:endParaRPr>
          </a:p>
        </p:txBody>
      </p:sp>
      <p:sp>
        <p:nvSpPr>
          <p:cNvPr id="10" name="TextBox 9">
            <a:extLst>
              <a:ext uri="{FF2B5EF4-FFF2-40B4-BE49-F238E27FC236}">
                <a16:creationId xmlns:a16="http://schemas.microsoft.com/office/drawing/2014/main" id="{98AB9B2A-0511-E239-AE4D-2CC28B96FA2F}"/>
              </a:ext>
            </a:extLst>
          </p:cNvPr>
          <p:cNvSpPr txBox="1"/>
          <p:nvPr/>
        </p:nvSpPr>
        <p:spPr>
          <a:xfrm>
            <a:off x="192879" y="3062572"/>
            <a:ext cx="3509965" cy="3477875"/>
          </a:xfrm>
          <a:prstGeom prst="rect">
            <a:avLst/>
          </a:prstGeom>
          <a:noFill/>
        </p:spPr>
        <p:txBody>
          <a:bodyPr wrap="square" rtlCol="0">
            <a:spAutoFit/>
          </a:bodyPr>
          <a:lstStyle/>
          <a:p>
            <a:pPr marL="342900" indent="-342900" fontAlgn="ctr">
              <a:buFont typeface="Wingdings" panose="05000000000000000000" pitchFamily="2" charset="2"/>
              <a:buChar char="Ø"/>
            </a:pPr>
            <a:r>
              <a:rPr lang="en-US" sz="2000" b="1" dirty="0">
                <a:ea typeface="ＭＳ Ｐゴシック" pitchFamily="-106" charset="-128"/>
                <a:cs typeface="ＭＳ Ｐゴシック" pitchFamily="-106" charset="-128"/>
              </a:rPr>
              <a:t>Uncertainty drives fear.</a:t>
            </a:r>
          </a:p>
          <a:p>
            <a:pPr marL="342900" indent="-342900" fontAlgn="ctr">
              <a:buFont typeface="Wingdings" panose="05000000000000000000" pitchFamily="2" charset="2"/>
              <a:buChar char="Ø"/>
            </a:pPr>
            <a:r>
              <a:rPr lang="en-US" sz="2000" b="1" dirty="0">
                <a:ea typeface="ＭＳ Ｐゴシック" pitchFamily="-106" charset="-128"/>
                <a:cs typeface="ＭＳ Ｐゴシック" pitchFamily="-106" charset="-128"/>
              </a:rPr>
              <a:t>Fear demands control.</a:t>
            </a:r>
          </a:p>
          <a:p>
            <a:pPr marL="342900" indent="-342900" fontAlgn="ctr">
              <a:buFont typeface="Wingdings" panose="05000000000000000000" pitchFamily="2" charset="2"/>
              <a:buChar char="Ø"/>
            </a:pPr>
            <a:r>
              <a:rPr lang="en-US" sz="2000" b="1" dirty="0">
                <a:ea typeface="ＭＳ Ｐゴシック" pitchFamily="-106" charset="-128"/>
                <a:cs typeface="ＭＳ Ｐゴシック" pitchFamily="-106" charset="-128"/>
              </a:rPr>
              <a:t>Control creates systems.</a:t>
            </a:r>
          </a:p>
          <a:p>
            <a:pPr marL="342900" indent="-342900" fontAlgn="ctr">
              <a:buFont typeface="Wingdings" panose="05000000000000000000" pitchFamily="2" charset="2"/>
              <a:buChar char="Ø"/>
            </a:pPr>
            <a:r>
              <a:rPr lang="en-US" sz="2000" b="1" dirty="0">
                <a:ea typeface="ＭＳ Ｐゴシック" pitchFamily="-106" charset="-128"/>
                <a:cs typeface="ＭＳ Ｐゴシック" pitchFamily="-106" charset="-128"/>
              </a:rPr>
              <a:t>Systems shape behaviors.</a:t>
            </a:r>
          </a:p>
          <a:p>
            <a:pPr marL="342900" indent="-342900" fontAlgn="ctr">
              <a:buFont typeface="Wingdings" panose="05000000000000000000" pitchFamily="2" charset="2"/>
              <a:buChar char="Ø"/>
            </a:pPr>
            <a:r>
              <a:rPr lang="en-US" sz="2000" b="1" dirty="0">
                <a:ea typeface="ＭＳ Ｐゴシック" pitchFamily="-106" charset="-128"/>
                <a:cs typeface="ＭＳ Ｐゴシック" pitchFamily="-106" charset="-128"/>
              </a:rPr>
              <a:t>Behaviors become ideology.</a:t>
            </a:r>
          </a:p>
          <a:p>
            <a:pPr marL="342900" indent="-342900" fontAlgn="ctr">
              <a:buFont typeface="Wingdings" panose="05000000000000000000" pitchFamily="2" charset="2"/>
              <a:buChar char="Ø"/>
            </a:pPr>
            <a:r>
              <a:rPr lang="en-US" sz="2000" b="1" dirty="0">
                <a:ea typeface="ＭＳ Ｐゴシック" pitchFamily="-106" charset="-128"/>
                <a:cs typeface="ＭＳ Ｐゴシック" pitchFamily="-106" charset="-128"/>
              </a:rPr>
              <a:t>Ideology defines social norms.</a:t>
            </a:r>
          </a:p>
          <a:p>
            <a:pPr marL="342900" indent="-342900" fontAlgn="ctr">
              <a:buFont typeface="Wingdings" panose="05000000000000000000" pitchFamily="2" charset="2"/>
              <a:buChar char="Ø"/>
            </a:pPr>
            <a:r>
              <a:rPr lang="en-US" sz="2000" b="1" u="sng" dirty="0">
                <a:ea typeface="ＭＳ Ｐゴシック" pitchFamily="-106" charset="-128"/>
                <a:cs typeface="ＭＳ Ｐゴシック" pitchFamily="-106" charset="-128"/>
              </a:rPr>
              <a:t>Human Righteousness</a:t>
            </a:r>
          </a:p>
        </p:txBody>
      </p:sp>
    </p:spTree>
    <p:extLst>
      <p:ext uri="{BB962C8B-B14F-4D97-AF65-F5344CB8AC3E}">
        <p14:creationId xmlns:p14="http://schemas.microsoft.com/office/powerpoint/2010/main" val="4042684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FDED4A-0214-D117-186A-621EF5E64B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TextBox 5">
            <a:extLst>
              <a:ext uri="{FF2B5EF4-FFF2-40B4-BE49-F238E27FC236}">
                <a16:creationId xmlns:a16="http://schemas.microsoft.com/office/drawing/2014/main" id="{DB9963FD-C6CF-917A-1C40-152FEDF161D5}"/>
              </a:ext>
            </a:extLst>
          </p:cNvPr>
          <p:cNvSpPr txBox="1"/>
          <p:nvPr/>
        </p:nvSpPr>
        <p:spPr>
          <a:xfrm>
            <a:off x="228600" y="228600"/>
            <a:ext cx="6324600" cy="1200329"/>
          </a:xfrm>
          <a:prstGeom prst="rect">
            <a:avLst/>
          </a:prstGeom>
          <a:solidFill>
            <a:schemeClr val="bg2"/>
          </a:solidFill>
        </p:spPr>
        <p:txBody>
          <a:bodyPr wrap="square" rtlCol="0">
            <a:spAutoFit/>
          </a:bodyPr>
          <a:lstStyle/>
          <a:p>
            <a:pPr fontAlgn="ctr"/>
            <a:r>
              <a:rPr lang="en-US" sz="2400" b="1" dirty="0">
                <a:ea typeface="ＭＳ Ｐゴシック" pitchFamily="-106" charset="-128"/>
                <a:cs typeface="ＭＳ Ｐゴシック" pitchFamily="-106" charset="-128"/>
              </a:rPr>
              <a:t>Romans 10:3</a:t>
            </a:r>
            <a:r>
              <a:rPr lang="en-US" sz="2400" dirty="0">
                <a:ea typeface="ＭＳ Ｐゴシック" pitchFamily="-106" charset="-128"/>
                <a:cs typeface="ＭＳ Ｐゴシック" pitchFamily="-106" charset="-128"/>
              </a:rPr>
              <a:t>  </a:t>
            </a:r>
            <a:r>
              <a:rPr lang="en-US" sz="2400" b="1" i="1" dirty="0">
                <a:ea typeface="ＭＳ Ｐゴシック" pitchFamily="-106" charset="-128"/>
                <a:cs typeface="ＭＳ Ｐゴシック" pitchFamily="-106" charset="-128"/>
              </a:rPr>
              <a:t>They sought to establish their own righteousness and did not submit to God’s righteousness.</a:t>
            </a:r>
          </a:p>
        </p:txBody>
      </p:sp>
    </p:spTree>
    <p:extLst>
      <p:ext uri="{BB962C8B-B14F-4D97-AF65-F5344CB8AC3E}">
        <p14:creationId xmlns:p14="http://schemas.microsoft.com/office/powerpoint/2010/main" val="2066033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3B0E9C-E3CE-67FE-792F-B26CA8EC2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56"/>
            <a:ext cx="9144000" cy="6848488"/>
          </a:xfrm>
          <a:prstGeom prst="rect">
            <a:avLst/>
          </a:prstGeom>
        </p:spPr>
      </p:pic>
      <p:sp>
        <p:nvSpPr>
          <p:cNvPr id="6" name="TextBox 5">
            <a:extLst>
              <a:ext uri="{FF2B5EF4-FFF2-40B4-BE49-F238E27FC236}">
                <a16:creationId xmlns:a16="http://schemas.microsoft.com/office/drawing/2014/main" id="{2804E222-C5A9-9C0A-6492-F6BDC06FCC91}"/>
              </a:ext>
            </a:extLst>
          </p:cNvPr>
          <p:cNvSpPr txBox="1"/>
          <p:nvPr/>
        </p:nvSpPr>
        <p:spPr>
          <a:xfrm>
            <a:off x="228600" y="228600"/>
            <a:ext cx="4495800" cy="1323439"/>
          </a:xfrm>
          <a:prstGeom prst="rect">
            <a:avLst/>
          </a:prstGeom>
          <a:solidFill>
            <a:schemeClr val="bg2"/>
          </a:solidFill>
        </p:spPr>
        <p:txBody>
          <a:bodyPr wrap="square" rtlCol="0">
            <a:spAutoFit/>
          </a:bodyPr>
          <a:lstStyle/>
          <a:p>
            <a:r>
              <a:rPr lang="en-US" sz="2000" b="1" dirty="0"/>
              <a:t>Romans 4:3  </a:t>
            </a:r>
            <a:r>
              <a:rPr lang="en-US" sz="2000" dirty="0"/>
              <a:t>For what does the scripture say? </a:t>
            </a:r>
            <a:r>
              <a:rPr lang="en-US" sz="2000" i="1" dirty="0"/>
              <a:t>“</a:t>
            </a:r>
            <a:r>
              <a:rPr lang="en-US" sz="2000" b="1" i="1" dirty="0"/>
              <a:t>Abraham believed God</a:t>
            </a:r>
            <a:r>
              <a:rPr lang="en-US" sz="2000" i="1" dirty="0"/>
              <a:t>, </a:t>
            </a:r>
            <a:r>
              <a:rPr lang="en-US" sz="2000" b="1" i="1" dirty="0"/>
              <a:t>and it was credited to him as righteousness</a:t>
            </a:r>
            <a:r>
              <a:rPr lang="en-US" sz="2000" i="1" dirty="0"/>
              <a:t>.”</a:t>
            </a:r>
          </a:p>
        </p:txBody>
      </p:sp>
    </p:spTree>
    <p:extLst>
      <p:ext uri="{BB962C8B-B14F-4D97-AF65-F5344CB8AC3E}">
        <p14:creationId xmlns:p14="http://schemas.microsoft.com/office/powerpoint/2010/main" val="2872319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ED88211-CFE0-85B2-5DFA-04ADF6A58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D16206A4-C2EF-D52C-15EA-9FF7BBA755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600" y="4519179"/>
            <a:ext cx="3962400" cy="2331201"/>
          </a:xfrm>
          <a:prstGeom prst="rect">
            <a:avLst/>
          </a:prstGeom>
        </p:spPr>
      </p:pic>
      <p:sp>
        <p:nvSpPr>
          <p:cNvPr id="8" name="TextBox 7">
            <a:extLst>
              <a:ext uri="{FF2B5EF4-FFF2-40B4-BE49-F238E27FC236}">
                <a16:creationId xmlns:a16="http://schemas.microsoft.com/office/drawing/2014/main" id="{611DB11D-9530-222A-E48D-41EB37CEB314}"/>
              </a:ext>
            </a:extLst>
          </p:cNvPr>
          <p:cNvSpPr txBox="1"/>
          <p:nvPr/>
        </p:nvSpPr>
        <p:spPr>
          <a:xfrm>
            <a:off x="76200" y="76200"/>
            <a:ext cx="7086600" cy="1015663"/>
          </a:xfrm>
          <a:prstGeom prst="rect">
            <a:avLst/>
          </a:prstGeom>
          <a:solidFill>
            <a:srgbClr val="F7A623"/>
          </a:solidFill>
        </p:spPr>
        <p:txBody>
          <a:bodyPr wrap="square" rtlCol="0">
            <a:spAutoFit/>
          </a:bodyPr>
          <a:lstStyle/>
          <a:p>
            <a:r>
              <a:rPr lang="en-US" sz="2000" b="1" dirty="0">
                <a:ea typeface="ＭＳ Ｐゴシック" pitchFamily="-106" charset="-128"/>
                <a:cs typeface="ＭＳ Ｐゴシック" pitchFamily="-106" charset="-128"/>
              </a:rPr>
              <a:t>Matthew 5:20  </a:t>
            </a:r>
            <a:r>
              <a:rPr lang="en-US" sz="2000" b="1" i="1" dirty="0">
                <a:ea typeface="ＭＳ Ｐゴシック" pitchFamily="-106" charset="-128"/>
                <a:cs typeface="ＭＳ Ｐゴシック" pitchFamily="-106" charset="-128"/>
              </a:rPr>
              <a:t>“Unless your righteousness goes beyond that of the experts in the law and the Pharisees, you will never enter the kingdom of heaven.”</a:t>
            </a:r>
          </a:p>
        </p:txBody>
      </p:sp>
    </p:spTree>
    <p:extLst>
      <p:ext uri="{BB962C8B-B14F-4D97-AF65-F5344CB8AC3E}">
        <p14:creationId xmlns:p14="http://schemas.microsoft.com/office/powerpoint/2010/main" val="385131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93757-4DEA-CE54-FEC8-832268E7A92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027ADF0-2A9A-ADAC-9FBA-16D3C2ADECFD}"/>
              </a:ext>
            </a:extLst>
          </p:cNvPr>
          <p:cNvPicPr>
            <a:picLocks noChangeAspect="1"/>
          </p:cNvPicPr>
          <p:nvPr/>
        </p:nvPicPr>
        <p:blipFill>
          <a:blip r:embed="rId3"/>
          <a:stretch>
            <a:fillRect/>
          </a:stretch>
        </p:blipFill>
        <p:spPr>
          <a:xfrm>
            <a:off x="3657600" y="0"/>
            <a:ext cx="5505718" cy="6858000"/>
          </a:xfrm>
          <a:prstGeom prst="rect">
            <a:avLst/>
          </a:prstGeom>
        </p:spPr>
      </p:pic>
      <p:sp>
        <p:nvSpPr>
          <p:cNvPr id="6" name="TextBox 5">
            <a:extLst>
              <a:ext uri="{FF2B5EF4-FFF2-40B4-BE49-F238E27FC236}">
                <a16:creationId xmlns:a16="http://schemas.microsoft.com/office/drawing/2014/main" id="{F7CD1824-96ED-D996-F01B-4EA51CCB3CF6}"/>
              </a:ext>
            </a:extLst>
          </p:cNvPr>
          <p:cNvSpPr txBox="1"/>
          <p:nvPr/>
        </p:nvSpPr>
        <p:spPr>
          <a:xfrm>
            <a:off x="152400" y="58846"/>
            <a:ext cx="3429000" cy="6247864"/>
          </a:xfrm>
          <a:prstGeom prst="rect">
            <a:avLst/>
          </a:prstGeom>
          <a:noFill/>
        </p:spPr>
        <p:txBody>
          <a:bodyPr wrap="square" rtlCol="0">
            <a:spAutoFit/>
          </a:bodyPr>
          <a:lstStyle/>
          <a:p>
            <a:r>
              <a:rPr lang="en-US" sz="2000" b="1" dirty="0"/>
              <a:t>Daniel 7:14  </a:t>
            </a:r>
            <a:r>
              <a:rPr lang="en-US" sz="2000" dirty="0"/>
              <a:t>To him was given ruling authority, honor, and sovereignty… His authority is eternal and will not pass away. His kingdom will not be destroyed.</a:t>
            </a:r>
          </a:p>
          <a:p>
            <a:endParaRPr lang="en-US" sz="2000" dirty="0"/>
          </a:p>
          <a:p>
            <a:r>
              <a:rPr lang="en-US" sz="2000" b="1" dirty="0"/>
              <a:t>2 Peter 1:16-18  </a:t>
            </a:r>
            <a:r>
              <a:rPr lang="en-US" sz="2000" dirty="0"/>
              <a:t>…we were eyewitnesses of his grandeur. For he received honor and glory from God the Father, when that voice was conveyed to him by the Majestic Glory: </a:t>
            </a:r>
            <a:r>
              <a:rPr lang="en-US" sz="2000" b="1" dirty="0"/>
              <a:t>“This is my dear Son, in whom I am delighted.”</a:t>
            </a:r>
            <a:r>
              <a:rPr lang="en-US" sz="2000" dirty="0"/>
              <a:t> When this voice was conveyed from heaven, we ourselves heard it, for we were with him on the holy mountain.</a:t>
            </a:r>
          </a:p>
        </p:txBody>
      </p:sp>
    </p:spTree>
    <p:extLst>
      <p:ext uri="{BB962C8B-B14F-4D97-AF65-F5344CB8AC3E}">
        <p14:creationId xmlns:p14="http://schemas.microsoft.com/office/powerpoint/2010/main" val="1361925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503340-66CF-0EC7-7E19-E41626FF2F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890611" cy="6858000"/>
          </a:xfrm>
          <a:prstGeom prst="rect">
            <a:avLst/>
          </a:prstGeom>
        </p:spPr>
      </p:pic>
      <p:sp>
        <p:nvSpPr>
          <p:cNvPr id="7" name="TextBox 6">
            <a:extLst>
              <a:ext uri="{FF2B5EF4-FFF2-40B4-BE49-F238E27FC236}">
                <a16:creationId xmlns:a16="http://schemas.microsoft.com/office/drawing/2014/main" id="{4E2A355A-30A5-6675-9A2F-E8A67711B6B7}"/>
              </a:ext>
            </a:extLst>
          </p:cNvPr>
          <p:cNvSpPr txBox="1"/>
          <p:nvPr/>
        </p:nvSpPr>
        <p:spPr>
          <a:xfrm>
            <a:off x="4953000" y="152400"/>
            <a:ext cx="4038600" cy="5632311"/>
          </a:xfrm>
          <a:prstGeom prst="rect">
            <a:avLst/>
          </a:prstGeom>
          <a:noFill/>
        </p:spPr>
        <p:txBody>
          <a:bodyPr wrap="square">
            <a:spAutoFit/>
          </a:bodyPr>
          <a:lstStyle/>
          <a:p>
            <a:r>
              <a:rPr lang="en-US" sz="2000" b="1" dirty="0"/>
              <a:t>John 17:16-21  </a:t>
            </a:r>
            <a:r>
              <a:rPr lang="en-US" sz="2000" dirty="0"/>
              <a:t>They do not belong to the world just as I do not belong to the world.  Set them apart in the truth; your word is truth.  Just as you sent me into the world, so I sent them into the world.  And I set myself apart on their behalf, so that they too may be truly set apart.  </a:t>
            </a:r>
            <a:r>
              <a:rPr lang="en-US" sz="2000" b="1" i="1" dirty="0"/>
              <a:t>I am not praying only on their behalf, but </a:t>
            </a:r>
            <a:r>
              <a:rPr lang="en-US" sz="2000" b="1" i="1" u="sng" dirty="0"/>
              <a:t>also on behalf of those who believe in me through their testimony</a:t>
            </a:r>
            <a:r>
              <a:rPr lang="en-US" sz="2000" b="1" i="1" dirty="0"/>
              <a:t>, that they will all be one, just as you, Father, are in me and I am in you.  I pray that they will be in us, so that the world will believe that you sent me.</a:t>
            </a:r>
          </a:p>
        </p:txBody>
      </p:sp>
    </p:spTree>
    <p:extLst>
      <p:ext uri="{BB962C8B-B14F-4D97-AF65-F5344CB8AC3E}">
        <p14:creationId xmlns:p14="http://schemas.microsoft.com/office/powerpoint/2010/main" val="1592502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9C8067-91C8-20B4-6D54-6A2DC65BA276}"/>
              </a:ext>
            </a:extLst>
          </p:cNvPr>
          <p:cNvPicPr>
            <a:picLocks noChangeAspect="1"/>
          </p:cNvPicPr>
          <p:nvPr/>
        </p:nvPicPr>
        <p:blipFill>
          <a:blip r:embed="rId3" cstate="print">
            <a:extLst>
              <a:ext uri="{28A0092B-C50C-407E-A947-70E740481C1C}">
                <a14:useLocalDpi xmlns:a14="http://schemas.microsoft.com/office/drawing/2010/main" val="0"/>
              </a:ext>
            </a:extLst>
          </a:blip>
          <a:srcRect t="2280"/>
          <a:stretch>
            <a:fillRect/>
          </a:stretch>
        </p:blipFill>
        <p:spPr>
          <a:xfrm>
            <a:off x="20" y="10"/>
            <a:ext cx="9143980" cy="6857990"/>
          </a:xfrm>
          <a:prstGeom prst="rect">
            <a:avLst/>
          </a:prstGeom>
          <a:noFill/>
        </p:spPr>
      </p:pic>
      <p:sp>
        <p:nvSpPr>
          <p:cNvPr id="6" name="TextBox 5">
            <a:extLst>
              <a:ext uri="{FF2B5EF4-FFF2-40B4-BE49-F238E27FC236}">
                <a16:creationId xmlns:a16="http://schemas.microsoft.com/office/drawing/2014/main" id="{B65430C5-D7B6-2299-16F3-3278876C4990}"/>
              </a:ext>
            </a:extLst>
          </p:cNvPr>
          <p:cNvSpPr txBox="1"/>
          <p:nvPr/>
        </p:nvSpPr>
        <p:spPr>
          <a:xfrm>
            <a:off x="228600" y="152400"/>
            <a:ext cx="8763000" cy="1200329"/>
          </a:xfrm>
          <a:prstGeom prst="rect">
            <a:avLst/>
          </a:prstGeom>
          <a:solidFill>
            <a:schemeClr val="bg2"/>
          </a:solidFill>
        </p:spPr>
        <p:txBody>
          <a:bodyPr wrap="square" rtlCol="0">
            <a:spAutoFit/>
          </a:bodyPr>
          <a:lstStyle/>
          <a:p>
            <a:r>
              <a:rPr lang="en-US" sz="2400" dirty="0">
                <a:ea typeface="ＭＳ Ｐゴシック" pitchFamily="-106" charset="-128"/>
                <a:cs typeface="ＭＳ Ｐゴシック" pitchFamily="-106" charset="-128"/>
              </a:rPr>
              <a:t>Jesus replied, “… </a:t>
            </a:r>
            <a:r>
              <a:rPr lang="en-US" sz="2400" b="1" dirty="0">
                <a:ea typeface="ＭＳ Ｐゴシック" pitchFamily="-106" charset="-128"/>
                <a:cs typeface="ＭＳ Ｐゴシック" pitchFamily="-106" charset="-128"/>
              </a:rPr>
              <a:t>For this reason I was born, and for this reason I came into the world – </a:t>
            </a:r>
            <a:r>
              <a:rPr lang="en-US" sz="2400" b="1" u="sng" dirty="0">
                <a:ea typeface="ＭＳ Ｐゴシック" pitchFamily="-106" charset="-128"/>
                <a:cs typeface="ＭＳ Ｐゴシック" pitchFamily="-106" charset="-128"/>
              </a:rPr>
              <a:t>to testify to the truth</a:t>
            </a:r>
            <a:r>
              <a:rPr lang="en-US" sz="2400" b="1" dirty="0">
                <a:ea typeface="ＭＳ Ｐゴシック" pitchFamily="-106" charset="-128"/>
                <a:cs typeface="ＭＳ Ｐゴシック" pitchFamily="-106" charset="-128"/>
              </a:rPr>
              <a:t>. </a:t>
            </a:r>
            <a:r>
              <a:rPr lang="en-US" sz="2400" b="1" u="sng" dirty="0">
                <a:ea typeface="ＭＳ Ｐゴシック" pitchFamily="-106" charset="-128"/>
                <a:cs typeface="ＭＳ Ｐゴシック" pitchFamily="-106" charset="-128"/>
              </a:rPr>
              <a:t>Everyone who belongs to the truth listens to my voice</a:t>
            </a:r>
            <a:r>
              <a:rPr lang="en-US" sz="2400" b="1" dirty="0">
                <a:ea typeface="ＭＳ Ｐゴシック" pitchFamily="-106" charset="-128"/>
                <a:cs typeface="ＭＳ Ｐゴシック" pitchFamily="-106" charset="-128"/>
              </a:rPr>
              <a:t>.</a:t>
            </a:r>
            <a:endParaRPr lang="en-US" sz="2400" dirty="0"/>
          </a:p>
        </p:txBody>
      </p:sp>
    </p:spTree>
    <p:extLst>
      <p:ext uri="{BB962C8B-B14F-4D97-AF65-F5344CB8AC3E}">
        <p14:creationId xmlns:p14="http://schemas.microsoft.com/office/powerpoint/2010/main" val="1499082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C1FCDF-6C09-13A9-9C35-05E86BD4336C}"/>
              </a:ext>
            </a:extLst>
          </p:cNvPr>
          <p:cNvPicPr>
            <a:picLocks noChangeAspect="1"/>
          </p:cNvPicPr>
          <p:nvPr/>
        </p:nvPicPr>
        <p:blipFill>
          <a:blip r:embed="rId3" cstate="print">
            <a:extLst>
              <a:ext uri="{28A0092B-C50C-407E-A947-70E740481C1C}">
                <a14:useLocalDpi xmlns:a14="http://schemas.microsoft.com/office/drawing/2010/main" val="0"/>
              </a:ext>
            </a:extLst>
          </a:blip>
          <a:srcRect l="22162" r="2838"/>
          <a:stretch>
            <a:fillRect/>
          </a:stretch>
        </p:blipFill>
        <p:spPr>
          <a:xfrm>
            <a:off x="20" y="10"/>
            <a:ext cx="9143980" cy="6857990"/>
          </a:xfrm>
          <a:prstGeom prst="rect">
            <a:avLst/>
          </a:prstGeom>
          <a:noFill/>
        </p:spPr>
      </p:pic>
      <p:sp>
        <p:nvSpPr>
          <p:cNvPr id="6" name="TextBox 5">
            <a:extLst>
              <a:ext uri="{FF2B5EF4-FFF2-40B4-BE49-F238E27FC236}">
                <a16:creationId xmlns:a16="http://schemas.microsoft.com/office/drawing/2014/main" id="{C65927DD-1345-116B-0442-E139174FACF6}"/>
              </a:ext>
            </a:extLst>
          </p:cNvPr>
          <p:cNvSpPr txBox="1"/>
          <p:nvPr/>
        </p:nvSpPr>
        <p:spPr>
          <a:xfrm>
            <a:off x="126657" y="6096000"/>
            <a:ext cx="8890686" cy="707886"/>
          </a:xfrm>
          <a:prstGeom prst="rect">
            <a:avLst/>
          </a:prstGeom>
          <a:solidFill>
            <a:schemeClr val="bg2"/>
          </a:solidFill>
        </p:spPr>
        <p:txBody>
          <a:bodyPr wrap="square" rtlCol="0">
            <a:spAutoFit/>
          </a:bodyPr>
          <a:lstStyle/>
          <a:p>
            <a:r>
              <a:rPr lang="en-US" sz="2000" i="1" dirty="0"/>
              <a:t>“None of the rulers of this age understood it. </a:t>
            </a:r>
            <a:r>
              <a:rPr lang="en-US" sz="2000" b="1" i="1" dirty="0"/>
              <a:t>If they had known it, they would not have crucified the Lord of glory</a:t>
            </a:r>
            <a:r>
              <a:rPr lang="en-US" sz="2000" dirty="0"/>
              <a:t>.”  </a:t>
            </a:r>
            <a:r>
              <a:rPr lang="en-US" sz="2000" i="1" dirty="0">
                <a:ea typeface="ＭＳ Ｐゴシック" pitchFamily="-106" charset="-128"/>
                <a:cs typeface="ＭＳ Ｐゴシック" pitchFamily="-106" charset="-128"/>
              </a:rPr>
              <a:t> </a:t>
            </a:r>
            <a:r>
              <a:rPr lang="en-US" sz="2000" dirty="0">
                <a:ea typeface="ＭＳ Ｐゴシック" pitchFamily="-106" charset="-128"/>
                <a:cs typeface="ＭＳ Ｐゴシック" pitchFamily="-106" charset="-128"/>
              </a:rPr>
              <a:t>1 Corinthians 2:8</a:t>
            </a:r>
            <a:endParaRPr lang="en-US" sz="2000" dirty="0"/>
          </a:p>
        </p:txBody>
      </p:sp>
    </p:spTree>
    <p:extLst>
      <p:ext uri="{BB962C8B-B14F-4D97-AF65-F5344CB8AC3E}">
        <p14:creationId xmlns:p14="http://schemas.microsoft.com/office/powerpoint/2010/main" val="1194085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CC42C-C80B-D6BA-35D7-E5ADEBD7BEE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F32F974-7F1E-5931-42E5-F16A188AF177}"/>
              </a:ext>
            </a:extLst>
          </p:cNvPr>
          <p:cNvPicPr>
            <a:picLocks noChangeAspect="1"/>
          </p:cNvPicPr>
          <p:nvPr/>
        </p:nvPicPr>
        <p:blipFill>
          <a:blip r:embed="rId3"/>
          <a:stretch>
            <a:fillRect/>
          </a:stretch>
        </p:blipFill>
        <p:spPr>
          <a:xfrm>
            <a:off x="0" y="0"/>
            <a:ext cx="5128929" cy="6858000"/>
          </a:xfrm>
          <a:prstGeom prst="rect">
            <a:avLst/>
          </a:prstGeom>
        </p:spPr>
      </p:pic>
      <p:sp>
        <p:nvSpPr>
          <p:cNvPr id="8" name="TextBox 7">
            <a:extLst>
              <a:ext uri="{FF2B5EF4-FFF2-40B4-BE49-F238E27FC236}">
                <a16:creationId xmlns:a16="http://schemas.microsoft.com/office/drawing/2014/main" id="{1972C8A4-CE6E-3792-E3C9-03FB709284E0}"/>
              </a:ext>
            </a:extLst>
          </p:cNvPr>
          <p:cNvSpPr txBox="1"/>
          <p:nvPr/>
        </p:nvSpPr>
        <p:spPr>
          <a:xfrm>
            <a:off x="5257800" y="152400"/>
            <a:ext cx="3581399" cy="2862322"/>
          </a:xfrm>
          <a:prstGeom prst="rect">
            <a:avLst/>
          </a:prstGeom>
          <a:noFill/>
        </p:spPr>
        <p:txBody>
          <a:bodyPr wrap="square" rtlCol="0">
            <a:spAutoFit/>
          </a:bodyPr>
          <a:lstStyle/>
          <a:p>
            <a:r>
              <a:rPr lang="en-US" dirty="0"/>
              <a:t>He has destroyed what was against us, a certificate of indebtedness expressed in decrees opposed to us. He has taken it away by nailing it to the cross. </a:t>
            </a:r>
            <a:r>
              <a:rPr lang="en-US" b="1" dirty="0"/>
              <a:t>Disarming the rulers and authorities, he has made a public disgrace of them, triumphing over them by the cross</a:t>
            </a:r>
            <a:r>
              <a:rPr lang="en-US" dirty="0"/>
              <a:t>. (Colossians 2:14-15)</a:t>
            </a:r>
          </a:p>
        </p:txBody>
      </p:sp>
      <p:sp>
        <p:nvSpPr>
          <p:cNvPr id="9" name="TextBox 8">
            <a:extLst>
              <a:ext uri="{FF2B5EF4-FFF2-40B4-BE49-F238E27FC236}">
                <a16:creationId xmlns:a16="http://schemas.microsoft.com/office/drawing/2014/main" id="{06715B1F-5C31-B782-F1DB-62B7B5A7C61B}"/>
              </a:ext>
            </a:extLst>
          </p:cNvPr>
          <p:cNvSpPr txBox="1"/>
          <p:nvPr/>
        </p:nvSpPr>
        <p:spPr>
          <a:xfrm>
            <a:off x="5257800" y="3124200"/>
            <a:ext cx="3581399" cy="3693319"/>
          </a:xfrm>
          <a:prstGeom prst="rect">
            <a:avLst/>
          </a:prstGeom>
          <a:noFill/>
        </p:spPr>
        <p:txBody>
          <a:bodyPr wrap="square" rtlCol="0">
            <a:spAutoFit/>
          </a:bodyPr>
          <a:lstStyle/>
          <a:p>
            <a:r>
              <a:rPr lang="en-US" dirty="0"/>
              <a:t>Therefore, since the children share in flesh and blood, he likewise shared in their humanity, so that </a:t>
            </a:r>
            <a:r>
              <a:rPr lang="en-US" b="1" dirty="0"/>
              <a:t>through death He could destroy the one who holds the power of death </a:t>
            </a:r>
            <a:r>
              <a:rPr lang="en-US" dirty="0"/>
              <a:t>(that is, the devil) and </a:t>
            </a:r>
            <a:r>
              <a:rPr lang="en-US" b="1" dirty="0"/>
              <a:t>set free those who were held in slavery all their lives by their fear of death</a:t>
            </a:r>
            <a:r>
              <a:rPr lang="en-US" dirty="0"/>
              <a:t>. For surely his concern is not for angels, but He is concerned for Abraham’s descendants. </a:t>
            </a:r>
          </a:p>
          <a:p>
            <a:r>
              <a:rPr lang="en-US" dirty="0"/>
              <a:t>(Hebrews 2:14-16)</a:t>
            </a:r>
          </a:p>
        </p:txBody>
      </p:sp>
    </p:spTree>
    <p:extLst>
      <p:ext uri="{BB962C8B-B14F-4D97-AF65-F5344CB8AC3E}">
        <p14:creationId xmlns:p14="http://schemas.microsoft.com/office/powerpoint/2010/main" val="2275407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5EBA29-3FBF-926A-9AE8-CE593A9746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6450" y="0"/>
            <a:ext cx="4527550" cy="6858000"/>
          </a:xfrm>
          <a:prstGeom prst="rect">
            <a:avLst/>
          </a:prstGeom>
        </p:spPr>
      </p:pic>
      <p:sp>
        <p:nvSpPr>
          <p:cNvPr id="7" name="TextBox 6">
            <a:extLst>
              <a:ext uri="{FF2B5EF4-FFF2-40B4-BE49-F238E27FC236}">
                <a16:creationId xmlns:a16="http://schemas.microsoft.com/office/drawing/2014/main" id="{C23DEB66-97F1-4622-B755-FBB57E104486}"/>
              </a:ext>
            </a:extLst>
          </p:cNvPr>
          <p:cNvSpPr txBox="1"/>
          <p:nvPr/>
        </p:nvSpPr>
        <p:spPr>
          <a:xfrm>
            <a:off x="152400" y="990600"/>
            <a:ext cx="4375151" cy="3477875"/>
          </a:xfrm>
          <a:prstGeom prst="rect">
            <a:avLst/>
          </a:prstGeom>
          <a:noFill/>
        </p:spPr>
        <p:txBody>
          <a:bodyPr wrap="square">
            <a:spAutoFit/>
          </a:bodyPr>
          <a:lstStyle/>
          <a:p>
            <a:pPr marR="0" algn="l" rtl="0"/>
            <a:r>
              <a:rPr lang="en-US" sz="2000" b="1" i="0" u="none" strike="noStrike" baseline="0" dirty="0">
                <a:latin typeface="+mn-lt"/>
              </a:rPr>
              <a:t>Matthew 28:18-20  </a:t>
            </a:r>
            <a:r>
              <a:rPr lang="en-US" sz="2000" b="0" i="0" u="none" strike="noStrike" baseline="0" dirty="0">
                <a:latin typeface="+mn-lt"/>
              </a:rPr>
              <a:t>Then Jesus came up and said to them, “All authority in heaven and on earth has been given to me.  Therefore, go and make disciples of all nations, baptizing them in the name of the Father and the Son and the Holy Spirit, teaching them to obey everything I have commanded you. And remember, I am with you always, to the end of the age.”</a:t>
            </a:r>
          </a:p>
        </p:txBody>
      </p:sp>
      <p:sp>
        <p:nvSpPr>
          <p:cNvPr id="8" name="Title 1">
            <a:extLst>
              <a:ext uri="{FF2B5EF4-FFF2-40B4-BE49-F238E27FC236}">
                <a16:creationId xmlns:a16="http://schemas.microsoft.com/office/drawing/2014/main" id="{18C02E0E-F03D-2D41-F939-DCD0B864964F}"/>
              </a:ext>
            </a:extLst>
          </p:cNvPr>
          <p:cNvSpPr txBox="1">
            <a:spLocks/>
          </p:cNvSpPr>
          <p:nvPr/>
        </p:nvSpPr>
        <p:spPr bwMode="auto">
          <a:xfrm>
            <a:off x="152400" y="76200"/>
            <a:ext cx="4375151" cy="80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2600" dirty="0">
                <a:solidFill>
                  <a:schemeClr val="accent1"/>
                </a:solidFill>
              </a:rPr>
              <a:t>Go! Take Back All Nations</a:t>
            </a:r>
          </a:p>
        </p:txBody>
      </p:sp>
    </p:spTree>
    <p:extLst>
      <p:ext uri="{BB962C8B-B14F-4D97-AF65-F5344CB8AC3E}">
        <p14:creationId xmlns:p14="http://schemas.microsoft.com/office/powerpoint/2010/main" val="3407908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434A8-ADA0-7AB5-8BDB-F9E4274ED0C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37F9BD2-FCFC-054A-EF40-95B7833AA15A}"/>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500" dirty="0"/>
              <a:t>Christ Reveals the Righteousness of God </a:t>
            </a:r>
          </a:p>
          <a:p>
            <a:r>
              <a:rPr lang="en-US" sz="3500" dirty="0">
                <a:solidFill>
                  <a:schemeClr val="tx2">
                    <a:lumMod val="60000"/>
                    <a:lumOff val="40000"/>
                  </a:schemeClr>
                </a:solidFill>
              </a:rPr>
              <a:t>Revelation, Declaration, Regeneration, Transformation</a:t>
            </a:r>
          </a:p>
        </p:txBody>
      </p:sp>
      <p:sp>
        <p:nvSpPr>
          <p:cNvPr id="3" name="TextBox 2">
            <a:extLst>
              <a:ext uri="{FF2B5EF4-FFF2-40B4-BE49-F238E27FC236}">
                <a16:creationId xmlns:a16="http://schemas.microsoft.com/office/drawing/2014/main" id="{29AFFC1B-4DFA-735A-56B2-675273AE50D5}"/>
              </a:ext>
            </a:extLst>
          </p:cNvPr>
          <p:cNvSpPr txBox="1"/>
          <p:nvPr/>
        </p:nvSpPr>
        <p:spPr>
          <a:xfrm>
            <a:off x="233362" y="914400"/>
            <a:ext cx="8605839" cy="4401205"/>
          </a:xfrm>
          <a:prstGeom prst="rect">
            <a:avLst/>
          </a:prstGeom>
          <a:noFill/>
        </p:spPr>
        <p:txBody>
          <a:bodyPr wrap="square" rtlCol="0">
            <a:spAutoFit/>
          </a:bodyPr>
          <a:lstStyle/>
          <a:p>
            <a:r>
              <a:rPr lang="en-US" sz="2000" b="1" dirty="0"/>
              <a:t>2 Corinthians 5:21  </a:t>
            </a:r>
            <a:r>
              <a:rPr lang="en-US" sz="2000" i="1" dirty="0"/>
              <a:t>God made the one who did not know sin to be sin for us, so that </a:t>
            </a:r>
            <a:r>
              <a:rPr lang="en-US" sz="2000" i="1" u="sng" dirty="0"/>
              <a:t>in him we would become the righteousness of God</a:t>
            </a:r>
            <a:r>
              <a:rPr lang="en-US" sz="2000" i="1" dirty="0"/>
              <a:t>.</a:t>
            </a:r>
          </a:p>
          <a:p>
            <a:endParaRPr lang="en-US" sz="2000" i="1" dirty="0"/>
          </a:p>
          <a:p>
            <a:r>
              <a:rPr lang="en-US" sz="2000" b="1" dirty="0"/>
              <a:t>Romans 5:1  </a:t>
            </a:r>
            <a:r>
              <a:rPr lang="en-US" sz="2000" i="1" dirty="0"/>
              <a:t>Therefore, since we have been </a:t>
            </a:r>
            <a:r>
              <a:rPr lang="en-US" sz="2000" i="1" u="sng" dirty="0"/>
              <a:t>declared righteous by faith</a:t>
            </a:r>
            <a:r>
              <a:rPr lang="en-US" sz="2000" i="1" dirty="0"/>
              <a:t>, we have peace with God through our Lord Jesus Christ…</a:t>
            </a:r>
          </a:p>
          <a:p>
            <a:endParaRPr lang="en-US" sz="2000" i="1" dirty="0"/>
          </a:p>
          <a:p>
            <a:r>
              <a:rPr lang="en-US" sz="2000" b="1" dirty="0"/>
              <a:t>1 Peter 1:23  </a:t>
            </a:r>
            <a:r>
              <a:rPr lang="en-US" sz="2000" i="1" u="sng" dirty="0"/>
              <a:t>You have been born anew</a:t>
            </a:r>
            <a:r>
              <a:rPr lang="en-US" sz="2000" i="1" dirty="0"/>
              <a:t>, not from perishable but from imperishable seed, through the living and enduring word of God.</a:t>
            </a:r>
          </a:p>
          <a:p>
            <a:endParaRPr lang="en-US" sz="2000" i="1" dirty="0"/>
          </a:p>
          <a:p>
            <a:r>
              <a:rPr lang="en-US" sz="2000" b="1" dirty="0"/>
              <a:t>Ephesians 4:22-24  </a:t>
            </a:r>
            <a:r>
              <a:rPr lang="en-US" sz="2000" i="1" dirty="0"/>
              <a:t>You were taught with reference to your former way of life to lay aside the old man who is being corrupted in accordance with deceitful desires, to be renewed in the spirit of your mind, and to </a:t>
            </a:r>
            <a:r>
              <a:rPr lang="en-US" sz="2000" i="1" u="sng" dirty="0"/>
              <a:t>put on the new man who has been created in God’s image</a:t>
            </a:r>
            <a:r>
              <a:rPr lang="en-US" sz="2000" i="1" dirty="0"/>
              <a:t> – in righteousness and holiness that comes from truth.</a:t>
            </a:r>
          </a:p>
        </p:txBody>
      </p:sp>
    </p:spTree>
    <p:extLst>
      <p:ext uri="{BB962C8B-B14F-4D97-AF65-F5344CB8AC3E}">
        <p14:creationId xmlns:p14="http://schemas.microsoft.com/office/powerpoint/2010/main" val="2673632745"/>
      </p:ext>
    </p:extLst>
  </p:cSld>
  <p:clrMapOvr>
    <a:masterClrMapping/>
  </p:clrMapOvr>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38824</TotalTime>
  <Words>2370</Words>
  <Application>Microsoft Macintosh PowerPoint</Application>
  <PresentationFormat>On-screen Show (4:3)</PresentationFormat>
  <Paragraphs>145</Paragraphs>
  <Slides>12</Slides>
  <Notes>12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ＭＳ Ｐゴシック</vt:lpstr>
      <vt:lpstr>Arial</vt:lpstr>
      <vt:lpstr>Arial Narrow</vt:lpstr>
      <vt:lpstr>Calibri</vt:lpstr>
      <vt:lpstr>Wingdings</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1412</cp:revision>
  <cp:lastPrinted>2026-03-07T23:41:32Z</cp:lastPrinted>
  <dcterms:created xsi:type="dcterms:W3CDTF">2010-06-16T02:58:04Z</dcterms:created>
  <dcterms:modified xsi:type="dcterms:W3CDTF">2026-03-08T12:52:13Z</dcterms:modified>
</cp:coreProperties>
</file>