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6" r:id="rId3"/>
    <p:sldId id="637" r:id="rId4"/>
    <p:sldId id="269" r:id="rId5"/>
    <p:sldId id="268" r:id="rId6"/>
    <p:sldId id="265" r:id="rId7"/>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73"/>
    <p:restoredTop sz="72026"/>
  </p:normalViewPr>
  <p:slideViewPr>
    <p:cSldViewPr snapToGrid="0" snapToObjects="1">
      <p:cViewPr varScale="1">
        <p:scale>
          <a:sx n="105" d="100"/>
          <a:sy n="105" d="100"/>
        </p:scale>
        <p:origin x="29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900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FEAA-C08C-80DF-0C16-4507597FA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432E2-A453-D546-D8CE-D7B1966E9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A0C56-E1A4-657C-87D3-B409B9125ADD}"/>
              </a:ext>
            </a:extLst>
          </p:cNvPr>
          <p:cNvSpPr>
            <a:spLocks noGrp="1"/>
          </p:cNvSpPr>
          <p:nvPr>
            <p:ph type="body" idx="1"/>
          </p:nvPr>
        </p:nvSpPr>
        <p:spPr/>
        <p:txBody>
          <a:bodyPr/>
          <a:lstStyle/>
          <a:p>
            <a:r>
              <a:rPr lang="en-US" sz="1600" dirty="0"/>
              <a:t>SOVEREIGN WILL</a:t>
            </a:r>
          </a:p>
          <a:p>
            <a:r>
              <a:rPr lang="en-US" sz="1600" dirty="0"/>
              <a:t>“In Him also we have obtained an inheritance, being predestined according to the purpose of Him who works all things according to the counsel of His will,” </a:t>
            </a:r>
          </a:p>
          <a:p>
            <a:r>
              <a:rPr lang="en-US" sz="1600" dirty="0"/>
              <a:t>(</a:t>
            </a:r>
            <a:r>
              <a:rPr lang="en-US" sz="1600" b="1" dirty="0"/>
              <a:t>Ephesians 1:11</a:t>
            </a:r>
            <a:r>
              <a:rPr lang="en-US" sz="1600" dirty="0"/>
              <a:t>)</a:t>
            </a:r>
          </a:p>
          <a:p>
            <a:endParaRPr lang="en-US" sz="1800" dirty="0"/>
          </a:p>
          <a:p>
            <a:r>
              <a:rPr lang="en-US" sz="1800" dirty="0"/>
              <a:t>MORAL WILL</a:t>
            </a:r>
          </a:p>
          <a:p>
            <a:r>
              <a:rPr lang="en-US" sz="1800" kern="1200" dirty="0">
                <a:solidFill>
                  <a:schemeClr val="tx1"/>
                </a:solidFill>
                <a:effectLst/>
                <a:latin typeface="+mn-lt"/>
                <a:ea typeface="+mn-ea"/>
                <a:cs typeface="+mn-cs"/>
              </a:rPr>
              <a:t>“For this is God’s will: that you become holy, that you keep away from sexual immorality” </a:t>
            </a:r>
            <a:r>
              <a:rPr lang="en-US" sz="1800" b="1" kern="1200" dirty="0">
                <a:solidFill>
                  <a:schemeClr val="tx1"/>
                </a:solidFill>
                <a:effectLst/>
                <a:latin typeface="+mn-lt"/>
                <a:ea typeface="+mn-ea"/>
                <a:cs typeface="+mn-cs"/>
              </a:rPr>
              <a:t>(1 Thessalonians 4:3).</a:t>
            </a:r>
          </a:p>
          <a:p>
            <a:endParaRPr lang="en-US" sz="1400" dirty="0"/>
          </a:p>
          <a:p>
            <a:r>
              <a:rPr lang="en-US" sz="1600" kern="1200" dirty="0">
                <a:solidFill>
                  <a:schemeClr val="tx1"/>
                </a:solidFill>
                <a:effectLst/>
                <a:latin typeface="+mn-lt"/>
                <a:ea typeface="+mn-ea"/>
                <a:cs typeface="+mn-cs"/>
              </a:rPr>
              <a:t>DISPOSITION WILL</a:t>
            </a:r>
          </a:p>
          <a:p>
            <a:r>
              <a:rPr lang="en-US" sz="1600" kern="1200" dirty="0">
                <a:solidFill>
                  <a:schemeClr val="tx1"/>
                </a:solidFill>
                <a:effectLst/>
                <a:latin typeface="+mn-lt"/>
                <a:ea typeface="+mn-ea"/>
                <a:cs typeface="+mn-cs"/>
              </a:rPr>
              <a:t>“The Lord is not slow concerning his promise… but is being patient toward you, because he does not wish for any to perish but for all to come to repentance” </a:t>
            </a:r>
            <a:r>
              <a:rPr lang="en-US" sz="1600" b="1" kern="1200" dirty="0">
                <a:solidFill>
                  <a:schemeClr val="tx1"/>
                </a:solidFill>
                <a:effectLst/>
                <a:latin typeface="+mn-lt"/>
                <a:ea typeface="+mn-ea"/>
                <a:cs typeface="+mn-cs"/>
              </a:rPr>
              <a:t>(2 Peter 3:9).</a:t>
            </a:r>
          </a:p>
          <a:p>
            <a:endParaRPr lang="en-US" sz="1400" dirty="0"/>
          </a:p>
        </p:txBody>
      </p:sp>
      <p:sp>
        <p:nvSpPr>
          <p:cNvPr id="4" name="Slide Number Placeholder 3">
            <a:extLst>
              <a:ext uri="{FF2B5EF4-FFF2-40B4-BE49-F238E27FC236}">
                <a16:creationId xmlns:a16="http://schemas.microsoft.com/office/drawing/2014/main" id="{D03610F4-6D08-77D1-60D3-0347C4A5F38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70989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Heb 10:5,7 — Psalm 40 in the mouth of Christ.
[CLICK×4] Build the gold stack: form, heart, cost, obedience.
[CLICK] Aligned once, completely, in Him — mercy first, altar second, your living sacrifice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22818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1"/>
          <p:cNvSpPr txBox="1"/>
          <p:nvPr/>
        </p:nvSpPr>
        <p:spPr>
          <a:xfrm>
            <a:off x="548640" y="690430"/>
            <a:ext cx="8046720" cy="822960"/>
          </a:xfrm>
          <a:prstGeom prst="rect">
            <a:avLst/>
          </a:prstGeom>
          <a:noFill/>
          <a:ln/>
        </p:spPr>
        <p:txBody>
          <a:bodyPr wrap="square" lIns="0" tIns="0" rIns="0" bIns="0" rtlCol="0" anchor="t"/>
          <a:lstStyle/>
          <a:p>
            <a:pPr marL="0" indent="0" algn="ctr">
              <a:buNone/>
            </a:pPr>
            <a:r>
              <a:rPr lang="en-US" sz="4000" b="1" dirty="0">
                <a:solidFill>
                  <a:srgbClr val="1F497D"/>
                </a:solidFill>
                <a:latin typeface="Arial" pitchFamily="34" charset="0"/>
                <a:ea typeface="Arial" pitchFamily="34" charset="-122"/>
                <a:cs typeface="Arial" pitchFamily="34" charset="-120"/>
              </a:rPr>
              <a:t>The Obedience of Faith</a:t>
            </a:r>
            <a:endParaRPr lang="en-US" sz="1600" dirty="0"/>
          </a:p>
        </p:txBody>
      </p:sp>
      <p:sp>
        <p:nvSpPr>
          <p:cNvPr id="5" name="t3"/>
          <p:cNvSpPr txBox="1"/>
          <p:nvPr/>
        </p:nvSpPr>
        <p:spPr>
          <a:xfrm>
            <a:off x="548640" y="2066081"/>
            <a:ext cx="8046720" cy="3128058"/>
          </a:xfrm>
          <a:prstGeom prst="rect">
            <a:avLst/>
          </a:prstGeom>
          <a:noFill/>
          <a:ln/>
        </p:spPr>
        <p:txBody>
          <a:bodyPr wrap="square" lIns="0" tIns="0" rIns="0" bIns="0" rtlCol="0" anchor="t"/>
          <a:lstStyle/>
          <a:p>
            <a:r>
              <a:rPr lang="en-US" sz="2800" i="1" dirty="0">
                <a:solidFill>
                  <a:srgbClr val="000000"/>
                </a:solidFill>
                <a:latin typeface="Arial" pitchFamily="34" charset="0"/>
                <a:ea typeface="Arial" pitchFamily="34" charset="-122"/>
                <a:cs typeface="Arial" pitchFamily="34" charset="-120"/>
              </a:rPr>
              <a:t>“All </a:t>
            </a:r>
            <a:r>
              <a:rPr lang="en-US" sz="2800" b="1" i="1" dirty="0">
                <a:solidFill>
                  <a:srgbClr val="000000"/>
                </a:solidFill>
                <a:latin typeface="Arial" pitchFamily="34" charset="0"/>
                <a:ea typeface="Arial" pitchFamily="34" charset="-122"/>
                <a:cs typeface="Arial" pitchFamily="34" charset="-120"/>
              </a:rPr>
              <a:t>authority</a:t>
            </a:r>
            <a:r>
              <a:rPr lang="en-US" sz="2800" i="1" dirty="0">
                <a:solidFill>
                  <a:srgbClr val="000000"/>
                </a:solidFill>
                <a:latin typeface="Arial" pitchFamily="34" charset="0"/>
                <a:ea typeface="Arial" pitchFamily="34" charset="-122"/>
                <a:cs typeface="Arial" pitchFamily="34" charset="-120"/>
              </a:rPr>
              <a:t> in heaven and on earth has been given to me. Therefore, </a:t>
            </a:r>
            <a:r>
              <a:rPr lang="en-US" sz="2800" b="1" i="1" dirty="0">
                <a:solidFill>
                  <a:srgbClr val="000000"/>
                </a:solidFill>
                <a:latin typeface="Arial" pitchFamily="34" charset="0"/>
                <a:ea typeface="Arial" pitchFamily="34" charset="-122"/>
                <a:cs typeface="Arial" pitchFamily="34" charset="-120"/>
              </a:rPr>
              <a:t>go</a:t>
            </a:r>
            <a:r>
              <a:rPr lang="en-US" sz="2800" i="1" dirty="0">
                <a:solidFill>
                  <a:srgbClr val="000000"/>
                </a:solidFill>
                <a:latin typeface="Arial" pitchFamily="34" charset="0"/>
                <a:ea typeface="Arial" pitchFamily="34" charset="-122"/>
                <a:cs typeface="Arial" pitchFamily="34" charset="-120"/>
              </a:rPr>
              <a:t> and make </a:t>
            </a:r>
            <a:r>
              <a:rPr lang="en-US" sz="2800" b="1" i="1" dirty="0">
                <a:solidFill>
                  <a:srgbClr val="000000"/>
                </a:solidFill>
                <a:latin typeface="Arial" pitchFamily="34" charset="0"/>
                <a:ea typeface="Arial" pitchFamily="34" charset="-122"/>
                <a:cs typeface="Arial" pitchFamily="34" charset="-120"/>
              </a:rPr>
              <a:t>disciples</a:t>
            </a:r>
            <a:r>
              <a:rPr lang="en-US" sz="2800" i="1" dirty="0">
                <a:solidFill>
                  <a:srgbClr val="000000"/>
                </a:solidFill>
                <a:latin typeface="Arial" pitchFamily="34" charset="0"/>
                <a:ea typeface="Arial" pitchFamily="34" charset="-122"/>
                <a:cs typeface="Arial" pitchFamily="34" charset="-120"/>
              </a:rPr>
              <a:t> of all nations, </a:t>
            </a:r>
            <a:r>
              <a:rPr lang="en-US" sz="2800" b="1" i="1" dirty="0">
                <a:solidFill>
                  <a:srgbClr val="000000"/>
                </a:solidFill>
                <a:latin typeface="Arial" pitchFamily="34" charset="0"/>
                <a:ea typeface="Arial" pitchFamily="34" charset="-122"/>
                <a:cs typeface="Arial" pitchFamily="34" charset="-120"/>
              </a:rPr>
              <a:t>baptizing</a:t>
            </a:r>
            <a:r>
              <a:rPr lang="en-US" sz="2800" i="1" dirty="0">
                <a:solidFill>
                  <a:srgbClr val="000000"/>
                </a:solidFill>
                <a:latin typeface="Arial" pitchFamily="34" charset="0"/>
                <a:ea typeface="Arial" pitchFamily="34" charset="-122"/>
                <a:cs typeface="Arial" pitchFamily="34" charset="-120"/>
              </a:rPr>
              <a:t> them in the name of the Father and the Son and the Holy Spirit, </a:t>
            </a:r>
            <a:r>
              <a:rPr lang="en-US" sz="2800" b="1" i="1" dirty="0">
                <a:solidFill>
                  <a:srgbClr val="000000"/>
                </a:solidFill>
                <a:latin typeface="Arial" pitchFamily="34" charset="0"/>
                <a:ea typeface="Arial" pitchFamily="34" charset="-122"/>
                <a:cs typeface="Arial" pitchFamily="34" charset="-120"/>
              </a:rPr>
              <a:t>teaching</a:t>
            </a:r>
            <a:r>
              <a:rPr lang="en-US" sz="2800" i="1" dirty="0">
                <a:solidFill>
                  <a:srgbClr val="000000"/>
                </a:solidFill>
                <a:latin typeface="Arial" pitchFamily="34" charset="0"/>
                <a:ea typeface="Arial" pitchFamily="34" charset="-122"/>
                <a:cs typeface="Arial" pitchFamily="34" charset="-120"/>
              </a:rPr>
              <a:t> them to </a:t>
            </a:r>
            <a:r>
              <a:rPr lang="en-US" sz="2800" b="1" i="1" dirty="0">
                <a:solidFill>
                  <a:srgbClr val="000000"/>
                </a:solidFill>
                <a:latin typeface="Arial" pitchFamily="34" charset="0"/>
                <a:ea typeface="Arial" pitchFamily="34" charset="-122"/>
                <a:cs typeface="Arial" pitchFamily="34" charset="-120"/>
              </a:rPr>
              <a:t>obey</a:t>
            </a:r>
            <a:r>
              <a:rPr lang="en-US" sz="2800" i="1" dirty="0">
                <a:solidFill>
                  <a:srgbClr val="000000"/>
                </a:solidFill>
                <a:latin typeface="Arial" pitchFamily="34" charset="0"/>
                <a:ea typeface="Arial" pitchFamily="34" charset="-122"/>
                <a:cs typeface="Arial" pitchFamily="34" charset="-120"/>
              </a:rPr>
              <a:t> everything I have commanded you. And remember, I am with you always, to the end of the age.”   </a:t>
            </a:r>
            <a:r>
              <a:rPr lang="en-US" sz="2800" b="1" dirty="0">
                <a:solidFill>
                  <a:srgbClr val="000000"/>
                </a:solidFill>
                <a:latin typeface="Arial" pitchFamily="34" charset="0"/>
                <a:ea typeface="Arial" pitchFamily="34" charset="-122"/>
                <a:cs typeface="Arial" pitchFamily="34" charset="-120"/>
              </a:rPr>
              <a:t>(Matthew 28:18–20)</a:t>
            </a:r>
            <a:endParaRPr lang="en-US" sz="2800" dirty="0"/>
          </a:p>
        </p:txBody>
      </p:sp>
      <p:sp>
        <p:nvSpPr>
          <p:cNvPr id="6" name="t4"/>
          <p:cNvSpPr txBox="1"/>
          <p:nvPr/>
        </p:nvSpPr>
        <p:spPr>
          <a:xfrm>
            <a:off x="914400" y="5869712"/>
            <a:ext cx="7315200" cy="457200"/>
          </a:xfrm>
          <a:prstGeom prst="rect">
            <a:avLst/>
          </a:prstGeom>
          <a:noFill/>
          <a:ln/>
        </p:spPr>
        <p:txBody>
          <a:bodyPr wrap="square" lIns="0" tIns="0" rIns="0" bIns="0" rtlCol="0" anchor="t"/>
          <a:lstStyle/>
          <a:p>
            <a:pPr marL="0" indent="0" algn="ctr">
              <a:buNone/>
            </a:pPr>
            <a:r>
              <a:rPr lang="en-US" sz="24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a:t>
            </a:r>
            <a:r>
              <a:rPr lang="en-US" sz="24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2400" b="1" u="sng" dirty="0" err="1">
                <a:solidFill>
                  <a:srgbClr val="4F81BD"/>
                </a:solidFill>
                <a:latin typeface="Arial" pitchFamily="34" charset="0"/>
                <a:ea typeface="Arial" pitchFamily="34" charset="-122"/>
                <a:cs typeface="Arial" pitchFamily="34" charset="-120"/>
              </a:rPr>
              <a:t>.Church</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77995347-8E40-D89D-8B25-865965933761}"/>
              </a:ext>
            </a:extLst>
          </p:cNvPr>
          <p:cNvSpPr/>
          <p:nvPr/>
        </p:nvSpPr>
        <p:spPr>
          <a:xfrm>
            <a:off x="228600" y="2194751"/>
            <a:ext cx="8549640" cy="1391729"/>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The Principle: The Obedience of Faith</a:t>
            </a:r>
            <a:endParaRPr lang="en-US" dirty="0"/>
          </a:p>
        </p:txBody>
      </p:sp>
      <p:sp>
        <p:nvSpPr>
          <p:cNvPr id="4" name="c1"/>
          <p:cNvSpPr txBox="1"/>
          <p:nvPr/>
        </p:nvSpPr>
        <p:spPr>
          <a:xfrm>
            <a:off x="365760" y="612648"/>
            <a:ext cx="8412480" cy="1582103"/>
          </a:xfrm>
          <a:prstGeom prst="rect">
            <a:avLst/>
          </a:prstGeom>
          <a:noFill/>
          <a:ln/>
        </p:spPr>
        <p:txBody>
          <a:bodyPr wrap="square" lIns="0" tIns="0" rIns="0" bIns="0" rtlCol="0" anchor="t"/>
          <a:lstStyle/>
          <a:p>
            <a:r>
              <a:rPr lang="en-US" sz="2400" i="1" dirty="0">
                <a:solidFill>
                  <a:srgbClr val="000000"/>
                </a:solidFill>
                <a:latin typeface="Arial" pitchFamily="34" charset="0"/>
                <a:ea typeface="Arial" pitchFamily="34" charset="-122"/>
                <a:cs typeface="Arial" pitchFamily="34" charset="-120"/>
              </a:rPr>
              <a:t>“Paul, a bondservant of Jesus Christ, ... Through Him we have received grace and apostleship for </a:t>
            </a:r>
            <a:r>
              <a:rPr lang="en-US" sz="2400" b="1" i="1" u="sng" dirty="0">
                <a:solidFill>
                  <a:srgbClr val="000000"/>
                </a:solidFill>
                <a:latin typeface="Arial" pitchFamily="34" charset="0"/>
                <a:ea typeface="Arial" pitchFamily="34" charset="-122"/>
                <a:cs typeface="Arial" pitchFamily="34" charset="-120"/>
              </a:rPr>
              <a:t>obedience to the faith</a:t>
            </a:r>
            <a:r>
              <a:rPr lang="en-US" sz="2400" b="1" i="1" dirty="0">
                <a:solidFill>
                  <a:srgbClr val="000000"/>
                </a:solidFill>
                <a:latin typeface="Arial" pitchFamily="34" charset="0"/>
                <a:ea typeface="Arial" pitchFamily="34" charset="-122"/>
                <a:cs typeface="Arial" pitchFamily="34" charset="-120"/>
              </a:rPr>
              <a:t> </a:t>
            </a:r>
            <a:r>
              <a:rPr lang="en-US" sz="2400" i="1" dirty="0">
                <a:solidFill>
                  <a:srgbClr val="000000"/>
                </a:solidFill>
                <a:latin typeface="Arial" pitchFamily="34" charset="0"/>
                <a:ea typeface="Arial" pitchFamily="34" charset="-122"/>
                <a:cs typeface="Arial" pitchFamily="34" charset="-120"/>
              </a:rPr>
              <a:t>among all nations for His name, among whom you also are the called of Jesus Christ;”</a:t>
            </a:r>
            <a:r>
              <a:rPr lang="en-US" sz="2400" dirty="0"/>
              <a:t>  </a:t>
            </a:r>
            <a:r>
              <a:rPr lang="en-US" sz="2400" b="1" dirty="0">
                <a:solidFill>
                  <a:srgbClr val="000000"/>
                </a:solidFill>
                <a:latin typeface="Arial" pitchFamily="34" charset="0"/>
                <a:ea typeface="Arial" pitchFamily="34" charset="-122"/>
                <a:cs typeface="Arial" pitchFamily="34" charset="-120"/>
              </a:rPr>
              <a:t>(Romans 1:1-6)</a:t>
            </a:r>
          </a:p>
        </p:txBody>
      </p:sp>
      <p:sp>
        <p:nvSpPr>
          <p:cNvPr id="5" name="c2"/>
          <p:cNvSpPr txBox="1"/>
          <p:nvPr/>
        </p:nvSpPr>
        <p:spPr>
          <a:xfrm>
            <a:off x="365760" y="3716420"/>
            <a:ext cx="8412480" cy="3031852"/>
          </a:xfrm>
          <a:prstGeom prst="rect">
            <a:avLst/>
          </a:prstGeom>
          <a:noFill/>
          <a:ln/>
        </p:spPr>
        <p:txBody>
          <a:bodyPr wrap="square" lIns="0" tIns="0" rIns="0" bIns="0" rtlCol="0" anchor="t"/>
          <a:lstStyle/>
          <a:p>
            <a:r>
              <a:rPr lang="en-US" sz="2400" i="1" dirty="0">
                <a:solidFill>
                  <a:srgbClr val="000000"/>
                </a:solidFill>
                <a:latin typeface="Arial" pitchFamily="34" charset="0"/>
                <a:ea typeface="Arial" pitchFamily="34" charset="-122"/>
                <a:cs typeface="Arial" pitchFamily="34" charset="-120"/>
              </a:rPr>
              <a:t>“Now to Him who is able to establish you according to my gospel and the preaching of Jesus Christ, according to the revelation of the mystery kept secret since the world began but now made manifest, and by the prophetic Scriptures made known to all nations, according to the commandment of the everlasting God, for </a:t>
            </a:r>
            <a:r>
              <a:rPr lang="en-US" sz="2400" b="1" i="1" u="sng" dirty="0">
                <a:solidFill>
                  <a:srgbClr val="000000"/>
                </a:solidFill>
                <a:latin typeface="Arial" pitchFamily="34" charset="0"/>
                <a:ea typeface="Arial" pitchFamily="34" charset="-122"/>
                <a:cs typeface="Arial" pitchFamily="34" charset="-120"/>
              </a:rPr>
              <a:t>obedience to the faith</a:t>
            </a:r>
            <a:r>
              <a:rPr lang="en-US" sz="2400" b="1" i="1" dirty="0">
                <a:solidFill>
                  <a:srgbClr val="000000"/>
                </a:solidFill>
                <a:latin typeface="Arial" pitchFamily="34" charset="0"/>
                <a:ea typeface="Arial" pitchFamily="34" charset="-122"/>
                <a:cs typeface="Arial" pitchFamily="34" charset="-120"/>
              </a:rPr>
              <a:t> </a:t>
            </a:r>
            <a:r>
              <a:rPr lang="en-US" sz="2400" i="1" dirty="0">
                <a:solidFill>
                  <a:srgbClr val="000000"/>
                </a:solidFill>
                <a:latin typeface="Arial" pitchFamily="34" charset="0"/>
                <a:ea typeface="Arial" pitchFamily="34" charset="-122"/>
                <a:cs typeface="Arial" pitchFamily="34" charset="-120"/>
              </a:rPr>
              <a:t>— to God, alone wise, be glory through Jesus Christ forever. Amen.” </a:t>
            </a:r>
          </a:p>
          <a:p>
            <a:r>
              <a:rPr lang="en-US" sz="2400" b="1" dirty="0">
                <a:solidFill>
                  <a:srgbClr val="000000"/>
                </a:solidFill>
                <a:latin typeface="Arial" pitchFamily="34" charset="0"/>
                <a:ea typeface="Arial" pitchFamily="34" charset="-122"/>
                <a:cs typeface="Arial" pitchFamily="34" charset="-120"/>
              </a:rPr>
              <a:t>(Romans 16:25-27)</a:t>
            </a:r>
          </a:p>
        </p:txBody>
      </p:sp>
      <p:sp>
        <p:nvSpPr>
          <p:cNvPr id="8" name="TextBox 7">
            <a:extLst>
              <a:ext uri="{FF2B5EF4-FFF2-40B4-BE49-F238E27FC236}">
                <a16:creationId xmlns:a16="http://schemas.microsoft.com/office/drawing/2014/main" id="{00E86C6A-19A5-12ED-69AA-2BD9BFC9AE83}"/>
              </a:ext>
            </a:extLst>
          </p:cNvPr>
          <p:cNvSpPr txBox="1"/>
          <p:nvPr/>
        </p:nvSpPr>
        <p:spPr>
          <a:xfrm>
            <a:off x="358140" y="2284242"/>
            <a:ext cx="8290560" cy="1200329"/>
          </a:xfrm>
          <a:prstGeom prst="rect">
            <a:avLst/>
          </a:prstGeom>
          <a:noFill/>
        </p:spPr>
        <p:txBody>
          <a:bodyPr wrap="square" rtlCol="0">
            <a:spAutoFit/>
          </a:bodyPr>
          <a:lstStyle/>
          <a:p>
            <a:r>
              <a:rPr lang="en-US" sz="2400" b="1" i="1" dirty="0">
                <a:solidFill>
                  <a:schemeClr val="bg1"/>
                </a:solidFill>
                <a:latin typeface="Arial" pitchFamily="34" charset="0"/>
                <a:cs typeface="Arial" pitchFamily="34" charset="-120"/>
              </a:rPr>
              <a:t>“There is therefore now no condemnation to those who are in Christ Jesus, who do not walk according to the flesh, but according to the Spirit.” (Romans 8:1)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22BF6D7E-DBFE-C6DE-E67E-E10C2933BA1A}"/>
              </a:ext>
            </a:extLst>
          </p:cNvPr>
          <p:cNvPicPr>
            <a:picLocks noChangeAspect="1"/>
          </p:cNvPicPr>
          <p:nvPr/>
        </p:nvPicPr>
        <p:blipFill>
          <a:blip r:embed="rId2"/>
          <a:srcRect t="29139" b="19309"/>
          <a:stretch>
            <a:fillRect/>
          </a:stretch>
        </p:blipFill>
        <p:spPr>
          <a:xfrm>
            <a:off x="20" y="1282"/>
            <a:ext cx="9143980" cy="6856718"/>
          </a:xfrm>
          <a:prstGeom prst="rect">
            <a:avLst/>
          </a:prstGeom>
        </p:spPr>
      </p:pic>
      <p:sp>
        <p:nvSpPr>
          <p:cNvPr id="8" name="TextBox 7">
            <a:extLst>
              <a:ext uri="{FF2B5EF4-FFF2-40B4-BE49-F238E27FC236}">
                <a16:creationId xmlns:a16="http://schemas.microsoft.com/office/drawing/2014/main" id="{3412F5D3-20A4-DFF1-DE54-7A85F63928B3}"/>
              </a:ext>
            </a:extLst>
          </p:cNvPr>
          <p:cNvSpPr txBox="1"/>
          <p:nvPr/>
        </p:nvSpPr>
        <p:spPr>
          <a:xfrm>
            <a:off x="0" y="4917726"/>
            <a:ext cx="4495800" cy="1938992"/>
          </a:xfrm>
          <a:prstGeom prst="rect">
            <a:avLst/>
          </a:prstGeom>
          <a:solidFill>
            <a:schemeClr val="bg2"/>
          </a:solidFill>
        </p:spPr>
        <p:txBody>
          <a:bodyPr wrap="square" rtlCol="0">
            <a:spAutoFit/>
          </a:bodyPr>
          <a:lstStyle/>
          <a:p>
            <a:r>
              <a:rPr lang="en-US" sz="2400" dirty="0"/>
              <a:t>“By faith Abraham, when he was tested, offered up Isaac, and he who had received the promises offered up his only begotten </a:t>
            </a:r>
            <a:r>
              <a:rPr lang="en-US" sz="2400" i="1" dirty="0"/>
              <a:t>son,</a:t>
            </a:r>
            <a:r>
              <a:rPr lang="en-US" sz="2400" dirty="0"/>
              <a:t>” (</a:t>
            </a:r>
            <a:r>
              <a:rPr lang="en-US" sz="2400" b="1" dirty="0"/>
              <a:t>Hebrews 11:17</a:t>
            </a:r>
            <a:r>
              <a:rPr lang="en-US" sz="2400" dirty="0"/>
              <a:t>)</a:t>
            </a:r>
          </a:p>
        </p:txBody>
      </p:sp>
    </p:spTree>
    <p:extLst>
      <p:ext uri="{BB962C8B-B14F-4D97-AF65-F5344CB8AC3E}">
        <p14:creationId xmlns:p14="http://schemas.microsoft.com/office/powerpoint/2010/main" val="31547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Four Concepts that Scripture Uses with Precision</a:t>
            </a:r>
            <a:endParaRPr lang="en-US" sz="1600" dirty="0"/>
          </a:p>
        </p:txBody>
      </p:sp>
      <p:sp>
        <p:nvSpPr>
          <p:cNvPr id="4" name="L1box"/>
          <p:cNvSpPr/>
          <p:nvPr/>
        </p:nvSpPr>
        <p:spPr>
          <a:xfrm>
            <a:off x="457200" y="4750829"/>
            <a:ext cx="3200400" cy="1024128"/>
          </a:xfrm>
          <a:prstGeom prst="roundRect">
            <a:avLst>
              <a:gd name="adj" fmla="val 7143"/>
            </a:avLst>
          </a:prstGeom>
          <a:solidFill>
            <a:srgbClr val="1F497D"/>
          </a:solidFill>
          <a:ln w="12700">
            <a:solidFill>
              <a:srgbClr val="1F497D"/>
            </a:solidFill>
            <a:prstDash val="solid"/>
          </a:ln>
        </p:spPr>
        <p:txBody>
          <a:bodyPr/>
          <a:lstStyle/>
          <a:p>
            <a:endParaRPr lang="en-US"/>
          </a:p>
        </p:txBody>
      </p:sp>
      <p:sp>
        <p:nvSpPr>
          <p:cNvPr id="5" name="L1lbl"/>
          <p:cNvSpPr txBox="1"/>
          <p:nvPr/>
        </p:nvSpPr>
        <p:spPr>
          <a:xfrm>
            <a:off x="457200" y="4869701"/>
            <a:ext cx="3200400" cy="82296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1. Religion</a:t>
            </a:r>
            <a:endParaRPr lang="en-US" dirty="0"/>
          </a:p>
          <a:p>
            <a:pPr marL="0" indent="0" algn="ctr">
              <a:buNone/>
            </a:pPr>
            <a:r>
              <a:rPr lang="en-US" sz="2000" dirty="0">
                <a:solidFill>
                  <a:srgbClr val="FFFFFF"/>
                </a:solidFill>
                <a:latin typeface="Arial" pitchFamily="34" charset="0"/>
                <a:ea typeface="Arial" pitchFamily="34" charset="-122"/>
                <a:cs typeface="Arial" pitchFamily="34" charset="-120"/>
              </a:rPr>
              <a:t>the FORM </a:t>
            </a:r>
            <a:r>
              <a:rPr lang="en-US" sz="2000" dirty="0">
                <a:solidFill>
                  <a:srgbClr val="FFFFFF"/>
                </a:solidFill>
                <a:latin typeface="Arial" pitchFamily="34" charset="0"/>
                <a:ea typeface="Arial" pitchFamily="34" charset="-122"/>
                <a:cs typeface="Arial" pitchFamily="34" charset="-120"/>
                <a:sym typeface="Wingdings" pitchFamily="2" charset="2"/>
              </a:rPr>
              <a:t></a:t>
            </a:r>
            <a:r>
              <a:rPr lang="en-US" sz="2000" dirty="0">
                <a:solidFill>
                  <a:srgbClr val="FFFFFF"/>
                </a:solidFill>
                <a:latin typeface="Arial" pitchFamily="34" charset="0"/>
                <a:ea typeface="Arial" pitchFamily="34" charset="-122"/>
                <a:cs typeface="Arial" pitchFamily="34" charset="-120"/>
              </a:rPr>
              <a:t> observance, attendance, identity</a:t>
            </a:r>
            <a:endParaRPr lang="en-US" sz="2000" dirty="0"/>
          </a:p>
        </p:txBody>
      </p:sp>
      <p:sp>
        <p:nvSpPr>
          <p:cNvPr id="6" name="L1txt"/>
          <p:cNvSpPr txBox="1"/>
          <p:nvPr/>
        </p:nvSpPr>
        <p:spPr>
          <a:xfrm>
            <a:off x="3931920" y="4769117"/>
            <a:ext cx="4983480" cy="1051560"/>
          </a:xfrm>
          <a:prstGeom prst="rect">
            <a:avLst/>
          </a:prstGeom>
          <a:noFill/>
          <a:ln/>
        </p:spPr>
        <p:txBody>
          <a:bodyPr wrap="square" lIns="0" tIns="0" rIns="0" bIns="0" rtlCol="0" anchor="ctr"/>
          <a:lstStyle/>
          <a:p>
            <a:pPr marL="0" indent="0" algn="l">
              <a:buNone/>
            </a:pPr>
            <a:r>
              <a:rPr lang="en-US" sz="2000" b="1" dirty="0">
                <a:solidFill>
                  <a:srgbClr val="1F497D"/>
                </a:solidFill>
                <a:latin typeface="Arial" pitchFamily="34" charset="0"/>
                <a:ea typeface="Arial" pitchFamily="34" charset="-122"/>
                <a:cs typeface="Arial" pitchFamily="34" charset="-120"/>
              </a:rPr>
              <a:t>Religion: </a:t>
            </a:r>
            <a:r>
              <a:rPr lang="en-US" sz="2000" dirty="0">
                <a:solidFill>
                  <a:srgbClr val="000000"/>
                </a:solidFill>
                <a:latin typeface="Arial" pitchFamily="34" charset="0"/>
                <a:ea typeface="Arial" pitchFamily="34" charset="-122"/>
                <a:cs typeface="Arial" pitchFamily="34" charset="-120"/>
              </a:rPr>
              <a:t>James says a man can practice the form; deceive his heart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a:t>
            </a:r>
            <a:r>
              <a:rPr lang="en-US" sz="2000" i="1" dirty="0">
                <a:solidFill>
                  <a:srgbClr val="000000"/>
                </a:solidFill>
                <a:latin typeface="Arial" pitchFamily="34" charset="0"/>
                <a:ea typeface="Arial" pitchFamily="34" charset="-122"/>
                <a:cs typeface="Arial" pitchFamily="34" charset="-120"/>
              </a:rPr>
              <a:t>“futile” </a:t>
            </a:r>
          </a:p>
          <a:p>
            <a:pPr marL="0" indent="0" algn="l">
              <a:buNone/>
            </a:pPr>
            <a:r>
              <a:rPr lang="en-US" sz="2000" dirty="0">
                <a:solidFill>
                  <a:srgbClr val="000000"/>
                </a:solidFill>
                <a:latin typeface="Arial" pitchFamily="34" charset="0"/>
                <a:ea typeface="Arial" pitchFamily="34" charset="-122"/>
                <a:cs typeface="Arial" pitchFamily="34" charset="-120"/>
              </a:rPr>
              <a:t>(</a:t>
            </a:r>
            <a:r>
              <a:rPr lang="en-US" sz="2000" b="1" dirty="0">
                <a:solidFill>
                  <a:srgbClr val="000000"/>
                </a:solidFill>
                <a:latin typeface="Arial" pitchFamily="34" charset="0"/>
                <a:ea typeface="Arial" pitchFamily="34" charset="-122"/>
                <a:cs typeface="Arial" pitchFamily="34" charset="-120"/>
              </a:rPr>
              <a:t>James 1:26</a:t>
            </a:r>
            <a:r>
              <a:rPr lang="en-US" sz="2000" dirty="0">
                <a:solidFill>
                  <a:srgbClr val="000000"/>
                </a:solidFill>
                <a:latin typeface="Arial" pitchFamily="34" charset="0"/>
                <a:ea typeface="Arial" pitchFamily="34" charset="-122"/>
                <a:cs typeface="Arial" pitchFamily="34" charset="-120"/>
              </a:rPr>
              <a:t>).   Alone, it proves nothing.</a:t>
            </a:r>
            <a:endParaRPr lang="en-US" sz="2000" dirty="0"/>
          </a:p>
        </p:txBody>
      </p:sp>
      <p:sp>
        <p:nvSpPr>
          <p:cNvPr id="7" name="L2box"/>
          <p:cNvSpPr/>
          <p:nvPr/>
        </p:nvSpPr>
        <p:spPr>
          <a:xfrm>
            <a:off x="457200" y="3580397"/>
            <a:ext cx="3200400" cy="1024128"/>
          </a:xfrm>
          <a:prstGeom prst="roundRect">
            <a:avLst>
              <a:gd name="adj" fmla="val 7143"/>
            </a:avLst>
          </a:prstGeom>
          <a:solidFill>
            <a:srgbClr val="1F497D"/>
          </a:solidFill>
          <a:ln w="12700">
            <a:solidFill>
              <a:srgbClr val="1F497D"/>
            </a:solidFill>
            <a:prstDash val="solid"/>
          </a:ln>
        </p:spPr>
        <p:txBody>
          <a:bodyPr/>
          <a:lstStyle/>
          <a:p>
            <a:endParaRPr lang="en-US"/>
          </a:p>
        </p:txBody>
      </p:sp>
      <p:sp>
        <p:nvSpPr>
          <p:cNvPr id="8" name="L2lbl"/>
          <p:cNvSpPr txBox="1"/>
          <p:nvPr/>
        </p:nvSpPr>
        <p:spPr>
          <a:xfrm>
            <a:off x="457200" y="3699269"/>
            <a:ext cx="3200400" cy="82296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2. Worship</a:t>
            </a:r>
            <a:endParaRPr lang="en-US" dirty="0"/>
          </a:p>
          <a:p>
            <a:pPr marL="0" indent="0" algn="ctr">
              <a:buNone/>
            </a:pPr>
            <a:r>
              <a:rPr lang="en-US" sz="2000" dirty="0">
                <a:solidFill>
                  <a:srgbClr val="FFFFFF"/>
                </a:solidFill>
                <a:latin typeface="Arial" pitchFamily="34" charset="0"/>
                <a:ea typeface="Arial" pitchFamily="34" charset="-122"/>
                <a:cs typeface="Arial" pitchFamily="34" charset="-120"/>
              </a:rPr>
              <a:t>the DISPOSITION </a:t>
            </a:r>
            <a:r>
              <a:rPr lang="en-US" sz="2000" dirty="0">
                <a:solidFill>
                  <a:srgbClr val="FFFFFF"/>
                </a:solidFill>
                <a:latin typeface="Arial" pitchFamily="34" charset="0"/>
                <a:ea typeface="Arial" pitchFamily="34" charset="-122"/>
                <a:cs typeface="Arial" pitchFamily="34" charset="-120"/>
                <a:sym typeface="Wingdings" pitchFamily="2" charset="2"/>
              </a:rPr>
              <a:t></a:t>
            </a:r>
            <a:r>
              <a:rPr lang="en-US" sz="2000" dirty="0">
                <a:solidFill>
                  <a:srgbClr val="FFFFFF"/>
                </a:solidFill>
                <a:latin typeface="Arial" pitchFamily="34" charset="0"/>
                <a:ea typeface="Arial" pitchFamily="34" charset="-122"/>
                <a:cs typeface="Arial" pitchFamily="34" charset="-120"/>
              </a:rPr>
              <a:t> the heart aimed at God</a:t>
            </a:r>
            <a:endParaRPr lang="en-US" sz="2000" dirty="0"/>
          </a:p>
        </p:txBody>
      </p:sp>
      <p:sp>
        <p:nvSpPr>
          <p:cNvPr id="9" name="L2txt"/>
          <p:cNvSpPr txBox="1"/>
          <p:nvPr/>
        </p:nvSpPr>
        <p:spPr>
          <a:xfrm>
            <a:off x="3931920" y="3598685"/>
            <a:ext cx="4983480" cy="1051560"/>
          </a:xfrm>
          <a:prstGeom prst="rect">
            <a:avLst/>
          </a:prstGeom>
          <a:noFill/>
          <a:ln/>
        </p:spPr>
        <p:txBody>
          <a:bodyPr wrap="square" lIns="0" tIns="0" rIns="0" bIns="0" rtlCol="0" anchor="ctr"/>
          <a:lstStyle/>
          <a:p>
            <a:pPr marL="0" indent="0" algn="l">
              <a:buNone/>
            </a:pPr>
            <a:r>
              <a:rPr lang="en-US" sz="2000" b="1" dirty="0">
                <a:solidFill>
                  <a:srgbClr val="1F497D"/>
                </a:solidFill>
                <a:latin typeface="Arial" pitchFamily="34" charset="0"/>
                <a:ea typeface="Arial" pitchFamily="34" charset="-122"/>
                <a:cs typeface="Arial" pitchFamily="34" charset="-120"/>
              </a:rPr>
              <a:t>Worship: </a:t>
            </a:r>
            <a:r>
              <a:rPr lang="en-US" sz="2000" i="1" dirty="0">
                <a:solidFill>
                  <a:srgbClr val="000000"/>
                </a:solidFill>
                <a:latin typeface="Arial" pitchFamily="34" charset="0"/>
                <a:ea typeface="Arial" pitchFamily="34" charset="-122"/>
                <a:cs typeface="Arial" pitchFamily="34" charset="-120"/>
              </a:rPr>
              <a:t>“In spirit and truth”</a:t>
            </a:r>
            <a:r>
              <a:rPr lang="en-US" sz="2000" dirty="0">
                <a:solidFill>
                  <a:srgbClr val="000000"/>
                </a:solidFill>
                <a:latin typeface="Arial" pitchFamily="34" charset="0"/>
                <a:ea typeface="Arial" pitchFamily="34" charset="-122"/>
                <a:cs typeface="Arial" pitchFamily="34" charset="-120"/>
              </a:rPr>
              <a:t> (</a:t>
            </a:r>
            <a:r>
              <a:rPr lang="en-US" sz="2000" b="1" dirty="0">
                <a:solidFill>
                  <a:srgbClr val="000000"/>
                </a:solidFill>
                <a:latin typeface="Arial" pitchFamily="34" charset="0"/>
                <a:ea typeface="Arial" pitchFamily="34" charset="-122"/>
                <a:cs typeface="Arial" pitchFamily="34" charset="-120"/>
              </a:rPr>
              <a:t>John 4:23–24</a:t>
            </a:r>
            <a:r>
              <a:rPr lang="en-US" sz="2000" dirty="0">
                <a:solidFill>
                  <a:srgbClr val="000000"/>
                </a:solidFill>
                <a:latin typeface="Arial" pitchFamily="34" charset="0"/>
                <a:ea typeface="Arial" pitchFamily="34" charset="-122"/>
                <a:cs typeface="Arial" pitchFamily="34" charset="-120"/>
              </a:rPr>
              <a:t>). But a disposition is invisible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even to its owner.</a:t>
            </a:r>
            <a:endParaRPr lang="en-US" sz="2000" dirty="0"/>
          </a:p>
        </p:txBody>
      </p:sp>
      <p:sp>
        <p:nvSpPr>
          <p:cNvPr id="10" name="L3box"/>
          <p:cNvSpPr/>
          <p:nvPr/>
        </p:nvSpPr>
        <p:spPr>
          <a:xfrm>
            <a:off x="457200" y="2409965"/>
            <a:ext cx="3200400" cy="1024128"/>
          </a:xfrm>
          <a:prstGeom prst="roundRect">
            <a:avLst>
              <a:gd name="adj" fmla="val 7143"/>
            </a:avLst>
          </a:prstGeom>
          <a:solidFill>
            <a:srgbClr val="1F497D"/>
          </a:solidFill>
          <a:ln w="12700">
            <a:solidFill>
              <a:srgbClr val="1F497D"/>
            </a:solidFill>
            <a:prstDash val="solid"/>
          </a:ln>
        </p:spPr>
        <p:txBody>
          <a:bodyPr/>
          <a:lstStyle/>
          <a:p>
            <a:endParaRPr lang="en-US"/>
          </a:p>
        </p:txBody>
      </p:sp>
      <p:sp>
        <p:nvSpPr>
          <p:cNvPr id="11" name="L3lbl"/>
          <p:cNvSpPr txBox="1"/>
          <p:nvPr/>
        </p:nvSpPr>
        <p:spPr>
          <a:xfrm>
            <a:off x="457200" y="2528837"/>
            <a:ext cx="3200400" cy="82296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3. Sacrifice</a:t>
            </a:r>
            <a:endParaRPr lang="en-US" dirty="0"/>
          </a:p>
          <a:p>
            <a:pPr marL="0" indent="0" algn="ctr">
              <a:buNone/>
            </a:pPr>
            <a:r>
              <a:rPr lang="en-US" sz="2000" dirty="0">
                <a:solidFill>
                  <a:srgbClr val="FFFFFF"/>
                </a:solidFill>
                <a:latin typeface="Arial" pitchFamily="34" charset="0"/>
                <a:ea typeface="Arial" pitchFamily="34" charset="-122"/>
                <a:cs typeface="Arial" pitchFamily="34" charset="-120"/>
              </a:rPr>
              <a:t>the COST </a:t>
            </a:r>
            <a:r>
              <a:rPr lang="en-US" sz="2000" dirty="0">
                <a:solidFill>
                  <a:srgbClr val="FFFFFF"/>
                </a:solidFill>
                <a:latin typeface="Arial" pitchFamily="34" charset="0"/>
                <a:ea typeface="Arial" pitchFamily="34" charset="-122"/>
                <a:cs typeface="Arial" pitchFamily="34" charset="-120"/>
                <a:sym typeface="Wingdings" pitchFamily="2" charset="2"/>
              </a:rPr>
              <a:t></a:t>
            </a:r>
            <a:r>
              <a:rPr lang="en-US" sz="2000" dirty="0">
                <a:solidFill>
                  <a:srgbClr val="FFFFFF"/>
                </a:solidFill>
                <a:latin typeface="Arial" pitchFamily="34" charset="0"/>
                <a:ea typeface="Arial" pitchFamily="34" charset="-122"/>
                <a:cs typeface="Arial" pitchFamily="34" charset="-120"/>
              </a:rPr>
              <a:t> the disposition made visible</a:t>
            </a:r>
            <a:endParaRPr lang="en-US" sz="2000" dirty="0"/>
          </a:p>
        </p:txBody>
      </p:sp>
      <p:sp>
        <p:nvSpPr>
          <p:cNvPr id="12" name="L3txt"/>
          <p:cNvSpPr txBox="1"/>
          <p:nvPr/>
        </p:nvSpPr>
        <p:spPr>
          <a:xfrm>
            <a:off x="3931920" y="2428253"/>
            <a:ext cx="4983480" cy="1051560"/>
          </a:xfrm>
          <a:prstGeom prst="rect">
            <a:avLst/>
          </a:prstGeom>
          <a:noFill/>
          <a:ln/>
        </p:spPr>
        <p:txBody>
          <a:bodyPr wrap="square" lIns="0" tIns="0" rIns="0" bIns="0" rtlCol="0" anchor="ctr"/>
          <a:lstStyle/>
          <a:p>
            <a:pPr marL="0" indent="0" algn="l">
              <a:buNone/>
            </a:pPr>
            <a:r>
              <a:rPr lang="en-US" sz="2000" b="1" dirty="0">
                <a:solidFill>
                  <a:srgbClr val="1F497D"/>
                </a:solidFill>
                <a:latin typeface="Arial" pitchFamily="34" charset="0"/>
                <a:ea typeface="Arial" pitchFamily="34" charset="-122"/>
                <a:cs typeface="Arial" pitchFamily="34" charset="-120"/>
              </a:rPr>
              <a:t>Sacrifice: </a:t>
            </a:r>
            <a:r>
              <a:rPr lang="en-US" sz="2000" i="1" dirty="0">
                <a:solidFill>
                  <a:srgbClr val="000000"/>
                </a:solidFill>
                <a:latin typeface="Arial" pitchFamily="34" charset="0"/>
                <a:ea typeface="Arial" pitchFamily="34" charset="-122"/>
                <a:cs typeface="Arial" pitchFamily="34" charset="-120"/>
              </a:rPr>
              <a:t>“Take your son </a:t>
            </a:r>
            <a:r>
              <a:rPr lang="en-US" sz="2000" i="1" dirty="0">
                <a:solidFill>
                  <a:srgbClr val="000000"/>
                </a:solidFill>
                <a:latin typeface="Arial" pitchFamily="34" charset="0"/>
                <a:ea typeface="Arial" pitchFamily="34" charset="-122"/>
                <a:cs typeface="Arial" pitchFamily="34" charset="-120"/>
                <a:sym typeface="Wingdings" pitchFamily="2" charset="2"/>
              </a:rPr>
              <a:t></a:t>
            </a:r>
            <a:r>
              <a:rPr lang="en-US" sz="2000" i="1" dirty="0">
                <a:solidFill>
                  <a:srgbClr val="000000"/>
                </a:solidFill>
                <a:latin typeface="Arial" pitchFamily="34" charset="0"/>
                <a:ea typeface="Arial" pitchFamily="34" charset="-122"/>
                <a:cs typeface="Arial" pitchFamily="34" charset="-120"/>
              </a:rPr>
              <a:t> your only son, whom you love” </a:t>
            </a:r>
            <a:r>
              <a:rPr lang="en-US" sz="2000" dirty="0">
                <a:solidFill>
                  <a:srgbClr val="000000"/>
                </a:solidFill>
                <a:latin typeface="Arial" pitchFamily="34" charset="0"/>
                <a:ea typeface="Arial" pitchFamily="34" charset="-122"/>
                <a:cs typeface="Arial" pitchFamily="34" charset="-120"/>
              </a:rPr>
              <a:t>(</a:t>
            </a:r>
            <a:r>
              <a:rPr lang="en-US" sz="2000" b="1" dirty="0">
                <a:solidFill>
                  <a:srgbClr val="000000"/>
                </a:solidFill>
                <a:latin typeface="Arial" pitchFamily="34" charset="0"/>
                <a:ea typeface="Arial" pitchFamily="34" charset="-122"/>
                <a:cs typeface="Arial" pitchFamily="34" charset="-120"/>
              </a:rPr>
              <a:t>Gen 22:2</a:t>
            </a:r>
            <a:r>
              <a:rPr lang="en-US" sz="2000" dirty="0">
                <a:solidFill>
                  <a:srgbClr val="000000"/>
                </a:solidFill>
                <a:latin typeface="Arial" pitchFamily="34" charset="0"/>
                <a:ea typeface="Arial" pitchFamily="34" charset="-122"/>
                <a:cs typeface="Arial" pitchFamily="34" charset="-120"/>
              </a:rPr>
              <a:t>). Faith became visible at the raised knife (</a:t>
            </a:r>
            <a:r>
              <a:rPr lang="en-US" sz="2000" b="1" dirty="0">
                <a:solidFill>
                  <a:srgbClr val="000000"/>
                </a:solidFill>
                <a:latin typeface="Arial" pitchFamily="34" charset="0"/>
                <a:ea typeface="Arial" pitchFamily="34" charset="-122"/>
                <a:cs typeface="Arial" pitchFamily="34" charset="-120"/>
              </a:rPr>
              <a:t>Heb 11:17–19</a:t>
            </a: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3" name="L4box"/>
          <p:cNvSpPr/>
          <p:nvPr/>
        </p:nvSpPr>
        <p:spPr>
          <a:xfrm>
            <a:off x="457200" y="1239533"/>
            <a:ext cx="3200400" cy="1024128"/>
          </a:xfrm>
          <a:prstGeom prst="roundRect">
            <a:avLst>
              <a:gd name="adj" fmla="val 7143"/>
            </a:avLst>
          </a:prstGeom>
          <a:solidFill>
            <a:srgbClr val="1F497D"/>
          </a:solidFill>
          <a:ln w="12700">
            <a:solidFill>
              <a:srgbClr val="1F497D"/>
            </a:solidFill>
            <a:prstDash val="solid"/>
          </a:ln>
        </p:spPr>
        <p:txBody>
          <a:bodyPr/>
          <a:lstStyle/>
          <a:p>
            <a:endParaRPr lang="en-US"/>
          </a:p>
        </p:txBody>
      </p:sp>
      <p:sp>
        <p:nvSpPr>
          <p:cNvPr id="14" name="L4lbl"/>
          <p:cNvSpPr txBox="1"/>
          <p:nvPr/>
        </p:nvSpPr>
        <p:spPr>
          <a:xfrm>
            <a:off x="457200" y="1358405"/>
            <a:ext cx="3200400" cy="822960"/>
          </a:xfrm>
          <a:prstGeom prst="rect">
            <a:avLst/>
          </a:prstGeom>
          <a:noFill/>
          <a:ln/>
        </p:spPr>
        <p:txBody>
          <a:bodyPr wrap="square" lIns="0" tIns="0" rIns="0" bIns="0" rtlCol="0" anchor="t"/>
          <a:lstStyle/>
          <a:p>
            <a:pPr marL="0" indent="0" algn="ctr">
              <a:buNone/>
            </a:pPr>
            <a:r>
              <a:rPr lang="en-US" sz="2000" b="1" dirty="0">
                <a:solidFill>
                  <a:srgbClr val="FFFFFF"/>
                </a:solidFill>
                <a:latin typeface="Arial" pitchFamily="34" charset="0"/>
                <a:ea typeface="Arial" pitchFamily="34" charset="-122"/>
                <a:cs typeface="Arial" pitchFamily="34" charset="-120"/>
              </a:rPr>
              <a:t>4. Obedience of Faith</a:t>
            </a:r>
            <a:endParaRPr lang="en-US" dirty="0"/>
          </a:p>
          <a:p>
            <a:pPr marL="0" indent="0" algn="ctr">
              <a:buNone/>
            </a:pPr>
            <a:r>
              <a:rPr lang="en-US" sz="2000" dirty="0">
                <a:solidFill>
                  <a:srgbClr val="FFFFFF"/>
                </a:solidFill>
                <a:latin typeface="Arial" pitchFamily="34" charset="0"/>
                <a:ea typeface="Arial" pitchFamily="34" charset="-122"/>
                <a:cs typeface="Arial" pitchFamily="34" charset="-120"/>
              </a:rPr>
              <a:t>the SETTLED PATTERN (Romans 1:5; 16:26)</a:t>
            </a:r>
            <a:endParaRPr lang="en-US" sz="2000" dirty="0"/>
          </a:p>
        </p:txBody>
      </p:sp>
      <p:sp>
        <p:nvSpPr>
          <p:cNvPr id="15" name="L4txt"/>
          <p:cNvSpPr txBox="1"/>
          <p:nvPr/>
        </p:nvSpPr>
        <p:spPr>
          <a:xfrm>
            <a:off x="3931920" y="1257821"/>
            <a:ext cx="4983480" cy="1051560"/>
          </a:xfrm>
          <a:prstGeom prst="rect">
            <a:avLst/>
          </a:prstGeom>
          <a:noFill/>
          <a:ln/>
        </p:spPr>
        <p:txBody>
          <a:bodyPr wrap="square" lIns="0" tIns="0" rIns="0" bIns="0" rtlCol="0" anchor="ctr"/>
          <a:lstStyle/>
          <a:p>
            <a:pPr marL="0" indent="0" algn="l">
              <a:buNone/>
            </a:pPr>
            <a:r>
              <a:rPr lang="en-US" sz="2000" b="1" dirty="0">
                <a:solidFill>
                  <a:srgbClr val="1F497D"/>
                </a:solidFill>
                <a:latin typeface="Arial" pitchFamily="34" charset="0"/>
                <a:ea typeface="Arial" pitchFamily="34" charset="-122"/>
                <a:cs typeface="Arial" pitchFamily="34" charset="-120"/>
              </a:rPr>
              <a:t>Obedience of Faith: </a:t>
            </a:r>
            <a:r>
              <a:rPr lang="en-US" sz="2000" dirty="0">
                <a:solidFill>
                  <a:srgbClr val="000000"/>
                </a:solidFill>
                <a:latin typeface="Arial" pitchFamily="34" charset="0"/>
                <a:ea typeface="Arial" pitchFamily="34" charset="-122"/>
                <a:cs typeface="Arial" pitchFamily="34" charset="-120"/>
              </a:rPr>
              <a:t>The whole gospel stack aligned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a life reorganized around what it claims. Not one dramatic act.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C5298-D0ED-FC1A-AA4A-003C295A027A}"/>
            </a:ext>
          </a:extLst>
        </p:cNvPr>
        <p:cNvGrpSpPr/>
        <p:nvPr/>
      </p:nvGrpSpPr>
      <p:grpSpPr>
        <a:xfrm>
          <a:off x="0" y="0"/>
          <a:ext cx="0" cy="0"/>
          <a:chOff x="0" y="0"/>
          <a:chExt cx="0" cy="0"/>
        </a:xfrm>
      </p:grpSpPr>
      <p:sp>
        <p:nvSpPr>
          <p:cNvPr id="2" name="HeadTitle">
            <a:extLst>
              <a:ext uri="{FF2B5EF4-FFF2-40B4-BE49-F238E27FC236}">
                <a16:creationId xmlns:a16="http://schemas.microsoft.com/office/drawing/2014/main" id="{55A536F3-1AEC-B53A-E15C-7926033A68F8}"/>
              </a:ext>
            </a:extLst>
          </p:cNvPr>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Obedience of Faith : Elements of Our Response</a:t>
            </a:r>
            <a:endParaRPr lang="en-US" dirty="0"/>
          </a:p>
        </p:txBody>
      </p:sp>
      <p:sp>
        <p:nvSpPr>
          <p:cNvPr id="5" name="c2">
            <a:extLst>
              <a:ext uri="{FF2B5EF4-FFF2-40B4-BE49-F238E27FC236}">
                <a16:creationId xmlns:a16="http://schemas.microsoft.com/office/drawing/2014/main" id="{69F8A60A-0B8F-4C92-D65A-66721492AA72}"/>
              </a:ext>
            </a:extLst>
          </p:cNvPr>
          <p:cNvSpPr txBox="1"/>
          <p:nvPr/>
        </p:nvSpPr>
        <p:spPr>
          <a:xfrm>
            <a:off x="358140" y="768316"/>
            <a:ext cx="8412480" cy="2355884"/>
          </a:xfrm>
          <a:prstGeom prst="rect">
            <a:avLst/>
          </a:prstGeom>
          <a:noFill/>
          <a:ln/>
        </p:spPr>
        <p:txBody>
          <a:bodyPr wrap="square" lIns="0" tIns="0" rIns="0" bIns="0" rtlCol="0" anchor="t"/>
          <a:lstStyle/>
          <a:p>
            <a:r>
              <a:rPr lang="en-US" sz="2400" i="1" dirty="0">
                <a:solidFill>
                  <a:srgbClr val="000000"/>
                </a:solidFill>
                <a:latin typeface="Arial" pitchFamily="34" charset="0"/>
                <a:ea typeface="Arial" pitchFamily="34" charset="-122"/>
                <a:cs typeface="Arial" pitchFamily="34" charset="-120"/>
              </a:rPr>
              <a:t>“I beseech you therefore, brethren, </a:t>
            </a:r>
            <a:r>
              <a:rPr lang="en-US" sz="2400" i="1" u="sng" dirty="0">
                <a:solidFill>
                  <a:srgbClr val="000000"/>
                </a:solidFill>
                <a:latin typeface="Arial" pitchFamily="34" charset="0"/>
                <a:ea typeface="Arial" pitchFamily="34" charset="-122"/>
                <a:cs typeface="Arial" pitchFamily="34" charset="-120"/>
              </a:rPr>
              <a:t>by the mercies of God</a:t>
            </a:r>
            <a:r>
              <a:rPr lang="en-US" sz="2400" i="1" dirty="0">
                <a:solidFill>
                  <a:srgbClr val="000000"/>
                </a:solidFill>
                <a:latin typeface="Arial" pitchFamily="34" charset="0"/>
                <a:ea typeface="Arial" pitchFamily="34" charset="-122"/>
                <a:cs typeface="Arial" pitchFamily="34" charset="-120"/>
              </a:rPr>
              <a:t>, that you present your bodies a </a:t>
            </a:r>
            <a:r>
              <a:rPr lang="en-US" sz="2400" b="1" i="1" dirty="0">
                <a:solidFill>
                  <a:srgbClr val="000000"/>
                </a:solidFill>
                <a:latin typeface="Arial" pitchFamily="34" charset="0"/>
                <a:ea typeface="Arial" pitchFamily="34" charset="-122"/>
                <a:cs typeface="Arial" pitchFamily="34" charset="-120"/>
              </a:rPr>
              <a:t>living sacrifice</a:t>
            </a:r>
            <a:r>
              <a:rPr lang="en-US" sz="2400" i="1" dirty="0">
                <a:solidFill>
                  <a:srgbClr val="000000"/>
                </a:solidFill>
                <a:latin typeface="Arial" pitchFamily="34" charset="0"/>
                <a:ea typeface="Arial" pitchFamily="34" charset="-122"/>
                <a:cs typeface="Arial" pitchFamily="34" charset="-120"/>
              </a:rPr>
              <a:t>, holy, acceptable to God, which is your </a:t>
            </a:r>
            <a:r>
              <a:rPr lang="en-US" sz="2400" i="1" u="sng" dirty="0">
                <a:solidFill>
                  <a:srgbClr val="000000"/>
                </a:solidFill>
                <a:latin typeface="Arial" pitchFamily="34" charset="0"/>
                <a:ea typeface="Arial" pitchFamily="34" charset="-122"/>
                <a:cs typeface="Arial" pitchFamily="34" charset="-120"/>
              </a:rPr>
              <a:t>reasonable service</a:t>
            </a:r>
            <a:r>
              <a:rPr lang="en-US" sz="2400" i="1" dirty="0">
                <a:solidFill>
                  <a:srgbClr val="000000"/>
                </a:solidFill>
                <a:latin typeface="Arial" pitchFamily="34" charset="0"/>
                <a:ea typeface="Arial" pitchFamily="34" charset="-122"/>
                <a:cs typeface="Arial" pitchFamily="34" charset="-120"/>
              </a:rPr>
              <a:t>. And do not be conformed to this world, but </a:t>
            </a:r>
            <a:r>
              <a:rPr lang="en-US" sz="2400" b="1" i="1" dirty="0">
                <a:solidFill>
                  <a:srgbClr val="000000"/>
                </a:solidFill>
                <a:latin typeface="Arial" pitchFamily="34" charset="0"/>
                <a:ea typeface="Arial" pitchFamily="34" charset="-122"/>
                <a:cs typeface="Arial" pitchFamily="34" charset="-120"/>
              </a:rPr>
              <a:t>be transformed</a:t>
            </a:r>
            <a:r>
              <a:rPr lang="en-US" sz="2400" i="1" dirty="0">
                <a:solidFill>
                  <a:srgbClr val="000000"/>
                </a:solidFill>
                <a:latin typeface="Arial" pitchFamily="34" charset="0"/>
                <a:ea typeface="Arial" pitchFamily="34" charset="-122"/>
                <a:cs typeface="Arial" pitchFamily="34" charset="-120"/>
              </a:rPr>
              <a:t> by the </a:t>
            </a:r>
            <a:r>
              <a:rPr lang="en-US" sz="2400" b="1" i="1" u="sng" dirty="0">
                <a:solidFill>
                  <a:srgbClr val="000000"/>
                </a:solidFill>
                <a:latin typeface="Arial" pitchFamily="34" charset="0"/>
                <a:ea typeface="Arial" pitchFamily="34" charset="-122"/>
                <a:cs typeface="Arial" pitchFamily="34" charset="-120"/>
              </a:rPr>
              <a:t>renewing</a:t>
            </a:r>
            <a:r>
              <a:rPr lang="en-US" sz="2400" i="1" u="sng" dirty="0">
                <a:solidFill>
                  <a:srgbClr val="000000"/>
                </a:solidFill>
                <a:latin typeface="Arial" pitchFamily="34" charset="0"/>
                <a:ea typeface="Arial" pitchFamily="34" charset="-122"/>
                <a:cs typeface="Arial" pitchFamily="34" charset="-120"/>
              </a:rPr>
              <a:t> of your mind</a:t>
            </a:r>
            <a:r>
              <a:rPr lang="en-US" sz="2400" i="1" dirty="0">
                <a:solidFill>
                  <a:srgbClr val="000000"/>
                </a:solidFill>
                <a:latin typeface="Arial" pitchFamily="34" charset="0"/>
                <a:ea typeface="Arial" pitchFamily="34" charset="-122"/>
                <a:cs typeface="Arial" pitchFamily="34" charset="-120"/>
              </a:rPr>
              <a:t>, that </a:t>
            </a:r>
            <a:r>
              <a:rPr lang="en-US" sz="2400" i="1" u="sng" dirty="0">
                <a:solidFill>
                  <a:srgbClr val="000000"/>
                </a:solidFill>
                <a:latin typeface="Arial" pitchFamily="34" charset="0"/>
                <a:ea typeface="Arial" pitchFamily="34" charset="-122"/>
                <a:cs typeface="Arial" pitchFamily="34" charset="-120"/>
              </a:rPr>
              <a:t>you may </a:t>
            </a:r>
            <a:r>
              <a:rPr lang="en-US" sz="2400" b="1" i="1" u="sng" dirty="0">
                <a:solidFill>
                  <a:srgbClr val="000000"/>
                </a:solidFill>
                <a:latin typeface="Arial" pitchFamily="34" charset="0"/>
                <a:ea typeface="Arial" pitchFamily="34" charset="-122"/>
                <a:cs typeface="Arial" pitchFamily="34" charset="-120"/>
              </a:rPr>
              <a:t>prove</a:t>
            </a:r>
            <a:r>
              <a:rPr lang="en-US" sz="2400" i="1" u="sng" dirty="0">
                <a:solidFill>
                  <a:srgbClr val="000000"/>
                </a:solidFill>
                <a:latin typeface="Arial" pitchFamily="34" charset="0"/>
                <a:ea typeface="Arial" pitchFamily="34" charset="-122"/>
                <a:cs typeface="Arial" pitchFamily="34" charset="-120"/>
              </a:rPr>
              <a:t> what is that </a:t>
            </a:r>
            <a:r>
              <a:rPr lang="en-US" sz="2400" b="1" i="1" u="sng" dirty="0">
                <a:solidFill>
                  <a:srgbClr val="000000"/>
                </a:solidFill>
                <a:latin typeface="Arial" pitchFamily="34" charset="0"/>
                <a:ea typeface="Arial" pitchFamily="34" charset="-122"/>
                <a:cs typeface="Arial" pitchFamily="34" charset="-120"/>
              </a:rPr>
              <a:t>good</a:t>
            </a:r>
            <a:r>
              <a:rPr lang="en-US" sz="2400" i="1" u="sng" dirty="0">
                <a:solidFill>
                  <a:srgbClr val="000000"/>
                </a:solidFill>
                <a:latin typeface="Arial" pitchFamily="34" charset="0"/>
                <a:ea typeface="Arial" pitchFamily="34" charset="-122"/>
                <a:cs typeface="Arial" pitchFamily="34" charset="-120"/>
              </a:rPr>
              <a:t> and </a:t>
            </a:r>
            <a:r>
              <a:rPr lang="en-US" sz="2400" b="1" i="1" u="sng" dirty="0">
                <a:solidFill>
                  <a:srgbClr val="000000"/>
                </a:solidFill>
                <a:latin typeface="Arial" pitchFamily="34" charset="0"/>
                <a:ea typeface="Arial" pitchFamily="34" charset="-122"/>
                <a:cs typeface="Arial" pitchFamily="34" charset="-120"/>
              </a:rPr>
              <a:t>acceptable</a:t>
            </a:r>
            <a:r>
              <a:rPr lang="en-US" sz="2400" i="1" u="sng" dirty="0">
                <a:solidFill>
                  <a:srgbClr val="000000"/>
                </a:solidFill>
                <a:latin typeface="Arial" pitchFamily="34" charset="0"/>
                <a:ea typeface="Arial" pitchFamily="34" charset="-122"/>
                <a:cs typeface="Arial" pitchFamily="34" charset="-120"/>
              </a:rPr>
              <a:t> and </a:t>
            </a:r>
            <a:r>
              <a:rPr lang="en-US" sz="2400" b="1" i="1" u="sng" dirty="0">
                <a:solidFill>
                  <a:srgbClr val="000000"/>
                </a:solidFill>
                <a:latin typeface="Arial" pitchFamily="34" charset="0"/>
                <a:ea typeface="Arial" pitchFamily="34" charset="-122"/>
                <a:cs typeface="Arial" pitchFamily="34" charset="-120"/>
              </a:rPr>
              <a:t>perfect</a:t>
            </a:r>
            <a:r>
              <a:rPr lang="en-US" sz="2400" i="1" u="sng" dirty="0">
                <a:solidFill>
                  <a:srgbClr val="000000"/>
                </a:solidFill>
                <a:latin typeface="Arial" pitchFamily="34" charset="0"/>
                <a:ea typeface="Arial" pitchFamily="34" charset="-122"/>
                <a:cs typeface="Arial" pitchFamily="34" charset="-120"/>
              </a:rPr>
              <a:t> </a:t>
            </a:r>
            <a:r>
              <a:rPr lang="en-US" sz="2400" b="1" i="1" u="sng" dirty="0">
                <a:solidFill>
                  <a:srgbClr val="000000"/>
                </a:solidFill>
                <a:latin typeface="Arial" pitchFamily="34" charset="0"/>
                <a:ea typeface="Arial" pitchFamily="34" charset="-122"/>
                <a:cs typeface="Arial" pitchFamily="34" charset="-120"/>
              </a:rPr>
              <a:t>will</a:t>
            </a:r>
            <a:r>
              <a:rPr lang="en-US" sz="2400" i="1" u="sng" dirty="0">
                <a:solidFill>
                  <a:srgbClr val="000000"/>
                </a:solidFill>
                <a:latin typeface="Arial" pitchFamily="34" charset="0"/>
                <a:ea typeface="Arial" pitchFamily="34" charset="-122"/>
                <a:cs typeface="Arial" pitchFamily="34" charset="-120"/>
              </a:rPr>
              <a:t> </a:t>
            </a:r>
            <a:r>
              <a:rPr lang="en-US" sz="2400" b="1" i="1" u="sng" dirty="0">
                <a:solidFill>
                  <a:srgbClr val="000000"/>
                </a:solidFill>
                <a:latin typeface="Arial" pitchFamily="34" charset="0"/>
                <a:ea typeface="Arial" pitchFamily="34" charset="-122"/>
                <a:cs typeface="Arial" pitchFamily="34" charset="-120"/>
              </a:rPr>
              <a:t>of God</a:t>
            </a:r>
            <a:r>
              <a:rPr lang="en-US" sz="2400" i="1" dirty="0">
                <a:solidFill>
                  <a:srgbClr val="000000"/>
                </a:solidFill>
                <a:latin typeface="Arial" pitchFamily="34" charset="0"/>
                <a:ea typeface="Arial" pitchFamily="34" charset="-122"/>
                <a:cs typeface="Arial" pitchFamily="34" charset="-120"/>
              </a:rPr>
              <a:t>.” (</a:t>
            </a:r>
            <a:r>
              <a:rPr lang="en-US" sz="2400" b="1" i="1" dirty="0">
                <a:solidFill>
                  <a:srgbClr val="000000"/>
                </a:solidFill>
                <a:latin typeface="Arial" pitchFamily="34" charset="0"/>
                <a:ea typeface="Arial" pitchFamily="34" charset="-122"/>
                <a:cs typeface="Arial" pitchFamily="34" charset="-120"/>
              </a:rPr>
              <a:t>Romans 12:1-2</a:t>
            </a:r>
            <a:r>
              <a:rPr lang="en-US" sz="2400" i="1" dirty="0">
                <a:solidFill>
                  <a:srgbClr val="000000"/>
                </a:solidFill>
                <a:latin typeface="Arial" pitchFamily="34" charset="0"/>
                <a:ea typeface="Arial" pitchFamily="34" charset="-122"/>
                <a:cs typeface="Arial" pitchFamily="34" charset="-120"/>
              </a:rPr>
              <a:t>)</a:t>
            </a:r>
          </a:p>
        </p:txBody>
      </p:sp>
      <p:grpSp>
        <p:nvGrpSpPr>
          <p:cNvPr id="15" name="Group 14">
            <a:extLst>
              <a:ext uri="{FF2B5EF4-FFF2-40B4-BE49-F238E27FC236}">
                <a16:creationId xmlns:a16="http://schemas.microsoft.com/office/drawing/2014/main" id="{6984C0E2-52E8-D4F3-67BE-5CC34ABF2B63}"/>
              </a:ext>
            </a:extLst>
          </p:cNvPr>
          <p:cNvGrpSpPr/>
          <p:nvPr/>
        </p:nvGrpSpPr>
        <p:grpSpPr>
          <a:xfrm>
            <a:off x="358136" y="5575713"/>
            <a:ext cx="8345591" cy="639903"/>
            <a:chOff x="358139" y="4953848"/>
            <a:chExt cx="8345591" cy="221148"/>
          </a:xfrm>
        </p:grpSpPr>
        <p:sp>
          <p:nvSpPr>
            <p:cNvPr id="7" name="h2r1">
              <a:extLst>
                <a:ext uri="{FF2B5EF4-FFF2-40B4-BE49-F238E27FC236}">
                  <a16:creationId xmlns:a16="http://schemas.microsoft.com/office/drawing/2014/main" id="{8A99B2B2-378F-0C96-C708-4D3B9233A023}"/>
                </a:ext>
              </a:extLst>
            </p:cNvPr>
            <p:cNvSpPr/>
            <p:nvPr/>
          </p:nvSpPr>
          <p:spPr>
            <a:xfrm>
              <a:off x="358139" y="4953848"/>
              <a:ext cx="8345591" cy="221148"/>
            </a:xfrm>
            <a:prstGeom prst="roundRect">
              <a:avLst>
                <a:gd name="adj" fmla="val 9091"/>
              </a:avLst>
            </a:prstGeom>
            <a:solidFill>
              <a:schemeClr val="accent1">
                <a:lumMod val="50000"/>
                <a:alpha val="96000"/>
              </a:schemeClr>
            </a:solidFill>
            <a:ln w="12700">
              <a:solidFill>
                <a:srgbClr val="8A6D12"/>
              </a:solidFill>
              <a:prstDash val="solid"/>
            </a:ln>
          </p:spPr>
          <p:txBody>
            <a:bodyPr/>
            <a:lstStyle/>
            <a:p>
              <a:endParaRPr lang="en-US"/>
            </a:p>
          </p:txBody>
        </p:sp>
        <p:sp>
          <p:nvSpPr>
            <p:cNvPr id="10" name="h2t1">
              <a:extLst>
                <a:ext uri="{FF2B5EF4-FFF2-40B4-BE49-F238E27FC236}">
                  <a16:creationId xmlns:a16="http://schemas.microsoft.com/office/drawing/2014/main" id="{E162AD3F-B3DA-266B-59ED-54070FE9F76E}"/>
                </a:ext>
              </a:extLst>
            </p:cNvPr>
            <p:cNvSpPr txBox="1"/>
            <p:nvPr/>
          </p:nvSpPr>
          <p:spPr>
            <a:xfrm>
              <a:off x="532650" y="4990989"/>
              <a:ext cx="7943228" cy="145711"/>
            </a:xfrm>
            <a:prstGeom prst="rect">
              <a:avLst/>
            </a:prstGeom>
            <a:noFill/>
            <a:ln/>
          </p:spPr>
          <p:txBody>
            <a:bodyPr wrap="square" lIns="0" tIns="0" rIns="0" bIns="0" rtlCol="0" anchor="ctr"/>
            <a:lstStyle/>
            <a:p>
              <a:r>
                <a:rPr lang="en-US" sz="2400" b="1" dirty="0">
                  <a:solidFill>
                    <a:schemeClr val="bg1"/>
                  </a:solidFill>
                </a:rPr>
                <a:t>God’s Will of Disposition </a:t>
              </a:r>
              <a:r>
                <a:rPr lang="en-US" sz="2400" dirty="0">
                  <a:solidFill>
                    <a:schemeClr val="bg1"/>
                  </a:solidFill>
                </a:rPr>
                <a:t>(good pleasure, 2 Peter 3:9)</a:t>
              </a:r>
            </a:p>
          </p:txBody>
        </p:sp>
      </p:grpSp>
      <p:grpSp>
        <p:nvGrpSpPr>
          <p:cNvPr id="24" name="Group 23">
            <a:extLst>
              <a:ext uri="{FF2B5EF4-FFF2-40B4-BE49-F238E27FC236}">
                <a16:creationId xmlns:a16="http://schemas.microsoft.com/office/drawing/2014/main" id="{C02FB0E5-34BA-1ED3-34BB-EFEDEC86C4A6}"/>
              </a:ext>
            </a:extLst>
          </p:cNvPr>
          <p:cNvGrpSpPr/>
          <p:nvPr/>
        </p:nvGrpSpPr>
        <p:grpSpPr>
          <a:xfrm>
            <a:off x="341723" y="3429000"/>
            <a:ext cx="8345593" cy="619336"/>
            <a:chOff x="341723" y="3429000"/>
            <a:chExt cx="8345593" cy="619336"/>
          </a:xfrm>
        </p:grpSpPr>
        <p:sp>
          <p:nvSpPr>
            <p:cNvPr id="13" name="h2r3">
              <a:extLst>
                <a:ext uri="{FF2B5EF4-FFF2-40B4-BE49-F238E27FC236}">
                  <a16:creationId xmlns:a16="http://schemas.microsoft.com/office/drawing/2014/main" id="{AA795440-A9A4-6C15-9812-20D263935CE4}"/>
                </a:ext>
              </a:extLst>
            </p:cNvPr>
            <p:cNvSpPr/>
            <p:nvPr/>
          </p:nvSpPr>
          <p:spPr>
            <a:xfrm>
              <a:off x="341723" y="3429000"/>
              <a:ext cx="8345593" cy="619336"/>
            </a:xfrm>
            <a:prstGeom prst="roundRect">
              <a:avLst>
                <a:gd name="adj" fmla="val 9091"/>
              </a:avLst>
            </a:prstGeom>
            <a:solidFill>
              <a:schemeClr val="accent1">
                <a:lumMod val="50000"/>
                <a:alpha val="88000"/>
              </a:schemeClr>
            </a:solidFill>
            <a:ln w="12700">
              <a:solidFill>
                <a:srgbClr val="8A6D12"/>
              </a:solidFill>
              <a:prstDash val="solid"/>
            </a:ln>
          </p:spPr>
          <p:txBody>
            <a:bodyPr/>
            <a:lstStyle/>
            <a:p>
              <a:endParaRPr lang="en-US"/>
            </a:p>
          </p:txBody>
        </p:sp>
        <p:sp>
          <p:nvSpPr>
            <p:cNvPr id="14" name="h2t3">
              <a:extLst>
                <a:ext uri="{FF2B5EF4-FFF2-40B4-BE49-F238E27FC236}">
                  <a16:creationId xmlns:a16="http://schemas.microsoft.com/office/drawing/2014/main" id="{01D13C1A-EDDA-7EA9-F5DD-AC8846E46D0C}"/>
                </a:ext>
              </a:extLst>
            </p:cNvPr>
            <p:cNvSpPr txBox="1"/>
            <p:nvPr/>
          </p:nvSpPr>
          <p:spPr>
            <a:xfrm>
              <a:off x="524604" y="3496875"/>
              <a:ext cx="8027246" cy="432578"/>
            </a:xfrm>
            <a:prstGeom prst="rect">
              <a:avLst/>
            </a:prstGeom>
            <a:noFill/>
            <a:ln/>
          </p:spPr>
          <p:txBody>
            <a:bodyPr wrap="square" lIns="0" tIns="0" rIns="0" bIns="0" rtlCol="0" anchor="ctr"/>
            <a:lstStyle/>
            <a:p>
              <a:r>
                <a:rPr lang="en-US" sz="2400" b="1" dirty="0">
                  <a:solidFill>
                    <a:schemeClr val="bg1"/>
                  </a:solidFill>
                </a:rPr>
                <a:t>God’s Sovereign Will </a:t>
              </a:r>
              <a:r>
                <a:rPr lang="en-US" sz="2400" dirty="0">
                  <a:solidFill>
                    <a:schemeClr val="bg1"/>
                  </a:solidFill>
                </a:rPr>
                <a:t>(the will of decree, Ephesians 1:11)</a:t>
              </a:r>
            </a:p>
          </p:txBody>
        </p:sp>
      </p:grpSp>
      <p:grpSp>
        <p:nvGrpSpPr>
          <p:cNvPr id="22" name="Group 21">
            <a:extLst>
              <a:ext uri="{FF2B5EF4-FFF2-40B4-BE49-F238E27FC236}">
                <a16:creationId xmlns:a16="http://schemas.microsoft.com/office/drawing/2014/main" id="{F5F16E21-2BDE-5579-365D-E19688E44F76}"/>
              </a:ext>
            </a:extLst>
          </p:cNvPr>
          <p:cNvGrpSpPr/>
          <p:nvPr/>
        </p:nvGrpSpPr>
        <p:grpSpPr>
          <a:xfrm>
            <a:off x="358136" y="4537699"/>
            <a:ext cx="8345592" cy="548640"/>
            <a:chOff x="358140" y="4240616"/>
            <a:chExt cx="8345592" cy="548640"/>
          </a:xfrm>
        </p:grpSpPr>
        <p:grpSp>
          <p:nvGrpSpPr>
            <p:cNvPr id="16" name="Group 15">
              <a:extLst>
                <a:ext uri="{FF2B5EF4-FFF2-40B4-BE49-F238E27FC236}">
                  <a16:creationId xmlns:a16="http://schemas.microsoft.com/office/drawing/2014/main" id="{4AA50515-9FC1-AD51-B0D5-30BA53827A9D}"/>
                </a:ext>
              </a:extLst>
            </p:cNvPr>
            <p:cNvGrpSpPr/>
            <p:nvPr/>
          </p:nvGrpSpPr>
          <p:grpSpPr>
            <a:xfrm>
              <a:off x="358140" y="4240616"/>
              <a:ext cx="8345592" cy="548640"/>
              <a:chOff x="358140" y="4240616"/>
              <a:chExt cx="8345592" cy="548640"/>
            </a:xfrm>
          </p:grpSpPr>
          <p:sp>
            <p:nvSpPr>
              <p:cNvPr id="11" name="h2r2">
                <a:extLst>
                  <a:ext uri="{FF2B5EF4-FFF2-40B4-BE49-F238E27FC236}">
                    <a16:creationId xmlns:a16="http://schemas.microsoft.com/office/drawing/2014/main" id="{5A9DB19A-0730-8538-FC2B-046B4789AB1B}"/>
                  </a:ext>
                </a:extLst>
              </p:cNvPr>
              <p:cNvSpPr/>
              <p:nvPr/>
            </p:nvSpPr>
            <p:spPr>
              <a:xfrm>
                <a:off x="358140" y="4240616"/>
                <a:ext cx="8345592" cy="548640"/>
              </a:xfrm>
              <a:prstGeom prst="roundRect">
                <a:avLst>
                  <a:gd name="adj" fmla="val 9091"/>
                </a:avLst>
              </a:prstGeom>
              <a:solidFill>
                <a:schemeClr val="accent1">
                  <a:lumMod val="50000"/>
                  <a:alpha val="92000"/>
                </a:schemeClr>
              </a:solidFill>
              <a:ln w="12700">
                <a:solidFill>
                  <a:srgbClr val="8A6D12"/>
                </a:solidFill>
                <a:prstDash val="solid"/>
              </a:ln>
            </p:spPr>
            <p:txBody>
              <a:bodyPr/>
              <a:lstStyle/>
              <a:p>
                <a:endParaRPr lang="en-US"/>
              </a:p>
            </p:txBody>
          </p:sp>
          <p:sp>
            <p:nvSpPr>
              <p:cNvPr id="12" name="h2t2">
                <a:extLst>
                  <a:ext uri="{FF2B5EF4-FFF2-40B4-BE49-F238E27FC236}">
                    <a16:creationId xmlns:a16="http://schemas.microsoft.com/office/drawing/2014/main" id="{45DD46B5-0CBE-ABA4-6EB1-3CB481949DFF}"/>
                  </a:ext>
                </a:extLst>
              </p:cNvPr>
              <p:cNvSpPr txBox="1"/>
              <p:nvPr/>
            </p:nvSpPr>
            <p:spPr>
              <a:xfrm>
                <a:off x="541020" y="4332056"/>
                <a:ext cx="8027246" cy="366944"/>
              </a:xfrm>
              <a:prstGeom prst="rect">
                <a:avLst/>
              </a:prstGeom>
              <a:noFill/>
              <a:ln/>
            </p:spPr>
            <p:txBody>
              <a:bodyPr wrap="square" lIns="0" tIns="0" rIns="0" bIns="0" rtlCol="0" anchor="ctr"/>
              <a:lstStyle/>
              <a:p>
                <a:pPr marL="0" indent="0" algn="l">
                  <a:buNone/>
                </a:pPr>
                <a:endParaRPr lang="en-US" sz="1600" dirty="0"/>
              </a:p>
            </p:txBody>
          </p:sp>
        </p:grpSp>
        <p:sp>
          <p:nvSpPr>
            <p:cNvPr id="21" name="TextBox 20">
              <a:extLst>
                <a:ext uri="{FF2B5EF4-FFF2-40B4-BE49-F238E27FC236}">
                  <a16:creationId xmlns:a16="http://schemas.microsoft.com/office/drawing/2014/main" id="{0229EFEE-0591-59A4-59C6-05EFB4FBCC7F}"/>
                </a:ext>
              </a:extLst>
            </p:cNvPr>
            <p:cNvSpPr txBox="1"/>
            <p:nvPr/>
          </p:nvSpPr>
          <p:spPr>
            <a:xfrm>
              <a:off x="440266" y="4286898"/>
              <a:ext cx="8127998" cy="461665"/>
            </a:xfrm>
            <a:prstGeom prst="rect">
              <a:avLst/>
            </a:prstGeom>
            <a:noFill/>
          </p:spPr>
          <p:txBody>
            <a:bodyPr wrap="square">
              <a:spAutoFit/>
            </a:bodyPr>
            <a:lstStyle/>
            <a:p>
              <a:pPr marL="0" marR="0">
                <a:buNone/>
              </a:pPr>
              <a:r>
                <a:rPr lang="en-US" sz="2400" b="1" dirty="0">
                  <a:solidFill>
                    <a:schemeClr val="bg1"/>
                  </a:solidFill>
                </a:rPr>
                <a:t>God’s Moral Will </a:t>
              </a:r>
              <a:r>
                <a:rPr lang="en-US" sz="2400" dirty="0">
                  <a:solidFill>
                    <a:schemeClr val="bg1"/>
                  </a:solidFill>
                </a:rPr>
                <a:t>(will of precept, or revealed will, 1 Thes 4:3)</a:t>
              </a:r>
            </a:p>
          </p:txBody>
        </p:sp>
      </p:grpSp>
    </p:spTree>
    <p:extLst>
      <p:ext uri="{BB962C8B-B14F-4D97-AF65-F5344CB8AC3E}">
        <p14:creationId xmlns:p14="http://schemas.microsoft.com/office/powerpoint/2010/main" val="100412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Revealing Pattern of Sacrifice and Obedience </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400" b="1" dirty="0">
                <a:solidFill>
                  <a:srgbClr val="4F81BD"/>
                </a:solidFill>
                <a:latin typeface="Arial" pitchFamily="34" charset="0"/>
                <a:cs typeface="Arial" pitchFamily="34" charset="-120"/>
              </a:rPr>
              <a:t>Jesus </a:t>
            </a:r>
            <a:r>
              <a:rPr lang="en-US" sz="2400" b="1" dirty="0">
                <a:solidFill>
                  <a:srgbClr val="4F81BD"/>
                </a:solidFill>
                <a:latin typeface="Arial" pitchFamily="34" charset="0"/>
                <a:cs typeface="Arial" pitchFamily="34" charset="-120"/>
                <a:sym typeface="Wingdings" pitchFamily="2" charset="2"/>
              </a:rPr>
              <a:t></a:t>
            </a:r>
            <a:r>
              <a:rPr lang="en-US" sz="2400" b="1" dirty="0">
                <a:solidFill>
                  <a:srgbClr val="4F81BD"/>
                </a:solidFill>
                <a:latin typeface="Arial" pitchFamily="34" charset="0"/>
                <a:cs typeface="Arial" pitchFamily="34" charset="-120"/>
              </a:rPr>
              <a:t> Perfect Alignment with God’s </a:t>
            </a:r>
            <a:r>
              <a:rPr lang="en-US" sz="2400" b="1" u="sng" dirty="0">
                <a:solidFill>
                  <a:srgbClr val="4F81BD"/>
                </a:solidFill>
                <a:latin typeface="Arial" pitchFamily="34" charset="0"/>
                <a:cs typeface="Arial" pitchFamily="34" charset="-120"/>
              </a:rPr>
              <a:t>Will</a:t>
            </a:r>
            <a:r>
              <a:rPr lang="en-US" sz="2400" b="1" dirty="0">
                <a:solidFill>
                  <a:srgbClr val="4F81BD"/>
                </a:solidFill>
                <a:latin typeface="Arial" pitchFamily="34" charset="0"/>
                <a:cs typeface="Arial" pitchFamily="34" charset="-120"/>
              </a:rPr>
              <a:t> and </a:t>
            </a:r>
            <a:r>
              <a:rPr lang="en-US" sz="2400" b="1" u="sng" dirty="0">
                <a:solidFill>
                  <a:srgbClr val="4F81BD"/>
                </a:solidFill>
                <a:latin typeface="Arial" pitchFamily="34" charset="0"/>
                <a:cs typeface="Arial" pitchFamily="34" charset="-120"/>
              </a:rPr>
              <a:t>Purpose</a:t>
            </a:r>
            <a:endParaRPr lang="en-US" sz="2400" dirty="0"/>
          </a:p>
        </p:txBody>
      </p:sp>
      <p:sp>
        <p:nvSpPr>
          <p:cNvPr id="4" name="h1"/>
          <p:cNvSpPr txBox="1"/>
          <p:nvPr/>
        </p:nvSpPr>
        <p:spPr>
          <a:xfrm>
            <a:off x="320040" y="1136235"/>
            <a:ext cx="8503920" cy="1594872"/>
          </a:xfrm>
          <a:prstGeom prst="rect">
            <a:avLst/>
          </a:prstGeom>
          <a:noFill/>
          <a:ln/>
        </p:spPr>
        <p:txBody>
          <a:bodyPr wrap="square" lIns="0" tIns="0" rIns="0" bIns="0" rtlCol="0" anchor="t"/>
          <a:lstStyle/>
          <a:p>
            <a:pPr marL="0" indent="0" algn="l">
              <a:buNone/>
            </a:pPr>
            <a:r>
              <a:rPr lang="en-US" sz="2400" b="1" i="1" dirty="0">
                <a:solidFill>
                  <a:srgbClr val="000000"/>
                </a:solidFill>
                <a:latin typeface="Arial" pitchFamily="34" charset="0"/>
                <a:ea typeface="Arial" pitchFamily="34" charset="-122"/>
                <a:cs typeface="Arial" pitchFamily="34" charset="-120"/>
              </a:rPr>
              <a:t>“Sacrifice and offering you did not desire, but a body you prepared for me… Then I said, ‘Here I am; I have come </a:t>
            </a:r>
            <a:r>
              <a:rPr lang="en-US" sz="2400" b="1" i="1" dirty="0">
                <a:solidFill>
                  <a:srgbClr val="000000"/>
                </a:solidFill>
                <a:latin typeface="Arial" pitchFamily="34" charset="0"/>
                <a:ea typeface="Arial" pitchFamily="34" charset="-122"/>
                <a:cs typeface="Arial" pitchFamily="34" charset="-120"/>
                <a:sym typeface="Wingdings" pitchFamily="2" charset="2"/>
              </a:rPr>
              <a:t></a:t>
            </a:r>
            <a:r>
              <a:rPr lang="en-US" sz="2400" b="1" i="1" dirty="0">
                <a:solidFill>
                  <a:srgbClr val="000000"/>
                </a:solidFill>
                <a:latin typeface="Arial" pitchFamily="34" charset="0"/>
                <a:ea typeface="Arial" pitchFamily="34" charset="-122"/>
                <a:cs typeface="Arial" pitchFamily="34" charset="-120"/>
              </a:rPr>
              <a:t> it is written of me in the scroll of the book </a:t>
            </a:r>
            <a:r>
              <a:rPr lang="en-US" sz="2400" b="1" i="1" dirty="0">
                <a:solidFill>
                  <a:srgbClr val="000000"/>
                </a:solidFill>
                <a:latin typeface="Arial" pitchFamily="34" charset="0"/>
                <a:ea typeface="Arial" pitchFamily="34" charset="-122"/>
                <a:cs typeface="Arial" pitchFamily="34" charset="-120"/>
                <a:sym typeface="Wingdings" pitchFamily="2" charset="2"/>
              </a:rPr>
              <a:t></a:t>
            </a:r>
            <a:r>
              <a:rPr lang="en-US" sz="2400" b="1" i="1" dirty="0">
                <a:solidFill>
                  <a:srgbClr val="000000"/>
                </a:solidFill>
                <a:latin typeface="Arial" pitchFamily="34" charset="0"/>
                <a:ea typeface="Arial" pitchFamily="34" charset="-122"/>
                <a:cs typeface="Arial" pitchFamily="34" charset="-120"/>
              </a:rPr>
              <a:t> </a:t>
            </a:r>
            <a:r>
              <a:rPr lang="en-US" sz="2400" b="1" i="1" u="sng" dirty="0">
                <a:solidFill>
                  <a:srgbClr val="000000"/>
                </a:solidFill>
                <a:latin typeface="Arial" pitchFamily="34" charset="0"/>
                <a:ea typeface="Arial" pitchFamily="34" charset="-122"/>
                <a:cs typeface="Arial" pitchFamily="34" charset="-120"/>
              </a:rPr>
              <a:t>to do your will</a:t>
            </a:r>
            <a:r>
              <a:rPr lang="en-US" sz="2400" b="1" i="1" dirty="0">
                <a:solidFill>
                  <a:srgbClr val="000000"/>
                </a:solidFill>
                <a:latin typeface="Arial" pitchFamily="34" charset="0"/>
                <a:ea typeface="Arial" pitchFamily="34" charset="-122"/>
                <a:cs typeface="Arial" pitchFamily="34" charset="-120"/>
              </a:rPr>
              <a:t>, O God.’” </a:t>
            </a:r>
            <a:r>
              <a:rPr lang="en-US" sz="2400" b="1" dirty="0">
                <a:solidFill>
                  <a:srgbClr val="000000"/>
                </a:solidFill>
                <a:latin typeface="Arial" pitchFamily="34" charset="0"/>
                <a:ea typeface="Arial" pitchFamily="34" charset="-122"/>
                <a:cs typeface="Arial" pitchFamily="34" charset="-120"/>
              </a:rPr>
              <a:t>(Hebrews 10:5, 7)</a:t>
            </a:r>
            <a:endParaRPr lang="en-US" sz="2400" dirty="0"/>
          </a:p>
        </p:txBody>
      </p:sp>
      <p:sp>
        <p:nvSpPr>
          <p:cNvPr id="5" name="h2r0"/>
          <p:cNvSpPr/>
          <p:nvPr/>
        </p:nvSpPr>
        <p:spPr>
          <a:xfrm>
            <a:off x="452779" y="5851980"/>
            <a:ext cx="4937760" cy="603504"/>
          </a:xfrm>
          <a:prstGeom prst="roundRect">
            <a:avLst>
              <a:gd name="adj" fmla="val 9091"/>
            </a:avLst>
          </a:prstGeom>
          <a:solidFill>
            <a:schemeClr val="accent1">
              <a:lumMod val="50000"/>
            </a:schemeClr>
          </a:solidFill>
          <a:ln w="12700">
            <a:solidFill>
              <a:srgbClr val="8A6D12"/>
            </a:solidFill>
            <a:prstDash val="solid"/>
          </a:ln>
        </p:spPr>
        <p:txBody>
          <a:bodyPr/>
          <a:lstStyle/>
          <a:p>
            <a:endParaRPr lang="en-US"/>
          </a:p>
        </p:txBody>
      </p:sp>
      <p:sp>
        <p:nvSpPr>
          <p:cNvPr id="6" name="h2t0"/>
          <p:cNvSpPr txBox="1"/>
          <p:nvPr/>
        </p:nvSpPr>
        <p:spPr>
          <a:xfrm>
            <a:off x="635659" y="5943420"/>
            <a:ext cx="4663440" cy="457200"/>
          </a:xfrm>
          <a:prstGeom prst="rect">
            <a:avLst/>
          </a:prstGeom>
          <a:noFill/>
          <a:ln/>
        </p:spPr>
        <p:txBody>
          <a:bodyPr wrap="square" lIns="0" tIns="0" rIns="0" bIns="0" rtlCol="0" anchor="ctr"/>
          <a:lstStyle/>
          <a:p>
            <a:pPr marL="0" indent="0" algn="l">
              <a:buNone/>
            </a:pPr>
            <a:r>
              <a:rPr lang="en-US" sz="2400" b="1" i="1" u="sng" dirty="0">
                <a:solidFill>
                  <a:srgbClr val="FFFFFF"/>
                </a:solidFill>
                <a:latin typeface="Arial" pitchFamily="34" charset="0"/>
                <a:ea typeface="Arial" pitchFamily="34" charset="-122"/>
                <a:cs typeface="Arial" pitchFamily="34" charset="-120"/>
              </a:rPr>
              <a:t>Religion</a:t>
            </a:r>
            <a:r>
              <a:rPr lang="en-US" sz="2400" b="1" dirty="0">
                <a:solidFill>
                  <a:srgbClr val="FFFFFF"/>
                </a:solidFill>
                <a:latin typeface="Arial" pitchFamily="34" charset="0"/>
                <a:ea typeface="Arial" pitchFamily="34" charset="-122"/>
                <a:cs typeface="Arial" pitchFamily="34" charset="-120"/>
              </a:rPr>
              <a:t> : perfect form</a:t>
            </a:r>
            <a:endParaRPr lang="en-US" sz="2400" dirty="0"/>
          </a:p>
        </p:txBody>
      </p:sp>
      <p:sp>
        <p:nvSpPr>
          <p:cNvPr id="7" name="h2r1"/>
          <p:cNvSpPr/>
          <p:nvPr/>
        </p:nvSpPr>
        <p:spPr>
          <a:xfrm>
            <a:off x="452779" y="4974156"/>
            <a:ext cx="4937760" cy="603504"/>
          </a:xfrm>
          <a:prstGeom prst="roundRect">
            <a:avLst>
              <a:gd name="adj" fmla="val 9091"/>
            </a:avLst>
          </a:prstGeom>
          <a:solidFill>
            <a:schemeClr val="accent1">
              <a:lumMod val="50000"/>
              <a:alpha val="96000"/>
            </a:schemeClr>
          </a:solidFill>
          <a:ln w="12700">
            <a:solidFill>
              <a:srgbClr val="8A6D12"/>
            </a:solidFill>
            <a:prstDash val="solid"/>
          </a:ln>
        </p:spPr>
        <p:txBody>
          <a:bodyPr/>
          <a:lstStyle/>
          <a:p>
            <a:endParaRPr lang="en-US"/>
          </a:p>
        </p:txBody>
      </p:sp>
      <p:sp>
        <p:nvSpPr>
          <p:cNvPr id="8" name="h2t1"/>
          <p:cNvSpPr txBox="1"/>
          <p:nvPr/>
        </p:nvSpPr>
        <p:spPr>
          <a:xfrm>
            <a:off x="635659" y="5065596"/>
            <a:ext cx="4663440" cy="457200"/>
          </a:xfrm>
          <a:prstGeom prst="rect">
            <a:avLst/>
          </a:prstGeom>
          <a:noFill/>
          <a:ln/>
        </p:spPr>
        <p:txBody>
          <a:bodyPr wrap="square" lIns="0" tIns="0" rIns="0" bIns="0" rtlCol="0" anchor="ctr"/>
          <a:lstStyle/>
          <a:p>
            <a:pPr marL="0" indent="0" algn="l">
              <a:buNone/>
            </a:pPr>
            <a:r>
              <a:rPr lang="en-US" sz="2400" b="1" i="1" u="sng" dirty="0">
                <a:solidFill>
                  <a:srgbClr val="FFFFFF"/>
                </a:solidFill>
                <a:latin typeface="Arial" pitchFamily="34" charset="0"/>
                <a:ea typeface="Arial" pitchFamily="34" charset="-122"/>
                <a:cs typeface="Arial" pitchFamily="34" charset="-120"/>
              </a:rPr>
              <a:t>Worship</a:t>
            </a:r>
            <a:r>
              <a:rPr lang="en-US" sz="2400" b="1" dirty="0">
                <a:solidFill>
                  <a:srgbClr val="FFFFFF"/>
                </a:solidFill>
                <a:latin typeface="Arial" pitchFamily="34" charset="0"/>
                <a:ea typeface="Arial" pitchFamily="34" charset="-122"/>
                <a:cs typeface="Arial" pitchFamily="34" charset="-120"/>
              </a:rPr>
              <a:t> : perfect heart</a:t>
            </a:r>
            <a:endParaRPr lang="en-US" sz="2400" dirty="0"/>
          </a:p>
        </p:txBody>
      </p:sp>
      <p:sp>
        <p:nvSpPr>
          <p:cNvPr id="9" name="h2r2"/>
          <p:cNvSpPr/>
          <p:nvPr/>
        </p:nvSpPr>
        <p:spPr>
          <a:xfrm>
            <a:off x="452779" y="3989792"/>
            <a:ext cx="4937760" cy="710044"/>
          </a:xfrm>
          <a:prstGeom prst="roundRect">
            <a:avLst>
              <a:gd name="adj" fmla="val 9091"/>
            </a:avLst>
          </a:prstGeom>
          <a:solidFill>
            <a:schemeClr val="accent1">
              <a:lumMod val="50000"/>
              <a:alpha val="92000"/>
            </a:schemeClr>
          </a:solidFill>
          <a:ln w="12700">
            <a:solidFill>
              <a:srgbClr val="8A6D12"/>
            </a:solidFill>
            <a:prstDash val="solid"/>
          </a:ln>
        </p:spPr>
        <p:txBody>
          <a:bodyPr/>
          <a:lstStyle/>
          <a:p>
            <a:endParaRPr lang="en-US"/>
          </a:p>
        </p:txBody>
      </p:sp>
      <p:sp>
        <p:nvSpPr>
          <p:cNvPr id="10" name="h2t2"/>
          <p:cNvSpPr txBox="1"/>
          <p:nvPr/>
        </p:nvSpPr>
        <p:spPr>
          <a:xfrm>
            <a:off x="635659" y="4081232"/>
            <a:ext cx="4663440" cy="537912"/>
          </a:xfrm>
          <a:prstGeom prst="rect">
            <a:avLst/>
          </a:prstGeom>
          <a:noFill/>
          <a:ln/>
        </p:spPr>
        <p:txBody>
          <a:bodyPr wrap="square" lIns="0" tIns="0" rIns="0" bIns="0" rtlCol="0" anchor="ctr"/>
          <a:lstStyle/>
          <a:p>
            <a:pPr marL="0" indent="0" algn="l">
              <a:buNone/>
            </a:pPr>
            <a:r>
              <a:rPr lang="en-US" sz="2400" b="1" i="1" u="sng" dirty="0">
                <a:solidFill>
                  <a:srgbClr val="FFFFFF"/>
                </a:solidFill>
                <a:latin typeface="Arial" pitchFamily="34" charset="0"/>
                <a:ea typeface="Arial" pitchFamily="34" charset="-122"/>
                <a:cs typeface="Arial" pitchFamily="34" charset="-120"/>
              </a:rPr>
              <a:t>Sacrifice</a:t>
            </a:r>
            <a:r>
              <a:rPr lang="en-US" sz="2400" b="1" dirty="0">
                <a:solidFill>
                  <a:srgbClr val="FFFFFF"/>
                </a:solidFill>
                <a:latin typeface="Arial" pitchFamily="34" charset="0"/>
                <a:ea typeface="Arial" pitchFamily="34" charset="-122"/>
                <a:cs typeface="Arial" pitchFamily="34" charset="-120"/>
              </a:rPr>
              <a:t> : the full cost, a body, nothing kept back</a:t>
            </a:r>
            <a:endParaRPr lang="en-US" sz="2400" dirty="0"/>
          </a:p>
        </p:txBody>
      </p:sp>
      <p:sp>
        <p:nvSpPr>
          <p:cNvPr id="11" name="h2r3"/>
          <p:cNvSpPr/>
          <p:nvPr/>
        </p:nvSpPr>
        <p:spPr>
          <a:xfrm>
            <a:off x="452779" y="3005427"/>
            <a:ext cx="4937760" cy="710045"/>
          </a:xfrm>
          <a:prstGeom prst="roundRect">
            <a:avLst>
              <a:gd name="adj" fmla="val 9091"/>
            </a:avLst>
          </a:prstGeom>
          <a:solidFill>
            <a:schemeClr val="accent1">
              <a:lumMod val="50000"/>
              <a:alpha val="88000"/>
            </a:schemeClr>
          </a:solidFill>
          <a:ln w="12700">
            <a:solidFill>
              <a:srgbClr val="8A6D12"/>
            </a:solidFill>
            <a:prstDash val="solid"/>
          </a:ln>
        </p:spPr>
        <p:txBody>
          <a:bodyPr/>
          <a:lstStyle/>
          <a:p>
            <a:endParaRPr lang="en-US"/>
          </a:p>
        </p:txBody>
      </p:sp>
      <p:sp>
        <p:nvSpPr>
          <p:cNvPr id="12" name="h2t3"/>
          <p:cNvSpPr txBox="1"/>
          <p:nvPr/>
        </p:nvSpPr>
        <p:spPr>
          <a:xfrm>
            <a:off x="635659" y="3096867"/>
            <a:ext cx="4663440" cy="537913"/>
          </a:xfrm>
          <a:prstGeom prst="rect">
            <a:avLst/>
          </a:prstGeom>
          <a:noFill/>
          <a:ln/>
        </p:spPr>
        <p:txBody>
          <a:bodyPr wrap="square" lIns="0" tIns="0" rIns="0" bIns="0" rtlCol="0" anchor="ctr"/>
          <a:lstStyle/>
          <a:p>
            <a:pPr marL="0" indent="0" algn="l">
              <a:buNone/>
            </a:pPr>
            <a:r>
              <a:rPr lang="en-US" sz="2400" b="1" i="1" u="sng" dirty="0">
                <a:solidFill>
                  <a:srgbClr val="FFFFFF"/>
                </a:solidFill>
                <a:latin typeface="Arial" pitchFamily="34" charset="0"/>
                <a:ea typeface="Arial" pitchFamily="34" charset="-122"/>
                <a:cs typeface="Arial" pitchFamily="34" charset="-120"/>
              </a:rPr>
              <a:t>Obedience of Faith</a:t>
            </a:r>
            <a:r>
              <a:rPr lang="en-US" sz="2400" b="1" i="1" dirty="0">
                <a:solidFill>
                  <a:srgbClr val="FFFFFF"/>
                </a:solidFill>
                <a:latin typeface="Arial" pitchFamily="34" charset="0"/>
                <a:ea typeface="Arial" pitchFamily="34" charset="-122"/>
                <a:cs typeface="Arial" pitchFamily="34" charset="-120"/>
              </a:rPr>
              <a:t> </a:t>
            </a:r>
            <a:r>
              <a:rPr lang="en-US" sz="2400" b="1" dirty="0">
                <a:solidFill>
                  <a:srgbClr val="FFFFFF"/>
                </a:solidFill>
                <a:latin typeface="Arial" pitchFamily="34" charset="0"/>
                <a:ea typeface="Arial" pitchFamily="34" charset="-122"/>
                <a:cs typeface="Arial" pitchFamily="34" charset="-120"/>
              </a:rPr>
              <a:t>: “I have come to do your will”</a:t>
            </a:r>
            <a:endParaRPr lang="en-US" sz="2400" dirty="0"/>
          </a:p>
        </p:txBody>
      </p:sp>
      <p:sp>
        <p:nvSpPr>
          <p:cNvPr id="13" name="h3"/>
          <p:cNvSpPr txBox="1"/>
          <p:nvPr/>
        </p:nvSpPr>
        <p:spPr>
          <a:xfrm>
            <a:off x="5673701" y="2980374"/>
            <a:ext cx="3017520" cy="3675069"/>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Aligned once by Jesus Himself, completely, in Him.
</a:t>
            </a:r>
            <a:r>
              <a:rPr lang="en-US" sz="2400" b="1" i="1" dirty="0">
                <a:solidFill>
                  <a:srgbClr val="000000"/>
                </a:solidFill>
                <a:latin typeface="Arial" pitchFamily="34" charset="0"/>
                <a:ea typeface="Arial" pitchFamily="34" charset="-122"/>
                <a:cs typeface="Arial" pitchFamily="34" charset="-120"/>
              </a:rPr>
              <a:t>“By that </a:t>
            </a:r>
            <a:r>
              <a:rPr lang="en-US" sz="2400" b="1" i="1" u="sng" dirty="0">
                <a:solidFill>
                  <a:srgbClr val="000000"/>
                </a:solidFill>
                <a:latin typeface="Arial" pitchFamily="34" charset="0"/>
                <a:ea typeface="Arial" pitchFamily="34" charset="-122"/>
                <a:cs typeface="Arial" pitchFamily="34" charset="-120"/>
              </a:rPr>
              <a:t>will</a:t>
            </a:r>
            <a:r>
              <a:rPr lang="en-US" sz="2400" b="1" i="1" dirty="0">
                <a:solidFill>
                  <a:srgbClr val="000000"/>
                </a:solidFill>
                <a:latin typeface="Arial" pitchFamily="34" charset="0"/>
                <a:ea typeface="Arial" pitchFamily="34" charset="-122"/>
                <a:cs typeface="Arial" pitchFamily="34" charset="-120"/>
              </a:rPr>
              <a:t> we have been made holy </a:t>
            </a:r>
            <a:r>
              <a:rPr lang="en-US" sz="2400" b="1" i="1" dirty="0">
                <a:solidFill>
                  <a:srgbClr val="000000"/>
                </a:solidFill>
                <a:latin typeface="Arial" pitchFamily="34" charset="0"/>
                <a:ea typeface="Arial" pitchFamily="34" charset="-122"/>
                <a:cs typeface="Arial" pitchFamily="34" charset="-120"/>
                <a:sym typeface="Wingdings" pitchFamily="2" charset="2"/>
              </a:rPr>
              <a:t> </a:t>
            </a:r>
            <a:r>
              <a:rPr lang="en-US" sz="2400" b="1" i="1" dirty="0">
                <a:solidFill>
                  <a:srgbClr val="000000"/>
                </a:solidFill>
                <a:latin typeface="Arial" pitchFamily="34" charset="0"/>
                <a:ea typeface="Arial" pitchFamily="34" charset="-122"/>
                <a:cs typeface="Arial" pitchFamily="34" charset="-120"/>
              </a:rPr>
              <a:t>once for all.” (Heb 10:10)</a:t>
            </a:r>
            <a:r>
              <a:rPr lang="en-US" sz="1600" b="1" i="1" dirty="0">
                <a:solidFill>
                  <a:srgbClr val="000000"/>
                </a:solidFill>
                <a:latin typeface="Arial" pitchFamily="34" charset="0"/>
                <a:ea typeface="Arial" pitchFamily="34" charset="-122"/>
                <a:cs typeface="Arial" pitchFamily="34" charset="-120"/>
              </a:rPr>
              <a:t>
</a:t>
            </a:r>
            <a:r>
              <a:rPr lang="en-US" b="1" dirty="0">
                <a:solidFill>
                  <a:srgbClr val="000000"/>
                </a:solidFill>
                <a:latin typeface="Arial" pitchFamily="34" charset="0"/>
                <a:ea typeface="Arial" pitchFamily="34" charset="-122"/>
                <a:cs typeface="Arial" pitchFamily="34" charset="-120"/>
              </a:rPr>
              <a:t>Your Obedience of Faith is a thank offering, not a payment.  (Rom 12:1-2)</a:t>
            </a:r>
          </a:p>
          <a:p>
            <a:pPr marL="0" indent="0" algn="l">
              <a:buNone/>
            </a:pP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722</TotalTime>
  <Words>878</Words>
  <Application>Microsoft Macintosh PowerPoint</Application>
  <PresentationFormat>On-screen Show (4:3)</PresentationFormat>
  <Paragraphs>51</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26</cp:revision>
  <cp:lastPrinted>2026-10-10T16:57:54Z</cp:lastPrinted>
  <dcterms:created xsi:type="dcterms:W3CDTF">2026-09-29T13:20:25Z</dcterms:created>
  <dcterms:modified xsi:type="dcterms:W3CDTF">2026-10-25T12:15:03Z</dcterms:modified>
</cp:coreProperties>
</file>