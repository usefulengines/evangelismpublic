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174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4001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TONE-SET, and it matters more this week than any other. Say up front: “This is not a lesson against compassion. Compassion is commanded. It is a lesson about what happens when compassion is cut loose from truth — and it starts, of all places, in Eden.” If the room hears “he’s against being kind,” the hour is lost. Lead warm.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[0:00–12:00]
[CLICK] The method — no force, ever. Persuasion. The target is the WORD’s authority, which ties straight to Weeks 3 and 5.
[CLICK] “Did God really say?” — the oldest question. Just enough doubt to reopen what God had closed.
[CLICK] The three-part reframe — God as withholder, the forbidden as beneficial, self as the standard. Note: the fruit really WAS pleasant; the lie wasn’t about the fruit’s qualities, it was about who decides.
[CLICK] The core: a change of AUTHORITY, not merely a bad craving. “What did God say” vs. “What seems good to me.” This is the whole week in one line — and it is why a lesson on compassion begins at the Fall: compassion cut loose from the word makes ME the judge of good, exactly as in Eden. Transition: “Hold that — now watch it happen with a virtue we all prize.”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[12:00–25:00]
[CLICK] 1 Cor 13:6–7 — the definition. Love REJOICES IN TRUTH. A love that celebrates a comforting falsehood is, by this verse, not love. Read it slowly.
[CLICK] Ultimate good vs. immediate comfort — a parent, a doctor, a good friend all know these can diverge. Love aims at the former.
[CLICK] The pit images. Careful definitional note: people use “empathy” and “sympathy” loosely and interchangeably — do NOT let this become a vocabulary fight or an attack on the word “empathy.” The POINT is the posture: to help someone out of a hole you cannot be in the hole with them. Feeling-with is good; being-swept-away is not. Heb 4:15: Christ is the model — he understands our weakness completely (fully feels-with) YET without sin (never swept from the truth). Perfect sympathy, solid ground. Transition: “Here is where it turns dangerous.”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[25:00–35:00]
[CLICK] The pattern sentence — say it in the voice it’s usually said in: wounded, sincere. This is not always cynical manipulation; often the person genuinely conflates love with agreement. Name it without contempt.
[CLICK] The Eden link — same authority-swap. “What did God say” → “what stops the pain.” And crucially: the one pressuring often BELIEVES it’s love. That charity keeps the room from hearing this as “people who disagree with me are manipulators.”
[CLICK] God’s own compassion — the AND is the hinge. Compassionate AND disciplines AND calls to repentance. A god who only ever soothes is not the God of Scripture; he’s an idol made of our comfort.
[CLICK] The surgeon image — land it gently. Withholding a hard truth to avoid displeasure is not love. Transition: “So are we forced to choose — truth or compassion?”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[35:00–45:00]
[CLICK] Kill the false binary explicitly — many in the room feel forced to choose and will be relieved to be told they never had to. Truth = content; love = manner.
[CLICK] Eph 4:15 — the whole formula in four words: truth IN love. Note the goal is maturity/growth, tying back to Heb 5:14 — the mature hold both.
[CLICK] The servant/master line — the memorable takeaway. Say it twice. Feeling is not the enemy; misplaced feeling is.
[CLICK] Unpack both roles. The cure for bad compassion is never coldness — it is rightly-ordered compassion.
[CLICK] Grace-first anchor (the Week 4/7/9/12 refrain) — the truth we speak is not cold correction; it rests on the cross. Straight to discussion.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[45:00–55:00]
This is the most personally loaded discussion in the course so far. Many will have a specific person in mind — an adult child making destructive choices, a friend, a spouse. Move slowly.
Q1: The line is the person’s ULTIMATE GOOD vs. their immediate comfort AND your own comfort (enabling is often self-protective — we cave to end OUR discomfort). Test: am I helping them toward what’s good, or just making the tension stop?
Q2: Two failure modes, like the Berean two halves. Truth-weaponizers need the “in love”; love-surrenderers need the “truth.” Ask them to name their own — gently. Do NOT let this become naming other people’s sins in absentia.
[CLICK] Read the care-note aloud if the room drifts toward venting about a specific person.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[55:00 close, ~2 min]
[CLICK] Next week’s reading — the pivot into Unit III. Flag both “test” words; the class arrives already having found them.
[CLICK] Preview Unit III — and reassure: after the grace of Week 4, tests are not a return to earning. Far side of grace.
[CLICK] Carry sentence — say it together.
[CLICK] Close on Eph 4:15 — send them out toward maturity, not toward a fight. Dismiss on time.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inyurl.com/TeachTheWord"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tinyurl.com/TeachTheWord"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0"/>
          <p:cNvSpPr txBox="1"/>
          <p:nvPr/>
        </p:nvSpPr>
        <p:spPr>
          <a:xfrm>
            <a:off x="548640" y="640080"/>
            <a:ext cx="8046720" cy="457200"/>
          </a:xfrm>
          <a:prstGeom prst="rect">
            <a:avLst/>
          </a:prstGeom>
          <a:noFill/>
          <a:ln/>
        </p:spPr>
        <p:txBody>
          <a:bodyPr wrap="square" lIns="0" tIns="0" rIns="0" bIns="0" rtlCol="0" anchor="t"/>
          <a:lstStyle/>
          <a:p>
            <a:pPr marL="0" indent="0" algn="ctr">
              <a:buNone/>
            </a:pPr>
            <a:r>
              <a:rPr lang="en-US" sz="1700" b="1" i="1" dirty="0">
                <a:solidFill>
                  <a:srgbClr val="4F81BD"/>
                </a:solidFill>
                <a:latin typeface="Arial" pitchFamily="34" charset="0"/>
                <a:ea typeface="Arial" pitchFamily="34" charset="-122"/>
                <a:cs typeface="Arial" pitchFamily="34" charset="-120"/>
              </a:rPr>
              <a:t>The Obedience of Faith - Week 6  ·  Unit II: Discernment</a:t>
            </a:r>
            <a:endParaRPr lang="en-US" sz="1600" dirty="0"/>
          </a:p>
        </p:txBody>
      </p:sp>
      <p:sp>
        <p:nvSpPr>
          <p:cNvPr id="3" name="t1"/>
          <p:cNvSpPr txBox="1"/>
          <p:nvPr/>
        </p:nvSpPr>
        <p:spPr>
          <a:xfrm>
            <a:off x="548640" y="1188720"/>
            <a:ext cx="8046720" cy="822960"/>
          </a:xfrm>
          <a:prstGeom prst="rect">
            <a:avLst/>
          </a:prstGeom>
          <a:noFill/>
          <a:ln/>
        </p:spPr>
        <p:txBody>
          <a:bodyPr wrap="square" lIns="0" tIns="0" rIns="0" bIns="0" rtlCol="0" anchor="t"/>
          <a:lstStyle/>
          <a:p>
            <a:pPr marL="0" indent="0" algn="ctr">
              <a:buNone/>
            </a:pPr>
            <a:r>
              <a:rPr lang="en-US" sz="3800" b="1" dirty="0">
                <a:solidFill>
                  <a:srgbClr val="1F497D"/>
                </a:solidFill>
                <a:latin typeface="Arial" pitchFamily="34" charset="0"/>
                <a:ea typeface="Arial" pitchFamily="34" charset="-122"/>
                <a:cs typeface="Arial" pitchFamily="34" charset="-120"/>
              </a:rPr>
              <a:t>Love, Compassion, and Truth</a:t>
            </a:r>
            <a:endParaRPr lang="en-US" sz="1600" dirty="0"/>
          </a:p>
        </p:txBody>
      </p:sp>
      <p:sp>
        <p:nvSpPr>
          <p:cNvPr id="4" name="t2"/>
          <p:cNvSpPr txBox="1"/>
          <p:nvPr/>
        </p:nvSpPr>
        <p:spPr>
          <a:xfrm>
            <a:off x="548640" y="2148840"/>
            <a:ext cx="8046720" cy="548640"/>
          </a:xfrm>
          <a:prstGeom prst="rect">
            <a:avLst/>
          </a:prstGeom>
          <a:noFill/>
          <a:ln/>
        </p:spPr>
        <p:txBody>
          <a:bodyPr wrap="square" lIns="0" tIns="0" rIns="0" bIns="0" rtlCol="0" anchor="t"/>
          <a:lstStyle/>
          <a:p>
            <a:pPr marL="0" indent="0" algn="ctr">
              <a:buNone/>
            </a:pPr>
            <a:r>
              <a:rPr lang="en-US" sz="2000" b="1" i="1" dirty="0">
                <a:solidFill>
                  <a:srgbClr val="1F497D"/>
                </a:solidFill>
                <a:latin typeface="Arial" pitchFamily="34" charset="0"/>
                <a:ea typeface="Arial" pitchFamily="34" charset="-122"/>
                <a:cs typeface="Arial" pitchFamily="34" charset="-120"/>
              </a:rPr>
              <a:t>Biblical love is never separated from truth</a:t>
            </a:r>
            <a:endParaRPr lang="en-US" sz="1600" dirty="0"/>
          </a:p>
        </p:txBody>
      </p:sp>
      <p:sp>
        <p:nvSpPr>
          <p:cNvPr id="5" name="t3"/>
          <p:cNvSpPr txBox="1"/>
          <p:nvPr/>
        </p:nvSpPr>
        <p:spPr>
          <a:xfrm>
            <a:off x="914400" y="3063240"/>
            <a:ext cx="7315200" cy="1280160"/>
          </a:xfrm>
          <a:prstGeom prst="rect">
            <a:avLst/>
          </a:prstGeom>
          <a:noFill/>
          <a:ln/>
        </p:spPr>
        <p:txBody>
          <a:bodyPr wrap="square" lIns="0" tIns="0" rIns="0" bIns="0" rtlCol="0" anchor="t"/>
          <a:lstStyle/>
          <a:p>
            <a:pPr marL="0" indent="0" algn="ctr">
              <a:buNone/>
            </a:pPr>
            <a:r>
              <a:rPr lang="en-US" sz="2800" i="1" dirty="0">
                <a:solidFill>
                  <a:srgbClr val="000000"/>
                </a:solidFill>
                <a:latin typeface="Arial" pitchFamily="34" charset="0"/>
                <a:ea typeface="Arial" pitchFamily="34" charset="-122"/>
                <a:cs typeface="Arial" pitchFamily="34" charset="-120"/>
              </a:rPr>
              <a:t>“Love… is not glad about injustice, but rejoices in the truth.”</a:t>
            </a:r>
            <a:endParaRPr lang="en-US" sz="2000" dirty="0"/>
          </a:p>
          <a:p>
            <a:pPr marL="0" indent="0" algn="ctr">
              <a:buNone/>
            </a:pPr>
            <a:r>
              <a:rPr lang="en-US" sz="2400" dirty="0">
                <a:solidFill>
                  <a:srgbClr val="000000"/>
                </a:solidFill>
                <a:latin typeface="Arial" pitchFamily="34" charset="0"/>
                <a:ea typeface="Arial" pitchFamily="34" charset="-122"/>
                <a:cs typeface="Arial" pitchFamily="34" charset="-120"/>
              </a:rPr>
              <a:t>(1 Corinthians 13:6)</a:t>
            </a:r>
            <a:endParaRPr lang="en-US" sz="2000" dirty="0"/>
          </a:p>
        </p:txBody>
      </p:sp>
      <p:sp>
        <p:nvSpPr>
          <p:cNvPr id="6" name="t4"/>
          <p:cNvSpPr txBox="1"/>
          <p:nvPr/>
        </p:nvSpPr>
        <p:spPr>
          <a:xfrm>
            <a:off x="914400" y="4754880"/>
            <a:ext cx="7315200" cy="457200"/>
          </a:xfrm>
          <a:prstGeom prst="rect">
            <a:avLst/>
          </a:prstGeom>
          <a:noFill/>
          <a:ln/>
        </p:spPr>
        <p:txBody>
          <a:bodyPr wrap="square" lIns="0" tIns="0" rIns="0" bIns="0" rtlCol="0" anchor="t"/>
          <a:lstStyle/>
          <a:p>
            <a:pPr marL="0" indent="0" algn="ctr">
              <a:buNone/>
            </a:pPr>
            <a:r>
              <a:rPr lang="en-US" sz="1600" b="1" u="sng" dirty="0">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https://</a:t>
            </a:r>
            <a:r>
              <a:rPr lang="en-US" sz="1600" b="1" u="sng" dirty="0" err="1">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TeachTheWord</a:t>
            </a:r>
            <a:r>
              <a:rPr lang="en-US" sz="1600" b="1" u="sng" dirty="0" err="1">
                <a:solidFill>
                  <a:srgbClr val="4F81BD"/>
                </a:solidFill>
                <a:latin typeface="Arial" pitchFamily="34" charset="0"/>
                <a:ea typeface="Arial" pitchFamily="34" charset="-122"/>
                <a:cs typeface="Arial" pitchFamily="34" charset="-120"/>
              </a:rPr>
              <a:t>.Church</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The Fall as Displacement</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Genesis 3 - the serpent’s method was reframing, not force</a:t>
            </a:r>
            <a:endParaRPr lang="en-US" sz="2800" dirty="0"/>
          </a:p>
        </p:txBody>
      </p:sp>
      <p:sp>
        <p:nvSpPr>
          <p:cNvPr id="4" name="a1"/>
          <p:cNvSpPr txBox="1"/>
          <p:nvPr/>
        </p:nvSpPr>
        <p:spPr>
          <a:xfrm>
            <a:off x="365760" y="1051560"/>
            <a:ext cx="8412480" cy="868680"/>
          </a:xfrm>
          <a:prstGeom prst="rect">
            <a:avLst/>
          </a:prstGeom>
          <a:noFill/>
          <a:ln/>
        </p:spPr>
        <p:txBody>
          <a:bodyPr wrap="square" lIns="0" tIns="0" rIns="0" bIns="0" rtlCol="0" anchor="t"/>
          <a:lstStyle/>
          <a:p>
            <a:pPr marL="0" indent="0" algn="l">
              <a:buNone/>
            </a:pPr>
            <a:r>
              <a:rPr lang="en-US" sz="2000" dirty="0">
                <a:solidFill>
                  <a:srgbClr val="000000"/>
                </a:solidFill>
                <a:latin typeface="Arial" pitchFamily="34" charset="0"/>
                <a:ea typeface="Arial" pitchFamily="34" charset="-122"/>
                <a:cs typeface="Arial" pitchFamily="34" charset="-120"/>
              </a:rPr>
              <a:t>The serpent never grabs the fruit or forces a hand. </a:t>
            </a:r>
            <a:r>
              <a:rPr lang="en-US" sz="2000" b="1" dirty="0">
                <a:solidFill>
                  <a:srgbClr val="1F497D"/>
                </a:solidFill>
                <a:latin typeface="Arial" pitchFamily="34" charset="0"/>
                <a:ea typeface="Arial" pitchFamily="34" charset="-122"/>
                <a:cs typeface="Arial" pitchFamily="34" charset="-120"/>
              </a:rPr>
              <a:t>His whole attack is on one thing </a:t>
            </a:r>
            <a:r>
              <a:rPr lang="en-US" sz="2000" b="1" dirty="0">
                <a:solidFill>
                  <a:srgbClr val="1F497D"/>
                </a:solidFill>
                <a:latin typeface="Arial" pitchFamily="34" charset="0"/>
                <a:ea typeface="Arial" pitchFamily="34" charset="-122"/>
                <a:cs typeface="Arial" pitchFamily="34" charset="-120"/>
                <a:sym typeface="Wingdings" pitchFamily="2" charset="2"/>
              </a:rPr>
              <a:t></a:t>
            </a:r>
            <a:r>
              <a:rPr lang="en-US" sz="2000" b="1" dirty="0">
                <a:solidFill>
                  <a:srgbClr val="1F497D"/>
                </a:solidFill>
                <a:latin typeface="Arial" pitchFamily="34" charset="0"/>
                <a:ea typeface="Arial" pitchFamily="34" charset="-122"/>
                <a:cs typeface="Arial" pitchFamily="34" charset="-120"/>
              </a:rPr>
              <a:t> the authority of God’s word.</a:t>
            </a:r>
            <a:endParaRPr lang="en-US" sz="2400" dirty="0"/>
          </a:p>
        </p:txBody>
      </p:sp>
      <p:sp>
        <p:nvSpPr>
          <p:cNvPr id="5" name="a2"/>
          <p:cNvSpPr txBox="1"/>
          <p:nvPr/>
        </p:nvSpPr>
        <p:spPr>
          <a:xfrm>
            <a:off x="365760" y="1798404"/>
            <a:ext cx="8412480" cy="1163599"/>
          </a:xfrm>
          <a:prstGeom prst="rect">
            <a:avLst/>
          </a:prstGeom>
          <a:noFill/>
          <a:ln/>
        </p:spPr>
        <p:txBody>
          <a:bodyPr wrap="square" lIns="0" tIns="0" rIns="0" bIns="0" rtlCol="0" anchor="t"/>
          <a:lstStyle/>
          <a:p>
            <a:pPr marL="0" indent="0" algn="l">
              <a:buNone/>
            </a:pPr>
            <a:r>
              <a:rPr lang="en-US" sz="2000" b="1" i="1" dirty="0">
                <a:solidFill>
                  <a:srgbClr val="000000"/>
                </a:solidFill>
                <a:latin typeface="Arial" pitchFamily="34" charset="0"/>
                <a:ea typeface="Arial" pitchFamily="34" charset="-122"/>
                <a:cs typeface="Arial" pitchFamily="34" charset="-120"/>
              </a:rPr>
              <a:t>“Is it really true that God said, ‘You must not eat from any tree of the orchard’?” </a:t>
            </a:r>
            <a:r>
              <a:rPr lang="en-US" b="1" dirty="0">
                <a:solidFill>
                  <a:srgbClr val="000000"/>
                </a:solidFill>
                <a:latin typeface="Arial" pitchFamily="34" charset="0"/>
                <a:ea typeface="Arial" pitchFamily="34" charset="-122"/>
                <a:cs typeface="Arial" pitchFamily="34" charset="-120"/>
              </a:rPr>
              <a:t>(Genesis 3:1)</a:t>
            </a:r>
            <a:endParaRPr lang="en-US" sz="2000" dirty="0"/>
          </a:p>
          <a:p>
            <a:pPr marL="0" indent="0" algn="l">
              <a:buNone/>
            </a:pPr>
            <a:r>
              <a:rPr lang="en-US" dirty="0">
                <a:solidFill>
                  <a:srgbClr val="000000"/>
                </a:solidFill>
                <a:latin typeface="Arial" pitchFamily="34" charset="0"/>
                <a:ea typeface="Arial" pitchFamily="34" charset="-122"/>
                <a:cs typeface="Arial" pitchFamily="34" charset="-120"/>
              </a:rPr>
              <a:t>Step one: “Did God really say?”  Not “God is wrong” </a:t>
            </a:r>
            <a:r>
              <a:rPr lang="en-US" dirty="0">
                <a:solidFill>
                  <a:srgbClr val="000000"/>
                </a:solidFill>
                <a:latin typeface="Arial" pitchFamily="34" charset="0"/>
                <a:ea typeface="Arial" pitchFamily="34" charset="-122"/>
                <a:cs typeface="Arial" pitchFamily="34" charset="-120"/>
                <a:sym typeface="Wingdings" pitchFamily="2" charset="2"/>
              </a:rPr>
              <a:t> </a:t>
            </a:r>
            <a:r>
              <a:rPr lang="en-US" dirty="0">
                <a:solidFill>
                  <a:srgbClr val="000000"/>
                </a:solidFill>
                <a:latin typeface="Arial" pitchFamily="34" charset="0"/>
                <a:ea typeface="Arial" pitchFamily="34" charset="-122"/>
                <a:cs typeface="Arial" pitchFamily="34" charset="-120"/>
              </a:rPr>
              <a:t>just enough doubt to reopen a settled question.</a:t>
            </a:r>
            <a:endParaRPr lang="en-US" sz="2000" dirty="0"/>
          </a:p>
        </p:txBody>
      </p:sp>
      <p:sp>
        <p:nvSpPr>
          <p:cNvPr id="6" name="a3"/>
          <p:cNvSpPr txBox="1"/>
          <p:nvPr/>
        </p:nvSpPr>
        <p:spPr>
          <a:xfrm>
            <a:off x="365760" y="3126095"/>
            <a:ext cx="8412480" cy="1987062"/>
          </a:xfrm>
          <a:prstGeom prst="rect">
            <a:avLst/>
          </a:prstGeom>
          <a:noFill/>
          <a:ln/>
        </p:spPr>
        <p:txBody>
          <a:bodyPr wrap="square" lIns="0" tIns="0" rIns="0" bIns="0" rtlCol="0" anchor="t"/>
          <a:lstStyle/>
          <a:p>
            <a:pPr marL="0" indent="0" algn="l">
              <a:buNone/>
            </a:pPr>
            <a:r>
              <a:rPr lang="en-US" b="1" dirty="0">
                <a:solidFill>
                  <a:srgbClr val="000000"/>
                </a:solidFill>
                <a:latin typeface="Arial" pitchFamily="34" charset="0"/>
                <a:ea typeface="Arial" pitchFamily="34" charset="-122"/>
                <a:cs typeface="Arial" pitchFamily="34" charset="-120"/>
              </a:rPr>
              <a:t>Then the reframe:
</a:t>
            </a:r>
            <a:r>
              <a:rPr lang="en-US" dirty="0">
                <a:solidFill>
                  <a:srgbClr val="000000"/>
                </a:solidFill>
                <a:latin typeface="Arial" pitchFamily="34" charset="0"/>
                <a:ea typeface="Arial" pitchFamily="34" charset="-122"/>
                <a:cs typeface="Arial" pitchFamily="34" charset="-120"/>
              </a:rPr>
              <a:t>•  God is withholding something good </a:t>
            </a:r>
            <a:r>
              <a:rPr lang="en-US" dirty="0">
                <a:solidFill>
                  <a:srgbClr val="000000"/>
                </a:solidFill>
                <a:latin typeface="Arial" pitchFamily="34" charset="0"/>
                <a:ea typeface="Arial" pitchFamily="34" charset="-122"/>
                <a:cs typeface="Arial" pitchFamily="34" charset="-120"/>
                <a:sym typeface="Wingdings" pitchFamily="2" charset="2"/>
              </a:rPr>
              <a:t> </a:t>
            </a:r>
            <a:r>
              <a:rPr lang="en-US" dirty="0">
                <a:solidFill>
                  <a:srgbClr val="000000"/>
                </a:solidFill>
                <a:latin typeface="Arial" pitchFamily="34" charset="0"/>
                <a:ea typeface="Arial" pitchFamily="34" charset="-122"/>
                <a:cs typeface="Arial" pitchFamily="34" charset="-120"/>
              </a:rPr>
              <a:t>“God knows that when you eat… you will be like God” (3:5)
•  The fruit is beneficial </a:t>
            </a:r>
            <a:r>
              <a:rPr lang="en-US" dirty="0">
                <a:solidFill>
                  <a:srgbClr val="000000"/>
                </a:solidFill>
                <a:latin typeface="Arial" pitchFamily="34" charset="0"/>
                <a:ea typeface="Arial" pitchFamily="34" charset="-122"/>
                <a:cs typeface="Arial" pitchFamily="34" charset="-120"/>
                <a:sym typeface="Wingdings" pitchFamily="2" charset="2"/>
              </a:rPr>
              <a:t></a:t>
            </a:r>
            <a:r>
              <a:rPr lang="en-US" dirty="0">
                <a:solidFill>
                  <a:srgbClr val="000000"/>
                </a:solidFill>
                <a:latin typeface="Arial" pitchFamily="34" charset="0"/>
                <a:ea typeface="Arial" pitchFamily="34" charset="-122"/>
                <a:cs typeface="Arial" pitchFamily="34" charset="-120"/>
              </a:rPr>
              <a:t> “good for food… pleasing to the eye… desirable for making one wise” (3:6)
•  Your judgment is the better standard </a:t>
            </a:r>
            <a:r>
              <a:rPr lang="en-US" dirty="0">
                <a:solidFill>
                  <a:srgbClr val="000000"/>
                </a:solidFill>
                <a:latin typeface="Arial" pitchFamily="34" charset="0"/>
                <a:ea typeface="Arial" pitchFamily="34" charset="-122"/>
                <a:cs typeface="Arial" pitchFamily="34" charset="-120"/>
                <a:sym typeface="Wingdings" pitchFamily="2" charset="2"/>
              </a:rPr>
              <a:t></a:t>
            </a:r>
            <a:r>
              <a:rPr lang="en-US" dirty="0">
                <a:solidFill>
                  <a:srgbClr val="000000"/>
                </a:solidFill>
                <a:latin typeface="Arial" pitchFamily="34" charset="0"/>
                <a:ea typeface="Arial" pitchFamily="34" charset="-122"/>
                <a:cs typeface="Arial" pitchFamily="34" charset="-120"/>
              </a:rPr>
              <a:t> so Eve evaluated God’s command by the creature’s claim.</a:t>
            </a:r>
            <a:endParaRPr lang="en-US" sz="2000" dirty="0"/>
          </a:p>
        </p:txBody>
      </p:sp>
      <p:sp>
        <p:nvSpPr>
          <p:cNvPr id="7" name="a4"/>
          <p:cNvSpPr txBox="1"/>
          <p:nvPr/>
        </p:nvSpPr>
        <p:spPr>
          <a:xfrm>
            <a:off x="365760" y="5277249"/>
            <a:ext cx="8412480" cy="1471023"/>
          </a:xfrm>
          <a:prstGeom prst="rect">
            <a:avLst/>
          </a:prstGeom>
          <a:noFill/>
          <a:ln/>
        </p:spPr>
        <p:txBody>
          <a:bodyPr wrap="square" lIns="0" tIns="0" rIns="0" bIns="0" rtlCol="0" anchor="t"/>
          <a:lstStyle/>
          <a:p>
            <a:pPr marL="0" indent="0" algn="l">
              <a:buNone/>
            </a:pPr>
            <a:r>
              <a:rPr lang="en-US" sz="2000" b="1" dirty="0">
                <a:solidFill>
                  <a:srgbClr val="1F497D"/>
                </a:solidFill>
                <a:latin typeface="Arial" pitchFamily="34" charset="0"/>
                <a:ea typeface="Arial" pitchFamily="34" charset="-122"/>
                <a:cs typeface="Arial" pitchFamily="34" charset="-120"/>
              </a:rPr>
              <a:t>The core failure was not appetite. It was a change of authority.
</a:t>
            </a:r>
            <a:r>
              <a:rPr lang="en-US" dirty="0">
                <a:solidFill>
                  <a:srgbClr val="000000"/>
                </a:solidFill>
                <a:latin typeface="Arial" pitchFamily="34" charset="0"/>
                <a:ea typeface="Arial" pitchFamily="34" charset="-122"/>
                <a:cs typeface="Arial" pitchFamily="34" charset="-120"/>
              </a:rPr>
              <a:t>The question shifted from “What did God say?” to “What seems good, desirable, and reasonable to me?”  Once feeling and perception outranked the word, the fruit was already as good as eaten. </a:t>
            </a:r>
          </a:p>
          <a:p>
            <a:pPr marL="0" indent="0" algn="l">
              <a:buNone/>
            </a:pPr>
            <a:r>
              <a:rPr lang="en-US" i="1" dirty="0">
                <a:solidFill>
                  <a:srgbClr val="000000"/>
                </a:solidFill>
                <a:latin typeface="Arial" pitchFamily="34" charset="0"/>
                <a:ea typeface="Arial" pitchFamily="34" charset="-122"/>
                <a:cs typeface="Arial" pitchFamily="34" charset="-120"/>
              </a:rPr>
              <a:t>Every temptation since runs the same play (2 Cor 11:3).</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Love vs. Indiscriminate Empathy</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1 Cor 13 - love and truth are never rivals</a:t>
            </a:r>
            <a:endParaRPr lang="en-US" sz="2800" dirty="0"/>
          </a:p>
        </p:txBody>
      </p:sp>
      <p:sp>
        <p:nvSpPr>
          <p:cNvPr id="4" name="b1"/>
          <p:cNvSpPr txBox="1"/>
          <p:nvPr/>
        </p:nvSpPr>
        <p:spPr>
          <a:xfrm>
            <a:off x="365760" y="1051560"/>
            <a:ext cx="8412480" cy="914400"/>
          </a:xfrm>
          <a:prstGeom prst="rect">
            <a:avLst/>
          </a:prstGeom>
          <a:noFill/>
          <a:ln/>
        </p:spPr>
        <p:txBody>
          <a:bodyPr wrap="square" lIns="0" tIns="0" rIns="0" bIns="0" rtlCol="0" anchor="t"/>
          <a:lstStyle/>
          <a:p>
            <a:pPr marL="0" indent="0" algn="l">
              <a:buNone/>
            </a:pPr>
            <a:r>
              <a:rPr lang="en-US" b="1" i="1" dirty="0">
                <a:solidFill>
                  <a:srgbClr val="000000"/>
                </a:solidFill>
                <a:latin typeface="Arial" pitchFamily="34" charset="0"/>
                <a:ea typeface="Arial" pitchFamily="34" charset="-122"/>
                <a:cs typeface="Arial" pitchFamily="34" charset="-120"/>
              </a:rPr>
              <a:t>“Love… is not glad about injustice but rejoices in the truth. It bears all things, believes all things, hopes all things, endures all things.” </a:t>
            </a:r>
          </a:p>
          <a:p>
            <a:pPr marL="0" indent="0" algn="l">
              <a:buNone/>
            </a:pPr>
            <a:r>
              <a:rPr lang="en-US" b="1" dirty="0">
                <a:solidFill>
                  <a:srgbClr val="000000"/>
                </a:solidFill>
                <a:latin typeface="Arial" pitchFamily="34" charset="0"/>
                <a:ea typeface="Arial" pitchFamily="34" charset="-122"/>
                <a:cs typeface="Arial" pitchFamily="34" charset="-120"/>
              </a:rPr>
              <a:t>(1 Corinthians 13:6–7)</a:t>
            </a:r>
            <a:endParaRPr lang="en-US" sz="2000" dirty="0"/>
          </a:p>
        </p:txBody>
      </p:sp>
      <p:sp>
        <p:nvSpPr>
          <p:cNvPr id="5" name="b2"/>
          <p:cNvSpPr txBox="1"/>
          <p:nvPr/>
        </p:nvSpPr>
        <p:spPr>
          <a:xfrm>
            <a:off x="365760" y="2011680"/>
            <a:ext cx="8412480" cy="777240"/>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Biblical love is never separated from truth. </a:t>
            </a:r>
            <a:r>
              <a:rPr lang="en-US" dirty="0">
                <a:solidFill>
                  <a:srgbClr val="000000"/>
                </a:solidFill>
                <a:latin typeface="Arial" pitchFamily="34" charset="0"/>
                <a:ea typeface="Arial" pitchFamily="34" charset="-122"/>
                <a:cs typeface="Arial" pitchFamily="34" charset="-120"/>
              </a:rPr>
              <a:t>It seeks a person’s ultimate good, not merely their immediate comfort. Those are often the same. Sometimes they are opposites.</a:t>
            </a:r>
            <a:endParaRPr lang="en-US" sz="2000" dirty="0"/>
          </a:p>
        </p:txBody>
      </p:sp>
      <p:pic>
        <p:nvPicPr>
          <p:cNvPr id="6" name="imgE" descr="empathy.png"/>
          <p:cNvPicPr>
            <a:picLocks noChangeAspect="1"/>
          </p:cNvPicPr>
          <p:nvPr/>
        </p:nvPicPr>
        <p:blipFill>
          <a:blip r:embed="rId3"/>
          <a:stretch>
            <a:fillRect/>
          </a:stretch>
        </p:blipFill>
        <p:spPr>
          <a:xfrm>
            <a:off x="502920" y="2834640"/>
            <a:ext cx="3703320" cy="2697480"/>
          </a:xfrm>
          <a:prstGeom prst="rect">
            <a:avLst/>
          </a:prstGeom>
        </p:spPr>
      </p:pic>
      <p:pic>
        <p:nvPicPr>
          <p:cNvPr id="7" name="imgS" descr="sympathy.png"/>
          <p:cNvPicPr>
            <a:picLocks noChangeAspect="1"/>
          </p:cNvPicPr>
          <p:nvPr/>
        </p:nvPicPr>
        <p:blipFill>
          <a:blip r:embed="rId4"/>
          <a:stretch>
            <a:fillRect/>
          </a:stretch>
        </p:blipFill>
        <p:spPr>
          <a:xfrm>
            <a:off x="4572000" y="2834640"/>
            <a:ext cx="3703320" cy="2697480"/>
          </a:xfrm>
          <a:prstGeom prst="rect">
            <a:avLst/>
          </a:prstGeom>
        </p:spPr>
      </p:pic>
      <p:sp>
        <p:nvSpPr>
          <p:cNvPr id="8" name="b3"/>
          <p:cNvSpPr txBox="1"/>
          <p:nvPr/>
        </p:nvSpPr>
        <p:spPr>
          <a:xfrm>
            <a:off x="365760" y="5715000"/>
            <a:ext cx="8412480" cy="914400"/>
          </a:xfrm>
          <a:prstGeom prst="rect">
            <a:avLst/>
          </a:prstGeom>
          <a:noFill/>
          <a:ln/>
        </p:spPr>
        <p:txBody>
          <a:bodyPr wrap="square" lIns="0" tIns="0" rIns="0" bIns="0" rtlCol="0" anchor="t"/>
          <a:lstStyle/>
          <a:p>
            <a:pPr marL="0" indent="0" algn="l">
              <a:buNone/>
            </a:pPr>
            <a:r>
              <a:rPr lang="en-US" sz="2000" b="1" dirty="0">
                <a:solidFill>
                  <a:srgbClr val="B0413E"/>
                </a:solidFill>
                <a:latin typeface="Arial" pitchFamily="34" charset="0"/>
                <a:ea typeface="Arial" pitchFamily="34" charset="-122"/>
                <a:cs typeface="Arial" pitchFamily="34" charset="-120"/>
              </a:rPr>
              <a:t>Empathy </a:t>
            </a:r>
            <a:r>
              <a:rPr lang="en-US" dirty="0">
                <a:solidFill>
                  <a:srgbClr val="000000"/>
                </a:solidFill>
                <a:latin typeface="Arial" pitchFamily="34" charset="0"/>
                <a:ea typeface="Arial" pitchFamily="34" charset="-122"/>
                <a:cs typeface="Arial" pitchFamily="34" charset="-120"/>
              </a:rPr>
              <a:t>can mean climbing into the pit </a:t>
            </a:r>
            <a:r>
              <a:rPr lang="en-US" dirty="0">
                <a:solidFill>
                  <a:srgbClr val="000000"/>
                </a:solidFill>
                <a:latin typeface="Arial" pitchFamily="34" charset="0"/>
                <a:ea typeface="Arial" pitchFamily="34" charset="-122"/>
                <a:cs typeface="Arial" pitchFamily="34" charset="-120"/>
                <a:sym typeface="Wingdings" pitchFamily="2" charset="2"/>
              </a:rPr>
              <a:t></a:t>
            </a:r>
            <a:r>
              <a:rPr lang="en-US" dirty="0">
                <a:solidFill>
                  <a:srgbClr val="000000"/>
                </a:solidFill>
                <a:latin typeface="Arial" pitchFamily="34" charset="0"/>
                <a:ea typeface="Arial" pitchFamily="34" charset="-122"/>
                <a:cs typeface="Arial" pitchFamily="34" charset="-120"/>
              </a:rPr>
              <a:t> feeling exactly what they feel, losing the ground to stand on.   </a:t>
            </a:r>
            <a:r>
              <a:rPr lang="en-US" sz="2000" b="1" dirty="0">
                <a:solidFill>
                  <a:srgbClr val="4E7B4E"/>
                </a:solidFill>
                <a:latin typeface="Arial" pitchFamily="34" charset="0"/>
                <a:ea typeface="Arial" pitchFamily="34" charset="-122"/>
                <a:cs typeface="Arial" pitchFamily="34" charset="-120"/>
              </a:rPr>
              <a:t>Sympathy / love </a:t>
            </a:r>
            <a:r>
              <a:rPr lang="en-US" dirty="0">
                <a:solidFill>
                  <a:srgbClr val="000000"/>
                </a:solidFill>
                <a:latin typeface="Arial" pitchFamily="34" charset="0"/>
                <a:ea typeface="Arial" pitchFamily="34" charset="-122"/>
                <a:cs typeface="Arial" pitchFamily="34" charset="-120"/>
              </a:rPr>
              <a:t>keeps one foot on solid ground to pull the other person out. Christ sympathizes fully </a:t>
            </a:r>
            <a:r>
              <a:rPr lang="en-US" dirty="0">
                <a:solidFill>
                  <a:srgbClr val="000000"/>
                </a:solidFill>
                <a:latin typeface="Arial" pitchFamily="34" charset="0"/>
                <a:ea typeface="Arial" pitchFamily="34" charset="-122"/>
                <a:cs typeface="Arial" pitchFamily="34" charset="-120"/>
                <a:sym typeface="Wingdings" pitchFamily="2" charset="2"/>
              </a:rPr>
              <a:t></a:t>
            </a:r>
            <a:r>
              <a:rPr lang="en-US" dirty="0">
                <a:solidFill>
                  <a:srgbClr val="000000"/>
                </a:solidFill>
                <a:latin typeface="Arial" pitchFamily="34" charset="0"/>
                <a:ea typeface="Arial" pitchFamily="34" charset="-122"/>
                <a:cs typeface="Arial" pitchFamily="34" charset="-120"/>
              </a:rPr>
              <a:t> yet without sin (Heb 4:15).</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000"/>
                                        <p:tgtEl>
                                          <p:spTgt spid="7"/>
                                        </p:tgtEl>
                                      </p:cBhvr>
                                    </p:animEffect>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When Compassion Is Weaponized</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Feelings made the final authority </a:t>
            </a:r>
            <a:r>
              <a:rPr lang="en-US" sz="2000" b="1" dirty="0">
                <a:solidFill>
                  <a:srgbClr val="4F81BD"/>
                </a:solidFill>
                <a:latin typeface="Arial" pitchFamily="34" charset="0"/>
                <a:ea typeface="Arial" pitchFamily="34" charset="-122"/>
                <a:cs typeface="Arial" pitchFamily="34" charset="-120"/>
                <a:sym typeface="Wingdings" pitchFamily="2" charset="2"/>
              </a:rPr>
              <a:t></a:t>
            </a:r>
            <a:r>
              <a:rPr lang="en-US" sz="2000" b="1" dirty="0">
                <a:solidFill>
                  <a:srgbClr val="4F81BD"/>
                </a:solidFill>
                <a:latin typeface="Arial" pitchFamily="34" charset="0"/>
                <a:ea typeface="Arial" pitchFamily="34" charset="-122"/>
                <a:cs typeface="Arial" pitchFamily="34" charset="-120"/>
              </a:rPr>
              <a:t> Eden’s move, repeated</a:t>
            </a:r>
            <a:endParaRPr lang="en-US" sz="2800" dirty="0"/>
          </a:p>
        </p:txBody>
      </p:sp>
      <p:sp>
        <p:nvSpPr>
          <p:cNvPr id="4" name="c1"/>
          <p:cNvSpPr txBox="1"/>
          <p:nvPr/>
        </p:nvSpPr>
        <p:spPr>
          <a:xfrm>
            <a:off x="365760" y="1143000"/>
            <a:ext cx="8412480" cy="1232180"/>
          </a:xfrm>
          <a:prstGeom prst="rect">
            <a:avLst/>
          </a:prstGeom>
          <a:noFill/>
          <a:ln/>
        </p:spPr>
        <p:txBody>
          <a:bodyPr wrap="square" lIns="0" tIns="0" rIns="0" bIns="0" rtlCol="0" anchor="t"/>
          <a:lstStyle/>
          <a:p>
            <a:pPr marL="0" indent="0" algn="l">
              <a:buNone/>
            </a:pPr>
            <a:r>
              <a:rPr lang="en-US" sz="2000" b="1" dirty="0">
                <a:solidFill>
                  <a:srgbClr val="B0413E"/>
                </a:solidFill>
                <a:latin typeface="Arial" pitchFamily="34" charset="0"/>
                <a:ea typeface="Arial" pitchFamily="34" charset="-122"/>
                <a:cs typeface="Arial" pitchFamily="34" charset="-120"/>
              </a:rPr>
              <a:t>The pattern:  </a:t>
            </a:r>
            <a:r>
              <a:rPr lang="en-US" sz="2000" b="1" i="1" dirty="0">
                <a:solidFill>
                  <a:srgbClr val="000000"/>
                </a:solidFill>
                <a:latin typeface="Arial" pitchFamily="34" charset="0"/>
                <a:ea typeface="Arial" pitchFamily="34" charset="-122"/>
                <a:cs typeface="Arial" pitchFamily="34" charset="-120"/>
              </a:rPr>
              <a:t>“If you really cared about me, you would enable my choice.”</a:t>
            </a:r>
            <a:endParaRPr lang="en-US" sz="2000" dirty="0"/>
          </a:p>
          <a:p>
            <a:pPr marL="0" indent="0" algn="l">
              <a:buNone/>
            </a:pPr>
            <a:r>
              <a:rPr lang="en-US" dirty="0">
                <a:solidFill>
                  <a:srgbClr val="000000"/>
                </a:solidFill>
                <a:latin typeface="Arial" pitchFamily="34" charset="0"/>
                <a:ea typeface="Arial" pitchFamily="34" charset="-122"/>
                <a:cs typeface="Arial" pitchFamily="34" charset="-120"/>
              </a:rPr>
              <a:t>The discussion is moved off what is right and onto what causes the least emotional discomfort. Guilt becomes the lever; feeling becomes the final court.</a:t>
            </a:r>
            <a:endParaRPr lang="en-US" sz="2000" dirty="0"/>
          </a:p>
        </p:txBody>
      </p:sp>
      <p:sp>
        <p:nvSpPr>
          <p:cNvPr id="5" name="c2"/>
          <p:cNvSpPr txBox="1"/>
          <p:nvPr/>
        </p:nvSpPr>
        <p:spPr>
          <a:xfrm>
            <a:off x="365760" y="2592350"/>
            <a:ext cx="8412480" cy="914400"/>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Notice it is Eden’s move exactly: </a:t>
            </a:r>
            <a:r>
              <a:rPr lang="en-US" dirty="0">
                <a:solidFill>
                  <a:srgbClr val="000000"/>
                </a:solidFill>
                <a:latin typeface="Arial" pitchFamily="34" charset="0"/>
                <a:ea typeface="Arial" pitchFamily="34" charset="-122"/>
                <a:cs typeface="Arial" pitchFamily="34" charset="-120"/>
              </a:rPr>
              <a:t>the standard shifts from “What did God say?” to “What will make the pain stop?”  Compassion, cut from truth, becomes a tool of control </a:t>
            </a:r>
            <a:r>
              <a:rPr lang="en-US" dirty="0">
                <a:solidFill>
                  <a:srgbClr val="000000"/>
                </a:solidFill>
                <a:latin typeface="Arial" pitchFamily="34" charset="0"/>
                <a:ea typeface="Arial" pitchFamily="34" charset="-122"/>
                <a:cs typeface="Arial" pitchFamily="34" charset="-120"/>
                <a:sym typeface="Wingdings" pitchFamily="2" charset="2"/>
              </a:rPr>
              <a:t></a:t>
            </a:r>
            <a:r>
              <a:rPr lang="en-US" dirty="0">
                <a:solidFill>
                  <a:srgbClr val="000000"/>
                </a:solidFill>
                <a:latin typeface="Arial" pitchFamily="34" charset="0"/>
                <a:ea typeface="Arial" pitchFamily="34" charset="-122"/>
                <a:cs typeface="Arial" pitchFamily="34" charset="-120"/>
              </a:rPr>
              <a:t> and often the one applying pressure sincerely believes it is love.</a:t>
            </a:r>
            <a:endParaRPr lang="en-US" sz="2000" dirty="0"/>
          </a:p>
        </p:txBody>
      </p:sp>
      <p:sp>
        <p:nvSpPr>
          <p:cNvPr id="6" name="c3"/>
          <p:cNvSpPr txBox="1"/>
          <p:nvPr/>
        </p:nvSpPr>
        <p:spPr>
          <a:xfrm>
            <a:off x="365760" y="3723920"/>
            <a:ext cx="8412480" cy="1280160"/>
          </a:xfrm>
          <a:prstGeom prst="rect">
            <a:avLst/>
          </a:prstGeom>
          <a:noFill/>
          <a:ln/>
        </p:spPr>
        <p:txBody>
          <a:bodyPr wrap="square" lIns="0" tIns="0" rIns="0" bIns="0" rtlCol="0" anchor="t"/>
          <a:lstStyle/>
          <a:p>
            <a:pPr marL="0" indent="0" algn="l">
              <a:buNone/>
            </a:pPr>
            <a:r>
              <a:rPr lang="en-US" b="1" dirty="0">
                <a:solidFill>
                  <a:srgbClr val="000000"/>
                </a:solidFill>
                <a:latin typeface="Arial" pitchFamily="34" charset="0"/>
                <a:ea typeface="Arial" pitchFamily="34" charset="-122"/>
                <a:cs typeface="Arial" pitchFamily="34" charset="-120"/>
              </a:rPr>
              <a:t>But the God of all compassion is not like this:
</a:t>
            </a:r>
            <a:r>
              <a:rPr lang="en-US" dirty="0">
                <a:solidFill>
                  <a:srgbClr val="000000"/>
                </a:solidFill>
                <a:latin typeface="Arial" pitchFamily="34" charset="0"/>
                <a:ea typeface="Arial" pitchFamily="34" charset="-122"/>
                <a:cs typeface="Arial" pitchFamily="34" charset="-120"/>
              </a:rPr>
              <a:t>•  He is </a:t>
            </a:r>
            <a:r>
              <a:rPr lang="en-US" i="1" dirty="0">
                <a:solidFill>
                  <a:srgbClr val="000000"/>
                </a:solidFill>
                <a:latin typeface="Arial" pitchFamily="34" charset="0"/>
                <a:ea typeface="Arial" pitchFamily="34" charset="-122"/>
                <a:cs typeface="Arial" pitchFamily="34" charset="-120"/>
              </a:rPr>
              <a:t>“compassionate and gracious, slow to anger” </a:t>
            </a:r>
            <a:r>
              <a:rPr lang="en-US" dirty="0">
                <a:solidFill>
                  <a:srgbClr val="000000"/>
                </a:solidFill>
                <a:latin typeface="Arial" pitchFamily="34" charset="0"/>
                <a:ea typeface="Arial" pitchFamily="34" charset="-122"/>
                <a:cs typeface="Arial" pitchFamily="34" charset="-120"/>
              </a:rPr>
              <a:t>(Ex 34:6) </a:t>
            </a:r>
            <a:r>
              <a:rPr lang="en-US" dirty="0">
                <a:solidFill>
                  <a:srgbClr val="000000"/>
                </a:solidFill>
                <a:latin typeface="Arial" pitchFamily="34" charset="0"/>
                <a:ea typeface="Arial" pitchFamily="34" charset="-122"/>
                <a:cs typeface="Arial" pitchFamily="34" charset="-120"/>
                <a:sym typeface="Wingdings" pitchFamily="2" charset="2"/>
              </a:rPr>
              <a:t></a:t>
            </a:r>
            <a:r>
              <a:rPr lang="en-US" dirty="0">
                <a:solidFill>
                  <a:srgbClr val="000000"/>
                </a:solidFill>
                <a:latin typeface="Arial" pitchFamily="34" charset="0"/>
                <a:ea typeface="Arial" pitchFamily="34" charset="-122"/>
                <a:cs typeface="Arial" pitchFamily="34" charset="-120"/>
              </a:rPr>
              <a:t> </a:t>
            </a:r>
            <a:r>
              <a:rPr lang="en-US" b="1" i="1" dirty="0">
                <a:solidFill>
                  <a:srgbClr val="1F497D"/>
                </a:solidFill>
                <a:latin typeface="Arial" pitchFamily="34" charset="0"/>
                <a:ea typeface="Arial" pitchFamily="34" charset="-122"/>
                <a:cs typeface="Arial" pitchFamily="34" charset="-120"/>
              </a:rPr>
              <a:t>and</a:t>
            </a:r>
            <a:r>
              <a:rPr lang="en-US" dirty="0">
                <a:solidFill>
                  <a:srgbClr val="000000"/>
                </a:solidFill>
                <a:latin typeface="Arial" pitchFamily="34" charset="0"/>
                <a:ea typeface="Arial" pitchFamily="34" charset="-122"/>
                <a:cs typeface="Arial" pitchFamily="34" charset="-120"/>
              </a:rPr>
              <a:t>
•  He disciplines the son he loves (Heb 12:6)
•  He calls to repentance precisely because he is patient (2 Pet 3:9; Rom 2:4)</a:t>
            </a:r>
            <a:endParaRPr lang="en-US" sz="2000" dirty="0"/>
          </a:p>
        </p:txBody>
      </p:sp>
      <p:sp>
        <p:nvSpPr>
          <p:cNvPr id="7" name="c4"/>
          <p:cNvSpPr txBox="1"/>
          <p:nvPr/>
        </p:nvSpPr>
        <p:spPr>
          <a:xfrm>
            <a:off x="365760" y="5221250"/>
            <a:ext cx="8412480" cy="1280160"/>
          </a:xfrm>
          <a:prstGeom prst="rect">
            <a:avLst/>
          </a:prstGeom>
          <a:noFill/>
          <a:ln/>
        </p:spPr>
        <p:txBody>
          <a:bodyPr wrap="square" lIns="0" tIns="0" rIns="0" bIns="0" rtlCol="0" anchor="t"/>
          <a:lstStyle/>
          <a:p>
            <a:pPr marL="0" indent="0" algn="l">
              <a:buNone/>
            </a:pPr>
            <a:r>
              <a:rPr lang="en-US" sz="2000" b="1" dirty="0">
                <a:solidFill>
                  <a:srgbClr val="1F497D"/>
                </a:solidFill>
                <a:latin typeface="Arial" pitchFamily="34" charset="0"/>
                <a:ea typeface="Arial" pitchFamily="34" charset="-122"/>
                <a:cs typeface="Arial" pitchFamily="34" charset="-120"/>
              </a:rPr>
              <a:t>Real compassion sometimes says the hard thing. </a:t>
            </a:r>
            <a:r>
              <a:rPr lang="en-US" dirty="0">
                <a:solidFill>
                  <a:srgbClr val="000000"/>
                </a:solidFill>
                <a:latin typeface="Arial" pitchFamily="34" charset="0"/>
                <a:ea typeface="Arial" pitchFamily="34" charset="-122"/>
                <a:cs typeface="Arial" pitchFamily="34" charset="-120"/>
              </a:rPr>
              <a:t>The surgeon who refuses to operate because the patient fears the knife is not kind. A love that will not risk the other person’s displeasure has already stopped seeking their good.</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Never a Choice Between Them</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Compassion firmly anchored in truth</a:t>
            </a:r>
            <a:endParaRPr lang="en-US" sz="2800" dirty="0"/>
          </a:p>
        </p:txBody>
      </p:sp>
      <p:sp>
        <p:nvSpPr>
          <p:cNvPr id="4" name="d1"/>
          <p:cNvSpPr txBox="1"/>
          <p:nvPr/>
        </p:nvSpPr>
        <p:spPr>
          <a:xfrm>
            <a:off x="365760" y="1024128"/>
            <a:ext cx="8412480" cy="1307592"/>
          </a:xfrm>
          <a:prstGeom prst="rect">
            <a:avLst/>
          </a:prstGeom>
          <a:noFill/>
          <a:ln/>
        </p:spPr>
        <p:txBody>
          <a:bodyPr wrap="square" lIns="0" tIns="0" rIns="0" bIns="0" rtlCol="0" anchor="t"/>
          <a:lstStyle/>
          <a:p>
            <a:pPr marL="0" indent="0" algn="l">
              <a:buNone/>
            </a:pPr>
            <a:r>
              <a:rPr lang="en-US" sz="2400" b="1" dirty="0">
                <a:solidFill>
                  <a:srgbClr val="B0413E"/>
                </a:solidFill>
                <a:latin typeface="Arial" pitchFamily="34" charset="0"/>
                <a:ea typeface="Arial" pitchFamily="34" charset="-122"/>
                <a:cs typeface="Arial" pitchFamily="34" charset="-120"/>
              </a:rPr>
              <a:t>The false choice to reject: </a:t>
            </a:r>
            <a:r>
              <a:rPr lang="en-US" sz="2400" i="1" dirty="0">
                <a:solidFill>
                  <a:srgbClr val="000000"/>
                </a:solidFill>
                <a:latin typeface="Arial" pitchFamily="34" charset="0"/>
                <a:ea typeface="Arial" pitchFamily="34" charset="-122"/>
                <a:cs typeface="Arial" pitchFamily="34" charset="-120"/>
              </a:rPr>
              <a:t>“either be truthful or be loving.”
</a:t>
            </a:r>
            <a:r>
              <a:rPr lang="en-US" sz="2000" dirty="0">
                <a:solidFill>
                  <a:srgbClr val="000000"/>
                </a:solidFill>
                <a:latin typeface="Arial" pitchFamily="34" charset="0"/>
                <a:ea typeface="Arial" pitchFamily="34" charset="-122"/>
                <a:cs typeface="Arial" pitchFamily="34" charset="-120"/>
              </a:rPr>
              <a:t>Scripture never offers that menu. The believer is not asked to pick a side; he is asked to hold both </a:t>
            </a:r>
            <a:r>
              <a:rPr lang="en-US" sz="2000" dirty="0">
                <a:solidFill>
                  <a:srgbClr val="000000"/>
                </a:solidFill>
                <a:latin typeface="Arial" pitchFamily="34" charset="0"/>
                <a:ea typeface="Arial" pitchFamily="34" charset="-122"/>
                <a:cs typeface="Arial" pitchFamily="34" charset="-120"/>
                <a:sym typeface="Wingdings" pitchFamily="2" charset="2"/>
              </a:rPr>
              <a:t> </a:t>
            </a:r>
            <a:r>
              <a:rPr lang="en-US" sz="2000" dirty="0">
                <a:solidFill>
                  <a:srgbClr val="000000"/>
                </a:solidFill>
                <a:latin typeface="Arial" pitchFamily="34" charset="0"/>
                <a:ea typeface="Arial" pitchFamily="34" charset="-122"/>
                <a:cs typeface="Arial" pitchFamily="34" charset="-120"/>
              </a:rPr>
              <a:t>with truth as the anchor and love as the manner.</a:t>
            </a:r>
            <a:endParaRPr lang="en-US" sz="2400" dirty="0"/>
          </a:p>
        </p:txBody>
      </p:sp>
      <p:sp>
        <p:nvSpPr>
          <p:cNvPr id="5" name="d2"/>
          <p:cNvSpPr txBox="1"/>
          <p:nvPr/>
        </p:nvSpPr>
        <p:spPr>
          <a:xfrm>
            <a:off x="365760" y="2423160"/>
            <a:ext cx="8412480" cy="914400"/>
          </a:xfrm>
          <a:prstGeom prst="rect">
            <a:avLst/>
          </a:prstGeom>
          <a:noFill/>
          <a:ln/>
        </p:spPr>
        <p:txBody>
          <a:bodyPr wrap="square" lIns="0" tIns="0" rIns="0" bIns="0" rtlCol="0" anchor="t"/>
          <a:lstStyle/>
          <a:p>
            <a:pPr marL="0" indent="0" algn="l">
              <a:buNone/>
            </a:pPr>
            <a:r>
              <a:rPr lang="en-US" sz="2000" b="1" i="1" dirty="0">
                <a:solidFill>
                  <a:srgbClr val="000000"/>
                </a:solidFill>
                <a:latin typeface="Arial" pitchFamily="34" charset="0"/>
                <a:ea typeface="Arial" pitchFamily="34" charset="-122"/>
                <a:cs typeface="Arial" pitchFamily="34" charset="-120"/>
              </a:rPr>
              <a:t>“speaking the truth in love, we will in all things grow up into Christ, who is the head.” </a:t>
            </a:r>
            <a:r>
              <a:rPr lang="en-US" b="1" dirty="0">
                <a:solidFill>
                  <a:srgbClr val="000000"/>
                </a:solidFill>
                <a:latin typeface="Arial" pitchFamily="34" charset="0"/>
                <a:ea typeface="Arial" pitchFamily="34" charset="-122"/>
                <a:cs typeface="Arial" pitchFamily="34" charset="-120"/>
              </a:rPr>
              <a:t>(Ephesians 4:15)</a:t>
            </a:r>
            <a:endParaRPr lang="en-US" sz="2000" dirty="0"/>
          </a:p>
          <a:p>
            <a:pPr marL="0" indent="0" algn="l">
              <a:buNone/>
            </a:pPr>
            <a:r>
              <a:rPr lang="en-US" dirty="0">
                <a:solidFill>
                  <a:srgbClr val="000000"/>
                </a:solidFill>
                <a:latin typeface="Arial" pitchFamily="34" charset="0"/>
                <a:ea typeface="Arial" pitchFamily="34" charset="-122"/>
                <a:cs typeface="Arial" pitchFamily="34" charset="-120"/>
              </a:rPr>
              <a:t>Truth is what is spoken; love is how. Neither word is optional; neither is a hostage.</a:t>
            </a:r>
            <a:endParaRPr lang="en-US" sz="2000" dirty="0"/>
          </a:p>
        </p:txBody>
      </p:sp>
      <p:sp>
        <p:nvSpPr>
          <p:cNvPr id="6" name="srv"/>
          <p:cNvSpPr/>
          <p:nvPr/>
        </p:nvSpPr>
        <p:spPr>
          <a:xfrm>
            <a:off x="640080" y="3520440"/>
            <a:ext cx="7863840" cy="868680"/>
          </a:xfrm>
          <a:prstGeom prst="roundRect">
            <a:avLst>
              <a:gd name="adj" fmla="val 8421"/>
            </a:avLst>
          </a:prstGeom>
          <a:solidFill>
            <a:srgbClr val="1F497D"/>
          </a:solidFill>
          <a:ln/>
        </p:spPr>
        <p:txBody>
          <a:bodyPr/>
          <a:lstStyle/>
          <a:p>
            <a:endParaRPr lang="en-US"/>
          </a:p>
        </p:txBody>
      </p:sp>
      <p:sp>
        <p:nvSpPr>
          <p:cNvPr id="7" name="srvt"/>
          <p:cNvSpPr txBox="1"/>
          <p:nvPr/>
        </p:nvSpPr>
        <p:spPr>
          <a:xfrm>
            <a:off x="640080" y="3520440"/>
            <a:ext cx="7863840" cy="868680"/>
          </a:xfrm>
          <a:prstGeom prst="rect">
            <a:avLst/>
          </a:prstGeom>
          <a:noFill/>
          <a:ln/>
        </p:spPr>
        <p:txBody>
          <a:bodyPr wrap="square" lIns="0" tIns="0" rIns="0" bIns="0" rtlCol="0" anchor="ctr"/>
          <a:lstStyle/>
          <a:p>
            <a:pPr marL="0" indent="0" algn="ctr">
              <a:buNone/>
            </a:pPr>
            <a:r>
              <a:rPr lang="en-US" sz="2100" b="1" dirty="0">
                <a:solidFill>
                  <a:srgbClr val="FFFFFF"/>
                </a:solidFill>
                <a:latin typeface="Arial" pitchFamily="34" charset="0"/>
                <a:ea typeface="Arial" pitchFamily="34" charset="-122"/>
                <a:cs typeface="Arial" pitchFamily="34" charset="-120"/>
              </a:rPr>
              <a:t>Emotion is a good servant </a:t>
            </a:r>
            <a:r>
              <a:rPr lang="en-US" sz="2100" b="1" dirty="0">
                <a:solidFill>
                  <a:srgbClr val="FFFFFF"/>
                </a:solidFill>
                <a:latin typeface="Arial" pitchFamily="34" charset="0"/>
                <a:ea typeface="Arial" pitchFamily="34" charset="-122"/>
                <a:cs typeface="Arial" pitchFamily="34" charset="-120"/>
                <a:sym typeface="Wingdings" pitchFamily="2" charset="2"/>
              </a:rPr>
              <a:t></a:t>
            </a:r>
            <a:r>
              <a:rPr lang="en-US" sz="2100" b="1" dirty="0">
                <a:solidFill>
                  <a:srgbClr val="FFFFFF"/>
                </a:solidFill>
                <a:latin typeface="Arial" pitchFamily="34" charset="0"/>
                <a:ea typeface="Arial" pitchFamily="34" charset="-122"/>
                <a:cs typeface="Arial" pitchFamily="34" charset="-120"/>
              </a:rPr>
              <a:t> and a catastrophic master.</a:t>
            </a:r>
            <a:endParaRPr lang="en-US" sz="1600" dirty="0"/>
          </a:p>
        </p:txBody>
      </p:sp>
      <p:sp>
        <p:nvSpPr>
          <p:cNvPr id="8" name="d3"/>
          <p:cNvSpPr txBox="1"/>
          <p:nvPr/>
        </p:nvSpPr>
        <p:spPr>
          <a:xfrm>
            <a:off x="365760" y="4526280"/>
            <a:ext cx="8412480" cy="960120"/>
          </a:xfrm>
          <a:prstGeom prst="rect">
            <a:avLst/>
          </a:prstGeom>
          <a:noFill/>
          <a:ln/>
        </p:spPr>
        <p:txBody>
          <a:bodyPr wrap="square" lIns="0" tIns="0" rIns="0" bIns="0" rtlCol="0" anchor="t"/>
          <a:lstStyle/>
          <a:p>
            <a:pPr marL="0" indent="0" algn="l">
              <a:buNone/>
            </a:pPr>
            <a:r>
              <a:rPr lang="en-US" dirty="0">
                <a:solidFill>
                  <a:srgbClr val="000000"/>
                </a:solidFill>
                <a:latin typeface="Arial" pitchFamily="34" charset="0"/>
                <a:ea typeface="Arial" pitchFamily="34" charset="-122"/>
                <a:cs typeface="Arial" pitchFamily="34" charset="-120"/>
              </a:rPr>
              <a:t>As a servant, feeling fuels compassion, softens the hard word, moves us toward the hurting.  As a master, feeling overrules the word of God </a:t>
            </a:r>
            <a:r>
              <a:rPr lang="en-US" dirty="0">
                <a:solidFill>
                  <a:srgbClr val="000000"/>
                </a:solidFill>
                <a:latin typeface="Arial" pitchFamily="34" charset="0"/>
                <a:ea typeface="Arial" pitchFamily="34" charset="-122"/>
                <a:cs typeface="Arial" pitchFamily="34" charset="-120"/>
                <a:sym typeface="Wingdings" pitchFamily="2" charset="2"/>
              </a:rPr>
              <a:t></a:t>
            </a:r>
            <a:r>
              <a:rPr lang="en-US" dirty="0">
                <a:solidFill>
                  <a:srgbClr val="000000"/>
                </a:solidFill>
                <a:latin typeface="Arial" pitchFamily="34" charset="0"/>
                <a:ea typeface="Arial" pitchFamily="34" charset="-122"/>
                <a:cs typeface="Arial" pitchFamily="34" charset="-120"/>
              </a:rPr>
              <a:t> which is precisely the sin of Eden. The cure is not less compassion. It is compassion put back under its King.</a:t>
            </a:r>
            <a:endParaRPr lang="en-US" sz="2000" dirty="0"/>
          </a:p>
        </p:txBody>
      </p:sp>
      <p:sp>
        <p:nvSpPr>
          <p:cNvPr id="9" name="d4"/>
          <p:cNvSpPr txBox="1"/>
          <p:nvPr/>
        </p:nvSpPr>
        <p:spPr>
          <a:xfrm>
            <a:off x="365760" y="5669280"/>
            <a:ext cx="8412480" cy="868680"/>
          </a:xfrm>
          <a:prstGeom prst="rect">
            <a:avLst/>
          </a:prstGeom>
          <a:noFill/>
          <a:ln/>
        </p:spPr>
        <p:txBody>
          <a:bodyPr wrap="square" lIns="0" tIns="0" rIns="0" bIns="0" rtlCol="0" anchor="t"/>
          <a:lstStyle/>
          <a:p>
            <a:pPr marL="0" indent="0" algn="l">
              <a:buNone/>
            </a:pPr>
            <a:r>
              <a:rPr lang="en-US" sz="2000" b="1" dirty="0">
                <a:solidFill>
                  <a:srgbClr val="1F497D"/>
                </a:solidFill>
                <a:latin typeface="Arial" pitchFamily="34" charset="0"/>
                <a:ea typeface="Arial" pitchFamily="34" charset="-122"/>
                <a:cs typeface="Arial" pitchFamily="34" charset="-120"/>
              </a:rPr>
              <a:t>And remember whose order this is: </a:t>
            </a:r>
            <a:r>
              <a:rPr lang="en-US" dirty="0">
                <a:solidFill>
                  <a:srgbClr val="000000"/>
                </a:solidFill>
                <a:latin typeface="Arial" pitchFamily="34" charset="0"/>
                <a:ea typeface="Arial" pitchFamily="34" charset="-122"/>
                <a:cs typeface="Arial" pitchFamily="34" charset="-120"/>
              </a:rPr>
              <a:t>grace first. God’s kindness leads us to repentance (Rom 2:4). Mercy first, altar second </a:t>
            </a:r>
            <a:r>
              <a:rPr lang="en-US" dirty="0">
                <a:solidFill>
                  <a:srgbClr val="000000"/>
                </a:solidFill>
                <a:latin typeface="Arial" pitchFamily="34" charset="0"/>
                <a:ea typeface="Arial" pitchFamily="34" charset="-122"/>
                <a:cs typeface="Arial" pitchFamily="34" charset="-120"/>
                <a:sym typeface="Wingdings" pitchFamily="2" charset="2"/>
              </a:rPr>
              <a:t></a:t>
            </a:r>
            <a:r>
              <a:rPr lang="en-US" dirty="0">
                <a:solidFill>
                  <a:srgbClr val="000000"/>
                </a:solidFill>
                <a:latin typeface="Arial" pitchFamily="34" charset="0"/>
                <a:ea typeface="Arial" pitchFamily="34" charset="-122"/>
                <a:cs typeface="Arial" pitchFamily="34" charset="-120"/>
              </a:rPr>
              <a:t> the truth we speak rests on a love already proven at the cross.</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1000"/>
                                        <p:tgtEl>
                                          <p:spTgt spid="7"/>
                                        </p:tgtEl>
                                      </p:cBhvr>
                                    </p:animEffect>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Discussion</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Ten minutes — this is the week’s practice</a:t>
            </a:r>
            <a:endParaRPr lang="en-US" sz="2800" dirty="0"/>
          </a:p>
        </p:txBody>
      </p:sp>
      <p:sp>
        <p:nvSpPr>
          <p:cNvPr id="4" name="x1"/>
          <p:cNvSpPr txBox="1"/>
          <p:nvPr/>
        </p:nvSpPr>
        <p:spPr>
          <a:xfrm>
            <a:off x="457200" y="1325880"/>
            <a:ext cx="8229600" cy="1417320"/>
          </a:xfrm>
          <a:prstGeom prst="rect">
            <a:avLst/>
          </a:prstGeom>
          <a:noFill/>
          <a:ln/>
        </p:spPr>
        <p:txBody>
          <a:bodyPr wrap="square" lIns="0" tIns="0" rIns="0" bIns="0" rtlCol="0" anchor="t"/>
          <a:lstStyle/>
          <a:p>
            <a:pPr marL="0" indent="0" algn="l">
              <a:buNone/>
            </a:pPr>
            <a:r>
              <a:rPr lang="en-US" sz="2800" b="1" dirty="0">
                <a:solidFill>
                  <a:srgbClr val="1F497D"/>
                </a:solidFill>
                <a:latin typeface="Arial" pitchFamily="34" charset="0"/>
                <a:ea typeface="Arial" pitchFamily="34" charset="-122"/>
                <a:cs typeface="Arial" pitchFamily="34" charset="-120"/>
              </a:rPr>
              <a:t>1.  </a:t>
            </a:r>
            <a:r>
              <a:rPr lang="en-US" sz="2400" dirty="0">
                <a:solidFill>
                  <a:srgbClr val="000000"/>
                </a:solidFill>
                <a:latin typeface="Arial" pitchFamily="34" charset="0"/>
                <a:ea typeface="Arial" pitchFamily="34" charset="-122"/>
                <a:cs typeface="Arial" pitchFamily="34" charset="-120"/>
              </a:rPr>
              <a:t>Where is the line between compassion and enabling? How can you tell, in a real situation, which one you’re doing?</a:t>
            </a:r>
            <a:endParaRPr lang="en-US" sz="2000" dirty="0"/>
          </a:p>
        </p:txBody>
      </p:sp>
      <p:sp>
        <p:nvSpPr>
          <p:cNvPr id="5" name="x2"/>
          <p:cNvSpPr txBox="1"/>
          <p:nvPr/>
        </p:nvSpPr>
        <p:spPr>
          <a:xfrm>
            <a:off x="457200" y="2971800"/>
            <a:ext cx="8229600" cy="1463040"/>
          </a:xfrm>
          <a:prstGeom prst="rect">
            <a:avLst/>
          </a:prstGeom>
          <a:noFill/>
          <a:ln/>
        </p:spPr>
        <p:txBody>
          <a:bodyPr wrap="square" lIns="0" tIns="0" rIns="0" bIns="0" rtlCol="0" anchor="t"/>
          <a:lstStyle/>
          <a:p>
            <a:pPr marL="0" indent="0" algn="l">
              <a:buNone/>
            </a:pPr>
            <a:r>
              <a:rPr lang="en-US" sz="2800" b="1" dirty="0">
                <a:solidFill>
                  <a:srgbClr val="1F497D"/>
                </a:solidFill>
                <a:latin typeface="Arial" pitchFamily="34" charset="0"/>
                <a:ea typeface="Arial" pitchFamily="34" charset="-122"/>
                <a:cs typeface="Arial" pitchFamily="34" charset="-120"/>
              </a:rPr>
              <a:t>2.  </a:t>
            </a:r>
            <a:r>
              <a:rPr lang="en-US" sz="2400" dirty="0">
                <a:solidFill>
                  <a:srgbClr val="000000"/>
                </a:solidFill>
                <a:latin typeface="Arial" pitchFamily="34" charset="0"/>
                <a:ea typeface="Arial" pitchFamily="34" charset="-122"/>
                <a:cs typeface="Arial" pitchFamily="34" charset="-120"/>
              </a:rPr>
              <a:t>How do you speak truth without weaponizing it </a:t>
            </a:r>
            <a:r>
              <a:rPr lang="en-US" sz="2400" dirty="0">
                <a:solidFill>
                  <a:srgbClr val="000000"/>
                </a:solidFill>
                <a:latin typeface="Arial" pitchFamily="34" charset="0"/>
                <a:ea typeface="Arial" pitchFamily="34" charset="-122"/>
                <a:cs typeface="Arial" pitchFamily="34" charset="-120"/>
                <a:sym typeface="Wingdings" pitchFamily="2" charset="2"/>
              </a:rPr>
              <a:t></a:t>
            </a:r>
            <a:r>
              <a:rPr lang="en-US" sz="2400" dirty="0">
                <a:solidFill>
                  <a:srgbClr val="000000"/>
                </a:solidFill>
                <a:latin typeface="Arial" pitchFamily="34" charset="0"/>
                <a:ea typeface="Arial" pitchFamily="34" charset="-122"/>
                <a:cs typeface="Arial" pitchFamily="34" charset="-120"/>
              </a:rPr>
              <a:t> and love without surrendering it? Which failure is yours?</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Read Like a Berean</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For next week </a:t>
            </a:r>
            <a:r>
              <a:rPr lang="en-US" sz="2000" b="1" dirty="0">
                <a:solidFill>
                  <a:srgbClr val="4F81BD"/>
                </a:solidFill>
                <a:latin typeface="Arial" pitchFamily="34" charset="0"/>
                <a:ea typeface="Arial" pitchFamily="34" charset="-122"/>
                <a:cs typeface="Arial" pitchFamily="34" charset="-120"/>
                <a:sym typeface="Wingdings" pitchFamily="2" charset="2"/>
              </a:rPr>
              <a:t></a:t>
            </a:r>
            <a:r>
              <a:rPr lang="en-US" sz="2000" b="1" dirty="0">
                <a:solidFill>
                  <a:srgbClr val="4F81BD"/>
                </a:solidFill>
                <a:latin typeface="Arial" pitchFamily="34" charset="0"/>
                <a:ea typeface="Arial" pitchFamily="34" charset="-122"/>
                <a:cs typeface="Arial" pitchFamily="34" charset="-120"/>
              </a:rPr>
              <a:t> and a unit turns</a:t>
            </a:r>
            <a:endParaRPr lang="en-US" sz="2800" dirty="0"/>
          </a:p>
        </p:txBody>
      </p:sp>
      <p:sp>
        <p:nvSpPr>
          <p:cNvPr id="4" name="z1"/>
          <p:cNvSpPr txBox="1"/>
          <p:nvPr/>
        </p:nvSpPr>
        <p:spPr>
          <a:xfrm>
            <a:off x="365760" y="1143000"/>
            <a:ext cx="8412480" cy="1463040"/>
          </a:xfrm>
          <a:prstGeom prst="rect">
            <a:avLst/>
          </a:prstGeom>
          <a:noFill/>
          <a:ln/>
        </p:spPr>
        <p:txBody>
          <a:bodyPr wrap="square" lIns="0" tIns="0" rIns="0" bIns="0" rtlCol="0" anchor="t"/>
          <a:lstStyle/>
          <a:p>
            <a:pPr marL="0" indent="0" algn="l">
              <a:buNone/>
            </a:pPr>
            <a:r>
              <a:rPr lang="en-US" sz="2000" b="1" dirty="0">
                <a:solidFill>
                  <a:srgbClr val="1F497D"/>
                </a:solidFill>
                <a:latin typeface="Arial" pitchFamily="34" charset="0"/>
                <a:ea typeface="Arial" pitchFamily="34" charset="-122"/>
                <a:cs typeface="Arial" pitchFamily="34" charset="-120"/>
              </a:rPr>
              <a:t>For next week, read:
</a:t>
            </a:r>
            <a:r>
              <a:rPr lang="en-US" dirty="0">
                <a:solidFill>
                  <a:srgbClr val="000000"/>
                </a:solidFill>
                <a:latin typeface="Arial" pitchFamily="34" charset="0"/>
                <a:ea typeface="Arial" pitchFamily="34" charset="-122"/>
                <a:cs typeface="Arial" pitchFamily="34" charset="-120"/>
              </a:rPr>
              <a:t>•  </a:t>
            </a:r>
            <a:r>
              <a:rPr lang="en-US" b="1" dirty="0">
                <a:solidFill>
                  <a:srgbClr val="000000"/>
                </a:solidFill>
                <a:latin typeface="Arial" pitchFamily="34" charset="0"/>
                <a:ea typeface="Arial" pitchFamily="34" charset="-122"/>
                <a:cs typeface="Arial" pitchFamily="34" charset="-120"/>
              </a:rPr>
              <a:t>Deuteronomy 8:1–10  </a:t>
            </a:r>
            <a:r>
              <a:rPr lang="en-US" dirty="0">
                <a:solidFill>
                  <a:srgbClr val="000000"/>
                </a:solidFill>
                <a:latin typeface="Arial" pitchFamily="34" charset="0"/>
                <a:ea typeface="Arial" pitchFamily="34" charset="-122"/>
                <a:cs typeface="Arial" pitchFamily="34" charset="-120"/>
              </a:rPr>
              <a:t>- why did God lead Israel through the wilderness? Find the word “test” and note what it was testing.
•  </a:t>
            </a:r>
            <a:r>
              <a:rPr lang="en-US" b="1" dirty="0">
                <a:solidFill>
                  <a:srgbClr val="000000"/>
                </a:solidFill>
                <a:latin typeface="Arial" pitchFamily="34" charset="0"/>
                <a:ea typeface="Arial" pitchFamily="34" charset="-122"/>
                <a:cs typeface="Arial" pitchFamily="34" charset="-120"/>
              </a:rPr>
              <a:t>Genesis 22:1–2  </a:t>
            </a:r>
            <a:r>
              <a:rPr lang="en-US" dirty="0">
                <a:solidFill>
                  <a:srgbClr val="000000"/>
                </a:solidFill>
                <a:latin typeface="Arial" pitchFamily="34" charset="0"/>
                <a:ea typeface="Arial" pitchFamily="34" charset="-122"/>
                <a:cs typeface="Arial" pitchFamily="34" charset="-120"/>
              </a:rPr>
              <a:t>- the first time Scripture calls something a “test.” Who is tested, and what is asked?</a:t>
            </a:r>
            <a:endParaRPr lang="en-US" sz="2000" dirty="0"/>
          </a:p>
        </p:txBody>
      </p:sp>
      <p:sp>
        <p:nvSpPr>
          <p:cNvPr id="5" name="z2"/>
          <p:cNvSpPr txBox="1"/>
          <p:nvPr/>
        </p:nvSpPr>
        <p:spPr>
          <a:xfrm>
            <a:off x="365760" y="2788920"/>
            <a:ext cx="8412480" cy="960120"/>
          </a:xfrm>
          <a:prstGeom prst="rect">
            <a:avLst/>
          </a:prstGeom>
          <a:noFill/>
          <a:ln/>
        </p:spPr>
        <p:txBody>
          <a:bodyPr wrap="square" lIns="0" tIns="0" rIns="0" bIns="0" rtlCol="0" anchor="t"/>
          <a:lstStyle/>
          <a:p>
            <a:pPr marL="0" indent="0" algn="l">
              <a:buNone/>
            </a:pPr>
            <a:r>
              <a:rPr lang="en-US" sz="2000" b="1" dirty="0">
                <a:solidFill>
                  <a:srgbClr val="000000"/>
                </a:solidFill>
                <a:latin typeface="Arial" pitchFamily="34" charset="0"/>
                <a:ea typeface="Arial" pitchFamily="34" charset="-122"/>
                <a:cs typeface="Arial" pitchFamily="34" charset="-120"/>
              </a:rPr>
              <a:t>Next week begins Unit III — Testing: </a:t>
            </a:r>
            <a:r>
              <a:rPr lang="en-US" i="1" dirty="0">
                <a:solidFill>
                  <a:srgbClr val="000000"/>
                </a:solidFill>
                <a:latin typeface="Arial" pitchFamily="34" charset="0"/>
                <a:ea typeface="Arial" pitchFamily="34" charset="-122"/>
                <a:cs typeface="Arial" pitchFamily="34" charset="-120"/>
              </a:rPr>
              <a:t>Faith Tests Across the Covenants. In every era, God tests faith — and the tests always sit on the far side of grace.</a:t>
            </a:r>
            <a:endParaRPr lang="en-US" sz="2000" dirty="0"/>
          </a:p>
        </p:txBody>
      </p:sp>
      <p:sp>
        <p:nvSpPr>
          <p:cNvPr id="6" name="z3"/>
          <p:cNvSpPr txBox="1"/>
          <p:nvPr/>
        </p:nvSpPr>
        <p:spPr>
          <a:xfrm>
            <a:off x="365760" y="3640518"/>
            <a:ext cx="8412480" cy="1051560"/>
          </a:xfrm>
          <a:prstGeom prst="rect">
            <a:avLst/>
          </a:prstGeom>
          <a:noFill/>
          <a:ln/>
        </p:spPr>
        <p:txBody>
          <a:bodyPr wrap="square" lIns="0" tIns="0" rIns="0" bIns="0" rtlCol="0" anchor="t"/>
          <a:lstStyle/>
          <a:p>
            <a:pPr marL="0" indent="0" algn="l">
              <a:buNone/>
            </a:pPr>
            <a:r>
              <a:rPr lang="en-US" b="1" dirty="0">
                <a:solidFill>
                  <a:srgbClr val="000000"/>
                </a:solidFill>
                <a:latin typeface="Arial" pitchFamily="34" charset="0"/>
                <a:ea typeface="Arial" pitchFamily="34" charset="-122"/>
                <a:cs typeface="Arial" pitchFamily="34" charset="-120"/>
              </a:rPr>
              <a:t>This week in one sentence:
</a:t>
            </a:r>
            <a:r>
              <a:rPr lang="en-US" sz="2000" b="1" i="1" dirty="0">
                <a:solidFill>
                  <a:srgbClr val="1F497D"/>
                </a:solidFill>
                <a:latin typeface="Arial" pitchFamily="34" charset="0"/>
                <a:ea typeface="Arial" pitchFamily="34" charset="-122"/>
                <a:cs typeface="Arial" pitchFamily="34" charset="-120"/>
              </a:rPr>
              <a:t>Compassion anchored in truth</a:t>
            </a:r>
            <a:r>
              <a:rPr lang="en-US" sz="2000" b="1" i="1">
                <a:solidFill>
                  <a:srgbClr val="1F497D"/>
                </a:solidFill>
                <a:latin typeface="Arial" pitchFamily="34" charset="0"/>
                <a:ea typeface="Arial" pitchFamily="34" charset="-122"/>
                <a:cs typeface="Arial" pitchFamily="34" charset="-120"/>
              </a:rPr>
              <a:t>. </a:t>
            </a:r>
          </a:p>
          <a:p>
            <a:pPr marL="0" indent="0" algn="l">
              <a:buNone/>
            </a:pPr>
            <a:r>
              <a:rPr lang="en-US" sz="2000" b="1" i="1">
                <a:solidFill>
                  <a:srgbClr val="1F497D"/>
                </a:solidFill>
                <a:latin typeface="Arial" pitchFamily="34" charset="0"/>
                <a:ea typeface="Arial" pitchFamily="34" charset="-122"/>
                <a:cs typeface="Arial" pitchFamily="34" charset="-120"/>
              </a:rPr>
              <a:t>Emotion </a:t>
            </a:r>
            <a:r>
              <a:rPr lang="en-US" sz="2000" b="1" i="1">
                <a:solidFill>
                  <a:srgbClr val="1F497D"/>
                </a:solidFill>
                <a:latin typeface="Arial" pitchFamily="34" charset="0"/>
                <a:ea typeface="Arial" pitchFamily="34" charset="-122"/>
                <a:cs typeface="Arial" pitchFamily="34" charset="-120"/>
                <a:sym typeface="Wingdings" pitchFamily="2" charset="2"/>
              </a:rPr>
              <a:t></a:t>
            </a:r>
            <a:r>
              <a:rPr lang="en-US" sz="2000" b="1" i="1">
                <a:solidFill>
                  <a:srgbClr val="1F497D"/>
                </a:solidFill>
                <a:latin typeface="Arial" pitchFamily="34" charset="0"/>
                <a:ea typeface="Arial" pitchFamily="34" charset="-122"/>
                <a:cs typeface="Arial" pitchFamily="34" charset="-120"/>
              </a:rPr>
              <a:t> </a:t>
            </a:r>
            <a:r>
              <a:rPr lang="en-US" sz="2000" b="1" i="1" dirty="0">
                <a:solidFill>
                  <a:srgbClr val="1F497D"/>
                </a:solidFill>
                <a:latin typeface="Arial" pitchFamily="34" charset="0"/>
                <a:ea typeface="Arial" pitchFamily="34" charset="-122"/>
                <a:cs typeface="Arial" pitchFamily="34" charset="-120"/>
              </a:rPr>
              <a:t>a good servant, a catastrophic master.</a:t>
            </a:r>
            <a:endParaRPr lang="en-US" sz="2000" dirty="0"/>
          </a:p>
        </p:txBody>
      </p:sp>
      <p:sp>
        <p:nvSpPr>
          <p:cNvPr id="7" name="z4"/>
          <p:cNvSpPr txBox="1"/>
          <p:nvPr/>
        </p:nvSpPr>
        <p:spPr>
          <a:xfrm>
            <a:off x="365760" y="5120640"/>
            <a:ext cx="8412480" cy="822960"/>
          </a:xfrm>
          <a:prstGeom prst="rect">
            <a:avLst/>
          </a:prstGeom>
          <a:noFill/>
          <a:ln/>
        </p:spPr>
        <p:txBody>
          <a:bodyPr wrap="square" lIns="0" tIns="0" rIns="0" bIns="0" rtlCol="0" anchor="t"/>
          <a:lstStyle/>
          <a:p>
            <a:pPr marL="0" indent="0" algn="ctr">
              <a:buNone/>
            </a:pPr>
            <a:r>
              <a:rPr lang="en-US" b="1" i="1" dirty="0">
                <a:solidFill>
                  <a:srgbClr val="1F497D"/>
                </a:solidFill>
                <a:latin typeface="Arial" pitchFamily="34" charset="0"/>
                <a:ea typeface="Arial" pitchFamily="34" charset="-122"/>
                <a:cs typeface="Arial" pitchFamily="34" charset="-120"/>
              </a:rPr>
              <a:t>“Speaking the truth in love, we will… grow up into Christ.”  </a:t>
            </a:r>
          </a:p>
          <a:p>
            <a:pPr marL="0" indent="0" algn="ctr">
              <a:buNone/>
            </a:pPr>
            <a:r>
              <a:rPr lang="en-US" b="1" i="1" dirty="0">
                <a:solidFill>
                  <a:srgbClr val="1F497D"/>
                </a:solidFill>
                <a:latin typeface="Arial" pitchFamily="34" charset="0"/>
                <a:ea typeface="Arial" pitchFamily="34" charset="-122"/>
                <a:cs typeface="Arial" pitchFamily="34" charset="-120"/>
              </a:rPr>
              <a:t>(Ephesians 4:15)</a:t>
            </a:r>
            <a:endParaRPr lang="en-US" dirty="0"/>
          </a:p>
        </p:txBody>
      </p:sp>
      <p:sp>
        <p:nvSpPr>
          <p:cNvPr id="8" name="z5"/>
          <p:cNvSpPr txBox="1"/>
          <p:nvPr/>
        </p:nvSpPr>
        <p:spPr>
          <a:xfrm>
            <a:off x="365760" y="5989320"/>
            <a:ext cx="8412480" cy="365760"/>
          </a:xfrm>
          <a:prstGeom prst="rect">
            <a:avLst/>
          </a:prstGeom>
          <a:noFill/>
          <a:ln/>
        </p:spPr>
        <p:txBody>
          <a:bodyPr wrap="square" lIns="0" tIns="0" rIns="0" bIns="0" rtlCol="0" anchor="t"/>
          <a:lstStyle/>
          <a:p>
            <a:pPr marL="0" indent="0" algn="ctr">
              <a:buNone/>
            </a:pPr>
            <a:r>
              <a:rPr lang="en-US" b="1" u="sng" dirty="0">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https://</a:t>
            </a:r>
            <a:r>
              <a:rPr lang="en-US" b="1" u="sng" dirty="0" err="1">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TeachTheWord</a:t>
            </a:r>
            <a:r>
              <a:rPr lang="en-US" b="1" u="sng" dirty="0" err="1">
                <a:solidFill>
                  <a:srgbClr val="4F81BD"/>
                </a:solidFill>
                <a:latin typeface="Arial" pitchFamily="34" charset="0"/>
                <a:ea typeface="Arial" pitchFamily="34" charset="-122"/>
                <a:cs typeface="Arial" pitchFamily="34" charset="-120"/>
              </a:rPr>
              <a:t>.Church</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248</TotalTime>
  <Words>2099</Words>
  <Application>Microsoft Macintosh PowerPoint</Application>
  <PresentationFormat>On-screen Show (4:3)</PresentationFormat>
  <Paragraphs>62</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Phil Pennington</cp:lastModifiedBy>
  <cp:revision>8</cp:revision>
  <dcterms:created xsi:type="dcterms:W3CDTF">2026-09-30T13:48:28Z</dcterms:created>
  <dcterms:modified xsi:type="dcterms:W3CDTF">2026-10-20T17:24:34Z</dcterms:modified>
</cp:coreProperties>
</file>