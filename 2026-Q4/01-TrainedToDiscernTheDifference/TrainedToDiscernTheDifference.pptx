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7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34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title while men settle. Four words, one question, and a training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Heb 5:12 quote. Land “by this time.”
[CLICK] The math paragraph.
[CLICK] vv.10–11 — the interrupted subject: priesthood and sacrifice. That is the meat of this letter.
[CLICK] Our meal today. A gift — for your family if not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stack with fingers, one word per layer.
[CLICK] Layer 1 Religion — the form. [CLICK] Layer 2 Worship — invisible disposition. [CLICK] Layer 3 Sacrifice — worship’s currency; Abraham. You find out what a man worships by what he’ll pay. [CLICK] Layer 4 — obedience of faith; opens and closes Romans.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Religion w/o worship. [CLICK] Worship w/o sacrifice. [CLICK] Sacrifice w/o obedience — Saul. [CLICK] Samuel’s verdict — read the quote. [CLICK] The line: layer three mistaken for layer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Malachi — they answer “How have we offended you?” and MEAN it. Let it hang: they can’t see it.
[CLICK] Saul believes his own report.
[CLICK] Uzzah — correct to “bringing the Ark up to Jerusalem”; nobody in the procession perceived it.
[CLICK] The lesson: perception failures; can’t audit itself. The infant doesn’t know he’s an infant.
[CLICK] Heb 5:14 —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The guard first: atonement finished, once for all. Say it plainly.
[CLICK] Romans 12:1 — read slowly.
[CLICK] Graphic + the hinge line: “Sacrifice didn’t end. It changed material.” Pause both sides of it.
[CLICK] 1 Pet 2:5 + Heb 13 — the New Covenant sacrifices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Priesthood transfer — feel the weight.
[CLICK] Mal 1:8 — deliver as the dry sarcasm it is; don’t raise your voice.
[CLICK] The application question.
[CLICK] David’s line — the cleanest 12 words in the OT 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The question of the night.
[CLICK] The blemished lamb of minutes — quietly, first person: “I’ve brought that lamb.”
[CLICK] Body AND mind — sets up the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Rom 12:2 — invite them to open it and check.
[CLICK] The loop: renewed mind exists to discern the Good.
[CLICK] Acts 17:11 — both halves; noble.
[CLICK] Eager + Examining; the reps list; the tradesman’s eye.
[CLICK] Missing the training data — new carts, wheels never wobble.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Heb 10:5,7 — Psalm 40 in the mouth of Christ.
[CLICK×4] Build the gold stack: form, heart, cost, obedience.
[CLICK] Aligned once, completely, in Him — mercy first, altar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Tomorrow morning — the whole assignment.
[CLICK] Matthew 28 — hit the bolded words: authority, go, disciples, baptizing, teaching, obey.
[CLICK] The callback — you ought to be teachers.
[CLICK] Final line.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to Discern the Difference</a:t>
            </a:r>
            <a:endParaRPr lang="en-US" sz="1600" dirty="0"/>
          </a:p>
        </p:txBody>
      </p:sp>
      <p:sp>
        <p:nvSpPr>
          <p:cNvPr id="3" name="t2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Religion, Worship, Sacrifice, and the Obedience of Faith</a:t>
            </a:r>
            <a:endParaRPr lang="en-US" sz="1600" dirty="0"/>
          </a:p>
        </p:txBody>
      </p:sp>
      <p:sp>
        <p:nvSpPr>
          <p:cNvPr id="4" name="t3"/>
          <p:cNvSpPr txBox="1"/>
          <p:nvPr/>
        </p:nvSpPr>
        <p:spPr>
          <a:xfrm>
            <a:off x="914400" y="2880359"/>
            <a:ext cx="7315200" cy="181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“But solid food is for the mature, whose perceptions are trained by practice to discern both good and evil.”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5:14)</a:t>
            </a:r>
            <a:endParaRPr lang="en-US" sz="2800" dirty="0"/>
          </a:p>
        </p:txBody>
      </p:sp>
      <p:sp>
        <p:nvSpPr>
          <p:cNvPr id="5" name="t4"/>
          <p:cNvSpPr txBox="1"/>
          <p:nvPr/>
        </p:nvSpPr>
        <p:spPr>
          <a:xfrm>
            <a:off x="91440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https://tinyurl.com/TeachTheWord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Interrupted Lesson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Hebrews 5:10–12 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 W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was the writer teaching when he stopped?</a:t>
            </a:r>
            <a:endParaRPr lang="en-US" sz="2400" dirty="0"/>
          </a:p>
        </p:txBody>
      </p:sp>
      <p:sp>
        <p:nvSpPr>
          <p:cNvPr id="4" name="a1"/>
          <p:cNvSpPr txBox="1"/>
          <p:nvPr/>
        </p:nvSpPr>
        <p:spPr>
          <a:xfrm>
            <a:off x="320040" y="1051560"/>
            <a:ext cx="8503920" cy="144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most uncomfortable sentences in the New Testament: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though you should in fact be teachers by this time, you need someone to teach you the beginning elements of God’s utterances.”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5:12)</a:t>
            </a:r>
            <a:endParaRPr lang="en-US" sz="2000" dirty="0"/>
          </a:p>
        </p:txBody>
      </p:sp>
      <p:sp>
        <p:nvSpPr>
          <p:cNvPr id="5" name="a2"/>
          <p:cNvSpPr txBox="1"/>
          <p:nvPr/>
        </p:nvSpPr>
        <p:spPr>
          <a:xfrm>
            <a:off x="320040" y="2695788"/>
            <a:ext cx="850392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this time.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writer is doing math on them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years in the faith against what scriptural concepts they can digest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numbers don’t work.</a:t>
            </a:r>
            <a:endParaRPr lang="en-US" dirty="0"/>
          </a:p>
        </p:txBody>
      </p:sp>
      <p:sp>
        <p:nvSpPr>
          <p:cNvPr id="6" name="a3"/>
          <p:cNvSpPr txBox="1"/>
          <p:nvPr/>
        </p:nvSpPr>
        <p:spPr>
          <a:xfrm>
            <a:off x="320040" y="3593254"/>
            <a:ext cx="8503920" cy="171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look at what he was teaching when he stopped:
  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Christ,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high priest in the order of Melchizedek”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    v.11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 to say, hard to explain…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become sluggish in hearing”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algn="l"/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solid food they couldn’t chew was the meaning of priesthood and sacrifice.</a:t>
            </a:r>
            <a:endParaRPr lang="en-US" dirty="0"/>
          </a:p>
        </p:txBody>
      </p:sp>
      <p:sp>
        <p:nvSpPr>
          <p:cNvPr id="7" name="a4"/>
          <p:cNvSpPr txBox="1"/>
          <p:nvPr/>
        </p:nvSpPr>
        <p:spPr>
          <a:xfrm>
            <a:off x="320040" y="5538893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is our meal today…  Four concepts, one question, and a training plan.
</a:t>
            </a:r>
          </a:p>
          <a:p>
            <a:pPr marL="0" indent="0" algn="l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message is a gift from God’s Word. Use it </a:t>
            </a: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you, your family, your church.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concepts Scripture uses with precision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conceptual stack</a:t>
            </a:r>
            <a:endParaRPr lang="en-US" sz="2400" dirty="0"/>
          </a:p>
        </p:txBody>
      </p:sp>
      <p:sp>
        <p:nvSpPr>
          <p:cNvPr id="4" name="L1box"/>
          <p:cNvSpPr/>
          <p:nvPr/>
        </p:nvSpPr>
        <p:spPr>
          <a:xfrm>
            <a:off x="411480" y="507492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1lbl"/>
          <p:cNvSpPr txBox="1"/>
          <p:nvPr/>
        </p:nvSpPr>
        <p:spPr>
          <a:xfrm>
            <a:off x="411480" y="5193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Religion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observance, attendance, identity</a:t>
            </a:r>
            <a:endParaRPr lang="en-US" dirty="0"/>
          </a:p>
        </p:txBody>
      </p:sp>
      <p:sp>
        <p:nvSpPr>
          <p:cNvPr id="6" name="L1txt"/>
          <p:cNvSpPr txBox="1"/>
          <p:nvPr/>
        </p:nvSpPr>
        <p:spPr>
          <a:xfrm>
            <a:off x="3886200" y="509320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says a man can practice the form; deceive his heart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“futile”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(James 1:26).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Alone, it proves nothing.</a:t>
            </a:r>
            <a:endParaRPr lang="en-US" dirty="0"/>
          </a:p>
        </p:txBody>
      </p:sp>
      <p:sp>
        <p:nvSpPr>
          <p:cNvPr id="7" name="L2box"/>
          <p:cNvSpPr/>
          <p:nvPr/>
        </p:nvSpPr>
        <p:spPr>
          <a:xfrm>
            <a:off x="411480" y="3904488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2lbl"/>
          <p:cNvSpPr txBox="1"/>
          <p:nvPr/>
        </p:nvSpPr>
        <p:spPr>
          <a:xfrm>
            <a:off x="411480" y="4023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Worship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DISPOSITION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heart aimed at God</a:t>
            </a:r>
            <a:endParaRPr lang="en-US" dirty="0"/>
          </a:p>
        </p:txBody>
      </p:sp>
      <p:sp>
        <p:nvSpPr>
          <p:cNvPr id="9" name="L2txt"/>
          <p:cNvSpPr txBox="1"/>
          <p:nvPr/>
        </p:nvSpPr>
        <p:spPr>
          <a:xfrm>
            <a:off x="3886200" y="3922776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spirit and truth”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(John 4:23–24). But a disposition is invisible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to its owner.</a:t>
            </a:r>
            <a:endParaRPr lang="en-US" dirty="0"/>
          </a:p>
        </p:txBody>
      </p:sp>
      <p:sp>
        <p:nvSpPr>
          <p:cNvPr id="10" name="L3box"/>
          <p:cNvSpPr/>
          <p:nvPr/>
        </p:nvSpPr>
        <p:spPr>
          <a:xfrm>
            <a:off x="411480" y="2734056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3lbl"/>
          <p:cNvSpPr txBox="1"/>
          <p:nvPr/>
        </p:nvSpPr>
        <p:spPr>
          <a:xfrm>
            <a:off x="411480" y="28529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Sacrifice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disposition made visible</a:t>
            </a:r>
            <a:endParaRPr lang="en-US" dirty="0"/>
          </a:p>
        </p:txBody>
      </p:sp>
      <p:sp>
        <p:nvSpPr>
          <p:cNvPr id="12" name="L3txt"/>
          <p:cNvSpPr txBox="1"/>
          <p:nvPr/>
        </p:nvSpPr>
        <p:spPr>
          <a:xfrm>
            <a:off x="3886200" y="2752344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“Take your son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only son, whom you love”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 22:2). Faith became visible at the raised knife (Heb 11:17–19).</a:t>
            </a:r>
            <a:endParaRPr lang="en-US" dirty="0"/>
          </a:p>
        </p:txBody>
      </p:sp>
      <p:sp>
        <p:nvSpPr>
          <p:cNvPr id="13" name="L4box"/>
          <p:cNvSpPr/>
          <p:nvPr/>
        </p:nvSpPr>
        <p:spPr>
          <a:xfrm>
            <a:off x="411480" y="1563624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4lbl"/>
          <p:cNvSpPr txBox="1"/>
          <p:nvPr/>
        </p:nvSpPr>
        <p:spPr>
          <a:xfrm>
            <a:off x="411480" y="16824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Obedience of Faith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SETTLED PATTERN (Romans 1:5; 16:26)</a:t>
            </a:r>
            <a:endParaRPr lang="en-US" dirty="0"/>
          </a:p>
        </p:txBody>
      </p:sp>
      <p:sp>
        <p:nvSpPr>
          <p:cNvPr id="15" name="L4txt"/>
          <p:cNvSpPr txBox="1"/>
          <p:nvPr/>
        </p:nvSpPr>
        <p:spPr>
          <a:xfrm>
            <a:off x="3886200" y="158191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gospel stack aligned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life reorganized around what it claims. Not one dramatic act.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Sobering Part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can exist without the ones above it…</a:t>
            </a:r>
            <a:endParaRPr lang="en-US" sz="2400" dirty="0"/>
          </a:p>
        </p:txBody>
      </p:sp>
      <p:sp>
        <p:nvSpPr>
          <p:cNvPr id="4" name="b1"/>
          <p:cNvSpPr txBox="1"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 without worship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Pharisee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honoring with lips, heart far away (Isa 29:13)</a:t>
            </a:r>
            <a:endParaRPr lang="en-US" sz="1600" dirty="0"/>
          </a:p>
        </p:txBody>
      </p:sp>
      <p:sp>
        <p:nvSpPr>
          <p:cNvPr id="5" name="b2"/>
          <p:cNvSpPr txBox="1"/>
          <p:nvPr/>
        </p:nvSpPr>
        <p:spPr>
          <a:xfrm>
            <a:off x="457200" y="222885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 without sacrifice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sincere feeling that never lands (Ezek 33:31–32)</a:t>
            </a:r>
            <a:endParaRPr lang="en-US" sz="1600" dirty="0"/>
          </a:p>
        </p:txBody>
      </p:sp>
      <p:sp>
        <p:nvSpPr>
          <p:cNvPr id="6" name="b3"/>
          <p:cNvSpPr txBox="1"/>
          <p:nvPr/>
        </p:nvSpPr>
        <p:spPr>
          <a:xfrm>
            <a:off x="457200" y="32232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without obedience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animals, real altar, edited command, partial obedience (1 Sam 15)</a:t>
            </a:r>
            <a:endParaRPr lang="en-US" sz="1600" dirty="0"/>
          </a:p>
        </p:txBody>
      </p:sp>
      <p:sp>
        <p:nvSpPr>
          <p:cNvPr id="7" name="b4"/>
          <p:cNvSpPr txBox="1"/>
          <p:nvPr/>
        </p:nvSpPr>
        <p:spPr>
          <a:xfrm>
            <a:off x="457200" y="421767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Samuel’s verdict: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the Lord take pleasure in burnt offerings and sacrifices as much as he does in obedience? Certainly, </a:t>
            </a:r>
            <a:r>
              <a:rPr lang="en-US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is better than sacrifice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 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Samuel 15:22)</a:t>
            </a:r>
            <a:endParaRPr lang="en-US" dirty="0"/>
          </a:p>
        </p:txBody>
      </p:sp>
      <p:sp>
        <p:nvSpPr>
          <p:cNvPr id="8" name="b5"/>
          <p:cNvSpPr txBox="1"/>
          <p:nvPr/>
        </p:nvSpPr>
        <p:spPr>
          <a:xfrm>
            <a:off x="457200" y="5623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had layer three 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thought it was layer four.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of Perception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Malachi’s priests - Saul - Uzzah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could not see it…</a:t>
            </a:r>
            <a:endParaRPr lang="en-US" sz="2400" dirty="0"/>
          </a:p>
        </p:txBody>
      </p:sp>
      <p:pic>
        <p:nvPicPr>
          <p:cNvPr id="4" name="c1i" descr="mala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2743200" cy="1271016"/>
          </a:xfrm>
          <a:prstGeom prst="rect">
            <a:avLst/>
          </a:prstGeom>
        </p:spPr>
      </p:pic>
      <p:sp>
        <p:nvSpPr>
          <p:cNvPr id="5" name="c1t"/>
          <p:cNvSpPr txBox="1"/>
          <p:nvPr/>
        </p:nvSpPr>
        <p:spPr>
          <a:xfrm>
            <a:off x="2286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kept, the blemished offered.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ask, ‘How have we offended you?’” 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 1:7)</a:t>
            </a:r>
            <a:endParaRPr lang="en-US" sz="1200" dirty="0"/>
          </a:p>
        </p:txBody>
      </p:sp>
      <p:pic>
        <p:nvPicPr>
          <p:cNvPr id="6" name="c2i" descr="sa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051560"/>
            <a:ext cx="2743200" cy="1271016"/>
          </a:xfrm>
          <a:prstGeom prst="rect">
            <a:avLst/>
          </a:prstGeom>
        </p:spPr>
      </p:pic>
      <p:sp>
        <p:nvSpPr>
          <p:cNvPr id="7" name="c2t"/>
          <p:cNvSpPr txBox="1"/>
          <p:nvPr/>
        </p:nvSpPr>
        <p:spPr>
          <a:xfrm>
            <a:off x="32004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the best of the flock; burned a sacrifice anyway.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done what the Lord said.”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Sam 15:13)</a:t>
            </a:r>
            <a:endParaRPr lang="en-US" sz="1200" dirty="0"/>
          </a:p>
        </p:txBody>
      </p:sp>
      <p:pic>
        <p:nvPicPr>
          <p:cNvPr id="8" name="c3i" descr="uzz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51560"/>
            <a:ext cx="2743200" cy="1271016"/>
          </a:xfrm>
          <a:prstGeom prst="rect">
            <a:avLst/>
          </a:prstGeom>
        </p:spPr>
      </p:pic>
      <p:sp>
        <p:nvSpPr>
          <p:cNvPr id="9" name="c3t"/>
          <p:cNvSpPr txBox="1"/>
          <p:nvPr/>
        </p:nvSpPr>
        <p:spPr>
          <a:xfrm>
            <a:off x="61722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UZZAH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cart; thirty thousand saw no problem.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did not seek him according to the prescribed ordinance.”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Chr 15:13)</a:t>
            </a:r>
            <a:endParaRPr lang="en-US" sz="1200" dirty="0"/>
          </a:p>
        </p:txBody>
      </p:sp>
      <p:sp>
        <p:nvSpPr>
          <p:cNvPr id="10" name="c4"/>
          <p:cNvSpPr txBox="1"/>
          <p:nvPr/>
        </p:nvSpPr>
        <p:spPr>
          <a:xfrm>
            <a:off x="365760" y="3739896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mainly failures of willpower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failures of perception.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at layer one or three, sincerely certain they stood at layer four. An untrained perception can’t tell the layers apart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can’t audit itself.</a:t>
            </a:r>
            <a:endParaRPr lang="en-US" dirty="0"/>
          </a:p>
        </p:txBody>
      </p:sp>
      <p:sp>
        <p:nvSpPr>
          <p:cNvPr id="11" name="c5"/>
          <p:cNvSpPr txBox="1"/>
          <p:nvPr/>
        </p:nvSpPr>
        <p:spPr>
          <a:xfrm>
            <a:off x="365760" y="4919472"/>
            <a:ext cx="8549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“Solid food is for the mature, whose perceptions are trained by practice to discern both good and evil.”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5:14)</a:t>
            </a:r>
            <a:endParaRPr lang="en-US" dirty="0"/>
          </a:p>
          <a:p>
            <a:pPr marL="0" indent="0" algn="l">
              <a:buNone/>
            </a:pPr>
            <a:endParaRPr lang="en-US" sz="14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Discernment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telling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settled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Altar Today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Christians offer sacrifices?</a:t>
            </a:r>
            <a:endParaRPr lang="en-US" sz="2400" dirty="0"/>
          </a:p>
        </p:txBody>
      </p:sp>
      <p:sp>
        <p:nvSpPr>
          <p:cNvPr id="4" name="d1"/>
          <p:cNvSpPr txBox="1"/>
          <p:nvPr/>
        </p:nvSpPr>
        <p:spPr>
          <a:xfrm>
            <a:off x="228600" y="974175"/>
            <a:ext cx="8503920" cy="680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our instinct is right: the atoning sacrifice is finished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for all (Heb 10:10). 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altar you build adds anything to it. </a:t>
            </a:r>
            <a:endParaRPr lang="en-US" b="1" dirty="0"/>
          </a:p>
        </p:txBody>
      </p:sp>
      <p:sp>
        <p:nvSpPr>
          <p:cNvPr id="5" name="d2"/>
          <p:cNvSpPr txBox="1"/>
          <p:nvPr/>
        </p:nvSpPr>
        <p:spPr>
          <a:xfrm>
            <a:off x="320040" y="1792224"/>
            <a:ext cx="8503920" cy="849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“Therefore, I exhort you, brothers and sisters, by the mercies of God, to present your bodies as a sacrifice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alive, holy, and pleasing to God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is your reasonable service.”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12:1)</a:t>
            </a:r>
            <a:endParaRPr lang="en-US" sz="2000" dirty="0"/>
          </a:p>
        </p:txBody>
      </p:sp>
      <p:pic>
        <p:nvPicPr>
          <p:cNvPr id="6" name="d3i" descr="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641600"/>
            <a:ext cx="5303520" cy="1819656"/>
          </a:xfrm>
          <a:prstGeom prst="rect">
            <a:avLst/>
          </a:prstGeom>
        </p:spPr>
      </p:pic>
      <p:sp>
        <p:nvSpPr>
          <p:cNvPr id="7" name="d3"/>
          <p:cNvSpPr txBox="1"/>
          <p:nvPr/>
        </p:nvSpPr>
        <p:spPr>
          <a:xfrm>
            <a:off x="320040" y="4682067"/>
            <a:ext cx="8503920" cy="56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didn’t end.  It changed material.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Substitute has died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what goes on the altar? 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Alive.</a:t>
            </a:r>
            <a:endParaRPr lang="en-US" b="1" dirty="0"/>
          </a:p>
        </p:txBody>
      </p:sp>
      <p:sp>
        <p:nvSpPr>
          <p:cNvPr id="8" name="d4"/>
          <p:cNvSpPr txBox="1"/>
          <p:nvPr/>
        </p:nvSpPr>
        <p:spPr>
          <a:xfrm>
            <a:off x="320040" y="5541264"/>
            <a:ext cx="8503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holy priesthood, offering spiritual sacrifices acceptable to God through Jesus Christ”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Peter 2:5)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285750" indent="-285750" algn="l">
              <a:buFont typeface="Wingdings" pitchFamily="2" charset="2"/>
              <a:buChar char="à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praise, good done, possessions shared 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“God is pleased with such sacrifices” (Heb 13:15–16).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Priest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Malachi’s question arrives with no middleman…</a:t>
            </a:r>
            <a:endParaRPr lang="en-US" sz="2400" dirty="0"/>
          </a:p>
        </p:txBody>
      </p:sp>
      <p:sp>
        <p:nvSpPr>
          <p:cNvPr id="4" name="e1"/>
          <p:cNvSpPr txBox="1"/>
          <p:nvPr/>
        </p:nvSpPr>
        <p:spPr>
          <a:xfrm>
            <a:off x="457200" y="1188720"/>
            <a:ext cx="8229600" cy="707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 was written to priests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quality of their offerings.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Apostle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just made you the priest (1 Peter 2:5).</a:t>
            </a:r>
            <a:endParaRPr lang="en-US" sz="2000" dirty="0"/>
          </a:p>
        </p:txBody>
      </p:sp>
      <p:sp>
        <p:nvSpPr>
          <p:cNvPr id="5" name="e2"/>
          <p:cNvSpPr txBox="1"/>
          <p:nvPr/>
        </p:nvSpPr>
        <p:spPr>
          <a:xfrm>
            <a:off x="457200" y="2216573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bring the blind and lame… offer it to your governor! Will he be pleased with you?”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(Malachi 1:8)</a:t>
            </a:r>
            <a:endParaRPr lang="en-US" sz="2000" dirty="0"/>
          </a:p>
        </p:txBody>
      </p:sp>
      <p:sp>
        <p:nvSpPr>
          <p:cNvPr id="6" name="e3"/>
          <p:cNvSpPr txBox="1"/>
          <p:nvPr/>
        </p:nvSpPr>
        <p:spPr>
          <a:xfrm>
            <a:off x="457200" y="3312160"/>
            <a:ext cx="822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hand your employer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commanding officer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quality of attention you hand your King?</a:t>
            </a:r>
            <a:endParaRPr lang="en-US" dirty="0"/>
          </a:p>
        </p:txBody>
      </p:sp>
      <p:sp>
        <p:nvSpPr>
          <p:cNvPr id="7" name="e4"/>
          <p:cNvSpPr txBox="1"/>
          <p:nvPr/>
        </p:nvSpPr>
        <p:spPr>
          <a:xfrm>
            <a:off x="457200" y="4297680"/>
            <a:ext cx="8229600" cy="169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standard crossed the covenants untouched:  The best. The whole. The unblemished.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l">
              <a:buNone/>
            </a:pP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will not offer to the LORD my God burnt sacrifices that cost me nothing.”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Samuel 24:24)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of This Day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and Mind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best, or the leftovers?</a:t>
            </a:r>
            <a:endParaRPr lang="en-US" sz="2400" dirty="0"/>
          </a:p>
        </p:txBody>
      </p:sp>
      <p:sp>
        <p:nvSpPr>
          <p:cNvPr id="4" name="f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 is now yourself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body and mind.
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offering your best and most costly possession 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the leftovers?</a:t>
            </a:r>
            <a:endParaRPr lang="en-US" sz="1600" dirty="0"/>
          </a:p>
        </p:txBody>
      </p:sp>
      <p:sp>
        <p:nvSpPr>
          <p:cNvPr id="5" name="f2"/>
          <p:cNvSpPr txBox="1"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eight minutes of the day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half-asleep, phone drained, no thirst for the Word…
</a:t>
            </a:r>
            <a:r>
              <a:rPr lang="en-US" sz="1900" b="1" i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Brothers, that’s the blemished lamb.  Just made of minutes instead of wool.</a:t>
            </a:r>
            <a:endParaRPr lang="en-US" sz="1600" dirty="0"/>
          </a:p>
        </p:txBody>
      </p:sp>
      <p:sp>
        <p:nvSpPr>
          <p:cNvPr id="6" name="f3"/>
          <p:cNvSpPr txBox="1"/>
          <p:nvPr/>
        </p:nvSpPr>
        <p:spPr>
          <a:xfrm>
            <a:off x="457200" y="4297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notice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Paul said bodies, then: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 transformed by the renewing of your mind”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12:2)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and Mind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living sacrifice has two parts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second is where this lands.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12:2 is Hebrews 5:14 in Paul’s handwriting</a:t>
            </a:r>
            <a:endParaRPr lang="en-US" sz="2400" dirty="0"/>
          </a:p>
        </p:txBody>
      </p:sp>
      <p:sp>
        <p:nvSpPr>
          <p:cNvPr id="4" name="g1"/>
          <p:cNvSpPr txBox="1"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mind get renewed?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“…so that you may test and approve what is the will of God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good and well-pleasing and perfect.”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12:2)</a:t>
            </a:r>
            <a:endParaRPr lang="en-US" dirty="0"/>
          </a:p>
        </p:txBody>
      </p:sp>
      <p:sp>
        <p:nvSpPr>
          <p:cNvPr id="5" name="g2"/>
          <p:cNvSpPr txBox="1"/>
          <p:nvPr/>
        </p:nvSpPr>
        <p:spPr>
          <a:xfrm>
            <a:off x="320040" y="2108115"/>
            <a:ext cx="8503920" cy="84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renewed mind exists to discern the Good.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sacrifice and trained perception are verses one and two of the same paragraph. Renewing your mind in the Word is your sacrifice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daily portion of it.</a:t>
            </a:r>
            <a:endParaRPr lang="en-US" dirty="0"/>
          </a:p>
        </p:txBody>
      </p:sp>
      <p:sp>
        <p:nvSpPr>
          <p:cNvPr id="6" name="g3"/>
          <p:cNvSpPr txBox="1"/>
          <p:nvPr/>
        </p:nvSpPr>
        <p:spPr>
          <a:xfrm>
            <a:off x="320040" y="3098969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is the Berean one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eagerly received the message, examining the scriptures carefully every day to see if these things were so.”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17:11)  They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apostle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Luke calls them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noble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7" name="g4"/>
          <p:cNvSpPr txBox="1"/>
          <p:nvPr/>
        </p:nvSpPr>
        <p:spPr>
          <a:xfrm>
            <a:off x="320040" y="4155524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Eager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wanted it true.  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Examining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 reps, watching God draw the line:  Cain and Abel · Nadab · Saul · Uzzah · Malachi · Ananias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repetitions until perception is calibrated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Like any trade: the tradesman’s eye spots the crooked joint without a tape measure.</a:t>
            </a:r>
            <a:endParaRPr lang="en-US" dirty="0"/>
          </a:p>
        </p:txBody>
      </p:sp>
      <p:sp>
        <p:nvSpPr>
          <p:cNvPr id="8" name="g5"/>
          <p:cNvSpPr txBox="1"/>
          <p:nvPr/>
        </p:nvSpPr>
        <p:spPr>
          <a:xfrm>
            <a:off x="320040" y="5532119"/>
            <a:ext cx="8503920" cy="115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not in the Book isn’t missing information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he’s missing the training data.
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Sincere…, but uncalibrated: Like Uzzah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building new carts his whole life, never feeling the wheels wobble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unaware of the original instructions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Completed </a:t>
            </a: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First by our King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letter finishes the lesson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Hebrews 10</a:t>
            </a:r>
            <a:endParaRPr lang="en-US" dirty="0"/>
          </a:p>
        </p:txBody>
      </p:sp>
      <p:sp>
        <p:nvSpPr>
          <p:cNvPr id="4" name="h1"/>
          <p:cNvSpPr txBox="1"/>
          <p:nvPr/>
        </p:nvSpPr>
        <p:spPr>
          <a:xfrm>
            <a:off x="320040" y="105156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“Sacrifice and offering you did not desire, but a body you prepared for me… Then I said, ‘Here I am: I have come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written of me in the scroll of the book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your will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God.’”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10:5, 7)</a:t>
            </a:r>
            <a:endParaRPr lang="en-US" sz="2000" dirty="0"/>
          </a:p>
        </p:txBody>
      </p:sp>
      <p:sp>
        <p:nvSpPr>
          <p:cNvPr id="5" name="h2r0"/>
          <p:cNvSpPr/>
          <p:nvPr/>
        </p:nvSpPr>
        <p:spPr>
          <a:xfrm>
            <a:off x="640080" y="5029200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h2t0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form</a:t>
            </a:r>
            <a:endParaRPr lang="en-US" sz="1600" dirty="0"/>
          </a:p>
        </p:txBody>
      </p:sp>
      <p:sp>
        <p:nvSpPr>
          <p:cNvPr id="7" name="h2r1"/>
          <p:cNvSpPr/>
          <p:nvPr/>
        </p:nvSpPr>
        <p:spPr>
          <a:xfrm>
            <a:off x="640080" y="4315968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6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2t1"/>
          <p:cNvSpPr txBox="1"/>
          <p:nvPr/>
        </p:nvSpPr>
        <p:spPr>
          <a:xfrm>
            <a:off x="82296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heart</a:t>
            </a:r>
            <a:endParaRPr lang="en-US" sz="1600" dirty="0"/>
          </a:p>
        </p:txBody>
      </p:sp>
      <p:sp>
        <p:nvSpPr>
          <p:cNvPr id="9" name="h2r2"/>
          <p:cNvSpPr/>
          <p:nvPr/>
        </p:nvSpPr>
        <p:spPr>
          <a:xfrm>
            <a:off x="640080" y="3602736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2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2t2"/>
          <p:cNvSpPr txBox="1"/>
          <p:nvPr/>
        </p:nvSpPr>
        <p:spPr>
          <a:xfrm>
            <a:off x="822960" y="36941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the full cost, a body, nothing kept back</a:t>
            </a:r>
            <a:endParaRPr lang="en-US" sz="1600" dirty="0"/>
          </a:p>
        </p:txBody>
      </p:sp>
      <p:sp>
        <p:nvSpPr>
          <p:cNvPr id="11" name="h2r3"/>
          <p:cNvSpPr/>
          <p:nvPr/>
        </p:nvSpPr>
        <p:spPr>
          <a:xfrm>
            <a:off x="640080" y="2889504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88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2t3"/>
          <p:cNvSpPr txBox="1"/>
          <p:nvPr/>
        </p:nvSpPr>
        <p:spPr>
          <a:xfrm>
            <a:off x="822960" y="2980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</a:t>
            </a: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“I have come to do your will”</a:t>
            </a:r>
            <a:endParaRPr lang="en-US" sz="1600" dirty="0"/>
          </a:p>
        </p:txBody>
      </p:sp>
      <p:sp>
        <p:nvSpPr>
          <p:cNvPr id="13" name="h3"/>
          <p:cNvSpPr txBox="1"/>
          <p:nvPr/>
        </p:nvSpPr>
        <p:spPr>
          <a:xfrm>
            <a:off x="5806440" y="2855467"/>
            <a:ext cx="3017520" cy="292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once, completely, in Him.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that </a:t>
            </a:r>
            <a:r>
              <a:rPr lang="en-US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have been made holy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for all.” (Heb 10:10)</a:t>
            </a:r>
            <a:r>
              <a:rPr lang="en-US" sz="1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completed the stack before He asked you to climb it.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is a thank offering, not a payment.</a:t>
            </a:r>
          </a:p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Your Sacrifices with the Obedience of Faith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Priests of the Most High God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training plan…</a:t>
            </a:r>
            <a:endParaRPr lang="en-US" dirty="0"/>
          </a:p>
        </p:txBody>
      </p:sp>
      <p:sp>
        <p:nvSpPr>
          <p:cNvPr id="4" name="i1"/>
          <p:cNvSpPr txBox="1"/>
          <p:nvPr/>
        </p:nvSpPr>
        <p:spPr>
          <a:xfrm>
            <a:off x="365760" y="1143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Morning: One chapter. Before the phone. Your first minutes, not your last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unblemished ones.</a:t>
            </a:r>
          </a:p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Eager, and examining. Lay your mind on the altar and let God train your eyes.</a:t>
            </a:r>
            <a:endParaRPr lang="en-US" dirty="0"/>
          </a:p>
        </p:txBody>
      </p:sp>
      <p:sp>
        <p:nvSpPr>
          <p:cNvPr id="5" name="i2"/>
          <p:cNvSpPr txBox="1"/>
          <p:nvPr/>
        </p:nvSpPr>
        <p:spPr>
          <a:xfrm>
            <a:off x="365760" y="2286000"/>
            <a:ext cx="8412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heaven and on earth has been given to me. Therefore,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make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disciples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all nations,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baptizing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 in the name of the Father and the Son and the Holy Spirit,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 to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I have commanded you. And remember, I am with you always, to the end of the age.”  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(Matthew 28:18–20)</a:t>
            </a:r>
            <a:endParaRPr lang="en-US" sz="2000" dirty="0"/>
          </a:p>
        </p:txBody>
      </p:sp>
      <p:sp>
        <p:nvSpPr>
          <p:cNvPr id="6" name="i3"/>
          <p:cNvSpPr txBox="1"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Apostle instructs…  </a:t>
            </a:r>
            <a:r>
              <a:rPr lang="en-US" sz="18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this time, you ought to be teachers.”</a:t>
            </a:r>
            <a:endParaRPr lang="en-US" sz="1600" dirty="0"/>
          </a:p>
        </p:txBody>
      </p:sp>
      <p:sp>
        <p:nvSpPr>
          <p:cNvPr id="7" name="i4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your sacrifices with the Obedience of Faith.</a:t>
            </a:r>
            <a:endParaRPr lang="en-US" sz="1600" dirty="0"/>
          </a:p>
        </p:txBody>
      </p:sp>
      <p:sp>
        <p:nvSpPr>
          <p:cNvPr id="8" name="i5"/>
          <p:cNvSpPr txBox="1"/>
          <p:nvPr/>
        </p:nvSpPr>
        <p:spPr>
          <a:xfrm>
            <a:off x="365760" y="6172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https://tinyurl.com/TeachTheWord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2291</Words>
  <Application>Microsoft Macintosh PowerPoint</Application>
  <PresentationFormat>On-screen Show (4:3)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32</cp:revision>
  <cp:lastPrinted>2026-09-11T13:42:59Z</cp:lastPrinted>
  <dcterms:created xsi:type="dcterms:W3CDTF">2026-09-09T09:18:59Z</dcterms:created>
  <dcterms:modified xsi:type="dcterms:W3CDTF">2026-09-11T13:43:06Z</dcterms:modified>
</cp:coreProperties>
</file>