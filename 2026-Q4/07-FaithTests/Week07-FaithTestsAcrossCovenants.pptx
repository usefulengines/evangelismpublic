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27" d="100"/>
          <a:sy n="127" d="100"/>
        </p:scale>
        <p:origin x="1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1331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Unit III opens. Reassure immediately, because “testing” can sound like earning after four weeks of grace: “We are not undoing Week 4. Every test we look at today comes AFTER the rescue, never before it. Grace saves; testing proves.” Point at Deut 8:2 </a:t>
            </a:r>
            <a:r>
              <a:rPr lang="en-US"/>
              <a:t>→</a:t>
            </a:r>
            <a:r>
              <a:rPr lang="en-US" dirty="0"/>
              <a:t> that is the thesis verse of the whole unit.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[0:00–8:00]
[CLICK] GOD TESTS </a:t>
            </a:r>
            <a:r>
              <a:rPr lang="en-US"/>
              <a:t>→ </a:t>
            </a:r>
            <a:r>
              <a:rPr lang="en-US" dirty="0"/>
              <a:t>the vocabulary. nasah = prove (Gen 22:1); bachan = assay metal (Prov 17:3). dokimazo = test to APPROVE (the goldsmith wants the gold to pass). God’s testing is FOR you.
[CLICK] SATAN TEMPTS </a:t>
            </a:r>
            <a:r>
              <a:rPr lang="en-US"/>
              <a:t>→ </a:t>
            </a:r>
            <a:r>
              <a:rPr lang="en-US" dirty="0"/>
              <a:t>same Greek word peirazo, opposite aim. He wants the failure. The word is neutral; the intent is not.
[CLICK] Same event, two sides </a:t>
            </a:r>
            <a:r>
              <a:rPr lang="en-US"/>
              <a:t>→ </a:t>
            </a:r>
            <a:r>
              <a:rPr lang="en-US" dirty="0"/>
              <a:t>Job and Peter are the proof texts. God permits what Satan intends for ruin, and turns it to proving. Luke 22: “I have prayed for you that your faith may not fail.”
[CLICK] James 1:13 </a:t>
            </a:r>
            <a:r>
              <a:rPr lang="en-US"/>
              <a:t>→ </a:t>
            </a:r>
            <a:r>
              <a:rPr lang="en-US" dirty="0"/>
              <a:t>the guardrail. God never solicits evil. Then land the unit’s thesis: a test is the scheduled occasion of sacrifice (ties Unit III back to Unit I). Transition: “With that, walk the whole Bible </a:t>
            </a:r>
            <a:r>
              <a:rPr lang="en-US"/>
              <a:t>→</a:t>
            </a:r>
            <a:r>
              <a:rPr lang="en-US" dirty="0"/>
              <a:t> every covenant has its tests.”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[8:00–30:00 </a:t>
            </a:r>
            <a:r>
              <a:rPr lang="en-US"/>
              <a:t>→ </a:t>
            </a:r>
            <a:r>
              <a:rPr lang="en-US" dirty="0"/>
              <a:t>~4 min per era; table visible whole so the PATTERN is seen at a glance]
Walk row by row:
• EDEN </a:t>
            </a:r>
            <a:r>
              <a:rPr lang="en-US"/>
              <a:t>→ </a:t>
            </a:r>
            <a:r>
              <a:rPr lang="en-US" dirty="0"/>
              <a:t>the genius of it: the command cost almost nothing to keep (one tree among many). That is what makes it PURE </a:t>
            </a:r>
            <a:r>
              <a:rPr lang="en-US"/>
              <a:t>→ </a:t>
            </a:r>
            <a:r>
              <a:rPr lang="en-US" dirty="0"/>
              <a:t>the only reason to obey was that God said so. Trust, naked.
• NOAH </a:t>
            </a:r>
            <a:r>
              <a:rPr lang="en-US"/>
              <a:t>→ </a:t>
            </a:r>
            <a:r>
              <a:rPr lang="en-US" dirty="0"/>
              <a:t>Heb 11:7 “things not yet seen.” Decades of labor, ridicule, no rain. Faith across a 120-year gap.
• ABRAHAM </a:t>
            </a:r>
            <a:r>
              <a:rPr lang="en-US"/>
              <a:t>→ </a:t>
            </a:r>
            <a:r>
              <a:rPr lang="en-US" dirty="0"/>
              <a:t>first time Scripture says “tested” (Gen 22:1). We studied Moriah in Week 2; now see it as the paradigm TEST. Surrender the promise itself.
• MOSES </a:t>
            </a:r>
            <a:r>
              <a:rPr lang="en-US"/>
              <a:t>→ </a:t>
            </a:r>
            <a:r>
              <a:rPr lang="en-US" dirty="0"/>
              <a:t>the shift: testing becomes stated POLICY. Manna was a daily test (gather right, rest on Sabbath). Deut 8:2 is our thesis verse. Deut 13:3 </a:t>
            </a:r>
            <a:r>
              <a:rPr lang="en-US"/>
              <a:t>→ </a:t>
            </a:r>
            <a:r>
              <a:rPr lang="en-US" dirty="0"/>
              <a:t>even false prophets are a test of love for God.
• HEZEKIAH </a:t>
            </a:r>
            <a:r>
              <a:rPr lang="en-US"/>
              <a:t>→ </a:t>
            </a:r>
            <a:r>
              <a:rPr lang="en-US" dirty="0"/>
              <a:t>the sobering one, saved for the discussion. God “left him alone to know his true motives.” 39 faithful years, then withdrawal reveals pride. Set up Q2 here but don’t exhaust it.
[note] The takeaway </a:t>
            </a:r>
            <a:r>
              <a:rPr lang="en-US"/>
              <a:t>→</a:t>
            </a:r>
            <a:r>
              <a:rPr lang="en-US" dirty="0"/>
              <a:t> read last. Transition: “Every one of these humans was tested. Only One passed perfectly.”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[30:00–40:00]
[CLICK] Matt 4:1–2 </a:t>
            </a:r>
            <a:r>
              <a:rPr lang="en-US"/>
              <a:t>→ </a:t>
            </a:r>
            <a:r>
              <a:rPr lang="en-US" dirty="0"/>
              <a:t>note who leads him IN: the Spirit. This test is God-ordained, Satan-administered. Forty days is not random </a:t>
            </a:r>
            <a:r>
              <a:rPr lang="en-US"/>
              <a:t>→ </a:t>
            </a:r>
            <a:r>
              <a:rPr lang="en-US" dirty="0"/>
              <a:t>it echoes forty years.
[CLICK] The parallel box </a:t>
            </a:r>
            <a:r>
              <a:rPr lang="en-US"/>
              <a:t>→ </a:t>
            </a:r>
            <a:r>
              <a:rPr lang="en-US" dirty="0"/>
              <a:t>this is the payoff. Israel: 40 years, failed. Jesus: 40 days, passed. And every reply is from Deut 6–8, the wilderness-testing passages. He is re-taking the exam Israel flunked, on our behalf, as the true Son. Walk the three quotes.
[CLICK] The true-Israel point </a:t>
            </a:r>
            <a:r>
              <a:rPr lang="en-US"/>
              <a:t>→ </a:t>
            </a:r>
            <a:r>
              <a:rPr lang="en-US" dirty="0"/>
              <a:t>Heb 4:15 seals it: fully tested, never failed.
[CLICK] Heb 5:8–9 </a:t>
            </a:r>
            <a:r>
              <a:rPr lang="en-US"/>
              <a:t>→ </a:t>
            </a:r>
            <a:r>
              <a:rPr lang="en-US" dirty="0"/>
              <a:t>the hinge of the whole unit. He LEARNED obedience through suffering (not learned-to-obey from disobedience </a:t>
            </a:r>
            <a:r>
              <a:rPr lang="en-US"/>
              <a:t>→</a:t>
            </a:r>
            <a:r>
              <a:rPr lang="en-US" dirty="0"/>
              <a:t> he learned experientially what obedience costs), was perfected (completed, matured as our pioneer), and became salvation’s source for all who OBEY him. That last phrase bridges into the church’s tests next week. Transition: “So where does that leave OUR tests?”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[40:00–45:00]
[CLICK] The hinge stated plainly </a:t>
            </a:r>
            <a:r>
              <a:rPr lang="en-US"/>
              <a:t>→ </a:t>
            </a:r>
            <a:r>
              <a:rPr lang="en-US" dirty="0"/>
              <a:t>proving, not probation. A student who has already passed still does the exercises; they build strength, they don’t determine enrollment.
[CLICK] Exodus order </a:t>
            </a:r>
            <a:r>
              <a:rPr lang="en-US"/>
              <a:t>→ </a:t>
            </a:r>
            <a:r>
              <a:rPr lang="en-US" dirty="0"/>
              <a:t>the Week 4 keystone, now doing its Unit-III job. Redeemed FIRST, tested SECOND. This is what keeps the whole testing unit from becoming a ladder.
[CLICK] James 1 / 1 Pet 1 </a:t>
            </a:r>
            <a:r>
              <a:rPr lang="en-US"/>
              <a:t>→ </a:t>
            </a:r>
            <a:r>
              <a:rPr lang="en-US" dirty="0"/>
              <a:t>you can only call a test “joy” if it isn’t deciding your salvation. Refining fire assumes the gold is already yours.
[CLICK] The banner </a:t>
            </a:r>
            <a:r>
              <a:rPr lang="en-US"/>
              <a:t>→</a:t>
            </a:r>
            <a:r>
              <a:rPr lang="en-US" dirty="0"/>
              <a:t> the unit’s motto. Grace saves, testing proves. Say it, then to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[45:00–55:00]
Q1: The classic answer </a:t>
            </a:r>
            <a:r>
              <a:rPr lang="en-US"/>
              <a:t>→ </a:t>
            </a:r>
            <a:r>
              <a:rPr lang="en-US" dirty="0"/>
              <a:t>the test is not for God’s information (Ps 139) but to make faith REAL and VISIBLE: to the person (self-knowledge </a:t>
            </a:r>
            <a:r>
              <a:rPr lang="en-US"/>
              <a:t>→ </a:t>
            </a:r>
            <a:r>
              <a:rPr lang="en-US" dirty="0"/>
              <a:t>Deut 8:2 “to know what was in your heart”), to a watching world, and as an actual event on the record. God knows the gold is gold; the fire still turns latent into manifest. Tie to Week 1: devotion is invisible until tested.
Q2: The tender, personal one. Hezekiah’s 39 years didn’t surface the pride; ONE withdrawal did (the Babylonian envoys, showing off his treasure). Felt divine absence can BE the test </a:t>
            </a:r>
            <a:r>
              <a:rPr lang="en-US"/>
              <a:t>→ </a:t>
            </a:r>
            <a:r>
              <a:rPr lang="en-US" dirty="0"/>
              <a:t>what leaks out when God seems quiet? Seasons of silence are not always discipline or abandonment; sometimes they are the exam. Handle gently </a:t>
            </a:r>
            <a:r>
              <a:rPr lang="en-US"/>
              <a:t>→</a:t>
            </a:r>
            <a:r>
              <a:rPr lang="en-US" dirty="0"/>
              <a:t> some are IN such a season now.
[CLICK] Ground rule.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 close, ~2 min]
[CLICK] Next week’s reading </a:t>
            </a:r>
            <a:r>
              <a:rPr lang="en-US"/>
              <a:t>→ </a:t>
            </a:r>
            <a:r>
              <a:rPr lang="en-US" dirty="0"/>
              <a:t>the pivot from covenant tests in general to the CHURCH’s specific tests. Both flags (“what shall we do” / “examine”) preview entry-test and recurring-test.
[CLICK] Preview Week 8.
[CLICK] Carry sentence </a:t>
            </a:r>
            <a:r>
              <a:rPr lang="en-US"/>
              <a:t>→</a:t>
            </a:r>
            <a:r>
              <a:rPr lang="en-US" dirty="0"/>
              <a:t> say it together.
[CLICK] Close on Heb 5:9, which sets up next week’s “all who obey him.” Dismiss on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TeachTheWor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tinyurl.com/TeachTheWord"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0"/>
          <p:cNvSpPr txBox="1"/>
          <p:nvPr/>
        </p:nvSpPr>
        <p:spPr>
          <a:xfrm>
            <a:off x="548640" y="640080"/>
            <a:ext cx="8046720" cy="457200"/>
          </a:xfrm>
          <a:prstGeom prst="rect">
            <a:avLst/>
          </a:prstGeom>
          <a:noFill/>
          <a:ln/>
        </p:spPr>
        <p:txBody>
          <a:bodyPr wrap="square" lIns="0" tIns="0" rIns="0" bIns="0" rtlCol="0" anchor="t"/>
          <a:lstStyle/>
          <a:p>
            <a:pPr marL="0" indent="0" algn="ctr">
              <a:buNone/>
            </a:pPr>
            <a:r>
              <a:rPr lang="en-US" sz="1700" b="1" i="1" dirty="0">
                <a:solidFill>
                  <a:srgbClr val="4F81BD"/>
                </a:solidFill>
                <a:latin typeface="Arial" pitchFamily="34" charset="0"/>
                <a:ea typeface="Arial" pitchFamily="34" charset="-122"/>
                <a:cs typeface="Arial" pitchFamily="34" charset="-120"/>
              </a:rPr>
              <a:t>The Obedience of Faith - Week 7  ·  Unit III: Testing</a:t>
            </a:r>
            <a:endParaRPr lang="en-US" sz="1600" dirty="0"/>
          </a:p>
        </p:txBody>
      </p:sp>
      <p:sp>
        <p:nvSpPr>
          <p:cNvPr id="3" name="t1"/>
          <p:cNvSpPr txBox="1"/>
          <p:nvPr/>
        </p:nvSpPr>
        <p:spPr>
          <a:xfrm>
            <a:off x="548640" y="1188720"/>
            <a:ext cx="8046720" cy="822960"/>
          </a:xfrm>
          <a:prstGeom prst="rect">
            <a:avLst/>
          </a:prstGeom>
          <a:noFill/>
          <a:ln/>
        </p:spPr>
        <p:txBody>
          <a:bodyPr wrap="square" lIns="0" tIns="0" rIns="0" bIns="0" rtlCol="0" anchor="t"/>
          <a:lstStyle/>
          <a:p>
            <a:pPr marL="0" indent="0" algn="ctr">
              <a:buNone/>
            </a:pPr>
            <a:r>
              <a:rPr lang="en-US" sz="3600" b="1" dirty="0">
                <a:solidFill>
                  <a:srgbClr val="1F497D"/>
                </a:solidFill>
                <a:latin typeface="Arial" pitchFamily="34" charset="0"/>
                <a:ea typeface="Arial" pitchFamily="34" charset="-122"/>
                <a:cs typeface="Arial" pitchFamily="34" charset="-120"/>
              </a:rPr>
              <a:t>Faith Tests Across the Covenants</a:t>
            </a:r>
            <a:endParaRPr lang="en-US" sz="1600" dirty="0"/>
          </a:p>
        </p:txBody>
      </p:sp>
      <p:sp>
        <p:nvSpPr>
          <p:cNvPr id="4" name="t2"/>
          <p:cNvSpPr txBox="1"/>
          <p:nvPr/>
        </p:nvSpPr>
        <p:spPr>
          <a:xfrm>
            <a:off x="548640" y="2148840"/>
            <a:ext cx="8046720" cy="548640"/>
          </a:xfrm>
          <a:prstGeom prst="rect">
            <a:avLst/>
          </a:prstGeom>
          <a:noFill/>
          <a:ln/>
        </p:spPr>
        <p:txBody>
          <a:bodyPr wrap="square" lIns="0" tIns="0" rIns="0" bIns="0" rtlCol="0" anchor="t"/>
          <a:lstStyle/>
          <a:p>
            <a:pPr marL="0" indent="0" algn="ctr">
              <a:buNone/>
            </a:pPr>
            <a:r>
              <a:rPr lang="en-US" sz="1900" b="1" i="1" dirty="0">
                <a:solidFill>
                  <a:srgbClr val="1F497D"/>
                </a:solidFill>
                <a:latin typeface="Arial" pitchFamily="34" charset="0"/>
                <a:ea typeface="Arial" pitchFamily="34" charset="-122"/>
                <a:cs typeface="Arial" pitchFamily="34" charset="-120"/>
              </a:rPr>
              <a:t>In every era, God tests faith </a:t>
            </a:r>
            <a:r>
              <a:rPr lang="en-US" sz="1900" b="1" i="1" dirty="0">
                <a:solidFill>
                  <a:srgbClr val="1F497D"/>
                </a:solidFill>
                <a:latin typeface="Arial" pitchFamily="34" charset="0"/>
                <a:ea typeface="Arial" pitchFamily="34" charset="-122"/>
                <a:cs typeface="Arial" pitchFamily="34" charset="-120"/>
                <a:sym typeface="Wingdings" pitchFamily="2" charset="2"/>
              </a:rPr>
              <a:t></a:t>
            </a:r>
            <a:r>
              <a:rPr lang="en-US" sz="1900" b="1" i="1" dirty="0">
                <a:solidFill>
                  <a:srgbClr val="1F497D"/>
                </a:solidFill>
                <a:latin typeface="Arial" pitchFamily="34" charset="0"/>
                <a:ea typeface="Arial" pitchFamily="34" charset="-122"/>
                <a:cs typeface="Arial" pitchFamily="34" charset="-120"/>
              </a:rPr>
              <a:t> and always on the far side of grace</a:t>
            </a:r>
            <a:endParaRPr lang="en-US" sz="1600" dirty="0"/>
          </a:p>
        </p:txBody>
      </p:sp>
      <p:sp>
        <p:nvSpPr>
          <p:cNvPr id="5" name="t3"/>
          <p:cNvSpPr txBox="1"/>
          <p:nvPr/>
        </p:nvSpPr>
        <p:spPr>
          <a:xfrm>
            <a:off x="914400" y="3063240"/>
            <a:ext cx="7315200" cy="1371600"/>
          </a:xfrm>
          <a:prstGeom prst="rect">
            <a:avLst/>
          </a:prstGeom>
          <a:noFill/>
          <a:ln/>
        </p:spPr>
        <p:txBody>
          <a:bodyPr wrap="square" lIns="0" tIns="0" rIns="0" bIns="0" rtlCol="0" anchor="t"/>
          <a:lstStyle/>
          <a:p>
            <a:pPr marL="0" indent="0" algn="ctr">
              <a:buNone/>
            </a:pPr>
            <a:r>
              <a:rPr lang="en-US" sz="2000" i="1" dirty="0">
                <a:solidFill>
                  <a:srgbClr val="000000"/>
                </a:solidFill>
                <a:latin typeface="Arial" pitchFamily="34" charset="0"/>
                <a:ea typeface="Arial" pitchFamily="34" charset="-122"/>
                <a:cs typeface="Arial" pitchFamily="34" charset="-120"/>
              </a:rPr>
              <a:t>“Remember… how he brought you these forty years through the desert so that he might, by humbling you, test you to see if you have it within you to keep his commandments.”</a:t>
            </a:r>
            <a:endParaRPr lang="en-US" dirty="0"/>
          </a:p>
          <a:p>
            <a:pPr marL="0" indent="0" algn="ctr">
              <a:buNone/>
            </a:pPr>
            <a:r>
              <a:rPr lang="en-US" dirty="0">
                <a:solidFill>
                  <a:srgbClr val="000000"/>
                </a:solidFill>
                <a:latin typeface="Arial" pitchFamily="34" charset="0"/>
                <a:ea typeface="Arial" pitchFamily="34" charset="-122"/>
                <a:cs typeface="Arial" pitchFamily="34" charset="-120"/>
              </a:rPr>
              <a:t>(Deuteronomy 8:2)</a:t>
            </a:r>
            <a:endParaRPr lang="en-US" dirty="0"/>
          </a:p>
        </p:txBody>
      </p:sp>
      <p:sp>
        <p:nvSpPr>
          <p:cNvPr id="6" name="t4"/>
          <p:cNvSpPr txBox="1"/>
          <p:nvPr/>
        </p:nvSpPr>
        <p:spPr>
          <a:xfrm>
            <a:off x="914400" y="4846320"/>
            <a:ext cx="7315200" cy="457200"/>
          </a:xfrm>
          <a:prstGeom prst="rect">
            <a:avLst/>
          </a:prstGeom>
          <a:noFill/>
          <a:ln/>
        </p:spPr>
        <p:txBody>
          <a:bodyPr wrap="square" lIns="0" tIns="0" rIns="0" bIns="0" rtlCol="0" anchor="t"/>
          <a:lstStyle/>
          <a:p>
            <a:pPr marL="0" indent="0" algn="ctr">
              <a:buNone/>
            </a:pPr>
            <a:r>
              <a:rPr lang="en-US" sz="1600"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a:t>
            </a:r>
            <a:r>
              <a:rPr lang="en-US" sz="1600"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sz="1600" b="1" u="sng" dirty="0" err="1">
                <a:solidFill>
                  <a:srgbClr val="4F81BD"/>
                </a:solidFill>
                <a:latin typeface="Arial" pitchFamily="34" charset="0"/>
                <a:ea typeface="Arial" pitchFamily="34" charset="-122"/>
                <a:cs typeface="Arial" pitchFamily="34" charset="-120"/>
              </a:rPr>
              <a:t>.Church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Test, or Tempt?</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Same event, two purposes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tell them apart</a:t>
            </a:r>
            <a:endParaRPr lang="en-US" sz="2800" dirty="0"/>
          </a:p>
        </p:txBody>
      </p:sp>
      <p:sp>
        <p:nvSpPr>
          <p:cNvPr id="4" name="tL"/>
          <p:cNvSpPr/>
          <p:nvPr/>
        </p:nvSpPr>
        <p:spPr>
          <a:xfrm>
            <a:off x="365760" y="1069848"/>
            <a:ext cx="4114800" cy="2468880"/>
          </a:xfrm>
          <a:prstGeom prst="roundRect">
            <a:avLst>
              <a:gd name="adj" fmla="val 2963"/>
            </a:avLst>
          </a:prstGeom>
          <a:solidFill>
            <a:srgbClr val="1F497D"/>
          </a:solidFill>
          <a:ln/>
        </p:spPr>
        <p:txBody>
          <a:bodyPr/>
          <a:lstStyle/>
          <a:p>
            <a:endParaRPr lang="en-US"/>
          </a:p>
        </p:txBody>
      </p:sp>
      <p:sp>
        <p:nvSpPr>
          <p:cNvPr id="5" name="tLt"/>
          <p:cNvSpPr txBox="1"/>
          <p:nvPr/>
        </p:nvSpPr>
        <p:spPr>
          <a:xfrm>
            <a:off x="548640" y="1207008"/>
            <a:ext cx="3794760" cy="2194560"/>
          </a:xfrm>
          <a:prstGeom prst="rect">
            <a:avLst/>
          </a:prstGeom>
          <a:noFill/>
          <a:ln/>
        </p:spPr>
        <p:txBody>
          <a:bodyPr wrap="square" lIns="0" tIns="0" rIns="0" bIns="0" rtlCol="0" anchor="t"/>
          <a:lstStyle/>
          <a:p>
            <a:pPr marL="0" indent="0" algn="l">
              <a:buNone/>
            </a:pPr>
            <a:r>
              <a:rPr lang="en-US" sz="2400" b="1" dirty="0">
                <a:solidFill>
                  <a:srgbClr val="FFFFFF"/>
                </a:solidFill>
                <a:latin typeface="Arial" pitchFamily="34" charset="0"/>
                <a:ea typeface="Arial" pitchFamily="34" charset="-122"/>
                <a:cs typeface="Arial" pitchFamily="34" charset="-120"/>
              </a:rPr>
              <a:t>GOD TESTS
</a:t>
            </a:r>
            <a:r>
              <a:rPr lang="en-US" sz="1600" i="1" dirty="0">
                <a:solidFill>
                  <a:srgbClr val="C9A227"/>
                </a:solidFill>
                <a:latin typeface="Arial" pitchFamily="34" charset="0"/>
                <a:ea typeface="Arial" pitchFamily="34" charset="-122"/>
                <a:cs typeface="Arial" pitchFamily="34" charset="-120"/>
              </a:rPr>
              <a:t>Hebrew: nasah (prove), bachan (assay/refine)
Greek: dokimazo (test to approve)
</a:t>
            </a:r>
            <a:r>
              <a:rPr lang="en-US" dirty="0">
                <a:solidFill>
                  <a:srgbClr val="FFFFFF"/>
                </a:solidFill>
                <a:latin typeface="Arial" pitchFamily="34" charset="0"/>
                <a:ea typeface="Arial" pitchFamily="34" charset="-122"/>
                <a:cs typeface="Arial" pitchFamily="34" charset="-120"/>
              </a:rPr>
              <a:t>Purpose: to prove and refine </a:t>
            </a:r>
            <a:r>
              <a:rPr lang="en-US" dirty="0">
                <a:solidFill>
                  <a:srgbClr val="FFFFFF"/>
                </a:solidFill>
                <a:latin typeface="Arial" pitchFamily="34" charset="0"/>
                <a:ea typeface="Arial" pitchFamily="34" charset="-122"/>
                <a:cs typeface="Arial" pitchFamily="34" charset="-120"/>
                <a:sym typeface="Wingdings" pitchFamily="2" charset="2"/>
              </a:rPr>
              <a:t></a:t>
            </a:r>
            <a:r>
              <a:rPr lang="en-US" dirty="0">
                <a:solidFill>
                  <a:srgbClr val="FFFFFF"/>
                </a:solidFill>
                <a:latin typeface="Arial" pitchFamily="34" charset="0"/>
                <a:ea typeface="Arial" pitchFamily="34" charset="-122"/>
                <a:cs typeface="Arial" pitchFamily="34" charset="-120"/>
              </a:rPr>
              <a:t> to bring genuine faith into the open and strengthen it. God tests toward LIFE.</a:t>
            </a:r>
            <a:endParaRPr lang="en-US" sz="2400" dirty="0"/>
          </a:p>
        </p:txBody>
      </p:sp>
      <p:sp>
        <p:nvSpPr>
          <p:cNvPr id="6" name="tR"/>
          <p:cNvSpPr/>
          <p:nvPr/>
        </p:nvSpPr>
        <p:spPr>
          <a:xfrm>
            <a:off x="4663440" y="1069848"/>
            <a:ext cx="4114800" cy="2468880"/>
          </a:xfrm>
          <a:prstGeom prst="roundRect">
            <a:avLst>
              <a:gd name="adj" fmla="val 2963"/>
            </a:avLst>
          </a:prstGeom>
          <a:solidFill>
            <a:srgbClr val="F2F0EA"/>
          </a:solidFill>
          <a:ln w="12700">
            <a:solidFill>
              <a:srgbClr val="595959"/>
            </a:solidFill>
            <a:prstDash val="solid"/>
          </a:ln>
        </p:spPr>
        <p:txBody>
          <a:bodyPr/>
          <a:lstStyle/>
          <a:p>
            <a:endParaRPr lang="en-US"/>
          </a:p>
        </p:txBody>
      </p:sp>
      <p:sp>
        <p:nvSpPr>
          <p:cNvPr id="7" name="tRt"/>
          <p:cNvSpPr txBox="1"/>
          <p:nvPr/>
        </p:nvSpPr>
        <p:spPr>
          <a:xfrm>
            <a:off x="4846320" y="1207008"/>
            <a:ext cx="3794760" cy="2194560"/>
          </a:xfrm>
          <a:prstGeom prst="rect">
            <a:avLst/>
          </a:prstGeom>
          <a:noFill/>
          <a:ln/>
        </p:spPr>
        <p:txBody>
          <a:bodyPr wrap="square" lIns="0" tIns="0" rIns="0" bIns="0" rtlCol="0" anchor="t"/>
          <a:lstStyle/>
          <a:p>
            <a:pPr marL="0" indent="0" algn="l">
              <a:buNone/>
            </a:pPr>
            <a:r>
              <a:rPr lang="en-US" sz="2400" b="1" dirty="0">
                <a:solidFill>
                  <a:srgbClr val="B0413E"/>
                </a:solidFill>
                <a:latin typeface="Arial" pitchFamily="34" charset="0"/>
                <a:ea typeface="Arial" pitchFamily="34" charset="-122"/>
                <a:cs typeface="Arial" pitchFamily="34" charset="-120"/>
              </a:rPr>
              <a:t>SATAN TEMPTS
</a:t>
            </a:r>
            <a:r>
              <a:rPr lang="en-US" sz="1600" i="1" dirty="0">
                <a:solidFill>
                  <a:srgbClr val="595959"/>
                </a:solidFill>
                <a:latin typeface="Arial" pitchFamily="34" charset="0"/>
                <a:ea typeface="Arial" pitchFamily="34" charset="-122"/>
                <a:cs typeface="Arial" pitchFamily="34" charset="-120"/>
              </a:rPr>
              <a:t>Greek: peirazo (in his hands: to entice to evil)
</a:t>
            </a:r>
            <a:r>
              <a:rPr lang="en-US" dirty="0">
                <a:solidFill>
                  <a:srgbClr val="000000"/>
                </a:solidFill>
                <a:latin typeface="Arial" pitchFamily="34" charset="0"/>
                <a:ea typeface="Arial" pitchFamily="34" charset="-122"/>
                <a:cs typeface="Arial" pitchFamily="34" charset="-120"/>
              </a:rPr>
              <a:t>Purpose: to break and destroy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to make faith fail. The tempter aims at DEATH.</a:t>
            </a:r>
            <a:endParaRPr lang="en-US" sz="2400" dirty="0"/>
          </a:p>
        </p:txBody>
      </p:sp>
      <p:sp>
        <p:nvSpPr>
          <p:cNvPr id="8" name="v1"/>
          <p:cNvSpPr txBox="1"/>
          <p:nvPr/>
        </p:nvSpPr>
        <p:spPr>
          <a:xfrm>
            <a:off x="365760" y="3726180"/>
            <a:ext cx="8412480" cy="107442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The same event can be both, from two sides:  </a:t>
            </a:r>
            <a:r>
              <a:rPr lang="en-US" sz="2000" dirty="0">
                <a:solidFill>
                  <a:srgbClr val="000000"/>
                </a:solidFill>
                <a:latin typeface="Arial" pitchFamily="34" charset="0"/>
                <a:ea typeface="Arial" pitchFamily="34" charset="-122"/>
                <a:cs typeface="Arial" pitchFamily="34" charset="-120"/>
              </a:rPr>
              <a:t>Job’s loss, Peter’s sifting (Luke 22:31–32 </a:t>
            </a:r>
            <a:r>
              <a:rPr lang="en-US" sz="2000" dirty="0">
                <a:solidFill>
                  <a:srgbClr val="000000"/>
                </a:solidFill>
                <a:latin typeface="Arial" pitchFamily="34" charset="0"/>
                <a:ea typeface="Arial" pitchFamily="34" charset="-122"/>
                <a:cs typeface="Arial" pitchFamily="34" charset="-120"/>
                <a:sym typeface="Wingdings" pitchFamily="2" charset="2"/>
              </a:rPr>
              <a:t></a:t>
            </a:r>
            <a:r>
              <a:rPr lang="en-US" sz="2000" dirty="0">
                <a:solidFill>
                  <a:srgbClr val="000000"/>
                </a:solidFill>
                <a:latin typeface="Arial" pitchFamily="34" charset="0"/>
                <a:ea typeface="Arial" pitchFamily="34" charset="-122"/>
                <a:cs typeface="Arial" pitchFamily="34" charset="-120"/>
              </a:rPr>
              <a:t> Satan demanded to sift him; Jesus prayed his faith would not fail). One event; God’s purpose to prove, Satan’s to destroy.</a:t>
            </a:r>
            <a:endParaRPr lang="en-US" sz="2400" dirty="0"/>
          </a:p>
        </p:txBody>
      </p:sp>
      <p:sp>
        <p:nvSpPr>
          <p:cNvPr id="9" name="v2"/>
          <p:cNvSpPr txBox="1"/>
          <p:nvPr/>
        </p:nvSpPr>
        <p:spPr>
          <a:xfrm>
            <a:off x="365760" y="4937760"/>
            <a:ext cx="8412480" cy="1600200"/>
          </a:xfrm>
          <a:prstGeom prst="rect">
            <a:avLst/>
          </a:prstGeom>
          <a:noFill/>
          <a:ln/>
        </p:spPr>
        <p:txBody>
          <a:bodyPr wrap="square" lIns="0" tIns="0" rIns="0" bIns="0" rtlCol="0" anchor="t"/>
          <a:lstStyle/>
          <a:p>
            <a:pPr marL="0" indent="0" algn="l">
              <a:buNone/>
            </a:pPr>
            <a:r>
              <a:rPr lang="en-US" sz="2000" b="1" dirty="0">
                <a:solidFill>
                  <a:srgbClr val="000000"/>
                </a:solidFill>
                <a:latin typeface="Arial" pitchFamily="34" charset="0"/>
                <a:ea typeface="Arial" pitchFamily="34" charset="-122"/>
                <a:cs typeface="Arial" pitchFamily="34" charset="-120"/>
              </a:rPr>
              <a:t>God never tempts toward evil: </a:t>
            </a:r>
            <a:r>
              <a:rPr lang="en-US" sz="2000" b="1" i="1" dirty="0">
                <a:solidFill>
                  <a:srgbClr val="000000"/>
                </a:solidFill>
                <a:latin typeface="Arial" pitchFamily="34" charset="0"/>
                <a:ea typeface="Arial" pitchFamily="34" charset="-122"/>
                <a:cs typeface="Arial" pitchFamily="34" charset="-120"/>
              </a:rPr>
              <a:t>“Let no one say when he is tempted, “I am tempted by God,” for God cannot be tempted by evil, and he himself tempts no one.” </a:t>
            </a:r>
            <a:r>
              <a:rPr lang="en-US" b="1" dirty="0">
                <a:solidFill>
                  <a:srgbClr val="000000"/>
                </a:solidFill>
                <a:latin typeface="Arial" pitchFamily="34" charset="0"/>
                <a:ea typeface="Arial" pitchFamily="34" charset="-122"/>
                <a:cs typeface="Arial" pitchFamily="34" charset="-120"/>
              </a:rPr>
              <a:t>(James 1:13)</a:t>
            </a:r>
            <a:endParaRPr lang="en-US" sz="2400" dirty="0"/>
          </a:p>
          <a:p>
            <a:pPr marL="0" indent="0" algn="l">
              <a:buNone/>
            </a:pPr>
            <a:r>
              <a:rPr lang="en-US" sz="2000" b="1" dirty="0">
                <a:solidFill>
                  <a:srgbClr val="1F497D"/>
                </a:solidFill>
                <a:latin typeface="Arial" pitchFamily="34" charset="0"/>
                <a:ea typeface="Arial" pitchFamily="34" charset="-122"/>
                <a:cs typeface="Arial" pitchFamily="34" charset="-120"/>
              </a:rPr>
              <a:t>Key idea for the whole unit: a test is the scheduled occasion of sacrifice </a:t>
            </a:r>
            <a:r>
              <a:rPr lang="en-US" sz="2000" b="1" dirty="0">
                <a:solidFill>
                  <a:srgbClr val="1F497D"/>
                </a:solidFill>
                <a:latin typeface="Arial" pitchFamily="34" charset="0"/>
                <a:ea typeface="Arial" pitchFamily="34" charset="-122"/>
                <a:cs typeface="Arial" pitchFamily="34" charset="-120"/>
                <a:sym typeface="Wingdings" pitchFamily="2" charset="2"/>
              </a:rPr>
              <a:t></a:t>
            </a:r>
            <a:r>
              <a:rPr lang="en-US" sz="2000" b="1" dirty="0">
                <a:solidFill>
                  <a:srgbClr val="1F497D"/>
                </a:solidFill>
                <a:latin typeface="Arial" pitchFamily="34" charset="0"/>
                <a:ea typeface="Arial" pitchFamily="34" charset="-122"/>
                <a:cs typeface="Arial" pitchFamily="34" charset="-120"/>
              </a:rPr>
              <a:t> the moment trust must cost something.</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A Pattern in Every Covenant</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God speaks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faith must become costly action</a:t>
            </a:r>
            <a:endParaRPr lang="en-US" sz="2800" dirty="0"/>
          </a:p>
        </p:txBody>
      </p:sp>
      <p:sp>
        <p:nvSpPr>
          <p:cNvPr id="4" name="hh0"/>
          <p:cNvSpPr/>
          <p:nvPr/>
        </p:nvSpPr>
        <p:spPr>
          <a:xfrm>
            <a:off x="365760" y="1037844"/>
            <a:ext cx="1234440" cy="365760"/>
          </a:xfrm>
          <a:prstGeom prst="rect">
            <a:avLst/>
          </a:prstGeom>
          <a:solidFill>
            <a:srgbClr val="1F497D"/>
          </a:solidFill>
          <a:ln/>
        </p:spPr>
        <p:txBody>
          <a:bodyPr/>
          <a:lstStyle/>
          <a:p>
            <a:endParaRPr lang="en-US" sz="3200"/>
          </a:p>
        </p:txBody>
      </p:sp>
      <p:sp>
        <p:nvSpPr>
          <p:cNvPr id="5" name="hd0"/>
          <p:cNvSpPr txBox="1"/>
          <p:nvPr/>
        </p:nvSpPr>
        <p:spPr>
          <a:xfrm>
            <a:off x="429768" y="1083564"/>
            <a:ext cx="1124712" cy="274320"/>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Era</a:t>
            </a:r>
            <a:endParaRPr lang="en-US" sz="2800" dirty="0"/>
          </a:p>
        </p:txBody>
      </p:sp>
      <p:sp>
        <p:nvSpPr>
          <p:cNvPr id="6" name="hh1"/>
          <p:cNvSpPr/>
          <p:nvPr/>
        </p:nvSpPr>
        <p:spPr>
          <a:xfrm>
            <a:off x="1600200" y="1037844"/>
            <a:ext cx="1463040" cy="365760"/>
          </a:xfrm>
          <a:prstGeom prst="rect">
            <a:avLst/>
          </a:prstGeom>
          <a:solidFill>
            <a:srgbClr val="1F497D"/>
          </a:solidFill>
          <a:ln/>
        </p:spPr>
        <p:txBody>
          <a:bodyPr/>
          <a:lstStyle/>
          <a:p>
            <a:endParaRPr lang="en-US" sz="3200"/>
          </a:p>
        </p:txBody>
      </p:sp>
      <p:sp>
        <p:nvSpPr>
          <p:cNvPr id="7" name="hd1"/>
          <p:cNvSpPr txBox="1"/>
          <p:nvPr/>
        </p:nvSpPr>
        <p:spPr>
          <a:xfrm>
            <a:off x="1664208" y="1083564"/>
            <a:ext cx="1353312" cy="274320"/>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Text</a:t>
            </a:r>
            <a:endParaRPr lang="en-US" sz="2800" dirty="0"/>
          </a:p>
        </p:txBody>
      </p:sp>
      <p:sp>
        <p:nvSpPr>
          <p:cNvPr id="8" name="hh2"/>
          <p:cNvSpPr/>
          <p:nvPr/>
        </p:nvSpPr>
        <p:spPr>
          <a:xfrm>
            <a:off x="3063240" y="1037844"/>
            <a:ext cx="2560320" cy="365760"/>
          </a:xfrm>
          <a:prstGeom prst="rect">
            <a:avLst/>
          </a:prstGeom>
          <a:solidFill>
            <a:srgbClr val="1F497D"/>
          </a:solidFill>
          <a:ln/>
        </p:spPr>
        <p:txBody>
          <a:bodyPr/>
          <a:lstStyle/>
          <a:p>
            <a:endParaRPr lang="en-US" sz="3200"/>
          </a:p>
        </p:txBody>
      </p:sp>
      <p:sp>
        <p:nvSpPr>
          <p:cNvPr id="9" name="hd2"/>
          <p:cNvSpPr txBox="1"/>
          <p:nvPr/>
        </p:nvSpPr>
        <p:spPr>
          <a:xfrm>
            <a:off x="3127248" y="1083564"/>
            <a:ext cx="2450592" cy="274320"/>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The test</a:t>
            </a:r>
            <a:endParaRPr lang="en-US" sz="2800" dirty="0"/>
          </a:p>
        </p:txBody>
      </p:sp>
      <p:sp>
        <p:nvSpPr>
          <p:cNvPr id="10" name="hh3"/>
          <p:cNvSpPr/>
          <p:nvPr/>
        </p:nvSpPr>
        <p:spPr>
          <a:xfrm>
            <a:off x="5623560" y="1037844"/>
            <a:ext cx="3154680" cy="365760"/>
          </a:xfrm>
          <a:prstGeom prst="rect">
            <a:avLst/>
          </a:prstGeom>
          <a:solidFill>
            <a:srgbClr val="1F497D"/>
          </a:solidFill>
          <a:ln/>
        </p:spPr>
        <p:txBody>
          <a:bodyPr/>
          <a:lstStyle/>
          <a:p>
            <a:endParaRPr lang="en-US" sz="3200"/>
          </a:p>
        </p:txBody>
      </p:sp>
      <p:sp>
        <p:nvSpPr>
          <p:cNvPr id="11" name="hd3"/>
          <p:cNvSpPr txBox="1"/>
          <p:nvPr/>
        </p:nvSpPr>
        <p:spPr>
          <a:xfrm>
            <a:off x="5687568" y="1083564"/>
            <a:ext cx="3044952" cy="274320"/>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What it asked</a:t>
            </a:r>
            <a:endParaRPr lang="en-US" sz="2800" dirty="0"/>
          </a:p>
        </p:txBody>
      </p:sp>
      <p:sp>
        <p:nvSpPr>
          <p:cNvPr id="12" name="c0_0"/>
          <p:cNvSpPr/>
          <p:nvPr/>
        </p:nvSpPr>
        <p:spPr>
          <a:xfrm>
            <a:off x="365760" y="1403604"/>
            <a:ext cx="1234440" cy="777240"/>
          </a:xfrm>
          <a:prstGeom prst="rect">
            <a:avLst/>
          </a:prstGeom>
          <a:solidFill>
            <a:srgbClr val="FFFFFF"/>
          </a:solidFill>
          <a:ln w="6350">
            <a:solidFill>
              <a:srgbClr val="D9DDE3"/>
            </a:solidFill>
            <a:prstDash val="solid"/>
          </a:ln>
        </p:spPr>
        <p:txBody>
          <a:bodyPr/>
          <a:lstStyle/>
          <a:p>
            <a:endParaRPr lang="en-US" sz="3200"/>
          </a:p>
        </p:txBody>
      </p:sp>
      <p:sp>
        <p:nvSpPr>
          <p:cNvPr id="13" name="x0_0"/>
          <p:cNvSpPr txBox="1"/>
          <p:nvPr/>
        </p:nvSpPr>
        <p:spPr>
          <a:xfrm>
            <a:off x="429768" y="1440180"/>
            <a:ext cx="1124712" cy="722376"/>
          </a:xfrm>
          <a:prstGeom prst="rect">
            <a:avLst/>
          </a:prstGeom>
          <a:noFill/>
          <a:ln/>
        </p:spPr>
        <p:txBody>
          <a:bodyPr wrap="square" lIns="0" tIns="0" rIns="0" bIns="0" rtlCol="0" anchor="ctr"/>
          <a:lstStyle/>
          <a:p>
            <a:pPr marL="0" indent="0" algn="l">
              <a:buNone/>
            </a:pPr>
            <a:r>
              <a:rPr lang="en-US" b="1" dirty="0">
                <a:solidFill>
                  <a:srgbClr val="1F497D"/>
                </a:solidFill>
                <a:latin typeface="Arial" pitchFamily="34" charset="0"/>
                <a:ea typeface="Arial" pitchFamily="34" charset="-122"/>
                <a:cs typeface="Arial" pitchFamily="34" charset="-120"/>
              </a:rPr>
              <a:t>Eden</a:t>
            </a:r>
            <a:endParaRPr lang="en-US" sz="2800" dirty="0"/>
          </a:p>
        </p:txBody>
      </p:sp>
      <p:sp>
        <p:nvSpPr>
          <p:cNvPr id="14" name="c0_1"/>
          <p:cNvSpPr/>
          <p:nvPr/>
        </p:nvSpPr>
        <p:spPr>
          <a:xfrm>
            <a:off x="1600200" y="1403604"/>
            <a:ext cx="1463040" cy="777240"/>
          </a:xfrm>
          <a:prstGeom prst="rect">
            <a:avLst/>
          </a:prstGeom>
          <a:solidFill>
            <a:srgbClr val="FFFFFF"/>
          </a:solidFill>
          <a:ln w="6350">
            <a:solidFill>
              <a:srgbClr val="D9DDE3"/>
            </a:solidFill>
            <a:prstDash val="solid"/>
          </a:ln>
        </p:spPr>
        <p:txBody>
          <a:bodyPr/>
          <a:lstStyle/>
          <a:p>
            <a:endParaRPr lang="en-US" sz="3200"/>
          </a:p>
        </p:txBody>
      </p:sp>
      <p:sp>
        <p:nvSpPr>
          <p:cNvPr id="15" name="x0_1"/>
          <p:cNvSpPr txBox="1"/>
          <p:nvPr/>
        </p:nvSpPr>
        <p:spPr>
          <a:xfrm>
            <a:off x="1664208" y="1440180"/>
            <a:ext cx="1353312" cy="722376"/>
          </a:xfrm>
          <a:prstGeom prst="rect">
            <a:avLst/>
          </a:prstGeom>
          <a:noFill/>
          <a:ln/>
        </p:spPr>
        <p:txBody>
          <a:bodyPr wrap="square" lIns="0" tIns="0" rIns="0" bIns="0" rtlCol="0" anchor="ctr"/>
          <a:lstStyle/>
          <a:p>
            <a:pPr marL="0" indent="0" algn="l">
              <a:buNone/>
            </a:pPr>
            <a:r>
              <a:rPr lang="en-US" sz="1400" i="1" dirty="0">
                <a:solidFill>
                  <a:srgbClr val="000000"/>
                </a:solidFill>
                <a:latin typeface="Arial" pitchFamily="34" charset="0"/>
                <a:ea typeface="Arial" pitchFamily="34" charset="-122"/>
                <a:cs typeface="Arial" pitchFamily="34" charset="-120"/>
              </a:rPr>
              <a:t>Gen 2:16–17</a:t>
            </a:r>
            <a:endParaRPr lang="en-US" sz="2800" dirty="0"/>
          </a:p>
        </p:txBody>
      </p:sp>
      <p:sp>
        <p:nvSpPr>
          <p:cNvPr id="16" name="c0_2"/>
          <p:cNvSpPr/>
          <p:nvPr/>
        </p:nvSpPr>
        <p:spPr>
          <a:xfrm>
            <a:off x="3063240" y="1403604"/>
            <a:ext cx="2560320" cy="777240"/>
          </a:xfrm>
          <a:prstGeom prst="rect">
            <a:avLst/>
          </a:prstGeom>
          <a:solidFill>
            <a:srgbClr val="FFFFFF"/>
          </a:solidFill>
          <a:ln w="6350">
            <a:solidFill>
              <a:srgbClr val="D9DDE3"/>
            </a:solidFill>
            <a:prstDash val="solid"/>
          </a:ln>
        </p:spPr>
        <p:txBody>
          <a:bodyPr/>
          <a:lstStyle/>
          <a:p>
            <a:endParaRPr lang="en-US" sz="3200"/>
          </a:p>
        </p:txBody>
      </p:sp>
      <p:sp>
        <p:nvSpPr>
          <p:cNvPr id="17" name="x0_2"/>
          <p:cNvSpPr txBox="1"/>
          <p:nvPr/>
        </p:nvSpPr>
        <p:spPr>
          <a:xfrm>
            <a:off x="3127248" y="1440180"/>
            <a:ext cx="2450592" cy="722376"/>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The one forbidden tree</a:t>
            </a:r>
            <a:endParaRPr lang="en-US" sz="2800" dirty="0"/>
          </a:p>
        </p:txBody>
      </p:sp>
      <p:sp>
        <p:nvSpPr>
          <p:cNvPr id="18" name="c0_3"/>
          <p:cNvSpPr/>
          <p:nvPr/>
        </p:nvSpPr>
        <p:spPr>
          <a:xfrm>
            <a:off x="5623560" y="1403604"/>
            <a:ext cx="3154680" cy="777240"/>
          </a:xfrm>
          <a:prstGeom prst="rect">
            <a:avLst/>
          </a:prstGeom>
          <a:solidFill>
            <a:srgbClr val="FFFFFF"/>
          </a:solidFill>
          <a:ln w="6350">
            <a:solidFill>
              <a:srgbClr val="D9DDE3"/>
            </a:solidFill>
            <a:prstDash val="solid"/>
          </a:ln>
        </p:spPr>
        <p:txBody>
          <a:bodyPr/>
          <a:lstStyle/>
          <a:p>
            <a:endParaRPr lang="en-US" sz="3200"/>
          </a:p>
        </p:txBody>
      </p:sp>
      <p:sp>
        <p:nvSpPr>
          <p:cNvPr id="19" name="x0_3"/>
          <p:cNvSpPr txBox="1"/>
          <p:nvPr/>
        </p:nvSpPr>
        <p:spPr>
          <a:xfrm>
            <a:off x="5687568" y="1440180"/>
            <a:ext cx="3044952" cy="722376"/>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Nearly costless to keep </a:t>
            </a:r>
            <a:r>
              <a:rPr lang="en-US" sz="1600">
                <a:solidFill>
                  <a:srgbClr val="000000"/>
                </a:solidFill>
                <a:latin typeface="Arial" pitchFamily="34" charset="0"/>
                <a:ea typeface="Arial" pitchFamily="34" charset="-122"/>
                <a:cs typeface="Arial" pitchFamily="34" charset="-120"/>
              </a:rPr>
              <a:t>→</a:t>
            </a:r>
            <a:r>
              <a:rPr lang="en-US" sz="1600" dirty="0">
                <a:solidFill>
                  <a:srgbClr val="000000"/>
                </a:solidFill>
                <a:latin typeface="Arial" pitchFamily="34" charset="0"/>
                <a:ea typeface="Arial" pitchFamily="34" charset="-122"/>
                <a:cs typeface="Arial" pitchFamily="34" charset="-120"/>
              </a:rPr>
              <a:t> a PURE test of trust in the word alone</a:t>
            </a:r>
            <a:endParaRPr lang="en-US" sz="2800" dirty="0"/>
          </a:p>
        </p:txBody>
      </p:sp>
      <p:sp>
        <p:nvSpPr>
          <p:cNvPr id="20" name="c1_0"/>
          <p:cNvSpPr/>
          <p:nvPr/>
        </p:nvSpPr>
        <p:spPr>
          <a:xfrm>
            <a:off x="365760" y="2180844"/>
            <a:ext cx="1234440" cy="777240"/>
          </a:xfrm>
          <a:prstGeom prst="rect">
            <a:avLst/>
          </a:prstGeom>
          <a:solidFill>
            <a:srgbClr val="F2F4F7"/>
          </a:solidFill>
          <a:ln w="6350">
            <a:solidFill>
              <a:srgbClr val="D9DDE3"/>
            </a:solidFill>
            <a:prstDash val="solid"/>
          </a:ln>
        </p:spPr>
        <p:txBody>
          <a:bodyPr/>
          <a:lstStyle/>
          <a:p>
            <a:endParaRPr lang="en-US" sz="3200"/>
          </a:p>
        </p:txBody>
      </p:sp>
      <p:sp>
        <p:nvSpPr>
          <p:cNvPr id="21" name="x1_0"/>
          <p:cNvSpPr txBox="1"/>
          <p:nvPr/>
        </p:nvSpPr>
        <p:spPr>
          <a:xfrm>
            <a:off x="429768" y="2217420"/>
            <a:ext cx="1124712" cy="722376"/>
          </a:xfrm>
          <a:prstGeom prst="rect">
            <a:avLst/>
          </a:prstGeom>
          <a:noFill/>
          <a:ln/>
        </p:spPr>
        <p:txBody>
          <a:bodyPr wrap="square" lIns="0" tIns="0" rIns="0" bIns="0" rtlCol="0" anchor="ctr"/>
          <a:lstStyle/>
          <a:p>
            <a:pPr marL="0" indent="0" algn="l">
              <a:buNone/>
            </a:pPr>
            <a:r>
              <a:rPr lang="en-US" b="1" dirty="0">
                <a:solidFill>
                  <a:srgbClr val="1F497D"/>
                </a:solidFill>
                <a:latin typeface="Arial" pitchFamily="34" charset="0"/>
                <a:ea typeface="Arial" pitchFamily="34" charset="-122"/>
                <a:cs typeface="Arial" pitchFamily="34" charset="-120"/>
              </a:rPr>
              <a:t>Noah</a:t>
            </a:r>
            <a:endParaRPr lang="en-US" sz="2800" dirty="0"/>
          </a:p>
        </p:txBody>
      </p:sp>
      <p:sp>
        <p:nvSpPr>
          <p:cNvPr id="22" name="c1_1"/>
          <p:cNvSpPr/>
          <p:nvPr/>
        </p:nvSpPr>
        <p:spPr>
          <a:xfrm>
            <a:off x="1600200" y="2180844"/>
            <a:ext cx="1463040" cy="777240"/>
          </a:xfrm>
          <a:prstGeom prst="rect">
            <a:avLst/>
          </a:prstGeom>
          <a:solidFill>
            <a:srgbClr val="F2F4F7"/>
          </a:solidFill>
          <a:ln w="6350">
            <a:solidFill>
              <a:srgbClr val="D9DDE3"/>
            </a:solidFill>
            <a:prstDash val="solid"/>
          </a:ln>
        </p:spPr>
        <p:txBody>
          <a:bodyPr/>
          <a:lstStyle/>
          <a:p>
            <a:endParaRPr lang="en-US" sz="3200"/>
          </a:p>
        </p:txBody>
      </p:sp>
      <p:sp>
        <p:nvSpPr>
          <p:cNvPr id="23" name="x1_1"/>
          <p:cNvSpPr txBox="1"/>
          <p:nvPr/>
        </p:nvSpPr>
        <p:spPr>
          <a:xfrm>
            <a:off x="1664208" y="2217420"/>
            <a:ext cx="1353312" cy="722376"/>
          </a:xfrm>
          <a:prstGeom prst="rect">
            <a:avLst/>
          </a:prstGeom>
          <a:noFill/>
          <a:ln/>
        </p:spPr>
        <p:txBody>
          <a:bodyPr wrap="square" lIns="0" tIns="0" rIns="0" bIns="0" rtlCol="0" anchor="ctr"/>
          <a:lstStyle/>
          <a:p>
            <a:pPr marL="0" indent="0" algn="l">
              <a:buNone/>
            </a:pPr>
            <a:r>
              <a:rPr lang="en-US" sz="1400" i="1" dirty="0">
                <a:solidFill>
                  <a:srgbClr val="000000"/>
                </a:solidFill>
                <a:latin typeface="Arial" pitchFamily="34" charset="0"/>
                <a:ea typeface="Arial" pitchFamily="34" charset="-122"/>
                <a:cs typeface="Arial" pitchFamily="34" charset="-120"/>
              </a:rPr>
              <a:t>Heb 11:7</a:t>
            </a:r>
            <a:endParaRPr lang="en-US" sz="2800" dirty="0"/>
          </a:p>
        </p:txBody>
      </p:sp>
      <p:sp>
        <p:nvSpPr>
          <p:cNvPr id="24" name="c1_2"/>
          <p:cNvSpPr/>
          <p:nvPr/>
        </p:nvSpPr>
        <p:spPr>
          <a:xfrm>
            <a:off x="3063240" y="2180844"/>
            <a:ext cx="2560320" cy="777240"/>
          </a:xfrm>
          <a:prstGeom prst="rect">
            <a:avLst/>
          </a:prstGeom>
          <a:solidFill>
            <a:srgbClr val="F2F4F7"/>
          </a:solidFill>
          <a:ln w="6350">
            <a:solidFill>
              <a:srgbClr val="D9DDE3"/>
            </a:solidFill>
            <a:prstDash val="solid"/>
          </a:ln>
        </p:spPr>
        <p:txBody>
          <a:bodyPr/>
          <a:lstStyle/>
          <a:p>
            <a:endParaRPr lang="en-US" sz="3200"/>
          </a:p>
        </p:txBody>
      </p:sp>
      <p:sp>
        <p:nvSpPr>
          <p:cNvPr id="25" name="x1_2"/>
          <p:cNvSpPr txBox="1"/>
          <p:nvPr/>
        </p:nvSpPr>
        <p:spPr>
          <a:xfrm>
            <a:off x="3127248" y="2217420"/>
            <a:ext cx="2450592" cy="722376"/>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Build an ark for “things not yet seen”</a:t>
            </a:r>
            <a:endParaRPr lang="en-US" sz="2800" dirty="0"/>
          </a:p>
        </p:txBody>
      </p:sp>
      <p:sp>
        <p:nvSpPr>
          <p:cNvPr id="26" name="c1_3"/>
          <p:cNvSpPr/>
          <p:nvPr/>
        </p:nvSpPr>
        <p:spPr>
          <a:xfrm>
            <a:off x="5623560" y="2180844"/>
            <a:ext cx="3154680" cy="777240"/>
          </a:xfrm>
          <a:prstGeom prst="rect">
            <a:avLst/>
          </a:prstGeom>
          <a:solidFill>
            <a:srgbClr val="F2F4F7"/>
          </a:solidFill>
          <a:ln w="6350">
            <a:solidFill>
              <a:srgbClr val="D9DDE3"/>
            </a:solidFill>
            <a:prstDash val="solid"/>
          </a:ln>
        </p:spPr>
        <p:txBody>
          <a:bodyPr/>
          <a:lstStyle/>
          <a:p>
            <a:endParaRPr lang="en-US" sz="3200"/>
          </a:p>
        </p:txBody>
      </p:sp>
      <p:sp>
        <p:nvSpPr>
          <p:cNvPr id="27" name="x1_3"/>
          <p:cNvSpPr txBox="1"/>
          <p:nvPr/>
        </p:nvSpPr>
        <p:spPr>
          <a:xfrm>
            <a:off x="5687568" y="2217420"/>
            <a:ext cx="3044952" cy="722376"/>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A lifetime’s labor on a warning with no visible referent</a:t>
            </a:r>
            <a:endParaRPr lang="en-US" sz="2800" dirty="0"/>
          </a:p>
        </p:txBody>
      </p:sp>
      <p:sp>
        <p:nvSpPr>
          <p:cNvPr id="28" name="c2_0"/>
          <p:cNvSpPr/>
          <p:nvPr/>
        </p:nvSpPr>
        <p:spPr>
          <a:xfrm>
            <a:off x="365760" y="2958084"/>
            <a:ext cx="1234440" cy="777240"/>
          </a:xfrm>
          <a:prstGeom prst="rect">
            <a:avLst/>
          </a:prstGeom>
          <a:solidFill>
            <a:srgbClr val="FFFFFF"/>
          </a:solidFill>
          <a:ln w="6350">
            <a:solidFill>
              <a:srgbClr val="D9DDE3"/>
            </a:solidFill>
            <a:prstDash val="solid"/>
          </a:ln>
        </p:spPr>
        <p:txBody>
          <a:bodyPr/>
          <a:lstStyle/>
          <a:p>
            <a:endParaRPr lang="en-US" sz="3200"/>
          </a:p>
        </p:txBody>
      </p:sp>
      <p:sp>
        <p:nvSpPr>
          <p:cNvPr id="29" name="x2_0"/>
          <p:cNvSpPr txBox="1"/>
          <p:nvPr/>
        </p:nvSpPr>
        <p:spPr>
          <a:xfrm>
            <a:off x="429768" y="2994660"/>
            <a:ext cx="1124712" cy="722376"/>
          </a:xfrm>
          <a:prstGeom prst="rect">
            <a:avLst/>
          </a:prstGeom>
          <a:noFill/>
          <a:ln/>
        </p:spPr>
        <p:txBody>
          <a:bodyPr wrap="square" lIns="0" tIns="0" rIns="0" bIns="0" rtlCol="0" anchor="ctr"/>
          <a:lstStyle/>
          <a:p>
            <a:pPr marL="0" indent="0" algn="l">
              <a:buNone/>
            </a:pPr>
            <a:r>
              <a:rPr lang="en-US" b="1" dirty="0">
                <a:solidFill>
                  <a:srgbClr val="1F497D"/>
                </a:solidFill>
                <a:latin typeface="Arial" pitchFamily="34" charset="0"/>
                <a:ea typeface="Arial" pitchFamily="34" charset="-122"/>
                <a:cs typeface="Arial" pitchFamily="34" charset="-120"/>
              </a:rPr>
              <a:t>Abraham</a:t>
            </a:r>
            <a:endParaRPr lang="en-US" sz="2800" dirty="0"/>
          </a:p>
        </p:txBody>
      </p:sp>
      <p:sp>
        <p:nvSpPr>
          <p:cNvPr id="30" name="c2_1"/>
          <p:cNvSpPr/>
          <p:nvPr/>
        </p:nvSpPr>
        <p:spPr>
          <a:xfrm>
            <a:off x="1600200" y="2958084"/>
            <a:ext cx="1463040" cy="777240"/>
          </a:xfrm>
          <a:prstGeom prst="rect">
            <a:avLst/>
          </a:prstGeom>
          <a:solidFill>
            <a:srgbClr val="FFFFFF"/>
          </a:solidFill>
          <a:ln w="6350">
            <a:solidFill>
              <a:srgbClr val="D9DDE3"/>
            </a:solidFill>
            <a:prstDash val="solid"/>
          </a:ln>
        </p:spPr>
        <p:txBody>
          <a:bodyPr/>
          <a:lstStyle/>
          <a:p>
            <a:endParaRPr lang="en-US" sz="3200"/>
          </a:p>
        </p:txBody>
      </p:sp>
      <p:sp>
        <p:nvSpPr>
          <p:cNvPr id="31" name="x2_1"/>
          <p:cNvSpPr txBox="1"/>
          <p:nvPr/>
        </p:nvSpPr>
        <p:spPr>
          <a:xfrm>
            <a:off x="1664208" y="2994660"/>
            <a:ext cx="1353312" cy="722376"/>
          </a:xfrm>
          <a:prstGeom prst="rect">
            <a:avLst/>
          </a:prstGeom>
          <a:noFill/>
          <a:ln/>
        </p:spPr>
        <p:txBody>
          <a:bodyPr wrap="square" lIns="0" tIns="0" rIns="0" bIns="0" rtlCol="0" anchor="ctr"/>
          <a:lstStyle/>
          <a:p>
            <a:pPr marL="0" indent="0" algn="l">
              <a:buNone/>
            </a:pPr>
            <a:r>
              <a:rPr lang="en-US" sz="1400" i="1" dirty="0">
                <a:solidFill>
                  <a:srgbClr val="000000"/>
                </a:solidFill>
                <a:latin typeface="Arial" pitchFamily="34" charset="0"/>
                <a:ea typeface="Arial" pitchFamily="34" charset="-122"/>
                <a:cs typeface="Arial" pitchFamily="34" charset="-120"/>
              </a:rPr>
              <a:t>Gen 22:1</a:t>
            </a:r>
            <a:endParaRPr lang="en-US" sz="2800" dirty="0"/>
          </a:p>
        </p:txBody>
      </p:sp>
      <p:sp>
        <p:nvSpPr>
          <p:cNvPr id="32" name="c2_2"/>
          <p:cNvSpPr/>
          <p:nvPr/>
        </p:nvSpPr>
        <p:spPr>
          <a:xfrm>
            <a:off x="3063240" y="2958084"/>
            <a:ext cx="2560320" cy="777240"/>
          </a:xfrm>
          <a:prstGeom prst="rect">
            <a:avLst/>
          </a:prstGeom>
          <a:solidFill>
            <a:srgbClr val="FFFFFF"/>
          </a:solidFill>
          <a:ln w="6350">
            <a:solidFill>
              <a:srgbClr val="D9DDE3"/>
            </a:solidFill>
            <a:prstDash val="solid"/>
          </a:ln>
        </p:spPr>
        <p:txBody>
          <a:bodyPr/>
          <a:lstStyle/>
          <a:p>
            <a:endParaRPr lang="en-US" sz="3200"/>
          </a:p>
        </p:txBody>
      </p:sp>
      <p:sp>
        <p:nvSpPr>
          <p:cNvPr id="33" name="x2_2"/>
          <p:cNvSpPr txBox="1"/>
          <p:nvPr/>
        </p:nvSpPr>
        <p:spPr>
          <a:xfrm>
            <a:off x="3127248" y="2994660"/>
            <a:ext cx="2450592" cy="722376"/>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“God tested Abraham” </a:t>
            </a:r>
            <a:r>
              <a:rPr lang="en-US" sz="1600">
                <a:solidFill>
                  <a:srgbClr val="000000"/>
                </a:solidFill>
                <a:latin typeface="Arial" pitchFamily="34" charset="0"/>
                <a:ea typeface="Arial" pitchFamily="34" charset="-122"/>
                <a:cs typeface="Arial" pitchFamily="34" charset="-120"/>
              </a:rPr>
              <a:t>→</a:t>
            </a:r>
            <a:r>
              <a:rPr lang="en-US" sz="1600" dirty="0">
                <a:solidFill>
                  <a:srgbClr val="000000"/>
                </a:solidFill>
                <a:latin typeface="Arial" pitchFamily="34" charset="0"/>
                <a:ea typeface="Arial" pitchFamily="34" charset="-122"/>
                <a:cs typeface="Arial" pitchFamily="34" charset="-120"/>
              </a:rPr>
              <a:t> offer Isaac</a:t>
            </a:r>
            <a:endParaRPr lang="en-US" sz="2800" dirty="0"/>
          </a:p>
        </p:txBody>
      </p:sp>
      <p:sp>
        <p:nvSpPr>
          <p:cNvPr id="34" name="c2_3"/>
          <p:cNvSpPr/>
          <p:nvPr/>
        </p:nvSpPr>
        <p:spPr>
          <a:xfrm>
            <a:off x="5623560" y="2958084"/>
            <a:ext cx="3154680" cy="777240"/>
          </a:xfrm>
          <a:prstGeom prst="rect">
            <a:avLst/>
          </a:prstGeom>
          <a:solidFill>
            <a:srgbClr val="FFFFFF"/>
          </a:solidFill>
          <a:ln w="6350">
            <a:solidFill>
              <a:srgbClr val="D9DDE3"/>
            </a:solidFill>
            <a:prstDash val="solid"/>
          </a:ln>
        </p:spPr>
        <p:txBody>
          <a:bodyPr/>
          <a:lstStyle/>
          <a:p>
            <a:endParaRPr lang="en-US" sz="3200"/>
          </a:p>
        </p:txBody>
      </p:sp>
      <p:sp>
        <p:nvSpPr>
          <p:cNvPr id="35" name="x2_3"/>
          <p:cNvSpPr txBox="1"/>
          <p:nvPr/>
        </p:nvSpPr>
        <p:spPr>
          <a:xfrm>
            <a:off x="5687568" y="2994660"/>
            <a:ext cx="3044952" cy="722376"/>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Surrender the very promise </a:t>
            </a:r>
            <a:r>
              <a:rPr lang="en-US" sz="1600">
                <a:solidFill>
                  <a:srgbClr val="000000"/>
                </a:solidFill>
                <a:latin typeface="Arial" pitchFamily="34" charset="0"/>
                <a:ea typeface="Arial" pitchFamily="34" charset="-122"/>
                <a:cs typeface="Arial" pitchFamily="34" charset="-120"/>
              </a:rPr>
              <a:t>→</a:t>
            </a:r>
            <a:r>
              <a:rPr lang="en-US" sz="1600" dirty="0">
                <a:solidFill>
                  <a:srgbClr val="000000"/>
                </a:solidFill>
                <a:latin typeface="Arial" pitchFamily="34" charset="0"/>
                <a:ea typeface="Arial" pitchFamily="34" charset="-122"/>
                <a:cs typeface="Arial" pitchFamily="34" charset="-120"/>
              </a:rPr>
              <a:t> the first EXPLICIT test</a:t>
            </a:r>
            <a:endParaRPr lang="en-US" sz="2800" dirty="0"/>
          </a:p>
        </p:txBody>
      </p:sp>
      <p:sp>
        <p:nvSpPr>
          <p:cNvPr id="36" name="c3_0"/>
          <p:cNvSpPr/>
          <p:nvPr/>
        </p:nvSpPr>
        <p:spPr>
          <a:xfrm>
            <a:off x="365760" y="3735324"/>
            <a:ext cx="1234440" cy="777240"/>
          </a:xfrm>
          <a:prstGeom prst="rect">
            <a:avLst/>
          </a:prstGeom>
          <a:solidFill>
            <a:srgbClr val="F2F4F7"/>
          </a:solidFill>
          <a:ln w="6350">
            <a:solidFill>
              <a:srgbClr val="D9DDE3"/>
            </a:solidFill>
            <a:prstDash val="solid"/>
          </a:ln>
        </p:spPr>
        <p:txBody>
          <a:bodyPr/>
          <a:lstStyle/>
          <a:p>
            <a:endParaRPr lang="en-US" sz="3200"/>
          </a:p>
        </p:txBody>
      </p:sp>
      <p:sp>
        <p:nvSpPr>
          <p:cNvPr id="37" name="x3_0"/>
          <p:cNvSpPr txBox="1"/>
          <p:nvPr/>
        </p:nvSpPr>
        <p:spPr>
          <a:xfrm>
            <a:off x="429768" y="3771900"/>
            <a:ext cx="1124712" cy="722376"/>
          </a:xfrm>
          <a:prstGeom prst="rect">
            <a:avLst/>
          </a:prstGeom>
          <a:noFill/>
          <a:ln/>
        </p:spPr>
        <p:txBody>
          <a:bodyPr wrap="square" lIns="0" tIns="0" rIns="0" bIns="0" rtlCol="0" anchor="ctr"/>
          <a:lstStyle/>
          <a:p>
            <a:pPr marL="0" indent="0" algn="l">
              <a:buNone/>
            </a:pPr>
            <a:r>
              <a:rPr lang="en-US" b="1" dirty="0">
                <a:solidFill>
                  <a:srgbClr val="1F497D"/>
                </a:solidFill>
                <a:latin typeface="Arial" pitchFamily="34" charset="0"/>
                <a:ea typeface="Arial" pitchFamily="34" charset="-122"/>
                <a:cs typeface="Arial" pitchFamily="34" charset="-120"/>
              </a:rPr>
              <a:t>Moses</a:t>
            </a:r>
            <a:endParaRPr lang="en-US" sz="2800" dirty="0"/>
          </a:p>
        </p:txBody>
      </p:sp>
      <p:sp>
        <p:nvSpPr>
          <p:cNvPr id="38" name="c3_1"/>
          <p:cNvSpPr/>
          <p:nvPr/>
        </p:nvSpPr>
        <p:spPr>
          <a:xfrm>
            <a:off x="1600200" y="3735324"/>
            <a:ext cx="1463040" cy="777240"/>
          </a:xfrm>
          <a:prstGeom prst="rect">
            <a:avLst/>
          </a:prstGeom>
          <a:solidFill>
            <a:srgbClr val="F2F4F7"/>
          </a:solidFill>
          <a:ln w="6350">
            <a:solidFill>
              <a:srgbClr val="D9DDE3"/>
            </a:solidFill>
            <a:prstDash val="solid"/>
          </a:ln>
        </p:spPr>
        <p:txBody>
          <a:bodyPr/>
          <a:lstStyle/>
          <a:p>
            <a:endParaRPr lang="en-US" sz="3200"/>
          </a:p>
        </p:txBody>
      </p:sp>
      <p:sp>
        <p:nvSpPr>
          <p:cNvPr id="39" name="x3_1"/>
          <p:cNvSpPr txBox="1"/>
          <p:nvPr/>
        </p:nvSpPr>
        <p:spPr>
          <a:xfrm>
            <a:off x="1664208" y="3771900"/>
            <a:ext cx="1353312" cy="722376"/>
          </a:xfrm>
          <a:prstGeom prst="rect">
            <a:avLst/>
          </a:prstGeom>
          <a:noFill/>
          <a:ln/>
        </p:spPr>
        <p:txBody>
          <a:bodyPr wrap="square" lIns="0" tIns="0" rIns="0" bIns="0" rtlCol="0" anchor="ctr"/>
          <a:lstStyle/>
          <a:p>
            <a:pPr marL="0" indent="0" algn="l">
              <a:buNone/>
            </a:pPr>
            <a:r>
              <a:rPr lang="en-US" sz="1400" i="1" dirty="0">
                <a:solidFill>
                  <a:srgbClr val="000000"/>
                </a:solidFill>
                <a:latin typeface="Arial" pitchFamily="34" charset="0"/>
                <a:ea typeface="Arial" pitchFamily="34" charset="-122"/>
                <a:cs typeface="Arial" pitchFamily="34" charset="-120"/>
              </a:rPr>
              <a:t>Ex 16:4; Deut 8:2</a:t>
            </a:r>
            <a:endParaRPr lang="en-US" sz="2800" dirty="0"/>
          </a:p>
        </p:txBody>
      </p:sp>
      <p:sp>
        <p:nvSpPr>
          <p:cNvPr id="40" name="c3_2"/>
          <p:cNvSpPr/>
          <p:nvPr/>
        </p:nvSpPr>
        <p:spPr>
          <a:xfrm>
            <a:off x="3063240" y="3735324"/>
            <a:ext cx="2560320" cy="777240"/>
          </a:xfrm>
          <a:prstGeom prst="rect">
            <a:avLst/>
          </a:prstGeom>
          <a:solidFill>
            <a:srgbClr val="F2F4F7"/>
          </a:solidFill>
          <a:ln w="6350">
            <a:solidFill>
              <a:srgbClr val="D9DDE3"/>
            </a:solidFill>
            <a:prstDash val="solid"/>
          </a:ln>
        </p:spPr>
        <p:txBody>
          <a:bodyPr/>
          <a:lstStyle/>
          <a:p>
            <a:endParaRPr lang="en-US" sz="3200"/>
          </a:p>
        </p:txBody>
      </p:sp>
      <p:sp>
        <p:nvSpPr>
          <p:cNvPr id="41" name="x3_2"/>
          <p:cNvSpPr txBox="1"/>
          <p:nvPr/>
        </p:nvSpPr>
        <p:spPr>
          <a:xfrm>
            <a:off x="3127248" y="3771900"/>
            <a:ext cx="2450592" cy="722376"/>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Manna, Sabbath, the wilderness</a:t>
            </a:r>
            <a:endParaRPr lang="en-US" sz="2800" dirty="0"/>
          </a:p>
        </p:txBody>
      </p:sp>
      <p:sp>
        <p:nvSpPr>
          <p:cNvPr id="42" name="c3_3"/>
          <p:cNvSpPr/>
          <p:nvPr/>
        </p:nvSpPr>
        <p:spPr>
          <a:xfrm>
            <a:off x="5623560" y="3735324"/>
            <a:ext cx="3154680" cy="777240"/>
          </a:xfrm>
          <a:prstGeom prst="rect">
            <a:avLst/>
          </a:prstGeom>
          <a:solidFill>
            <a:srgbClr val="F2F4F7"/>
          </a:solidFill>
          <a:ln w="6350">
            <a:solidFill>
              <a:srgbClr val="D9DDE3"/>
            </a:solidFill>
            <a:prstDash val="solid"/>
          </a:ln>
        </p:spPr>
        <p:txBody>
          <a:bodyPr/>
          <a:lstStyle/>
          <a:p>
            <a:endParaRPr lang="en-US" sz="3200"/>
          </a:p>
        </p:txBody>
      </p:sp>
      <p:sp>
        <p:nvSpPr>
          <p:cNvPr id="43" name="x3_3"/>
          <p:cNvSpPr txBox="1"/>
          <p:nvPr/>
        </p:nvSpPr>
        <p:spPr>
          <a:xfrm>
            <a:off x="5687568" y="3771900"/>
            <a:ext cx="3044952" cy="722376"/>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Testing becomes covenant POLICY </a:t>
            </a:r>
            <a:r>
              <a:rPr lang="en-US" sz="1600">
                <a:solidFill>
                  <a:srgbClr val="000000"/>
                </a:solidFill>
                <a:latin typeface="Arial" pitchFamily="34" charset="0"/>
                <a:ea typeface="Arial" pitchFamily="34" charset="-122"/>
                <a:cs typeface="Arial" pitchFamily="34" charset="-120"/>
              </a:rPr>
              <a:t>→</a:t>
            </a:r>
            <a:r>
              <a:rPr lang="en-US" sz="1600" dirty="0">
                <a:solidFill>
                  <a:srgbClr val="000000"/>
                </a:solidFill>
                <a:latin typeface="Arial" pitchFamily="34" charset="0"/>
                <a:ea typeface="Arial" pitchFamily="34" charset="-122"/>
                <a:cs typeface="Arial" pitchFamily="34" charset="-120"/>
              </a:rPr>
              <a:t> “will they walk in my law or not?”</a:t>
            </a:r>
            <a:endParaRPr lang="en-US" sz="2800" dirty="0"/>
          </a:p>
        </p:txBody>
      </p:sp>
      <p:sp>
        <p:nvSpPr>
          <p:cNvPr id="44" name="c4_0"/>
          <p:cNvSpPr/>
          <p:nvPr/>
        </p:nvSpPr>
        <p:spPr>
          <a:xfrm>
            <a:off x="365760" y="4512564"/>
            <a:ext cx="1234440" cy="777240"/>
          </a:xfrm>
          <a:prstGeom prst="rect">
            <a:avLst/>
          </a:prstGeom>
          <a:solidFill>
            <a:srgbClr val="FFFFFF"/>
          </a:solidFill>
          <a:ln w="6350">
            <a:solidFill>
              <a:srgbClr val="D9DDE3"/>
            </a:solidFill>
            <a:prstDash val="solid"/>
          </a:ln>
        </p:spPr>
        <p:txBody>
          <a:bodyPr/>
          <a:lstStyle/>
          <a:p>
            <a:endParaRPr lang="en-US" sz="3200"/>
          </a:p>
        </p:txBody>
      </p:sp>
      <p:sp>
        <p:nvSpPr>
          <p:cNvPr id="45" name="x4_0"/>
          <p:cNvSpPr txBox="1"/>
          <p:nvPr/>
        </p:nvSpPr>
        <p:spPr>
          <a:xfrm>
            <a:off x="429768" y="4549140"/>
            <a:ext cx="1124712" cy="722376"/>
          </a:xfrm>
          <a:prstGeom prst="rect">
            <a:avLst/>
          </a:prstGeom>
          <a:noFill/>
          <a:ln/>
        </p:spPr>
        <p:txBody>
          <a:bodyPr wrap="square" lIns="0" tIns="0" rIns="0" bIns="0" rtlCol="0" anchor="ctr"/>
          <a:lstStyle/>
          <a:p>
            <a:pPr marL="0" indent="0" algn="l">
              <a:buNone/>
            </a:pPr>
            <a:r>
              <a:rPr lang="en-US" b="1" dirty="0">
                <a:solidFill>
                  <a:srgbClr val="1F497D"/>
                </a:solidFill>
                <a:latin typeface="Arial" pitchFamily="34" charset="0"/>
                <a:ea typeface="Arial" pitchFamily="34" charset="-122"/>
                <a:cs typeface="Arial" pitchFamily="34" charset="-120"/>
              </a:rPr>
              <a:t>Kings</a:t>
            </a:r>
            <a:endParaRPr lang="en-US" sz="2800" dirty="0"/>
          </a:p>
        </p:txBody>
      </p:sp>
      <p:sp>
        <p:nvSpPr>
          <p:cNvPr id="46" name="c4_1"/>
          <p:cNvSpPr/>
          <p:nvPr/>
        </p:nvSpPr>
        <p:spPr>
          <a:xfrm>
            <a:off x="1600200" y="4512564"/>
            <a:ext cx="1463040" cy="777240"/>
          </a:xfrm>
          <a:prstGeom prst="rect">
            <a:avLst/>
          </a:prstGeom>
          <a:solidFill>
            <a:srgbClr val="FFFFFF"/>
          </a:solidFill>
          <a:ln w="6350">
            <a:solidFill>
              <a:srgbClr val="D9DDE3"/>
            </a:solidFill>
            <a:prstDash val="solid"/>
          </a:ln>
        </p:spPr>
        <p:txBody>
          <a:bodyPr/>
          <a:lstStyle/>
          <a:p>
            <a:endParaRPr lang="en-US" sz="3200"/>
          </a:p>
        </p:txBody>
      </p:sp>
      <p:sp>
        <p:nvSpPr>
          <p:cNvPr id="47" name="x4_1"/>
          <p:cNvSpPr txBox="1"/>
          <p:nvPr/>
        </p:nvSpPr>
        <p:spPr>
          <a:xfrm>
            <a:off x="1664208" y="4549140"/>
            <a:ext cx="1353312" cy="722376"/>
          </a:xfrm>
          <a:prstGeom prst="rect">
            <a:avLst/>
          </a:prstGeom>
          <a:noFill/>
          <a:ln/>
        </p:spPr>
        <p:txBody>
          <a:bodyPr wrap="square" lIns="0" tIns="0" rIns="0" bIns="0" rtlCol="0" anchor="ctr"/>
          <a:lstStyle/>
          <a:p>
            <a:pPr marL="0" indent="0" algn="l">
              <a:buNone/>
            </a:pPr>
            <a:r>
              <a:rPr lang="en-US" sz="1400" i="1" dirty="0">
                <a:solidFill>
                  <a:srgbClr val="000000"/>
                </a:solidFill>
                <a:latin typeface="Arial" pitchFamily="34" charset="0"/>
                <a:ea typeface="Arial" pitchFamily="34" charset="-122"/>
                <a:cs typeface="Arial" pitchFamily="34" charset="-120"/>
              </a:rPr>
              <a:t>2 Chr 32:31</a:t>
            </a:r>
            <a:endParaRPr lang="en-US" sz="2800" dirty="0"/>
          </a:p>
        </p:txBody>
      </p:sp>
      <p:sp>
        <p:nvSpPr>
          <p:cNvPr id="48" name="c4_2"/>
          <p:cNvSpPr/>
          <p:nvPr/>
        </p:nvSpPr>
        <p:spPr>
          <a:xfrm>
            <a:off x="3063240" y="4512564"/>
            <a:ext cx="2560320" cy="777240"/>
          </a:xfrm>
          <a:prstGeom prst="rect">
            <a:avLst/>
          </a:prstGeom>
          <a:solidFill>
            <a:srgbClr val="FFFFFF"/>
          </a:solidFill>
          <a:ln w="6350">
            <a:solidFill>
              <a:srgbClr val="D9DDE3"/>
            </a:solidFill>
            <a:prstDash val="solid"/>
          </a:ln>
        </p:spPr>
        <p:txBody>
          <a:bodyPr/>
          <a:lstStyle/>
          <a:p>
            <a:endParaRPr lang="en-US" sz="3200"/>
          </a:p>
        </p:txBody>
      </p:sp>
      <p:sp>
        <p:nvSpPr>
          <p:cNvPr id="49" name="x4_2"/>
          <p:cNvSpPr txBox="1"/>
          <p:nvPr/>
        </p:nvSpPr>
        <p:spPr>
          <a:xfrm>
            <a:off x="3127248" y="4549140"/>
            <a:ext cx="2450592" cy="722376"/>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Hezekiah “left alone… to know his true motives”</a:t>
            </a:r>
            <a:endParaRPr lang="en-US" sz="2800" dirty="0"/>
          </a:p>
        </p:txBody>
      </p:sp>
      <p:sp>
        <p:nvSpPr>
          <p:cNvPr id="50" name="c4_3"/>
          <p:cNvSpPr/>
          <p:nvPr/>
        </p:nvSpPr>
        <p:spPr>
          <a:xfrm>
            <a:off x="5623560" y="4512564"/>
            <a:ext cx="3154680" cy="777240"/>
          </a:xfrm>
          <a:prstGeom prst="rect">
            <a:avLst/>
          </a:prstGeom>
          <a:solidFill>
            <a:srgbClr val="FFFFFF"/>
          </a:solidFill>
          <a:ln w="6350">
            <a:solidFill>
              <a:srgbClr val="D9DDE3"/>
            </a:solidFill>
            <a:prstDash val="solid"/>
          </a:ln>
        </p:spPr>
        <p:txBody>
          <a:bodyPr/>
          <a:lstStyle/>
          <a:p>
            <a:endParaRPr lang="en-US" sz="3200"/>
          </a:p>
        </p:txBody>
      </p:sp>
      <p:sp>
        <p:nvSpPr>
          <p:cNvPr id="51" name="x4_3"/>
          <p:cNvSpPr txBox="1"/>
          <p:nvPr/>
        </p:nvSpPr>
        <p:spPr>
          <a:xfrm>
            <a:off x="5687568" y="4549140"/>
            <a:ext cx="3044952" cy="722376"/>
          </a:xfrm>
          <a:prstGeom prst="rect">
            <a:avLst/>
          </a:prstGeom>
          <a:noFill/>
          <a:ln/>
        </p:spPr>
        <p:txBody>
          <a:bodyPr wrap="square" lIns="0" tIns="0" rIns="0" bIns="0" rtlCol="0" anchor="ctr"/>
          <a:lstStyle/>
          <a:p>
            <a:pPr marL="0" indent="0" algn="l">
              <a:buNone/>
            </a:pPr>
            <a:r>
              <a:rPr lang="en-US" sz="1600" dirty="0">
                <a:solidFill>
                  <a:srgbClr val="000000"/>
                </a:solidFill>
                <a:latin typeface="Arial" pitchFamily="34" charset="0"/>
                <a:ea typeface="Arial" pitchFamily="34" charset="-122"/>
                <a:cs typeface="Arial" pitchFamily="34" charset="-120"/>
              </a:rPr>
              <a:t>The test moves inward </a:t>
            </a:r>
            <a:r>
              <a:rPr lang="en-US" sz="1600">
                <a:solidFill>
                  <a:srgbClr val="000000"/>
                </a:solidFill>
                <a:latin typeface="Arial" pitchFamily="34" charset="0"/>
                <a:ea typeface="Arial" pitchFamily="34" charset="-122"/>
                <a:cs typeface="Arial" pitchFamily="34" charset="-120"/>
              </a:rPr>
              <a:t>→</a:t>
            </a:r>
            <a:r>
              <a:rPr lang="en-US" sz="1600" dirty="0">
                <a:solidFill>
                  <a:srgbClr val="000000"/>
                </a:solidFill>
                <a:latin typeface="Arial" pitchFamily="34" charset="0"/>
                <a:ea typeface="Arial" pitchFamily="34" charset="-122"/>
                <a:cs typeface="Arial" pitchFamily="34" charset="-120"/>
              </a:rPr>
              <a:t> the heart when unsupervised</a:t>
            </a:r>
            <a:endParaRPr lang="en-US" sz="2800" dirty="0"/>
          </a:p>
        </p:txBody>
      </p:sp>
      <p:sp>
        <p:nvSpPr>
          <p:cNvPr id="52" name="note"/>
          <p:cNvSpPr txBox="1"/>
          <p:nvPr/>
        </p:nvSpPr>
        <p:spPr>
          <a:xfrm>
            <a:off x="365760" y="5678423"/>
            <a:ext cx="8412480" cy="933391"/>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One shape, every era: </a:t>
            </a:r>
            <a:r>
              <a:rPr lang="en-US" dirty="0">
                <a:solidFill>
                  <a:srgbClr val="000000"/>
                </a:solidFill>
                <a:latin typeface="Arial" pitchFamily="34" charset="0"/>
                <a:ea typeface="Arial" pitchFamily="34" charset="-122"/>
                <a:cs typeface="Arial" pitchFamily="34" charset="-120"/>
              </a:rPr>
              <a:t>God speaks → faith is asked to trust the word against sight, appetite, fear, or delay → obedience makes the invisible faith visible. The eras change; the shape does not.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Christ the Tested One</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Forty days answering to forty years → and passing</a:t>
            </a:r>
            <a:endParaRPr lang="en-US" sz="2800" dirty="0"/>
          </a:p>
        </p:txBody>
      </p:sp>
      <p:sp>
        <p:nvSpPr>
          <p:cNvPr id="4" name="d1"/>
          <p:cNvSpPr txBox="1"/>
          <p:nvPr/>
        </p:nvSpPr>
        <p:spPr>
          <a:xfrm>
            <a:off x="365760" y="1097280"/>
            <a:ext cx="8412480" cy="914400"/>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“Then Jesus was led by the Spirit into the wilderness to be tempted by the devil. After he had fasted forty days and forty nights he was famished.” </a:t>
            </a:r>
            <a:r>
              <a:rPr lang="en-US" b="1" dirty="0">
                <a:solidFill>
                  <a:srgbClr val="000000"/>
                </a:solidFill>
                <a:latin typeface="Arial" pitchFamily="34" charset="0"/>
                <a:ea typeface="Arial" pitchFamily="34" charset="-122"/>
                <a:cs typeface="Arial" pitchFamily="34" charset="-120"/>
              </a:rPr>
              <a:t>(Matthew 4:1–2)</a:t>
            </a:r>
            <a:endParaRPr lang="en-US" sz="2000" dirty="0"/>
          </a:p>
        </p:txBody>
      </p:sp>
      <p:sp>
        <p:nvSpPr>
          <p:cNvPr id="5" name="par"/>
          <p:cNvSpPr/>
          <p:nvPr/>
        </p:nvSpPr>
        <p:spPr>
          <a:xfrm>
            <a:off x="548640" y="2148839"/>
            <a:ext cx="8002507" cy="2051371"/>
          </a:xfrm>
          <a:prstGeom prst="roundRect">
            <a:avLst>
              <a:gd name="adj" fmla="val 5161"/>
            </a:avLst>
          </a:prstGeom>
          <a:solidFill>
            <a:srgbClr val="F2F4F7"/>
          </a:solidFill>
          <a:ln w="12700">
            <a:solidFill>
              <a:srgbClr val="1F497D"/>
            </a:solidFill>
            <a:prstDash val="solid"/>
          </a:ln>
        </p:spPr>
        <p:txBody>
          <a:bodyPr/>
          <a:lstStyle/>
          <a:p>
            <a:endParaRPr lang="en-US"/>
          </a:p>
        </p:txBody>
      </p:sp>
      <p:sp>
        <p:nvSpPr>
          <p:cNvPr id="6" name="part"/>
          <p:cNvSpPr txBox="1"/>
          <p:nvPr/>
        </p:nvSpPr>
        <p:spPr>
          <a:xfrm>
            <a:off x="731520" y="2267711"/>
            <a:ext cx="7680960" cy="1771726"/>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Israel: 40 years in the wilderness → tested, and failed.    Jesus: 40 days in the wilderness → tested, and passed.
</a:t>
            </a:r>
            <a:r>
              <a:rPr lang="en-US" dirty="0">
                <a:solidFill>
                  <a:srgbClr val="000000"/>
                </a:solidFill>
                <a:latin typeface="Arial" pitchFamily="34" charset="0"/>
                <a:ea typeface="Arial" pitchFamily="34" charset="-122"/>
                <a:cs typeface="Arial" pitchFamily="34" charset="-120"/>
              </a:rPr>
              <a:t>Every answer Jesus gives comes from Deuteronomy 6–8 → the very passages that interpret Israel’s wilderness testing:
• </a:t>
            </a:r>
            <a:r>
              <a:rPr lang="en-US" i="1" dirty="0">
                <a:solidFill>
                  <a:srgbClr val="000000"/>
                </a:solidFill>
                <a:latin typeface="Arial" pitchFamily="34" charset="0"/>
                <a:ea typeface="Arial" pitchFamily="34" charset="-122"/>
                <a:cs typeface="Arial" pitchFamily="34" charset="-120"/>
              </a:rPr>
              <a:t>“Man does not live by bread alone” </a:t>
            </a:r>
            <a:r>
              <a:rPr lang="en-US" dirty="0">
                <a:solidFill>
                  <a:srgbClr val="000000"/>
                </a:solidFill>
                <a:latin typeface="Arial" pitchFamily="34" charset="0"/>
                <a:ea typeface="Arial" pitchFamily="34" charset="-122"/>
                <a:cs typeface="Arial" pitchFamily="34" charset="-120"/>
              </a:rPr>
              <a:t>(Deut 8:3)   • </a:t>
            </a:r>
            <a:r>
              <a:rPr lang="en-US" i="1" dirty="0">
                <a:solidFill>
                  <a:srgbClr val="000000"/>
                </a:solidFill>
                <a:latin typeface="Arial" pitchFamily="34" charset="0"/>
                <a:ea typeface="Arial" pitchFamily="34" charset="-122"/>
                <a:cs typeface="Arial" pitchFamily="34" charset="-120"/>
              </a:rPr>
              <a:t>“Worship the Lord your God” </a:t>
            </a:r>
            <a:r>
              <a:rPr lang="en-US" dirty="0">
                <a:solidFill>
                  <a:srgbClr val="000000"/>
                </a:solidFill>
                <a:latin typeface="Arial" pitchFamily="34" charset="0"/>
                <a:ea typeface="Arial" pitchFamily="34" charset="-122"/>
                <a:cs typeface="Arial" pitchFamily="34" charset="-120"/>
              </a:rPr>
              <a:t>(Deut 6:13)   • </a:t>
            </a:r>
            <a:r>
              <a:rPr lang="en-US" i="1" dirty="0">
                <a:solidFill>
                  <a:srgbClr val="000000"/>
                </a:solidFill>
                <a:latin typeface="Arial" pitchFamily="34" charset="0"/>
                <a:ea typeface="Arial" pitchFamily="34" charset="-122"/>
                <a:cs typeface="Arial" pitchFamily="34" charset="-120"/>
              </a:rPr>
              <a:t>“Do not put the Lord to the test” </a:t>
            </a:r>
            <a:r>
              <a:rPr lang="en-US" dirty="0">
                <a:solidFill>
                  <a:srgbClr val="000000"/>
                </a:solidFill>
                <a:latin typeface="Arial" pitchFamily="34" charset="0"/>
                <a:ea typeface="Arial" pitchFamily="34" charset="-122"/>
                <a:cs typeface="Arial" pitchFamily="34" charset="-120"/>
              </a:rPr>
              <a:t>(Deut 6:16)</a:t>
            </a:r>
            <a:endParaRPr lang="en-US" sz="2400" dirty="0"/>
          </a:p>
        </p:txBody>
      </p:sp>
      <p:sp>
        <p:nvSpPr>
          <p:cNvPr id="7" name="d2"/>
          <p:cNvSpPr txBox="1"/>
          <p:nvPr/>
        </p:nvSpPr>
        <p:spPr>
          <a:xfrm>
            <a:off x="365760" y="4416552"/>
            <a:ext cx="8412480" cy="607624"/>
          </a:xfrm>
          <a:prstGeom prst="rect">
            <a:avLst/>
          </a:prstGeom>
          <a:noFill/>
          <a:ln/>
        </p:spPr>
        <p:txBody>
          <a:bodyPr wrap="square" lIns="0" tIns="0" rIns="0" bIns="0" rtlCol="0" anchor="t"/>
          <a:lstStyle/>
          <a:p>
            <a:pPr marL="0" indent="0" algn="l">
              <a:buNone/>
            </a:pPr>
            <a:r>
              <a:rPr lang="en-US" dirty="0">
                <a:solidFill>
                  <a:srgbClr val="000000"/>
                </a:solidFill>
                <a:latin typeface="Arial" pitchFamily="34" charset="0"/>
                <a:ea typeface="Arial" pitchFamily="34" charset="-122"/>
                <a:cs typeface="Arial" pitchFamily="34" charset="-120"/>
              </a:rPr>
              <a:t>He is deliberately retaking Israel’s failed exam → as the true Israel, the true Son → </a:t>
            </a:r>
            <a:r>
              <a:rPr lang="en-US" b="1" dirty="0">
                <a:solidFill>
                  <a:srgbClr val="1F497D"/>
                </a:solidFill>
                <a:latin typeface="Arial" pitchFamily="34" charset="0"/>
                <a:ea typeface="Arial" pitchFamily="34" charset="-122"/>
                <a:cs typeface="Arial" pitchFamily="34" charset="-120"/>
              </a:rPr>
              <a:t>and He passes it clean (Heb 4:15: tempted in every way, yet without sin).</a:t>
            </a:r>
            <a:endParaRPr lang="en-US" sz="2000" dirty="0"/>
          </a:p>
        </p:txBody>
      </p:sp>
      <p:sp>
        <p:nvSpPr>
          <p:cNvPr id="8" name="d3"/>
          <p:cNvSpPr txBox="1"/>
          <p:nvPr/>
        </p:nvSpPr>
        <p:spPr>
          <a:xfrm>
            <a:off x="365760" y="5142042"/>
            <a:ext cx="8412480" cy="1463040"/>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And the passed test becomes the ground of our salvation:
</a:t>
            </a:r>
            <a:r>
              <a:rPr lang="en-US" b="1" i="1" dirty="0">
                <a:solidFill>
                  <a:srgbClr val="000000"/>
                </a:solidFill>
                <a:latin typeface="Arial" pitchFamily="34" charset="0"/>
                <a:ea typeface="Arial" pitchFamily="34" charset="-122"/>
                <a:cs typeface="Arial" pitchFamily="34" charset="-120"/>
              </a:rPr>
              <a:t>“Although he was a son, he learned obedience through the things he suffered. And by being perfected in this way, he became the source of eternal salvation to all who obey him.” </a:t>
            </a:r>
            <a:r>
              <a:rPr lang="en-US" sz="1600" b="1" dirty="0">
                <a:solidFill>
                  <a:srgbClr val="000000"/>
                </a:solidFill>
                <a:latin typeface="Arial" pitchFamily="34" charset="0"/>
                <a:ea typeface="Arial" pitchFamily="34" charset="-122"/>
                <a:cs typeface="Arial" pitchFamily="34" charset="-120"/>
              </a:rPr>
              <a:t>(Hebrews 5:8–9)</a:t>
            </a:r>
            <a:endParaRPr lang="en-US" sz="2000" dirty="0"/>
          </a:p>
          <a:p>
            <a:pPr marL="0" indent="0" algn="l">
              <a:buNone/>
            </a:pPr>
            <a:r>
              <a:rPr lang="en-US" sz="1600" i="1" dirty="0">
                <a:solidFill>
                  <a:srgbClr val="000000"/>
                </a:solidFill>
                <a:latin typeface="Arial" pitchFamily="34" charset="0"/>
                <a:ea typeface="Arial" pitchFamily="34" charset="-122"/>
                <a:cs typeface="Arial" pitchFamily="34" charset="-120"/>
              </a:rPr>
              <a:t>The tested Son, having passed, becomes salvation’s source → for “all who obey him.”</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Proving, Not Probation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The church’s tests sit on the far side of a passed exam</a:t>
            </a:r>
            <a:endParaRPr lang="en-US" sz="2800" dirty="0"/>
          </a:p>
        </p:txBody>
      </p:sp>
      <p:sp>
        <p:nvSpPr>
          <p:cNvPr id="4" name="e1"/>
          <p:cNvSpPr txBox="1"/>
          <p:nvPr/>
        </p:nvSpPr>
        <p:spPr>
          <a:xfrm>
            <a:off x="365760" y="1097281"/>
            <a:ext cx="8412480" cy="1142999"/>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Christ has already taken the decisive exam → Adam’s, Israel’s, ours → and passed. </a:t>
            </a:r>
            <a:r>
              <a:rPr lang="en-US" dirty="0">
                <a:solidFill>
                  <a:srgbClr val="000000"/>
                </a:solidFill>
                <a:latin typeface="Arial" pitchFamily="34" charset="0"/>
                <a:ea typeface="Arial" pitchFamily="34" charset="-122"/>
                <a:cs typeface="Arial" pitchFamily="34" charset="-120"/>
              </a:rPr>
              <a:t>So, the believer’s tests are no longer probation to earn a standing. They are the proving and refining of a faith that already rests on His finished work.</a:t>
            </a:r>
            <a:endParaRPr lang="en-US" sz="2000" dirty="0"/>
          </a:p>
        </p:txBody>
      </p:sp>
      <p:sp>
        <p:nvSpPr>
          <p:cNvPr id="5" name="e2"/>
          <p:cNvSpPr txBox="1"/>
          <p:nvPr/>
        </p:nvSpPr>
        <p:spPr>
          <a:xfrm>
            <a:off x="365760" y="2498598"/>
            <a:ext cx="8412480" cy="1143000"/>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The exodus order settles it (again):
</a:t>
            </a:r>
            <a:r>
              <a:rPr lang="en-US" dirty="0">
                <a:solidFill>
                  <a:srgbClr val="000000"/>
                </a:solidFill>
                <a:latin typeface="Arial" pitchFamily="34" charset="0"/>
                <a:ea typeface="Arial" pitchFamily="34" charset="-122"/>
                <a:cs typeface="Arial" pitchFamily="34" charset="-120"/>
              </a:rPr>
              <a:t>God redeemed Israel from Egypt by blood → </a:t>
            </a:r>
            <a:r>
              <a:rPr lang="en-US" b="1" i="1" dirty="0">
                <a:solidFill>
                  <a:srgbClr val="B0413E"/>
                </a:solidFill>
                <a:latin typeface="Arial" pitchFamily="34" charset="0"/>
                <a:ea typeface="Arial" pitchFamily="34" charset="-122"/>
                <a:cs typeface="Arial" pitchFamily="34" charset="-120"/>
              </a:rPr>
              <a:t>and THEN</a:t>
            </a:r>
            <a:r>
              <a:rPr lang="en-US" dirty="0">
                <a:solidFill>
                  <a:srgbClr val="000000"/>
                </a:solidFill>
                <a:latin typeface="Arial" pitchFamily="34" charset="0"/>
                <a:ea typeface="Arial" pitchFamily="34" charset="-122"/>
                <a:cs typeface="Arial" pitchFamily="34" charset="-120"/>
              </a:rPr>
              <a:t> tested them in the wilderness (Deut 8:2). The tests came </a:t>
            </a:r>
            <a:r>
              <a:rPr lang="en-US" b="1" dirty="0">
                <a:solidFill>
                  <a:srgbClr val="1F497D"/>
                </a:solidFill>
                <a:latin typeface="Arial" pitchFamily="34" charset="0"/>
                <a:ea typeface="Arial" pitchFamily="34" charset="-122"/>
                <a:cs typeface="Arial" pitchFamily="34" charset="-120"/>
              </a:rPr>
              <a:t>after</a:t>
            </a:r>
            <a:r>
              <a:rPr lang="en-US" dirty="0">
                <a:solidFill>
                  <a:srgbClr val="000000"/>
                </a:solidFill>
                <a:latin typeface="Arial" pitchFamily="34" charset="0"/>
                <a:ea typeface="Arial" pitchFamily="34" charset="-122"/>
                <a:cs typeface="Arial" pitchFamily="34" charset="-120"/>
              </a:rPr>
              <a:t> the rescue, to prove and shape a people already free. They never bought the freedom.</a:t>
            </a:r>
            <a:endParaRPr lang="en-US" sz="2000" dirty="0"/>
          </a:p>
        </p:txBody>
      </p:sp>
      <p:sp>
        <p:nvSpPr>
          <p:cNvPr id="6" name="e3"/>
          <p:cNvSpPr txBox="1"/>
          <p:nvPr/>
        </p:nvSpPr>
        <p:spPr>
          <a:xfrm>
            <a:off x="365760" y="3899916"/>
            <a:ext cx="8412480" cy="1234440"/>
          </a:xfrm>
          <a:prstGeom prst="rect">
            <a:avLst/>
          </a:prstGeom>
          <a:noFill/>
          <a:ln/>
        </p:spPr>
        <p:txBody>
          <a:bodyPr wrap="square" lIns="0" tIns="0" rIns="0" bIns="0" rtlCol="0" anchor="t"/>
          <a:lstStyle/>
          <a:p>
            <a:pPr marL="0" indent="0" algn="l">
              <a:buNone/>
            </a:pPr>
            <a:r>
              <a:rPr lang="en-US" sz="2000" b="1" dirty="0">
                <a:solidFill>
                  <a:srgbClr val="000000"/>
                </a:solidFill>
                <a:latin typeface="Arial" pitchFamily="34" charset="0"/>
                <a:ea typeface="Arial" pitchFamily="34" charset="-122"/>
                <a:cs typeface="Arial" pitchFamily="34" charset="-120"/>
              </a:rPr>
              <a:t>So, Scripture can call trials pure joy:
</a:t>
            </a:r>
            <a:r>
              <a:rPr lang="en-US" sz="2000" b="1" i="1" dirty="0">
                <a:solidFill>
                  <a:srgbClr val="000000"/>
                </a:solidFill>
                <a:latin typeface="Arial" pitchFamily="34" charset="0"/>
                <a:ea typeface="Arial" pitchFamily="34" charset="-122"/>
                <a:cs typeface="Arial" pitchFamily="34" charset="-120"/>
              </a:rPr>
              <a:t>“The testing of your faith produces endurance… that the proven character of your faith → more valuable than gold → may bring praise and glory when Jesus Christ is revealed.” </a:t>
            </a:r>
            <a:r>
              <a:rPr lang="en-US" b="1" dirty="0">
                <a:solidFill>
                  <a:srgbClr val="000000"/>
                </a:solidFill>
                <a:latin typeface="Arial" pitchFamily="34" charset="0"/>
                <a:ea typeface="Arial" pitchFamily="34" charset="-122"/>
                <a:cs typeface="Arial" pitchFamily="34" charset="-120"/>
              </a:rPr>
              <a:t>(James 1:3; 1 Pet 1:7)</a:t>
            </a:r>
            <a:endParaRPr lang="en-US" sz="2400" dirty="0"/>
          </a:p>
        </p:txBody>
      </p:sp>
      <p:sp>
        <p:nvSpPr>
          <p:cNvPr id="7" name="ma"/>
          <p:cNvSpPr/>
          <p:nvPr/>
        </p:nvSpPr>
        <p:spPr>
          <a:xfrm>
            <a:off x="1097280" y="5513832"/>
            <a:ext cx="6949440" cy="777240"/>
          </a:xfrm>
          <a:prstGeom prst="roundRect">
            <a:avLst>
              <a:gd name="adj" fmla="val 9412"/>
            </a:avLst>
          </a:prstGeom>
          <a:solidFill>
            <a:srgbClr val="1F497D"/>
          </a:solidFill>
          <a:ln/>
        </p:spPr>
        <p:txBody>
          <a:bodyPr/>
          <a:lstStyle/>
          <a:p>
            <a:endParaRPr lang="en-US"/>
          </a:p>
        </p:txBody>
      </p:sp>
      <p:sp>
        <p:nvSpPr>
          <p:cNvPr id="8" name="mat"/>
          <p:cNvSpPr txBox="1"/>
          <p:nvPr/>
        </p:nvSpPr>
        <p:spPr>
          <a:xfrm>
            <a:off x="1097280" y="5513832"/>
            <a:ext cx="6949440" cy="777240"/>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Grace saves.  Testing proves.  </a:t>
            </a:r>
            <a:r>
              <a:rPr lang="en-US" sz="1900" b="1">
                <a:solidFill>
                  <a:srgbClr val="FFFFFF"/>
                </a:solidFill>
                <a:latin typeface="Arial" pitchFamily="34" charset="0"/>
                <a:ea typeface="Arial" pitchFamily="34" charset="-122"/>
                <a:cs typeface="Arial" pitchFamily="34" charset="-120"/>
              </a:rPr>
              <a:t>→</a:t>
            </a:r>
            <a:r>
              <a:rPr lang="en-US" sz="1900" b="1" dirty="0">
                <a:solidFill>
                  <a:srgbClr val="FFFFFF"/>
                </a:solidFill>
                <a:latin typeface="Arial" pitchFamily="34" charset="0"/>
                <a:ea typeface="Arial" pitchFamily="34" charset="-122"/>
                <a:cs typeface="Arial" pitchFamily="34" charset="-120"/>
              </a:rPr>
              <a:t>  Mercy first, altar second.</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Discussion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Ten minutes → this is the week’s practice</a:t>
            </a:r>
            <a:endParaRPr lang="en-US" sz="2800" dirty="0"/>
          </a:p>
        </p:txBody>
      </p:sp>
      <p:sp>
        <p:nvSpPr>
          <p:cNvPr id="4" name="x1"/>
          <p:cNvSpPr txBox="1"/>
          <p:nvPr/>
        </p:nvSpPr>
        <p:spPr>
          <a:xfrm>
            <a:off x="457200" y="1325880"/>
            <a:ext cx="8229600" cy="1417320"/>
          </a:xfrm>
          <a:prstGeom prst="rect">
            <a:avLst/>
          </a:prstGeom>
          <a:noFill/>
          <a:ln/>
        </p:spPr>
        <p:txBody>
          <a:bodyPr wrap="square" lIns="0" tIns="0" rIns="0" bIns="0" rtlCol="0" anchor="t"/>
          <a:lstStyle/>
          <a:p>
            <a:pPr marL="0" indent="0" algn="l">
              <a:buNone/>
            </a:pPr>
            <a:r>
              <a:rPr lang="en-US" sz="2800" b="1" dirty="0">
                <a:solidFill>
                  <a:srgbClr val="1F497D"/>
                </a:solidFill>
                <a:latin typeface="Arial" pitchFamily="34" charset="0"/>
                <a:ea typeface="Arial" pitchFamily="34" charset="-122"/>
                <a:cs typeface="Arial" pitchFamily="34" charset="-120"/>
              </a:rPr>
              <a:t>1.  </a:t>
            </a:r>
            <a:r>
              <a:rPr lang="en-US" sz="2400" dirty="0">
                <a:solidFill>
                  <a:srgbClr val="000000"/>
                </a:solidFill>
                <a:latin typeface="Arial" pitchFamily="34" charset="0"/>
                <a:ea typeface="Arial" pitchFamily="34" charset="-122"/>
                <a:cs typeface="Arial" pitchFamily="34" charset="-120"/>
              </a:rPr>
              <a:t>Why does God test people He already knows completely?  If He knows the outcome, who is the test for?</a:t>
            </a:r>
            <a:endParaRPr lang="en-US" sz="2000" dirty="0"/>
          </a:p>
        </p:txBody>
      </p:sp>
      <p:sp>
        <p:nvSpPr>
          <p:cNvPr id="5" name="x2"/>
          <p:cNvSpPr txBox="1"/>
          <p:nvPr/>
        </p:nvSpPr>
        <p:spPr>
          <a:xfrm>
            <a:off x="457200" y="2971800"/>
            <a:ext cx="8229600" cy="1463040"/>
          </a:xfrm>
          <a:prstGeom prst="rect">
            <a:avLst/>
          </a:prstGeom>
          <a:noFill/>
          <a:ln/>
        </p:spPr>
        <p:txBody>
          <a:bodyPr wrap="square" lIns="0" tIns="0" rIns="0" bIns="0" rtlCol="0" anchor="t"/>
          <a:lstStyle/>
          <a:p>
            <a:pPr marL="0" indent="0" algn="l">
              <a:buNone/>
            </a:pPr>
            <a:r>
              <a:rPr lang="en-US" sz="2800" b="1" dirty="0">
                <a:solidFill>
                  <a:srgbClr val="1F497D"/>
                </a:solidFill>
                <a:latin typeface="Arial" pitchFamily="34" charset="0"/>
                <a:ea typeface="Arial" pitchFamily="34" charset="-122"/>
                <a:cs typeface="Arial" pitchFamily="34" charset="-120"/>
              </a:rPr>
              <a:t>2.  </a:t>
            </a:r>
            <a:r>
              <a:rPr lang="en-US" sz="2400" dirty="0">
                <a:solidFill>
                  <a:srgbClr val="000000"/>
                </a:solidFill>
                <a:latin typeface="Arial" pitchFamily="34" charset="0"/>
                <a:ea typeface="Arial" pitchFamily="34" charset="-122"/>
                <a:cs typeface="Arial" pitchFamily="34" charset="-120"/>
              </a:rPr>
              <a:t>Hezekiah was faithful for decades → what did being </a:t>
            </a:r>
            <a:r>
              <a:rPr lang="en-US" sz="2400" i="1" dirty="0">
                <a:solidFill>
                  <a:srgbClr val="000000"/>
                </a:solidFill>
                <a:latin typeface="Arial" pitchFamily="34" charset="0"/>
                <a:ea typeface="Arial" pitchFamily="34" charset="-122"/>
                <a:cs typeface="Arial" pitchFamily="34" charset="-120"/>
              </a:rPr>
              <a:t>“left alone”</a:t>
            </a:r>
            <a:r>
              <a:rPr lang="en-US" sz="2400" dirty="0">
                <a:solidFill>
                  <a:srgbClr val="000000"/>
                </a:solidFill>
                <a:latin typeface="Arial" pitchFamily="34" charset="0"/>
                <a:ea typeface="Arial" pitchFamily="34" charset="-122"/>
                <a:cs typeface="Arial" pitchFamily="34" charset="-120"/>
              </a:rPr>
              <a:t> reveal that forty good years had not?  What might God’s silence be testing in you?</a:t>
            </a:r>
            <a:endParaRPr lang="en-US" sz="2000" dirty="0"/>
          </a:p>
        </p:txBody>
      </p:sp>
      <p:sp>
        <p:nvSpPr>
          <p:cNvPr id="6" name="x3"/>
          <p:cNvSpPr txBox="1"/>
          <p:nvPr/>
        </p:nvSpPr>
        <p:spPr>
          <a:xfrm>
            <a:off x="457200" y="4846320"/>
            <a:ext cx="8229600" cy="1005840"/>
          </a:xfrm>
          <a:prstGeom prst="rect">
            <a:avLst/>
          </a:prstGeom>
          <a:noFill/>
          <a:ln/>
        </p:spPr>
        <p:txBody>
          <a:bodyPr wrap="square" lIns="0" tIns="0" rIns="0" bIns="0" rtlCol="0" anchor="t"/>
          <a:lstStyle/>
          <a:p>
            <a:pPr marL="0" indent="0" algn="l">
              <a:buNone/>
            </a:pPr>
            <a:r>
              <a:rPr lang="en-US" sz="2000" b="1" dirty="0">
                <a:solidFill>
                  <a:srgbClr val="000000"/>
                </a:solidFill>
                <a:latin typeface="Arial" pitchFamily="34" charset="0"/>
                <a:ea typeface="Arial" pitchFamily="34" charset="-122"/>
                <a:cs typeface="Arial" pitchFamily="34" charset="-120"/>
              </a:rPr>
              <a:t>Berean rule stands: </a:t>
            </a:r>
            <a:r>
              <a:rPr lang="en-US" sz="2000" i="1" dirty="0">
                <a:solidFill>
                  <a:srgbClr val="000000"/>
                </a:solidFill>
                <a:latin typeface="Arial" pitchFamily="34" charset="0"/>
                <a:ea typeface="Arial" pitchFamily="34" charset="-122"/>
                <a:cs typeface="Arial" pitchFamily="34" charset="-120"/>
              </a:rPr>
              <a:t>every claim goes back to the text → eager, and examining.</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Read Like a Berean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For next week → eager, and examining</a:t>
            </a:r>
            <a:endParaRPr lang="en-US" sz="2800" dirty="0"/>
          </a:p>
        </p:txBody>
      </p:sp>
      <p:sp>
        <p:nvSpPr>
          <p:cNvPr id="4" name="z1"/>
          <p:cNvSpPr txBox="1"/>
          <p:nvPr/>
        </p:nvSpPr>
        <p:spPr>
          <a:xfrm>
            <a:off x="365760" y="1188720"/>
            <a:ext cx="8412480" cy="146304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For next week, read:
</a:t>
            </a:r>
            <a:r>
              <a:rPr lang="en-US" dirty="0">
                <a:solidFill>
                  <a:srgbClr val="000000"/>
                </a:solidFill>
                <a:latin typeface="Arial" pitchFamily="34" charset="0"/>
                <a:ea typeface="Arial" pitchFamily="34" charset="-122"/>
                <a:cs typeface="Arial" pitchFamily="34" charset="-120"/>
              </a:rPr>
              <a:t>•  </a:t>
            </a:r>
            <a:r>
              <a:rPr lang="en-US" b="1" dirty="0">
                <a:solidFill>
                  <a:srgbClr val="000000"/>
                </a:solidFill>
                <a:latin typeface="Arial" pitchFamily="34" charset="0"/>
                <a:ea typeface="Arial" pitchFamily="34" charset="-122"/>
                <a:cs typeface="Arial" pitchFamily="34" charset="-120"/>
              </a:rPr>
              <a:t>Acts 2:36–41  </a:t>
            </a:r>
            <a:r>
              <a:rPr lang="en-US" dirty="0">
                <a:solidFill>
                  <a:srgbClr val="000000"/>
                </a:solidFill>
                <a:latin typeface="Arial" pitchFamily="34" charset="0"/>
                <a:ea typeface="Arial" pitchFamily="34" charset="-122"/>
                <a:cs typeface="Arial" pitchFamily="34" charset="-120"/>
              </a:rPr>
              <a:t>→ the crowd is “cut to the heart” and asks </a:t>
            </a:r>
            <a:r>
              <a:rPr lang="en-US" i="1" dirty="0">
                <a:solidFill>
                  <a:srgbClr val="000000"/>
                </a:solidFill>
                <a:latin typeface="Arial" pitchFamily="34" charset="0"/>
                <a:ea typeface="Arial" pitchFamily="34" charset="-122"/>
                <a:cs typeface="Arial" pitchFamily="34" charset="-120"/>
              </a:rPr>
              <a:t>“what shall we do?” </a:t>
            </a:r>
            <a:r>
              <a:rPr lang="en-US" dirty="0">
                <a:solidFill>
                  <a:srgbClr val="000000"/>
                </a:solidFill>
                <a:latin typeface="Arial" pitchFamily="34" charset="0"/>
                <a:ea typeface="Arial" pitchFamily="34" charset="-122"/>
                <a:cs typeface="Arial" pitchFamily="34" charset="-120"/>
              </a:rPr>
              <a:t>What answer are they given → and how do they respond?
•  </a:t>
            </a:r>
            <a:r>
              <a:rPr lang="en-US" b="1" dirty="0">
                <a:solidFill>
                  <a:srgbClr val="000000"/>
                </a:solidFill>
                <a:latin typeface="Arial" pitchFamily="34" charset="0"/>
                <a:ea typeface="Arial" pitchFamily="34" charset="-122"/>
                <a:cs typeface="Arial" pitchFamily="34" charset="-120"/>
              </a:rPr>
              <a:t>1 Corinthians 11:23–29  </a:t>
            </a:r>
            <a:r>
              <a:rPr lang="en-US" dirty="0">
                <a:solidFill>
                  <a:srgbClr val="000000"/>
                </a:solidFill>
                <a:latin typeface="Arial" pitchFamily="34" charset="0"/>
                <a:ea typeface="Arial" pitchFamily="34" charset="-122"/>
                <a:cs typeface="Arial" pitchFamily="34" charset="-120"/>
              </a:rPr>
              <a:t>→ what does Paul command a person to do before eating? Find the word “examine.”</a:t>
            </a:r>
            <a:endParaRPr lang="en-US" sz="2000" dirty="0"/>
          </a:p>
        </p:txBody>
      </p:sp>
      <p:sp>
        <p:nvSpPr>
          <p:cNvPr id="5" name="z2"/>
          <p:cNvSpPr txBox="1"/>
          <p:nvPr/>
        </p:nvSpPr>
        <p:spPr>
          <a:xfrm>
            <a:off x="365760" y="2834640"/>
            <a:ext cx="8412480" cy="914400"/>
          </a:xfrm>
          <a:prstGeom prst="rect">
            <a:avLst/>
          </a:prstGeom>
          <a:noFill/>
          <a:ln/>
        </p:spPr>
        <p:txBody>
          <a:bodyPr wrap="square" lIns="0" tIns="0" rIns="0" bIns="0" rtlCol="0" anchor="t"/>
          <a:lstStyle/>
          <a:p>
            <a:pPr marL="0" indent="0" algn="l">
              <a:buNone/>
            </a:pPr>
            <a:r>
              <a:rPr lang="en-US" sz="2000" b="1" dirty="0">
                <a:solidFill>
                  <a:srgbClr val="000000"/>
                </a:solidFill>
                <a:latin typeface="Arial" pitchFamily="34" charset="0"/>
                <a:ea typeface="Arial" pitchFamily="34" charset="-122"/>
                <a:cs typeface="Arial" pitchFamily="34" charset="-120"/>
              </a:rPr>
              <a:t>Next week: </a:t>
            </a:r>
            <a:r>
              <a:rPr lang="en-US" sz="2000" i="1" dirty="0">
                <a:solidFill>
                  <a:srgbClr val="000000"/>
                </a:solidFill>
                <a:latin typeface="Arial" pitchFamily="34" charset="0"/>
                <a:ea typeface="Arial" pitchFamily="34" charset="-122"/>
                <a:cs typeface="Arial" pitchFamily="34" charset="-120"/>
              </a:rPr>
              <a:t>The Church’s Tests → obeying the gospel and the table. The covenant pattern, now applied to us.</a:t>
            </a:r>
            <a:endParaRPr lang="en-US" sz="2000" dirty="0"/>
          </a:p>
        </p:txBody>
      </p:sp>
      <p:sp>
        <p:nvSpPr>
          <p:cNvPr id="6" name="z3"/>
          <p:cNvSpPr txBox="1"/>
          <p:nvPr/>
        </p:nvSpPr>
        <p:spPr>
          <a:xfrm>
            <a:off x="365760" y="3931920"/>
            <a:ext cx="8412480" cy="1051560"/>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This week in one sentence:
</a:t>
            </a:r>
            <a:r>
              <a:rPr lang="en-US" sz="2000" b="1" i="1" dirty="0">
                <a:solidFill>
                  <a:srgbClr val="1F497D"/>
                </a:solidFill>
                <a:latin typeface="Arial" pitchFamily="34" charset="0"/>
                <a:ea typeface="Arial" pitchFamily="34" charset="-122"/>
                <a:cs typeface="Arial" pitchFamily="34" charset="-120"/>
              </a:rPr>
              <a:t>Every covenant tests faith → and Christ passed the exam first. Grace saves; testing proves.</a:t>
            </a:r>
            <a:endParaRPr lang="en-US" sz="2000" dirty="0"/>
          </a:p>
        </p:txBody>
      </p:sp>
      <p:sp>
        <p:nvSpPr>
          <p:cNvPr id="7" name="z4"/>
          <p:cNvSpPr txBox="1"/>
          <p:nvPr/>
        </p:nvSpPr>
        <p:spPr>
          <a:xfrm>
            <a:off x="365760" y="5166360"/>
            <a:ext cx="8412480" cy="822960"/>
          </a:xfrm>
          <a:prstGeom prst="rect">
            <a:avLst/>
          </a:prstGeom>
          <a:noFill/>
          <a:ln/>
        </p:spPr>
        <p:txBody>
          <a:bodyPr wrap="square" lIns="0" tIns="0" rIns="0" bIns="0" rtlCol="0" anchor="t"/>
          <a:lstStyle/>
          <a:p>
            <a:pPr marL="0" indent="0" algn="ctr">
              <a:buNone/>
            </a:pPr>
            <a:r>
              <a:rPr lang="en-US" sz="2000" b="1" i="1" dirty="0">
                <a:solidFill>
                  <a:srgbClr val="1F497D"/>
                </a:solidFill>
                <a:latin typeface="Arial" pitchFamily="34" charset="0"/>
                <a:ea typeface="Arial" pitchFamily="34" charset="-122"/>
                <a:cs typeface="Arial" pitchFamily="34" charset="-120"/>
              </a:rPr>
              <a:t>“by being perfected… he became the source of eternal salvation to all who obey him.”  (Hebrews 5:9)</a:t>
            </a:r>
            <a:endParaRPr lang="en-US" sz="2000" dirty="0"/>
          </a:p>
        </p:txBody>
      </p:sp>
      <p:sp>
        <p:nvSpPr>
          <p:cNvPr id="8" name="z5"/>
          <p:cNvSpPr txBox="1"/>
          <p:nvPr/>
        </p:nvSpPr>
        <p:spPr>
          <a:xfrm>
            <a:off x="365760" y="6035040"/>
            <a:ext cx="8412480" cy="365760"/>
          </a:xfrm>
          <a:prstGeom prst="rect">
            <a:avLst/>
          </a:prstGeom>
          <a:noFill/>
          <a:ln/>
        </p:spPr>
        <p:txBody>
          <a:bodyPr wrap="square" lIns="0" tIns="0" rIns="0" bIns="0" rtlCol="0" anchor="t"/>
          <a:lstStyle/>
          <a:p>
            <a:pPr marL="0" indent="0" algn="ctr">
              <a:buNone/>
            </a:pPr>
            <a:r>
              <a:rPr lang="en-US" sz="2000"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a:t>
            </a:r>
            <a:r>
              <a:rPr lang="en-US" sz="2000"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sz="2000" b="1" u="sng" dirty="0" err="1">
                <a:solidFill>
                  <a:srgbClr val="4F81BD"/>
                </a:solidFill>
                <a:latin typeface="Arial" pitchFamily="34" charset="0"/>
                <a:ea typeface="Arial" pitchFamily="34" charset="-122"/>
                <a:cs typeface="Arial" pitchFamily="34" charset="-120"/>
              </a:rPr>
              <a:t>.Church</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2200</Words>
  <Application>Microsoft Macintosh PowerPoint</Application>
  <PresentationFormat>On-screen Show (4:3)</PresentationFormat>
  <Paragraphs>79</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Phil Pennington</cp:lastModifiedBy>
  <cp:revision>3</cp:revision>
  <dcterms:created xsi:type="dcterms:W3CDTF">2026-09-30T13:56:12Z</dcterms:created>
  <dcterms:modified xsi:type="dcterms:W3CDTF">2026-10-21T09:25:30Z</dcterms:modified>
</cp:coreProperties>
</file>