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Unit III opens. Reassure immediately, because “testing” can sound like earning after four weeks of grace: “We are not undoing Week 4. Every test we look at today comes AFTER the rescue, never before it. Grace saves; testing proves.” Point at Deut 8:2 — that is the thesis verse of the whole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[0:00–8:00]
[CLICK] GOD TESTS — the vocabulary. nasah = prove (Gen 22:1); bachan = assay metal (Prov 17:3). dokimazo = test to APPROVE (the goldsmith wants the gold to pass). God’s testing is FOR you.
[CLICK] SATAN TEMPTS — same Greek word peirazo, opposite aim. He wants the failure. The word is neutral; the intent is not.
[CLICK] Same event, two sides — Job and Peter are the proof texts. God permits what Satan intends for ruin, and turns it to proving. Luke 22: “I have prayed for you that your faith may not fail.”
[CLICK] James 1:13 — the guardrail. God never solicits evil. Then land the unit’s thesis: a test is the scheduled occasion of sacrifice (ties Unit III back to Unit I). Transition: “With that, walk the whole Bible — every covenant has its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[8:00–30:00 — ~4 min per era; table visible whole so the PATTERN is seen at a glance]
Walk row by row:
• EDEN — the genius of it: the command cost almost nothing to keep (one tree among many). That is what makes it PURE — the only reason to obey was that God said so. Trust, naked.
• NOAH — Heb 11:7 “things not yet seen.” Decades of labor, ridicule, no rain. Faith across a 120-year gap.
• ABRAHAM — first time Scripture says “tested” (Gen 22:1). We studied Moriah in Week 2; now see it as the paradigm TEST. Surrender the promise itself.
• MOSES — the shift: testing becomes stated POLICY. Manna was a daily test (gather right, rest on Sabbath). Deut 8:2 is our thesis verse. Deut 13:3 — even false prophets are a test of love for God.
• HEZEKIAH — the sobering one, saved for the discussion. God “left him alone to know his true motives.” 39 faithful years, then withdrawal reveals pride. Set up Q2 here but don’t exhaust it.
[note] The takeaway — read last. Transition: “Every one of these humans was tested. Only One passed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[30:00–40:00]
[CLICK] Matt 4:1–2 — note who leads him IN: the Spirit. This test is God-ordained, Satan-administered. Forty days is not random — it echoes forty years.
[CLICK] The parallel box — this is the payoff. Israel: 40 years, failed. Jesus: 40 days, passed. And every reply is from Deut 6–8, the wilderness-testing passages. He is re-taking the exam Israel flunked, on our behalf, as the true Son. Walk the three quotes.
[CLICK] The true-Israel point — Heb 4:15 seals it: fully tested, never failed.
[CLICK] Heb 5:8–9 — the hinge of the whole unit. He LEARNED obedience through suffering (not learned-to-obey from disobedience — he learned experientially what obedience costs), was perfected (completed, matured as our pioneer), and became salvation’s source for all who OBEY him. That last phrase bridges into the church’s tests next week. Transition: “So where does that leave OUR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[40:00–45:00]
[CLICK] The hinge stated plainly — proving, not probation. A student who has already passed still does the exercises; they build strength, they don’t determine enrollment.
[CLICK] Exodus order — the Week 4 keystone, now doing its Unit-III job. Redeemed FIRST, tested SECOND. This is what keeps the whole testing unit from becoming a ladder.
[CLICK] James 1 / 1 Pet 1 — you can only call a test “joy” if it isn’t deciding your salvation. Refining fire assumes the gold is already yours.
[CLICK] The banner — the unit’s motto. Grace saves, testing proves. Say it, then to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Q1: The classic answer — the test is not for God’s information (Ps 139) but to make faith REAL and VISIBLE: to the person (self-knowledge — Deut 8:2 “to know what was in your heart”), to a watching world, and as an actual event on the record. God knows the gold is gold; the fire still turns latent into manifest. Tie to Week 1: devotion is invisible until tested.
Q2: The tender, personal one. Hezekiah’s 39 years didn’t surface the pride; ONE withdrawal did (the Babylonian envoys, showing off his treasure). Felt divine absence can BE the test — what leaks out when God seems quiet? Seasons of silence are not always discipline or abandonment; sometimes they are the exam. Handle gently — some are IN such a season now.
[CLICK] Ground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the pivot from covenant tests in general to the CHURCH’s specific tests. Both flags (“what shall we do” / “examine”) preview entry-test and recurring-test.
[CLICK] Preview Week 8.
[CLICK] Carry sentence — say it together.
[CLICK] Close on Heb 5:9, which sets up next week’s “all who obey him.” Dismiss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algn="ctr" indent="0" marL="0">
              <a:buNone/>
            </a:pPr>
            <a:r>
              <a:rPr lang="en-US" sz="1700" b="1" i="1" dirty="0">
                <a:solidFill>
                  <a:srgbClr val="4F81BD"/>
                </a:solidFill>
                <a:latin typeface="Arial" pitchFamily="34" charset="0"/>
                <a:ea typeface="Arial" pitchFamily="34" charset="-122"/>
                <a:cs typeface="Arial" pitchFamily="34" charset="-120"/>
              </a:rPr>
              <a:t>The Obedience of Faith — Week 7  ·  Unit III: Testing</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algn="ctr" indent="0" marL="0">
              <a:buNone/>
            </a:pPr>
            <a:r>
              <a:rPr lang="en-US" sz="3600" b="1" dirty="0">
                <a:solidFill>
                  <a:srgbClr val="1F497D"/>
                </a:solidFill>
                <a:latin typeface="Arial" pitchFamily="34" charset="0"/>
                <a:ea typeface="Arial" pitchFamily="34" charset="-122"/>
                <a:cs typeface="Arial" pitchFamily="34" charset="-120"/>
              </a:rPr>
              <a:t>Faith Tests Across the Covenants</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algn="ctr" indent="0" marL="0">
              <a:buNone/>
            </a:pPr>
            <a:r>
              <a:rPr lang="en-US" sz="1900" b="1" i="1" dirty="0">
                <a:solidFill>
                  <a:srgbClr val="1F497D"/>
                </a:solidFill>
                <a:latin typeface="Arial" pitchFamily="34" charset="0"/>
                <a:ea typeface="Arial" pitchFamily="34" charset="-122"/>
                <a:cs typeface="Arial" pitchFamily="34" charset="-120"/>
              </a:rPr>
              <a:t>In every era, God tests faith — and always on the far side of grace</a:t>
            </a:r>
            <a:endParaRPr lang="en-US" sz="1600" dirty="0"/>
          </a:p>
        </p:txBody>
      </p:sp>
      <p:sp>
        <p:nvSpPr>
          <p:cNvPr id="5" name="t3"/>
          <p:cNvSpPr txBox="1"/>
          <p:nvPr/>
        </p:nvSpPr>
        <p:spPr>
          <a:xfrm>
            <a:off x="914400" y="3063240"/>
            <a:ext cx="7315200" cy="1371600"/>
          </a:xfrm>
          <a:prstGeom prst="rect">
            <a:avLst/>
          </a:prstGeom>
          <a:noFill/>
          <a:ln/>
        </p:spPr>
        <p:txBody>
          <a:bodyPr wrap="square" lIns="0" tIns="0" rIns="0" bIns="0" rtlCol="0" anchor="t"/>
          <a:lstStyle/>
          <a:p>
            <a:pPr algn="ctr" indent="0" marL="0">
              <a:buNone/>
            </a:pPr>
            <a:r>
              <a:rPr lang="en-US" sz="1800" i="1" dirty="0">
                <a:solidFill>
                  <a:srgbClr val="000000"/>
                </a:solidFill>
                <a:latin typeface="Arial" pitchFamily="34" charset="0"/>
                <a:ea typeface="Arial" pitchFamily="34" charset="-122"/>
                <a:cs typeface="Arial" pitchFamily="34" charset="-120"/>
              </a:rPr>
              <a:t>“Remember… how he brought you these forty years through the desert so that he might, by humbling you, test you to see if you have it within you to keep his commandments.”</a:t>
            </a:r>
            <a:pPr algn="ctr" indent="0" marL="0">
              <a:buNone/>
            </a:pPr>
            <a:endParaRPr lang="en-US" sz="1600" dirty="0"/>
          </a:p>
          <a:p>
            <a:pPr algn="ctr" indent="0" marL="0">
              <a:buNone/>
            </a:pPr>
            <a:r>
              <a:rPr lang="en-US" sz="1700" dirty="0">
                <a:solidFill>
                  <a:srgbClr val="000000"/>
                </a:solidFill>
                <a:latin typeface="Arial" pitchFamily="34" charset="0"/>
                <a:ea typeface="Arial" pitchFamily="34" charset="-122"/>
                <a:cs typeface="Arial" pitchFamily="34" charset="-120"/>
              </a:rPr>
              <a:t>(Deuteronomy 8:2)</a:t>
            </a:r>
            <a:endParaRPr lang="en-US" sz="1600" dirty="0"/>
          </a:p>
        </p:txBody>
      </p:sp>
      <p:sp>
        <p:nvSpPr>
          <p:cNvPr id="6" name="t4"/>
          <p:cNvSpPr txBox="1"/>
          <p:nvPr/>
        </p:nvSpPr>
        <p:spPr>
          <a:xfrm>
            <a:off x="914400" y="4846320"/>
            <a:ext cx="7315200" cy="457200"/>
          </a:xfrm>
          <a:prstGeom prst="rect">
            <a:avLst/>
          </a:prstGeom>
          <a:noFill/>
          <a:ln/>
        </p:spPr>
        <p:txBody>
          <a:bodyPr wrap="square" lIns="0" tIns="0" rIns="0" bIns="0" rtlCol="0" anchor="t"/>
          <a:lstStyle/>
          <a:p>
            <a:pPr algn="ctr" indent="0" marL="0">
              <a:buNone/>
            </a:pPr>
            <a:r>
              <a:rPr lang="en-US" sz="16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Test, or Tempt?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Same event, two purposes — tell them apart</a:t>
            </a:r>
            <a:endParaRPr lang="en-US" sz="1600" dirty="0"/>
          </a:p>
        </p:txBody>
      </p:sp>
      <p:sp>
        <p:nvSpPr>
          <p:cNvPr id="4" name="tL"/>
          <p:cNvSpPr/>
          <p:nvPr/>
        </p:nvSpPr>
        <p:spPr>
          <a:xfrm>
            <a:off x="365760" y="1234440"/>
            <a:ext cx="4114800" cy="2468880"/>
          </a:xfrm>
          <a:prstGeom prst="roundRect">
            <a:avLst>
              <a:gd name="adj" fmla="val 2963"/>
            </a:avLst>
          </a:prstGeom>
          <a:solidFill>
            <a:srgbClr val="1F497D"/>
          </a:solidFill>
          <a:ln/>
        </p:spPr>
      </p:sp>
      <p:sp>
        <p:nvSpPr>
          <p:cNvPr id="5" name="tLt"/>
          <p:cNvSpPr txBox="1"/>
          <p:nvPr/>
        </p:nvSpPr>
        <p:spPr>
          <a:xfrm>
            <a:off x="548640" y="1371600"/>
            <a:ext cx="3794760" cy="2194560"/>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GOD TESTS
</a:t>
            </a:r>
            <a:pPr algn="l" indent="0" marL="0">
              <a:buNone/>
            </a:pPr>
            <a:r>
              <a:rPr lang="en-US" sz="1150" i="1" dirty="0">
                <a:solidFill>
                  <a:srgbClr val="C9A227"/>
                </a:solidFill>
                <a:latin typeface="Arial" pitchFamily="34" charset="0"/>
                <a:ea typeface="Arial" pitchFamily="34" charset="-122"/>
                <a:cs typeface="Arial" pitchFamily="34" charset="-120"/>
              </a:rPr>
              <a:t>Hebrew: nasah (prove), bachan (assay/refine)
Greek: dokimazo (test to approve)
</a:t>
            </a:r>
            <a:pPr algn="l" indent="0" marL="0">
              <a:buNone/>
            </a:pPr>
            <a:r>
              <a:rPr lang="en-US" sz="1350" dirty="0">
                <a:solidFill>
                  <a:srgbClr val="FFFFFF"/>
                </a:solidFill>
                <a:latin typeface="Arial" pitchFamily="34" charset="0"/>
                <a:ea typeface="Arial" pitchFamily="34" charset="-122"/>
                <a:cs typeface="Arial" pitchFamily="34" charset="-120"/>
              </a:rPr>
              <a:t>Purpose: to prove and refine — to bring genuine faith into the open and strengthen it. God tests toward LIFE.</a:t>
            </a:r>
            <a:endParaRPr lang="en-US" sz="1600" dirty="0"/>
          </a:p>
        </p:txBody>
      </p:sp>
      <p:sp>
        <p:nvSpPr>
          <p:cNvPr id="6" name="tR"/>
          <p:cNvSpPr/>
          <p:nvPr/>
        </p:nvSpPr>
        <p:spPr>
          <a:xfrm>
            <a:off x="4663440" y="1234440"/>
            <a:ext cx="4114800" cy="2468880"/>
          </a:xfrm>
          <a:prstGeom prst="roundRect">
            <a:avLst>
              <a:gd name="adj" fmla="val 2963"/>
            </a:avLst>
          </a:prstGeom>
          <a:solidFill>
            <a:srgbClr val="F2F0EA"/>
          </a:solidFill>
          <a:ln w="12700">
            <a:solidFill>
              <a:srgbClr val="595959"/>
            </a:solidFill>
            <a:prstDash val="solid"/>
          </a:ln>
        </p:spPr>
      </p:sp>
      <p:sp>
        <p:nvSpPr>
          <p:cNvPr id="7" name="tRt"/>
          <p:cNvSpPr txBox="1"/>
          <p:nvPr/>
        </p:nvSpPr>
        <p:spPr>
          <a:xfrm>
            <a:off x="4846320" y="1371600"/>
            <a:ext cx="3794760" cy="2194560"/>
          </a:xfrm>
          <a:prstGeom prst="rect">
            <a:avLst/>
          </a:prstGeom>
          <a:noFill/>
          <a:ln/>
        </p:spPr>
        <p:txBody>
          <a:bodyPr wrap="square" lIns="0" tIns="0" rIns="0" bIns="0" rtlCol="0" anchor="t"/>
          <a:lstStyle/>
          <a:p>
            <a:pPr algn="l" indent="0" marL="0">
              <a:buNone/>
            </a:pPr>
            <a:r>
              <a:rPr lang="en-US" sz="1700" b="1" dirty="0">
                <a:solidFill>
                  <a:srgbClr val="B0413E"/>
                </a:solidFill>
                <a:latin typeface="Arial" pitchFamily="34" charset="0"/>
                <a:ea typeface="Arial" pitchFamily="34" charset="-122"/>
                <a:cs typeface="Arial" pitchFamily="34" charset="-120"/>
              </a:rPr>
              <a:t>SATAN TEMPTS
</a:t>
            </a:r>
            <a:pPr algn="l" indent="0" marL="0">
              <a:buNone/>
            </a:pPr>
            <a:r>
              <a:rPr lang="en-US" sz="1150" i="1" dirty="0">
                <a:solidFill>
                  <a:srgbClr val="595959"/>
                </a:solidFill>
                <a:latin typeface="Arial" pitchFamily="34" charset="0"/>
                <a:ea typeface="Arial" pitchFamily="34" charset="-122"/>
                <a:cs typeface="Arial" pitchFamily="34" charset="-120"/>
              </a:rPr>
              <a:t>Greek: peirazo (in his hands: to entice to evil)
</a:t>
            </a:r>
            <a:pPr algn="l" indent="0" marL="0">
              <a:buNone/>
            </a:pPr>
            <a:r>
              <a:rPr lang="en-US" sz="1350" dirty="0">
                <a:solidFill>
                  <a:srgbClr val="000000"/>
                </a:solidFill>
                <a:latin typeface="Arial" pitchFamily="34" charset="0"/>
                <a:ea typeface="Arial" pitchFamily="34" charset="-122"/>
                <a:cs typeface="Arial" pitchFamily="34" charset="-120"/>
              </a:rPr>
              <a:t>Purpose: to break and destroy — to make faith fail. The tempter aims at DEATH.</a:t>
            </a:r>
            <a:endParaRPr lang="en-US" sz="1600" dirty="0"/>
          </a:p>
        </p:txBody>
      </p:sp>
      <p:sp>
        <p:nvSpPr>
          <p:cNvPr id="8" name="v1"/>
          <p:cNvSpPr txBox="1"/>
          <p:nvPr/>
        </p:nvSpPr>
        <p:spPr>
          <a:xfrm>
            <a:off x="365760" y="3886200"/>
            <a:ext cx="8412480" cy="960120"/>
          </a:xfrm>
          <a:prstGeom prst="rect">
            <a:avLst/>
          </a:prstGeom>
          <a:noFill/>
          <a:ln/>
        </p:spPr>
        <p:txBody>
          <a:bodyPr wrap="square" lIns="0" tIns="0" rIns="0" bIns="0" rtlCol="0" anchor="t"/>
          <a:lstStyle/>
          <a:p>
            <a:pPr algn="l" indent="0" marL="0">
              <a:buNone/>
            </a:pPr>
            <a:r>
              <a:rPr lang="en-US" sz="1450" b="1" dirty="0">
                <a:solidFill>
                  <a:srgbClr val="1F497D"/>
                </a:solidFill>
                <a:latin typeface="Arial" pitchFamily="34" charset="0"/>
                <a:ea typeface="Arial" pitchFamily="34" charset="-122"/>
                <a:cs typeface="Arial" pitchFamily="34" charset="-120"/>
              </a:rPr>
              <a:t>The same event can be both, from two sides:  </a:t>
            </a:r>
            <a:pPr algn="l" indent="0" marL="0">
              <a:buNone/>
            </a:pPr>
            <a:r>
              <a:rPr lang="en-US" sz="1400" dirty="0">
                <a:solidFill>
                  <a:srgbClr val="000000"/>
                </a:solidFill>
                <a:latin typeface="Arial" pitchFamily="34" charset="0"/>
                <a:ea typeface="Arial" pitchFamily="34" charset="-122"/>
                <a:cs typeface="Arial" pitchFamily="34" charset="-120"/>
              </a:rPr>
              <a:t>Job’s loss, Peter’s sifting (Luke 22:31–32 — Satan demanded to sift him; Jesus prayed his faith would not fail). One event; God’s purpose to prove, Satan’s to destroy.</a:t>
            </a:r>
            <a:endParaRPr lang="en-US" sz="1600" dirty="0"/>
          </a:p>
        </p:txBody>
      </p:sp>
      <p:sp>
        <p:nvSpPr>
          <p:cNvPr id="9" name="v2"/>
          <p:cNvSpPr txBox="1"/>
          <p:nvPr/>
        </p:nvSpPr>
        <p:spPr>
          <a:xfrm>
            <a:off x="365760" y="4937760"/>
            <a:ext cx="8412480" cy="1188720"/>
          </a:xfrm>
          <a:prstGeom prst="rect">
            <a:avLst/>
          </a:prstGeom>
          <a:noFill/>
          <a:ln/>
        </p:spPr>
        <p:txBody>
          <a:bodyPr wrap="square" lIns="0" tIns="0" rIns="0" bIns="0" rtlCol="0" anchor="t"/>
          <a:lstStyle/>
          <a:p>
            <a:pPr algn="l" indent="0" marL="0">
              <a:buNone/>
            </a:pPr>
            <a:r>
              <a:rPr lang="en-US" sz="1450" b="1" dirty="0">
                <a:solidFill>
                  <a:srgbClr val="000000"/>
                </a:solidFill>
                <a:latin typeface="Arial" pitchFamily="34" charset="0"/>
                <a:ea typeface="Arial" pitchFamily="34" charset="-122"/>
                <a:cs typeface="Arial" pitchFamily="34" charset="-120"/>
              </a:rPr>
              <a:t>And God never tempts toward evil: </a:t>
            </a:r>
            <a:pPr algn="l" indent="0" marL="0">
              <a:buNone/>
            </a:pPr>
            <a:r>
              <a:rPr lang="en-US" sz="1400" b="1" i="1" dirty="0">
                <a:solidFill>
                  <a:srgbClr val="000000"/>
                </a:solidFill>
                <a:latin typeface="Arial" pitchFamily="34" charset="0"/>
                <a:ea typeface="Arial" pitchFamily="34" charset="-122"/>
                <a:cs typeface="Arial" pitchFamily="34" charset="-120"/>
              </a:rPr>
              <a:t>“Let no one say when he is tempted, “I am tempted by God,” for God cannot be tempted by evil, and he himself tempts no one.” </a:t>
            </a:r>
            <a:pPr algn="l" indent="0" marL="0">
              <a:buNone/>
            </a:pPr>
            <a:r>
              <a:rPr lang="en-US" sz="1300" b="1" dirty="0">
                <a:solidFill>
                  <a:srgbClr val="000000"/>
                </a:solidFill>
                <a:latin typeface="Arial" pitchFamily="34" charset="0"/>
                <a:ea typeface="Arial" pitchFamily="34" charset="-122"/>
                <a:cs typeface="Arial" pitchFamily="34" charset="-120"/>
              </a:rPr>
              <a:t>(James 1:13)</a:t>
            </a:r>
            <a:pPr algn="l" indent="0" marL="0">
              <a:buNone/>
            </a:pPr>
            <a:endParaRPr lang="en-US" sz="1600" dirty="0"/>
          </a:p>
          <a:p>
            <a:pPr algn="l" indent="0" marL="0">
              <a:buNone/>
            </a:pPr>
            <a:r>
              <a:rPr lang="en-US" sz="1400" b="1" dirty="0">
                <a:solidFill>
                  <a:srgbClr val="1F497D"/>
                </a:solidFill>
                <a:latin typeface="Arial" pitchFamily="34" charset="0"/>
                <a:ea typeface="Arial" pitchFamily="34" charset="-122"/>
                <a:cs typeface="Arial" pitchFamily="34" charset="-120"/>
              </a:rPr>
              <a:t>Key idea for the whole unit: a test is the scheduled occasion of sacrifice — the moment trust must cost something.</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13" presetID="42"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A Pattern in Every Covenant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God speaks — faith must become costly action</a:t>
            </a:r>
            <a:endParaRPr lang="en-US" sz="1600" dirty="0"/>
          </a:p>
        </p:txBody>
      </p:sp>
      <p:sp>
        <p:nvSpPr>
          <p:cNvPr id="4" name="hh0"/>
          <p:cNvSpPr/>
          <p:nvPr/>
        </p:nvSpPr>
        <p:spPr>
          <a:xfrm>
            <a:off x="365760" y="1371600"/>
            <a:ext cx="1234440" cy="365760"/>
          </a:xfrm>
          <a:prstGeom prst="rect">
            <a:avLst/>
          </a:prstGeom>
          <a:solidFill>
            <a:srgbClr val="1F497D"/>
          </a:solidFill>
          <a:ln/>
        </p:spPr>
      </p:sp>
      <p:sp>
        <p:nvSpPr>
          <p:cNvPr id="5" name="hd0"/>
          <p:cNvSpPr txBox="1"/>
          <p:nvPr/>
        </p:nvSpPr>
        <p:spPr>
          <a:xfrm>
            <a:off x="429768" y="1417320"/>
            <a:ext cx="1124712"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Arial" pitchFamily="34" charset="0"/>
                <a:ea typeface="Arial" pitchFamily="34" charset="-122"/>
                <a:cs typeface="Arial" pitchFamily="34" charset="-120"/>
              </a:rPr>
              <a:t>Era</a:t>
            </a:r>
            <a:endParaRPr lang="en-US" sz="1600" dirty="0"/>
          </a:p>
        </p:txBody>
      </p:sp>
      <p:sp>
        <p:nvSpPr>
          <p:cNvPr id="6" name="hh1"/>
          <p:cNvSpPr/>
          <p:nvPr/>
        </p:nvSpPr>
        <p:spPr>
          <a:xfrm>
            <a:off x="1600200" y="1371600"/>
            <a:ext cx="1463040" cy="365760"/>
          </a:xfrm>
          <a:prstGeom prst="rect">
            <a:avLst/>
          </a:prstGeom>
          <a:solidFill>
            <a:srgbClr val="1F497D"/>
          </a:solidFill>
          <a:ln/>
        </p:spPr>
      </p:sp>
      <p:sp>
        <p:nvSpPr>
          <p:cNvPr id="7" name="hd1"/>
          <p:cNvSpPr txBox="1"/>
          <p:nvPr/>
        </p:nvSpPr>
        <p:spPr>
          <a:xfrm>
            <a:off x="1664208" y="1417320"/>
            <a:ext cx="1353312"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Arial" pitchFamily="34" charset="0"/>
                <a:ea typeface="Arial" pitchFamily="34" charset="-122"/>
                <a:cs typeface="Arial" pitchFamily="34" charset="-120"/>
              </a:rPr>
              <a:t>Text</a:t>
            </a:r>
            <a:endParaRPr lang="en-US" sz="1600" dirty="0"/>
          </a:p>
        </p:txBody>
      </p:sp>
      <p:sp>
        <p:nvSpPr>
          <p:cNvPr id="8" name="hh2"/>
          <p:cNvSpPr/>
          <p:nvPr/>
        </p:nvSpPr>
        <p:spPr>
          <a:xfrm>
            <a:off x="3063240" y="1371600"/>
            <a:ext cx="2560320" cy="365760"/>
          </a:xfrm>
          <a:prstGeom prst="rect">
            <a:avLst/>
          </a:prstGeom>
          <a:solidFill>
            <a:srgbClr val="1F497D"/>
          </a:solidFill>
          <a:ln/>
        </p:spPr>
      </p:sp>
      <p:sp>
        <p:nvSpPr>
          <p:cNvPr id="9" name="hd2"/>
          <p:cNvSpPr txBox="1"/>
          <p:nvPr/>
        </p:nvSpPr>
        <p:spPr>
          <a:xfrm>
            <a:off x="3127248" y="1417320"/>
            <a:ext cx="2450592"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Arial" pitchFamily="34" charset="0"/>
                <a:ea typeface="Arial" pitchFamily="34" charset="-122"/>
                <a:cs typeface="Arial" pitchFamily="34" charset="-120"/>
              </a:rPr>
              <a:t>The test</a:t>
            </a:r>
            <a:endParaRPr lang="en-US" sz="1600" dirty="0"/>
          </a:p>
        </p:txBody>
      </p:sp>
      <p:sp>
        <p:nvSpPr>
          <p:cNvPr id="10" name="hh3"/>
          <p:cNvSpPr/>
          <p:nvPr/>
        </p:nvSpPr>
        <p:spPr>
          <a:xfrm>
            <a:off x="5623560" y="1371600"/>
            <a:ext cx="3154680" cy="365760"/>
          </a:xfrm>
          <a:prstGeom prst="rect">
            <a:avLst/>
          </a:prstGeom>
          <a:solidFill>
            <a:srgbClr val="1F497D"/>
          </a:solidFill>
          <a:ln/>
        </p:spPr>
      </p:sp>
      <p:sp>
        <p:nvSpPr>
          <p:cNvPr id="11" name="hd3"/>
          <p:cNvSpPr txBox="1"/>
          <p:nvPr/>
        </p:nvSpPr>
        <p:spPr>
          <a:xfrm>
            <a:off x="5687568" y="1417320"/>
            <a:ext cx="3044952" cy="274320"/>
          </a:xfrm>
          <a:prstGeom prst="rect">
            <a:avLst/>
          </a:prstGeom>
          <a:noFill/>
          <a:ln/>
        </p:spPr>
        <p:txBody>
          <a:bodyPr wrap="square" lIns="0" tIns="0" rIns="0" bIns="0" rtlCol="0" anchor="ctr"/>
          <a:lstStyle/>
          <a:p>
            <a:pPr algn="l" indent="0" marL="0">
              <a:buNone/>
            </a:pPr>
            <a:r>
              <a:rPr lang="en-US" sz="1100" b="1" dirty="0">
                <a:solidFill>
                  <a:srgbClr val="FFFFFF"/>
                </a:solidFill>
                <a:latin typeface="Arial" pitchFamily="34" charset="0"/>
                <a:ea typeface="Arial" pitchFamily="34" charset="-122"/>
                <a:cs typeface="Arial" pitchFamily="34" charset="-120"/>
              </a:rPr>
              <a:t>What it asked</a:t>
            </a:r>
            <a:endParaRPr lang="en-US" sz="1600" dirty="0"/>
          </a:p>
        </p:txBody>
      </p:sp>
      <p:sp>
        <p:nvSpPr>
          <p:cNvPr id="12" name="c0_0"/>
          <p:cNvSpPr/>
          <p:nvPr/>
        </p:nvSpPr>
        <p:spPr>
          <a:xfrm>
            <a:off x="365760" y="1737360"/>
            <a:ext cx="1234440" cy="777240"/>
          </a:xfrm>
          <a:prstGeom prst="rect">
            <a:avLst/>
          </a:prstGeom>
          <a:solidFill>
            <a:srgbClr val="FFFFFF"/>
          </a:solidFill>
          <a:ln w="6350">
            <a:solidFill>
              <a:srgbClr val="D9DDE3"/>
            </a:solidFill>
            <a:prstDash val="solid"/>
          </a:ln>
        </p:spPr>
      </p:sp>
      <p:sp>
        <p:nvSpPr>
          <p:cNvPr id="13" name="x0_0"/>
          <p:cNvSpPr txBox="1"/>
          <p:nvPr/>
        </p:nvSpPr>
        <p:spPr>
          <a:xfrm>
            <a:off x="429768" y="1773936"/>
            <a:ext cx="1124712" cy="722376"/>
          </a:xfrm>
          <a:prstGeom prst="rect">
            <a:avLst/>
          </a:prstGeom>
          <a:noFill/>
          <a:ln/>
        </p:spPr>
        <p:txBody>
          <a:bodyPr wrap="square" lIns="0" tIns="0" rIns="0" bIns="0" rtlCol="0" anchor="ctr"/>
          <a:lstStyle/>
          <a:p>
            <a:pPr algn="l" indent="0" marL="0">
              <a:buNone/>
            </a:pPr>
            <a:r>
              <a:rPr lang="en-US" sz="1150" b="1" dirty="0">
                <a:solidFill>
                  <a:srgbClr val="1F497D"/>
                </a:solidFill>
                <a:latin typeface="Arial" pitchFamily="34" charset="0"/>
                <a:ea typeface="Arial" pitchFamily="34" charset="-122"/>
                <a:cs typeface="Arial" pitchFamily="34" charset="-120"/>
              </a:rPr>
              <a:t>Eden</a:t>
            </a:r>
            <a:endParaRPr lang="en-US" sz="1600" dirty="0"/>
          </a:p>
        </p:txBody>
      </p:sp>
      <p:sp>
        <p:nvSpPr>
          <p:cNvPr id="14" name="c0_1"/>
          <p:cNvSpPr/>
          <p:nvPr/>
        </p:nvSpPr>
        <p:spPr>
          <a:xfrm>
            <a:off x="1600200" y="1737360"/>
            <a:ext cx="1463040" cy="777240"/>
          </a:xfrm>
          <a:prstGeom prst="rect">
            <a:avLst/>
          </a:prstGeom>
          <a:solidFill>
            <a:srgbClr val="FFFFFF"/>
          </a:solidFill>
          <a:ln w="6350">
            <a:solidFill>
              <a:srgbClr val="D9DDE3"/>
            </a:solidFill>
            <a:prstDash val="solid"/>
          </a:ln>
        </p:spPr>
      </p:sp>
      <p:sp>
        <p:nvSpPr>
          <p:cNvPr id="15" name="x0_1"/>
          <p:cNvSpPr txBox="1"/>
          <p:nvPr/>
        </p:nvSpPr>
        <p:spPr>
          <a:xfrm>
            <a:off x="1664208" y="1773936"/>
            <a:ext cx="1353312" cy="722376"/>
          </a:xfrm>
          <a:prstGeom prst="rect">
            <a:avLst/>
          </a:prstGeom>
          <a:noFill/>
          <a:ln/>
        </p:spPr>
        <p:txBody>
          <a:bodyPr wrap="square" lIns="0" tIns="0" rIns="0" bIns="0" rtlCol="0" anchor="ctr"/>
          <a:lstStyle/>
          <a:p>
            <a:pPr algn="l" indent="0" marL="0">
              <a:buNone/>
            </a:pPr>
            <a:r>
              <a:rPr lang="en-US" sz="1000" i="1" dirty="0">
                <a:solidFill>
                  <a:srgbClr val="000000"/>
                </a:solidFill>
                <a:latin typeface="Arial" pitchFamily="34" charset="0"/>
                <a:ea typeface="Arial" pitchFamily="34" charset="-122"/>
                <a:cs typeface="Arial" pitchFamily="34" charset="-120"/>
              </a:rPr>
              <a:t>Gen 2:16–17</a:t>
            </a:r>
            <a:endParaRPr lang="en-US" sz="1600" dirty="0"/>
          </a:p>
        </p:txBody>
      </p:sp>
      <p:sp>
        <p:nvSpPr>
          <p:cNvPr id="16" name="c0_2"/>
          <p:cNvSpPr/>
          <p:nvPr/>
        </p:nvSpPr>
        <p:spPr>
          <a:xfrm>
            <a:off x="3063240" y="1737360"/>
            <a:ext cx="2560320" cy="777240"/>
          </a:xfrm>
          <a:prstGeom prst="rect">
            <a:avLst/>
          </a:prstGeom>
          <a:solidFill>
            <a:srgbClr val="FFFFFF"/>
          </a:solidFill>
          <a:ln w="6350">
            <a:solidFill>
              <a:srgbClr val="D9DDE3"/>
            </a:solidFill>
            <a:prstDash val="solid"/>
          </a:ln>
        </p:spPr>
      </p:sp>
      <p:sp>
        <p:nvSpPr>
          <p:cNvPr id="17" name="x0_2"/>
          <p:cNvSpPr txBox="1"/>
          <p:nvPr/>
        </p:nvSpPr>
        <p:spPr>
          <a:xfrm>
            <a:off x="3127248" y="1773936"/>
            <a:ext cx="245059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The one forbidden tree</a:t>
            </a:r>
            <a:endParaRPr lang="en-US" sz="1600" dirty="0"/>
          </a:p>
        </p:txBody>
      </p:sp>
      <p:sp>
        <p:nvSpPr>
          <p:cNvPr id="18" name="c0_3"/>
          <p:cNvSpPr/>
          <p:nvPr/>
        </p:nvSpPr>
        <p:spPr>
          <a:xfrm>
            <a:off x="5623560" y="1737360"/>
            <a:ext cx="3154680" cy="777240"/>
          </a:xfrm>
          <a:prstGeom prst="rect">
            <a:avLst/>
          </a:prstGeom>
          <a:solidFill>
            <a:srgbClr val="FFFFFF"/>
          </a:solidFill>
          <a:ln w="6350">
            <a:solidFill>
              <a:srgbClr val="D9DDE3"/>
            </a:solidFill>
            <a:prstDash val="solid"/>
          </a:ln>
        </p:spPr>
      </p:sp>
      <p:sp>
        <p:nvSpPr>
          <p:cNvPr id="19" name="x0_3"/>
          <p:cNvSpPr txBox="1"/>
          <p:nvPr/>
        </p:nvSpPr>
        <p:spPr>
          <a:xfrm>
            <a:off x="5687568" y="1773936"/>
            <a:ext cx="304495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Nearly costless to keep — a PURE test of trust in the word alone</a:t>
            </a:r>
            <a:endParaRPr lang="en-US" sz="1600" dirty="0"/>
          </a:p>
        </p:txBody>
      </p:sp>
      <p:sp>
        <p:nvSpPr>
          <p:cNvPr id="20" name="c1_0"/>
          <p:cNvSpPr/>
          <p:nvPr/>
        </p:nvSpPr>
        <p:spPr>
          <a:xfrm>
            <a:off x="365760" y="2514600"/>
            <a:ext cx="1234440" cy="777240"/>
          </a:xfrm>
          <a:prstGeom prst="rect">
            <a:avLst/>
          </a:prstGeom>
          <a:solidFill>
            <a:srgbClr val="F2F4F7"/>
          </a:solidFill>
          <a:ln w="6350">
            <a:solidFill>
              <a:srgbClr val="D9DDE3"/>
            </a:solidFill>
            <a:prstDash val="solid"/>
          </a:ln>
        </p:spPr>
      </p:sp>
      <p:sp>
        <p:nvSpPr>
          <p:cNvPr id="21" name="x1_0"/>
          <p:cNvSpPr txBox="1"/>
          <p:nvPr/>
        </p:nvSpPr>
        <p:spPr>
          <a:xfrm>
            <a:off x="429768" y="2551176"/>
            <a:ext cx="1124712" cy="722376"/>
          </a:xfrm>
          <a:prstGeom prst="rect">
            <a:avLst/>
          </a:prstGeom>
          <a:noFill/>
          <a:ln/>
        </p:spPr>
        <p:txBody>
          <a:bodyPr wrap="square" lIns="0" tIns="0" rIns="0" bIns="0" rtlCol="0" anchor="ctr"/>
          <a:lstStyle/>
          <a:p>
            <a:pPr algn="l" indent="0" marL="0">
              <a:buNone/>
            </a:pPr>
            <a:r>
              <a:rPr lang="en-US" sz="1150" b="1" dirty="0">
                <a:solidFill>
                  <a:srgbClr val="1F497D"/>
                </a:solidFill>
                <a:latin typeface="Arial" pitchFamily="34" charset="0"/>
                <a:ea typeface="Arial" pitchFamily="34" charset="-122"/>
                <a:cs typeface="Arial" pitchFamily="34" charset="-120"/>
              </a:rPr>
              <a:t>Noah</a:t>
            </a:r>
            <a:endParaRPr lang="en-US" sz="1600" dirty="0"/>
          </a:p>
        </p:txBody>
      </p:sp>
      <p:sp>
        <p:nvSpPr>
          <p:cNvPr id="22" name="c1_1"/>
          <p:cNvSpPr/>
          <p:nvPr/>
        </p:nvSpPr>
        <p:spPr>
          <a:xfrm>
            <a:off x="1600200" y="2514600"/>
            <a:ext cx="1463040" cy="777240"/>
          </a:xfrm>
          <a:prstGeom prst="rect">
            <a:avLst/>
          </a:prstGeom>
          <a:solidFill>
            <a:srgbClr val="F2F4F7"/>
          </a:solidFill>
          <a:ln w="6350">
            <a:solidFill>
              <a:srgbClr val="D9DDE3"/>
            </a:solidFill>
            <a:prstDash val="solid"/>
          </a:ln>
        </p:spPr>
      </p:sp>
      <p:sp>
        <p:nvSpPr>
          <p:cNvPr id="23" name="x1_1"/>
          <p:cNvSpPr txBox="1"/>
          <p:nvPr/>
        </p:nvSpPr>
        <p:spPr>
          <a:xfrm>
            <a:off x="1664208" y="2551176"/>
            <a:ext cx="1353312" cy="722376"/>
          </a:xfrm>
          <a:prstGeom prst="rect">
            <a:avLst/>
          </a:prstGeom>
          <a:noFill/>
          <a:ln/>
        </p:spPr>
        <p:txBody>
          <a:bodyPr wrap="square" lIns="0" tIns="0" rIns="0" bIns="0" rtlCol="0" anchor="ctr"/>
          <a:lstStyle/>
          <a:p>
            <a:pPr algn="l" indent="0" marL="0">
              <a:buNone/>
            </a:pPr>
            <a:r>
              <a:rPr lang="en-US" sz="1000" i="1" dirty="0">
                <a:solidFill>
                  <a:srgbClr val="000000"/>
                </a:solidFill>
                <a:latin typeface="Arial" pitchFamily="34" charset="0"/>
                <a:ea typeface="Arial" pitchFamily="34" charset="-122"/>
                <a:cs typeface="Arial" pitchFamily="34" charset="-120"/>
              </a:rPr>
              <a:t>Heb 11:7</a:t>
            </a:r>
            <a:endParaRPr lang="en-US" sz="1600" dirty="0"/>
          </a:p>
        </p:txBody>
      </p:sp>
      <p:sp>
        <p:nvSpPr>
          <p:cNvPr id="24" name="c1_2"/>
          <p:cNvSpPr/>
          <p:nvPr/>
        </p:nvSpPr>
        <p:spPr>
          <a:xfrm>
            <a:off x="3063240" y="2514600"/>
            <a:ext cx="2560320" cy="777240"/>
          </a:xfrm>
          <a:prstGeom prst="rect">
            <a:avLst/>
          </a:prstGeom>
          <a:solidFill>
            <a:srgbClr val="F2F4F7"/>
          </a:solidFill>
          <a:ln w="6350">
            <a:solidFill>
              <a:srgbClr val="D9DDE3"/>
            </a:solidFill>
            <a:prstDash val="solid"/>
          </a:ln>
        </p:spPr>
      </p:sp>
      <p:sp>
        <p:nvSpPr>
          <p:cNvPr id="25" name="x1_2"/>
          <p:cNvSpPr txBox="1"/>
          <p:nvPr/>
        </p:nvSpPr>
        <p:spPr>
          <a:xfrm>
            <a:off x="3127248" y="2551176"/>
            <a:ext cx="245059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Build an ark for “things not yet seen”</a:t>
            </a:r>
            <a:endParaRPr lang="en-US" sz="1600" dirty="0"/>
          </a:p>
        </p:txBody>
      </p:sp>
      <p:sp>
        <p:nvSpPr>
          <p:cNvPr id="26" name="c1_3"/>
          <p:cNvSpPr/>
          <p:nvPr/>
        </p:nvSpPr>
        <p:spPr>
          <a:xfrm>
            <a:off x="5623560" y="2514600"/>
            <a:ext cx="3154680" cy="777240"/>
          </a:xfrm>
          <a:prstGeom prst="rect">
            <a:avLst/>
          </a:prstGeom>
          <a:solidFill>
            <a:srgbClr val="F2F4F7"/>
          </a:solidFill>
          <a:ln w="6350">
            <a:solidFill>
              <a:srgbClr val="D9DDE3"/>
            </a:solidFill>
            <a:prstDash val="solid"/>
          </a:ln>
        </p:spPr>
      </p:sp>
      <p:sp>
        <p:nvSpPr>
          <p:cNvPr id="27" name="x1_3"/>
          <p:cNvSpPr txBox="1"/>
          <p:nvPr/>
        </p:nvSpPr>
        <p:spPr>
          <a:xfrm>
            <a:off x="5687568" y="2551176"/>
            <a:ext cx="304495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A lifetime’s labor on a warning with no visible referent</a:t>
            </a:r>
            <a:endParaRPr lang="en-US" sz="1600" dirty="0"/>
          </a:p>
        </p:txBody>
      </p:sp>
      <p:sp>
        <p:nvSpPr>
          <p:cNvPr id="28" name="c2_0"/>
          <p:cNvSpPr/>
          <p:nvPr/>
        </p:nvSpPr>
        <p:spPr>
          <a:xfrm>
            <a:off x="365760" y="3291840"/>
            <a:ext cx="1234440" cy="777240"/>
          </a:xfrm>
          <a:prstGeom prst="rect">
            <a:avLst/>
          </a:prstGeom>
          <a:solidFill>
            <a:srgbClr val="FFFFFF"/>
          </a:solidFill>
          <a:ln w="6350">
            <a:solidFill>
              <a:srgbClr val="D9DDE3"/>
            </a:solidFill>
            <a:prstDash val="solid"/>
          </a:ln>
        </p:spPr>
      </p:sp>
      <p:sp>
        <p:nvSpPr>
          <p:cNvPr id="29" name="x2_0"/>
          <p:cNvSpPr txBox="1"/>
          <p:nvPr/>
        </p:nvSpPr>
        <p:spPr>
          <a:xfrm>
            <a:off x="429768" y="3328416"/>
            <a:ext cx="1124712" cy="722376"/>
          </a:xfrm>
          <a:prstGeom prst="rect">
            <a:avLst/>
          </a:prstGeom>
          <a:noFill/>
          <a:ln/>
        </p:spPr>
        <p:txBody>
          <a:bodyPr wrap="square" lIns="0" tIns="0" rIns="0" bIns="0" rtlCol="0" anchor="ctr"/>
          <a:lstStyle/>
          <a:p>
            <a:pPr algn="l" indent="0" marL="0">
              <a:buNone/>
            </a:pPr>
            <a:r>
              <a:rPr lang="en-US" sz="1150" b="1" dirty="0">
                <a:solidFill>
                  <a:srgbClr val="1F497D"/>
                </a:solidFill>
                <a:latin typeface="Arial" pitchFamily="34" charset="0"/>
                <a:ea typeface="Arial" pitchFamily="34" charset="-122"/>
                <a:cs typeface="Arial" pitchFamily="34" charset="-120"/>
              </a:rPr>
              <a:t>Abraham</a:t>
            </a:r>
            <a:endParaRPr lang="en-US" sz="1600" dirty="0"/>
          </a:p>
        </p:txBody>
      </p:sp>
      <p:sp>
        <p:nvSpPr>
          <p:cNvPr id="30" name="c2_1"/>
          <p:cNvSpPr/>
          <p:nvPr/>
        </p:nvSpPr>
        <p:spPr>
          <a:xfrm>
            <a:off x="1600200" y="3291840"/>
            <a:ext cx="1463040" cy="777240"/>
          </a:xfrm>
          <a:prstGeom prst="rect">
            <a:avLst/>
          </a:prstGeom>
          <a:solidFill>
            <a:srgbClr val="FFFFFF"/>
          </a:solidFill>
          <a:ln w="6350">
            <a:solidFill>
              <a:srgbClr val="D9DDE3"/>
            </a:solidFill>
            <a:prstDash val="solid"/>
          </a:ln>
        </p:spPr>
      </p:sp>
      <p:sp>
        <p:nvSpPr>
          <p:cNvPr id="31" name="x2_1"/>
          <p:cNvSpPr txBox="1"/>
          <p:nvPr/>
        </p:nvSpPr>
        <p:spPr>
          <a:xfrm>
            <a:off x="1664208" y="3328416"/>
            <a:ext cx="1353312" cy="722376"/>
          </a:xfrm>
          <a:prstGeom prst="rect">
            <a:avLst/>
          </a:prstGeom>
          <a:noFill/>
          <a:ln/>
        </p:spPr>
        <p:txBody>
          <a:bodyPr wrap="square" lIns="0" tIns="0" rIns="0" bIns="0" rtlCol="0" anchor="ctr"/>
          <a:lstStyle/>
          <a:p>
            <a:pPr algn="l" indent="0" marL="0">
              <a:buNone/>
            </a:pPr>
            <a:r>
              <a:rPr lang="en-US" sz="1000" i="1" dirty="0">
                <a:solidFill>
                  <a:srgbClr val="000000"/>
                </a:solidFill>
                <a:latin typeface="Arial" pitchFamily="34" charset="0"/>
                <a:ea typeface="Arial" pitchFamily="34" charset="-122"/>
                <a:cs typeface="Arial" pitchFamily="34" charset="-120"/>
              </a:rPr>
              <a:t>Gen 22:1</a:t>
            </a:r>
            <a:endParaRPr lang="en-US" sz="1600" dirty="0"/>
          </a:p>
        </p:txBody>
      </p:sp>
      <p:sp>
        <p:nvSpPr>
          <p:cNvPr id="32" name="c2_2"/>
          <p:cNvSpPr/>
          <p:nvPr/>
        </p:nvSpPr>
        <p:spPr>
          <a:xfrm>
            <a:off x="3063240" y="3291840"/>
            <a:ext cx="2560320" cy="777240"/>
          </a:xfrm>
          <a:prstGeom prst="rect">
            <a:avLst/>
          </a:prstGeom>
          <a:solidFill>
            <a:srgbClr val="FFFFFF"/>
          </a:solidFill>
          <a:ln w="6350">
            <a:solidFill>
              <a:srgbClr val="D9DDE3"/>
            </a:solidFill>
            <a:prstDash val="solid"/>
          </a:ln>
        </p:spPr>
      </p:sp>
      <p:sp>
        <p:nvSpPr>
          <p:cNvPr id="33" name="x2_2"/>
          <p:cNvSpPr txBox="1"/>
          <p:nvPr/>
        </p:nvSpPr>
        <p:spPr>
          <a:xfrm>
            <a:off x="3127248" y="3328416"/>
            <a:ext cx="245059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“God tested Abraham” — offer Isaac</a:t>
            </a:r>
            <a:endParaRPr lang="en-US" sz="1600" dirty="0"/>
          </a:p>
        </p:txBody>
      </p:sp>
      <p:sp>
        <p:nvSpPr>
          <p:cNvPr id="34" name="c2_3"/>
          <p:cNvSpPr/>
          <p:nvPr/>
        </p:nvSpPr>
        <p:spPr>
          <a:xfrm>
            <a:off x="5623560" y="3291840"/>
            <a:ext cx="3154680" cy="777240"/>
          </a:xfrm>
          <a:prstGeom prst="rect">
            <a:avLst/>
          </a:prstGeom>
          <a:solidFill>
            <a:srgbClr val="FFFFFF"/>
          </a:solidFill>
          <a:ln w="6350">
            <a:solidFill>
              <a:srgbClr val="D9DDE3"/>
            </a:solidFill>
            <a:prstDash val="solid"/>
          </a:ln>
        </p:spPr>
      </p:sp>
      <p:sp>
        <p:nvSpPr>
          <p:cNvPr id="35" name="x2_3"/>
          <p:cNvSpPr txBox="1"/>
          <p:nvPr/>
        </p:nvSpPr>
        <p:spPr>
          <a:xfrm>
            <a:off x="5687568" y="3328416"/>
            <a:ext cx="304495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Surrender the very promise — the first EXPLICIT test</a:t>
            </a:r>
            <a:endParaRPr lang="en-US" sz="1600" dirty="0"/>
          </a:p>
        </p:txBody>
      </p:sp>
      <p:sp>
        <p:nvSpPr>
          <p:cNvPr id="36" name="c3_0"/>
          <p:cNvSpPr/>
          <p:nvPr/>
        </p:nvSpPr>
        <p:spPr>
          <a:xfrm>
            <a:off x="365760" y="4069080"/>
            <a:ext cx="1234440" cy="777240"/>
          </a:xfrm>
          <a:prstGeom prst="rect">
            <a:avLst/>
          </a:prstGeom>
          <a:solidFill>
            <a:srgbClr val="F2F4F7"/>
          </a:solidFill>
          <a:ln w="6350">
            <a:solidFill>
              <a:srgbClr val="D9DDE3"/>
            </a:solidFill>
            <a:prstDash val="solid"/>
          </a:ln>
        </p:spPr>
      </p:sp>
      <p:sp>
        <p:nvSpPr>
          <p:cNvPr id="37" name="x3_0"/>
          <p:cNvSpPr txBox="1"/>
          <p:nvPr/>
        </p:nvSpPr>
        <p:spPr>
          <a:xfrm>
            <a:off x="429768" y="4105656"/>
            <a:ext cx="1124712" cy="722376"/>
          </a:xfrm>
          <a:prstGeom prst="rect">
            <a:avLst/>
          </a:prstGeom>
          <a:noFill/>
          <a:ln/>
        </p:spPr>
        <p:txBody>
          <a:bodyPr wrap="square" lIns="0" tIns="0" rIns="0" bIns="0" rtlCol="0" anchor="ctr"/>
          <a:lstStyle/>
          <a:p>
            <a:pPr algn="l" indent="0" marL="0">
              <a:buNone/>
            </a:pPr>
            <a:r>
              <a:rPr lang="en-US" sz="1150" b="1" dirty="0">
                <a:solidFill>
                  <a:srgbClr val="1F497D"/>
                </a:solidFill>
                <a:latin typeface="Arial" pitchFamily="34" charset="0"/>
                <a:ea typeface="Arial" pitchFamily="34" charset="-122"/>
                <a:cs typeface="Arial" pitchFamily="34" charset="-120"/>
              </a:rPr>
              <a:t>Moses</a:t>
            </a:r>
            <a:endParaRPr lang="en-US" sz="1600" dirty="0"/>
          </a:p>
        </p:txBody>
      </p:sp>
      <p:sp>
        <p:nvSpPr>
          <p:cNvPr id="38" name="c3_1"/>
          <p:cNvSpPr/>
          <p:nvPr/>
        </p:nvSpPr>
        <p:spPr>
          <a:xfrm>
            <a:off x="1600200" y="4069080"/>
            <a:ext cx="1463040" cy="777240"/>
          </a:xfrm>
          <a:prstGeom prst="rect">
            <a:avLst/>
          </a:prstGeom>
          <a:solidFill>
            <a:srgbClr val="F2F4F7"/>
          </a:solidFill>
          <a:ln w="6350">
            <a:solidFill>
              <a:srgbClr val="D9DDE3"/>
            </a:solidFill>
            <a:prstDash val="solid"/>
          </a:ln>
        </p:spPr>
      </p:sp>
      <p:sp>
        <p:nvSpPr>
          <p:cNvPr id="39" name="x3_1"/>
          <p:cNvSpPr txBox="1"/>
          <p:nvPr/>
        </p:nvSpPr>
        <p:spPr>
          <a:xfrm>
            <a:off x="1664208" y="4105656"/>
            <a:ext cx="1353312" cy="722376"/>
          </a:xfrm>
          <a:prstGeom prst="rect">
            <a:avLst/>
          </a:prstGeom>
          <a:noFill/>
          <a:ln/>
        </p:spPr>
        <p:txBody>
          <a:bodyPr wrap="square" lIns="0" tIns="0" rIns="0" bIns="0" rtlCol="0" anchor="ctr"/>
          <a:lstStyle/>
          <a:p>
            <a:pPr algn="l" indent="0" marL="0">
              <a:buNone/>
            </a:pPr>
            <a:r>
              <a:rPr lang="en-US" sz="1000" i="1" dirty="0">
                <a:solidFill>
                  <a:srgbClr val="000000"/>
                </a:solidFill>
                <a:latin typeface="Arial" pitchFamily="34" charset="0"/>
                <a:ea typeface="Arial" pitchFamily="34" charset="-122"/>
                <a:cs typeface="Arial" pitchFamily="34" charset="-120"/>
              </a:rPr>
              <a:t>Ex 16:4; Deut 8:2</a:t>
            </a:r>
            <a:endParaRPr lang="en-US" sz="1600" dirty="0"/>
          </a:p>
        </p:txBody>
      </p:sp>
      <p:sp>
        <p:nvSpPr>
          <p:cNvPr id="40" name="c3_2"/>
          <p:cNvSpPr/>
          <p:nvPr/>
        </p:nvSpPr>
        <p:spPr>
          <a:xfrm>
            <a:off x="3063240" y="4069080"/>
            <a:ext cx="2560320" cy="777240"/>
          </a:xfrm>
          <a:prstGeom prst="rect">
            <a:avLst/>
          </a:prstGeom>
          <a:solidFill>
            <a:srgbClr val="F2F4F7"/>
          </a:solidFill>
          <a:ln w="6350">
            <a:solidFill>
              <a:srgbClr val="D9DDE3"/>
            </a:solidFill>
            <a:prstDash val="solid"/>
          </a:ln>
        </p:spPr>
      </p:sp>
      <p:sp>
        <p:nvSpPr>
          <p:cNvPr id="41" name="x3_2"/>
          <p:cNvSpPr txBox="1"/>
          <p:nvPr/>
        </p:nvSpPr>
        <p:spPr>
          <a:xfrm>
            <a:off x="3127248" y="4105656"/>
            <a:ext cx="245059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Manna, Sabbath, the wilderness</a:t>
            </a:r>
            <a:endParaRPr lang="en-US" sz="1600" dirty="0"/>
          </a:p>
        </p:txBody>
      </p:sp>
      <p:sp>
        <p:nvSpPr>
          <p:cNvPr id="42" name="c3_3"/>
          <p:cNvSpPr/>
          <p:nvPr/>
        </p:nvSpPr>
        <p:spPr>
          <a:xfrm>
            <a:off x="5623560" y="4069080"/>
            <a:ext cx="3154680" cy="777240"/>
          </a:xfrm>
          <a:prstGeom prst="rect">
            <a:avLst/>
          </a:prstGeom>
          <a:solidFill>
            <a:srgbClr val="F2F4F7"/>
          </a:solidFill>
          <a:ln w="6350">
            <a:solidFill>
              <a:srgbClr val="D9DDE3"/>
            </a:solidFill>
            <a:prstDash val="solid"/>
          </a:ln>
        </p:spPr>
      </p:sp>
      <p:sp>
        <p:nvSpPr>
          <p:cNvPr id="43" name="x3_3"/>
          <p:cNvSpPr txBox="1"/>
          <p:nvPr/>
        </p:nvSpPr>
        <p:spPr>
          <a:xfrm>
            <a:off x="5687568" y="4105656"/>
            <a:ext cx="304495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Testing becomes covenant POLICY — “will they walk in my law or not?”</a:t>
            </a:r>
            <a:endParaRPr lang="en-US" sz="1600" dirty="0"/>
          </a:p>
        </p:txBody>
      </p:sp>
      <p:sp>
        <p:nvSpPr>
          <p:cNvPr id="44" name="c4_0"/>
          <p:cNvSpPr/>
          <p:nvPr/>
        </p:nvSpPr>
        <p:spPr>
          <a:xfrm>
            <a:off x="365760" y="4846320"/>
            <a:ext cx="1234440" cy="777240"/>
          </a:xfrm>
          <a:prstGeom prst="rect">
            <a:avLst/>
          </a:prstGeom>
          <a:solidFill>
            <a:srgbClr val="FFFFFF"/>
          </a:solidFill>
          <a:ln w="6350">
            <a:solidFill>
              <a:srgbClr val="D9DDE3"/>
            </a:solidFill>
            <a:prstDash val="solid"/>
          </a:ln>
        </p:spPr>
      </p:sp>
      <p:sp>
        <p:nvSpPr>
          <p:cNvPr id="45" name="x4_0"/>
          <p:cNvSpPr txBox="1"/>
          <p:nvPr/>
        </p:nvSpPr>
        <p:spPr>
          <a:xfrm>
            <a:off x="429768" y="4882896"/>
            <a:ext cx="1124712" cy="722376"/>
          </a:xfrm>
          <a:prstGeom prst="rect">
            <a:avLst/>
          </a:prstGeom>
          <a:noFill/>
          <a:ln/>
        </p:spPr>
        <p:txBody>
          <a:bodyPr wrap="square" lIns="0" tIns="0" rIns="0" bIns="0" rtlCol="0" anchor="ctr"/>
          <a:lstStyle/>
          <a:p>
            <a:pPr algn="l" indent="0" marL="0">
              <a:buNone/>
            </a:pPr>
            <a:r>
              <a:rPr lang="en-US" sz="1150" b="1" dirty="0">
                <a:solidFill>
                  <a:srgbClr val="1F497D"/>
                </a:solidFill>
                <a:latin typeface="Arial" pitchFamily="34" charset="0"/>
                <a:ea typeface="Arial" pitchFamily="34" charset="-122"/>
                <a:cs typeface="Arial" pitchFamily="34" charset="-120"/>
              </a:rPr>
              <a:t>Kings</a:t>
            </a:r>
            <a:endParaRPr lang="en-US" sz="1600" dirty="0"/>
          </a:p>
        </p:txBody>
      </p:sp>
      <p:sp>
        <p:nvSpPr>
          <p:cNvPr id="46" name="c4_1"/>
          <p:cNvSpPr/>
          <p:nvPr/>
        </p:nvSpPr>
        <p:spPr>
          <a:xfrm>
            <a:off x="1600200" y="4846320"/>
            <a:ext cx="1463040" cy="777240"/>
          </a:xfrm>
          <a:prstGeom prst="rect">
            <a:avLst/>
          </a:prstGeom>
          <a:solidFill>
            <a:srgbClr val="FFFFFF"/>
          </a:solidFill>
          <a:ln w="6350">
            <a:solidFill>
              <a:srgbClr val="D9DDE3"/>
            </a:solidFill>
            <a:prstDash val="solid"/>
          </a:ln>
        </p:spPr>
      </p:sp>
      <p:sp>
        <p:nvSpPr>
          <p:cNvPr id="47" name="x4_1"/>
          <p:cNvSpPr txBox="1"/>
          <p:nvPr/>
        </p:nvSpPr>
        <p:spPr>
          <a:xfrm>
            <a:off x="1664208" y="4882896"/>
            <a:ext cx="1353312" cy="722376"/>
          </a:xfrm>
          <a:prstGeom prst="rect">
            <a:avLst/>
          </a:prstGeom>
          <a:noFill/>
          <a:ln/>
        </p:spPr>
        <p:txBody>
          <a:bodyPr wrap="square" lIns="0" tIns="0" rIns="0" bIns="0" rtlCol="0" anchor="ctr"/>
          <a:lstStyle/>
          <a:p>
            <a:pPr algn="l" indent="0" marL="0">
              <a:buNone/>
            </a:pPr>
            <a:r>
              <a:rPr lang="en-US" sz="1000" i="1" dirty="0">
                <a:solidFill>
                  <a:srgbClr val="000000"/>
                </a:solidFill>
                <a:latin typeface="Arial" pitchFamily="34" charset="0"/>
                <a:ea typeface="Arial" pitchFamily="34" charset="-122"/>
                <a:cs typeface="Arial" pitchFamily="34" charset="-120"/>
              </a:rPr>
              <a:t>2 Chr 32:31</a:t>
            </a:r>
            <a:endParaRPr lang="en-US" sz="1600" dirty="0"/>
          </a:p>
        </p:txBody>
      </p:sp>
      <p:sp>
        <p:nvSpPr>
          <p:cNvPr id="48" name="c4_2"/>
          <p:cNvSpPr/>
          <p:nvPr/>
        </p:nvSpPr>
        <p:spPr>
          <a:xfrm>
            <a:off x="3063240" y="4846320"/>
            <a:ext cx="2560320" cy="777240"/>
          </a:xfrm>
          <a:prstGeom prst="rect">
            <a:avLst/>
          </a:prstGeom>
          <a:solidFill>
            <a:srgbClr val="FFFFFF"/>
          </a:solidFill>
          <a:ln w="6350">
            <a:solidFill>
              <a:srgbClr val="D9DDE3"/>
            </a:solidFill>
            <a:prstDash val="solid"/>
          </a:ln>
        </p:spPr>
      </p:sp>
      <p:sp>
        <p:nvSpPr>
          <p:cNvPr id="49" name="x4_2"/>
          <p:cNvSpPr txBox="1"/>
          <p:nvPr/>
        </p:nvSpPr>
        <p:spPr>
          <a:xfrm>
            <a:off x="3127248" y="4882896"/>
            <a:ext cx="245059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Hezekiah “left alone… to know his true motives”</a:t>
            </a:r>
            <a:endParaRPr lang="en-US" sz="1600" dirty="0"/>
          </a:p>
        </p:txBody>
      </p:sp>
      <p:sp>
        <p:nvSpPr>
          <p:cNvPr id="50" name="c4_3"/>
          <p:cNvSpPr/>
          <p:nvPr/>
        </p:nvSpPr>
        <p:spPr>
          <a:xfrm>
            <a:off x="5623560" y="4846320"/>
            <a:ext cx="3154680" cy="777240"/>
          </a:xfrm>
          <a:prstGeom prst="rect">
            <a:avLst/>
          </a:prstGeom>
          <a:solidFill>
            <a:srgbClr val="FFFFFF"/>
          </a:solidFill>
          <a:ln w="6350">
            <a:solidFill>
              <a:srgbClr val="D9DDE3"/>
            </a:solidFill>
            <a:prstDash val="solid"/>
          </a:ln>
        </p:spPr>
      </p:sp>
      <p:sp>
        <p:nvSpPr>
          <p:cNvPr id="51" name="x4_3"/>
          <p:cNvSpPr txBox="1"/>
          <p:nvPr/>
        </p:nvSpPr>
        <p:spPr>
          <a:xfrm>
            <a:off x="5687568" y="4882896"/>
            <a:ext cx="3044952" cy="722376"/>
          </a:xfrm>
          <a:prstGeom prst="rect">
            <a:avLst/>
          </a:prstGeom>
          <a:noFill/>
          <a:ln/>
        </p:spPr>
        <p:txBody>
          <a:bodyPr wrap="square" lIns="0" tIns="0" rIns="0" bIns="0" rtlCol="0" anchor="ctr"/>
          <a:lstStyle/>
          <a:p>
            <a:pPr algn="l" indent="0" marL="0">
              <a:buNone/>
            </a:pPr>
            <a:r>
              <a:rPr lang="en-US" sz="1050" dirty="0">
                <a:solidFill>
                  <a:srgbClr val="000000"/>
                </a:solidFill>
                <a:latin typeface="Arial" pitchFamily="34" charset="0"/>
                <a:ea typeface="Arial" pitchFamily="34" charset="-122"/>
                <a:cs typeface="Arial" pitchFamily="34" charset="-120"/>
              </a:rPr>
              <a:t>The test moves inward — the heart when unsupervised</a:t>
            </a:r>
            <a:endParaRPr lang="en-US" sz="1600" dirty="0"/>
          </a:p>
        </p:txBody>
      </p:sp>
      <p:sp>
        <p:nvSpPr>
          <p:cNvPr id="52" name="note"/>
          <p:cNvSpPr txBox="1"/>
          <p:nvPr/>
        </p:nvSpPr>
        <p:spPr>
          <a:xfrm>
            <a:off x="365760" y="5806440"/>
            <a:ext cx="8412480" cy="7772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One shape, every era: </a:t>
            </a:r>
            <a:pPr algn="l" indent="0" marL="0">
              <a:buNone/>
            </a:pPr>
            <a:r>
              <a:rPr lang="en-US" sz="1300" dirty="0">
                <a:solidFill>
                  <a:srgbClr val="000000"/>
                </a:solidFill>
                <a:latin typeface="Arial" pitchFamily="34" charset="0"/>
                <a:ea typeface="Arial" pitchFamily="34" charset="-122"/>
                <a:cs typeface="Arial" pitchFamily="34" charset="-120"/>
              </a:rPr>
              <a:t>God speaks → faith is asked to trust the word against sight, appetite, fear, or delay → obedience makes the invisible faith visible. The eras change; the shape does not.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Christ the Tested One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Forty days answering to forty years — and passing</a:t>
            </a:r>
            <a:endParaRPr lang="en-US" sz="1600" dirty="0"/>
          </a:p>
        </p:txBody>
      </p:sp>
      <p:sp>
        <p:nvSpPr>
          <p:cNvPr id="4" name="d1"/>
          <p:cNvSpPr txBox="1"/>
          <p:nvPr/>
        </p:nvSpPr>
        <p:spPr>
          <a:xfrm>
            <a:off x="365760" y="1097280"/>
            <a:ext cx="8412480" cy="91440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“Then Jesus was led by the Spirit into the wilderness to be tempted by the devil. After he had fasted forty days and forty nights he was famished.” </a:t>
            </a:r>
            <a:pPr algn="l" indent="0" marL="0">
              <a:buNone/>
            </a:pPr>
            <a:r>
              <a:rPr lang="en-US" sz="1400" b="1" dirty="0">
                <a:solidFill>
                  <a:srgbClr val="000000"/>
                </a:solidFill>
                <a:latin typeface="Arial" pitchFamily="34" charset="0"/>
                <a:ea typeface="Arial" pitchFamily="34" charset="-122"/>
                <a:cs typeface="Arial" pitchFamily="34" charset="-120"/>
              </a:rPr>
              <a:t>(Matthew 4:1–2)</a:t>
            </a:r>
            <a:endParaRPr lang="en-US" sz="1600" dirty="0"/>
          </a:p>
        </p:txBody>
      </p:sp>
      <p:sp>
        <p:nvSpPr>
          <p:cNvPr id="5" name="par"/>
          <p:cNvSpPr/>
          <p:nvPr/>
        </p:nvSpPr>
        <p:spPr>
          <a:xfrm>
            <a:off x="548640" y="2148840"/>
            <a:ext cx="8046720" cy="1417320"/>
          </a:xfrm>
          <a:prstGeom prst="roundRect">
            <a:avLst>
              <a:gd name="adj" fmla="val 5161"/>
            </a:avLst>
          </a:prstGeom>
          <a:solidFill>
            <a:srgbClr val="F2F4F7"/>
          </a:solidFill>
          <a:ln w="12700">
            <a:solidFill>
              <a:srgbClr val="1F497D"/>
            </a:solidFill>
            <a:prstDash val="solid"/>
          </a:ln>
        </p:spPr>
      </p:sp>
      <p:sp>
        <p:nvSpPr>
          <p:cNvPr id="6" name="part"/>
          <p:cNvSpPr txBox="1"/>
          <p:nvPr/>
        </p:nvSpPr>
        <p:spPr>
          <a:xfrm>
            <a:off x="731520" y="2267712"/>
            <a:ext cx="7680960" cy="118872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Israel: 40 years in the wilderness — tested, and failed.    Jesus: 40 days in the wilderness — tested, and passed.
</a:t>
            </a:r>
            <a:pPr algn="l" indent="0" marL="0">
              <a:buNone/>
            </a:pPr>
            <a:r>
              <a:rPr lang="en-US" sz="1250" dirty="0">
                <a:solidFill>
                  <a:srgbClr val="000000"/>
                </a:solidFill>
                <a:latin typeface="Arial" pitchFamily="34" charset="0"/>
                <a:ea typeface="Arial" pitchFamily="34" charset="-122"/>
                <a:cs typeface="Arial" pitchFamily="34" charset="-120"/>
              </a:rPr>
              <a:t>Every answer Jesus gives comes from Deuteronomy 6–8 — the very passages that interpret Israel’s wilderness testing:
</a:t>
            </a:r>
            <a:pPr algn="l" indent="0" marL="0">
              <a:buNone/>
            </a:pPr>
            <a:r>
              <a:rPr lang="en-US" sz="1200" dirty="0">
                <a:solidFill>
                  <a:srgbClr val="000000"/>
                </a:solidFill>
                <a:latin typeface="Arial" pitchFamily="34" charset="0"/>
                <a:ea typeface="Arial" pitchFamily="34" charset="-122"/>
                <a:cs typeface="Arial" pitchFamily="34" charset="-120"/>
              </a:rPr>
              <a:t>• “Man does not live by bread alone” (Deut 8:3)   • “Worship the Lord your God” (Deut 6:13)   • “Do not put the Lord to the test” (Deut 6:16)</a:t>
            </a:r>
            <a:endParaRPr lang="en-US" sz="1600" dirty="0"/>
          </a:p>
        </p:txBody>
      </p:sp>
      <p:sp>
        <p:nvSpPr>
          <p:cNvPr id="7" name="d2"/>
          <p:cNvSpPr txBox="1"/>
          <p:nvPr/>
        </p:nvSpPr>
        <p:spPr>
          <a:xfrm>
            <a:off x="365760" y="3703320"/>
            <a:ext cx="8412480" cy="868680"/>
          </a:xfrm>
          <a:prstGeom prst="rect">
            <a:avLst/>
          </a:prstGeom>
          <a:noFill/>
          <a:ln/>
        </p:spPr>
        <p:txBody>
          <a:bodyPr wrap="square" lIns="0" tIns="0" rIns="0" bIns="0" rtlCol="0" anchor="t"/>
          <a:lstStyle/>
          <a:p>
            <a:pPr algn="l" indent="0" marL="0">
              <a:buNone/>
            </a:pPr>
            <a:r>
              <a:rPr lang="en-US" sz="1450" dirty="0">
                <a:solidFill>
                  <a:srgbClr val="000000"/>
                </a:solidFill>
                <a:latin typeface="Arial" pitchFamily="34" charset="0"/>
                <a:ea typeface="Arial" pitchFamily="34" charset="-122"/>
                <a:cs typeface="Arial" pitchFamily="34" charset="-120"/>
              </a:rPr>
              <a:t>He is deliberately retaking Israel’s failed exam — as the true Israel, the true Son — </a:t>
            </a:r>
            <a:pPr algn="l" indent="0" marL="0">
              <a:buNone/>
            </a:pPr>
            <a:r>
              <a:rPr lang="en-US" sz="1450" b="1" dirty="0">
                <a:solidFill>
                  <a:srgbClr val="1F497D"/>
                </a:solidFill>
                <a:latin typeface="Arial" pitchFamily="34" charset="0"/>
                <a:ea typeface="Arial" pitchFamily="34" charset="-122"/>
                <a:cs typeface="Arial" pitchFamily="34" charset="-120"/>
              </a:rPr>
              <a:t>and He passes it clean (Heb 4:15: tempted in every way, yet without sin).</a:t>
            </a:r>
            <a:endParaRPr lang="en-US" sz="1600" dirty="0"/>
          </a:p>
        </p:txBody>
      </p:sp>
      <p:sp>
        <p:nvSpPr>
          <p:cNvPr id="8" name="d3"/>
          <p:cNvSpPr txBox="1"/>
          <p:nvPr/>
        </p:nvSpPr>
        <p:spPr>
          <a:xfrm>
            <a:off x="365760" y="4663440"/>
            <a:ext cx="8412480" cy="1463040"/>
          </a:xfrm>
          <a:prstGeom prst="rect">
            <a:avLst/>
          </a:prstGeom>
          <a:noFill/>
          <a:ln/>
        </p:spPr>
        <p:txBody>
          <a:bodyPr wrap="square" lIns="0" tIns="0" rIns="0" bIns="0" rtlCol="0" anchor="t"/>
          <a:lstStyle/>
          <a:p>
            <a:pPr algn="l" indent="0" marL="0">
              <a:buNone/>
            </a:pPr>
            <a:r>
              <a:rPr lang="en-US" sz="1400" b="1" dirty="0">
                <a:solidFill>
                  <a:srgbClr val="000000"/>
                </a:solidFill>
                <a:latin typeface="Arial" pitchFamily="34" charset="0"/>
                <a:ea typeface="Arial" pitchFamily="34" charset="-122"/>
                <a:cs typeface="Arial" pitchFamily="34" charset="-120"/>
              </a:rPr>
              <a:t>And the passed test becomes the ground of our salvation:
</a:t>
            </a:r>
            <a:pPr algn="l" indent="0" marL="0">
              <a:buNone/>
            </a:pPr>
            <a:r>
              <a:rPr lang="en-US" sz="1450" b="1" i="1" dirty="0">
                <a:solidFill>
                  <a:srgbClr val="000000"/>
                </a:solidFill>
                <a:latin typeface="Arial" pitchFamily="34" charset="0"/>
                <a:ea typeface="Arial" pitchFamily="34" charset="-122"/>
                <a:cs typeface="Arial" pitchFamily="34" charset="-120"/>
              </a:rPr>
              <a:t>“Although he was a son, he learned obedience through the things he suffered. And by being perfected in this way, he became the source of eternal salvation to all who obey him.” </a:t>
            </a:r>
            <a:pPr algn="l" indent="0" marL="0">
              <a:buNone/>
            </a:pPr>
            <a:r>
              <a:rPr lang="en-US" sz="1350" b="1" dirty="0">
                <a:solidFill>
                  <a:srgbClr val="000000"/>
                </a:solidFill>
                <a:latin typeface="Arial" pitchFamily="34" charset="0"/>
                <a:ea typeface="Arial" pitchFamily="34" charset="-122"/>
                <a:cs typeface="Arial" pitchFamily="34" charset="-120"/>
              </a:rPr>
              <a:t>(Hebrews 5:8–9)</a:t>
            </a:r>
            <a:pPr algn="l" indent="0" marL="0">
              <a:buNone/>
            </a:pPr>
            <a:endParaRPr lang="en-US" sz="1600" dirty="0"/>
          </a:p>
          <a:p>
            <a:pPr algn="l" indent="0" marL="0">
              <a:buNone/>
            </a:pPr>
            <a:r>
              <a:rPr lang="en-US" sz="1350" i="1" dirty="0">
                <a:solidFill>
                  <a:srgbClr val="000000"/>
                </a:solidFill>
                <a:latin typeface="Arial" pitchFamily="34" charset="0"/>
                <a:ea typeface="Arial" pitchFamily="34" charset="-122"/>
                <a:cs typeface="Arial" pitchFamily="34" charset="-120"/>
              </a:rPr>
              <a:t>The tested Son, having passed, becomes salvation’s source — for “all who obey him.”</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Proving, Not Probation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The church’s tests sit on the far side of a passed exam</a:t>
            </a:r>
            <a:endParaRPr lang="en-US" sz="1600" dirty="0"/>
          </a:p>
        </p:txBody>
      </p:sp>
      <p:sp>
        <p:nvSpPr>
          <p:cNvPr id="4" name="e1"/>
          <p:cNvSpPr txBox="1"/>
          <p:nvPr/>
        </p:nvSpPr>
        <p:spPr>
          <a:xfrm>
            <a:off x="365760" y="1234440"/>
            <a:ext cx="8412480" cy="1005840"/>
          </a:xfrm>
          <a:prstGeom prst="rect">
            <a:avLst/>
          </a:prstGeom>
          <a:noFill/>
          <a:ln/>
        </p:spPr>
        <p:txBody>
          <a:bodyPr wrap="square" lIns="0" tIns="0" rIns="0" bIns="0" rtlCol="0" anchor="t"/>
          <a:lstStyle/>
          <a:p>
            <a:pPr algn="l" indent="0" marL="0">
              <a:buNone/>
            </a:pPr>
            <a:r>
              <a:rPr lang="en-US" sz="1600" b="1" dirty="0">
                <a:solidFill>
                  <a:srgbClr val="1F497D"/>
                </a:solidFill>
                <a:latin typeface="Arial" pitchFamily="34" charset="0"/>
                <a:ea typeface="Arial" pitchFamily="34" charset="-122"/>
                <a:cs typeface="Arial" pitchFamily="34" charset="-120"/>
              </a:rPr>
              <a:t>Christ has already taken the decisive exam — Adam’s, Israel’s, ours — and passed. </a:t>
            </a:r>
            <a:pPr algn="l" indent="0" marL="0">
              <a:buNone/>
            </a:pPr>
            <a:r>
              <a:rPr lang="en-US" sz="1500" dirty="0">
                <a:solidFill>
                  <a:srgbClr val="000000"/>
                </a:solidFill>
                <a:latin typeface="Arial" pitchFamily="34" charset="0"/>
                <a:ea typeface="Arial" pitchFamily="34" charset="-122"/>
                <a:cs typeface="Arial" pitchFamily="34" charset="-120"/>
              </a:rPr>
              <a:t>So the believer’s tests are no longer probation to earn a standing. They are the proving and refining of a faith that already rests on His finished work.</a:t>
            </a:r>
            <a:endParaRPr lang="en-US" sz="1600" dirty="0"/>
          </a:p>
        </p:txBody>
      </p:sp>
      <p:sp>
        <p:nvSpPr>
          <p:cNvPr id="5" name="e2"/>
          <p:cNvSpPr txBox="1"/>
          <p:nvPr/>
        </p:nvSpPr>
        <p:spPr>
          <a:xfrm>
            <a:off x="365760" y="2377440"/>
            <a:ext cx="8412480" cy="1143000"/>
          </a:xfrm>
          <a:prstGeom prst="rect">
            <a:avLst/>
          </a:prstGeom>
          <a:noFill/>
          <a:ln/>
        </p:spPr>
        <p:txBody>
          <a:bodyPr wrap="square" lIns="0" tIns="0" rIns="0" bIns="0" rtlCol="0" anchor="t"/>
          <a:lstStyle/>
          <a:p>
            <a:pPr algn="l" indent="0" marL="0">
              <a:buNone/>
            </a:pPr>
            <a:r>
              <a:rPr lang="en-US" sz="1450" b="1" dirty="0">
                <a:solidFill>
                  <a:srgbClr val="000000"/>
                </a:solidFill>
                <a:latin typeface="Arial" pitchFamily="34" charset="0"/>
                <a:ea typeface="Arial" pitchFamily="34" charset="-122"/>
                <a:cs typeface="Arial" pitchFamily="34" charset="-120"/>
              </a:rPr>
              <a:t>The exodus order settles it (again):
</a:t>
            </a:r>
            <a:pPr algn="l" indent="0" marL="0">
              <a:buNone/>
            </a:pPr>
            <a:r>
              <a:rPr lang="en-US" sz="1450" dirty="0">
                <a:solidFill>
                  <a:srgbClr val="000000"/>
                </a:solidFill>
                <a:latin typeface="Arial" pitchFamily="34" charset="0"/>
                <a:ea typeface="Arial" pitchFamily="34" charset="-122"/>
                <a:cs typeface="Arial" pitchFamily="34" charset="-120"/>
              </a:rPr>
              <a:t>God redeemed Israel from Egypt by blood — </a:t>
            </a:r>
            <a:pPr algn="l" indent="0" marL="0">
              <a:buNone/>
            </a:pPr>
            <a:r>
              <a:rPr lang="en-US" sz="1450" b="1" i="1" dirty="0">
                <a:solidFill>
                  <a:srgbClr val="B0413E"/>
                </a:solidFill>
                <a:latin typeface="Arial" pitchFamily="34" charset="0"/>
                <a:ea typeface="Arial" pitchFamily="34" charset="-122"/>
                <a:cs typeface="Arial" pitchFamily="34" charset="-120"/>
              </a:rPr>
              <a:t>and THEN</a:t>
            </a:r>
            <a:pPr algn="l" indent="0" marL="0">
              <a:buNone/>
            </a:pPr>
            <a:r>
              <a:rPr lang="en-US" sz="1450" dirty="0">
                <a:solidFill>
                  <a:srgbClr val="000000"/>
                </a:solidFill>
                <a:latin typeface="Arial" pitchFamily="34" charset="0"/>
                <a:ea typeface="Arial" pitchFamily="34" charset="-122"/>
                <a:cs typeface="Arial" pitchFamily="34" charset="-120"/>
              </a:rPr>
              <a:t> tested them in the wilderness (Deut 8:2). The tests came </a:t>
            </a:r>
            <a:pPr algn="l" indent="0" marL="0">
              <a:buNone/>
            </a:pPr>
            <a:r>
              <a:rPr lang="en-US" sz="1450" b="1" dirty="0">
                <a:solidFill>
                  <a:srgbClr val="1F497D"/>
                </a:solidFill>
                <a:latin typeface="Arial" pitchFamily="34" charset="0"/>
                <a:ea typeface="Arial" pitchFamily="34" charset="-122"/>
                <a:cs typeface="Arial" pitchFamily="34" charset="-120"/>
              </a:rPr>
              <a:t>after</a:t>
            </a:r>
            <a:pPr algn="l" indent="0" marL="0">
              <a:buNone/>
            </a:pPr>
            <a:r>
              <a:rPr lang="en-US" sz="1450" dirty="0">
                <a:solidFill>
                  <a:srgbClr val="000000"/>
                </a:solidFill>
                <a:latin typeface="Arial" pitchFamily="34" charset="0"/>
                <a:ea typeface="Arial" pitchFamily="34" charset="-122"/>
                <a:cs typeface="Arial" pitchFamily="34" charset="-120"/>
              </a:rPr>
              <a:t> the rescue, to prove and shape a people already free. They never bought the freedom.</a:t>
            </a:r>
            <a:endParaRPr lang="en-US" sz="1600" dirty="0"/>
          </a:p>
        </p:txBody>
      </p:sp>
      <p:sp>
        <p:nvSpPr>
          <p:cNvPr id="6" name="e3"/>
          <p:cNvSpPr txBox="1"/>
          <p:nvPr/>
        </p:nvSpPr>
        <p:spPr>
          <a:xfrm>
            <a:off x="365760" y="3611880"/>
            <a:ext cx="8412480" cy="1234440"/>
          </a:xfrm>
          <a:prstGeom prst="rect">
            <a:avLst/>
          </a:prstGeom>
          <a:noFill/>
          <a:ln/>
        </p:spPr>
        <p:txBody>
          <a:bodyPr wrap="square" lIns="0" tIns="0" rIns="0" bIns="0" rtlCol="0" anchor="t"/>
          <a:lstStyle/>
          <a:p>
            <a:pPr algn="l" indent="0" marL="0">
              <a:buNone/>
            </a:pPr>
            <a:r>
              <a:rPr lang="en-US" sz="1400" b="1" dirty="0">
                <a:solidFill>
                  <a:srgbClr val="000000"/>
                </a:solidFill>
                <a:latin typeface="Arial" pitchFamily="34" charset="0"/>
                <a:ea typeface="Arial" pitchFamily="34" charset="-122"/>
                <a:cs typeface="Arial" pitchFamily="34" charset="-120"/>
              </a:rPr>
              <a:t>So Scripture can call trials pure joy:
</a:t>
            </a:r>
            <a:pPr algn="l" indent="0" marL="0">
              <a:buNone/>
            </a:pPr>
            <a:r>
              <a:rPr lang="en-US" sz="1400" b="1" i="1" dirty="0">
                <a:solidFill>
                  <a:srgbClr val="000000"/>
                </a:solidFill>
                <a:latin typeface="Arial" pitchFamily="34" charset="0"/>
                <a:ea typeface="Arial" pitchFamily="34" charset="-122"/>
                <a:cs typeface="Arial" pitchFamily="34" charset="-120"/>
              </a:rPr>
              <a:t>“The testing of your faith produces endurance… that the proven character of your faith — more valuable than gold — may bring praise and glory when Jesus Christ is revealed.” </a:t>
            </a:r>
            <a:pPr algn="l" indent="0" marL="0">
              <a:buNone/>
            </a:pPr>
            <a:r>
              <a:rPr lang="en-US" sz="1300" b="1" dirty="0">
                <a:solidFill>
                  <a:srgbClr val="000000"/>
                </a:solidFill>
                <a:latin typeface="Arial" pitchFamily="34" charset="0"/>
                <a:ea typeface="Arial" pitchFamily="34" charset="-122"/>
                <a:cs typeface="Arial" pitchFamily="34" charset="-120"/>
              </a:rPr>
              <a:t>(James 1:3; 1 Pet 1:7)</a:t>
            </a:r>
            <a:endParaRPr lang="en-US" sz="1600" dirty="0"/>
          </a:p>
        </p:txBody>
      </p:sp>
      <p:sp>
        <p:nvSpPr>
          <p:cNvPr id="7" name="ma"/>
          <p:cNvSpPr/>
          <p:nvPr/>
        </p:nvSpPr>
        <p:spPr>
          <a:xfrm>
            <a:off x="1097280" y="5029200"/>
            <a:ext cx="6949440" cy="777240"/>
          </a:xfrm>
          <a:prstGeom prst="roundRect">
            <a:avLst>
              <a:gd name="adj" fmla="val 9412"/>
            </a:avLst>
          </a:prstGeom>
          <a:solidFill>
            <a:srgbClr val="1F497D"/>
          </a:solidFill>
          <a:ln/>
        </p:spPr>
      </p:sp>
      <p:sp>
        <p:nvSpPr>
          <p:cNvPr id="8" name="mat"/>
          <p:cNvSpPr txBox="1"/>
          <p:nvPr/>
        </p:nvSpPr>
        <p:spPr>
          <a:xfrm>
            <a:off x="1097280" y="5029200"/>
            <a:ext cx="6949440"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Grace saves.  Testing proves.  —  Mercy first, altar second.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Ten minutes — this is the week’s practice</a:t>
            </a:r>
            <a:endParaRPr lang="en-US" sz="1600" dirty="0"/>
          </a:p>
        </p:txBody>
      </p:sp>
      <p:sp>
        <p:nvSpPr>
          <p:cNvPr id="4" name="x1"/>
          <p:cNvSpPr txBox="1"/>
          <p:nvPr/>
        </p:nvSpPr>
        <p:spPr>
          <a:xfrm>
            <a:off x="457200" y="1325880"/>
            <a:ext cx="8229600" cy="141732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1.  </a:t>
            </a:r>
            <a:pPr algn="l" indent="0" marL="0">
              <a:buNone/>
            </a:pPr>
            <a:r>
              <a:rPr lang="en-US" sz="1800" dirty="0">
                <a:solidFill>
                  <a:srgbClr val="000000"/>
                </a:solidFill>
                <a:latin typeface="Arial" pitchFamily="34" charset="0"/>
                <a:ea typeface="Arial" pitchFamily="34" charset="-122"/>
                <a:cs typeface="Arial" pitchFamily="34" charset="-120"/>
              </a:rPr>
              <a:t>Why does God test people He already knows completely? If He knows the outcome, who is the test for?</a:t>
            </a:r>
            <a:endParaRPr lang="en-US" sz="1600" dirty="0"/>
          </a:p>
        </p:txBody>
      </p:sp>
      <p:sp>
        <p:nvSpPr>
          <p:cNvPr id="5" name="x2"/>
          <p:cNvSpPr txBox="1"/>
          <p:nvPr/>
        </p:nvSpPr>
        <p:spPr>
          <a:xfrm>
            <a:off x="457200" y="2971800"/>
            <a:ext cx="8229600" cy="146304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2.  </a:t>
            </a:r>
            <a:pPr algn="l" indent="0" marL="0">
              <a:buNone/>
            </a:pPr>
            <a:r>
              <a:rPr lang="en-US" sz="1800" dirty="0">
                <a:solidFill>
                  <a:srgbClr val="000000"/>
                </a:solidFill>
                <a:latin typeface="Arial" pitchFamily="34" charset="0"/>
                <a:ea typeface="Arial" pitchFamily="34" charset="-122"/>
                <a:cs typeface="Arial" pitchFamily="34" charset="-120"/>
              </a:rPr>
              <a:t>Hezekiah was faithful for decades — what did being “left alone” reveal that forty good years had not? What might God’s silence be testing in you?</a:t>
            </a:r>
            <a:endParaRPr lang="en-US" sz="1600" dirty="0"/>
          </a:p>
        </p:txBody>
      </p:sp>
      <p:sp>
        <p:nvSpPr>
          <p:cNvPr id="6" name="x3"/>
          <p:cNvSpPr txBox="1"/>
          <p:nvPr/>
        </p:nvSpPr>
        <p:spPr>
          <a:xfrm>
            <a:off x="457200" y="4846320"/>
            <a:ext cx="8229600" cy="1005840"/>
          </a:xfrm>
          <a:prstGeom prst="rect">
            <a:avLst/>
          </a:prstGeom>
          <a:noFill/>
          <a:ln/>
        </p:spPr>
        <p:txBody>
          <a:bodyPr wrap="square" lIns="0" tIns="0" rIns="0" bIns="0" rtlCol="0" anchor="t"/>
          <a:lstStyle/>
          <a:p>
            <a:pPr algn="l" indent="0" marL="0">
              <a:buNone/>
            </a:pPr>
            <a:r>
              <a:rPr lang="en-US" sz="1400" b="1" dirty="0">
                <a:solidFill>
                  <a:srgbClr val="000000"/>
                </a:solidFill>
                <a:latin typeface="Arial" pitchFamily="34" charset="0"/>
                <a:ea typeface="Arial" pitchFamily="34" charset="-122"/>
                <a:cs typeface="Arial" pitchFamily="34" charset="-120"/>
              </a:rPr>
              <a:t>Berean rule stands: </a:t>
            </a:r>
            <a:pPr algn="l" indent="0" marL="0">
              <a:buNone/>
            </a:pPr>
            <a:r>
              <a:rPr lang="en-US" sz="1400" i="1" dirty="0">
                <a:solidFill>
                  <a:srgbClr val="000000"/>
                </a:solidFill>
                <a:latin typeface="Arial" pitchFamily="34" charset="0"/>
                <a:ea typeface="Arial" pitchFamily="34" charset="-122"/>
                <a:cs typeface="Arial" pitchFamily="34" charset="-120"/>
              </a:rPr>
              <a:t>every claim goes back to the text — eager, and examining.</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For next week — eager, and examining</a:t>
            </a:r>
            <a:endParaRPr lang="en-US" sz="1600" dirty="0"/>
          </a:p>
        </p:txBody>
      </p:sp>
      <p:sp>
        <p:nvSpPr>
          <p:cNvPr id="4" name="z1"/>
          <p:cNvSpPr txBox="1"/>
          <p:nvPr/>
        </p:nvSpPr>
        <p:spPr>
          <a:xfrm>
            <a:off x="365760" y="1188720"/>
            <a:ext cx="8412480" cy="1463040"/>
          </a:xfrm>
          <a:prstGeom prst="rect">
            <a:avLst/>
          </a:prstGeom>
          <a:noFill/>
          <a:ln/>
        </p:spPr>
        <p:txBody>
          <a:bodyPr wrap="square" lIns="0" tIns="0" rIns="0" bIns="0" rtlCol="0" anchor="t"/>
          <a:lstStyle/>
          <a:p>
            <a:pPr algn="l" indent="0" marL="0">
              <a:buNone/>
            </a:pPr>
            <a:r>
              <a:rPr lang="en-US" sz="1700" b="1" dirty="0">
                <a:solidFill>
                  <a:srgbClr val="1F497D"/>
                </a:solidFill>
                <a:latin typeface="Arial" pitchFamily="34" charset="0"/>
                <a:ea typeface="Arial" pitchFamily="34" charset="-122"/>
                <a:cs typeface="Arial" pitchFamily="34" charset="-120"/>
              </a:rPr>
              <a:t>For next week, read:
</a:t>
            </a:r>
            <a:pPr algn="l" indent="0" marL="0">
              <a:buNone/>
            </a:pPr>
            <a:r>
              <a:rPr lang="en-US" sz="1500" dirty="0">
                <a:solidFill>
                  <a:srgbClr val="000000"/>
                </a:solidFill>
                <a:latin typeface="Arial" pitchFamily="34" charset="0"/>
                <a:ea typeface="Arial" pitchFamily="34" charset="-122"/>
                <a:cs typeface="Arial" pitchFamily="34" charset="-120"/>
              </a:rPr>
              <a:t>•  Acts 2:36–41  — the crowd is “cut to the heart” and asks “what shall we do?” What answer are they given — and how do they respond?
</a:t>
            </a:r>
            <a:pPr algn="l" indent="0" marL="0">
              <a:buNone/>
            </a:pPr>
            <a:r>
              <a:rPr lang="en-US" sz="1500" dirty="0">
                <a:solidFill>
                  <a:srgbClr val="000000"/>
                </a:solidFill>
                <a:latin typeface="Arial" pitchFamily="34" charset="0"/>
                <a:ea typeface="Arial" pitchFamily="34" charset="-122"/>
                <a:cs typeface="Arial" pitchFamily="34" charset="-120"/>
              </a:rPr>
              <a:t>•  1 Corinthians 11:23–29  — what does Paul command a person to do before eating? Find the word “examine.”</a:t>
            </a:r>
            <a:endParaRPr lang="en-US" sz="1600" dirty="0"/>
          </a:p>
        </p:txBody>
      </p:sp>
      <p:sp>
        <p:nvSpPr>
          <p:cNvPr id="5" name="z2"/>
          <p:cNvSpPr txBox="1"/>
          <p:nvPr/>
        </p:nvSpPr>
        <p:spPr>
          <a:xfrm>
            <a:off x="365760" y="2834640"/>
            <a:ext cx="8412480" cy="91440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Next week: </a:t>
            </a:r>
            <a:pPr algn="l" indent="0" marL="0">
              <a:buNone/>
            </a:pPr>
            <a:r>
              <a:rPr lang="en-US" sz="1600" i="1" dirty="0">
                <a:solidFill>
                  <a:srgbClr val="000000"/>
                </a:solidFill>
                <a:latin typeface="Arial" pitchFamily="34" charset="0"/>
                <a:ea typeface="Arial" pitchFamily="34" charset="-122"/>
                <a:cs typeface="Arial" pitchFamily="34" charset="-120"/>
              </a:rPr>
              <a:t>The Church’s Tests — obeying the gospel and the table. The covenant pattern, now applied to us.</a:t>
            </a:r>
            <a:endParaRPr lang="en-US" sz="1600" dirty="0"/>
          </a:p>
        </p:txBody>
      </p:sp>
      <p:sp>
        <p:nvSpPr>
          <p:cNvPr id="6" name="z3"/>
          <p:cNvSpPr txBox="1"/>
          <p:nvPr/>
        </p:nvSpPr>
        <p:spPr>
          <a:xfrm>
            <a:off x="365760" y="3977640"/>
            <a:ext cx="8412480" cy="1051560"/>
          </a:xfrm>
          <a:prstGeom prst="rect">
            <a:avLst/>
          </a:prstGeom>
          <a:noFill/>
          <a:ln/>
        </p:spPr>
        <p:txBody>
          <a:bodyPr wrap="square" lIns="0" tIns="0" rIns="0" bIns="0" rtlCol="0" anchor="t"/>
          <a:lstStyle/>
          <a:p>
            <a:pPr algn="l" indent="0" marL="0">
              <a:buNone/>
            </a:pPr>
            <a:r>
              <a:rPr lang="en-US" sz="1500" b="1" dirty="0">
                <a:solidFill>
                  <a:srgbClr val="000000"/>
                </a:solidFill>
                <a:latin typeface="Arial" pitchFamily="34" charset="0"/>
                <a:ea typeface="Arial" pitchFamily="34" charset="-122"/>
                <a:cs typeface="Arial" pitchFamily="34" charset="-120"/>
              </a:rPr>
              <a:t>Carry this week in one sentence:
</a:t>
            </a:r>
            <a:pPr algn="l" indent="0" marL="0">
              <a:buNone/>
            </a:pPr>
            <a:r>
              <a:rPr lang="en-US" sz="1650" b="1" i="1" dirty="0">
                <a:solidFill>
                  <a:srgbClr val="1F497D"/>
                </a:solidFill>
                <a:latin typeface="Arial" pitchFamily="34" charset="0"/>
                <a:ea typeface="Arial" pitchFamily="34" charset="-122"/>
                <a:cs typeface="Arial" pitchFamily="34" charset="-120"/>
              </a:rPr>
              <a:t>Every covenant tests faith — and Christ passed the exam first. Grace saves; testing proves.</a:t>
            </a:r>
            <a:endParaRPr lang="en-US" sz="1600" dirty="0"/>
          </a:p>
        </p:txBody>
      </p:sp>
      <p:sp>
        <p:nvSpPr>
          <p:cNvPr id="7" name="z4"/>
          <p:cNvSpPr txBox="1"/>
          <p:nvPr/>
        </p:nvSpPr>
        <p:spPr>
          <a:xfrm>
            <a:off x="365760" y="5166360"/>
            <a:ext cx="8412480" cy="822960"/>
          </a:xfrm>
          <a:prstGeom prst="rect">
            <a:avLst/>
          </a:prstGeom>
          <a:noFill/>
          <a:ln/>
        </p:spPr>
        <p:txBody>
          <a:bodyPr wrap="square" lIns="0" tIns="0" rIns="0" bIns="0" rtlCol="0" anchor="t"/>
          <a:lstStyle/>
          <a:p>
            <a:pPr algn="ctr" indent="0" marL="0">
              <a:buNone/>
            </a:pPr>
            <a:r>
              <a:rPr lang="en-US" sz="1600" b="1" i="1" dirty="0">
                <a:solidFill>
                  <a:srgbClr val="1F497D"/>
                </a:solidFill>
                <a:latin typeface="Arial" pitchFamily="34" charset="0"/>
                <a:ea typeface="Arial" pitchFamily="34" charset="-122"/>
                <a:cs typeface="Arial" pitchFamily="34" charset="-120"/>
              </a:rPr>
              <a:t>“by being perfected… he became the source of eternal salvation to all who obey him.”  (Hebrews 5:9)</a:t>
            </a:r>
            <a:endParaRPr lang="en-US" sz="1600" dirty="0"/>
          </a:p>
        </p:txBody>
      </p:sp>
      <p:sp>
        <p:nvSpPr>
          <p:cNvPr id="8" name="z5"/>
          <p:cNvSpPr txBox="1"/>
          <p:nvPr/>
        </p:nvSpPr>
        <p:spPr>
          <a:xfrm>
            <a:off x="365760" y="6035040"/>
            <a:ext cx="8412480" cy="365760"/>
          </a:xfrm>
          <a:prstGeom prst="rect">
            <a:avLst/>
          </a:prstGeom>
          <a:noFill/>
          <a:ln/>
        </p:spPr>
        <p:txBody>
          <a:bodyPr wrap="square" lIns="0" tIns="0" rIns="0" bIns="0" rtlCol="0" anchor="t"/>
          <a:lstStyle/>
          <a:p>
            <a:pPr algn="ctr" indent="0" marL="0">
              <a:buNone/>
            </a:pPr>
            <a:r>
              <a:rPr lang="en-US" sz="13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2026-09-30T13:56:12Z</dcterms:created>
  <dcterms:modified xsi:type="dcterms:W3CDTF">2026-09-30T13:56:12Z</dcterms:modified>
</cp:coreProperties>
</file>