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74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0070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[0:00] The course’s sharpest question, asked plainly: “Last week </a:t>
            </a:r>
            <a:r>
              <a:rPr lang="en-US"/>
              <a:t>→</a:t>
            </a:r>
            <a:r>
              <a:rPr lang="en-US" dirty="0"/>
              <a:t> every covenant tests faith. So what are OURS? Does the New Covenant set specific tests for the church?” Point at 2 Cor 2:9: Paul says he writes his letters precisely to test obedience. The answer is yes, and today we name them. Keep the Week 4/7 guardrail nearby: these prove a faith already saved by grace.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[0:00–10:00]
[CLICK] Three texts </a:t>
            </a:r>
            <a:r>
              <a:rPr lang="en-US"/>
              <a:t>→ </a:t>
            </a:r>
            <a:r>
              <a:rPr lang="en-US" dirty="0"/>
              <a:t>the gospel is OBEYED, not merely assented to. “Obey the gospel” is Paul’s and Peter’s ordinary language. Note Rom 6:17 </a:t>
            </a:r>
            <a:r>
              <a:rPr lang="en-US"/>
              <a:t>→ </a:t>
            </a:r>
            <a:r>
              <a:rPr lang="en-US" dirty="0"/>
              <a:t>conversion described as obedience “from the heart.”
[CLICK] The logic </a:t>
            </a:r>
            <a:r>
              <a:rPr lang="en-US"/>
              <a:t>→ </a:t>
            </a:r>
            <a:r>
              <a:rPr lang="en-US" dirty="0"/>
              <a:t>obedience presupposes commands; a command is the test-point where trust becomes act. This is how a gospel of grace still has tests without becoming works-salvation (the command comes to the already-rescued, Week 4).
[CLICK] 2 Cor 2:9 </a:t>
            </a:r>
            <a:r>
              <a:rPr lang="en-US"/>
              <a:t>→ </a:t>
            </a:r>
            <a:r>
              <a:rPr lang="en-US" dirty="0"/>
              <a:t>the sharpest single text: Paul WRITES in order to test obedience. Apostolic instruction is by design a test.
[CLICK] Close the Romans loop (Week 1’s bookends), then name the four categories the lecture will walk. Preview only. Transition: “Start at the door </a:t>
            </a:r>
            <a:r>
              <a:rPr lang="en-US"/>
              <a:t>→</a:t>
            </a:r>
            <a:r>
              <a:rPr lang="en-US" dirty="0"/>
              <a:t> the entry test.”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[10:00–22:00]
[CLICK] The three threshold commands </a:t>
            </a:r>
            <a:r>
              <a:rPr lang="en-US"/>
              <a:t>→ </a:t>
            </a:r>
            <a:r>
              <a:rPr lang="en-US" dirty="0"/>
              <a:t>confess, repent, be baptized. These are not additions to faith; they are what believing faith DOES when it meets the gospel’s call. Keep grace-first: the command comes to one being rescued, not to earn rescue.
[CLICK] Luke 7:29–30 </a:t>
            </a:r>
            <a:r>
              <a:rPr lang="en-US"/>
              <a:t>→ </a:t>
            </a:r>
            <a:r>
              <a:rPr lang="en-US" dirty="0"/>
              <a:t>the jewel of this week. Refusing John’s baptism was the RECORDED VERDICT on the experts’ entire posture toward God’s purpose. A modest water rite exposed everything </a:t>
            </a:r>
            <a:r>
              <a:rPr lang="en-US"/>
              <a:t>→ </a:t>
            </a:r>
            <a:r>
              <a:rPr lang="en-US" dirty="0"/>
              <a:t>exactly like the forbidden tree. The common people acknowledged God’s justice by submitting.
[CLICK] Col 2:11–12 </a:t>
            </a:r>
            <a:r>
              <a:rPr lang="en-US"/>
              <a:t>→ </a:t>
            </a:r>
            <a:r>
              <a:rPr lang="en-US" dirty="0"/>
              <a:t>baptism stands where circumcision stood: the New Covenant’s entry marker, “through faith.” Don’t over-argue mode/mechanics; the point is that entry has a commanded, revealing act.
[CLICK] Rom 6:17 </a:t>
            </a:r>
            <a:r>
              <a:rPr lang="en-US"/>
              <a:t>→</a:t>
            </a:r>
            <a:r>
              <a:rPr lang="en-US" dirty="0"/>
              <a:t> conversion IS obedience from the heart. Transition: “Entry happens once. But the covenant also schedules a RECURRING test.”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[22:00–32:00]
[CLICK] 1 Cor 11:28 </a:t>
            </a:r>
            <a:r>
              <a:rPr lang="en-US"/>
              <a:t>→ </a:t>
            </a:r>
            <a:r>
              <a:rPr lang="en-US" dirty="0"/>
              <a:t>the ONLY ordinance with a standing commanded self-examination. This reframes communion from ritual-to-perform into weekly-test-to-pass. The old covenant had scheduled tests; so do we.
[CLICK] dokimazeto </a:t>
            </a:r>
            <a:r>
              <a:rPr lang="en-US"/>
              <a:t>→ </a:t>
            </a:r>
            <a:r>
              <a:rPr lang="en-US" dirty="0"/>
              <a:t>the SAME assay word from Week 5. Not morbid introspection; the Berean eye turned inward. Note the real stakes in 11:27–30 (some are weak, ill, have died) </a:t>
            </a:r>
            <a:r>
              <a:rPr lang="en-US"/>
              <a:t>→ </a:t>
            </a:r>
            <a:r>
              <a:rPr lang="en-US" dirty="0"/>
              <a:t>handle soberly, not to terrify. The self-exam is the mercy that prevents the judgment.
[CLICK] The assembly (Heb 10:25) </a:t>
            </a:r>
            <a:r>
              <a:rPr lang="en-US"/>
              <a:t>→ </a:t>
            </a:r>
            <a:r>
              <a:rPr lang="en-US" dirty="0"/>
              <a:t>chronic absence is a SYMPTOM. Frame pastorally: not “come or else” but “withdrawal usually reveals something upstream.”
[CLICK] Forgiveness (Matt 6:14–15) </a:t>
            </a:r>
            <a:r>
              <a:rPr lang="en-US"/>
              <a:t>→</a:t>
            </a:r>
            <a:r>
              <a:rPr lang="en-US" dirty="0"/>
              <a:t> Jesus makes it conditional, so it functions as a diagnosis: an unforgiving heart at the table is a warning light. Land: the meal asks the covenant question weekly. Transition: “Beyond the scheduled tests, two more kinds run constantly.”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[32:00–45:00 </a:t>
            </a:r>
            <a:r>
              <a:rPr lang="en-US"/>
              <a:t>→ </a:t>
            </a:r>
            <a:r>
              <a:rPr lang="en-US" dirty="0"/>
              <a:t>3 columns appear, then the summary; ~3 min per column]
[CLICK] CONTINUOUS </a:t>
            </a:r>
            <a:r>
              <a:rPr lang="en-US"/>
              <a:t>→ </a:t>
            </a:r>
            <a:r>
              <a:rPr lang="en-US" dirty="0"/>
              <a:t>1 John’s three refrains, all “by this we know.” Not tests you sit once but the standing evidences of real life: obedience, love, sound doctrine. Assurance grows here (ties to Week 4’s Spirit-witness).
[CLICK] PROVIDENTIAL </a:t>
            </a:r>
            <a:r>
              <a:rPr lang="en-US"/>
              <a:t>→ </a:t>
            </a:r>
            <a:r>
              <a:rPr lang="en-US" dirty="0"/>
              <a:t>the tests God SENDS rather than commands. Suffering refines (Week 7’s gold). And money </a:t>
            </a:r>
            <a:r>
              <a:rPr lang="en-US"/>
              <a:t>→ </a:t>
            </a:r>
            <a:r>
              <a:rPr lang="en-US" dirty="0"/>
              <a:t>2 Cor 8:8 is startling: Paul calls a giving opportunity a test of love’s genuineness. Wealth is our daily manna, the ongoing proof of which master we serve (Matt 6:24).
[CLICK] FINAL </a:t>
            </a:r>
            <a:r>
              <a:rPr lang="en-US"/>
              <a:t>→ </a:t>
            </a:r>
            <a:r>
              <a:rPr lang="en-US" dirty="0"/>
              <a:t>self-examine NOW (2 Cor 13:5) so the last exam holds no surprises. Matt 7:21–27: “Lord, Lord” is not enough; DOING the Father’s will is the divide. The two builders </a:t>
            </a:r>
            <a:r>
              <a:rPr lang="en-US"/>
              <a:t>→ </a:t>
            </a:r>
            <a:r>
              <a:rPr lang="en-US" dirty="0"/>
              <a:t>same sermon heard, storm reveals who built on doing vs. hearing-only.
[CLICK] The summary </a:t>
            </a:r>
            <a:r>
              <a:rPr lang="en-US"/>
              <a:t>→ </a:t>
            </a:r>
            <a:r>
              <a:rPr lang="en-US" dirty="0"/>
              <a:t>1 John as the tests-of-life book; the final court is deeds flowing from faith, not profession alone. Keep grace close: this judges the reality of faith, it doesn’t replace grace with merit (Eph 2:10 </a:t>
            </a:r>
            <a:r>
              <a:rPr lang="en-US"/>
              <a:t>→</a:t>
            </a:r>
            <a:r>
              <a:rPr lang="en-US" dirty="0"/>
              <a:t> created FOR good works). To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[45:00–55:00]
Q1: A gentle mirror on the congregation </a:t>
            </a:r>
            <a:r>
              <a:rPr lang="en-US"/>
              <a:t>→ </a:t>
            </a:r>
            <a:r>
              <a:rPr lang="en-US" dirty="0"/>
              <a:t>not a complaint session. Many traditions over-stress entry (get baptized) and under-stress continuous/providential (daily proving), or vice versa. Whatever the class names, ask: what would it look like to recover it? Keep constructive.
Q2: The practical heart. 1 Cor 11:28 examines FOR: unconfessed sin, division with a brother (the Corinth context!), an unforgiving heart (Matt 6), treating the holy casually. NOT morbid “am I good enough” </a:t>
            </a:r>
            <a:r>
              <a:rPr lang="en-US"/>
              <a:t>→</a:t>
            </a:r>
            <a:r>
              <a:rPr lang="en-US" dirty="0"/>
              <a:t> that’s the scoreboard Week 4 removed. It’s “am I coming in faith and love, or in pretense and grudge?” Model it briefly.
[CLICK] Ground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[55:00 close, ~2 min]
[CLICK] Next week’s reading </a:t>
            </a:r>
            <a:r>
              <a:rPr lang="en-US"/>
              <a:t>→ </a:t>
            </a:r>
            <a:r>
              <a:rPr lang="en-US" dirty="0"/>
              <a:t>pivots to the living sacrifice; both flags (body-and-mind, the governor test) preview W9.
[CLICK] Preview Week 9.
[CLICK] Carry sentence </a:t>
            </a:r>
            <a:r>
              <a:rPr lang="en-US"/>
              <a:t>→ </a:t>
            </a:r>
            <a:r>
              <a:rPr lang="en-US" dirty="0"/>
              <a:t>the four categories in one line; say it together.
[CLICK] Close on 2 Cor 13:5 </a:t>
            </a:r>
            <a:r>
              <a:rPr lang="en-US"/>
              <a:t>→</a:t>
            </a:r>
            <a:r>
              <a:rPr lang="en-US" dirty="0"/>
              <a:t> an invitation to self-examine, framed by grace not fear. Dismiss on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tinyurl.com/TeachTheWord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tinyurl.com/TeachTheWord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0"/>
          <p:cNvSpPr txBox="1"/>
          <p:nvPr/>
        </p:nvSpPr>
        <p:spPr>
          <a:xfrm>
            <a:off x="548640" y="6400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i="1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Obedience of Faith - Week 8  ·  Unit III: Testing</a:t>
            </a:r>
            <a:endParaRPr lang="en-US" sz="1600" dirty="0"/>
          </a:p>
        </p:txBody>
      </p:sp>
      <p:sp>
        <p:nvSpPr>
          <p:cNvPr id="3" name="t1"/>
          <p:cNvSpPr txBox="1"/>
          <p:nvPr/>
        </p:nvSpPr>
        <p:spPr>
          <a:xfrm>
            <a:off x="548640" y="11887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Church’s Tests</a:t>
            </a:r>
            <a:endParaRPr lang="en-US" sz="1600" dirty="0"/>
          </a:p>
        </p:txBody>
      </p:sp>
      <p:sp>
        <p:nvSpPr>
          <p:cNvPr id="4" name="t2"/>
          <p:cNvSpPr txBox="1"/>
          <p:nvPr/>
        </p:nvSpPr>
        <p:spPr>
          <a:xfrm>
            <a:off x="548640" y="21488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100" b="1" i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Obeying the Gospel and the Table</a:t>
            </a:r>
            <a:endParaRPr lang="en-US" sz="1600" dirty="0"/>
          </a:p>
        </p:txBody>
      </p:sp>
      <p:sp>
        <p:nvSpPr>
          <p:cNvPr id="5" name="t3"/>
          <p:cNvSpPr txBox="1"/>
          <p:nvPr/>
        </p:nvSpPr>
        <p:spPr>
          <a:xfrm>
            <a:off x="914400" y="306324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“For this reason also I wrote you: to test you to see if you are obedient in everything.”</a:t>
            </a:r>
            <a:endParaRPr lang="en-US" sz="2000" dirty="0"/>
          </a:p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 Corinthians 2:9)</a:t>
            </a:r>
            <a:endParaRPr lang="en-US" sz="2000" dirty="0"/>
          </a:p>
        </p:txBody>
      </p:sp>
      <p:sp>
        <p:nvSpPr>
          <p:cNvPr id="6" name="t4"/>
          <p:cNvSpPr txBox="1"/>
          <p:nvPr/>
        </p:nvSpPr>
        <p:spPr>
          <a:xfrm>
            <a:off x="914400" y="4754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u="sng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</a:t>
            </a:r>
            <a:r>
              <a:rPr lang="en-US" sz="2000" b="1" u="sng" dirty="0" err="1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TeachTheWord</a:t>
            </a:r>
            <a:r>
              <a:rPr lang="en-US" sz="2000" b="1" u="sng" dirty="0" err="1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.Church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Title"/>
          <p:cNvSpPr txBox="1"/>
          <p:nvPr/>
        </p:nvSpPr>
        <p:spPr>
          <a:xfrm>
            <a:off x="228600" y="10972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Gospel Is Something Obeyed</a:t>
            </a:r>
            <a:endParaRPr lang="en-US" sz="1600" dirty="0"/>
          </a:p>
        </p:txBody>
      </p:sp>
      <p:sp>
        <p:nvSpPr>
          <p:cNvPr id="3" name="HeadSub"/>
          <p:cNvSpPr txBox="1"/>
          <p:nvPr/>
        </p:nvSpPr>
        <p:spPr>
          <a:xfrm>
            <a:off x="228600" y="56692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bridge from covenant tests to church tests</a:t>
            </a:r>
            <a:endParaRPr lang="en-US" sz="2800" dirty="0"/>
          </a:p>
        </p:txBody>
      </p:sp>
      <p:sp>
        <p:nvSpPr>
          <p:cNvPr id="4" name="a1"/>
          <p:cNvSpPr txBox="1"/>
          <p:nvPr/>
        </p:nvSpPr>
        <p:spPr>
          <a:xfrm>
            <a:off x="365760" y="1051560"/>
            <a:ext cx="8412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New Testament speaks of the gospel not only as believed, but as obeyed:
</a:t>
            </a:r>
            <a:r>
              <a:rPr lang="en-US" sz="16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“…those who do not obey the gospel of our Lord Jesus” (2 Thess 1:8)
▪  “What will be the fate of those disobedient to the gospel of God?” (1 Pet 4:17)
▪  “you obeyed from the heart that pattern of teaching” (Rom 6:17)</a:t>
            </a:r>
            <a:endParaRPr lang="en-US" sz="2000" dirty="0"/>
          </a:p>
        </p:txBody>
      </p:sp>
      <p:sp>
        <p:nvSpPr>
          <p:cNvPr id="5" name="a2"/>
          <p:cNvSpPr txBox="1"/>
          <p:nvPr/>
        </p:nvSpPr>
        <p:spPr>
          <a:xfrm>
            <a:off x="365760" y="269748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gospel can be obeyed only because it contains commands.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a command is, by nature, a test — the point where trust in the word must become action.</a:t>
            </a:r>
            <a:endParaRPr lang="en-US" sz="2000" dirty="0"/>
          </a:p>
        </p:txBody>
      </p:sp>
      <p:sp>
        <p:nvSpPr>
          <p:cNvPr id="6" name="a3"/>
          <p:cNvSpPr txBox="1"/>
          <p:nvPr/>
        </p:nvSpPr>
        <p:spPr>
          <a:xfrm>
            <a:off x="365760" y="3840480"/>
            <a:ext cx="8412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Paul states it as bluntly as possible </a:t>
            </a:r>
            <a:r>
              <a:rPr lang="en-US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apostolic instruction is designed to test:
</a:t>
            </a:r>
            <a:r>
              <a:rPr lang="en-US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“For this reason also I wrote you: to test you to see if you are obedient in everything.” </a:t>
            </a: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 Corinthians 2:9)</a:t>
            </a:r>
            <a:endParaRPr lang="en-US" sz="2000" dirty="0"/>
          </a:p>
        </p:txBody>
      </p:sp>
      <p:sp>
        <p:nvSpPr>
          <p:cNvPr id="7" name="a4"/>
          <p:cNvSpPr txBox="1"/>
          <p:nvPr/>
        </p:nvSpPr>
        <p:spPr>
          <a:xfrm>
            <a:off x="365760" y="5120640"/>
            <a:ext cx="8412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closes Romans’ loop from Week 1: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apostleship exists “to bring about the </a:t>
            </a:r>
            <a:r>
              <a:rPr lang="en-US" b="1" i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obedience of faith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” (Rom 1:5). So, the church’s tests fall into four kinds </a:t>
            </a:r>
            <a:r>
              <a:rPr lang="en-US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which we’ll walk today.</a:t>
            </a:r>
            <a:endParaRPr lang="en-US" sz="2000" dirty="0"/>
          </a:p>
          <a:p>
            <a:pPr marL="0" indent="0" algn="l">
              <a:buNone/>
            </a:pPr>
            <a:r>
              <a:rPr lang="en-US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ENTRY  ·  RECURRING  ·  CONTINUOUS  ·  PROVIDENTIAL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ar">
            <a:extLst>
              <a:ext uri="{FF2B5EF4-FFF2-40B4-BE49-F238E27FC236}">
                <a16:creationId xmlns:a16="http://schemas.microsoft.com/office/drawing/2014/main" id="{03CD111D-5F26-7C3C-91EE-DC699F93D26F}"/>
              </a:ext>
            </a:extLst>
          </p:cNvPr>
          <p:cNvSpPr/>
          <p:nvPr/>
        </p:nvSpPr>
        <p:spPr>
          <a:xfrm>
            <a:off x="228600" y="2585273"/>
            <a:ext cx="8686800" cy="1687453"/>
          </a:xfrm>
          <a:prstGeom prst="roundRect">
            <a:avLst>
              <a:gd name="adj" fmla="val 5161"/>
            </a:avLst>
          </a:prstGeom>
          <a:solidFill>
            <a:srgbClr val="F2F4F7"/>
          </a:solidFill>
          <a:ln w="12700">
            <a:solidFill>
              <a:srgbClr val="1F49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HeadTitle"/>
          <p:cNvSpPr txBox="1"/>
          <p:nvPr/>
        </p:nvSpPr>
        <p:spPr>
          <a:xfrm>
            <a:off x="228600" y="10972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Entry Test: Obeying the Gospel</a:t>
            </a:r>
            <a:endParaRPr lang="en-US" sz="1600" dirty="0"/>
          </a:p>
        </p:txBody>
      </p:sp>
      <p:sp>
        <p:nvSpPr>
          <p:cNvPr id="3" name="HeadSub"/>
          <p:cNvSpPr txBox="1"/>
          <p:nvPr/>
        </p:nvSpPr>
        <p:spPr>
          <a:xfrm>
            <a:off x="228600" y="497299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Faith confessed · repentance · baptism</a:t>
            </a:r>
            <a:endParaRPr lang="en-US" sz="2800" dirty="0"/>
          </a:p>
        </p:txBody>
      </p:sp>
      <p:sp>
        <p:nvSpPr>
          <p:cNvPr id="4" name="b1"/>
          <p:cNvSpPr txBox="1"/>
          <p:nvPr/>
        </p:nvSpPr>
        <p:spPr>
          <a:xfrm>
            <a:off x="365760" y="833752"/>
            <a:ext cx="8412480" cy="1767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gospel’s commands at the threshold:
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Confess:  </a:t>
            </a:r>
            <a:r>
              <a:rPr lang="en-US" sz="16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“if you confess with your mouth that Jesus is Lord… you will be saved” </a:t>
            </a: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(Rom 10:9)</a:t>
            </a:r>
            <a:endParaRPr lang="en-US" sz="20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Repent:  </a:t>
            </a:r>
            <a:endParaRPr lang="en-US" sz="2000" dirty="0"/>
          </a:p>
          <a:p>
            <a:pPr marL="0" indent="0" algn="l">
              <a:buNone/>
            </a:pPr>
            <a:r>
              <a:rPr lang="en-US" sz="16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“God… now commands all people everywhere to repent” </a:t>
            </a: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(Acts 17:30)</a:t>
            </a:r>
            <a:endParaRPr lang="en-US" sz="20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Be baptized:  </a:t>
            </a:r>
            <a:endParaRPr lang="en-US" sz="2000" dirty="0"/>
          </a:p>
          <a:p>
            <a:pPr marL="0" indent="0" algn="l">
              <a:buNone/>
            </a:pPr>
            <a:r>
              <a:rPr lang="en-US" sz="16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“Repent, and each one of you be baptized in the name of Jesus Christ” </a:t>
            </a: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(Acts 2:38)</a:t>
            </a:r>
            <a:endParaRPr lang="en-US" sz="2000" dirty="0"/>
          </a:p>
        </p:txBody>
      </p:sp>
      <p:sp>
        <p:nvSpPr>
          <p:cNvPr id="5" name="b2"/>
          <p:cNvSpPr txBox="1"/>
          <p:nvPr/>
        </p:nvSpPr>
        <p:spPr>
          <a:xfrm>
            <a:off x="365760" y="2650504"/>
            <a:ext cx="8412480" cy="15569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here is the revealing text → response to a commanded washing disclosed the whole heart:
</a:t>
            </a:r>
            <a:r>
              <a:rPr lang="en-US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“The Pharisees and the experts in religious law rejected God’s purpose for themselves, because they had not been baptized by John.” </a:t>
            </a: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(Luke 7:29–30)</a:t>
            </a:r>
            <a:endParaRPr lang="en-US" sz="20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common people “acknowledged God’s justice” by being baptized; the experts refused → and the refusal WAS the verdict on their posture toward God.</a:t>
            </a:r>
            <a:endParaRPr lang="en-US" sz="2000" dirty="0"/>
          </a:p>
        </p:txBody>
      </p:sp>
      <p:sp>
        <p:nvSpPr>
          <p:cNvPr id="6" name="b3"/>
          <p:cNvSpPr txBox="1"/>
          <p:nvPr/>
        </p:nvSpPr>
        <p:spPr>
          <a:xfrm>
            <a:off x="365760" y="4272726"/>
            <a:ext cx="8412480" cy="1417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shape as Eden, Moriah, the manna: a concrete, seemingly modest act whose acceptance or refusal reveals everything. Paul then plants baptism where the old covenant marker stood:
</a:t>
            </a:r>
            <a:r>
              <a:rPr lang="en-US" sz="16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“In him you were also circumcised… having been buried with him in baptism, in which also you were raised with him through faith.” </a:t>
            </a: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(Colossians 2:11–12)</a:t>
            </a:r>
            <a:endParaRPr lang="en-US" sz="2000" dirty="0"/>
          </a:p>
        </p:txBody>
      </p:sp>
      <p:sp>
        <p:nvSpPr>
          <p:cNvPr id="7" name="b4"/>
          <p:cNvSpPr txBox="1"/>
          <p:nvPr/>
        </p:nvSpPr>
        <p:spPr>
          <a:xfrm>
            <a:off x="365760" y="5755276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 itself is described as a test passed: </a:t>
            </a:r>
            <a:r>
              <a:rPr lang="en-US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“you obeyed from the heart that pattern of teaching” </a:t>
            </a: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(Rom 6:17)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belief that became obedient action.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Title"/>
          <p:cNvSpPr txBox="1"/>
          <p:nvPr/>
        </p:nvSpPr>
        <p:spPr>
          <a:xfrm>
            <a:off x="228600" y="10972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Recurring Test: The Table</a:t>
            </a:r>
            <a:endParaRPr lang="en-US" sz="1600" dirty="0"/>
          </a:p>
        </p:txBody>
      </p:sp>
      <p:sp>
        <p:nvSpPr>
          <p:cNvPr id="3" name="HeadSub"/>
          <p:cNvSpPr txBox="1"/>
          <p:nvPr/>
        </p:nvSpPr>
        <p:spPr>
          <a:xfrm>
            <a:off x="228600" y="56692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covenant meal asks the covenant question → weekly</a:t>
            </a:r>
            <a:endParaRPr lang="en-US" sz="2800" dirty="0"/>
          </a:p>
        </p:txBody>
      </p:sp>
      <p:sp>
        <p:nvSpPr>
          <p:cNvPr id="4" name="c1"/>
          <p:cNvSpPr txBox="1"/>
          <p:nvPr/>
        </p:nvSpPr>
        <p:spPr>
          <a:xfrm>
            <a:off x="365760" y="1051560"/>
            <a:ext cx="8412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Mosaic covenant scheduled its tests (Sabbath, feasts, daily manna). The New Covenant schedules one too → with the examination commanded outright:
</a:t>
            </a:r>
            <a:r>
              <a:rPr lang="en-US" sz="20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 person should examine himself first, and in this way let him eat the bread and drink of the cup.” </a:t>
            </a: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 Corinthians 11:28)</a:t>
            </a:r>
            <a:endParaRPr lang="en-US" sz="2000" dirty="0"/>
          </a:p>
        </p:txBody>
      </p:sp>
      <p:sp>
        <p:nvSpPr>
          <p:cNvPr id="5" name="c2"/>
          <p:cNvSpPr txBox="1"/>
          <p:nvPr/>
        </p:nvSpPr>
        <p:spPr>
          <a:xfrm>
            <a:off x="365760" y="239268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i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verb is dokimazeto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the assayer’s word from Week 5’s toolkit. The Lord’s Supper is the only ordinance with a STANDING, repeated, commanded self-test attached → and real consequences for taking it carelessly (11:27–30).</a:t>
            </a:r>
            <a:endParaRPr lang="en-US" sz="2000" dirty="0"/>
          </a:p>
        </p:txBody>
      </p:sp>
      <p:sp>
        <p:nvSpPr>
          <p:cNvPr id="6" name="c3"/>
          <p:cNvSpPr txBox="1"/>
          <p:nvPr/>
        </p:nvSpPr>
        <p:spPr>
          <a:xfrm>
            <a:off x="365760" y="350520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more recurring obediences whose neglect Scripture treats as revealing:
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The assembly itself → </a:t>
            </a:r>
            <a:r>
              <a:rPr lang="en-US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“not abandoning our own meetings, as some are in the habit of doing” </a:t>
            </a: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(Heb 10:25)</a:t>
            </a:r>
            <a:r>
              <a:rPr lang="en-US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(forsaking it is a symptom, not a scheduling problem)</a:t>
            </a:r>
            <a:endParaRPr lang="en-US" sz="2400" dirty="0"/>
          </a:p>
        </p:txBody>
      </p:sp>
      <p:sp>
        <p:nvSpPr>
          <p:cNvPr id="7" name="c4"/>
          <p:cNvSpPr txBox="1"/>
          <p:nvPr/>
        </p:nvSpPr>
        <p:spPr>
          <a:xfrm>
            <a:off x="365760" y="4709160"/>
            <a:ext cx="8412480" cy="1852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Forgiveness in prayer → which Jesus makes explicitly conditional, and therefore diagnostic: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“For if you forgive others their sins, your heavenly Father will also forgive you. But if you do not forgive others, your Father will not forgive you.” </a:t>
            </a: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(Matthew 6:14–15)</a:t>
            </a:r>
            <a:endParaRPr lang="en-US" sz="2000" dirty="0"/>
          </a:p>
          <a:p>
            <a:pPr marL="0" indent="0" algn="l">
              <a:buNone/>
            </a:pPr>
            <a:r>
              <a:rPr lang="en-US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week the covenant meal asks: is the faith you professed at the door still real at the table?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Title"/>
          <p:cNvSpPr txBox="1"/>
          <p:nvPr/>
        </p:nvSpPr>
        <p:spPr>
          <a:xfrm>
            <a:off x="228600" y="10972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Continuous, the Providential, the Final</a:t>
            </a:r>
            <a:endParaRPr lang="en-US" sz="1600" dirty="0"/>
          </a:p>
        </p:txBody>
      </p:sp>
      <p:sp>
        <p:nvSpPr>
          <p:cNvPr id="3" name="HeadSub"/>
          <p:cNvSpPr txBox="1"/>
          <p:nvPr/>
        </p:nvSpPr>
        <p:spPr>
          <a:xfrm>
            <a:off x="228600" y="56692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more ways faith is proven → and the last exam of all</a:t>
            </a:r>
            <a:endParaRPr lang="en-US" sz="2800" dirty="0"/>
          </a:p>
        </p:txBody>
      </p:sp>
      <p:sp>
        <p:nvSpPr>
          <p:cNvPr id="4" name="col0"/>
          <p:cNvSpPr/>
          <p:nvPr/>
        </p:nvSpPr>
        <p:spPr>
          <a:xfrm>
            <a:off x="365760" y="1234440"/>
            <a:ext cx="2697480" cy="3429000"/>
          </a:xfrm>
          <a:prstGeom prst="roundRect">
            <a:avLst>
              <a:gd name="adj" fmla="val 2712"/>
            </a:avLst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colh0"/>
          <p:cNvSpPr txBox="1"/>
          <p:nvPr/>
        </p:nvSpPr>
        <p:spPr>
          <a:xfrm>
            <a:off x="475488" y="137160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
</a:t>
            </a:r>
            <a:r>
              <a:rPr lang="en-US" sz="1600" i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John → “by this we know”</a:t>
            </a:r>
            <a:endParaRPr lang="en-US" sz="2400" dirty="0"/>
          </a:p>
        </p:txBody>
      </p:sp>
      <p:sp>
        <p:nvSpPr>
          <p:cNvPr id="6" name="colt0"/>
          <p:cNvSpPr txBox="1"/>
          <p:nvPr/>
        </p:nvSpPr>
        <p:spPr>
          <a:xfrm>
            <a:off x="502920" y="2286000"/>
            <a:ext cx="2423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Moral: keep his commands (2:3)</a:t>
            </a:r>
            <a:endParaRPr lang="en-US" sz="24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Relational: love the brothers (3:14)</a:t>
            </a:r>
            <a:endParaRPr lang="en-US" sz="24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Doctrinal: test the spirits (4:1–3)</a:t>
            </a:r>
            <a:endParaRPr lang="en-US" sz="2400" dirty="0"/>
          </a:p>
        </p:txBody>
      </p:sp>
      <p:sp>
        <p:nvSpPr>
          <p:cNvPr id="7" name="col1"/>
          <p:cNvSpPr/>
          <p:nvPr/>
        </p:nvSpPr>
        <p:spPr>
          <a:xfrm>
            <a:off x="3218688" y="1234440"/>
            <a:ext cx="2697480" cy="3429000"/>
          </a:xfrm>
          <a:prstGeom prst="roundRect">
            <a:avLst>
              <a:gd name="adj" fmla="val 2712"/>
            </a:avLst>
          </a:prstGeom>
          <a:solidFill>
            <a:srgbClr val="1F497D">
              <a:alpha val="92000"/>
            </a:srgbClr>
          </a:solidFill>
          <a:ln w="12700">
            <a:solidFill>
              <a:srgbClr val="1F49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colh1"/>
          <p:cNvSpPr txBox="1"/>
          <p:nvPr/>
        </p:nvSpPr>
        <p:spPr>
          <a:xfrm>
            <a:off x="3328416" y="137160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PROVIDENTIAL
</a:t>
            </a:r>
            <a:r>
              <a:rPr lang="en-US" i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Trials &amp; wealth</a:t>
            </a:r>
            <a:endParaRPr lang="en-US" sz="2800" dirty="0"/>
          </a:p>
        </p:txBody>
      </p:sp>
      <p:sp>
        <p:nvSpPr>
          <p:cNvPr id="9" name="colt1"/>
          <p:cNvSpPr txBox="1"/>
          <p:nvPr/>
        </p:nvSpPr>
        <p:spPr>
          <a:xfrm>
            <a:off x="3355848" y="2286000"/>
            <a:ext cx="2423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Suffering proves genuineness (Jas 1:2–3,12; 1 Pet 1:6–7)</a:t>
            </a:r>
            <a:endParaRPr lang="en-US" sz="24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Money is the church’s manna: “I am testing the genuineness of your love” (2 Cor 8:8)</a:t>
            </a:r>
            <a:endParaRPr lang="en-US" sz="2400" dirty="0"/>
          </a:p>
        </p:txBody>
      </p:sp>
      <p:sp>
        <p:nvSpPr>
          <p:cNvPr id="10" name="col2"/>
          <p:cNvSpPr/>
          <p:nvPr/>
        </p:nvSpPr>
        <p:spPr>
          <a:xfrm>
            <a:off x="6071616" y="1234440"/>
            <a:ext cx="2697480" cy="3429000"/>
          </a:xfrm>
          <a:prstGeom prst="roundRect">
            <a:avLst>
              <a:gd name="adj" fmla="val 2712"/>
            </a:avLst>
          </a:prstGeom>
          <a:solidFill>
            <a:srgbClr val="1F497D">
              <a:alpha val="84000"/>
            </a:srgbClr>
          </a:solidFill>
          <a:ln w="12700">
            <a:solidFill>
              <a:srgbClr val="1F49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colh2"/>
          <p:cNvSpPr txBox="1"/>
          <p:nvPr/>
        </p:nvSpPr>
        <p:spPr>
          <a:xfrm>
            <a:off x="6181344" y="137160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
</a:t>
            </a:r>
            <a:r>
              <a:rPr lang="en-US" i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last exam</a:t>
            </a:r>
            <a:endParaRPr lang="en-US" sz="2800" dirty="0"/>
          </a:p>
        </p:txBody>
      </p:sp>
      <p:sp>
        <p:nvSpPr>
          <p:cNvPr id="12" name="colt2"/>
          <p:cNvSpPr txBox="1"/>
          <p:nvPr/>
        </p:nvSpPr>
        <p:spPr>
          <a:xfrm>
            <a:off x="6208776" y="2286000"/>
            <a:ext cx="2423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Examine yourselves now (2 Cor 13:5)</a:t>
            </a:r>
            <a:endParaRPr lang="en-US" sz="24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“Not everyone who says ‘Lord, Lord’… but the one who DOES the will” (Matt 7:21–27)</a:t>
            </a:r>
            <a:endParaRPr lang="en-US" sz="2400" dirty="0"/>
          </a:p>
        </p:txBody>
      </p:sp>
      <p:sp>
        <p:nvSpPr>
          <p:cNvPr id="13" name="e1"/>
          <p:cNvSpPr txBox="1"/>
          <p:nvPr/>
        </p:nvSpPr>
        <p:spPr>
          <a:xfrm>
            <a:off x="365760" y="4892040"/>
            <a:ext cx="8412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book is built entirely as a series of tests → 1 John, the “tests of life”: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I obey, do I love, do I hold the truth? And the final court is not what we </a:t>
            </a:r>
            <a:r>
              <a:rPr lang="en-US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said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but what we </a:t>
            </a:r>
            <a:r>
              <a:rPr lang="en-US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 with what we believed.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(Matt 7:24–27 → the two builders; the storm reveals the foundation).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Title"/>
          <p:cNvSpPr txBox="1"/>
          <p:nvPr/>
        </p:nvSpPr>
        <p:spPr>
          <a:xfrm>
            <a:off x="228600" y="10972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</a:t>
            </a:r>
            <a:endParaRPr lang="en-US" sz="1600" dirty="0"/>
          </a:p>
        </p:txBody>
      </p:sp>
      <p:sp>
        <p:nvSpPr>
          <p:cNvPr id="3" name="HeadSub"/>
          <p:cNvSpPr txBox="1"/>
          <p:nvPr/>
        </p:nvSpPr>
        <p:spPr>
          <a:xfrm>
            <a:off x="228600" y="56692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 minutes → this is the week’s practice</a:t>
            </a:r>
            <a:endParaRPr lang="en-US" sz="2800" dirty="0"/>
          </a:p>
        </p:txBody>
      </p:sp>
      <p:sp>
        <p:nvSpPr>
          <p:cNvPr id="4" name="x1"/>
          <p:cNvSpPr txBox="1"/>
          <p:nvPr/>
        </p:nvSpPr>
        <p:spPr>
          <a:xfrm>
            <a:off x="457200" y="1325880"/>
            <a:ext cx="8229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 four → entry, recurring, continuous, providential → which does our congregation talk about least? Why that one?</a:t>
            </a:r>
            <a:endParaRPr lang="en-US" sz="2000" dirty="0"/>
          </a:p>
        </p:txBody>
      </p:sp>
      <p:sp>
        <p:nvSpPr>
          <p:cNvPr id="5" name="x2"/>
          <p:cNvSpPr txBox="1"/>
          <p:nvPr/>
        </p:nvSpPr>
        <p:spPr>
          <a:xfrm>
            <a:off x="457200" y="297180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weekly self-examination at the table actually involve → practically? What are you examining for?</a:t>
            </a:r>
            <a:endParaRPr lang="en-US" sz="2000" dirty="0"/>
          </a:p>
        </p:txBody>
      </p:sp>
      <p:sp>
        <p:nvSpPr>
          <p:cNvPr id="6" name="x3"/>
          <p:cNvSpPr txBox="1"/>
          <p:nvPr/>
        </p:nvSpPr>
        <p:spPr>
          <a:xfrm>
            <a:off x="457200" y="48463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Berean rule stands: </a:t>
            </a:r>
            <a:r>
              <a:rPr lang="en-US" sz="2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claim goes back to the text → eager, and examining.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Title"/>
          <p:cNvSpPr txBox="1"/>
          <p:nvPr/>
        </p:nvSpPr>
        <p:spPr>
          <a:xfrm>
            <a:off x="228600" y="10972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Like a Berean</a:t>
            </a:r>
            <a:endParaRPr lang="en-US" sz="1600" dirty="0"/>
          </a:p>
        </p:txBody>
      </p:sp>
      <p:sp>
        <p:nvSpPr>
          <p:cNvPr id="3" name="HeadSub"/>
          <p:cNvSpPr txBox="1"/>
          <p:nvPr/>
        </p:nvSpPr>
        <p:spPr>
          <a:xfrm>
            <a:off x="228600" y="56692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next week → eager, and examining</a:t>
            </a:r>
            <a:endParaRPr lang="en-US" sz="2800" dirty="0"/>
          </a:p>
        </p:txBody>
      </p:sp>
      <p:sp>
        <p:nvSpPr>
          <p:cNvPr id="4" name="z1"/>
          <p:cNvSpPr txBox="1"/>
          <p:nvPr/>
        </p:nvSpPr>
        <p:spPr>
          <a:xfrm>
            <a:off x="365760" y="1188720"/>
            <a:ext cx="8412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next week, read:
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Romans 12:1–2 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what does Paul ask you to place on the altar? Notice both body AND mind.
•  </a:t>
            </a: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Malachi 1:6–14 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what was wrong with the priests’ offerings? Would you hand it to your governor?</a:t>
            </a:r>
            <a:endParaRPr lang="en-US" sz="2000" dirty="0"/>
          </a:p>
        </p:txBody>
      </p:sp>
      <p:sp>
        <p:nvSpPr>
          <p:cNvPr id="5" name="z2"/>
          <p:cNvSpPr txBox="1"/>
          <p:nvPr/>
        </p:nvSpPr>
        <p:spPr>
          <a:xfrm>
            <a:off x="365760" y="283464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week: </a:t>
            </a:r>
            <a:r>
              <a:rPr lang="en-US" sz="2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Altar Today → do Christians offer sacrifices? The atonement is finished; so what goes on the altar now?</a:t>
            </a:r>
            <a:endParaRPr lang="en-US" sz="2000" dirty="0"/>
          </a:p>
        </p:txBody>
      </p:sp>
      <p:sp>
        <p:nvSpPr>
          <p:cNvPr id="6" name="z3"/>
          <p:cNvSpPr txBox="1"/>
          <p:nvPr/>
        </p:nvSpPr>
        <p:spPr>
          <a:xfrm>
            <a:off x="365760" y="3977640"/>
            <a:ext cx="8412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 in one sentence:
</a:t>
            </a:r>
            <a:r>
              <a:rPr lang="en-US" sz="2000" b="1" i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church’s faith is tested at the door, at the table, in the life, and through the fire</a:t>
            </a:r>
            <a:r>
              <a:rPr lang="en-US" sz="1650" b="1" i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600" dirty="0"/>
          </a:p>
        </p:txBody>
      </p:sp>
      <p:sp>
        <p:nvSpPr>
          <p:cNvPr id="7" name="z4"/>
          <p:cNvSpPr txBox="1"/>
          <p:nvPr/>
        </p:nvSpPr>
        <p:spPr>
          <a:xfrm>
            <a:off x="365760" y="516636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b="1" i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“Examine yourselves to see whether you are in the faith.”  </a:t>
            </a:r>
          </a:p>
          <a:p>
            <a:pPr marL="0" indent="0" algn="ctr">
              <a:buNone/>
            </a:pPr>
            <a:r>
              <a:rPr lang="en-US" b="1" i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 Corinthians 13:5)</a:t>
            </a:r>
            <a:endParaRPr lang="en-US" dirty="0"/>
          </a:p>
        </p:txBody>
      </p:sp>
      <p:sp>
        <p:nvSpPr>
          <p:cNvPr id="8" name="z5"/>
          <p:cNvSpPr txBox="1"/>
          <p:nvPr/>
        </p:nvSpPr>
        <p:spPr>
          <a:xfrm>
            <a:off x="365760" y="60350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b="1" u="sng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</a:t>
            </a:r>
            <a:r>
              <a:rPr lang="en-US" b="1" u="sng" dirty="0" err="1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TeachTheWord</a:t>
            </a:r>
            <a:r>
              <a:rPr lang="en-US" b="1" u="sng" dirty="0" err="1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.Church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2239</Words>
  <Application>Microsoft Macintosh PowerPoint</Application>
  <PresentationFormat>On-screen Show (4:3)</PresentationFormat>
  <Paragraphs>72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Phil Pennington</cp:lastModifiedBy>
  <cp:revision>5</cp:revision>
  <dcterms:created xsi:type="dcterms:W3CDTF">2026-09-30T14:02:20Z</dcterms:created>
  <dcterms:modified xsi:type="dcterms:W3CDTF">2026-10-21T09:42:04Z</dcterms:modified>
</cp:coreProperties>
</file>