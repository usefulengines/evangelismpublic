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30"/>
    <p:restoredTop sz="94610"/>
  </p:normalViewPr>
  <p:slideViewPr>
    <p:cSldViewPr snapToGrid="0" snapToObjects="1">
      <p:cViewPr varScale="1">
        <p:scale>
          <a:sx n="150" d="100"/>
          <a:sy n="150" d="100"/>
        </p:scale>
        <p:origin x="1016"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67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The finale. Open by naming the journey: “Twelve weeks ago we started with a question </a:t>
            </a:r>
            <a:r>
              <a:rPr lang="en-US"/>
              <a:t>→ </a:t>
            </a:r>
            <a:r>
              <a:rPr lang="en-US" dirty="0"/>
              <a:t>why do you call me good? Today we finish where Jesus finishes: teaching others to OBEY. The whole course has been one sentence, and today it lands.” Warm, valedictory tone. Point at Matt 28:20: “teaching them to OBEY” </a:t>
            </a:r>
            <a:r>
              <a:rPr lang="en-US"/>
              <a:t>→</a:t>
            </a:r>
            <a:r>
              <a:rPr lang="en-US" dirty="0"/>
              <a:t> that is the obedience of faith in Jesus’ own words.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[0:00–12:00]
[CLICK] Deut 6 </a:t>
            </a:r>
            <a:r>
              <a:rPr lang="en-US"/>
              <a:t>→ </a:t>
            </a:r>
            <a:r>
              <a:rPr lang="en-US" dirty="0"/>
              <a:t>the home is the first classroom. “On the heart FIRST” ties back to Week 5: you can only hand on what you’ve received and hold. The daily-life setting (sit, walk, lie down, rise) = ordinary time, not just formal devotions.
[CLICK] Abraham &amp; Joshua </a:t>
            </a:r>
            <a:r>
              <a:rPr lang="en-US"/>
              <a:t>→ </a:t>
            </a:r>
            <a:r>
              <a:rPr lang="en-US" dirty="0"/>
              <a:t>the household as a unit of covenant faithfulness across generations.
[CLICK] EVERYONE HAS A POST </a:t>
            </a:r>
            <a:r>
              <a:rPr lang="en-US"/>
              <a:t>→ </a:t>
            </a:r>
            <a:r>
              <a:rPr lang="en-US" dirty="0"/>
              <a:t>crucial for a mixed class; this is not a “dads” lecture. Husbands/wives, fathers/mothers, grandparents/singles. Read Lois &amp; Eunice warmly </a:t>
            </a:r>
            <a:r>
              <a:rPr lang="en-US"/>
              <a:t>→ </a:t>
            </a:r>
            <a:r>
              <a:rPr lang="en-US" dirty="0"/>
              <a:t>faith came down through two women. Every person in the room disciples someone.
[CLICK] 1 Pet 3:7 </a:t>
            </a:r>
            <a:r>
              <a:rPr lang="en-US"/>
              <a:t>→</a:t>
            </a:r>
            <a:r>
              <a:rPr lang="en-US" dirty="0"/>
              <a:t> the striking wiring: home life affects prayer life. The household is worship’s proving ground (Week 9’s living sacrifice, offered first at home). Transition: “And the pattern in the home is the same one we’ve seen all course.”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[12:00–24:00]
[CLICK] The course in one motion </a:t>
            </a:r>
            <a:r>
              <a:rPr lang="en-US"/>
              <a:t>→ </a:t>
            </a:r>
            <a:r>
              <a:rPr lang="en-US" dirty="0"/>
              <a:t>receive and hand on. This is the through-line from Week 10 (apostolic deposit) now applied to the home. Parents don’t invent the faith any more than apostles did.
[CLICK] 2 Tim 2:2 </a:t>
            </a:r>
            <a:r>
              <a:rPr lang="en-US"/>
              <a:t>→ </a:t>
            </a:r>
            <a:r>
              <a:rPr lang="en-US" dirty="0"/>
              <a:t>the relay, and note it runs through Timothy’s HOME (Lois/Eunice) as well as through Paul. Pulpits and kitchens both.
[CLICK] The blemished lamb comes HOME </a:t>
            </a:r>
            <a:r>
              <a:rPr lang="en-US"/>
              <a:t>→ </a:t>
            </a:r>
            <a:r>
              <a:rPr lang="en-US" dirty="0"/>
              <a:t>Week 9’s image, now aimed at family time. Deliver gently, first-person; the people under our roof get our most tired leftovers most easily. Firstfruits of attention, not leftovers.
[CLICK] The ordinary shape </a:t>
            </a:r>
            <a:r>
              <a:rPr lang="en-US"/>
              <a:t>→</a:t>
            </a:r>
            <a:r>
              <a:rPr lang="en-US" dirty="0"/>
              <a:t> no platform required. Everyone is a link in a relay stretching back to the apostles and forward past death. Dignify the small, faithful handoff. Transition: “And this is exactly where Jesus ends His time on earth.”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[24:00–36:00]
[CLICK] Read Matt 28:18–20, hitting the bold verbs. Land hard on “OBEY” (red) </a:t>
            </a:r>
            <a:r>
              <a:rPr lang="en-US"/>
              <a:t>→ </a:t>
            </a:r>
            <a:r>
              <a:rPr lang="en-US" dirty="0"/>
              <a:t>this is THE payoff: the course’s title phrase is in Jesus’ final command.
[CLICK] Make the connection explicit </a:t>
            </a:r>
            <a:r>
              <a:rPr lang="en-US"/>
              <a:t>→ </a:t>
            </a:r>
            <a:r>
              <a:rPr lang="en-US" dirty="0"/>
              <a:t>“teaching them to obey” = the obedience of faith. Discipleship aims past agreement to obedience.
[CLICK] The Heb 5:12 resolution </a:t>
            </a:r>
            <a:r>
              <a:rPr lang="en-US"/>
              <a:t>→ </a:t>
            </a:r>
            <a:r>
              <a:rPr lang="en-US" dirty="0"/>
              <a:t>the FULL arc. Week 1 it stung (you should be teachers and aren’t); today it commissions (you’ve been fed the meat; now serve it). This is the emotional peak of the finale </a:t>
            </a:r>
            <a:r>
              <a:rPr lang="en-US"/>
              <a:t>→ </a:t>
            </a:r>
            <a:r>
              <a:rPr lang="en-US" dirty="0"/>
              <a:t>let it land.
[CLICK] The grace bookends </a:t>
            </a:r>
            <a:r>
              <a:rPr lang="en-US"/>
              <a:t>→</a:t>
            </a:r>
            <a:r>
              <a:rPr lang="en-US" dirty="0"/>
              <a:t> “all authority is MINE” + “I am WITH you.” The commission is framed by His power and presence. We’re sent, not abandoned. Transition: “And all of it rests on something already finished.”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[36:00–43:00]
[CLICK] Heb 10:5,7,10 </a:t>
            </a:r>
            <a:r>
              <a:rPr lang="en-US"/>
              <a:t>→ </a:t>
            </a:r>
            <a:r>
              <a:rPr lang="en-US" dirty="0"/>
              <a:t>Psalm 40 in Christ’s mouth. The finale returns to where Week 9 ended.
[CLICK×4] Build the gold stack bottom-up </a:t>
            </a:r>
            <a:r>
              <a:rPr lang="en-US"/>
              <a:t>→ </a:t>
            </a:r>
            <a:r>
              <a:rPr lang="en-US" dirty="0"/>
              <a:t>the SAME four layers from Week 2, now shown FILLED and PERFECT in Christ. This visual callback signals the course coming full circle. Religion/worship/sacrifice/obedience </a:t>
            </a:r>
            <a:r>
              <a:rPr lang="en-US"/>
              <a:t>→ </a:t>
            </a:r>
            <a:r>
              <a:rPr lang="en-US" dirty="0"/>
              <a:t>all aligned once, in Him.
[CLICK] The right column </a:t>
            </a:r>
            <a:r>
              <a:rPr lang="en-US"/>
              <a:t>→ </a:t>
            </a:r>
            <a:r>
              <a:rPr lang="en-US" dirty="0"/>
              <a:t>the grace guardrail one final time. He completed the stack FIRST. Everything asked in 12 weeks (tests, sacrifice, order, commission) rests on His finished work. Mercy first, altar second </a:t>
            </a:r>
            <a:r>
              <a:rPr lang="en-US"/>
              <a:t>→</a:t>
            </a:r>
            <a:r>
              <a:rPr lang="en-US" dirty="0"/>
              <a:t> say it one last time; it has been the spine of the whole course. Transition: to discussion, then the charge.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[45:00–55:00]
The most warm-hearted discussion of the course </a:t>
            </a:r>
            <a:r>
              <a:rPr lang="en-US"/>
              <a:t>→ </a:t>
            </a:r>
            <a:r>
              <a:rPr lang="en-US" dirty="0"/>
              <a:t>let it breathe.
Q1: Gratitude. Someone paid to hand you this faith </a:t>
            </a:r>
            <a:r>
              <a:rPr lang="en-US"/>
              <a:t>→ </a:t>
            </a:r>
            <a:r>
              <a:rPr lang="en-US" dirty="0"/>
              <a:t>a parent, a teacher, a friend, a grandmother. Naming them and the COST makes the relay concrete and moves people. Expect some emotion; that’s right. A few names aloud is a fitting near-end to 12 weeks.
Q2: Resolve, and CONCRETE. Push past “I’ll be a better witness” to ONE person and ONE step this month </a:t>
            </a:r>
            <a:r>
              <a:rPr lang="en-US"/>
              <a:t>→ </a:t>
            </a:r>
            <a:r>
              <a:rPr lang="en-US" dirty="0"/>
              <a:t>a conversation, a Bible opened with a child, an invitation, a text sent. The course fails if it ends in agreement and no action; it succeeds if each person leaves with a name and a next step.
No click needed to change slides </a:t>
            </a:r>
            <a:r>
              <a:rPr lang="en-US"/>
              <a:t>→</a:t>
            </a:r>
            <a:r>
              <a:rPr lang="en-US" dirty="0"/>
              <a:t> or click x3 to reinforce the tone.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close, the final ~2 min </a:t>
            </a:r>
            <a:r>
              <a:rPr lang="en-US"/>
              <a:t>→ </a:t>
            </a:r>
            <a:r>
              <a:rPr lang="en-US" dirty="0"/>
              <a:t>unhurried, valedictory]
[CLICK] The standing assignment </a:t>
            </a:r>
            <a:r>
              <a:rPr lang="en-US"/>
              <a:t>→ </a:t>
            </a:r>
            <a:r>
              <a:rPr lang="en-US" dirty="0"/>
              <a:t>it doesn’t stop with the course. One chapter, before the phone, eager and examining. The habit is the point.
[CLICK] The whole course in one breath </a:t>
            </a:r>
            <a:r>
              <a:rPr lang="en-US"/>
              <a:t>→ </a:t>
            </a:r>
            <a:r>
              <a:rPr lang="en-US" dirty="0"/>
              <a:t>read it slowly; let them feel the arc they’ve traveled. Twelve weeks, one thread.
[CLICK] From question to commission </a:t>
            </a:r>
            <a:r>
              <a:rPr lang="en-US"/>
              <a:t>→ </a:t>
            </a:r>
            <a:r>
              <a:rPr lang="en-US" dirty="0"/>
              <a:t>the bookend. “Why do you call me good?” → “teaching them to obey.”
[CLICK] The final banner </a:t>
            </a:r>
            <a:r>
              <a:rPr lang="en-US"/>
              <a:t>→</a:t>
            </a:r>
            <a:r>
              <a:rPr lang="en-US" dirty="0"/>
              <a:t> the course’s last word and its title made imperative. Say it, then a moment of silence, then close in prayer if that fits your setting. Thank them for twelve weeks. Do not rush the ending; let it land.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40080"/>
            <a:ext cx="8046720" cy="457200"/>
          </a:xfrm>
          <a:prstGeom prst="rect">
            <a:avLst/>
          </a:prstGeom>
          <a:noFill/>
          <a:ln/>
        </p:spPr>
        <p:txBody>
          <a:bodyPr wrap="square" lIns="0" tIns="0" rIns="0" bIns="0" rtlCol="0" anchor="t"/>
          <a:lstStyle/>
          <a:p>
            <a:pPr marL="0" indent="0" algn="ctr">
              <a:buNone/>
            </a:pPr>
            <a:r>
              <a:rPr lang="en-US" sz="1700" b="1" i="1" dirty="0">
                <a:solidFill>
                  <a:srgbClr val="4F81BD"/>
                </a:solidFill>
                <a:latin typeface="Arial" pitchFamily="34" charset="0"/>
                <a:ea typeface="Arial" pitchFamily="34" charset="-122"/>
                <a:cs typeface="Arial" pitchFamily="34" charset="-120"/>
              </a:rPr>
              <a:t>The Obedience of Faith - Week 12  ·  Unit V: Commission  ·  Finale</a:t>
            </a:r>
            <a:endParaRPr lang="en-US" sz="1600" dirty="0"/>
          </a:p>
        </p:txBody>
      </p:sp>
      <p:sp>
        <p:nvSpPr>
          <p:cNvPr id="3" name="t1"/>
          <p:cNvSpPr txBox="1"/>
          <p:nvPr/>
        </p:nvSpPr>
        <p:spPr>
          <a:xfrm>
            <a:off x="548640" y="1188720"/>
            <a:ext cx="8046720" cy="822960"/>
          </a:xfrm>
          <a:prstGeom prst="rect">
            <a:avLst/>
          </a:prstGeom>
          <a:noFill/>
          <a:ln/>
        </p:spPr>
        <p:txBody>
          <a:bodyPr wrap="square" lIns="0" tIns="0" rIns="0" bIns="0" rtlCol="0" anchor="t"/>
          <a:lstStyle/>
          <a:p>
            <a:pPr marL="0" indent="0" algn="ctr">
              <a:buNone/>
            </a:pPr>
            <a:r>
              <a:rPr lang="en-US" sz="3800" b="1" dirty="0">
                <a:solidFill>
                  <a:srgbClr val="1F497D"/>
                </a:solidFill>
                <a:latin typeface="Arial" pitchFamily="34" charset="0"/>
                <a:ea typeface="Arial" pitchFamily="34" charset="-122"/>
                <a:cs typeface="Arial" pitchFamily="34" charset="-120"/>
              </a:rPr>
              <a:t>Households and Teachers</a:t>
            </a:r>
            <a:endParaRPr lang="en-US" sz="1600" dirty="0"/>
          </a:p>
        </p:txBody>
      </p:sp>
      <p:sp>
        <p:nvSpPr>
          <p:cNvPr id="4" name="t2"/>
          <p:cNvSpPr txBox="1"/>
          <p:nvPr/>
        </p:nvSpPr>
        <p:spPr>
          <a:xfrm>
            <a:off x="548640" y="2148840"/>
            <a:ext cx="8046720" cy="548640"/>
          </a:xfrm>
          <a:prstGeom prst="rect">
            <a:avLst/>
          </a:prstGeom>
          <a:noFill/>
          <a:ln/>
        </p:spPr>
        <p:txBody>
          <a:bodyPr wrap="square" lIns="0" tIns="0" rIns="0" bIns="0" rtlCol="0" anchor="t"/>
          <a:lstStyle/>
          <a:p>
            <a:pPr marL="0" indent="0" algn="ctr">
              <a:buNone/>
            </a:pPr>
            <a:r>
              <a:rPr lang="en-US" sz="2100" b="1" i="1" dirty="0">
                <a:solidFill>
                  <a:srgbClr val="1F497D"/>
                </a:solidFill>
                <a:latin typeface="Arial" pitchFamily="34" charset="0"/>
                <a:ea typeface="Arial" pitchFamily="34" charset="-122"/>
                <a:cs typeface="Arial" pitchFamily="34" charset="-120"/>
              </a:rPr>
              <a:t>The Obedience of Faith </a:t>
            </a:r>
            <a:r>
              <a:rPr lang="en-US" sz="2100" b="1" i="1" dirty="0">
                <a:solidFill>
                  <a:srgbClr val="1F497D"/>
                </a:solidFill>
                <a:latin typeface="Arial" pitchFamily="34" charset="0"/>
                <a:ea typeface="Arial" pitchFamily="34" charset="-122"/>
                <a:cs typeface="Arial" pitchFamily="34" charset="-120"/>
                <a:sym typeface="Wingdings" pitchFamily="2" charset="2"/>
              </a:rPr>
              <a:t></a:t>
            </a:r>
            <a:r>
              <a:rPr lang="en-US" sz="2100" b="1" i="1" dirty="0">
                <a:solidFill>
                  <a:srgbClr val="1F497D"/>
                </a:solidFill>
                <a:latin typeface="Arial" pitchFamily="34" charset="0"/>
                <a:ea typeface="Arial" pitchFamily="34" charset="-122"/>
                <a:cs typeface="Arial" pitchFamily="34" charset="-120"/>
              </a:rPr>
              <a:t> Completed</a:t>
            </a:r>
            <a:endParaRPr lang="en-US" sz="1600" dirty="0"/>
          </a:p>
        </p:txBody>
      </p:sp>
      <p:sp>
        <p:nvSpPr>
          <p:cNvPr id="5" name="t3"/>
          <p:cNvSpPr txBox="1"/>
          <p:nvPr/>
        </p:nvSpPr>
        <p:spPr>
          <a:xfrm>
            <a:off x="914400" y="3063240"/>
            <a:ext cx="7315200" cy="1371600"/>
          </a:xfrm>
          <a:prstGeom prst="rect">
            <a:avLst/>
          </a:prstGeom>
          <a:noFill/>
          <a:ln/>
        </p:spPr>
        <p:txBody>
          <a:bodyPr wrap="square" lIns="0" tIns="0" rIns="0" bIns="0" rtlCol="0" anchor="t"/>
          <a:lstStyle/>
          <a:p>
            <a:pPr marL="0" indent="0" algn="ctr">
              <a:buNone/>
            </a:pPr>
            <a:r>
              <a:rPr lang="en-US" sz="2400" i="1" dirty="0">
                <a:solidFill>
                  <a:srgbClr val="000000"/>
                </a:solidFill>
                <a:latin typeface="Arial" pitchFamily="34" charset="0"/>
                <a:ea typeface="Arial" pitchFamily="34" charset="-122"/>
                <a:cs typeface="Arial" pitchFamily="34" charset="-120"/>
              </a:rPr>
              <a:t>“teaching them to obey everything I have commanded you. And remember, I am with you always, to the end of the age.”</a:t>
            </a:r>
            <a:endParaRPr lang="en-US" dirty="0"/>
          </a:p>
          <a:p>
            <a:pPr marL="0" indent="0" algn="ctr">
              <a:buNone/>
            </a:pPr>
            <a:r>
              <a:rPr lang="en-US" sz="2000" dirty="0">
                <a:solidFill>
                  <a:srgbClr val="000000"/>
                </a:solidFill>
                <a:latin typeface="Arial" pitchFamily="34" charset="0"/>
                <a:ea typeface="Arial" pitchFamily="34" charset="-122"/>
                <a:cs typeface="Arial" pitchFamily="34" charset="-120"/>
              </a:rPr>
              <a:t>(Matthew 28:20)</a:t>
            </a:r>
            <a:endParaRPr lang="en-US" dirty="0"/>
          </a:p>
        </p:txBody>
      </p:sp>
      <p:sp>
        <p:nvSpPr>
          <p:cNvPr id="6" name="t4"/>
          <p:cNvSpPr txBox="1"/>
          <p:nvPr/>
        </p:nvSpPr>
        <p:spPr>
          <a:xfrm>
            <a:off x="914400" y="4956243"/>
            <a:ext cx="7315200" cy="411480"/>
          </a:xfrm>
          <a:prstGeom prst="rect">
            <a:avLst/>
          </a:prstGeom>
          <a:noFill/>
          <a:ln/>
        </p:spPr>
        <p:txBody>
          <a:bodyPr wrap="square" lIns="0" tIns="0" rIns="0" bIns="0" rtlCol="0" anchor="t"/>
          <a:lstStyle/>
          <a:p>
            <a:pPr marL="0" indent="0" algn="ctr">
              <a:buNone/>
            </a:pPr>
            <a:r>
              <a:rPr lang="en-US" sz="20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20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2000" b="1" u="sng" dirty="0" err="1">
                <a:solidFill>
                  <a:srgbClr val="4F81BD"/>
                </a:solidFill>
                <a:latin typeface="Arial" pitchFamily="34" charset="0"/>
                <a:ea typeface="Arial" pitchFamily="34" charset="-122"/>
                <a:cs typeface="Arial" pitchFamily="34" charset="-120"/>
              </a:rPr>
              <a:t>.Church</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Household: The First Congregation</a:t>
            </a:r>
            <a:endParaRPr lang="en-US" sz="1600" dirty="0"/>
          </a:p>
        </p:txBody>
      </p:sp>
      <p:sp>
        <p:nvSpPr>
          <p:cNvPr id="3" name="HeadSub"/>
          <p:cNvSpPr txBox="1"/>
          <p:nvPr/>
        </p:nvSpPr>
        <p:spPr>
          <a:xfrm>
            <a:off x="228600" y="489204"/>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God’s order reaches into the home → and everyone has a post</a:t>
            </a:r>
            <a:endParaRPr lang="en-US" sz="2800" dirty="0"/>
          </a:p>
        </p:txBody>
      </p:sp>
      <p:sp>
        <p:nvSpPr>
          <p:cNvPr id="4" name="a1"/>
          <p:cNvSpPr txBox="1"/>
          <p:nvPr/>
        </p:nvSpPr>
        <p:spPr>
          <a:xfrm>
            <a:off x="365760" y="944942"/>
            <a:ext cx="8412480" cy="1234440"/>
          </a:xfrm>
          <a:prstGeom prst="rect">
            <a:avLst/>
          </a:prstGeom>
          <a:noFill/>
          <a:ln/>
        </p:spPr>
        <p:txBody>
          <a:bodyPr wrap="square" lIns="0" tIns="0" rIns="0" bIns="0" rtlCol="0" anchor="t"/>
          <a:lstStyle/>
          <a:p>
            <a:pPr marL="0" indent="0" algn="l">
              <a:buNone/>
            </a:pPr>
            <a:r>
              <a:rPr lang="en-US" sz="1600" b="1" dirty="0">
                <a:solidFill>
                  <a:srgbClr val="1F497D"/>
                </a:solidFill>
                <a:latin typeface="Arial" pitchFamily="34" charset="0"/>
                <a:ea typeface="Arial" pitchFamily="34" charset="-122"/>
                <a:cs typeface="Arial" pitchFamily="34" charset="-120"/>
              </a:rPr>
              <a:t>Before the assembly, the home. The faith is handed down at the kitchen table:
</a:t>
            </a:r>
            <a:r>
              <a:rPr lang="en-US" sz="1600" b="1" i="1" dirty="0">
                <a:solidFill>
                  <a:srgbClr val="000000"/>
                </a:solidFill>
                <a:latin typeface="Arial" pitchFamily="34" charset="0"/>
                <a:ea typeface="Arial" pitchFamily="34" charset="-122"/>
                <a:cs typeface="Arial" pitchFamily="34" charset="-120"/>
              </a:rPr>
              <a:t>“These words… must be kept on your heart. Teach them to your children and speak of them… when you sit at home, when you walk along the road, when you lie down, and when you get up.” </a:t>
            </a:r>
            <a:r>
              <a:rPr lang="en-US" sz="1400" b="1" dirty="0">
                <a:solidFill>
                  <a:srgbClr val="000000"/>
                </a:solidFill>
                <a:latin typeface="Arial" pitchFamily="34" charset="0"/>
                <a:ea typeface="Arial" pitchFamily="34" charset="-122"/>
                <a:cs typeface="Arial" pitchFamily="34" charset="-120"/>
              </a:rPr>
              <a:t>(Deut 6:6–7)</a:t>
            </a:r>
            <a:endParaRPr lang="en-US" dirty="0"/>
          </a:p>
          <a:p>
            <a:pPr marL="0" indent="0" algn="l">
              <a:buNone/>
            </a:pPr>
            <a:r>
              <a:rPr lang="en-US" sz="1600" i="1" dirty="0">
                <a:solidFill>
                  <a:srgbClr val="000000"/>
                </a:solidFill>
                <a:latin typeface="Arial" pitchFamily="34" charset="0"/>
                <a:ea typeface="Arial" pitchFamily="34" charset="-122"/>
                <a:cs typeface="Arial" pitchFamily="34" charset="-120"/>
              </a:rPr>
              <a:t>On the heart FIRST → then on the lips. You cannot hand down what you do not hold.</a:t>
            </a:r>
            <a:endParaRPr lang="en-US" sz="2000" dirty="0"/>
          </a:p>
        </p:txBody>
      </p:sp>
      <p:sp>
        <p:nvSpPr>
          <p:cNvPr id="5" name="a2"/>
          <p:cNvSpPr txBox="1"/>
          <p:nvPr/>
        </p:nvSpPr>
        <p:spPr>
          <a:xfrm>
            <a:off x="365760" y="2318844"/>
            <a:ext cx="8412480" cy="82296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It is why Abraham was chosen: </a:t>
            </a:r>
            <a:r>
              <a:rPr lang="en-US" b="1" i="1" dirty="0">
                <a:solidFill>
                  <a:srgbClr val="000000"/>
                </a:solidFill>
                <a:latin typeface="Arial" pitchFamily="34" charset="0"/>
                <a:ea typeface="Arial" pitchFamily="34" charset="-122"/>
                <a:cs typeface="Arial" pitchFamily="34" charset="-120"/>
              </a:rPr>
              <a:t>“so that he may command his children and his household after him to keep the way of the LORD” </a:t>
            </a:r>
            <a:r>
              <a:rPr lang="en-US" sz="1600" b="1" dirty="0">
                <a:solidFill>
                  <a:srgbClr val="000000"/>
                </a:solidFill>
                <a:latin typeface="Arial" pitchFamily="34" charset="0"/>
                <a:ea typeface="Arial" pitchFamily="34" charset="-122"/>
                <a:cs typeface="Arial" pitchFamily="34" charset="-120"/>
              </a:rPr>
              <a:t>(Gen 18:19)</a:t>
            </a:r>
            <a:r>
              <a:rPr lang="en-US" sz="1600" dirty="0">
                <a:solidFill>
                  <a:srgbClr val="000000"/>
                </a:solidFill>
                <a:latin typeface="Arial" pitchFamily="34" charset="0"/>
                <a:ea typeface="Arial" pitchFamily="34" charset="-122"/>
                <a:cs typeface="Arial" pitchFamily="34" charset="-120"/>
              </a:rPr>
              <a:t>  And Joshua: “as for me and my household, we will serve the LORD” (Josh 24:15).</a:t>
            </a:r>
            <a:endParaRPr lang="en-US" sz="2000" dirty="0"/>
          </a:p>
        </p:txBody>
      </p:sp>
      <p:sp>
        <p:nvSpPr>
          <p:cNvPr id="6" name="a3"/>
          <p:cNvSpPr txBox="1"/>
          <p:nvPr/>
        </p:nvSpPr>
        <p:spPr>
          <a:xfrm>
            <a:off x="365760" y="3281266"/>
            <a:ext cx="8412480" cy="1982986"/>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In a mixed household, everyone carries a post → not fathers only:
</a:t>
            </a:r>
            <a:r>
              <a:rPr lang="en-US" dirty="0">
                <a:solidFill>
                  <a:srgbClr val="000000"/>
                </a:solidFill>
                <a:latin typeface="Arial" pitchFamily="34" charset="0"/>
                <a:ea typeface="Arial" pitchFamily="34" charset="-122"/>
                <a:cs typeface="Arial" pitchFamily="34" charset="-120"/>
              </a:rPr>
              <a:t>•  Husbands &amp; wives → love as Christ loved; “so that your prayers will not be hindered” (Eph 5:25; 1 Pet 3:7)
•  Fathers &amp; mothers → raise them “in the instruction of the Lord” (Eph 6:4); older women teach younger (Titus 2)
•  Grandparents &amp; singles → Timothy’s faith came through Lois &amp; Eunice, a grandmother and mother (2 Tim 1:5)</a:t>
            </a:r>
            <a:endParaRPr lang="en-US" sz="2400" dirty="0"/>
          </a:p>
        </p:txBody>
      </p:sp>
      <p:sp>
        <p:nvSpPr>
          <p:cNvPr id="7" name="a4"/>
          <p:cNvSpPr txBox="1"/>
          <p:nvPr/>
        </p:nvSpPr>
        <p:spPr>
          <a:xfrm>
            <a:off x="365760" y="5403715"/>
            <a:ext cx="8412480" cy="123444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Notice 1 Peter 3:7 → </a:t>
            </a:r>
            <a:r>
              <a:rPr lang="en-US" sz="2000" dirty="0">
                <a:solidFill>
                  <a:srgbClr val="000000"/>
                </a:solidFill>
                <a:latin typeface="Arial" pitchFamily="34" charset="0"/>
                <a:ea typeface="Arial" pitchFamily="34" charset="-122"/>
                <a:cs typeface="Arial" pitchFamily="34" charset="-120"/>
              </a:rPr>
              <a:t>how you treat your family is wired to your access to God: love badly at home, and “your prayers will be hindered.” The household is not a break from worship. It is worship’s proving ground → where the living sacrifice is offered first.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Pattern, One Last Time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Receive and hand on → never invent</a:t>
            </a:r>
            <a:endParaRPr lang="en-US" sz="2800" dirty="0"/>
          </a:p>
        </p:txBody>
      </p:sp>
      <p:sp>
        <p:nvSpPr>
          <p:cNvPr id="4" name="b1"/>
          <p:cNvSpPr txBox="1"/>
          <p:nvPr/>
        </p:nvSpPr>
        <p:spPr>
          <a:xfrm>
            <a:off x="365760" y="993141"/>
            <a:ext cx="8412480" cy="1060026"/>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The whole course has taught one motion: </a:t>
            </a:r>
            <a:r>
              <a:rPr lang="en-US" dirty="0">
                <a:solidFill>
                  <a:srgbClr val="000000"/>
                </a:solidFill>
                <a:latin typeface="Arial" pitchFamily="34" charset="0"/>
                <a:ea typeface="Arial" pitchFamily="34" charset="-122"/>
                <a:cs typeface="Arial" pitchFamily="34" charset="-120"/>
              </a:rPr>
              <a:t>you don’t generate the faith → you RECEIVE it and HAND IT ON. Deposit and handoff (Week 10), in the church and in the home alike. The parent, like the apostle, passes on what was entrusted, not what he invented.</a:t>
            </a:r>
            <a:endParaRPr lang="en-US" sz="2000" dirty="0"/>
          </a:p>
        </p:txBody>
      </p:sp>
      <p:sp>
        <p:nvSpPr>
          <p:cNvPr id="5" name="b2"/>
          <p:cNvSpPr txBox="1"/>
          <p:nvPr/>
        </p:nvSpPr>
        <p:spPr>
          <a:xfrm>
            <a:off x="365760" y="2292774"/>
            <a:ext cx="8412480" cy="1060026"/>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“what you heard from me… entrust to faithful people who will be competent to teach others” </a:t>
            </a:r>
            <a:r>
              <a:rPr lang="en-US" b="1" dirty="0">
                <a:solidFill>
                  <a:srgbClr val="000000"/>
                </a:solidFill>
                <a:latin typeface="Arial" pitchFamily="34" charset="0"/>
                <a:ea typeface="Arial" pitchFamily="34" charset="-122"/>
                <a:cs typeface="Arial" pitchFamily="34" charset="-120"/>
              </a:rPr>
              <a:t>(2 Tim 2:2)</a:t>
            </a:r>
            <a:endParaRPr lang="en-US" sz="2000" dirty="0"/>
          </a:p>
          <a:p>
            <a:pPr marL="0" indent="0" algn="l">
              <a:buNone/>
            </a:pPr>
            <a:r>
              <a:rPr lang="en-US" sz="1600" dirty="0">
                <a:solidFill>
                  <a:srgbClr val="000000"/>
                </a:solidFill>
                <a:latin typeface="Arial" pitchFamily="34" charset="0"/>
                <a:ea typeface="Arial" pitchFamily="34" charset="-122"/>
                <a:cs typeface="Arial" pitchFamily="34" charset="-120"/>
              </a:rPr>
              <a:t>Paul → Timothy → faithful people → others. And Timothy → from Lois &amp; Eunice. The relay runs through pulpits AND kitchens.</a:t>
            </a:r>
            <a:endParaRPr lang="en-US" sz="2000" dirty="0"/>
          </a:p>
        </p:txBody>
      </p:sp>
      <p:sp>
        <p:nvSpPr>
          <p:cNvPr id="6" name="b3"/>
          <p:cNvSpPr txBox="1"/>
          <p:nvPr/>
        </p:nvSpPr>
        <p:spPr>
          <a:xfrm>
            <a:off x="365760" y="3592407"/>
            <a:ext cx="8412480" cy="141732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And the blemished-lamb question (Week 9) comes home too:
</a:t>
            </a:r>
            <a:r>
              <a:rPr lang="en-US" dirty="0">
                <a:solidFill>
                  <a:srgbClr val="000000"/>
                </a:solidFill>
                <a:latin typeface="Arial" pitchFamily="34" charset="0"/>
                <a:ea typeface="Arial" pitchFamily="34" charset="-122"/>
                <a:cs typeface="Arial" pitchFamily="34" charset="-120"/>
              </a:rPr>
              <a:t>If the time and attention you give your household this week were an animal brought to Malachi’s altar → what condition would it be in? The best of the flock, or the exhausted leftover? </a:t>
            </a:r>
            <a:r>
              <a:rPr lang="en-US" sz="1600" i="1" dirty="0">
                <a:solidFill>
                  <a:srgbClr val="000000"/>
                </a:solidFill>
                <a:latin typeface="Arial" pitchFamily="34" charset="0"/>
                <a:ea typeface="Arial" pitchFamily="34" charset="-122"/>
                <a:cs typeface="Arial" pitchFamily="34" charset="-120"/>
              </a:rPr>
              <a:t>“I will not offer… sacrifices that cost me nothing” (2 Sam 24:24) → and the people under your roof are where the cost is realest.</a:t>
            </a:r>
            <a:endParaRPr lang="en-US" sz="2000" dirty="0"/>
          </a:p>
        </p:txBody>
      </p:sp>
      <p:sp>
        <p:nvSpPr>
          <p:cNvPr id="7" name="b4"/>
          <p:cNvSpPr txBox="1"/>
          <p:nvPr/>
        </p:nvSpPr>
        <p:spPr>
          <a:xfrm>
            <a:off x="306493" y="5249334"/>
            <a:ext cx="8412480" cy="123444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This is discipleship’s ordinary shape: </a:t>
            </a:r>
            <a:r>
              <a:rPr lang="en-US" dirty="0">
                <a:solidFill>
                  <a:srgbClr val="000000"/>
                </a:solidFill>
                <a:latin typeface="Arial" pitchFamily="34" charset="0"/>
                <a:ea typeface="Arial" pitchFamily="34" charset="-122"/>
                <a:cs typeface="Arial" pitchFamily="34" charset="-120"/>
              </a:rPr>
              <a:t>not a platform or a title, but a life received in trust and handed to the next person → a child, a friend, a new believer, a grandchild. Everyone in this room is a link in a relay that reaches back to the apostles and forward past your lifetime.</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Commission: The Course Completed</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Matthew 28 → and “by this time you ought to be teachers”</a:t>
            </a:r>
            <a:endParaRPr lang="en-US" sz="2800" dirty="0"/>
          </a:p>
        </p:txBody>
      </p:sp>
      <p:sp>
        <p:nvSpPr>
          <p:cNvPr id="4" name="c1"/>
          <p:cNvSpPr txBox="1"/>
          <p:nvPr/>
        </p:nvSpPr>
        <p:spPr>
          <a:xfrm>
            <a:off x="365760" y="1051560"/>
            <a:ext cx="8412480" cy="1463040"/>
          </a:xfrm>
          <a:prstGeom prst="rect">
            <a:avLst/>
          </a:prstGeom>
          <a:noFill/>
          <a:ln/>
        </p:spPr>
        <p:txBody>
          <a:bodyPr wrap="square" lIns="0" tIns="0" rIns="0" bIns="0" rtlCol="0" anchor="t"/>
          <a:lstStyle/>
          <a:p>
            <a:pPr marL="0" indent="0" algn="l">
              <a:buNone/>
            </a:pPr>
            <a:r>
              <a:rPr lang="en-US" sz="2000" i="1" dirty="0">
                <a:solidFill>
                  <a:srgbClr val="000000"/>
                </a:solidFill>
                <a:latin typeface="Arial" pitchFamily="34" charset="0"/>
                <a:ea typeface="Arial" pitchFamily="34" charset="-122"/>
                <a:cs typeface="Arial" pitchFamily="34" charset="-120"/>
              </a:rPr>
              <a:t>“All </a:t>
            </a:r>
            <a:r>
              <a:rPr lang="en-US" sz="2000" b="1" i="1" dirty="0">
                <a:solidFill>
                  <a:srgbClr val="1F497D"/>
                </a:solidFill>
                <a:latin typeface="Arial" pitchFamily="34" charset="0"/>
                <a:ea typeface="Arial" pitchFamily="34" charset="-122"/>
                <a:cs typeface="Arial" pitchFamily="34" charset="-120"/>
              </a:rPr>
              <a:t>authority</a:t>
            </a:r>
            <a:r>
              <a:rPr lang="en-US" sz="2000" i="1" dirty="0">
                <a:solidFill>
                  <a:srgbClr val="000000"/>
                </a:solidFill>
                <a:latin typeface="Arial" pitchFamily="34" charset="0"/>
                <a:ea typeface="Arial" pitchFamily="34" charset="-122"/>
                <a:cs typeface="Arial" pitchFamily="34" charset="-120"/>
              </a:rPr>
              <a:t> in heaven and on earth has been given to me. Therefore </a:t>
            </a:r>
            <a:r>
              <a:rPr lang="en-US" sz="2000" b="1" i="1" dirty="0">
                <a:solidFill>
                  <a:srgbClr val="1F497D"/>
                </a:solidFill>
                <a:latin typeface="Arial" pitchFamily="34" charset="0"/>
                <a:ea typeface="Arial" pitchFamily="34" charset="-122"/>
                <a:cs typeface="Arial" pitchFamily="34" charset="-120"/>
              </a:rPr>
              <a:t>go</a:t>
            </a:r>
            <a:r>
              <a:rPr lang="en-US" sz="2000" i="1" dirty="0">
                <a:solidFill>
                  <a:srgbClr val="000000"/>
                </a:solidFill>
                <a:latin typeface="Arial" pitchFamily="34" charset="0"/>
                <a:ea typeface="Arial" pitchFamily="34" charset="-122"/>
                <a:cs typeface="Arial" pitchFamily="34" charset="-120"/>
              </a:rPr>
              <a:t> and make </a:t>
            </a:r>
            <a:r>
              <a:rPr lang="en-US" sz="2000" b="1" i="1" dirty="0">
                <a:solidFill>
                  <a:srgbClr val="1F497D"/>
                </a:solidFill>
                <a:latin typeface="Arial" pitchFamily="34" charset="0"/>
                <a:ea typeface="Arial" pitchFamily="34" charset="-122"/>
                <a:cs typeface="Arial" pitchFamily="34" charset="-120"/>
              </a:rPr>
              <a:t>disciples</a:t>
            </a:r>
            <a:r>
              <a:rPr lang="en-US" sz="2000" i="1" dirty="0">
                <a:solidFill>
                  <a:srgbClr val="000000"/>
                </a:solidFill>
                <a:latin typeface="Arial" pitchFamily="34" charset="0"/>
                <a:ea typeface="Arial" pitchFamily="34" charset="-122"/>
                <a:cs typeface="Arial" pitchFamily="34" charset="-120"/>
              </a:rPr>
              <a:t> of all nations, </a:t>
            </a:r>
            <a:r>
              <a:rPr lang="en-US" sz="2000" b="1" i="1" dirty="0">
                <a:solidFill>
                  <a:srgbClr val="1F497D"/>
                </a:solidFill>
                <a:latin typeface="Arial" pitchFamily="34" charset="0"/>
                <a:ea typeface="Arial" pitchFamily="34" charset="-122"/>
                <a:cs typeface="Arial" pitchFamily="34" charset="-120"/>
              </a:rPr>
              <a:t>baptizing</a:t>
            </a:r>
            <a:r>
              <a:rPr lang="en-US" sz="2000" i="1" dirty="0">
                <a:solidFill>
                  <a:srgbClr val="000000"/>
                </a:solidFill>
                <a:latin typeface="Arial" pitchFamily="34" charset="0"/>
                <a:ea typeface="Arial" pitchFamily="34" charset="-122"/>
                <a:cs typeface="Arial" pitchFamily="34" charset="-120"/>
              </a:rPr>
              <a:t> them… and </a:t>
            </a:r>
            <a:r>
              <a:rPr lang="en-US" sz="2000" b="1" i="1" dirty="0">
                <a:solidFill>
                  <a:srgbClr val="1F497D"/>
                </a:solidFill>
                <a:latin typeface="Arial" pitchFamily="34" charset="0"/>
                <a:ea typeface="Arial" pitchFamily="34" charset="-122"/>
                <a:cs typeface="Arial" pitchFamily="34" charset="-120"/>
              </a:rPr>
              <a:t>teaching</a:t>
            </a:r>
            <a:r>
              <a:rPr lang="en-US" sz="2000" i="1" dirty="0">
                <a:solidFill>
                  <a:srgbClr val="000000"/>
                </a:solidFill>
                <a:latin typeface="Arial" pitchFamily="34" charset="0"/>
                <a:ea typeface="Arial" pitchFamily="34" charset="-122"/>
                <a:cs typeface="Arial" pitchFamily="34" charset="-120"/>
              </a:rPr>
              <a:t> them to </a:t>
            </a:r>
            <a:r>
              <a:rPr lang="en-US" sz="2400" b="1" i="1" dirty="0">
                <a:solidFill>
                  <a:srgbClr val="B0413E"/>
                </a:solidFill>
                <a:latin typeface="Arial" pitchFamily="34" charset="0"/>
                <a:ea typeface="Arial" pitchFamily="34" charset="-122"/>
                <a:cs typeface="Arial" pitchFamily="34" charset="-120"/>
              </a:rPr>
              <a:t>obey</a:t>
            </a:r>
            <a:r>
              <a:rPr lang="en-US" sz="2000" i="1" dirty="0">
                <a:solidFill>
                  <a:srgbClr val="000000"/>
                </a:solidFill>
                <a:latin typeface="Arial" pitchFamily="34" charset="0"/>
                <a:ea typeface="Arial" pitchFamily="34" charset="-122"/>
                <a:cs typeface="Arial" pitchFamily="34" charset="-120"/>
              </a:rPr>
              <a:t> everything I have commanded you. And remember, I am with you always, to the end of the age.”  </a:t>
            </a:r>
            <a:r>
              <a:rPr lang="en-US" sz="2000" b="1" dirty="0">
                <a:solidFill>
                  <a:srgbClr val="000000"/>
                </a:solidFill>
                <a:latin typeface="Arial" pitchFamily="34" charset="0"/>
                <a:ea typeface="Arial" pitchFamily="34" charset="-122"/>
                <a:cs typeface="Arial" pitchFamily="34" charset="-120"/>
              </a:rPr>
              <a:t>(Matthew 28:18–20)</a:t>
            </a:r>
            <a:endParaRPr lang="en-US" sz="2400" dirty="0"/>
          </a:p>
        </p:txBody>
      </p:sp>
      <p:sp>
        <p:nvSpPr>
          <p:cNvPr id="5" name="c2"/>
          <p:cNvSpPr txBox="1"/>
          <p:nvPr/>
        </p:nvSpPr>
        <p:spPr>
          <a:xfrm>
            <a:off x="365760" y="2514600"/>
            <a:ext cx="8412480" cy="91440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Hear the course’s own title in the Lord’s last command: </a:t>
            </a:r>
            <a:r>
              <a:rPr lang="en-US" dirty="0">
                <a:solidFill>
                  <a:srgbClr val="000000"/>
                </a:solidFill>
                <a:latin typeface="Arial" pitchFamily="34" charset="0"/>
                <a:ea typeface="Arial" pitchFamily="34" charset="-122"/>
                <a:cs typeface="Arial" pitchFamily="34" charset="-120"/>
              </a:rPr>
              <a:t>“teaching them to OBEY.”  Discipleship’s goal is not merely believers who agree → it is the obedience of faith (Rom 1:5), in Jesus’ own words.</a:t>
            </a:r>
            <a:endParaRPr lang="en-US" sz="2000" dirty="0"/>
          </a:p>
        </p:txBody>
      </p:sp>
      <p:sp>
        <p:nvSpPr>
          <p:cNvPr id="6" name="c3"/>
          <p:cNvSpPr txBox="1"/>
          <p:nvPr/>
        </p:nvSpPr>
        <p:spPr>
          <a:xfrm>
            <a:off x="365760" y="3566159"/>
            <a:ext cx="8412480" cy="1454573"/>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And the rebuke that opened this course now resolves into a calling:
</a:t>
            </a:r>
            <a:r>
              <a:rPr lang="en-US" b="1" i="1" dirty="0">
                <a:solidFill>
                  <a:srgbClr val="000000"/>
                </a:solidFill>
                <a:latin typeface="Arial" pitchFamily="34" charset="0"/>
                <a:ea typeface="Arial" pitchFamily="34" charset="-122"/>
                <a:cs typeface="Arial" pitchFamily="34" charset="-120"/>
              </a:rPr>
              <a:t>“though you should in fact be teachers by this time, you need someone to teach you the beginning elements…” </a:t>
            </a:r>
            <a:r>
              <a:rPr lang="en-US" sz="1600" b="1" dirty="0">
                <a:solidFill>
                  <a:srgbClr val="000000"/>
                </a:solidFill>
                <a:latin typeface="Arial" pitchFamily="34" charset="0"/>
                <a:ea typeface="Arial" pitchFamily="34" charset="-122"/>
                <a:cs typeface="Arial" pitchFamily="34" charset="-120"/>
              </a:rPr>
              <a:t>(Heb 5:12)</a:t>
            </a:r>
            <a:endParaRPr lang="en-US" sz="2000" dirty="0"/>
          </a:p>
          <a:p>
            <a:pPr marL="0" indent="0" algn="l">
              <a:buNone/>
            </a:pPr>
            <a:r>
              <a:rPr lang="en-US" sz="1600" dirty="0">
                <a:solidFill>
                  <a:srgbClr val="000000"/>
                </a:solidFill>
                <a:latin typeface="Arial" pitchFamily="34" charset="0"/>
                <a:ea typeface="Arial" pitchFamily="34" charset="-122"/>
                <a:cs typeface="Arial" pitchFamily="34" charset="-120"/>
              </a:rPr>
              <a:t>Week 1, that verse was a rebuke. Today it is a commission → because now you have the meal to serve.</a:t>
            </a:r>
            <a:endParaRPr lang="en-US" sz="2000" dirty="0"/>
          </a:p>
        </p:txBody>
      </p:sp>
      <p:sp>
        <p:nvSpPr>
          <p:cNvPr id="7" name="c4"/>
          <p:cNvSpPr txBox="1"/>
          <p:nvPr/>
        </p:nvSpPr>
        <p:spPr>
          <a:xfrm>
            <a:off x="365760" y="5157891"/>
            <a:ext cx="8412480" cy="96012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Notice the bookends of grace: </a:t>
            </a:r>
            <a:r>
              <a:rPr lang="en-US" dirty="0">
                <a:solidFill>
                  <a:srgbClr val="000000"/>
                </a:solidFill>
                <a:latin typeface="Arial" pitchFamily="34" charset="0"/>
                <a:ea typeface="Arial" pitchFamily="34" charset="-122"/>
                <a:cs typeface="Arial" pitchFamily="34" charset="-120"/>
              </a:rPr>
              <a:t>the command to teach opens with “all authority is given to ME” and closes with “I am WITH you always.” You are sent under His authority and in His company → never on your own steam.</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Stack, Completed in Christ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Everything asked in twelve weeks rests on this</a:t>
            </a:r>
            <a:endParaRPr lang="en-US" sz="2800" dirty="0"/>
          </a:p>
        </p:txBody>
      </p:sp>
      <p:sp>
        <p:nvSpPr>
          <p:cNvPr id="4" name="d1"/>
          <p:cNvSpPr txBox="1"/>
          <p:nvPr/>
        </p:nvSpPr>
        <p:spPr>
          <a:xfrm>
            <a:off x="365760" y="1051560"/>
            <a:ext cx="8412480" cy="1051560"/>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“a body you prepared for me… “Here I am: I have come… to do your will, O God.”… by his will we have been made holy through the offering of the body of Jesus Christ once for all.” </a:t>
            </a:r>
            <a:r>
              <a:rPr lang="en-US" b="1" dirty="0">
                <a:solidFill>
                  <a:srgbClr val="000000"/>
                </a:solidFill>
                <a:latin typeface="Arial" pitchFamily="34" charset="0"/>
                <a:ea typeface="Arial" pitchFamily="34" charset="-122"/>
                <a:cs typeface="Arial" pitchFamily="34" charset="-120"/>
              </a:rPr>
              <a:t>(Hebrews 10:5, 7, 10)</a:t>
            </a:r>
            <a:endParaRPr lang="en-US" sz="2400" dirty="0"/>
          </a:p>
        </p:txBody>
      </p:sp>
      <p:sp>
        <p:nvSpPr>
          <p:cNvPr id="5" name="st0"/>
          <p:cNvSpPr/>
          <p:nvPr/>
        </p:nvSpPr>
        <p:spPr>
          <a:xfrm>
            <a:off x="430106" y="4341707"/>
            <a:ext cx="4846320" cy="566928"/>
          </a:xfrm>
          <a:prstGeom prst="roundRect">
            <a:avLst>
              <a:gd name="adj" fmla="val 9677"/>
            </a:avLst>
          </a:prstGeom>
          <a:solidFill>
            <a:srgbClr val="C9A227"/>
          </a:solidFill>
          <a:ln w="12700">
            <a:solidFill>
              <a:srgbClr val="8A6D12"/>
            </a:solidFill>
            <a:prstDash val="solid"/>
          </a:ln>
        </p:spPr>
        <p:txBody>
          <a:bodyPr/>
          <a:lstStyle/>
          <a:p>
            <a:endParaRPr lang="en-US" sz="2800"/>
          </a:p>
        </p:txBody>
      </p:sp>
      <p:sp>
        <p:nvSpPr>
          <p:cNvPr id="6" name="stt0"/>
          <p:cNvSpPr txBox="1"/>
          <p:nvPr/>
        </p:nvSpPr>
        <p:spPr>
          <a:xfrm>
            <a:off x="594698" y="4414859"/>
            <a:ext cx="4572000" cy="438912"/>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Religion </a:t>
            </a:r>
            <a:r>
              <a:rPr lang="en-US" b="1">
                <a:solidFill>
                  <a:srgbClr val="FFFFFF"/>
                </a:solidFill>
                <a:latin typeface="Arial" pitchFamily="34" charset="0"/>
                <a:ea typeface="Arial" pitchFamily="34" charset="-122"/>
                <a:cs typeface="Arial" pitchFamily="34" charset="-120"/>
              </a:rPr>
              <a:t>→</a:t>
            </a:r>
            <a:r>
              <a:rPr lang="en-US" b="1" dirty="0">
                <a:solidFill>
                  <a:srgbClr val="FFFFFF"/>
                </a:solidFill>
                <a:latin typeface="Arial" pitchFamily="34" charset="0"/>
                <a:ea typeface="Arial" pitchFamily="34" charset="-122"/>
                <a:cs typeface="Arial" pitchFamily="34" charset="-120"/>
              </a:rPr>
              <a:t> perfect form</a:t>
            </a:r>
            <a:endParaRPr lang="en-US" sz="2400" dirty="0"/>
          </a:p>
        </p:txBody>
      </p:sp>
      <p:sp>
        <p:nvSpPr>
          <p:cNvPr id="7" name="st1"/>
          <p:cNvSpPr/>
          <p:nvPr/>
        </p:nvSpPr>
        <p:spPr>
          <a:xfrm>
            <a:off x="430106" y="3683339"/>
            <a:ext cx="4846320" cy="566928"/>
          </a:xfrm>
          <a:prstGeom prst="roundRect">
            <a:avLst>
              <a:gd name="adj" fmla="val 9677"/>
            </a:avLst>
          </a:prstGeom>
          <a:solidFill>
            <a:srgbClr val="C9A227">
              <a:alpha val="95000"/>
            </a:srgbClr>
          </a:solidFill>
          <a:ln w="12700">
            <a:solidFill>
              <a:srgbClr val="8A6D12"/>
            </a:solidFill>
            <a:prstDash val="solid"/>
          </a:ln>
        </p:spPr>
        <p:txBody>
          <a:bodyPr/>
          <a:lstStyle/>
          <a:p>
            <a:endParaRPr lang="en-US" sz="2800"/>
          </a:p>
        </p:txBody>
      </p:sp>
      <p:sp>
        <p:nvSpPr>
          <p:cNvPr id="8" name="stt1"/>
          <p:cNvSpPr txBox="1"/>
          <p:nvPr/>
        </p:nvSpPr>
        <p:spPr>
          <a:xfrm>
            <a:off x="594698" y="3756491"/>
            <a:ext cx="4572000" cy="438912"/>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Worship </a:t>
            </a:r>
            <a:r>
              <a:rPr lang="en-US" b="1">
                <a:solidFill>
                  <a:srgbClr val="FFFFFF"/>
                </a:solidFill>
                <a:latin typeface="Arial" pitchFamily="34" charset="0"/>
                <a:ea typeface="Arial" pitchFamily="34" charset="-122"/>
                <a:cs typeface="Arial" pitchFamily="34" charset="-120"/>
              </a:rPr>
              <a:t>→</a:t>
            </a:r>
            <a:r>
              <a:rPr lang="en-US" b="1" dirty="0">
                <a:solidFill>
                  <a:srgbClr val="FFFFFF"/>
                </a:solidFill>
                <a:latin typeface="Arial" pitchFamily="34" charset="0"/>
                <a:ea typeface="Arial" pitchFamily="34" charset="-122"/>
                <a:cs typeface="Arial" pitchFamily="34" charset="-120"/>
              </a:rPr>
              <a:t> perfect heart</a:t>
            </a:r>
            <a:endParaRPr lang="en-US" sz="2400" dirty="0"/>
          </a:p>
        </p:txBody>
      </p:sp>
      <p:sp>
        <p:nvSpPr>
          <p:cNvPr id="9" name="st2"/>
          <p:cNvSpPr/>
          <p:nvPr/>
        </p:nvSpPr>
        <p:spPr>
          <a:xfrm>
            <a:off x="430106" y="3024971"/>
            <a:ext cx="4846320" cy="566928"/>
          </a:xfrm>
          <a:prstGeom prst="roundRect">
            <a:avLst>
              <a:gd name="adj" fmla="val 9677"/>
            </a:avLst>
          </a:prstGeom>
          <a:solidFill>
            <a:srgbClr val="C9A227">
              <a:alpha val="90000"/>
            </a:srgbClr>
          </a:solidFill>
          <a:ln w="12700">
            <a:solidFill>
              <a:srgbClr val="8A6D12"/>
            </a:solidFill>
            <a:prstDash val="solid"/>
          </a:ln>
        </p:spPr>
        <p:txBody>
          <a:bodyPr/>
          <a:lstStyle/>
          <a:p>
            <a:endParaRPr lang="en-US" sz="2800"/>
          </a:p>
        </p:txBody>
      </p:sp>
      <p:sp>
        <p:nvSpPr>
          <p:cNvPr id="10" name="stt2"/>
          <p:cNvSpPr txBox="1"/>
          <p:nvPr/>
        </p:nvSpPr>
        <p:spPr>
          <a:xfrm>
            <a:off x="594698" y="3098123"/>
            <a:ext cx="4572000" cy="438912"/>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Sacrifice </a:t>
            </a:r>
            <a:r>
              <a:rPr lang="en-US" b="1">
                <a:solidFill>
                  <a:srgbClr val="FFFFFF"/>
                </a:solidFill>
                <a:latin typeface="Arial" pitchFamily="34" charset="0"/>
                <a:ea typeface="Arial" pitchFamily="34" charset="-122"/>
                <a:cs typeface="Arial" pitchFamily="34" charset="-120"/>
              </a:rPr>
              <a:t>→</a:t>
            </a:r>
            <a:r>
              <a:rPr lang="en-US" b="1" dirty="0">
                <a:solidFill>
                  <a:srgbClr val="FFFFFF"/>
                </a:solidFill>
                <a:latin typeface="Arial" pitchFamily="34" charset="0"/>
                <a:ea typeface="Arial" pitchFamily="34" charset="-122"/>
                <a:cs typeface="Arial" pitchFamily="34" charset="-120"/>
              </a:rPr>
              <a:t> the full cost, nothing kept back</a:t>
            </a:r>
            <a:endParaRPr lang="en-US" sz="2400" dirty="0"/>
          </a:p>
        </p:txBody>
      </p:sp>
      <p:sp>
        <p:nvSpPr>
          <p:cNvPr id="11" name="st3"/>
          <p:cNvSpPr/>
          <p:nvPr/>
        </p:nvSpPr>
        <p:spPr>
          <a:xfrm>
            <a:off x="430106" y="2366603"/>
            <a:ext cx="4846320" cy="566928"/>
          </a:xfrm>
          <a:prstGeom prst="roundRect">
            <a:avLst>
              <a:gd name="adj" fmla="val 9677"/>
            </a:avLst>
          </a:prstGeom>
          <a:solidFill>
            <a:srgbClr val="C9A227">
              <a:alpha val="85000"/>
            </a:srgbClr>
          </a:solidFill>
          <a:ln w="12700">
            <a:solidFill>
              <a:srgbClr val="8A6D12"/>
            </a:solidFill>
            <a:prstDash val="solid"/>
          </a:ln>
        </p:spPr>
        <p:txBody>
          <a:bodyPr/>
          <a:lstStyle/>
          <a:p>
            <a:endParaRPr lang="en-US" sz="2800"/>
          </a:p>
        </p:txBody>
      </p:sp>
      <p:sp>
        <p:nvSpPr>
          <p:cNvPr id="12" name="stt3"/>
          <p:cNvSpPr txBox="1"/>
          <p:nvPr/>
        </p:nvSpPr>
        <p:spPr>
          <a:xfrm>
            <a:off x="594698" y="2439755"/>
            <a:ext cx="4572000" cy="438912"/>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Obedience of Faith </a:t>
            </a:r>
            <a:r>
              <a:rPr lang="en-US" b="1">
                <a:solidFill>
                  <a:srgbClr val="FFFFFF"/>
                </a:solidFill>
                <a:latin typeface="Arial" pitchFamily="34" charset="0"/>
                <a:ea typeface="Arial" pitchFamily="34" charset="-122"/>
                <a:cs typeface="Arial" pitchFamily="34" charset="-120"/>
              </a:rPr>
              <a:t>→</a:t>
            </a:r>
            <a:r>
              <a:rPr lang="en-US" b="1" dirty="0">
                <a:solidFill>
                  <a:srgbClr val="FFFFFF"/>
                </a:solidFill>
                <a:latin typeface="Arial" pitchFamily="34" charset="0"/>
                <a:ea typeface="Arial" pitchFamily="34" charset="-122"/>
                <a:cs typeface="Arial" pitchFamily="34" charset="-120"/>
              </a:rPr>
              <a:t> “I have come to do your will”</a:t>
            </a:r>
            <a:endParaRPr lang="en-US" sz="2400" dirty="0"/>
          </a:p>
        </p:txBody>
      </p:sp>
      <p:sp>
        <p:nvSpPr>
          <p:cNvPr id="13" name="d2"/>
          <p:cNvSpPr txBox="1"/>
          <p:nvPr/>
        </p:nvSpPr>
        <p:spPr>
          <a:xfrm>
            <a:off x="5577840" y="2366603"/>
            <a:ext cx="3200400" cy="373380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Aligned once, completely, in Him.
</a:t>
            </a:r>
            <a:r>
              <a:rPr lang="en-US" sz="1600" dirty="0">
                <a:solidFill>
                  <a:srgbClr val="000000"/>
                </a:solidFill>
                <a:latin typeface="Arial" pitchFamily="34" charset="0"/>
                <a:ea typeface="Arial" pitchFamily="34" charset="-122"/>
                <a:cs typeface="Arial" pitchFamily="34" charset="-120"/>
              </a:rPr>
              <a:t>The four layers we stacked in Week 2 → form, disposition, cost, settled pattern → were held perfectly by Christ, once for all.
He completed the stack before He asked you to climb it. Your sacrifice is a thank offering, never a payment.</a:t>
            </a:r>
            <a:r>
              <a:rPr lang="en-US" sz="1400" dirty="0">
                <a:solidFill>
                  <a:srgbClr val="000000"/>
                </a:solidFill>
                <a:latin typeface="Arial" pitchFamily="34" charset="0"/>
                <a:ea typeface="Arial" pitchFamily="34" charset="-122"/>
                <a:cs typeface="Arial" pitchFamily="34" charset="-120"/>
              </a:rPr>
              <a:t>
</a:t>
            </a:r>
            <a:r>
              <a:rPr lang="en-US" sz="1600" b="1" u="sng" dirty="0">
                <a:solidFill>
                  <a:srgbClr val="1F497D"/>
                </a:solidFill>
                <a:latin typeface="Arial" pitchFamily="34" charset="0"/>
                <a:ea typeface="Arial" pitchFamily="34" charset="-122"/>
                <a:cs typeface="Arial" pitchFamily="34" charset="-120"/>
              </a:rPr>
              <a:t>Mercy first. Altar second.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1000"/>
                                        <p:tgtEl>
                                          <p:spTgt spid="13"/>
                                        </p:tgtEl>
                                      </p:cBhvr>
                                    </p:animEffect>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Discussion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Ten minutes → the last practice</a:t>
            </a:r>
            <a:endParaRPr lang="en-US" sz="2800" dirty="0"/>
          </a:p>
        </p:txBody>
      </p:sp>
      <p:sp>
        <p:nvSpPr>
          <p:cNvPr id="4" name="x1"/>
          <p:cNvSpPr txBox="1"/>
          <p:nvPr/>
        </p:nvSpPr>
        <p:spPr>
          <a:xfrm>
            <a:off x="457200" y="1371600"/>
            <a:ext cx="8229600" cy="141732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1.  </a:t>
            </a:r>
            <a:r>
              <a:rPr lang="en-US" sz="2400" dirty="0">
                <a:solidFill>
                  <a:srgbClr val="000000"/>
                </a:solidFill>
                <a:latin typeface="Arial" pitchFamily="34" charset="0"/>
                <a:ea typeface="Arial" pitchFamily="34" charset="-122"/>
                <a:cs typeface="Arial" pitchFamily="34" charset="-120"/>
              </a:rPr>
              <a:t>Who taught the faith to you → and what did it cost them? Name one person, and one thing they gave up.</a:t>
            </a:r>
            <a:endParaRPr lang="en-US" sz="2000" dirty="0"/>
          </a:p>
        </p:txBody>
      </p:sp>
      <p:sp>
        <p:nvSpPr>
          <p:cNvPr id="5" name="x2"/>
          <p:cNvSpPr txBox="1"/>
          <p:nvPr/>
        </p:nvSpPr>
        <p:spPr>
          <a:xfrm>
            <a:off x="457200" y="3063240"/>
            <a:ext cx="8229600" cy="141732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2.  </a:t>
            </a:r>
            <a:r>
              <a:rPr lang="en-US" sz="2400" dirty="0">
                <a:solidFill>
                  <a:srgbClr val="000000"/>
                </a:solidFill>
                <a:latin typeface="Arial" pitchFamily="34" charset="0"/>
                <a:ea typeface="Arial" pitchFamily="34" charset="-122"/>
                <a:cs typeface="Arial" pitchFamily="34" charset="-120"/>
              </a:rPr>
              <a:t>Whom will YOU teach → and what is the one concrete first step you’ll take this month?</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Charge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Offer your sacrifices with the obedience of faith</a:t>
            </a:r>
            <a:endParaRPr lang="en-US" sz="2800" dirty="0"/>
          </a:p>
        </p:txBody>
      </p:sp>
      <p:sp>
        <p:nvSpPr>
          <p:cNvPr id="4" name="z1"/>
          <p:cNvSpPr txBox="1"/>
          <p:nvPr/>
        </p:nvSpPr>
        <p:spPr>
          <a:xfrm>
            <a:off x="365760" y="1069848"/>
            <a:ext cx="8412480" cy="960120"/>
          </a:xfrm>
          <a:prstGeom prst="rect">
            <a:avLst/>
          </a:prstGeom>
          <a:noFill/>
          <a:ln/>
        </p:spPr>
        <p:txBody>
          <a:bodyPr wrap="square" lIns="0" tIns="0" rIns="0" bIns="0" rtlCol="0" anchor="t"/>
          <a:lstStyle/>
          <a:p>
            <a:pPr marL="0" indent="0" algn="l">
              <a:buNone/>
            </a:pPr>
            <a:r>
              <a:rPr lang="en-US" sz="1600" b="1" dirty="0">
                <a:solidFill>
                  <a:srgbClr val="1F497D"/>
                </a:solidFill>
                <a:latin typeface="Arial" pitchFamily="34" charset="0"/>
                <a:ea typeface="Arial" pitchFamily="34" charset="-122"/>
                <a:cs typeface="Arial" pitchFamily="34" charset="-120"/>
              </a:rPr>
              <a:t>The course’s standing assignment does not end today → it begins in earnest:
</a:t>
            </a:r>
            <a:r>
              <a:rPr lang="en-US" sz="1600" dirty="0">
                <a:solidFill>
                  <a:srgbClr val="000000"/>
                </a:solidFill>
                <a:latin typeface="Arial" pitchFamily="34" charset="0"/>
                <a:ea typeface="Arial" pitchFamily="34" charset="-122"/>
                <a:cs typeface="Arial" pitchFamily="34" charset="-120"/>
              </a:rPr>
              <a:t>One chapter. Before the phone. Your first minutes, not your last → the unblemished ones. Eager, and examining. Lay the mind on the altar and let God keep training your eyes.</a:t>
            </a:r>
            <a:endParaRPr lang="en-US" dirty="0"/>
          </a:p>
        </p:txBody>
      </p:sp>
      <p:sp>
        <p:nvSpPr>
          <p:cNvPr id="5" name="z2"/>
          <p:cNvSpPr txBox="1"/>
          <p:nvPr/>
        </p:nvSpPr>
        <p:spPr>
          <a:xfrm>
            <a:off x="365760" y="2148840"/>
            <a:ext cx="8412480" cy="132588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The whole course, in one breath:
</a:t>
            </a:r>
            <a:r>
              <a:rPr lang="en-US" sz="1600" dirty="0">
                <a:solidFill>
                  <a:srgbClr val="000000"/>
                </a:solidFill>
                <a:latin typeface="Arial" pitchFamily="34" charset="0"/>
                <a:ea typeface="Arial" pitchFamily="34" charset="-122"/>
                <a:cs typeface="Arial" pitchFamily="34" charset="-120"/>
              </a:rPr>
              <a:t>The Good is God’s own character (W1). Sacrifice makes worship visible (W2). Sincerity is not enough (W3). Righteousness is a gift (W4). Discernment is trained (W5–6). Every covenant tests faith (W7–9). Authority is received, and order serves communion (W10–11). And maturity’s destination is to teach (W12).</a:t>
            </a:r>
            <a:endParaRPr lang="en-US" sz="2000" dirty="0"/>
          </a:p>
        </p:txBody>
      </p:sp>
      <p:sp>
        <p:nvSpPr>
          <p:cNvPr id="6" name="z3"/>
          <p:cNvSpPr txBox="1"/>
          <p:nvPr/>
        </p:nvSpPr>
        <p:spPr>
          <a:xfrm>
            <a:off x="365760" y="3794760"/>
            <a:ext cx="8412480" cy="914400"/>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You began being asked, “Why do you call me good?”  </a:t>
            </a:r>
            <a:r>
              <a:rPr lang="en-US" b="1" dirty="0">
                <a:solidFill>
                  <a:srgbClr val="1F497D"/>
                </a:solidFill>
                <a:latin typeface="Arial" pitchFamily="34" charset="0"/>
                <a:ea typeface="Arial" pitchFamily="34" charset="-122"/>
                <a:cs typeface="Arial" pitchFamily="34" charset="-120"/>
              </a:rPr>
              <a:t>You end being told, “Go… teaching them to obey.”  From the question, to the commission.</a:t>
            </a:r>
            <a:endParaRPr lang="en-US" sz="2000" dirty="0"/>
          </a:p>
        </p:txBody>
      </p:sp>
      <p:sp>
        <p:nvSpPr>
          <p:cNvPr id="7" name="fin"/>
          <p:cNvSpPr/>
          <p:nvPr/>
        </p:nvSpPr>
        <p:spPr>
          <a:xfrm>
            <a:off x="822960" y="4892040"/>
            <a:ext cx="7498080" cy="822960"/>
          </a:xfrm>
          <a:prstGeom prst="roundRect">
            <a:avLst>
              <a:gd name="adj" fmla="val 8889"/>
            </a:avLst>
          </a:prstGeom>
          <a:solidFill>
            <a:srgbClr val="1F497D"/>
          </a:solidFill>
          <a:ln/>
        </p:spPr>
        <p:txBody>
          <a:bodyPr/>
          <a:lstStyle/>
          <a:p>
            <a:endParaRPr lang="en-US"/>
          </a:p>
        </p:txBody>
      </p:sp>
      <p:sp>
        <p:nvSpPr>
          <p:cNvPr id="8" name="fint"/>
          <p:cNvSpPr txBox="1"/>
          <p:nvPr/>
        </p:nvSpPr>
        <p:spPr>
          <a:xfrm>
            <a:off x="822960" y="4892040"/>
            <a:ext cx="749808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Offer your sacrifices with the Obedience of Faith.</a:t>
            </a:r>
            <a:endParaRPr lang="en-US" sz="1600" dirty="0"/>
          </a:p>
        </p:txBody>
      </p:sp>
      <p:sp>
        <p:nvSpPr>
          <p:cNvPr id="9" name="z5"/>
          <p:cNvSpPr txBox="1"/>
          <p:nvPr/>
        </p:nvSpPr>
        <p:spPr>
          <a:xfrm>
            <a:off x="365760" y="5943600"/>
            <a:ext cx="8412480" cy="365760"/>
          </a:xfrm>
          <a:prstGeom prst="rect">
            <a:avLst/>
          </a:prstGeom>
          <a:noFill/>
          <a:ln/>
        </p:spPr>
        <p:txBody>
          <a:bodyPr wrap="square" lIns="0" tIns="0" rIns="0" bIns="0" rtlCol="0" anchor="t"/>
          <a:lstStyle/>
          <a:p>
            <a:pPr marL="0" indent="0" algn="ctr">
              <a:buNone/>
            </a:pPr>
            <a:r>
              <a:rPr lang="en-US"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b="1" u="sng" dirty="0" err="1">
                <a:solidFill>
                  <a:srgbClr val="4F81BD"/>
                </a:solidFill>
                <a:latin typeface="Arial" pitchFamily="34" charset="0"/>
                <a:ea typeface="Arial" pitchFamily="34" charset="-122"/>
                <a:cs typeface="Arial" pitchFamily="34" charset="-120"/>
              </a:rPr>
              <a:t>.Church</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2353</Words>
  <Application>Microsoft Macintosh PowerPoint</Application>
  <PresentationFormat>On-screen Show (4:3)</PresentationFormat>
  <Paragraphs>60</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6</cp:revision>
  <dcterms:created xsi:type="dcterms:W3CDTF">2026-09-30T14:39:37Z</dcterms:created>
  <dcterms:modified xsi:type="dcterms:W3CDTF">2026-10-21T10:35:49Z</dcterms:modified>
</cp:coreProperties>
</file>