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9144000" cy="6858000" type="screen4x3"/>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71203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[0:00] Ask the question straight, and let it hang: “Do Christians offer sacrifices? Most of us would say no </a:t>
            </a:r>
            <a:r>
              <a:rPr lang="en-US"/>
              <a:t>→ </a:t>
            </a:r>
            <a:r>
              <a:rPr lang="en-US" dirty="0"/>
              <a:t>that ended at the cross. Half of that is exactly right. The other half will surprise you.” This week closes Unit III and brings the sacrifice thread from Week 2 full circle. Point at Rom 12:1 </a:t>
            </a:r>
            <a:r>
              <a:rPr lang="en-US"/>
              <a:t>→</a:t>
            </a:r>
            <a:r>
              <a:rPr lang="en-US" dirty="0"/>
              <a:t> the answer is on the screen: you, alive.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[0:00–8:00]
[CLICK] Heb 10:10,14 </a:t>
            </a:r>
            <a:r>
              <a:rPr lang="en-US"/>
              <a:t>→ </a:t>
            </a:r>
            <a:r>
              <a:rPr lang="en-US" dirty="0"/>
              <a:t>read both. ONCE FOR ALL (ephapax) is the hinge word of Hebrews. Perfected FOR ALL TIME.
[CLICK] Land “once for all.” This is the guard that keeps the whole week from sounding like works-salvation </a:t>
            </a:r>
            <a:r>
              <a:rPr lang="en-US"/>
              <a:t>→ </a:t>
            </a:r>
            <a:r>
              <a:rPr lang="en-US" dirty="0"/>
              <a:t>the very thing Week 4 warned against. The atonement is not a project we contribute to.
[CLICK] The contrast </a:t>
            </a:r>
            <a:r>
              <a:rPr lang="en-US"/>
              <a:t>→ </a:t>
            </a:r>
            <a:r>
              <a:rPr lang="en-US" dirty="0"/>
              <a:t>old priests STOOD (work never done); Christ SAT DOWN (work finished). A seated priest is a stunning image; no Levite ever sat in the sanctuary.
[CLICK] State the tension the rest of the hour resolves: atonement is finished, YET the NT still calls us to offer sacrifices. Not a contradiction </a:t>
            </a:r>
            <a:r>
              <a:rPr lang="en-US"/>
              <a:t>→</a:t>
            </a:r>
            <a:r>
              <a:rPr lang="en-US" dirty="0"/>
              <a:t> a change of material. Transition: “Here is the turn.”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[8:00–20:00]
[CLICK] Walk the graphic left to right. OLD: the lamb dies INSTEAD of you. CENTER: at the cross, the true Substitute dies once for all (Week-8 territory). NOW: the altar has no fire </a:t>
            </a:r>
            <a:r>
              <a:rPr lang="en-US"/>
              <a:t>→ </a:t>
            </a:r>
            <a:r>
              <a:rPr lang="en-US" dirty="0"/>
              <a:t>because the sacrifice is meant to stay ALIVE. That empty-of-flame altar is the whole point of Rom 12:1.
[CLICK] Say the hinge: “Sacrifice didn’t end. It changed material.” Pause both sides of it. The substitute has died, so the worshiper himself is now the offering </a:t>
            </a:r>
            <a:r>
              <a:rPr lang="en-US"/>
              <a:t>→ </a:t>
            </a:r>
            <a:r>
              <a:rPr lang="en-US" dirty="0"/>
              <a:t>living.
[CLICK] Rom 12:1 </a:t>
            </a:r>
            <a:r>
              <a:rPr lang="en-US"/>
              <a:t>→ </a:t>
            </a:r>
            <a:r>
              <a:rPr lang="en-US" dirty="0"/>
              <a:t>“alive” is the shocking word. Every prior sacrifice was dead; this one breathes. Recall Week 2’s NET note: living sacrifices keep crawling off the altar </a:t>
            </a:r>
            <a:r>
              <a:rPr lang="en-US"/>
              <a:t>→ </a:t>
            </a:r>
            <a:r>
              <a:rPr lang="en-US" dirty="0"/>
              <a:t>which is why it must be daily.
[CLICK] The three named sacrifices </a:t>
            </a:r>
            <a:r>
              <a:rPr lang="en-US"/>
              <a:t>→ </a:t>
            </a:r>
            <a:r>
              <a:rPr lang="en-US" dirty="0"/>
              <a:t>praise, good/generosity, the self. These are concrete; the class can DO them this week. Transition: “And notice what Peter just called you </a:t>
            </a:r>
            <a:r>
              <a:rPr lang="en-US"/>
              <a:t>→</a:t>
            </a:r>
            <a:r>
              <a:rPr lang="en-US" dirty="0"/>
              <a:t> a priest.”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[20:00–32:00]
[CLICK] 1 Pet 2:5,9 </a:t>
            </a:r>
            <a:r>
              <a:rPr lang="en-US"/>
              <a:t>→ </a:t>
            </a:r>
            <a:r>
              <a:rPr lang="en-US" dirty="0"/>
              <a:t>the priesthood of ALL believers. Not clergy alone; everyone in the room is a priest with an offering to bring.
[CLICK] The transfer </a:t>
            </a:r>
            <a:r>
              <a:rPr lang="en-US"/>
              <a:t>→ </a:t>
            </a:r>
            <a:r>
              <a:rPr lang="en-US" dirty="0"/>
              <a:t>this is the convicting pivot. Malachi’s complaint was to PRIESTS. You are now the priest. No middleman means no hiding behind “the professionals handle worship.”
[CLICK] Mal 1:8 </a:t>
            </a:r>
            <a:r>
              <a:rPr lang="en-US"/>
              <a:t>→ </a:t>
            </a:r>
            <a:r>
              <a:rPr lang="en-US" dirty="0"/>
              <a:t>deliver “offer it to your governor!” as the dry, pointed sarcasm it is. Don’t raise your voice; the verse is already sharp. The image: you’d never give your boss the garbage you routinely give God.
[CLICK] 2 Sam 24:24 </a:t>
            </a:r>
            <a:r>
              <a:rPr lang="en-US"/>
              <a:t>→</a:t>
            </a:r>
            <a:r>
              <a:rPr lang="en-US" dirty="0"/>
              <a:t> the cleanest quotable in the course. “That cost me nothing.” If they remember one sentence, this. Sets up the discussion question directly. Transition: “So the offering is now yourself. But Paul said TWO things go on the altar.”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[32:00–45:00]
[CLICK] Read Rom 12:1–2 as ONE unit </a:t>
            </a:r>
            <a:r>
              <a:rPr lang="en-US"/>
              <a:t>→ </a:t>
            </a:r>
            <a:r>
              <a:rPr lang="en-US" dirty="0"/>
              <a:t>most people stop at verse 1. The purpose clause in v.2 is the payoff of the entire course.
[CLICK] Body AND mind. The mind is renewed FOR something: to test and approve the good. Invite them to open Romans 12 and see it </a:t>
            </a:r>
            <a:r>
              <a:rPr lang="en-US"/>
              <a:t>→ </a:t>
            </a:r>
            <a:r>
              <a:rPr lang="en-US" dirty="0"/>
              <a:t>checkable, not asserted.
[CLICK] The great convergence: Rom 12:2 = Heb 5:14. Discernment (Unit II) and sacrifice (Units I &amp; III) turn out to be the same paragraph. This is the intellectual peak of the course </a:t>
            </a:r>
            <a:r>
              <a:rPr lang="en-US"/>
              <a:t>→ </a:t>
            </a:r>
            <a:r>
              <a:rPr lang="en-US" dirty="0"/>
              <a:t>let it land.
[CLICK] The reframe: daily Bible reading is not prep for worship; it IS the offering </a:t>
            </a:r>
            <a:r>
              <a:rPr lang="en-US"/>
              <a:t>→ </a:t>
            </a:r>
            <a:r>
              <a:rPr lang="en-US" dirty="0"/>
              <a:t>the daily portion of the living sacrifice. This dignifies the ordinary morning chapter as an altar act.
[CLICK] The banner </a:t>
            </a:r>
            <a:r>
              <a:rPr lang="en-US"/>
              <a:t>→</a:t>
            </a:r>
            <a:r>
              <a:rPr lang="en-US" dirty="0"/>
              <a:t> the grace guardrail one more time. Rom 12:1 begins “by the mercies of God.” Thank offering, not payment. To discussion.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[45:00–55:00]
Q1: The Malachi image made personal </a:t>
            </a:r>
            <a:r>
              <a:rPr lang="en-US"/>
              <a:t>→ </a:t>
            </a:r>
            <a:r>
              <a:rPr lang="en-US" dirty="0"/>
              <a:t>and searching. Most of us give God the exhausted, distracted leftover of our time. Name it first-person (“I’ve brought that lamb”). Do NOT let it curdle into guilt; the frame is grace </a:t>
            </a:r>
            <a:r>
              <a:rPr lang="en-US"/>
              <a:t>→ </a:t>
            </a:r>
            <a:r>
              <a:rPr lang="en-US" dirty="0"/>
              <a:t>what would a FIRSTFRUITS offering of time look like? Concrete, not condemning.
Q2: The practical companion. “First minutes” = phone, news, email, worry </a:t>
            </a:r>
            <a:r>
              <a:rPr lang="en-US"/>
              <a:t>→ </a:t>
            </a:r>
            <a:r>
              <a:rPr lang="en-US" dirty="0"/>
              <a:t>vs. the Word, prayer. Not legalism about a specific hour; the principle of firstfruits vs. leftovers applied to attention. Seed: “What gets your mind before God does?”
[CLICK] Read the mirror-not-measuring-stick line </a:t>
            </a:r>
            <a:r>
              <a:rPr lang="en-US"/>
              <a:t>→</a:t>
            </a:r>
            <a:r>
              <a:rPr lang="en-US" dirty="0"/>
              <a:t> keeps grace in the room.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[55:00 close, ~2 min]
[CLICK] Next week’s reading </a:t>
            </a:r>
            <a:r>
              <a:rPr lang="en-US"/>
              <a:t>→ </a:t>
            </a:r>
            <a:r>
              <a:rPr lang="en-US" dirty="0"/>
              <a:t>the pivot into Unit IV (church order). Both flags (v.37 “Lord’s command”; “entrusted”) preview the apostolic-appointment argument. Give the class a heads-up: the next two weeks handle genuinely contested ground, and we’ll do it as Bereans </a:t>
            </a:r>
            <a:r>
              <a:rPr lang="en-US"/>
              <a:t>→ </a:t>
            </a:r>
            <a:r>
              <a:rPr lang="en-US" dirty="0"/>
              <a:t>eager AND examining.
[CLICK] Preview Unit IV.
[CLICK] Carry sentence </a:t>
            </a:r>
            <a:r>
              <a:rPr lang="en-US"/>
              <a:t>→</a:t>
            </a:r>
            <a:r>
              <a:rPr lang="en-US" dirty="0"/>
              <a:t> say it together.
[CLICK] Close on 2 Sam 24:24. Dismiss on time.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tinyurl.com/TeachTheWord"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hyperlink" Target="https://tinyurl.com/TeachTheWord"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0"/>
          <p:cNvSpPr txBox="1"/>
          <p:nvPr/>
        </p:nvSpPr>
        <p:spPr>
          <a:xfrm>
            <a:off x="548640" y="640080"/>
            <a:ext cx="8046720" cy="457200"/>
          </a:xfrm>
          <a:prstGeom prst="rect">
            <a:avLst/>
          </a:prstGeom>
          <a:noFill/>
          <a:ln/>
        </p:spPr>
        <p:txBody>
          <a:bodyPr wrap="square" lIns="0" tIns="0" rIns="0" bIns="0" rtlCol="0" anchor="t"/>
          <a:lstStyle/>
          <a:p>
            <a:pPr marL="0" indent="0" algn="ctr">
              <a:buNone/>
            </a:pPr>
            <a:r>
              <a:rPr lang="en-US" sz="1700" b="1" i="1" dirty="0">
                <a:solidFill>
                  <a:srgbClr val="4F81BD"/>
                </a:solidFill>
                <a:latin typeface="Arial" pitchFamily="34" charset="0"/>
                <a:ea typeface="Arial" pitchFamily="34" charset="-122"/>
                <a:cs typeface="Arial" pitchFamily="34" charset="-120"/>
              </a:rPr>
              <a:t>The Obedience of Faith - Week 9  ·  Unit III: Testing</a:t>
            </a:r>
            <a:endParaRPr lang="en-US" sz="1600" dirty="0"/>
          </a:p>
        </p:txBody>
      </p:sp>
      <p:sp>
        <p:nvSpPr>
          <p:cNvPr id="3" name="t1"/>
          <p:cNvSpPr txBox="1"/>
          <p:nvPr/>
        </p:nvSpPr>
        <p:spPr>
          <a:xfrm>
            <a:off x="548640" y="1188720"/>
            <a:ext cx="8046720" cy="822960"/>
          </a:xfrm>
          <a:prstGeom prst="rect">
            <a:avLst/>
          </a:prstGeom>
          <a:noFill/>
          <a:ln/>
        </p:spPr>
        <p:txBody>
          <a:bodyPr wrap="square" lIns="0" tIns="0" rIns="0" bIns="0" rtlCol="0" anchor="t"/>
          <a:lstStyle/>
          <a:p>
            <a:pPr marL="0" indent="0" algn="ctr">
              <a:buNone/>
            </a:pPr>
            <a:r>
              <a:rPr lang="en-US" sz="4000" b="1" dirty="0">
                <a:solidFill>
                  <a:srgbClr val="1F497D"/>
                </a:solidFill>
                <a:latin typeface="Arial" pitchFamily="34" charset="0"/>
                <a:ea typeface="Arial" pitchFamily="34" charset="-122"/>
                <a:cs typeface="Arial" pitchFamily="34" charset="-120"/>
              </a:rPr>
              <a:t>The Altar Today</a:t>
            </a:r>
            <a:endParaRPr lang="en-US" sz="1600" dirty="0"/>
          </a:p>
        </p:txBody>
      </p:sp>
      <p:sp>
        <p:nvSpPr>
          <p:cNvPr id="4" name="t2"/>
          <p:cNvSpPr txBox="1"/>
          <p:nvPr/>
        </p:nvSpPr>
        <p:spPr>
          <a:xfrm>
            <a:off x="548640" y="2148840"/>
            <a:ext cx="8046720" cy="548640"/>
          </a:xfrm>
          <a:prstGeom prst="rect">
            <a:avLst/>
          </a:prstGeom>
          <a:noFill/>
          <a:ln/>
        </p:spPr>
        <p:txBody>
          <a:bodyPr wrap="square" lIns="0" tIns="0" rIns="0" bIns="0" rtlCol="0" anchor="t"/>
          <a:lstStyle/>
          <a:p>
            <a:pPr marL="0" indent="0" algn="ctr">
              <a:buNone/>
            </a:pPr>
            <a:r>
              <a:rPr lang="en-US" sz="1900" b="1" i="1" dirty="0">
                <a:solidFill>
                  <a:srgbClr val="1F497D"/>
                </a:solidFill>
                <a:latin typeface="Arial" pitchFamily="34" charset="0"/>
                <a:ea typeface="Arial" pitchFamily="34" charset="-122"/>
                <a:cs typeface="Arial" pitchFamily="34" charset="-120"/>
              </a:rPr>
              <a:t>Living Sacrifice, Royal Priesthood </a:t>
            </a:r>
            <a:r>
              <a:rPr lang="en-US" sz="1900" b="1" i="1">
                <a:solidFill>
                  <a:srgbClr val="1F497D"/>
                </a:solidFill>
                <a:latin typeface="Arial" pitchFamily="34" charset="0"/>
                <a:ea typeface="Arial" pitchFamily="34" charset="-122"/>
                <a:cs typeface="Arial" pitchFamily="34" charset="-120"/>
              </a:rPr>
              <a:t>→</a:t>
            </a:r>
            <a:r>
              <a:rPr lang="en-US" sz="1900" b="1" i="1" dirty="0">
                <a:solidFill>
                  <a:srgbClr val="1F497D"/>
                </a:solidFill>
                <a:latin typeface="Arial" pitchFamily="34" charset="0"/>
                <a:ea typeface="Arial" pitchFamily="34" charset="-122"/>
                <a:cs typeface="Arial" pitchFamily="34" charset="-120"/>
              </a:rPr>
              <a:t> do Christians offer sacrifices?</a:t>
            </a:r>
            <a:endParaRPr lang="en-US" sz="1600" dirty="0"/>
          </a:p>
        </p:txBody>
      </p:sp>
      <p:sp>
        <p:nvSpPr>
          <p:cNvPr id="5" name="t3"/>
          <p:cNvSpPr txBox="1"/>
          <p:nvPr/>
        </p:nvSpPr>
        <p:spPr>
          <a:xfrm>
            <a:off x="914400" y="3063240"/>
            <a:ext cx="7315200" cy="1691640"/>
          </a:xfrm>
          <a:prstGeom prst="rect">
            <a:avLst/>
          </a:prstGeom>
          <a:noFill/>
          <a:ln/>
        </p:spPr>
        <p:txBody>
          <a:bodyPr wrap="square" lIns="0" tIns="0" rIns="0" bIns="0" rtlCol="0" anchor="t"/>
          <a:lstStyle/>
          <a:p>
            <a:pPr marL="0" indent="0" algn="ctr">
              <a:buNone/>
            </a:pPr>
            <a:r>
              <a:rPr lang="en-US" sz="2800" i="1" dirty="0">
                <a:solidFill>
                  <a:srgbClr val="000000"/>
                </a:solidFill>
                <a:latin typeface="Arial" pitchFamily="34" charset="0"/>
                <a:ea typeface="Arial" pitchFamily="34" charset="-122"/>
                <a:cs typeface="Arial" pitchFamily="34" charset="-120"/>
              </a:rPr>
              <a:t>“present your bodies as a sacrifice </a:t>
            </a:r>
            <a:r>
              <a:rPr lang="en-US" sz="2800" i="1">
                <a:solidFill>
                  <a:srgbClr val="000000"/>
                </a:solidFill>
                <a:latin typeface="Arial" pitchFamily="34" charset="0"/>
                <a:ea typeface="Arial" pitchFamily="34" charset="-122"/>
                <a:cs typeface="Arial" pitchFamily="34" charset="-120"/>
              </a:rPr>
              <a:t>→ </a:t>
            </a:r>
            <a:r>
              <a:rPr lang="en-US" sz="2800" i="1" dirty="0">
                <a:solidFill>
                  <a:srgbClr val="000000"/>
                </a:solidFill>
                <a:latin typeface="Arial" pitchFamily="34" charset="0"/>
                <a:ea typeface="Arial" pitchFamily="34" charset="-122"/>
                <a:cs typeface="Arial" pitchFamily="34" charset="-120"/>
              </a:rPr>
              <a:t>alive, holy, and pleasing to God </a:t>
            </a:r>
            <a:r>
              <a:rPr lang="en-US" sz="2800" i="1">
                <a:solidFill>
                  <a:srgbClr val="000000"/>
                </a:solidFill>
                <a:latin typeface="Arial" pitchFamily="34" charset="0"/>
                <a:ea typeface="Arial" pitchFamily="34" charset="-122"/>
                <a:cs typeface="Arial" pitchFamily="34" charset="-120"/>
              </a:rPr>
              <a:t>→</a:t>
            </a:r>
            <a:r>
              <a:rPr lang="en-US" sz="2800" i="1" dirty="0">
                <a:solidFill>
                  <a:srgbClr val="000000"/>
                </a:solidFill>
                <a:latin typeface="Arial" pitchFamily="34" charset="0"/>
                <a:ea typeface="Arial" pitchFamily="34" charset="-122"/>
                <a:cs typeface="Arial" pitchFamily="34" charset="-120"/>
              </a:rPr>
              <a:t> which is your reasonable service.”</a:t>
            </a:r>
            <a:endParaRPr lang="en-US" sz="2000" dirty="0"/>
          </a:p>
          <a:p>
            <a:pPr marL="0" indent="0" algn="ctr">
              <a:buNone/>
            </a:pPr>
            <a:r>
              <a:rPr lang="en-US" sz="2400" dirty="0">
                <a:solidFill>
                  <a:srgbClr val="000000"/>
                </a:solidFill>
                <a:latin typeface="Arial" pitchFamily="34" charset="0"/>
                <a:ea typeface="Arial" pitchFamily="34" charset="-122"/>
                <a:cs typeface="Arial" pitchFamily="34" charset="-120"/>
              </a:rPr>
              <a:t>(Romans 12:1)</a:t>
            </a:r>
            <a:endParaRPr lang="en-US" sz="2000" dirty="0"/>
          </a:p>
        </p:txBody>
      </p:sp>
      <p:sp>
        <p:nvSpPr>
          <p:cNvPr id="6" name="t4"/>
          <p:cNvSpPr txBox="1"/>
          <p:nvPr/>
        </p:nvSpPr>
        <p:spPr>
          <a:xfrm>
            <a:off x="914400" y="5440680"/>
            <a:ext cx="7315200" cy="457200"/>
          </a:xfrm>
          <a:prstGeom prst="rect">
            <a:avLst/>
          </a:prstGeom>
          <a:noFill/>
          <a:ln/>
        </p:spPr>
        <p:txBody>
          <a:bodyPr wrap="square" lIns="0" tIns="0" rIns="0" bIns="0" rtlCol="0" anchor="t"/>
          <a:lstStyle/>
          <a:p>
            <a:pPr marL="0" indent="0" algn="ctr">
              <a:buNone/>
            </a:pPr>
            <a:r>
              <a:rPr lang="en-US" sz="2000" b="1" u="sng" dirty="0">
                <a:solidFill>
                  <a:srgbClr val="4F81BD"/>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https://</a:t>
            </a:r>
            <a:r>
              <a:rPr lang="en-US" sz="2000" b="1" u="sng" dirty="0" err="1">
                <a:solidFill>
                  <a:srgbClr val="4F81BD"/>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TeachTheWord</a:t>
            </a:r>
            <a:r>
              <a:rPr lang="en-US" sz="2000" b="1" u="sng" dirty="0" err="1">
                <a:solidFill>
                  <a:srgbClr val="4F81BD"/>
                </a:solidFill>
                <a:latin typeface="Arial" pitchFamily="34" charset="0"/>
                <a:ea typeface="Arial" pitchFamily="34" charset="-122"/>
                <a:cs typeface="Arial" pitchFamily="34" charset="-120"/>
              </a:rPr>
              <a:t>.Church</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HeadTitle"/>
          <p:cNvSpPr txBox="1"/>
          <p:nvPr/>
        </p:nvSpPr>
        <p:spPr>
          <a:xfrm>
            <a:off x="228600" y="109728"/>
            <a:ext cx="8686800" cy="502920"/>
          </a:xfrm>
          <a:prstGeom prst="rect">
            <a:avLst/>
          </a:prstGeom>
          <a:noFill/>
          <a:ln/>
        </p:spPr>
        <p:txBody>
          <a:bodyPr wrap="square" lIns="0" tIns="0" rIns="0" bIns="0" rtlCol="0" anchor="t"/>
          <a:lstStyle/>
          <a:p>
            <a:pPr marL="0" indent="0" algn="l">
              <a:buNone/>
            </a:pPr>
            <a:r>
              <a:rPr lang="en-US" sz="2600" b="1" dirty="0">
                <a:solidFill>
                  <a:srgbClr val="1F497D"/>
                </a:solidFill>
                <a:latin typeface="Arial" pitchFamily="34" charset="0"/>
                <a:ea typeface="Arial" pitchFamily="34" charset="-122"/>
                <a:cs typeface="Arial" pitchFamily="34" charset="-120"/>
              </a:rPr>
              <a:t>First, the Guard</a:t>
            </a:r>
            <a:endParaRPr lang="en-US" sz="1600" dirty="0"/>
          </a:p>
        </p:txBody>
      </p:sp>
      <p:sp>
        <p:nvSpPr>
          <p:cNvPr id="3" name="HeadSub"/>
          <p:cNvSpPr txBox="1"/>
          <p:nvPr/>
        </p:nvSpPr>
        <p:spPr>
          <a:xfrm>
            <a:off x="228600" y="566928"/>
            <a:ext cx="8686800" cy="320040"/>
          </a:xfrm>
          <a:prstGeom prst="rect">
            <a:avLst/>
          </a:prstGeom>
          <a:noFill/>
          <a:ln/>
        </p:spPr>
        <p:txBody>
          <a:bodyPr wrap="square" lIns="0" tIns="0" rIns="0" bIns="0" rtlCol="0" anchor="t"/>
          <a:lstStyle/>
          <a:p>
            <a:pPr marL="0" indent="0" algn="l">
              <a:buNone/>
            </a:pPr>
            <a:r>
              <a:rPr lang="en-US" sz="2000" b="1" dirty="0">
                <a:solidFill>
                  <a:srgbClr val="4F81BD"/>
                </a:solidFill>
                <a:latin typeface="Arial" pitchFamily="34" charset="0"/>
                <a:ea typeface="Arial" pitchFamily="34" charset="-122"/>
                <a:cs typeface="Arial" pitchFamily="34" charset="-120"/>
              </a:rPr>
              <a:t>The atoning sacrifice is finished </a:t>
            </a:r>
            <a:r>
              <a:rPr lang="en-US" sz="2000" b="1" dirty="0">
                <a:solidFill>
                  <a:srgbClr val="4F81BD"/>
                </a:solidFill>
                <a:latin typeface="Arial" pitchFamily="34" charset="0"/>
                <a:ea typeface="Arial" pitchFamily="34" charset="-122"/>
                <a:cs typeface="Arial" pitchFamily="34" charset="-120"/>
                <a:sym typeface="Wingdings" pitchFamily="2" charset="2"/>
              </a:rPr>
              <a:t></a:t>
            </a:r>
            <a:r>
              <a:rPr lang="en-US" sz="2000" b="1" dirty="0">
                <a:solidFill>
                  <a:srgbClr val="4F81BD"/>
                </a:solidFill>
                <a:latin typeface="Arial" pitchFamily="34" charset="0"/>
                <a:ea typeface="Arial" pitchFamily="34" charset="-122"/>
                <a:cs typeface="Arial" pitchFamily="34" charset="-120"/>
              </a:rPr>
              <a:t> once for all</a:t>
            </a:r>
            <a:endParaRPr lang="en-US" sz="2800" dirty="0"/>
          </a:p>
        </p:txBody>
      </p:sp>
      <p:sp>
        <p:nvSpPr>
          <p:cNvPr id="4" name="a1"/>
          <p:cNvSpPr txBox="1"/>
          <p:nvPr/>
        </p:nvSpPr>
        <p:spPr>
          <a:xfrm>
            <a:off x="365760" y="1188720"/>
            <a:ext cx="8412480" cy="1005840"/>
          </a:xfrm>
          <a:prstGeom prst="rect">
            <a:avLst/>
          </a:prstGeom>
          <a:noFill/>
          <a:ln/>
        </p:spPr>
        <p:txBody>
          <a:bodyPr wrap="square" lIns="0" tIns="0" rIns="0" bIns="0" rtlCol="0" anchor="t"/>
          <a:lstStyle/>
          <a:p>
            <a:pPr marL="0" indent="0" algn="l">
              <a:buNone/>
            </a:pPr>
            <a:r>
              <a:rPr lang="en-US" sz="2000" b="1" i="1" dirty="0">
                <a:solidFill>
                  <a:srgbClr val="000000"/>
                </a:solidFill>
                <a:latin typeface="Arial" pitchFamily="34" charset="0"/>
                <a:ea typeface="Arial" pitchFamily="34" charset="-122"/>
                <a:cs typeface="Arial" pitchFamily="34" charset="-120"/>
              </a:rPr>
              <a:t>“And by his will we have been made holy through the offering of the body of Jesus Christ once for all… For by one offering he has perfected for all time those who are made holy.” </a:t>
            </a:r>
            <a:r>
              <a:rPr lang="en-US" b="1" dirty="0">
                <a:solidFill>
                  <a:srgbClr val="000000"/>
                </a:solidFill>
                <a:latin typeface="Arial" pitchFamily="34" charset="0"/>
                <a:ea typeface="Arial" pitchFamily="34" charset="-122"/>
                <a:cs typeface="Arial" pitchFamily="34" charset="-120"/>
              </a:rPr>
              <a:t>(Hebrews 10:10, 14)</a:t>
            </a:r>
            <a:endParaRPr lang="en-US" sz="2000" dirty="0"/>
          </a:p>
        </p:txBody>
      </p:sp>
      <p:sp>
        <p:nvSpPr>
          <p:cNvPr id="5" name="a2"/>
          <p:cNvSpPr txBox="1"/>
          <p:nvPr/>
        </p:nvSpPr>
        <p:spPr>
          <a:xfrm>
            <a:off x="365760" y="2496312"/>
            <a:ext cx="8412480" cy="1005840"/>
          </a:xfrm>
          <a:prstGeom prst="rect">
            <a:avLst/>
          </a:prstGeom>
          <a:noFill/>
          <a:ln/>
        </p:spPr>
        <p:txBody>
          <a:bodyPr wrap="square" lIns="0" tIns="0" rIns="0" bIns="0" rtlCol="0" anchor="t"/>
          <a:lstStyle/>
          <a:p>
            <a:pPr marL="0" indent="0" algn="l">
              <a:buNone/>
            </a:pPr>
            <a:r>
              <a:rPr lang="en-US" sz="2400" b="1" dirty="0">
                <a:solidFill>
                  <a:srgbClr val="1F497D"/>
                </a:solidFill>
                <a:latin typeface="Arial" pitchFamily="34" charset="0"/>
                <a:ea typeface="Arial" pitchFamily="34" charset="-122"/>
                <a:cs typeface="Arial" pitchFamily="34" charset="-120"/>
              </a:rPr>
              <a:t>Once for all. </a:t>
            </a:r>
            <a:r>
              <a:rPr lang="en-US" dirty="0">
                <a:solidFill>
                  <a:srgbClr val="000000"/>
                </a:solidFill>
                <a:latin typeface="Arial" pitchFamily="34" charset="0"/>
                <a:ea typeface="Arial" pitchFamily="34" charset="-122"/>
                <a:cs typeface="Arial" pitchFamily="34" charset="-120"/>
              </a:rPr>
              <a:t>The atoning work is complete, finished, unrepeatable. No altar you build, no sacrifice you offer, adds a single thing to it. It cannot be improved, only received.</a:t>
            </a:r>
            <a:endParaRPr lang="en-US" sz="2000" dirty="0"/>
          </a:p>
        </p:txBody>
      </p:sp>
      <p:sp>
        <p:nvSpPr>
          <p:cNvPr id="6" name="a3"/>
          <p:cNvSpPr txBox="1"/>
          <p:nvPr/>
        </p:nvSpPr>
        <p:spPr>
          <a:xfrm>
            <a:off x="365760" y="3840480"/>
            <a:ext cx="8412480" cy="849086"/>
          </a:xfrm>
          <a:prstGeom prst="rect">
            <a:avLst/>
          </a:prstGeom>
          <a:noFill/>
          <a:ln/>
        </p:spPr>
        <p:txBody>
          <a:bodyPr wrap="square" lIns="0" tIns="0" rIns="0" bIns="0" rtlCol="0" anchor="t"/>
          <a:lstStyle/>
          <a:p>
            <a:pPr marL="0" indent="0" algn="l">
              <a:buNone/>
            </a:pPr>
            <a:r>
              <a:rPr lang="en-US" b="1" dirty="0">
                <a:solidFill>
                  <a:srgbClr val="1F497D"/>
                </a:solidFill>
                <a:latin typeface="Arial" pitchFamily="34" charset="0"/>
                <a:ea typeface="Arial" pitchFamily="34" charset="-122"/>
                <a:cs typeface="Arial" pitchFamily="34" charset="-120"/>
              </a:rPr>
              <a:t>Hebrews drives it home by contrast: </a:t>
            </a:r>
            <a:r>
              <a:rPr lang="en-US" dirty="0">
                <a:solidFill>
                  <a:srgbClr val="000000"/>
                </a:solidFill>
                <a:latin typeface="Arial" pitchFamily="34" charset="0"/>
                <a:ea typeface="Arial" pitchFamily="34" charset="-122"/>
                <a:cs typeface="Arial" pitchFamily="34" charset="-120"/>
              </a:rPr>
              <a:t>the old priests stood </a:t>
            </a:r>
            <a:r>
              <a:rPr lang="en-US" b="1" i="1" dirty="0">
                <a:solidFill>
                  <a:srgbClr val="000000"/>
                </a:solidFill>
                <a:latin typeface="Arial" pitchFamily="34" charset="0"/>
                <a:ea typeface="Arial" pitchFamily="34" charset="-122"/>
                <a:cs typeface="Arial" pitchFamily="34" charset="-120"/>
              </a:rPr>
              <a:t>daily</a:t>
            </a:r>
            <a:r>
              <a:rPr lang="en-US" dirty="0">
                <a:solidFill>
                  <a:srgbClr val="000000"/>
                </a:solidFill>
                <a:latin typeface="Arial" pitchFamily="34" charset="0"/>
                <a:ea typeface="Arial" pitchFamily="34" charset="-122"/>
                <a:cs typeface="Arial" pitchFamily="34" charset="-120"/>
              </a:rPr>
              <a:t>, offering the same sacrifices that could never take away sins (10:11). Christ offered </a:t>
            </a:r>
            <a:r>
              <a:rPr lang="en-US" b="1" i="1" dirty="0">
                <a:solidFill>
                  <a:srgbClr val="000000"/>
                </a:solidFill>
                <a:latin typeface="Arial" pitchFamily="34" charset="0"/>
                <a:ea typeface="Arial" pitchFamily="34" charset="-122"/>
                <a:cs typeface="Arial" pitchFamily="34" charset="-120"/>
              </a:rPr>
              <a:t>one</a:t>
            </a:r>
            <a:r>
              <a:rPr lang="en-US" dirty="0">
                <a:solidFill>
                  <a:srgbClr val="000000"/>
                </a:solidFill>
                <a:latin typeface="Arial" pitchFamily="34" charset="0"/>
                <a:ea typeface="Arial" pitchFamily="34" charset="-122"/>
                <a:cs typeface="Arial" pitchFamily="34" charset="-120"/>
              </a:rPr>
              <a:t> sacrifice and “sat down” (10:12) → the posture of finished work.</a:t>
            </a:r>
            <a:endParaRPr lang="en-US" sz="2000" dirty="0"/>
          </a:p>
        </p:txBody>
      </p:sp>
      <p:sp>
        <p:nvSpPr>
          <p:cNvPr id="7" name="a4"/>
          <p:cNvSpPr txBox="1"/>
          <p:nvPr/>
        </p:nvSpPr>
        <p:spPr>
          <a:xfrm>
            <a:off x="365760" y="5029200"/>
            <a:ext cx="8412480" cy="849086"/>
          </a:xfrm>
          <a:prstGeom prst="rect">
            <a:avLst/>
          </a:prstGeom>
          <a:noFill/>
          <a:ln/>
        </p:spPr>
        <p:txBody>
          <a:bodyPr wrap="square" lIns="0" tIns="0" rIns="0" bIns="0" rtlCol="0" anchor="t"/>
          <a:lstStyle/>
          <a:p>
            <a:pPr marL="0" indent="0" algn="l">
              <a:buNone/>
            </a:pPr>
            <a:r>
              <a:rPr lang="en-US" b="1" dirty="0">
                <a:solidFill>
                  <a:srgbClr val="B0413E"/>
                </a:solidFill>
                <a:latin typeface="Arial" pitchFamily="34" charset="0"/>
                <a:ea typeface="Arial" pitchFamily="34" charset="-122"/>
                <a:cs typeface="Arial" pitchFamily="34" charset="-120"/>
              </a:rPr>
              <a:t>Hold this guard the whole hour: </a:t>
            </a:r>
            <a:r>
              <a:rPr lang="en-US" dirty="0">
                <a:solidFill>
                  <a:srgbClr val="000000"/>
                </a:solidFill>
                <a:latin typeface="Arial" pitchFamily="34" charset="0"/>
                <a:ea typeface="Arial" pitchFamily="34" charset="-122"/>
                <a:cs typeface="Arial" pitchFamily="34" charset="-120"/>
              </a:rPr>
              <a:t>nothing we say next reopens the cross. Never let anyone → including yourself → put you back under a system of earning. And yet… the New Testament keeps using sacrifice language for us. Why?</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1000"/>
                                        <p:tgtEl>
                                          <p:spTgt spid="7"/>
                                        </p:tgtEl>
                                      </p:cBhvr>
                                    </p:animEffect>
                                    <p:anim calcmode="lin" valueType="num">
                                      <p:cBhvr>
                                        <p:cTn id="2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HeadTitle"/>
          <p:cNvSpPr txBox="1"/>
          <p:nvPr/>
        </p:nvSpPr>
        <p:spPr>
          <a:xfrm>
            <a:off x="228600" y="109728"/>
            <a:ext cx="8686800" cy="502920"/>
          </a:xfrm>
          <a:prstGeom prst="rect">
            <a:avLst/>
          </a:prstGeom>
          <a:noFill/>
          <a:ln/>
        </p:spPr>
        <p:txBody>
          <a:bodyPr wrap="square" lIns="0" tIns="0" rIns="0" bIns="0" rtlCol="0" anchor="t"/>
          <a:lstStyle/>
          <a:p>
            <a:pPr marL="0" indent="0" algn="l">
              <a:buNone/>
            </a:pPr>
            <a:r>
              <a:rPr lang="en-US" sz="2600" b="1" dirty="0">
                <a:solidFill>
                  <a:srgbClr val="1F497D"/>
                </a:solidFill>
                <a:latin typeface="Arial" pitchFamily="34" charset="0"/>
                <a:ea typeface="Arial" pitchFamily="34" charset="-122"/>
                <a:cs typeface="Arial" pitchFamily="34" charset="-120"/>
              </a:rPr>
              <a:t>The Turn: Sacrifice Didn’t End </a:t>
            </a:r>
            <a:r>
              <a:rPr lang="en-US" sz="2600" b="1">
                <a:solidFill>
                  <a:srgbClr val="1F497D"/>
                </a:solidFill>
                <a:latin typeface="Arial" pitchFamily="34" charset="0"/>
                <a:ea typeface="Arial" pitchFamily="34" charset="-122"/>
                <a:cs typeface="Arial" pitchFamily="34" charset="-120"/>
              </a:rPr>
              <a:t>→</a:t>
            </a:r>
            <a:r>
              <a:rPr lang="en-US" sz="2600" b="1" dirty="0">
                <a:solidFill>
                  <a:srgbClr val="1F497D"/>
                </a:solidFill>
                <a:latin typeface="Arial" pitchFamily="34" charset="0"/>
                <a:ea typeface="Arial" pitchFamily="34" charset="-122"/>
                <a:cs typeface="Arial" pitchFamily="34" charset="-120"/>
              </a:rPr>
              <a:t> It Changed Material</a:t>
            </a:r>
            <a:endParaRPr lang="en-US" sz="1600" dirty="0"/>
          </a:p>
        </p:txBody>
      </p:sp>
      <p:sp>
        <p:nvSpPr>
          <p:cNvPr id="3" name="HeadSub"/>
          <p:cNvSpPr txBox="1"/>
          <p:nvPr/>
        </p:nvSpPr>
        <p:spPr>
          <a:xfrm>
            <a:off x="228600" y="566928"/>
            <a:ext cx="8686800" cy="320040"/>
          </a:xfrm>
          <a:prstGeom prst="rect">
            <a:avLst/>
          </a:prstGeom>
          <a:noFill/>
          <a:ln/>
        </p:spPr>
        <p:txBody>
          <a:bodyPr wrap="square" lIns="0" tIns="0" rIns="0" bIns="0" rtlCol="0" anchor="t"/>
          <a:lstStyle/>
          <a:p>
            <a:pPr marL="0" indent="0" algn="l">
              <a:buNone/>
            </a:pPr>
            <a:r>
              <a:rPr lang="en-US" sz="2000" b="1" dirty="0">
                <a:solidFill>
                  <a:srgbClr val="4F81BD"/>
                </a:solidFill>
                <a:latin typeface="Arial" pitchFamily="34" charset="0"/>
                <a:ea typeface="Arial" pitchFamily="34" charset="-122"/>
                <a:cs typeface="Arial" pitchFamily="34" charset="-120"/>
              </a:rPr>
              <a:t>Romans 12:1 → the Substitute has died, so now YOU go on the altar</a:t>
            </a:r>
            <a:endParaRPr lang="en-US" sz="2800" dirty="0"/>
          </a:p>
        </p:txBody>
      </p:sp>
      <p:sp>
        <p:nvSpPr>
          <p:cNvPr id="5" name="b1"/>
          <p:cNvSpPr txBox="1"/>
          <p:nvPr/>
        </p:nvSpPr>
        <p:spPr>
          <a:xfrm>
            <a:off x="365760" y="2606039"/>
            <a:ext cx="8412480" cy="847276"/>
          </a:xfrm>
          <a:prstGeom prst="rect">
            <a:avLst/>
          </a:prstGeom>
          <a:noFill/>
          <a:ln/>
        </p:spPr>
        <p:txBody>
          <a:bodyPr wrap="square" lIns="0" tIns="0" rIns="0" bIns="0" rtlCol="0" anchor="t"/>
          <a:lstStyle/>
          <a:p>
            <a:pPr marL="0" indent="0" algn="l">
              <a:buNone/>
            </a:pPr>
            <a:r>
              <a:rPr lang="en-US" dirty="0">
                <a:solidFill>
                  <a:srgbClr val="000000"/>
                </a:solidFill>
                <a:latin typeface="Arial" pitchFamily="34" charset="0"/>
                <a:ea typeface="Arial" pitchFamily="34" charset="-122"/>
                <a:cs typeface="Arial" pitchFamily="34" charset="-120"/>
              </a:rPr>
              <a:t>Under the old covenant a substitute died in your place → you brought the lamb, and it went on the altar instead of you. </a:t>
            </a:r>
            <a:r>
              <a:rPr lang="en-US" b="1" dirty="0">
                <a:solidFill>
                  <a:srgbClr val="1F497D"/>
                </a:solidFill>
                <a:latin typeface="Arial" pitchFamily="34" charset="0"/>
                <a:ea typeface="Arial" pitchFamily="34" charset="-122"/>
                <a:cs typeface="Arial" pitchFamily="34" charset="-120"/>
              </a:rPr>
              <a:t>Now the true Substitute has died, once for all. So, what goes on the altar? You do → alive.</a:t>
            </a:r>
            <a:endParaRPr lang="en-US" sz="2000" dirty="0"/>
          </a:p>
        </p:txBody>
      </p:sp>
      <p:sp>
        <p:nvSpPr>
          <p:cNvPr id="6" name="b2"/>
          <p:cNvSpPr txBox="1"/>
          <p:nvPr/>
        </p:nvSpPr>
        <p:spPr>
          <a:xfrm>
            <a:off x="365760" y="3611879"/>
            <a:ext cx="8412480" cy="1221377"/>
          </a:xfrm>
          <a:prstGeom prst="rect">
            <a:avLst/>
          </a:prstGeom>
          <a:noFill/>
          <a:ln/>
        </p:spPr>
        <p:txBody>
          <a:bodyPr wrap="square" lIns="0" tIns="0" rIns="0" bIns="0" rtlCol="0" anchor="t"/>
          <a:lstStyle/>
          <a:p>
            <a:pPr marL="0" indent="0" algn="l">
              <a:buNone/>
            </a:pPr>
            <a:r>
              <a:rPr lang="en-US" sz="2000" b="1" i="1" dirty="0">
                <a:solidFill>
                  <a:srgbClr val="000000"/>
                </a:solidFill>
                <a:latin typeface="Arial" pitchFamily="34" charset="0"/>
                <a:ea typeface="Arial" pitchFamily="34" charset="-122"/>
                <a:cs typeface="Arial" pitchFamily="34" charset="-120"/>
              </a:rPr>
              <a:t>“present your bodies as a sacrifice → alive, holy, and pleasing to God → which is your reasonable service.” </a:t>
            </a:r>
            <a:r>
              <a:rPr lang="en-US" sz="2000" b="1" dirty="0">
                <a:solidFill>
                  <a:srgbClr val="000000"/>
                </a:solidFill>
                <a:latin typeface="Arial" pitchFamily="34" charset="0"/>
                <a:ea typeface="Arial" pitchFamily="34" charset="-122"/>
                <a:cs typeface="Arial" pitchFamily="34" charset="-120"/>
              </a:rPr>
              <a:t>(Romans 12:1)</a:t>
            </a:r>
            <a:endParaRPr lang="en-US" sz="2400" dirty="0"/>
          </a:p>
          <a:p>
            <a:pPr marL="0" indent="0" algn="l">
              <a:buNone/>
            </a:pPr>
            <a:r>
              <a:rPr lang="en-US" dirty="0">
                <a:solidFill>
                  <a:srgbClr val="000000"/>
                </a:solidFill>
                <a:latin typeface="Arial" pitchFamily="34" charset="0"/>
                <a:ea typeface="Arial" pitchFamily="34" charset="-122"/>
                <a:cs typeface="Arial" pitchFamily="34" charset="-120"/>
              </a:rPr>
              <a:t>The symbol has given way to the reality it always pointed toward: a whole life laid down, and kept alive to keep laying down.</a:t>
            </a:r>
            <a:endParaRPr lang="en-US" sz="2400" dirty="0"/>
          </a:p>
        </p:txBody>
      </p:sp>
      <p:sp>
        <p:nvSpPr>
          <p:cNvPr id="7" name="b3"/>
          <p:cNvSpPr txBox="1"/>
          <p:nvPr/>
        </p:nvSpPr>
        <p:spPr>
          <a:xfrm>
            <a:off x="365760" y="4991820"/>
            <a:ext cx="8412480" cy="1756452"/>
          </a:xfrm>
          <a:prstGeom prst="rect">
            <a:avLst/>
          </a:prstGeom>
          <a:noFill/>
          <a:ln/>
        </p:spPr>
        <p:txBody>
          <a:bodyPr wrap="square" lIns="0" tIns="0" rIns="0" bIns="0" rtlCol="0" anchor="t"/>
          <a:lstStyle/>
          <a:p>
            <a:pPr marL="0" indent="0" algn="l">
              <a:buNone/>
            </a:pPr>
            <a:r>
              <a:rPr lang="en-US" sz="2000" b="1" dirty="0">
                <a:solidFill>
                  <a:srgbClr val="1F497D"/>
                </a:solidFill>
                <a:latin typeface="Arial" pitchFamily="34" charset="0"/>
                <a:ea typeface="Arial" pitchFamily="34" charset="-122"/>
                <a:cs typeface="Arial" pitchFamily="34" charset="-120"/>
              </a:rPr>
              <a:t>The New Covenant sacrifices, named plainly:
</a:t>
            </a:r>
            <a:r>
              <a:rPr lang="en-US" dirty="0">
                <a:solidFill>
                  <a:srgbClr val="000000"/>
                </a:solidFill>
                <a:latin typeface="Arial" pitchFamily="34" charset="0"/>
                <a:ea typeface="Arial" pitchFamily="34" charset="-122"/>
                <a:cs typeface="Arial" pitchFamily="34" charset="-120"/>
              </a:rPr>
              <a:t>▪  Praise → </a:t>
            </a:r>
            <a:r>
              <a:rPr lang="en-US" i="1" dirty="0">
                <a:solidFill>
                  <a:srgbClr val="000000"/>
                </a:solidFill>
                <a:latin typeface="Arial" pitchFamily="34" charset="0"/>
                <a:ea typeface="Arial" pitchFamily="34" charset="-122"/>
                <a:cs typeface="Arial" pitchFamily="34" charset="-120"/>
              </a:rPr>
              <a:t>“a sacrifice of praise… the fruit of lips that confess his name” </a:t>
            </a:r>
            <a:r>
              <a:rPr lang="en-US" dirty="0">
                <a:solidFill>
                  <a:srgbClr val="000000"/>
                </a:solidFill>
                <a:latin typeface="Arial" pitchFamily="34" charset="0"/>
                <a:ea typeface="Arial" pitchFamily="34" charset="-122"/>
                <a:cs typeface="Arial" pitchFamily="34" charset="-120"/>
              </a:rPr>
              <a:t>(Heb 13:15)
▪  Good done &amp; possessions shared → </a:t>
            </a:r>
            <a:r>
              <a:rPr lang="en-US" i="1" dirty="0">
                <a:solidFill>
                  <a:srgbClr val="000000"/>
                </a:solidFill>
                <a:latin typeface="Arial" pitchFamily="34" charset="0"/>
                <a:ea typeface="Arial" pitchFamily="34" charset="-122"/>
                <a:cs typeface="Arial" pitchFamily="34" charset="-120"/>
              </a:rPr>
              <a:t>“with such sacrifices God is pleased” </a:t>
            </a:r>
            <a:r>
              <a:rPr lang="en-US" dirty="0">
                <a:solidFill>
                  <a:srgbClr val="000000"/>
                </a:solidFill>
                <a:latin typeface="Arial" pitchFamily="34" charset="0"/>
                <a:ea typeface="Arial" pitchFamily="34" charset="-122"/>
                <a:cs typeface="Arial" pitchFamily="34" charset="-120"/>
              </a:rPr>
              <a:t>(Heb 13:16)
▪  Your very self → “a holy priesthood, to offer spiritual sacrifices” (1 Pet 2:5)</a:t>
            </a:r>
            <a:endParaRPr lang="en-US" sz="2400" dirty="0"/>
          </a:p>
        </p:txBody>
      </p:sp>
      <p:pic>
        <p:nvPicPr>
          <p:cNvPr id="8" name="d3i" descr="material.png">
            <a:extLst>
              <a:ext uri="{FF2B5EF4-FFF2-40B4-BE49-F238E27FC236}">
                <a16:creationId xmlns:a16="http://schemas.microsoft.com/office/drawing/2014/main" id="{018160EB-69B5-CEDF-3B3C-EB6AAF1FE112}"/>
              </a:ext>
            </a:extLst>
          </p:cNvPr>
          <p:cNvPicPr>
            <a:picLocks noChangeAspect="1"/>
          </p:cNvPicPr>
          <p:nvPr/>
        </p:nvPicPr>
        <p:blipFill>
          <a:blip r:embed="rId3"/>
          <a:stretch>
            <a:fillRect/>
          </a:stretch>
        </p:blipFill>
        <p:spPr>
          <a:xfrm>
            <a:off x="1920240" y="626917"/>
            <a:ext cx="5303520" cy="181965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1000"/>
                                        <p:tgtEl>
                                          <p:spTgt spid="7"/>
                                        </p:tgtEl>
                                      </p:cBhvr>
                                    </p:animEffect>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HeadTitle"/>
          <p:cNvSpPr txBox="1"/>
          <p:nvPr/>
        </p:nvSpPr>
        <p:spPr>
          <a:xfrm>
            <a:off x="228600" y="109728"/>
            <a:ext cx="8686800" cy="502920"/>
          </a:xfrm>
          <a:prstGeom prst="rect">
            <a:avLst/>
          </a:prstGeom>
          <a:noFill/>
          <a:ln/>
        </p:spPr>
        <p:txBody>
          <a:bodyPr wrap="square" lIns="0" tIns="0" rIns="0" bIns="0" rtlCol="0" anchor="t"/>
          <a:lstStyle/>
          <a:p>
            <a:pPr marL="0" indent="0" algn="l">
              <a:buNone/>
            </a:pPr>
            <a:r>
              <a:rPr lang="en-US" sz="2600" b="1" dirty="0">
                <a:solidFill>
                  <a:srgbClr val="1F497D"/>
                </a:solidFill>
                <a:latin typeface="Arial" pitchFamily="34" charset="0"/>
                <a:ea typeface="Arial" pitchFamily="34" charset="-122"/>
                <a:cs typeface="Arial" pitchFamily="34" charset="-120"/>
              </a:rPr>
              <a:t>You Are the Priest</a:t>
            </a:r>
            <a:endParaRPr lang="en-US" sz="1600" dirty="0"/>
          </a:p>
        </p:txBody>
      </p:sp>
      <p:sp>
        <p:nvSpPr>
          <p:cNvPr id="3" name="HeadSub"/>
          <p:cNvSpPr txBox="1"/>
          <p:nvPr/>
        </p:nvSpPr>
        <p:spPr>
          <a:xfrm>
            <a:off x="228600" y="566928"/>
            <a:ext cx="8686800" cy="320040"/>
          </a:xfrm>
          <a:prstGeom prst="rect">
            <a:avLst/>
          </a:prstGeom>
          <a:noFill/>
          <a:ln/>
        </p:spPr>
        <p:txBody>
          <a:bodyPr wrap="square" lIns="0" tIns="0" rIns="0" bIns="0" rtlCol="0" anchor="t"/>
          <a:lstStyle/>
          <a:p>
            <a:pPr marL="0" indent="0" algn="l">
              <a:buNone/>
            </a:pPr>
            <a:r>
              <a:rPr lang="en-US" sz="2000" b="1" dirty="0">
                <a:solidFill>
                  <a:srgbClr val="4F81BD"/>
                </a:solidFill>
                <a:latin typeface="Arial" pitchFamily="34" charset="0"/>
                <a:ea typeface="Arial" pitchFamily="34" charset="-122"/>
                <a:cs typeface="Arial" pitchFamily="34" charset="-120"/>
              </a:rPr>
              <a:t>Malachi’s question arrives with no middleman</a:t>
            </a:r>
            <a:endParaRPr lang="en-US" sz="2800" dirty="0"/>
          </a:p>
        </p:txBody>
      </p:sp>
      <p:sp>
        <p:nvSpPr>
          <p:cNvPr id="4" name="c1"/>
          <p:cNvSpPr txBox="1"/>
          <p:nvPr/>
        </p:nvSpPr>
        <p:spPr>
          <a:xfrm>
            <a:off x="365760" y="1143000"/>
            <a:ext cx="8412480" cy="681229"/>
          </a:xfrm>
          <a:prstGeom prst="rect">
            <a:avLst/>
          </a:prstGeom>
          <a:noFill/>
          <a:ln/>
        </p:spPr>
        <p:txBody>
          <a:bodyPr wrap="square" lIns="0" tIns="0" rIns="0" bIns="0" rtlCol="0" anchor="t"/>
          <a:lstStyle/>
          <a:p>
            <a:pPr marL="0" indent="0" algn="l">
              <a:buNone/>
            </a:pPr>
            <a:r>
              <a:rPr lang="en-US" b="1" i="1" dirty="0">
                <a:solidFill>
                  <a:srgbClr val="000000"/>
                </a:solidFill>
                <a:latin typeface="Arial" pitchFamily="34" charset="0"/>
                <a:ea typeface="Arial" pitchFamily="34" charset="-122"/>
                <a:cs typeface="Arial" pitchFamily="34" charset="-120"/>
              </a:rPr>
              <a:t>“you are… a royal priesthood… a holy priesthood, to offer spiritual sacrifices acceptable to God through Jesus Christ.” </a:t>
            </a:r>
            <a:r>
              <a:rPr lang="en-US" b="1" dirty="0">
                <a:solidFill>
                  <a:srgbClr val="000000"/>
                </a:solidFill>
                <a:latin typeface="Arial" pitchFamily="34" charset="0"/>
                <a:ea typeface="Arial" pitchFamily="34" charset="-122"/>
                <a:cs typeface="Arial" pitchFamily="34" charset="-120"/>
              </a:rPr>
              <a:t>(1 Pet 2:5, 9)</a:t>
            </a:r>
            <a:endParaRPr lang="en-US" sz="2000" dirty="0"/>
          </a:p>
        </p:txBody>
      </p:sp>
      <p:sp>
        <p:nvSpPr>
          <p:cNvPr id="5" name="c2"/>
          <p:cNvSpPr txBox="1"/>
          <p:nvPr/>
        </p:nvSpPr>
        <p:spPr>
          <a:xfrm>
            <a:off x="365760" y="2048256"/>
            <a:ext cx="8412480" cy="914400"/>
          </a:xfrm>
          <a:prstGeom prst="rect">
            <a:avLst/>
          </a:prstGeom>
          <a:noFill/>
          <a:ln/>
        </p:spPr>
        <p:txBody>
          <a:bodyPr wrap="square" lIns="0" tIns="0" rIns="0" bIns="0" rtlCol="0" anchor="t"/>
          <a:lstStyle/>
          <a:p>
            <a:pPr marL="0" indent="0" algn="l">
              <a:buNone/>
            </a:pPr>
            <a:r>
              <a:rPr lang="en-US" b="1" dirty="0">
                <a:solidFill>
                  <a:srgbClr val="1F497D"/>
                </a:solidFill>
                <a:latin typeface="Arial" pitchFamily="34" charset="0"/>
                <a:ea typeface="Arial" pitchFamily="34" charset="-122"/>
                <a:cs typeface="Arial" pitchFamily="34" charset="-120"/>
              </a:rPr>
              <a:t>Feel the weight of that. </a:t>
            </a:r>
            <a:r>
              <a:rPr lang="en-US" dirty="0">
                <a:solidFill>
                  <a:srgbClr val="000000"/>
                </a:solidFill>
                <a:latin typeface="Arial" pitchFamily="34" charset="0"/>
                <a:ea typeface="Arial" pitchFamily="34" charset="-122"/>
                <a:cs typeface="Arial" pitchFamily="34" charset="-120"/>
              </a:rPr>
              <a:t>Malachi was written to priests → about the quality of what they brought. Peter just made you the priest. So Malachi’s rebuke now arrives at your door with no one standing in between.</a:t>
            </a:r>
            <a:endParaRPr lang="en-US" sz="2000" dirty="0"/>
          </a:p>
        </p:txBody>
      </p:sp>
      <p:sp>
        <p:nvSpPr>
          <p:cNvPr id="6" name="c3"/>
          <p:cNvSpPr txBox="1"/>
          <p:nvPr/>
        </p:nvSpPr>
        <p:spPr>
          <a:xfrm>
            <a:off x="365760" y="3186683"/>
            <a:ext cx="8412480" cy="1417320"/>
          </a:xfrm>
          <a:prstGeom prst="rect">
            <a:avLst/>
          </a:prstGeom>
          <a:noFill/>
          <a:ln/>
        </p:spPr>
        <p:txBody>
          <a:bodyPr wrap="square" lIns="0" tIns="0" rIns="0" bIns="0" rtlCol="0" anchor="t"/>
          <a:lstStyle/>
          <a:p>
            <a:pPr marL="0" indent="0" algn="l">
              <a:buNone/>
            </a:pPr>
            <a:r>
              <a:rPr lang="en-US" b="1" i="1" dirty="0">
                <a:solidFill>
                  <a:srgbClr val="000000"/>
                </a:solidFill>
                <a:latin typeface="Arial" pitchFamily="34" charset="0"/>
                <a:ea typeface="Arial" pitchFamily="34" charset="-122"/>
                <a:cs typeface="Arial" pitchFamily="34" charset="-120"/>
              </a:rPr>
              <a:t>“When you present blind animals for sacrifice, is that not wrong? … Try presenting them to your governor! Would he be pleased with you?” </a:t>
            </a:r>
            <a:r>
              <a:rPr lang="en-US" b="1" dirty="0">
                <a:solidFill>
                  <a:srgbClr val="000000"/>
                </a:solidFill>
                <a:latin typeface="Arial" pitchFamily="34" charset="0"/>
                <a:ea typeface="Arial" pitchFamily="34" charset="-122"/>
                <a:cs typeface="Arial" pitchFamily="34" charset="-120"/>
              </a:rPr>
              <a:t>(Malachi 1:8)</a:t>
            </a:r>
            <a:endParaRPr lang="en-US" sz="2000" dirty="0"/>
          </a:p>
          <a:p>
            <a:pPr marL="0" indent="0" algn="l">
              <a:buNone/>
            </a:pPr>
            <a:r>
              <a:rPr lang="en-US" sz="1600" dirty="0">
                <a:solidFill>
                  <a:srgbClr val="000000"/>
                </a:solidFill>
                <a:latin typeface="Arial" pitchFamily="34" charset="0"/>
                <a:ea typeface="Arial" pitchFamily="34" charset="-122"/>
                <a:cs typeface="Arial" pitchFamily="34" charset="-120"/>
              </a:rPr>
              <a:t>God’s point: you would not hand your employer, your commanding officer, the leftover you hand Me. The blind, the lame, the leftover → offered because it cost you nothing.</a:t>
            </a:r>
            <a:endParaRPr lang="en-US" sz="2000" dirty="0"/>
          </a:p>
        </p:txBody>
      </p:sp>
      <p:sp>
        <p:nvSpPr>
          <p:cNvPr id="7" name="c4"/>
          <p:cNvSpPr txBox="1"/>
          <p:nvPr/>
        </p:nvSpPr>
        <p:spPr>
          <a:xfrm>
            <a:off x="365760" y="4828031"/>
            <a:ext cx="8412480" cy="1703397"/>
          </a:xfrm>
          <a:prstGeom prst="rect">
            <a:avLst/>
          </a:prstGeom>
          <a:noFill/>
          <a:ln/>
        </p:spPr>
        <p:txBody>
          <a:bodyPr wrap="square" lIns="0" tIns="0" rIns="0" bIns="0" rtlCol="0" anchor="t"/>
          <a:lstStyle/>
          <a:p>
            <a:pPr marL="0" indent="0" algn="l">
              <a:buNone/>
            </a:pPr>
            <a:r>
              <a:rPr lang="en-US" b="1" dirty="0">
                <a:solidFill>
                  <a:srgbClr val="1F497D"/>
                </a:solidFill>
                <a:latin typeface="Arial" pitchFamily="34" charset="0"/>
                <a:ea typeface="Arial" pitchFamily="34" charset="-122"/>
                <a:cs typeface="Arial" pitchFamily="34" charset="-120"/>
              </a:rPr>
              <a:t>And the standard crossed every covenant untouched → the best, the whole, the unblemished:
</a:t>
            </a:r>
            <a:r>
              <a:rPr lang="en-US" sz="2000" b="1" i="1" dirty="0">
                <a:solidFill>
                  <a:srgbClr val="000000"/>
                </a:solidFill>
                <a:latin typeface="Arial" pitchFamily="34" charset="0"/>
                <a:ea typeface="Arial" pitchFamily="34" charset="-122"/>
                <a:cs typeface="Arial" pitchFamily="34" charset="-120"/>
              </a:rPr>
              <a:t>“I will not offer to the LORD my God burnt sacrifices that cost me nothing.” </a:t>
            </a:r>
            <a:r>
              <a:rPr lang="en-US" b="1" dirty="0">
                <a:solidFill>
                  <a:srgbClr val="000000"/>
                </a:solidFill>
                <a:latin typeface="Arial" pitchFamily="34" charset="0"/>
                <a:ea typeface="Arial" pitchFamily="34" charset="-122"/>
                <a:cs typeface="Arial" pitchFamily="34" charset="-120"/>
              </a:rPr>
              <a:t>(2 Samuel 24:24)</a:t>
            </a:r>
            <a:endParaRPr lang="en-US" sz="2000" dirty="0"/>
          </a:p>
          <a:p>
            <a:pPr marL="0" indent="0" algn="l">
              <a:buNone/>
            </a:pPr>
            <a:r>
              <a:rPr lang="en-US" sz="1600" dirty="0">
                <a:solidFill>
                  <a:srgbClr val="000000"/>
                </a:solidFill>
                <a:latin typeface="Arial" pitchFamily="34" charset="0"/>
                <a:ea typeface="Arial" pitchFamily="34" charset="-122"/>
                <a:cs typeface="Arial" pitchFamily="34" charset="-120"/>
              </a:rPr>
              <a:t>David’s twelve words are the whole doctrine of cost. A sacrifice that costs nothing sacrifices nothing.</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1000"/>
                                        <p:tgtEl>
                                          <p:spTgt spid="7"/>
                                        </p:tgtEl>
                                      </p:cBhvr>
                                    </p:animEffect>
                                    <p:anim calcmode="lin" valueType="num">
                                      <p:cBhvr>
                                        <p:cTn id="2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HeadTitle"/>
          <p:cNvSpPr txBox="1"/>
          <p:nvPr/>
        </p:nvSpPr>
        <p:spPr>
          <a:xfrm>
            <a:off x="228600" y="109728"/>
            <a:ext cx="8686800" cy="502920"/>
          </a:xfrm>
          <a:prstGeom prst="rect">
            <a:avLst/>
          </a:prstGeom>
          <a:noFill/>
          <a:ln/>
        </p:spPr>
        <p:txBody>
          <a:bodyPr wrap="square" lIns="0" tIns="0" rIns="0" bIns="0" rtlCol="0" anchor="t"/>
          <a:lstStyle/>
          <a:p>
            <a:pPr marL="0" indent="0" algn="l">
              <a:buNone/>
            </a:pPr>
            <a:r>
              <a:rPr lang="en-US" sz="2600" b="1" dirty="0">
                <a:solidFill>
                  <a:srgbClr val="1F497D"/>
                </a:solidFill>
                <a:latin typeface="Arial" pitchFamily="34" charset="0"/>
                <a:ea typeface="Arial" pitchFamily="34" charset="-122"/>
                <a:cs typeface="Arial" pitchFamily="34" charset="-120"/>
              </a:rPr>
              <a:t>Body AND Mind</a:t>
            </a:r>
            <a:endParaRPr lang="en-US" sz="1600" dirty="0"/>
          </a:p>
        </p:txBody>
      </p:sp>
      <p:sp>
        <p:nvSpPr>
          <p:cNvPr id="3" name="HeadSub"/>
          <p:cNvSpPr txBox="1"/>
          <p:nvPr/>
        </p:nvSpPr>
        <p:spPr>
          <a:xfrm>
            <a:off x="228600" y="566928"/>
            <a:ext cx="8686800" cy="320040"/>
          </a:xfrm>
          <a:prstGeom prst="rect">
            <a:avLst/>
          </a:prstGeom>
          <a:noFill/>
          <a:ln/>
        </p:spPr>
        <p:txBody>
          <a:bodyPr wrap="square" lIns="0" tIns="0" rIns="0" bIns="0" rtlCol="0" anchor="t"/>
          <a:lstStyle/>
          <a:p>
            <a:pPr marL="0" indent="0" algn="l">
              <a:buNone/>
            </a:pPr>
            <a:r>
              <a:rPr lang="en-US" sz="2000" b="1" dirty="0">
                <a:solidFill>
                  <a:srgbClr val="4F81BD"/>
                </a:solidFill>
                <a:latin typeface="Arial" pitchFamily="34" charset="0"/>
                <a:ea typeface="Arial" pitchFamily="34" charset="-122"/>
                <a:cs typeface="Arial" pitchFamily="34" charset="-120"/>
              </a:rPr>
              <a:t>Romans 12:1–2 is Hebrews 5:14 → one paragraph</a:t>
            </a:r>
            <a:endParaRPr lang="en-US" sz="2800" dirty="0"/>
          </a:p>
        </p:txBody>
      </p:sp>
      <p:sp>
        <p:nvSpPr>
          <p:cNvPr id="4" name="d1"/>
          <p:cNvSpPr txBox="1"/>
          <p:nvPr/>
        </p:nvSpPr>
        <p:spPr>
          <a:xfrm>
            <a:off x="365760" y="1143000"/>
            <a:ext cx="8412480" cy="1168121"/>
          </a:xfrm>
          <a:prstGeom prst="rect">
            <a:avLst/>
          </a:prstGeom>
          <a:noFill/>
          <a:ln/>
        </p:spPr>
        <p:txBody>
          <a:bodyPr wrap="square" lIns="0" tIns="0" rIns="0" bIns="0" rtlCol="0" anchor="t"/>
          <a:lstStyle/>
          <a:p>
            <a:pPr marL="0" indent="0" algn="l">
              <a:buNone/>
            </a:pPr>
            <a:r>
              <a:rPr lang="en-US" b="1" i="1" dirty="0">
                <a:solidFill>
                  <a:srgbClr val="000000"/>
                </a:solidFill>
                <a:latin typeface="Arial" pitchFamily="34" charset="0"/>
                <a:ea typeface="Arial" pitchFamily="34" charset="-122"/>
                <a:cs typeface="Arial" pitchFamily="34" charset="-120"/>
              </a:rPr>
              <a:t>“present your bodies as a sacrifice… (2) Do not be conformed to this present world, but be transformed by the renewing of your mind, so that you may test and approve what is the will of God → what is good and well-pleasing and perfect.” </a:t>
            </a:r>
            <a:r>
              <a:rPr lang="en-US" b="1" dirty="0">
                <a:solidFill>
                  <a:srgbClr val="000000"/>
                </a:solidFill>
                <a:latin typeface="Arial" pitchFamily="34" charset="0"/>
                <a:ea typeface="Arial" pitchFamily="34" charset="-122"/>
                <a:cs typeface="Arial" pitchFamily="34" charset="-120"/>
              </a:rPr>
              <a:t>(Romans 12:1–2)</a:t>
            </a:r>
            <a:endParaRPr lang="en-US" sz="2000" dirty="0"/>
          </a:p>
        </p:txBody>
      </p:sp>
      <p:sp>
        <p:nvSpPr>
          <p:cNvPr id="5" name="d2"/>
          <p:cNvSpPr txBox="1"/>
          <p:nvPr/>
        </p:nvSpPr>
        <p:spPr>
          <a:xfrm>
            <a:off x="365760" y="2515940"/>
            <a:ext cx="8412480" cy="640582"/>
          </a:xfrm>
          <a:prstGeom prst="rect">
            <a:avLst/>
          </a:prstGeom>
          <a:noFill/>
          <a:ln/>
        </p:spPr>
        <p:txBody>
          <a:bodyPr wrap="square" lIns="0" tIns="0" rIns="0" bIns="0" rtlCol="0" anchor="t"/>
          <a:lstStyle/>
          <a:p>
            <a:pPr marL="0" indent="0" algn="l">
              <a:buNone/>
            </a:pPr>
            <a:r>
              <a:rPr lang="en-US" b="1" dirty="0">
                <a:solidFill>
                  <a:srgbClr val="1F497D"/>
                </a:solidFill>
                <a:latin typeface="Arial" pitchFamily="34" charset="0"/>
                <a:ea typeface="Arial" pitchFamily="34" charset="-122"/>
                <a:cs typeface="Arial" pitchFamily="34" charset="-120"/>
              </a:rPr>
              <a:t>Verse 1 puts the body on the altar. Verse 2 puts the mind. </a:t>
            </a:r>
            <a:r>
              <a:rPr lang="en-US" dirty="0">
                <a:solidFill>
                  <a:srgbClr val="000000"/>
                </a:solidFill>
                <a:latin typeface="Arial" pitchFamily="34" charset="0"/>
                <a:ea typeface="Arial" pitchFamily="34" charset="-122"/>
                <a:cs typeface="Arial" pitchFamily="34" charset="-120"/>
              </a:rPr>
              <a:t>And look WHY the mind is renewed: “so that you may test and approve… what is good.”</a:t>
            </a:r>
            <a:endParaRPr lang="en-US" sz="2000" dirty="0"/>
          </a:p>
        </p:txBody>
      </p:sp>
      <p:sp>
        <p:nvSpPr>
          <p:cNvPr id="6" name="d3"/>
          <p:cNvSpPr txBox="1"/>
          <p:nvPr/>
        </p:nvSpPr>
        <p:spPr>
          <a:xfrm>
            <a:off x="365760" y="3361341"/>
            <a:ext cx="8412480" cy="1143000"/>
          </a:xfrm>
          <a:prstGeom prst="rect">
            <a:avLst/>
          </a:prstGeom>
          <a:noFill/>
          <a:ln/>
        </p:spPr>
        <p:txBody>
          <a:bodyPr wrap="square" lIns="0" tIns="0" rIns="0" bIns="0" rtlCol="0" anchor="t"/>
          <a:lstStyle/>
          <a:p>
            <a:pPr marL="0" indent="0" algn="l">
              <a:buNone/>
            </a:pPr>
            <a:r>
              <a:rPr lang="en-US" b="1" dirty="0">
                <a:solidFill>
                  <a:srgbClr val="1F497D"/>
                </a:solidFill>
                <a:latin typeface="Arial" pitchFamily="34" charset="0"/>
                <a:ea typeface="Arial" pitchFamily="34" charset="-122"/>
                <a:cs typeface="Arial" pitchFamily="34" charset="-120"/>
              </a:rPr>
              <a:t>That is Hebrews 5:14 in Paul’s handwriting. </a:t>
            </a:r>
            <a:r>
              <a:rPr lang="en-US" dirty="0">
                <a:solidFill>
                  <a:srgbClr val="000000"/>
                </a:solidFill>
                <a:latin typeface="Arial" pitchFamily="34" charset="0"/>
                <a:ea typeface="Arial" pitchFamily="34" charset="-122"/>
                <a:cs typeface="Arial" pitchFamily="34" charset="-120"/>
              </a:rPr>
              <a:t>The renewed mind exists to discern the Good → the exact faculty the whole course has been training (Week 5). The living sacrifice and trained discernment are not two subjects. They are verses one and two of the same paragraph.</a:t>
            </a:r>
            <a:endParaRPr lang="en-US" sz="2000" dirty="0"/>
          </a:p>
        </p:txBody>
      </p:sp>
      <p:sp>
        <p:nvSpPr>
          <p:cNvPr id="7" name="d4"/>
          <p:cNvSpPr txBox="1"/>
          <p:nvPr/>
        </p:nvSpPr>
        <p:spPr>
          <a:xfrm>
            <a:off x="365760" y="4709160"/>
            <a:ext cx="8412480" cy="897820"/>
          </a:xfrm>
          <a:prstGeom prst="rect">
            <a:avLst/>
          </a:prstGeom>
          <a:noFill/>
          <a:ln/>
        </p:spPr>
        <p:txBody>
          <a:bodyPr wrap="square" lIns="0" tIns="0" rIns="0" bIns="0" rtlCol="0" anchor="t"/>
          <a:lstStyle/>
          <a:p>
            <a:pPr marL="0" indent="0" algn="l">
              <a:buNone/>
            </a:pPr>
            <a:r>
              <a:rPr lang="en-US" b="1" dirty="0">
                <a:solidFill>
                  <a:srgbClr val="1F497D"/>
                </a:solidFill>
                <a:latin typeface="Arial" pitchFamily="34" charset="0"/>
                <a:ea typeface="Arial" pitchFamily="34" charset="-122"/>
                <a:cs typeface="Arial" pitchFamily="34" charset="-120"/>
              </a:rPr>
              <a:t>So daily renewal in the Word is not preparation for your sacrifice. </a:t>
            </a:r>
            <a:r>
              <a:rPr lang="en-US" dirty="0">
                <a:solidFill>
                  <a:srgbClr val="000000"/>
                </a:solidFill>
                <a:latin typeface="Arial" pitchFamily="34" charset="0"/>
                <a:ea typeface="Arial" pitchFamily="34" charset="-122"/>
                <a:cs typeface="Arial" pitchFamily="34" charset="-120"/>
              </a:rPr>
              <a:t>It IS your sacrifice → the daily portion of it. The mind laid on the altar every morning is the offering, not the warm-up.</a:t>
            </a:r>
            <a:endParaRPr lang="en-US" sz="2000" dirty="0"/>
          </a:p>
        </p:txBody>
      </p:sp>
      <p:sp>
        <p:nvSpPr>
          <p:cNvPr id="8" name="ma"/>
          <p:cNvSpPr/>
          <p:nvPr/>
        </p:nvSpPr>
        <p:spPr>
          <a:xfrm>
            <a:off x="1005840" y="5760720"/>
            <a:ext cx="7132320" cy="685800"/>
          </a:xfrm>
          <a:prstGeom prst="roundRect">
            <a:avLst>
              <a:gd name="adj" fmla="val 10667"/>
            </a:avLst>
          </a:prstGeom>
          <a:solidFill>
            <a:srgbClr val="1F497D"/>
          </a:solidFill>
          <a:ln/>
        </p:spPr>
        <p:txBody>
          <a:bodyPr/>
          <a:lstStyle/>
          <a:p>
            <a:endParaRPr lang="en-US"/>
          </a:p>
        </p:txBody>
      </p:sp>
      <p:sp>
        <p:nvSpPr>
          <p:cNvPr id="9" name="mat"/>
          <p:cNvSpPr txBox="1"/>
          <p:nvPr/>
        </p:nvSpPr>
        <p:spPr>
          <a:xfrm>
            <a:off x="1005840" y="5760720"/>
            <a:ext cx="7132320" cy="6858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Mercy first, altar second </a:t>
            </a:r>
            <a:r>
              <a:rPr lang="en-US" sz="1800" b="1">
                <a:solidFill>
                  <a:srgbClr val="FFFFFF"/>
                </a:solidFill>
                <a:latin typeface="Arial" pitchFamily="34" charset="0"/>
                <a:ea typeface="Arial" pitchFamily="34" charset="-122"/>
                <a:cs typeface="Arial" pitchFamily="34" charset="-120"/>
              </a:rPr>
              <a:t>→</a:t>
            </a:r>
            <a:r>
              <a:rPr lang="en-US" sz="1800" b="1" dirty="0">
                <a:solidFill>
                  <a:srgbClr val="FFFFFF"/>
                </a:solidFill>
                <a:latin typeface="Arial" pitchFamily="34" charset="0"/>
                <a:ea typeface="Arial" pitchFamily="34" charset="-122"/>
                <a:cs typeface="Arial" pitchFamily="34" charset="-120"/>
              </a:rPr>
              <a:t> a thank offering, not a payment.</a:t>
            </a:r>
            <a:endParaRPr 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1000"/>
                                        <p:tgtEl>
                                          <p:spTgt spid="7"/>
                                        </p:tgtEl>
                                      </p:cBhvr>
                                    </p:animEffect>
                                    <p:anim calcmode="lin" valueType="num">
                                      <p:cBhvr>
                                        <p:cTn id="2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1000"/>
                                        <p:tgtEl>
                                          <p:spTgt spid="8"/>
                                        </p:tgtEl>
                                      </p:cBhvr>
                                    </p:animEffect>
                                    <p:anim calcmode="lin" valueType="num">
                                      <p:cBhvr>
                                        <p:cTn id="32" dur="1000" fill="hold"/>
                                        <p:tgtEl>
                                          <p:spTgt spid="8"/>
                                        </p:tgtEl>
                                        <p:attrNameLst>
                                          <p:attrName>ppt_y</p:attrName>
                                        </p:attrNameLst>
                                      </p:cBhvr>
                                      <p:tavLst>
                                        <p:tav tm="0">
                                          <p:val>
                                            <p:strVal val="#ppt_y+.1"/>
                                          </p:val>
                                        </p:tav>
                                        <p:tav tm="100000">
                                          <p:val>
                                            <p:strVal val="#ppt_y"/>
                                          </p:val>
                                        </p:tav>
                                      </p:tavLst>
                                    </p:anim>
                                  </p:childTnLst>
                                </p:cTn>
                              </p:par>
                              <p:par>
                                <p:cTn id="33" presetID="42" presetClass="entr" presetSubtype="0" fill="hold" nodeType="with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1000"/>
                                        <p:tgtEl>
                                          <p:spTgt spid="9"/>
                                        </p:tgtEl>
                                      </p:cBhvr>
                                    </p:animEffect>
                                    <p:anim calcmode="lin" valueType="num">
                                      <p:cBhvr>
                                        <p:cTn id="3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HeadTitle"/>
          <p:cNvSpPr txBox="1"/>
          <p:nvPr/>
        </p:nvSpPr>
        <p:spPr>
          <a:xfrm>
            <a:off x="228600" y="109728"/>
            <a:ext cx="8686800" cy="502920"/>
          </a:xfrm>
          <a:prstGeom prst="rect">
            <a:avLst/>
          </a:prstGeom>
          <a:noFill/>
          <a:ln/>
        </p:spPr>
        <p:txBody>
          <a:bodyPr wrap="square" lIns="0" tIns="0" rIns="0" bIns="0" rtlCol="0" anchor="t"/>
          <a:lstStyle/>
          <a:p>
            <a:pPr marL="0" indent="0" algn="l">
              <a:buNone/>
            </a:pPr>
            <a:r>
              <a:rPr lang="en-US" sz="2600" b="1" dirty="0">
                <a:solidFill>
                  <a:srgbClr val="1F497D"/>
                </a:solidFill>
                <a:latin typeface="Arial" pitchFamily="34" charset="0"/>
                <a:ea typeface="Arial" pitchFamily="34" charset="-122"/>
                <a:cs typeface="Arial" pitchFamily="34" charset="-120"/>
              </a:rPr>
              <a:t>Discussion</a:t>
            </a:r>
            <a:endParaRPr lang="en-US" sz="1600" dirty="0"/>
          </a:p>
        </p:txBody>
      </p:sp>
      <p:sp>
        <p:nvSpPr>
          <p:cNvPr id="3" name="HeadSub"/>
          <p:cNvSpPr txBox="1"/>
          <p:nvPr/>
        </p:nvSpPr>
        <p:spPr>
          <a:xfrm>
            <a:off x="228600" y="566928"/>
            <a:ext cx="8686800" cy="320040"/>
          </a:xfrm>
          <a:prstGeom prst="rect">
            <a:avLst/>
          </a:prstGeom>
          <a:noFill/>
          <a:ln/>
        </p:spPr>
        <p:txBody>
          <a:bodyPr wrap="square" lIns="0" tIns="0" rIns="0" bIns="0" rtlCol="0" anchor="t"/>
          <a:lstStyle/>
          <a:p>
            <a:pPr marL="0" indent="0" algn="l">
              <a:buNone/>
            </a:pPr>
            <a:r>
              <a:rPr lang="en-US" sz="2000" b="1" dirty="0">
                <a:solidFill>
                  <a:srgbClr val="4F81BD"/>
                </a:solidFill>
                <a:latin typeface="Arial" pitchFamily="34" charset="0"/>
                <a:ea typeface="Arial" pitchFamily="34" charset="-122"/>
                <a:cs typeface="Arial" pitchFamily="34" charset="-120"/>
              </a:rPr>
              <a:t>Ten minutes → this is the week’s practice</a:t>
            </a:r>
            <a:endParaRPr lang="en-US" sz="2800" dirty="0"/>
          </a:p>
        </p:txBody>
      </p:sp>
      <p:sp>
        <p:nvSpPr>
          <p:cNvPr id="4" name="x1"/>
          <p:cNvSpPr txBox="1"/>
          <p:nvPr/>
        </p:nvSpPr>
        <p:spPr>
          <a:xfrm>
            <a:off x="457200" y="1280160"/>
            <a:ext cx="8229600" cy="1508760"/>
          </a:xfrm>
          <a:prstGeom prst="rect">
            <a:avLst/>
          </a:prstGeom>
          <a:noFill/>
          <a:ln/>
        </p:spPr>
        <p:txBody>
          <a:bodyPr wrap="square" lIns="0" tIns="0" rIns="0" bIns="0" rtlCol="0" anchor="t"/>
          <a:lstStyle/>
          <a:p>
            <a:pPr marL="0" indent="0" algn="l">
              <a:buNone/>
            </a:pPr>
            <a:r>
              <a:rPr lang="en-US" sz="2800" b="1" dirty="0">
                <a:solidFill>
                  <a:srgbClr val="1F497D"/>
                </a:solidFill>
                <a:latin typeface="Arial" pitchFamily="34" charset="0"/>
                <a:ea typeface="Arial" pitchFamily="34" charset="-122"/>
                <a:cs typeface="Arial" pitchFamily="34" charset="-120"/>
              </a:rPr>
              <a:t>1.  </a:t>
            </a:r>
            <a:r>
              <a:rPr lang="en-US" sz="2400" dirty="0">
                <a:solidFill>
                  <a:srgbClr val="000000"/>
                </a:solidFill>
                <a:latin typeface="Arial" pitchFamily="34" charset="0"/>
                <a:ea typeface="Arial" pitchFamily="34" charset="-122"/>
                <a:cs typeface="Arial" pitchFamily="34" charset="-120"/>
              </a:rPr>
              <a:t>If your time this week were an animal brought to Malachi’s altar, what condition would it be in → the best of the flock, or the blind and lame?</a:t>
            </a:r>
            <a:endParaRPr lang="en-US" sz="2000" dirty="0"/>
          </a:p>
        </p:txBody>
      </p:sp>
      <p:sp>
        <p:nvSpPr>
          <p:cNvPr id="5" name="x2"/>
          <p:cNvSpPr txBox="1"/>
          <p:nvPr/>
        </p:nvSpPr>
        <p:spPr>
          <a:xfrm>
            <a:off x="457200" y="3063240"/>
            <a:ext cx="8229600" cy="1371600"/>
          </a:xfrm>
          <a:prstGeom prst="rect">
            <a:avLst/>
          </a:prstGeom>
          <a:noFill/>
          <a:ln/>
        </p:spPr>
        <p:txBody>
          <a:bodyPr wrap="square" lIns="0" tIns="0" rIns="0" bIns="0" rtlCol="0" anchor="t"/>
          <a:lstStyle/>
          <a:p>
            <a:pPr marL="0" indent="0" algn="l">
              <a:buNone/>
            </a:pPr>
            <a:r>
              <a:rPr lang="en-US" sz="2800" b="1" dirty="0">
                <a:solidFill>
                  <a:srgbClr val="1F497D"/>
                </a:solidFill>
                <a:latin typeface="Arial" pitchFamily="34" charset="0"/>
                <a:ea typeface="Arial" pitchFamily="34" charset="-122"/>
                <a:cs typeface="Arial" pitchFamily="34" charset="-120"/>
              </a:rPr>
              <a:t>2.  </a:t>
            </a:r>
            <a:r>
              <a:rPr lang="en-US" sz="2400" dirty="0">
                <a:solidFill>
                  <a:srgbClr val="000000"/>
                </a:solidFill>
                <a:latin typeface="Arial" pitchFamily="34" charset="0"/>
                <a:ea typeface="Arial" pitchFamily="34" charset="-122"/>
                <a:cs typeface="Arial" pitchFamily="34" charset="-120"/>
              </a:rPr>
              <a:t>What are the “first minutes” of your day currently given to? What would change if they went on the altar?</a:t>
            </a:r>
            <a:endParaRPr lang="en-US" sz="2000" dirty="0"/>
          </a:p>
        </p:txBody>
      </p:sp>
      <p:sp>
        <p:nvSpPr>
          <p:cNvPr id="6" name="x3"/>
          <p:cNvSpPr txBox="1"/>
          <p:nvPr/>
        </p:nvSpPr>
        <p:spPr>
          <a:xfrm>
            <a:off x="457200" y="4800600"/>
            <a:ext cx="8229600" cy="1097280"/>
          </a:xfrm>
          <a:prstGeom prst="rect">
            <a:avLst/>
          </a:prstGeom>
          <a:noFill/>
          <a:ln/>
        </p:spPr>
        <p:txBody>
          <a:bodyPr wrap="square" lIns="0" tIns="0" rIns="0" bIns="0" rtlCol="0" anchor="t"/>
          <a:lstStyle/>
          <a:p>
            <a:pPr marL="0" indent="0" algn="l">
              <a:buNone/>
            </a:pPr>
            <a:r>
              <a:rPr lang="en-US" sz="2000" i="1" dirty="0">
                <a:solidFill>
                  <a:srgbClr val="000000"/>
                </a:solidFill>
                <a:latin typeface="Arial" pitchFamily="34" charset="0"/>
                <a:ea typeface="Arial" pitchFamily="34" charset="-122"/>
                <a:cs typeface="Arial" pitchFamily="34" charset="-120"/>
              </a:rPr>
              <a:t>This</a:t>
            </a:r>
            <a:r>
              <a:rPr lang="en-US" sz="2000" b="1" dirty="0">
                <a:solidFill>
                  <a:srgbClr val="1F497D"/>
                </a:solidFill>
                <a:latin typeface="Arial" pitchFamily="34" charset="0"/>
                <a:ea typeface="Arial" pitchFamily="34" charset="-122"/>
                <a:cs typeface="Arial" pitchFamily="34" charset="-120"/>
              </a:rPr>
              <a:t> </a:t>
            </a:r>
            <a:r>
              <a:rPr lang="en-US" sz="2000" i="1" dirty="0">
                <a:solidFill>
                  <a:srgbClr val="000000"/>
                </a:solidFill>
                <a:latin typeface="Arial" pitchFamily="34" charset="0"/>
                <a:ea typeface="Arial" pitchFamily="34" charset="-122"/>
                <a:cs typeface="Arial" pitchFamily="34" charset="-120"/>
              </a:rPr>
              <a:t>is a mirror, not a measuring stick → grace already holds you; the question is what you’re bringing in return.</a:t>
            </a: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HeadTitle"/>
          <p:cNvSpPr txBox="1"/>
          <p:nvPr/>
        </p:nvSpPr>
        <p:spPr>
          <a:xfrm>
            <a:off x="228600" y="109728"/>
            <a:ext cx="8686800" cy="502920"/>
          </a:xfrm>
          <a:prstGeom prst="rect">
            <a:avLst/>
          </a:prstGeom>
          <a:noFill/>
          <a:ln/>
        </p:spPr>
        <p:txBody>
          <a:bodyPr wrap="square" lIns="0" tIns="0" rIns="0" bIns="0" rtlCol="0" anchor="t"/>
          <a:lstStyle/>
          <a:p>
            <a:pPr marL="0" indent="0" algn="l">
              <a:buNone/>
            </a:pPr>
            <a:r>
              <a:rPr lang="en-US" sz="2600" b="1" dirty="0">
                <a:solidFill>
                  <a:srgbClr val="1F497D"/>
                </a:solidFill>
                <a:latin typeface="Arial" pitchFamily="34" charset="0"/>
                <a:ea typeface="Arial" pitchFamily="34" charset="-122"/>
                <a:cs typeface="Arial" pitchFamily="34" charset="-120"/>
              </a:rPr>
              <a:t>Read Like a Berean</a:t>
            </a:r>
            <a:endParaRPr lang="en-US" sz="1600" dirty="0"/>
          </a:p>
        </p:txBody>
      </p:sp>
      <p:sp>
        <p:nvSpPr>
          <p:cNvPr id="3" name="HeadSub"/>
          <p:cNvSpPr txBox="1"/>
          <p:nvPr/>
        </p:nvSpPr>
        <p:spPr>
          <a:xfrm>
            <a:off x="228600" y="566928"/>
            <a:ext cx="8686800" cy="320040"/>
          </a:xfrm>
          <a:prstGeom prst="rect">
            <a:avLst/>
          </a:prstGeom>
          <a:noFill/>
          <a:ln/>
        </p:spPr>
        <p:txBody>
          <a:bodyPr wrap="square" lIns="0" tIns="0" rIns="0" bIns="0" rtlCol="0" anchor="t"/>
          <a:lstStyle/>
          <a:p>
            <a:pPr marL="0" indent="0" algn="l">
              <a:buNone/>
            </a:pPr>
            <a:r>
              <a:rPr lang="en-US" sz="1300" b="1" dirty="0">
                <a:solidFill>
                  <a:srgbClr val="4F81BD"/>
                </a:solidFill>
                <a:latin typeface="Arial" pitchFamily="34" charset="0"/>
                <a:ea typeface="Arial" pitchFamily="34" charset="-122"/>
                <a:cs typeface="Arial" pitchFamily="34" charset="-120"/>
              </a:rPr>
              <a:t>For next week </a:t>
            </a:r>
            <a:r>
              <a:rPr lang="en-US" sz="1300" b="1">
                <a:solidFill>
                  <a:srgbClr val="4F81BD"/>
                </a:solidFill>
                <a:latin typeface="Arial" pitchFamily="34" charset="0"/>
                <a:ea typeface="Arial" pitchFamily="34" charset="-122"/>
                <a:cs typeface="Arial" pitchFamily="34" charset="-120"/>
              </a:rPr>
              <a:t>→</a:t>
            </a:r>
            <a:r>
              <a:rPr lang="en-US" sz="1300" b="1" dirty="0">
                <a:solidFill>
                  <a:srgbClr val="4F81BD"/>
                </a:solidFill>
                <a:latin typeface="Arial" pitchFamily="34" charset="0"/>
                <a:ea typeface="Arial" pitchFamily="34" charset="-122"/>
                <a:cs typeface="Arial" pitchFamily="34" charset="-120"/>
              </a:rPr>
              <a:t> and a unit turns</a:t>
            </a:r>
            <a:endParaRPr lang="en-US" sz="1600" dirty="0"/>
          </a:p>
        </p:txBody>
      </p:sp>
      <p:sp>
        <p:nvSpPr>
          <p:cNvPr id="4" name="z1"/>
          <p:cNvSpPr txBox="1"/>
          <p:nvPr/>
        </p:nvSpPr>
        <p:spPr>
          <a:xfrm>
            <a:off x="365760" y="1143000"/>
            <a:ext cx="8412480" cy="1463040"/>
          </a:xfrm>
          <a:prstGeom prst="rect">
            <a:avLst/>
          </a:prstGeom>
          <a:noFill/>
          <a:ln/>
        </p:spPr>
        <p:txBody>
          <a:bodyPr wrap="square" lIns="0" tIns="0" rIns="0" bIns="0" rtlCol="0" anchor="t"/>
          <a:lstStyle/>
          <a:p>
            <a:pPr marL="0" indent="0" algn="l">
              <a:buNone/>
            </a:pPr>
            <a:r>
              <a:rPr lang="en-US" sz="1700" b="1" dirty="0">
                <a:solidFill>
                  <a:srgbClr val="1F497D"/>
                </a:solidFill>
                <a:latin typeface="Arial" pitchFamily="34" charset="0"/>
                <a:ea typeface="Arial" pitchFamily="34" charset="-122"/>
                <a:cs typeface="Arial" pitchFamily="34" charset="-120"/>
              </a:rPr>
              <a:t>For next week, read:
</a:t>
            </a:r>
            <a:r>
              <a:rPr lang="en-US" sz="1500" dirty="0">
                <a:solidFill>
                  <a:srgbClr val="000000"/>
                </a:solidFill>
                <a:latin typeface="Arial" pitchFamily="34" charset="0"/>
                <a:ea typeface="Arial" pitchFamily="34" charset="-122"/>
                <a:cs typeface="Arial" pitchFamily="34" charset="-120"/>
              </a:rPr>
              <a:t>•  1 Corinthians 14:26–40  </a:t>
            </a:r>
            <a:r>
              <a:rPr lang="en-US" sz="1500">
                <a:solidFill>
                  <a:srgbClr val="000000"/>
                </a:solidFill>
                <a:latin typeface="Arial" pitchFamily="34" charset="0"/>
                <a:ea typeface="Arial" pitchFamily="34" charset="-122"/>
                <a:cs typeface="Arial" pitchFamily="34" charset="-120"/>
              </a:rPr>
              <a:t>→ </a:t>
            </a:r>
            <a:r>
              <a:rPr lang="en-US" sz="1500" dirty="0">
                <a:solidFill>
                  <a:srgbClr val="000000"/>
                </a:solidFill>
                <a:latin typeface="Arial" pitchFamily="34" charset="0"/>
                <a:ea typeface="Arial" pitchFamily="34" charset="-122"/>
                <a:cs typeface="Arial" pitchFamily="34" charset="-120"/>
              </a:rPr>
              <a:t>Paul orders public worship. What governs who may do what </a:t>
            </a:r>
            <a:r>
              <a:rPr lang="en-US" sz="1500">
                <a:solidFill>
                  <a:srgbClr val="000000"/>
                </a:solidFill>
                <a:latin typeface="Arial" pitchFamily="34" charset="0"/>
                <a:ea typeface="Arial" pitchFamily="34" charset="-122"/>
                <a:cs typeface="Arial" pitchFamily="34" charset="-120"/>
              </a:rPr>
              <a:t>→ </a:t>
            </a:r>
            <a:r>
              <a:rPr lang="en-US" sz="1500" dirty="0">
                <a:solidFill>
                  <a:srgbClr val="000000"/>
                </a:solidFill>
                <a:latin typeface="Arial" pitchFamily="34" charset="0"/>
                <a:ea typeface="Arial" pitchFamily="34" charset="-122"/>
                <a:cs typeface="Arial" pitchFamily="34" charset="-120"/>
              </a:rPr>
              <a:t>and what does v.37 claim?
•  Jude 3  </a:t>
            </a:r>
            <a:r>
              <a:rPr lang="en-US" sz="1500">
                <a:solidFill>
                  <a:srgbClr val="000000"/>
                </a:solidFill>
                <a:latin typeface="Arial" pitchFamily="34" charset="0"/>
                <a:ea typeface="Arial" pitchFamily="34" charset="-122"/>
                <a:cs typeface="Arial" pitchFamily="34" charset="-120"/>
              </a:rPr>
              <a:t>→</a:t>
            </a:r>
            <a:r>
              <a:rPr lang="en-US" sz="1500" dirty="0">
                <a:solidFill>
                  <a:srgbClr val="000000"/>
                </a:solidFill>
                <a:latin typeface="Arial" pitchFamily="34" charset="0"/>
                <a:ea typeface="Arial" pitchFamily="34" charset="-122"/>
                <a:cs typeface="Arial" pitchFamily="34" charset="-120"/>
              </a:rPr>
              <a:t> “the faith once for all entrusted to the saints.” What does “entrusted” imply about where authority comes from?</a:t>
            </a:r>
            <a:endParaRPr lang="en-US" sz="1600" dirty="0"/>
          </a:p>
        </p:txBody>
      </p:sp>
      <p:sp>
        <p:nvSpPr>
          <p:cNvPr id="5" name="z2"/>
          <p:cNvSpPr txBox="1"/>
          <p:nvPr/>
        </p:nvSpPr>
        <p:spPr>
          <a:xfrm>
            <a:off x="365760" y="2788920"/>
            <a:ext cx="8412480" cy="960120"/>
          </a:xfrm>
          <a:prstGeom prst="rect">
            <a:avLst/>
          </a:prstGeom>
          <a:noFill/>
          <a:ln/>
        </p:spPr>
        <p:txBody>
          <a:bodyPr wrap="square" lIns="0" tIns="0" rIns="0" bIns="0" rtlCol="0" anchor="t"/>
          <a:lstStyle/>
          <a:p>
            <a:pPr marL="0" indent="0" algn="l">
              <a:buNone/>
            </a:pPr>
            <a:r>
              <a:rPr lang="en-US" sz="1600" b="1" dirty="0">
                <a:solidFill>
                  <a:srgbClr val="000000"/>
                </a:solidFill>
                <a:latin typeface="Arial" pitchFamily="34" charset="0"/>
                <a:ea typeface="Arial" pitchFamily="34" charset="-122"/>
                <a:cs typeface="Arial" pitchFamily="34" charset="-120"/>
              </a:rPr>
              <a:t>Next week begins Unit IV </a:t>
            </a:r>
            <a:r>
              <a:rPr lang="en-US" sz="1600" b="1">
                <a:solidFill>
                  <a:srgbClr val="000000"/>
                </a:solidFill>
                <a:latin typeface="Arial" pitchFamily="34" charset="0"/>
                <a:ea typeface="Arial" pitchFamily="34" charset="-122"/>
                <a:cs typeface="Arial" pitchFamily="34" charset="-120"/>
              </a:rPr>
              <a:t>→ </a:t>
            </a:r>
            <a:r>
              <a:rPr lang="en-US" sz="1600" b="1" dirty="0">
                <a:solidFill>
                  <a:srgbClr val="000000"/>
                </a:solidFill>
                <a:latin typeface="Arial" pitchFamily="34" charset="0"/>
                <a:ea typeface="Arial" pitchFamily="34" charset="-122"/>
                <a:cs typeface="Arial" pitchFamily="34" charset="-120"/>
              </a:rPr>
              <a:t>God’s House: </a:t>
            </a:r>
            <a:r>
              <a:rPr lang="en-US" sz="1550" i="1" dirty="0">
                <a:solidFill>
                  <a:srgbClr val="000000"/>
                </a:solidFill>
                <a:latin typeface="Arial" pitchFamily="34" charset="0"/>
                <a:ea typeface="Arial" pitchFamily="34" charset="-122"/>
                <a:cs typeface="Arial" pitchFamily="34" charset="-120"/>
              </a:rPr>
              <a:t>Apostolic Appointment </a:t>
            </a:r>
            <a:r>
              <a:rPr lang="en-US" sz="1550" i="1">
                <a:solidFill>
                  <a:srgbClr val="000000"/>
                </a:solidFill>
                <a:latin typeface="Arial" pitchFamily="34" charset="0"/>
                <a:ea typeface="Arial" pitchFamily="34" charset="-122"/>
                <a:cs typeface="Arial" pitchFamily="34" charset="-120"/>
              </a:rPr>
              <a:t>→</a:t>
            </a:r>
            <a:r>
              <a:rPr lang="en-US" sz="1550" i="1" dirty="0">
                <a:solidFill>
                  <a:srgbClr val="000000"/>
                </a:solidFill>
                <a:latin typeface="Arial" pitchFamily="34" charset="0"/>
                <a:ea typeface="Arial" pitchFamily="34" charset="-122"/>
                <a:cs typeface="Arial" pitchFamily="34" charset="-120"/>
              </a:rPr>
              <a:t> where does teaching authority in the church come from? Two weeks of careful, contested ground.</a:t>
            </a:r>
            <a:endParaRPr lang="en-US" sz="1600" dirty="0"/>
          </a:p>
        </p:txBody>
      </p:sp>
      <p:sp>
        <p:nvSpPr>
          <p:cNvPr id="6" name="z3"/>
          <p:cNvSpPr txBox="1"/>
          <p:nvPr/>
        </p:nvSpPr>
        <p:spPr>
          <a:xfrm>
            <a:off x="365760" y="3931920"/>
            <a:ext cx="8412480" cy="1051560"/>
          </a:xfrm>
          <a:prstGeom prst="rect">
            <a:avLst/>
          </a:prstGeom>
          <a:noFill/>
          <a:ln/>
        </p:spPr>
        <p:txBody>
          <a:bodyPr wrap="square" lIns="0" tIns="0" rIns="0" bIns="0" rtlCol="0" anchor="t"/>
          <a:lstStyle/>
          <a:p>
            <a:pPr marL="0" indent="0" algn="l">
              <a:buNone/>
            </a:pPr>
            <a:r>
              <a:rPr lang="en-US" sz="1500" b="1" dirty="0">
                <a:solidFill>
                  <a:srgbClr val="000000"/>
                </a:solidFill>
                <a:latin typeface="Arial" pitchFamily="34" charset="0"/>
                <a:ea typeface="Arial" pitchFamily="34" charset="-122"/>
                <a:cs typeface="Arial" pitchFamily="34" charset="-120"/>
              </a:rPr>
              <a:t>Carry this week in one sentence:
</a:t>
            </a:r>
            <a:r>
              <a:rPr lang="en-US" sz="1600" b="1" i="1" dirty="0">
                <a:solidFill>
                  <a:srgbClr val="1F497D"/>
                </a:solidFill>
                <a:latin typeface="Arial" pitchFamily="34" charset="0"/>
                <a:ea typeface="Arial" pitchFamily="34" charset="-122"/>
                <a:cs typeface="Arial" pitchFamily="34" charset="-120"/>
              </a:rPr>
              <a:t>Sacrifice didn’t end </a:t>
            </a:r>
            <a:r>
              <a:rPr lang="en-US" sz="1600" b="1" i="1">
                <a:solidFill>
                  <a:srgbClr val="1F497D"/>
                </a:solidFill>
                <a:latin typeface="Arial" pitchFamily="34" charset="0"/>
                <a:ea typeface="Arial" pitchFamily="34" charset="-122"/>
                <a:cs typeface="Arial" pitchFamily="34" charset="-120"/>
              </a:rPr>
              <a:t>→</a:t>
            </a:r>
            <a:r>
              <a:rPr lang="en-US" sz="1600" b="1" i="1" dirty="0">
                <a:solidFill>
                  <a:srgbClr val="1F497D"/>
                </a:solidFill>
                <a:latin typeface="Arial" pitchFamily="34" charset="0"/>
                <a:ea typeface="Arial" pitchFamily="34" charset="-122"/>
                <a:cs typeface="Arial" pitchFamily="34" charset="-120"/>
              </a:rPr>
              <a:t> it changed material. You are the priest, and you are the offering, alive.</a:t>
            </a:r>
            <a:endParaRPr lang="en-US" sz="1600" dirty="0"/>
          </a:p>
        </p:txBody>
      </p:sp>
      <p:sp>
        <p:nvSpPr>
          <p:cNvPr id="7" name="z4"/>
          <p:cNvSpPr txBox="1"/>
          <p:nvPr/>
        </p:nvSpPr>
        <p:spPr>
          <a:xfrm>
            <a:off x="365760" y="5120640"/>
            <a:ext cx="8412480" cy="822960"/>
          </a:xfrm>
          <a:prstGeom prst="rect">
            <a:avLst/>
          </a:prstGeom>
          <a:noFill/>
          <a:ln/>
        </p:spPr>
        <p:txBody>
          <a:bodyPr wrap="square" lIns="0" tIns="0" rIns="0" bIns="0" rtlCol="0" anchor="t"/>
          <a:lstStyle/>
          <a:p>
            <a:pPr marL="0" indent="0" algn="ctr">
              <a:buNone/>
            </a:pPr>
            <a:r>
              <a:rPr lang="en-US" sz="1700" b="1" i="1" dirty="0">
                <a:solidFill>
                  <a:srgbClr val="1F497D"/>
                </a:solidFill>
                <a:latin typeface="Arial" pitchFamily="34" charset="0"/>
                <a:ea typeface="Arial" pitchFamily="34" charset="-122"/>
                <a:cs typeface="Arial" pitchFamily="34" charset="-120"/>
              </a:rPr>
              <a:t>“I will not offer… sacrifices that cost me nothing.”  (2 Samuel 24:24)</a:t>
            </a:r>
            <a:endParaRPr lang="en-US" sz="1600" dirty="0"/>
          </a:p>
        </p:txBody>
      </p:sp>
      <p:sp>
        <p:nvSpPr>
          <p:cNvPr id="8" name="z5"/>
          <p:cNvSpPr txBox="1"/>
          <p:nvPr/>
        </p:nvSpPr>
        <p:spPr>
          <a:xfrm>
            <a:off x="365760" y="5989320"/>
            <a:ext cx="8412480" cy="365760"/>
          </a:xfrm>
          <a:prstGeom prst="rect">
            <a:avLst/>
          </a:prstGeom>
          <a:noFill/>
          <a:ln/>
        </p:spPr>
        <p:txBody>
          <a:bodyPr wrap="square" lIns="0" tIns="0" rIns="0" bIns="0" rtlCol="0" anchor="t"/>
          <a:lstStyle/>
          <a:p>
            <a:pPr marL="0" indent="0" algn="ctr">
              <a:buNone/>
            </a:pPr>
            <a:r>
              <a:rPr lang="en-US" sz="1300" b="1" u="sng" dirty="0">
                <a:solidFill>
                  <a:srgbClr val="4F81BD"/>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https://tinyurl.com/TeachTheWord</a:t>
            </a:r>
            <a:endParaRPr 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1000"/>
                                        <p:tgtEl>
                                          <p:spTgt spid="7"/>
                                        </p:tgtEl>
                                      </p:cBhvr>
                                    </p:animEffect>
                                    <p:anim calcmode="lin" valueType="num">
                                      <p:cBhvr>
                                        <p:cTn id="2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2162</Words>
  <Application>Microsoft Macintosh PowerPoint</Application>
  <PresentationFormat>On-screen Show (4:3)</PresentationFormat>
  <Paragraphs>59</Paragraphs>
  <Slides>7</Slides>
  <Notes>7</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7</vt:i4>
      </vt:variant>
    </vt:vector>
  </HeadingPairs>
  <TitlesOfParts>
    <vt:vector size="9"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Phil Pennington</cp:lastModifiedBy>
  <cp:revision>3</cp:revision>
  <dcterms:created xsi:type="dcterms:W3CDTF">2026-09-30T14:23:52Z</dcterms:created>
  <dcterms:modified xsi:type="dcterms:W3CDTF">2026-10-21T09:54:24Z</dcterms:modified>
</cp:coreProperties>
</file>