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6" r:id="rId10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5"/>
    <p:restoredTop sz="73740"/>
  </p:normalViewPr>
  <p:slideViewPr>
    <p:cSldViewPr snapToGrid="0" snapToObjects="1">
      <p:cViewPr varScale="1">
        <p:scale>
          <a:sx n="109" d="100"/>
          <a:sy n="109" d="100"/>
        </p:scale>
        <p:origin x="1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20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the class settles: “Last week ended on Saul — layer three mistaken for layer four. This week is the whole Bible’s version of that mistake, and it has a name: sincere, and wrong.” Point at the title verse — that is David, and it is the thesis of the hour.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Heb 10:5,7 — Psalm 40 in the mouth of Christ.
[CLICK×4] Build the gold stack: form, heart, cost, obedience.
[CLICK] Aligned once, completely, in Him — mercy first, altar second, your living sacrifice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“I beseech you therefore, brethren, by the mercies of God, that you present your bodies a living sacrifice, holy, acceptable to God,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your reasonable service. And do not be conformed to this world, but be transformed by the renewing of your mind, that you may prove what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good and acceptable and perfect will of God.” (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Romans 12:1-2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Q1 — "When you say something is 'good,' what standard are you actually using?"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Collect two or three answers without correcting — expect "what I like," "what works," "what's moral," "what helps people." Then observe aloud: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answer borrowed a standard from somewhere.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observation is the entire point; don't press further.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Q2 — "What would change, practically, this week, if goodness were a Person's character rather than a measurement?"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Push toward concrete. If the room is quiet, seed it: would it change how you evaluate a sermon? a purchase? a friendship? an argument you're currently winning? Good answers will connect goodness to relationship rather than scorekeeping — affirm those.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"Doesn't Genesis 1:31 call creation 'very good' — so goodness isn't only God?"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Right — and that is the participation point, not a counterexample. Creation is very good as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work, reflecting His character; the verse grades the craftsmanship by the Craftsman. Nothing in Genesis 1 is good independently of Him — which is exactly the claim.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"If devotion is invisible even to me, how can I ever have assurance?"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Flag this as precisely where the course is going: Scripture's answer is that God provides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forms — sacrifice, tests, fruit — so that faith is not left to introspection (1 John's "by this we know," Week 8). For now: 2 Cor 13:5 commands the examination, which means God intends it to be answerable. Don't resolve it fully in Week 1; a live question is fuel.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"Are you saying non-Christians can't do good things?"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No — and head this off before it's asked if your class leans apologetic. Unbelievers do real good (Matt 7:11 — "you who are evil know how to give good gifts"). The claim is about the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source and standard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goodness, not a denial of common grace. Every good thing anyone does borrows from His character; the question of the course is knowing and being united to the Owner.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"Isn't it unfair that Uzzah died for an instinct — he was trying to help?"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Take the discomfort seriously; the text does too (David himself is angry and afraid, 2 Sam 6:8–9). Three things. First, the account is not primarily about Uzzah's individual guilt but about a national failure — David says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LORD our God attacked 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(1 Chr 15:13); Uzzah stood at the point where a corporate presumption came due. Second, the Ark was the visible throne of God's holiness among a people who had grown casual with it — the severity marks how real that holiness is, at a founding moment. Third, notice what David does with the lesson: not resentment, but correction — he learns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does it right, and the second procession is pure joy (2 Sam 6:12–15). 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account is recorded so we would learn the same without paying the same.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[CLICK] Set the scene generously — do not paint David as careless. The intent was honor; the crowd was worshiping. Note the tell: the new cart is exactly the Philistine method (1 Sam 6). Sincere improvement, borrowed from the world.
[CLICK] God had already spoken — poles, shoulders, no touch. The instructions existed and were skipped.
[CLICK] Uzzah’s reach is instinctive and understandable — that is what makes it hard. The problem started at the loading dock, not at the stumble.
[CLICK] </a:t>
            </a:r>
            <a:r>
              <a:rPr lang="en-US" sz="1400" b="1" dirty="0"/>
              <a:t>David’s own verdict, months later — the class read this in advance (Week 2 assignment). Let someone say it before you do. The diagnosis is his, not ours: not sincerity, method. Transition: “Uzzah is not a special case. This is a pattern that runs the length of Scripture.”</a:t>
            </a:r>
          </a:p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"Uzzah is not a special case, and this is not an Old-Testament mood. It is a pattern that runs the length of Scripture."</a:t>
            </a:r>
            <a:endParaRPr lang="en-US" sz="1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• Nadab &amp; Abihu — Scripture never questions their sincerity; worship still belongs to God, not the worshiper (Lev 10:3).
• Saul at Gilgal — urgency felt like justification. It wasn’t.
• Saul at Amalek — last week’s man; sacrifice as substitute.
• Moses — THE key case: the miracle WORKED, water came, and he was still barred. Results are not approval. Land this hard; it sets up the discussion question.
• Jeroboam — the changes solved a genuine political problem; pragmatism replaced revelation.
• Uzziah — competence in one area (a good king) did not license changes in worship.</a:t>
            </a:r>
          </a:p>
          <a:p>
            <a:r>
              <a:rPr lang="en-US" sz="1400" dirty="0"/>
              <a:t>
[The pattern-note is the takeaway — read it last.]</a:t>
            </a:r>
          </a:p>
          <a:p>
            <a:endParaRPr lang="en-US" sz="1400" dirty="0"/>
          </a:p>
          <a:p>
            <a:r>
              <a:rPr lang="en-US" sz="1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Transition: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"Surely this severity is an old-covenant thing, and the New Testament relaxes it. It does not."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[CLICK] Mark 7 — Jesus’ own words. “In vain” = empty, pointless. The engine of vain worship is teaching human commands as if divine. He does not condemn sincerity; he condemns the swap.
[CLICK] Ananias — the point is timing: this is the NEW covenant, Spirit newly given, and the first recorded church sin is counterfeit devotion.
[CLICK] Corinth — every external box checked; not the Lord’s Supper. Chilling because it is so ordinary.
[CLICK] Paul/Acts 23 — the capstone. He is Exhibit A that sincerity and correctness are different things. He felt clean while wrong. This disarms “but I really mean it” before discussion. Transition: “So what IS the standard, if not sincerity or results?”</a:t>
            </a:r>
          </a:p>
          <a:p>
            <a:endParaRPr lang="en-US" sz="1400" dirty="0"/>
          </a:p>
          <a:p>
            <a:r>
              <a:rPr lang="en-US" sz="1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"Was Paul lost while he had a clear conscience persecuting Christians?"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Yes — and he says so plainly: "I was formerly a blasphemer and a persecutor and an arrogant man" who acted "ignorantly in unbelief" (1 Tim 1:13). Sincerity did not save him; grace did, when Christ stopped him on the road. This is precisely why next week matters: sincerity in building your own righteousness (Rom 10:3) is the very thing that has to be surrendered. Paul is the course's bridge from Unit I to Unit II.</a:t>
            </a:r>
          </a:p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[CLICK] Romans’ bookends — the same phrase opens and closes the letter; this is Paul telling us what the gospel is FOR. Tie back: Week 1 named it, Week 2 stacked it, today we see its opposite all over Scripture.
[CLICK] Faith defined as hearing-trusting-walking. The “easier/cheaper/more effective” clause is the whole temptation in Uzzah, Jeroboam, Corinth.
[CLICK] Institution vs. expedient — this is the practical tool the class needs for the discussion. Give a modern-neutral example: pews and sound systems are expedients; they aid, they don’t replace. Be careful and fair here — reasonable believers disagree on where specific lines fall; teach the CATEGORY, not a list of verdicts.
[CLICK] The governing question. Say all three. Land “Has God spoken?” Then straight to discussion.</a:t>
            </a:r>
          </a:p>
          <a:p>
            <a:endParaRPr lang="en-US" sz="1400" dirty="0"/>
          </a:p>
          <a:p>
            <a:r>
              <a:rPr lang="en-US" sz="1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"Who decides what's an institution versus an expedient?"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Scripture does, by what it commands versus what it leaves open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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that is exactly the Berean work the course is training. Where the Bible commands a thing, it is an institution; where it commands an end but leaves the means open, the means is an expedient. Honest believers will disagree on specific cases, and that disagreement is legitimate ground for study 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</a:t>
            </a: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which is why we reason from the text rather than issuing rulings. Flag that Weeks 10–11 return to this when we reach church order.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Q1: </a:t>
            </a:r>
            <a:r>
              <a:rPr lang="en-US" sz="1400" b="1" dirty="0"/>
              <a:t>The instinct is deep and not stupid — in most of life, results DO validate methods (medicine, engineering). Scripture’s correction: worship is not pragmatic because its object is a Person with revealed preferences, not a problem to be solved. Moses’ rock is the proof text — it worked and was still wrong.</a:t>
            </a:r>
            <a:r>
              <a:rPr lang="en-US" sz="1400" dirty="0"/>
              <a:t>
</a:t>
            </a:r>
          </a:p>
          <a:p>
            <a:r>
              <a:rPr lang="en-US" sz="1400" dirty="0"/>
              <a:t>Q2: </a:t>
            </a:r>
            <a:r>
              <a:rPr lang="en-US" sz="1400" b="1" dirty="0"/>
              <a:t>The RISK question. Aim for the category (institution vs. expedient), not a fight over specifics. If someone names a hot-button local practice, redirect: “Good test case — which is it, and by what Scripture? Let’s reason it, not vote on it.” Model Berean method over verdict-issuing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B04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Facilitator’s guardrail: </a:t>
            </a: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question can turn into airing grievances about your congregation. Keep it on the principle and the category, not on relitigating specific local practices in the room.</a:t>
            </a: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Next week’s reading — note the pivot: three weeks of “sincerity isn’t enough” could leave the class anxious. Romans 10 is the turn toward grace. Signal it: “We have diagnosed the disease for three weeks; next week the cure.”
[CLICK] Preview Unit II.
[CLICK] The carry sentence.
[CLICK] Close on David’s verdict one more time. Dismiss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[CLICK×5] Walk the five units briskly --&gt; one sentence each. Foundations builds the vocabulary; Discernment gives the method; Testing shows the covenant pattern and ours; God’s House applies it to authority and order; Commission sends.
[CLICK] The grace line --&gt; do NOT rush this. Romans 12:1 begins “by the mercies of God.” Say plainly: this is a course about obedience that cannot be heard as earning. Mercy first, altar second --&gt; we will repeat it at weeks 4, 7, 9, and 12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teachtheword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TeachTheWor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548640" y="685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Obedience of Faith - Week 3</a:t>
            </a:r>
            <a:endParaRPr lang="en-US" sz="1600" dirty="0"/>
          </a:p>
        </p:txBody>
      </p:sp>
      <p:sp>
        <p:nvSpPr>
          <p:cNvPr id="3" name="t1"/>
          <p:cNvSpPr txBox="1"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Intentions Are Not Enough</a:t>
            </a:r>
            <a:endParaRPr lang="en-US" sz="1600" dirty="0"/>
          </a:p>
        </p:txBody>
      </p:sp>
      <p:sp>
        <p:nvSpPr>
          <p:cNvPr id="4" name="t2"/>
          <p:cNvSpPr txBox="1"/>
          <p:nvPr/>
        </p:nvSpPr>
        <p:spPr>
          <a:xfrm>
            <a:off x="548639" y="2194560"/>
            <a:ext cx="8231945" cy="618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of worship is not “Will it work?” but “Has God spoken?”</a:t>
            </a:r>
            <a:endParaRPr lang="en-US" sz="2000" dirty="0"/>
          </a:p>
        </p:txBody>
      </p:sp>
      <p:sp>
        <p:nvSpPr>
          <p:cNvPr id="5" name="t3"/>
          <p:cNvSpPr txBox="1"/>
          <p:nvPr/>
        </p:nvSpPr>
        <p:spPr>
          <a:xfrm>
            <a:off x="914400" y="3198707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first time you did not carry it; that is why the LORD our God attacked us, because we did not seek him according to the prescribed ordinance.”</a:t>
            </a:r>
            <a:endParaRPr lang="en-US" sz="20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Chronicles 15:13)</a:t>
            </a:r>
            <a:endParaRPr lang="en-US" sz="2000" dirty="0"/>
          </a:p>
        </p:txBody>
      </p:sp>
      <p:sp>
        <p:nvSpPr>
          <p:cNvPr id="7" name="t4">
            <a:extLst>
              <a:ext uri="{FF2B5EF4-FFF2-40B4-BE49-F238E27FC236}">
                <a16:creationId xmlns:a16="http://schemas.microsoft.com/office/drawing/2014/main" id="{D0FB2762-74AD-5171-A627-4BE59AB127A1}"/>
              </a:ext>
            </a:extLst>
          </p:cNvPr>
          <p:cNvSpPr txBox="1"/>
          <p:nvPr/>
        </p:nvSpPr>
        <p:spPr>
          <a:xfrm>
            <a:off x="914400" y="5325701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</a:t>
            </a:r>
            <a:r>
              <a:rPr lang="en-US" sz="2000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TeachTheWord</a:t>
            </a:r>
            <a:r>
              <a:rPr lang="en-US" sz="2000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.Church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Revealing Pattern of Sacrifice and Obedience 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cs typeface="Arial" pitchFamily="34" charset="-120"/>
              </a:rPr>
              <a:t>Jesus 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cs typeface="Arial" pitchFamily="34" charset="-120"/>
              </a:rPr>
              <a:t> Perfect Alignment with God’s </a:t>
            </a:r>
            <a:r>
              <a:rPr lang="en-US" sz="2000" b="1" u="sng" dirty="0">
                <a:solidFill>
                  <a:srgbClr val="4F81BD"/>
                </a:solidFill>
                <a:latin typeface="Arial" pitchFamily="34" charset="0"/>
                <a:cs typeface="Arial" pitchFamily="34" charset="-120"/>
              </a:rPr>
              <a:t>Will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cs typeface="Arial" pitchFamily="34" charset="-120"/>
              </a:rPr>
              <a:t> and </a:t>
            </a:r>
            <a:r>
              <a:rPr lang="en-US" sz="2000" b="1" u="sng" dirty="0">
                <a:solidFill>
                  <a:srgbClr val="4F81BD"/>
                </a:solidFill>
                <a:latin typeface="Arial" pitchFamily="34" charset="0"/>
                <a:cs typeface="Arial" pitchFamily="34" charset="-120"/>
              </a:rPr>
              <a:t>Purpose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cs typeface="Arial" pitchFamily="34" charset="-120"/>
              </a:rPr>
              <a:t> (The Good)</a:t>
            </a:r>
            <a:endParaRPr lang="en-US" sz="2000" dirty="0"/>
          </a:p>
        </p:txBody>
      </p:sp>
      <p:sp>
        <p:nvSpPr>
          <p:cNvPr id="4" name="h1"/>
          <p:cNvSpPr txBox="1"/>
          <p:nvPr/>
        </p:nvSpPr>
        <p:spPr>
          <a:xfrm>
            <a:off x="320040" y="1037844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r>
              <a:rPr lang="en-US" sz="20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 and offering you did not desire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but a body you prepared for me… Then I said, ‘Here I am; I have come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is written of me in the scroll of the book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do your will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O God.’”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(Hebrews 10:5, 7)</a:t>
            </a:r>
            <a:endParaRPr lang="en-US" sz="2000" dirty="0"/>
          </a:p>
        </p:txBody>
      </p:sp>
      <p:sp>
        <p:nvSpPr>
          <p:cNvPr id="5" name="h2r0"/>
          <p:cNvSpPr/>
          <p:nvPr/>
        </p:nvSpPr>
        <p:spPr>
          <a:xfrm>
            <a:off x="556952" y="4414013"/>
            <a:ext cx="4937760" cy="603504"/>
          </a:xfrm>
          <a:prstGeom prst="roundRect">
            <a:avLst>
              <a:gd name="adj" fmla="val 9091"/>
            </a:avLst>
          </a:prstGeom>
          <a:solidFill>
            <a:schemeClr val="accent1">
              <a:lumMod val="50000"/>
            </a:schemeClr>
          </a:solidFill>
          <a:ln w="127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h2t0"/>
          <p:cNvSpPr txBox="1"/>
          <p:nvPr/>
        </p:nvSpPr>
        <p:spPr>
          <a:xfrm>
            <a:off x="739832" y="4505453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Religion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perfect form</a:t>
            </a:r>
            <a:endParaRPr lang="en-US" sz="1600" dirty="0"/>
          </a:p>
        </p:txBody>
      </p:sp>
      <p:sp>
        <p:nvSpPr>
          <p:cNvPr id="7" name="h2r1"/>
          <p:cNvSpPr/>
          <p:nvPr/>
        </p:nvSpPr>
        <p:spPr>
          <a:xfrm>
            <a:off x="556952" y="3700781"/>
            <a:ext cx="4937760" cy="603504"/>
          </a:xfrm>
          <a:prstGeom prst="roundRect">
            <a:avLst>
              <a:gd name="adj" fmla="val 9091"/>
            </a:avLst>
          </a:prstGeom>
          <a:solidFill>
            <a:schemeClr val="accent1">
              <a:lumMod val="50000"/>
              <a:alpha val="96000"/>
            </a:schemeClr>
          </a:solidFill>
          <a:ln w="127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h2t1"/>
          <p:cNvSpPr txBox="1"/>
          <p:nvPr/>
        </p:nvSpPr>
        <p:spPr>
          <a:xfrm>
            <a:off x="739832" y="3792221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Worship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perfect heart</a:t>
            </a:r>
            <a:endParaRPr lang="en-US" sz="1600" dirty="0"/>
          </a:p>
        </p:txBody>
      </p:sp>
      <p:sp>
        <p:nvSpPr>
          <p:cNvPr id="9" name="h2r2"/>
          <p:cNvSpPr/>
          <p:nvPr/>
        </p:nvSpPr>
        <p:spPr>
          <a:xfrm>
            <a:off x="556952" y="2987549"/>
            <a:ext cx="4937760" cy="603504"/>
          </a:xfrm>
          <a:prstGeom prst="roundRect">
            <a:avLst>
              <a:gd name="adj" fmla="val 9091"/>
            </a:avLst>
          </a:prstGeom>
          <a:solidFill>
            <a:schemeClr val="accent1">
              <a:lumMod val="50000"/>
              <a:alpha val="92000"/>
            </a:schemeClr>
          </a:solidFill>
          <a:ln w="127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h2t2"/>
          <p:cNvSpPr txBox="1"/>
          <p:nvPr/>
        </p:nvSpPr>
        <p:spPr>
          <a:xfrm>
            <a:off x="739832" y="3078989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Sacrifice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the full cost, a body, nothing kept back</a:t>
            </a:r>
            <a:endParaRPr lang="en-US" sz="1600" dirty="0"/>
          </a:p>
        </p:txBody>
      </p:sp>
      <p:sp>
        <p:nvSpPr>
          <p:cNvPr id="11" name="h2r3"/>
          <p:cNvSpPr/>
          <p:nvPr/>
        </p:nvSpPr>
        <p:spPr>
          <a:xfrm>
            <a:off x="556952" y="2274317"/>
            <a:ext cx="4937760" cy="603504"/>
          </a:xfrm>
          <a:prstGeom prst="roundRect">
            <a:avLst>
              <a:gd name="adj" fmla="val 9091"/>
            </a:avLst>
          </a:prstGeom>
          <a:solidFill>
            <a:schemeClr val="accent1">
              <a:lumMod val="50000"/>
              <a:alpha val="88000"/>
            </a:schemeClr>
          </a:solidFill>
          <a:ln w="1270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h2t3"/>
          <p:cNvSpPr txBox="1"/>
          <p:nvPr/>
        </p:nvSpPr>
        <p:spPr>
          <a:xfrm>
            <a:off x="739832" y="2365757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 of Faith</a:t>
            </a:r>
            <a:r>
              <a:rPr lang="en-US" sz="1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“I have come to do your will”</a:t>
            </a:r>
            <a:endParaRPr lang="en-US" sz="1600" dirty="0"/>
          </a:p>
        </p:txBody>
      </p:sp>
      <p:sp>
        <p:nvSpPr>
          <p:cNvPr id="13" name="h3"/>
          <p:cNvSpPr txBox="1"/>
          <p:nvPr/>
        </p:nvSpPr>
        <p:spPr>
          <a:xfrm>
            <a:off x="5723312" y="2240280"/>
            <a:ext cx="3017520" cy="2921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</a:t>
            </a:r>
            <a:r>
              <a:rPr lang="en-US" sz="1700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</a:t>
            </a:r>
            <a:r>
              <a:rPr lang="en-US" sz="17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Jesus Himself, completely, in Him.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“By that </a:t>
            </a:r>
            <a:r>
              <a:rPr lang="en-US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have been made holy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for all.” (Heb 10:10)</a:t>
            </a:r>
            <a:r>
              <a:rPr lang="en-US" sz="14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completed the stack before He asked you to climb it. </a:t>
            </a: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Yours is a thank offering, not a payment.  (Rom 12:1-2)</a:t>
            </a:r>
          </a:p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17B78B-FCF1-7C7E-88DE-BA7925950EB7}"/>
              </a:ext>
            </a:extLst>
          </p:cNvPr>
          <p:cNvSpPr txBox="1"/>
          <p:nvPr/>
        </p:nvSpPr>
        <p:spPr>
          <a:xfrm>
            <a:off x="320040" y="5252721"/>
            <a:ext cx="83251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“I beseech you therefore, brethren, </a:t>
            </a:r>
            <a:r>
              <a:rPr lang="en-US" i="1" u="sng" dirty="0"/>
              <a:t>by the mercies of God</a:t>
            </a:r>
            <a:r>
              <a:rPr lang="en-US" i="1" dirty="0"/>
              <a:t>, that you present your </a:t>
            </a:r>
          </a:p>
          <a:p>
            <a:r>
              <a:rPr lang="en-US" i="1" dirty="0"/>
              <a:t>bodies a living sacrifice, holy, acceptable to God, which is </a:t>
            </a:r>
            <a:r>
              <a:rPr lang="en-US" i="1" u="sng" dirty="0"/>
              <a:t>your reasonable service</a:t>
            </a:r>
            <a:r>
              <a:rPr lang="en-US" i="1" dirty="0"/>
              <a:t>. </a:t>
            </a:r>
          </a:p>
          <a:p>
            <a:r>
              <a:rPr lang="en-US" i="1" dirty="0"/>
              <a:t>And do not be conformed to this world, but be transformed by the renewing of your </a:t>
            </a:r>
          </a:p>
          <a:p>
            <a:r>
              <a:rPr lang="en-US" i="1" dirty="0"/>
              <a:t>mind, </a:t>
            </a:r>
            <a:r>
              <a:rPr lang="en-US" i="1" u="sng" dirty="0"/>
              <a:t>that you may prove what is that good and acceptable and perfect </a:t>
            </a:r>
            <a:r>
              <a:rPr lang="en-US" b="1" i="1" u="sng" dirty="0"/>
              <a:t>will of God</a:t>
            </a:r>
            <a:r>
              <a:rPr lang="en-US" i="1" dirty="0"/>
              <a:t>.”</a:t>
            </a:r>
            <a:r>
              <a:rPr lang="en-US" dirty="0"/>
              <a:t> </a:t>
            </a:r>
          </a:p>
          <a:p>
            <a:r>
              <a:rPr lang="en-US" dirty="0"/>
              <a:t>(</a:t>
            </a:r>
            <a:r>
              <a:rPr lang="en-US" b="1" dirty="0"/>
              <a:t>Romans 12:1-2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Uzzah and the New Cart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Samuel 6 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problem began </a:t>
            </a:r>
            <a:r>
              <a:rPr lang="en-US" sz="2000" b="1" u="sng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touch</a:t>
            </a:r>
            <a:endParaRPr lang="en-US" sz="2800" dirty="0"/>
          </a:p>
        </p:txBody>
      </p:sp>
      <p:sp>
        <p:nvSpPr>
          <p:cNvPr id="4" name="a1"/>
          <p:cNvSpPr txBox="1"/>
          <p:nvPr/>
        </p:nvSpPr>
        <p:spPr>
          <a:xfrm>
            <a:off x="320040" y="10058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brings the Ark to Jerusalem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goal, real joy, thousands worshiping. They load it on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cart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 Sam 6:3). Clean. Expensive. Respectful. And exactly how the Philistines had moved it (1 Sam 6:7).</a:t>
            </a:r>
            <a:endParaRPr lang="en-US" sz="2000" dirty="0"/>
          </a:p>
        </p:txBody>
      </p:sp>
      <p:sp>
        <p:nvSpPr>
          <p:cNvPr id="5" name="a2"/>
          <p:cNvSpPr txBox="1"/>
          <p:nvPr/>
        </p:nvSpPr>
        <p:spPr>
          <a:xfrm>
            <a:off x="320040" y="2151324"/>
            <a:ext cx="8503920" cy="77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God had already spoken: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Ark travels on poles, carried on the shoulders of Levites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is never touched (Ex 25:14–15; Num 4:15; 7:9). The cart was borrowed from the pagans, not from the Word.</a:t>
            </a:r>
            <a:endParaRPr lang="en-US" sz="2000" dirty="0"/>
          </a:p>
        </p:txBody>
      </p:sp>
      <p:sp>
        <p:nvSpPr>
          <p:cNvPr id="6" name="a3"/>
          <p:cNvSpPr txBox="1"/>
          <p:nvPr/>
        </p:nvSpPr>
        <p:spPr>
          <a:xfrm>
            <a:off x="320040" y="3155922"/>
            <a:ext cx="8503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oxen stumble. Uzzah reaches out to steady the Ark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most natural motion in the world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dies (2 Sam 6:6–7).
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touch was not the beginning of the problem. It was the moment an earlier failure came due.</a:t>
            </a:r>
            <a:endParaRPr lang="en-US" sz="2000" dirty="0"/>
          </a:p>
        </p:txBody>
      </p:sp>
      <p:sp>
        <p:nvSpPr>
          <p:cNvPr id="7" name="a4"/>
          <p:cNvSpPr txBox="1"/>
          <p:nvPr/>
        </p:nvSpPr>
        <p:spPr>
          <a:xfrm>
            <a:off x="320040" y="4438566"/>
            <a:ext cx="8503920" cy="2102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later, David gets it right, poles, Levites, the Law (1 Chr 15), and names the first failure exactly: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first time you did not carry it; that is why the LORD our God attacked us, because we did not seek him according to the prescribed ordinance.”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Chronicles 15:13)</a:t>
            </a:r>
            <a:endParaRPr lang="en-US" sz="2000" dirty="0"/>
          </a:p>
          <a:p>
            <a:pPr lvl="1"/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“we lacked sincerity.” Not “our motives were wrong.”  </a:t>
            </a:r>
            <a:endParaRPr lang="en-US" sz="2000" dirty="0"/>
          </a:p>
          <a:p>
            <a:pPr lvl="1"/>
            <a:r>
              <a:rPr lang="en-US" sz="2000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did not seek him the way he said.”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Repeating Pattern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Sincere people, unauthorized methods, the same result</a:t>
            </a:r>
            <a:endParaRPr lang="en-US" sz="2000" dirty="0"/>
          </a:p>
        </p:txBody>
      </p:sp>
      <p:sp>
        <p:nvSpPr>
          <p:cNvPr id="4" name="h0"/>
          <p:cNvSpPr/>
          <p:nvPr/>
        </p:nvSpPr>
        <p:spPr>
          <a:xfrm>
            <a:off x="365760" y="1124712"/>
            <a:ext cx="1737360" cy="384048"/>
          </a:xfrm>
          <a:prstGeom prst="rect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5" name="hh0"/>
          <p:cNvSpPr txBox="1"/>
          <p:nvPr/>
        </p:nvSpPr>
        <p:spPr>
          <a:xfrm>
            <a:off x="420624" y="11795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3200" dirty="0"/>
          </a:p>
        </p:txBody>
      </p:sp>
      <p:sp>
        <p:nvSpPr>
          <p:cNvPr id="6" name="h1"/>
          <p:cNvSpPr/>
          <p:nvPr/>
        </p:nvSpPr>
        <p:spPr>
          <a:xfrm>
            <a:off x="2103120" y="1124712"/>
            <a:ext cx="1325880" cy="384048"/>
          </a:xfrm>
          <a:prstGeom prst="rect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7" name="hh1"/>
          <p:cNvSpPr txBox="1"/>
          <p:nvPr/>
        </p:nvSpPr>
        <p:spPr>
          <a:xfrm>
            <a:off x="2157984" y="11795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3200" dirty="0"/>
          </a:p>
        </p:txBody>
      </p:sp>
      <p:sp>
        <p:nvSpPr>
          <p:cNvPr id="8" name="h2"/>
          <p:cNvSpPr/>
          <p:nvPr/>
        </p:nvSpPr>
        <p:spPr>
          <a:xfrm>
            <a:off x="3429000" y="1124712"/>
            <a:ext cx="3611880" cy="384048"/>
          </a:xfrm>
          <a:prstGeom prst="rect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9" name="hh2"/>
          <p:cNvSpPr txBox="1"/>
          <p:nvPr/>
        </p:nvSpPr>
        <p:spPr>
          <a:xfrm>
            <a:off x="3483864" y="11795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</a:t>
            </a:r>
            <a:endParaRPr lang="en-US" sz="3200" dirty="0"/>
          </a:p>
        </p:txBody>
      </p:sp>
      <p:sp>
        <p:nvSpPr>
          <p:cNvPr id="10" name="h3"/>
          <p:cNvSpPr/>
          <p:nvPr/>
        </p:nvSpPr>
        <p:spPr>
          <a:xfrm>
            <a:off x="7040880" y="1124712"/>
            <a:ext cx="1691640" cy="384048"/>
          </a:xfrm>
          <a:prstGeom prst="rect">
            <a:avLst/>
          </a:prstGeom>
          <a:solidFill>
            <a:srgbClr val="1F497D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11" name="hh3"/>
          <p:cNvSpPr txBox="1"/>
          <p:nvPr/>
        </p:nvSpPr>
        <p:spPr>
          <a:xfrm>
            <a:off x="7095744" y="117957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3200" dirty="0"/>
          </a:p>
        </p:txBody>
      </p:sp>
      <p:sp>
        <p:nvSpPr>
          <p:cNvPr id="12" name="c0_0"/>
          <p:cNvSpPr/>
          <p:nvPr/>
        </p:nvSpPr>
        <p:spPr>
          <a:xfrm>
            <a:off x="365760" y="1508760"/>
            <a:ext cx="1737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3" name="t0_0"/>
          <p:cNvSpPr txBox="1"/>
          <p:nvPr/>
        </p:nvSpPr>
        <p:spPr>
          <a:xfrm>
            <a:off x="429768" y="1554480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Nadab &amp; Abihu</a:t>
            </a:r>
            <a:endParaRPr lang="en-US" sz="3200" dirty="0"/>
          </a:p>
        </p:txBody>
      </p:sp>
      <p:sp>
        <p:nvSpPr>
          <p:cNvPr id="14" name="c0_1"/>
          <p:cNvSpPr/>
          <p:nvPr/>
        </p:nvSpPr>
        <p:spPr>
          <a:xfrm>
            <a:off x="2103120" y="1508760"/>
            <a:ext cx="1325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5" name="t0_1"/>
          <p:cNvSpPr txBox="1"/>
          <p:nvPr/>
        </p:nvSpPr>
        <p:spPr>
          <a:xfrm>
            <a:off x="2167128" y="1554480"/>
            <a:ext cx="1216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 10:1–3</a:t>
            </a:r>
            <a:endParaRPr lang="en-US" sz="3200" dirty="0"/>
          </a:p>
        </p:txBody>
      </p:sp>
      <p:sp>
        <p:nvSpPr>
          <p:cNvPr id="16" name="c0_2"/>
          <p:cNvSpPr/>
          <p:nvPr/>
        </p:nvSpPr>
        <p:spPr>
          <a:xfrm>
            <a:off x="3429000" y="1508760"/>
            <a:ext cx="3611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7" name="t0_2"/>
          <p:cNvSpPr txBox="1"/>
          <p:nvPr/>
        </p:nvSpPr>
        <p:spPr>
          <a:xfrm>
            <a:off x="3493008" y="155448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Offered “strange fire” God had not commanded</a:t>
            </a:r>
            <a:endParaRPr lang="en-US" sz="3200" dirty="0"/>
          </a:p>
        </p:txBody>
      </p:sp>
      <p:sp>
        <p:nvSpPr>
          <p:cNvPr id="18" name="c0_3"/>
          <p:cNvSpPr/>
          <p:nvPr/>
        </p:nvSpPr>
        <p:spPr>
          <a:xfrm>
            <a:off x="7040880" y="1508760"/>
            <a:ext cx="1691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19" name="t0_3"/>
          <p:cNvSpPr txBox="1"/>
          <p:nvPr/>
        </p:nvSpPr>
        <p:spPr>
          <a:xfrm>
            <a:off x="7104888" y="1554480"/>
            <a:ext cx="1581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Consumed</a:t>
            </a:r>
            <a:endParaRPr lang="en-US" sz="3200" dirty="0"/>
          </a:p>
        </p:txBody>
      </p:sp>
      <p:sp>
        <p:nvSpPr>
          <p:cNvPr id="20" name="c1_0"/>
          <p:cNvSpPr/>
          <p:nvPr/>
        </p:nvSpPr>
        <p:spPr>
          <a:xfrm>
            <a:off x="365760" y="2167128"/>
            <a:ext cx="173736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1" name="t1_0"/>
          <p:cNvSpPr txBox="1"/>
          <p:nvPr/>
        </p:nvSpPr>
        <p:spPr>
          <a:xfrm>
            <a:off x="429768" y="2212848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Saul (Gilgal)</a:t>
            </a:r>
            <a:endParaRPr lang="en-US" sz="3200" dirty="0"/>
          </a:p>
        </p:txBody>
      </p:sp>
      <p:sp>
        <p:nvSpPr>
          <p:cNvPr id="22" name="c1_1"/>
          <p:cNvSpPr/>
          <p:nvPr/>
        </p:nvSpPr>
        <p:spPr>
          <a:xfrm>
            <a:off x="2103120" y="2167128"/>
            <a:ext cx="132588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3" name="t1_1"/>
          <p:cNvSpPr txBox="1"/>
          <p:nvPr/>
        </p:nvSpPr>
        <p:spPr>
          <a:xfrm>
            <a:off x="2167128" y="2212848"/>
            <a:ext cx="1216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Sam 13</a:t>
            </a:r>
            <a:endParaRPr lang="en-US" sz="3200" dirty="0"/>
          </a:p>
        </p:txBody>
      </p:sp>
      <p:sp>
        <p:nvSpPr>
          <p:cNvPr id="24" name="c1_2"/>
          <p:cNvSpPr/>
          <p:nvPr/>
        </p:nvSpPr>
        <p:spPr>
          <a:xfrm>
            <a:off x="3429000" y="2167128"/>
            <a:ext cx="361188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5" name="t1_2"/>
          <p:cNvSpPr txBox="1"/>
          <p:nvPr/>
        </p:nvSpPr>
        <p:spPr>
          <a:xfrm>
            <a:off x="3493008" y="2212848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Offered the sacrifice himself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urgency, scattering army</a:t>
            </a:r>
            <a:endParaRPr lang="en-US" sz="3200" dirty="0"/>
          </a:p>
        </p:txBody>
      </p:sp>
      <p:sp>
        <p:nvSpPr>
          <p:cNvPr id="26" name="c1_3"/>
          <p:cNvSpPr/>
          <p:nvPr/>
        </p:nvSpPr>
        <p:spPr>
          <a:xfrm>
            <a:off x="7040880" y="2167128"/>
            <a:ext cx="169164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7" name="t1_3"/>
          <p:cNvSpPr txBox="1"/>
          <p:nvPr/>
        </p:nvSpPr>
        <p:spPr>
          <a:xfrm>
            <a:off x="7104888" y="2212848"/>
            <a:ext cx="1581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Kingdom to pass from him</a:t>
            </a:r>
            <a:endParaRPr lang="en-US" sz="3200" dirty="0"/>
          </a:p>
        </p:txBody>
      </p:sp>
      <p:sp>
        <p:nvSpPr>
          <p:cNvPr id="28" name="c2_0"/>
          <p:cNvSpPr/>
          <p:nvPr/>
        </p:nvSpPr>
        <p:spPr>
          <a:xfrm>
            <a:off x="365760" y="2825496"/>
            <a:ext cx="1737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9" name="t2_0"/>
          <p:cNvSpPr txBox="1"/>
          <p:nvPr/>
        </p:nvSpPr>
        <p:spPr>
          <a:xfrm>
            <a:off x="429768" y="2871216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Saul (Amalek)</a:t>
            </a:r>
            <a:endParaRPr lang="en-US" sz="3200" dirty="0"/>
          </a:p>
        </p:txBody>
      </p:sp>
      <p:sp>
        <p:nvSpPr>
          <p:cNvPr id="30" name="c2_1"/>
          <p:cNvSpPr/>
          <p:nvPr/>
        </p:nvSpPr>
        <p:spPr>
          <a:xfrm>
            <a:off x="2103120" y="2825496"/>
            <a:ext cx="1325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1" name="t2_1"/>
          <p:cNvSpPr txBox="1"/>
          <p:nvPr/>
        </p:nvSpPr>
        <p:spPr>
          <a:xfrm>
            <a:off x="2167128" y="2871216"/>
            <a:ext cx="1216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Sam 15</a:t>
            </a:r>
            <a:endParaRPr lang="en-US" sz="3200" dirty="0"/>
          </a:p>
        </p:txBody>
      </p:sp>
      <p:sp>
        <p:nvSpPr>
          <p:cNvPr id="32" name="c2_2"/>
          <p:cNvSpPr/>
          <p:nvPr/>
        </p:nvSpPr>
        <p:spPr>
          <a:xfrm>
            <a:off x="3429000" y="2825496"/>
            <a:ext cx="3611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3" name="t2_2"/>
          <p:cNvSpPr txBox="1"/>
          <p:nvPr/>
        </p:nvSpPr>
        <p:spPr>
          <a:xfrm>
            <a:off x="3493008" y="2871216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Spared the best “to sacrifice”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edited the command</a:t>
            </a:r>
            <a:endParaRPr lang="en-US" sz="3200" dirty="0"/>
          </a:p>
        </p:txBody>
      </p:sp>
      <p:sp>
        <p:nvSpPr>
          <p:cNvPr id="34" name="c2_3"/>
          <p:cNvSpPr/>
          <p:nvPr/>
        </p:nvSpPr>
        <p:spPr>
          <a:xfrm>
            <a:off x="7040880" y="2825496"/>
            <a:ext cx="1691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5" name="t2_3"/>
          <p:cNvSpPr txBox="1"/>
          <p:nvPr/>
        </p:nvSpPr>
        <p:spPr>
          <a:xfrm>
            <a:off x="7104888" y="2871216"/>
            <a:ext cx="1581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as king</a:t>
            </a:r>
            <a:endParaRPr lang="en-US" sz="3200" dirty="0"/>
          </a:p>
        </p:txBody>
      </p:sp>
      <p:sp>
        <p:nvSpPr>
          <p:cNvPr id="36" name="c3_0"/>
          <p:cNvSpPr/>
          <p:nvPr/>
        </p:nvSpPr>
        <p:spPr>
          <a:xfrm>
            <a:off x="365760" y="3483864"/>
            <a:ext cx="173736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7" name="t3_0"/>
          <p:cNvSpPr txBox="1"/>
          <p:nvPr/>
        </p:nvSpPr>
        <p:spPr>
          <a:xfrm>
            <a:off x="429768" y="3529584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Moses</a:t>
            </a:r>
            <a:endParaRPr lang="en-US" sz="3200" dirty="0"/>
          </a:p>
        </p:txBody>
      </p:sp>
      <p:sp>
        <p:nvSpPr>
          <p:cNvPr id="38" name="c3_1"/>
          <p:cNvSpPr/>
          <p:nvPr/>
        </p:nvSpPr>
        <p:spPr>
          <a:xfrm>
            <a:off x="2103120" y="3483864"/>
            <a:ext cx="132588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39" name="t3_1"/>
          <p:cNvSpPr txBox="1"/>
          <p:nvPr/>
        </p:nvSpPr>
        <p:spPr>
          <a:xfrm>
            <a:off x="2167128" y="3529584"/>
            <a:ext cx="1216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 20</a:t>
            </a:r>
            <a:endParaRPr lang="en-US" sz="3200" dirty="0"/>
          </a:p>
        </p:txBody>
      </p:sp>
      <p:sp>
        <p:nvSpPr>
          <p:cNvPr id="40" name="c3_2"/>
          <p:cNvSpPr/>
          <p:nvPr/>
        </p:nvSpPr>
        <p:spPr>
          <a:xfrm>
            <a:off x="3429000" y="3483864"/>
            <a:ext cx="361188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1" name="t3_2"/>
          <p:cNvSpPr txBox="1"/>
          <p:nvPr/>
        </p:nvSpPr>
        <p:spPr>
          <a:xfrm>
            <a:off x="3493008" y="3529584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Struck the rock instead of speaking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water still came</a:t>
            </a:r>
            <a:endParaRPr lang="en-US" sz="3200" dirty="0"/>
          </a:p>
        </p:txBody>
      </p:sp>
      <p:sp>
        <p:nvSpPr>
          <p:cNvPr id="42" name="c3_3"/>
          <p:cNvSpPr/>
          <p:nvPr/>
        </p:nvSpPr>
        <p:spPr>
          <a:xfrm>
            <a:off x="7040880" y="3483864"/>
            <a:ext cx="169164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3" name="t3_3"/>
          <p:cNvSpPr txBox="1"/>
          <p:nvPr/>
        </p:nvSpPr>
        <p:spPr>
          <a:xfrm>
            <a:off x="7104888" y="3529584"/>
            <a:ext cx="1581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Barred from Canaan</a:t>
            </a:r>
            <a:endParaRPr lang="en-US" sz="3200" dirty="0"/>
          </a:p>
        </p:txBody>
      </p:sp>
      <p:sp>
        <p:nvSpPr>
          <p:cNvPr id="44" name="c4_0"/>
          <p:cNvSpPr/>
          <p:nvPr/>
        </p:nvSpPr>
        <p:spPr>
          <a:xfrm>
            <a:off x="365760" y="4142232"/>
            <a:ext cx="1737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5" name="t4_0"/>
          <p:cNvSpPr txBox="1"/>
          <p:nvPr/>
        </p:nvSpPr>
        <p:spPr>
          <a:xfrm>
            <a:off x="429768" y="4187952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Jeroboam</a:t>
            </a:r>
            <a:endParaRPr lang="en-US" sz="3200" dirty="0"/>
          </a:p>
        </p:txBody>
      </p:sp>
      <p:sp>
        <p:nvSpPr>
          <p:cNvPr id="46" name="c4_1"/>
          <p:cNvSpPr/>
          <p:nvPr/>
        </p:nvSpPr>
        <p:spPr>
          <a:xfrm>
            <a:off x="2103120" y="4142232"/>
            <a:ext cx="1325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7" name="t4_1"/>
          <p:cNvSpPr txBox="1"/>
          <p:nvPr/>
        </p:nvSpPr>
        <p:spPr>
          <a:xfrm>
            <a:off x="2167128" y="4187952"/>
            <a:ext cx="1216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Kgs 12</a:t>
            </a:r>
            <a:endParaRPr lang="en-US" sz="3200" dirty="0"/>
          </a:p>
        </p:txBody>
      </p:sp>
      <p:sp>
        <p:nvSpPr>
          <p:cNvPr id="48" name="c4_2"/>
          <p:cNvSpPr/>
          <p:nvPr/>
        </p:nvSpPr>
        <p:spPr>
          <a:xfrm>
            <a:off x="3429000" y="4142232"/>
            <a:ext cx="36118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49" name="t4_2"/>
          <p:cNvSpPr txBox="1"/>
          <p:nvPr/>
        </p:nvSpPr>
        <p:spPr>
          <a:xfrm>
            <a:off x="3493008" y="4187952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Convenient worship: calves, new feasts, new priests</a:t>
            </a:r>
            <a:endParaRPr lang="en-US" sz="3200" dirty="0"/>
          </a:p>
        </p:txBody>
      </p:sp>
      <p:sp>
        <p:nvSpPr>
          <p:cNvPr id="50" name="c4_3"/>
          <p:cNvSpPr/>
          <p:nvPr/>
        </p:nvSpPr>
        <p:spPr>
          <a:xfrm>
            <a:off x="7040880" y="4142232"/>
            <a:ext cx="16916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1" name="t4_3"/>
          <p:cNvSpPr txBox="1"/>
          <p:nvPr/>
        </p:nvSpPr>
        <p:spPr>
          <a:xfrm>
            <a:off x="7104888" y="4187952"/>
            <a:ext cx="1581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sin of Jeroboam”</a:t>
            </a:r>
            <a:endParaRPr lang="en-US" sz="3200" dirty="0"/>
          </a:p>
        </p:txBody>
      </p:sp>
      <p:sp>
        <p:nvSpPr>
          <p:cNvPr id="52" name="c5_0"/>
          <p:cNvSpPr/>
          <p:nvPr/>
        </p:nvSpPr>
        <p:spPr>
          <a:xfrm>
            <a:off x="365760" y="4800600"/>
            <a:ext cx="173736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3" name="t5_0"/>
          <p:cNvSpPr txBox="1"/>
          <p:nvPr/>
        </p:nvSpPr>
        <p:spPr>
          <a:xfrm>
            <a:off x="429768" y="4846320"/>
            <a:ext cx="1627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Uzziah</a:t>
            </a:r>
            <a:endParaRPr lang="en-US" sz="3200" dirty="0"/>
          </a:p>
        </p:txBody>
      </p:sp>
      <p:sp>
        <p:nvSpPr>
          <p:cNvPr id="54" name="c5_1"/>
          <p:cNvSpPr/>
          <p:nvPr/>
        </p:nvSpPr>
        <p:spPr>
          <a:xfrm>
            <a:off x="2103120" y="4800600"/>
            <a:ext cx="132588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5" name="t5_1"/>
          <p:cNvSpPr txBox="1"/>
          <p:nvPr/>
        </p:nvSpPr>
        <p:spPr>
          <a:xfrm>
            <a:off x="2167128" y="4846320"/>
            <a:ext cx="1216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Chr 26</a:t>
            </a:r>
            <a:endParaRPr lang="en-US" sz="3200" dirty="0"/>
          </a:p>
        </p:txBody>
      </p:sp>
      <p:sp>
        <p:nvSpPr>
          <p:cNvPr id="56" name="c5_2"/>
          <p:cNvSpPr/>
          <p:nvPr/>
        </p:nvSpPr>
        <p:spPr>
          <a:xfrm>
            <a:off x="3429000" y="4800600"/>
            <a:ext cx="361188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7" name="t5_2"/>
          <p:cNvSpPr txBox="1"/>
          <p:nvPr/>
        </p:nvSpPr>
        <p:spPr>
          <a:xfrm>
            <a:off x="3493008" y="4846320"/>
            <a:ext cx="3502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king burned incense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not his to offer</a:t>
            </a:r>
            <a:endParaRPr lang="en-US" sz="3200" dirty="0"/>
          </a:p>
        </p:txBody>
      </p:sp>
      <p:sp>
        <p:nvSpPr>
          <p:cNvPr id="58" name="c5_3"/>
          <p:cNvSpPr/>
          <p:nvPr/>
        </p:nvSpPr>
        <p:spPr>
          <a:xfrm>
            <a:off x="7040880" y="4800600"/>
            <a:ext cx="1691640" cy="658368"/>
          </a:xfrm>
          <a:prstGeom prst="rect">
            <a:avLst/>
          </a:prstGeom>
          <a:solidFill>
            <a:srgbClr val="F2F4F7"/>
          </a:solidFill>
          <a:ln w="6350">
            <a:solidFill>
              <a:srgbClr val="D9DDE3"/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59" name="t5_3"/>
          <p:cNvSpPr txBox="1"/>
          <p:nvPr/>
        </p:nvSpPr>
        <p:spPr>
          <a:xfrm>
            <a:off x="7104888" y="4846320"/>
            <a:ext cx="1581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Struck with leprosy</a:t>
            </a:r>
            <a:endParaRPr lang="en-US" sz="3200" dirty="0"/>
          </a:p>
        </p:txBody>
      </p:sp>
      <p:sp>
        <p:nvSpPr>
          <p:cNvPr id="60" name="note"/>
          <p:cNvSpPr txBox="1"/>
          <p:nvPr/>
        </p:nvSpPr>
        <p:spPr>
          <a:xfrm>
            <a:off x="365760" y="5733288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 lack of zeal.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(Saul), success (Moses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water still came!), and political wisdom (Jeroboam) were all real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none authorized the change. Even a good result cannot justify an unauthorized method.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Warning in the New Testament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 did not expire with the old covenant</a:t>
            </a:r>
            <a:endParaRPr lang="en-US" sz="2000" dirty="0"/>
          </a:p>
        </p:txBody>
      </p:sp>
      <p:sp>
        <p:nvSpPr>
          <p:cNvPr id="4" name="b1"/>
          <p:cNvSpPr txBox="1"/>
          <p:nvPr/>
        </p:nvSpPr>
        <p:spPr>
          <a:xfrm>
            <a:off x="365760" y="1097280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Jesus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human tradition as vain worship: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“These people honor me with their lips, but their heart is far from me, and they worship me in vain, teaching as doctrines the commandments of men.”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(Mark 7:6–7, 9)</a:t>
            </a:r>
            <a:endParaRPr lang="en-US" sz="2000" dirty="0"/>
          </a:p>
        </p:txBody>
      </p:sp>
      <p:sp>
        <p:nvSpPr>
          <p:cNvPr id="5" name="b2"/>
          <p:cNvSpPr txBox="1"/>
          <p:nvPr/>
        </p:nvSpPr>
        <p:spPr>
          <a:xfrm>
            <a:off x="365760" y="2507175"/>
            <a:ext cx="8412480" cy="708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Ananias and Sapphira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(Acts 5)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appearance of devotion with deception inside it. Judged at the birth of the church, not the old covenant.</a:t>
            </a:r>
            <a:endParaRPr lang="en-US" sz="2000" dirty="0"/>
          </a:p>
        </p:txBody>
      </p:sp>
      <p:sp>
        <p:nvSpPr>
          <p:cNvPr id="6" name="b3"/>
          <p:cNvSpPr txBox="1"/>
          <p:nvPr/>
        </p:nvSpPr>
        <p:spPr>
          <a:xfrm>
            <a:off x="365760" y="3390704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Corinth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 Cor 11:20)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same bread, same cup, same gathering,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yet: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 is </a:t>
            </a:r>
            <a:r>
              <a:rPr lang="en-US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Lord’s Supper you eat.”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 survived; the substance was gone.</a:t>
            </a:r>
            <a:endParaRPr lang="en-US" sz="2000" dirty="0"/>
          </a:p>
        </p:txBody>
      </p:sp>
      <p:sp>
        <p:nvSpPr>
          <p:cNvPr id="7" name="b4"/>
          <p:cNvSpPr txBox="1"/>
          <p:nvPr/>
        </p:nvSpPr>
        <p:spPr>
          <a:xfrm>
            <a:off x="365760" y="4526279"/>
            <a:ext cx="8412480" cy="2038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sharpest case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sincerity that was flatly wrong: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have lived my life with a clear conscience before God to this day.” </a:t>
            </a:r>
          </a:p>
          <a:p>
            <a:pPr algn="l"/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(Acts 23:1)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said this truthfully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had persecuted the church with that same clear conscience (Acts 26:9–11).
</a:t>
            </a:r>
            <a:r>
              <a:rPr lang="en-US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conscience is a gift. It is not proof that you are right.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Principle: The Obedience of Faith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Romans opens and closes with it</a:t>
            </a:r>
            <a:endParaRPr lang="en-US" sz="2800" dirty="0"/>
          </a:p>
        </p:txBody>
      </p:sp>
      <p:sp>
        <p:nvSpPr>
          <p:cNvPr id="4" name="c1"/>
          <p:cNvSpPr txBox="1"/>
          <p:nvPr/>
        </p:nvSpPr>
        <p:spPr>
          <a:xfrm>
            <a:off x="365760" y="1068705"/>
            <a:ext cx="8412480" cy="1217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“Through him we have received grace and our apostleship to bring about the obedience of faith among all the Gentiles.”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(Romans 1:5)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… and again at the very end: </a:t>
            </a:r>
            <a:r>
              <a:rPr lang="en-US" sz="20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 bring about the obedience of faith.”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(Romans 16:26)</a:t>
            </a:r>
            <a:endParaRPr lang="en-US" sz="2400" dirty="0"/>
          </a:p>
        </p:txBody>
      </p:sp>
      <p:sp>
        <p:nvSpPr>
          <p:cNvPr id="5" name="c2"/>
          <p:cNvSpPr txBox="1"/>
          <p:nvPr/>
        </p:nvSpPr>
        <p:spPr>
          <a:xfrm>
            <a:off x="365760" y="2469597"/>
            <a:ext cx="8412480" cy="857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 is not merely belief. Faith hears God’s word, trusts His wisdom, and walks in the way He revealed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when another way looks easier, cheaper, or more effective.</a:t>
            </a:r>
            <a:endParaRPr lang="en-US" sz="2000" dirty="0"/>
          </a:p>
        </p:txBody>
      </p:sp>
      <p:sp>
        <p:nvSpPr>
          <p:cNvPr id="6" name="c3"/>
          <p:cNvSpPr txBox="1"/>
          <p:nvPr/>
        </p:nvSpPr>
        <p:spPr>
          <a:xfrm>
            <a:off x="365760" y="3510979"/>
            <a:ext cx="8412480" cy="171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necessary distinction (Restoration teachers put it plainly):
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An </a:t>
            </a:r>
            <a:r>
              <a:rPr lang="en-US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what God established. We have no authority to change it.
•  An </a:t>
            </a:r>
            <a:r>
              <a:rPr lang="en-US" b="1" u="sng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expedient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lawful aid that helps carry out what God commanded without altering it.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Carrying the Ark by poles was the institution. A smoother road would have been an expedient. The cart replaced the institution 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is the line.</a:t>
            </a:r>
            <a:endParaRPr lang="en-US" dirty="0"/>
          </a:p>
        </p:txBody>
      </p:sp>
      <p:sp>
        <p:nvSpPr>
          <p:cNvPr id="7" name="c4"/>
          <p:cNvSpPr txBox="1"/>
          <p:nvPr/>
        </p:nvSpPr>
        <p:spPr>
          <a:xfrm>
            <a:off x="365760" y="5407304"/>
            <a:ext cx="8412480" cy="88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governing question of all worship and teaching:</a:t>
            </a:r>
            <a:endParaRPr lang="en-US" b="1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“Will this work?”  Not “Do we mean well?”  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“Has God spoken?”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not go beyond what is written” (1 Cor 4:6).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minutes 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this is the week’s practice</a:t>
            </a:r>
            <a:endParaRPr lang="en-US" sz="2800" dirty="0"/>
          </a:p>
        </p:txBody>
      </p:sp>
      <p:sp>
        <p:nvSpPr>
          <p:cNvPr id="4" name="x1"/>
          <p:cNvSpPr txBox="1"/>
          <p:nvPr/>
        </p:nvSpPr>
        <p:spPr>
          <a:xfrm>
            <a:off x="457200" y="1325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“it works” feel like divine approval? Where does that instinct come from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where does Scripture correct it?</a:t>
            </a:r>
            <a:endParaRPr lang="en-US" sz="2000" dirty="0"/>
          </a:p>
        </p:txBody>
      </p:sp>
      <p:sp>
        <p:nvSpPr>
          <p:cNvPr id="5" name="x2"/>
          <p:cNvSpPr txBox="1"/>
          <p:nvPr/>
        </p:nvSpPr>
        <p:spPr>
          <a:xfrm>
            <a:off x="457200" y="2404872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we build “new carts” today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sincere improvements on what God prescribed? How do we tell an expedient from a replacement?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Like a Berean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next week 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eager, and examining</a:t>
            </a:r>
            <a:endParaRPr lang="en-US" sz="2000" dirty="0"/>
          </a:p>
        </p:txBody>
      </p:sp>
      <p:sp>
        <p:nvSpPr>
          <p:cNvPr id="4" name="z1"/>
          <p:cNvSpPr txBox="1"/>
          <p:nvPr/>
        </p:nvSpPr>
        <p:spPr>
          <a:xfrm>
            <a:off x="365760" y="118872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next week, read:
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Romans 9:30–10:13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Israel pursued righteousness and missed it. How? What were they sincere about?
•  Watch for 10:3  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“seeking to establish their own righteousness, they did not submit to God’s.”</a:t>
            </a:r>
            <a:endParaRPr lang="en-US" sz="2000" dirty="0"/>
          </a:p>
        </p:txBody>
      </p:sp>
      <p:sp>
        <p:nvSpPr>
          <p:cNvPr id="5" name="z2"/>
          <p:cNvSpPr txBox="1"/>
          <p:nvPr/>
        </p:nvSpPr>
        <p:spPr>
          <a:xfrm>
            <a:off x="365760" y="290322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 begins Unit II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Discernment: </a:t>
            </a:r>
            <a:r>
              <a:rPr lang="en-US" sz="20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Righteousnesses, and How God Is Known. We turn from the failure of sincerity to the grace that answers it.</a:t>
            </a:r>
            <a:endParaRPr lang="en-US" sz="2000" dirty="0"/>
          </a:p>
        </p:txBody>
      </p:sp>
      <p:sp>
        <p:nvSpPr>
          <p:cNvPr id="6" name="z3"/>
          <p:cNvSpPr txBox="1"/>
          <p:nvPr/>
        </p:nvSpPr>
        <p:spPr>
          <a:xfrm>
            <a:off x="365760" y="406908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this week in one sentence:
</a:t>
            </a:r>
            <a:r>
              <a:rPr lang="en-US" sz="20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Sincerity and success are real </a:t>
            </a:r>
            <a:r>
              <a:rPr lang="en-US" sz="20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sz="20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neither one is the standard. “Has God spoken?” is.</a:t>
            </a:r>
            <a:endParaRPr lang="en-US" sz="2000" dirty="0"/>
          </a:p>
        </p:txBody>
      </p:sp>
      <p:sp>
        <p:nvSpPr>
          <p:cNvPr id="7" name="z4"/>
          <p:cNvSpPr txBox="1"/>
          <p:nvPr/>
        </p:nvSpPr>
        <p:spPr>
          <a:xfrm>
            <a:off x="365760" y="52578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did not seek him according to the prescribed ordinance.”  (1 Chronicles 15:13)</a:t>
            </a:r>
            <a:endParaRPr lang="en-US" sz="2000" dirty="0"/>
          </a:p>
        </p:txBody>
      </p:sp>
      <p:sp>
        <p:nvSpPr>
          <p:cNvPr id="8" name="z5"/>
          <p:cNvSpPr txBox="1"/>
          <p:nvPr/>
        </p:nvSpPr>
        <p:spPr>
          <a:xfrm>
            <a:off x="365760" y="6080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sz="2000" b="1" u="sng" dirty="0" err="1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TeachTheWord.Church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Title"/>
          <p:cNvSpPr txBox="1"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Road: Twelve Weeks</a:t>
            </a:r>
            <a:endParaRPr lang="en-US" sz="1600" dirty="0"/>
          </a:p>
        </p:txBody>
      </p:sp>
      <p:sp>
        <p:nvSpPr>
          <p:cNvPr id="3" name="HeadSub"/>
          <p:cNvSpPr txBox="1"/>
          <p:nvPr/>
        </p:nvSpPr>
        <p:spPr>
          <a:xfrm>
            <a:off x="228600" y="56692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F81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Good, through sacrifice and testing, to commission</a:t>
            </a:r>
            <a:endParaRPr lang="en-US" sz="2000" dirty="0"/>
          </a:p>
        </p:txBody>
      </p:sp>
      <p:sp>
        <p:nvSpPr>
          <p:cNvPr id="4" name="u0b"/>
          <p:cNvSpPr/>
          <p:nvPr/>
        </p:nvSpPr>
        <p:spPr>
          <a:xfrm>
            <a:off x="365760" y="11430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u0w"/>
          <p:cNvSpPr txBox="1"/>
          <p:nvPr/>
        </p:nvSpPr>
        <p:spPr>
          <a:xfrm>
            <a:off x="365760" y="122529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1–3
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6" name="u0d"/>
          <p:cNvSpPr txBox="1"/>
          <p:nvPr/>
        </p:nvSpPr>
        <p:spPr>
          <a:xfrm>
            <a:off x="1965960" y="126187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Good · sacrifice · why sincerity isn’t enough</a:t>
            </a:r>
            <a:endParaRPr lang="en-US" sz="2000" dirty="0"/>
          </a:p>
        </p:txBody>
      </p:sp>
      <p:sp>
        <p:nvSpPr>
          <p:cNvPr id="7" name="u1b"/>
          <p:cNvSpPr/>
          <p:nvPr/>
        </p:nvSpPr>
        <p:spPr>
          <a:xfrm>
            <a:off x="365760" y="1929384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1F497D">
              <a:alpha val="92000"/>
            </a:srgbClr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u1w"/>
          <p:cNvSpPr txBox="1"/>
          <p:nvPr/>
        </p:nvSpPr>
        <p:spPr>
          <a:xfrm>
            <a:off x="365760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4–6
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DISCERNMENT</a:t>
            </a:r>
            <a:endParaRPr lang="en-US" sz="1600" dirty="0"/>
          </a:p>
        </p:txBody>
      </p:sp>
      <p:sp>
        <p:nvSpPr>
          <p:cNvPr id="9" name="u1d"/>
          <p:cNvSpPr txBox="1"/>
          <p:nvPr/>
        </p:nvSpPr>
        <p:spPr>
          <a:xfrm>
            <a:off x="1965960" y="2048256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righteousnesses · the Berean method · love in truth</a:t>
            </a:r>
            <a:endParaRPr lang="en-US" sz="2000" dirty="0"/>
          </a:p>
        </p:txBody>
      </p:sp>
      <p:sp>
        <p:nvSpPr>
          <p:cNvPr id="10" name="u2b"/>
          <p:cNvSpPr/>
          <p:nvPr/>
        </p:nvSpPr>
        <p:spPr>
          <a:xfrm>
            <a:off x="365760" y="2715768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1F497D">
              <a:alpha val="84000"/>
            </a:srgbClr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u2w"/>
          <p:cNvSpPr txBox="1"/>
          <p:nvPr/>
        </p:nvSpPr>
        <p:spPr>
          <a:xfrm>
            <a:off x="365760" y="27980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7–9
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600" dirty="0"/>
          </a:p>
        </p:txBody>
      </p:sp>
      <p:sp>
        <p:nvSpPr>
          <p:cNvPr id="12" name="u2d"/>
          <p:cNvSpPr txBox="1"/>
          <p:nvPr/>
        </p:nvSpPr>
        <p:spPr>
          <a:xfrm>
            <a:off x="1965960" y="28346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Covenant tests · the church’s tests · living sacrifice</a:t>
            </a:r>
            <a:endParaRPr lang="en-US" sz="2000" dirty="0"/>
          </a:p>
        </p:txBody>
      </p:sp>
      <p:sp>
        <p:nvSpPr>
          <p:cNvPr id="13" name="u3b"/>
          <p:cNvSpPr/>
          <p:nvPr/>
        </p:nvSpPr>
        <p:spPr>
          <a:xfrm>
            <a:off x="365760" y="3502152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1F497D">
              <a:alpha val="76000"/>
            </a:srgbClr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u3w"/>
          <p:cNvSpPr txBox="1"/>
          <p:nvPr/>
        </p:nvSpPr>
        <p:spPr>
          <a:xfrm>
            <a:off x="365760" y="35844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10–11
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GOD’S HOUSE</a:t>
            </a:r>
            <a:endParaRPr lang="en-US" sz="1600" dirty="0"/>
          </a:p>
        </p:txBody>
      </p:sp>
      <p:sp>
        <p:nvSpPr>
          <p:cNvPr id="15" name="u3d"/>
          <p:cNvSpPr txBox="1"/>
          <p:nvPr/>
        </p:nvSpPr>
        <p:spPr>
          <a:xfrm>
            <a:off x="1965960" y="362102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Apostolic authority · created order</a:t>
            </a:r>
            <a:endParaRPr lang="en-US" sz="2000" dirty="0"/>
          </a:p>
        </p:txBody>
      </p:sp>
      <p:sp>
        <p:nvSpPr>
          <p:cNvPr id="16" name="u4b"/>
          <p:cNvSpPr/>
          <p:nvPr/>
        </p:nvSpPr>
        <p:spPr>
          <a:xfrm>
            <a:off x="365760" y="4288536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1F497D">
              <a:alpha val="68000"/>
            </a:srgbClr>
          </a:solidFill>
          <a:ln w="12700">
            <a:solidFill>
              <a:srgbClr val="1F49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u4w"/>
          <p:cNvSpPr txBox="1"/>
          <p:nvPr/>
        </p:nvSpPr>
        <p:spPr>
          <a:xfrm>
            <a:off x="365760" y="437083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12
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</a:t>
            </a:r>
            <a:endParaRPr lang="en-US" sz="1600" dirty="0"/>
          </a:p>
        </p:txBody>
      </p:sp>
      <p:sp>
        <p:nvSpPr>
          <p:cNvPr id="18" name="u4d"/>
          <p:cNvSpPr txBox="1"/>
          <p:nvPr/>
        </p:nvSpPr>
        <p:spPr>
          <a:xfrm>
            <a:off x="1965960" y="440740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 · “by this time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teachers”</a:t>
            </a:r>
            <a:endParaRPr lang="en-US" sz="2000" dirty="0"/>
          </a:p>
        </p:txBody>
      </p:sp>
      <p:sp>
        <p:nvSpPr>
          <p:cNvPr id="19" name="g1"/>
          <p:cNvSpPr txBox="1"/>
          <p:nvPr/>
        </p:nvSpPr>
        <p:spPr>
          <a:xfrm>
            <a:off x="365760" y="5093208"/>
            <a:ext cx="8412480" cy="1655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“Therefore, I exhort you, brothers and sisters, by the mercies of God, to present your bodies as a sacrifice 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</a:t>
            </a:r>
            <a:r>
              <a:rPr lang="en-US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alive, holy, and pleasing to God…” </a:t>
            </a:r>
            <a:r>
              <a:rPr lang="en-US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(Romans 12:1)</a:t>
            </a:r>
            <a:endParaRPr lang="en-US" dirty="0"/>
          </a:p>
          <a:p>
            <a:pPr marL="0" indent="0" algn="l">
              <a:buNone/>
            </a:pPr>
            <a:endParaRPr lang="en-US" sz="1600" b="1" u="sng" dirty="0">
              <a:solidFill>
                <a:srgbClr val="1F497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3453</Words>
  <Application>Microsoft Macintosh PowerPoint</Application>
  <PresentationFormat>On-screen Show (4:3)</PresentationFormat>
  <Paragraphs>146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Phil Pennington</cp:lastModifiedBy>
  <cp:revision>15</cp:revision>
  <dcterms:created xsi:type="dcterms:W3CDTF">2026-09-30T13:11:29Z</dcterms:created>
  <dcterms:modified xsi:type="dcterms:W3CDTF">2026-10-17T13:14:10Z</dcterms:modified>
</cp:coreProperties>
</file>