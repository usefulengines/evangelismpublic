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[0:00] As the class settles: “Last week ended on Saul — layer three mistaken for layer four. This week is the whole Bible’s version of that mistake, and it has a name: sincere, and wrong.” Point at the title verse — that is David, and it is the thesis of the hour.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[0:00–12:00]
[CLICK] Set the scene generously — do not paint David as careless. The intent was honor; the crowd was worshiping. Note the tell: the new cart is exactly the Philistine method (1 Sam 6). Sincere improvement, borrowed from the world.
[CLICK] God had already spoken — poles, shoulders, no touch. The instructions existed and were skipped.
[CLICK] Uzzah’s reach is instinctive and understandable — that is what makes it hard. The problem started at the loading dock, not at the stumble.
[CLICK] David’s own verdict, months later — the class read this in advance (Week 2 assignment). Let someone say it before you do. The diagnosis is his, not ours: not sincerity, method. Transition: “Uzzah is not a special case. This is a pattern that runs the length of Scripture.”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[12:00–28:00 — ~2.5 min per case; the table appears whole on entry, then you walk it]
This slide is not click-built — the whole table is visible so the class sees the PATTERN at a glance. Walk row by row verbally:
• Nadab &amp; Abihu — Scripture never questions their sincerity; worship still belongs to God, not the worshiper (Lev 10:3).
• Saul at Gilgal — urgency felt like justification. It wasn’t.
• Saul at Amalek — last week’s man; sacrifice as substitute.
• Moses — THE key case: the miracle WORKED, water came, and he was still barred. Results are not approval. Land this hard; it sets up the discussion question.
• Jeroboam — the changes solved a genuine political problem; pragmatism replaced revelation.
• Uzziah — competence in one area (a good king) did not license changes in worship.
[The pattern-note is the takeaway — read it last.] Transition: “Surely this is an Old-Testament severity thing. It is not.”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[28:00–38:00]
[CLICK] Mark 7 — Jesus’ own words. “In vain” = empty, pointless. The engine of vain worship is teaching human commands as if divine. He does not condemn sincerity; he condemns the swap.
[CLICK] Ananias — the point is timing: this is the NEW covenant, Spirit newly given, and the first recorded church sin is counterfeit devotion.
[CLICK] Corinth — every external box checked; not the Lord’s Supper. Chilling because it is so ordinary.
[CLICK] Paul/Acts 23 — the capstone. He is Exhibit A that sincerity and correctness are different things. He felt clean while wrong. This disarms “but I really mean it” before discussion. Transition: “So what IS the standard, if not sincerity or results?”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[38:00–45:00]
[CLICK] Romans’ bookends — the same phrase opens and closes the letter; this is Paul telling us what the gospel is FOR. Tie back: Week 1 named it, Week 2 stacked it, today we see its opposite all over Scripture.
[CLICK] Faith defined as hearing-trusting-walking. The “easier/cheaper/more effective” clause is the whole temptation in Uzzah, Jeroboam, Corinth.
[CLICK] Institution vs. expedient — this is the practical tool the class needs for the discussion. Give a modern-neutral example: pews and sound systems are expedients; they aid, they don’t replace. Be careful and fair here — reasonable believers disagree on where specific lines fall; teach the CATEGORY, not a list of verdicts.
[CLICK] The governing question. Say all three. Land “Has God spoken?” Then straight to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[45:00–55:00]
Q1: The instinct is deep and not stupid — in most of life, results DO validate methods (medicine, engineering). Scripture’s correction: worship is not pragmatic because its object is a Person with revealed preferences, not a problem to be solved. Moses’ rock is the proof text — it worked and was still wrong.
Q2: The RISK question. Aim for the category (institution vs. expedient), not a fight over specifics. If someone names a hot-button local practice, redirect: “Good test case — which is it, and by what Scripture? Let’s reason it, not vote on it.” Model Berean method over verdict-issuing.
[CLICK] Read the guardrail aloud if the room is heading toward grievance.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close, ~2 min]
[CLICK] Next week’s reading — note the pivot: three weeks of “sincerity isn’t enough” could leave the class anxious. Romans 10 is the turn toward grace. Signal it: “We have diagnosed the disease for three weeks; next week the cure.”
[CLICK] Preview Unit II.
[CLICK] The carry sentence.
[CLICK] Close on David’s verdict one more time. Dismiss on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tinyurl.com/TeachTheWor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tinyurl.com/TeachTheWor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548640" y="685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Obedience of Faith — Week 3</a:t>
            </a:r>
            <a:endParaRPr lang="en-US" sz="1600" dirty="0"/>
          </a:p>
        </p:txBody>
      </p:sp>
      <p:sp>
        <p:nvSpPr>
          <p:cNvPr id="3" name="t1"/>
          <p:cNvSpPr txBox="1"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Intentions Are Not Enough</a:t>
            </a:r>
            <a:endParaRPr lang="en-US" sz="1600" dirty="0"/>
          </a:p>
        </p:txBody>
      </p:sp>
      <p:sp>
        <p:nvSpPr>
          <p:cNvPr id="4" name="t2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of worship is not “Will it work?” but “Has God spoken?”</a:t>
            </a:r>
            <a:endParaRPr lang="en-US" sz="1600" dirty="0"/>
          </a:p>
        </p:txBody>
      </p:sp>
      <p:sp>
        <p:nvSpPr>
          <p:cNvPr id="5" name="t3"/>
          <p:cNvSpPr txBox="1"/>
          <p:nvPr/>
        </p:nvSpPr>
        <p:spPr>
          <a:xfrm>
            <a:off x="914400" y="30632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first time you did not carry it; that is why the LORD our God attacked us, because we did not seek him according to the prescribed ordinance.”</a:t>
            </a:r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Chronicles 15:13)</a:t>
            </a:r>
            <a:endParaRPr lang="en-US" sz="1600" dirty="0"/>
          </a:p>
        </p:txBody>
      </p:sp>
      <p:sp>
        <p:nvSpPr>
          <p:cNvPr id="6" name="t4"/>
          <p:cNvSpPr txBox="1"/>
          <p:nvPr/>
        </p:nvSpPr>
        <p:spPr>
          <a:xfrm>
            <a:off x="914400" y="4800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https://tinyurl.com/TeachTheWord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Uzzah and the New Cart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Samuel 6 — the problem began before the touch</a:t>
            </a:r>
            <a:endParaRPr lang="en-US" sz="1600" dirty="0"/>
          </a:p>
        </p:txBody>
      </p:sp>
      <p:sp>
        <p:nvSpPr>
          <p:cNvPr id="4" name="a1"/>
          <p:cNvSpPr txBox="1"/>
          <p:nvPr/>
        </p:nvSpPr>
        <p:spPr>
          <a:xfrm>
            <a:off x="320040" y="100584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David brings the Ark to Jerusalem — right goal, real joy, thousands worshiping. They load it on </a:t>
            </a:r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cart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 Sam 6:3). Clean. Expensive. Respectful. And exactly how the Philistines had moved it (1 Sam 6:7).</a:t>
            </a:r>
            <a:endParaRPr lang="en-US" sz="1600" dirty="0"/>
          </a:p>
        </p:txBody>
      </p:sp>
      <p:sp>
        <p:nvSpPr>
          <p:cNvPr id="5" name="a2"/>
          <p:cNvSpPr txBox="1"/>
          <p:nvPr/>
        </p:nvSpPr>
        <p:spPr>
          <a:xfrm>
            <a:off x="320040" y="2057400"/>
            <a:ext cx="8503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God had already spoken: 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Ark travels on poles, carried on the shoulders of Levites — and is never touched (Ex 25:14–15; Num 4:15; 7:9). The cart was borrowed from the pagans, not from the Word.</a:t>
            </a:r>
            <a:endParaRPr lang="en-US" sz="1600" dirty="0"/>
          </a:p>
        </p:txBody>
      </p:sp>
      <p:sp>
        <p:nvSpPr>
          <p:cNvPr id="6" name="a3"/>
          <p:cNvSpPr txBox="1"/>
          <p:nvPr/>
        </p:nvSpPr>
        <p:spPr>
          <a:xfrm>
            <a:off x="320040" y="3246120"/>
            <a:ext cx="8503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oxen stumble. Uzzah reaches out to steady the Ark — the most natural motion in the world — and dies (2 Sam 6:6–7).
</a:t>
            </a:r>
            <a:pPr algn="l"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touch was not the beginning of the problem. It was the moment an earlier failure came due.</a:t>
            </a:r>
            <a:endParaRPr lang="en-US" sz="1600" dirty="0"/>
          </a:p>
        </p:txBody>
      </p:sp>
      <p:sp>
        <p:nvSpPr>
          <p:cNvPr id="7" name="a4"/>
          <p:cNvSpPr txBox="1"/>
          <p:nvPr/>
        </p:nvSpPr>
        <p:spPr>
          <a:xfrm>
            <a:off x="320040" y="4434840"/>
            <a:ext cx="8503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later, David gets it right — poles, Levites, the Law (1 Chr 15) — and names the first failure exactly:
</a:t>
            </a:r>
            <a:pPr algn="l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first time you did not carry it; that is why the LORD our God attacked us, because we did not seek him according to the prescribed ordinance.” 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Chronicles 15:13)</a:t>
            </a:r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“we lacked sincerity.” Not “our motives were wrong.”  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u="sng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“We did not seek him the way he said.”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Repeating Pattern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Sincere people, unauthorized methods, the same result</a:t>
            </a:r>
            <a:endParaRPr lang="en-US" sz="1600" dirty="0"/>
          </a:p>
        </p:txBody>
      </p:sp>
      <p:sp>
        <p:nvSpPr>
          <p:cNvPr id="4" name="h0"/>
          <p:cNvSpPr/>
          <p:nvPr/>
        </p:nvSpPr>
        <p:spPr>
          <a:xfrm>
            <a:off x="365760" y="1417320"/>
            <a:ext cx="1737360" cy="38404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hh0"/>
          <p:cNvSpPr txBox="1"/>
          <p:nvPr/>
        </p:nvSpPr>
        <p:spPr>
          <a:xfrm>
            <a:off x="420624" y="14721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600" dirty="0"/>
          </a:p>
        </p:txBody>
      </p:sp>
      <p:sp>
        <p:nvSpPr>
          <p:cNvPr id="6" name="h1"/>
          <p:cNvSpPr/>
          <p:nvPr/>
        </p:nvSpPr>
        <p:spPr>
          <a:xfrm>
            <a:off x="2103120" y="1417320"/>
            <a:ext cx="1325880" cy="38404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hh1"/>
          <p:cNvSpPr txBox="1"/>
          <p:nvPr/>
        </p:nvSpPr>
        <p:spPr>
          <a:xfrm>
            <a:off x="2157984" y="14721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600" dirty="0"/>
          </a:p>
        </p:txBody>
      </p:sp>
      <p:sp>
        <p:nvSpPr>
          <p:cNvPr id="8" name="h2"/>
          <p:cNvSpPr/>
          <p:nvPr/>
        </p:nvSpPr>
        <p:spPr>
          <a:xfrm>
            <a:off x="3429000" y="1417320"/>
            <a:ext cx="3611880" cy="38404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hh2"/>
          <p:cNvSpPr txBox="1"/>
          <p:nvPr/>
        </p:nvSpPr>
        <p:spPr>
          <a:xfrm>
            <a:off x="3483864" y="147218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did</a:t>
            </a:r>
            <a:endParaRPr lang="en-US" sz="1600" dirty="0"/>
          </a:p>
        </p:txBody>
      </p:sp>
      <p:sp>
        <p:nvSpPr>
          <p:cNvPr id="10" name="h3"/>
          <p:cNvSpPr/>
          <p:nvPr/>
        </p:nvSpPr>
        <p:spPr>
          <a:xfrm>
            <a:off x="7040880" y="1417320"/>
            <a:ext cx="1691640" cy="38404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hh3"/>
          <p:cNvSpPr txBox="1"/>
          <p:nvPr/>
        </p:nvSpPr>
        <p:spPr>
          <a:xfrm>
            <a:off x="7095744" y="147218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1600" dirty="0"/>
          </a:p>
        </p:txBody>
      </p:sp>
      <p:sp>
        <p:nvSpPr>
          <p:cNvPr id="12" name="c0_0"/>
          <p:cNvSpPr/>
          <p:nvPr/>
        </p:nvSpPr>
        <p:spPr>
          <a:xfrm>
            <a:off x="365760" y="1801368"/>
            <a:ext cx="17373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13" name="t0_0"/>
          <p:cNvSpPr txBox="1"/>
          <p:nvPr/>
        </p:nvSpPr>
        <p:spPr>
          <a:xfrm>
            <a:off x="429768" y="1847088"/>
            <a:ext cx="16276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Nadab &amp; Abihu</a:t>
            </a:r>
            <a:endParaRPr lang="en-US" sz="1600" dirty="0"/>
          </a:p>
        </p:txBody>
      </p:sp>
      <p:sp>
        <p:nvSpPr>
          <p:cNvPr id="14" name="c0_1"/>
          <p:cNvSpPr/>
          <p:nvPr/>
        </p:nvSpPr>
        <p:spPr>
          <a:xfrm>
            <a:off x="2103120" y="1801368"/>
            <a:ext cx="13258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15" name="t0_1"/>
          <p:cNvSpPr txBox="1"/>
          <p:nvPr/>
        </p:nvSpPr>
        <p:spPr>
          <a:xfrm>
            <a:off x="2167128" y="1847088"/>
            <a:ext cx="1216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 10:1–3</a:t>
            </a:r>
            <a:endParaRPr lang="en-US" sz="1600" dirty="0"/>
          </a:p>
        </p:txBody>
      </p:sp>
      <p:sp>
        <p:nvSpPr>
          <p:cNvPr id="16" name="c0_2"/>
          <p:cNvSpPr/>
          <p:nvPr/>
        </p:nvSpPr>
        <p:spPr>
          <a:xfrm>
            <a:off x="3429000" y="1801368"/>
            <a:ext cx="36118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17" name="t0_2"/>
          <p:cNvSpPr txBox="1"/>
          <p:nvPr/>
        </p:nvSpPr>
        <p:spPr>
          <a:xfrm>
            <a:off x="3493008" y="1847088"/>
            <a:ext cx="3502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Offered “strange fire” God had not commanded</a:t>
            </a:r>
            <a:endParaRPr lang="en-US" sz="1600" dirty="0"/>
          </a:p>
        </p:txBody>
      </p:sp>
      <p:sp>
        <p:nvSpPr>
          <p:cNvPr id="18" name="c0_3"/>
          <p:cNvSpPr/>
          <p:nvPr/>
        </p:nvSpPr>
        <p:spPr>
          <a:xfrm>
            <a:off x="7040880" y="1801368"/>
            <a:ext cx="16916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19" name="t0_3"/>
          <p:cNvSpPr txBox="1"/>
          <p:nvPr/>
        </p:nvSpPr>
        <p:spPr>
          <a:xfrm>
            <a:off x="7104888" y="1847088"/>
            <a:ext cx="1581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Consumed</a:t>
            </a:r>
            <a:endParaRPr lang="en-US" sz="1600" dirty="0"/>
          </a:p>
        </p:txBody>
      </p:sp>
      <p:sp>
        <p:nvSpPr>
          <p:cNvPr id="20" name="c1_0"/>
          <p:cNvSpPr/>
          <p:nvPr/>
        </p:nvSpPr>
        <p:spPr>
          <a:xfrm>
            <a:off x="365760" y="2459736"/>
            <a:ext cx="1737360" cy="65836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21" name="t1_0"/>
          <p:cNvSpPr txBox="1"/>
          <p:nvPr/>
        </p:nvSpPr>
        <p:spPr>
          <a:xfrm>
            <a:off x="429768" y="2505456"/>
            <a:ext cx="16276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Saul (Gilgal)</a:t>
            </a:r>
            <a:endParaRPr lang="en-US" sz="1600" dirty="0"/>
          </a:p>
        </p:txBody>
      </p:sp>
      <p:sp>
        <p:nvSpPr>
          <p:cNvPr id="22" name="c1_1"/>
          <p:cNvSpPr/>
          <p:nvPr/>
        </p:nvSpPr>
        <p:spPr>
          <a:xfrm>
            <a:off x="2103120" y="2459736"/>
            <a:ext cx="1325880" cy="65836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23" name="t1_1"/>
          <p:cNvSpPr txBox="1"/>
          <p:nvPr/>
        </p:nvSpPr>
        <p:spPr>
          <a:xfrm>
            <a:off x="2167128" y="2505456"/>
            <a:ext cx="1216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Sam 13</a:t>
            </a:r>
            <a:endParaRPr lang="en-US" sz="1600" dirty="0"/>
          </a:p>
        </p:txBody>
      </p:sp>
      <p:sp>
        <p:nvSpPr>
          <p:cNvPr id="24" name="c1_2"/>
          <p:cNvSpPr/>
          <p:nvPr/>
        </p:nvSpPr>
        <p:spPr>
          <a:xfrm>
            <a:off x="3429000" y="2459736"/>
            <a:ext cx="3611880" cy="65836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25" name="t1_2"/>
          <p:cNvSpPr txBox="1"/>
          <p:nvPr/>
        </p:nvSpPr>
        <p:spPr>
          <a:xfrm>
            <a:off x="3493008" y="2505456"/>
            <a:ext cx="3502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Offered the sacrifice himself — urgency, scattering army</a:t>
            </a:r>
            <a:endParaRPr lang="en-US" sz="1600" dirty="0"/>
          </a:p>
        </p:txBody>
      </p:sp>
      <p:sp>
        <p:nvSpPr>
          <p:cNvPr id="26" name="c1_3"/>
          <p:cNvSpPr/>
          <p:nvPr/>
        </p:nvSpPr>
        <p:spPr>
          <a:xfrm>
            <a:off x="7040880" y="2459736"/>
            <a:ext cx="1691640" cy="65836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27" name="t1_3"/>
          <p:cNvSpPr txBox="1"/>
          <p:nvPr/>
        </p:nvSpPr>
        <p:spPr>
          <a:xfrm>
            <a:off x="7104888" y="2505456"/>
            <a:ext cx="1581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 to pass from him</a:t>
            </a:r>
            <a:endParaRPr lang="en-US" sz="1600" dirty="0"/>
          </a:p>
        </p:txBody>
      </p:sp>
      <p:sp>
        <p:nvSpPr>
          <p:cNvPr id="28" name="c2_0"/>
          <p:cNvSpPr/>
          <p:nvPr/>
        </p:nvSpPr>
        <p:spPr>
          <a:xfrm>
            <a:off x="365760" y="3118104"/>
            <a:ext cx="17373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29" name="t2_0"/>
          <p:cNvSpPr txBox="1"/>
          <p:nvPr/>
        </p:nvSpPr>
        <p:spPr>
          <a:xfrm>
            <a:off x="429768" y="3163824"/>
            <a:ext cx="16276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Saul (Amalek)</a:t>
            </a:r>
            <a:endParaRPr lang="en-US" sz="1600" dirty="0"/>
          </a:p>
        </p:txBody>
      </p:sp>
      <p:sp>
        <p:nvSpPr>
          <p:cNvPr id="30" name="c2_1"/>
          <p:cNvSpPr/>
          <p:nvPr/>
        </p:nvSpPr>
        <p:spPr>
          <a:xfrm>
            <a:off x="2103120" y="3118104"/>
            <a:ext cx="13258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31" name="t2_1"/>
          <p:cNvSpPr txBox="1"/>
          <p:nvPr/>
        </p:nvSpPr>
        <p:spPr>
          <a:xfrm>
            <a:off x="2167128" y="3163824"/>
            <a:ext cx="1216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Sam 15</a:t>
            </a:r>
            <a:endParaRPr lang="en-US" sz="1600" dirty="0"/>
          </a:p>
        </p:txBody>
      </p:sp>
      <p:sp>
        <p:nvSpPr>
          <p:cNvPr id="32" name="c2_2"/>
          <p:cNvSpPr/>
          <p:nvPr/>
        </p:nvSpPr>
        <p:spPr>
          <a:xfrm>
            <a:off x="3429000" y="3118104"/>
            <a:ext cx="36118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33" name="t2_2"/>
          <p:cNvSpPr txBox="1"/>
          <p:nvPr/>
        </p:nvSpPr>
        <p:spPr>
          <a:xfrm>
            <a:off x="3493008" y="3163824"/>
            <a:ext cx="3502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Spared the best “to sacrifice” — edited the command</a:t>
            </a:r>
            <a:endParaRPr lang="en-US" sz="1600" dirty="0"/>
          </a:p>
        </p:txBody>
      </p:sp>
      <p:sp>
        <p:nvSpPr>
          <p:cNvPr id="34" name="c2_3"/>
          <p:cNvSpPr/>
          <p:nvPr/>
        </p:nvSpPr>
        <p:spPr>
          <a:xfrm>
            <a:off x="7040880" y="3118104"/>
            <a:ext cx="16916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35" name="t2_3"/>
          <p:cNvSpPr txBox="1"/>
          <p:nvPr/>
        </p:nvSpPr>
        <p:spPr>
          <a:xfrm>
            <a:off x="7104888" y="3163824"/>
            <a:ext cx="1581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 as king</a:t>
            </a:r>
            <a:endParaRPr lang="en-US" sz="1600" dirty="0"/>
          </a:p>
        </p:txBody>
      </p:sp>
      <p:sp>
        <p:nvSpPr>
          <p:cNvPr id="36" name="c3_0"/>
          <p:cNvSpPr/>
          <p:nvPr/>
        </p:nvSpPr>
        <p:spPr>
          <a:xfrm>
            <a:off x="365760" y="3776472"/>
            <a:ext cx="1737360" cy="65836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37" name="t3_0"/>
          <p:cNvSpPr txBox="1"/>
          <p:nvPr/>
        </p:nvSpPr>
        <p:spPr>
          <a:xfrm>
            <a:off x="429768" y="3822192"/>
            <a:ext cx="16276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Moses</a:t>
            </a:r>
            <a:endParaRPr lang="en-US" sz="1600" dirty="0"/>
          </a:p>
        </p:txBody>
      </p:sp>
      <p:sp>
        <p:nvSpPr>
          <p:cNvPr id="38" name="c3_1"/>
          <p:cNvSpPr/>
          <p:nvPr/>
        </p:nvSpPr>
        <p:spPr>
          <a:xfrm>
            <a:off x="2103120" y="3776472"/>
            <a:ext cx="1325880" cy="65836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39" name="t3_1"/>
          <p:cNvSpPr txBox="1"/>
          <p:nvPr/>
        </p:nvSpPr>
        <p:spPr>
          <a:xfrm>
            <a:off x="2167128" y="3822192"/>
            <a:ext cx="1216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20</a:t>
            </a:r>
            <a:endParaRPr lang="en-US" sz="1600" dirty="0"/>
          </a:p>
        </p:txBody>
      </p:sp>
      <p:sp>
        <p:nvSpPr>
          <p:cNvPr id="40" name="c3_2"/>
          <p:cNvSpPr/>
          <p:nvPr/>
        </p:nvSpPr>
        <p:spPr>
          <a:xfrm>
            <a:off x="3429000" y="3776472"/>
            <a:ext cx="3611880" cy="65836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41" name="t3_2"/>
          <p:cNvSpPr txBox="1"/>
          <p:nvPr/>
        </p:nvSpPr>
        <p:spPr>
          <a:xfrm>
            <a:off x="3493008" y="3822192"/>
            <a:ext cx="3502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Struck the rock instead of speaking — water still came</a:t>
            </a:r>
            <a:endParaRPr lang="en-US" sz="1600" dirty="0"/>
          </a:p>
        </p:txBody>
      </p:sp>
      <p:sp>
        <p:nvSpPr>
          <p:cNvPr id="42" name="c3_3"/>
          <p:cNvSpPr/>
          <p:nvPr/>
        </p:nvSpPr>
        <p:spPr>
          <a:xfrm>
            <a:off x="7040880" y="3776472"/>
            <a:ext cx="1691640" cy="65836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43" name="t3_3"/>
          <p:cNvSpPr txBox="1"/>
          <p:nvPr/>
        </p:nvSpPr>
        <p:spPr>
          <a:xfrm>
            <a:off x="7104888" y="3822192"/>
            <a:ext cx="1581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Barred from Canaan</a:t>
            </a:r>
            <a:endParaRPr lang="en-US" sz="1600" dirty="0"/>
          </a:p>
        </p:txBody>
      </p:sp>
      <p:sp>
        <p:nvSpPr>
          <p:cNvPr id="44" name="c4_0"/>
          <p:cNvSpPr/>
          <p:nvPr/>
        </p:nvSpPr>
        <p:spPr>
          <a:xfrm>
            <a:off x="365760" y="4434840"/>
            <a:ext cx="17373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45" name="t4_0"/>
          <p:cNvSpPr txBox="1"/>
          <p:nvPr/>
        </p:nvSpPr>
        <p:spPr>
          <a:xfrm>
            <a:off x="429768" y="4480560"/>
            <a:ext cx="16276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Jeroboam</a:t>
            </a:r>
            <a:endParaRPr lang="en-US" sz="1600" dirty="0"/>
          </a:p>
        </p:txBody>
      </p:sp>
      <p:sp>
        <p:nvSpPr>
          <p:cNvPr id="46" name="c4_1"/>
          <p:cNvSpPr/>
          <p:nvPr/>
        </p:nvSpPr>
        <p:spPr>
          <a:xfrm>
            <a:off x="2103120" y="4434840"/>
            <a:ext cx="13258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47" name="t4_1"/>
          <p:cNvSpPr txBox="1"/>
          <p:nvPr/>
        </p:nvSpPr>
        <p:spPr>
          <a:xfrm>
            <a:off x="2167128" y="4480560"/>
            <a:ext cx="1216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Kgs 12</a:t>
            </a:r>
            <a:endParaRPr lang="en-US" sz="1600" dirty="0"/>
          </a:p>
        </p:txBody>
      </p:sp>
      <p:sp>
        <p:nvSpPr>
          <p:cNvPr id="48" name="c4_2"/>
          <p:cNvSpPr/>
          <p:nvPr/>
        </p:nvSpPr>
        <p:spPr>
          <a:xfrm>
            <a:off x="3429000" y="4434840"/>
            <a:ext cx="36118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49" name="t4_2"/>
          <p:cNvSpPr txBox="1"/>
          <p:nvPr/>
        </p:nvSpPr>
        <p:spPr>
          <a:xfrm>
            <a:off x="3493008" y="4480560"/>
            <a:ext cx="3502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Convenient worship: calves, new feasts, new priests</a:t>
            </a:r>
            <a:endParaRPr lang="en-US" sz="1600" dirty="0"/>
          </a:p>
        </p:txBody>
      </p:sp>
      <p:sp>
        <p:nvSpPr>
          <p:cNvPr id="50" name="c4_3"/>
          <p:cNvSpPr/>
          <p:nvPr/>
        </p:nvSpPr>
        <p:spPr>
          <a:xfrm>
            <a:off x="7040880" y="4434840"/>
            <a:ext cx="16916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51" name="t4_3"/>
          <p:cNvSpPr txBox="1"/>
          <p:nvPr/>
        </p:nvSpPr>
        <p:spPr>
          <a:xfrm>
            <a:off x="7104888" y="4480560"/>
            <a:ext cx="1581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sin of Jeroboam”</a:t>
            </a:r>
            <a:endParaRPr lang="en-US" sz="1600" dirty="0"/>
          </a:p>
        </p:txBody>
      </p:sp>
      <p:sp>
        <p:nvSpPr>
          <p:cNvPr id="52" name="c5_0"/>
          <p:cNvSpPr/>
          <p:nvPr/>
        </p:nvSpPr>
        <p:spPr>
          <a:xfrm>
            <a:off x="365760" y="5093208"/>
            <a:ext cx="1737360" cy="65836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53" name="t5_0"/>
          <p:cNvSpPr txBox="1"/>
          <p:nvPr/>
        </p:nvSpPr>
        <p:spPr>
          <a:xfrm>
            <a:off x="429768" y="5138928"/>
            <a:ext cx="16276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Uzziah</a:t>
            </a:r>
            <a:endParaRPr lang="en-US" sz="1600" dirty="0"/>
          </a:p>
        </p:txBody>
      </p:sp>
      <p:sp>
        <p:nvSpPr>
          <p:cNvPr id="54" name="c5_1"/>
          <p:cNvSpPr/>
          <p:nvPr/>
        </p:nvSpPr>
        <p:spPr>
          <a:xfrm>
            <a:off x="2103120" y="5093208"/>
            <a:ext cx="1325880" cy="65836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55" name="t5_1"/>
          <p:cNvSpPr txBox="1"/>
          <p:nvPr/>
        </p:nvSpPr>
        <p:spPr>
          <a:xfrm>
            <a:off x="2167128" y="5138928"/>
            <a:ext cx="1216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Chr 26</a:t>
            </a:r>
            <a:endParaRPr lang="en-US" sz="1600" dirty="0"/>
          </a:p>
        </p:txBody>
      </p:sp>
      <p:sp>
        <p:nvSpPr>
          <p:cNvPr id="56" name="c5_2"/>
          <p:cNvSpPr/>
          <p:nvPr/>
        </p:nvSpPr>
        <p:spPr>
          <a:xfrm>
            <a:off x="3429000" y="5093208"/>
            <a:ext cx="3611880" cy="65836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57" name="t5_2"/>
          <p:cNvSpPr txBox="1"/>
          <p:nvPr/>
        </p:nvSpPr>
        <p:spPr>
          <a:xfrm>
            <a:off x="3493008" y="5138928"/>
            <a:ext cx="3502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king burned incense — not his to offer</a:t>
            </a:r>
            <a:endParaRPr lang="en-US" sz="1600" dirty="0"/>
          </a:p>
        </p:txBody>
      </p:sp>
      <p:sp>
        <p:nvSpPr>
          <p:cNvPr id="58" name="c5_3"/>
          <p:cNvSpPr/>
          <p:nvPr/>
        </p:nvSpPr>
        <p:spPr>
          <a:xfrm>
            <a:off x="7040880" y="5093208"/>
            <a:ext cx="1691640" cy="65836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59" name="t5_3"/>
          <p:cNvSpPr txBox="1"/>
          <p:nvPr/>
        </p:nvSpPr>
        <p:spPr>
          <a:xfrm>
            <a:off x="7104888" y="5138928"/>
            <a:ext cx="1581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Struck with leprosy</a:t>
            </a:r>
            <a:endParaRPr lang="en-US" sz="1600" dirty="0"/>
          </a:p>
        </p:txBody>
      </p:sp>
      <p:sp>
        <p:nvSpPr>
          <p:cNvPr id="60" name="note"/>
          <p:cNvSpPr txBox="1"/>
          <p:nvPr/>
        </p:nvSpPr>
        <p:spPr>
          <a:xfrm>
            <a:off x="365760" y="580644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 lack of zeal. 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Urgency (Saul), success (Moses — water still came!), and political wisdom (Jeroboam) were all real — and none authorized the change. Even a good result cannot justify an unauthorized method.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Warning in the New Testament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principle did not expire with the old covenant</a:t>
            </a:r>
            <a:endParaRPr lang="en-US" sz="1600" dirty="0"/>
          </a:p>
        </p:txBody>
      </p:sp>
      <p:sp>
        <p:nvSpPr>
          <p:cNvPr id="4" name="b1"/>
          <p:cNvSpPr txBox="1"/>
          <p:nvPr/>
        </p:nvSpPr>
        <p:spPr>
          <a:xfrm>
            <a:off x="365760" y="1097280"/>
            <a:ext cx="8412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Jesus — human tradition as vain worship:
</a:t>
            </a:r>
            <a:pPr algn="l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“These people honor me with their lips, but their heart is far from me, and they worship me in vain, teaching as doctrines the commandments of men.” 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(Mark 7:6–7, 9)</a:t>
            </a:r>
            <a:endParaRPr lang="en-US" sz="1600" dirty="0"/>
          </a:p>
        </p:txBody>
      </p:sp>
      <p:sp>
        <p:nvSpPr>
          <p:cNvPr id="5" name="b2"/>
          <p:cNvSpPr txBox="1"/>
          <p:nvPr/>
        </p:nvSpPr>
        <p:spPr>
          <a:xfrm>
            <a:off x="365760" y="24688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Ananias and Sapphira </a:t>
            </a:r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(Acts 5) — the appearance of devotion with deception inside it. Judged at the birth of the church, not the old covenant.</a:t>
            </a:r>
            <a:endParaRPr lang="en-US" sz="1600" dirty="0"/>
          </a:p>
        </p:txBody>
      </p:sp>
      <p:sp>
        <p:nvSpPr>
          <p:cNvPr id="6" name="b3"/>
          <p:cNvSpPr txBox="1"/>
          <p:nvPr/>
        </p:nvSpPr>
        <p:spPr>
          <a:xfrm>
            <a:off x="365760" y="3474720"/>
            <a:ext cx="8412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Corinth </a:t>
            </a:r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Cor 11:20) — same bread, same cup, same gathering, yet: “it is not the Lord’s Supper you eat.” The form survived; the substance was gone.</a:t>
            </a:r>
            <a:endParaRPr lang="en-US" sz="1600" dirty="0"/>
          </a:p>
        </p:txBody>
      </p:sp>
      <p:sp>
        <p:nvSpPr>
          <p:cNvPr id="7" name="b4"/>
          <p:cNvSpPr txBox="1"/>
          <p:nvPr/>
        </p:nvSpPr>
        <p:spPr>
          <a:xfrm>
            <a:off x="365760" y="45262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sharpest case — sincerity that was flatly wrong:
</a:t>
            </a:r>
            <a:pPr algn="l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have lived my life with a clear conscience before God to this day.” 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(Acts 23:1)</a:t>
            </a:r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Paul said this truthfully — and had persecuted the church with that same clear conscience (Acts 26:9–11).
</a:t>
            </a:r>
            <a:pPr algn="l" indent="0" marL="0">
              <a:buNone/>
            </a:pPr>
            <a:r>
              <a:rPr lang="en-US" sz="1500" b="1" u="sng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clean conscience is a gift. It is not proof that you are right.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Principle: The Obedience of Faith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Romans opens and closes with it</a:t>
            </a:r>
            <a:endParaRPr lang="en-US" sz="1600" dirty="0"/>
          </a:p>
        </p:txBody>
      </p:sp>
      <p:sp>
        <p:nvSpPr>
          <p:cNvPr id="4" name="c1"/>
          <p:cNvSpPr txBox="1"/>
          <p:nvPr/>
        </p:nvSpPr>
        <p:spPr>
          <a:xfrm>
            <a:off x="365760" y="1188720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“Through him we have received grace and our apostleship to bring about the obedience of faith among all the Gentiles.” </a:t>
            </a:r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(Romans 1:5)</a:t>
            </a:r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… and again at the very end: </a:t>
            </a:r>
            <a:pPr algn="l" indent="0" marL="0">
              <a:buNone/>
            </a:pPr>
            <a:r>
              <a:rPr lang="en-US" sz="14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“to bring about the obedience of faith.” </a:t>
            </a:r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(Romans 16:26)</a:t>
            </a:r>
            <a:endParaRPr lang="en-US" sz="1600" dirty="0"/>
          </a:p>
        </p:txBody>
      </p:sp>
      <p:sp>
        <p:nvSpPr>
          <p:cNvPr id="5" name="c2"/>
          <p:cNvSpPr txBox="1"/>
          <p:nvPr/>
        </p:nvSpPr>
        <p:spPr>
          <a:xfrm>
            <a:off x="365760" y="251460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 is not merely belief. Faith hears God’s word, trusts His wisdom, and walks in the way He revealed — </a:t>
            </a:r>
            <a:pPr algn="l"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when another way looks easier, cheaper, or more effective.</a:t>
            </a:r>
            <a:endParaRPr lang="en-US" sz="1600" dirty="0"/>
          </a:p>
        </p:txBody>
      </p:sp>
      <p:sp>
        <p:nvSpPr>
          <p:cNvPr id="6" name="c3"/>
          <p:cNvSpPr txBox="1"/>
          <p:nvPr/>
        </p:nvSpPr>
        <p:spPr>
          <a:xfrm>
            <a:off x="365760" y="3520440"/>
            <a:ext cx="8412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necessary distinction (Restoration teachers put it plainly):
</a:t>
            </a:r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An </a:t>
            </a:r>
            <a:pPr algn="l" indent="0" marL="0">
              <a:buNone/>
            </a:pPr>
            <a:r>
              <a:rPr lang="en-US" sz="14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</a:t>
            </a:r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what God established. We have no authority to change it.
</a:t>
            </a:r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An </a:t>
            </a:r>
            <a:pPr algn="l" indent="0" marL="0">
              <a:buNone/>
            </a:pPr>
            <a:r>
              <a:rPr lang="en-US" sz="14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expedient</a:t>
            </a:r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lawful aid that helps carry out what God commanded without altering it.
</a:t>
            </a:r>
            <a:pPr algn="l" indent="0" marL="0">
              <a:buNone/>
            </a:pPr>
            <a:r>
              <a:rPr lang="en-US" sz="13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Carrying the Ark by poles was the institution. A smoother road would have been an expedient. The cart replaced the institution — that is the line.</a:t>
            </a:r>
            <a:endParaRPr lang="en-US" sz="1600" dirty="0"/>
          </a:p>
        </p:txBody>
      </p:sp>
      <p:sp>
        <p:nvSpPr>
          <p:cNvPr id="7" name="c4"/>
          <p:cNvSpPr txBox="1"/>
          <p:nvPr/>
        </p:nvSpPr>
        <p:spPr>
          <a:xfrm>
            <a:off x="365760" y="5029200"/>
            <a:ext cx="8412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governing question of all worship and teaching:
</a:t>
            </a:r>
            <a:pPr algn="l" indent="0" marL="0">
              <a:buNone/>
            </a:pPr>
            <a:r>
              <a:rPr lang="en-US" sz="19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“Will this work?”  Not “Do we mean well?”  —  “Has God spoken?”</a:t>
            </a:r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3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“Do not go beyond what is written” (1 Cor 4:6).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minutes — this is the week’s practice</a:t>
            </a:r>
            <a:endParaRPr lang="en-US" sz="1600" dirty="0"/>
          </a:p>
        </p:txBody>
      </p:sp>
      <p:sp>
        <p:nvSpPr>
          <p:cNvPr id="4" name="x1"/>
          <p:cNvSpPr txBox="1"/>
          <p:nvPr/>
        </p:nvSpPr>
        <p:spPr>
          <a:xfrm>
            <a:off x="457200" y="13258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“it works” feel like divine approval? Where does that instinct come from — and where does Scripture correct it?</a:t>
            </a:r>
            <a:endParaRPr lang="en-US" sz="1600" dirty="0"/>
          </a:p>
        </p:txBody>
      </p:sp>
      <p:sp>
        <p:nvSpPr>
          <p:cNvPr id="5" name="x2"/>
          <p:cNvSpPr txBox="1"/>
          <p:nvPr/>
        </p:nvSpPr>
        <p:spPr>
          <a:xfrm>
            <a:off x="457200" y="29718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 we build “new carts” today — sincere improvements on what God prescribed? How do we tell an expedient from a replacement?</a:t>
            </a:r>
            <a:endParaRPr lang="en-US" sz="1600" dirty="0"/>
          </a:p>
        </p:txBody>
      </p:sp>
      <p:sp>
        <p:nvSpPr>
          <p:cNvPr id="6" name="x3"/>
          <p:cNvSpPr txBox="1"/>
          <p:nvPr/>
        </p:nvSpPr>
        <p:spPr>
          <a:xfrm>
            <a:off x="457200" y="47548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0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Facilitator’s guardrail: </a:t>
            </a:r>
            <a:pPr algn="l" indent="0" marL="0">
              <a:buNone/>
            </a:pPr>
            <a:r>
              <a:rPr lang="en-US" sz="13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question can turn into airing grievances about your congregation. Keep it on the principle and the category, not on relitigating specific local practices in the room.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Like a Berean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next week — eager, and examining</a:t>
            </a:r>
            <a:endParaRPr lang="en-US" sz="1600" dirty="0"/>
          </a:p>
        </p:txBody>
      </p:sp>
      <p:sp>
        <p:nvSpPr>
          <p:cNvPr id="4" name="z1"/>
          <p:cNvSpPr txBox="1"/>
          <p:nvPr/>
        </p:nvSpPr>
        <p:spPr>
          <a:xfrm>
            <a:off x="365760" y="118872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next week, read:
</a:t>
            </a:r>
            <a:pPr algn="l" indent="0" marL="0">
              <a:buNone/>
            </a:pPr>
            <a:r>
              <a:rPr lang="en-US" sz="15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Romans 9:30–10:13  — Israel pursued righteousness and missed it. How? What were they sincere about?
</a:t>
            </a:r>
            <a:pPr algn="l" indent="0" marL="0">
              <a:buNone/>
            </a:pPr>
            <a:r>
              <a:rPr lang="en-US" sz="15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Watch for 10:3  — “seeking to establish their own righteousness, they did not submit to God’s.”</a:t>
            </a:r>
            <a:endParaRPr lang="en-US" sz="1600" dirty="0"/>
          </a:p>
        </p:txBody>
      </p:sp>
      <p:sp>
        <p:nvSpPr>
          <p:cNvPr id="5" name="z2"/>
          <p:cNvSpPr txBox="1"/>
          <p:nvPr/>
        </p:nvSpPr>
        <p:spPr>
          <a:xfrm>
            <a:off x="365760" y="2834640"/>
            <a:ext cx="8412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week begins Unit II — Discernment: </a:t>
            </a:r>
            <a:pPr algn="l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Righteousnesses, and How God Is Known. We turn from the failure of sincerity to the grace that answers it.</a:t>
            </a:r>
            <a:endParaRPr lang="en-US" sz="1600" dirty="0"/>
          </a:p>
        </p:txBody>
      </p:sp>
      <p:sp>
        <p:nvSpPr>
          <p:cNvPr id="6" name="z3"/>
          <p:cNvSpPr txBox="1"/>
          <p:nvPr/>
        </p:nvSpPr>
        <p:spPr>
          <a:xfrm>
            <a:off x="365760" y="4069080"/>
            <a:ext cx="8412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this week in one sentence:
</a:t>
            </a:r>
            <a:pPr algn="l" indent="0" marL="0">
              <a:buNone/>
            </a:pPr>
            <a:r>
              <a:rPr lang="en-US" sz="165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Sincerity and success are real — and neither one is the standard. “Has God spoken?” is.</a:t>
            </a:r>
            <a:endParaRPr lang="en-US" sz="1600" dirty="0"/>
          </a:p>
        </p:txBody>
      </p:sp>
      <p:sp>
        <p:nvSpPr>
          <p:cNvPr id="7" name="z4"/>
          <p:cNvSpPr txBox="1"/>
          <p:nvPr/>
        </p:nvSpPr>
        <p:spPr>
          <a:xfrm>
            <a:off x="365760" y="525780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“We did not seek him according to the prescribed ordinance.”  (1 Chronicles 15:13)</a:t>
            </a:r>
            <a:endParaRPr lang="en-US" sz="1600" dirty="0"/>
          </a:p>
        </p:txBody>
      </p:sp>
      <p:sp>
        <p:nvSpPr>
          <p:cNvPr id="8" name="z5"/>
          <p:cNvSpPr txBox="1"/>
          <p:nvPr/>
        </p:nvSpPr>
        <p:spPr>
          <a:xfrm>
            <a:off x="365760" y="6080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https://tinyurl.com/TeachTheWord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2026-09-30T13:11:29Z</dcterms:created>
  <dcterms:modified xsi:type="dcterms:W3CDTF">2026-09-30T13:11:29Z</dcterms:modified>
</cp:coreProperties>
</file>