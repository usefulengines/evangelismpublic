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17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0023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Point at the title verse: “We have ended four weeks in a row on the same instruction — read like a Berean. Today we find out what that actually means, and why it is the engine of the whole course.” Tie to Week 4: grace is secured; now we learn to tell the real gift from its counterfeits.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[0:00–12:00]
[CLICK] Name the pressure the class actually lives under — “that’s just your truth.” Paul met the ancient version (1 Cor 1: Jews want signs, Greeks want wisdom).
[CLICK] Rom 1:16–17 — the gospel is POWER and REVEALED. Not opinion, not discovered by us; disclosed by God. “From faith to faith” — faith is the receiving organ.
[CLICK] 1 Cor 2 — the crucial epistemology: spiritual truth is spiritually discerned. To the unbeliever it reads as foolishness — not because he’s stupid, but because he lacks the faculty. This is why discernment is a GIFT before it is a skill.
[CLICK] The bridge: because the Spirit gives the eye, the Berean method is not a technique bolted onto the Bible — it is the Spirit-given eye being exercised. Guard against pride here: we discern by grace, not brains. Transition: “So what does exercising that eye look like? Luke gives us a portrait.”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[12:00–25:00]
[CLICK] Set up: Berea vs. Thessalonica. “Noble” (eugenes) = well-born, of good character. Luke grades the HEARERS, not the sermon.
[CLICK] Left — Eagerly received. The soft heart. Appetite. They came wanting God to be speaking. Do not skip this half — examination without appetite is just cynicism.
[CLICK] Right — Examined daily. The hard questions. THEY FACT-CHECKED PAUL. Sit on this: verifying the preacher is called NOBLE by heaven. This liberates the class to test what they hear here, including from you.
[CLICK] The two failure modes — ask them to locate themselves silently (this seeds discussion Q). All-heart = gullible; all-head = cynical.
[CLICK] Both at once. Land the paradox: eager BECAUSE precious, examining BECAUSE precious. Same love drives both. Transition: “Scripture hands us a whole toolkit for the examining half.”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[25:00–37:00 — whole grid visible; walk it, ~2 min each]
The grid appears whole so the class sees a KIT, not a list. Walk row by row:
• 1 Thess 5:21 — test AND hold fast; the goal is keeping good, not debunking.
• 1 John 4:1 — spiritual experiences must be tested too; feelings are not self-authenticating.
• 2 Tim 2:15 — accuracy is a labor and a duty; carelessness with the Word is a failure, not humility.
• Col 2:8 — persuasiveness is not truth (echo Week 3’s “it works”). Watch the source: “according to Christ” or according to men?
• Heb 5:14 (gold row) — the course’s controlling verse, now in its home context. The first four are commands to DO; this one is the RESULT of doing them. Land: the toolkit is a gym, not a checklist. Transition: “Which is why it has to be DAILY.”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[37:00–45:00]
[CLICK] Heb 5:14 in full — the verse that has framed every week. TRAINED BY PRACTICE. Say the three words twice.
[CLICK] The tradesman illustration — use the trade YOUR class works. The point: expert perception is built, not granted, and it operates faster than conscious reasoning.
[CLICK] Name the reps concretely — this is the beautiful part. Every judgment-scene in Scripture (many we’ve already studied!) is a rep. The daily reader watches God sort accepted from rejected worship hundreds of times until his instinct matches God’s.
[CLICK] The engine, not the slogan. This is why we end every week the same way. The uncalibrated-sincerity line ties back to Week 3 (Uzzah was sincere and uncalibrated). Land: one chapter, eager and examining. Straight to discussion.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[45:00–55:00]
Q1: The self-locating question set up on slide 3. Most know their default immediately. The gullible-leaning need courage to question; the cynical-leaning need humility to receive. Name the COST of each: the gullible get led astray; the cynical never get fed. Gentle, personal.
Q2: The concrete one. Push past “I test everything” (nobody does) to a real instance — a sermon, a book, a podcast, a viral claim. If someone can’t recall one, that’s the honest answer and the invitation.
[CLICK] Explicitly invite them to test THIS class. Modeling this in week 5 makes the remaining weeks (especially 10–11) safe and honest.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[55:00 close, ~2 min]
[CLICK] Next week’s reading — note Gen 3 flag: the serpent attacks the WORD first (“did God really say?”), not her behavior. That is a discernment failure, which is why it follows this week.
[CLICK] Preview Week 6.
[CLICK] Carry sentence — say it together.
[CLICK] Close on 1 Thess 5:21. Dismiss on time.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tinyurl.com/TeachTheWord"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hyperlink" Target="https://teachtheword/" TargetMode="Externa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0"/>
          <p:cNvSpPr txBox="1"/>
          <p:nvPr/>
        </p:nvSpPr>
        <p:spPr>
          <a:xfrm>
            <a:off x="548640" y="640080"/>
            <a:ext cx="8046720" cy="457200"/>
          </a:xfrm>
          <a:prstGeom prst="rect">
            <a:avLst/>
          </a:prstGeom>
          <a:noFill/>
          <a:ln/>
        </p:spPr>
        <p:txBody>
          <a:bodyPr wrap="square" lIns="0" tIns="0" rIns="0" bIns="0" rtlCol="0" anchor="t"/>
          <a:lstStyle/>
          <a:p>
            <a:pPr marL="0" indent="0" algn="ctr">
              <a:buNone/>
            </a:pPr>
            <a:r>
              <a:rPr lang="en-US" sz="1700" b="1" i="1" dirty="0">
                <a:solidFill>
                  <a:srgbClr val="4F81BD"/>
                </a:solidFill>
                <a:latin typeface="Arial" pitchFamily="34" charset="0"/>
                <a:ea typeface="Arial" pitchFamily="34" charset="-122"/>
                <a:cs typeface="Arial" pitchFamily="34" charset="-120"/>
              </a:rPr>
              <a:t>The Obedience of Faith - Week 5  ·  Unit II: Discernment</a:t>
            </a:r>
            <a:endParaRPr lang="en-US" sz="1600" dirty="0"/>
          </a:p>
        </p:txBody>
      </p:sp>
      <p:sp>
        <p:nvSpPr>
          <p:cNvPr id="3" name="t1"/>
          <p:cNvSpPr txBox="1"/>
          <p:nvPr/>
        </p:nvSpPr>
        <p:spPr>
          <a:xfrm>
            <a:off x="548640" y="1188720"/>
            <a:ext cx="8046720" cy="822960"/>
          </a:xfrm>
          <a:prstGeom prst="rect">
            <a:avLst/>
          </a:prstGeom>
          <a:noFill/>
          <a:ln/>
        </p:spPr>
        <p:txBody>
          <a:bodyPr wrap="square" lIns="0" tIns="0" rIns="0" bIns="0" rtlCol="0" anchor="t"/>
          <a:lstStyle/>
          <a:p>
            <a:pPr marL="0" indent="0" algn="ctr">
              <a:buNone/>
            </a:pPr>
            <a:r>
              <a:rPr lang="en-US" sz="4000" b="1" dirty="0">
                <a:solidFill>
                  <a:srgbClr val="1F497D"/>
                </a:solidFill>
                <a:latin typeface="Arial" pitchFamily="34" charset="0"/>
                <a:ea typeface="Arial" pitchFamily="34" charset="-122"/>
                <a:cs typeface="Arial" pitchFamily="34" charset="-120"/>
              </a:rPr>
              <a:t>The Berean Method</a:t>
            </a:r>
            <a:endParaRPr lang="en-US" sz="1600" dirty="0"/>
          </a:p>
        </p:txBody>
      </p:sp>
      <p:sp>
        <p:nvSpPr>
          <p:cNvPr id="4" name="t2"/>
          <p:cNvSpPr txBox="1"/>
          <p:nvPr/>
        </p:nvSpPr>
        <p:spPr>
          <a:xfrm>
            <a:off x="548640" y="2148840"/>
            <a:ext cx="8046720" cy="548640"/>
          </a:xfrm>
          <a:prstGeom prst="rect">
            <a:avLst/>
          </a:prstGeom>
          <a:noFill/>
          <a:ln/>
        </p:spPr>
        <p:txBody>
          <a:bodyPr wrap="square" lIns="0" tIns="0" rIns="0" bIns="0" rtlCol="0" anchor="t"/>
          <a:lstStyle/>
          <a:p>
            <a:pPr marL="0" indent="0" algn="ctr">
              <a:buNone/>
            </a:pPr>
            <a:r>
              <a:rPr lang="en-US" sz="2000" b="1" i="1" dirty="0">
                <a:solidFill>
                  <a:srgbClr val="1F497D"/>
                </a:solidFill>
                <a:latin typeface="Arial" pitchFamily="34" charset="0"/>
                <a:ea typeface="Arial" pitchFamily="34" charset="-122"/>
                <a:cs typeface="Arial" pitchFamily="34" charset="-120"/>
              </a:rPr>
              <a:t>Discerning the Sacred and the True </a:t>
            </a:r>
            <a:r>
              <a:rPr lang="en-US" sz="2000" b="1" i="1" dirty="0">
                <a:solidFill>
                  <a:srgbClr val="1F497D"/>
                </a:solidFill>
                <a:latin typeface="Arial" pitchFamily="34" charset="0"/>
                <a:ea typeface="Arial" pitchFamily="34" charset="-122"/>
                <a:cs typeface="Arial" pitchFamily="34" charset="-120"/>
                <a:sym typeface="Wingdings" pitchFamily="2" charset="2"/>
              </a:rPr>
              <a:t></a:t>
            </a:r>
            <a:r>
              <a:rPr lang="en-US" sz="2000" b="1" i="1" dirty="0">
                <a:solidFill>
                  <a:srgbClr val="1F497D"/>
                </a:solidFill>
                <a:latin typeface="Arial" pitchFamily="34" charset="0"/>
                <a:ea typeface="Arial" pitchFamily="34" charset="-122"/>
                <a:cs typeface="Arial" pitchFamily="34" charset="-120"/>
              </a:rPr>
              <a:t> eager, and examining</a:t>
            </a:r>
            <a:endParaRPr lang="en-US" sz="1600" dirty="0"/>
          </a:p>
        </p:txBody>
      </p:sp>
      <p:sp>
        <p:nvSpPr>
          <p:cNvPr id="5" name="t3"/>
          <p:cNvSpPr txBox="1"/>
          <p:nvPr/>
        </p:nvSpPr>
        <p:spPr>
          <a:xfrm>
            <a:off x="914400" y="3063240"/>
            <a:ext cx="7315200" cy="1371600"/>
          </a:xfrm>
          <a:prstGeom prst="rect">
            <a:avLst/>
          </a:prstGeom>
          <a:noFill/>
          <a:ln/>
        </p:spPr>
        <p:txBody>
          <a:bodyPr wrap="square" lIns="0" tIns="0" rIns="0" bIns="0" rtlCol="0" anchor="t"/>
          <a:lstStyle/>
          <a:p>
            <a:pPr marL="0" indent="0" algn="ctr">
              <a:buNone/>
            </a:pPr>
            <a:r>
              <a:rPr lang="en-US" sz="2000" i="1" dirty="0">
                <a:solidFill>
                  <a:srgbClr val="000000"/>
                </a:solidFill>
                <a:latin typeface="Arial" pitchFamily="34" charset="0"/>
                <a:ea typeface="Arial" pitchFamily="34" charset="-122"/>
                <a:cs typeface="Arial" pitchFamily="34" charset="-120"/>
              </a:rPr>
              <a:t>“These Jews were more open-minded… for they eagerly received the message, examining the scriptures carefully every day to see if these things were so.”</a:t>
            </a:r>
            <a:endParaRPr lang="en-US" dirty="0"/>
          </a:p>
          <a:p>
            <a:pPr marL="0" indent="0" algn="ctr">
              <a:buNone/>
            </a:pPr>
            <a:r>
              <a:rPr lang="en-US" sz="2000" dirty="0">
                <a:solidFill>
                  <a:srgbClr val="000000"/>
                </a:solidFill>
                <a:latin typeface="Arial" pitchFamily="34" charset="0"/>
                <a:ea typeface="Arial" pitchFamily="34" charset="-122"/>
                <a:cs typeface="Arial" pitchFamily="34" charset="-120"/>
              </a:rPr>
              <a:t>(Acts 17:11)</a:t>
            </a:r>
            <a:endParaRPr lang="en-US" dirty="0"/>
          </a:p>
        </p:txBody>
      </p:sp>
      <p:sp>
        <p:nvSpPr>
          <p:cNvPr id="6" name="t4"/>
          <p:cNvSpPr txBox="1"/>
          <p:nvPr/>
        </p:nvSpPr>
        <p:spPr>
          <a:xfrm>
            <a:off x="914400" y="4846320"/>
            <a:ext cx="7315200" cy="457200"/>
          </a:xfrm>
          <a:prstGeom prst="rect">
            <a:avLst/>
          </a:prstGeom>
          <a:noFill/>
          <a:ln/>
        </p:spPr>
        <p:txBody>
          <a:bodyPr wrap="square" lIns="0" tIns="0" rIns="0" bIns="0" rtlCol="0" anchor="t"/>
          <a:lstStyle/>
          <a:p>
            <a:pPr marL="0" indent="0" algn="ctr">
              <a:buNone/>
            </a:pPr>
            <a:r>
              <a:rPr lang="en-US" sz="1600" b="1" u="sng" dirty="0">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a:t>
            </a:r>
            <a:r>
              <a:rPr lang="en-US" sz="1600" b="1" u="sng" dirty="0" err="1">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TeachTheWord</a:t>
            </a:r>
            <a:r>
              <a:rPr lang="en-US" sz="1600" b="1" u="sng" dirty="0" err="1">
                <a:solidFill>
                  <a:srgbClr val="4F81BD"/>
                </a:solidFill>
                <a:latin typeface="Arial" pitchFamily="34" charset="0"/>
                <a:ea typeface="Arial" pitchFamily="34" charset="-122"/>
                <a:cs typeface="Arial" pitchFamily="34" charset="-120"/>
              </a:rPr>
              <a:t>.Church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Sacred Under Pressure</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Is the gospel revealed truth </a:t>
            </a:r>
            <a:r>
              <a:rPr lang="en-US" sz="2000" b="1" dirty="0">
                <a:solidFill>
                  <a:srgbClr val="4F81BD"/>
                </a:solidFill>
                <a:latin typeface="Arial" pitchFamily="34" charset="0"/>
                <a:ea typeface="Arial" pitchFamily="34" charset="-122"/>
                <a:cs typeface="Arial" pitchFamily="34" charset="-120"/>
                <a:sym typeface="Wingdings" pitchFamily="2" charset="2"/>
              </a:rPr>
              <a:t> </a:t>
            </a:r>
            <a:r>
              <a:rPr lang="en-US" sz="2000" b="1" dirty="0">
                <a:solidFill>
                  <a:srgbClr val="4F81BD"/>
                </a:solidFill>
                <a:latin typeface="Arial" pitchFamily="34" charset="0"/>
                <a:ea typeface="Arial" pitchFamily="34" charset="-122"/>
                <a:cs typeface="Arial" pitchFamily="34" charset="-120"/>
              </a:rPr>
              <a:t>or just my private opinion?</a:t>
            </a:r>
            <a:endParaRPr lang="en-US" sz="2800" dirty="0"/>
          </a:p>
        </p:txBody>
      </p:sp>
      <p:sp>
        <p:nvSpPr>
          <p:cNvPr id="4" name="a1"/>
          <p:cNvSpPr txBox="1"/>
          <p:nvPr/>
        </p:nvSpPr>
        <p:spPr>
          <a:xfrm>
            <a:off x="365760" y="1051560"/>
            <a:ext cx="8412480" cy="100584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The modern pressure: </a:t>
            </a:r>
            <a:r>
              <a:rPr lang="en-US" dirty="0">
                <a:solidFill>
                  <a:srgbClr val="000000"/>
                </a:solidFill>
                <a:latin typeface="Arial" pitchFamily="34" charset="0"/>
                <a:ea typeface="Arial" pitchFamily="34" charset="-122"/>
                <a:cs typeface="Arial" pitchFamily="34" charset="-120"/>
              </a:rPr>
              <a:t>religion gets filed under “personal belief”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non-rational, unscientific, subjective. True for you, not for me. Paul faced the same demotion from Greek philosophers and Jewish law-teachers alike.</a:t>
            </a:r>
            <a:endParaRPr lang="en-US" sz="2000" dirty="0"/>
          </a:p>
        </p:txBody>
      </p:sp>
      <p:sp>
        <p:nvSpPr>
          <p:cNvPr id="5" name="a2"/>
          <p:cNvSpPr txBox="1"/>
          <p:nvPr/>
        </p:nvSpPr>
        <p:spPr>
          <a:xfrm>
            <a:off x="365760" y="2088885"/>
            <a:ext cx="8412480" cy="1147019"/>
          </a:xfrm>
          <a:prstGeom prst="rect">
            <a:avLst/>
          </a:prstGeom>
          <a:noFill/>
          <a:ln/>
        </p:spPr>
        <p:txBody>
          <a:bodyPr wrap="square" lIns="0" tIns="0" rIns="0" bIns="0" rtlCol="0" anchor="t"/>
          <a:lstStyle/>
          <a:p>
            <a:pPr algn="l"/>
            <a:r>
              <a:rPr lang="en-US" b="1" dirty="0">
                <a:solidFill>
                  <a:srgbClr val="000000"/>
                </a:solidFill>
                <a:latin typeface="Arial" pitchFamily="34" charset="0"/>
                <a:ea typeface="Arial" pitchFamily="34" charset="-122"/>
                <a:cs typeface="Arial" pitchFamily="34" charset="-120"/>
              </a:rPr>
              <a:t>Paul’s answer </a:t>
            </a:r>
            <a:r>
              <a:rPr lang="en-US" b="1" dirty="0">
                <a:solidFill>
                  <a:srgbClr val="000000"/>
                </a:solidFill>
                <a:latin typeface="Arial" pitchFamily="34" charset="0"/>
                <a:ea typeface="Arial" pitchFamily="34" charset="-122"/>
                <a:cs typeface="Arial" pitchFamily="34" charset="-120"/>
                <a:sym typeface="Wingdings" pitchFamily="2" charset="2"/>
              </a:rPr>
              <a:t></a:t>
            </a:r>
            <a:r>
              <a:rPr lang="en-US" b="1" dirty="0">
                <a:solidFill>
                  <a:srgbClr val="000000"/>
                </a:solidFill>
                <a:latin typeface="Arial" pitchFamily="34" charset="0"/>
                <a:ea typeface="Arial" pitchFamily="34" charset="-122"/>
                <a:cs typeface="Arial" pitchFamily="34" charset="-120"/>
              </a:rPr>
              <a:t> the gospel is God’s power, not human opinion:
</a:t>
            </a:r>
            <a:r>
              <a:rPr lang="en-US" b="1" i="1" dirty="0">
                <a:solidFill>
                  <a:srgbClr val="000000"/>
                </a:solidFill>
                <a:latin typeface="Arial" pitchFamily="34" charset="0"/>
                <a:ea typeface="Arial" pitchFamily="34" charset="-122"/>
                <a:cs typeface="Arial" pitchFamily="34" charset="-120"/>
              </a:rPr>
              <a:t>“I am not ashamed of the gospel, for it is God’s power for salvation to everyone who believes… For in it the righteousness of God is revealed from faith to faith.” </a:t>
            </a:r>
            <a:r>
              <a:rPr lang="en-US" b="1" dirty="0">
                <a:solidFill>
                  <a:srgbClr val="000000"/>
                </a:solidFill>
                <a:latin typeface="Arial" pitchFamily="34" charset="0"/>
                <a:ea typeface="Arial" pitchFamily="34" charset="-122"/>
                <a:cs typeface="Arial" pitchFamily="34" charset="-120"/>
              </a:rPr>
              <a:t>(Romans 1:16–17)</a:t>
            </a:r>
            <a:endParaRPr lang="en-US" sz="2000" dirty="0"/>
          </a:p>
        </p:txBody>
      </p:sp>
      <p:sp>
        <p:nvSpPr>
          <p:cNvPr id="6" name="a3"/>
          <p:cNvSpPr txBox="1"/>
          <p:nvPr/>
        </p:nvSpPr>
        <p:spPr>
          <a:xfrm>
            <a:off x="365760" y="3479157"/>
            <a:ext cx="8412480" cy="1596181"/>
          </a:xfrm>
          <a:prstGeom prst="rect">
            <a:avLst/>
          </a:prstGeom>
          <a:noFill/>
          <a:ln/>
        </p:spPr>
        <p:txBody>
          <a:bodyPr wrap="square" lIns="0" tIns="0" rIns="0" bIns="0" rtlCol="0" anchor="t"/>
          <a:lstStyle/>
          <a:p>
            <a:pPr marL="0" indent="0" algn="l">
              <a:buNone/>
            </a:pPr>
            <a:r>
              <a:rPr lang="en-US" sz="2000" dirty="0">
                <a:solidFill>
                  <a:srgbClr val="000000"/>
                </a:solidFill>
                <a:latin typeface="Arial" pitchFamily="34" charset="0"/>
                <a:ea typeface="Arial" pitchFamily="34" charset="-122"/>
                <a:cs typeface="Arial" pitchFamily="34" charset="-120"/>
              </a:rPr>
              <a:t>It is </a:t>
            </a:r>
            <a:r>
              <a:rPr lang="en-US" sz="2000" b="1" i="1" dirty="0">
                <a:solidFill>
                  <a:srgbClr val="1F497D"/>
                </a:solidFill>
                <a:latin typeface="Arial" pitchFamily="34" charset="0"/>
                <a:ea typeface="Arial" pitchFamily="34" charset="-122"/>
                <a:cs typeface="Arial" pitchFamily="34" charset="-120"/>
              </a:rPr>
              <a:t>revealed</a:t>
            </a:r>
            <a:r>
              <a:rPr lang="en-US" sz="2000" dirty="0">
                <a:solidFill>
                  <a:srgbClr val="000000"/>
                </a:solidFill>
                <a:latin typeface="Arial" pitchFamily="34" charset="0"/>
                <a:ea typeface="Arial" pitchFamily="34" charset="-122"/>
                <a:cs typeface="Arial" pitchFamily="34" charset="-120"/>
              </a:rPr>
              <a:t> wisdom </a:t>
            </a:r>
            <a:r>
              <a:rPr lang="en-US" sz="2000" dirty="0">
                <a:solidFill>
                  <a:srgbClr val="000000"/>
                </a:solidFill>
                <a:latin typeface="Arial" pitchFamily="34" charset="0"/>
                <a:ea typeface="Arial" pitchFamily="34" charset="-122"/>
                <a:cs typeface="Arial" pitchFamily="34" charset="-120"/>
                <a:sym typeface="Wingdings" pitchFamily="2" charset="2"/>
              </a:rPr>
              <a:t></a:t>
            </a:r>
            <a:r>
              <a:rPr lang="en-US" sz="2000" dirty="0">
                <a:solidFill>
                  <a:srgbClr val="000000"/>
                </a:solidFill>
                <a:latin typeface="Arial" pitchFamily="34" charset="0"/>
                <a:ea typeface="Arial" pitchFamily="34" charset="-122"/>
                <a:cs typeface="Arial" pitchFamily="34" charset="-120"/>
              </a:rPr>
              <a:t> not reasoned-to from the outside:
</a:t>
            </a:r>
            <a:r>
              <a:rPr lang="en-US" sz="2000" b="1" i="1" dirty="0">
                <a:solidFill>
                  <a:srgbClr val="000000"/>
                </a:solidFill>
                <a:latin typeface="Arial" pitchFamily="34" charset="0"/>
                <a:ea typeface="Arial" pitchFamily="34" charset="-122"/>
                <a:cs typeface="Arial" pitchFamily="34" charset="-120"/>
              </a:rPr>
              <a:t>“We speak the wisdom of God, hidden in a mystery… God has revealed these to us by the Spirit. The unbeliever does not receive the things of the Spirit of God, for they are foolishness to him… they are spiritually discerned.” </a:t>
            </a:r>
            <a:r>
              <a:rPr lang="en-US" b="1" dirty="0">
                <a:solidFill>
                  <a:srgbClr val="000000"/>
                </a:solidFill>
                <a:latin typeface="Arial" pitchFamily="34" charset="0"/>
                <a:ea typeface="Arial" pitchFamily="34" charset="-122"/>
                <a:cs typeface="Arial" pitchFamily="34" charset="-120"/>
              </a:rPr>
              <a:t>(1 Corinthians 2:7, 10, 14)</a:t>
            </a:r>
            <a:endParaRPr lang="en-US" sz="2400" dirty="0"/>
          </a:p>
        </p:txBody>
      </p:sp>
      <p:sp>
        <p:nvSpPr>
          <p:cNvPr id="7" name="a4"/>
          <p:cNvSpPr txBox="1"/>
          <p:nvPr/>
        </p:nvSpPr>
        <p:spPr>
          <a:xfrm>
            <a:off x="365760" y="5318592"/>
            <a:ext cx="8412480" cy="132588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So, discernment is possible at all only because the Spirit gives it. </a:t>
            </a:r>
            <a:r>
              <a:rPr lang="en-US" dirty="0">
                <a:solidFill>
                  <a:srgbClr val="000000"/>
                </a:solidFill>
                <a:latin typeface="Arial" pitchFamily="34" charset="0"/>
                <a:ea typeface="Arial" pitchFamily="34" charset="-122"/>
                <a:cs typeface="Arial" pitchFamily="34" charset="-120"/>
              </a:rPr>
              <a:t>The sacred does not come into focus by cleverness or credentials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it comes into focus through the obedience of faith (Rom 1:5). </a:t>
            </a:r>
            <a:r>
              <a:rPr lang="en-US" i="1" dirty="0">
                <a:solidFill>
                  <a:srgbClr val="000000"/>
                </a:solidFill>
                <a:latin typeface="Arial" pitchFamily="34" charset="0"/>
                <a:ea typeface="Arial" pitchFamily="34" charset="-122"/>
                <a:cs typeface="Arial" pitchFamily="34" charset="-120"/>
              </a:rPr>
              <a:t>The Berean method is not human technique added to Scripture; it is the Spirit-given eye, exercised.</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Bereans: Soft Heart, Hard Questions</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Acts 17:11 — and Luke calls them noble for it</a:t>
            </a:r>
            <a:endParaRPr lang="en-US" sz="2800" dirty="0"/>
          </a:p>
        </p:txBody>
      </p:sp>
      <p:sp>
        <p:nvSpPr>
          <p:cNvPr id="4" name="b0"/>
          <p:cNvSpPr txBox="1"/>
          <p:nvPr/>
        </p:nvSpPr>
        <p:spPr>
          <a:xfrm>
            <a:off x="365760" y="1005840"/>
            <a:ext cx="8412480" cy="777240"/>
          </a:xfrm>
          <a:prstGeom prst="rect">
            <a:avLst/>
          </a:prstGeom>
          <a:noFill/>
          <a:ln/>
        </p:spPr>
        <p:txBody>
          <a:bodyPr wrap="square" lIns="0" tIns="0" rIns="0" bIns="0" rtlCol="0" anchor="t"/>
          <a:lstStyle/>
          <a:p>
            <a:pPr marL="0" indent="0" algn="l">
              <a:buNone/>
            </a:pPr>
            <a:r>
              <a:rPr lang="en-US" dirty="0">
                <a:solidFill>
                  <a:srgbClr val="000000"/>
                </a:solidFill>
                <a:latin typeface="Arial" pitchFamily="34" charset="0"/>
                <a:ea typeface="Arial" pitchFamily="34" charset="-122"/>
                <a:cs typeface="Arial" pitchFamily="34" charset="-120"/>
              </a:rPr>
              <a:t>Paul preaches in Berea. Luke’s verdict on the hearers is one word: </a:t>
            </a:r>
            <a:r>
              <a:rPr lang="en-US" b="1" dirty="0">
                <a:solidFill>
                  <a:srgbClr val="1F497D"/>
                </a:solidFill>
                <a:latin typeface="Arial" pitchFamily="34" charset="0"/>
                <a:ea typeface="Arial" pitchFamily="34" charset="-122"/>
                <a:cs typeface="Arial" pitchFamily="34" charset="-120"/>
              </a:rPr>
              <a:t>“more open-minded” </a:t>
            </a:r>
            <a:r>
              <a:rPr lang="en-US" b="1" dirty="0">
                <a:solidFill>
                  <a:srgbClr val="1F497D"/>
                </a:solidFill>
                <a:latin typeface="Arial" pitchFamily="34" charset="0"/>
                <a:ea typeface="Arial" pitchFamily="34" charset="-122"/>
                <a:cs typeface="Arial" pitchFamily="34" charset="-120"/>
                <a:sym typeface="Wingdings" pitchFamily="2" charset="2"/>
              </a:rPr>
              <a:t></a:t>
            </a:r>
            <a:r>
              <a:rPr lang="en-US" b="1" dirty="0">
                <a:solidFill>
                  <a:srgbClr val="1F497D"/>
                </a:solidFill>
                <a:latin typeface="Arial" pitchFamily="34" charset="0"/>
                <a:ea typeface="Arial" pitchFamily="34" charset="-122"/>
                <a:cs typeface="Arial" pitchFamily="34" charset="-120"/>
              </a:rPr>
              <a:t> literally more noble</a:t>
            </a:r>
            <a:r>
              <a:rPr lang="en-US" dirty="0">
                <a:solidFill>
                  <a:srgbClr val="000000"/>
                </a:solidFill>
                <a:latin typeface="Arial" pitchFamily="34" charset="0"/>
                <a:ea typeface="Arial" pitchFamily="34" charset="-122"/>
                <a:cs typeface="Arial" pitchFamily="34" charset="-120"/>
              </a:rPr>
              <a:t> than the Thessalonians. Why? Two habits, held together.</a:t>
            </a:r>
            <a:endParaRPr lang="en-US" sz="2000" dirty="0"/>
          </a:p>
        </p:txBody>
      </p:sp>
      <p:sp>
        <p:nvSpPr>
          <p:cNvPr id="5" name="h1b"/>
          <p:cNvSpPr/>
          <p:nvPr/>
        </p:nvSpPr>
        <p:spPr>
          <a:xfrm>
            <a:off x="365760" y="1920240"/>
            <a:ext cx="4114800" cy="2103120"/>
          </a:xfrm>
          <a:prstGeom prst="roundRect">
            <a:avLst>
              <a:gd name="adj" fmla="val 3478"/>
            </a:avLst>
          </a:prstGeom>
          <a:solidFill>
            <a:srgbClr val="1F497D">
              <a:alpha val="94000"/>
            </a:srgbClr>
          </a:solidFill>
          <a:ln w="12700">
            <a:solidFill>
              <a:srgbClr val="1F497D"/>
            </a:solidFill>
            <a:prstDash val="solid"/>
          </a:ln>
        </p:spPr>
        <p:txBody>
          <a:bodyPr/>
          <a:lstStyle/>
          <a:p>
            <a:endParaRPr lang="en-US"/>
          </a:p>
        </p:txBody>
      </p:sp>
      <p:sp>
        <p:nvSpPr>
          <p:cNvPr id="6" name="h1t"/>
          <p:cNvSpPr txBox="1"/>
          <p:nvPr/>
        </p:nvSpPr>
        <p:spPr>
          <a:xfrm>
            <a:off x="548640" y="2084832"/>
            <a:ext cx="3794760" cy="1828800"/>
          </a:xfrm>
          <a:prstGeom prst="rect">
            <a:avLst/>
          </a:prstGeom>
          <a:noFill/>
          <a:ln/>
        </p:spPr>
        <p:txBody>
          <a:bodyPr wrap="square" lIns="0" tIns="0" rIns="0" bIns="0" rtlCol="0" anchor="t"/>
          <a:lstStyle/>
          <a:p>
            <a:pPr marL="0" indent="0" algn="l">
              <a:buNone/>
            </a:pPr>
            <a:r>
              <a:rPr lang="en-US" sz="2400" b="1" dirty="0">
                <a:solidFill>
                  <a:srgbClr val="FFFFFF"/>
                </a:solidFill>
                <a:latin typeface="Arial" pitchFamily="34" charset="0"/>
                <a:ea typeface="Arial" pitchFamily="34" charset="-122"/>
                <a:cs typeface="Arial" pitchFamily="34" charset="-120"/>
              </a:rPr>
              <a:t>EAGERLY RECEIVED
</a:t>
            </a:r>
            <a:r>
              <a:rPr lang="en-US" b="1" dirty="0">
                <a:solidFill>
                  <a:srgbClr val="C9A227"/>
                </a:solidFill>
                <a:latin typeface="Arial" pitchFamily="34" charset="0"/>
                <a:ea typeface="Arial" pitchFamily="34" charset="-122"/>
                <a:cs typeface="Arial" pitchFamily="34" charset="-120"/>
              </a:rPr>
              <a:t>Soft heart.
</a:t>
            </a:r>
            <a:r>
              <a:rPr lang="en-US" dirty="0">
                <a:solidFill>
                  <a:srgbClr val="FFFFFF"/>
                </a:solidFill>
                <a:latin typeface="Arial" pitchFamily="34" charset="0"/>
                <a:ea typeface="Arial" pitchFamily="34" charset="-122"/>
                <a:cs typeface="Arial" pitchFamily="34" charset="-120"/>
              </a:rPr>
              <a:t>Not arms crossed. Not “impress me.” They WANTED it to be true — appetite, humility, readiness to receive.</a:t>
            </a:r>
            <a:endParaRPr lang="en-US" sz="2400" dirty="0"/>
          </a:p>
        </p:txBody>
      </p:sp>
      <p:sp>
        <p:nvSpPr>
          <p:cNvPr id="7" name="h2b"/>
          <p:cNvSpPr/>
          <p:nvPr/>
        </p:nvSpPr>
        <p:spPr>
          <a:xfrm>
            <a:off x="4663440" y="1920240"/>
            <a:ext cx="4114800" cy="2103120"/>
          </a:xfrm>
          <a:prstGeom prst="roundRect">
            <a:avLst>
              <a:gd name="adj" fmla="val 3478"/>
            </a:avLst>
          </a:prstGeom>
          <a:solidFill>
            <a:srgbClr val="1F497D">
              <a:alpha val="94000"/>
            </a:srgbClr>
          </a:solidFill>
          <a:ln w="12700">
            <a:solidFill>
              <a:srgbClr val="1F497D"/>
            </a:solidFill>
            <a:prstDash val="solid"/>
          </a:ln>
        </p:spPr>
        <p:txBody>
          <a:bodyPr/>
          <a:lstStyle/>
          <a:p>
            <a:endParaRPr lang="en-US"/>
          </a:p>
        </p:txBody>
      </p:sp>
      <p:sp>
        <p:nvSpPr>
          <p:cNvPr id="8" name="h2t"/>
          <p:cNvSpPr txBox="1"/>
          <p:nvPr/>
        </p:nvSpPr>
        <p:spPr>
          <a:xfrm>
            <a:off x="4846320" y="2084832"/>
            <a:ext cx="3794760" cy="1828800"/>
          </a:xfrm>
          <a:prstGeom prst="rect">
            <a:avLst/>
          </a:prstGeom>
          <a:noFill/>
          <a:ln/>
        </p:spPr>
        <p:txBody>
          <a:bodyPr wrap="square" lIns="0" tIns="0" rIns="0" bIns="0" rtlCol="0" anchor="t"/>
          <a:lstStyle/>
          <a:p>
            <a:pPr marL="0" indent="0" algn="l">
              <a:buNone/>
            </a:pPr>
            <a:r>
              <a:rPr lang="en-US" sz="2400" b="1" dirty="0">
                <a:solidFill>
                  <a:srgbClr val="FFFFFF"/>
                </a:solidFill>
                <a:latin typeface="Arial" pitchFamily="34" charset="0"/>
                <a:ea typeface="Arial" pitchFamily="34" charset="-122"/>
                <a:cs typeface="Arial" pitchFamily="34" charset="-120"/>
              </a:rPr>
              <a:t>EXAMINED DAILY
</a:t>
            </a:r>
            <a:r>
              <a:rPr lang="en-US" b="1" dirty="0">
                <a:solidFill>
                  <a:srgbClr val="C9A227"/>
                </a:solidFill>
                <a:latin typeface="Arial" pitchFamily="34" charset="0"/>
                <a:ea typeface="Arial" pitchFamily="34" charset="-122"/>
                <a:cs typeface="Arial" pitchFamily="34" charset="-120"/>
              </a:rPr>
              <a:t>Hard questions.
</a:t>
            </a:r>
            <a:r>
              <a:rPr lang="en-US" dirty="0">
                <a:solidFill>
                  <a:srgbClr val="FFFFFF"/>
                </a:solidFill>
                <a:latin typeface="Arial" pitchFamily="34" charset="0"/>
                <a:ea typeface="Arial" pitchFamily="34" charset="-122"/>
                <a:cs typeface="Arial" pitchFamily="34" charset="-120"/>
              </a:rPr>
              <a:t>They checked the message against Scripture — every day. They fact-checked an APOSTLE. Luke doesn’t scold them; he commends them.</a:t>
            </a:r>
            <a:endParaRPr lang="en-US" sz="2400" dirty="0"/>
          </a:p>
        </p:txBody>
      </p:sp>
      <p:sp>
        <p:nvSpPr>
          <p:cNvPr id="9" name="plus"/>
          <p:cNvSpPr/>
          <p:nvPr/>
        </p:nvSpPr>
        <p:spPr>
          <a:xfrm>
            <a:off x="4224528" y="2697480"/>
            <a:ext cx="603504" cy="603504"/>
          </a:xfrm>
          <a:prstGeom prst="plus">
            <a:avLst/>
          </a:prstGeom>
          <a:solidFill>
            <a:srgbClr val="C9A227"/>
          </a:solidFill>
          <a:ln/>
        </p:spPr>
        <p:txBody>
          <a:bodyPr/>
          <a:lstStyle/>
          <a:p>
            <a:endParaRPr lang="en-US"/>
          </a:p>
        </p:txBody>
      </p:sp>
      <p:sp>
        <p:nvSpPr>
          <p:cNvPr id="10" name="b3"/>
          <p:cNvSpPr txBox="1"/>
          <p:nvPr/>
        </p:nvSpPr>
        <p:spPr>
          <a:xfrm>
            <a:off x="365760" y="4251960"/>
            <a:ext cx="8412480" cy="1367028"/>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Most of us fail on exactly one side.
</a:t>
            </a:r>
            <a:r>
              <a:rPr lang="en-US" dirty="0">
                <a:solidFill>
                  <a:srgbClr val="000000"/>
                </a:solidFill>
                <a:latin typeface="Arial" pitchFamily="34" charset="0"/>
                <a:ea typeface="Arial" pitchFamily="34" charset="-122"/>
                <a:cs typeface="Arial" pitchFamily="34" charset="-120"/>
              </a:rPr>
              <a:t>•  All heart, no examination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carried along by whoever preached last; every wind of doctrine.
•  All examination, no heart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suspicion as a personality; nothing ever lands or changes us</a:t>
            </a:r>
            <a:r>
              <a:rPr lang="en-US" sz="1600" dirty="0">
                <a:solidFill>
                  <a:srgbClr val="000000"/>
                </a:solidFill>
                <a:latin typeface="Arial" pitchFamily="34" charset="0"/>
                <a:ea typeface="Arial" pitchFamily="34" charset="-122"/>
                <a:cs typeface="Arial" pitchFamily="34" charset="-120"/>
              </a:rPr>
              <a:t>.</a:t>
            </a:r>
            <a:endParaRPr lang="en-US" dirty="0"/>
          </a:p>
        </p:txBody>
      </p:sp>
      <p:sp>
        <p:nvSpPr>
          <p:cNvPr id="11" name="b4"/>
          <p:cNvSpPr txBox="1"/>
          <p:nvPr/>
        </p:nvSpPr>
        <p:spPr>
          <a:xfrm>
            <a:off x="365760" y="5728716"/>
            <a:ext cx="8412480" cy="868680"/>
          </a:xfrm>
          <a:prstGeom prst="rect">
            <a:avLst/>
          </a:prstGeom>
          <a:noFill/>
          <a:ln/>
        </p:spPr>
        <p:txBody>
          <a:bodyPr wrap="square" lIns="0" tIns="0" rIns="0" bIns="0" rtlCol="0" anchor="t"/>
          <a:lstStyle/>
          <a:p>
            <a:pPr marL="0" indent="0" algn="l">
              <a:buNone/>
            </a:pPr>
            <a:r>
              <a:rPr lang="en-US" dirty="0">
                <a:solidFill>
                  <a:srgbClr val="000000"/>
                </a:solidFill>
                <a:latin typeface="Arial" pitchFamily="34" charset="0"/>
                <a:ea typeface="Arial" pitchFamily="34" charset="-122"/>
                <a:cs typeface="Arial" pitchFamily="34" charset="-120"/>
              </a:rPr>
              <a:t>The noble hearer holds both at once: </a:t>
            </a:r>
            <a:r>
              <a:rPr lang="en-US" sz="2000" b="1" u="sng" dirty="0">
                <a:solidFill>
                  <a:srgbClr val="1F497D"/>
                </a:solidFill>
                <a:latin typeface="Arial" pitchFamily="34" charset="0"/>
                <a:ea typeface="Arial" pitchFamily="34" charset="-122"/>
                <a:cs typeface="Arial" pitchFamily="34" charset="-120"/>
              </a:rPr>
              <a:t>ready to believe, unwilling to be fooled.</a:t>
            </a:r>
            <a:r>
              <a:rPr lang="en-US" sz="1600" i="1" dirty="0">
                <a:solidFill>
                  <a:srgbClr val="000000"/>
                </a:solidFill>
                <a:latin typeface="Arial" pitchFamily="34" charset="0"/>
                <a:ea typeface="Arial" pitchFamily="34" charset="-122"/>
                <a:cs typeface="Arial" pitchFamily="34" charset="-120"/>
              </a:rPr>
              <a:t>  </a:t>
            </a:r>
            <a:r>
              <a:rPr lang="en-US" i="1" dirty="0">
                <a:solidFill>
                  <a:srgbClr val="000000"/>
                </a:solidFill>
                <a:latin typeface="Arial" pitchFamily="34" charset="0"/>
                <a:ea typeface="Arial" pitchFamily="34" charset="-122"/>
                <a:cs typeface="Arial" pitchFamily="34" charset="-120"/>
              </a:rPr>
              <a:t>Eager because the truth is precious; examining because it is precious.</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1000"/>
                                        <p:tgtEl>
                                          <p:spTgt spid="11"/>
                                        </p:tgtEl>
                                      </p:cBhvr>
                                    </p:animEffect>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The Verification Toolkit</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Scripture’s standing instructions for testing every claim</a:t>
            </a:r>
            <a:endParaRPr lang="en-US" sz="2800" dirty="0"/>
          </a:p>
        </p:txBody>
      </p:sp>
      <p:sp>
        <p:nvSpPr>
          <p:cNvPr id="4" name="hh0"/>
          <p:cNvSpPr/>
          <p:nvPr/>
        </p:nvSpPr>
        <p:spPr>
          <a:xfrm>
            <a:off x="365760" y="1069848"/>
            <a:ext cx="1325880" cy="365760"/>
          </a:xfrm>
          <a:prstGeom prst="rect">
            <a:avLst/>
          </a:prstGeom>
          <a:solidFill>
            <a:srgbClr val="1F497D"/>
          </a:solidFill>
          <a:ln/>
        </p:spPr>
        <p:txBody>
          <a:bodyPr/>
          <a:lstStyle/>
          <a:p>
            <a:endParaRPr lang="en-US" sz="3200"/>
          </a:p>
        </p:txBody>
      </p:sp>
      <p:sp>
        <p:nvSpPr>
          <p:cNvPr id="5" name="hd0"/>
          <p:cNvSpPr txBox="1"/>
          <p:nvPr/>
        </p:nvSpPr>
        <p:spPr>
          <a:xfrm>
            <a:off x="438912" y="1115568"/>
            <a:ext cx="1216152" cy="274320"/>
          </a:xfrm>
          <a:prstGeom prst="rect">
            <a:avLst/>
          </a:prstGeom>
          <a:noFill/>
          <a:ln/>
        </p:spPr>
        <p:txBody>
          <a:bodyPr wrap="square" lIns="0" tIns="0" rIns="0" bIns="0" rtlCol="0" anchor="ctr"/>
          <a:lstStyle/>
          <a:p>
            <a:pPr marL="0" indent="0" algn="l">
              <a:buNone/>
            </a:pPr>
            <a:r>
              <a:rPr lang="en-US" b="1" dirty="0">
                <a:solidFill>
                  <a:srgbClr val="FFFFFF"/>
                </a:solidFill>
                <a:latin typeface="Arial" pitchFamily="34" charset="0"/>
                <a:ea typeface="Arial" pitchFamily="34" charset="-122"/>
                <a:cs typeface="Arial" pitchFamily="34" charset="-120"/>
              </a:rPr>
              <a:t>Text</a:t>
            </a:r>
            <a:endParaRPr lang="en-US" sz="2800" dirty="0"/>
          </a:p>
        </p:txBody>
      </p:sp>
      <p:sp>
        <p:nvSpPr>
          <p:cNvPr id="6" name="hh1"/>
          <p:cNvSpPr/>
          <p:nvPr/>
        </p:nvSpPr>
        <p:spPr>
          <a:xfrm>
            <a:off x="1691640" y="1069848"/>
            <a:ext cx="2880360" cy="365760"/>
          </a:xfrm>
          <a:prstGeom prst="rect">
            <a:avLst/>
          </a:prstGeom>
          <a:solidFill>
            <a:srgbClr val="1F497D"/>
          </a:solidFill>
          <a:ln/>
        </p:spPr>
        <p:txBody>
          <a:bodyPr/>
          <a:lstStyle/>
          <a:p>
            <a:endParaRPr lang="en-US" sz="3200"/>
          </a:p>
        </p:txBody>
      </p:sp>
      <p:sp>
        <p:nvSpPr>
          <p:cNvPr id="7" name="hd1"/>
          <p:cNvSpPr txBox="1"/>
          <p:nvPr/>
        </p:nvSpPr>
        <p:spPr>
          <a:xfrm>
            <a:off x="1764792" y="1115568"/>
            <a:ext cx="2770632" cy="274320"/>
          </a:xfrm>
          <a:prstGeom prst="rect">
            <a:avLst/>
          </a:prstGeom>
          <a:noFill/>
          <a:ln/>
        </p:spPr>
        <p:txBody>
          <a:bodyPr wrap="square" lIns="0" tIns="0" rIns="0" bIns="0" rtlCol="0" anchor="ctr"/>
          <a:lstStyle/>
          <a:p>
            <a:pPr marL="0" indent="0" algn="l">
              <a:buNone/>
            </a:pPr>
            <a:r>
              <a:rPr lang="en-US" b="1" dirty="0">
                <a:solidFill>
                  <a:srgbClr val="FFFFFF"/>
                </a:solidFill>
                <a:latin typeface="Arial" pitchFamily="34" charset="0"/>
                <a:ea typeface="Arial" pitchFamily="34" charset="-122"/>
                <a:cs typeface="Arial" pitchFamily="34" charset="-120"/>
              </a:rPr>
              <a:t>What it says</a:t>
            </a:r>
            <a:endParaRPr lang="en-US" sz="2800" dirty="0"/>
          </a:p>
        </p:txBody>
      </p:sp>
      <p:sp>
        <p:nvSpPr>
          <p:cNvPr id="8" name="hh2"/>
          <p:cNvSpPr/>
          <p:nvPr/>
        </p:nvSpPr>
        <p:spPr>
          <a:xfrm>
            <a:off x="4572000" y="1069848"/>
            <a:ext cx="4206240" cy="365760"/>
          </a:xfrm>
          <a:prstGeom prst="rect">
            <a:avLst/>
          </a:prstGeom>
          <a:solidFill>
            <a:srgbClr val="1F497D"/>
          </a:solidFill>
          <a:ln/>
        </p:spPr>
        <p:txBody>
          <a:bodyPr/>
          <a:lstStyle/>
          <a:p>
            <a:endParaRPr lang="en-US" sz="3200"/>
          </a:p>
        </p:txBody>
      </p:sp>
      <p:sp>
        <p:nvSpPr>
          <p:cNvPr id="9" name="hd2"/>
          <p:cNvSpPr txBox="1"/>
          <p:nvPr/>
        </p:nvSpPr>
        <p:spPr>
          <a:xfrm>
            <a:off x="4645152" y="1115568"/>
            <a:ext cx="4096512" cy="274320"/>
          </a:xfrm>
          <a:prstGeom prst="rect">
            <a:avLst/>
          </a:prstGeom>
          <a:noFill/>
          <a:ln/>
        </p:spPr>
        <p:txBody>
          <a:bodyPr wrap="square" lIns="0" tIns="0" rIns="0" bIns="0" rtlCol="0" anchor="ctr"/>
          <a:lstStyle/>
          <a:p>
            <a:pPr marL="0" indent="0" algn="l">
              <a:buNone/>
            </a:pPr>
            <a:r>
              <a:rPr lang="en-US" b="1" dirty="0">
                <a:solidFill>
                  <a:srgbClr val="FFFFFF"/>
                </a:solidFill>
                <a:latin typeface="Arial" pitchFamily="34" charset="0"/>
                <a:ea typeface="Arial" pitchFamily="34" charset="-122"/>
                <a:cs typeface="Arial" pitchFamily="34" charset="-120"/>
              </a:rPr>
              <a:t>What it trains</a:t>
            </a:r>
            <a:endParaRPr lang="en-US" sz="2800" dirty="0"/>
          </a:p>
        </p:txBody>
      </p:sp>
      <p:sp>
        <p:nvSpPr>
          <p:cNvPr id="10" name="c0_0"/>
          <p:cNvSpPr/>
          <p:nvPr/>
        </p:nvSpPr>
        <p:spPr>
          <a:xfrm>
            <a:off x="365760" y="1435608"/>
            <a:ext cx="1325880" cy="822960"/>
          </a:xfrm>
          <a:prstGeom prst="rect">
            <a:avLst/>
          </a:prstGeom>
          <a:solidFill>
            <a:srgbClr val="FFFFFF"/>
          </a:solidFill>
          <a:ln w="6350">
            <a:solidFill>
              <a:srgbClr val="D9DDE3"/>
            </a:solidFill>
            <a:prstDash val="solid"/>
          </a:ln>
        </p:spPr>
        <p:txBody>
          <a:bodyPr/>
          <a:lstStyle/>
          <a:p>
            <a:endParaRPr lang="en-US" sz="3200"/>
          </a:p>
        </p:txBody>
      </p:sp>
      <p:sp>
        <p:nvSpPr>
          <p:cNvPr id="11" name="x0_0"/>
          <p:cNvSpPr txBox="1"/>
          <p:nvPr/>
        </p:nvSpPr>
        <p:spPr>
          <a:xfrm>
            <a:off x="438912" y="1481328"/>
            <a:ext cx="1197864" cy="749808"/>
          </a:xfrm>
          <a:prstGeom prst="rect">
            <a:avLst/>
          </a:prstGeom>
          <a:noFill/>
          <a:ln/>
        </p:spPr>
        <p:txBody>
          <a:bodyPr wrap="square" lIns="0" tIns="0" rIns="0" bIns="0" rtlCol="0" anchor="ctr"/>
          <a:lstStyle/>
          <a:p>
            <a:pPr marL="0" indent="0" algn="l">
              <a:buNone/>
            </a:pPr>
            <a:r>
              <a:rPr lang="en-US" sz="1600" b="1" dirty="0">
                <a:solidFill>
                  <a:srgbClr val="1F497D"/>
                </a:solidFill>
                <a:latin typeface="Arial" pitchFamily="34" charset="0"/>
                <a:ea typeface="Arial" pitchFamily="34" charset="-122"/>
                <a:cs typeface="Arial" pitchFamily="34" charset="-120"/>
              </a:rPr>
              <a:t>1 Thess 5:21</a:t>
            </a:r>
            <a:endParaRPr lang="en-US" sz="2800" dirty="0"/>
          </a:p>
        </p:txBody>
      </p:sp>
      <p:sp>
        <p:nvSpPr>
          <p:cNvPr id="12" name="c0_1"/>
          <p:cNvSpPr/>
          <p:nvPr/>
        </p:nvSpPr>
        <p:spPr>
          <a:xfrm>
            <a:off x="1691640" y="1435608"/>
            <a:ext cx="2880360" cy="822960"/>
          </a:xfrm>
          <a:prstGeom prst="rect">
            <a:avLst/>
          </a:prstGeom>
          <a:solidFill>
            <a:srgbClr val="FFFFFF"/>
          </a:solidFill>
          <a:ln w="6350">
            <a:solidFill>
              <a:srgbClr val="D9DDE3"/>
            </a:solidFill>
            <a:prstDash val="solid"/>
          </a:ln>
        </p:spPr>
        <p:txBody>
          <a:bodyPr/>
          <a:lstStyle/>
          <a:p>
            <a:endParaRPr lang="en-US" sz="3200"/>
          </a:p>
        </p:txBody>
      </p:sp>
      <p:sp>
        <p:nvSpPr>
          <p:cNvPr id="13" name="x0_1"/>
          <p:cNvSpPr txBox="1"/>
          <p:nvPr/>
        </p:nvSpPr>
        <p:spPr>
          <a:xfrm>
            <a:off x="1764792" y="1481328"/>
            <a:ext cx="2752344" cy="749808"/>
          </a:xfrm>
          <a:prstGeom prst="rect">
            <a:avLst/>
          </a:prstGeom>
          <a:noFill/>
          <a:ln/>
        </p:spPr>
        <p:txBody>
          <a:bodyPr wrap="square" lIns="0" tIns="0" rIns="0" bIns="0" rtlCol="0" anchor="ctr"/>
          <a:lstStyle/>
          <a:p>
            <a:pPr marL="0" indent="0" algn="l">
              <a:buNone/>
            </a:pPr>
            <a:r>
              <a:rPr lang="en-US" sz="1600" i="1" dirty="0">
                <a:solidFill>
                  <a:srgbClr val="000000"/>
                </a:solidFill>
                <a:latin typeface="Arial" pitchFamily="34" charset="0"/>
                <a:ea typeface="Arial" pitchFamily="34" charset="-122"/>
                <a:cs typeface="Arial" pitchFamily="34" charset="-120"/>
              </a:rPr>
              <a:t>“But examine all things; hold fast to what is good.”</a:t>
            </a:r>
            <a:endParaRPr lang="en-US" sz="2800" dirty="0"/>
          </a:p>
        </p:txBody>
      </p:sp>
      <p:sp>
        <p:nvSpPr>
          <p:cNvPr id="14" name="c0_2"/>
          <p:cNvSpPr/>
          <p:nvPr/>
        </p:nvSpPr>
        <p:spPr>
          <a:xfrm>
            <a:off x="4572000" y="1435608"/>
            <a:ext cx="4206240" cy="822960"/>
          </a:xfrm>
          <a:prstGeom prst="rect">
            <a:avLst/>
          </a:prstGeom>
          <a:solidFill>
            <a:srgbClr val="FFFFFF"/>
          </a:solidFill>
          <a:ln w="6350">
            <a:solidFill>
              <a:srgbClr val="D9DDE3"/>
            </a:solidFill>
            <a:prstDash val="solid"/>
          </a:ln>
        </p:spPr>
        <p:txBody>
          <a:bodyPr/>
          <a:lstStyle/>
          <a:p>
            <a:endParaRPr lang="en-US" sz="3200"/>
          </a:p>
        </p:txBody>
      </p:sp>
      <p:sp>
        <p:nvSpPr>
          <p:cNvPr id="15" name="x0_2"/>
          <p:cNvSpPr txBox="1"/>
          <p:nvPr/>
        </p:nvSpPr>
        <p:spPr>
          <a:xfrm>
            <a:off x="4645152" y="1481328"/>
            <a:ext cx="4078224" cy="749808"/>
          </a:xfrm>
          <a:prstGeom prst="rect">
            <a:avLst/>
          </a:prstGeom>
          <a:noFill/>
          <a:ln/>
        </p:spPr>
        <p:txBody>
          <a:bodyPr wrap="square" lIns="0" tIns="0" rIns="0" bIns="0" rtlCol="0" anchor="ctr"/>
          <a:lstStyle/>
          <a:p>
            <a:pPr marL="0" indent="0" algn="l">
              <a:buNone/>
            </a:pPr>
            <a:r>
              <a:rPr lang="en-US" sz="1400" dirty="0">
                <a:solidFill>
                  <a:srgbClr val="000000"/>
                </a:solidFill>
                <a:latin typeface="Arial" pitchFamily="34" charset="0"/>
                <a:ea typeface="Arial" pitchFamily="34" charset="-122"/>
                <a:cs typeface="Arial" pitchFamily="34" charset="-120"/>
              </a:rPr>
              <a:t>Test everything </a:t>
            </a:r>
            <a:r>
              <a:rPr lang="en-US" sz="1400" dirty="0">
                <a:solidFill>
                  <a:srgbClr val="000000"/>
                </a:solidFill>
                <a:latin typeface="Arial" pitchFamily="34" charset="0"/>
                <a:ea typeface="Arial" pitchFamily="34" charset="-122"/>
                <a:cs typeface="Arial" pitchFamily="34" charset="-120"/>
                <a:sym typeface="Wingdings" pitchFamily="2" charset="2"/>
              </a:rPr>
              <a:t> </a:t>
            </a:r>
            <a:r>
              <a:rPr lang="en-US" sz="1400" dirty="0">
                <a:solidFill>
                  <a:srgbClr val="000000"/>
                </a:solidFill>
                <a:latin typeface="Arial" pitchFamily="34" charset="0"/>
                <a:ea typeface="Arial" pitchFamily="34" charset="-122"/>
                <a:cs typeface="Arial" pitchFamily="34" charset="-120"/>
              </a:rPr>
              <a:t>then KEEP the good. Testing isn’t rejecting; it’s sorting.</a:t>
            </a:r>
            <a:endParaRPr lang="en-US" sz="2800" dirty="0"/>
          </a:p>
        </p:txBody>
      </p:sp>
      <p:sp>
        <p:nvSpPr>
          <p:cNvPr id="16" name="c1_0"/>
          <p:cNvSpPr/>
          <p:nvPr/>
        </p:nvSpPr>
        <p:spPr>
          <a:xfrm>
            <a:off x="365760" y="2258568"/>
            <a:ext cx="1325880" cy="822960"/>
          </a:xfrm>
          <a:prstGeom prst="rect">
            <a:avLst/>
          </a:prstGeom>
          <a:solidFill>
            <a:srgbClr val="F2F4F7"/>
          </a:solidFill>
          <a:ln w="6350">
            <a:solidFill>
              <a:srgbClr val="D9DDE3"/>
            </a:solidFill>
            <a:prstDash val="solid"/>
          </a:ln>
        </p:spPr>
        <p:txBody>
          <a:bodyPr/>
          <a:lstStyle/>
          <a:p>
            <a:endParaRPr lang="en-US" sz="3200"/>
          </a:p>
        </p:txBody>
      </p:sp>
      <p:sp>
        <p:nvSpPr>
          <p:cNvPr id="17" name="x1_0"/>
          <p:cNvSpPr txBox="1"/>
          <p:nvPr/>
        </p:nvSpPr>
        <p:spPr>
          <a:xfrm>
            <a:off x="438912" y="2304288"/>
            <a:ext cx="1197864" cy="749808"/>
          </a:xfrm>
          <a:prstGeom prst="rect">
            <a:avLst/>
          </a:prstGeom>
          <a:noFill/>
          <a:ln/>
        </p:spPr>
        <p:txBody>
          <a:bodyPr wrap="square" lIns="0" tIns="0" rIns="0" bIns="0" rtlCol="0" anchor="ctr"/>
          <a:lstStyle/>
          <a:p>
            <a:pPr marL="0" indent="0" algn="l">
              <a:buNone/>
            </a:pPr>
            <a:r>
              <a:rPr lang="en-US" sz="1600" b="1" dirty="0">
                <a:solidFill>
                  <a:srgbClr val="1F497D"/>
                </a:solidFill>
                <a:latin typeface="Arial" pitchFamily="34" charset="0"/>
                <a:ea typeface="Arial" pitchFamily="34" charset="-122"/>
                <a:cs typeface="Arial" pitchFamily="34" charset="-120"/>
              </a:rPr>
              <a:t>1 John 4:1</a:t>
            </a:r>
            <a:endParaRPr lang="en-US" sz="2800" dirty="0"/>
          </a:p>
        </p:txBody>
      </p:sp>
      <p:sp>
        <p:nvSpPr>
          <p:cNvPr id="18" name="c1_1"/>
          <p:cNvSpPr/>
          <p:nvPr/>
        </p:nvSpPr>
        <p:spPr>
          <a:xfrm>
            <a:off x="1691640" y="2258568"/>
            <a:ext cx="2880360" cy="822960"/>
          </a:xfrm>
          <a:prstGeom prst="rect">
            <a:avLst/>
          </a:prstGeom>
          <a:solidFill>
            <a:srgbClr val="F2F4F7"/>
          </a:solidFill>
          <a:ln w="6350">
            <a:solidFill>
              <a:srgbClr val="D9DDE3"/>
            </a:solidFill>
            <a:prstDash val="solid"/>
          </a:ln>
        </p:spPr>
        <p:txBody>
          <a:bodyPr/>
          <a:lstStyle/>
          <a:p>
            <a:endParaRPr lang="en-US" sz="3200"/>
          </a:p>
        </p:txBody>
      </p:sp>
      <p:sp>
        <p:nvSpPr>
          <p:cNvPr id="19" name="x1_1"/>
          <p:cNvSpPr txBox="1"/>
          <p:nvPr/>
        </p:nvSpPr>
        <p:spPr>
          <a:xfrm>
            <a:off x="1764792" y="2304288"/>
            <a:ext cx="2752344" cy="749808"/>
          </a:xfrm>
          <a:prstGeom prst="rect">
            <a:avLst/>
          </a:prstGeom>
          <a:noFill/>
          <a:ln/>
        </p:spPr>
        <p:txBody>
          <a:bodyPr wrap="square" lIns="0" tIns="0" rIns="0" bIns="0" rtlCol="0" anchor="ctr"/>
          <a:lstStyle/>
          <a:p>
            <a:pPr marL="0" indent="0" algn="l">
              <a:buNone/>
            </a:pPr>
            <a:r>
              <a:rPr lang="en-US" sz="1600" i="1" dirty="0">
                <a:solidFill>
                  <a:srgbClr val="000000"/>
                </a:solidFill>
                <a:latin typeface="Arial" pitchFamily="34" charset="0"/>
                <a:ea typeface="Arial" pitchFamily="34" charset="-122"/>
                <a:cs typeface="Arial" pitchFamily="34" charset="-120"/>
              </a:rPr>
              <a:t>“Do not believe every spirit, but test the spirits…”</a:t>
            </a:r>
            <a:endParaRPr lang="en-US" sz="2800" dirty="0"/>
          </a:p>
        </p:txBody>
      </p:sp>
      <p:sp>
        <p:nvSpPr>
          <p:cNvPr id="20" name="c1_2"/>
          <p:cNvSpPr/>
          <p:nvPr/>
        </p:nvSpPr>
        <p:spPr>
          <a:xfrm>
            <a:off x="4572000" y="2258568"/>
            <a:ext cx="4206240" cy="822960"/>
          </a:xfrm>
          <a:prstGeom prst="rect">
            <a:avLst/>
          </a:prstGeom>
          <a:solidFill>
            <a:srgbClr val="F2F4F7"/>
          </a:solidFill>
          <a:ln w="6350">
            <a:solidFill>
              <a:srgbClr val="D9DDE3"/>
            </a:solidFill>
            <a:prstDash val="solid"/>
          </a:ln>
        </p:spPr>
        <p:txBody>
          <a:bodyPr/>
          <a:lstStyle/>
          <a:p>
            <a:endParaRPr lang="en-US" sz="3200"/>
          </a:p>
        </p:txBody>
      </p:sp>
      <p:sp>
        <p:nvSpPr>
          <p:cNvPr id="21" name="x1_2"/>
          <p:cNvSpPr txBox="1"/>
          <p:nvPr/>
        </p:nvSpPr>
        <p:spPr>
          <a:xfrm>
            <a:off x="4645152" y="2304288"/>
            <a:ext cx="4078224" cy="749808"/>
          </a:xfrm>
          <a:prstGeom prst="rect">
            <a:avLst/>
          </a:prstGeom>
          <a:noFill/>
          <a:ln/>
        </p:spPr>
        <p:txBody>
          <a:bodyPr wrap="square" lIns="0" tIns="0" rIns="0" bIns="0" rtlCol="0" anchor="ctr"/>
          <a:lstStyle/>
          <a:p>
            <a:pPr marL="0" indent="0" algn="l">
              <a:buNone/>
            </a:pPr>
            <a:r>
              <a:rPr lang="en-US" sz="1400" dirty="0">
                <a:solidFill>
                  <a:srgbClr val="000000"/>
                </a:solidFill>
                <a:latin typeface="Arial" pitchFamily="34" charset="0"/>
                <a:ea typeface="Arial" pitchFamily="34" charset="-122"/>
                <a:cs typeface="Arial" pitchFamily="34" charset="-120"/>
              </a:rPr>
              <a:t>Not every spiritual-sounding voice is from God. Confession of Christ is the assay (4:2–3).</a:t>
            </a:r>
            <a:endParaRPr lang="en-US" sz="2800" dirty="0"/>
          </a:p>
        </p:txBody>
      </p:sp>
      <p:sp>
        <p:nvSpPr>
          <p:cNvPr id="22" name="c2_0"/>
          <p:cNvSpPr/>
          <p:nvPr/>
        </p:nvSpPr>
        <p:spPr>
          <a:xfrm>
            <a:off x="365760" y="3081528"/>
            <a:ext cx="1325880" cy="822960"/>
          </a:xfrm>
          <a:prstGeom prst="rect">
            <a:avLst/>
          </a:prstGeom>
          <a:solidFill>
            <a:srgbClr val="FFFFFF"/>
          </a:solidFill>
          <a:ln w="6350">
            <a:solidFill>
              <a:srgbClr val="D9DDE3"/>
            </a:solidFill>
            <a:prstDash val="solid"/>
          </a:ln>
        </p:spPr>
        <p:txBody>
          <a:bodyPr/>
          <a:lstStyle/>
          <a:p>
            <a:endParaRPr lang="en-US" sz="3200"/>
          </a:p>
        </p:txBody>
      </p:sp>
      <p:sp>
        <p:nvSpPr>
          <p:cNvPr id="23" name="x2_0"/>
          <p:cNvSpPr txBox="1"/>
          <p:nvPr/>
        </p:nvSpPr>
        <p:spPr>
          <a:xfrm>
            <a:off x="438912" y="3127248"/>
            <a:ext cx="1197864" cy="749808"/>
          </a:xfrm>
          <a:prstGeom prst="rect">
            <a:avLst/>
          </a:prstGeom>
          <a:noFill/>
          <a:ln/>
        </p:spPr>
        <p:txBody>
          <a:bodyPr wrap="square" lIns="0" tIns="0" rIns="0" bIns="0" rtlCol="0" anchor="ctr"/>
          <a:lstStyle/>
          <a:p>
            <a:pPr marL="0" indent="0" algn="l">
              <a:buNone/>
            </a:pPr>
            <a:r>
              <a:rPr lang="en-US" sz="1600" b="1" dirty="0">
                <a:solidFill>
                  <a:srgbClr val="1F497D"/>
                </a:solidFill>
                <a:latin typeface="Arial" pitchFamily="34" charset="0"/>
                <a:ea typeface="Arial" pitchFamily="34" charset="-122"/>
                <a:cs typeface="Arial" pitchFamily="34" charset="-120"/>
              </a:rPr>
              <a:t>2 Tim 2:15</a:t>
            </a:r>
            <a:endParaRPr lang="en-US" sz="2800" dirty="0"/>
          </a:p>
        </p:txBody>
      </p:sp>
      <p:sp>
        <p:nvSpPr>
          <p:cNvPr id="24" name="c2_1"/>
          <p:cNvSpPr/>
          <p:nvPr/>
        </p:nvSpPr>
        <p:spPr>
          <a:xfrm>
            <a:off x="1691640" y="3081528"/>
            <a:ext cx="2880360" cy="822960"/>
          </a:xfrm>
          <a:prstGeom prst="rect">
            <a:avLst/>
          </a:prstGeom>
          <a:solidFill>
            <a:srgbClr val="FFFFFF"/>
          </a:solidFill>
          <a:ln w="6350">
            <a:solidFill>
              <a:srgbClr val="D9DDE3"/>
            </a:solidFill>
            <a:prstDash val="solid"/>
          </a:ln>
        </p:spPr>
        <p:txBody>
          <a:bodyPr/>
          <a:lstStyle/>
          <a:p>
            <a:endParaRPr lang="en-US" sz="3200"/>
          </a:p>
        </p:txBody>
      </p:sp>
      <p:sp>
        <p:nvSpPr>
          <p:cNvPr id="25" name="x2_1"/>
          <p:cNvSpPr txBox="1"/>
          <p:nvPr/>
        </p:nvSpPr>
        <p:spPr>
          <a:xfrm>
            <a:off x="1764792" y="3127248"/>
            <a:ext cx="2752344" cy="749808"/>
          </a:xfrm>
          <a:prstGeom prst="rect">
            <a:avLst/>
          </a:prstGeom>
          <a:noFill/>
          <a:ln/>
        </p:spPr>
        <p:txBody>
          <a:bodyPr wrap="square" lIns="0" tIns="0" rIns="0" bIns="0" rtlCol="0" anchor="ctr"/>
          <a:lstStyle/>
          <a:p>
            <a:pPr marL="0" indent="0" algn="l">
              <a:buNone/>
            </a:pPr>
            <a:r>
              <a:rPr lang="en-US" sz="1600" i="1" dirty="0">
                <a:solidFill>
                  <a:srgbClr val="000000"/>
                </a:solidFill>
                <a:latin typeface="Arial" pitchFamily="34" charset="0"/>
                <a:ea typeface="Arial" pitchFamily="34" charset="-122"/>
                <a:cs typeface="Arial" pitchFamily="34" charset="-120"/>
              </a:rPr>
              <a:t>“…accurately handling the word of truth.”</a:t>
            </a:r>
            <a:endParaRPr lang="en-US" sz="2800" dirty="0"/>
          </a:p>
        </p:txBody>
      </p:sp>
      <p:sp>
        <p:nvSpPr>
          <p:cNvPr id="26" name="c2_2"/>
          <p:cNvSpPr/>
          <p:nvPr/>
        </p:nvSpPr>
        <p:spPr>
          <a:xfrm>
            <a:off x="4572000" y="3081528"/>
            <a:ext cx="4206240" cy="822960"/>
          </a:xfrm>
          <a:prstGeom prst="rect">
            <a:avLst/>
          </a:prstGeom>
          <a:solidFill>
            <a:srgbClr val="FFFFFF"/>
          </a:solidFill>
          <a:ln w="6350">
            <a:solidFill>
              <a:srgbClr val="D9DDE3"/>
            </a:solidFill>
            <a:prstDash val="solid"/>
          </a:ln>
        </p:spPr>
        <p:txBody>
          <a:bodyPr/>
          <a:lstStyle/>
          <a:p>
            <a:endParaRPr lang="en-US" sz="3200"/>
          </a:p>
        </p:txBody>
      </p:sp>
      <p:sp>
        <p:nvSpPr>
          <p:cNvPr id="27" name="x2_2"/>
          <p:cNvSpPr txBox="1"/>
          <p:nvPr/>
        </p:nvSpPr>
        <p:spPr>
          <a:xfrm>
            <a:off x="4645152" y="3127248"/>
            <a:ext cx="4078224" cy="749808"/>
          </a:xfrm>
          <a:prstGeom prst="rect">
            <a:avLst/>
          </a:prstGeom>
          <a:noFill/>
          <a:ln/>
        </p:spPr>
        <p:txBody>
          <a:bodyPr wrap="square" lIns="0" tIns="0" rIns="0" bIns="0" rtlCol="0" anchor="ctr"/>
          <a:lstStyle/>
          <a:p>
            <a:pPr marL="0" indent="0" algn="l">
              <a:buNone/>
            </a:pPr>
            <a:r>
              <a:rPr lang="en-US" sz="1400" dirty="0">
                <a:solidFill>
                  <a:srgbClr val="000000"/>
                </a:solidFill>
                <a:latin typeface="Arial" pitchFamily="34" charset="0"/>
                <a:ea typeface="Arial" pitchFamily="34" charset="-122"/>
                <a:cs typeface="Arial" pitchFamily="34" charset="-120"/>
              </a:rPr>
              <a:t>Rightly dividing takes work and care </a:t>
            </a:r>
            <a:r>
              <a:rPr lang="en-US" sz="1400" dirty="0">
                <a:solidFill>
                  <a:srgbClr val="000000"/>
                </a:solidFill>
                <a:latin typeface="Arial" pitchFamily="34" charset="0"/>
                <a:ea typeface="Arial" pitchFamily="34" charset="-122"/>
                <a:cs typeface="Arial" pitchFamily="34" charset="-120"/>
                <a:sym typeface="Wingdings" pitchFamily="2" charset="2"/>
              </a:rPr>
              <a:t></a:t>
            </a:r>
            <a:r>
              <a:rPr lang="en-US" sz="1400" dirty="0">
                <a:solidFill>
                  <a:srgbClr val="000000"/>
                </a:solidFill>
                <a:latin typeface="Arial" pitchFamily="34" charset="0"/>
                <a:ea typeface="Arial" pitchFamily="34" charset="-122"/>
                <a:cs typeface="Arial" pitchFamily="34" charset="-120"/>
              </a:rPr>
              <a:t> “be diligent.” Sloppy handling is not innocent.</a:t>
            </a:r>
            <a:endParaRPr lang="en-US" sz="2800" dirty="0"/>
          </a:p>
        </p:txBody>
      </p:sp>
      <p:sp>
        <p:nvSpPr>
          <p:cNvPr id="28" name="c3_0"/>
          <p:cNvSpPr/>
          <p:nvPr/>
        </p:nvSpPr>
        <p:spPr>
          <a:xfrm>
            <a:off x="365760" y="3904488"/>
            <a:ext cx="1325880" cy="822960"/>
          </a:xfrm>
          <a:prstGeom prst="rect">
            <a:avLst/>
          </a:prstGeom>
          <a:solidFill>
            <a:srgbClr val="F2F4F7"/>
          </a:solidFill>
          <a:ln w="6350">
            <a:solidFill>
              <a:srgbClr val="D9DDE3"/>
            </a:solidFill>
            <a:prstDash val="solid"/>
          </a:ln>
        </p:spPr>
        <p:txBody>
          <a:bodyPr/>
          <a:lstStyle/>
          <a:p>
            <a:endParaRPr lang="en-US" sz="3200"/>
          </a:p>
        </p:txBody>
      </p:sp>
      <p:sp>
        <p:nvSpPr>
          <p:cNvPr id="29" name="x3_0"/>
          <p:cNvSpPr txBox="1"/>
          <p:nvPr/>
        </p:nvSpPr>
        <p:spPr>
          <a:xfrm>
            <a:off x="438912" y="3950208"/>
            <a:ext cx="1197864" cy="749808"/>
          </a:xfrm>
          <a:prstGeom prst="rect">
            <a:avLst/>
          </a:prstGeom>
          <a:noFill/>
          <a:ln/>
        </p:spPr>
        <p:txBody>
          <a:bodyPr wrap="square" lIns="0" tIns="0" rIns="0" bIns="0" rtlCol="0" anchor="ctr"/>
          <a:lstStyle/>
          <a:p>
            <a:pPr marL="0" indent="0" algn="l">
              <a:buNone/>
            </a:pPr>
            <a:r>
              <a:rPr lang="en-US" sz="1600" b="1" dirty="0">
                <a:solidFill>
                  <a:srgbClr val="1F497D"/>
                </a:solidFill>
                <a:latin typeface="Arial" pitchFamily="34" charset="0"/>
                <a:ea typeface="Arial" pitchFamily="34" charset="-122"/>
                <a:cs typeface="Arial" pitchFamily="34" charset="-120"/>
              </a:rPr>
              <a:t>Col 2:8</a:t>
            </a:r>
            <a:endParaRPr lang="en-US" sz="2800" dirty="0"/>
          </a:p>
        </p:txBody>
      </p:sp>
      <p:sp>
        <p:nvSpPr>
          <p:cNvPr id="30" name="c3_1"/>
          <p:cNvSpPr/>
          <p:nvPr/>
        </p:nvSpPr>
        <p:spPr>
          <a:xfrm>
            <a:off x="1691640" y="3904488"/>
            <a:ext cx="2880360" cy="822960"/>
          </a:xfrm>
          <a:prstGeom prst="rect">
            <a:avLst/>
          </a:prstGeom>
          <a:solidFill>
            <a:srgbClr val="F2F4F7"/>
          </a:solidFill>
          <a:ln w="6350">
            <a:solidFill>
              <a:srgbClr val="D9DDE3"/>
            </a:solidFill>
            <a:prstDash val="solid"/>
          </a:ln>
        </p:spPr>
        <p:txBody>
          <a:bodyPr/>
          <a:lstStyle/>
          <a:p>
            <a:endParaRPr lang="en-US" sz="3200"/>
          </a:p>
        </p:txBody>
      </p:sp>
      <p:sp>
        <p:nvSpPr>
          <p:cNvPr id="31" name="x3_1"/>
          <p:cNvSpPr txBox="1"/>
          <p:nvPr/>
        </p:nvSpPr>
        <p:spPr>
          <a:xfrm>
            <a:off x="1764792" y="3950208"/>
            <a:ext cx="2752344" cy="749808"/>
          </a:xfrm>
          <a:prstGeom prst="rect">
            <a:avLst/>
          </a:prstGeom>
          <a:noFill/>
          <a:ln/>
        </p:spPr>
        <p:txBody>
          <a:bodyPr wrap="square" lIns="0" tIns="0" rIns="0" bIns="0" rtlCol="0" anchor="ctr"/>
          <a:lstStyle/>
          <a:p>
            <a:pPr marL="0" indent="0" algn="l">
              <a:buNone/>
            </a:pPr>
            <a:r>
              <a:rPr lang="en-US" sz="1600" i="1" dirty="0">
                <a:solidFill>
                  <a:srgbClr val="000000"/>
                </a:solidFill>
                <a:latin typeface="Arial" pitchFamily="34" charset="0"/>
                <a:ea typeface="Arial" pitchFamily="34" charset="-122"/>
                <a:cs typeface="Arial" pitchFamily="34" charset="-120"/>
              </a:rPr>
              <a:t>“Be careful that no one captures you through philosophy and empty deceit…”</a:t>
            </a:r>
            <a:endParaRPr lang="en-US" sz="2800" dirty="0"/>
          </a:p>
        </p:txBody>
      </p:sp>
      <p:sp>
        <p:nvSpPr>
          <p:cNvPr id="32" name="c3_2"/>
          <p:cNvSpPr/>
          <p:nvPr/>
        </p:nvSpPr>
        <p:spPr>
          <a:xfrm>
            <a:off x="4572000" y="3904488"/>
            <a:ext cx="4206240" cy="822960"/>
          </a:xfrm>
          <a:prstGeom prst="rect">
            <a:avLst/>
          </a:prstGeom>
          <a:solidFill>
            <a:srgbClr val="F2F4F7"/>
          </a:solidFill>
          <a:ln w="6350">
            <a:solidFill>
              <a:srgbClr val="D9DDE3"/>
            </a:solidFill>
            <a:prstDash val="solid"/>
          </a:ln>
        </p:spPr>
        <p:txBody>
          <a:bodyPr/>
          <a:lstStyle/>
          <a:p>
            <a:endParaRPr lang="en-US" sz="3200"/>
          </a:p>
        </p:txBody>
      </p:sp>
      <p:sp>
        <p:nvSpPr>
          <p:cNvPr id="33" name="x3_2"/>
          <p:cNvSpPr txBox="1"/>
          <p:nvPr/>
        </p:nvSpPr>
        <p:spPr>
          <a:xfrm>
            <a:off x="4645152" y="3950208"/>
            <a:ext cx="4078224" cy="749808"/>
          </a:xfrm>
          <a:prstGeom prst="rect">
            <a:avLst/>
          </a:prstGeom>
          <a:noFill/>
          <a:ln/>
        </p:spPr>
        <p:txBody>
          <a:bodyPr wrap="square" lIns="0" tIns="0" rIns="0" bIns="0" rtlCol="0" anchor="ctr"/>
          <a:lstStyle/>
          <a:p>
            <a:pPr marL="0" indent="0" algn="l">
              <a:buNone/>
            </a:pPr>
            <a:r>
              <a:rPr lang="en-US" sz="1400" dirty="0">
                <a:solidFill>
                  <a:srgbClr val="000000"/>
                </a:solidFill>
                <a:latin typeface="Arial" pitchFamily="34" charset="0"/>
                <a:ea typeface="Arial" pitchFamily="34" charset="-122"/>
                <a:cs typeface="Arial" pitchFamily="34" charset="-120"/>
              </a:rPr>
              <a:t>Persuasive ≠ true. Human systems can sound wise and lead away from Christ.</a:t>
            </a:r>
            <a:endParaRPr lang="en-US" sz="2800" dirty="0"/>
          </a:p>
        </p:txBody>
      </p:sp>
      <p:sp>
        <p:nvSpPr>
          <p:cNvPr id="34" name="c4_0"/>
          <p:cNvSpPr/>
          <p:nvPr/>
        </p:nvSpPr>
        <p:spPr>
          <a:xfrm>
            <a:off x="365760" y="4727448"/>
            <a:ext cx="1325880" cy="822960"/>
          </a:xfrm>
          <a:prstGeom prst="rect">
            <a:avLst/>
          </a:prstGeom>
          <a:solidFill>
            <a:srgbClr val="FBF3DE"/>
          </a:solidFill>
          <a:ln w="6350">
            <a:solidFill>
              <a:srgbClr val="D9DDE3"/>
            </a:solidFill>
            <a:prstDash val="solid"/>
          </a:ln>
        </p:spPr>
        <p:txBody>
          <a:bodyPr/>
          <a:lstStyle/>
          <a:p>
            <a:endParaRPr lang="en-US" sz="3200"/>
          </a:p>
        </p:txBody>
      </p:sp>
      <p:sp>
        <p:nvSpPr>
          <p:cNvPr id="35" name="x4_0"/>
          <p:cNvSpPr txBox="1"/>
          <p:nvPr/>
        </p:nvSpPr>
        <p:spPr>
          <a:xfrm>
            <a:off x="438912" y="4773168"/>
            <a:ext cx="1197864" cy="749808"/>
          </a:xfrm>
          <a:prstGeom prst="rect">
            <a:avLst/>
          </a:prstGeom>
          <a:noFill/>
          <a:ln/>
        </p:spPr>
        <p:txBody>
          <a:bodyPr wrap="square" lIns="0" tIns="0" rIns="0" bIns="0" rtlCol="0" anchor="ctr"/>
          <a:lstStyle/>
          <a:p>
            <a:pPr marL="0" indent="0" algn="l">
              <a:buNone/>
            </a:pPr>
            <a:r>
              <a:rPr lang="en-US" sz="1600" b="1" dirty="0">
                <a:solidFill>
                  <a:srgbClr val="1F497D"/>
                </a:solidFill>
                <a:latin typeface="Arial" pitchFamily="34" charset="0"/>
                <a:ea typeface="Arial" pitchFamily="34" charset="-122"/>
                <a:cs typeface="Arial" pitchFamily="34" charset="-120"/>
              </a:rPr>
              <a:t>Heb 5:14</a:t>
            </a:r>
            <a:endParaRPr lang="en-US" sz="2800" dirty="0"/>
          </a:p>
        </p:txBody>
      </p:sp>
      <p:sp>
        <p:nvSpPr>
          <p:cNvPr id="36" name="c4_1"/>
          <p:cNvSpPr/>
          <p:nvPr/>
        </p:nvSpPr>
        <p:spPr>
          <a:xfrm>
            <a:off x="1691640" y="4727448"/>
            <a:ext cx="2880360" cy="822960"/>
          </a:xfrm>
          <a:prstGeom prst="rect">
            <a:avLst/>
          </a:prstGeom>
          <a:solidFill>
            <a:srgbClr val="FBF3DE"/>
          </a:solidFill>
          <a:ln w="6350">
            <a:solidFill>
              <a:srgbClr val="D9DDE3"/>
            </a:solidFill>
            <a:prstDash val="solid"/>
          </a:ln>
        </p:spPr>
        <p:txBody>
          <a:bodyPr/>
          <a:lstStyle/>
          <a:p>
            <a:endParaRPr lang="en-US" sz="3200"/>
          </a:p>
        </p:txBody>
      </p:sp>
      <p:sp>
        <p:nvSpPr>
          <p:cNvPr id="37" name="x4_1"/>
          <p:cNvSpPr txBox="1"/>
          <p:nvPr/>
        </p:nvSpPr>
        <p:spPr>
          <a:xfrm>
            <a:off x="1764792" y="4773168"/>
            <a:ext cx="2752344" cy="749808"/>
          </a:xfrm>
          <a:prstGeom prst="rect">
            <a:avLst/>
          </a:prstGeom>
          <a:noFill/>
          <a:ln/>
        </p:spPr>
        <p:txBody>
          <a:bodyPr wrap="square" lIns="0" tIns="0" rIns="0" bIns="0" rtlCol="0" anchor="ctr"/>
          <a:lstStyle/>
          <a:p>
            <a:pPr marL="0" indent="0" algn="l">
              <a:buNone/>
            </a:pPr>
            <a:r>
              <a:rPr lang="en-US" sz="1600" i="1" dirty="0">
                <a:solidFill>
                  <a:srgbClr val="000000"/>
                </a:solidFill>
                <a:latin typeface="Arial" pitchFamily="34" charset="0"/>
                <a:ea typeface="Arial" pitchFamily="34" charset="-122"/>
                <a:cs typeface="Arial" pitchFamily="34" charset="-120"/>
              </a:rPr>
              <a:t>“…perceptions trained by practice to discern both good and evil.”</a:t>
            </a:r>
            <a:endParaRPr lang="en-US" sz="2800" dirty="0"/>
          </a:p>
        </p:txBody>
      </p:sp>
      <p:sp>
        <p:nvSpPr>
          <p:cNvPr id="38" name="c4_2"/>
          <p:cNvSpPr/>
          <p:nvPr/>
        </p:nvSpPr>
        <p:spPr>
          <a:xfrm>
            <a:off x="4572000" y="4727448"/>
            <a:ext cx="4206240" cy="822960"/>
          </a:xfrm>
          <a:prstGeom prst="rect">
            <a:avLst/>
          </a:prstGeom>
          <a:solidFill>
            <a:srgbClr val="FBF3DE"/>
          </a:solidFill>
          <a:ln w="6350">
            <a:solidFill>
              <a:srgbClr val="D9DDE3"/>
            </a:solidFill>
            <a:prstDash val="solid"/>
          </a:ln>
        </p:spPr>
        <p:txBody>
          <a:bodyPr/>
          <a:lstStyle/>
          <a:p>
            <a:endParaRPr lang="en-US" sz="3200"/>
          </a:p>
        </p:txBody>
      </p:sp>
      <p:sp>
        <p:nvSpPr>
          <p:cNvPr id="39" name="x4_2"/>
          <p:cNvSpPr txBox="1"/>
          <p:nvPr/>
        </p:nvSpPr>
        <p:spPr>
          <a:xfrm>
            <a:off x="4645152" y="4773168"/>
            <a:ext cx="4078224" cy="749808"/>
          </a:xfrm>
          <a:prstGeom prst="rect">
            <a:avLst/>
          </a:prstGeom>
          <a:noFill/>
          <a:ln/>
        </p:spPr>
        <p:txBody>
          <a:bodyPr wrap="square" lIns="0" tIns="0" rIns="0" bIns="0" rtlCol="0" anchor="ctr"/>
          <a:lstStyle/>
          <a:p>
            <a:pPr marL="0" indent="0" algn="l">
              <a:buNone/>
            </a:pPr>
            <a:r>
              <a:rPr lang="en-US" sz="1400" dirty="0">
                <a:solidFill>
                  <a:srgbClr val="000000"/>
                </a:solidFill>
                <a:latin typeface="Arial" pitchFamily="34" charset="0"/>
                <a:ea typeface="Arial" pitchFamily="34" charset="-122"/>
                <a:cs typeface="Arial" pitchFamily="34" charset="-120"/>
              </a:rPr>
              <a:t>The faculty itself is built by USE. The other four are the reps.</a:t>
            </a:r>
            <a:endParaRPr lang="en-US" sz="2800" dirty="0"/>
          </a:p>
        </p:txBody>
      </p:sp>
      <p:sp>
        <p:nvSpPr>
          <p:cNvPr id="40" name="note"/>
          <p:cNvSpPr txBox="1"/>
          <p:nvPr/>
        </p:nvSpPr>
        <p:spPr>
          <a:xfrm>
            <a:off x="365760" y="5868740"/>
            <a:ext cx="8412480" cy="59436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Four commands to test — and one promise (Heb 5:14): </a:t>
            </a:r>
            <a:r>
              <a:rPr lang="en-US" i="1" dirty="0">
                <a:solidFill>
                  <a:srgbClr val="000000"/>
                </a:solidFill>
                <a:latin typeface="Arial" pitchFamily="34" charset="0"/>
                <a:ea typeface="Arial" pitchFamily="34" charset="-122"/>
                <a:cs typeface="Arial" pitchFamily="34" charset="-120"/>
              </a:rPr>
              <a:t>do the testing long enough and the eye itself gets trained. The toolkit is not a checklist; it is a gym.</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Why Daily: Perception Is Trained</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Hebrews 5:14 </a:t>
            </a:r>
            <a:r>
              <a:rPr lang="en-US" sz="2000" b="1" dirty="0">
                <a:solidFill>
                  <a:srgbClr val="4F81BD"/>
                </a:solidFill>
                <a:latin typeface="Arial" pitchFamily="34" charset="0"/>
                <a:ea typeface="Arial" pitchFamily="34" charset="-122"/>
                <a:cs typeface="Arial" pitchFamily="34" charset="-120"/>
                <a:sym typeface="Wingdings" pitchFamily="2" charset="2"/>
              </a:rPr>
              <a:t></a:t>
            </a:r>
            <a:r>
              <a:rPr lang="en-US" sz="2000" b="1" dirty="0">
                <a:solidFill>
                  <a:srgbClr val="4F81BD"/>
                </a:solidFill>
                <a:latin typeface="Arial" pitchFamily="34" charset="0"/>
                <a:ea typeface="Arial" pitchFamily="34" charset="-122"/>
                <a:cs typeface="Arial" pitchFamily="34" charset="-120"/>
              </a:rPr>
              <a:t> the payoff of the whole course</a:t>
            </a:r>
            <a:endParaRPr lang="en-US" sz="2800" dirty="0"/>
          </a:p>
        </p:txBody>
      </p:sp>
      <p:sp>
        <p:nvSpPr>
          <p:cNvPr id="4" name="c1"/>
          <p:cNvSpPr txBox="1"/>
          <p:nvPr/>
        </p:nvSpPr>
        <p:spPr>
          <a:xfrm>
            <a:off x="365760" y="1024128"/>
            <a:ext cx="8412480" cy="1216152"/>
          </a:xfrm>
          <a:prstGeom prst="rect">
            <a:avLst/>
          </a:prstGeom>
          <a:noFill/>
          <a:ln/>
        </p:spPr>
        <p:txBody>
          <a:bodyPr wrap="square" lIns="0" tIns="0" rIns="0" bIns="0" rtlCol="0" anchor="t"/>
          <a:lstStyle/>
          <a:p>
            <a:pPr marL="0" indent="0" algn="l">
              <a:buNone/>
            </a:pPr>
            <a:r>
              <a:rPr lang="en-US" sz="2000" b="1" i="1" dirty="0">
                <a:solidFill>
                  <a:srgbClr val="000000"/>
                </a:solidFill>
                <a:latin typeface="Arial" pitchFamily="34" charset="0"/>
                <a:ea typeface="Arial" pitchFamily="34" charset="-122"/>
                <a:cs typeface="Arial" pitchFamily="34" charset="-120"/>
              </a:rPr>
              <a:t>“Solid food is for the mature, whose perceptions are trained by practice to discern both good and evil.” </a:t>
            </a:r>
            <a:r>
              <a:rPr lang="en-US" sz="2000" b="1" dirty="0">
                <a:solidFill>
                  <a:srgbClr val="000000"/>
                </a:solidFill>
                <a:latin typeface="Arial" pitchFamily="34" charset="0"/>
                <a:ea typeface="Arial" pitchFamily="34" charset="-122"/>
                <a:cs typeface="Arial" pitchFamily="34" charset="-120"/>
              </a:rPr>
              <a:t>(Hebrews 5:14)</a:t>
            </a:r>
            <a:endParaRPr lang="en-US" sz="2000" dirty="0"/>
          </a:p>
          <a:p>
            <a:pPr marL="0" indent="0" algn="l">
              <a:buNone/>
            </a:pPr>
            <a:r>
              <a:rPr lang="en-US" b="1" dirty="0">
                <a:solidFill>
                  <a:srgbClr val="1F497D"/>
                </a:solidFill>
                <a:latin typeface="Arial" pitchFamily="34" charset="0"/>
                <a:ea typeface="Arial" pitchFamily="34" charset="-122"/>
                <a:cs typeface="Arial" pitchFamily="34" charset="-120"/>
              </a:rPr>
              <a:t>Trained </a:t>
            </a:r>
            <a:r>
              <a:rPr lang="en-US" b="1" dirty="0">
                <a:solidFill>
                  <a:srgbClr val="1F497D"/>
                </a:solidFill>
                <a:latin typeface="Arial" pitchFamily="34" charset="0"/>
                <a:ea typeface="Arial" pitchFamily="34" charset="-122"/>
                <a:cs typeface="Arial" pitchFamily="34" charset="-120"/>
                <a:sym typeface="Wingdings" pitchFamily="2" charset="2"/>
              </a:rPr>
              <a:t> </a:t>
            </a:r>
            <a:r>
              <a:rPr lang="en-US" b="1" dirty="0">
                <a:solidFill>
                  <a:srgbClr val="1F497D"/>
                </a:solidFill>
                <a:latin typeface="Arial" pitchFamily="34" charset="0"/>
                <a:ea typeface="Arial" pitchFamily="34" charset="-122"/>
                <a:cs typeface="Arial" pitchFamily="34" charset="-120"/>
              </a:rPr>
              <a:t>by practice. Not downloaded at baptism. Not absorbed from a good sermon.</a:t>
            </a:r>
            <a:endParaRPr lang="en-US" sz="2000" dirty="0"/>
          </a:p>
        </p:txBody>
      </p:sp>
      <p:sp>
        <p:nvSpPr>
          <p:cNvPr id="5" name="c2"/>
          <p:cNvSpPr txBox="1"/>
          <p:nvPr/>
        </p:nvSpPr>
        <p:spPr>
          <a:xfrm>
            <a:off x="365760" y="2377440"/>
            <a:ext cx="8412480" cy="1143000"/>
          </a:xfrm>
          <a:prstGeom prst="rect">
            <a:avLst/>
          </a:prstGeom>
          <a:noFill/>
          <a:ln/>
        </p:spPr>
        <p:txBody>
          <a:bodyPr wrap="square" lIns="0" tIns="0" rIns="0" bIns="0" rtlCol="0" anchor="t"/>
          <a:lstStyle/>
          <a:p>
            <a:pPr marL="0" indent="0" algn="l">
              <a:buNone/>
            </a:pPr>
            <a:r>
              <a:rPr lang="en-US" dirty="0">
                <a:solidFill>
                  <a:srgbClr val="000000"/>
                </a:solidFill>
                <a:latin typeface="Arial" pitchFamily="34" charset="0"/>
                <a:ea typeface="Arial" pitchFamily="34" charset="-122"/>
                <a:cs typeface="Arial" pitchFamily="34" charset="-120"/>
              </a:rPr>
              <a:t>Discernment works like any skilled trade. The carpenter spots the crooked joint without a tape measure. The nurse reads the patient at a glance. The rancher knows the sick animal across the field. Nobody downloaded that. They apprenticed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reps, daily, for years, until perception knew things the mouth couldn’t explain.</a:t>
            </a:r>
            <a:endParaRPr lang="en-US" sz="2000" dirty="0"/>
          </a:p>
        </p:txBody>
      </p:sp>
      <p:sp>
        <p:nvSpPr>
          <p:cNvPr id="6" name="c3"/>
          <p:cNvSpPr txBox="1"/>
          <p:nvPr/>
        </p:nvSpPr>
        <p:spPr>
          <a:xfrm>
            <a:off x="365760" y="3657600"/>
            <a:ext cx="8412480" cy="1234440"/>
          </a:xfrm>
          <a:prstGeom prst="rect">
            <a:avLst/>
          </a:prstGeom>
          <a:noFill/>
          <a:ln/>
        </p:spPr>
        <p:txBody>
          <a:bodyPr wrap="square" lIns="0" tIns="0" rIns="0" bIns="0" rtlCol="0" anchor="t"/>
          <a:lstStyle/>
          <a:p>
            <a:pPr marL="0" indent="0" algn="l">
              <a:buNone/>
            </a:pPr>
            <a:r>
              <a:rPr lang="en-US" b="1" dirty="0">
                <a:solidFill>
                  <a:srgbClr val="1F497D"/>
                </a:solidFill>
                <a:latin typeface="Arial" pitchFamily="34" charset="0"/>
                <a:ea typeface="Arial" pitchFamily="34" charset="-122"/>
                <a:cs typeface="Arial" pitchFamily="34" charset="-120"/>
              </a:rPr>
              <a:t>What are the reps? </a:t>
            </a:r>
            <a:r>
              <a:rPr lang="en-US" dirty="0">
                <a:solidFill>
                  <a:srgbClr val="000000"/>
                </a:solidFill>
                <a:latin typeface="Arial" pitchFamily="34" charset="0"/>
                <a:ea typeface="Arial" pitchFamily="34" charset="-122"/>
                <a:cs typeface="Arial" pitchFamily="34" charset="-120"/>
              </a:rPr>
              <a:t>Watching God draw the line, across hundreds of texts,  between what He accepts and what He rejects: Cain and Abel · Nadab · Saul · Uzzah · Malachi · Ananias · the Pharisees. Every passage is another rep. The daily reader is calibrating his eye to God’s own judgments.</a:t>
            </a:r>
            <a:endParaRPr lang="en-US" sz="2000" dirty="0"/>
          </a:p>
        </p:txBody>
      </p:sp>
      <p:sp>
        <p:nvSpPr>
          <p:cNvPr id="7" name="c4"/>
          <p:cNvSpPr txBox="1"/>
          <p:nvPr/>
        </p:nvSpPr>
        <p:spPr>
          <a:xfrm>
            <a:off x="365760" y="5029200"/>
            <a:ext cx="8412480" cy="1188720"/>
          </a:xfrm>
          <a:prstGeom prst="rect">
            <a:avLst/>
          </a:prstGeom>
          <a:noFill/>
          <a:ln/>
        </p:spPr>
        <p:txBody>
          <a:bodyPr wrap="square" lIns="0" tIns="0" rIns="0" bIns="0" rtlCol="0" anchor="t"/>
          <a:lstStyle/>
          <a:p>
            <a:pPr marL="0" indent="0" algn="l">
              <a:buNone/>
            </a:pPr>
            <a:r>
              <a:rPr lang="en-US" dirty="0">
                <a:solidFill>
                  <a:srgbClr val="000000"/>
                </a:solidFill>
                <a:latin typeface="Arial" pitchFamily="34" charset="0"/>
                <a:ea typeface="Arial" pitchFamily="34" charset="-122"/>
                <a:cs typeface="Arial" pitchFamily="34" charset="-120"/>
              </a:rPr>
              <a:t>So “read like a Berean” is not this course’s slogan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it is its </a:t>
            </a:r>
            <a:r>
              <a:rPr lang="en-US" b="1" dirty="0">
                <a:solidFill>
                  <a:srgbClr val="1F497D"/>
                </a:solidFill>
                <a:latin typeface="Arial" pitchFamily="34" charset="0"/>
                <a:ea typeface="Arial" pitchFamily="34" charset="-122"/>
                <a:cs typeface="Arial" pitchFamily="34" charset="-120"/>
              </a:rPr>
              <a:t>engine.
</a:t>
            </a:r>
            <a:r>
              <a:rPr lang="en-US" dirty="0">
                <a:solidFill>
                  <a:srgbClr val="000000"/>
                </a:solidFill>
                <a:latin typeface="Arial" pitchFamily="34" charset="0"/>
                <a:ea typeface="Arial" pitchFamily="34" charset="-122"/>
                <a:cs typeface="Arial" pitchFamily="34" charset="-120"/>
              </a:rPr>
              <a:t>The man not in the Word daily isn’t merely under-informed. He is missing the training data </a:t>
            </a:r>
            <a:r>
              <a:rPr lang="en-US" dirty="0">
                <a:solidFill>
                  <a:srgbClr val="000000"/>
                </a:solidFill>
                <a:latin typeface="Arial" pitchFamily="34" charset="0"/>
                <a:ea typeface="Arial" pitchFamily="34" charset="-122"/>
                <a:cs typeface="Arial" pitchFamily="34" charset="-120"/>
                <a:sym typeface="Wingdings" pitchFamily="2" charset="2"/>
              </a:rPr>
              <a:t></a:t>
            </a:r>
            <a:r>
              <a:rPr lang="en-US" dirty="0">
                <a:solidFill>
                  <a:srgbClr val="000000"/>
                </a:solidFill>
                <a:latin typeface="Arial" pitchFamily="34" charset="0"/>
                <a:ea typeface="Arial" pitchFamily="34" charset="-122"/>
                <a:cs typeface="Arial" pitchFamily="34" charset="-120"/>
              </a:rPr>
              <a:t> sincere, and uncalibrated. </a:t>
            </a:r>
            <a:r>
              <a:rPr lang="en-US" b="1" i="1" dirty="0">
                <a:solidFill>
                  <a:srgbClr val="1F497D"/>
                </a:solidFill>
                <a:latin typeface="Arial" pitchFamily="34" charset="0"/>
                <a:ea typeface="Arial" pitchFamily="34" charset="-122"/>
                <a:cs typeface="Arial" pitchFamily="34" charset="-120"/>
              </a:rPr>
              <a:t>One chapter a day, eager and examining, is how the eye is built.</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Discussion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Ten minutes </a:t>
            </a:r>
            <a:r>
              <a:rPr lang="en-US" sz="2000" b="1" dirty="0">
                <a:solidFill>
                  <a:srgbClr val="4F81BD"/>
                </a:solidFill>
                <a:latin typeface="Arial" pitchFamily="34" charset="0"/>
                <a:ea typeface="Arial" pitchFamily="34" charset="-122"/>
                <a:cs typeface="Arial" pitchFamily="34" charset="-120"/>
                <a:sym typeface="Wingdings" pitchFamily="2" charset="2"/>
              </a:rPr>
              <a:t></a:t>
            </a:r>
            <a:r>
              <a:rPr lang="en-US" sz="2000" b="1" dirty="0">
                <a:solidFill>
                  <a:srgbClr val="4F81BD"/>
                </a:solidFill>
                <a:latin typeface="Arial" pitchFamily="34" charset="0"/>
                <a:ea typeface="Arial" pitchFamily="34" charset="-122"/>
                <a:cs typeface="Arial" pitchFamily="34" charset="-120"/>
              </a:rPr>
              <a:t> this is the week’s practice</a:t>
            </a:r>
            <a:endParaRPr lang="en-US" sz="2800" dirty="0"/>
          </a:p>
        </p:txBody>
      </p:sp>
      <p:sp>
        <p:nvSpPr>
          <p:cNvPr id="4" name="x1"/>
          <p:cNvSpPr txBox="1"/>
          <p:nvPr/>
        </p:nvSpPr>
        <p:spPr>
          <a:xfrm>
            <a:off x="457200" y="1325880"/>
            <a:ext cx="8229600" cy="1417320"/>
          </a:xfrm>
          <a:prstGeom prst="rect">
            <a:avLst/>
          </a:prstGeom>
          <a:noFill/>
          <a:ln/>
        </p:spPr>
        <p:txBody>
          <a:bodyPr wrap="square" lIns="0" tIns="0" rIns="0" bIns="0" rtlCol="0" anchor="t"/>
          <a:lstStyle/>
          <a:p>
            <a:pPr marL="0" indent="0" algn="l">
              <a:buNone/>
            </a:pPr>
            <a:r>
              <a:rPr lang="en-US" sz="2400" b="1" dirty="0">
                <a:solidFill>
                  <a:srgbClr val="1F497D"/>
                </a:solidFill>
                <a:latin typeface="Arial" pitchFamily="34" charset="0"/>
                <a:ea typeface="Arial" pitchFamily="34" charset="-122"/>
                <a:cs typeface="Arial" pitchFamily="34" charset="-120"/>
              </a:rPr>
              <a:t>1.  </a:t>
            </a:r>
            <a:r>
              <a:rPr lang="en-US" sz="2000" dirty="0">
                <a:solidFill>
                  <a:srgbClr val="000000"/>
                </a:solidFill>
                <a:latin typeface="Arial" pitchFamily="34" charset="0"/>
                <a:ea typeface="Arial" pitchFamily="34" charset="-122"/>
                <a:cs typeface="Arial" pitchFamily="34" charset="-120"/>
              </a:rPr>
              <a:t>Which half of the Berean posture is harder for you </a:t>
            </a:r>
            <a:r>
              <a:rPr lang="en-US" sz="2000" dirty="0">
                <a:solidFill>
                  <a:srgbClr val="000000"/>
                </a:solidFill>
                <a:latin typeface="Arial" pitchFamily="34" charset="0"/>
                <a:ea typeface="Arial" pitchFamily="34" charset="-122"/>
                <a:cs typeface="Arial" pitchFamily="34" charset="-120"/>
                <a:sym typeface="Wingdings" pitchFamily="2" charset="2"/>
              </a:rPr>
              <a:t></a:t>
            </a:r>
            <a:r>
              <a:rPr lang="en-US" sz="2000" dirty="0">
                <a:solidFill>
                  <a:srgbClr val="000000"/>
                </a:solidFill>
                <a:latin typeface="Arial" pitchFamily="34" charset="0"/>
                <a:ea typeface="Arial" pitchFamily="34" charset="-122"/>
                <a:cs typeface="Arial" pitchFamily="34" charset="-120"/>
              </a:rPr>
              <a:t> receiving eagerly, or examining daily? What does your harder half cost you?</a:t>
            </a:r>
            <a:endParaRPr lang="en-US" dirty="0"/>
          </a:p>
        </p:txBody>
      </p:sp>
      <p:sp>
        <p:nvSpPr>
          <p:cNvPr id="5" name="x2"/>
          <p:cNvSpPr txBox="1"/>
          <p:nvPr/>
        </p:nvSpPr>
        <p:spPr>
          <a:xfrm>
            <a:off x="457200" y="2971800"/>
            <a:ext cx="8229600" cy="1417320"/>
          </a:xfrm>
          <a:prstGeom prst="rect">
            <a:avLst/>
          </a:prstGeom>
          <a:noFill/>
          <a:ln/>
        </p:spPr>
        <p:txBody>
          <a:bodyPr wrap="square" lIns="0" tIns="0" rIns="0" bIns="0" rtlCol="0" anchor="t"/>
          <a:lstStyle/>
          <a:p>
            <a:pPr marL="0" indent="0" algn="l">
              <a:buNone/>
            </a:pPr>
            <a:r>
              <a:rPr lang="en-US" sz="2400" b="1" dirty="0">
                <a:solidFill>
                  <a:srgbClr val="1F497D"/>
                </a:solidFill>
                <a:latin typeface="Arial" pitchFamily="34" charset="0"/>
                <a:ea typeface="Arial" pitchFamily="34" charset="-122"/>
                <a:cs typeface="Arial" pitchFamily="34" charset="-120"/>
              </a:rPr>
              <a:t>2.  </a:t>
            </a:r>
            <a:r>
              <a:rPr lang="en-US" sz="2000" dirty="0">
                <a:solidFill>
                  <a:srgbClr val="000000"/>
                </a:solidFill>
                <a:latin typeface="Arial" pitchFamily="34" charset="0"/>
                <a:ea typeface="Arial" pitchFamily="34" charset="-122"/>
                <a:cs typeface="Arial" pitchFamily="34" charset="-120"/>
              </a:rPr>
              <a:t>What was the last teaching you actually tested against Scripture </a:t>
            </a:r>
            <a:r>
              <a:rPr lang="en-US" sz="2000" dirty="0">
                <a:solidFill>
                  <a:srgbClr val="000000"/>
                </a:solidFill>
                <a:latin typeface="Arial" pitchFamily="34" charset="0"/>
                <a:ea typeface="Arial" pitchFamily="34" charset="-122"/>
                <a:cs typeface="Arial" pitchFamily="34" charset="-120"/>
                <a:sym typeface="Wingdings" pitchFamily="2" charset="2"/>
              </a:rPr>
              <a:t></a:t>
            </a:r>
            <a:r>
              <a:rPr lang="en-US" sz="2000" dirty="0">
                <a:solidFill>
                  <a:srgbClr val="000000"/>
                </a:solidFill>
                <a:latin typeface="Arial" pitchFamily="34" charset="0"/>
                <a:ea typeface="Arial" pitchFamily="34" charset="-122"/>
                <a:cs typeface="Arial" pitchFamily="34" charset="-120"/>
              </a:rPr>
              <a:t> rather than simply absorbed? How did you test it?</a:t>
            </a:r>
            <a:endParaRPr lang="en-US" dirty="0"/>
          </a:p>
        </p:txBody>
      </p:sp>
      <p:sp>
        <p:nvSpPr>
          <p:cNvPr id="6" name="x3"/>
          <p:cNvSpPr txBox="1"/>
          <p:nvPr/>
        </p:nvSpPr>
        <p:spPr>
          <a:xfrm>
            <a:off x="457200" y="4800600"/>
            <a:ext cx="8229600" cy="1097280"/>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And yes </a:t>
            </a:r>
            <a:r>
              <a:rPr lang="en-US" sz="2000" b="1" dirty="0">
                <a:solidFill>
                  <a:srgbClr val="1F497D"/>
                </a:solidFill>
                <a:latin typeface="Arial" pitchFamily="34" charset="0"/>
                <a:ea typeface="Arial" pitchFamily="34" charset="-122"/>
                <a:cs typeface="Arial" pitchFamily="34" charset="-120"/>
                <a:sym typeface="Wingdings" pitchFamily="2" charset="2"/>
              </a:rPr>
              <a:t></a:t>
            </a:r>
            <a:r>
              <a:rPr lang="en-US" sz="2000" b="1" dirty="0">
                <a:solidFill>
                  <a:srgbClr val="1F497D"/>
                </a:solidFill>
                <a:latin typeface="Arial" pitchFamily="34" charset="0"/>
                <a:ea typeface="Arial" pitchFamily="34" charset="-122"/>
                <a:cs typeface="Arial" pitchFamily="34" charset="-120"/>
              </a:rPr>
              <a:t> that includes this class. </a:t>
            </a:r>
            <a:r>
              <a:rPr lang="en-US" sz="2000" i="1" dirty="0">
                <a:solidFill>
                  <a:srgbClr val="000000"/>
                </a:solidFill>
                <a:latin typeface="Arial" pitchFamily="34" charset="0"/>
                <a:ea typeface="Arial" pitchFamily="34" charset="-122"/>
                <a:cs typeface="Arial" pitchFamily="34" charset="-120"/>
              </a:rPr>
              <a:t>Test what you hear here against the text. That is the whole point.</a:t>
            </a: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HeadTitle"/>
          <p:cNvSpPr txBox="1"/>
          <p:nvPr/>
        </p:nvSpPr>
        <p:spPr>
          <a:xfrm>
            <a:off x="228600" y="109728"/>
            <a:ext cx="8686800" cy="502920"/>
          </a:xfrm>
          <a:prstGeom prst="rect">
            <a:avLst/>
          </a:prstGeom>
          <a:noFill/>
          <a:ln/>
        </p:spPr>
        <p:txBody>
          <a:bodyPr wrap="square" lIns="0" tIns="0" rIns="0" bIns="0" rtlCol="0" anchor="t"/>
          <a:lstStyle/>
          <a:p>
            <a:pPr marL="0" indent="0" algn="l">
              <a:buNone/>
            </a:pPr>
            <a:r>
              <a:rPr lang="en-US" sz="2600" b="1" dirty="0">
                <a:solidFill>
                  <a:srgbClr val="1F497D"/>
                </a:solidFill>
                <a:latin typeface="Arial" pitchFamily="34" charset="0"/>
                <a:ea typeface="Arial" pitchFamily="34" charset="-122"/>
                <a:cs typeface="Arial" pitchFamily="34" charset="-120"/>
              </a:rPr>
              <a:t>Read Like a Berean</a:t>
            </a:r>
            <a:endParaRPr lang="en-US" sz="1600" dirty="0"/>
          </a:p>
        </p:txBody>
      </p:sp>
      <p:sp>
        <p:nvSpPr>
          <p:cNvPr id="3" name="HeadSub"/>
          <p:cNvSpPr txBox="1"/>
          <p:nvPr/>
        </p:nvSpPr>
        <p:spPr>
          <a:xfrm>
            <a:off x="228600" y="566928"/>
            <a:ext cx="8686800" cy="320040"/>
          </a:xfrm>
          <a:prstGeom prst="rect">
            <a:avLst/>
          </a:prstGeom>
          <a:noFill/>
          <a:ln/>
        </p:spPr>
        <p:txBody>
          <a:bodyPr wrap="square" lIns="0" tIns="0" rIns="0" bIns="0" rtlCol="0" anchor="t"/>
          <a:lstStyle/>
          <a:p>
            <a:pPr marL="0" indent="0" algn="l">
              <a:buNone/>
            </a:pPr>
            <a:r>
              <a:rPr lang="en-US" sz="2000" b="1" dirty="0">
                <a:solidFill>
                  <a:srgbClr val="4F81BD"/>
                </a:solidFill>
                <a:latin typeface="Arial" pitchFamily="34" charset="0"/>
                <a:ea typeface="Arial" pitchFamily="34" charset="-122"/>
                <a:cs typeface="Arial" pitchFamily="34" charset="-120"/>
              </a:rPr>
              <a:t>For next week </a:t>
            </a:r>
            <a:r>
              <a:rPr lang="en-US" sz="2000" b="1" dirty="0">
                <a:solidFill>
                  <a:srgbClr val="4F81BD"/>
                </a:solidFill>
                <a:latin typeface="Arial" pitchFamily="34" charset="0"/>
                <a:ea typeface="Arial" pitchFamily="34" charset="-122"/>
                <a:cs typeface="Arial" pitchFamily="34" charset="-120"/>
                <a:sym typeface="Wingdings" pitchFamily="2" charset="2"/>
              </a:rPr>
              <a:t></a:t>
            </a:r>
            <a:r>
              <a:rPr lang="en-US" sz="2000" b="1" dirty="0">
                <a:solidFill>
                  <a:srgbClr val="4F81BD"/>
                </a:solidFill>
                <a:latin typeface="Arial" pitchFamily="34" charset="0"/>
                <a:ea typeface="Arial" pitchFamily="34" charset="-122"/>
                <a:cs typeface="Arial" pitchFamily="34" charset="-120"/>
              </a:rPr>
              <a:t> eager, and examining</a:t>
            </a:r>
            <a:endParaRPr lang="en-US" sz="2800" dirty="0"/>
          </a:p>
        </p:txBody>
      </p:sp>
      <p:sp>
        <p:nvSpPr>
          <p:cNvPr id="4" name="z1"/>
          <p:cNvSpPr txBox="1"/>
          <p:nvPr/>
        </p:nvSpPr>
        <p:spPr>
          <a:xfrm>
            <a:off x="365760" y="1188720"/>
            <a:ext cx="8412480" cy="1463040"/>
          </a:xfrm>
          <a:prstGeom prst="rect">
            <a:avLst/>
          </a:prstGeom>
          <a:noFill/>
          <a:ln/>
        </p:spPr>
        <p:txBody>
          <a:bodyPr wrap="square" lIns="0" tIns="0" rIns="0" bIns="0" rtlCol="0" anchor="t"/>
          <a:lstStyle/>
          <a:p>
            <a:pPr marL="0" indent="0" algn="l">
              <a:buNone/>
            </a:pPr>
            <a:r>
              <a:rPr lang="en-US" sz="2000" b="1" dirty="0">
                <a:solidFill>
                  <a:srgbClr val="1F497D"/>
                </a:solidFill>
                <a:latin typeface="Arial" pitchFamily="34" charset="0"/>
                <a:ea typeface="Arial" pitchFamily="34" charset="-122"/>
                <a:cs typeface="Arial" pitchFamily="34" charset="-120"/>
              </a:rPr>
              <a:t>For next week, read:
</a:t>
            </a:r>
            <a:r>
              <a:rPr lang="en-US" dirty="0">
                <a:solidFill>
                  <a:srgbClr val="000000"/>
                </a:solidFill>
                <a:latin typeface="Arial" pitchFamily="34" charset="0"/>
                <a:ea typeface="Arial" pitchFamily="34" charset="-122"/>
                <a:cs typeface="Arial" pitchFamily="34" charset="-120"/>
              </a:rPr>
              <a:t>•  Genesis 3:1–13  — the serpent’s method. What exactly does he attack first? Notice it is not her morals.
•  1 Corinthians 13  — what does love do with the truth (v.6)? Can love and truth ever be separated?</a:t>
            </a:r>
            <a:endParaRPr lang="en-US" sz="2000" dirty="0"/>
          </a:p>
        </p:txBody>
      </p:sp>
      <p:sp>
        <p:nvSpPr>
          <p:cNvPr id="5" name="z2"/>
          <p:cNvSpPr txBox="1"/>
          <p:nvPr/>
        </p:nvSpPr>
        <p:spPr>
          <a:xfrm>
            <a:off x="365760" y="2834640"/>
            <a:ext cx="8412480" cy="914400"/>
          </a:xfrm>
          <a:prstGeom prst="rect">
            <a:avLst/>
          </a:prstGeom>
          <a:noFill/>
          <a:ln/>
        </p:spPr>
        <p:txBody>
          <a:bodyPr wrap="square" lIns="0" tIns="0" rIns="0" bIns="0" rtlCol="0" anchor="t"/>
          <a:lstStyle/>
          <a:p>
            <a:pPr marL="0" indent="0" algn="l">
              <a:buNone/>
            </a:pPr>
            <a:r>
              <a:rPr lang="en-US" b="1" dirty="0">
                <a:solidFill>
                  <a:srgbClr val="000000"/>
                </a:solidFill>
                <a:latin typeface="Arial" pitchFamily="34" charset="0"/>
                <a:ea typeface="Arial" pitchFamily="34" charset="-122"/>
                <a:cs typeface="Arial" pitchFamily="34" charset="-120"/>
              </a:rPr>
              <a:t>Next week: </a:t>
            </a:r>
            <a:r>
              <a:rPr lang="en-US" i="1" dirty="0">
                <a:solidFill>
                  <a:srgbClr val="000000"/>
                </a:solidFill>
                <a:latin typeface="Arial" pitchFamily="34" charset="0"/>
                <a:ea typeface="Arial" pitchFamily="34" charset="-122"/>
                <a:cs typeface="Arial" pitchFamily="34" charset="-120"/>
              </a:rPr>
              <a:t>Love, Compassion, and Truth — why compassion cut loose from truth becomes a weapon, beginning in Eden.</a:t>
            </a:r>
            <a:endParaRPr lang="en-US" dirty="0"/>
          </a:p>
        </p:txBody>
      </p:sp>
      <p:sp>
        <p:nvSpPr>
          <p:cNvPr id="6" name="z3"/>
          <p:cNvSpPr txBox="1"/>
          <p:nvPr/>
        </p:nvSpPr>
        <p:spPr>
          <a:xfrm>
            <a:off x="365760" y="3977640"/>
            <a:ext cx="8412480" cy="1051560"/>
          </a:xfrm>
          <a:prstGeom prst="rect">
            <a:avLst/>
          </a:prstGeom>
          <a:noFill/>
          <a:ln/>
        </p:spPr>
        <p:txBody>
          <a:bodyPr wrap="square" lIns="0" tIns="0" rIns="0" bIns="0" rtlCol="0" anchor="t"/>
          <a:lstStyle/>
          <a:p>
            <a:pPr marL="0" indent="0" algn="l">
              <a:buNone/>
            </a:pPr>
            <a:r>
              <a:rPr lang="en-US" b="1" dirty="0">
                <a:solidFill>
                  <a:srgbClr val="000000"/>
                </a:solidFill>
                <a:latin typeface="Arial" pitchFamily="34" charset="0"/>
                <a:ea typeface="Arial" pitchFamily="34" charset="-122"/>
                <a:cs typeface="Arial" pitchFamily="34" charset="-120"/>
              </a:rPr>
              <a:t>Carry this week in one sentence:
</a:t>
            </a:r>
            <a:r>
              <a:rPr lang="en-US" sz="2000" b="1" i="1" dirty="0">
                <a:solidFill>
                  <a:srgbClr val="1F497D"/>
                </a:solidFill>
                <a:latin typeface="Arial" pitchFamily="34" charset="0"/>
                <a:ea typeface="Arial" pitchFamily="34" charset="-122"/>
                <a:cs typeface="Arial" pitchFamily="34" charset="-120"/>
              </a:rPr>
              <a:t>Soft heart, hard questions </a:t>
            </a:r>
            <a:r>
              <a:rPr lang="en-US" sz="2000" b="1" i="1" dirty="0">
                <a:solidFill>
                  <a:srgbClr val="1F497D"/>
                </a:solidFill>
                <a:latin typeface="Arial" pitchFamily="34" charset="0"/>
                <a:ea typeface="Arial" pitchFamily="34" charset="-122"/>
                <a:cs typeface="Arial" pitchFamily="34" charset="-120"/>
                <a:sym typeface="Wingdings" pitchFamily="2" charset="2"/>
              </a:rPr>
              <a:t></a:t>
            </a:r>
            <a:r>
              <a:rPr lang="en-US" sz="2000" b="1" i="1" dirty="0">
                <a:solidFill>
                  <a:srgbClr val="1F497D"/>
                </a:solidFill>
                <a:latin typeface="Arial" pitchFamily="34" charset="0"/>
                <a:ea typeface="Arial" pitchFamily="34" charset="-122"/>
                <a:cs typeface="Arial" pitchFamily="34" charset="-120"/>
              </a:rPr>
              <a:t> and daily, because the eye is trained, not downloaded.</a:t>
            </a:r>
            <a:endParaRPr lang="en-US" sz="2000" dirty="0"/>
          </a:p>
        </p:txBody>
      </p:sp>
      <p:sp>
        <p:nvSpPr>
          <p:cNvPr id="7" name="z4"/>
          <p:cNvSpPr txBox="1"/>
          <p:nvPr/>
        </p:nvSpPr>
        <p:spPr>
          <a:xfrm>
            <a:off x="365760" y="5166360"/>
            <a:ext cx="8412480" cy="822960"/>
          </a:xfrm>
          <a:prstGeom prst="rect">
            <a:avLst/>
          </a:prstGeom>
          <a:noFill/>
          <a:ln/>
        </p:spPr>
        <p:txBody>
          <a:bodyPr wrap="square" lIns="0" tIns="0" rIns="0" bIns="0" rtlCol="0" anchor="t"/>
          <a:lstStyle/>
          <a:p>
            <a:pPr marL="0" indent="0" algn="ctr">
              <a:buNone/>
            </a:pPr>
            <a:r>
              <a:rPr lang="en-US" sz="2000" b="1" i="1" dirty="0">
                <a:solidFill>
                  <a:srgbClr val="1F497D"/>
                </a:solidFill>
                <a:latin typeface="Arial" pitchFamily="34" charset="0"/>
                <a:ea typeface="Arial" pitchFamily="34" charset="-122"/>
                <a:cs typeface="Arial" pitchFamily="34" charset="-120"/>
              </a:rPr>
              <a:t>“Examine all things; hold fast to what is good.”  </a:t>
            </a:r>
          </a:p>
          <a:p>
            <a:pPr marL="0" indent="0" algn="ctr">
              <a:buNone/>
            </a:pPr>
            <a:r>
              <a:rPr lang="en-US" sz="2000" b="1" i="1" dirty="0">
                <a:solidFill>
                  <a:srgbClr val="1F497D"/>
                </a:solidFill>
                <a:latin typeface="Arial" pitchFamily="34" charset="0"/>
                <a:ea typeface="Arial" pitchFamily="34" charset="-122"/>
                <a:cs typeface="Arial" pitchFamily="34" charset="-120"/>
              </a:rPr>
              <a:t>(1 Thessalonians 5:21)</a:t>
            </a:r>
            <a:endParaRPr lang="en-US" dirty="0"/>
          </a:p>
        </p:txBody>
      </p:sp>
      <p:sp>
        <p:nvSpPr>
          <p:cNvPr id="8" name="z5"/>
          <p:cNvSpPr txBox="1"/>
          <p:nvPr/>
        </p:nvSpPr>
        <p:spPr>
          <a:xfrm>
            <a:off x="365760" y="6035040"/>
            <a:ext cx="8412480" cy="365760"/>
          </a:xfrm>
          <a:prstGeom prst="rect">
            <a:avLst/>
          </a:prstGeom>
          <a:noFill/>
          <a:ln/>
        </p:spPr>
        <p:txBody>
          <a:bodyPr wrap="square" lIns="0" tIns="0" rIns="0" bIns="0" rtlCol="0" anchor="t"/>
          <a:lstStyle/>
          <a:p>
            <a:pPr marL="0" indent="0" algn="ctr">
              <a:buNone/>
            </a:pPr>
            <a:r>
              <a:rPr lang="en-US" sz="1300" b="1" u="sng" dirty="0">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https://</a:t>
            </a:r>
            <a:r>
              <a:rPr lang="en-US" sz="1300" b="1" u="sng">
                <a:solidFill>
                  <a:srgbClr val="4F81BD"/>
                </a:solidFill>
                <a:latin typeface="Arial" pitchFamily="34" charset="0"/>
                <a:ea typeface="Arial" pitchFamily="34" charset="-122"/>
                <a:cs typeface="Arial" pitchFamily="34" charset="-120"/>
                <a:hlinkClick r:id="rId3">
                  <a:extLst>
                    <a:ext uri="{A12FA001-AC4F-418D-AE19-62706E023703}">
                      <ahyp:hlinkClr xmlns:ahyp="http://schemas.microsoft.com/office/drawing/2018/hyperlinkcolor" val="tx"/>
                    </a:ext>
                  </a:extLst>
                </a:hlinkClick>
              </a:rPr>
              <a:t>TeachTheWord</a:t>
            </a:r>
            <a:r>
              <a:rPr lang="en-US" sz="1300" b="1" u="sng">
                <a:solidFill>
                  <a:srgbClr val="4F81BD"/>
                </a:solidFill>
                <a:latin typeface="Arial" pitchFamily="34" charset="0"/>
                <a:ea typeface="Arial" pitchFamily="34" charset="-122"/>
                <a:cs typeface="Arial" pitchFamily="34" charset="-120"/>
              </a:rPr>
              <a:t>.Church</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2184</Words>
  <Application>Microsoft Macintosh PowerPoint</Application>
  <PresentationFormat>On-screen Show (4:3)</PresentationFormat>
  <Paragraphs>74</Paragraphs>
  <Slides>7</Slides>
  <Notes>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7</vt:i4>
      </vt:variant>
    </vt:vector>
  </HeadingPairs>
  <TitlesOfParts>
    <vt:vector size="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Phil Pennington</cp:lastModifiedBy>
  <cp:revision>7</cp:revision>
  <dcterms:created xsi:type="dcterms:W3CDTF">2026-09-30T13:25:23Z</dcterms:created>
  <dcterms:modified xsi:type="dcterms:W3CDTF">2026-10-31T19:15:49Z</dcterms:modified>
</cp:coreProperties>
</file>