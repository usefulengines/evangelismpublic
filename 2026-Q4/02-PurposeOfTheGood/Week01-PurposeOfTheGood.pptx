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Welcome. Twelve weeks, one thread: God speaks, faith hears, obedience makes the invisible visible.
Say: “This course has one controlling verse, and it is on the screen. By week twelve you will know why maturity is a matter of trained perception.”
Do not explain it yet — slide 5 does that. Advance when the room settles.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[0:00–10:00]
Open with the ordinary uses: good coffee, a good dog, a good man — ask what standard each silently borrows.
[CLICK] Read both verses. A man calls Jesus good as flattery.
[CLICK] Jesus redirects: compliment → identification. He is not denying his goodness (he IS good) — he is asking whether the man knows what he just said.
[CLICK] The participation line — land it slowly. Everything we call good borrows from Him.
[CLICK] Moses asked to see glory; God showed goodness and a NAME. Psalm 34 — taste, not tally. Transition: “If the Good is a Person, then the Good has a purpose. Persons have purposes.”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[10:00–20:00]
[CLICK] Box 1: image and likeness — made to resemble and relate.
[CLICK] Box 2: Gen 3 — the image marred. One sentence; Week 6 returns here.
[CLICK] Box 3: Rom 8:29 — the purpose never changed; conformity to the Son is Gen 1:26 kept.
[CLICK] The purpose stated — union.
[CLICK] Union, not admiration. Ask rhetorically: “Does God want your approval of goodness — or your participation in it?” Transition: “But there is a problem. How would anyone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[20:00–26:00]
[CLICK] The claim: devotion is invisible — even to its owner. Let that second phrase sit.
[CLICK] Three witnesses — preview only, one breath each (Saul is Week 2–3, Malachi Week 9, the Lord-Lord builders Week 8). All were sincere.
[CLICK] Sincerity passed its own inspection every time. 2 Cor 13:5 — God commands the audit.
[CLICK] The course question. Pause. Transition: “Hebrews answers with one word: trained.”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[26:00–32:00]
[CLICK] v.12 — “by this time.” The writer does math on them: years in vs. what they can digest. Run his math on yourself — say it kindly; this is invitation, not shaming.
[CLICK] v.14 — the controlling verse. Read twice, slower the second time.
[CLICK] Trained by practice — the tradesman illustration (pick the trade your class knows: carpenter, nurse, mechanic).
[CLICK] Discern GOOD and evil — loop back to slide 2: the Good is His character. Recognizing it is a skill. Transition: “Here is the road we’ll take to train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[32:00–42:00]
[CLICK×5] Walk the five units briskly — one sentence each. Foundations builds the vocabulary; Discernment gives the method; Testing shows the covenant pattern and ours; God’s House applies it to authority and order; Commission sends.
[CLICK] The grace line — do NOT rush this. Romans 12:1 begins “by the mercies of God.” Say plainly: this is a course about obedience that cannot be heard as earning. Mercy first, altar second — we will repeat it at weeks 4, 7, 9, and 12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[45:00–55:00]
Q1: let 2–3 answers surface — expect “what I like,” “what works,” “what’s moral.” Don’t correct; collect. Then observe: every answer borrowed a standard.
Q2: push toward concrete — how would Tuesday change? If quiet, seed: “Would it change how you evaluate a sermon? A purchase? A friendship?”
[CLICK] Ground rule — set the course culture now, week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[55:00 close, ~2 min]
[CLICK] Acts 17:11 — name both halves; this is the course’s weekly discipline, kept light: one passage, read daily if possible.
[CLICK] Next week’s reading with the two guiding questions — they make the reading Berean rather than passive.
[CLICK] Preview Week 2 in one sentence.
[CLICK] Close on Psalm 34:8 — the invitation, not an assignment. Dismiss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tinyurl.com/TeachTheWord"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tinyurl.com/TeachTheWord"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0"/>
          <p:cNvSpPr txBox="1"/>
          <p:nvPr/>
        </p:nvSpPr>
        <p:spPr>
          <a:xfrm>
            <a:off x="548640" y="685800"/>
            <a:ext cx="8046720" cy="457200"/>
          </a:xfrm>
          <a:prstGeom prst="rect">
            <a:avLst/>
          </a:prstGeom>
          <a:noFill/>
          <a:ln/>
        </p:spPr>
        <p:txBody>
          <a:bodyPr wrap="square" lIns="0" tIns="0" rIns="0" bIns="0" rtlCol="0" anchor="t"/>
          <a:lstStyle/>
          <a:p>
            <a:pPr algn="ctr" indent="0" marL="0">
              <a:buNone/>
            </a:pPr>
            <a:r>
              <a:rPr lang="en-US" sz="1800" b="1" i="1" dirty="0">
                <a:solidFill>
                  <a:srgbClr val="4F81BD"/>
                </a:solidFill>
                <a:latin typeface="Arial" pitchFamily="34" charset="0"/>
                <a:ea typeface="Arial" pitchFamily="34" charset="-122"/>
                <a:cs typeface="Arial" pitchFamily="34" charset="-120"/>
              </a:rPr>
              <a:t>The Obedience of Faith — Week 1</a:t>
            </a:r>
            <a:endParaRPr lang="en-US" sz="1600" dirty="0"/>
          </a:p>
        </p:txBody>
      </p:sp>
      <p:sp>
        <p:nvSpPr>
          <p:cNvPr id="3" name="t1"/>
          <p:cNvSpPr txBox="1"/>
          <p:nvPr/>
        </p:nvSpPr>
        <p:spPr>
          <a:xfrm>
            <a:off x="548640" y="1234440"/>
            <a:ext cx="8046720" cy="822960"/>
          </a:xfrm>
          <a:prstGeom prst="rect">
            <a:avLst/>
          </a:prstGeom>
          <a:noFill/>
          <a:ln/>
        </p:spPr>
        <p:txBody>
          <a:bodyPr wrap="square" lIns="0" tIns="0" rIns="0" bIns="0" rtlCol="0" anchor="t"/>
          <a:lstStyle/>
          <a:p>
            <a:pPr algn="ctr" indent="0" marL="0">
              <a:buNone/>
            </a:pPr>
            <a:r>
              <a:rPr lang="en-US" sz="4000" b="1" dirty="0">
                <a:solidFill>
                  <a:srgbClr val="1F497D"/>
                </a:solidFill>
                <a:latin typeface="Arial" pitchFamily="34" charset="0"/>
                <a:ea typeface="Arial" pitchFamily="34" charset="-122"/>
                <a:cs typeface="Arial" pitchFamily="34" charset="-120"/>
              </a:rPr>
              <a:t>The Purpose of the Good</a:t>
            </a:r>
            <a:endParaRPr lang="en-US" sz="1600" dirty="0"/>
          </a:p>
        </p:txBody>
      </p:sp>
      <p:sp>
        <p:nvSpPr>
          <p:cNvPr id="4" name="t2"/>
          <p:cNvSpPr txBox="1"/>
          <p:nvPr/>
        </p:nvSpPr>
        <p:spPr>
          <a:xfrm>
            <a:off x="548640" y="2194560"/>
            <a:ext cx="8046720" cy="548640"/>
          </a:xfrm>
          <a:prstGeom prst="rect">
            <a:avLst/>
          </a:prstGeom>
          <a:noFill/>
          <a:ln/>
        </p:spPr>
        <p:txBody>
          <a:bodyPr wrap="square" lIns="0" tIns="0" rIns="0" bIns="0" rtlCol="0" anchor="t"/>
          <a:lstStyle/>
          <a:p>
            <a:pPr algn="ctr" indent="0" marL="0">
              <a:buNone/>
            </a:pPr>
            <a:r>
              <a:rPr lang="en-US" sz="2000" b="1" i="1" dirty="0">
                <a:solidFill>
                  <a:srgbClr val="1F497D"/>
                </a:solidFill>
                <a:latin typeface="Arial" pitchFamily="34" charset="0"/>
                <a:ea typeface="Arial" pitchFamily="34" charset="-122"/>
                <a:cs typeface="Arial" pitchFamily="34" charset="-120"/>
              </a:rPr>
              <a:t>Goodness has a source, not just a definition</a:t>
            </a:r>
            <a:endParaRPr lang="en-US" sz="1600" dirty="0"/>
          </a:p>
        </p:txBody>
      </p:sp>
      <p:sp>
        <p:nvSpPr>
          <p:cNvPr id="5" name="t3"/>
          <p:cNvSpPr txBox="1"/>
          <p:nvPr/>
        </p:nvSpPr>
        <p:spPr>
          <a:xfrm>
            <a:off x="914400" y="3063240"/>
            <a:ext cx="7315200" cy="1371600"/>
          </a:xfrm>
          <a:prstGeom prst="rect">
            <a:avLst/>
          </a:prstGeom>
          <a:noFill/>
          <a:ln/>
        </p:spPr>
        <p:txBody>
          <a:bodyPr wrap="square" lIns="0" tIns="0" rIns="0" bIns="0" rtlCol="0" anchor="t"/>
          <a:lstStyle/>
          <a:p>
            <a:pPr algn="ctr" indent="0" marL="0">
              <a:buNone/>
            </a:pPr>
            <a:r>
              <a:rPr lang="en-US" sz="2100" i="1" dirty="0">
                <a:solidFill>
                  <a:srgbClr val="000000"/>
                </a:solidFill>
                <a:latin typeface="Arial" pitchFamily="34" charset="0"/>
                <a:ea typeface="Arial" pitchFamily="34" charset="-122"/>
                <a:cs typeface="Arial" pitchFamily="34" charset="-120"/>
              </a:rPr>
              <a:t>“But solid food is for the mature, whose perceptions are trained by practice to discern both good and evil.”</a:t>
            </a:r>
            <a:pPr algn="ctr" indent="0" marL="0">
              <a:buNone/>
            </a:pPr>
            <a:endParaRPr lang="en-US" sz="1600" dirty="0"/>
          </a:p>
          <a:p>
            <a:pPr algn="ctr" indent="0" marL="0">
              <a:buNone/>
            </a:pPr>
            <a:r>
              <a:rPr lang="en-US" sz="1900" dirty="0">
                <a:solidFill>
                  <a:srgbClr val="000000"/>
                </a:solidFill>
                <a:latin typeface="Arial" pitchFamily="34" charset="0"/>
                <a:ea typeface="Arial" pitchFamily="34" charset="-122"/>
                <a:cs typeface="Arial" pitchFamily="34" charset="-120"/>
              </a:rPr>
              <a:t>(Hebrews 5:14)</a:t>
            </a:r>
            <a:endParaRPr lang="en-US" sz="1600" dirty="0"/>
          </a:p>
        </p:txBody>
      </p:sp>
      <p:sp>
        <p:nvSpPr>
          <p:cNvPr id="6" name="t4"/>
          <p:cNvSpPr txBox="1"/>
          <p:nvPr/>
        </p:nvSpPr>
        <p:spPr>
          <a:xfrm>
            <a:off x="914400" y="4800600"/>
            <a:ext cx="7315200" cy="457200"/>
          </a:xfrm>
          <a:prstGeom prst="rect">
            <a:avLst/>
          </a:prstGeom>
          <a:noFill/>
          <a:ln/>
        </p:spPr>
        <p:txBody>
          <a:bodyPr wrap="square" lIns="0" tIns="0" rIns="0" bIns="0" rtlCol="0" anchor="t"/>
          <a:lstStyle/>
          <a:p>
            <a:pPr algn="ctr" indent="0" marL="0">
              <a:buNone/>
            </a:pPr>
            <a:r>
              <a:rPr lang="en-US" sz="1600" b="1" u="sng" dirty="0">
                <a:solidFill>
                  <a:srgbClr val="4F81BD"/>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https://tinyurl.com/TeachTheWord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algn="l" indent="0" marL="0">
              <a:buNone/>
            </a:pPr>
            <a:r>
              <a:rPr lang="en-US" sz="2600" b="1" dirty="0">
                <a:solidFill>
                  <a:srgbClr val="1F497D"/>
                </a:solidFill>
                <a:latin typeface="Arial" pitchFamily="34" charset="0"/>
                <a:ea typeface="Arial" pitchFamily="34" charset="-122"/>
                <a:cs typeface="Arial" pitchFamily="34" charset="-120"/>
              </a:rPr>
              <a:t>“Why Do You Call Me Good?”</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algn="l" indent="0" marL="0">
              <a:buNone/>
            </a:pPr>
            <a:r>
              <a:rPr lang="en-US" sz="1300" b="1" dirty="0">
                <a:solidFill>
                  <a:srgbClr val="4F81BD"/>
                </a:solidFill>
                <a:latin typeface="Arial" pitchFamily="34" charset="0"/>
                <a:ea typeface="Arial" pitchFamily="34" charset="-122"/>
                <a:cs typeface="Arial" pitchFamily="34" charset="-120"/>
              </a:rPr>
              <a:t>Mark 10:17–18 — goodness has a source, not just a definition</a:t>
            </a:r>
            <a:endParaRPr lang="en-US" sz="1600" dirty="0"/>
          </a:p>
        </p:txBody>
      </p:sp>
      <p:sp>
        <p:nvSpPr>
          <p:cNvPr id="4" name="a1"/>
          <p:cNvSpPr txBox="1"/>
          <p:nvPr/>
        </p:nvSpPr>
        <p:spPr>
          <a:xfrm>
            <a:off x="320040" y="1051560"/>
            <a:ext cx="8503920" cy="1188720"/>
          </a:xfrm>
          <a:prstGeom prst="rect">
            <a:avLst/>
          </a:prstGeom>
          <a:noFill/>
          <a:ln/>
        </p:spPr>
        <p:txBody>
          <a:bodyPr wrap="square" lIns="0" tIns="0" rIns="0" bIns="0" rtlCol="0" anchor="t"/>
          <a:lstStyle/>
          <a:p>
            <a:pPr algn="l" indent="0" marL="0">
              <a:buNone/>
            </a:pPr>
            <a:r>
              <a:rPr lang="en-US" sz="1600" b="1" i="1" dirty="0">
                <a:solidFill>
                  <a:srgbClr val="000000"/>
                </a:solidFill>
                <a:latin typeface="Arial" pitchFamily="34" charset="0"/>
                <a:ea typeface="Arial" pitchFamily="34" charset="-122"/>
                <a:cs typeface="Arial" pitchFamily="34" charset="-120"/>
              </a:rPr>
              <a:t>“Good teacher, what must I do to inherit eternal life?” </a:t>
            </a:r>
            <a:pPr algn="l" indent="0" marL="0">
              <a:buNone/>
            </a:pPr>
            <a:r>
              <a:rPr lang="en-US" sz="1500" b="1" dirty="0">
                <a:solidFill>
                  <a:srgbClr val="000000"/>
                </a:solidFill>
                <a:latin typeface="Arial" pitchFamily="34" charset="0"/>
                <a:ea typeface="Arial" pitchFamily="34" charset="-122"/>
                <a:cs typeface="Arial" pitchFamily="34" charset="-120"/>
              </a:rPr>
              <a:t>(Mark 10:17)</a:t>
            </a:r>
            <a:pPr algn="l" indent="0" marL="0">
              <a:buNone/>
            </a:pPr>
            <a:r>
              <a:rPr lang="en-US" sz="600" dirty="0">
                <a:solidFill>
                  <a:srgbClr val="000000"/>
                </a:solidFill>
                <a:latin typeface="Arial" pitchFamily="34" charset="0"/>
                <a:ea typeface="Arial" pitchFamily="34" charset="-122"/>
                <a:cs typeface="Arial" pitchFamily="34" charset="-120"/>
              </a:rPr>
              <a:t>
</a:t>
            </a:r>
            <a:pPr algn="l" indent="0" marL="0">
              <a:buNone/>
            </a:pPr>
            <a:r>
              <a:rPr lang="en-US" sz="1600" b="1" i="1" dirty="0">
                <a:solidFill>
                  <a:srgbClr val="000000"/>
                </a:solidFill>
                <a:latin typeface="Arial" pitchFamily="34" charset="0"/>
                <a:ea typeface="Arial" pitchFamily="34" charset="-122"/>
                <a:cs typeface="Arial" pitchFamily="34" charset="-120"/>
              </a:rPr>
              <a:t>“Why do you call me good? No one is good except God alone.” </a:t>
            </a:r>
            <a:pPr algn="l" indent="0" marL="0">
              <a:buNone/>
            </a:pPr>
            <a:r>
              <a:rPr lang="en-US" sz="1500" b="1" dirty="0">
                <a:solidFill>
                  <a:srgbClr val="000000"/>
                </a:solidFill>
                <a:latin typeface="Arial" pitchFamily="34" charset="0"/>
                <a:ea typeface="Arial" pitchFamily="34" charset="-122"/>
                <a:cs typeface="Arial" pitchFamily="34" charset="-120"/>
              </a:rPr>
              <a:t>(Mark 10:18)</a:t>
            </a:r>
            <a:endParaRPr lang="en-US" sz="1600" dirty="0"/>
          </a:p>
        </p:txBody>
      </p:sp>
      <p:sp>
        <p:nvSpPr>
          <p:cNvPr id="5" name="a2"/>
          <p:cNvSpPr txBox="1"/>
          <p:nvPr/>
        </p:nvSpPr>
        <p:spPr>
          <a:xfrm>
            <a:off x="320040" y="2423160"/>
            <a:ext cx="8503920" cy="914400"/>
          </a:xfrm>
          <a:prstGeom prst="rect">
            <a:avLst/>
          </a:prstGeom>
          <a:noFill/>
          <a:ln/>
        </p:spPr>
        <p:txBody>
          <a:bodyPr wrap="square" lIns="0" tIns="0" rIns="0" bIns="0" rtlCol="0" anchor="t"/>
          <a:lstStyle/>
          <a:p>
            <a:pPr algn="l" indent="0" marL="0">
              <a:buNone/>
            </a:pPr>
            <a:r>
              <a:rPr lang="en-US" sz="1600" b="1" dirty="0">
                <a:solidFill>
                  <a:srgbClr val="000000"/>
                </a:solidFill>
                <a:latin typeface="Arial" pitchFamily="34" charset="0"/>
                <a:ea typeface="Arial" pitchFamily="34" charset="-122"/>
                <a:cs typeface="Arial" pitchFamily="34" charset="-120"/>
              </a:rPr>
              <a:t>Jesus is not denying his own goodness. He is pointing the man to the source.
</a:t>
            </a:r>
            <a:pPr algn="l" indent="0" marL="0">
              <a:buNone/>
            </a:pPr>
            <a:r>
              <a:rPr lang="en-US" sz="1500" dirty="0">
                <a:solidFill>
                  <a:srgbClr val="000000"/>
                </a:solidFill>
                <a:latin typeface="Arial" pitchFamily="34" charset="0"/>
                <a:ea typeface="Arial" pitchFamily="34" charset="-122"/>
                <a:cs typeface="Arial" pitchFamily="34" charset="-120"/>
              </a:rPr>
              <a:t>The man used “good” as a compliment — a measurement. Jesus treats it as an identification.</a:t>
            </a:r>
            <a:endParaRPr lang="en-US" sz="1600" dirty="0"/>
          </a:p>
        </p:txBody>
      </p:sp>
      <p:sp>
        <p:nvSpPr>
          <p:cNvPr id="6" name="a3"/>
          <p:cNvSpPr txBox="1"/>
          <p:nvPr/>
        </p:nvSpPr>
        <p:spPr>
          <a:xfrm>
            <a:off x="320040" y="3520440"/>
            <a:ext cx="8503920" cy="1051560"/>
          </a:xfrm>
          <a:prstGeom prst="rect">
            <a:avLst/>
          </a:prstGeom>
          <a:noFill/>
          <a:ln/>
        </p:spPr>
        <p:txBody>
          <a:bodyPr wrap="square" lIns="0" tIns="0" rIns="0" bIns="0" rtlCol="0" anchor="t"/>
          <a:lstStyle/>
          <a:p>
            <a:pPr algn="l" indent="0" marL="0">
              <a:buNone/>
            </a:pPr>
            <a:r>
              <a:rPr lang="en-US" sz="1600" dirty="0">
                <a:solidFill>
                  <a:srgbClr val="000000"/>
                </a:solidFill>
                <a:latin typeface="Arial" pitchFamily="34" charset="0"/>
                <a:ea typeface="Arial" pitchFamily="34" charset="-122"/>
                <a:cs typeface="Arial" pitchFamily="34" charset="-120"/>
              </a:rPr>
              <a:t>Goodness is not a free-floating quality people possess on their own.
</a:t>
            </a:r>
            <a:pPr algn="l" indent="0" marL="0">
              <a:buNone/>
            </a:pPr>
            <a:r>
              <a:rPr lang="en-US" sz="1700" b="1" u="sng" dirty="0">
                <a:solidFill>
                  <a:srgbClr val="1F497D"/>
                </a:solidFill>
                <a:latin typeface="Arial" pitchFamily="34" charset="0"/>
                <a:ea typeface="Arial" pitchFamily="34" charset="-122"/>
                <a:cs typeface="Arial" pitchFamily="34" charset="-120"/>
              </a:rPr>
              <a:t>Anything called good is good because it participates in Him.</a:t>
            </a:r>
            <a:endParaRPr lang="en-US" sz="1600" dirty="0"/>
          </a:p>
        </p:txBody>
      </p:sp>
      <p:sp>
        <p:nvSpPr>
          <p:cNvPr id="7" name="a4"/>
          <p:cNvSpPr txBox="1"/>
          <p:nvPr/>
        </p:nvSpPr>
        <p:spPr>
          <a:xfrm>
            <a:off x="320040" y="4754880"/>
            <a:ext cx="8503920" cy="1463040"/>
          </a:xfrm>
          <a:prstGeom prst="rect">
            <a:avLst/>
          </a:prstGeom>
          <a:noFill/>
          <a:ln/>
        </p:spPr>
        <p:txBody>
          <a:bodyPr wrap="square" lIns="0" tIns="0" rIns="0" bIns="0" rtlCol="0" anchor="t"/>
          <a:lstStyle/>
          <a:p>
            <a:pPr algn="l" indent="0" marL="0">
              <a:buNone/>
            </a:pPr>
            <a:r>
              <a:rPr lang="en-US" sz="1500" b="1" dirty="0">
                <a:solidFill>
                  <a:srgbClr val="000000"/>
                </a:solidFill>
                <a:latin typeface="Arial" pitchFamily="34" charset="0"/>
                <a:ea typeface="Arial" pitchFamily="34" charset="-122"/>
                <a:cs typeface="Arial" pitchFamily="34" charset="-120"/>
              </a:rPr>
              <a:t>The Old Testament said it first:
</a:t>
            </a:r>
            <a:pPr algn="l" indent="0" marL="0">
              <a:buNone/>
            </a:pPr>
            <a:r>
              <a:rPr lang="en-US" sz="1400" b="1" i="1" dirty="0">
                <a:solidFill>
                  <a:srgbClr val="000000"/>
                </a:solidFill>
                <a:latin typeface="Arial" pitchFamily="34" charset="0"/>
                <a:ea typeface="Arial" pitchFamily="34" charset="-122"/>
                <a:cs typeface="Arial" pitchFamily="34" charset="-120"/>
              </a:rPr>
              <a:t>“I will make all my goodness pass before your face, and I will proclaim the LORD by name before you.” </a:t>
            </a:r>
            <a:pPr algn="l" indent="0" marL="0">
              <a:buNone/>
            </a:pPr>
            <a:r>
              <a:rPr lang="en-US" sz="1300" b="1" dirty="0">
                <a:solidFill>
                  <a:srgbClr val="000000"/>
                </a:solidFill>
                <a:latin typeface="Arial" pitchFamily="34" charset="0"/>
                <a:ea typeface="Arial" pitchFamily="34" charset="-122"/>
                <a:cs typeface="Arial" pitchFamily="34" charset="-120"/>
              </a:rPr>
              <a:t>(Exodus 33:19)</a:t>
            </a:r>
            <a:pPr algn="l" indent="0" marL="0">
              <a:buNone/>
            </a:pPr>
            <a:r>
              <a:rPr lang="en-US" sz="600" dirty="0">
                <a:solidFill>
                  <a:srgbClr val="000000"/>
                </a:solidFill>
                <a:latin typeface="Arial" pitchFamily="34" charset="0"/>
                <a:ea typeface="Arial" pitchFamily="34" charset="-122"/>
                <a:cs typeface="Arial" pitchFamily="34" charset="-120"/>
              </a:rPr>
              <a:t>
</a:t>
            </a:r>
            <a:pPr algn="l" indent="0" marL="0">
              <a:buNone/>
            </a:pPr>
            <a:r>
              <a:rPr lang="en-US" sz="1400" b="1" i="1" dirty="0">
                <a:solidFill>
                  <a:srgbClr val="000000"/>
                </a:solidFill>
                <a:latin typeface="Arial" pitchFamily="34" charset="0"/>
                <a:ea typeface="Arial" pitchFamily="34" charset="-122"/>
                <a:cs typeface="Arial" pitchFamily="34" charset="-120"/>
              </a:rPr>
              <a:t>“Taste and see that the LORD is good!” </a:t>
            </a:r>
            <a:pPr algn="l" indent="0" marL="0">
              <a:buNone/>
            </a:pPr>
            <a:r>
              <a:rPr lang="en-US" sz="1300" b="1" dirty="0">
                <a:solidFill>
                  <a:srgbClr val="000000"/>
                </a:solidFill>
                <a:latin typeface="Arial" pitchFamily="34" charset="0"/>
                <a:ea typeface="Arial" pitchFamily="34" charset="-122"/>
                <a:cs typeface="Arial" pitchFamily="34" charset="-120"/>
              </a:rPr>
              <a:t>(Psalm 34:8)</a:t>
            </a:r>
            <a:pPr algn="l" indent="0" marL="0">
              <a:buNone/>
            </a:pPr>
            <a:r>
              <a:rPr lang="en-US" sz="1400" i="1" dirty="0">
                <a:solidFill>
                  <a:srgbClr val="000000"/>
                </a:solidFill>
                <a:latin typeface="Arial" pitchFamily="34" charset="0"/>
                <a:ea typeface="Arial" pitchFamily="34" charset="-122"/>
                <a:cs typeface="Arial" pitchFamily="34" charset="-120"/>
              </a:rPr>
              <a:t>   Goodness, in Scripture, is met — not merely measured.</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1000"/>
                                        <p:tgtEl>
                                          <p:spTgt spid="4"/>
                                        </p:tgtEl>
                                      </p:cBhvr>
                                    </p:animEffect>
                                    <p:anim calcmode="lin" valueType="num">
                                      <p:cBhvr>
                                        <p:cTn id="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algn="l" indent="0" marL="0">
              <a:buNone/>
            </a:pPr>
            <a:r>
              <a:rPr lang="en-US" sz="2600" b="1" dirty="0">
                <a:solidFill>
                  <a:srgbClr val="1F497D"/>
                </a:solidFill>
                <a:latin typeface="Arial" pitchFamily="34" charset="0"/>
                <a:ea typeface="Arial" pitchFamily="34" charset="-122"/>
                <a:cs typeface="Arial" pitchFamily="34" charset="-120"/>
              </a:rPr>
              <a:t>The Purpose of the Good Is God’s Purpose</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algn="l" indent="0" marL="0">
              <a:buNone/>
            </a:pPr>
            <a:r>
              <a:rPr lang="en-US" sz="1300" b="1" dirty="0">
                <a:solidFill>
                  <a:srgbClr val="4F81BD"/>
                </a:solidFill>
                <a:latin typeface="Arial" pitchFamily="34" charset="0"/>
                <a:ea typeface="Arial" pitchFamily="34" charset="-122"/>
                <a:cs typeface="Arial" pitchFamily="34" charset="-120"/>
              </a:rPr>
              <a:t>Union, not admiration — Genesis 1 to Romans 8</a:t>
            </a:r>
            <a:endParaRPr lang="en-US" sz="1600" dirty="0"/>
          </a:p>
        </p:txBody>
      </p:sp>
      <p:sp>
        <p:nvSpPr>
          <p:cNvPr id="4" name="r0b"/>
          <p:cNvSpPr/>
          <p:nvPr/>
        </p:nvSpPr>
        <p:spPr>
          <a:xfrm>
            <a:off x="365760" y="1371600"/>
            <a:ext cx="2651760" cy="1737360"/>
          </a:xfrm>
          <a:prstGeom prst="roundRect">
            <a:avLst>
              <a:gd name="adj" fmla="val 4211"/>
            </a:avLst>
          </a:prstGeom>
          <a:solidFill>
            <a:srgbClr val="1F497D"/>
          </a:solidFill>
          <a:ln w="12700">
            <a:solidFill>
              <a:srgbClr val="1F497D"/>
            </a:solidFill>
            <a:prstDash val="solid"/>
          </a:ln>
        </p:spPr>
      </p:sp>
      <p:sp>
        <p:nvSpPr>
          <p:cNvPr id="5" name="r0t"/>
          <p:cNvSpPr txBox="1"/>
          <p:nvPr/>
        </p:nvSpPr>
        <p:spPr>
          <a:xfrm>
            <a:off x="502920" y="1508760"/>
            <a:ext cx="2377440" cy="1508760"/>
          </a:xfrm>
          <a:prstGeom prst="rect">
            <a:avLst/>
          </a:prstGeom>
          <a:noFill/>
          <a:ln/>
        </p:spPr>
        <p:txBody>
          <a:bodyPr wrap="square" lIns="0" tIns="0" rIns="0" bIns="0" rtlCol="0" anchor="t"/>
          <a:lstStyle/>
          <a:p>
            <a:pPr algn="l" indent="0" marL="0">
              <a:buNone/>
            </a:pPr>
            <a:r>
              <a:rPr lang="en-US" sz="1500" b="1" dirty="0">
                <a:solidFill>
                  <a:srgbClr val="FFFFFF"/>
                </a:solidFill>
                <a:latin typeface="Arial" pitchFamily="34" charset="0"/>
                <a:ea typeface="Arial" pitchFamily="34" charset="-122"/>
                <a:cs typeface="Arial" pitchFamily="34" charset="-120"/>
              </a:rPr>
              <a:t>Created in His image
</a:t>
            </a:r>
            <a:pPr algn="l" indent="0" marL="0">
              <a:buNone/>
            </a:pPr>
            <a:r>
              <a:rPr lang="en-US" sz="1100" i="1" dirty="0">
                <a:solidFill>
                  <a:srgbClr val="FFFFFF"/>
                </a:solidFill>
                <a:latin typeface="Arial" pitchFamily="34" charset="0"/>
                <a:ea typeface="Arial" pitchFamily="34" charset="-122"/>
                <a:cs typeface="Arial" pitchFamily="34" charset="-120"/>
              </a:rPr>
              <a:t>“Let us make humankind in our image, after our likeness…”  (Gen 1:26–27)</a:t>
            </a:r>
            <a:endParaRPr lang="en-US" sz="1600" dirty="0"/>
          </a:p>
        </p:txBody>
      </p:sp>
      <p:sp>
        <p:nvSpPr>
          <p:cNvPr id="6" name="r0a"/>
          <p:cNvSpPr/>
          <p:nvPr/>
        </p:nvSpPr>
        <p:spPr>
          <a:xfrm>
            <a:off x="2980944" y="2084832"/>
            <a:ext cx="384048" cy="310896"/>
          </a:xfrm>
          <a:prstGeom prst="rightArrow">
            <a:avLst/>
          </a:prstGeom>
          <a:solidFill>
            <a:srgbClr val="595959"/>
          </a:solidFill>
          <a:ln/>
        </p:spPr>
      </p:sp>
      <p:sp>
        <p:nvSpPr>
          <p:cNvPr id="7" name="r1b"/>
          <p:cNvSpPr/>
          <p:nvPr/>
        </p:nvSpPr>
        <p:spPr>
          <a:xfrm>
            <a:off x="3291840" y="1371600"/>
            <a:ext cx="2651760" cy="1737360"/>
          </a:xfrm>
          <a:prstGeom prst="roundRect">
            <a:avLst>
              <a:gd name="adj" fmla="val 4211"/>
            </a:avLst>
          </a:prstGeom>
          <a:solidFill>
            <a:srgbClr val="1F497D">
              <a:alpha val="45000"/>
            </a:srgbClr>
          </a:solidFill>
          <a:ln w="12700">
            <a:solidFill>
              <a:srgbClr val="1F497D"/>
            </a:solidFill>
            <a:prstDash val="solid"/>
          </a:ln>
        </p:spPr>
      </p:sp>
      <p:sp>
        <p:nvSpPr>
          <p:cNvPr id="8" name="r1t"/>
          <p:cNvSpPr txBox="1"/>
          <p:nvPr/>
        </p:nvSpPr>
        <p:spPr>
          <a:xfrm>
            <a:off x="3429000" y="1508760"/>
            <a:ext cx="2377440" cy="1508760"/>
          </a:xfrm>
          <a:prstGeom prst="rect">
            <a:avLst/>
          </a:prstGeom>
          <a:noFill/>
          <a:ln/>
        </p:spPr>
        <p:txBody>
          <a:bodyPr wrap="square" lIns="0" tIns="0" rIns="0" bIns="0" rtlCol="0" anchor="t"/>
          <a:lstStyle/>
          <a:p>
            <a:pPr algn="l" indent="0" marL="0">
              <a:buNone/>
            </a:pPr>
            <a:r>
              <a:rPr lang="en-US" sz="1500" b="1" dirty="0">
                <a:solidFill>
                  <a:srgbClr val="FFFFFF"/>
                </a:solidFill>
                <a:latin typeface="Arial" pitchFamily="34" charset="0"/>
                <a:ea typeface="Arial" pitchFamily="34" charset="-122"/>
                <a:cs typeface="Arial" pitchFamily="34" charset="-120"/>
              </a:rPr>
              <a:t>The image marred
</a:t>
            </a:r>
            <a:pPr algn="l" indent="0" marL="0">
              <a:buNone/>
            </a:pPr>
            <a:r>
              <a:rPr lang="en-US" sz="1100" i="1" dirty="0">
                <a:solidFill>
                  <a:srgbClr val="FFFFFF"/>
                </a:solidFill>
                <a:latin typeface="Arial" pitchFamily="34" charset="0"/>
                <a:ea typeface="Arial" pitchFamily="34" charset="-122"/>
                <a:cs typeface="Arial" pitchFamily="34" charset="-120"/>
              </a:rPr>
              <a:t>Genesis 3 — trust displaced; likeness defaced, not erased</a:t>
            </a:r>
            <a:endParaRPr lang="en-US" sz="1600" dirty="0"/>
          </a:p>
        </p:txBody>
      </p:sp>
      <p:sp>
        <p:nvSpPr>
          <p:cNvPr id="9" name="r1a"/>
          <p:cNvSpPr/>
          <p:nvPr/>
        </p:nvSpPr>
        <p:spPr>
          <a:xfrm>
            <a:off x="5907024" y="2084832"/>
            <a:ext cx="384048" cy="310896"/>
          </a:xfrm>
          <a:prstGeom prst="rightArrow">
            <a:avLst/>
          </a:prstGeom>
          <a:solidFill>
            <a:srgbClr val="595959"/>
          </a:solidFill>
          <a:ln/>
        </p:spPr>
      </p:sp>
      <p:sp>
        <p:nvSpPr>
          <p:cNvPr id="10" name="r2b"/>
          <p:cNvSpPr/>
          <p:nvPr/>
        </p:nvSpPr>
        <p:spPr>
          <a:xfrm>
            <a:off x="6217920" y="1371600"/>
            <a:ext cx="2651760" cy="1737360"/>
          </a:xfrm>
          <a:prstGeom prst="roundRect">
            <a:avLst>
              <a:gd name="adj" fmla="val 4211"/>
            </a:avLst>
          </a:prstGeom>
          <a:solidFill>
            <a:srgbClr val="1F497D">
              <a:alpha val="80000"/>
            </a:srgbClr>
          </a:solidFill>
          <a:ln w="12700">
            <a:solidFill>
              <a:srgbClr val="1F497D"/>
            </a:solidFill>
            <a:prstDash val="solid"/>
          </a:ln>
        </p:spPr>
      </p:sp>
      <p:sp>
        <p:nvSpPr>
          <p:cNvPr id="11" name="r2t"/>
          <p:cNvSpPr txBox="1"/>
          <p:nvPr/>
        </p:nvSpPr>
        <p:spPr>
          <a:xfrm>
            <a:off x="6355080" y="1508760"/>
            <a:ext cx="2377440" cy="1508760"/>
          </a:xfrm>
          <a:prstGeom prst="rect">
            <a:avLst/>
          </a:prstGeom>
          <a:noFill/>
          <a:ln/>
        </p:spPr>
        <p:txBody>
          <a:bodyPr wrap="square" lIns="0" tIns="0" rIns="0" bIns="0" rtlCol="0" anchor="t"/>
          <a:lstStyle/>
          <a:p>
            <a:pPr algn="l" indent="0" marL="0">
              <a:buNone/>
            </a:pPr>
            <a:r>
              <a:rPr lang="en-US" sz="1500" b="1" dirty="0">
                <a:solidFill>
                  <a:srgbClr val="FFFFFF"/>
                </a:solidFill>
                <a:latin typeface="Arial" pitchFamily="34" charset="0"/>
                <a:ea typeface="Arial" pitchFamily="34" charset="-122"/>
                <a:cs typeface="Arial" pitchFamily="34" charset="-120"/>
              </a:rPr>
              <a:t>Conformed to His Son
</a:t>
            </a:r>
            <a:pPr algn="l" indent="0" marL="0">
              <a:buNone/>
            </a:pPr>
            <a:r>
              <a:rPr lang="en-US" sz="1100" i="1" dirty="0">
                <a:solidFill>
                  <a:srgbClr val="FFFFFF"/>
                </a:solidFill>
                <a:latin typeface="Arial" pitchFamily="34" charset="0"/>
                <a:ea typeface="Arial" pitchFamily="34" charset="-122"/>
                <a:cs typeface="Arial" pitchFamily="34" charset="-120"/>
              </a:rPr>
              <a:t>“predestined to be conformed to the image of his Son”  (Rom 8:29)</a:t>
            </a:r>
            <a:endParaRPr lang="en-US" sz="1600" dirty="0"/>
          </a:p>
        </p:txBody>
      </p:sp>
      <p:sp>
        <p:nvSpPr>
          <p:cNvPr id="12" name="p1"/>
          <p:cNvSpPr txBox="1"/>
          <p:nvPr/>
        </p:nvSpPr>
        <p:spPr>
          <a:xfrm>
            <a:off x="365760" y="3429000"/>
            <a:ext cx="8412480" cy="960120"/>
          </a:xfrm>
          <a:prstGeom prst="rect">
            <a:avLst/>
          </a:prstGeom>
          <a:noFill/>
          <a:ln/>
        </p:spPr>
        <p:txBody>
          <a:bodyPr wrap="square" lIns="0" tIns="0" rIns="0" bIns="0" rtlCol="0" anchor="t"/>
          <a:lstStyle/>
          <a:p>
            <a:pPr algn="l" indent="0" marL="0">
              <a:buNone/>
            </a:pPr>
            <a:r>
              <a:rPr lang="en-US" sz="1600" dirty="0">
                <a:solidFill>
                  <a:srgbClr val="000000"/>
                </a:solidFill>
                <a:latin typeface="Arial" pitchFamily="34" charset="0"/>
                <a:ea typeface="Arial" pitchFamily="34" charset="-122"/>
                <a:cs typeface="Arial" pitchFamily="34" charset="-120"/>
              </a:rPr>
              <a:t>The purpose of the Good is not an abstract ethical puzzle.
</a:t>
            </a:r>
            <a:pPr algn="l" indent="0" marL="0">
              <a:buNone/>
            </a:pPr>
            <a:r>
              <a:rPr lang="en-US" sz="1600" b="1" dirty="0">
                <a:solidFill>
                  <a:srgbClr val="1F497D"/>
                </a:solidFill>
                <a:latin typeface="Arial" pitchFamily="34" charset="0"/>
                <a:ea typeface="Arial" pitchFamily="34" charset="-122"/>
                <a:cs typeface="Arial" pitchFamily="34" charset="-120"/>
              </a:rPr>
              <a:t>It is God’s own purpose: to be united with the people He made, and to remake them in His likeness.</a:t>
            </a:r>
            <a:endParaRPr lang="en-US" sz="1600" dirty="0"/>
          </a:p>
        </p:txBody>
      </p:sp>
      <p:sp>
        <p:nvSpPr>
          <p:cNvPr id="13" name="p2"/>
          <p:cNvSpPr txBox="1"/>
          <p:nvPr/>
        </p:nvSpPr>
        <p:spPr>
          <a:xfrm>
            <a:off x="365760" y="4526280"/>
            <a:ext cx="8412480" cy="1463040"/>
          </a:xfrm>
          <a:prstGeom prst="rect">
            <a:avLst/>
          </a:prstGeom>
          <a:noFill/>
          <a:ln/>
        </p:spPr>
        <p:txBody>
          <a:bodyPr wrap="square" lIns="0" tIns="0" rIns="0" bIns="0" rtlCol="0" anchor="t"/>
          <a:lstStyle/>
          <a:p>
            <a:pPr algn="l" indent="0" marL="0">
              <a:buNone/>
            </a:pPr>
            <a:r>
              <a:rPr lang="en-US" sz="1800" b="1" u="sng" dirty="0">
                <a:solidFill>
                  <a:srgbClr val="1F497D"/>
                </a:solidFill>
                <a:latin typeface="Arial" pitchFamily="34" charset="0"/>
                <a:ea typeface="Arial" pitchFamily="34" charset="-122"/>
                <a:cs typeface="Arial" pitchFamily="34" charset="-120"/>
              </a:rPr>
              <a:t>Union, not admiration.
</a:t>
            </a:r>
            <a:pPr algn="l" indent="0" marL="0">
              <a:buNone/>
            </a:pPr>
            <a:r>
              <a:rPr lang="en-US" sz="1450" dirty="0">
                <a:solidFill>
                  <a:srgbClr val="000000"/>
                </a:solidFill>
                <a:latin typeface="Arial" pitchFamily="34" charset="0"/>
                <a:ea typeface="Arial" pitchFamily="34" charset="-122"/>
                <a:cs typeface="Arial" pitchFamily="34" charset="-120"/>
              </a:rPr>
              <a:t>God’s goal is not people who approve of goodness from a distance, but a family that shares His character — “the firstborn among many brothers and sisters” (Rom 8:29). Anything less — respect, agreement, admiration — falls short of what the Good is for.</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1000"/>
                                        <p:tgtEl>
                                          <p:spTgt spid="4"/>
                                        </p:tgtEl>
                                      </p:cBhvr>
                                    </p:animEffect>
                                    <p:anim calcmode="lin" valueType="num">
                                      <p:cBhvr>
                                        <p:cTn id="6" dur="1000" fill="hold"/>
                                        <p:tgtEl>
                                          <p:spTgt spid="4"/>
                                        </p:tgtEl>
                                        <p:attrNameLst>
                                          <p:attrName>ppt_y</p:attrName>
                                        </p:attrNameLst>
                                      </p:cBhvr>
                                      <p:tavLst>
                                        <p:tav tm="0">
                                          <p:val>
                                            <p:strVal val="#ppt_y+.1"/>
                                          </p:val>
                                        </p:tav>
                                        <p:tav tm="100000">
                                          <p:val>
                                            <p:strVal val="#ppt_y"/>
                                          </p:val>
                                        </p:tav>
                                      </p:tavLst>
                                    </p:anim>
                                  </p:childTnLst>
                                </p:cTn>
                              </p:par>
                              <p:par>
                                <p:cTn id="7" presetID="42"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1000"/>
                                        <p:tgtEl>
                                          <p:spTgt spid="5"/>
                                        </p:tgtEl>
                                      </p:cBhvr>
                                    </p:animEffect>
                                    <p:anim calcmode="lin" valueType="num">
                                      <p:cBhvr>
                                        <p:cTn id="1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1000"/>
                                        <p:tgtEl>
                                          <p:spTgt spid="10"/>
                                        </p:tgtEl>
                                      </p:cBhvr>
                                    </p:animEffect>
                                    <p:anim calcmode="lin" valueType="num">
                                      <p:cBhvr>
                                        <p:cTn id="34" dur="100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1000"/>
                                        <p:tgtEl>
                                          <p:spTgt spid="11"/>
                                        </p:tgtEl>
                                      </p:cBhvr>
                                    </p:animEffect>
                                    <p:anim calcmode="lin" valueType="num">
                                      <p:cBhvr>
                                        <p:cTn id="3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anim calcmode="lin" valueType="num">
                                      <p:cBhvr>
                                        <p:cTn id="4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1000"/>
                                        <p:tgtEl>
                                          <p:spTgt spid="13"/>
                                        </p:tgtEl>
                                      </p:cBhvr>
                                    </p:animEffect>
                                    <p:anim calcmode="lin" valueType="num">
                                      <p:cBhvr>
                                        <p:cTn id="5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algn="l" indent="0" marL="0">
              <a:buNone/>
            </a:pPr>
            <a:r>
              <a:rPr lang="en-US" sz="2600" b="1" dirty="0">
                <a:solidFill>
                  <a:srgbClr val="1F497D"/>
                </a:solidFill>
                <a:latin typeface="Arial" pitchFamily="34" charset="0"/>
                <a:ea typeface="Arial" pitchFamily="34" charset="-122"/>
                <a:cs typeface="Arial" pitchFamily="34" charset="-120"/>
              </a:rPr>
              <a:t>The Problem: Devotion Is Invisible</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algn="l" indent="0" marL="0">
              <a:buNone/>
            </a:pPr>
            <a:r>
              <a:rPr lang="en-US" sz="1300" b="1" dirty="0">
                <a:solidFill>
                  <a:srgbClr val="4F81BD"/>
                </a:solidFill>
                <a:latin typeface="Arial" pitchFamily="34" charset="0"/>
                <a:ea typeface="Arial" pitchFamily="34" charset="-122"/>
                <a:cs typeface="Arial" pitchFamily="34" charset="-120"/>
              </a:rPr>
              <a:t>Even to its owner</a:t>
            </a:r>
            <a:endParaRPr lang="en-US" sz="1600" dirty="0"/>
          </a:p>
        </p:txBody>
      </p:sp>
      <p:sp>
        <p:nvSpPr>
          <p:cNvPr id="4" name="q1"/>
          <p:cNvSpPr txBox="1"/>
          <p:nvPr/>
        </p:nvSpPr>
        <p:spPr>
          <a:xfrm>
            <a:off x="365760" y="1143000"/>
            <a:ext cx="8412480" cy="914400"/>
          </a:xfrm>
          <a:prstGeom prst="rect">
            <a:avLst/>
          </a:prstGeom>
          <a:noFill/>
          <a:ln/>
        </p:spPr>
        <p:txBody>
          <a:bodyPr wrap="square" lIns="0" tIns="0" rIns="0" bIns="0" rtlCol="0" anchor="t"/>
          <a:lstStyle/>
          <a:p>
            <a:pPr algn="l" indent="0" marL="0">
              <a:buNone/>
            </a:pPr>
            <a:r>
              <a:rPr lang="en-US" sz="1800" b="1" dirty="0">
                <a:solidFill>
                  <a:srgbClr val="000000"/>
                </a:solidFill>
                <a:latin typeface="Arial" pitchFamily="34" charset="0"/>
                <a:ea typeface="Arial" pitchFamily="34" charset="-122"/>
                <a:cs typeface="Arial" pitchFamily="34" charset="-120"/>
              </a:rPr>
              <a:t>A disposition cannot be seen.
</a:t>
            </a:r>
            <a:pPr algn="l" indent="0" marL="0">
              <a:buNone/>
            </a:pPr>
            <a:r>
              <a:rPr lang="en-US" sz="1600" dirty="0">
                <a:solidFill>
                  <a:srgbClr val="000000"/>
                </a:solidFill>
                <a:latin typeface="Arial" pitchFamily="34" charset="0"/>
                <a:ea typeface="Arial" pitchFamily="34" charset="-122"/>
                <a:cs typeface="Arial" pitchFamily="34" charset="-120"/>
              </a:rPr>
              <a:t>Love for God, trust, devotion — all invisible. Not just to your neighbor. To you.</a:t>
            </a:r>
            <a:endParaRPr lang="en-US" sz="1600" dirty="0"/>
          </a:p>
        </p:txBody>
      </p:sp>
      <p:sp>
        <p:nvSpPr>
          <p:cNvPr id="5" name="q2"/>
          <p:cNvSpPr txBox="1"/>
          <p:nvPr/>
        </p:nvSpPr>
        <p:spPr>
          <a:xfrm>
            <a:off x="365760" y="2286000"/>
            <a:ext cx="8412480" cy="1234440"/>
          </a:xfrm>
          <a:prstGeom prst="rect">
            <a:avLst/>
          </a:prstGeom>
          <a:noFill/>
          <a:ln/>
        </p:spPr>
        <p:txBody>
          <a:bodyPr wrap="square" lIns="0" tIns="0" rIns="0" bIns="0" rtlCol="0" anchor="t"/>
          <a:lstStyle/>
          <a:p>
            <a:pPr algn="l" indent="0" marL="0">
              <a:buNone/>
            </a:pPr>
            <a:r>
              <a:rPr lang="en-US" sz="1500" dirty="0">
                <a:solidFill>
                  <a:srgbClr val="000000"/>
                </a:solidFill>
                <a:latin typeface="Arial" pitchFamily="34" charset="0"/>
                <a:ea typeface="Arial" pitchFamily="34" charset="-122"/>
                <a:cs typeface="Arial" pitchFamily="34" charset="-120"/>
              </a:rPr>
              <a:t>Scripture is full of people certain of their own devotion:
</a:t>
            </a:r>
            <a:pPr algn="l" indent="0" marL="0">
              <a:buNone/>
            </a:pPr>
            <a:r>
              <a:rPr lang="en-US" sz="1450" dirty="0">
                <a:solidFill>
                  <a:srgbClr val="000000"/>
                </a:solidFill>
                <a:latin typeface="Arial" pitchFamily="34" charset="0"/>
                <a:ea typeface="Arial" pitchFamily="34" charset="-122"/>
                <a:cs typeface="Arial" pitchFamily="34" charset="-120"/>
              </a:rPr>
              <a:t>•  Saul: “I have done what the Lord said” — and believed it (1 Sam 15:13)
</a:t>
            </a:r>
            <a:pPr algn="l" indent="0" marL="0">
              <a:buNone/>
            </a:pPr>
            <a:r>
              <a:rPr lang="en-US" sz="1450" dirty="0">
                <a:solidFill>
                  <a:srgbClr val="000000"/>
                </a:solidFill>
                <a:latin typeface="Arial" pitchFamily="34" charset="0"/>
                <a:ea typeface="Arial" pitchFamily="34" charset="-122"/>
                <a:cs typeface="Arial" pitchFamily="34" charset="-120"/>
              </a:rPr>
              <a:t>•  The priests: “How have we offended you?” — and meant it (Mal 1:7)
</a:t>
            </a:r>
            <a:pPr algn="l" indent="0" marL="0">
              <a:buNone/>
            </a:pPr>
            <a:r>
              <a:rPr lang="en-US" sz="1450" dirty="0">
                <a:solidFill>
                  <a:srgbClr val="000000"/>
                </a:solidFill>
                <a:latin typeface="Arial" pitchFamily="34" charset="0"/>
                <a:ea typeface="Arial" pitchFamily="34" charset="-122"/>
                <a:cs typeface="Arial" pitchFamily="34" charset="-120"/>
              </a:rPr>
              <a:t>•  “Lord, Lord…” — and heard “I never knew you” (Matt 7:21–23)</a:t>
            </a:r>
            <a:endParaRPr lang="en-US" sz="1600" dirty="0"/>
          </a:p>
        </p:txBody>
      </p:sp>
      <p:sp>
        <p:nvSpPr>
          <p:cNvPr id="6" name="q3"/>
          <p:cNvSpPr txBox="1"/>
          <p:nvPr/>
        </p:nvSpPr>
        <p:spPr>
          <a:xfrm>
            <a:off x="365760" y="3703320"/>
            <a:ext cx="8412480" cy="914400"/>
          </a:xfrm>
          <a:prstGeom prst="rect">
            <a:avLst/>
          </a:prstGeom>
          <a:noFill/>
          <a:ln/>
        </p:spPr>
        <p:txBody>
          <a:bodyPr wrap="square" lIns="0" tIns="0" rIns="0" bIns="0" rtlCol="0" anchor="t"/>
          <a:lstStyle/>
          <a:p>
            <a:pPr algn="l" indent="0" marL="0">
              <a:buNone/>
            </a:pPr>
            <a:r>
              <a:rPr lang="en-US" sz="1600" b="1" dirty="0">
                <a:solidFill>
                  <a:srgbClr val="000000"/>
                </a:solidFill>
                <a:latin typeface="Arial" pitchFamily="34" charset="0"/>
                <a:ea typeface="Arial" pitchFamily="34" charset="-122"/>
                <a:cs typeface="Arial" pitchFamily="34" charset="-120"/>
              </a:rPr>
              <a:t>Sincerity is real — and unverifiable. </a:t>
            </a:r>
            <a:pPr algn="l" indent="0" marL="0">
              <a:buNone/>
            </a:pPr>
            <a:r>
              <a:rPr lang="en-US" sz="1500" dirty="0">
                <a:solidFill>
                  <a:srgbClr val="000000"/>
                </a:solidFill>
                <a:latin typeface="Arial" pitchFamily="34" charset="0"/>
                <a:ea typeface="Arial" pitchFamily="34" charset="-122"/>
                <a:cs typeface="Arial" pitchFamily="34" charset="-120"/>
              </a:rPr>
              <a:t>Every one of those people passed their own inspection.
</a:t>
            </a:r>
            <a:pPr algn="l" indent="0" marL="0">
              <a:buNone/>
            </a:pPr>
            <a:r>
              <a:rPr lang="en-US" sz="1400" b="1" i="1" dirty="0">
                <a:solidFill>
                  <a:srgbClr val="000000"/>
                </a:solidFill>
                <a:latin typeface="Arial" pitchFamily="34" charset="0"/>
                <a:ea typeface="Arial" pitchFamily="34" charset="-122"/>
                <a:cs typeface="Arial" pitchFamily="34" charset="-120"/>
              </a:rPr>
              <a:t>“Put yourselves to the test to see if you are in the faith; examine yourselves!” </a:t>
            </a:r>
            <a:pPr algn="l" indent="0" marL="0">
              <a:buNone/>
            </a:pPr>
            <a:r>
              <a:rPr lang="en-US" sz="1300" b="1" dirty="0">
                <a:solidFill>
                  <a:srgbClr val="000000"/>
                </a:solidFill>
                <a:latin typeface="Arial" pitchFamily="34" charset="0"/>
                <a:ea typeface="Arial" pitchFamily="34" charset="-122"/>
                <a:cs typeface="Arial" pitchFamily="34" charset="-120"/>
              </a:rPr>
              <a:t>(2 Cor 13:5)</a:t>
            </a:r>
            <a:endParaRPr lang="en-US" sz="1600" dirty="0"/>
          </a:p>
        </p:txBody>
      </p:sp>
      <p:sp>
        <p:nvSpPr>
          <p:cNvPr id="7" name="q4"/>
          <p:cNvSpPr txBox="1"/>
          <p:nvPr/>
        </p:nvSpPr>
        <p:spPr>
          <a:xfrm>
            <a:off x="365760" y="4846320"/>
            <a:ext cx="8412480" cy="1188720"/>
          </a:xfrm>
          <a:prstGeom prst="rect">
            <a:avLst/>
          </a:prstGeom>
          <a:noFill/>
          <a:ln/>
        </p:spPr>
        <p:txBody>
          <a:bodyPr wrap="square" lIns="0" tIns="0" rIns="0" bIns="0" rtlCol="0" anchor="t"/>
          <a:lstStyle/>
          <a:p>
            <a:pPr algn="l" indent="0" marL="0">
              <a:buNone/>
            </a:pPr>
            <a:r>
              <a:rPr lang="en-US" sz="1500" dirty="0">
                <a:solidFill>
                  <a:srgbClr val="000000"/>
                </a:solidFill>
                <a:latin typeface="Arial" pitchFamily="34" charset="0"/>
                <a:ea typeface="Arial" pitchFamily="34" charset="-122"/>
                <a:cs typeface="Arial" pitchFamily="34" charset="-120"/>
              </a:rPr>
              <a:t>So the question this course answers:
</a:t>
            </a:r>
            <a:pPr algn="l" indent="0" marL="0">
              <a:buNone/>
            </a:pPr>
            <a:r>
              <a:rPr lang="en-US" sz="1900" b="1" dirty="0">
                <a:solidFill>
                  <a:srgbClr val="1F497D"/>
                </a:solidFill>
                <a:latin typeface="Arial" pitchFamily="34" charset="0"/>
                <a:ea typeface="Arial" pitchFamily="34" charset="-122"/>
                <a:cs typeface="Arial" pitchFamily="34" charset="-120"/>
              </a:rPr>
              <a:t>How does the invisible become visible — and how does a person learn to see it?</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1000"/>
                                        <p:tgtEl>
                                          <p:spTgt spid="4"/>
                                        </p:tgtEl>
                                      </p:cBhvr>
                                    </p:animEffect>
                                    <p:anim calcmode="lin" valueType="num">
                                      <p:cBhvr>
                                        <p:cTn id="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algn="l" indent="0" marL="0">
              <a:buNone/>
            </a:pPr>
            <a:r>
              <a:rPr lang="en-US" sz="2600" b="1" dirty="0">
                <a:solidFill>
                  <a:srgbClr val="1F497D"/>
                </a:solidFill>
                <a:latin typeface="Arial" pitchFamily="34" charset="0"/>
                <a:ea typeface="Arial" pitchFamily="34" charset="-122"/>
                <a:cs typeface="Arial" pitchFamily="34" charset="-120"/>
              </a:rPr>
              <a:t>The Controlling Verse</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algn="l" indent="0" marL="0">
              <a:buNone/>
            </a:pPr>
            <a:r>
              <a:rPr lang="en-US" sz="1300" b="1" dirty="0">
                <a:solidFill>
                  <a:srgbClr val="4F81BD"/>
                </a:solidFill>
                <a:latin typeface="Arial" pitchFamily="34" charset="0"/>
                <a:ea typeface="Arial" pitchFamily="34" charset="-122"/>
                <a:cs typeface="Arial" pitchFamily="34" charset="-120"/>
              </a:rPr>
              <a:t>Hebrews 5:12–14 — maturity is trained perception</a:t>
            </a:r>
            <a:endParaRPr lang="en-US" sz="1600" dirty="0"/>
          </a:p>
        </p:txBody>
      </p:sp>
      <p:sp>
        <p:nvSpPr>
          <p:cNvPr id="4" name="h1"/>
          <p:cNvSpPr txBox="1"/>
          <p:nvPr/>
        </p:nvSpPr>
        <p:spPr>
          <a:xfrm>
            <a:off x="320040" y="1097280"/>
            <a:ext cx="8503920" cy="1371600"/>
          </a:xfrm>
          <a:prstGeom prst="rect">
            <a:avLst/>
          </a:prstGeom>
          <a:noFill/>
          <a:ln/>
        </p:spPr>
        <p:txBody>
          <a:bodyPr wrap="square" lIns="0" tIns="0" rIns="0" bIns="0" rtlCol="0" anchor="t"/>
          <a:lstStyle/>
          <a:p>
            <a:pPr algn="l" indent="0" marL="0">
              <a:buNone/>
            </a:pPr>
            <a:r>
              <a:rPr lang="en-US" sz="1500" b="1" i="1" dirty="0">
                <a:solidFill>
                  <a:srgbClr val="000000"/>
                </a:solidFill>
                <a:latin typeface="Arial" pitchFamily="34" charset="0"/>
                <a:ea typeface="Arial" pitchFamily="34" charset="-122"/>
                <a:cs typeface="Arial" pitchFamily="34" charset="-120"/>
              </a:rPr>
              <a:t>“For though you should in fact be teachers by this time, you need someone to teach you the beginning elements of God’s utterances. You have gone back to needing milk, not solid food.” </a:t>
            </a:r>
            <a:pPr algn="l" indent="0" marL="0">
              <a:buNone/>
            </a:pPr>
            <a:r>
              <a:rPr lang="en-US" sz="1400" b="1" dirty="0">
                <a:solidFill>
                  <a:srgbClr val="000000"/>
                </a:solidFill>
                <a:latin typeface="Arial" pitchFamily="34" charset="0"/>
                <a:ea typeface="Arial" pitchFamily="34" charset="-122"/>
                <a:cs typeface="Arial" pitchFamily="34" charset="-120"/>
              </a:rPr>
              <a:t>(Hebrews 5:12)</a:t>
            </a:r>
            <a:endParaRPr lang="en-US" sz="1600" dirty="0"/>
          </a:p>
        </p:txBody>
      </p:sp>
      <p:sp>
        <p:nvSpPr>
          <p:cNvPr id="5" name="h2"/>
          <p:cNvSpPr txBox="1"/>
          <p:nvPr/>
        </p:nvSpPr>
        <p:spPr>
          <a:xfrm>
            <a:off x="320040" y="2606040"/>
            <a:ext cx="8503920" cy="1051560"/>
          </a:xfrm>
          <a:prstGeom prst="rect">
            <a:avLst/>
          </a:prstGeom>
          <a:noFill/>
          <a:ln/>
        </p:spPr>
        <p:txBody>
          <a:bodyPr wrap="square" lIns="0" tIns="0" rIns="0" bIns="0" rtlCol="0" anchor="t"/>
          <a:lstStyle/>
          <a:p>
            <a:pPr algn="l" indent="0" marL="0">
              <a:buNone/>
            </a:pPr>
            <a:r>
              <a:rPr lang="en-US" sz="1700" b="1" i="1" dirty="0">
                <a:solidFill>
                  <a:srgbClr val="000000"/>
                </a:solidFill>
                <a:latin typeface="Arial" pitchFamily="34" charset="0"/>
                <a:ea typeface="Arial" pitchFamily="34" charset="-122"/>
                <a:cs typeface="Arial" pitchFamily="34" charset="-120"/>
              </a:rPr>
              <a:t>“But solid food is for the mature, whose perceptions are trained by practice to discern both good and evil.” </a:t>
            </a:r>
            <a:pPr algn="l" indent="0" marL="0">
              <a:buNone/>
            </a:pPr>
            <a:r>
              <a:rPr lang="en-US" sz="1600" b="1" dirty="0">
                <a:solidFill>
                  <a:srgbClr val="000000"/>
                </a:solidFill>
                <a:latin typeface="Arial" pitchFamily="34" charset="0"/>
                <a:ea typeface="Arial" pitchFamily="34" charset="-122"/>
                <a:cs typeface="Arial" pitchFamily="34" charset="-120"/>
              </a:rPr>
              <a:t>(Hebrews 5:14)</a:t>
            </a:r>
            <a:endParaRPr lang="en-US" sz="1600" dirty="0"/>
          </a:p>
        </p:txBody>
      </p:sp>
      <p:sp>
        <p:nvSpPr>
          <p:cNvPr id="6" name="h3"/>
          <p:cNvSpPr txBox="1"/>
          <p:nvPr/>
        </p:nvSpPr>
        <p:spPr>
          <a:xfrm>
            <a:off x="320040" y="3794760"/>
            <a:ext cx="8503920" cy="1143000"/>
          </a:xfrm>
          <a:prstGeom prst="rect">
            <a:avLst/>
          </a:prstGeom>
          <a:noFill/>
          <a:ln/>
        </p:spPr>
        <p:txBody>
          <a:bodyPr wrap="square" lIns="0" tIns="0" rIns="0" bIns="0" rtlCol="0" anchor="t"/>
          <a:lstStyle/>
          <a:p>
            <a:pPr algn="l" indent="0" marL="0">
              <a:buNone/>
            </a:pPr>
            <a:r>
              <a:rPr lang="en-US" sz="1600" dirty="0">
                <a:solidFill>
                  <a:srgbClr val="000000"/>
                </a:solidFill>
                <a:latin typeface="Arial" pitchFamily="34" charset="0"/>
                <a:ea typeface="Arial" pitchFamily="34" charset="-122"/>
                <a:cs typeface="Arial" pitchFamily="34" charset="-120"/>
              </a:rPr>
              <a:t>Three words carry the course:  </a:t>
            </a:r>
            <a:pPr algn="l" indent="0" marL="0">
              <a:buNone/>
            </a:pPr>
            <a:r>
              <a:rPr lang="en-US" sz="1900" b="1" u="sng" dirty="0">
                <a:solidFill>
                  <a:srgbClr val="1F497D"/>
                </a:solidFill>
                <a:latin typeface="Arial" pitchFamily="34" charset="0"/>
                <a:ea typeface="Arial" pitchFamily="34" charset="-122"/>
                <a:cs typeface="Arial" pitchFamily="34" charset="-120"/>
              </a:rPr>
              <a:t>trained — by practice.
</a:t>
            </a:r>
            <a:pPr algn="l" indent="0" marL="0">
              <a:buNone/>
            </a:pPr>
            <a:r>
              <a:rPr lang="en-US" sz="1450" dirty="0">
                <a:solidFill>
                  <a:srgbClr val="000000"/>
                </a:solidFill>
                <a:latin typeface="Arial" pitchFamily="34" charset="0"/>
                <a:ea typeface="Arial" pitchFamily="34" charset="-122"/>
                <a:cs typeface="Arial" pitchFamily="34" charset="-120"/>
              </a:rPr>
              <a:t>Discernment is not downloaded at baptism or absorbed from sermons. It is built like a tradesman’s eye — repetitions, daily, until perception knows things the mouth can’t yet explain.</a:t>
            </a:r>
            <a:endParaRPr lang="en-US" sz="1600" dirty="0"/>
          </a:p>
        </p:txBody>
      </p:sp>
      <p:sp>
        <p:nvSpPr>
          <p:cNvPr id="7" name="h4"/>
          <p:cNvSpPr txBox="1"/>
          <p:nvPr/>
        </p:nvSpPr>
        <p:spPr>
          <a:xfrm>
            <a:off x="320040" y="5120640"/>
            <a:ext cx="8503920" cy="1005840"/>
          </a:xfrm>
          <a:prstGeom prst="rect">
            <a:avLst/>
          </a:prstGeom>
          <a:noFill/>
          <a:ln/>
        </p:spPr>
        <p:txBody>
          <a:bodyPr wrap="square" lIns="0" tIns="0" rIns="0" bIns="0" rtlCol="0" anchor="t"/>
          <a:lstStyle/>
          <a:p>
            <a:pPr algn="l" indent="0" marL="0">
              <a:buNone/>
            </a:pPr>
            <a:r>
              <a:rPr lang="en-US" sz="1500" dirty="0">
                <a:solidFill>
                  <a:srgbClr val="000000"/>
                </a:solidFill>
                <a:latin typeface="Arial" pitchFamily="34" charset="0"/>
                <a:ea typeface="Arial" pitchFamily="34" charset="-122"/>
                <a:cs typeface="Arial" pitchFamily="34" charset="-120"/>
              </a:rPr>
              <a:t>And notice what the mature discern: </a:t>
            </a:r>
            <a:pPr algn="l" indent="0" marL="0">
              <a:buNone/>
            </a:pPr>
            <a:r>
              <a:rPr lang="en-US" sz="1600" b="1" dirty="0">
                <a:solidFill>
                  <a:srgbClr val="000000"/>
                </a:solidFill>
                <a:latin typeface="Arial" pitchFamily="34" charset="0"/>
                <a:ea typeface="Arial" pitchFamily="34" charset="-122"/>
                <a:cs typeface="Arial" pitchFamily="34" charset="-120"/>
              </a:rPr>
              <a:t>good and evil.
</a:t>
            </a:r>
            <a:pPr algn="l" indent="0" marL="0">
              <a:buNone/>
            </a:pPr>
            <a:r>
              <a:rPr lang="en-US" sz="1450" i="1" dirty="0">
                <a:solidFill>
                  <a:srgbClr val="000000"/>
                </a:solidFill>
                <a:latin typeface="Arial" pitchFamily="34" charset="0"/>
                <a:ea typeface="Arial" pitchFamily="34" charset="-122"/>
                <a:cs typeface="Arial" pitchFamily="34" charset="-120"/>
              </a:rPr>
              <a:t>The course title and the course thesis are the same sentence: maturity is the trained ability to recognize the Good — God’s own character — from everything that merely resembles it.</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1000"/>
                                        <p:tgtEl>
                                          <p:spTgt spid="4"/>
                                        </p:tgtEl>
                                      </p:cBhvr>
                                    </p:animEffect>
                                    <p:anim calcmode="lin" valueType="num">
                                      <p:cBhvr>
                                        <p:cTn id="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algn="l" indent="0" marL="0">
              <a:buNone/>
            </a:pPr>
            <a:r>
              <a:rPr lang="en-US" sz="2600" b="1" dirty="0">
                <a:solidFill>
                  <a:srgbClr val="1F497D"/>
                </a:solidFill>
                <a:latin typeface="Arial" pitchFamily="34" charset="0"/>
                <a:ea typeface="Arial" pitchFamily="34" charset="-122"/>
                <a:cs typeface="Arial" pitchFamily="34" charset="-120"/>
              </a:rPr>
              <a:t>The Road: Twelve Weeks</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algn="l" indent="0" marL="0">
              <a:buNone/>
            </a:pPr>
            <a:r>
              <a:rPr lang="en-US" sz="1300" b="1" dirty="0">
                <a:solidFill>
                  <a:srgbClr val="4F81BD"/>
                </a:solidFill>
                <a:latin typeface="Arial" pitchFamily="34" charset="0"/>
                <a:ea typeface="Arial" pitchFamily="34" charset="-122"/>
                <a:cs typeface="Arial" pitchFamily="34" charset="-120"/>
              </a:rPr>
              <a:t>From the Good, through sacrifice and testing, to commission</a:t>
            </a:r>
            <a:endParaRPr lang="en-US" sz="1600" dirty="0"/>
          </a:p>
        </p:txBody>
      </p:sp>
      <p:sp>
        <p:nvSpPr>
          <p:cNvPr id="4" name="u0b"/>
          <p:cNvSpPr/>
          <p:nvPr/>
        </p:nvSpPr>
        <p:spPr>
          <a:xfrm>
            <a:off x="365760" y="1143000"/>
            <a:ext cx="1417320" cy="658368"/>
          </a:xfrm>
          <a:prstGeom prst="roundRect">
            <a:avLst>
              <a:gd name="adj" fmla="val 8333"/>
            </a:avLst>
          </a:prstGeom>
          <a:solidFill>
            <a:srgbClr val="1F497D"/>
          </a:solidFill>
          <a:ln w="12700">
            <a:solidFill>
              <a:srgbClr val="1F497D"/>
            </a:solidFill>
            <a:prstDash val="solid"/>
          </a:ln>
        </p:spPr>
      </p:sp>
      <p:sp>
        <p:nvSpPr>
          <p:cNvPr id="5" name="u0w"/>
          <p:cNvSpPr txBox="1"/>
          <p:nvPr/>
        </p:nvSpPr>
        <p:spPr>
          <a:xfrm>
            <a:off x="365760" y="1225296"/>
            <a:ext cx="1417320" cy="50292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Wks 1–3
</a:t>
            </a:r>
            <a:pPr algn="ctr" indent="0" marL="0">
              <a:buNone/>
            </a:pPr>
            <a:r>
              <a:rPr lang="en-US" sz="1150" b="1" dirty="0">
                <a:solidFill>
                  <a:srgbClr val="FFFFFF"/>
                </a:solidFill>
                <a:latin typeface="Arial" pitchFamily="34" charset="0"/>
                <a:ea typeface="Arial" pitchFamily="34" charset="-122"/>
                <a:cs typeface="Arial" pitchFamily="34" charset="-120"/>
              </a:rPr>
              <a:t>FOUNDATIONS</a:t>
            </a:r>
            <a:endParaRPr lang="en-US" sz="1600" dirty="0"/>
          </a:p>
        </p:txBody>
      </p:sp>
      <p:sp>
        <p:nvSpPr>
          <p:cNvPr id="6" name="u0d"/>
          <p:cNvSpPr txBox="1"/>
          <p:nvPr/>
        </p:nvSpPr>
        <p:spPr>
          <a:xfrm>
            <a:off x="1965960" y="1261872"/>
            <a:ext cx="6766560" cy="502920"/>
          </a:xfrm>
          <a:prstGeom prst="rect">
            <a:avLst/>
          </a:prstGeom>
          <a:noFill/>
          <a:ln/>
        </p:spPr>
        <p:txBody>
          <a:bodyPr wrap="square" lIns="0" tIns="0" rIns="0" bIns="0" rtlCol="0" anchor="ctr"/>
          <a:lstStyle/>
          <a:p>
            <a:pPr algn="l" indent="0" marL="0">
              <a:buNone/>
            </a:pPr>
            <a:r>
              <a:rPr lang="en-US" sz="1400" dirty="0">
                <a:solidFill>
                  <a:srgbClr val="000000"/>
                </a:solidFill>
                <a:latin typeface="Arial" pitchFamily="34" charset="0"/>
                <a:ea typeface="Arial" pitchFamily="34" charset="-122"/>
                <a:cs typeface="Arial" pitchFamily="34" charset="-120"/>
              </a:rPr>
              <a:t>The Good · sacrifice · why sincerity isn’t enough</a:t>
            </a:r>
            <a:endParaRPr lang="en-US" sz="1600" dirty="0"/>
          </a:p>
        </p:txBody>
      </p:sp>
      <p:sp>
        <p:nvSpPr>
          <p:cNvPr id="7" name="u1b"/>
          <p:cNvSpPr/>
          <p:nvPr/>
        </p:nvSpPr>
        <p:spPr>
          <a:xfrm>
            <a:off x="365760" y="1929384"/>
            <a:ext cx="1417320" cy="658368"/>
          </a:xfrm>
          <a:prstGeom prst="roundRect">
            <a:avLst>
              <a:gd name="adj" fmla="val 8333"/>
            </a:avLst>
          </a:prstGeom>
          <a:solidFill>
            <a:srgbClr val="1F497D">
              <a:alpha val="92000"/>
            </a:srgbClr>
          </a:solidFill>
          <a:ln w="12700">
            <a:solidFill>
              <a:srgbClr val="1F497D"/>
            </a:solidFill>
            <a:prstDash val="solid"/>
          </a:ln>
        </p:spPr>
      </p:sp>
      <p:sp>
        <p:nvSpPr>
          <p:cNvPr id="8" name="u1w"/>
          <p:cNvSpPr txBox="1"/>
          <p:nvPr/>
        </p:nvSpPr>
        <p:spPr>
          <a:xfrm>
            <a:off x="365760" y="2011680"/>
            <a:ext cx="1417320" cy="50292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Wks 4–6
</a:t>
            </a:r>
            <a:pPr algn="ctr" indent="0" marL="0">
              <a:buNone/>
            </a:pPr>
            <a:r>
              <a:rPr lang="en-US" sz="1150" b="1" dirty="0">
                <a:solidFill>
                  <a:srgbClr val="FFFFFF"/>
                </a:solidFill>
                <a:latin typeface="Arial" pitchFamily="34" charset="0"/>
                <a:ea typeface="Arial" pitchFamily="34" charset="-122"/>
                <a:cs typeface="Arial" pitchFamily="34" charset="-120"/>
              </a:rPr>
              <a:t>DISCERNMENT</a:t>
            </a:r>
            <a:endParaRPr lang="en-US" sz="1600" dirty="0"/>
          </a:p>
        </p:txBody>
      </p:sp>
      <p:sp>
        <p:nvSpPr>
          <p:cNvPr id="9" name="u1d"/>
          <p:cNvSpPr txBox="1"/>
          <p:nvPr/>
        </p:nvSpPr>
        <p:spPr>
          <a:xfrm>
            <a:off x="1965960" y="2048256"/>
            <a:ext cx="6766560" cy="502920"/>
          </a:xfrm>
          <a:prstGeom prst="rect">
            <a:avLst/>
          </a:prstGeom>
          <a:noFill/>
          <a:ln/>
        </p:spPr>
        <p:txBody>
          <a:bodyPr wrap="square" lIns="0" tIns="0" rIns="0" bIns="0" rtlCol="0" anchor="ctr"/>
          <a:lstStyle/>
          <a:p>
            <a:pPr algn="l" indent="0" marL="0">
              <a:buNone/>
            </a:pPr>
            <a:r>
              <a:rPr lang="en-US" sz="1400" dirty="0">
                <a:solidFill>
                  <a:srgbClr val="000000"/>
                </a:solidFill>
                <a:latin typeface="Arial" pitchFamily="34" charset="0"/>
                <a:ea typeface="Arial" pitchFamily="34" charset="-122"/>
                <a:cs typeface="Arial" pitchFamily="34" charset="-120"/>
              </a:rPr>
              <a:t>Two righteousnesses · the Berean method · love in truth</a:t>
            </a:r>
            <a:endParaRPr lang="en-US" sz="1600" dirty="0"/>
          </a:p>
        </p:txBody>
      </p:sp>
      <p:sp>
        <p:nvSpPr>
          <p:cNvPr id="10" name="u2b"/>
          <p:cNvSpPr/>
          <p:nvPr/>
        </p:nvSpPr>
        <p:spPr>
          <a:xfrm>
            <a:off x="365760" y="2715768"/>
            <a:ext cx="1417320" cy="658368"/>
          </a:xfrm>
          <a:prstGeom prst="roundRect">
            <a:avLst>
              <a:gd name="adj" fmla="val 8333"/>
            </a:avLst>
          </a:prstGeom>
          <a:solidFill>
            <a:srgbClr val="1F497D">
              <a:alpha val="84000"/>
            </a:srgbClr>
          </a:solidFill>
          <a:ln w="12700">
            <a:solidFill>
              <a:srgbClr val="1F497D"/>
            </a:solidFill>
            <a:prstDash val="solid"/>
          </a:ln>
        </p:spPr>
      </p:sp>
      <p:sp>
        <p:nvSpPr>
          <p:cNvPr id="11" name="u2w"/>
          <p:cNvSpPr txBox="1"/>
          <p:nvPr/>
        </p:nvSpPr>
        <p:spPr>
          <a:xfrm>
            <a:off x="365760" y="2798064"/>
            <a:ext cx="1417320" cy="50292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Wks 7–9
</a:t>
            </a:r>
            <a:pPr algn="ctr" indent="0" marL="0">
              <a:buNone/>
            </a:pPr>
            <a:r>
              <a:rPr lang="en-US" sz="1150" b="1" dirty="0">
                <a:solidFill>
                  <a:srgbClr val="FFFFFF"/>
                </a:solidFill>
                <a:latin typeface="Arial" pitchFamily="34" charset="0"/>
                <a:ea typeface="Arial" pitchFamily="34" charset="-122"/>
                <a:cs typeface="Arial" pitchFamily="34" charset="-120"/>
              </a:rPr>
              <a:t>TESTING</a:t>
            </a:r>
            <a:endParaRPr lang="en-US" sz="1600" dirty="0"/>
          </a:p>
        </p:txBody>
      </p:sp>
      <p:sp>
        <p:nvSpPr>
          <p:cNvPr id="12" name="u2d"/>
          <p:cNvSpPr txBox="1"/>
          <p:nvPr/>
        </p:nvSpPr>
        <p:spPr>
          <a:xfrm>
            <a:off x="1965960" y="2834640"/>
            <a:ext cx="6766560" cy="502920"/>
          </a:xfrm>
          <a:prstGeom prst="rect">
            <a:avLst/>
          </a:prstGeom>
          <a:noFill/>
          <a:ln/>
        </p:spPr>
        <p:txBody>
          <a:bodyPr wrap="square" lIns="0" tIns="0" rIns="0" bIns="0" rtlCol="0" anchor="ctr"/>
          <a:lstStyle/>
          <a:p>
            <a:pPr algn="l" indent="0" marL="0">
              <a:buNone/>
            </a:pPr>
            <a:r>
              <a:rPr lang="en-US" sz="1400" dirty="0">
                <a:solidFill>
                  <a:srgbClr val="000000"/>
                </a:solidFill>
                <a:latin typeface="Arial" pitchFamily="34" charset="0"/>
                <a:ea typeface="Arial" pitchFamily="34" charset="-122"/>
                <a:cs typeface="Arial" pitchFamily="34" charset="-120"/>
              </a:rPr>
              <a:t>Covenant tests · the church’s tests · living sacrifice</a:t>
            </a:r>
            <a:endParaRPr lang="en-US" sz="1600" dirty="0"/>
          </a:p>
        </p:txBody>
      </p:sp>
      <p:sp>
        <p:nvSpPr>
          <p:cNvPr id="13" name="u3b"/>
          <p:cNvSpPr/>
          <p:nvPr/>
        </p:nvSpPr>
        <p:spPr>
          <a:xfrm>
            <a:off x="365760" y="3502152"/>
            <a:ext cx="1417320" cy="658368"/>
          </a:xfrm>
          <a:prstGeom prst="roundRect">
            <a:avLst>
              <a:gd name="adj" fmla="val 8333"/>
            </a:avLst>
          </a:prstGeom>
          <a:solidFill>
            <a:srgbClr val="1F497D">
              <a:alpha val="76000"/>
            </a:srgbClr>
          </a:solidFill>
          <a:ln w="12700">
            <a:solidFill>
              <a:srgbClr val="1F497D"/>
            </a:solidFill>
            <a:prstDash val="solid"/>
          </a:ln>
        </p:spPr>
      </p:sp>
      <p:sp>
        <p:nvSpPr>
          <p:cNvPr id="14" name="u3w"/>
          <p:cNvSpPr txBox="1"/>
          <p:nvPr/>
        </p:nvSpPr>
        <p:spPr>
          <a:xfrm>
            <a:off x="365760" y="3584448"/>
            <a:ext cx="1417320" cy="50292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Wks 10–11
</a:t>
            </a:r>
            <a:pPr algn="ctr" indent="0" marL="0">
              <a:buNone/>
            </a:pPr>
            <a:r>
              <a:rPr lang="en-US" sz="1150" b="1" dirty="0">
                <a:solidFill>
                  <a:srgbClr val="FFFFFF"/>
                </a:solidFill>
                <a:latin typeface="Arial" pitchFamily="34" charset="0"/>
                <a:ea typeface="Arial" pitchFamily="34" charset="-122"/>
                <a:cs typeface="Arial" pitchFamily="34" charset="-120"/>
              </a:rPr>
              <a:t>GOD’S HOUSE</a:t>
            </a:r>
            <a:endParaRPr lang="en-US" sz="1600" dirty="0"/>
          </a:p>
        </p:txBody>
      </p:sp>
      <p:sp>
        <p:nvSpPr>
          <p:cNvPr id="15" name="u3d"/>
          <p:cNvSpPr txBox="1"/>
          <p:nvPr/>
        </p:nvSpPr>
        <p:spPr>
          <a:xfrm>
            <a:off x="1965960" y="3621024"/>
            <a:ext cx="6766560" cy="502920"/>
          </a:xfrm>
          <a:prstGeom prst="rect">
            <a:avLst/>
          </a:prstGeom>
          <a:noFill/>
          <a:ln/>
        </p:spPr>
        <p:txBody>
          <a:bodyPr wrap="square" lIns="0" tIns="0" rIns="0" bIns="0" rtlCol="0" anchor="ctr"/>
          <a:lstStyle/>
          <a:p>
            <a:pPr algn="l" indent="0" marL="0">
              <a:buNone/>
            </a:pPr>
            <a:r>
              <a:rPr lang="en-US" sz="1400" dirty="0">
                <a:solidFill>
                  <a:srgbClr val="000000"/>
                </a:solidFill>
                <a:latin typeface="Arial" pitchFamily="34" charset="0"/>
                <a:ea typeface="Arial" pitchFamily="34" charset="-122"/>
                <a:cs typeface="Arial" pitchFamily="34" charset="-120"/>
              </a:rPr>
              <a:t>Apostolic authority · created order</a:t>
            </a:r>
            <a:endParaRPr lang="en-US" sz="1600" dirty="0"/>
          </a:p>
        </p:txBody>
      </p:sp>
      <p:sp>
        <p:nvSpPr>
          <p:cNvPr id="16" name="u4b"/>
          <p:cNvSpPr/>
          <p:nvPr/>
        </p:nvSpPr>
        <p:spPr>
          <a:xfrm>
            <a:off x="365760" y="4288536"/>
            <a:ext cx="1417320" cy="658368"/>
          </a:xfrm>
          <a:prstGeom prst="roundRect">
            <a:avLst>
              <a:gd name="adj" fmla="val 8333"/>
            </a:avLst>
          </a:prstGeom>
          <a:solidFill>
            <a:srgbClr val="1F497D">
              <a:alpha val="68000"/>
            </a:srgbClr>
          </a:solidFill>
          <a:ln w="12700">
            <a:solidFill>
              <a:srgbClr val="1F497D"/>
            </a:solidFill>
            <a:prstDash val="solid"/>
          </a:ln>
        </p:spPr>
      </p:sp>
      <p:sp>
        <p:nvSpPr>
          <p:cNvPr id="17" name="u4w"/>
          <p:cNvSpPr txBox="1"/>
          <p:nvPr/>
        </p:nvSpPr>
        <p:spPr>
          <a:xfrm>
            <a:off x="365760" y="4370832"/>
            <a:ext cx="1417320" cy="50292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Wk 12
</a:t>
            </a:r>
            <a:pPr algn="ctr" indent="0" marL="0">
              <a:buNone/>
            </a:pPr>
            <a:r>
              <a:rPr lang="en-US" sz="1150" b="1" dirty="0">
                <a:solidFill>
                  <a:srgbClr val="FFFFFF"/>
                </a:solidFill>
                <a:latin typeface="Arial" pitchFamily="34" charset="0"/>
                <a:ea typeface="Arial" pitchFamily="34" charset="-122"/>
                <a:cs typeface="Arial" pitchFamily="34" charset="-120"/>
              </a:rPr>
              <a:t>COMMISSION</a:t>
            </a:r>
            <a:endParaRPr lang="en-US" sz="1600" dirty="0"/>
          </a:p>
        </p:txBody>
      </p:sp>
      <p:sp>
        <p:nvSpPr>
          <p:cNvPr id="18" name="u4d"/>
          <p:cNvSpPr txBox="1"/>
          <p:nvPr/>
        </p:nvSpPr>
        <p:spPr>
          <a:xfrm>
            <a:off x="1965960" y="4407408"/>
            <a:ext cx="6766560" cy="502920"/>
          </a:xfrm>
          <a:prstGeom prst="rect">
            <a:avLst/>
          </a:prstGeom>
          <a:noFill/>
          <a:ln/>
        </p:spPr>
        <p:txBody>
          <a:bodyPr wrap="square" lIns="0" tIns="0" rIns="0" bIns="0" rtlCol="0" anchor="ctr"/>
          <a:lstStyle/>
          <a:p>
            <a:pPr algn="l" indent="0" marL="0">
              <a:buNone/>
            </a:pPr>
            <a:r>
              <a:rPr lang="en-US" sz="1400" dirty="0">
                <a:solidFill>
                  <a:srgbClr val="000000"/>
                </a:solidFill>
                <a:latin typeface="Arial" pitchFamily="34" charset="0"/>
                <a:ea typeface="Arial" pitchFamily="34" charset="-122"/>
                <a:cs typeface="Arial" pitchFamily="34" charset="-120"/>
              </a:rPr>
              <a:t>Households · “by this time — teachers”</a:t>
            </a:r>
            <a:endParaRPr lang="en-US" sz="1600" dirty="0"/>
          </a:p>
        </p:txBody>
      </p:sp>
      <p:sp>
        <p:nvSpPr>
          <p:cNvPr id="19" name="g1"/>
          <p:cNvSpPr txBox="1"/>
          <p:nvPr/>
        </p:nvSpPr>
        <p:spPr>
          <a:xfrm>
            <a:off x="365760" y="5257800"/>
            <a:ext cx="8412480" cy="1280160"/>
          </a:xfrm>
          <a:prstGeom prst="rect">
            <a:avLst/>
          </a:prstGeom>
          <a:noFill/>
          <a:ln/>
        </p:spPr>
        <p:txBody>
          <a:bodyPr wrap="square" lIns="0" tIns="0" rIns="0" bIns="0" rtlCol="0" anchor="t"/>
          <a:lstStyle/>
          <a:p>
            <a:pPr algn="l" indent="0" marL="0">
              <a:buNone/>
            </a:pPr>
            <a:r>
              <a:rPr lang="en-US" sz="1500" b="1" dirty="0">
                <a:solidFill>
                  <a:srgbClr val="000000"/>
                </a:solidFill>
                <a:latin typeface="Arial" pitchFamily="34" charset="0"/>
                <a:ea typeface="Arial" pitchFamily="34" charset="-122"/>
                <a:cs typeface="Arial" pitchFamily="34" charset="-120"/>
              </a:rPr>
              <a:t>Stated before anything is asked of you:
</a:t>
            </a:r>
            <a:pPr algn="l" indent="0" marL="0">
              <a:buNone/>
            </a:pPr>
            <a:r>
              <a:rPr lang="en-US" sz="1400" b="1" i="1" dirty="0">
                <a:solidFill>
                  <a:srgbClr val="000000"/>
                </a:solidFill>
                <a:latin typeface="Arial" pitchFamily="34" charset="0"/>
                <a:ea typeface="Arial" pitchFamily="34" charset="-122"/>
                <a:cs typeface="Arial" pitchFamily="34" charset="-120"/>
              </a:rPr>
              <a:t>“Therefore I exhort you, brothers and sisters, by the mercies of God, to present your bodies as a sacrifice — alive, holy, and pleasing to God…” </a:t>
            </a:r>
            <a:pPr algn="l" indent="0" marL="0">
              <a:buNone/>
            </a:pPr>
            <a:r>
              <a:rPr lang="en-US" sz="1300" b="1" dirty="0">
                <a:solidFill>
                  <a:srgbClr val="000000"/>
                </a:solidFill>
                <a:latin typeface="Arial" pitchFamily="34" charset="0"/>
                <a:ea typeface="Arial" pitchFamily="34" charset="-122"/>
                <a:cs typeface="Arial" pitchFamily="34" charset="-120"/>
              </a:rPr>
              <a:t>(Romans 12:1)</a:t>
            </a:r>
            <a:pPr algn="l" indent="0" marL="0">
              <a:buNone/>
            </a:pPr>
            <a:endParaRPr lang="en-US" sz="1600" dirty="0"/>
          </a:p>
          <a:p>
            <a:pPr algn="l" indent="0" marL="0">
              <a:buNone/>
            </a:pPr>
            <a:r>
              <a:rPr lang="en-US" sz="1600" b="1" u="sng" dirty="0">
                <a:solidFill>
                  <a:srgbClr val="1F497D"/>
                </a:solidFill>
                <a:latin typeface="Arial" pitchFamily="34" charset="0"/>
                <a:ea typeface="Arial" pitchFamily="34" charset="-122"/>
                <a:cs typeface="Arial" pitchFamily="34" charset="-120"/>
              </a:rPr>
              <a:t>Mercy first. Altar second.  </a:t>
            </a:r>
            <a:endParaRPr lang="en-US" sz="1600" dirty="0"/>
          </a:p>
          <a:p>
            <a:pPr algn="l" indent="0" marL="0">
              <a:buNone/>
            </a:pPr>
            <a:r>
              <a:rPr lang="en-US" sz="1350" i="1" dirty="0">
                <a:solidFill>
                  <a:srgbClr val="000000"/>
                </a:solidFill>
                <a:latin typeface="Arial" pitchFamily="34" charset="0"/>
                <a:ea typeface="Arial" pitchFamily="34" charset="-122"/>
                <a:cs typeface="Arial" pitchFamily="34" charset="-120"/>
              </a:rPr>
              <a:t>Nothing in this course earns standing; all of it responds to a sacrifice already completed.</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1000"/>
                                        <p:tgtEl>
                                          <p:spTgt spid="4"/>
                                        </p:tgtEl>
                                      </p:cBhvr>
                                    </p:animEffect>
                                    <p:anim calcmode="lin" valueType="num">
                                      <p:cBhvr>
                                        <p:cTn id="6" dur="1000" fill="hold"/>
                                        <p:tgtEl>
                                          <p:spTgt spid="4"/>
                                        </p:tgtEl>
                                        <p:attrNameLst>
                                          <p:attrName>ppt_y</p:attrName>
                                        </p:attrNameLst>
                                      </p:cBhvr>
                                      <p:tavLst>
                                        <p:tav tm="0">
                                          <p:val>
                                            <p:strVal val="#ppt_y+.1"/>
                                          </p:val>
                                        </p:tav>
                                        <p:tav tm="100000">
                                          <p:val>
                                            <p:strVal val="#ppt_y"/>
                                          </p:val>
                                        </p:tav>
                                      </p:tavLst>
                                    </p:anim>
                                  </p:childTnLst>
                                </p:cTn>
                              </p:par>
                              <p:par>
                                <p:cTn id="7" presetID="42"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1000"/>
                                        <p:tgtEl>
                                          <p:spTgt spid="5"/>
                                        </p:tgtEl>
                                      </p:cBhvr>
                                    </p:animEffect>
                                    <p:anim calcmode="lin" valueType="num">
                                      <p:cBhvr>
                                        <p:cTn id="10" dur="1000" fill="hold"/>
                                        <p:tgtEl>
                                          <p:spTgt spid="5"/>
                                        </p:tgtEl>
                                        <p:attrNameLst>
                                          <p:attrName>ppt_y</p:attrName>
                                        </p:attrNameLst>
                                      </p:cBhvr>
                                      <p:tavLst>
                                        <p:tav tm="0">
                                          <p:val>
                                            <p:strVal val="#ppt_y+.1"/>
                                          </p:val>
                                        </p:tav>
                                        <p:tav tm="100000">
                                          <p:val>
                                            <p:strVal val="#ppt_y"/>
                                          </p:val>
                                        </p:tav>
                                      </p:tavLst>
                                    </p:anim>
                                  </p:childTnLst>
                                </p:cTn>
                              </p:par>
                              <p:par>
                                <p:cTn id="11" presetID="42"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1000"/>
                                        <p:tgtEl>
                                          <p:spTgt spid="10"/>
                                        </p:tgtEl>
                                      </p:cBhvr>
                                    </p:animEffect>
                                    <p:anim calcmode="lin" valueType="num">
                                      <p:cBhvr>
                                        <p:cTn id="34" dur="100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1000"/>
                                        <p:tgtEl>
                                          <p:spTgt spid="11"/>
                                        </p:tgtEl>
                                      </p:cBhvr>
                                    </p:animEffect>
                                    <p:anim calcmode="lin" valueType="num">
                                      <p:cBhvr>
                                        <p:cTn id="38" dur="1000" fill="hold"/>
                                        <p:tgtEl>
                                          <p:spTgt spid="11"/>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1000"/>
                                        <p:tgtEl>
                                          <p:spTgt spid="12"/>
                                        </p:tgtEl>
                                      </p:cBhvr>
                                    </p:animEffect>
                                    <p:anim calcmode="lin" valueType="num">
                                      <p:cBhvr>
                                        <p:cTn id="4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1000"/>
                                        <p:tgtEl>
                                          <p:spTgt spid="13"/>
                                        </p:tgtEl>
                                      </p:cBhvr>
                                    </p:animEffect>
                                    <p:anim calcmode="lin" valueType="num">
                                      <p:cBhvr>
                                        <p:cTn id="48" dur="1000" fill="hold"/>
                                        <p:tgtEl>
                                          <p:spTgt spid="13"/>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1000"/>
                                        <p:tgtEl>
                                          <p:spTgt spid="14"/>
                                        </p:tgtEl>
                                      </p:cBhvr>
                                    </p:animEffect>
                                    <p:anim calcmode="lin" valueType="num">
                                      <p:cBhvr>
                                        <p:cTn id="52" dur="1000" fill="hold"/>
                                        <p:tgtEl>
                                          <p:spTgt spid="14"/>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1000"/>
                                        <p:tgtEl>
                                          <p:spTgt spid="15"/>
                                        </p:tgtEl>
                                      </p:cBhvr>
                                    </p:animEffect>
                                    <p:anim calcmode="lin" valueType="num">
                                      <p:cBhvr>
                                        <p:cTn id="5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1000"/>
                                        <p:tgtEl>
                                          <p:spTgt spid="16"/>
                                        </p:tgtEl>
                                      </p:cBhvr>
                                    </p:animEffect>
                                    <p:anim calcmode="lin" valueType="num">
                                      <p:cBhvr>
                                        <p:cTn id="62" dur="1000" fill="hold"/>
                                        <p:tgtEl>
                                          <p:spTgt spid="16"/>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1000"/>
                                        <p:tgtEl>
                                          <p:spTgt spid="17"/>
                                        </p:tgtEl>
                                      </p:cBhvr>
                                    </p:animEffect>
                                    <p:anim calcmode="lin" valueType="num">
                                      <p:cBhvr>
                                        <p:cTn id="66" dur="1000" fill="hold"/>
                                        <p:tgtEl>
                                          <p:spTgt spid="17"/>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1000"/>
                                        <p:tgtEl>
                                          <p:spTgt spid="18"/>
                                        </p:tgtEl>
                                      </p:cBhvr>
                                    </p:animEffect>
                                    <p:anim calcmode="lin" valueType="num">
                                      <p:cBhvr>
                                        <p:cTn id="70"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1000"/>
                                        <p:tgtEl>
                                          <p:spTgt spid="19"/>
                                        </p:tgtEl>
                                      </p:cBhvr>
                                    </p:animEffect>
                                    <p:anim calcmode="lin" valueType="num">
                                      <p:cBhvr>
                                        <p:cTn id="7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algn="l" indent="0" marL="0">
              <a:buNone/>
            </a:pPr>
            <a:r>
              <a:rPr lang="en-US" sz="2600" b="1" dirty="0">
                <a:solidFill>
                  <a:srgbClr val="1F497D"/>
                </a:solidFill>
                <a:latin typeface="Arial" pitchFamily="34" charset="0"/>
                <a:ea typeface="Arial" pitchFamily="34" charset="-122"/>
                <a:cs typeface="Arial" pitchFamily="34" charset="-120"/>
              </a:rPr>
              <a:t>Discussion</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algn="l" indent="0" marL="0">
              <a:buNone/>
            </a:pPr>
            <a:r>
              <a:rPr lang="en-US" sz="1300" b="1" dirty="0">
                <a:solidFill>
                  <a:srgbClr val="4F81BD"/>
                </a:solidFill>
                <a:latin typeface="Arial" pitchFamily="34" charset="0"/>
                <a:ea typeface="Arial" pitchFamily="34" charset="-122"/>
                <a:cs typeface="Arial" pitchFamily="34" charset="-120"/>
              </a:rPr>
              <a:t>Ten minutes — this is the week’s practice</a:t>
            </a:r>
            <a:endParaRPr lang="en-US" sz="1600" dirty="0"/>
          </a:p>
        </p:txBody>
      </p:sp>
      <p:sp>
        <p:nvSpPr>
          <p:cNvPr id="4" name="x1"/>
          <p:cNvSpPr txBox="1"/>
          <p:nvPr/>
        </p:nvSpPr>
        <p:spPr>
          <a:xfrm>
            <a:off x="457200" y="1371600"/>
            <a:ext cx="8229600" cy="1371600"/>
          </a:xfrm>
          <a:prstGeom prst="rect">
            <a:avLst/>
          </a:prstGeom>
          <a:noFill/>
          <a:ln/>
        </p:spPr>
        <p:txBody>
          <a:bodyPr wrap="square" lIns="0" tIns="0" rIns="0" bIns="0" rtlCol="0" anchor="t"/>
          <a:lstStyle/>
          <a:p>
            <a:pPr algn="l" indent="0" marL="0">
              <a:buNone/>
            </a:pPr>
            <a:r>
              <a:rPr lang="en-US" sz="2000" b="1" dirty="0">
                <a:solidFill>
                  <a:srgbClr val="1F497D"/>
                </a:solidFill>
                <a:latin typeface="Arial" pitchFamily="34" charset="0"/>
                <a:ea typeface="Arial" pitchFamily="34" charset="-122"/>
                <a:cs typeface="Arial" pitchFamily="34" charset="-120"/>
              </a:rPr>
              <a:t>1.  </a:t>
            </a:r>
            <a:pPr algn="l" indent="0" marL="0">
              <a:buNone/>
            </a:pPr>
            <a:r>
              <a:rPr lang="en-US" sz="1800" dirty="0">
                <a:solidFill>
                  <a:srgbClr val="000000"/>
                </a:solidFill>
                <a:latin typeface="Arial" pitchFamily="34" charset="0"/>
                <a:ea typeface="Arial" pitchFamily="34" charset="-122"/>
                <a:cs typeface="Arial" pitchFamily="34" charset="-120"/>
              </a:rPr>
              <a:t>When you say something is “good” — a meal, a decision, a person — what standard are you actually using?</a:t>
            </a:r>
            <a:endParaRPr lang="en-US" sz="1600" dirty="0"/>
          </a:p>
        </p:txBody>
      </p:sp>
      <p:sp>
        <p:nvSpPr>
          <p:cNvPr id="5" name="x2"/>
          <p:cNvSpPr txBox="1"/>
          <p:nvPr/>
        </p:nvSpPr>
        <p:spPr>
          <a:xfrm>
            <a:off x="457200" y="3017520"/>
            <a:ext cx="8229600" cy="1371600"/>
          </a:xfrm>
          <a:prstGeom prst="rect">
            <a:avLst/>
          </a:prstGeom>
          <a:noFill/>
          <a:ln/>
        </p:spPr>
        <p:txBody>
          <a:bodyPr wrap="square" lIns="0" tIns="0" rIns="0" bIns="0" rtlCol="0" anchor="t"/>
          <a:lstStyle/>
          <a:p>
            <a:pPr algn="l" indent="0" marL="0">
              <a:buNone/>
            </a:pPr>
            <a:r>
              <a:rPr lang="en-US" sz="2000" b="1" dirty="0">
                <a:solidFill>
                  <a:srgbClr val="1F497D"/>
                </a:solidFill>
                <a:latin typeface="Arial" pitchFamily="34" charset="0"/>
                <a:ea typeface="Arial" pitchFamily="34" charset="-122"/>
                <a:cs typeface="Arial" pitchFamily="34" charset="-120"/>
              </a:rPr>
              <a:t>2.  </a:t>
            </a:r>
            <a:pPr algn="l" indent="0" marL="0">
              <a:buNone/>
            </a:pPr>
            <a:r>
              <a:rPr lang="en-US" sz="1800" dirty="0">
                <a:solidFill>
                  <a:srgbClr val="000000"/>
                </a:solidFill>
                <a:latin typeface="Arial" pitchFamily="34" charset="0"/>
                <a:ea typeface="Arial" pitchFamily="34" charset="-122"/>
                <a:cs typeface="Arial" pitchFamily="34" charset="-120"/>
              </a:rPr>
              <a:t>What would change — practically, this week — if goodness were a Person’s character rather than a measurement?</a:t>
            </a:r>
            <a:endParaRPr lang="en-US" sz="1600" dirty="0"/>
          </a:p>
        </p:txBody>
      </p:sp>
      <p:sp>
        <p:nvSpPr>
          <p:cNvPr id="6" name="x3"/>
          <p:cNvSpPr txBox="1"/>
          <p:nvPr/>
        </p:nvSpPr>
        <p:spPr>
          <a:xfrm>
            <a:off x="457200" y="4754880"/>
            <a:ext cx="8229600" cy="1097280"/>
          </a:xfrm>
          <a:prstGeom prst="rect">
            <a:avLst/>
          </a:prstGeom>
          <a:noFill/>
          <a:ln/>
        </p:spPr>
        <p:txBody>
          <a:bodyPr wrap="square" lIns="0" tIns="0" rIns="0" bIns="0" rtlCol="0" anchor="t"/>
          <a:lstStyle/>
          <a:p>
            <a:pPr algn="l" indent="0" marL="0">
              <a:buNone/>
            </a:pPr>
            <a:r>
              <a:rPr lang="en-US" sz="1400" b="1" dirty="0">
                <a:solidFill>
                  <a:srgbClr val="000000"/>
                </a:solidFill>
                <a:latin typeface="Arial" pitchFamily="34" charset="0"/>
                <a:ea typeface="Arial" pitchFamily="34" charset="-122"/>
                <a:cs typeface="Arial" pitchFamily="34" charset="-120"/>
              </a:rPr>
              <a:t>Ground rule for the course: </a:t>
            </a:r>
            <a:pPr algn="l" indent="0" marL="0">
              <a:buNone/>
            </a:pPr>
            <a:r>
              <a:rPr lang="en-US" sz="1400" i="1" dirty="0">
                <a:solidFill>
                  <a:srgbClr val="000000"/>
                </a:solidFill>
                <a:latin typeface="Arial" pitchFamily="34" charset="0"/>
                <a:ea typeface="Arial" pitchFamily="34" charset="-122"/>
                <a:cs typeface="Arial" pitchFamily="34" charset="-120"/>
              </a:rPr>
              <a:t>disagreement is welcome; every claim goes back to the text. We answer like Bereans — eager, and examining.</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1000"/>
                                        <p:tgtEl>
                                          <p:spTgt spid="4"/>
                                        </p:tgtEl>
                                      </p:cBhvr>
                                    </p:animEffect>
                                    <p:anim calcmode="lin" valueType="num">
                                      <p:cBhvr>
                                        <p:cTn id="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algn="l" indent="0" marL="0">
              <a:buNone/>
            </a:pPr>
            <a:r>
              <a:rPr lang="en-US" sz="2600" b="1" dirty="0">
                <a:solidFill>
                  <a:srgbClr val="1F497D"/>
                </a:solidFill>
                <a:latin typeface="Arial" pitchFamily="34" charset="0"/>
                <a:ea typeface="Arial" pitchFamily="34" charset="-122"/>
                <a:cs typeface="Arial" pitchFamily="34" charset="-120"/>
              </a:rPr>
              <a:t>The Rhythm: Read Like a Berean</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algn="l" indent="0" marL="0">
              <a:buNone/>
            </a:pPr>
            <a:r>
              <a:rPr lang="en-US" sz="1300" b="1" dirty="0">
                <a:solidFill>
                  <a:srgbClr val="4F81BD"/>
                </a:solidFill>
                <a:latin typeface="Arial" pitchFamily="34" charset="0"/>
                <a:ea typeface="Arial" pitchFamily="34" charset="-122"/>
                <a:cs typeface="Arial" pitchFamily="34" charset="-120"/>
              </a:rPr>
              <a:t>One passage a week — eager, and examining</a:t>
            </a:r>
            <a:endParaRPr lang="en-US" sz="1600" dirty="0"/>
          </a:p>
        </p:txBody>
      </p:sp>
      <p:sp>
        <p:nvSpPr>
          <p:cNvPr id="4" name="z1"/>
          <p:cNvSpPr txBox="1"/>
          <p:nvPr/>
        </p:nvSpPr>
        <p:spPr>
          <a:xfrm>
            <a:off x="365760" y="1188720"/>
            <a:ext cx="8412480" cy="1097280"/>
          </a:xfrm>
          <a:prstGeom prst="rect">
            <a:avLst/>
          </a:prstGeom>
          <a:noFill/>
          <a:ln/>
        </p:spPr>
        <p:txBody>
          <a:bodyPr wrap="square" lIns="0" tIns="0" rIns="0" bIns="0" rtlCol="0" anchor="t"/>
          <a:lstStyle/>
          <a:p>
            <a:pPr algn="l" indent="0" marL="0">
              <a:buNone/>
            </a:pPr>
            <a:r>
              <a:rPr lang="en-US" sz="1500" b="1" i="1" dirty="0">
                <a:solidFill>
                  <a:srgbClr val="000000"/>
                </a:solidFill>
                <a:latin typeface="Arial" pitchFamily="34" charset="0"/>
                <a:ea typeface="Arial" pitchFamily="34" charset="-122"/>
                <a:cs typeface="Arial" pitchFamily="34" charset="-120"/>
              </a:rPr>
              <a:t>“They accepted the message with all eagerness, examining the scriptures carefully every day to see if these things were so.” </a:t>
            </a:r>
            <a:pPr algn="l" indent="0" marL="0">
              <a:buNone/>
            </a:pPr>
            <a:r>
              <a:rPr lang="en-US" sz="1400" b="1" dirty="0">
                <a:solidFill>
                  <a:srgbClr val="000000"/>
                </a:solidFill>
                <a:latin typeface="Arial" pitchFamily="34" charset="0"/>
                <a:ea typeface="Arial" pitchFamily="34" charset="-122"/>
                <a:cs typeface="Arial" pitchFamily="34" charset="-120"/>
              </a:rPr>
              <a:t>(Acts 17:11)</a:t>
            </a:r>
            <a:pPr algn="l" indent="0" marL="0">
              <a:buNone/>
            </a:pPr>
            <a:endParaRPr lang="en-US" sz="1600" dirty="0"/>
          </a:p>
          <a:p>
            <a:pPr algn="l" indent="0" marL="0">
              <a:buNone/>
            </a:pPr>
            <a:r>
              <a:rPr lang="en-US" sz="1500" b="1" dirty="0">
                <a:solidFill>
                  <a:srgbClr val="000000"/>
                </a:solidFill>
                <a:latin typeface="Arial" pitchFamily="34" charset="0"/>
                <a:ea typeface="Arial" pitchFamily="34" charset="-122"/>
                <a:cs typeface="Arial" pitchFamily="34" charset="-120"/>
              </a:rPr>
              <a:t>Both halves, every week: want it to be true — and check that it is.</a:t>
            </a:r>
            <a:endParaRPr lang="en-US" sz="1600" dirty="0"/>
          </a:p>
        </p:txBody>
      </p:sp>
      <p:sp>
        <p:nvSpPr>
          <p:cNvPr id="5" name="z2"/>
          <p:cNvSpPr txBox="1"/>
          <p:nvPr/>
        </p:nvSpPr>
        <p:spPr>
          <a:xfrm>
            <a:off x="365760" y="2560320"/>
            <a:ext cx="8412480" cy="1371600"/>
          </a:xfrm>
          <a:prstGeom prst="rect">
            <a:avLst/>
          </a:prstGeom>
          <a:noFill/>
          <a:ln/>
        </p:spPr>
        <p:txBody>
          <a:bodyPr wrap="square" lIns="0" tIns="0" rIns="0" bIns="0" rtlCol="0" anchor="t"/>
          <a:lstStyle/>
          <a:p>
            <a:pPr algn="l" indent="0" marL="0">
              <a:buNone/>
            </a:pPr>
            <a:r>
              <a:rPr lang="en-US" sz="1700" b="1" dirty="0">
                <a:solidFill>
                  <a:srgbClr val="1F497D"/>
                </a:solidFill>
                <a:latin typeface="Arial" pitchFamily="34" charset="0"/>
                <a:ea typeface="Arial" pitchFamily="34" charset="-122"/>
                <a:cs typeface="Arial" pitchFamily="34" charset="-120"/>
              </a:rPr>
              <a:t>For next week, read:
</a:t>
            </a:r>
            <a:pPr algn="l" indent="0" marL="0">
              <a:buNone/>
            </a:pPr>
            <a:r>
              <a:rPr lang="en-US" sz="1550" dirty="0">
                <a:solidFill>
                  <a:srgbClr val="000000"/>
                </a:solidFill>
                <a:latin typeface="Arial" pitchFamily="34" charset="0"/>
                <a:ea typeface="Arial" pitchFamily="34" charset="-122"/>
                <a:cs typeface="Arial" pitchFamily="34" charset="-120"/>
              </a:rPr>
              <a:t>•  Genesis 22:1–19  — what exactly does God ask for, and when does Abraham’s faith become visible?
</a:t>
            </a:r>
            <a:pPr algn="l" indent="0" marL="0">
              <a:buNone/>
            </a:pPr>
            <a:r>
              <a:rPr lang="en-US" sz="1550" dirty="0">
                <a:solidFill>
                  <a:srgbClr val="000000"/>
                </a:solidFill>
                <a:latin typeface="Arial" pitchFamily="34" charset="0"/>
                <a:ea typeface="Arial" pitchFamily="34" charset="-122"/>
                <a:cs typeface="Arial" pitchFamily="34" charset="-120"/>
              </a:rPr>
              <a:t>•  Hebrews 11:17–19  — what did Abraham reason, and what did the test prove?</a:t>
            </a:r>
            <a:endParaRPr lang="en-US" sz="1600" dirty="0"/>
          </a:p>
        </p:txBody>
      </p:sp>
      <p:sp>
        <p:nvSpPr>
          <p:cNvPr id="6" name="z3"/>
          <p:cNvSpPr txBox="1"/>
          <p:nvPr/>
        </p:nvSpPr>
        <p:spPr>
          <a:xfrm>
            <a:off x="365760" y="4114800"/>
            <a:ext cx="8412480" cy="914400"/>
          </a:xfrm>
          <a:prstGeom prst="rect">
            <a:avLst/>
          </a:prstGeom>
          <a:noFill/>
          <a:ln/>
        </p:spPr>
        <p:txBody>
          <a:bodyPr wrap="square" lIns="0" tIns="0" rIns="0" bIns="0" rtlCol="0" anchor="t"/>
          <a:lstStyle/>
          <a:p>
            <a:pPr algn="l" indent="0" marL="0">
              <a:buNone/>
            </a:pPr>
            <a:r>
              <a:rPr lang="en-US" sz="1600" b="1" dirty="0">
                <a:solidFill>
                  <a:srgbClr val="000000"/>
                </a:solidFill>
                <a:latin typeface="Arial" pitchFamily="34" charset="0"/>
                <a:ea typeface="Arial" pitchFamily="34" charset="-122"/>
                <a:cs typeface="Arial" pitchFamily="34" charset="-120"/>
              </a:rPr>
              <a:t>Next week: </a:t>
            </a:r>
            <a:pPr algn="l" indent="0" marL="0">
              <a:buNone/>
            </a:pPr>
            <a:r>
              <a:rPr lang="en-US" sz="1600" i="1" dirty="0">
                <a:solidFill>
                  <a:srgbClr val="000000"/>
                </a:solidFill>
                <a:latin typeface="Arial" pitchFamily="34" charset="0"/>
                <a:ea typeface="Arial" pitchFamily="34" charset="-122"/>
                <a:cs typeface="Arial" pitchFamily="34" charset="-120"/>
              </a:rPr>
              <a:t>Sacrifice Reveals the Good — the four layers: Religion, Worship, Sacrifice, and the Obedience of Faith.</a:t>
            </a:r>
            <a:endParaRPr lang="en-US" sz="1600" dirty="0"/>
          </a:p>
        </p:txBody>
      </p:sp>
      <p:sp>
        <p:nvSpPr>
          <p:cNvPr id="7" name="z4"/>
          <p:cNvSpPr txBox="1"/>
          <p:nvPr/>
        </p:nvSpPr>
        <p:spPr>
          <a:xfrm>
            <a:off x="365760" y="5303520"/>
            <a:ext cx="8412480" cy="822960"/>
          </a:xfrm>
          <a:prstGeom prst="rect">
            <a:avLst/>
          </a:prstGeom>
          <a:noFill/>
          <a:ln/>
        </p:spPr>
        <p:txBody>
          <a:bodyPr wrap="square" lIns="0" tIns="0" rIns="0" bIns="0" rtlCol="0" anchor="t"/>
          <a:lstStyle/>
          <a:p>
            <a:pPr algn="ctr" indent="0" marL="0">
              <a:buNone/>
            </a:pPr>
            <a:r>
              <a:rPr lang="en-US" sz="1800" b="1" i="1" dirty="0">
                <a:solidFill>
                  <a:srgbClr val="1F497D"/>
                </a:solidFill>
                <a:latin typeface="Arial" pitchFamily="34" charset="0"/>
                <a:ea typeface="Arial" pitchFamily="34" charset="-122"/>
                <a:cs typeface="Arial" pitchFamily="34" charset="-120"/>
              </a:rPr>
              <a:t>“Taste and see that the LORD is good!”  (Psalm 34:8)</a:t>
            </a:r>
            <a:endParaRPr lang="en-US" sz="1600" dirty="0"/>
          </a:p>
        </p:txBody>
      </p:sp>
      <p:sp>
        <p:nvSpPr>
          <p:cNvPr id="8" name="z5"/>
          <p:cNvSpPr txBox="1"/>
          <p:nvPr/>
        </p:nvSpPr>
        <p:spPr>
          <a:xfrm>
            <a:off x="365760" y="6080760"/>
            <a:ext cx="8412480" cy="365760"/>
          </a:xfrm>
          <a:prstGeom prst="rect">
            <a:avLst/>
          </a:prstGeom>
          <a:noFill/>
          <a:ln/>
        </p:spPr>
        <p:txBody>
          <a:bodyPr wrap="square" lIns="0" tIns="0" rIns="0" bIns="0" rtlCol="0" anchor="t"/>
          <a:lstStyle/>
          <a:p>
            <a:pPr algn="ctr" indent="0" marL="0">
              <a:buNone/>
            </a:pPr>
            <a:r>
              <a:rPr lang="en-US" sz="1300" b="1" u="sng" dirty="0">
                <a:solidFill>
                  <a:srgbClr val="4F81BD"/>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https://tinyurl.com/TeachTheWord</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1000"/>
                                        <p:tgtEl>
                                          <p:spTgt spid="4"/>
                                        </p:tgtEl>
                                      </p:cBhvr>
                                    </p:animEffect>
                                    <p:anim calcmode="lin" valueType="num">
                                      <p:cBhvr>
                                        <p:cTn id="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2026-09-29T13:20:25Z</dcterms:created>
  <dcterms:modified xsi:type="dcterms:W3CDTF">2026-09-29T13:20:25Z</dcterms:modified>
</cp:coreProperties>
</file>