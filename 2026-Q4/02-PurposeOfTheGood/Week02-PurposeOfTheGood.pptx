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5" r:id="rId5"/>
    <p:sldId id="264" r:id="rId6"/>
    <p:sldId id="259" r:id="rId7"/>
    <p:sldId id="260" r:id="rId8"/>
    <p:sldId id="261" r:id="rId9"/>
    <p:sldId id="263" r:id="rId10"/>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8"/>
    <p:restoredTop sz="84932"/>
  </p:normalViewPr>
  <p:slideViewPr>
    <p:cSldViewPr snapToGrid="0" snapToObjects="1">
      <p:cViewPr varScale="1">
        <p:scale>
          <a:sx n="107" d="100"/>
          <a:sy n="107" d="100"/>
        </p:scale>
        <p:origin x="23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900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Twelve weeks, one thread: God speaks, faith hears, obedience makes the invisible visible.
Say: “This course has one controlling verse, and it is on the screen. By week twelve you will know why maturity is a matter of trained perception.”
Do not explain it yet --&gt; slide 5 does that. Advance when the room settles.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ordinary uses: good coffee, a good dog, a good man --&gt; ask what standard each silently borrows.
[CLICK] Read both verses. A man calls Jesus good as flattery.
[CLICK] Jesus redirects: compliment → identification. He is not denying his goodness (he IS good) --&gt; he is asking whether the man knows what he just said.
[CLICK] The participation line --&gt; land it slowly. Everything we call good borrows from Him.
[CLICK] Moses asked to see glory; God showed goodness and a NAME. Psalm 34 --&gt; taste, not tally. Transition: “If the Good is a Person, then the Good has a purpose. Persons have purposes.”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Box 1: image and likeness --&gt; made to resemble and relate.
[CLICK] Box 2: Gen 3 --&gt; the image marred. One sentence; Week 6 returns here.
[CLICK] Box 3: Rom 8:29 --&gt; the purpose never changed; conformity to the Son is Gen 1:26 kept.
[CLICK] The purpose stated --&gt; union.
[CLICK] Union, not admiration. Ask rhetorically: “Does God want your approval of goodness --&gt; or your participation in it?” Transition: “But there is a problem. How would anyone know?”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Heb 10:5,7 — Psalm 40 in the mouth of Christ.
[CLICK×4] Build the gold stack: form, heart, cost, obedience.
[CLICK] Aligned once, completely, in Him — mercy first, altar second, your living sacrifice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beseech you therefore, brethren, by the mercies of God, that you present your bodies a living sacrifice, holy, acceptable to God, </a:t>
            </a:r>
            <a:r>
              <a:rPr lang="en-US" sz="1200" i="1" kern="1200" dirty="0">
                <a:solidFill>
                  <a:schemeClr val="tx1"/>
                </a:solidFill>
                <a:effectLst/>
                <a:latin typeface="+mn-lt"/>
                <a:ea typeface="+mn-ea"/>
                <a:cs typeface="+mn-cs"/>
              </a:rPr>
              <a:t>which is</a:t>
            </a:r>
            <a:r>
              <a:rPr lang="en-US" sz="1200" kern="1200" dirty="0">
                <a:solidFill>
                  <a:schemeClr val="tx1"/>
                </a:solidFill>
                <a:effectLst/>
                <a:latin typeface="+mn-lt"/>
                <a:ea typeface="+mn-ea"/>
                <a:cs typeface="+mn-cs"/>
              </a:rPr>
              <a:t> your reasonable service. And do not be conformed to this world, but be transformed by the renewing of your mind, that you may prove what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that good and acceptable and perfect will of God.” (</a:t>
            </a:r>
            <a:r>
              <a:rPr lang="en-US" sz="1200" b="1" kern="1200" dirty="0">
                <a:solidFill>
                  <a:schemeClr val="tx1"/>
                </a:solidFill>
                <a:effectLst/>
                <a:latin typeface="+mn-lt"/>
                <a:ea typeface="+mn-ea"/>
                <a:cs typeface="+mn-cs"/>
              </a:rPr>
              <a:t>Romans 12:1-2</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Malachi — they answer “How have we offended you?” and MEAN it. Let it hang: they can’t see it.
[CLICK] Saul believes his own report.
[CLICK] Uzzah — correct to “bringing the Ark up to Jerusalem”; nobody in the procession perceived it.
[CLICK] The lesson: perception failures; can’t audit itself. The infant doesn’t know he’s an infant.
[CLICK] Heb 5:14 — the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claim: devotion is invisible --&gt; even to its owner. Let that second phrase sit.
[CLICK] Three witnesses --&gt; preview only, one breath each (Saul is Week 2–3, Malachi Week 9, the Lord-Lord builders Week 8). All were sincere.
[CLICK] Sincerity passed its own inspection every time. 2 Cor 13:5 --&gt; God commands the audit.
[CLICK] The course question. Pause. Transition: “Hebrews answers with one word: trained.”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v.12 --&gt; “by this time.” The writer does math on them: years in vs. what they can digest. Run his math on yourself --&gt; say it kindly; this is invitation, not shaming.
[CLICK] v.14 --&gt; the controlling verse. Read twice, slower the second time.
[CLICK] Trained by practice --&gt; the tradesman illustration (pick the trade your class knows: carpenter, nurse, mechanic).
[CLICK] Discern GOOD and evil --&gt; loop back to slide 2: the Good is His character. Recognizing it is a skill. Transition: “Here is the road we’ll take to train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[CLICK×5] Walk the five units briskly --&gt; one sentence each. Foundations builds the vocabulary; Discernment gives the method; Testing shows the covenant pattern and ours; God’s House applies it to authority and order; Commission sends.
[CLICK] The grace line --&gt; do NOT rush this. Romans 12:1 begins “by the mercies of God.” Say plainly: this is a course about obedience that cannot be heard as earning. Mercy first, altar second --&gt; we will repeat it at weeks 4, 7, 9, and 12 on purpose.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Acts 17:11 --&gt; name both halves; this is the course’s weekly discipline, kept light: one passage, read daily if possible.
[CLICK] Next week’s reading with the two guiding questions --&gt; they make the reading Berean rather than passive.
[CLICK] Preview Week 2 in one sentence.
[CLICK] Close on Psalm 34:8 --&gt; the invitation, not an assignment. Dismiss on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85800"/>
            <a:ext cx="8046720" cy="457200"/>
          </a:xfrm>
          <a:prstGeom prst="rect">
            <a:avLst/>
          </a:prstGeom>
          <a:noFill/>
          <a:ln/>
        </p:spPr>
        <p:txBody>
          <a:bodyPr wrap="square" lIns="0" tIns="0" rIns="0" bIns="0" rtlCol="0" anchor="t"/>
          <a:lstStyle/>
          <a:p>
            <a:pPr marL="0" indent="0" algn="ctr">
              <a:buNone/>
            </a:pPr>
            <a:r>
              <a:rPr lang="en-US" sz="2400" b="1" i="1" dirty="0">
                <a:solidFill>
                  <a:srgbClr val="4F81BD"/>
                </a:solidFill>
                <a:latin typeface="Arial" pitchFamily="34" charset="0"/>
                <a:ea typeface="Arial" pitchFamily="34" charset="-122"/>
                <a:cs typeface="Arial" pitchFamily="34" charset="-120"/>
              </a:rPr>
              <a:t>The Obedience of Faith </a:t>
            </a:r>
            <a:r>
              <a:rPr lang="en-US" sz="2400" b="1" i="1" dirty="0">
                <a:solidFill>
                  <a:srgbClr val="4F81BD"/>
                </a:solidFill>
                <a:latin typeface="Arial" pitchFamily="34" charset="0"/>
                <a:ea typeface="Arial" pitchFamily="34" charset="-122"/>
                <a:cs typeface="Arial" pitchFamily="34" charset="-120"/>
                <a:sym typeface="Wingdings" pitchFamily="2" charset="2"/>
              </a:rPr>
              <a:t>- Foundations</a:t>
            </a:r>
            <a:endParaRPr lang="en-US" sz="2000" dirty="0"/>
          </a:p>
        </p:txBody>
      </p:sp>
      <p:sp>
        <p:nvSpPr>
          <p:cNvPr id="3" name="t1"/>
          <p:cNvSpPr txBox="1"/>
          <p:nvPr/>
        </p:nvSpPr>
        <p:spPr>
          <a:xfrm>
            <a:off x="548640" y="1234440"/>
            <a:ext cx="8046720" cy="822960"/>
          </a:xfrm>
          <a:prstGeom prst="rect">
            <a:avLst/>
          </a:prstGeom>
          <a:noFill/>
          <a:ln/>
        </p:spPr>
        <p:txBody>
          <a:bodyPr wrap="square" lIns="0" tIns="0" rIns="0" bIns="0" rtlCol="0" anchor="t"/>
          <a:lstStyle/>
          <a:p>
            <a:pPr marL="0" indent="0" algn="ctr">
              <a:buNone/>
            </a:pPr>
            <a:r>
              <a:rPr lang="en-US" sz="4000" b="1" dirty="0">
                <a:solidFill>
                  <a:srgbClr val="1F497D"/>
                </a:solidFill>
                <a:latin typeface="Arial" pitchFamily="34" charset="0"/>
                <a:ea typeface="Arial" pitchFamily="34" charset="-122"/>
                <a:cs typeface="Arial" pitchFamily="34" charset="-120"/>
              </a:rPr>
              <a:t>The Purpose of the Good</a:t>
            </a:r>
            <a:endParaRPr lang="en-US" sz="1600" dirty="0"/>
          </a:p>
        </p:txBody>
      </p:sp>
      <p:sp>
        <p:nvSpPr>
          <p:cNvPr id="4" name="t2"/>
          <p:cNvSpPr txBox="1"/>
          <p:nvPr/>
        </p:nvSpPr>
        <p:spPr>
          <a:xfrm>
            <a:off x="548640" y="2194560"/>
            <a:ext cx="8046720" cy="548640"/>
          </a:xfrm>
          <a:prstGeom prst="rect">
            <a:avLst/>
          </a:prstGeom>
          <a:noFill/>
          <a:ln/>
        </p:spPr>
        <p:txBody>
          <a:bodyPr wrap="square" lIns="0" tIns="0" rIns="0" bIns="0" rtlCol="0" anchor="t"/>
          <a:lstStyle/>
          <a:p>
            <a:pPr marL="0" indent="0" algn="ctr">
              <a:buNone/>
            </a:pPr>
            <a:r>
              <a:rPr lang="en-US" sz="2400" b="1" i="1" dirty="0">
                <a:solidFill>
                  <a:srgbClr val="1F497D"/>
                </a:solidFill>
                <a:latin typeface="Arial" pitchFamily="34" charset="0"/>
                <a:ea typeface="Arial" pitchFamily="34" charset="-122"/>
                <a:cs typeface="Arial" pitchFamily="34" charset="-120"/>
              </a:rPr>
              <a:t>Goodness has a source, not just a definition</a:t>
            </a:r>
            <a:endParaRPr lang="en-US" sz="2400" dirty="0"/>
          </a:p>
        </p:txBody>
      </p:sp>
      <p:sp>
        <p:nvSpPr>
          <p:cNvPr id="5" name="t3"/>
          <p:cNvSpPr txBox="1"/>
          <p:nvPr/>
        </p:nvSpPr>
        <p:spPr>
          <a:xfrm>
            <a:off x="914400" y="3348650"/>
            <a:ext cx="7315200" cy="1371600"/>
          </a:xfrm>
          <a:prstGeom prst="rect">
            <a:avLst/>
          </a:prstGeom>
          <a:noFill/>
          <a:ln/>
        </p:spPr>
        <p:txBody>
          <a:bodyPr wrap="square" lIns="0" tIns="0" rIns="0" bIns="0" rtlCol="0" anchor="t"/>
          <a:lstStyle/>
          <a:p>
            <a:pPr marL="0" indent="0" algn="ctr">
              <a:buNone/>
            </a:pPr>
            <a:r>
              <a:rPr lang="en-US" sz="2400" i="1" dirty="0">
                <a:solidFill>
                  <a:srgbClr val="000000"/>
                </a:solidFill>
                <a:latin typeface="Arial" pitchFamily="34" charset="0"/>
                <a:ea typeface="Arial" pitchFamily="34" charset="-122"/>
                <a:cs typeface="Arial" pitchFamily="34" charset="-120"/>
              </a:rPr>
              <a:t>“But solid food is for the mature, whose perceptions are trained by practice to discern both good and evil.”</a:t>
            </a:r>
            <a:endParaRPr lang="en-US" sz="2400" dirty="0"/>
          </a:p>
          <a:p>
            <a:pPr marL="0" indent="0" algn="ctr">
              <a:buNone/>
            </a:pPr>
            <a:r>
              <a:rPr lang="en-US" sz="2400" dirty="0">
                <a:solidFill>
                  <a:srgbClr val="000000"/>
                </a:solidFill>
                <a:latin typeface="Arial" pitchFamily="34" charset="0"/>
                <a:ea typeface="Arial" pitchFamily="34" charset="-122"/>
                <a:cs typeface="Arial" pitchFamily="34" charset="-120"/>
              </a:rPr>
              <a:t>(Hebrews 5:14)</a:t>
            </a:r>
            <a:endParaRPr lang="en-US" sz="2400" dirty="0"/>
          </a:p>
        </p:txBody>
      </p:sp>
      <p:sp>
        <p:nvSpPr>
          <p:cNvPr id="6" name="t4"/>
          <p:cNvSpPr txBox="1"/>
          <p:nvPr/>
        </p:nvSpPr>
        <p:spPr>
          <a:xfrm>
            <a:off x="914400" y="5325701"/>
            <a:ext cx="7315200" cy="457200"/>
          </a:xfrm>
          <a:prstGeom prst="rect">
            <a:avLst/>
          </a:prstGeom>
          <a:noFill/>
          <a:ln/>
        </p:spPr>
        <p:txBody>
          <a:bodyPr wrap="square" lIns="0" tIns="0" rIns="0" bIns="0" rtlCol="0" anchor="t"/>
          <a:lstStyle/>
          <a:p>
            <a:pPr marL="0" indent="0" algn="ctr">
              <a:buNone/>
            </a:pPr>
            <a:r>
              <a:rPr lang="en-US" sz="20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a:t>
            </a:r>
            <a:r>
              <a:rPr lang="en-US" sz="20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2000" b="1" u="sng" dirty="0" err="1">
                <a:solidFill>
                  <a:srgbClr val="4F81BD"/>
                </a:solidFill>
                <a:latin typeface="Arial" pitchFamily="34" charset="0"/>
                <a:ea typeface="Arial" pitchFamily="34" charset="-122"/>
                <a:cs typeface="Arial" pitchFamily="34" charset="-120"/>
              </a:rPr>
              <a:t>.Church</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“Why Do You Call Me Good?”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Mark 10:17-18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Goodness has a source, not just a definition</a:t>
            </a:r>
            <a:endParaRPr lang="en-US" sz="2800" dirty="0"/>
          </a:p>
        </p:txBody>
      </p:sp>
      <p:sp>
        <p:nvSpPr>
          <p:cNvPr id="4" name="a1"/>
          <p:cNvSpPr txBox="1"/>
          <p:nvPr/>
        </p:nvSpPr>
        <p:spPr>
          <a:xfrm>
            <a:off x="320040" y="1182188"/>
            <a:ext cx="8503920" cy="1058092"/>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“Good teacher, what must I do to inherit eternal life?” </a:t>
            </a:r>
            <a:r>
              <a:rPr lang="en-US" b="1" dirty="0">
                <a:solidFill>
                  <a:srgbClr val="000000"/>
                </a:solidFill>
                <a:latin typeface="Arial" pitchFamily="34" charset="0"/>
                <a:ea typeface="Arial" pitchFamily="34" charset="-122"/>
                <a:cs typeface="Arial" pitchFamily="34" charset="-120"/>
              </a:rPr>
              <a:t>(Mark 10:17)</a:t>
            </a:r>
            <a:r>
              <a:rPr lang="en-US" sz="800" dirty="0">
                <a:solidFill>
                  <a:srgbClr val="000000"/>
                </a:solidFill>
                <a:latin typeface="Arial" pitchFamily="34" charset="0"/>
                <a:ea typeface="Arial" pitchFamily="34" charset="-122"/>
                <a:cs typeface="Arial" pitchFamily="34" charset="-120"/>
              </a:rPr>
              <a:t>
</a:t>
            </a:r>
            <a:r>
              <a:rPr lang="en-US" sz="2000" b="1" i="1" dirty="0">
                <a:solidFill>
                  <a:srgbClr val="000000"/>
                </a:solidFill>
                <a:latin typeface="Arial" pitchFamily="34" charset="0"/>
                <a:ea typeface="Arial" pitchFamily="34" charset="-122"/>
                <a:cs typeface="Arial" pitchFamily="34" charset="-120"/>
              </a:rPr>
              <a:t>“Why do you call me good? No one is good except God alone.” </a:t>
            </a:r>
          </a:p>
          <a:p>
            <a:pPr marL="0" indent="0" algn="l">
              <a:buNone/>
            </a:pPr>
            <a:r>
              <a:rPr lang="en-US" b="1" dirty="0">
                <a:solidFill>
                  <a:srgbClr val="000000"/>
                </a:solidFill>
                <a:latin typeface="Arial" pitchFamily="34" charset="0"/>
                <a:ea typeface="Arial" pitchFamily="34" charset="-122"/>
                <a:cs typeface="Arial" pitchFamily="34" charset="-120"/>
              </a:rPr>
              <a:t>(Mark 10:18)</a:t>
            </a:r>
            <a:endParaRPr lang="en-US" sz="2000" dirty="0"/>
          </a:p>
        </p:txBody>
      </p:sp>
      <p:sp>
        <p:nvSpPr>
          <p:cNvPr id="5" name="a2"/>
          <p:cNvSpPr txBox="1"/>
          <p:nvPr/>
        </p:nvSpPr>
        <p:spPr>
          <a:xfrm>
            <a:off x="320040" y="2423160"/>
            <a:ext cx="8503920" cy="91440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Jesus is not denying his own goodness. He is pointing the man to the source.
</a:t>
            </a:r>
            <a:r>
              <a:rPr lang="en-US" dirty="0">
                <a:solidFill>
                  <a:srgbClr val="000000"/>
                </a:solidFill>
                <a:latin typeface="Arial" pitchFamily="34" charset="0"/>
                <a:ea typeface="Arial" pitchFamily="34" charset="-122"/>
                <a:cs typeface="Arial" pitchFamily="34" charset="-120"/>
              </a:rPr>
              <a:t>The man used “good” as a compliment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 measurement. Jesus treats it as an identification.</a:t>
            </a:r>
            <a:endParaRPr lang="en-US" dirty="0"/>
          </a:p>
        </p:txBody>
      </p:sp>
      <p:sp>
        <p:nvSpPr>
          <p:cNvPr id="6" name="a3"/>
          <p:cNvSpPr txBox="1"/>
          <p:nvPr/>
        </p:nvSpPr>
        <p:spPr>
          <a:xfrm>
            <a:off x="320040" y="3520440"/>
            <a:ext cx="8503920" cy="755227"/>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Goodness is not a free-floating quality people possess on their own.
</a:t>
            </a:r>
            <a:r>
              <a:rPr lang="en-US" b="1" u="sng" dirty="0">
                <a:solidFill>
                  <a:srgbClr val="1F497D"/>
                </a:solidFill>
                <a:latin typeface="Arial" pitchFamily="34" charset="0"/>
                <a:ea typeface="Arial" pitchFamily="34" charset="-122"/>
                <a:cs typeface="Arial" pitchFamily="34" charset="-120"/>
              </a:rPr>
              <a:t>Anything called good is good because it participates in Him.</a:t>
            </a:r>
            <a:endParaRPr lang="en-US" dirty="0"/>
          </a:p>
        </p:txBody>
      </p:sp>
      <p:sp>
        <p:nvSpPr>
          <p:cNvPr id="7" name="a4"/>
          <p:cNvSpPr txBox="1"/>
          <p:nvPr/>
        </p:nvSpPr>
        <p:spPr>
          <a:xfrm>
            <a:off x="320040" y="4458546"/>
            <a:ext cx="8503920" cy="2026921"/>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The Old Testament said it first:</a:t>
            </a:r>
          </a:p>
          <a:p>
            <a:pPr marL="0" indent="0" algn="l">
              <a:buNone/>
            </a:pPr>
            <a:r>
              <a:rPr lang="en-US" b="1" dirty="0">
                <a:solidFill>
                  <a:srgbClr val="000000"/>
                </a:solidFill>
                <a:latin typeface="Arial" pitchFamily="34" charset="0"/>
                <a:ea typeface="Arial" pitchFamily="34" charset="-122"/>
                <a:cs typeface="Arial" pitchFamily="34" charset="-120"/>
              </a:rPr>
              <a:t>
</a:t>
            </a:r>
            <a:r>
              <a:rPr lang="en-US" b="1" i="1" dirty="0">
                <a:solidFill>
                  <a:srgbClr val="000000"/>
                </a:solidFill>
                <a:latin typeface="Arial" pitchFamily="34" charset="0"/>
                <a:ea typeface="Arial" pitchFamily="34" charset="-122"/>
                <a:cs typeface="Arial" pitchFamily="34" charset="-120"/>
              </a:rPr>
              <a:t>“I will make all my goodness pass before your face, and I will proclaim the LORD by name before you.” </a:t>
            </a:r>
            <a:r>
              <a:rPr lang="en-US" b="1" dirty="0">
                <a:solidFill>
                  <a:srgbClr val="000000"/>
                </a:solidFill>
                <a:latin typeface="Arial" pitchFamily="34" charset="0"/>
                <a:ea typeface="Arial" pitchFamily="34" charset="-122"/>
                <a:cs typeface="Arial" pitchFamily="34" charset="-120"/>
              </a:rPr>
              <a:t>(Exodus 33:19)</a:t>
            </a:r>
          </a:p>
          <a:p>
            <a:pPr marL="0" indent="0" algn="l">
              <a:buNone/>
            </a:pPr>
            <a:r>
              <a:rPr lang="en-US" dirty="0">
                <a:solidFill>
                  <a:srgbClr val="000000"/>
                </a:solidFill>
                <a:latin typeface="Arial" pitchFamily="34" charset="0"/>
                <a:ea typeface="Arial" pitchFamily="34" charset="-122"/>
                <a:cs typeface="Arial" pitchFamily="34" charset="-120"/>
              </a:rPr>
              <a:t>
</a:t>
            </a:r>
            <a:r>
              <a:rPr lang="en-US" b="1" i="1" dirty="0">
                <a:solidFill>
                  <a:srgbClr val="000000"/>
                </a:solidFill>
                <a:latin typeface="Arial" pitchFamily="34" charset="0"/>
                <a:ea typeface="Arial" pitchFamily="34" charset="-122"/>
                <a:cs typeface="Arial" pitchFamily="34" charset="-120"/>
              </a:rPr>
              <a:t>“Taste and see that the LORD is good!” </a:t>
            </a:r>
            <a:r>
              <a:rPr lang="en-US" b="1" dirty="0">
                <a:solidFill>
                  <a:srgbClr val="000000"/>
                </a:solidFill>
                <a:latin typeface="Arial" pitchFamily="34" charset="0"/>
                <a:ea typeface="Arial" pitchFamily="34" charset="-122"/>
                <a:cs typeface="Arial" pitchFamily="34" charset="-120"/>
              </a:rPr>
              <a:t>(Psalm 34:8)</a:t>
            </a:r>
            <a:r>
              <a:rPr lang="en-US" i="1" dirty="0">
                <a:solidFill>
                  <a:srgbClr val="000000"/>
                </a:solidFill>
                <a:latin typeface="Arial" pitchFamily="34" charset="0"/>
                <a:ea typeface="Arial" pitchFamily="34" charset="-122"/>
                <a:cs typeface="Arial" pitchFamily="34" charset="-120"/>
              </a:rPr>
              <a:t>   </a:t>
            </a:r>
          </a:p>
          <a:p>
            <a:pPr marL="0" indent="0" algn="l">
              <a:buNone/>
            </a:pPr>
            <a:r>
              <a:rPr lang="en-US" i="1" dirty="0">
                <a:solidFill>
                  <a:srgbClr val="000000"/>
                </a:solidFill>
                <a:latin typeface="Arial" pitchFamily="34" charset="0"/>
                <a:ea typeface="Arial" pitchFamily="34" charset="-122"/>
                <a:cs typeface="Arial" pitchFamily="34" charset="-120"/>
              </a:rPr>
              <a:t>Goodness, in Scripture, is met </a:t>
            </a:r>
            <a:r>
              <a:rPr lang="en-US" i="1" dirty="0">
                <a:solidFill>
                  <a:srgbClr val="000000"/>
                </a:solidFill>
                <a:latin typeface="Arial" pitchFamily="34" charset="0"/>
                <a:ea typeface="Arial" pitchFamily="34" charset="-122"/>
                <a:cs typeface="Arial" pitchFamily="34" charset="-120"/>
                <a:sym typeface="Wingdings" pitchFamily="2" charset="2"/>
              </a:rPr>
              <a:t> </a:t>
            </a:r>
            <a:r>
              <a:rPr lang="en-US" i="1" dirty="0">
                <a:solidFill>
                  <a:srgbClr val="000000"/>
                </a:solidFill>
                <a:latin typeface="Arial" pitchFamily="34" charset="0"/>
                <a:ea typeface="Arial" pitchFamily="34" charset="-122"/>
                <a:cs typeface="Arial" pitchFamily="34" charset="-120"/>
              </a:rPr>
              <a:t>not merely measured.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Purpose of the Good Is God’s Purpose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Union, not admiration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Genesis 1 to Romans 8</a:t>
            </a:r>
            <a:endParaRPr lang="en-US" sz="2800" dirty="0"/>
          </a:p>
        </p:txBody>
      </p:sp>
      <p:sp>
        <p:nvSpPr>
          <p:cNvPr id="4" name="r0b"/>
          <p:cNvSpPr/>
          <p:nvPr/>
        </p:nvSpPr>
        <p:spPr>
          <a:xfrm>
            <a:off x="365760" y="1371600"/>
            <a:ext cx="2651760" cy="1737360"/>
          </a:xfrm>
          <a:prstGeom prst="roundRect">
            <a:avLst>
              <a:gd name="adj" fmla="val 4211"/>
            </a:avLst>
          </a:prstGeom>
          <a:solidFill>
            <a:srgbClr val="1F497D"/>
          </a:solidFill>
          <a:ln w="12700">
            <a:solidFill>
              <a:srgbClr val="1F497D"/>
            </a:solidFill>
            <a:prstDash val="solid"/>
          </a:ln>
        </p:spPr>
        <p:txBody>
          <a:bodyPr/>
          <a:lstStyle/>
          <a:p>
            <a:endParaRPr lang="en-US"/>
          </a:p>
        </p:txBody>
      </p:sp>
      <p:sp>
        <p:nvSpPr>
          <p:cNvPr id="5" name="r0t"/>
          <p:cNvSpPr txBox="1"/>
          <p:nvPr/>
        </p:nvSpPr>
        <p:spPr>
          <a:xfrm>
            <a:off x="502920" y="1508760"/>
            <a:ext cx="2377440" cy="1508760"/>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Created in His image
</a:t>
            </a:r>
            <a:r>
              <a:rPr lang="en-US" sz="1600" i="1" dirty="0">
                <a:solidFill>
                  <a:srgbClr val="FFFFFF"/>
                </a:solidFill>
                <a:latin typeface="Arial" pitchFamily="34" charset="0"/>
                <a:ea typeface="Arial" pitchFamily="34" charset="-122"/>
                <a:cs typeface="Arial" pitchFamily="34" charset="-120"/>
              </a:rPr>
              <a:t>“Let us make humankind in our image, after our likeness…”  </a:t>
            </a:r>
          </a:p>
          <a:p>
            <a:pPr marL="0" indent="0" algn="l">
              <a:buNone/>
            </a:pPr>
            <a:r>
              <a:rPr lang="en-US" sz="1600" i="1" dirty="0">
                <a:solidFill>
                  <a:srgbClr val="FFFFFF"/>
                </a:solidFill>
                <a:latin typeface="Arial" pitchFamily="34" charset="0"/>
                <a:ea typeface="Arial" pitchFamily="34" charset="-122"/>
                <a:cs typeface="Arial" pitchFamily="34" charset="-120"/>
              </a:rPr>
              <a:t>(Gen 1:26–27)</a:t>
            </a:r>
            <a:endParaRPr lang="en-US" sz="1600" dirty="0"/>
          </a:p>
        </p:txBody>
      </p:sp>
      <p:sp>
        <p:nvSpPr>
          <p:cNvPr id="6" name="r0a"/>
          <p:cNvSpPr/>
          <p:nvPr/>
        </p:nvSpPr>
        <p:spPr>
          <a:xfrm>
            <a:off x="2980944" y="2084832"/>
            <a:ext cx="384048" cy="310896"/>
          </a:xfrm>
          <a:prstGeom prst="rightArrow">
            <a:avLst/>
          </a:prstGeom>
          <a:solidFill>
            <a:srgbClr val="595959"/>
          </a:solidFill>
          <a:ln/>
        </p:spPr>
        <p:txBody>
          <a:bodyPr/>
          <a:lstStyle/>
          <a:p>
            <a:endParaRPr lang="en-US"/>
          </a:p>
        </p:txBody>
      </p:sp>
      <p:sp>
        <p:nvSpPr>
          <p:cNvPr id="7" name="r1b"/>
          <p:cNvSpPr/>
          <p:nvPr/>
        </p:nvSpPr>
        <p:spPr>
          <a:xfrm>
            <a:off x="3291840" y="1371600"/>
            <a:ext cx="2651760" cy="1737360"/>
          </a:xfrm>
          <a:prstGeom prst="roundRect">
            <a:avLst>
              <a:gd name="adj" fmla="val 4211"/>
            </a:avLst>
          </a:prstGeom>
          <a:solidFill>
            <a:schemeClr val="accent1">
              <a:lumMod val="50000"/>
              <a:alpha val="45000"/>
            </a:schemeClr>
          </a:solidFill>
          <a:ln w="12700">
            <a:solidFill>
              <a:srgbClr val="1F497D"/>
            </a:solidFill>
            <a:prstDash val="solid"/>
          </a:ln>
        </p:spPr>
        <p:txBody>
          <a:bodyPr/>
          <a:lstStyle/>
          <a:p>
            <a:endParaRPr lang="en-US"/>
          </a:p>
        </p:txBody>
      </p:sp>
      <p:sp>
        <p:nvSpPr>
          <p:cNvPr id="8" name="r1t"/>
          <p:cNvSpPr txBox="1"/>
          <p:nvPr/>
        </p:nvSpPr>
        <p:spPr>
          <a:xfrm>
            <a:off x="3429000" y="1508760"/>
            <a:ext cx="2377440" cy="1508760"/>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The image marred
</a:t>
            </a:r>
            <a:r>
              <a:rPr lang="en-US" sz="1600" i="1" dirty="0">
                <a:solidFill>
                  <a:srgbClr val="FFFFFF"/>
                </a:solidFill>
                <a:latin typeface="Arial" pitchFamily="34" charset="0"/>
                <a:ea typeface="Arial" pitchFamily="34" charset="-122"/>
                <a:cs typeface="Arial" pitchFamily="34" charset="-120"/>
              </a:rPr>
              <a:t>Genesis 3 </a:t>
            </a:r>
            <a:r>
              <a:rPr lang="en-US" sz="1600" i="1" dirty="0">
                <a:solidFill>
                  <a:srgbClr val="FFFFFF"/>
                </a:solidFill>
                <a:latin typeface="Arial" pitchFamily="34" charset="0"/>
                <a:ea typeface="Arial" pitchFamily="34" charset="-122"/>
                <a:cs typeface="Arial" pitchFamily="34" charset="-120"/>
                <a:sym typeface="Wingdings" pitchFamily="2" charset="2"/>
              </a:rPr>
              <a:t> </a:t>
            </a:r>
            <a:r>
              <a:rPr lang="en-US" sz="1600" i="1" dirty="0">
                <a:solidFill>
                  <a:srgbClr val="FFFFFF"/>
                </a:solidFill>
                <a:latin typeface="Arial" pitchFamily="34" charset="0"/>
                <a:ea typeface="Arial" pitchFamily="34" charset="-122"/>
                <a:cs typeface="Arial" pitchFamily="34" charset="-120"/>
              </a:rPr>
              <a:t>trust displaced; likeness defaced, not erased</a:t>
            </a:r>
            <a:endParaRPr lang="en-US" sz="1600" dirty="0"/>
          </a:p>
        </p:txBody>
      </p:sp>
      <p:sp>
        <p:nvSpPr>
          <p:cNvPr id="9" name="r1a"/>
          <p:cNvSpPr/>
          <p:nvPr/>
        </p:nvSpPr>
        <p:spPr>
          <a:xfrm>
            <a:off x="5907024" y="2084832"/>
            <a:ext cx="384048" cy="310896"/>
          </a:xfrm>
          <a:prstGeom prst="rightArrow">
            <a:avLst/>
          </a:prstGeom>
          <a:solidFill>
            <a:srgbClr val="595959"/>
          </a:solidFill>
          <a:ln/>
        </p:spPr>
        <p:txBody>
          <a:bodyPr/>
          <a:lstStyle/>
          <a:p>
            <a:endParaRPr lang="en-US"/>
          </a:p>
        </p:txBody>
      </p:sp>
      <p:sp>
        <p:nvSpPr>
          <p:cNvPr id="10" name="r2b"/>
          <p:cNvSpPr/>
          <p:nvPr/>
        </p:nvSpPr>
        <p:spPr>
          <a:xfrm>
            <a:off x="6217920" y="1371600"/>
            <a:ext cx="2651760" cy="1737360"/>
          </a:xfrm>
          <a:prstGeom prst="roundRect">
            <a:avLst>
              <a:gd name="adj" fmla="val 4211"/>
            </a:avLst>
          </a:prstGeom>
          <a:solidFill>
            <a:srgbClr val="1F497D">
              <a:alpha val="80000"/>
            </a:srgbClr>
          </a:solidFill>
          <a:ln w="12700">
            <a:solidFill>
              <a:srgbClr val="1F497D"/>
            </a:solidFill>
            <a:prstDash val="solid"/>
          </a:ln>
        </p:spPr>
        <p:txBody>
          <a:bodyPr/>
          <a:lstStyle/>
          <a:p>
            <a:endParaRPr lang="en-US"/>
          </a:p>
        </p:txBody>
      </p:sp>
      <p:sp>
        <p:nvSpPr>
          <p:cNvPr id="11" name="r2t"/>
          <p:cNvSpPr txBox="1"/>
          <p:nvPr/>
        </p:nvSpPr>
        <p:spPr>
          <a:xfrm>
            <a:off x="6355080" y="1508760"/>
            <a:ext cx="2377440" cy="1508760"/>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Conformed to His Son
</a:t>
            </a:r>
            <a:r>
              <a:rPr lang="en-US" sz="1600" i="1" dirty="0">
                <a:solidFill>
                  <a:srgbClr val="FFFFFF"/>
                </a:solidFill>
                <a:latin typeface="Arial" pitchFamily="34" charset="0"/>
                <a:ea typeface="Arial" pitchFamily="34" charset="-122"/>
                <a:cs typeface="Arial" pitchFamily="34" charset="-120"/>
              </a:rPr>
              <a:t>“predestined to be conformed to the image of his Son”  </a:t>
            </a:r>
          </a:p>
          <a:p>
            <a:pPr marL="0" indent="0" algn="l">
              <a:buNone/>
            </a:pPr>
            <a:r>
              <a:rPr lang="en-US" sz="1600" i="1" dirty="0">
                <a:solidFill>
                  <a:srgbClr val="FFFFFF"/>
                </a:solidFill>
                <a:latin typeface="Arial" pitchFamily="34" charset="0"/>
                <a:ea typeface="Arial" pitchFamily="34" charset="-122"/>
                <a:cs typeface="Arial" pitchFamily="34" charset="-120"/>
              </a:rPr>
              <a:t>(Rom 8:29)</a:t>
            </a:r>
            <a:endParaRPr lang="en-US" sz="1600" dirty="0"/>
          </a:p>
        </p:txBody>
      </p:sp>
      <p:sp>
        <p:nvSpPr>
          <p:cNvPr id="12" name="p1"/>
          <p:cNvSpPr txBox="1"/>
          <p:nvPr/>
        </p:nvSpPr>
        <p:spPr>
          <a:xfrm>
            <a:off x="365760" y="3429000"/>
            <a:ext cx="8412480" cy="96012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The purpose of the Good is not an abstract ethical puzzle.
</a:t>
            </a:r>
            <a:r>
              <a:rPr lang="en-US" sz="2000" b="1" dirty="0">
                <a:solidFill>
                  <a:srgbClr val="1F497D"/>
                </a:solidFill>
                <a:latin typeface="Arial" pitchFamily="34" charset="0"/>
                <a:ea typeface="Arial" pitchFamily="34" charset="-122"/>
                <a:cs typeface="Arial" pitchFamily="34" charset="-120"/>
              </a:rPr>
              <a:t>It is God’s own purpose: to be united with the people He made, and to remake them in His likeness.</a:t>
            </a:r>
            <a:endParaRPr lang="en-US" sz="2000" dirty="0"/>
          </a:p>
        </p:txBody>
      </p:sp>
      <p:sp>
        <p:nvSpPr>
          <p:cNvPr id="13" name="p2"/>
          <p:cNvSpPr txBox="1"/>
          <p:nvPr/>
        </p:nvSpPr>
        <p:spPr>
          <a:xfrm>
            <a:off x="365760" y="4526279"/>
            <a:ext cx="8412480" cy="1919787"/>
          </a:xfrm>
          <a:prstGeom prst="rect">
            <a:avLst/>
          </a:prstGeom>
          <a:noFill/>
          <a:ln/>
        </p:spPr>
        <p:txBody>
          <a:bodyPr wrap="square" lIns="0" tIns="0" rIns="0" bIns="0" rtlCol="0" anchor="t"/>
          <a:lstStyle/>
          <a:p>
            <a:pPr marL="0" indent="0" algn="l">
              <a:buNone/>
            </a:pPr>
            <a:r>
              <a:rPr lang="en-US" b="1" u="sng" dirty="0">
                <a:solidFill>
                  <a:srgbClr val="1F497D"/>
                </a:solidFill>
                <a:latin typeface="Arial" pitchFamily="34" charset="0"/>
                <a:ea typeface="Arial" pitchFamily="34" charset="-122"/>
                <a:cs typeface="Arial" pitchFamily="34" charset="-120"/>
              </a:rPr>
              <a:t>Union, not admiration.
</a:t>
            </a:r>
            <a:r>
              <a:rPr lang="en-US" dirty="0">
                <a:solidFill>
                  <a:srgbClr val="000000"/>
                </a:solidFill>
                <a:latin typeface="Arial" pitchFamily="34" charset="0"/>
                <a:ea typeface="Arial" pitchFamily="34" charset="-122"/>
                <a:cs typeface="Arial" pitchFamily="34" charset="-120"/>
              </a:rPr>
              <a:t>God’s goal is not people who approve of goodness from a distance, but a family that shares His character </a:t>
            </a:r>
            <a:r>
              <a:rPr lang="en-US" dirty="0">
                <a:solidFill>
                  <a:srgbClr val="000000"/>
                </a:solidFill>
                <a:latin typeface="Arial" pitchFamily="34" charset="0"/>
                <a:ea typeface="Arial" pitchFamily="34" charset="-122"/>
                <a:cs typeface="Arial" pitchFamily="34" charset="-120"/>
                <a:sym typeface="Wingdings" pitchFamily="2" charset="2"/>
              </a:rPr>
              <a:t> </a:t>
            </a:r>
            <a:r>
              <a:rPr lang="en-US" i="1" dirty="0">
                <a:solidFill>
                  <a:srgbClr val="000000"/>
                </a:solidFill>
                <a:latin typeface="Arial" pitchFamily="34" charset="0"/>
                <a:ea typeface="Arial" pitchFamily="34" charset="-122"/>
                <a:cs typeface="Arial" pitchFamily="34" charset="-120"/>
              </a:rPr>
              <a:t>“the firstborn among many brothers and sisters” </a:t>
            </a:r>
          </a:p>
          <a:p>
            <a:pPr marL="0" indent="0" algn="l">
              <a:buNone/>
            </a:pPr>
            <a:r>
              <a:rPr lang="en-US" dirty="0">
                <a:solidFill>
                  <a:srgbClr val="000000"/>
                </a:solidFill>
                <a:latin typeface="Arial" pitchFamily="34" charset="0"/>
                <a:ea typeface="Arial" pitchFamily="34" charset="-122"/>
                <a:cs typeface="Arial" pitchFamily="34" charset="-120"/>
              </a:rPr>
              <a:t>(Rom 8:29). </a:t>
            </a:r>
          </a:p>
          <a:p>
            <a:pPr marL="0" indent="0" algn="l">
              <a:buNone/>
            </a:pPr>
            <a:endParaRPr lang="en-US" dirty="0">
              <a:solidFill>
                <a:srgbClr val="000000"/>
              </a:solidFill>
              <a:latin typeface="Arial" pitchFamily="34" charset="0"/>
              <a:ea typeface="Arial" pitchFamily="34" charset="-122"/>
              <a:cs typeface="Arial" pitchFamily="34" charset="-120"/>
            </a:endParaRPr>
          </a:p>
          <a:p>
            <a:pPr marL="0" indent="0" algn="l">
              <a:buNone/>
            </a:pPr>
            <a:r>
              <a:rPr lang="en-US" dirty="0">
                <a:solidFill>
                  <a:srgbClr val="000000"/>
                </a:solidFill>
                <a:latin typeface="Arial" pitchFamily="34" charset="0"/>
                <a:ea typeface="Arial" pitchFamily="34" charset="-122"/>
                <a:cs typeface="Arial" pitchFamily="34" charset="-120"/>
              </a:rPr>
              <a:t>Anything less </a:t>
            </a:r>
            <a:r>
              <a:rPr lang="en-US" dirty="0">
                <a:solidFill>
                  <a:srgbClr val="000000"/>
                </a:solidFill>
                <a:latin typeface="Arial" pitchFamily="34" charset="0"/>
                <a:ea typeface="Arial" pitchFamily="34" charset="-122"/>
                <a:cs typeface="Arial" pitchFamily="34" charset="-120"/>
                <a:sym typeface="Wingdings" pitchFamily="2" charset="2"/>
              </a:rPr>
              <a:t> </a:t>
            </a:r>
            <a:r>
              <a:rPr lang="en-US" dirty="0">
                <a:solidFill>
                  <a:srgbClr val="000000"/>
                </a:solidFill>
                <a:latin typeface="Arial" pitchFamily="34" charset="0"/>
                <a:ea typeface="Arial" pitchFamily="34" charset="-122"/>
                <a:cs typeface="Arial" pitchFamily="34" charset="-120"/>
              </a:rPr>
              <a:t>respect, agreement, admiration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falls short of what the Good is for.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1000"/>
                                        <p:tgtEl>
                                          <p:spTgt spid="12"/>
                                        </p:tgtEl>
                                      </p:cBhvr>
                                    </p:animEffect>
                                    <p:anim calcmode="lin" valueType="num">
                                      <p:cBhvr>
                                        <p:cTn id="4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Revealing Pattern of Sacrifice and Obedience </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cs typeface="Arial" pitchFamily="34" charset="-120"/>
              </a:rPr>
              <a:t>Jesus </a:t>
            </a:r>
            <a:r>
              <a:rPr lang="en-US" sz="2000" b="1" dirty="0">
                <a:solidFill>
                  <a:srgbClr val="4F81BD"/>
                </a:solidFill>
                <a:latin typeface="Arial" pitchFamily="34" charset="0"/>
                <a:cs typeface="Arial" pitchFamily="34" charset="-120"/>
                <a:sym typeface="Wingdings" pitchFamily="2" charset="2"/>
              </a:rPr>
              <a:t></a:t>
            </a:r>
            <a:r>
              <a:rPr lang="en-US" sz="2000" b="1" dirty="0">
                <a:solidFill>
                  <a:srgbClr val="4F81BD"/>
                </a:solidFill>
                <a:latin typeface="Arial" pitchFamily="34" charset="0"/>
                <a:cs typeface="Arial" pitchFamily="34" charset="-120"/>
              </a:rPr>
              <a:t> Perfect Alignment with God’s Will and Purpose (The Good)</a:t>
            </a:r>
            <a:endParaRPr lang="en-US" sz="2000" dirty="0"/>
          </a:p>
        </p:txBody>
      </p:sp>
      <p:sp>
        <p:nvSpPr>
          <p:cNvPr id="4" name="h1"/>
          <p:cNvSpPr txBox="1"/>
          <p:nvPr/>
        </p:nvSpPr>
        <p:spPr>
          <a:xfrm>
            <a:off x="320040" y="1037844"/>
            <a:ext cx="8503920" cy="1051560"/>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“Sacrifice and offering you did not desire, but a body you prepared for me… Then I said, ‘Here I am; I have come </a:t>
            </a:r>
            <a:r>
              <a:rPr lang="en-US" sz="2000" b="1" i="1" dirty="0">
                <a:solidFill>
                  <a:srgbClr val="000000"/>
                </a:solidFill>
                <a:latin typeface="Arial" pitchFamily="34" charset="0"/>
                <a:ea typeface="Arial" pitchFamily="34" charset="-122"/>
                <a:cs typeface="Arial" pitchFamily="34" charset="-120"/>
                <a:sym typeface="Wingdings" pitchFamily="2" charset="2"/>
              </a:rPr>
              <a:t></a:t>
            </a:r>
            <a:r>
              <a:rPr lang="en-US" sz="2000" b="1" i="1" dirty="0">
                <a:solidFill>
                  <a:srgbClr val="000000"/>
                </a:solidFill>
                <a:latin typeface="Arial" pitchFamily="34" charset="0"/>
                <a:ea typeface="Arial" pitchFamily="34" charset="-122"/>
                <a:cs typeface="Arial" pitchFamily="34" charset="-120"/>
              </a:rPr>
              <a:t> it is written of me in the scroll of the book </a:t>
            </a:r>
            <a:r>
              <a:rPr lang="en-US" sz="2000" b="1" i="1" dirty="0">
                <a:solidFill>
                  <a:srgbClr val="000000"/>
                </a:solidFill>
                <a:latin typeface="Arial" pitchFamily="34" charset="0"/>
                <a:ea typeface="Arial" pitchFamily="34" charset="-122"/>
                <a:cs typeface="Arial" pitchFamily="34" charset="-120"/>
                <a:sym typeface="Wingdings" pitchFamily="2" charset="2"/>
              </a:rPr>
              <a:t></a:t>
            </a:r>
            <a:r>
              <a:rPr lang="en-US" sz="2000" b="1" i="1" dirty="0">
                <a:solidFill>
                  <a:srgbClr val="000000"/>
                </a:solidFill>
                <a:latin typeface="Arial" pitchFamily="34" charset="0"/>
                <a:ea typeface="Arial" pitchFamily="34" charset="-122"/>
                <a:cs typeface="Arial" pitchFamily="34" charset="-120"/>
              </a:rPr>
              <a:t> </a:t>
            </a:r>
            <a:r>
              <a:rPr lang="en-US" sz="2000" b="1" i="1" u="sng" dirty="0">
                <a:solidFill>
                  <a:srgbClr val="000000"/>
                </a:solidFill>
                <a:latin typeface="Arial" pitchFamily="34" charset="0"/>
                <a:ea typeface="Arial" pitchFamily="34" charset="-122"/>
                <a:cs typeface="Arial" pitchFamily="34" charset="-120"/>
              </a:rPr>
              <a:t>to do your will</a:t>
            </a:r>
            <a:r>
              <a:rPr lang="en-US" sz="2000" b="1" i="1" dirty="0">
                <a:solidFill>
                  <a:srgbClr val="000000"/>
                </a:solidFill>
                <a:latin typeface="Arial" pitchFamily="34" charset="0"/>
                <a:ea typeface="Arial" pitchFamily="34" charset="-122"/>
                <a:cs typeface="Arial" pitchFamily="34" charset="-120"/>
              </a:rPr>
              <a:t>, O God.’” </a:t>
            </a:r>
            <a:r>
              <a:rPr lang="en-US" sz="2000" b="1" dirty="0">
                <a:solidFill>
                  <a:srgbClr val="000000"/>
                </a:solidFill>
                <a:latin typeface="Arial" pitchFamily="34" charset="0"/>
                <a:ea typeface="Arial" pitchFamily="34" charset="-122"/>
                <a:cs typeface="Arial" pitchFamily="34" charset="-120"/>
              </a:rPr>
              <a:t>(Hebrews 10:5, 7)</a:t>
            </a:r>
            <a:endParaRPr lang="en-US" sz="2000" dirty="0"/>
          </a:p>
        </p:txBody>
      </p:sp>
      <p:sp>
        <p:nvSpPr>
          <p:cNvPr id="5" name="h2r0"/>
          <p:cNvSpPr/>
          <p:nvPr/>
        </p:nvSpPr>
        <p:spPr>
          <a:xfrm>
            <a:off x="556952" y="4414013"/>
            <a:ext cx="4937760" cy="603504"/>
          </a:xfrm>
          <a:prstGeom prst="roundRect">
            <a:avLst>
              <a:gd name="adj" fmla="val 9091"/>
            </a:avLst>
          </a:prstGeom>
          <a:solidFill>
            <a:schemeClr val="accent1">
              <a:lumMod val="50000"/>
            </a:schemeClr>
          </a:solidFill>
          <a:ln w="12700">
            <a:solidFill>
              <a:srgbClr val="8A6D12"/>
            </a:solidFill>
            <a:prstDash val="solid"/>
          </a:ln>
        </p:spPr>
        <p:txBody>
          <a:bodyPr/>
          <a:lstStyle/>
          <a:p>
            <a:endParaRPr lang="en-US"/>
          </a:p>
        </p:txBody>
      </p:sp>
      <p:sp>
        <p:nvSpPr>
          <p:cNvPr id="6" name="h2t0"/>
          <p:cNvSpPr txBox="1"/>
          <p:nvPr/>
        </p:nvSpPr>
        <p:spPr>
          <a:xfrm>
            <a:off x="739832" y="4505453"/>
            <a:ext cx="4663440" cy="457200"/>
          </a:xfrm>
          <a:prstGeom prst="rect">
            <a:avLst/>
          </a:prstGeom>
          <a:noFill/>
          <a:ln/>
        </p:spPr>
        <p:txBody>
          <a:bodyPr wrap="square" lIns="0" tIns="0" rIns="0" bIns="0" rtlCol="0" anchor="ctr"/>
          <a:lstStyle/>
          <a:p>
            <a:pPr marL="0" indent="0" algn="l">
              <a:buNone/>
            </a:pPr>
            <a:r>
              <a:rPr lang="en-US" sz="1600" b="1" i="1" u="sng" dirty="0">
                <a:solidFill>
                  <a:srgbClr val="FFFFFF"/>
                </a:solidFill>
                <a:latin typeface="Arial" pitchFamily="34" charset="0"/>
                <a:ea typeface="Arial" pitchFamily="34" charset="-122"/>
                <a:cs typeface="Arial" pitchFamily="34" charset="-120"/>
              </a:rPr>
              <a:t>Religion</a:t>
            </a:r>
            <a:r>
              <a:rPr lang="en-US" sz="1600" b="1" dirty="0">
                <a:solidFill>
                  <a:srgbClr val="FFFFFF"/>
                </a:solidFill>
                <a:latin typeface="Arial" pitchFamily="34" charset="0"/>
                <a:ea typeface="Arial" pitchFamily="34" charset="-122"/>
                <a:cs typeface="Arial" pitchFamily="34" charset="-120"/>
              </a:rPr>
              <a:t> : perfect form</a:t>
            </a:r>
            <a:endParaRPr lang="en-US" sz="1600" dirty="0"/>
          </a:p>
        </p:txBody>
      </p:sp>
      <p:sp>
        <p:nvSpPr>
          <p:cNvPr id="7" name="h2r1"/>
          <p:cNvSpPr/>
          <p:nvPr/>
        </p:nvSpPr>
        <p:spPr>
          <a:xfrm>
            <a:off x="556952" y="3700781"/>
            <a:ext cx="4937760" cy="603504"/>
          </a:xfrm>
          <a:prstGeom prst="roundRect">
            <a:avLst>
              <a:gd name="adj" fmla="val 9091"/>
            </a:avLst>
          </a:prstGeom>
          <a:solidFill>
            <a:schemeClr val="accent1">
              <a:lumMod val="50000"/>
              <a:alpha val="96000"/>
            </a:schemeClr>
          </a:solidFill>
          <a:ln w="12700">
            <a:solidFill>
              <a:srgbClr val="8A6D12"/>
            </a:solidFill>
            <a:prstDash val="solid"/>
          </a:ln>
        </p:spPr>
        <p:txBody>
          <a:bodyPr/>
          <a:lstStyle/>
          <a:p>
            <a:endParaRPr lang="en-US"/>
          </a:p>
        </p:txBody>
      </p:sp>
      <p:sp>
        <p:nvSpPr>
          <p:cNvPr id="8" name="h2t1"/>
          <p:cNvSpPr txBox="1"/>
          <p:nvPr/>
        </p:nvSpPr>
        <p:spPr>
          <a:xfrm>
            <a:off x="739832" y="3792221"/>
            <a:ext cx="4663440" cy="457200"/>
          </a:xfrm>
          <a:prstGeom prst="rect">
            <a:avLst/>
          </a:prstGeom>
          <a:noFill/>
          <a:ln/>
        </p:spPr>
        <p:txBody>
          <a:bodyPr wrap="square" lIns="0" tIns="0" rIns="0" bIns="0" rtlCol="0" anchor="ctr"/>
          <a:lstStyle/>
          <a:p>
            <a:pPr marL="0" indent="0" algn="l">
              <a:buNone/>
            </a:pPr>
            <a:r>
              <a:rPr lang="en-US" sz="1600" b="1" i="1" u="sng" dirty="0">
                <a:solidFill>
                  <a:srgbClr val="FFFFFF"/>
                </a:solidFill>
                <a:latin typeface="Arial" pitchFamily="34" charset="0"/>
                <a:ea typeface="Arial" pitchFamily="34" charset="-122"/>
                <a:cs typeface="Arial" pitchFamily="34" charset="-120"/>
              </a:rPr>
              <a:t>Worship</a:t>
            </a:r>
            <a:r>
              <a:rPr lang="en-US" sz="1600" b="1" dirty="0">
                <a:solidFill>
                  <a:srgbClr val="FFFFFF"/>
                </a:solidFill>
                <a:latin typeface="Arial" pitchFamily="34" charset="0"/>
                <a:ea typeface="Arial" pitchFamily="34" charset="-122"/>
                <a:cs typeface="Arial" pitchFamily="34" charset="-120"/>
              </a:rPr>
              <a:t> : perfect heart</a:t>
            </a:r>
            <a:endParaRPr lang="en-US" sz="1600" dirty="0"/>
          </a:p>
        </p:txBody>
      </p:sp>
      <p:sp>
        <p:nvSpPr>
          <p:cNvPr id="9" name="h2r2"/>
          <p:cNvSpPr/>
          <p:nvPr/>
        </p:nvSpPr>
        <p:spPr>
          <a:xfrm>
            <a:off x="556952" y="2987549"/>
            <a:ext cx="4937760" cy="603504"/>
          </a:xfrm>
          <a:prstGeom prst="roundRect">
            <a:avLst>
              <a:gd name="adj" fmla="val 9091"/>
            </a:avLst>
          </a:prstGeom>
          <a:solidFill>
            <a:schemeClr val="accent1">
              <a:lumMod val="50000"/>
              <a:alpha val="92000"/>
            </a:schemeClr>
          </a:solidFill>
          <a:ln w="12700">
            <a:solidFill>
              <a:srgbClr val="8A6D12"/>
            </a:solidFill>
            <a:prstDash val="solid"/>
          </a:ln>
        </p:spPr>
        <p:txBody>
          <a:bodyPr/>
          <a:lstStyle/>
          <a:p>
            <a:endParaRPr lang="en-US"/>
          </a:p>
        </p:txBody>
      </p:sp>
      <p:sp>
        <p:nvSpPr>
          <p:cNvPr id="10" name="h2t2"/>
          <p:cNvSpPr txBox="1"/>
          <p:nvPr/>
        </p:nvSpPr>
        <p:spPr>
          <a:xfrm>
            <a:off x="739832" y="3078989"/>
            <a:ext cx="4663440" cy="457200"/>
          </a:xfrm>
          <a:prstGeom prst="rect">
            <a:avLst/>
          </a:prstGeom>
          <a:noFill/>
          <a:ln/>
        </p:spPr>
        <p:txBody>
          <a:bodyPr wrap="square" lIns="0" tIns="0" rIns="0" bIns="0" rtlCol="0" anchor="ctr"/>
          <a:lstStyle/>
          <a:p>
            <a:pPr marL="0" indent="0" algn="l">
              <a:buNone/>
            </a:pPr>
            <a:r>
              <a:rPr lang="en-US" sz="1600" b="1" i="1" u="sng" dirty="0">
                <a:solidFill>
                  <a:srgbClr val="FFFFFF"/>
                </a:solidFill>
                <a:latin typeface="Arial" pitchFamily="34" charset="0"/>
                <a:ea typeface="Arial" pitchFamily="34" charset="-122"/>
                <a:cs typeface="Arial" pitchFamily="34" charset="-120"/>
              </a:rPr>
              <a:t>Sacrifice</a:t>
            </a:r>
            <a:r>
              <a:rPr lang="en-US" sz="1600" b="1" dirty="0">
                <a:solidFill>
                  <a:srgbClr val="FFFFFF"/>
                </a:solidFill>
                <a:latin typeface="Arial" pitchFamily="34" charset="0"/>
                <a:ea typeface="Arial" pitchFamily="34" charset="-122"/>
                <a:cs typeface="Arial" pitchFamily="34" charset="-120"/>
              </a:rPr>
              <a:t> : the full cost, a body, nothing kept back</a:t>
            </a:r>
            <a:endParaRPr lang="en-US" sz="1600" dirty="0"/>
          </a:p>
        </p:txBody>
      </p:sp>
      <p:sp>
        <p:nvSpPr>
          <p:cNvPr id="11" name="h2r3"/>
          <p:cNvSpPr/>
          <p:nvPr/>
        </p:nvSpPr>
        <p:spPr>
          <a:xfrm>
            <a:off x="556952" y="2274317"/>
            <a:ext cx="4937760" cy="603504"/>
          </a:xfrm>
          <a:prstGeom prst="roundRect">
            <a:avLst>
              <a:gd name="adj" fmla="val 9091"/>
            </a:avLst>
          </a:prstGeom>
          <a:solidFill>
            <a:schemeClr val="accent1">
              <a:lumMod val="50000"/>
              <a:alpha val="88000"/>
            </a:schemeClr>
          </a:solidFill>
          <a:ln w="12700">
            <a:solidFill>
              <a:srgbClr val="8A6D12"/>
            </a:solidFill>
            <a:prstDash val="solid"/>
          </a:ln>
        </p:spPr>
        <p:txBody>
          <a:bodyPr/>
          <a:lstStyle/>
          <a:p>
            <a:endParaRPr lang="en-US"/>
          </a:p>
        </p:txBody>
      </p:sp>
      <p:sp>
        <p:nvSpPr>
          <p:cNvPr id="12" name="h2t3"/>
          <p:cNvSpPr txBox="1"/>
          <p:nvPr/>
        </p:nvSpPr>
        <p:spPr>
          <a:xfrm>
            <a:off x="739832" y="2365757"/>
            <a:ext cx="4663440" cy="457200"/>
          </a:xfrm>
          <a:prstGeom prst="rect">
            <a:avLst/>
          </a:prstGeom>
          <a:noFill/>
          <a:ln/>
        </p:spPr>
        <p:txBody>
          <a:bodyPr wrap="square" lIns="0" tIns="0" rIns="0" bIns="0" rtlCol="0" anchor="ctr"/>
          <a:lstStyle/>
          <a:p>
            <a:pPr marL="0" indent="0" algn="l">
              <a:buNone/>
            </a:pPr>
            <a:r>
              <a:rPr lang="en-US" sz="1600" b="1" i="1" u="sng" dirty="0">
                <a:solidFill>
                  <a:srgbClr val="FFFFFF"/>
                </a:solidFill>
                <a:latin typeface="Arial" pitchFamily="34" charset="0"/>
                <a:ea typeface="Arial" pitchFamily="34" charset="-122"/>
                <a:cs typeface="Arial" pitchFamily="34" charset="-120"/>
              </a:rPr>
              <a:t>Obedience of Faith</a:t>
            </a:r>
            <a:r>
              <a:rPr lang="en-US" sz="1600" b="1" i="1" dirty="0">
                <a:solidFill>
                  <a:srgbClr val="FFFFFF"/>
                </a:solidFill>
                <a:latin typeface="Arial" pitchFamily="34" charset="0"/>
                <a:ea typeface="Arial" pitchFamily="34" charset="-122"/>
                <a:cs typeface="Arial" pitchFamily="34" charset="-120"/>
              </a:rPr>
              <a:t> </a:t>
            </a:r>
            <a:r>
              <a:rPr lang="en-US" sz="1600" b="1" dirty="0">
                <a:solidFill>
                  <a:srgbClr val="FFFFFF"/>
                </a:solidFill>
                <a:latin typeface="Arial" pitchFamily="34" charset="0"/>
                <a:ea typeface="Arial" pitchFamily="34" charset="-122"/>
                <a:cs typeface="Arial" pitchFamily="34" charset="-120"/>
              </a:rPr>
              <a:t>: “I have come to do your will”</a:t>
            </a:r>
            <a:endParaRPr lang="en-US" sz="1600" dirty="0"/>
          </a:p>
        </p:txBody>
      </p:sp>
      <p:sp>
        <p:nvSpPr>
          <p:cNvPr id="13" name="h3"/>
          <p:cNvSpPr txBox="1"/>
          <p:nvPr/>
        </p:nvSpPr>
        <p:spPr>
          <a:xfrm>
            <a:off x="5723312" y="2240280"/>
            <a:ext cx="3017520" cy="2921001"/>
          </a:xfrm>
          <a:prstGeom prst="rect">
            <a:avLst/>
          </a:prstGeom>
          <a:noFill/>
          <a:ln/>
        </p:spPr>
        <p:txBody>
          <a:bodyPr wrap="square" lIns="0" tIns="0" rIns="0" bIns="0" rtlCol="0" anchor="t"/>
          <a:lstStyle/>
          <a:p>
            <a:pPr marL="0" indent="0" algn="l">
              <a:buNone/>
            </a:pPr>
            <a:r>
              <a:rPr lang="en-US" sz="1700" b="1" dirty="0">
                <a:solidFill>
                  <a:srgbClr val="1F497D"/>
                </a:solidFill>
                <a:latin typeface="Arial" pitchFamily="34" charset="0"/>
                <a:ea typeface="Arial" pitchFamily="34" charset="-122"/>
                <a:cs typeface="Arial" pitchFamily="34" charset="-120"/>
              </a:rPr>
              <a:t>Aligned once by Jesus Himself, completely, in Him.
</a:t>
            </a:r>
            <a:r>
              <a:rPr lang="en-US" b="1" i="1" dirty="0">
                <a:solidFill>
                  <a:srgbClr val="000000"/>
                </a:solidFill>
                <a:latin typeface="Arial" pitchFamily="34" charset="0"/>
                <a:ea typeface="Arial" pitchFamily="34" charset="-122"/>
                <a:cs typeface="Arial" pitchFamily="34" charset="-120"/>
              </a:rPr>
              <a:t>“By that </a:t>
            </a:r>
            <a:r>
              <a:rPr lang="en-US" b="1" i="1" u="sng" dirty="0">
                <a:solidFill>
                  <a:srgbClr val="000000"/>
                </a:solidFill>
                <a:latin typeface="Arial" pitchFamily="34" charset="0"/>
                <a:ea typeface="Arial" pitchFamily="34" charset="-122"/>
                <a:cs typeface="Arial" pitchFamily="34" charset="-120"/>
              </a:rPr>
              <a:t>will</a:t>
            </a:r>
            <a:r>
              <a:rPr lang="en-US" b="1" i="1" dirty="0">
                <a:solidFill>
                  <a:srgbClr val="000000"/>
                </a:solidFill>
                <a:latin typeface="Arial" pitchFamily="34" charset="0"/>
                <a:ea typeface="Arial" pitchFamily="34" charset="-122"/>
                <a:cs typeface="Arial" pitchFamily="34" charset="-120"/>
              </a:rPr>
              <a:t> we have been made holy </a:t>
            </a:r>
            <a:r>
              <a:rPr lang="en-US" b="1" i="1" dirty="0">
                <a:solidFill>
                  <a:srgbClr val="000000"/>
                </a:solidFill>
                <a:latin typeface="Arial" pitchFamily="34" charset="0"/>
                <a:ea typeface="Arial" pitchFamily="34" charset="-122"/>
                <a:cs typeface="Arial" pitchFamily="34" charset="-120"/>
                <a:sym typeface="Wingdings" pitchFamily="2" charset="2"/>
              </a:rPr>
              <a:t> </a:t>
            </a:r>
            <a:r>
              <a:rPr lang="en-US" b="1" i="1" dirty="0">
                <a:solidFill>
                  <a:srgbClr val="000000"/>
                </a:solidFill>
                <a:latin typeface="Arial" pitchFamily="34" charset="0"/>
                <a:ea typeface="Arial" pitchFamily="34" charset="-122"/>
                <a:cs typeface="Arial" pitchFamily="34" charset="-120"/>
              </a:rPr>
              <a:t>once for all.” (Heb 10:10)</a:t>
            </a:r>
            <a:r>
              <a:rPr lang="en-US" sz="1400" b="1" i="1" dirty="0">
                <a:solidFill>
                  <a:srgbClr val="000000"/>
                </a:solidFill>
                <a:latin typeface="Arial" pitchFamily="34" charset="0"/>
                <a:ea typeface="Arial" pitchFamily="34" charset="-122"/>
                <a:cs typeface="Arial" pitchFamily="34" charset="-120"/>
              </a:rPr>
              <a:t>
</a:t>
            </a:r>
            <a:r>
              <a:rPr lang="en-US" sz="1600" dirty="0">
                <a:solidFill>
                  <a:srgbClr val="000000"/>
                </a:solidFill>
                <a:latin typeface="Arial" pitchFamily="34" charset="0"/>
                <a:ea typeface="Arial" pitchFamily="34" charset="-122"/>
                <a:cs typeface="Arial" pitchFamily="34" charset="-120"/>
              </a:rPr>
              <a:t>He completed the stack before He asked you to climb it. </a:t>
            </a:r>
            <a:r>
              <a:rPr lang="en-US" sz="1600" b="1" dirty="0">
                <a:solidFill>
                  <a:srgbClr val="000000"/>
                </a:solidFill>
                <a:latin typeface="Arial" pitchFamily="34" charset="0"/>
                <a:ea typeface="Arial" pitchFamily="34" charset="-122"/>
                <a:cs typeface="Arial" pitchFamily="34" charset="-120"/>
              </a:rPr>
              <a:t>Yours is a thank offering, not a payment.  (Rom 12:1-2)</a:t>
            </a:r>
          </a:p>
          <a:p>
            <a:pPr marL="0" indent="0" algn="l">
              <a:buNone/>
            </a:pPr>
            <a:endParaRPr lang="en-US" sz="1600" dirty="0"/>
          </a:p>
        </p:txBody>
      </p:sp>
      <p:sp>
        <p:nvSpPr>
          <p:cNvPr id="14" name="TextBox 13">
            <a:extLst>
              <a:ext uri="{FF2B5EF4-FFF2-40B4-BE49-F238E27FC236}">
                <a16:creationId xmlns:a16="http://schemas.microsoft.com/office/drawing/2014/main" id="{AE17B78B-FCF1-7C7E-88DE-BA7925950EB7}"/>
              </a:ext>
            </a:extLst>
          </p:cNvPr>
          <p:cNvSpPr txBox="1"/>
          <p:nvPr/>
        </p:nvSpPr>
        <p:spPr>
          <a:xfrm>
            <a:off x="320040" y="5252721"/>
            <a:ext cx="8325196" cy="1477328"/>
          </a:xfrm>
          <a:prstGeom prst="rect">
            <a:avLst/>
          </a:prstGeom>
          <a:noFill/>
        </p:spPr>
        <p:txBody>
          <a:bodyPr wrap="square" rtlCol="0">
            <a:spAutoFit/>
          </a:bodyPr>
          <a:lstStyle/>
          <a:p>
            <a:r>
              <a:rPr lang="en-US" i="1" dirty="0"/>
              <a:t>“I beseech you therefore, brethren, by the mercies of God, that you present your </a:t>
            </a:r>
          </a:p>
          <a:p>
            <a:r>
              <a:rPr lang="en-US" i="1" dirty="0"/>
              <a:t>bodies a living sacrifice, holy, acceptable to God, which is your reasonable service. </a:t>
            </a:r>
          </a:p>
          <a:p>
            <a:r>
              <a:rPr lang="en-US" i="1" dirty="0"/>
              <a:t>And do not be conformed to this world, but be transformed by the renewing of your </a:t>
            </a:r>
          </a:p>
          <a:p>
            <a:r>
              <a:rPr lang="en-US" i="1" dirty="0"/>
              <a:t>mind, </a:t>
            </a:r>
            <a:r>
              <a:rPr lang="en-US" i="1" u="sng" dirty="0"/>
              <a:t>that you may prove what is that good and acceptable and perfect </a:t>
            </a:r>
            <a:r>
              <a:rPr lang="en-US" b="1" i="1" u="sng" dirty="0"/>
              <a:t>will of God</a:t>
            </a:r>
            <a:r>
              <a:rPr lang="en-US" i="1" dirty="0"/>
              <a:t>.”</a:t>
            </a:r>
            <a:r>
              <a:rPr lang="en-US" dirty="0"/>
              <a:t> </a:t>
            </a:r>
          </a:p>
          <a:p>
            <a:r>
              <a:rPr lang="en-US" dirty="0"/>
              <a:t>(</a:t>
            </a:r>
            <a:r>
              <a:rPr lang="en-US" b="1" dirty="0"/>
              <a:t>Romans 12:1-2</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Failures of Perception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b="1" dirty="0">
                <a:solidFill>
                  <a:srgbClr val="4F81BD"/>
                </a:solidFill>
                <a:latin typeface="Arial" pitchFamily="34" charset="0"/>
                <a:ea typeface="Arial" pitchFamily="34" charset="-122"/>
                <a:cs typeface="Arial" pitchFamily="34" charset="-120"/>
              </a:rPr>
              <a:t>Malachi’s priests - Saul - Uzzah </a:t>
            </a:r>
            <a:r>
              <a:rPr lang="en-US" b="1" dirty="0">
                <a:solidFill>
                  <a:srgbClr val="4F81BD"/>
                </a:solidFill>
                <a:latin typeface="Arial" pitchFamily="34" charset="0"/>
                <a:ea typeface="Arial" pitchFamily="34" charset="-122"/>
                <a:cs typeface="Arial" pitchFamily="34" charset="-120"/>
                <a:sym typeface="Wingdings" pitchFamily="2" charset="2"/>
              </a:rPr>
              <a:t></a:t>
            </a:r>
            <a:r>
              <a:rPr lang="en-US" b="1" dirty="0">
                <a:solidFill>
                  <a:srgbClr val="4F81BD"/>
                </a:solidFill>
                <a:latin typeface="Arial" pitchFamily="34" charset="0"/>
                <a:ea typeface="Arial" pitchFamily="34" charset="-122"/>
                <a:cs typeface="Arial" pitchFamily="34" charset="-120"/>
              </a:rPr>
              <a:t> they could not see it…</a:t>
            </a:r>
            <a:endParaRPr lang="en-US" sz="2400" dirty="0"/>
          </a:p>
        </p:txBody>
      </p:sp>
      <p:pic>
        <p:nvPicPr>
          <p:cNvPr id="4" name="c1i" descr="malachi.png"/>
          <p:cNvPicPr>
            <a:picLocks noChangeAspect="1"/>
          </p:cNvPicPr>
          <p:nvPr/>
        </p:nvPicPr>
        <p:blipFill>
          <a:blip r:embed="rId3"/>
          <a:stretch>
            <a:fillRect/>
          </a:stretch>
        </p:blipFill>
        <p:spPr>
          <a:xfrm>
            <a:off x="228600" y="1051560"/>
            <a:ext cx="2743200" cy="1271016"/>
          </a:xfrm>
          <a:prstGeom prst="rect">
            <a:avLst/>
          </a:prstGeom>
        </p:spPr>
      </p:pic>
      <p:sp>
        <p:nvSpPr>
          <p:cNvPr id="5" name="c1t"/>
          <p:cNvSpPr txBox="1"/>
          <p:nvPr/>
        </p:nvSpPr>
        <p:spPr>
          <a:xfrm>
            <a:off x="228600" y="2377440"/>
            <a:ext cx="2743200" cy="1417320"/>
          </a:xfrm>
          <a:prstGeom prst="rect">
            <a:avLst/>
          </a:prstGeom>
          <a:noFill/>
          <a:ln/>
        </p:spPr>
        <p:txBody>
          <a:bodyPr wrap="square" lIns="0" tIns="0" rIns="0" bIns="0" rtlCol="0" anchor="t"/>
          <a:lstStyle/>
          <a:p>
            <a:pPr marL="0" indent="0" algn="l">
              <a:buNone/>
            </a:pPr>
            <a:r>
              <a:rPr lang="en-US" sz="1600" b="1" dirty="0">
                <a:solidFill>
                  <a:srgbClr val="1F497D"/>
                </a:solidFill>
                <a:latin typeface="Arial" pitchFamily="34" charset="0"/>
                <a:ea typeface="Arial" pitchFamily="34" charset="-122"/>
                <a:cs typeface="Arial" pitchFamily="34" charset="-120"/>
              </a:rPr>
              <a:t>MALACHI — </a:t>
            </a:r>
            <a:r>
              <a:rPr lang="en-US" sz="1600" dirty="0">
                <a:solidFill>
                  <a:srgbClr val="000000"/>
                </a:solidFill>
                <a:latin typeface="Arial" pitchFamily="34" charset="0"/>
                <a:ea typeface="Arial" pitchFamily="34" charset="-122"/>
                <a:cs typeface="Arial" pitchFamily="34" charset="-120"/>
              </a:rPr>
              <a:t>the best kept, the blemished offered.
</a:t>
            </a:r>
            <a:r>
              <a:rPr lang="en-US" sz="1600" b="1" i="1" dirty="0">
                <a:solidFill>
                  <a:srgbClr val="000000"/>
                </a:solidFill>
                <a:latin typeface="Arial" pitchFamily="34" charset="0"/>
                <a:ea typeface="Arial" pitchFamily="34" charset="-122"/>
                <a:cs typeface="Arial" pitchFamily="34" charset="-120"/>
              </a:rPr>
              <a:t>“You ask, ‘How have we offended you?’” </a:t>
            </a:r>
            <a:r>
              <a:rPr lang="en-US" sz="1400" b="1" dirty="0">
                <a:solidFill>
                  <a:srgbClr val="000000"/>
                </a:solidFill>
                <a:latin typeface="Arial" pitchFamily="34" charset="0"/>
                <a:ea typeface="Arial" pitchFamily="34" charset="-122"/>
                <a:cs typeface="Arial" pitchFamily="34" charset="-120"/>
              </a:rPr>
              <a:t>(Mal 1:7)</a:t>
            </a:r>
            <a:endParaRPr lang="en-US" sz="1600" dirty="0"/>
          </a:p>
        </p:txBody>
      </p:sp>
      <p:pic>
        <p:nvPicPr>
          <p:cNvPr id="6" name="c2i" descr="saul.png"/>
          <p:cNvPicPr>
            <a:picLocks noChangeAspect="1"/>
          </p:cNvPicPr>
          <p:nvPr/>
        </p:nvPicPr>
        <p:blipFill>
          <a:blip r:embed="rId4"/>
          <a:stretch>
            <a:fillRect/>
          </a:stretch>
        </p:blipFill>
        <p:spPr>
          <a:xfrm>
            <a:off x="3200400" y="1051560"/>
            <a:ext cx="2743200" cy="1271016"/>
          </a:xfrm>
          <a:prstGeom prst="rect">
            <a:avLst/>
          </a:prstGeom>
        </p:spPr>
      </p:pic>
      <p:sp>
        <p:nvSpPr>
          <p:cNvPr id="7" name="c2t"/>
          <p:cNvSpPr txBox="1"/>
          <p:nvPr/>
        </p:nvSpPr>
        <p:spPr>
          <a:xfrm>
            <a:off x="3200400" y="2377440"/>
            <a:ext cx="2743200" cy="1417320"/>
          </a:xfrm>
          <a:prstGeom prst="rect">
            <a:avLst/>
          </a:prstGeom>
          <a:noFill/>
          <a:ln/>
        </p:spPr>
        <p:txBody>
          <a:bodyPr wrap="square" lIns="0" tIns="0" rIns="0" bIns="0" rtlCol="0" anchor="t"/>
          <a:lstStyle/>
          <a:p>
            <a:pPr marL="0" indent="0" algn="l">
              <a:buNone/>
            </a:pPr>
            <a:r>
              <a:rPr lang="en-US" sz="1400" b="1" dirty="0">
                <a:solidFill>
                  <a:srgbClr val="1F497D"/>
                </a:solidFill>
                <a:latin typeface="Arial" pitchFamily="34" charset="0"/>
                <a:ea typeface="Arial" pitchFamily="34" charset="-122"/>
                <a:cs typeface="Arial" pitchFamily="34" charset="-120"/>
              </a:rPr>
              <a:t>SAUL — </a:t>
            </a:r>
            <a:r>
              <a:rPr lang="en-US" sz="1400" dirty="0">
                <a:solidFill>
                  <a:srgbClr val="000000"/>
                </a:solidFill>
                <a:latin typeface="Arial" pitchFamily="34" charset="0"/>
                <a:ea typeface="Arial" pitchFamily="34" charset="-122"/>
                <a:cs typeface="Arial" pitchFamily="34" charset="-120"/>
              </a:rPr>
              <a:t>kept the best of the flock; burned a sacrifice anyway.
</a:t>
            </a:r>
            <a:r>
              <a:rPr lang="en-US" sz="1400" b="1" i="1" dirty="0">
                <a:solidFill>
                  <a:srgbClr val="000000"/>
                </a:solidFill>
                <a:latin typeface="Arial" pitchFamily="34" charset="0"/>
                <a:ea typeface="Arial" pitchFamily="34" charset="-122"/>
                <a:cs typeface="Arial" pitchFamily="34" charset="-120"/>
              </a:rPr>
              <a:t>“I have done what the Lord said.” </a:t>
            </a:r>
          </a:p>
          <a:p>
            <a:pPr marL="0" indent="0" algn="l">
              <a:buNone/>
            </a:pPr>
            <a:r>
              <a:rPr lang="en-US" sz="1400" b="1" dirty="0">
                <a:solidFill>
                  <a:srgbClr val="000000"/>
                </a:solidFill>
                <a:latin typeface="Arial" pitchFamily="34" charset="0"/>
                <a:ea typeface="Arial" pitchFamily="34" charset="-122"/>
                <a:cs typeface="Arial" pitchFamily="34" charset="-120"/>
              </a:rPr>
              <a:t>(1 Sam 15:13)</a:t>
            </a:r>
            <a:endParaRPr lang="en-US" sz="1400" dirty="0"/>
          </a:p>
        </p:txBody>
      </p:sp>
      <p:pic>
        <p:nvPicPr>
          <p:cNvPr id="8" name="c3i" descr="uzzah.png"/>
          <p:cNvPicPr>
            <a:picLocks noChangeAspect="1"/>
          </p:cNvPicPr>
          <p:nvPr/>
        </p:nvPicPr>
        <p:blipFill>
          <a:blip r:embed="rId5"/>
          <a:stretch>
            <a:fillRect/>
          </a:stretch>
        </p:blipFill>
        <p:spPr>
          <a:xfrm>
            <a:off x="6172200" y="1051560"/>
            <a:ext cx="2743200" cy="1271016"/>
          </a:xfrm>
          <a:prstGeom prst="rect">
            <a:avLst/>
          </a:prstGeom>
        </p:spPr>
      </p:pic>
      <p:sp>
        <p:nvSpPr>
          <p:cNvPr id="9" name="c3t"/>
          <p:cNvSpPr txBox="1"/>
          <p:nvPr/>
        </p:nvSpPr>
        <p:spPr>
          <a:xfrm>
            <a:off x="6172200" y="2377440"/>
            <a:ext cx="2743200" cy="1417320"/>
          </a:xfrm>
          <a:prstGeom prst="rect">
            <a:avLst/>
          </a:prstGeom>
          <a:noFill/>
          <a:ln/>
        </p:spPr>
        <p:txBody>
          <a:bodyPr wrap="square" lIns="0" tIns="0" rIns="0" bIns="0" rtlCol="0" anchor="t"/>
          <a:lstStyle/>
          <a:p>
            <a:pPr marL="0" indent="0" algn="l">
              <a:buNone/>
            </a:pPr>
            <a:r>
              <a:rPr lang="en-US" sz="1400" b="1" dirty="0">
                <a:solidFill>
                  <a:srgbClr val="1F497D"/>
                </a:solidFill>
                <a:latin typeface="Arial" pitchFamily="34" charset="0"/>
                <a:ea typeface="Arial" pitchFamily="34" charset="-122"/>
                <a:cs typeface="Arial" pitchFamily="34" charset="-120"/>
              </a:rPr>
              <a:t>UZZAH — </a:t>
            </a:r>
            <a:r>
              <a:rPr lang="en-US" sz="1400" dirty="0">
                <a:solidFill>
                  <a:srgbClr val="000000"/>
                </a:solidFill>
                <a:latin typeface="Arial" pitchFamily="34" charset="0"/>
                <a:ea typeface="Arial" pitchFamily="34" charset="-122"/>
                <a:cs typeface="Arial" pitchFamily="34" charset="-120"/>
              </a:rPr>
              <a:t>a new cart; thirty thousand saw no problem.
</a:t>
            </a:r>
            <a:r>
              <a:rPr lang="en-US" sz="1400" b="1" i="1" dirty="0">
                <a:solidFill>
                  <a:srgbClr val="000000"/>
                </a:solidFill>
                <a:latin typeface="Arial" pitchFamily="34" charset="0"/>
                <a:ea typeface="Arial" pitchFamily="34" charset="-122"/>
                <a:cs typeface="Arial" pitchFamily="34" charset="-120"/>
              </a:rPr>
              <a:t>“We did not seek him according to the prescribed ordinance.” </a:t>
            </a:r>
          </a:p>
          <a:p>
            <a:pPr marL="0" indent="0" algn="l">
              <a:buNone/>
            </a:pPr>
            <a:r>
              <a:rPr lang="en-US" sz="1400" b="1" dirty="0">
                <a:solidFill>
                  <a:srgbClr val="000000"/>
                </a:solidFill>
                <a:latin typeface="Arial" pitchFamily="34" charset="0"/>
                <a:ea typeface="Arial" pitchFamily="34" charset="-122"/>
                <a:cs typeface="Arial" pitchFamily="34" charset="-120"/>
              </a:rPr>
              <a:t>(1 Chr 15:13)</a:t>
            </a:r>
            <a:endParaRPr lang="en-US" sz="1400" dirty="0"/>
          </a:p>
        </p:txBody>
      </p:sp>
      <p:sp>
        <p:nvSpPr>
          <p:cNvPr id="10" name="c4"/>
          <p:cNvSpPr txBox="1"/>
          <p:nvPr/>
        </p:nvSpPr>
        <p:spPr>
          <a:xfrm>
            <a:off x="365760" y="3739896"/>
            <a:ext cx="8412480" cy="1051560"/>
          </a:xfrm>
          <a:prstGeom prst="rect">
            <a:avLst/>
          </a:prstGeom>
          <a:noFill/>
          <a:ln/>
        </p:spPr>
        <p:txBody>
          <a:bodyPr wrap="square" lIns="0" tIns="0" rIns="0" bIns="0" rtlCol="0" anchor="t"/>
          <a:lstStyle/>
          <a:p>
            <a:pPr marL="0" indent="0" algn="l">
              <a:buNone/>
            </a:pPr>
            <a:r>
              <a:rPr lang="en-US" sz="1800" b="1" dirty="0">
                <a:solidFill>
                  <a:srgbClr val="1F497D"/>
                </a:solidFill>
                <a:latin typeface="Arial" pitchFamily="34" charset="0"/>
                <a:ea typeface="Arial" pitchFamily="34" charset="-122"/>
                <a:cs typeface="Arial" pitchFamily="34" charset="-120"/>
              </a:rPr>
              <a:t>Not mainly failures of willpower </a:t>
            </a:r>
            <a:r>
              <a:rPr lang="en-US" b="1" dirty="0">
                <a:solidFill>
                  <a:srgbClr val="1F497D"/>
                </a:solidFill>
                <a:latin typeface="Arial" pitchFamily="34" charset="0"/>
                <a:ea typeface="Arial" pitchFamily="34" charset="-122"/>
                <a:cs typeface="Arial" pitchFamily="34" charset="-120"/>
                <a:sym typeface="Wingdings" pitchFamily="2" charset="2"/>
              </a:rPr>
              <a:t></a:t>
            </a:r>
            <a:r>
              <a:rPr lang="en-US" sz="1800" b="1" dirty="0">
                <a:solidFill>
                  <a:srgbClr val="1F497D"/>
                </a:solidFill>
                <a:latin typeface="Arial" pitchFamily="34" charset="0"/>
                <a:ea typeface="Arial" pitchFamily="34" charset="-122"/>
                <a:cs typeface="Arial" pitchFamily="34" charset="-120"/>
              </a:rPr>
              <a:t> failures of perception.
</a:t>
            </a:r>
            <a:r>
              <a:rPr lang="en-US" dirty="0">
                <a:solidFill>
                  <a:srgbClr val="000000"/>
                </a:solidFill>
                <a:latin typeface="Arial" pitchFamily="34" charset="0"/>
                <a:ea typeface="Arial" pitchFamily="34" charset="-122"/>
                <a:cs typeface="Arial" pitchFamily="34" charset="-120"/>
              </a:rPr>
              <a:t>Men at layer one or three, sincerely certain they stood at layer four. An untrained perception can’t tell the layers apart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t>
            </a:r>
            <a:r>
              <a:rPr lang="en-US" b="1" u="sng" dirty="0">
                <a:solidFill>
                  <a:srgbClr val="000000"/>
                </a:solidFill>
                <a:latin typeface="Arial" pitchFamily="34" charset="0"/>
                <a:ea typeface="Arial" pitchFamily="34" charset="-122"/>
                <a:cs typeface="Arial" pitchFamily="34" charset="-120"/>
              </a:rPr>
              <a:t>and it can’t audit itself.</a:t>
            </a:r>
            <a:endParaRPr lang="en-US" dirty="0"/>
          </a:p>
        </p:txBody>
      </p:sp>
      <p:sp>
        <p:nvSpPr>
          <p:cNvPr id="11" name="c5"/>
          <p:cNvSpPr txBox="1"/>
          <p:nvPr/>
        </p:nvSpPr>
        <p:spPr>
          <a:xfrm>
            <a:off x="365760" y="4919472"/>
            <a:ext cx="8549640" cy="1234440"/>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“Solid food is for the mature, whose perceptions are trained by practice to discern both good and evil.” </a:t>
            </a:r>
            <a:r>
              <a:rPr lang="en-US" b="1" dirty="0">
                <a:solidFill>
                  <a:srgbClr val="000000"/>
                </a:solidFill>
                <a:latin typeface="Arial" pitchFamily="34" charset="0"/>
                <a:ea typeface="Arial" pitchFamily="34" charset="-122"/>
                <a:cs typeface="Arial" pitchFamily="34" charset="-120"/>
              </a:rPr>
              <a:t>(Hebrews 5:14)</a:t>
            </a:r>
            <a:endParaRPr lang="en-US" dirty="0"/>
          </a:p>
          <a:p>
            <a:pPr marL="0" indent="0" algn="l">
              <a:buNone/>
            </a:pPr>
            <a:endParaRPr lang="en-US" sz="1400" b="1" dirty="0">
              <a:solidFill>
                <a:srgbClr val="000000"/>
              </a:solidFill>
              <a:latin typeface="Arial" pitchFamily="34" charset="0"/>
              <a:ea typeface="Arial" pitchFamily="34" charset="-122"/>
              <a:cs typeface="Arial" pitchFamily="34" charset="-120"/>
            </a:endParaRPr>
          </a:p>
          <a:p>
            <a:pPr marL="0" indent="0" algn="l">
              <a:buNone/>
            </a:pPr>
            <a:r>
              <a:rPr lang="en-US" b="1" u="sng" dirty="0">
                <a:solidFill>
                  <a:srgbClr val="000000"/>
                </a:solidFill>
                <a:latin typeface="Arial" pitchFamily="34" charset="0"/>
                <a:ea typeface="Arial" pitchFamily="34" charset="-122"/>
                <a:cs typeface="Arial" pitchFamily="34" charset="-120"/>
              </a:rPr>
              <a:t>Discernment</a:t>
            </a:r>
            <a:r>
              <a:rPr lang="en-US" b="1" dirty="0">
                <a:solidFill>
                  <a:srgbClr val="000000"/>
                </a:solidFill>
                <a:latin typeface="Arial" pitchFamily="34" charset="0"/>
                <a:ea typeface="Arial" pitchFamily="34" charset="-122"/>
                <a:cs typeface="Arial" pitchFamily="34" charset="-120"/>
              </a:rPr>
              <a:t> = telling </a:t>
            </a:r>
            <a:r>
              <a:rPr lang="en-US" b="1" u="sng" dirty="0">
                <a:solidFill>
                  <a:srgbClr val="000000"/>
                </a:solidFill>
                <a:latin typeface="Arial" pitchFamily="34" charset="0"/>
                <a:ea typeface="Arial" pitchFamily="34" charset="-122"/>
                <a:cs typeface="Arial" pitchFamily="34" charset="-120"/>
              </a:rPr>
              <a:t>form</a:t>
            </a:r>
            <a:r>
              <a:rPr lang="en-US" b="1" dirty="0">
                <a:solidFill>
                  <a:srgbClr val="000000"/>
                </a:solidFill>
                <a:latin typeface="Arial" pitchFamily="34" charset="0"/>
                <a:ea typeface="Arial" pitchFamily="34" charset="-122"/>
                <a:cs typeface="Arial" pitchFamily="34" charset="-120"/>
              </a:rPr>
              <a:t> from </a:t>
            </a:r>
            <a:r>
              <a:rPr lang="en-US" b="1" u="sng" dirty="0">
                <a:solidFill>
                  <a:srgbClr val="000000"/>
                </a:solidFill>
                <a:latin typeface="Arial" pitchFamily="34" charset="0"/>
                <a:ea typeface="Arial" pitchFamily="34" charset="-122"/>
                <a:cs typeface="Arial" pitchFamily="34" charset="-120"/>
              </a:rPr>
              <a:t>disposition</a:t>
            </a:r>
            <a:r>
              <a:rPr lang="en-US" b="1" dirty="0">
                <a:solidFill>
                  <a:srgbClr val="000000"/>
                </a:solidFill>
                <a:latin typeface="Arial" pitchFamily="34" charset="0"/>
                <a:ea typeface="Arial" pitchFamily="34" charset="-122"/>
                <a:cs typeface="Arial" pitchFamily="34" charset="-120"/>
              </a:rPr>
              <a:t> from </a:t>
            </a:r>
            <a:r>
              <a:rPr lang="en-US" b="1" u="sng" dirty="0">
                <a:solidFill>
                  <a:srgbClr val="000000"/>
                </a:solidFill>
                <a:latin typeface="Arial" pitchFamily="34" charset="0"/>
                <a:ea typeface="Arial" pitchFamily="34" charset="-122"/>
                <a:cs typeface="Arial" pitchFamily="34" charset="-120"/>
              </a:rPr>
              <a:t>cost</a:t>
            </a:r>
            <a:r>
              <a:rPr lang="en-US" b="1" dirty="0">
                <a:solidFill>
                  <a:srgbClr val="000000"/>
                </a:solidFill>
                <a:latin typeface="Arial" pitchFamily="34" charset="0"/>
                <a:ea typeface="Arial" pitchFamily="34" charset="-122"/>
                <a:cs typeface="Arial" pitchFamily="34" charset="-120"/>
              </a:rPr>
              <a:t> from settled </a:t>
            </a:r>
            <a:r>
              <a:rPr lang="en-US" b="1" u="sng" dirty="0">
                <a:solidFill>
                  <a:srgbClr val="000000"/>
                </a:solidFill>
                <a:latin typeface="Arial" pitchFamily="34" charset="0"/>
                <a:ea typeface="Arial" pitchFamily="34" charset="-122"/>
                <a:cs typeface="Arial" pitchFamily="34" charset="-120"/>
              </a:rPr>
              <a:t>obedience</a:t>
            </a:r>
            <a:r>
              <a:rPr lang="en-US" b="1" dirty="0">
                <a:solidFill>
                  <a:srgbClr val="000000"/>
                </a:solidFill>
                <a:latin typeface="Arial" pitchFamily="34" charset="0"/>
                <a:ea typeface="Arial" pitchFamily="34" charset="-122"/>
                <a:cs typeface="Arial" pitchFamily="34" charset="-120"/>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45720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Problem: Devotion Is Invisible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Even to its owner</a:t>
            </a:r>
            <a:endParaRPr lang="en-US" sz="2000" dirty="0"/>
          </a:p>
        </p:txBody>
      </p:sp>
      <p:sp>
        <p:nvSpPr>
          <p:cNvPr id="4" name="q1"/>
          <p:cNvSpPr txBox="1"/>
          <p:nvPr/>
        </p:nvSpPr>
        <p:spPr>
          <a:xfrm>
            <a:off x="365760" y="1143000"/>
            <a:ext cx="8412480" cy="914400"/>
          </a:xfrm>
          <a:prstGeom prst="rect">
            <a:avLst/>
          </a:prstGeom>
          <a:noFill/>
          <a:ln/>
        </p:spPr>
        <p:txBody>
          <a:bodyPr wrap="square" lIns="0" tIns="0" rIns="0" bIns="0" rtlCol="0" anchor="t"/>
          <a:lstStyle/>
          <a:p>
            <a:pPr marL="0" indent="0" algn="l">
              <a:buNone/>
            </a:pPr>
            <a:r>
              <a:rPr lang="en-US" sz="2000" b="1" dirty="0">
                <a:solidFill>
                  <a:srgbClr val="000000"/>
                </a:solidFill>
                <a:latin typeface="Arial" pitchFamily="34" charset="0"/>
                <a:ea typeface="Arial" pitchFamily="34" charset="-122"/>
                <a:cs typeface="Arial" pitchFamily="34" charset="-120"/>
              </a:rPr>
              <a:t>A disposition cannot be seen.
</a:t>
            </a:r>
            <a:r>
              <a:rPr lang="en-US" sz="2000" dirty="0">
                <a:solidFill>
                  <a:srgbClr val="000000"/>
                </a:solidFill>
                <a:latin typeface="Arial" pitchFamily="34" charset="0"/>
                <a:ea typeface="Arial" pitchFamily="34" charset="-122"/>
                <a:cs typeface="Arial" pitchFamily="34" charset="-120"/>
              </a:rPr>
              <a:t>Love for God, trust, devotion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all invisible. </a:t>
            </a:r>
          </a:p>
          <a:p>
            <a:pPr marL="0" indent="0" algn="l">
              <a:buNone/>
            </a:pPr>
            <a:r>
              <a:rPr lang="en-US" sz="2000" dirty="0">
                <a:solidFill>
                  <a:srgbClr val="000000"/>
                </a:solidFill>
                <a:latin typeface="Arial" pitchFamily="34" charset="0"/>
                <a:ea typeface="Arial" pitchFamily="34" charset="-122"/>
                <a:cs typeface="Arial" pitchFamily="34" charset="-120"/>
              </a:rPr>
              <a:t>Not just to your neighbor. To you.</a:t>
            </a:r>
            <a:endParaRPr lang="en-US" sz="2000" dirty="0"/>
          </a:p>
        </p:txBody>
      </p:sp>
      <p:sp>
        <p:nvSpPr>
          <p:cNvPr id="5" name="q2"/>
          <p:cNvSpPr txBox="1"/>
          <p:nvPr/>
        </p:nvSpPr>
        <p:spPr>
          <a:xfrm>
            <a:off x="365760" y="2286000"/>
            <a:ext cx="8412480" cy="123444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Scripture is full of people certain of their own devotion:
•  </a:t>
            </a:r>
            <a:r>
              <a:rPr lang="en-US" b="1" dirty="0">
                <a:solidFill>
                  <a:srgbClr val="000000"/>
                </a:solidFill>
                <a:latin typeface="Arial" pitchFamily="34" charset="0"/>
                <a:ea typeface="Arial" pitchFamily="34" charset="-122"/>
                <a:cs typeface="Arial" pitchFamily="34" charset="-120"/>
              </a:rPr>
              <a:t>Saul</a:t>
            </a:r>
            <a:r>
              <a:rPr lang="en-US" dirty="0">
                <a:solidFill>
                  <a:srgbClr val="000000"/>
                </a:solidFill>
                <a:latin typeface="Arial" pitchFamily="34" charset="0"/>
                <a:ea typeface="Arial" pitchFamily="34" charset="-122"/>
                <a:cs typeface="Arial" pitchFamily="34" charset="-120"/>
              </a:rPr>
              <a:t>: “I have done what the Lord said”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and believed it (1 Sam 15:13)
•  </a:t>
            </a:r>
            <a:r>
              <a:rPr lang="en-US" b="1" dirty="0">
                <a:solidFill>
                  <a:srgbClr val="000000"/>
                </a:solidFill>
                <a:latin typeface="Arial" pitchFamily="34" charset="0"/>
                <a:ea typeface="Arial" pitchFamily="34" charset="-122"/>
                <a:cs typeface="Arial" pitchFamily="34" charset="-120"/>
              </a:rPr>
              <a:t>The priests</a:t>
            </a:r>
            <a:r>
              <a:rPr lang="en-US" dirty="0">
                <a:solidFill>
                  <a:srgbClr val="000000"/>
                </a:solidFill>
                <a:latin typeface="Arial" pitchFamily="34" charset="0"/>
                <a:ea typeface="Arial" pitchFamily="34" charset="-122"/>
                <a:cs typeface="Arial" pitchFamily="34" charset="-120"/>
              </a:rPr>
              <a:t>: “How have we offended you?”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and meant it (Mal 1:7)
•  “</a:t>
            </a:r>
            <a:r>
              <a:rPr lang="en-US" b="1" dirty="0">
                <a:solidFill>
                  <a:srgbClr val="000000"/>
                </a:solidFill>
                <a:latin typeface="Arial" pitchFamily="34" charset="0"/>
                <a:ea typeface="Arial" pitchFamily="34" charset="-122"/>
                <a:cs typeface="Arial" pitchFamily="34" charset="-120"/>
              </a:rPr>
              <a:t>Lord, Lord</a:t>
            </a:r>
            <a:r>
              <a:rPr lang="en-US" dirty="0">
                <a:solidFill>
                  <a:srgbClr val="000000"/>
                </a:solidFill>
                <a:latin typeface="Arial" pitchFamily="34" charset="0"/>
                <a:ea typeface="Arial" pitchFamily="34" charset="-122"/>
                <a:cs typeface="Arial" pitchFamily="34" charset="-120"/>
              </a:rPr>
              <a:t>…”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and heard </a:t>
            </a:r>
            <a:r>
              <a:rPr lang="en-US" i="1" dirty="0">
                <a:solidFill>
                  <a:srgbClr val="000000"/>
                </a:solidFill>
                <a:latin typeface="Arial" pitchFamily="34" charset="0"/>
                <a:ea typeface="Arial" pitchFamily="34" charset="-122"/>
                <a:cs typeface="Arial" pitchFamily="34" charset="-120"/>
              </a:rPr>
              <a:t>“I never knew you” </a:t>
            </a:r>
            <a:r>
              <a:rPr lang="en-US" dirty="0">
                <a:solidFill>
                  <a:srgbClr val="000000"/>
                </a:solidFill>
                <a:latin typeface="Arial" pitchFamily="34" charset="0"/>
                <a:ea typeface="Arial" pitchFamily="34" charset="-122"/>
                <a:cs typeface="Arial" pitchFamily="34" charset="-120"/>
              </a:rPr>
              <a:t>(Matt 7:21–23)</a:t>
            </a:r>
            <a:endParaRPr lang="en-US" dirty="0"/>
          </a:p>
        </p:txBody>
      </p:sp>
      <p:sp>
        <p:nvSpPr>
          <p:cNvPr id="6" name="q3"/>
          <p:cNvSpPr txBox="1"/>
          <p:nvPr/>
        </p:nvSpPr>
        <p:spPr>
          <a:xfrm>
            <a:off x="365760" y="3703319"/>
            <a:ext cx="8412480" cy="1188719"/>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Sincerity is real </a:t>
            </a:r>
            <a:r>
              <a:rPr lang="en-US" b="1" dirty="0">
                <a:solidFill>
                  <a:srgbClr val="000000"/>
                </a:solidFill>
                <a:latin typeface="Arial" pitchFamily="34" charset="0"/>
                <a:ea typeface="Arial" pitchFamily="34" charset="-122"/>
                <a:cs typeface="Arial" pitchFamily="34" charset="-120"/>
                <a:sym typeface="Wingdings" pitchFamily="2" charset="2"/>
              </a:rPr>
              <a:t></a:t>
            </a:r>
            <a:r>
              <a:rPr lang="en-US" b="1" dirty="0">
                <a:solidFill>
                  <a:srgbClr val="000000"/>
                </a:solidFill>
                <a:latin typeface="Arial" pitchFamily="34" charset="0"/>
                <a:ea typeface="Arial" pitchFamily="34" charset="-122"/>
                <a:cs typeface="Arial" pitchFamily="34" charset="-120"/>
              </a:rPr>
              <a:t> and unverifiable. </a:t>
            </a:r>
            <a:r>
              <a:rPr lang="en-US" dirty="0">
                <a:solidFill>
                  <a:srgbClr val="000000"/>
                </a:solidFill>
                <a:latin typeface="Arial" pitchFamily="34" charset="0"/>
                <a:ea typeface="Arial" pitchFamily="34" charset="-122"/>
                <a:cs typeface="Arial" pitchFamily="34" charset="-120"/>
              </a:rPr>
              <a:t>Every one of those people passed their own inspection.</a:t>
            </a:r>
          </a:p>
          <a:p>
            <a:pPr lvl="1"/>
            <a:r>
              <a:rPr lang="en-US" b="1" i="1" dirty="0">
                <a:solidFill>
                  <a:srgbClr val="000000"/>
                </a:solidFill>
                <a:latin typeface="Arial" pitchFamily="34" charset="0"/>
                <a:ea typeface="Arial" pitchFamily="34" charset="-122"/>
                <a:cs typeface="Arial" pitchFamily="34" charset="-120"/>
              </a:rPr>
              <a:t>“Put yourselves to the test to see if you are in the faith; examine yourselves!” </a:t>
            </a:r>
            <a:r>
              <a:rPr lang="en-US" b="1" dirty="0">
                <a:solidFill>
                  <a:srgbClr val="000000"/>
                </a:solidFill>
                <a:latin typeface="Arial" pitchFamily="34" charset="0"/>
                <a:ea typeface="Arial" pitchFamily="34" charset="-122"/>
                <a:cs typeface="Arial" pitchFamily="34" charset="-120"/>
              </a:rPr>
              <a:t>(2 Cor 13:5)</a:t>
            </a:r>
            <a:endParaRPr lang="en-US" dirty="0"/>
          </a:p>
        </p:txBody>
      </p:sp>
      <p:sp>
        <p:nvSpPr>
          <p:cNvPr id="7" name="q4"/>
          <p:cNvSpPr txBox="1"/>
          <p:nvPr/>
        </p:nvSpPr>
        <p:spPr>
          <a:xfrm>
            <a:off x="365760" y="5166360"/>
            <a:ext cx="8412480" cy="1026210"/>
          </a:xfrm>
          <a:prstGeom prst="rect">
            <a:avLst/>
          </a:prstGeom>
          <a:noFill/>
          <a:ln/>
        </p:spPr>
        <p:txBody>
          <a:bodyPr wrap="square" lIns="0" tIns="0" rIns="0" bIns="0" rtlCol="0" anchor="t"/>
          <a:lstStyle/>
          <a:p>
            <a:pPr marL="0" indent="0" algn="l">
              <a:buNone/>
            </a:pPr>
            <a:r>
              <a:rPr lang="en-US" sz="1500" dirty="0">
                <a:solidFill>
                  <a:srgbClr val="000000"/>
                </a:solidFill>
                <a:latin typeface="Arial" pitchFamily="34" charset="0"/>
                <a:ea typeface="Arial" pitchFamily="34" charset="-122"/>
                <a:cs typeface="Arial" pitchFamily="34" charset="-120"/>
              </a:rPr>
              <a:t>So, the question this course answers:
</a:t>
            </a:r>
            <a:r>
              <a:rPr lang="en-US" sz="1900" b="1" dirty="0">
                <a:solidFill>
                  <a:srgbClr val="1F497D"/>
                </a:solidFill>
                <a:latin typeface="Arial" pitchFamily="34" charset="0"/>
                <a:ea typeface="Arial" pitchFamily="34" charset="-122"/>
                <a:cs typeface="Arial" pitchFamily="34" charset="-120"/>
              </a:rPr>
              <a:t>How does the invisible become visible </a:t>
            </a:r>
            <a:r>
              <a:rPr lang="en-US" sz="1900" b="1" dirty="0">
                <a:solidFill>
                  <a:srgbClr val="1F497D"/>
                </a:solidFill>
                <a:latin typeface="Arial" pitchFamily="34" charset="0"/>
                <a:ea typeface="Arial" pitchFamily="34" charset="-122"/>
                <a:cs typeface="Arial" pitchFamily="34" charset="-120"/>
                <a:sym typeface="Wingdings" pitchFamily="2" charset="2"/>
              </a:rPr>
              <a:t></a:t>
            </a:r>
            <a:r>
              <a:rPr lang="en-US" sz="1900" b="1" dirty="0">
                <a:solidFill>
                  <a:srgbClr val="1F497D"/>
                </a:solidFill>
                <a:latin typeface="Arial" pitchFamily="34" charset="0"/>
                <a:ea typeface="Arial" pitchFamily="34" charset="-122"/>
                <a:cs typeface="Arial" pitchFamily="34" charset="-120"/>
              </a:rPr>
              <a:t> and how does a person learn to see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Controlling Verse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Hebrews 5:12–14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maturity is trained perception</a:t>
            </a:r>
            <a:endParaRPr lang="en-US" sz="2000" dirty="0"/>
          </a:p>
        </p:txBody>
      </p:sp>
      <p:sp>
        <p:nvSpPr>
          <p:cNvPr id="4" name="h1"/>
          <p:cNvSpPr txBox="1"/>
          <p:nvPr/>
        </p:nvSpPr>
        <p:spPr>
          <a:xfrm>
            <a:off x="320040" y="1097280"/>
            <a:ext cx="8503920" cy="957857"/>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“For though you should in fact be teachers by this time, you need someone to teach you the beginning elements of God’s utterances. You have gone back to needing milk, not solid food.” </a:t>
            </a:r>
            <a:r>
              <a:rPr lang="en-US" b="1" dirty="0">
                <a:solidFill>
                  <a:srgbClr val="000000"/>
                </a:solidFill>
                <a:latin typeface="Arial" pitchFamily="34" charset="0"/>
                <a:ea typeface="Arial" pitchFamily="34" charset="-122"/>
                <a:cs typeface="Arial" pitchFamily="34" charset="-120"/>
              </a:rPr>
              <a:t>(Hebrews 5:12)</a:t>
            </a:r>
            <a:endParaRPr lang="en-US" dirty="0"/>
          </a:p>
        </p:txBody>
      </p:sp>
      <p:sp>
        <p:nvSpPr>
          <p:cNvPr id="5" name="h2"/>
          <p:cNvSpPr txBox="1"/>
          <p:nvPr/>
        </p:nvSpPr>
        <p:spPr>
          <a:xfrm>
            <a:off x="320040" y="2238017"/>
            <a:ext cx="8503920" cy="695306"/>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“But solid food is for the mature, whose perceptions are trained by practice to discern both good and evil.” </a:t>
            </a:r>
            <a:r>
              <a:rPr lang="en-US" b="1" dirty="0">
                <a:solidFill>
                  <a:srgbClr val="000000"/>
                </a:solidFill>
                <a:latin typeface="Arial" pitchFamily="34" charset="0"/>
                <a:ea typeface="Arial" pitchFamily="34" charset="-122"/>
                <a:cs typeface="Arial" pitchFamily="34" charset="-120"/>
              </a:rPr>
              <a:t>(Hebrews 5:14)</a:t>
            </a:r>
            <a:endParaRPr lang="en-US" dirty="0"/>
          </a:p>
        </p:txBody>
      </p:sp>
      <p:sp>
        <p:nvSpPr>
          <p:cNvPr id="6" name="h3"/>
          <p:cNvSpPr txBox="1"/>
          <p:nvPr/>
        </p:nvSpPr>
        <p:spPr>
          <a:xfrm>
            <a:off x="320040" y="3260606"/>
            <a:ext cx="8503920" cy="114300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Three words carry this course:  </a:t>
            </a:r>
            <a:r>
              <a:rPr lang="en-US" sz="2400" b="1" u="sng" dirty="0">
                <a:solidFill>
                  <a:srgbClr val="1F497D"/>
                </a:solidFill>
                <a:latin typeface="Arial" pitchFamily="34" charset="0"/>
                <a:ea typeface="Arial" pitchFamily="34" charset="-122"/>
                <a:cs typeface="Arial" pitchFamily="34" charset="-120"/>
              </a:rPr>
              <a:t>trained </a:t>
            </a:r>
            <a:r>
              <a:rPr lang="en-US" sz="2400" b="1" u="sng" dirty="0">
                <a:solidFill>
                  <a:srgbClr val="1F497D"/>
                </a:solidFill>
                <a:latin typeface="Arial" pitchFamily="34" charset="0"/>
                <a:ea typeface="Arial" pitchFamily="34" charset="-122"/>
                <a:cs typeface="Arial" pitchFamily="34" charset="-120"/>
                <a:sym typeface="Wingdings" pitchFamily="2" charset="2"/>
              </a:rPr>
              <a:t></a:t>
            </a:r>
            <a:r>
              <a:rPr lang="en-US" sz="2400" b="1" u="sng" dirty="0">
                <a:solidFill>
                  <a:srgbClr val="1F497D"/>
                </a:solidFill>
                <a:latin typeface="Arial" pitchFamily="34" charset="0"/>
                <a:ea typeface="Arial" pitchFamily="34" charset="-122"/>
                <a:cs typeface="Arial" pitchFamily="34" charset="-120"/>
              </a:rPr>
              <a:t> by practice.
</a:t>
            </a:r>
            <a:r>
              <a:rPr lang="en-US" dirty="0">
                <a:solidFill>
                  <a:srgbClr val="000000"/>
                </a:solidFill>
                <a:latin typeface="Arial" pitchFamily="34" charset="0"/>
                <a:ea typeface="Arial" pitchFamily="34" charset="-122"/>
                <a:cs typeface="Arial" pitchFamily="34" charset="-120"/>
              </a:rPr>
              <a:t>Discernment is not downloaded at baptism or absorbed from sermons. It is built like a tradesman’s eye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repetitions, daily, until perception knows things the mouth can’t yet explain.</a:t>
            </a:r>
            <a:endParaRPr lang="en-US" sz="2000" dirty="0"/>
          </a:p>
        </p:txBody>
      </p:sp>
      <p:sp>
        <p:nvSpPr>
          <p:cNvPr id="7" name="h4"/>
          <p:cNvSpPr txBox="1"/>
          <p:nvPr/>
        </p:nvSpPr>
        <p:spPr>
          <a:xfrm>
            <a:off x="320040" y="4754880"/>
            <a:ext cx="8503920" cy="1247568"/>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And notice what the mature discern: </a:t>
            </a:r>
            <a:r>
              <a:rPr lang="en-US" sz="2400" b="1" dirty="0">
                <a:solidFill>
                  <a:srgbClr val="000000"/>
                </a:solidFill>
                <a:latin typeface="Arial" pitchFamily="34" charset="0"/>
                <a:ea typeface="Arial" pitchFamily="34" charset="-122"/>
                <a:cs typeface="Arial" pitchFamily="34" charset="-120"/>
              </a:rPr>
              <a:t>good and evil.</a:t>
            </a:r>
            <a:r>
              <a:rPr lang="en-US" sz="2000" b="1" dirty="0">
                <a:solidFill>
                  <a:srgbClr val="000000"/>
                </a:solidFill>
                <a:latin typeface="Arial" pitchFamily="34" charset="0"/>
                <a:ea typeface="Arial" pitchFamily="34" charset="-122"/>
                <a:cs typeface="Arial" pitchFamily="34" charset="-120"/>
              </a:rPr>
              <a:t>
</a:t>
            </a:r>
            <a:r>
              <a:rPr lang="en-US" i="1" dirty="0">
                <a:solidFill>
                  <a:srgbClr val="000000"/>
                </a:solidFill>
                <a:latin typeface="Arial" pitchFamily="34" charset="0"/>
                <a:ea typeface="Arial" pitchFamily="34" charset="-122"/>
                <a:cs typeface="Arial" pitchFamily="34" charset="-120"/>
              </a:rPr>
              <a:t>The course title and the course thesis are the same sentence: maturity is the trained ability to recognize the Good </a:t>
            </a:r>
            <a:r>
              <a:rPr lang="en-US" i="1" dirty="0">
                <a:solidFill>
                  <a:srgbClr val="000000"/>
                </a:solidFill>
                <a:latin typeface="Arial" pitchFamily="34" charset="0"/>
                <a:ea typeface="Arial" pitchFamily="34" charset="-122"/>
                <a:cs typeface="Arial" pitchFamily="34" charset="-120"/>
                <a:sym typeface="Wingdings" pitchFamily="2" charset="2"/>
              </a:rPr>
              <a:t></a:t>
            </a:r>
            <a:r>
              <a:rPr lang="en-US" i="1" dirty="0">
                <a:solidFill>
                  <a:srgbClr val="000000"/>
                </a:solidFill>
                <a:latin typeface="Arial" pitchFamily="34" charset="0"/>
                <a:ea typeface="Arial" pitchFamily="34" charset="-122"/>
                <a:cs typeface="Arial" pitchFamily="34" charset="-120"/>
              </a:rPr>
              <a:t> God’s own character </a:t>
            </a:r>
            <a:r>
              <a:rPr lang="en-US" i="1" dirty="0">
                <a:solidFill>
                  <a:srgbClr val="000000"/>
                </a:solidFill>
                <a:latin typeface="Arial" pitchFamily="34" charset="0"/>
                <a:ea typeface="Arial" pitchFamily="34" charset="-122"/>
                <a:cs typeface="Arial" pitchFamily="34" charset="-120"/>
                <a:sym typeface="Wingdings" pitchFamily="2" charset="2"/>
              </a:rPr>
              <a:t></a:t>
            </a:r>
            <a:r>
              <a:rPr lang="en-US" i="1" dirty="0">
                <a:solidFill>
                  <a:srgbClr val="000000"/>
                </a:solidFill>
                <a:latin typeface="Arial" pitchFamily="34" charset="0"/>
                <a:ea typeface="Arial" pitchFamily="34" charset="-122"/>
                <a:cs typeface="Arial" pitchFamily="34" charset="-120"/>
              </a:rPr>
              <a:t> from everything that merely resembles it.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Road: Twelve Weeks</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From the Good, through sacrifice and testing, to commission</a:t>
            </a:r>
            <a:endParaRPr lang="en-US" sz="2000" dirty="0"/>
          </a:p>
        </p:txBody>
      </p:sp>
      <p:sp>
        <p:nvSpPr>
          <p:cNvPr id="4" name="u0b"/>
          <p:cNvSpPr/>
          <p:nvPr/>
        </p:nvSpPr>
        <p:spPr>
          <a:xfrm>
            <a:off x="365760" y="1143000"/>
            <a:ext cx="1417320" cy="658368"/>
          </a:xfrm>
          <a:prstGeom prst="roundRect">
            <a:avLst>
              <a:gd name="adj" fmla="val 8333"/>
            </a:avLst>
          </a:prstGeom>
          <a:solidFill>
            <a:srgbClr val="1F497D"/>
          </a:solidFill>
          <a:ln w="12700">
            <a:solidFill>
              <a:srgbClr val="1F497D"/>
            </a:solidFill>
            <a:prstDash val="solid"/>
          </a:ln>
        </p:spPr>
        <p:txBody>
          <a:bodyPr/>
          <a:lstStyle/>
          <a:p>
            <a:endParaRPr lang="en-US"/>
          </a:p>
        </p:txBody>
      </p:sp>
      <p:sp>
        <p:nvSpPr>
          <p:cNvPr id="5" name="u0w"/>
          <p:cNvSpPr txBox="1"/>
          <p:nvPr/>
        </p:nvSpPr>
        <p:spPr>
          <a:xfrm>
            <a:off x="365760" y="1225296"/>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Arial" pitchFamily="34" charset="0"/>
                <a:ea typeface="Arial" pitchFamily="34" charset="-122"/>
                <a:cs typeface="Arial" pitchFamily="34" charset="-120"/>
              </a:rPr>
              <a:t>Wks 1–3
</a:t>
            </a:r>
            <a:r>
              <a:rPr lang="en-US" sz="1400" b="1" dirty="0">
                <a:solidFill>
                  <a:srgbClr val="FFFFFF"/>
                </a:solidFill>
                <a:latin typeface="Arial" pitchFamily="34" charset="0"/>
                <a:ea typeface="Arial" pitchFamily="34" charset="-122"/>
                <a:cs typeface="Arial" pitchFamily="34" charset="-120"/>
              </a:rPr>
              <a:t>FOUNDATIONS</a:t>
            </a:r>
            <a:endParaRPr lang="en-US" sz="1600" dirty="0"/>
          </a:p>
        </p:txBody>
      </p:sp>
      <p:sp>
        <p:nvSpPr>
          <p:cNvPr id="6" name="u0d"/>
          <p:cNvSpPr txBox="1"/>
          <p:nvPr/>
        </p:nvSpPr>
        <p:spPr>
          <a:xfrm>
            <a:off x="1965960" y="1261872"/>
            <a:ext cx="6766560" cy="502920"/>
          </a:xfrm>
          <a:prstGeom prst="rect">
            <a:avLst/>
          </a:prstGeom>
          <a:noFill/>
          <a:ln/>
        </p:spPr>
        <p:txBody>
          <a:bodyPr wrap="square" lIns="0" tIns="0" rIns="0" bIns="0" rtlCol="0" anchor="ctr"/>
          <a:lstStyle/>
          <a:p>
            <a:pPr marL="0" indent="0" algn="l">
              <a:buNone/>
            </a:pPr>
            <a:r>
              <a:rPr lang="en-US" dirty="0">
                <a:solidFill>
                  <a:srgbClr val="000000"/>
                </a:solidFill>
                <a:latin typeface="Arial" pitchFamily="34" charset="0"/>
                <a:ea typeface="Arial" pitchFamily="34" charset="-122"/>
                <a:cs typeface="Arial" pitchFamily="34" charset="-120"/>
              </a:rPr>
              <a:t>The Good · sacrifice · why sincerity isn’t enough</a:t>
            </a:r>
            <a:endParaRPr lang="en-US" sz="2000" dirty="0"/>
          </a:p>
        </p:txBody>
      </p:sp>
      <p:sp>
        <p:nvSpPr>
          <p:cNvPr id="7" name="u1b"/>
          <p:cNvSpPr/>
          <p:nvPr/>
        </p:nvSpPr>
        <p:spPr>
          <a:xfrm>
            <a:off x="365760" y="1929384"/>
            <a:ext cx="1417320" cy="658368"/>
          </a:xfrm>
          <a:prstGeom prst="roundRect">
            <a:avLst>
              <a:gd name="adj" fmla="val 8333"/>
            </a:avLst>
          </a:prstGeom>
          <a:solidFill>
            <a:srgbClr val="1F497D">
              <a:alpha val="92000"/>
            </a:srgbClr>
          </a:solidFill>
          <a:ln w="12700">
            <a:solidFill>
              <a:srgbClr val="1F497D"/>
            </a:solidFill>
            <a:prstDash val="solid"/>
          </a:ln>
        </p:spPr>
        <p:txBody>
          <a:bodyPr/>
          <a:lstStyle/>
          <a:p>
            <a:endParaRPr lang="en-US"/>
          </a:p>
        </p:txBody>
      </p:sp>
      <p:sp>
        <p:nvSpPr>
          <p:cNvPr id="8" name="u1w"/>
          <p:cNvSpPr txBox="1"/>
          <p:nvPr/>
        </p:nvSpPr>
        <p:spPr>
          <a:xfrm>
            <a:off x="365760" y="2011680"/>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Arial" pitchFamily="34" charset="0"/>
                <a:ea typeface="Arial" pitchFamily="34" charset="-122"/>
                <a:cs typeface="Arial" pitchFamily="34" charset="-120"/>
              </a:rPr>
              <a:t>Wks 4–6
</a:t>
            </a:r>
            <a:r>
              <a:rPr lang="en-US" sz="1400" b="1" dirty="0">
                <a:solidFill>
                  <a:srgbClr val="FFFFFF"/>
                </a:solidFill>
                <a:latin typeface="Arial" pitchFamily="34" charset="0"/>
                <a:ea typeface="Arial" pitchFamily="34" charset="-122"/>
                <a:cs typeface="Arial" pitchFamily="34" charset="-120"/>
              </a:rPr>
              <a:t>DISCERNMENT</a:t>
            </a:r>
            <a:endParaRPr lang="en-US" sz="1600" dirty="0"/>
          </a:p>
        </p:txBody>
      </p:sp>
      <p:sp>
        <p:nvSpPr>
          <p:cNvPr id="9" name="u1d"/>
          <p:cNvSpPr txBox="1"/>
          <p:nvPr/>
        </p:nvSpPr>
        <p:spPr>
          <a:xfrm>
            <a:off x="1965960" y="2048256"/>
            <a:ext cx="6766560" cy="502920"/>
          </a:xfrm>
          <a:prstGeom prst="rect">
            <a:avLst/>
          </a:prstGeom>
          <a:noFill/>
          <a:ln/>
        </p:spPr>
        <p:txBody>
          <a:bodyPr wrap="square" lIns="0" tIns="0" rIns="0" bIns="0" rtlCol="0" anchor="ctr"/>
          <a:lstStyle/>
          <a:p>
            <a:pPr marL="0" indent="0" algn="l">
              <a:buNone/>
            </a:pPr>
            <a:r>
              <a:rPr lang="en-US" dirty="0">
                <a:solidFill>
                  <a:srgbClr val="000000"/>
                </a:solidFill>
                <a:latin typeface="Arial" pitchFamily="34" charset="0"/>
                <a:ea typeface="Arial" pitchFamily="34" charset="-122"/>
                <a:cs typeface="Arial" pitchFamily="34" charset="-120"/>
              </a:rPr>
              <a:t>Two righteousnesses · the Berean method · love in truth</a:t>
            </a:r>
            <a:endParaRPr lang="en-US" sz="2000" dirty="0"/>
          </a:p>
        </p:txBody>
      </p:sp>
      <p:sp>
        <p:nvSpPr>
          <p:cNvPr id="10" name="u2b"/>
          <p:cNvSpPr/>
          <p:nvPr/>
        </p:nvSpPr>
        <p:spPr>
          <a:xfrm>
            <a:off x="365760" y="2715768"/>
            <a:ext cx="1417320" cy="658368"/>
          </a:xfrm>
          <a:prstGeom prst="roundRect">
            <a:avLst>
              <a:gd name="adj" fmla="val 8333"/>
            </a:avLst>
          </a:prstGeom>
          <a:solidFill>
            <a:srgbClr val="1F497D">
              <a:alpha val="84000"/>
            </a:srgbClr>
          </a:solidFill>
          <a:ln w="12700">
            <a:solidFill>
              <a:srgbClr val="1F497D"/>
            </a:solidFill>
            <a:prstDash val="solid"/>
          </a:ln>
        </p:spPr>
        <p:txBody>
          <a:bodyPr/>
          <a:lstStyle/>
          <a:p>
            <a:endParaRPr lang="en-US"/>
          </a:p>
        </p:txBody>
      </p:sp>
      <p:sp>
        <p:nvSpPr>
          <p:cNvPr id="11" name="u2w"/>
          <p:cNvSpPr txBox="1"/>
          <p:nvPr/>
        </p:nvSpPr>
        <p:spPr>
          <a:xfrm>
            <a:off x="365760" y="2798064"/>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Arial" pitchFamily="34" charset="0"/>
                <a:ea typeface="Arial" pitchFamily="34" charset="-122"/>
                <a:cs typeface="Arial" pitchFamily="34" charset="-120"/>
              </a:rPr>
              <a:t>Wks 7–9
</a:t>
            </a:r>
            <a:r>
              <a:rPr lang="en-US" sz="1400" b="1" dirty="0">
                <a:solidFill>
                  <a:srgbClr val="FFFFFF"/>
                </a:solidFill>
                <a:latin typeface="Arial" pitchFamily="34" charset="0"/>
                <a:ea typeface="Arial" pitchFamily="34" charset="-122"/>
                <a:cs typeface="Arial" pitchFamily="34" charset="-120"/>
              </a:rPr>
              <a:t>TESTING</a:t>
            </a:r>
            <a:endParaRPr lang="en-US" sz="1600" dirty="0"/>
          </a:p>
        </p:txBody>
      </p:sp>
      <p:sp>
        <p:nvSpPr>
          <p:cNvPr id="12" name="u2d"/>
          <p:cNvSpPr txBox="1"/>
          <p:nvPr/>
        </p:nvSpPr>
        <p:spPr>
          <a:xfrm>
            <a:off x="1965960" y="2834640"/>
            <a:ext cx="6766560" cy="502920"/>
          </a:xfrm>
          <a:prstGeom prst="rect">
            <a:avLst/>
          </a:prstGeom>
          <a:noFill/>
          <a:ln/>
        </p:spPr>
        <p:txBody>
          <a:bodyPr wrap="square" lIns="0" tIns="0" rIns="0" bIns="0" rtlCol="0" anchor="ctr"/>
          <a:lstStyle/>
          <a:p>
            <a:pPr marL="0" indent="0" algn="l">
              <a:buNone/>
            </a:pPr>
            <a:r>
              <a:rPr lang="en-US" dirty="0">
                <a:solidFill>
                  <a:srgbClr val="000000"/>
                </a:solidFill>
                <a:latin typeface="Arial" pitchFamily="34" charset="0"/>
                <a:ea typeface="Arial" pitchFamily="34" charset="-122"/>
                <a:cs typeface="Arial" pitchFamily="34" charset="-120"/>
              </a:rPr>
              <a:t>Covenant tests · the church’s tests · living sacrifice</a:t>
            </a:r>
            <a:endParaRPr lang="en-US" sz="2000" dirty="0"/>
          </a:p>
        </p:txBody>
      </p:sp>
      <p:sp>
        <p:nvSpPr>
          <p:cNvPr id="13" name="u3b"/>
          <p:cNvSpPr/>
          <p:nvPr/>
        </p:nvSpPr>
        <p:spPr>
          <a:xfrm>
            <a:off x="365760" y="3502152"/>
            <a:ext cx="1417320" cy="658368"/>
          </a:xfrm>
          <a:prstGeom prst="roundRect">
            <a:avLst>
              <a:gd name="adj" fmla="val 8333"/>
            </a:avLst>
          </a:prstGeom>
          <a:solidFill>
            <a:srgbClr val="1F497D">
              <a:alpha val="76000"/>
            </a:srgbClr>
          </a:solidFill>
          <a:ln w="12700">
            <a:solidFill>
              <a:srgbClr val="1F497D"/>
            </a:solidFill>
            <a:prstDash val="solid"/>
          </a:ln>
        </p:spPr>
        <p:txBody>
          <a:bodyPr/>
          <a:lstStyle/>
          <a:p>
            <a:endParaRPr lang="en-US"/>
          </a:p>
        </p:txBody>
      </p:sp>
      <p:sp>
        <p:nvSpPr>
          <p:cNvPr id="14" name="u3w"/>
          <p:cNvSpPr txBox="1"/>
          <p:nvPr/>
        </p:nvSpPr>
        <p:spPr>
          <a:xfrm>
            <a:off x="365760" y="3584448"/>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Arial" pitchFamily="34" charset="0"/>
                <a:ea typeface="Arial" pitchFamily="34" charset="-122"/>
                <a:cs typeface="Arial" pitchFamily="34" charset="-120"/>
              </a:rPr>
              <a:t>Wks 10–11
</a:t>
            </a:r>
            <a:r>
              <a:rPr lang="en-US" sz="1400" b="1" dirty="0">
                <a:solidFill>
                  <a:srgbClr val="FFFFFF"/>
                </a:solidFill>
                <a:latin typeface="Arial" pitchFamily="34" charset="0"/>
                <a:ea typeface="Arial" pitchFamily="34" charset="-122"/>
                <a:cs typeface="Arial" pitchFamily="34" charset="-120"/>
              </a:rPr>
              <a:t>GOD’S HOUSE</a:t>
            </a:r>
            <a:endParaRPr lang="en-US" sz="1600" dirty="0"/>
          </a:p>
        </p:txBody>
      </p:sp>
      <p:sp>
        <p:nvSpPr>
          <p:cNvPr id="15" name="u3d"/>
          <p:cNvSpPr txBox="1"/>
          <p:nvPr/>
        </p:nvSpPr>
        <p:spPr>
          <a:xfrm>
            <a:off x="1965960" y="3621024"/>
            <a:ext cx="6766560" cy="502920"/>
          </a:xfrm>
          <a:prstGeom prst="rect">
            <a:avLst/>
          </a:prstGeom>
          <a:noFill/>
          <a:ln/>
        </p:spPr>
        <p:txBody>
          <a:bodyPr wrap="square" lIns="0" tIns="0" rIns="0" bIns="0" rtlCol="0" anchor="ctr"/>
          <a:lstStyle/>
          <a:p>
            <a:pPr marL="0" indent="0" algn="l">
              <a:buNone/>
            </a:pPr>
            <a:r>
              <a:rPr lang="en-US" dirty="0">
                <a:solidFill>
                  <a:srgbClr val="000000"/>
                </a:solidFill>
                <a:latin typeface="Arial" pitchFamily="34" charset="0"/>
                <a:ea typeface="Arial" pitchFamily="34" charset="-122"/>
                <a:cs typeface="Arial" pitchFamily="34" charset="-120"/>
              </a:rPr>
              <a:t>Apostolic authority · created order</a:t>
            </a:r>
            <a:endParaRPr lang="en-US" sz="2000" dirty="0"/>
          </a:p>
        </p:txBody>
      </p:sp>
      <p:sp>
        <p:nvSpPr>
          <p:cNvPr id="16" name="u4b"/>
          <p:cNvSpPr/>
          <p:nvPr/>
        </p:nvSpPr>
        <p:spPr>
          <a:xfrm>
            <a:off x="365760" y="4288536"/>
            <a:ext cx="1417320" cy="658368"/>
          </a:xfrm>
          <a:prstGeom prst="roundRect">
            <a:avLst>
              <a:gd name="adj" fmla="val 8333"/>
            </a:avLst>
          </a:prstGeom>
          <a:solidFill>
            <a:srgbClr val="1F497D">
              <a:alpha val="68000"/>
            </a:srgbClr>
          </a:solidFill>
          <a:ln w="12700">
            <a:solidFill>
              <a:srgbClr val="1F497D"/>
            </a:solidFill>
            <a:prstDash val="solid"/>
          </a:ln>
        </p:spPr>
        <p:txBody>
          <a:bodyPr/>
          <a:lstStyle/>
          <a:p>
            <a:endParaRPr lang="en-US"/>
          </a:p>
        </p:txBody>
      </p:sp>
      <p:sp>
        <p:nvSpPr>
          <p:cNvPr id="17" name="u4w"/>
          <p:cNvSpPr txBox="1"/>
          <p:nvPr/>
        </p:nvSpPr>
        <p:spPr>
          <a:xfrm>
            <a:off x="365760" y="4370832"/>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Arial" pitchFamily="34" charset="0"/>
                <a:ea typeface="Arial" pitchFamily="34" charset="-122"/>
                <a:cs typeface="Arial" pitchFamily="34" charset="-120"/>
              </a:rPr>
              <a:t>Wk 12
</a:t>
            </a:r>
            <a:r>
              <a:rPr lang="en-US" sz="1400" b="1" dirty="0">
                <a:solidFill>
                  <a:srgbClr val="FFFFFF"/>
                </a:solidFill>
                <a:latin typeface="Arial" pitchFamily="34" charset="0"/>
                <a:ea typeface="Arial" pitchFamily="34" charset="-122"/>
                <a:cs typeface="Arial" pitchFamily="34" charset="-120"/>
              </a:rPr>
              <a:t>COMMISSION</a:t>
            </a:r>
            <a:endParaRPr lang="en-US" sz="1600" dirty="0"/>
          </a:p>
        </p:txBody>
      </p:sp>
      <p:sp>
        <p:nvSpPr>
          <p:cNvPr id="18" name="u4d"/>
          <p:cNvSpPr txBox="1"/>
          <p:nvPr/>
        </p:nvSpPr>
        <p:spPr>
          <a:xfrm>
            <a:off x="1965960" y="4407408"/>
            <a:ext cx="6766560" cy="502920"/>
          </a:xfrm>
          <a:prstGeom prst="rect">
            <a:avLst/>
          </a:prstGeom>
          <a:noFill/>
          <a:ln/>
        </p:spPr>
        <p:txBody>
          <a:bodyPr wrap="square" lIns="0" tIns="0" rIns="0" bIns="0" rtlCol="0" anchor="ctr"/>
          <a:lstStyle/>
          <a:p>
            <a:pPr marL="0" indent="0" algn="l">
              <a:buNone/>
            </a:pPr>
            <a:r>
              <a:rPr lang="en-US" dirty="0">
                <a:solidFill>
                  <a:srgbClr val="000000"/>
                </a:solidFill>
                <a:latin typeface="Arial" pitchFamily="34" charset="0"/>
                <a:ea typeface="Arial" pitchFamily="34" charset="-122"/>
                <a:cs typeface="Arial" pitchFamily="34" charset="-120"/>
              </a:rPr>
              <a:t>Households · “by this time --&gt; teachers”</a:t>
            </a:r>
            <a:endParaRPr lang="en-US" sz="2000" dirty="0"/>
          </a:p>
        </p:txBody>
      </p:sp>
      <p:sp>
        <p:nvSpPr>
          <p:cNvPr id="19" name="g1"/>
          <p:cNvSpPr txBox="1"/>
          <p:nvPr/>
        </p:nvSpPr>
        <p:spPr>
          <a:xfrm>
            <a:off x="365760" y="5093208"/>
            <a:ext cx="8412480" cy="1655063"/>
          </a:xfrm>
          <a:prstGeom prst="rect">
            <a:avLst/>
          </a:prstGeom>
          <a:noFill/>
          <a:ln/>
        </p:spPr>
        <p:txBody>
          <a:bodyPr wrap="square" lIns="0" tIns="0" rIns="0" bIns="0" rtlCol="0" anchor="t"/>
          <a:lstStyle/>
          <a:p>
            <a:pPr marL="0" indent="0" algn="l">
              <a:buNone/>
            </a:pPr>
            <a:r>
              <a:rPr lang="en-US" sz="1500" b="1" dirty="0">
                <a:solidFill>
                  <a:srgbClr val="000000"/>
                </a:solidFill>
                <a:latin typeface="Arial" pitchFamily="34" charset="0"/>
                <a:ea typeface="Arial" pitchFamily="34" charset="-122"/>
                <a:cs typeface="Arial" pitchFamily="34" charset="-120"/>
              </a:rPr>
              <a:t>Stated before anything is asked of you:</a:t>
            </a:r>
          </a:p>
          <a:p>
            <a:pPr marL="0" indent="0" algn="l">
              <a:buNone/>
            </a:pPr>
            <a:r>
              <a:rPr lang="en-US" sz="1500" b="1" dirty="0">
                <a:solidFill>
                  <a:srgbClr val="000000"/>
                </a:solidFill>
                <a:latin typeface="Arial" pitchFamily="34" charset="0"/>
                <a:ea typeface="Arial" pitchFamily="34" charset="-122"/>
                <a:cs typeface="Arial" pitchFamily="34" charset="-120"/>
              </a:rPr>
              <a:t>
</a:t>
            </a:r>
            <a:r>
              <a:rPr lang="en-US" sz="1600" b="1" i="1" dirty="0">
                <a:solidFill>
                  <a:srgbClr val="000000"/>
                </a:solidFill>
                <a:latin typeface="Arial" pitchFamily="34" charset="0"/>
                <a:ea typeface="Arial" pitchFamily="34" charset="-122"/>
                <a:cs typeface="Arial" pitchFamily="34" charset="-120"/>
              </a:rPr>
              <a:t>“Therefore, I exhort you, brothers and sisters, by the mercies of God, to present your bodies as a sacrifice </a:t>
            </a:r>
            <a:r>
              <a:rPr lang="en-US" sz="1600" b="1" i="1" dirty="0">
                <a:solidFill>
                  <a:srgbClr val="000000"/>
                </a:solidFill>
                <a:latin typeface="Arial" pitchFamily="34" charset="0"/>
                <a:ea typeface="Arial" pitchFamily="34" charset="-122"/>
                <a:cs typeface="Arial" pitchFamily="34" charset="-120"/>
                <a:sym typeface="Wingdings" pitchFamily="2" charset="2"/>
              </a:rPr>
              <a:t></a:t>
            </a:r>
            <a:r>
              <a:rPr lang="en-US" sz="1600" b="1" i="1" dirty="0">
                <a:solidFill>
                  <a:srgbClr val="000000"/>
                </a:solidFill>
                <a:latin typeface="Arial" pitchFamily="34" charset="0"/>
                <a:ea typeface="Arial" pitchFamily="34" charset="-122"/>
                <a:cs typeface="Arial" pitchFamily="34" charset="-120"/>
              </a:rPr>
              <a:t> alive, holy, and pleasing to God…” </a:t>
            </a:r>
            <a:r>
              <a:rPr lang="en-US" sz="1400" b="1" dirty="0">
                <a:solidFill>
                  <a:srgbClr val="000000"/>
                </a:solidFill>
                <a:latin typeface="Arial" pitchFamily="34" charset="0"/>
                <a:ea typeface="Arial" pitchFamily="34" charset="-122"/>
                <a:cs typeface="Arial" pitchFamily="34" charset="-120"/>
              </a:rPr>
              <a:t>(Romans 12:1)</a:t>
            </a:r>
            <a:endParaRPr lang="en-US" dirty="0"/>
          </a:p>
          <a:p>
            <a:pPr marL="0" indent="0" algn="l">
              <a:buNone/>
            </a:pPr>
            <a:endParaRPr lang="en-US" sz="1600" b="1" u="sng" dirty="0">
              <a:solidFill>
                <a:srgbClr val="1F497D"/>
              </a:solidFill>
              <a:latin typeface="Arial" pitchFamily="34" charset="0"/>
              <a:ea typeface="Arial" pitchFamily="34" charset="-122"/>
              <a:cs typeface="Arial" pitchFamily="34" charset="-120"/>
            </a:endParaRPr>
          </a:p>
          <a:p>
            <a:pPr marL="0" indent="0" algn="l">
              <a:buNone/>
            </a:pPr>
            <a:r>
              <a:rPr lang="en-US" sz="1600" b="1" u="sng" dirty="0">
                <a:solidFill>
                  <a:srgbClr val="1F497D"/>
                </a:solidFill>
                <a:latin typeface="Arial" pitchFamily="34" charset="0"/>
                <a:ea typeface="Arial" pitchFamily="34" charset="-122"/>
                <a:cs typeface="Arial" pitchFamily="34" charset="-120"/>
              </a:rPr>
              <a:t>Mercy first.  Altar second.  Your ”Living Sacrifice”.  </a:t>
            </a:r>
            <a:endParaRPr lang="en-US" sz="1600" dirty="0"/>
          </a:p>
          <a:p>
            <a:pPr marL="0" indent="0" algn="l">
              <a:buNone/>
            </a:pPr>
            <a:r>
              <a:rPr lang="en-US" sz="1350" i="1" dirty="0">
                <a:solidFill>
                  <a:srgbClr val="000000"/>
                </a:solidFill>
                <a:latin typeface="Arial" pitchFamily="34" charset="0"/>
                <a:ea typeface="Arial" pitchFamily="34" charset="-122"/>
                <a:cs typeface="Arial" pitchFamily="34" charset="-120"/>
              </a:rPr>
              <a:t>Nothing in this course earns your standing before God; all of it responds to a sacrifice already completed.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1000"/>
                                        <p:tgtEl>
                                          <p:spTgt spid="17"/>
                                        </p:tgtEl>
                                      </p:cBhvr>
                                    </p:animEffect>
                                    <p:anim calcmode="lin" valueType="num">
                                      <p:cBhvr>
                                        <p:cTn id="68" dur="100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1000"/>
                                        <p:tgtEl>
                                          <p:spTgt spid="18"/>
                                        </p:tgtEl>
                                      </p:cBhvr>
                                    </p:animEffect>
                                    <p:anim calcmode="lin" valueType="num">
                                      <p:cBhvr>
                                        <p:cTn id="7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1000"/>
                                        <p:tgtEl>
                                          <p:spTgt spid="19"/>
                                        </p:tgtEl>
                                      </p:cBhvr>
                                    </p:animEffect>
                                    <p:anim calcmode="lin" valueType="num">
                                      <p:cBhvr>
                                        <p:cTn id="7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Course Rhythm: 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Scripture each week </a:t>
            </a:r>
            <a:r>
              <a:rPr lang="en-US" sz="2000" b="1" dirty="0">
                <a:solidFill>
                  <a:srgbClr val="4F81BD"/>
                </a:solidFill>
                <a:latin typeface="Arial" pitchFamily="34" charset="0"/>
                <a:ea typeface="Arial" pitchFamily="34" charset="-122"/>
                <a:cs typeface="Arial" pitchFamily="34" charset="-120"/>
                <a:sym typeface="Wingdings" pitchFamily="2" charset="2"/>
              </a:rPr>
              <a:t> </a:t>
            </a:r>
            <a:r>
              <a:rPr lang="en-US" sz="2000" b="1" dirty="0">
                <a:solidFill>
                  <a:srgbClr val="4F81BD"/>
                </a:solidFill>
                <a:latin typeface="Arial" pitchFamily="34" charset="0"/>
                <a:ea typeface="Arial" pitchFamily="34" charset="-122"/>
                <a:cs typeface="Arial" pitchFamily="34" charset="-120"/>
              </a:rPr>
              <a:t>eager, and examining</a:t>
            </a:r>
            <a:endParaRPr lang="en-US" sz="2800" dirty="0"/>
          </a:p>
        </p:txBody>
      </p:sp>
      <p:sp>
        <p:nvSpPr>
          <p:cNvPr id="4" name="z1"/>
          <p:cNvSpPr txBox="1"/>
          <p:nvPr/>
        </p:nvSpPr>
        <p:spPr>
          <a:xfrm>
            <a:off x="365760" y="1069848"/>
            <a:ext cx="8412480" cy="975058"/>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“They accepted the message with all </a:t>
            </a:r>
            <a:r>
              <a:rPr lang="en-US" b="1" i="1" u="sng" dirty="0">
                <a:solidFill>
                  <a:srgbClr val="000000"/>
                </a:solidFill>
                <a:latin typeface="Arial" pitchFamily="34" charset="0"/>
                <a:ea typeface="Arial" pitchFamily="34" charset="-122"/>
                <a:cs typeface="Arial" pitchFamily="34" charset="-120"/>
              </a:rPr>
              <a:t>eagerness</a:t>
            </a:r>
            <a:r>
              <a:rPr lang="en-US" b="1" i="1" dirty="0">
                <a:solidFill>
                  <a:srgbClr val="000000"/>
                </a:solidFill>
                <a:latin typeface="Arial" pitchFamily="34" charset="0"/>
                <a:ea typeface="Arial" pitchFamily="34" charset="-122"/>
                <a:cs typeface="Arial" pitchFamily="34" charset="-120"/>
              </a:rPr>
              <a:t>, </a:t>
            </a:r>
            <a:r>
              <a:rPr lang="en-US" b="1" i="1" u="sng" dirty="0">
                <a:solidFill>
                  <a:srgbClr val="000000"/>
                </a:solidFill>
                <a:latin typeface="Arial" pitchFamily="34" charset="0"/>
                <a:ea typeface="Arial" pitchFamily="34" charset="-122"/>
                <a:cs typeface="Arial" pitchFamily="34" charset="-120"/>
              </a:rPr>
              <a:t>examining</a:t>
            </a:r>
            <a:r>
              <a:rPr lang="en-US" b="1" i="1" dirty="0">
                <a:solidFill>
                  <a:srgbClr val="000000"/>
                </a:solidFill>
                <a:latin typeface="Arial" pitchFamily="34" charset="0"/>
                <a:ea typeface="Arial" pitchFamily="34" charset="-122"/>
                <a:cs typeface="Arial" pitchFamily="34" charset="-120"/>
              </a:rPr>
              <a:t> the scriptures carefully every day to see if these things were so.” </a:t>
            </a:r>
            <a:r>
              <a:rPr lang="en-US" b="1" dirty="0">
                <a:solidFill>
                  <a:srgbClr val="000000"/>
                </a:solidFill>
                <a:latin typeface="Arial" pitchFamily="34" charset="0"/>
                <a:ea typeface="Arial" pitchFamily="34" charset="-122"/>
                <a:cs typeface="Arial" pitchFamily="34" charset="-120"/>
              </a:rPr>
              <a:t>(Acts 17:11)</a:t>
            </a:r>
            <a:endParaRPr lang="en-US" sz="2000" dirty="0"/>
          </a:p>
          <a:p>
            <a:pPr lvl="1"/>
            <a:r>
              <a:rPr lang="en-US" b="1" dirty="0">
                <a:solidFill>
                  <a:srgbClr val="000000"/>
                </a:solidFill>
                <a:latin typeface="Arial" pitchFamily="34" charset="0"/>
                <a:ea typeface="Arial" pitchFamily="34" charset="-122"/>
                <a:cs typeface="Arial" pitchFamily="34" charset="-120"/>
              </a:rPr>
              <a:t>- Both halves, every week: </a:t>
            </a:r>
            <a:r>
              <a:rPr lang="en-US" b="1" i="1" dirty="0">
                <a:solidFill>
                  <a:srgbClr val="000000"/>
                </a:solidFill>
                <a:latin typeface="Arial" pitchFamily="34" charset="0"/>
                <a:ea typeface="Arial" pitchFamily="34" charset="-122"/>
                <a:cs typeface="Arial" pitchFamily="34" charset="-120"/>
              </a:rPr>
              <a:t>want it to be true</a:t>
            </a:r>
            <a:r>
              <a:rPr lang="en-US" b="1" dirty="0">
                <a:solidFill>
                  <a:srgbClr val="000000"/>
                </a:solidFill>
                <a:latin typeface="Arial" pitchFamily="34" charset="0"/>
                <a:ea typeface="Arial" pitchFamily="34" charset="-122"/>
                <a:cs typeface="Arial" pitchFamily="34" charset="-120"/>
              </a:rPr>
              <a:t> </a:t>
            </a:r>
            <a:r>
              <a:rPr lang="en-US" b="1" dirty="0">
                <a:solidFill>
                  <a:srgbClr val="000000"/>
                </a:solidFill>
                <a:latin typeface="Arial" pitchFamily="34" charset="0"/>
                <a:ea typeface="Arial" pitchFamily="34" charset="-122"/>
                <a:cs typeface="Arial" pitchFamily="34" charset="-120"/>
                <a:sym typeface="Wingdings" pitchFamily="2" charset="2"/>
              </a:rPr>
              <a:t></a:t>
            </a:r>
            <a:r>
              <a:rPr lang="en-US" b="1" dirty="0">
                <a:solidFill>
                  <a:srgbClr val="000000"/>
                </a:solidFill>
                <a:latin typeface="Arial" pitchFamily="34" charset="0"/>
                <a:ea typeface="Arial" pitchFamily="34" charset="-122"/>
                <a:cs typeface="Arial" pitchFamily="34" charset="-120"/>
              </a:rPr>
              <a:t> </a:t>
            </a:r>
            <a:r>
              <a:rPr lang="en-US" b="1" i="1" dirty="0">
                <a:solidFill>
                  <a:srgbClr val="000000"/>
                </a:solidFill>
                <a:latin typeface="Arial" pitchFamily="34" charset="0"/>
                <a:ea typeface="Arial" pitchFamily="34" charset="-122"/>
                <a:cs typeface="Arial" pitchFamily="34" charset="-120"/>
              </a:rPr>
              <a:t>and check that it is</a:t>
            </a:r>
            <a:r>
              <a:rPr lang="en-US" b="1" dirty="0">
                <a:solidFill>
                  <a:srgbClr val="000000"/>
                </a:solidFill>
                <a:latin typeface="Arial" pitchFamily="34" charset="0"/>
                <a:ea typeface="Arial" pitchFamily="34" charset="-122"/>
                <a:cs typeface="Arial" pitchFamily="34" charset="-120"/>
              </a:rPr>
              <a:t>.</a:t>
            </a:r>
            <a:endParaRPr lang="en-US" sz="2000" dirty="0"/>
          </a:p>
        </p:txBody>
      </p:sp>
      <p:sp>
        <p:nvSpPr>
          <p:cNvPr id="5" name="z2"/>
          <p:cNvSpPr txBox="1"/>
          <p:nvPr/>
        </p:nvSpPr>
        <p:spPr>
          <a:xfrm>
            <a:off x="365760" y="2058837"/>
            <a:ext cx="8412480" cy="2190508"/>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For next week, read:
</a:t>
            </a:r>
            <a:r>
              <a:rPr lang="en-US" sz="2000" dirty="0">
                <a:solidFill>
                  <a:srgbClr val="000000"/>
                </a:solidFill>
                <a:latin typeface="Arial" pitchFamily="34" charset="0"/>
                <a:cs typeface="Arial" pitchFamily="34" charset="-120"/>
              </a:rPr>
              <a:t>•  </a:t>
            </a:r>
            <a:r>
              <a:rPr lang="en-US" sz="2000" b="1" dirty="0">
                <a:solidFill>
                  <a:srgbClr val="000000"/>
                </a:solidFill>
                <a:latin typeface="Arial" pitchFamily="34" charset="0"/>
                <a:cs typeface="Arial" pitchFamily="34" charset="-120"/>
              </a:rPr>
              <a:t>Genesis 22:1–19</a:t>
            </a:r>
            <a:r>
              <a:rPr lang="en-US" sz="2000" dirty="0">
                <a:solidFill>
                  <a:srgbClr val="000000"/>
                </a:solidFill>
                <a:latin typeface="Arial" pitchFamily="34" charset="0"/>
                <a:cs typeface="Arial" pitchFamily="34" charset="-120"/>
              </a:rPr>
              <a:t>  </a:t>
            </a:r>
            <a:r>
              <a:rPr lang="en-US" sz="2000" dirty="0">
                <a:solidFill>
                  <a:srgbClr val="000000"/>
                </a:solidFill>
                <a:latin typeface="Arial" pitchFamily="34" charset="0"/>
                <a:cs typeface="Arial" pitchFamily="34" charset="-120"/>
                <a:sym typeface="Wingdings" pitchFamily="2" charset="2"/>
              </a:rPr>
              <a:t></a:t>
            </a:r>
            <a:r>
              <a:rPr lang="en-US" sz="2000" dirty="0">
                <a:solidFill>
                  <a:srgbClr val="000000"/>
                </a:solidFill>
                <a:latin typeface="Arial" pitchFamily="34" charset="0"/>
                <a:cs typeface="Arial" pitchFamily="34" charset="-120"/>
              </a:rPr>
              <a:t> What exactly does God ask for, and when does Abraham’s faith become visible?
•  </a:t>
            </a:r>
            <a:r>
              <a:rPr lang="en-US" sz="2000" b="1" dirty="0">
                <a:solidFill>
                  <a:srgbClr val="000000"/>
                </a:solidFill>
                <a:latin typeface="Arial" pitchFamily="34" charset="0"/>
                <a:cs typeface="Arial" pitchFamily="34" charset="-120"/>
              </a:rPr>
              <a:t>Hebrews 11:17–19</a:t>
            </a:r>
            <a:r>
              <a:rPr lang="en-US" sz="2000" dirty="0">
                <a:solidFill>
                  <a:srgbClr val="000000"/>
                </a:solidFill>
                <a:latin typeface="Arial" pitchFamily="34" charset="0"/>
                <a:cs typeface="Arial" pitchFamily="34" charset="-120"/>
              </a:rPr>
              <a:t>  </a:t>
            </a:r>
            <a:r>
              <a:rPr lang="en-US" sz="2000" dirty="0">
                <a:solidFill>
                  <a:srgbClr val="000000"/>
                </a:solidFill>
                <a:latin typeface="Arial" pitchFamily="34" charset="0"/>
                <a:cs typeface="Arial" pitchFamily="34" charset="-120"/>
                <a:sym typeface="Wingdings" pitchFamily="2" charset="2"/>
              </a:rPr>
              <a:t></a:t>
            </a:r>
            <a:r>
              <a:rPr lang="en-US" sz="2000" dirty="0">
                <a:solidFill>
                  <a:srgbClr val="000000"/>
                </a:solidFill>
                <a:latin typeface="Arial" pitchFamily="34" charset="0"/>
                <a:cs typeface="Arial" pitchFamily="34" charset="-120"/>
              </a:rPr>
              <a:t> What did Abraham reason, and what did the test prove?</a:t>
            </a:r>
          </a:p>
          <a:p>
            <a:pPr marL="342900" indent="-342900" algn="l">
              <a:buFont typeface="Arial" panose="020B0604020202020204" pitchFamily="34" charset="0"/>
              <a:buChar char="•"/>
            </a:pPr>
            <a:r>
              <a:rPr lang="en-US" sz="2000" dirty="0">
                <a:solidFill>
                  <a:srgbClr val="000000"/>
                </a:solidFill>
                <a:latin typeface="Arial" pitchFamily="34" charset="0"/>
                <a:cs typeface="Arial" pitchFamily="34" charset="-120"/>
              </a:rPr>
              <a:t>Document </a:t>
            </a:r>
            <a:r>
              <a:rPr lang="en-US" sz="2000" dirty="0">
                <a:solidFill>
                  <a:srgbClr val="000000"/>
                </a:solidFill>
                <a:latin typeface="Arial" pitchFamily="34" charset="0"/>
                <a:cs typeface="Arial" pitchFamily="34" charset="-120"/>
                <a:sym typeface="Wingdings" pitchFamily="2" charset="2"/>
              </a:rPr>
              <a:t> Faith Tests Across Covenants</a:t>
            </a:r>
          </a:p>
          <a:p>
            <a:pPr marL="342900" indent="-342900" algn="l">
              <a:buFont typeface="Arial" panose="020B0604020202020204" pitchFamily="34" charset="0"/>
              <a:buChar char="•"/>
            </a:pPr>
            <a:r>
              <a:rPr lang="en-US" sz="2000" dirty="0">
                <a:solidFill>
                  <a:srgbClr val="000000"/>
                </a:solidFill>
                <a:latin typeface="Arial" pitchFamily="34" charset="0"/>
                <a:cs typeface="Arial" pitchFamily="34" charset="-120"/>
                <a:sym typeface="Wingdings" pitchFamily="2" charset="2"/>
              </a:rPr>
              <a:t>Document  God’s Will – Three Observed Types</a:t>
            </a:r>
            <a:endParaRPr lang="en-US" sz="2000" dirty="0"/>
          </a:p>
          <a:p>
            <a:pPr marL="0" indent="0" algn="l">
              <a:buNone/>
            </a:pPr>
            <a:endParaRPr lang="en-US" dirty="0">
              <a:solidFill>
                <a:srgbClr val="000000"/>
              </a:solidFill>
              <a:latin typeface="Arial" pitchFamily="34" charset="0"/>
              <a:ea typeface="Arial" pitchFamily="34" charset="-122"/>
              <a:cs typeface="Arial" pitchFamily="34" charset="-120"/>
            </a:endParaRPr>
          </a:p>
        </p:txBody>
      </p:sp>
      <p:sp>
        <p:nvSpPr>
          <p:cNvPr id="6" name="z3"/>
          <p:cNvSpPr txBox="1"/>
          <p:nvPr/>
        </p:nvSpPr>
        <p:spPr>
          <a:xfrm>
            <a:off x="365760" y="4494739"/>
            <a:ext cx="8412480" cy="632691"/>
          </a:xfrm>
          <a:prstGeom prst="rect">
            <a:avLst/>
          </a:prstGeom>
          <a:noFill/>
          <a:ln/>
        </p:spPr>
        <p:txBody>
          <a:bodyPr wrap="square" lIns="0" tIns="0" rIns="0" bIns="0" rtlCol="0" anchor="t"/>
          <a:lstStyle/>
          <a:p>
            <a:r>
              <a:rPr lang="en-US" sz="1600" b="1" dirty="0">
                <a:solidFill>
                  <a:srgbClr val="000000"/>
                </a:solidFill>
                <a:latin typeface="Arial" pitchFamily="34" charset="0"/>
                <a:ea typeface="Arial" pitchFamily="34" charset="-122"/>
                <a:cs typeface="Arial" pitchFamily="34" charset="-120"/>
              </a:rPr>
              <a:t>Next week: </a:t>
            </a:r>
            <a:r>
              <a:rPr lang="en-US" b="1" dirty="0"/>
              <a:t>Good Intentions Are Not Enough </a:t>
            </a:r>
            <a:r>
              <a:rPr lang="en-US" b="1" dirty="0">
                <a:sym typeface="Wingdings" pitchFamily="2" charset="2"/>
              </a:rPr>
              <a:t> </a:t>
            </a:r>
            <a:r>
              <a:rPr lang="en-US" dirty="0"/>
              <a:t>sincerity cannot substitute for God's revealed will; the question of worship is "Has God spoken?"</a:t>
            </a:r>
            <a:endParaRPr lang="en-US" b="1" dirty="0"/>
          </a:p>
          <a:p>
            <a:pPr marL="0" indent="0" algn="l">
              <a:buNone/>
            </a:pPr>
            <a:endParaRPr lang="en-US" sz="1600" dirty="0"/>
          </a:p>
        </p:txBody>
      </p:sp>
      <p:sp>
        <p:nvSpPr>
          <p:cNvPr id="7" name="z4"/>
          <p:cNvSpPr txBox="1"/>
          <p:nvPr/>
        </p:nvSpPr>
        <p:spPr>
          <a:xfrm>
            <a:off x="365760" y="5421215"/>
            <a:ext cx="8412480" cy="365760"/>
          </a:xfrm>
          <a:prstGeom prst="rect">
            <a:avLst/>
          </a:prstGeom>
          <a:noFill/>
          <a:ln/>
        </p:spPr>
        <p:txBody>
          <a:bodyPr wrap="square" lIns="0" tIns="0" rIns="0" bIns="0" rtlCol="0" anchor="t"/>
          <a:lstStyle/>
          <a:p>
            <a:pPr marL="0" indent="0" algn="ctr">
              <a:buNone/>
            </a:pPr>
            <a:r>
              <a:rPr lang="en-US" sz="2000" b="1" i="1" dirty="0">
                <a:solidFill>
                  <a:srgbClr val="1F497D"/>
                </a:solidFill>
                <a:latin typeface="Arial" pitchFamily="34" charset="0"/>
                <a:ea typeface="Arial" pitchFamily="34" charset="-122"/>
                <a:cs typeface="Arial" pitchFamily="34" charset="-120"/>
              </a:rPr>
              <a:t>“Taste and see that the LORD is good!”  (Psalm 34:8)</a:t>
            </a:r>
            <a:endParaRPr lang="en-US" dirty="0"/>
          </a:p>
        </p:txBody>
      </p:sp>
      <p:sp>
        <p:nvSpPr>
          <p:cNvPr id="8" name="z5"/>
          <p:cNvSpPr txBox="1"/>
          <p:nvPr/>
        </p:nvSpPr>
        <p:spPr>
          <a:xfrm>
            <a:off x="365760" y="6080760"/>
            <a:ext cx="8412480" cy="365760"/>
          </a:xfrm>
          <a:prstGeom prst="rect">
            <a:avLst/>
          </a:prstGeom>
          <a:noFill/>
          <a:ln/>
        </p:spPr>
        <p:txBody>
          <a:bodyPr wrap="square" lIns="0" tIns="0" rIns="0" bIns="0" rtlCol="0" anchor="t"/>
          <a:lstStyle/>
          <a:p>
            <a:pPr marL="0" indent="0" algn="ctr">
              <a:buNone/>
            </a:pPr>
            <a:r>
              <a:rPr lang="en-US" b="1" u="sng" dirty="0">
                <a:solidFill>
                  <a:srgbClr val="4F81BD"/>
                </a:solidFill>
                <a:latin typeface="Arial" pitchFamily="34" charset="0"/>
                <a:ea typeface="Arial" pitchFamily="34" charset="-122"/>
                <a:cs typeface="Arial" pitchFamily="34" charset="-120"/>
              </a:rPr>
              <a:t>http://</a:t>
            </a:r>
            <a:r>
              <a:rPr lang="en-US" b="1" u="sng" dirty="0" err="1">
                <a:solidFill>
                  <a:srgbClr val="4F81BD"/>
                </a:solidFill>
                <a:latin typeface="Arial" pitchFamily="34" charset="0"/>
                <a:ea typeface="Arial" pitchFamily="34" charset="-122"/>
                <a:cs typeface="Arial" pitchFamily="34" charset="-120"/>
              </a:rPr>
              <a:t>TeachTheWord.Church</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TotalTime>
  <Words>2458</Words>
  <Application>Microsoft Macintosh PowerPoint</Application>
  <PresentationFormat>On-screen Show (4:3)</PresentationFormat>
  <Paragraphs>113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18</cp:revision>
  <cp:lastPrinted>2026-10-10T16:57:54Z</cp:lastPrinted>
  <dcterms:created xsi:type="dcterms:W3CDTF">2026-09-29T13:20:25Z</dcterms:created>
  <dcterms:modified xsi:type="dcterms:W3CDTF">2026-10-10T17:17:27Z</dcterms:modified>
</cp:coreProperties>
</file>