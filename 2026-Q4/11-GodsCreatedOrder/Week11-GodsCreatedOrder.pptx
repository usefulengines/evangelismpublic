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10"/>
    <p:restoredTop sz="94610"/>
  </p:normalViewPr>
  <p:slideViewPr>
    <p:cSldViewPr snapToGrid="0" snapToObjects="1">
      <p:cViewPr varScale="1">
        <p:scale>
          <a:sx n="150" d="100"/>
          <a:sy n="150" d="100"/>
        </p:scale>
        <p:origin x="10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49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MAXIMUM CARE WEEK. Tone-set at once, warmly: “This is the most contested lesson in the course, and it touches people personally. I’m going to argue a narrow position </a:t>
            </a:r>
            <a:r>
              <a:rPr lang="en-US"/>
              <a:t>→ </a:t>
            </a:r>
            <a:r>
              <a:rPr lang="en-US" dirty="0"/>
              <a:t>and I’m going to spend as much time on what Scripture does NOT restrict as on what it does, because both are in the text. Test me hard. If you disagree, you’re in good company with people who love this Bible. Let’s reason together.” Note the title verse is “let a woman LEARN” </a:t>
            </a:r>
            <a:r>
              <a:rPr lang="en-US"/>
              <a:t>→</a:t>
            </a:r>
            <a:r>
              <a:rPr lang="en-US" dirty="0"/>
              <a:t> chosen deliberately to open on the passage’s dignifying command, not a prohibition.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[0:00–10:00]
LEAD WITH EQUALITY </a:t>
            </a:r>
            <a:r>
              <a:rPr lang="en-US"/>
              <a:t>→ </a:t>
            </a:r>
            <a:r>
              <a:rPr lang="en-US" dirty="0"/>
              <a:t>this order is deliberate and pastoral. The class hears “equal image, shared mandate” BEFORE any restriction.
[CLICK] Gen 1–2 </a:t>
            </a:r>
            <a:r>
              <a:rPr lang="en-US"/>
              <a:t>→ </a:t>
            </a:r>
            <a:r>
              <a:rPr lang="en-US" dirty="0"/>
              <a:t>equal AND ordered, and the order is PRE-fall (design). “Helper” (ezer) is a strong word </a:t>
            </a:r>
            <a:r>
              <a:rPr lang="en-US"/>
              <a:t>→ </a:t>
            </a:r>
            <a:r>
              <a:rPr lang="en-US" dirty="0"/>
              <a:t>used of God Himself helping Israel. Not subordinate-assistant.
[CLICK] Gen 3 </a:t>
            </a:r>
            <a:r>
              <a:rPr lang="en-US"/>
              <a:t>→ </a:t>
            </a:r>
            <a:r>
              <a:rPr lang="en-US" dirty="0"/>
              <a:t>disorder enters by deception. Paul will appeal to this, not to demean but to diagnose.
[CLICK] 1 Tim 2:13–14 </a:t>
            </a:r>
            <a:r>
              <a:rPr lang="en-US"/>
              <a:t>→ </a:t>
            </a:r>
            <a:r>
              <a:rPr lang="en-US" dirty="0"/>
              <a:t>read it plainly.
[CLICK] THE CRUCIAL GUARD </a:t>
            </a:r>
            <a:r>
              <a:rPr lang="en-US"/>
              <a:t>→ </a:t>
            </a:r>
            <a:r>
              <a:rPr lang="en-US" dirty="0"/>
              <a:t>spend real time here. v.14 describes the garden event, NOT a female defect. And Adam bears primary blame everywhere else (Rom 5). Kill the “women are gullible” misreading dead, out loud. This protects every woman in the room and shows you read carefully. Transition: “Now the disputed text itself </a:t>
            </a:r>
            <a:r>
              <a:rPr lang="en-US"/>
              <a:t>→</a:t>
            </a:r>
            <a:r>
              <a:rPr lang="en-US" dirty="0"/>
              <a:t> and notice how it OPENS.”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[10:00–24:00]
[CLICK] START ON “LET HER LEARN” </a:t>
            </a:r>
            <a:r>
              <a:rPr lang="en-US"/>
              <a:t>→ </a:t>
            </a:r>
            <a:r>
              <a:rPr lang="en-US" dirty="0"/>
              <a:t>the passage’s first move is to DIGNIFY. In much of the ancient world women weren’t discipled as students; Paul commands it. Frame the whole text as pro-woman-as-disciple.
[CLICK] 2:12 + hesychia </a:t>
            </a:r>
            <a:r>
              <a:rPr lang="en-US"/>
              <a:t>→ </a:t>
            </a:r>
            <a:r>
              <a:rPr lang="en-US" dirty="0"/>
              <a:t>settled, not silenced (it’s the same word as “peaceful and quiet life” in 2:2, which nobody thinks means mute). Precision protects against overreach.
[CLICK] Scope from within the letter </a:t>
            </a:r>
            <a:r>
              <a:rPr lang="en-US"/>
              <a:t>→ </a:t>
            </a:r>
            <a:r>
              <a:rPr lang="en-US" dirty="0"/>
              <a:t>“teach” in 1 Timothy is doctrinal GOVERNANCE (1:3; 4:11; 6:2–3), and 3:2 immediately ties teaching to the overseer role. So the restriction is the governing office, not all speech. This is the NARROW position </a:t>
            </a:r>
            <a:r>
              <a:rPr lang="en-US"/>
              <a:t>→ </a:t>
            </a:r>
            <a:r>
              <a:rPr lang="en-US" dirty="0"/>
              <a:t>name it as narrow.
[CLICK] The Ephesus-vs-Genesis point (last week’s bridge, now cashed). Paul demonstrably CAN give a local reason (5:14) and doesn’t here </a:t>
            </a:r>
            <a:r>
              <a:rPr lang="en-US"/>
              <a:t>→ </a:t>
            </a:r>
            <a:r>
              <a:rPr lang="en-US" dirty="0"/>
              <a:t>he grounds it in creation. Be fair: some read 2:13 itself as culturally shaped; note that honestly, then give your reason for taking it as trans-local. Transition: “Now </a:t>
            </a:r>
            <a:r>
              <a:rPr lang="en-US"/>
              <a:t>→ </a:t>
            </a:r>
            <a:r>
              <a:rPr lang="en-US" dirty="0"/>
              <a:t>and this is half the lesson </a:t>
            </a:r>
            <a:r>
              <a:rPr lang="en-US"/>
              <a:t>→</a:t>
            </a:r>
            <a:r>
              <a:rPr lang="en-US" dirty="0"/>
              <a:t> what is NOT restricted.”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[24:00–34:00 </a:t>
            </a:r>
            <a:r>
              <a:rPr lang="en-US"/>
              <a:t>→ </a:t>
            </a:r>
            <a:r>
              <a:rPr lang="en-US" dirty="0"/>
              <a:t>THIS IS HALF THE LESSON. Give it equal weight to the restriction.]
The four green boxes appear one at a time. Deliver each as GOOD NEWS stated positively </a:t>
            </a:r>
            <a:r>
              <a:rPr lang="en-US"/>
              <a:t>→ </a:t>
            </a:r>
            <a:r>
              <a:rPr lang="en-US" dirty="0"/>
              <a:t>not “women may do these lesser things” but “Scripture PLAINLY shows women doing these, and honors them for it.”
[CLICK] Pray &amp; prophesy </a:t>
            </a:r>
            <a:r>
              <a:rPr lang="en-US"/>
              <a:t>→ </a:t>
            </a:r>
            <a:r>
              <a:rPr lang="en-US" dirty="0"/>
              <a:t>1 Cor 11:5 assumes it; Paul regulates manner, not permission. Huge: prophecy is public, Spirit-given speech.
[CLICK] Gospel labor </a:t>
            </a:r>
            <a:r>
              <a:rPr lang="en-US"/>
              <a:t>→ </a:t>
            </a:r>
            <a:r>
              <a:rPr lang="en-US" dirty="0"/>
              <a:t>Euodia &amp; Syntyche “struggled beside me”; Rom 16 names ~10 women. Paul’s ministry ran ON women coworkers.
[CLICK] Deacon </a:t>
            </a:r>
            <a:r>
              <a:rPr lang="en-US"/>
              <a:t>→ </a:t>
            </a:r>
            <a:r>
              <a:rPr lang="en-US" dirty="0"/>
              <a:t>Phoebe, diakonos, entrusted with the Roman letter itself by many reckonings.
[CLICK] Teaching in fitting settings </a:t>
            </a:r>
            <a:r>
              <a:rPr lang="en-US"/>
              <a:t>→ </a:t>
            </a:r>
            <a:r>
              <a:rPr lang="en-US" dirty="0"/>
              <a:t>Titus 2 COMMANDS older women to teach; Priscilla teaches Apollos (privately, with her husband). Teaching per se is not the issue </a:t>
            </a:r>
            <a:r>
              <a:rPr lang="en-US"/>
              <a:t>→ </a:t>
            </a:r>
            <a:r>
              <a:rPr lang="en-US" dirty="0"/>
              <a:t>the governing office is.
[CLICK] The 11:5 / 14:34 reconciliation </a:t>
            </a:r>
            <a:r>
              <a:rPr lang="en-US"/>
              <a:t>→</a:t>
            </a:r>
            <a:r>
              <a:rPr lang="en-US" dirty="0"/>
              <a:t> prophecy vs. authoritative weighing (14:29). Hold BOTH; explain neither away. This is the Week-8 “by this we know” care applied to a hard pair. Transition: “So let’s be precise about what rests on WHAT.”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[34:00–42:00]
[CLICK-less table appears whole] Walk the ranking top to bottom. The POINT is intellectual honesty: color-coded strength. Green = explicit texts (elder office, governing teaching). Gold = contextual (weighing prophecy). RED = rests on early PRACTICE, not command (baptizing/presiding). SAY THE RED ROW OUT LOUD as weak </a:t>
            </a:r>
            <a:r>
              <a:rPr lang="en-US"/>
              <a:t>→ </a:t>
            </a:r>
            <a:r>
              <a:rPr lang="en-US" dirty="0"/>
              <a:t>“I won’t claim Scripture forbids a woman baptizing; it doesn’t. The early church did; that’s testimony, not command.” Conceding this buys enormous credibility for the strong rows.
[CLICK] The honesty principle </a:t>
            </a:r>
            <a:r>
              <a:rPr lang="en-US"/>
              <a:t>→ </a:t>
            </a:r>
            <a:r>
              <a:rPr lang="en-US" dirty="0"/>
              <a:t>overclaiming weak points discredits strong ones (this is the whole ethic of the week).
[CLICK] Equality/function + Trinity anchor. 1 Cor 11:3: the Son is fully God AND ordered to the Father </a:t>
            </a:r>
            <a:r>
              <a:rPr lang="en-US"/>
              <a:t>→</a:t>
            </a:r>
            <a:r>
              <a:rPr lang="en-US" dirty="0"/>
              <a:t> order ≠ inferiority. Handle gently; don’t wade into eternal-subordination debates, just the plain point: functional order coexists with equal worth. Transition: “What is all this FOR?”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[42:00 purpose → 45:00 discussion → 55:00]
[CLICK] PURPOSE </a:t>
            </a:r>
            <a:r>
              <a:rPr lang="en-US"/>
              <a:t>→ </a:t>
            </a:r>
            <a:r>
              <a:rPr lang="en-US" dirty="0"/>
              <a:t>land the heart before opening the floor. Not control; communion. Household/family imagery. This reframes the whole hour from restriction to ordered love. Do NOT skip this even if tight </a:t>
            </a:r>
            <a:r>
              <a:rPr lang="en-US"/>
              <a:t>→ </a:t>
            </a:r>
            <a:r>
              <a:rPr lang="en-US" dirty="0"/>
              <a:t>it’s the pastoral resolution.
[CLICK] Q1 </a:t>
            </a:r>
            <a:r>
              <a:rPr lang="en-US"/>
              <a:t>→ </a:t>
            </a:r>
            <a:r>
              <a:rPr lang="en-US" dirty="0"/>
              <a:t>“let her learn” reframes the passage as pro-discipleship; and culture-vs-creation grounding (last week’s tool) decides whether a text is a waypoint or a pattern.
[CLICK] Q2 </a:t>
            </a:r>
            <a:r>
              <a:rPr lang="en-US"/>
              <a:t>→ </a:t>
            </a:r>
            <a:r>
              <a:rPr lang="en-US" dirty="0"/>
              <a:t>the humility question. Both overclaiming (making it about worth, or forbidding what Scripture permits) AND underclaiming (explaining away the plain restriction) are errors. Invite honest examples </a:t>
            </a:r>
            <a:r>
              <a:rPr lang="en-US"/>
              <a:t>→</a:t>
            </a:r>
            <a:r>
              <a:rPr lang="en-US" dirty="0"/>
              <a:t> gently, first-person, no naming absent people or churches.
EXTRA CARE facilitating: some women present may have felt diminished by bad teaching on this; some hold egalitarian views sincerely. Protect everyone. If it gets heated, return to the text and to “brothers and sisters.” Read the ground rule aloud.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close, ~2 min]
[CLICK] Next week’s reading </a:t>
            </a:r>
            <a:r>
              <a:rPr lang="en-US"/>
              <a:t>→ </a:t>
            </a:r>
            <a:r>
              <a:rPr lang="en-US" dirty="0"/>
              <a:t>the finale; both flags (“obey” in the Commission; “ought to be teachers”) tie the whole course together.
[CLICK] Preview Week 12 </a:t>
            </a:r>
            <a:r>
              <a:rPr lang="en-US"/>
              <a:t>→ </a:t>
            </a:r>
            <a:r>
              <a:rPr lang="en-US" dirty="0"/>
              <a:t>the landing.
[CLICK] Carry sentence </a:t>
            </a:r>
            <a:r>
              <a:rPr lang="en-US"/>
              <a:t>→ </a:t>
            </a:r>
            <a:r>
              <a:rPr lang="en-US" dirty="0"/>
              <a:t>four beats: grounded, narrow, generous, for communion. Say it together.
[CLICK] Close deliberately on “let a woman LEARN” </a:t>
            </a:r>
            <a:r>
              <a:rPr lang="en-US"/>
              <a:t>→</a:t>
            </a:r>
            <a:r>
              <a:rPr lang="en-US" dirty="0"/>
              <a:t> end where the passage begins, on dignity, not restriction. Dismiss warmly and unhurried; linger if people want to talk.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40080"/>
            <a:ext cx="8046720" cy="457200"/>
          </a:xfrm>
          <a:prstGeom prst="rect">
            <a:avLst/>
          </a:prstGeom>
          <a:noFill/>
          <a:ln/>
        </p:spPr>
        <p:txBody>
          <a:bodyPr wrap="square" lIns="0" tIns="0" rIns="0" bIns="0" rtlCol="0" anchor="t"/>
          <a:lstStyle/>
          <a:p>
            <a:pPr marL="0" indent="0" algn="ctr">
              <a:buNone/>
            </a:pPr>
            <a:r>
              <a:rPr lang="en-US" sz="1700" b="1" i="1" dirty="0">
                <a:solidFill>
                  <a:srgbClr val="4F81BD"/>
                </a:solidFill>
                <a:latin typeface="Arial" pitchFamily="34" charset="0"/>
                <a:ea typeface="Arial" pitchFamily="34" charset="-122"/>
                <a:cs typeface="Arial" pitchFamily="34" charset="-120"/>
              </a:rPr>
              <a:t>The Obedience of Faith - Week 11  ·  Unit IV: God’s House</a:t>
            </a:r>
            <a:endParaRPr lang="en-US" sz="1600" dirty="0"/>
          </a:p>
        </p:txBody>
      </p:sp>
      <p:sp>
        <p:nvSpPr>
          <p:cNvPr id="3" name="t1"/>
          <p:cNvSpPr txBox="1"/>
          <p:nvPr/>
        </p:nvSpPr>
        <p:spPr>
          <a:xfrm>
            <a:off x="548640" y="1188720"/>
            <a:ext cx="8046720" cy="822960"/>
          </a:xfrm>
          <a:prstGeom prst="rect">
            <a:avLst/>
          </a:prstGeom>
          <a:noFill/>
          <a:ln/>
        </p:spPr>
        <p:txBody>
          <a:bodyPr wrap="square" lIns="0" tIns="0" rIns="0" bIns="0" rtlCol="0" anchor="t"/>
          <a:lstStyle/>
          <a:p>
            <a:pPr marL="0" indent="0" algn="ctr">
              <a:buNone/>
            </a:pPr>
            <a:r>
              <a:rPr lang="en-US" sz="3200" b="1" dirty="0">
                <a:solidFill>
                  <a:srgbClr val="1F497D"/>
                </a:solidFill>
                <a:latin typeface="Arial" pitchFamily="34" charset="0"/>
                <a:ea typeface="Arial" pitchFamily="34" charset="-122"/>
                <a:cs typeface="Arial" pitchFamily="34" charset="-120"/>
              </a:rPr>
              <a:t>God’s Created Order in the Assembly</a:t>
            </a:r>
            <a:endParaRPr lang="en-US" sz="1600" dirty="0"/>
          </a:p>
        </p:txBody>
      </p:sp>
      <p:sp>
        <p:nvSpPr>
          <p:cNvPr id="4" name="t2"/>
          <p:cNvSpPr txBox="1"/>
          <p:nvPr/>
        </p:nvSpPr>
        <p:spPr>
          <a:xfrm>
            <a:off x="548640" y="2103120"/>
            <a:ext cx="8046720" cy="548640"/>
          </a:xfrm>
          <a:prstGeom prst="rect">
            <a:avLst/>
          </a:prstGeom>
          <a:noFill/>
          <a:ln/>
        </p:spPr>
        <p:txBody>
          <a:bodyPr wrap="square" lIns="0" tIns="0" rIns="0" bIns="0" rtlCol="0" anchor="t"/>
          <a:lstStyle/>
          <a:p>
            <a:pPr marL="0" indent="0" algn="ctr">
              <a:buNone/>
            </a:pPr>
            <a:r>
              <a:rPr lang="en-US" sz="1800" b="1" i="1" dirty="0">
                <a:solidFill>
                  <a:srgbClr val="1F497D"/>
                </a:solidFill>
                <a:latin typeface="Arial" pitchFamily="34" charset="0"/>
                <a:ea typeface="Arial" pitchFamily="34" charset="-122"/>
                <a:cs typeface="Arial" pitchFamily="34" charset="-120"/>
              </a:rPr>
              <a:t>A narrow, careful question </a:t>
            </a:r>
            <a:r>
              <a:rPr lang="en-US" sz="1800" b="1" i="1">
                <a:solidFill>
                  <a:srgbClr val="1F497D"/>
                </a:solidFill>
                <a:latin typeface="Arial" pitchFamily="34" charset="0"/>
                <a:ea typeface="Arial" pitchFamily="34" charset="-122"/>
                <a:cs typeface="Arial" pitchFamily="34" charset="-120"/>
              </a:rPr>
              <a:t>→</a:t>
            </a:r>
            <a:r>
              <a:rPr lang="en-US" sz="1800" b="1" i="1" dirty="0">
                <a:solidFill>
                  <a:srgbClr val="1F497D"/>
                </a:solidFill>
                <a:latin typeface="Arial" pitchFamily="34" charset="0"/>
                <a:ea typeface="Arial" pitchFamily="34" charset="-122"/>
                <a:cs typeface="Arial" pitchFamily="34" charset="-120"/>
              </a:rPr>
              <a:t> and the full breadth of women’s ministry</a:t>
            </a:r>
            <a:endParaRPr lang="en-US" sz="1600" dirty="0"/>
          </a:p>
        </p:txBody>
      </p:sp>
      <p:sp>
        <p:nvSpPr>
          <p:cNvPr id="5" name="t3"/>
          <p:cNvSpPr txBox="1"/>
          <p:nvPr/>
        </p:nvSpPr>
        <p:spPr>
          <a:xfrm>
            <a:off x="914400" y="2971800"/>
            <a:ext cx="7315200" cy="1371600"/>
          </a:xfrm>
          <a:prstGeom prst="rect">
            <a:avLst/>
          </a:prstGeom>
          <a:noFill/>
          <a:ln/>
        </p:spPr>
        <p:txBody>
          <a:bodyPr wrap="square" lIns="0" tIns="0" rIns="0" bIns="0" rtlCol="0" anchor="t"/>
          <a:lstStyle/>
          <a:p>
            <a:pPr marL="0" indent="0" algn="ctr">
              <a:buNone/>
            </a:pPr>
            <a:r>
              <a:rPr lang="en-US" sz="2800" i="1" dirty="0">
                <a:solidFill>
                  <a:srgbClr val="000000"/>
                </a:solidFill>
                <a:latin typeface="Arial" pitchFamily="34" charset="0"/>
                <a:ea typeface="Arial" pitchFamily="34" charset="-122"/>
                <a:cs typeface="Arial" pitchFamily="34" charset="-120"/>
              </a:rPr>
              <a:t>“Let a woman learn in quietness with all submissiveness.”</a:t>
            </a:r>
            <a:endParaRPr lang="en-US" sz="2000" dirty="0"/>
          </a:p>
          <a:p>
            <a:pPr marL="0" indent="0" algn="ctr">
              <a:buNone/>
            </a:pPr>
            <a:r>
              <a:rPr lang="en-US" sz="2400" dirty="0">
                <a:solidFill>
                  <a:srgbClr val="000000"/>
                </a:solidFill>
                <a:latin typeface="Arial" pitchFamily="34" charset="0"/>
                <a:ea typeface="Arial" pitchFamily="34" charset="-122"/>
                <a:cs typeface="Arial" pitchFamily="34" charset="-120"/>
              </a:rPr>
              <a:t>(1 Timothy 2:11)</a:t>
            </a:r>
            <a:endParaRPr lang="en-US" sz="2000" dirty="0"/>
          </a:p>
        </p:txBody>
      </p:sp>
      <p:sp>
        <p:nvSpPr>
          <p:cNvPr id="6" name="t4"/>
          <p:cNvSpPr txBox="1"/>
          <p:nvPr/>
        </p:nvSpPr>
        <p:spPr>
          <a:xfrm>
            <a:off x="914400" y="4858173"/>
            <a:ext cx="7315200" cy="457200"/>
          </a:xfrm>
          <a:prstGeom prst="rect">
            <a:avLst/>
          </a:prstGeom>
          <a:noFill/>
          <a:ln/>
        </p:spPr>
        <p:txBody>
          <a:bodyPr wrap="square" lIns="0" tIns="0" rIns="0" bIns="0" rtlCol="0" anchor="t"/>
          <a:lstStyle/>
          <a:p>
            <a:pPr marL="0" indent="0" algn="ctr">
              <a:buNone/>
            </a:pPr>
            <a:r>
              <a:rPr lang="en-US" sz="16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16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1600" b="1" u="sng" dirty="0" err="1">
                <a:solidFill>
                  <a:srgbClr val="4F81BD"/>
                </a:solidFill>
                <a:latin typeface="Arial" pitchFamily="34" charset="0"/>
                <a:ea typeface="Arial" pitchFamily="34" charset="-122"/>
                <a:cs typeface="Arial" pitchFamily="34" charset="-120"/>
              </a:rPr>
              <a:t>.Church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500" b="1" dirty="0">
                <a:solidFill>
                  <a:srgbClr val="1F497D"/>
                </a:solidFill>
                <a:latin typeface="Arial" pitchFamily="34" charset="0"/>
                <a:ea typeface="Arial" pitchFamily="34" charset="-122"/>
                <a:cs typeface="Arial" pitchFamily="34" charset="-120"/>
              </a:rPr>
              <a:t>The Storyline First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Creation → fall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before any restriction</a:t>
            </a:r>
            <a:endParaRPr lang="en-US" sz="2800" dirty="0"/>
          </a:p>
        </p:txBody>
      </p:sp>
      <p:sp>
        <p:nvSpPr>
          <p:cNvPr id="4" name="a1"/>
          <p:cNvSpPr txBox="1"/>
          <p:nvPr/>
        </p:nvSpPr>
        <p:spPr>
          <a:xfrm>
            <a:off x="365760" y="1051559"/>
            <a:ext cx="8412480" cy="1463039"/>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Genesis 1–2: equal and ordered.
</a:t>
            </a:r>
            <a:r>
              <a:rPr lang="en-US" dirty="0">
                <a:solidFill>
                  <a:srgbClr val="000000"/>
                </a:solidFill>
                <a:latin typeface="Arial" pitchFamily="34" charset="0"/>
                <a:ea typeface="Arial" pitchFamily="34" charset="-122"/>
                <a:cs typeface="Arial" pitchFamily="34" charset="-120"/>
              </a:rPr>
              <a:t>Man and woman equally bear God’s image and share the mandate to rule (1:27–28). And within that equality, an ordered partnership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Adam formed first, Eve from him as “a helper corresponding to him” (2:18), a strong ally. This differentiation exists BEFORE the fall </a:t>
            </a:r>
            <a:r>
              <a:rPr lang="en-US" dirty="0">
                <a:solidFill>
                  <a:srgbClr val="000000"/>
                </a:solidFill>
                <a:latin typeface="Arial" pitchFamily="34" charset="0"/>
                <a:ea typeface="Arial" pitchFamily="34" charset="-122"/>
                <a:cs typeface="Arial" pitchFamily="34" charset="-120"/>
                <a:sym typeface="Wingdings" pitchFamily="2" charset="2"/>
              </a:rPr>
              <a:t> </a:t>
            </a:r>
            <a:r>
              <a:rPr lang="en-US" dirty="0">
                <a:solidFill>
                  <a:srgbClr val="000000"/>
                </a:solidFill>
                <a:latin typeface="Arial" pitchFamily="34" charset="0"/>
                <a:ea typeface="Arial" pitchFamily="34" charset="-122"/>
                <a:cs typeface="Arial" pitchFamily="34" charset="-120"/>
              </a:rPr>
              <a:t>it is design, not curse.</a:t>
            </a:r>
            <a:endParaRPr lang="en-US" sz="2000" dirty="0"/>
          </a:p>
        </p:txBody>
      </p:sp>
      <p:sp>
        <p:nvSpPr>
          <p:cNvPr id="5" name="a2"/>
          <p:cNvSpPr txBox="1"/>
          <p:nvPr/>
        </p:nvSpPr>
        <p:spPr>
          <a:xfrm>
            <a:off x="365760" y="2547185"/>
            <a:ext cx="8412480" cy="109096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Genesis 3: disorder through deception.</a:t>
            </a:r>
            <a:r>
              <a:rPr lang="en-US" sz="1600" b="1" dirty="0">
                <a:solidFill>
                  <a:srgbClr val="1F497D"/>
                </a:solidFill>
                <a:latin typeface="Arial" pitchFamily="34" charset="0"/>
                <a:ea typeface="Arial" pitchFamily="34" charset="-122"/>
                <a:cs typeface="Arial" pitchFamily="34" charset="-120"/>
              </a:rPr>
              <a:t>
</a:t>
            </a:r>
            <a:r>
              <a:rPr lang="en-US" dirty="0">
                <a:solidFill>
                  <a:srgbClr val="000000"/>
                </a:solidFill>
                <a:latin typeface="Arial" pitchFamily="34" charset="0"/>
                <a:ea typeface="Arial" pitchFamily="34" charset="-122"/>
                <a:cs typeface="Arial" pitchFamily="34" charset="-120"/>
              </a:rPr>
              <a:t>The serpent deceives Eve; Adam fails to guard; harmony collapses into mistrust and domination. Paul appeals to this narrative → not to rank worth, but to show how deception unravels God’s order.</a:t>
            </a:r>
            <a:endParaRPr lang="en-US" dirty="0"/>
          </a:p>
        </p:txBody>
      </p:sp>
      <p:sp>
        <p:nvSpPr>
          <p:cNvPr id="6" name="a3"/>
          <p:cNvSpPr txBox="1"/>
          <p:nvPr/>
        </p:nvSpPr>
        <p:spPr>
          <a:xfrm>
            <a:off x="365760" y="3670732"/>
            <a:ext cx="8412480" cy="914401"/>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“For Adam was formed first and then Eve. And Adam was not deceived, but the woman, because she was fully deceived, fell into transgression.” </a:t>
            </a:r>
            <a:r>
              <a:rPr lang="en-US" b="1" dirty="0">
                <a:solidFill>
                  <a:srgbClr val="000000"/>
                </a:solidFill>
                <a:latin typeface="Arial" pitchFamily="34" charset="0"/>
                <a:ea typeface="Arial" pitchFamily="34" charset="-122"/>
                <a:cs typeface="Arial" pitchFamily="34" charset="-120"/>
              </a:rPr>
              <a:t>(1 Timothy 2:13–14)</a:t>
            </a:r>
            <a:endParaRPr lang="en-US" sz="2000" dirty="0"/>
          </a:p>
        </p:txBody>
      </p:sp>
      <p:sp>
        <p:nvSpPr>
          <p:cNvPr id="7" name="a4"/>
          <p:cNvSpPr txBox="1"/>
          <p:nvPr/>
        </p:nvSpPr>
        <p:spPr>
          <a:xfrm>
            <a:off x="365760" y="4617719"/>
            <a:ext cx="8412480" cy="2003213"/>
          </a:xfrm>
          <a:prstGeom prst="rect">
            <a:avLst/>
          </a:prstGeom>
          <a:noFill/>
          <a:ln/>
        </p:spPr>
        <p:txBody>
          <a:bodyPr wrap="square" lIns="0" tIns="0" rIns="0" bIns="0" rtlCol="0" anchor="t"/>
          <a:lstStyle/>
          <a:p>
            <a:pPr marL="0" indent="0" algn="l">
              <a:buNone/>
            </a:pPr>
            <a:r>
              <a:rPr lang="en-US" b="1" dirty="0">
                <a:solidFill>
                  <a:srgbClr val="B0413E"/>
                </a:solidFill>
                <a:latin typeface="Arial" pitchFamily="34" charset="0"/>
                <a:ea typeface="Arial" pitchFamily="34" charset="-122"/>
                <a:cs typeface="Arial" pitchFamily="34" charset="-120"/>
              </a:rPr>
              <a:t>Read v.14 with care → note what it does NOT say:
</a:t>
            </a:r>
            <a:r>
              <a:rPr lang="en-US" sz="1600" dirty="0">
                <a:solidFill>
                  <a:srgbClr val="000000"/>
                </a:solidFill>
                <a:latin typeface="Arial" pitchFamily="34" charset="0"/>
                <a:ea typeface="Arial" pitchFamily="34" charset="-122"/>
                <a:cs typeface="Arial" pitchFamily="34" charset="-120"/>
              </a:rPr>
              <a:t>•  It describes what happened in the GARDEN → not a general claim that women are more gullible.
•  Scripture assigns Adam the PRIMARY responsibility: “sin entered the world through one man” (Rom 5:12); “in Adam all die” (1 Cor 15:22). Adam sinned knowingly → the graver failure.
</a:t>
            </a:r>
            <a:r>
              <a:rPr lang="en-US" sz="1600" i="1" dirty="0">
                <a:solidFill>
                  <a:srgbClr val="1F497D"/>
                </a:solidFill>
                <a:latin typeface="Arial" pitchFamily="34" charset="0"/>
                <a:ea typeface="Arial" pitchFamily="34" charset="-122"/>
                <a:cs typeface="Arial" pitchFamily="34" charset="-120"/>
              </a:rPr>
              <a:t>Any reading that makes v.14 mean “women are inferior” has misread Paul and contradicted the rest of Scripture.</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500" b="1" dirty="0">
                <a:solidFill>
                  <a:srgbClr val="1F497D"/>
                </a:solidFill>
                <a:latin typeface="Arial" pitchFamily="34" charset="0"/>
                <a:ea typeface="Arial" pitchFamily="34" charset="-122"/>
                <a:cs typeface="Arial" pitchFamily="34" charset="-120"/>
              </a:rPr>
              <a:t>The Text and Its Scope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1 Timothy 2:11–12 → read within the letter</a:t>
            </a:r>
            <a:endParaRPr lang="en-US" sz="2800" dirty="0"/>
          </a:p>
        </p:txBody>
      </p:sp>
      <p:sp>
        <p:nvSpPr>
          <p:cNvPr id="4" name="b1"/>
          <p:cNvSpPr txBox="1"/>
          <p:nvPr/>
        </p:nvSpPr>
        <p:spPr>
          <a:xfrm>
            <a:off x="365760" y="1022961"/>
            <a:ext cx="8412480" cy="1191249"/>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It opens with a command that was radical in its world:
</a:t>
            </a:r>
            <a:r>
              <a:rPr lang="en-US" sz="2000" b="1" i="1" dirty="0">
                <a:solidFill>
                  <a:srgbClr val="000000"/>
                </a:solidFill>
                <a:latin typeface="Arial" pitchFamily="34" charset="0"/>
                <a:ea typeface="Arial" pitchFamily="34" charset="-122"/>
                <a:cs typeface="Arial" pitchFamily="34" charset="-120"/>
              </a:rPr>
              <a:t>“Let a woman learn in quietness with all submissiveness.” </a:t>
            </a:r>
            <a:r>
              <a:rPr lang="en-US" sz="2000" b="1" dirty="0">
                <a:solidFill>
                  <a:srgbClr val="000000"/>
                </a:solidFill>
                <a:latin typeface="Arial" pitchFamily="34" charset="0"/>
                <a:ea typeface="Arial" pitchFamily="34" charset="-122"/>
                <a:cs typeface="Arial" pitchFamily="34" charset="-120"/>
              </a:rPr>
              <a:t>(1 Tim 2:11)</a:t>
            </a:r>
            <a:r>
              <a:rPr lang="en-US" dirty="0">
                <a:solidFill>
                  <a:srgbClr val="000000"/>
                </a:solidFill>
                <a:latin typeface="Arial" pitchFamily="34" charset="0"/>
                <a:ea typeface="Arial" pitchFamily="34" charset="-122"/>
                <a:cs typeface="Arial" pitchFamily="34" charset="-120"/>
              </a:rPr>
              <a:t>  In a culture that often-excluded women from serious instruction, Paul says: let her LEARN.</a:t>
            </a:r>
            <a:endParaRPr lang="en-US" sz="2400" dirty="0"/>
          </a:p>
        </p:txBody>
      </p:sp>
      <p:sp>
        <p:nvSpPr>
          <p:cNvPr id="5" name="b2"/>
          <p:cNvSpPr txBox="1"/>
          <p:nvPr/>
        </p:nvSpPr>
        <p:spPr>
          <a:xfrm>
            <a:off x="365760" y="2313528"/>
            <a:ext cx="8412480" cy="960120"/>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“But I do not allow a woman to teach or exercise authority over a man. She must remain quiet.” </a:t>
            </a:r>
            <a:r>
              <a:rPr lang="en-US" b="1" dirty="0">
                <a:solidFill>
                  <a:srgbClr val="000000"/>
                </a:solidFill>
                <a:latin typeface="Arial" pitchFamily="34" charset="0"/>
                <a:ea typeface="Arial" pitchFamily="34" charset="-122"/>
                <a:cs typeface="Arial" pitchFamily="34" charset="-120"/>
              </a:rPr>
              <a:t>(1 Tim 2:12)</a:t>
            </a:r>
            <a:endParaRPr lang="en-US" sz="2000" dirty="0"/>
          </a:p>
          <a:p>
            <a:pPr marL="0" indent="0" algn="l">
              <a:buNone/>
            </a:pPr>
            <a:r>
              <a:rPr lang="en-US" sz="1600" dirty="0">
                <a:solidFill>
                  <a:srgbClr val="000000"/>
                </a:solidFill>
                <a:latin typeface="Arial" pitchFamily="34" charset="0"/>
                <a:ea typeface="Arial" pitchFamily="34" charset="-122"/>
                <a:cs typeface="Arial" pitchFamily="34" charset="-120"/>
              </a:rPr>
              <a:t>“Quietness” (hesychia) = a settled, non-disruptive posture (same word as 2:2, “peaceful life”) → not absolute silence.</a:t>
            </a:r>
            <a:endParaRPr lang="en-US" sz="2000" dirty="0"/>
          </a:p>
        </p:txBody>
      </p:sp>
      <p:sp>
        <p:nvSpPr>
          <p:cNvPr id="6" name="b3"/>
          <p:cNvSpPr txBox="1"/>
          <p:nvPr/>
        </p:nvSpPr>
        <p:spPr>
          <a:xfrm>
            <a:off x="365760" y="3429000"/>
            <a:ext cx="8412480" cy="1531134"/>
          </a:xfrm>
          <a:prstGeom prst="rect">
            <a:avLst/>
          </a:prstGeom>
          <a:noFill/>
          <a:ln/>
        </p:spPr>
        <p:txBody>
          <a:bodyPr wrap="square" lIns="0" tIns="0" rIns="0" bIns="0" rtlCol="0" anchor="t"/>
          <a:lstStyle/>
          <a:p>
            <a:pPr marL="0" indent="0" algn="l">
              <a:buNone/>
            </a:pPr>
            <a:r>
              <a:rPr lang="en-US" sz="1600" b="1" dirty="0">
                <a:solidFill>
                  <a:srgbClr val="1F497D"/>
                </a:solidFill>
                <a:latin typeface="Arial" pitchFamily="34" charset="0"/>
                <a:ea typeface="Arial" pitchFamily="34" charset="-122"/>
                <a:cs typeface="Arial" pitchFamily="34" charset="-120"/>
              </a:rPr>
              <a:t>What kind of “teaching”? Read it inside the letter → teaching = authoritative doctrinal governance:
</a:t>
            </a:r>
            <a:r>
              <a:rPr lang="en-US" sz="1600" dirty="0">
                <a:solidFill>
                  <a:srgbClr val="000000"/>
                </a:solidFill>
                <a:latin typeface="Arial" pitchFamily="34" charset="0"/>
                <a:ea typeface="Arial" pitchFamily="34" charset="-122"/>
                <a:cs typeface="Arial" pitchFamily="34" charset="-120"/>
              </a:rPr>
              <a:t>•  1:3 stop false teaching  •  4:11 “command and teach these things”  •  6:2–3 sound doctrine
•  And 3:2 → the very next paragraph → lists “able to teach” as an OVERSEER qualification.
</a:t>
            </a:r>
            <a:r>
              <a:rPr lang="en-US" sz="1600" i="1" dirty="0">
                <a:solidFill>
                  <a:srgbClr val="1F497D"/>
                </a:solidFill>
                <a:latin typeface="Arial" pitchFamily="34" charset="0"/>
                <a:ea typeface="Arial" pitchFamily="34" charset="-122"/>
                <a:cs typeface="Arial" pitchFamily="34" charset="-120"/>
              </a:rPr>
              <a:t>So, the restriction concerns the governing teaching/authority role over the assembly, tied to the elder office → not every word a woman might speak.</a:t>
            </a:r>
            <a:endParaRPr lang="en-US" sz="2000" dirty="0"/>
          </a:p>
        </p:txBody>
      </p:sp>
      <p:sp>
        <p:nvSpPr>
          <p:cNvPr id="7" name="b4"/>
          <p:cNvSpPr txBox="1"/>
          <p:nvPr/>
        </p:nvSpPr>
        <p:spPr>
          <a:xfrm>
            <a:off x="365760" y="4971221"/>
            <a:ext cx="8412480" cy="1717905"/>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Why not just “an Ephesus problem”? Because Paul grounds it in Genesis, not local culture → and he KNEW how to give local reasons:
</a:t>
            </a:r>
            <a:r>
              <a:rPr lang="en-US" dirty="0">
                <a:solidFill>
                  <a:srgbClr val="000000"/>
                </a:solidFill>
                <a:latin typeface="Arial" pitchFamily="34" charset="0"/>
                <a:ea typeface="Arial" pitchFamily="34" charset="-122"/>
                <a:cs typeface="Arial" pitchFamily="34" charset="-120"/>
              </a:rPr>
              <a:t>Three chapters later he gives one → “so the adversary has no occasion for slander” (1 Tim 5:14). He had that tool available in 2:13 and reached past Ephesus to the garden instead. That choice is the strongest internal signal the reason is not merely cultural.</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500" b="1" dirty="0">
                <a:solidFill>
                  <a:srgbClr val="1F497D"/>
                </a:solidFill>
                <a:latin typeface="Arial" pitchFamily="34" charset="0"/>
                <a:ea typeface="Arial" pitchFamily="34" charset="-122"/>
                <a:cs typeface="Arial" pitchFamily="34" charset="-120"/>
              </a:rPr>
              <a:t>What Scripture Does NOT Restrict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Stated as positively as Scripture states it</a:t>
            </a:r>
            <a:endParaRPr lang="en-US" sz="2800" dirty="0"/>
          </a:p>
        </p:txBody>
      </p:sp>
      <p:sp>
        <p:nvSpPr>
          <p:cNvPr id="4" name="nb0"/>
          <p:cNvSpPr/>
          <p:nvPr/>
        </p:nvSpPr>
        <p:spPr>
          <a:xfrm>
            <a:off x="365760" y="1335531"/>
            <a:ext cx="2606040" cy="731520"/>
          </a:xfrm>
          <a:prstGeom prst="roundRect">
            <a:avLst>
              <a:gd name="adj" fmla="val 8750"/>
            </a:avLst>
          </a:prstGeom>
          <a:solidFill>
            <a:srgbClr val="4E7B4E">
              <a:alpha val="88000"/>
            </a:srgbClr>
          </a:solidFill>
          <a:ln w="12700">
            <a:solidFill>
              <a:srgbClr val="4E7B4E"/>
            </a:solidFill>
            <a:prstDash val="solid"/>
          </a:ln>
        </p:spPr>
        <p:txBody>
          <a:bodyPr/>
          <a:lstStyle/>
          <a:p>
            <a:endParaRPr lang="en-US" sz="2400"/>
          </a:p>
        </p:txBody>
      </p:sp>
      <p:sp>
        <p:nvSpPr>
          <p:cNvPr id="5" name="nl0"/>
          <p:cNvSpPr txBox="1"/>
          <p:nvPr/>
        </p:nvSpPr>
        <p:spPr>
          <a:xfrm>
            <a:off x="457200" y="1408683"/>
            <a:ext cx="2468880"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Pray &amp; prophesy</a:t>
            </a:r>
            <a:endParaRPr lang="en-US" sz="2000" dirty="0"/>
          </a:p>
        </p:txBody>
      </p:sp>
      <p:sp>
        <p:nvSpPr>
          <p:cNvPr id="6" name="nt0"/>
          <p:cNvSpPr txBox="1"/>
          <p:nvPr/>
        </p:nvSpPr>
        <p:spPr>
          <a:xfrm>
            <a:off x="3108960" y="1372107"/>
            <a:ext cx="5669280" cy="74980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1 Cor 11:5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women do both in the gathered church. Paul regulates HOW, not WHETHER.</a:t>
            </a:r>
            <a:endParaRPr lang="en-US" sz="2000" dirty="0"/>
          </a:p>
        </p:txBody>
      </p:sp>
      <p:sp>
        <p:nvSpPr>
          <p:cNvPr id="7" name="nb1"/>
          <p:cNvSpPr/>
          <p:nvPr/>
        </p:nvSpPr>
        <p:spPr>
          <a:xfrm>
            <a:off x="365760" y="2176779"/>
            <a:ext cx="2606040" cy="731520"/>
          </a:xfrm>
          <a:prstGeom prst="roundRect">
            <a:avLst>
              <a:gd name="adj" fmla="val 8750"/>
            </a:avLst>
          </a:prstGeom>
          <a:solidFill>
            <a:srgbClr val="4E7B4E">
              <a:alpha val="88000"/>
            </a:srgbClr>
          </a:solidFill>
          <a:ln w="12700">
            <a:solidFill>
              <a:srgbClr val="4E7B4E"/>
            </a:solidFill>
            <a:prstDash val="solid"/>
          </a:ln>
        </p:spPr>
        <p:txBody>
          <a:bodyPr/>
          <a:lstStyle/>
          <a:p>
            <a:endParaRPr lang="en-US" sz="2400"/>
          </a:p>
        </p:txBody>
      </p:sp>
      <p:sp>
        <p:nvSpPr>
          <p:cNvPr id="8" name="nl1"/>
          <p:cNvSpPr txBox="1"/>
          <p:nvPr/>
        </p:nvSpPr>
        <p:spPr>
          <a:xfrm>
            <a:off x="457200" y="2249931"/>
            <a:ext cx="2468880"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Labor in the gospel</a:t>
            </a:r>
            <a:endParaRPr lang="en-US" sz="2000" dirty="0"/>
          </a:p>
        </p:txBody>
      </p:sp>
      <p:sp>
        <p:nvSpPr>
          <p:cNvPr id="9" name="nt1"/>
          <p:cNvSpPr txBox="1"/>
          <p:nvPr/>
        </p:nvSpPr>
        <p:spPr>
          <a:xfrm>
            <a:off x="3108960" y="2213355"/>
            <a:ext cx="5669280" cy="74980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Phil 4:2–3 (Euodia, Syntyche); Rom 16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many women coworkers Paul honors by name.</a:t>
            </a:r>
            <a:endParaRPr lang="en-US" sz="2000" dirty="0"/>
          </a:p>
        </p:txBody>
      </p:sp>
      <p:sp>
        <p:nvSpPr>
          <p:cNvPr id="10" name="nb2"/>
          <p:cNvSpPr/>
          <p:nvPr/>
        </p:nvSpPr>
        <p:spPr>
          <a:xfrm>
            <a:off x="365760" y="3018027"/>
            <a:ext cx="2606040" cy="731520"/>
          </a:xfrm>
          <a:prstGeom prst="roundRect">
            <a:avLst>
              <a:gd name="adj" fmla="val 8750"/>
            </a:avLst>
          </a:prstGeom>
          <a:solidFill>
            <a:srgbClr val="4E7B4E">
              <a:alpha val="88000"/>
            </a:srgbClr>
          </a:solidFill>
          <a:ln w="12700">
            <a:solidFill>
              <a:srgbClr val="4E7B4E"/>
            </a:solidFill>
            <a:prstDash val="solid"/>
          </a:ln>
        </p:spPr>
        <p:txBody>
          <a:bodyPr/>
          <a:lstStyle/>
          <a:p>
            <a:endParaRPr lang="en-US" sz="2400"/>
          </a:p>
        </p:txBody>
      </p:sp>
      <p:sp>
        <p:nvSpPr>
          <p:cNvPr id="11" name="nl2"/>
          <p:cNvSpPr txBox="1"/>
          <p:nvPr/>
        </p:nvSpPr>
        <p:spPr>
          <a:xfrm>
            <a:off x="457200" y="3091179"/>
            <a:ext cx="2468880"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Serve as deacon</a:t>
            </a:r>
            <a:endParaRPr lang="en-US" sz="2000" dirty="0"/>
          </a:p>
        </p:txBody>
      </p:sp>
      <p:sp>
        <p:nvSpPr>
          <p:cNvPr id="12" name="nt2"/>
          <p:cNvSpPr txBox="1"/>
          <p:nvPr/>
        </p:nvSpPr>
        <p:spPr>
          <a:xfrm>
            <a:off x="3108960" y="3054603"/>
            <a:ext cx="5669280" cy="74980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Phoebe, “a diakonos of the church at Cenchrea” (Rom 16:1)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commended, entrusted.</a:t>
            </a:r>
            <a:endParaRPr lang="en-US" sz="2000" dirty="0"/>
          </a:p>
        </p:txBody>
      </p:sp>
      <p:sp>
        <p:nvSpPr>
          <p:cNvPr id="13" name="nb3"/>
          <p:cNvSpPr/>
          <p:nvPr/>
        </p:nvSpPr>
        <p:spPr>
          <a:xfrm>
            <a:off x="365760" y="3859275"/>
            <a:ext cx="2606040" cy="731520"/>
          </a:xfrm>
          <a:prstGeom prst="roundRect">
            <a:avLst>
              <a:gd name="adj" fmla="val 8750"/>
            </a:avLst>
          </a:prstGeom>
          <a:solidFill>
            <a:srgbClr val="4E7B4E">
              <a:alpha val="88000"/>
            </a:srgbClr>
          </a:solidFill>
          <a:ln w="12700">
            <a:solidFill>
              <a:srgbClr val="4E7B4E"/>
            </a:solidFill>
            <a:prstDash val="solid"/>
          </a:ln>
        </p:spPr>
        <p:txBody>
          <a:bodyPr/>
          <a:lstStyle/>
          <a:p>
            <a:endParaRPr lang="en-US" sz="2400"/>
          </a:p>
        </p:txBody>
      </p:sp>
      <p:sp>
        <p:nvSpPr>
          <p:cNvPr id="14" name="nl3"/>
          <p:cNvSpPr txBox="1"/>
          <p:nvPr/>
        </p:nvSpPr>
        <p:spPr>
          <a:xfrm>
            <a:off x="457200" y="3932427"/>
            <a:ext cx="2468880"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Teach in fitting settings</a:t>
            </a:r>
            <a:endParaRPr lang="en-US" sz="2000" dirty="0"/>
          </a:p>
        </p:txBody>
      </p:sp>
      <p:sp>
        <p:nvSpPr>
          <p:cNvPr id="15" name="nt3"/>
          <p:cNvSpPr txBox="1"/>
          <p:nvPr/>
        </p:nvSpPr>
        <p:spPr>
          <a:xfrm>
            <a:off x="3108960" y="3895851"/>
            <a:ext cx="5669280" cy="74980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Titus 2:3–5 older women teach younger; Priscilla (with Aquila) instructs Apollos (Acts 18:26).</a:t>
            </a:r>
            <a:endParaRPr lang="en-US" sz="2000" dirty="0"/>
          </a:p>
        </p:txBody>
      </p:sp>
      <p:sp>
        <p:nvSpPr>
          <p:cNvPr id="16" name="n5"/>
          <p:cNvSpPr txBox="1"/>
          <p:nvPr/>
        </p:nvSpPr>
        <p:spPr>
          <a:xfrm>
            <a:off x="365760" y="4958755"/>
            <a:ext cx="8412480" cy="1590379"/>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Holding 1 Cor 11:5 and 14:34 together (they are not a contradiction):
</a:t>
            </a:r>
            <a:r>
              <a:rPr lang="en-US" dirty="0">
                <a:solidFill>
                  <a:srgbClr val="000000"/>
                </a:solidFill>
                <a:latin typeface="Arial" pitchFamily="34" charset="0"/>
                <a:ea typeface="Arial" pitchFamily="34" charset="-122"/>
                <a:cs typeface="Arial" pitchFamily="34" charset="-120"/>
              </a:rPr>
              <a:t>Prophecy and authoritative teaching are different functions. 14:29 → “the others should weigh/evaluate” what prophets say. A woman may prophesy (11:5); the restriction touches the authoritative WEIGHING of doctrine that governs the assembly, not Spirit-prompted speech. </a:t>
            </a:r>
            <a:r>
              <a:rPr lang="en-US" b="1" dirty="0">
                <a:solidFill>
                  <a:srgbClr val="1F497D"/>
                </a:solidFill>
                <a:latin typeface="Arial" pitchFamily="34" charset="0"/>
                <a:ea typeface="Arial" pitchFamily="34" charset="-122"/>
                <a:cs typeface="Arial" pitchFamily="34" charset="-120"/>
              </a:rPr>
              <a:t>Both texts stand → neither is explained away.</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500" b="1" dirty="0">
                <a:solidFill>
                  <a:srgbClr val="1F497D"/>
                </a:solidFill>
                <a:latin typeface="Arial" pitchFamily="34" charset="0"/>
                <a:ea typeface="Arial" pitchFamily="34" charset="-122"/>
                <a:cs typeface="Arial" pitchFamily="34" charset="-120"/>
              </a:rPr>
              <a:t>Claim Only What the Text Claims</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An honest ranking of the ground</a:t>
            </a:r>
            <a:endParaRPr lang="en-US" sz="2800" dirty="0"/>
          </a:p>
        </p:txBody>
      </p:sp>
      <p:sp>
        <p:nvSpPr>
          <p:cNvPr id="4" name="hh0"/>
          <p:cNvSpPr/>
          <p:nvPr/>
        </p:nvSpPr>
        <p:spPr>
          <a:xfrm>
            <a:off x="365760" y="1069848"/>
            <a:ext cx="3337560" cy="365760"/>
          </a:xfrm>
          <a:prstGeom prst="rect">
            <a:avLst/>
          </a:prstGeom>
          <a:solidFill>
            <a:srgbClr val="1F497D"/>
          </a:solidFill>
          <a:ln/>
        </p:spPr>
        <p:txBody>
          <a:bodyPr/>
          <a:lstStyle/>
          <a:p>
            <a:endParaRPr lang="en-US" sz="3200"/>
          </a:p>
        </p:txBody>
      </p:sp>
      <p:sp>
        <p:nvSpPr>
          <p:cNvPr id="5" name="hd0"/>
          <p:cNvSpPr txBox="1"/>
          <p:nvPr/>
        </p:nvSpPr>
        <p:spPr>
          <a:xfrm>
            <a:off x="438912" y="1115568"/>
            <a:ext cx="322783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The claim</a:t>
            </a:r>
            <a:endParaRPr lang="en-US" sz="2800" dirty="0"/>
          </a:p>
        </p:txBody>
      </p:sp>
      <p:sp>
        <p:nvSpPr>
          <p:cNvPr id="6" name="hh1"/>
          <p:cNvSpPr/>
          <p:nvPr/>
        </p:nvSpPr>
        <p:spPr>
          <a:xfrm>
            <a:off x="3703320" y="1069848"/>
            <a:ext cx="3383280" cy="365760"/>
          </a:xfrm>
          <a:prstGeom prst="rect">
            <a:avLst/>
          </a:prstGeom>
          <a:solidFill>
            <a:srgbClr val="1F497D"/>
          </a:solidFill>
          <a:ln/>
        </p:spPr>
        <p:txBody>
          <a:bodyPr/>
          <a:lstStyle/>
          <a:p>
            <a:endParaRPr lang="en-US" sz="3200"/>
          </a:p>
        </p:txBody>
      </p:sp>
      <p:sp>
        <p:nvSpPr>
          <p:cNvPr id="7" name="hd1"/>
          <p:cNvSpPr txBox="1"/>
          <p:nvPr/>
        </p:nvSpPr>
        <p:spPr>
          <a:xfrm>
            <a:off x="3776472" y="1115568"/>
            <a:ext cx="327355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Rests on</a:t>
            </a:r>
            <a:endParaRPr lang="en-US" sz="2800" dirty="0"/>
          </a:p>
        </p:txBody>
      </p:sp>
      <p:sp>
        <p:nvSpPr>
          <p:cNvPr id="8" name="hh2"/>
          <p:cNvSpPr/>
          <p:nvPr/>
        </p:nvSpPr>
        <p:spPr>
          <a:xfrm>
            <a:off x="7086600" y="1069848"/>
            <a:ext cx="1691640" cy="365760"/>
          </a:xfrm>
          <a:prstGeom prst="rect">
            <a:avLst/>
          </a:prstGeom>
          <a:solidFill>
            <a:srgbClr val="1F497D"/>
          </a:solidFill>
          <a:ln/>
        </p:spPr>
        <p:txBody>
          <a:bodyPr/>
          <a:lstStyle/>
          <a:p>
            <a:endParaRPr lang="en-US" sz="3200"/>
          </a:p>
        </p:txBody>
      </p:sp>
      <p:sp>
        <p:nvSpPr>
          <p:cNvPr id="9" name="hd2"/>
          <p:cNvSpPr txBox="1"/>
          <p:nvPr/>
        </p:nvSpPr>
        <p:spPr>
          <a:xfrm>
            <a:off x="7159752" y="1115568"/>
            <a:ext cx="158191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Strength</a:t>
            </a:r>
            <a:endParaRPr lang="en-US" sz="2800" dirty="0"/>
          </a:p>
        </p:txBody>
      </p:sp>
      <p:sp>
        <p:nvSpPr>
          <p:cNvPr id="10" name="c0_0"/>
          <p:cNvSpPr/>
          <p:nvPr/>
        </p:nvSpPr>
        <p:spPr>
          <a:xfrm>
            <a:off x="365760" y="1435608"/>
            <a:ext cx="3337560" cy="713232"/>
          </a:xfrm>
          <a:prstGeom prst="rect">
            <a:avLst/>
          </a:prstGeom>
          <a:solidFill>
            <a:srgbClr val="FFFFFF"/>
          </a:solidFill>
          <a:ln w="6350">
            <a:solidFill>
              <a:srgbClr val="D9DDE3"/>
            </a:solidFill>
            <a:prstDash val="solid"/>
          </a:ln>
        </p:spPr>
        <p:txBody>
          <a:bodyPr/>
          <a:lstStyle/>
          <a:p>
            <a:endParaRPr lang="en-US" sz="3200"/>
          </a:p>
        </p:txBody>
      </p:sp>
      <p:sp>
        <p:nvSpPr>
          <p:cNvPr id="11" name="x0_0"/>
          <p:cNvSpPr txBox="1"/>
          <p:nvPr/>
        </p:nvSpPr>
        <p:spPr>
          <a:xfrm>
            <a:off x="438912" y="1472184"/>
            <a:ext cx="3209544" cy="658368"/>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Elder / overseer office = male</a:t>
            </a:r>
            <a:endParaRPr lang="en-US" sz="2800" dirty="0"/>
          </a:p>
        </p:txBody>
      </p:sp>
      <p:sp>
        <p:nvSpPr>
          <p:cNvPr id="12" name="c0_1"/>
          <p:cNvSpPr/>
          <p:nvPr/>
        </p:nvSpPr>
        <p:spPr>
          <a:xfrm>
            <a:off x="3703320" y="1435608"/>
            <a:ext cx="3383280" cy="713232"/>
          </a:xfrm>
          <a:prstGeom prst="rect">
            <a:avLst/>
          </a:prstGeom>
          <a:solidFill>
            <a:srgbClr val="FFFFFF"/>
          </a:solidFill>
          <a:ln w="6350">
            <a:solidFill>
              <a:srgbClr val="D9DDE3"/>
            </a:solidFill>
            <a:prstDash val="solid"/>
          </a:ln>
        </p:spPr>
        <p:txBody>
          <a:bodyPr/>
          <a:lstStyle/>
          <a:p>
            <a:endParaRPr lang="en-US" sz="3200"/>
          </a:p>
        </p:txBody>
      </p:sp>
      <p:sp>
        <p:nvSpPr>
          <p:cNvPr id="13" name="x0_1"/>
          <p:cNvSpPr txBox="1"/>
          <p:nvPr/>
        </p:nvSpPr>
        <p:spPr>
          <a:xfrm>
            <a:off x="3776472" y="1472184"/>
            <a:ext cx="3255264" cy="65836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1 Tim 3:2; Titus 1:6 (explicit male qualifications)</a:t>
            </a:r>
            <a:endParaRPr lang="en-US" sz="2800" dirty="0"/>
          </a:p>
        </p:txBody>
      </p:sp>
      <p:sp>
        <p:nvSpPr>
          <p:cNvPr id="14" name="c0_2"/>
          <p:cNvSpPr/>
          <p:nvPr/>
        </p:nvSpPr>
        <p:spPr>
          <a:xfrm>
            <a:off x="7086600" y="1435608"/>
            <a:ext cx="1691640" cy="713232"/>
          </a:xfrm>
          <a:prstGeom prst="rect">
            <a:avLst/>
          </a:prstGeom>
          <a:solidFill>
            <a:srgbClr val="FFFFFF"/>
          </a:solidFill>
          <a:ln w="6350">
            <a:solidFill>
              <a:srgbClr val="D9DDE3"/>
            </a:solidFill>
            <a:prstDash val="solid"/>
          </a:ln>
        </p:spPr>
        <p:txBody>
          <a:bodyPr/>
          <a:lstStyle/>
          <a:p>
            <a:endParaRPr lang="en-US" sz="3200"/>
          </a:p>
        </p:txBody>
      </p:sp>
      <p:sp>
        <p:nvSpPr>
          <p:cNvPr id="15" name="x0_2"/>
          <p:cNvSpPr txBox="1"/>
          <p:nvPr/>
        </p:nvSpPr>
        <p:spPr>
          <a:xfrm>
            <a:off x="7159752" y="1472184"/>
            <a:ext cx="1563624" cy="658368"/>
          </a:xfrm>
          <a:prstGeom prst="rect">
            <a:avLst/>
          </a:prstGeom>
          <a:noFill/>
          <a:ln/>
        </p:spPr>
        <p:txBody>
          <a:bodyPr wrap="square" lIns="0" tIns="0" rIns="0" bIns="0" rtlCol="0" anchor="ctr"/>
          <a:lstStyle/>
          <a:p>
            <a:pPr marL="0" indent="0" algn="l">
              <a:buNone/>
            </a:pPr>
            <a:r>
              <a:rPr lang="en-US" b="1" dirty="0">
                <a:solidFill>
                  <a:srgbClr val="4E7B4E"/>
                </a:solidFill>
                <a:latin typeface="Arial" pitchFamily="34" charset="0"/>
                <a:ea typeface="Arial" pitchFamily="34" charset="-122"/>
                <a:cs typeface="Arial" pitchFamily="34" charset="-120"/>
              </a:rPr>
              <a:t>Strongest</a:t>
            </a:r>
            <a:endParaRPr lang="en-US" sz="2800" dirty="0"/>
          </a:p>
        </p:txBody>
      </p:sp>
      <p:sp>
        <p:nvSpPr>
          <p:cNvPr id="16" name="c1_0"/>
          <p:cNvSpPr/>
          <p:nvPr/>
        </p:nvSpPr>
        <p:spPr>
          <a:xfrm>
            <a:off x="365760" y="2148840"/>
            <a:ext cx="3337560" cy="713232"/>
          </a:xfrm>
          <a:prstGeom prst="rect">
            <a:avLst/>
          </a:prstGeom>
          <a:solidFill>
            <a:srgbClr val="F2F4F7"/>
          </a:solidFill>
          <a:ln w="6350">
            <a:solidFill>
              <a:srgbClr val="D9DDE3"/>
            </a:solidFill>
            <a:prstDash val="solid"/>
          </a:ln>
        </p:spPr>
        <p:txBody>
          <a:bodyPr/>
          <a:lstStyle/>
          <a:p>
            <a:endParaRPr lang="en-US" sz="3200"/>
          </a:p>
        </p:txBody>
      </p:sp>
      <p:sp>
        <p:nvSpPr>
          <p:cNvPr id="17" name="x1_0"/>
          <p:cNvSpPr txBox="1"/>
          <p:nvPr/>
        </p:nvSpPr>
        <p:spPr>
          <a:xfrm>
            <a:off x="438912" y="2185416"/>
            <a:ext cx="3209544" cy="658368"/>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No governing doctrinal teaching over men</a:t>
            </a:r>
            <a:endParaRPr lang="en-US" sz="2800" dirty="0"/>
          </a:p>
        </p:txBody>
      </p:sp>
      <p:sp>
        <p:nvSpPr>
          <p:cNvPr id="18" name="c1_1"/>
          <p:cNvSpPr/>
          <p:nvPr/>
        </p:nvSpPr>
        <p:spPr>
          <a:xfrm>
            <a:off x="3703320" y="2148840"/>
            <a:ext cx="3383280" cy="713232"/>
          </a:xfrm>
          <a:prstGeom prst="rect">
            <a:avLst/>
          </a:prstGeom>
          <a:solidFill>
            <a:srgbClr val="F2F4F7"/>
          </a:solidFill>
          <a:ln w="6350">
            <a:solidFill>
              <a:srgbClr val="D9DDE3"/>
            </a:solidFill>
            <a:prstDash val="solid"/>
          </a:ln>
        </p:spPr>
        <p:txBody>
          <a:bodyPr/>
          <a:lstStyle/>
          <a:p>
            <a:endParaRPr lang="en-US" sz="3200"/>
          </a:p>
        </p:txBody>
      </p:sp>
      <p:sp>
        <p:nvSpPr>
          <p:cNvPr id="19" name="x1_1"/>
          <p:cNvSpPr txBox="1"/>
          <p:nvPr/>
        </p:nvSpPr>
        <p:spPr>
          <a:xfrm>
            <a:off x="3776472" y="2185416"/>
            <a:ext cx="3255264" cy="65836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1 Tim 2:12 + creation reason (v.13)</a:t>
            </a:r>
            <a:endParaRPr lang="en-US" sz="2800" dirty="0"/>
          </a:p>
        </p:txBody>
      </p:sp>
      <p:sp>
        <p:nvSpPr>
          <p:cNvPr id="20" name="c1_2"/>
          <p:cNvSpPr/>
          <p:nvPr/>
        </p:nvSpPr>
        <p:spPr>
          <a:xfrm>
            <a:off x="7086600" y="2148840"/>
            <a:ext cx="1691640" cy="713232"/>
          </a:xfrm>
          <a:prstGeom prst="rect">
            <a:avLst/>
          </a:prstGeom>
          <a:solidFill>
            <a:srgbClr val="F2F4F7"/>
          </a:solidFill>
          <a:ln w="6350">
            <a:solidFill>
              <a:srgbClr val="D9DDE3"/>
            </a:solidFill>
            <a:prstDash val="solid"/>
          </a:ln>
        </p:spPr>
        <p:txBody>
          <a:bodyPr/>
          <a:lstStyle/>
          <a:p>
            <a:endParaRPr lang="en-US" sz="3200"/>
          </a:p>
        </p:txBody>
      </p:sp>
      <p:sp>
        <p:nvSpPr>
          <p:cNvPr id="21" name="x1_2"/>
          <p:cNvSpPr txBox="1"/>
          <p:nvPr/>
        </p:nvSpPr>
        <p:spPr>
          <a:xfrm>
            <a:off x="7159752" y="2185416"/>
            <a:ext cx="1563624" cy="658368"/>
          </a:xfrm>
          <a:prstGeom prst="rect">
            <a:avLst/>
          </a:prstGeom>
          <a:noFill/>
          <a:ln/>
        </p:spPr>
        <p:txBody>
          <a:bodyPr wrap="square" lIns="0" tIns="0" rIns="0" bIns="0" rtlCol="0" anchor="ctr"/>
          <a:lstStyle/>
          <a:p>
            <a:pPr marL="0" indent="0" algn="l">
              <a:buNone/>
            </a:pPr>
            <a:r>
              <a:rPr lang="en-US" b="1" dirty="0">
                <a:solidFill>
                  <a:srgbClr val="4E7B4E"/>
                </a:solidFill>
                <a:latin typeface="Arial" pitchFamily="34" charset="0"/>
                <a:ea typeface="Arial" pitchFamily="34" charset="-122"/>
                <a:cs typeface="Arial" pitchFamily="34" charset="-120"/>
              </a:rPr>
              <a:t>Strong</a:t>
            </a:r>
            <a:endParaRPr lang="en-US" sz="2800" dirty="0"/>
          </a:p>
        </p:txBody>
      </p:sp>
      <p:sp>
        <p:nvSpPr>
          <p:cNvPr id="22" name="c2_0"/>
          <p:cNvSpPr/>
          <p:nvPr/>
        </p:nvSpPr>
        <p:spPr>
          <a:xfrm>
            <a:off x="365760" y="2862072"/>
            <a:ext cx="3337560" cy="713232"/>
          </a:xfrm>
          <a:prstGeom prst="rect">
            <a:avLst/>
          </a:prstGeom>
          <a:solidFill>
            <a:srgbClr val="FFFFFF"/>
          </a:solidFill>
          <a:ln w="6350">
            <a:solidFill>
              <a:srgbClr val="D9DDE3"/>
            </a:solidFill>
            <a:prstDash val="solid"/>
          </a:ln>
        </p:spPr>
        <p:txBody>
          <a:bodyPr/>
          <a:lstStyle/>
          <a:p>
            <a:endParaRPr lang="en-US" sz="3200"/>
          </a:p>
        </p:txBody>
      </p:sp>
      <p:sp>
        <p:nvSpPr>
          <p:cNvPr id="23" name="x2_0"/>
          <p:cNvSpPr txBox="1"/>
          <p:nvPr/>
        </p:nvSpPr>
        <p:spPr>
          <a:xfrm>
            <a:off x="438912" y="2898648"/>
            <a:ext cx="3209544" cy="658368"/>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No authoritative weighing of prophecy</a:t>
            </a:r>
            <a:endParaRPr lang="en-US" sz="2800" dirty="0"/>
          </a:p>
        </p:txBody>
      </p:sp>
      <p:sp>
        <p:nvSpPr>
          <p:cNvPr id="24" name="c2_1"/>
          <p:cNvSpPr/>
          <p:nvPr/>
        </p:nvSpPr>
        <p:spPr>
          <a:xfrm>
            <a:off x="3703320" y="2862072"/>
            <a:ext cx="3383280" cy="713232"/>
          </a:xfrm>
          <a:prstGeom prst="rect">
            <a:avLst/>
          </a:prstGeom>
          <a:solidFill>
            <a:srgbClr val="FFFFFF"/>
          </a:solidFill>
          <a:ln w="6350">
            <a:solidFill>
              <a:srgbClr val="D9DDE3"/>
            </a:solidFill>
            <a:prstDash val="solid"/>
          </a:ln>
        </p:spPr>
        <p:txBody>
          <a:bodyPr/>
          <a:lstStyle/>
          <a:p>
            <a:endParaRPr lang="en-US" sz="3200"/>
          </a:p>
        </p:txBody>
      </p:sp>
      <p:sp>
        <p:nvSpPr>
          <p:cNvPr id="25" name="x2_1"/>
          <p:cNvSpPr txBox="1"/>
          <p:nvPr/>
        </p:nvSpPr>
        <p:spPr>
          <a:xfrm>
            <a:off x="3776472" y="2898648"/>
            <a:ext cx="3255264" cy="65836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1 Cor 14:29–35 in context</a:t>
            </a:r>
            <a:endParaRPr lang="en-US" sz="2800" dirty="0"/>
          </a:p>
        </p:txBody>
      </p:sp>
      <p:sp>
        <p:nvSpPr>
          <p:cNvPr id="26" name="c2_2"/>
          <p:cNvSpPr/>
          <p:nvPr/>
        </p:nvSpPr>
        <p:spPr>
          <a:xfrm>
            <a:off x="7086600" y="2862072"/>
            <a:ext cx="1691640" cy="713232"/>
          </a:xfrm>
          <a:prstGeom prst="rect">
            <a:avLst/>
          </a:prstGeom>
          <a:solidFill>
            <a:srgbClr val="FFFFFF"/>
          </a:solidFill>
          <a:ln w="6350">
            <a:solidFill>
              <a:srgbClr val="D9DDE3"/>
            </a:solidFill>
            <a:prstDash val="solid"/>
          </a:ln>
        </p:spPr>
        <p:txBody>
          <a:bodyPr/>
          <a:lstStyle/>
          <a:p>
            <a:endParaRPr lang="en-US" sz="3200"/>
          </a:p>
        </p:txBody>
      </p:sp>
      <p:sp>
        <p:nvSpPr>
          <p:cNvPr id="27" name="x2_2"/>
          <p:cNvSpPr txBox="1"/>
          <p:nvPr/>
        </p:nvSpPr>
        <p:spPr>
          <a:xfrm>
            <a:off x="7159752" y="2898648"/>
            <a:ext cx="1563624" cy="658368"/>
          </a:xfrm>
          <a:prstGeom prst="rect">
            <a:avLst/>
          </a:prstGeom>
          <a:noFill/>
          <a:ln/>
        </p:spPr>
        <p:txBody>
          <a:bodyPr wrap="square" lIns="0" tIns="0" rIns="0" bIns="0" rtlCol="0" anchor="ctr"/>
          <a:lstStyle/>
          <a:p>
            <a:pPr marL="0" indent="0" algn="l">
              <a:buNone/>
            </a:pPr>
            <a:r>
              <a:rPr lang="en-US" b="1" dirty="0">
                <a:solidFill>
                  <a:srgbClr val="C9A227"/>
                </a:solidFill>
                <a:latin typeface="Arial" pitchFamily="34" charset="0"/>
                <a:ea typeface="Arial" pitchFamily="34" charset="-122"/>
                <a:cs typeface="Arial" pitchFamily="34" charset="-120"/>
              </a:rPr>
              <a:t>Moderate</a:t>
            </a:r>
            <a:endParaRPr lang="en-US" sz="2800" dirty="0"/>
          </a:p>
        </p:txBody>
      </p:sp>
      <p:sp>
        <p:nvSpPr>
          <p:cNvPr id="28" name="c3_0"/>
          <p:cNvSpPr/>
          <p:nvPr/>
        </p:nvSpPr>
        <p:spPr>
          <a:xfrm>
            <a:off x="365760" y="3575304"/>
            <a:ext cx="3337560" cy="713232"/>
          </a:xfrm>
          <a:prstGeom prst="rect">
            <a:avLst/>
          </a:prstGeom>
          <a:solidFill>
            <a:srgbClr val="F2F4F7"/>
          </a:solidFill>
          <a:ln w="6350">
            <a:solidFill>
              <a:srgbClr val="D9DDE3"/>
            </a:solidFill>
            <a:prstDash val="solid"/>
          </a:ln>
        </p:spPr>
        <p:txBody>
          <a:bodyPr/>
          <a:lstStyle/>
          <a:p>
            <a:endParaRPr lang="en-US" sz="3200"/>
          </a:p>
        </p:txBody>
      </p:sp>
      <p:sp>
        <p:nvSpPr>
          <p:cNvPr id="29" name="x3_0"/>
          <p:cNvSpPr txBox="1"/>
          <p:nvPr/>
        </p:nvSpPr>
        <p:spPr>
          <a:xfrm>
            <a:off x="438912" y="3611880"/>
            <a:ext cx="3209544" cy="658368"/>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Women not baptizing / not presiding</a:t>
            </a:r>
            <a:endParaRPr lang="en-US" sz="2800" dirty="0"/>
          </a:p>
        </p:txBody>
      </p:sp>
      <p:sp>
        <p:nvSpPr>
          <p:cNvPr id="30" name="c3_1"/>
          <p:cNvSpPr/>
          <p:nvPr/>
        </p:nvSpPr>
        <p:spPr>
          <a:xfrm>
            <a:off x="3703320" y="3575304"/>
            <a:ext cx="3383280" cy="713232"/>
          </a:xfrm>
          <a:prstGeom prst="rect">
            <a:avLst/>
          </a:prstGeom>
          <a:solidFill>
            <a:srgbClr val="F2F4F7"/>
          </a:solidFill>
          <a:ln w="6350">
            <a:solidFill>
              <a:srgbClr val="D9DDE3"/>
            </a:solidFill>
            <a:prstDash val="solid"/>
          </a:ln>
        </p:spPr>
        <p:txBody>
          <a:bodyPr/>
          <a:lstStyle/>
          <a:p>
            <a:endParaRPr lang="en-US" sz="3200"/>
          </a:p>
        </p:txBody>
      </p:sp>
      <p:sp>
        <p:nvSpPr>
          <p:cNvPr id="31" name="x3_1"/>
          <p:cNvSpPr txBox="1"/>
          <p:nvPr/>
        </p:nvSpPr>
        <p:spPr>
          <a:xfrm>
            <a:off x="3776472" y="3611880"/>
            <a:ext cx="3255264" cy="658368"/>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Early-church practice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NOT a NT command</a:t>
            </a:r>
            <a:endParaRPr lang="en-US" sz="2800" dirty="0"/>
          </a:p>
        </p:txBody>
      </p:sp>
      <p:sp>
        <p:nvSpPr>
          <p:cNvPr id="32" name="c3_2"/>
          <p:cNvSpPr/>
          <p:nvPr/>
        </p:nvSpPr>
        <p:spPr>
          <a:xfrm>
            <a:off x="7086600" y="3575304"/>
            <a:ext cx="1691640" cy="713232"/>
          </a:xfrm>
          <a:prstGeom prst="rect">
            <a:avLst/>
          </a:prstGeom>
          <a:solidFill>
            <a:srgbClr val="F2F4F7"/>
          </a:solidFill>
          <a:ln w="6350">
            <a:solidFill>
              <a:srgbClr val="D9DDE3"/>
            </a:solidFill>
            <a:prstDash val="solid"/>
          </a:ln>
        </p:spPr>
        <p:txBody>
          <a:bodyPr/>
          <a:lstStyle/>
          <a:p>
            <a:endParaRPr lang="en-US" sz="3200"/>
          </a:p>
        </p:txBody>
      </p:sp>
      <p:sp>
        <p:nvSpPr>
          <p:cNvPr id="33" name="x3_2"/>
          <p:cNvSpPr txBox="1"/>
          <p:nvPr/>
        </p:nvSpPr>
        <p:spPr>
          <a:xfrm>
            <a:off x="7159752" y="3611880"/>
            <a:ext cx="1563624" cy="658368"/>
          </a:xfrm>
          <a:prstGeom prst="rect">
            <a:avLst/>
          </a:prstGeom>
          <a:noFill/>
          <a:ln/>
        </p:spPr>
        <p:txBody>
          <a:bodyPr wrap="square" lIns="0" tIns="0" rIns="0" bIns="0" rtlCol="0" anchor="ctr"/>
          <a:lstStyle/>
          <a:p>
            <a:pPr marL="0" indent="0" algn="l">
              <a:buNone/>
            </a:pPr>
            <a:r>
              <a:rPr lang="en-US" b="1" dirty="0">
                <a:solidFill>
                  <a:srgbClr val="B0413E"/>
                </a:solidFill>
                <a:latin typeface="Arial" pitchFamily="34" charset="0"/>
                <a:ea typeface="Arial" pitchFamily="34" charset="-122"/>
                <a:cs typeface="Arial" pitchFamily="34" charset="-120"/>
              </a:rPr>
              <a:t>Weak</a:t>
            </a:r>
            <a:endParaRPr lang="en-US" sz="2800" dirty="0"/>
          </a:p>
        </p:txBody>
      </p:sp>
      <p:sp>
        <p:nvSpPr>
          <p:cNvPr id="34" name="e1"/>
          <p:cNvSpPr txBox="1"/>
          <p:nvPr/>
        </p:nvSpPr>
        <p:spPr>
          <a:xfrm>
            <a:off x="365760" y="4562856"/>
            <a:ext cx="8412480" cy="713232"/>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Intellectual honesty: </a:t>
            </a:r>
            <a:r>
              <a:rPr lang="en-US" dirty="0">
                <a:solidFill>
                  <a:srgbClr val="000000"/>
                </a:solidFill>
                <a:latin typeface="Arial" pitchFamily="34" charset="0"/>
                <a:ea typeface="Arial" pitchFamily="34" charset="-122"/>
                <a:cs typeface="Arial" pitchFamily="34" charset="-120"/>
              </a:rPr>
              <a:t>hold the top rows firmly; hold the bottom row loosely, and SAY which is which. Overclaiming a weak point discredits the strong ones.</a:t>
            </a:r>
            <a:endParaRPr lang="en-US" sz="2400" dirty="0"/>
          </a:p>
        </p:txBody>
      </p:sp>
      <p:sp>
        <p:nvSpPr>
          <p:cNvPr id="35" name="e2"/>
          <p:cNvSpPr txBox="1"/>
          <p:nvPr/>
        </p:nvSpPr>
        <p:spPr>
          <a:xfrm>
            <a:off x="365760" y="5552440"/>
            <a:ext cx="8412480" cy="98044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Equality of being, difference of function → and the anchor is the Trinity: </a:t>
            </a:r>
            <a:r>
              <a:rPr lang="en-US" sz="2000" b="1" i="1" dirty="0">
                <a:solidFill>
                  <a:srgbClr val="000000"/>
                </a:solidFill>
                <a:latin typeface="Arial" pitchFamily="34" charset="0"/>
                <a:ea typeface="Arial" pitchFamily="34" charset="-122"/>
                <a:cs typeface="Arial" pitchFamily="34" charset="-120"/>
              </a:rPr>
              <a:t>“the head of Christ is God” </a:t>
            </a:r>
            <a:r>
              <a:rPr lang="en-US" sz="2000" b="1" dirty="0">
                <a:solidFill>
                  <a:srgbClr val="000000"/>
                </a:solidFill>
                <a:latin typeface="Arial" pitchFamily="34" charset="0"/>
                <a:ea typeface="Arial" pitchFamily="34" charset="-122"/>
                <a:cs typeface="Arial" pitchFamily="34" charset="-120"/>
              </a:rPr>
              <a:t>(1 Cor 11:3)</a:t>
            </a:r>
            <a:r>
              <a:rPr lang="en-US" sz="2000" dirty="0">
                <a:solidFill>
                  <a:srgbClr val="000000"/>
                </a:solidFill>
                <a:latin typeface="Arial" pitchFamily="34" charset="0"/>
                <a:ea typeface="Arial" pitchFamily="34" charset="-122"/>
                <a:cs typeface="Arial" pitchFamily="34" charset="-120"/>
              </a:rPr>
              <a:t>  The Son is fully God, and joyfully ordered to the Father. Order does not imply lesser worth.</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1000"/>
                                        <p:tgtEl>
                                          <p:spTgt spid="35"/>
                                        </p:tgtEl>
                                      </p:cBhvr>
                                    </p:animEffect>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500" b="1" dirty="0">
                <a:solidFill>
                  <a:srgbClr val="1F497D"/>
                </a:solidFill>
                <a:latin typeface="Arial" pitchFamily="34" charset="0"/>
                <a:ea typeface="Arial" pitchFamily="34" charset="-122"/>
                <a:cs typeface="Arial" pitchFamily="34" charset="-120"/>
              </a:rPr>
              <a:t>Not Control, but Communion</a:t>
            </a:r>
            <a:endParaRPr lang="en-US" sz="1600" dirty="0"/>
          </a:p>
        </p:txBody>
      </p:sp>
      <p:sp>
        <p:nvSpPr>
          <p:cNvPr id="3" name="HeadSub"/>
          <p:cNvSpPr txBox="1"/>
          <p:nvPr/>
        </p:nvSpPr>
        <p:spPr>
          <a:xfrm>
            <a:off x="228600" y="52120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And discussion → the week’s practice</a:t>
            </a:r>
            <a:endParaRPr lang="en-US" sz="2800" dirty="0"/>
          </a:p>
        </p:txBody>
      </p:sp>
      <p:sp>
        <p:nvSpPr>
          <p:cNvPr id="4" name="p1"/>
          <p:cNvSpPr txBox="1"/>
          <p:nvPr/>
        </p:nvSpPr>
        <p:spPr>
          <a:xfrm>
            <a:off x="365760" y="1005840"/>
            <a:ext cx="8412480" cy="105156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The goal is not power or restriction for its own sake. </a:t>
            </a:r>
            <a:r>
              <a:rPr lang="en-US" dirty="0">
                <a:solidFill>
                  <a:srgbClr val="000000"/>
                </a:solidFill>
                <a:latin typeface="Arial" pitchFamily="34" charset="0"/>
                <a:ea typeface="Arial" pitchFamily="34" charset="-122"/>
                <a:cs typeface="Arial" pitchFamily="34" charset="-120"/>
              </a:rPr>
              <a:t>The church is God’s HOUSEHOLD (1 Tim 3:15) → a family, a body, a bride. Ordered love, not corporate hierarchy; every member vital. The assembly rehearses restored creation: differentiated roles serving one communion under Christ.</a:t>
            </a:r>
            <a:endParaRPr lang="en-US" sz="2000" dirty="0"/>
          </a:p>
        </p:txBody>
      </p:sp>
      <p:sp>
        <p:nvSpPr>
          <p:cNvPr id="5" name="x1"/>
          <p:cNvSpPr txBox="1"/>
          <p:nvPr/>
        </p:nvSpPr>
        <p:spPr>
          <a:xfrm>
            <a:off x="365760" y="2286000"/>
            <a:ext cx="8412480" cy="114300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1.  </a:t>
            </a:r>
            <a:r>
              <a:rPr lang="en-US" dirty="0">
                <a:solidFill>
                  <a:srgbClr val="000000"/>
                </a:solidFill>
                <a:latin typeface="Arial" pitchFamily="34" charset="0"/>
                <a:ea typeface="Arial" pitchFamily="34" charset="-122"/>
                <a:cs typeface="Arial" pitchFamily="34" charset="-120"/>
              </a:rPr>
              <a:t>How does “let a woman LEARN” reframe the whole passage? And: why does grounding matter → what’s the difference between a rule from culture and a pattern from creation?</a:t>
            </a:r>
            <a:endParaRPr lang="en-US" dirty="0"/>
          </a:p>
        </p:txBody>
      </p:sp>
      <p:sp>
        <p:nvSpPr>
          <p:cNvPr id="6" name="x2"/>
          <p:cNvSpPr txBox="1"/>
          <p:nvPr/>
        </p:nvSpPr>
        <p:spPr>
          <a:xfrm>
            <a:off x="365760" y="3611880"/>
            <a:ext cx="8412480" cy="114300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2.  </a:t>
            </a:r>
            <a:r>
              <a:rPr lang="en-US" dirty="0">
                <a:solidFill>
                  <a:srgbClr val="000000"/>
                </a:solidFill>
                <a:latin typeface="Arial" pitchFamily="34" charset="0"/>
                <a:ea typeface="Arial" pitchFamily="34" charset="-122"/>
                <a:cs typeface="Arial" pitchFamily="34" charset="-120"/>
              </a:rPr>
              <a:t>Where must WE be careful to claim only what the text claims → not more, not less? Where have you seen this handled badly in either direction?</a:t>
            </a:r>
            <a:endParaRPr lang="en-US" dirty="0"/>
          </a:p>
        </p:txBody>
      </p:sp>
      <p:sp>
        <p:nvSpPr>
          <p:cNvPr id="7" name="x3"/>
          <p:cNvSpPr txBox="1"/>
          <p:nvPr/>
        </p:nvSpPr>
        <p:spPr>
          <a:xfrm>
            <a:off x="365760" y="5102352"/>
            <a:ext cx="8412480" cy="1234440"/>
          </a:xfrm>
          <a:prstGeom prst="rect">
            <a:avLst/>
          </a:prstGeom>
          <a:noFill/>
          <a:ln/>
        </p:spPr>
        <p:txBody>
          <a:bodyPr wrap="square" lIns="0" tIns="0" rIns="0" bIns="0" rtlCol="0" anchor="t"/>
          <a:lstStyle/>
          <a:p>
            <a:pPr marL="0" indent="0" algn="l">
              <a:buNone/>
            </a:pPr>
            <a:r>
              <a:rPr lang="en-US" b="1" dirty="0">
                <a:solidFill>
                  <a:srgbClr val="B0413E"/>
                </a:solidFill>
                <a:latin typeface="Arial" pitchFamily="34" charset="0"/>
                <a:ea typeface="Arial" pitchFamily="34" charset="-122"/>
                <a:cs typeface="Arial" pitchFamily="34" charset="-120"/>
              </a:rPr>
              <a:t>Ground rule: </a:t>
            </a:r>
            <a:r>
              <a:rPr lang="en-US" sz="1600" i="1" dirty="0">
                <a:solidFill>
                  <a:srgbClr val="000000"/>
                </a:solidFill>
                <a:latin typeface="Arial" pitchFamily="34" charset="0"/>
                <a:ea typeface="Arial" pitchFamily="34" charset="-122"/>
                <a:cs typeface="Arial" pitchFamily="34" charset="-120"/>
              </a:rPr>
              <a:t>this is a room of brothers and sisters, not opponents. Reason from the text. Assume the best of each other. No one “wins.” If we leave more careful with Scripture and gentler with each other, the lesson worked.</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500" b="1" dirty="0">
                <a:solidFill>
                  <a:srgbClr val="1F497D"/>
                </a:solidFill>
                <a:latin typeface="Arial" pitchFamily="34" charset="0"/>
                <a:ea typeface="Arial" pitchFamily="34" charset="-122"/>
                <a:cs typeface="Arial" pitchFamily="34" charset="-120"/>
              </a:rPr>
              <a:t>Read Like a Berean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For next week → the course lands</a:t>
            </a:r>
            <a:endParaRPr lang="en-US" sz="2800" dirty="0"/>
          </a:p>
        </p:txBody>
      </p:sp>
      <p:sp>
        <p:nvSpPr>
          <p:cNvPr id="4" name="z1"/>
          <p:cNvSpPr txBox="1"/>
          <p:nvPr/>
        </p:nvSpPr>
        <p:spPr>
          <a:xfrm>
            <a:off x="365760" y="1188720"/>
            <a:ext cx="8412480" cy="146304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For next week, read:
</a:t>
            </a:r>
            <a:r>
              <a:rPr lang="en-US" dirty="0">
                <a:solidFill>
                  <a:srgbClr val="000000"/>
                </a:solidFill>
                <a:latin typeface="Arial" pitchFamily="34" charset="0"/>
                <a:ea typeface="Arial" pitchFamily="34" charset="-122"/>
                <a:cs typeface="Arial" pitchFamily="34" charset="-120"/>
              </a:rPr>
              <a:t>•  Matthew 28:16–20  → the Great Commission. Find the word “obey.” Who is sent, and to do what?
•  Hebrews 5:11–6:3  → the course’s home passage. Why “ought to be teachers by this time”?</a:t>
            </a:r>
            <a:endParaRPr lang="en-US" sz="2000" dirty="0"/>
          </a:p>
        </p:txBody>
      </p:sp>
      <p:sp>
        <p:nvSpPr>
          <p:cNvPr id="5" name="z2"/>
          <p:cNvSpPr txBox="1"/>
          <p:nvPr/>
        </p:nvSpPr>
        <p:spPr>
          <a:xfrm>
            <a:off x="365760" y="2834640"/>
            <a:ext cx="8412480" cy="960120"/>
          </a:xfrm>
          <a:prstGeom prst="rect">
            <a:avLst/>
          </a:prstGeom>
          <a:noFill/>
          <a:ln/>
        </p:spPr>
        <p:txBody>
          <a:bodyPr wrap="square" lIns="0" tIns="0" rIns="0" bIns="0" rtlCol="0" anchor="t"/>
          <a:lstStyle/>
          <a:p>
            <a:pPr marL="0" indent="0" algn="l">
              <a:buNone/>
            </a:pPr>
            <a:r>
              <a:rPr lang="en-US" sz="2000" b="1">
                <a:solidFill>
                  <a:srgbClr val="000000"/>
                </a:solidFill>
                <a:latin typeface="Arial" pitchFamily="34" charset="0"/>
                <a:ea typeface="Arial" pitchFamily="34" charset="-122"/>
                <a:cs typeface="Arial" pitchFamily="34" charset="-120"/>
              </a:rPr>
              <a:t>Next week: </a:t>
            </a:r>
            <a:r>
              <a:rPr lang="en-US" i="1" dirty="0">
                <a:solidFill>
                  <a:srgbClr val="000000"/>
                </a:solidFill>
                <a:latin typeface="Arial" pitchFamily="34" charset="0"/>
                <a:ea typeface="Arial" pitchFamily="34" charset="-122"/>
                <a:cs typeface="Arial" pitchFamily="34" charset="-120"/>
              </a:rPr>
              <a:t>Households and Teachers → God’s order reaches into the home, and maturity’s destination is the commission.</a:t>
            </a:r>
            <a:endParaRPr lang="en-US" sz="2000" dirty="0"/>
          </a:p>
        </p:txBody>
      </p:sp>
      <p:sp>
        <p:nvSpPr>
          <p:cNvPr id="6" name="z3"/>
          <p:cNvSpPr txBox="1"/>
          <p:nvPr/>
        </p:nvSpPr>
        <p:spPr>
          <a:xfrm>
            <a:off x="365760" y="3977640"/>
            <a:ext cx="8412480" cy="105156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This week in one sentence:
</a:t>
            </a:r>
            <a:r>
              <a:rPr lang="en-US" sz="2000" b="1" i="1" dirty="0">
                <a:solidFill>
                  <a:srgbClr val="1F497D"/>
                </a:solidFill>
                <a:latin typeface="Arial" pitchFamily="34" charset="0"/>
                <a:ea typeface="Arial" pitchFamily="34" charset="-122"/>
                <a:cs typeface="Arial" pitchFamily="34" charset="-120"/>
              </a:rPr>
              <a:t>Grounded in creation, narrow in scope, generous in breadth → order for the sake of communion.</a:t>
            </a:r>
            <a:endParaRPr lang="en-US" sz="2000" dirty="0"/>
          </a:p>
        </p:txBody>
      </p:sp>
      <p:sp>
        <p:nvSpPr>
          <p:cNvPr id="7" name="z4"/>
          <p:cNvSpPr txBox="1"/>
          <p:nvPr/>
        </p:nvSpPr>
        <p:spPr>
          <a:xfrm>
            <a:off x="365760" y="5166360"/>
            <a:ext cx="8412480" cy="822960"/>
          </a:xfrm>
          <a:prstGeom prst="rect">
            <a:avLst/>
          </a:prstGeom>
          <a:noFill/>
          <a:ln/>
        </p:spPr>
        <p:txBody>
          <a:bodyPr wrap="square" lIns="0" tIns="0" rIns="0" bIns="0" rtlCol="0" anchor="t"/>
          <a:lstStyle/>
          <a:p>
            <a:pPr marL="0" indent="0" algn="ctr">
              <a:buNone/>
            </a:pPr>
            <a:r>
              <a:rPr lang="en-US" sz="2000" b="1" i="1" dirty="0">
                <a:solidFill>
                  <a:srgbClr val="1F497D"/>
                </a:solidFill>
                <a:latin typeface="Arial" pitchFamily="34" charset="0"/>
                <a:ea typeface="Arial" pitchFamily="34" charset="-122"/>
                <a:cs typeface="Arial" pitchFamily="34" charset="-120"/>
              </a:rPr>
              <a:t>“Let a woman learn…”  →  the passage begins by making her a disciple.  (1 Tim 2:11)</a:t>
            </a:r>
            <a:endParaRPr lang="en-US" sz="2000" dirty="0"/>
          </a:p>
        </p:txBody>
      </p:sp>
      <p:sp>
        <p:nvSpPr>
          <p:cNvPr id="8" name="z5"/>
          <p:cNvSpPr txBox="1"/>
          <p:nvPr/>
        </p:nvSpPr>
        <p:spPr>
          <a:xfrm>
            <a:off x="365760" y="6035040"/>
            <a:ext cx="8412480" cy="365760"/>
          </a:xfrm>
          <a:prstGeom prst="rect">
            <a:avLst/>
          </a:prstGeom>
          <a:noFill/>
          <a:ln/>
        </p:spPr>
        <p:txBody>
          <a:bodyPr wrap="square" lIns="0" tIns="0" rIns="0" bIns="0" rtlCol="0" anchor="t"/>
          <a:lstStyle/>
          <a:p>
            <a:pPr marL="0" indent="0" algn="ctr">
              <a:buNone/>
            </a:pPr>
            <a:r>
              <a:rPr lang="en-US"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b="1" u="sng" dirty="0" err="1">
                <a:solidFill>
                  <a:srgbClr val="4F81BD"/>
                </a:solidFill>
                <a:latin typeface="Arial" pitchFamily="34" charset="0"/>
                <a:ea typeface="Arial" pitchFamily="34" charset="-122"/>
                <a:cs typeface="Arial" pitchFamily="34" charset="-120"/>
              </a:rPr>
              <a:t>.Church</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2488</Words>
  <Application>Microsoft Macintosh PowerPoint</Application>
  <PresentationFormat>On-screen Show (4:3)</PresentationFormat>
  <Paragraphs>76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10</cp:revision>
  <dcterms:created xsi:type="dcterms:W3CDTF">2026-09-30T14:34:02Z</dcterms:created>
  <dcterms:modified xsi:type="dcterms:W3CDTF">2026-10-21T10:24:11Z</dcterms:modified>
</cp:coreProperties>
</file>